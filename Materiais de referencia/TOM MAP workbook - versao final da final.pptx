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1_76D6022F.xml" ContentType="application/vnd.ms-powerpoint.comments+xml"/>
  <Override PartName="/ppt/comments/modernComment_7FFFE8E4_7C660F74.xml" ContentType="application/vnd.ms-powerpoint.comments+xml"/>
  <Override PartName="/ppt/comments/modernComment_7FFFFC1E_8B835579.xml" ContentType="application/vnd.ms-powerpoint.comments+xml"/>
  <Override PartName="/ppt/comments/modernComment_7FFFFC21_1D132138.xml" ContentType="application/vnd.ms-powerpoint.comments+xml"/>
  <Override PartName="/ppt/comments/modernComment_7FFFFC23_37B42F4D.xml" ContentType="application/vnd.ms-powerpoint.comments+xml"/>
  <Override PartName="/ppt/comments/modernComment_7FFFFC27_868F6387.xml" ContentType="application/vnd.ms-powerpoint.comments+xml"/>
  <Override PartName="/ppt/comments/modernComment_7FFFFC29_47B8515C.xml" ContentType="application/vnd.ms-powerpoint.comments+xml"/>
  <Override PartName="/ppt/comments/modernComment_7FFFFC2A_FF33AEC4.xml" ContentType="application/vnd.ms-powerpoint.comments+xml"/>
  <Override PartName="/ppt/comments/modernComment_7FFFFC2B_D0B9E28A.xml" ContentType="application/vnd.ms-powerpoint.comments+xml"/>
  <Override PartName="/ppt/comments/modernComment_7FFFFC2D_A79D6E0D.xml" ContentType="application/vnd.ms-powerpoint.comments+xml"/>
  <Override PartName="/ppt/comments/modernComment_7FFFFC2F_18CF1020.xml" ContentType="application/vnd.ms-powerpoint.comments+xml"/>
  <Override PartName="/ppt/comments/modernComment_7FFFFC32_2DFCFA69.xml" ContentType="application/vnd.ms-powerpoint.comments+xml"/>
  <Override PartName="/ppt/comments/modernComment_7FFFFC34_F44F75D2.xml" ContentType="application/vnd.ms-powerpoint.comments+xml"/>
  <Override PartName="/ppt/comments/modernComment_7FFFFC35_7E829B12.xml" ContentType="application/vnd.ms-powerpoint.comments+xml"/>
  <Override PartName="/ppt/comments/modernComment_7FFFFC3E_8F726A5B.xml" ContentType="application/vnd.ms-powerpoint.comments+xml"/>
  <Override PartName="/ppt/comments/modernComment_7FFFFC45_F2E87E10.xml" ContentType="application/vnd.ms-powerpoint.comments+xml"/>
  <Override PartName="/ppt/comments/modernComment_7FFFFC49_E41A1D25.xml" ContentType="application/vnd.ms-powerpoint.comments+xml"/>
  <Override PartName="/ppt/comments/modernComment_7FFFFC4A_8E5B8B2E.xml" ContentType="application/vnd.ms-powerpoint.comments+xml"/>
  <Override PartName="/ppt/comments/modernComment_7FFFFC4F_EC5BFD84.xml" ContentType="application/vnd.ms-powerpoint.comments+xml"/>
  <Override PartName="/ppt/comments/modernComment_7FFFFC50_D7142D42.xml" ContentType="application/vnd.ms-powerpoint.comments+xml"/>
  <Override PartName="/ppt/comments/modernComment_7FFFFC51_6FCCBEFF.xml" ContentType="application/vnd.ms-powerpoint.comments+xml"/>
  <Override PartName="/ppt/comments/modernComment_7FFFFC54_B598C769.xml" ContentType="application/vnd.ms-powerpoint.comments+xml"/>
  <Override PartName="/ppt/comments/modernComment_7FFFFC55_EDF40827.xml" ContentType="application/vnd.ms-powerpoint.comments+xml"/>
  <Override PartName="/ppt/comments/modernComment_7FFFFC57_F0AB8957.xml" ContentType="application/vnd.ms-powerpoint.comments+xml"/>
  <Override PartName="/ppt/comments/modernComment_7FFFFC58_58D12B51.xml" ContentType="application/vnd.ms-powerpoint.comments+xml"/>
  <Override PartName="/ppt/comments/modernComment_7FFFFC5C_31E48420.xml" ContentType="application/vnd.ms-powerpoint.comment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2.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76.svg" ContentType="image/svg+xml"/>
  <Override PartName="/ppt/media/image7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675" r:id="rId6"/>
    <p:sldMasterId id="2147483705" r:id="rId7"/>
  </p:sldMasterIdLst>
  <p:notesMasterIdLst>
    <p:notesMasterId r:id="rId87"/>
  </p:notesMasterIdLst>
  <p:sldIdLst>
    <p:sldId id="281" r:id="rId8"/>
    <p:sldId id="2147477706" r:id="rId9"/>
    <p:sldId id="2147477708" r:id="rId10"/>
    <p:sldId id="2147482679" r:id="rId11"/>
    <p:sldId id="2147482680" r:id="rId12"/>
    <p:sldId id="2147482681" r:id="rId13"/>
    <p:sldId id="2147477709" r:id="rId14"/>
    <p:sldId id="2147482682" r:id="rId15"/>
    <p:sldId id="2147482683" r:id="rId16"/>
    <p:sldId id="2147477710" r:id="rId17"/>
    <p:sldId id="2147477719" r:id="rId18"/>
    <p:sldId id="2147482684" r:id="rId19"/>
    <p:sldId id="2147482685" r:id="rId20"/>
    <p:sldId id="257" r:id="rId21"/>
    <p:sldId id="2147477731" r:id="rId22"/>
    <p:sldId id="2147482657" r:id="rId23"/>
    <p:sldId id="2147482654" r:id="rId24"/>
    <p:sldId id="2147477732" r:id="rId25"/>
    <p:sldId id="2147482659" r:id="rId26"/>
    <p:sldId id="2147482661" r:id="rId27"/>
    <p:sldId id="2147482662" r:id="rId28"/>
    <p:sldId id="2147482664" r:id="rId29"/>
    <p:sldId id="2147482665" r:id="rId30"/>
    <p:sldId id="2147482705" r:id="rId31"/>
    <p:sldId id="2147482712" r:id="rId32"/>
    <p:sldId id="2147482697" r:id="rId33"/>
    <p:sldId id="2147482698" r:id="rId34"/>
    <p:sldId id="2147482666" r:id="rId35"/>
    <p:sldId id="2147482716" r:id="rId36"/>
    <p:sldId id="2147482669" r:id="rId37"/>
    <p:sldId id="2147482671" r:id="rId38"/>
    <p:sldId id="2147482675" r:id="rId39"/>
    <p:sldId id="2147482676" r:id="rId40"/>
    <p:sldId id="2147482677" r:id="rId41"/>
    <p:sldId id="2147482707" r:id="rId42"/>
    <p:sldId id="2147482708" r:id="rId43"/>
    <p:sldId id="2147482695" r:id="rId44"/>
    <p:sldId id="2147482709" r:id="rId45"/>
    <p:sldId id="2147482715" r:id="rId46"/>
    <p:sldId id="2147482687" r:id="rId47"/>
    <p:sldId id="2147477725" r:id="rId48"/>
    <p:sldId id="2147477726" r:id="rId49"/>
    <p:sldId id="2147482710" r:id="rId50"/>
    <p:sldId id="2147482711" r:id="rId51"/>
    <p:sldId id="2147477733" r:id="rId52"/>
    <p:sldId id="2147482689" r:id="rId53"/>
    <p:sldId id="2147477735" r:id="rId54"/>
    <p:sldId id="2147482714" r:id="rId55"/>
    <p:sldId id="2147482688" r:id="rId56"/>
    <p:sldId id="2147482690" r:id="rId57"/>
    <p:sldId id="2147482699" r:id="rId58"/>
    <p:sldId id="2147482700" r:id="rId59"/>
    <p:sldId id="2147482701" r:id="rId60"/>
    <p:sldId id="2147482702" r:id="rId61"/>
    <p:sldId id="276" r:id="rId62"/>
    <p:sldId id="286" r:id="rId63"/>
    <p:sldId id="275" r:id="rId64"/>
    <p:sldId id="264" r:id="rId65"/>
    <p:sldId id="279" r:id="rId66"/>
    <p:sldId id="2147477684" r:id="rId67"/>
    <p:sldId id="2147477720" r:id="rId68"/>
    <p:sldId id="2147477718" r:id="rId69"/>
    <p:sldId id="2147477711" r:id="rId70"/>
    <p:sldId id="2147477712" r:id="rId71"/>
    <p:sldId id="2147482674" r:id="rId72"/>
    <p:sldId id="2147477724" r:id="rId73"/>
    <p:sldId id="278" r:id="rId74"/>
    <p:sldId id="2147482696" r:id="rId75"/>
    <p:sldId id="320" r:id="rId76"/>
    <p:sldId id="322" r:id="rId77"/>
    <p:sldId id="323" r:id="rId78"/>
    <p:sldId id="324" r:id="rId79"/>
    <p:sldId id="325" r:id="rId80"/>
    <p:sldId id="2147482667" r:id="rId81"/>
    <p:sldId id="2147482686" r:id="rId82"/>
    <p:sldId id="2147482703" r:id="rId83"/>
    <p:sldId id="2147482663" r:id="rId84"/>
    <p:sldId id="2147482693" r:id="rId85"/>
    <p:sldId id="2147482704" r:id="rId86"/>
    <p:sldId id="2147482717" r:id="rId148"/>
    <p:sldId id="2147482718" r:id="rId149"/>
    <p:sldId id="2147482719" r:id="rId150"/>
    <p:sldId id="2147482720" r:id="rId151"/>
    <p:sldId id="2147482721" r:id="rId152"/>
    <p:sldId id="2147482722" r:id="rId153"/>
    <p:sldId id="2147482723" r:id="rId154"/>
    <p:sldId id="2147482724" r:id="rId155"/>
    <p:sldId id="2147482725" r:id="rId156"/>
    <p:sldId id="2147482726" r:id="rId157"/>
    <p:sldId id="2147482727" r:id="rId158"/>
    <p:sldId id="2147482728" r:id="rId159"/>
    <p:sldId id="2147482729" r:id="rId160"/>
    <p:sldId id="2147482730" r:id="rId161"/>
    <p:sldId id="2147482731" r:id="rId162"/>
    <p:sldId id="2147482732" r:id="rId163"/>
    <p:sldId id="2147482733" r:id="rId164"/>
    <p:sldId id="2147482734" r:id="rId165"/>
    <p:sldId id="2147482735" r:id="rId166"/>
    <p:sldId id="2147482736" r:id="rId167"/>
    <p:sldId id="2147482737" r:id="rId168"/>
    <p:sldId id="2147482738" r:id="rId169"/>
    <p:sldId id="2147482739" r:id="rId170"/>
    <p:sldId id="2147482740" r:id="rId171"/>
    <p:sldId id="2147482741" r:id="rId172"/>
    <p:sldId id="2147482742" r:id="rId173"/>
    <p:sldId id="2147482743" r:id="rId174"/>
    <p:sldId id="2147482744" r:id="rId175"/>
    <p:sldId id="2147482745" r:id="rId17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DF3073F-5A14-43AB-80B3-6BC4203B8BD5}">
          <p14:sldIdLst>
            <p14:sldId id="281"/>
            <p14:sldId id="2147477706"/>
            <p14:sldId id="2147477708"/>
            <p14:sldId id="2147482679"/>
            <p14:sldId id="2147482680"/>
            <p14:sldId id="2147482681"/>
            <p14:sldId id="2147477709"/>
            <p14:sldId id="2147482682"/>
            <p14:sldId id="2147482683"/>
            <p14:sldId id="2147477710"/>
            <p14:sldId id="2147477719"/>
            <p14:sldId id="2147482684"/>
            <p14:sldId id="2147482685"/>
            <p14:sldId id="257"/>
            <p14:sldId id="2147477731"/>
            <p14:sldId id="2147482657"/>
            <p14:sldId id="2147482654"/>
            <p14:sldId id="2147477732"/>
            <p14:sldId id="2147482659"/>
            <p14:sldId id="2147482661"/>
            <p14:sldId id="2147482662"/>
            <p14:sldId id="2147482664"/>
            <p14:sldId id="2147482665"/>
            <p14:sldId id="2147482705"/>
            <p14:sldId id="2147482712"/>
            <p14:sldId id="2147482697"/>
            <p14:sldId id="2147482698"/>
            <p14:sldId id="2147482666"/>
            <p14:sldId id="2147482716"/>
            <p14:sldId id="2147482669"/>
            <p14:sldId id="2147482671"/>
            <p14:sldId id="2147482675"/>
            <p14:sldId id="2147482676"/>
            <p14:sldId id="2147482677"/>
            <p14:sldId id="2147482707"/>
            <p14:sldId id="2147482708"/>
            <p14:sldId id="2147482695"/>
            <p14:sldId id="2147482709"/>
            <p14:sldId id="2147482715"/>
            <p14:sldId id="2147482687"/>
            <p14:sldId id="2147477725"/>
            <p14:sldId id="2147477726"/>
            <p14:sldId id="2147482710"/>
            <p14:sldId id="2147482711"/>
            <p14:sldId id="2147477733"/>
            <p14:sldId id="2147482689"/>
            <p14:sldId id="2147477735"/>
            <p14:sldId id="2147482714"/>
            <p14:sldId id="2147482688"/>
            <p14:sldId id="2147482690"/>
            <p14:sldId id="2147482699"/>
            <p14:sldId id="2147482700"/>
            <p14:sldId id="2147482701"/>
            <p14:sldId id="2147482702"/>
            <p14:sldId id="276"/>
            <p14:sldId id="286"/>
            <p14:sldId id="275"/>
            <p14:sldId id="264"/>
            <p14:sldId id="279"/>
            <p14:sldId id="2147477684"/>
            <p14:sldId id="2147477720"/>
            <p14:sldId id="2147477718"/>
            <p14:sldId id="2147477711"/>
            <p14:sldId id="2147477712"/>
          </p14:sldIdLst>
        </p14:section>
        <p14:section name="Parking Lot" id="{A99BA64B-1A9A-4C72-B816-135CCC37958E}">
          <p14:sldIdLst>
            <p14:sldId id="2147482674"/>
            <p14:sldId id="2147477724"/>
            <p14:sldId id="278"/>
            <p14:sldId id="2147482696"/>
            <p14:sldId id="320"/>
            <p14:sldId id="322"/>
            <p14:sldId id="323"/>
            <p14:sldId id="324"/>
            <p14:sldId id="325"/>
            <p14:sldId id="2147482667"/>
            <p14:sldId id="2147482686"/>
            <p14:sldId id="2147482703"/>
            <p14:sldId id="2147482663"/>
            <p14:sldId id="2147482693"/>
            <p14:sldId id="2147482704"/>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9297B66B-BF4D-3E4E-6DF1-E7277526F4AB}" name="Javier Bahena Pacheco" initials="" userId="S::jbahenap@emeal.nttdata.com::d59fb837-d627-4f1d-9976-d501d2a3c3bb" providerId="AD"/>
  <p188:author id="{08AA367A-3FE0-CE15-1CF5-256A1C107FE1}" name="Alfredo Soto Cuellar" initials="AS" userId="S::asotocue@emeal.nttdata.com::a1af1438-e027-44e1-b6a1-e184226576bb"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A32"/>
    <a:srgbClr val="006B3F"/>
    <a:srgbClr val="E3E5E9"/>
    <a:srgbClr val="00BE79"/>
    <a:srgbClr val="00CB81"/>
    <a:srgbClr val="00A343"/>
    <a:srgbClr val="0792E5"/>
    <a:srgbClr val="081235"/>
    <a:srgbClr val="5C2991"/>
    <a:srgbClr val="074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CD700-F77D-5F3A-E77B-0BD2825E193F}" v="53" dt="2026-05-06T22:55:18.894"/>
    <p1510:client id="{61BD3D80-9483-41F0-B87E-01AC2528920D}" v="247" dt="2026-05-06T23:25:03.630"/>
    <p1510:client id="{BA4BEA1C-D965-4BCC-82A5-B6CEDF1C3F51}" v="6104" dt="2026-05-06T21:59:41.165"/>
    <p1510:client id="{BB3F4643-E1CA-5341-9C40-9854F019AD79}" v="4241" dt="2026-05-07T13:02:17.657"/>
    <p1510:client id="{BDAA5A27-25C8-4C4A-98E0-36B4723A1E61}" v="13035" dt="2026-05-07T00:05:27.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09"/>
    <p:restoredTop sz="94622"/>
  </p:normalViewPr>
  <p:slideViewPr>
    <p:cSldViewPr snapToGrid="0">
      <p:cViewPr varScale="1">
        <p:scale>
          <a:sx n="160" d="100"/>
          <a:sy n="160" d="100"/>
        </p:scale>
        <p:origin x="200"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 Id="rId92" Type="http://schemas.microsoft.com/office/2015/10/relationships/revisionInfo" Target="revisionInfo.xml"/><Relationship Id="rId93" Type="http://schemas.microsoft.com/office/2018/10/relationships/authors" Target="authors.xml"/><Relationship Id="rId94" Type="http://schemas.openxmlformats.org/officeDocument/2006/relationships/slide" Target="slides/slide80.xml"/><Relationship Id="rId95" Type="http://schemas.openxmlformats.org/officeDocument/2006/relationships/slide" Target="slides/slide81.xml"/><Relationship Id="rId96" Type="http://schemas.openxmlformats.org/officeDocument/2006/relationships/slide" Target="slides/slide82.xml"/><Relationship Id="rId97" Type="http://schemas.openxmlformats.org/officeDocument/2006/relationships/slide" Target="slides/slide83.xml"/><Relationship Id="rId98" Type="http://schemas.openxmlformats.org/officeDocument/2006/relationships/slide" Target="slides/slide84.xml"/><Relationship Id="rId99" Type="http://schemas.openxmlformats.org/officeDocument/2006/relationships/slide" Target="slides/slide85.xml"/><Relationship Id="rId100" Type="http://schemas.openxmlformats.org/officeDocument/2006/relationships/slide" Target="slides/slide86.xml"/><Relationship Id="rId101" Type="http://schemas.openxmlformats.org/officeDocument/2006/relationships/slide" Target="slides/slide87.xml"/><Relationship Id="rId102" Type="http://schemas.openxmlformats.org/officeDocument/2006/relationships/slide" Target="slides/slide88.xml"/><Relationship Id="rId103" Type="http://schemas.openxmlformats.org/officeDocument/2006/relationships/slide" Target="slides/slide89.xml"/><Relationship Id="rId104" Type="http://schemas.openxmlformats.org/officeDocument/2006/relationships/slide" Target="slides/slide90.xml"/><Relationship Id="rId105" Type="http://schemas.openxmlformats.org/officeDocument/2006/relationships/slide" Target="slides/slide91.xml"/><Relationship Id="rId106" Type="http://schemas.openxmlformats.org/officeDocument/2006/relationships/slide" Target="slides/slide92.xml"/><Relationship Id="rId107" Type="http://schemas.openxmlformats.org/officeDocument/2006/relationships/slide" Target="slides/slide93.xml"/><Relationship Id="rId108" Type="http://schemas.openxmlformats.org/officeDocument/2006/relationships/slide" Target="slides/slide94.xml"/><Relationship Id="rId109" Type="http://schemas.openxmlformats.org/officeDocument/2006/relationships/slide" Target="slides/slide95.xml"/><Relationship Id="rId110" Type="http://schemas.openxmlformats.org/officeDocument/2006/relationships/slide" Target="slides/slide96.xml"/><Relationship Id="rId111" Type="http://schemas.openxmlformats.org/officeDocument/2006/relationships/slide" Target="slides/slide97.xml"/><Relationship Id="rId112" Type="http://schemas.openxmlformats.org/officeDocument/2006/relationships/slide" Target="slides/slide98.xml"/><Relationship Id="rId113" Type="http://schemas.openxmlformats.org/officeDocument/2006/relationships/slide" Target="slides/slide99.xml"/><Relationship Id="rId114" Type="http://schemas.openxmlformats.org/officeDocument/2006/relationships/slide" Target="slides/slide100.xml"/><Relationship Id="rId115" Type="http://schemas.openxmlformats.org/officeDocument/2006/relationships/slide" Target="slides/slide101.xml"/><Relationship Id="rId116" Type="http://schemas.openxmlformats.org/officeDocument/2006/relationships/slide" Target="slides/slide102.xml"/><Relationship Id="rId117" Type="http://schemas.openxmlformats.org/officeDocument/2006/relationships/slide" Target="slides/slide103.xml"/><Relationship Id="rId118" Type="http://schemas.openxmlformats.org/officeDocument/2006/relationships/slide" Target="slides/slide104.xml"/><Relationship Id="rId119" Type="http://schemas.openxmlformats.org/officeDocument/2006/relationships/slide" Target="slides/slide105.xml"/><Relationship Id="rId120" Type="http://schemas.openxmlformats.org/officeDocument/2006/relationships/slide" Target="slides/slide106.xml"/><Relationship Id="rId121" Type="http://schemas.openxmlformats.org/officeDocument/2006/relationships/slide" Target="slides/slide107.xml"/><Relationship Id="rId122" Type="http://schemas.openxmlformats.org/officeDocument/2006/relationships/slide" Target="slides/slide108.xml"/><Relationship Id="rId123" Type="http://schemas.openxmlformats.org/officeDocument/2006/relationships/slide" Target="slides/slide109.xml"/><Relationship Id="rId124" Type="http://schemas.openxmlformats.org/officeDocument/2006/relationships/slide" Target="slides/slide110.xml"/><Relationship Id="rId125" Type="http://schemas.openxmlformats.org/officeDocument/2006/relationships/slide" Target="slides/slide111.xml"/><Relationship Id="rId126" Type="http://schemas.openxmlformats.org/officeDocument/2006/relationships/slide" Target="slides/slide112.xml"/><Relationship Id="rId127" Type="http://schemas.openxmlformats.org/officeDocument/2006/relationships/slide" Target="slides/slide113.xml"/><Relationship Id="rId128" Type="http://schemas.openxmlformats.org/officeDocument/2006/relationships/slide" Target="slides/slide114.xml"/><Relationship Id="rId129" Type="http://schemas.openxmlformats.org/officeDocument/2006/relationships/slide" Target="slides/slide115.xml"/><Relationship Id="rId130" Type="http://schemas.openxmlformats.org/officeDocument/2006/relationships/slide" Target="slides/slide116.xml"/><Relationship Id="rId131" Type="http://schemas.openxmlformats.org/officeDocument/2006/relationships/slide" Target="slides/slide117.xml"/><Relationship Id="rId132" Type="http://schemas.openxmlformats.org/officeDocument/2006/relationships/slide" Target="slides/slide118.xml"/><Relationship Id="rId133" Type="http://schemas.openxmlformats.org/officeDocument/2006/relationships/slide" Target="slides/slide119.xml"/><Relationship Id="rId134" Type="http://schemas.openxmlformats.org/officeDocument/2006/relationships/slide" Target="slides/slide120.xml"/><Relationship Id="rId135" Type="http://schemas.openxmlformats.org/officeDocument/2006/relationships/slide" Target="slides/slide121.xml"/><Relationship Id="rId136" Type="http://schemas.openxmlformats.org/officeDocument/2006/relationships/slide" Target="slides/slide122.xml"/><Relationship Id="rId137" Type="http://schemas.openxmlformats.org/officeDocument/2006/relationships/slide" Target="slides/slide123.xml"/><Relationship Id="rId138" Type="http://schemas.openxmlformats.org/officeDocument/2006/relationships/slide" Target="slides/slide124.xml"/><Relationship Id="rId139" Type="http://schemas.openxmlformats.org/officeDocument/2006/relationships/slide" Target="slides/slide125.xml"/><Relationship Id="rId140" Type="http://schemas.openxmlformats.org/officeDocument/2006/relationships/slide" Target="slides/slide126.xml"/><Relationship Id="rId141" Type="http://schemas.openxmlformats.org/officeDocument/2006/relationships/slide" Target="slides/slide127.xml"/><Relationship Id="rId142" Type="http://schemas.openxmlformats.org/officeDocument/2006/relationships/slide" Target="slides/slide128.xml"/><Relationship Id="rId143" Type="http://schemas.openxmlformats.org/officeDocument/2006/relationships/slide" Target="slides/slide129.xml"/><Relationship Id="rId144" Type="http://schemas.openxmlformats.org/officeDocument/2006/relationships/slide" Target="slides/slide130.xml"/><Relationship Id="rId145" Type="http://schemas.openxmlformats.org/officeDocument/2006/relationships/slide" Target="slides/slide131.xml"/><Relationship Id="rId146" Type="http://schemas.openxmlformats.org/officeDocument/2006/relationships/slide" Target="slides/slide132.xml"/><Relationship Id="rId147" Type="http://schemas.openxmlformats.org/officeDocument/2006/relationships/slide" Target="slides/slide133.xml"/><Relationship Id="rId148" Type="http://schemas.openxmlformats.org/officeDocument/2006/relationships/slide" Target="slides/slide80.xml"/><Relationship Id="rId149" Type="http://schemas.openxmlformats.org/officeDocument/2006/relationships/slide" Target="slides/slide81.xml"/><Relationship Id="rId150" Type="http://schemas.openxmlformats.org/officeDocument/2006/relationships/slide" Target="slides/slide82.xml"/><Relationship Id="rId151" Type="http://schemas.openxmlformats.org/officeDocument/2006/relationships/slide" Target="slides/slide83.xml"/><Relationship Id="rId152" Type="http://schemas.openxmlformats.org/officeDocument/2006/relationships/slide" Target="slides/slide84.xml"/><Relationship Id="rId153" Type="http://schemas.openxmlformats.org/officeDocument/2006/relationships/slide" Target="slides/slide85.xml"/><Relationship Id="rId154" Type="http://schemas.openxmlformats.org/officeDocument/2006/relationships/slide" Target="slides/slide86.xml"/><Relationship Id="rId155" Type="http://schemas.openxmlformats.org/officeDocument/2006/relationships/slide" Target="slides/slide87.xml"/><Relationship Id="rId156" Type="http://schemas.openxmlformats.org/officeDocument/2006/relationships/slide" Target="slides/slide88.xml"/><Relationship Id="rId157" Type="http://schemas.openxmlformats.org/officeDocument/2006/relationships/slide" Target="slides/slide89.xml"/><Relationship Id="rId158" Type="http://schemas.openxmlformats.org/officeDocument/2006/relationships/slide" Target="slides/slide90.xml"/><Relationship Id="rId159" Type="http://schemas.openxmlformats.org/officeDocument/2006/relationships/slide" Target="slides/slide91.xml"/><Relationship Id="rId160" Type="http://schemas.openxmlformats.org/officeDocument/2006/relationships/slide" Target="slides/slide92.xml"/><Relationship Id="rId161" Type="http://schemas.openxmlformats.org/officeDocument/2006/relationships/slide" Target="slides/slide93.xml"/><Relationship Id="rId162" Type="http://schemas.openxmlformats.org/officeDocument/2006/relationships/slide" Target="slides/slide94.xml"/><Relationship Id="rId163" Type="http://schemas.openxmlformats.org/officeDocument/2006/relationships/slide" Target="slides/slide95.xml"/><Relationship Id="rId164" Type="http://schemas.openxmlformats.org/officeDocument/2006/relationships/slide" Target="slides/slide96.xml"/><Relationship Id="rId165" Type="http://schemas.openxmlformats.org/officeDocument/2006/relationships/slide" Target="slides/slide97.xml"/><Relationship Id="rId166" Type="http://schemas.openxmlformats.org/officeDocument/2006/relationships/slide" Target="slides/slide98.xml"/><Relationship Id="rId167" Type="http://schemas.openxmlformats.org/officeDocument/2006/relationships/slide" Target="slides/slide99.xml"/><Relationship Id="rId168" Type="http://schemas.openxmlformats.org/officeDocument/2006/relationships/slide" Target="slides/slide100.xml"/><Relationship Id="rId169" Type="http://schemas.openxmlformats.org/officeDocument/2006/relationships/slide" Target="slides/slide101.xml"/><Relationship Id="rId170" Type="http://schemas.openxmlformats.org/officeDocument/2006/relationships/slide" Target="slides/slide102.xml"/><Relationship Id="rId171" Type="http://schemas.openxmlformats.org/officeDocument/2006/relationships/slide" Target="slides/slide103.xml"/><Relationship Id="rId172" Type="http://schemas.openxmlformats.org/officeDocument/2006/relationships/slide" Target="slides/slide104.xml"/><Relationship Id="rId173" Type="http://schemas.openxmlformats.org/officeDocument/2006/relationships/slide" Target="slides/slide105.xml"/><Relationship Id="rId174" Type="http://schemas.openxmlformats.org/officeDocument/2006/relationships/slide" Target="slides/slide106.xml"/><Relationship Id="rId175" Type="http://schemas.openxmlformats.org/officeDocument/2006/relationships/slide" Target="slides/slide107.xml"/><Relationship Id="rId176" Type="http://schemas.openxmlformats.org/officeDocument/2006/relationships/slide" Target="slides/slide108.xml"/></Relationships>
</file>

<file path=ppt/comments/modernComment_7FFFE8E4_7C660F74.xml><?xml version="1.0" encoding="utf-8"?>
<p188:cmLst xmlns:a="http://schemas.openxmlformats.org/drawingml/2006/main" xmlns:r="http://schemas.openxmlformats.org/officeDocument/2006/relationships" xmlns:p188="http://schemas.microsoft.com/office/powerpoint/2018/8/main">
  <p188:cm id="{CF128194-492D-4E0F-A336-23EB91E9244C}" authorId="{022A6F16-3653-42A3-75BE-9E5891C38EA9}" created="2026-05-06T12:31:19.108">
    <pc:sldMkLst xmlns:pc="http://schemas.microsoft.com/office/powerpoint/2013/main/command">
      <pc:docMk/>
      <pc:sldMk cId="2087063412" sldId="2147477732"/>
    </pc:sldMkLst>
    <p188:replyLst>
      <p188:reply id="{1116A3AB-71B1-4C14-8E4F-D2BB1DFCB765}" authorId="{08AA367A-3FE0-CE15-1CF5-256A1C107FE1}" created="2026-05-06T13:46:18.018">
        <p188:txBody>
          <a:bodyPr/>
          <a:lstStyle/>
          <a:p>
            <a:r>
              <a:rPr lang="es-MX"/>
              <a:t>[@Javier Bahena Pacheco] teniamos la duda de si desde este momento el requester debeia indicar si habia budged o no para la demanda. </a:t>
            </a:r>
          </a:p>
        </p188:txBody>
      </p188:reply>
      <p188:reply id="{91215BFC-03D3-4333-B700-EB58052C1046}" authorId="{08AA367A-3FE0-CE15-1CF5-256A1C107FE1}" created="2026-05-06T14:09:32.878">
        <p188:txBody>
          <a:bodyPr/>
          <a:lstStyle/>
          <a:p>
            <a:r>
              <a:rPr lang="es-MX"/>
              <a:t>Poner Budget en el forms</a:t>
            </a:r>
          </a:p>
        </p188:txBody>
      </p188:reply>
    </p188:replyLst>
    <p188:txBody>
      <a:bodyPr/>
      <a:lstStyle/>
      <a:p>
        <a:r>
          <a:rPr lang="en-US"/>
          <a:t>Por qué tenemos budget en amarillo? No lo veo en el forms</a:t>
        </a:r>
      </a:p>
    </p188:txBody>
  </p188:cm>
</p188:cmLst>
</file>

<file path=ppt/comments/modernComment_7FFFFC1E_8B835579.xml><?xml version="1.0" encoding="utf-8"?>
<p188:cmLst xmlns:a="http://schemas.openxmlformats.org/drawingml/2006/main" xmlns:r="http://schemas.openxmlformats.org/officeDocument/2006/relationships" xmlns:p188="http://schemas.microsoft.com/office/powerpoint/2018/8/main">
  <p188:cm id="{9D8E9740-B249-42DA-839D-78B60D147DFA}" authorId="{022A6F16-3653-42A3-75BE-9E5891C38EA9}" status="resolved" created="2026-05-06T13:51:33.179" complete="100000">
    <pc:sldMkLst xmlns:pc="http://schemas.microsoft.com/office/powerpoint/2013/main/command">
      <pc:docMk/>
      <pc:sldMk cId="2340640121" sldId="2147482654"/>
    </pc:sldMkLst>
    <p188:txBody>
      <a:bodyPr/>
      <a:lstStyle/>
      <a:p>
        <a:r>
          <a:rPr lang="en-US"/>
          <a:t>P&amp;T no es gis and global SAP, P&amp;T es = Gas &amp; Electric Ops</a:t>
        </a:r>
      </a:p>
    </p188:txBody>
  </p188:cm>
  <p188:cm id="{6B5741C0-D37A-44FD-9984-AFFB157C97FB}" authorId="{022A6F16-3653-42A3-75BE-9E5891C38EA9}" status="resolved" created="2026-05-06T13:52:34.719" complete="100000">
    <pc:sldMkLst xmlns:pc="http://schemas.microsoft.com/office/powerpoint/2013/main/command">
      <pc:docMk/>
      <pc:sldMk cId="2340640121" sldId="2147482654"/>
    </pc:sldMkLst>
    <p188:replyLst>
      <p188:reply id="{8B996651-CBA6-402D-A381-D3AC338854F0}" authorId="{08AA367A-3FE0-CE15-1CF5-256A1C107FE1}" created="2026-05-06T14:38:28.945">
        <p188:txBody>
          <a:bodyPr/>
          <a:lstStyle/>
          <a:p>
            <a:r>
              <a:rPr lang="es-MX"/>
              <a:t>Queda solo la 18 integrando roles</a:t>
            </a:r>
          </a:p>
        </p188:txBody>
      </p188:reply>
    </p188:replyLst>
    <p188:txBody>
      <a:bodyPr/>
      <a:lstStyle/>
      <a:p>
        <a:r>
          <a:rPr lang="en-US"/>
          <a:t>La 34 es = a la 17, alinear ambas en 1</a:t>
        </a:r>
      </a:p>
    </p188:txBody>
  </p188:cm>
</p188:cmLst>
</file>

<file path=ppt/comments/modernComment_7FFFFC2A_FF33AEC4.xml><?xml version="1.0" encoding="utf-8"?>
<p188:cmLst xmlns:a="http://schemas.openxmlformats.org/drawingml/2006/main" xmlns:r="http://schemas.openxmlformats.org/officeDocument/2006/relationships" xmlns:p188="http://schemas.microsoft.com/office/powerpoint/2018/8/main">
  <p188:cm id="{A3450EFB-85DC-42F4-AAD7-DBCBCF03A86C}" authorId="{08AA367A-3FE0-CE15-1CF5-256A1C107FE1}" created="2026-05-05T13:44:47.936">
    <pc:sldMkLst xmlns:pc="http://schemas.microsoft.com/office/powerpoint/2013/main/command">
      <pc:docMk/>
      <pc:sldMk cId="4281577156" sldId="2147482666"/>
    </pc:sldMkLst>
    <p188:replyLst>
      <p188:reply id="{B44890B1-0898-4F50-AC17-9998EC94993B}" authorId="{08AA367A-3FE0-CE15-1CF5-256A1C107FE1}" created="2026-05-05T23:32:52.158">
        <p188:txBody>
          <a:bodyPr/>
          <a:lstStyle/>
          <a:p>
            <a:r>
              <a:rPr lang="es-MX"/>
              <a:t>Se agrego la lamina 27 para explicar el proceso</a:t>
            </a:r>
          </a:p>
        </p188:txBody>
      </p188:reply>
    </p188:replyLst>
    <p188:txBody>
      <a:bodyPr/>
      <a:lstStyle/>
      <a:p>
        <a:r>
          <a:rPr lang="es-MX"/>
          <a:t>Class of service: Right now without the capacity planning assignment process draw for me is hard to related, we need the process behind to maintain the class of service</a:t>
        </a:r>
      </a:p>
    </p188:txBody>
  </p188:cm>
</p188:cmLst>
</file>

<file path=ppt/comments/modernComment_7FFFFC2B_D0B9E28A.xml><?xml version="1.0" encoding="utf-8"?>
<p188:cmLst xmlns:a="http://schemas.openxmlformats.org/drawingml/2006/main" xmlns:r="http://schemas.openxmlformats.org/officeDocument/2006/relationships" xmlns:p188="http://schemas.microsoft.com/office/powerpoint/2018/8/main">
  <p188:cm id="{36166D7B-77CB-4E07-83EB-9171747D2D22}" authorId="{08AA367A-3FE0-CE15-1CF5-256A1C107FE1}" created="2026-05-05T22:35:58.658">
    <pc:sldMkLst xmlns:pc="http://schemas.microsoft.com/office/powerpoint/2013/main/command">
      <pc:docMk/>
      <pc:sldMk cId="3501843082" sldId="2147482667"/>
    </pc:sldMkLst>
    <p188:replyLst>
      <p188:reply id="{1CFFC580-C438-44DA-8408-8EF774C5F0DF}" authorId="{08AA367A-3FE0-CE15-1CF5-256A1C107FE1}" created="2026-05-05T22:36:12.365">
        <p188:txBody>
          <a:bodyPr/>
          <a:lstStyle/>
          <a:p>
            <a:r>
              <a:rPr lang="es-MX"/>
              <a:t>Quedan como production support, regulatory y non regulatory</a:t>
            </a:r>
          </a:p>
        </p188:txBody>
        <p188:extLst>
          <p:ext xmlns:p="http://schemas.openxmlformats.org/presentationml/2006/main" uri="{57CB4572-C831-44C2-8A1C-0ADB6CCDFE69}">
            <p223:reactions xmlns:p223="http://schemas.microsoft.com/office/powerpoint/2022/03/main">
              <p223:rxn type="👍">
                <p223:instance time="2026-05-06T13:33:53.705" authorId="{022A6F16-3653-42A3-75BE-9E5891C38EA9}"/>
              </p223:rxn>
            </p223:reactions>
          </p:ext>
        </p188:extLst>
      </p188:reply>
    </p188:replyLst>
    <p188:txBody>
      <a:bodyPr/>
      <a:lstStyle/>
      <a:p>
        <a:r>
          <a:rPr lang="es-MX"/>
          <a:t>in the type of demand, we are adding change category what regulated change means? we have already regulatory demand flgeed, this could complex the ecosystem</a:t>
        </a:r>
      </a:p>
    </p188:txBody>
  </p188:cm>
  <p188:cm id="{47E59C8A-C7C6-4012-A66F-238D993B5AA9}" authorId="{08AA367A-3FE0-CE15-1CF5-256A1C107FE1}" created="2026-05-05T22:37:36.921">
    <pc:sldMkLst xmlns:pc="http://schemas.microsoft.com/office/powerpoint/2013/main/command">
      <pc:docMk/>
      <pc:sldMk cId="3501843082" sldId="2147482667"/>
    </pc:sldMkLst>
    <p188:txBody>
      <a:bodyPr/>
      <a:lstStyle/>
      <a:p>
        <a:r>
          <a:rPr lang="es-MX"/>
          <a:t>	• Work type of the 31 could be mix with type of demand, for me makes sense to simplify more the model so they follow (in the description of upgrade we have also regulatotry, same as before we have already regulatory flag)</a:t>
        </a:r>
      </a:p>
    </p188:txBody>
  </p188:cm>
  <p188:cm id="{DEFAC016-CAB6-4B06-95D6-F86E1AA99F00}" authorId="{022A6F16-3653-42A3-75BE-9E5891C38EA9}" created="2026-05-06T13:35:10.144">
    <pc:sldMkLst xmlns:pc="http://schemas.microsoft.com/office/powerpoint/2013/main/command">
      <pc:docMk/>
      <pc:sldMk cId="3501843082" sldId="2147482667"/>
    </pc:sldMkLst>
    <p188:txBody>
      <a:bodyPr/>
      <a:lstStyle/>
      <a:p>
        <a:r>
          <a:rPr lang="en-US"/>
          <a:t>If production support = Incidents in IT Now, we are mixing 2 channels, production support could be “&gt;M” so that means that could enter in both, clarify</a:t>
        </a:r>
      </a:p>
    </p188:txBody>
  </p188:cm>
  <p188:cm id="{D99BDA25-9BC6-4C97-9EB2-EC83F98523E5}" authorId="{022A6F16-3653-42A3-75BE-9E5891C38EA9}" created="2026-05-06T13:39:19.088">
    <pc:sldMkLst xmlns:pc="http://schemas.microsoft.com/office/powerpoint/2013/main/command">
      <pc:docMk/>
      <pc:sldMk cId="3501843082" sldId="2147482667"/>
    </pc:sldMkLst>
    <p188:replyLst>
      <p188:reply id="{F69C9820-B292-44C2-9236-A8D425D19B14}" authorId="{08AA367A-3FE0-CE15-1CF5-256A1C107FE1}" created="2026-05-06T14:17:31.082">
        <p188:txBody>
          <a:bodyPr/>
          <a:lstStyle/>
          <a:p>
            <a:r>
              <a:rPr lang="es-MX"/>
              <a:t>Quedar muy claro en el mismo punto que Gate pasa, por quién pasa y que´no pasa.</a:t>
            </a:r>
          </a:p>
        </p188:txBody>
      </p188:reply>
    </p188:replyLst>
    <p188:txBody>
      <a:bodyPr/>
      <a:lstStyle/>
      <a:p>
        <a:r>
          <a:rPr lang="en-US"/>
          <a:t>Dijimos que M va a gate 1, estandaricemos el nombre de las gate que pasa cada tipo y las que no pasa mas claramente en el mismo punto para todos los tipos y quien lo supervisa, tenemos puesto sponsor sub team lead, business unit lead (diferente taxonomia que en el resto de la presentación)</a:t>
        </a:r>
      </a:p>
    </p188:txBody>
  </p188:cm>
  <p188:cm id="{FD49C047-1C00-4F08-BC03-E54F6970D22B}" authorId="{08AA367A-3FE0-CE15-1CF5-256A1C107FE1}" created="2026-05-06T14:18:10.197">
    <pc:sldMkLst xmlns:pc="http://schemas.microsoft.com/office/powerpoint/2013/main/command">
      <pc:docMk/>
      <pc:sldMk cId="3501843082" sldId="2147482667"/>
    </pc:sldMkLst>
    <p188:txBody>
      <a:bodyPr/>
      <a:lstStyle/>
      <a:p>
        <a:r>
          <a:rPr lang="es-MX"/>
          <a:t>Integrar con siguiente slide</a:t>
        </a:r>
      </a:p>
    </p188:txBody>
  </p188:cm>
</p188:cmLst>
</file>

<file path=ppt/comments/modernComment_7FFFFC2D_A79D6E0D.xml><?xml version="1.0" encoding="utf-8"?>
<p188:cmLst xmlns:a="http://schemas.openxmlformats.org/drawingml/2006/main" xmlns:r="http://schemas.openxmlformats.org/officeDocument/2006/relationships" xmlns:p188="http://schemas.microsoft.com/office/powerpoint/2018/8/main">
  <p188:cm id="{049E4A3C-426F-463A-B6EE-7C8FF07022E2}" authorId="{08AA367A-3FE0-CE15-1CF5-256A1C107FE1}" created="2026-05-05T13:45:42.369">
    <pc:sldMkLst xmlns:pc="http://schemas.microsoft.com/office/powerpoint/2013/main/command">
      <pc:docMk/>
      <pc:sldMk cId="2812112397" sldId="2147482669"/>
    </pc:sldMkLst>
    <p188:txBody>
      <a:bodyPr/>
      <a:lstStyle/>
      <a:p>
        <a:r>
          <a:rPr lang="es-MX"/>
          <a:t>Slide 32 - CS adaptation have safety (the department doesn't work with a Crew employees, they work for customer services..), the formulas of pain are very complex for them, we need to simplify more</a:t>
        </a:r>
      </a:p>
    </p188:txBody>
    <p188:extLst>
      <p:ext xmlns:p="http://schemas.openxmlformats.org/presentationml/2006/main" uri="{57CB4572-C831-44C2-8A1C-0ADB6CCDFE69}">
        <p223:reactions xmlns:p223="http://schemas.microsoft.com/office/powerpoint/2022/03/main">
          <p223:rxn type="👍">
            <p223:instance time="2026-05-06T13:46:15.208" authorId="{022A6F16-3653-42A3-75BE-9E5891C38EA9}"/>
          </p223:rxn>
        </p223:reactions>
      </p:ext>
    </p188:extLst>
  </p188:cm>
  <p188:cm id="{CB148B4F-3ACC-4D8A-839D-FB15287DC381}" authorId="{022A6F16-3653-42A3-75BE-9E5891C38EA9}" created="2026-05-06T13:47:52.248">
    <pc:sldMkLst xmlns:pc="http://schemas.microsoft.com/office/powerpoint/2013/main/command">
      <pc:docMk/>
      <pc:sldMk cId="2812112397" sldId="2147482669"/>
    </pc:sldMkLst>
    <p188:replyLst>
      <p188:reply id="{845E1D2E-41C8-454A-A35A-342F0D584069}" authorId="{08AA367A-3FE0-CE15-1CF5-256A1C107FE1}" created="2026-05-06T20:47:00.579">
        <p188:txBody>
          <a:bodyPr/>
          <a:lstStyle/>
          <a:p>
            <a:r>
              <a:rPr lang="es-MX"/>
              <a:t>Queda solo la formula de como se acplica el score para cada branch de Digital Prodcuts</a:t>
            </a:r>
          </a:p>
        </p188:txBody>
      </p188:reply>
    </p188:replyLst>
    <p188:txBody>
      <a:bodyPr/>
      <a:lstStyle/>
      <a:p>
        <a:r>
          <a:rPr lang="en-US"/>
          <a:t>No entiendo el origin de la izquierda, queremos mantenerlo como vision de que se utiliza esos factores en el caso de P&amp;T como inspiración? Nolo incluiría porque esto es la definicion para este area, dejar mas claro entonces en dos bloques el pain score para CS y el pain score para ITBA</a:t>
        </a:r>
      </a:p>
    </p188:txBody>
  </p188:cm>
</p188:cmLst>
</file>

<file path=ppt/comments/modernComment_7FFFFC2F_18CF1020.xml><?xml version="1.0" encoding="utf-8"?>
<p188:cmLst xmlns:a="http://schemas.openxmlformats.org/drawingml/2006/main" xmlns:r="http://schemas.openxmlformats.org/officeDocument/2006/relationships" xmlns:p188="http://schemas.microsoft.com/office/powerpoint/2018/8/main">
  <p188:cm id="{AB82B46A-A6BC-4663-A066-F4C23865166D}" authorId="{08AA367A-3FE0-CE15-1CF5-256A1C107FE1}" created="2026-05-05T13:46:23.103">
    <pc:sldMkLst xmlns:pc="http://schemas.microsoft.com/office/powerpoint/2013/main/command">
      <pc:docMk/>
      <pc:sldMk cId="416223264" sldId="2147482671"/>
    </pc:sldMkLst>
    <p188:txBody>
      <a:bodyPr/>
      <a:lstStyle/>
      <a:p>
        <a:r>
          <a:rPr lang="es-MX"/>
          <a:t>Slide 36 we have include here PMs and demand manager chair but not in the slide before when we speak about the triage</a:t>
        </a:r>
      </a:p>
    </p188:txBody>
  </p188:cm>
</p188:cmLst>
</file>

<file path=ppt/comments/modernComment_7FFFFC3E_8F726A5B.xml><?xml version="1.0" encoding="utf-8"?>
<p188:cmLst xmlns:a="http://schemas.openxmlformats.org/drawingml/2006/main" xmlns:r="http://schemas.openxmlformats.org/officeDocument/2006/relationships" xmlns:p188="http://schemas.microsoft.com/office/powerpoint/2018/8/main">
  <p188:cm id="{13A221CF-208B-415E-AA97-B445F4AC07DC}" authorId="{022A6F16-3653-42A3-75BE-9E5891C38EA9}" created="2026-05-06T12:27:44.705">
    <pc:sldMkLst xmlns:pc="http://schemas.microsoft.com/office/powerpoint/2013/main/command">
      <pc:docMk/>
      <pc:sldMk cId="1014287839" sldId="2147482686"/>
    </pc:sldMkLst>
    <p188:txBody>
      <a:bodyPr/>
      <a:lstStyle/>
      <a:p>
        <a:r>
          <a:rPr lang="en-US"/>
          <a:t>Who is the portfolio manager, who is the Product Manager Director? En el funnel tenemos domain product owner (no explicado en ningun sitio), tenemos intake lead (tampoco explicado) y busienss process owner (tampoco explicado)</a:t>
        </a:r>
      </a:p>
    </p188:txBody>
  </p188:cm>
  <p188:cm id="{E9117FC9-D9A7-46E1-9EDF-30ED074BD1AA}" authorId="{022A6F16-3653-42A3-75BE-9E5891C38EA9}" created="2026-05-06T12:29:16.014">
    <pc:sldMkLst xmlns:pc="http://schemas.microsoft.com/office/powerpoint/2013/main/command">
      <pc:docMk/>
      <pc:sldMk cId="1014287839" sldId="2147482686"/>
    </pc:sldMkLst>
    <p188:txBody>
      <a:bodyPr/>
      <a:lstStyle/>
      <a:p>
        <a:r>
          <a:rPr lang="en-US"/>
          <a:t>Metrics de performance no las tenemos definidas</a:t>
        </a:r>
      </a:p>
    </p188:txBody>
  </p188:cm>
</p188:cmLst>
</file>

<file path=ppt/comments/modernComment_7FFFFC4A_8E5B8B2E.xml><?xml version="1.0" encoding="utf-8"?>
<p188:cmLst xmlns:a="http://schemas.openxmlformats.org/drawingml/2006/main" xmlns:r="http://schemas.openxmlformats.org/officeDocument/2006/relationships" xmlns:p188="http://schemas.microsoft.com/office/powerpoint/2018/8/main">
  <p188:cm id="{24407385-1C95-4794-996F-F2A1DE2AD8E1}" authorId="{022A6F16-3653-42A3-75BE-9E5891C38EA9}" created="2026-05-06T13:41:49.207">
    <pc:sldMkLst xmlns:pc="http://schemas.microsoft.com/office/powerpoint/2013/main/command">
      <pc:docMk/>
      <pc:sldMk cId="2388364078" sldId="2147482698"/>
    </pc:sldMkLst>
    <p188:replyLst>
      <p188:reply id="{B0777D8D-324A-4858-B766-24144A4E8EAF}" authorId="{08AA367A-3FE0-CE15-1CF5-256A1C107FE1}" created="2026-05-06T20:45:25.257">
        <p188:txBody>
          <a:bodyPr/>
          <a:lstStyle/>
          <a:p>
            <a:r>
              <a:rPr lang="es-MX"/>
              <a:t>incluida</a:t>
            </a:r>
          </a:p>
        </p188:txBody>
      </p188:reply>
    </p188:replyLst>
    <p188:txBody>
      <a:bodyPr/>
      <a:lstStyle/>
      <a:p>
        <a:r>
          <a:rPr lang="en-US"/>
          <a:t>Nos falta la nueva vacante en decide</a:t>
        </a:r>
      </a:p>
    </p188:txBody>
  </p188:cm>
  <p188:cm id="{104B17A2-F2A8-4160-9271-504C779AFFEC}" authorId="{022A6F16-3653-42A3-75BE-9E5891C38EA9}" created="2026-05-06T13:43:42.789">
    <pc:sldMkLst xmlns:pc="http://schemas.microsoft.com/office/powerpoint/2013/main/command">
      <pc:docMk/>
      <pc:sldMk cId="2388364078" sldId="2147482698"/>
    </pc:sldMkLst>
    <p188:replyLst>
      <p188:reply id="{A6256B8E-4CCC-4A2D-9752-1F51F408BAD6}" authorId="{08AA367A-3FE0-CE15-1CF5-256A1C107FE1}" created="2026-05-06T20:45:28.484">
        <p188:txBody>
          <a:bodyPr/>
          <a:lstStyle/>
          <a:p>
            <a:r>
              <a:rPr lang="es-MX"/>
              <a:t>incluidas</a:t>
            </a:r>
          </a:p>
        </p188:txBody>
      </p188:reply>
    </p188:replyLst>
    <p188:txBody>
      <a:bodyPr/>
      <a:lstStyle/>
      <a:p>
        <a:r>
          <a:rPr lang="en-US"/>
          <a:t>Class of service se lo daría como responsabilidad de estar entendiendo capacidad y situacion a los mandos intermedios del equipo de Kumar que deberían y los de Carlos tambien y creo que en portfolio tenemos que meter a middle management de ambos equipos porque no le estamos dando rol a los mismos, le hemos dado la responsabilidad completa a Heather + nuevos PMs bajo ella pero el día a día ahora mismo está en los mandos intermedios de Kumar</a:t>
        </a:r>
      </a:p>
    </p188:txBody>
  </p188:cm>
</p188:cmLst>
</file>

<file path=ppt/comments/modernComment_7FFFFC4F_EC5BFD84.xml><?xml version="1.0" encoding="utf-8"?>
<p188:cmLst xmlns:a="http://schemas.openxmlformats.org/drawingml/2006/main" xmlns:r="http://schemas.openxmlformats.org/officeDocument/2006/relationships" xmlns:p188="http://schemas.microsoft.com/office/powerpoint/2018/8/main">
  <p188:cm id="{EA8D55A9-E84B-499A-BAC3-6C70FE4FCAFC}" authorId="{022A6F16-3653-42A3-75BE-9E5891C38EA9}" created="2026-05-06T13:15:18.528">
    <pc:sldMkLst xmlns:pc="http://schemas.microsoft.com/office/powerpoint/2013/main/command">
      <pc:docMk/>
      <pc:sldMk cId="3157074371" sldId="2147482703"/>
    </pc:sldMkLst>
    <p188:txBody>
      <a:bodyPr/>
      <a:lstStyle/>
      <a:p>
        <a:r>
          <a:rPr lang="en-US"/>
          <a:t>No esta el subtitulo bloque a la misma altura que las anteriores slides</a:t>
        </a:r>
      </a:p>
    </p188:txBody>
  </p188:cm>
  <p188:cm id="{9E4E33FA-3ADB-4FAC-952C-A02AEF7B7B34}" authorId="{022A6F16-3653-42A3-75BE-9E5891C38EA9}" created="2026-05-06T13:28:02.724">
    <pc:sldMkLst xmlns:pc="http://schemas.microsoft.com/office/powerpoint/2013/main/command">
      <pc:docMk/>
      <pc:sldMk cId="3157074371" sldId="2147482703"/>
    </pc:sldMkLst>
    <p188:replyLst>
      <p188:reply id="{6B81F3F2-9B20-194B-BC78-A408EFFCD7D6}" authorId="{67DB39AB-BC3E-8A02-7D4E-C00B2BD6237D}" created="2026-05-06T14:09:58.058">
        <p188:txBody>
          <a:bodyPr/>
          <a:lstStyle/>
          <a:p>
            <a:r>
              <a:rPr lang="pt-BR"/>
              <a:t>[@Ana Sancha Medina], yesterday we defined together that we'll remove IT Now ticket from Jira (Jimmy shared that in Renewables, for example, they asked to IT Now tickets to stay just there and not mix with jira tickets - and I think it makes sense)</a:t>
            </a:r>
          </a:p>
        </p188:txBody>
      </p188:reply>
    </p188:replyLst>
    <p188:txBody>
      <a:bodyPr/>
      <a:lstStyle/>
      <a:p>
        <a:r>
          <a:rPr lang="en-US"/>
          <a:t>Para este tema, los incidentes que van en IT Now no estarían mezclados con esta definición? Se mezcla esto con los incidentes de IT Now, hay que clarificar en que difieren.</a:t>
        </a:r>
      </a:p>
    </p188:txBody>
  </p188:cm>
</p188:cmLst>
</file>

<file path=ppt/comments/modernComment_7FFFFC5C_31E48420.xml><?xml version="1.0" encoding="utf-8"?>
<p188:cmLst xmlns:a="http://schemas.openxmlformats.org/drawingml/2006/main" xmlns:r="http://schemas.openxmlformats.org/officeDocument/2006/relationships" xmlns:p188="http://schemas.microsoft.com/office/powerpoint/2018/8/main">
  <p188:cm id="{575F33B7-83FD-453D-B31E-80B4A125F411}" authorId="{08AA367A-3FE0-CE15-1CF5-256A1C107FE1}" created="2026-05-05T22:35:20.597">
    <pc:sldMkLst xmlns:pc="http://schemas.microsoft.com/office/powerpoint/2013/main/command">
      <pc:docMk/>
      <pc:sldMk cId="3387346229" sldId="2147482670"/>
    </pc:sldMkLst>
    <p188:replyLst>
      <p188:reply id="{64C9E60B-0B73-449E-98CB-B1C76B448E65}" authorId="{08AA367A-3FE0-CE15-1CF5-256A1C107FE1}" created="2026-05-05T22:35:24.545">
        <p188:txBody>
          <a:bodyPr/>
          <a:lstStyle/>
          <a:p>
            <a:r>
              <a:rPr lang="es-MX"/>
              <a:t>Considered already</a:t>
            </a:r>
          </a:p>
        </p188:txBody>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extLst>
      <p:ext xmlns:p="http://schemas.openxmlformats.org/presentationml/2006/main" uri="{57CB4572-C831-44C2-8A1C-0ADB6CCDFE69}">
        <p223:reactions xmlns:p223="http://schemas.microsoft.com/office/powerpoint/2022/03/main">
          <p223:rxn type="👍">
            <p223:instance time="2026-05-06T13:48:01.423" authorId="{022A6F16-3653-42A3-75BE-9E5891C38EA9}"/>
          </p223:rxn>
        </p223:reactions>
      </p:ext>
    </p188:extLst>
  </p188:cm>
  <p188:cm id="{F312A412-4BEB-4BF3-9FCF-DE5B74A163DC}" authorId="{08AA367A-3FE0-CE15-1CF5-256A1C107FE1}" created="2026-05-05T22:37:51.683">
    <pc:sldMkLst xmlns:pc="http://schemas.microsoft.com/office/powerpoint/2013/main/command">
      <pc:docMk/>
      <pc:sldMk cId="3387346229" sldId="2147482670"/>
    </pc:sldMkLst>
    <p188:txBody>
      <a:bodyPr/>
      <a:lstStyle/>
      <a:p>
        <a:r>
          <a:rPr lang="es-MX"/>
          <a:t>	• Slide 32 - CS adaptation have safety (the department doesn't work with a Crew employees, they work for customer services..), the formulas of pain are very complex for them, we need to simplify more</a:t>
        </a:r>
      </a:p>
    </p188:txBody>
    <p188:extLst>
      <p:ext xmlns:p="http://schemas.openxmlformats.org/presentationml/2006/main" uri="{57CB4572-C831-44C2-8A1C-0ADB6CCDFE69}">
        <p223:reactions xmlns:p223="http://schemas.microsoft.com/office/powerpoint/2022/03/main">
          <p223:rxn type="👍">
            <p223:instance time="2026-05-06T13:48:05.804" authorId="{022A6F16-3653-42A3-75BE-9E5891C38EA9}"/>
          </p223:rxn>
        </p223:reactions>
      </p:ext>
    </p188:extLst>
  </p188:cm>
  <p188:cm id="{092D5416-7BFC-4875-98FF-D9E2727C0EDA}" authorId="{022A6F16-3653-42A3-75BE-9E5891C38EA9}" created="2026-05-06T13:50:05.678">
    <pc:sldMkLst xmlns:pc="http://schemas.microsoft.com/office/powerpoint/2013/main/command">
      <pc:docMk/>
      <pc:sldMk cId="3387346229" sldId="2147482670"/>
    </pc:sldMkLst>
    <p188:replyLst>
      <p188:reply id="{C2F42E4B-C778-4E70-BFA0-2B43B8635341}" authorId="{08AA367A-3FE0-CE15-1CF5-256A1C107FE1}" created="2026-05-06T20:46:34.685">
        <p188:txBody>
          <a:bodyPr/>
          <a:lstStyle/>
          <a:p>
            <a:r>
              <a:rPr lang="es-MX"/>
              <a:t>Ya esta homologados los nvieles, se cambian SMEs por el architect y el CS manager</a:t>
            </a:r>
          </a:p>
        </p188:txBody>
      </p188:reply>
    </p188:replyLst>
    <p188:txBody>
      <a:bodyPr/>
      <a:lstStyle/>
      <a:p>
        <a:r>
          <a:rPr lang="en-US"/>
          <a:t>Tenemos en effort “SMEs” at TRIAGE, no se entiende quien es responsable y cual es la definicion de 1 a 5 de complexity, lo mismo que hemos descrito business value, el resto de valiarable no está definido</a:t>
        </a:r>
      </a:p>
    </p188:txBody>
  </p188:cm>
</p188:cmLst>
</file>

<file path=ppt/comments/modernComment_7FFFFC21_1D132138.xml><?xml version="1.0" encoding="utf-8"?>
<p188:cmLst xmlns:a="http://schemas.openxmlformats.org/drawingml/2006/main" xmlns:r="http://schemas.openxmlformats.org/officeDocument/2006/relationships" xmlns:p188="http://schemas.microsoft.com/office/powerpoint/2018/8/main">
  <p188:cm id="{9C1A134D-0004-4FD9-9F5C-2B987BBFAD56}" authorId="{022A6F16-3653-42A3-75BE-9E5891C38EA9}" created="2026-05-06T12:26:25.654">
    <pc:sldMkLst xmlns:pc="http://schemas.microsoft.com/office/powerpoint/2013/main/command">
      <pc:docMk/>
      <pc:sldMk cId="487792952" sldId="2147482657"/>
    </pc:sldMkLst>
    <p188:replyLst>
      <p188:reply id="{04EEB030-AF75-4FB7-88A6-F6B42301E1A1}" authorId="{08AA367A-3FE0-CE15-1CF5-256A1C107FE1}" created="2026-05-06T20:31:51.473">
        <p188:txBody>
          <a:bodyPr/>
          <a:lstStyle/>
          <a:p>
            <a:r>
              <a:rPr lang="es-MX"/>
              <a:t>complementado</a:t>
            </a:r>
          </a:p>
        </p188:txBody>
      </p188:reply>
    </p188:replyLst>
    <p188:txBody>
      <a:bodyPr/>
      <a:lstStyle/>
      <a:p>
        <a:r>
          <a:rPr lang="en-US"/>
          <a:t>In the lighweight but formal discovery we dont explain hypthoseis of vlaue or hypothesis of risk, what are the main deliverables we expect and from who </a:t>
        </a:r>
      </a:p>
    </p188:txBody>
    <p188:extLst>
      <p:ext xmlns:p="http://schemas.openxmlformats.org/presentationml/2006/main" uri="{57CB4572-C831-44C2-8A1C-0ADB6CCDFE69}">
        <p223:reactions xmlns:p223="http://schemas.microsoft.com/office/powerpoint/2022/03/main">
          <p223:rxn type="👍">
            <p223:instance time="2026-05-06T23:05:49.269" authorId="{022A6F16-3653-42A3-75BE-9E5891C38EA9}"/>
          </p223:rxn>
        </p223:reactions>
      </p:ext>
    </p188:extLst>
  </p188:cm>
</p188:cmLst>
</file>

<file path=ppt/comments/modernComment_7FFFFC23_37B42F4D.xml><?xml version="1.0" encoding="utf-8"?>
<p188:cmLst xmlns:a="http://schemas.openxmlformats.org/drawingml/2006/main" xmlns:r="http://schemas.openxmlformats.org/officeDocument/2006/relationships" xmlns:p188="http://schemas.microsoft.com/office/powerpoint/2018/8/main">
  <p188:cm id="{A95112AE-6E53-4A47-9F0B-FD616779E0E1}" authorId="{08AA367A-3FE0-CE15-1CF5-256A1C107FE1}" created="2026-05-05T22:35:06.983">
    <pc:sldMkLst xmlns:pc="http://schemas.microsoft.com/office/powerpoint/2013/main/command">
      <pc:docMk/>
      <pc:sldMk cId="934555469" sldId="2147482659"/>
    </pc:sldMkLst>
    <p188:replyLst>
      <p188:reply id="{3C8B281A-84C9-4AFE-A187-A690CE883840}" authorId="{08AA367A-3FE0-CE15-1CF5-256A1C107FE1}" created="2026-05-05T23:29:12.406">
        <p188:txBody>
          <a:bodyPr/>
          <a:lstStyle/>
          <a:p>
            <a:r>
              <a:rPr lang="es-MX"/>
              <a:t>Opcos are included to be selected in the Opco Field </a:t>
            </a:r>
          </a:p>
        </p188:txBody>
        <p188:extLst>
          <p:ext xmlns:p="http://schemas.openxmlformats.org/presentationml/2006/main" uri="{57CB4572-C831-44C2-8A1C-0ADB6CCDFE69}">
            <p223:reactions xmlns:p223="http://schemas.microsoft.com/office/powerpoint/2022/03/main">
              <p223:rxn type="👍">
                <p223:instance time="2026-05-06T13:12:03.164" authorId="{022A6F16-3653-42A3-75BE-9E5891C38EA9}"/>
              </p223:rxn>
            </p223:reactions>
          </p:ext>
        </p188:extLst>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cm>
</p188:cmLst>
</file>

<file path=ppt/comments/modernComment_7FFFFC27_868F6387.xml><?xml version="1.0" encoding="utf-8"?>
<p188:cmLst xmlns:a="http://schemas.openxmlformats.org/drawingml/2006/main" xmlns:r="http://schemas.openxmlformats.org/officeDocument/2006/relationships" xmlns:p188="http://schemas.microsoft.com/office/powerpoint/2018/8/main">
  <p188:cm id="{986D321D-BF2F-458C-AFF0-D2091F2B39A0}" authorId="{08AA367A-3FE0-CE15-1CF5-256A1C107FE1}" created="2026-05-05T22:34:22.775">
    <ac:deMkLst xmlns:ac="http://schemas.microsoft.com/office/drawing/2013/main/command">
      <pc:docMk xmlns:pc="http://schemas.microsoft.com/office/powerpoint/2013/main/command"/>
      <pc:sldMk xmlns:pc="http://schemas.microsoft.com/office/powerpoint/2013/main/command" cId="2257544071" sldId="2147482663"/>
      <ac:spMk id="10" creationId="{F779CEF1-04B1-57BC-E54E-3DDC3C804CC2}"/>
    </ac:deMkLst>
    <p188:replyLst>
      <p188:reply id="{84731E35-005B-422D-B710-E858A432873B}" authorId="{08AA367A-3FE0-CE15-1CF5-256A1C107FE1}" created="2026-05-05T22:34:28.263">
        <p188:txBody>
          <a:bodyPr/>
          <a:lstStyle/>
          <a:p>
            <a:r>
              <a:rPr lang="es-MX"/>
              <a:t>Considered in antoher field</a:t>
            </a:r>
          </a:p>
        </p188:txBody>
      </p188:reply>
    </p188:replyLst>
    <p188:txBody>
      <a:bodyPr/>
      <a:lstStyle/>
      <a:p>
        <a:r>
          <a:rPr lang="es-MX"/>
          <a:t>in the business value definition, transformational (5) will be any regulatory request?</a:t>
        </a:r>
      </a:p>
    </p188:txBody>
    <p188:extLst>
      <p:ext xmlns:p="http://schemas.openxmlformats.org/presentationml/2006/main" uri="{57CB4572-C831-44C2-8A1C-0ADB6CCDFE69}">
        <p223:reactions xmlns:p223="http://schemas.microsoft.com/office/powerpoint/2022/03/main">
          <p223:rxn type="👍">
            <p223:instance time="2026-05-06T13:40:04.080" authorId="{022A6F16-3653-42A3-75BE-9E5891C38EA9}"/>
          </p223:rxn>
        </p223:reactions>
      </p:ext>
    </p188:extLst>
  </p188:cm>
</p188:cmLst>
</file>

<file path=ppt/comments/modernComment_7FFFFC29_47B8515C.xml><?xml version="1.0" encoding="utf-8"?>
<p188:cmLst xmlns:a="http://schemas.openxmlformats.org/drawingml/2006/main" xmlns:r="http://schemas.openxmlformats.org/officeDocument/2006/relationships" xmlns:p188="http://schemas.microsoft.com/office/powerpoint/2018/8/main">
  <p188:cm id="{B7B019BF-5B76-45EC-9404-413DEE00609B}" authorId="{08AA367A-3FE0-CE15-1CF5-256A1C107FE1}" created="2026-05-05T13:44:35.656">
    <ac:txMkLst xmlns:ac="http://schemas.microsoft.com/office/drawing/2013/main/command">
      <pc:docMk xmlns:pc="http://schemas.microsoft.com/office/powerpoint/2013/main/command"/>
      <pc:sldMk xmlns:pc="http://schemas.microsoft.com/office/powerpoint/2013/main/command" cId="1203261788" sldId="2147482665"/>
      <ac:spMk id="136" creationId="{74109904-BF56-9801-8DC2-0580E5910AA8}"/>
      <ac:txMk cp="3">
        <ac:context len="69" hash="2022698438"/>
      </ac:txMk>
    </ac:txMkLst>
    <p188:pos x="5026010" y="262624"/>
    <p188:replyLst>
      <p188:reply id="{F2AE9C0C-5C12-4FF0-B592-53CFF171D425}" authorId="{08AA367A-3FE0-CE15-1CF5-256A1C107FE1}" created="2026-05-05T23:30:13.190">
        <p188:txBody>
          <a:bodyPr/>
          <a:lstStyle/>
          <a:p>
            <a:r>
              <a:rPr lang="es-MX"/>
              <a:t>updated</a:t>
            </a:r>
          </a:p>
        </p188:txBody>
      </p188:reply>
    </p188:replyLst>
    <p188:txBody>
      <a:bodyPr/>
      <a:lstStyle/>
      <a:p>
        <a:r>
          <a:rPr lang="es-MX"/>
          <a:t>slide 28 appears champions that doesn't make sense, the configuration of the boards seems different at the portfolio level and is not very clear what goes to team level and what goes to portfolio depending on the size, we need one view that explain that logic</a:t>
        </a:r>
      </a:p>
    </p188:txBody>
    <p188:extLst>
      <p:ext xmlns:p="http://schemas.openxmlformats.org/presentationml/2006/main" uri="{57CB4572-C831-44C2-8A1C-0ADB6CCDFE69}">
        <p223:reactions xmlns:p223="http://schemas.microsoft.com/office/powerpoint/2022/03/main">
          <p223:rxn type="👍">
            <p223:instance time="2026-05-06T13:29:20.920" authorId="{022A6F16-3653-42A3-75BE-9E5891C38EA9}"/>
          </p223:rxn>
        </p223:reactions>
      </p:ext>
    </p188:extLst>
  </p188:cm>
  <p188:cm id="{9116C391-8EF8-44F2-9353-5BD31516491D}" authorId="{022A6F16-3653-42A3-75BE-9E5891C38EA9}" created="2026-05-06T13:30:11.991">
    <pc:sldMkLst xmlns:pc="http://schemas.microsoft.com/office/powerpoint/2013/main/command">
      <pc:docMk/>
      <pc:sldMk cId="1203261788" sldId="2147482665"/>
    </pc:sldMkLst>
    <p188:replyLst>
      <p188:reply id="{679B4AFD-79FC-2549-A8DB-CBD01648B09E}" authorId="{67DB39AB-BC3E-8A02-7D4E-C00B2BD6237D}" created="2026-05-06T14:14:27.675">
        <p188:txBody>
          <a:bodyPr/>
          <a:lstStyle/>
          <a:p>
            <a:r>
              <a:rPr lang="pt-BR"/>
              <a:t>[@Ana Sancha Medina], I think we need to clarify it together - after talking to Carlos we said to us that Vicent Lam structure were going to be migrated to CS, right [@Alfredo Soto Cuellar] ?</a:t>
            </a:r>
          </a:p>
        </p188:txBody>
      </p188:reply>
    </p188:replyLst>
    <p188:txBody>
      <a:bodyPr/>
      <a:lstStyle/>
      <a:p>
        <a:r>
          <a:rPr lang="en-US"/>
          <a:t>Meter &amp; Device Operations layer is on top of CS and ITBA, this is not correct</a:t>
        </a:r>
      </a:p>
    </p188:txBody>
  </p188:cm>
</p188:cmLst>
</file>

<file path=ppt/comments/modernComment_7FFFFC32_2DFCFA69.xml><?xml version="1.0" encoding="utf-8"?>
<p188:cmLst xmlns:a="http://schemas.openxmlformats.org/drawingml/2006/main" xmlns:r="http://schemas.openxmlformats.org/officeDocument/2006/relationships" xmlns:p188="http://schemas.microsoft.com/office/powerpoint/2018/8/main">
  <p188:cm id="{2604E69D-1E17-47D6-8E3C-084CABB03633}" authorId="{08AA367A-3FE0-CE15-1CF5-256A1C107FE1}" created="2026-05-05T13:43:49.214">
    <pc:sldMkLst xmlns:pc="http://schemas.microsoft.com/office/powerpoint/2013/main/command">
      <pc:docMk/>
      <pc:sldMk cId="0" sldId="2147482674"/>
    </pc:sldMkLst>
    <p188:txBody>
      <a:bodyPr/>
      <a:lstStyle/>
      <a:p>
        <a:r>
          <a:rPr lang="es-MX"/>
          <a:t>slide 19:  Rieviwing and analyzing (the new PMs that Heather is hiring will be part of the process?), what is the case for Carlos (we need the equivalent role, will be the PMO delivery (new position) or the current PM Sarath?)</a:t>
        </a:r>
      </a:p>
    </p188:txBody>
  </p188:cm>
  <p188:cm id="{9C092379-F5CE-4B1B-AEB5-9338F518F0AF}" authorId="{08AA367A-3FE0-CE15-1CF5-256A1C107FE1}" created="2026-05-05T17:35:11.706">
    <pc:sldMkLst xmlns:pc="http://schemas.microsoft.com/office/powerpoint/2013/main/command">
      <pc:docMk/>
      <pc:sldMk cId="0" sldId="2147482674"/>
    </pc:sldMkLst>
    <p188:txBody>
      <a:bodyPr/>
      <a:lstStyle/>
      <a:p>
        <a:r>
          <a:rPr lang="es-MX"/>
          <a:t>[@Gustavo Castellano] i’d add effort calculation as a single step before calculation the entire pain score</a:t>
        </a:r>
      </a:p>
    </p188:txBody>
  </p188:cm>
</p188:cmLst>
</file>

<file path=ppt/comments/modernComment_7FFFFC34_F44F75D2.xml><?xml version="1.0" encoding="utf-8"?>
<p188:cmLst xmlns:a="http://schemas.openxmlformats.org/drawingml/2006/main" xmlns:r="http://schemas.openxmlformats.org/officeDocument/2006/relationships" xmlns:p188="http://schemas.microsoft.com/office/powerpoint/2018/8/main">
  <p188:cm id="{C8547638-994E-4A57-AB6B-C3221B5AA4F4}" authorId="{022A6F16-3653-42A3-75BE-9E5891C38EA9}" created="2026-05-06T13:59:58.370">
    <pc:sldMkLst xmlns:pc="http://schemas.microsoft.com/office/powerpoint/2013/main/command">
      <pc:docMk/>
      <pc:sldMk cId="4098848210" sldId="2147482676"/>
    </pc:sldMkLst>
    <p188:replyLst>
      <p188:reply id="{63A577C8-CC55-4E7C-8784-3BE518A8A76A}" authorId="{08AA367A-3FE0-CE15-1CF5-256A1C107FE1}" created="2026-05-06T14:25:08.861">
        <p188:txBody>
          <a:bodyPr/>
          <a:lstStyle/>
          <a:p>
            <a:r>
              <a:rPr lang="es-MX"/>
              <a:t>Mostrar que es como una visualización de JIRA. Nos aparece por primera vez en . No cuadran las taxonomias de los roles.</a:t>
            </a:r>
          </a:p>
        </p188:txBody>
      </p188:reply>
    </p188:replyLst>
    <p188:txBody>
      <a:bodyPr/>
      <a:lstStyle/>
      <a:p>
        <a:r>
          <a:rPr lang="en-US"/>
          <a:t>Esta es una mezcla con la 37, que debe iluminarse en la fase que aplica</a:t>
        </a:r>
      </a:p>
    </p188:txBody>
  </p188:cm>
</p188:cmLst>
</file>

<file path=ppt/comments/modernComment_7FFFFC35_7E829B12.xml><?xml version="1.0" encoding="utf-8"?>
<p188:cmLst xmlns:a="http://schemas.openxmlformats.org/drawingml/2006/main" xmlns:r="http://schemas.openxmlformats.org/officeDocument/2006/relationships" xmlns:p188="http://schemas.microsoft.com/office/powerpoint/2018/8/main">
  <p188:cm id="{0A21E1F7-A4D8-48AD-850C-72097763EB68}" authorId="{022A6F16-3653-42A3-75BE-9E5891C38EA9}" created="2026-05-06T15:18:26.920">
    <pc:sldMkLst xmlns:pc="http://schemas.microsoft.com/office/powerpoint/2013/main/command">
      <pc:docMk/>
      <pc:sldMk cId="2122488594" sldId="2147482677"/>
    </pc:sldMkLst>
    <p188:replyLst>
      <p188:reply id="{BE17AE70-CB1E-4092-A172-F0A35495651F}" authorId="{08AA367A-3FE0-CE15-1CF5-256A1C107FE1}" created="2026-05-06T20:48:28.779">
        <p188:txBody>
          <a:bodyPr/>
          <a:lstStyle/>
          <a:p>
            <a:r>
              <a:rPr lang="es-MX"/>
              <a:t>incorporados</a:t>
            </a:r>
          </a:p>
        </p188:txBody>
      </p188:reply>
    </p188:replyLst>
    <p188:txBody>
      <a:bodyPr/>
      <a:lstStyle/>
      <a:p>
        <a:r>
          <a:rPr lang="en-US"/>
          <a:t>Incorporar a los middle managers</a:t>
        </a:r>
      </a:p>
    </p188:txBody>
  </p188:cm>
</p188:cmLst>
</file>

<file path=ppt/comments/modernComment_7FFFFC45_F2E87E10.xml><?xml version="1.0" encoding="utf-8"?>
<p188:cmLst xmlns:a="http://schemas.openxmlformats.org/drawingml/2006/main" xmlns:r="http://schemas.openxmlformats.org/officeDocument/2006/relationships" xmlns:p188="http://schemas.microsoft.com/office/powerpoint/2018/8/main">
  <p188:cm id="{49DD2D5D-26F9-4AEB-9C92-EFB9DC902BA7}" authorId="{022A6F16-3653-42A3-75BE-9E5891C38EA9}" created="2026-05-06T13:56:26.366">
    <pc:sldMkLst xmlns:pc="http://schemas.microsoft.com/office/powerpoint/2013/main/command">
      <pc:docMk/>
      <pc:sldMk cId="4191559056" sldId="2147482693"/>
    </pc:sldMkLst>
    <p188:txBody>
      <a:bodyPr/>
      <a:lstStyle/>
      <a:p>
        <a:r>
          <a:rPr lang="en-US"/>
          <a:t>Aquí tenemos los artefactos esperandos igual del ligh discovery peero no explicamos que significa</a:t>
        </a:r>
      </a:p>
    </p188:txBody>
  </p188:cm>
  <p188:cm id="{9B425648-A8AC-4EDF-A596-F60354F653E2}" authorId="{022A6F16-3653-42A3-75BE-9E5891C38EA9}" created="2026-05-06T13:56:50.847">
    <pc:sldMkLst xmlns:pc="http://schemas.microsoft.com/office/powerpoint/2013/main/command">
      <pc:docMk/>
      <pc:sldMk cId="4191559056" sldId="2147482693"/>
    </pc:sldMkLst>
    <p188:txBody>
      <a:bodyPr/>
      <a:lstStyle/>
      <a:p>
        <a:r>
          <a:rPr lang="en-US"/>
          <a:t>No tenemos el rol de heather metido en director view o de la nueva persona a contratar</a:t>
        </a:r>
      </a:p>
    </p188:txBody>
  </p188:cm>
  <p188:cm id="{D713D154-ED3F-4598-B53E-5D00EB128AF8}" authorId="{022A6F16-3653-42A3-75BE-9E5891C38EA9}" created="2026-05-06T13:58:23.130">
    <pc:sldMkLst xmlns:pc="http://schemas.microsoft.com/office/powerpoint/2013/main/command">
      <pc:docMk/>
      <pc:sldMk cId="4191559056" sldId="2147482693"/>
    </pc:sldMkLst>
    <p188:txBody>
      <a:bodyPr/>
      <a:lstStyle/>
      <a:p>
        <a:r>
          <a:rPr lang="en-US"/>
          <a:t>La vista por role y por stage de esta slide, debe integrarse en requester, Reivewing y Analyzing debe integrarse en lo siguiente y por ultimo gate 2</a:t>
        </a:r>
      </a:p>
    </p188:txBody>
  </p188:cm>
</p188:cmLst>
</file>

<file path=ppt/comments/modernComment_7FFFFC49_E41A1D25.xml><?xml version="1.0" encoding="utf-8"?>
<p188:cmLst xmlns:a="http://schemas.openxmlformats.org/drawingml/2006/main" xmlns:r="http://schemas.openxmlformats.org/officeDocument/2006/relationships" xmlns:p188="http://schemas.microsoft.com/office/powerpoint/2018/8/main">
  <p188:cm id="{48925364-CAC7-41A2-9037-FB4F29C50B03}" authorId="{022A6F16-3653-42A3-75BE-9E5891C38EA9}" created="2026-05-06T13:53:44.066">
    <pc:sldMkLst xmlns:pc="http://schemas.microsoft.com/office/powerpoint/2013/main/command">
      <pc:docMk/>
      <pc:sldMk cId="3826916645" sldId="2147482697"/>
    </pc:sldMkLst>
    <p188:replyLst>
      <p188:reply id="{E9665304-94B5-451C-84F9-3544E07C7DE2}" authorId="{08AA367A-3FE0-CE15-1CF5-256A1C107FE1}" created="2026-05-06T20:37:47.392">
        <p188:txBody>
          <a:bodyPr/>
          <a:lstStyle/>
          <a:p>
            <a:r>
              <a:rPr lang="es-MX"/>
              <a:t>Queda unificado</a:t>
            </a:r>
          </a:p>
        </p188:txBody>
      </p188:reply>
    </p188:replyLst>
    <p188:txBody>
      <a:bodyPr/>
      <a:lstStyle/>
      <a:p>
        <a:r>
          <a:rPr lang="en-US"/>
          <a:t>En la slide 27 estamos diciendo que M solo haz flag en portfolio y aquí estamos idcinedo que va al prtofolio gate, unificar la definición en todo</a:t>
        </a:r>
      </a:p>
    </p188:txBody>
  </p188:cm>
  <p188:cm id="{6825E0DD-7B53-439D-9260-BD3E2A758492}" authorId="{022A6F16-3653-42A3-75BE-9E5891C38EA9}" created="2026-05-06T13:54:09.776">
    <pc:sldMkLst xmlns:pc="http://schemas.microsoft.com/office/powerpoint/2013/main/command">
      <pc:docMk/>
      <pc:sldMk cId="3826916645" sldId="2147482697"/>
    </pc:sldMkLst>
    <p188:replyLst>
      <p188:reply id="{90DC2195-3683-1A41-9828-4A69B5DD7960}" authorId="{67DB39AB-BC3E-8A02-7D4E-C00B2BD6237D}" created="2026-05-06T14:21:07.162">
        <p188:txBody>
          <a:bodyPr/>
          <a:lstStyle/>
          <a:p>
            <a:r>
              <a:rPr lang="pt-BR"/>
              <a:t>I added that in XL case it will be managed in PPM Now (as Heather told us)</a:t>
            </a:r>
          </a:p>
        </p188:txBody>
      </p188:reply>
      <p188:reply id="{4BE8BA12-6BD8-4414-AC78-2E3DE1CE39F5}" authorId="{08AA367A-3FE0-CE15-1CF5-256A1C107FE1}" created="2026-05-06T20:38:00.474">
        <p188:txBody>
          <a:bodyPr/>
          <a:lstStyle/>
          <a:p>
            <a:r>
              <a:rPr lang="es-MX"/>
              <a:t>Integrado en una sola slide</a:t>
            </a:r>
          </a:p>
        </p188:txBody>
      </p188:reply>
    </p188:replyLst>
    <p188:txBody>
      <a:bodyPr/>
      <a:lstStyle/>
      <a:p>
        <a:r>
          <a:rPr lang="en-US"/>
          <a:t>Aquí hablamos de L, pero en otras slide hablamos de XL también</a:t>
        </a:r>
      </a:p>
    </p188:txBody>
  </p188:cm>
</p188:cmLst>
</file>

<file path=ppt/comments/modernComment_7FFFFC50_D7142D42.xml><?xml version="1.0" encoding="utf-8"?>
<p188:cmLst xmlns:a="http://schemas.openxmlformats.org/drawingml/2006/main" xmlns:r="http://schemas.openxmlformats.org/officeDocument/2006/relationships" xmlns:p188="http://schemas.microsoft.com/office/powerpoint/2018/8/main">
  <p188:cm id="{59AB1B4D-02DF-4AE3-BAF8-B5BBEB49DEAB}" authorId="{022A6F16-3653-42A3-75BE-9E5891C38EA9}" created="2026-05-06T15:38:56.925">
    <pc:sldMkLst xmlns:pc="http://schemas.microsoft.com/office/powerpoint/2013/main/command">
      <pc:docMk/>
      <pc:sldMk cId="1409638095" sldId="2147482704"/>
    </pc:sldMkLst>
    <p188:txBody>
      <a:bodyPr/>
      <a:lstStyle/>
      <a:p>
        <a:r>
          <a:rPr lang="en-US"/>
          <a:t>Esta slide está mezclada con la 42 y tiene dos cosas diferentes en la misma slide = como integramos la demanda de Digital CX (esto no lo veo aqui, lo veo arriba del todo y en realidad si no hay ningun cambio del resto de fuentes, debemos quitarlo), y por otro lado está la parte derecha que no tiene nada que ver con la parte izquierda que es Strategic Alignment de los BRPs existentes, no hemos dejado claro quien incluye la info de los BRPs al portfolio, como recibimos la info de las prioridades del quarter por parte de Digital, en el caso de P&amp;T y Carlos se hace conjunto, en el caso de Digital CX no lo hacemos con ellos - ellos “nos informan”</a:t>
        </a:r>
      </a:p>
    </p188:txBody>
  </p188:cm>
</p188:cmLst>
</file>

<file path=ppt/comments/modernComment_7FFFFC51_6FCCBEFF.xml><?xml version="1.0" encoding="utf-8"?>
<p188:cmLst xmlns:a="http://schemas.openxmlformats.org/drawingml/2006/main" xmlns:r="http://schemas.openxmlformats.org/officeDocument/2006/relationships" xmlns:p188="http://schemas.microsoft.com/office/powerpoint/2018/8/main">
  <p188:cm id="{372885FA-92A3-416B-A070-C688EFD224D9}" authorId="{08AA367A-3FE0-CE15-1CF5-256A1C107FE1}" created="2026-05-05T23:31:54.120">
    <ac:txMkLst xmlns:ac="http://schemas.microsoft.com/office/drawing/2013/main/command">
      <pc:docMk xmlns:pc="http://schemas.microsoft.com/office/powerpoint/2013/main/command"/>
      <pc:sldMk xmlns:pc="http://schemas.microsoft.com/office/powerpoint/2013/main/command" cId="1875689215" sldId="2147482705"/>
      <ac:spMk id="33" creationId="{8361B520-08E3-68A4-4937-9137459198DA}"/>
      <ac:txMk cp="605">
        <ac:context len="1221" hash="2679089297"/>
      </ac:txMk>
    </ac:txMkLst>
    <p188:pos x="3698883" y="1793276"/>
    <p188:txBody>
      <a:bodyPr/>
      <a:lstStyle/>
      <a:p>
        <a:r>
          <a:rPr lang="es-MX"/>
          <a:t>Nos queda duda de cómo se integra el estimation del effort en esta etapa</a:t>
        </a:r>
      </a:p>
    </p188:txBody>
  </p188:cm>
  <p188:cm id="{447CE932-61C2-4EB5-B8FC-97BAC222153D}" authorId="{022A6F16-3653-42A3-75BE-9E5891C38EA9}" created="2026-05-06T13:32:41.643">
    <pc:sldMkLst xmlns:pc="http://schemas.microsoft.com/office/powerpoint/2013/main/command">
      <pc:docMk/>
      <pc:sldMk cId="1875689215" sldId="2147482705"/>
    </pc:sldMkLst>
    <p188:txBody>
      <a:bodyPr/>
      <a:lstStyle/>
      <a:p>
        <a:r>
          <a:rPr lang="en-US"/>
          <a:t>Here the demand type is identify by Product Manager (regulatory / non regulatory / production support), this is mix because regulatory is include as well with the requester form and the PM wont know if something is regulatory or not</a:t>
        </a:r>
      </a:p>
    </p188:txBody>
  </p188:cm>
  <p188:cm id="{345781AA-E63D-4DF1-B35B-D4A0E1D0966D}" authorId="{022A6F16-3653-42A3-75BE-9E5891C38EA9}" created="2026-05-06T13:33:26.203">
    <pc:sldMkLst xmlns:pc="http://schemas.microsoft.com/office/powerpoint/2013/main/command">
      <pc:docMk/>
      <pc:sldMk cId="1875689215" sldId="2147482705"/>
    </pc:sldMkLst>
    <p188:txBody>
      <a:bodyPr/>
      <a:lstStyle/>
      <a:p>
        <a:r>
          <a:rPr lang="en-US"/>
          <a:t>The Production Support demand type could be misunderstood with incidents as well, clarify</a:t>
        </a:r>
      </a:p>
    </p188:txBody>
  </p188:cm>
</p188:cmLst>
</file>

<file path=ppt/comments/modernComment_7FFFFC54_B598C769.xml><?xml version="1.0" encoding="utf-8"?>
<p188:cmLst xmlns:a="http://schemas.openxmlformats.org/drawingml/2006/main" xmlns:r="http://schemas.openxmlformats.org/officeDocument/2006/relationships" xmlns:p188="http://schemas.microsoft.com/office/powerpoint/2018/8/main">
  <p188:cm id="{B8B41238-308D-48E2-9DC3-BB6D5F9A587E}" authorId="{022A6F16-3653-42A3-75BE-9E5891C38EA9}" created="2026-05-06T15:20:08.686">
    <pc:sldMkLst xmlns:pc="http://schemas.microsoft.com/office/powerpoint/2013/main/command">
      <pc:docMk/>
      <pc:sldMk cId="3046688617" sldId="2147482708"/>
    </pc:sldMkLst>
    <p188:replyLst>
      <p188:reply id="{F00420E9-D3F1-4773-A569-5636005F4B96}" authorId="{08AA367A-3FE0-CE15-1CF5-256A1C107FE1}" created="2026-05-06T21:07:23.638">
        <p188:txBody>
          <a:bodyPr/>
          <a:lstStyle/>
          <a:p>
            <a:r>
              <a:rPr lang="es-MX"/>
              <a:t>AJUSTADO A KPIS</a:t>
            </a:r>
          </a:p>
        </p188:txBody>
      </p188:reply>
    </p188:replyLst>
    <p188:txBody>
      <a:bodyPr/>
      <a:lstStyle/>
      <a:p>
        <a:r>
          <a:rPr lang="en-US"/>
          <a:t>No hay OKRS en Avangrid 0 OKRs, si vamos a utilizar un criterio de priorizacion en el portfolio committee fuera del pain score y value score, necesitamos utilizar metricas (las que vimos con Heather y Vitor) no hay otra manera de vincularlo</a:t>
        </a:r>
      </a:p>
    </p188:txBody>
  </p188:cm>
  <p188:cm id="{CDC76F81-E7B4-4F20-8411-B6F88B593712}" authorId="{022A6F16-3653-42A3-75BE-9E5891C38EA9}" created="2026-05-06T15:20:23.441">
    <pc:sldMkLst xmlns:pc="http://schemas.microsoft.com/office/powerpoint/2013/main/command">
      <pc:docMk/>
      <pc:sldMk cId="3046688617" sldId="2147482708"/>
    </pc:sldMkLst>
    <p188:replyLst>
      <p188:reply id="{EA920D61-3E18-48A9-95DF-188AE39A79A3}" authorId="{08AA367A-3FE0-CE15-1CF5-256A1C107FE1}" created="2026-05-06T20:55:00.244">
        <p188:txBody>
          <a:bodyPr/>
          <a:lstStyle/>
          <a:p>
            <a:r>
              <a:rPr lang="es-MX"/>
              <a:t>incluidos</a:t>
            </a:r>
          </a:p>
        </p188:txBody>
      </p188:reply>
    </p188:replyLst>
    <p188:txBody>
      <a:bodyPr/>
      <a:lstStyle/>
      <a:p>
        <a:r>
          <a:rPr lang="en-US"/>
          <a:t>En el portfolio incluiría a los mandos intermedios</a:t>
        </a:r>
      </a:p>
    </p188:txBody>
  </p188:cm>
  <p188:cm id="{979D717A-EFCE-4C53-89FF-1C0E0E0EDED2}" authorId="{022A6F16-3653-42A3-75BE-9E5891C38EA9}" created="2026-05-06T15:21:18.895">
    <ac:deMkLst xmlns:ac="http://schemas.microsoft.com/office/drawing/2013/main/command">
      <pc:docMk xmlns:pc="http://schemas.microsoft.com/office/powerpoint/2013/main/command"/>
      <pc:sldMk xmlns:pc="http://schemas.microsoft.com/office/powerpoint/2013/main/command" cId="3046688617" sldId="2147482708"/>
      <ac:spMk id="81" creationId="{DAD72973-49C8-AA5D-A7C0-7D9DFEC43B16}"/>
    </ac:deMkLst>
    <p188:replyLst>
      <p188:reply id="{B68729AA-1094-4A4F-AC29-782618C8BF27}" authorId="{08AA367A-3FE0-CE15-1CF5-256A1C107FE1}" created="2026-05-06T21:07:35.107">
        <p188:txBody>
          <a:bodyPr/>
          <a:lstStyle/>
          <a:p>
            <a:r>
              <a:rPr lang="es-MX"/>
              <a:t>ENTEINDO ES LO QUE SE EXPLICA EN LAS SIGUEINTES SLIDES</a:t>
            </a:r>
          </a:p>
        </p188:txBody>
      </p188:reply>
    </p188:replyLst>
    <p188:txBody>
      <a:bodyPr/>
      <a:lstStyle/>
      <a:p>
        <a:r>
          <a:rPr lang="en-US"/>
          <a:t>Como se va a realizar esto, lo tenemos aquí en una frase pero esto va a ser algo muy habitual</a:t>
        </a:r>
      </a:p>
    </p188:txBody>
  </p188:cm>
</p188:cmLst>
</file>

<file path=ppt/comments/modernComment_7FFFFC55_EDF40827.xml><?xml version="1.0" encoding="utf-8"?>
<p188:cmLst xmlns:a="http://schemas.openxmlformats.org/drawingml/2006/main" xmlns:r="http://schemas.openxmlformats.org/officeDocument/2006/relationships" xmlns:p188="http://schemas.microsoft.com/office/powerpoint/2018/8/main">
  <p188:cm id="{5FDA939B-B08F-4CF7-A2F7-428AB491E162}" authorId="{022A6F16-3653-42A3-75BE-9E5891C38EA9}" created="2026-05-06T15:22:09.628">
    <pc:sldMkLst xmlns:pc="http://schemas.microsoft.com/office/powerpoint/2013/main/command">
      <pc:docMk/>
      <pc:sldMk cId="3992193063" sldId="2147482709"/>
    </pc:sldMkLst>
    <p188:txBody>
      <a:bodyPr/>
      <a:lstStyle/>
      <a:p>
        <a:r>
          <a:rPr lang="en-US"/>
          <a:t>No hay OKRs</a:t>
        </a:r>
      </a:p>
    </p188:txBody>
  </p188:cm>
  <p188:cm id="{4838A35C-4AA8-49BE-9DDB-FE240D2C09EB}" authorId="{022A6F16-3653-42A3-75BE-9E5891C38EA9}" created="2026-05-06T15:23:57.924">
    <pc:sldMkLst xmlns:pc="http://schemas.microsoft.com/office/powerpoint/2013/main/command">
      <pc:docMk/>
      <pc:sldMk cId="3992193063" sldId="2147482709"/>
    </pc:sldMkLst>
    <p188:txBody>
      <a:bodyPr/>
      <a:lstStyle/>
      <a:p>
        <a:r>
          <a:rPr lang="en-US"/>
          <a:t>Incluir quien y cuando se gestiona el outcome de los BRPs</a:t>
        </a:r>
      </a:p>
    </p188:txBody>
  </p188:cm>
  <p188:cm id="{892CFAE3-1380-4929-A0AD-637B48DC8C59}" authorId="{022A6F16-3653-42A3-75BE-9E5891C38EA9}" created="2026-05-06T15:24:48.885">
    <pc:sldMkLst xmlns:pc="http://schemas.microsoft.com/office/powerpoint/2013/main/command">
      <pc:docMk/>
      <pc:sldMk cId="3992193063" sldId="2147482709"/>
    </pc:sldMkLst>
    <p188:txBody>
      <a:bodyPr/>
      <a:lstStyle/>
      <a:p>
        <a:r>
          <a:rPr lang="en-US"/>
          <a:t>Hay que incluir una practica con BRS nueva a nivel de gobierno (con la estructura de process owner o contraparte de value stream que queremos empezar a impulsar vs los Product Managers de Heather)</a:t>
        </a:r>
      </a:p>
    </p188:txBody>
  </p188:cm>
  <p188:cm id="{37A6A885-AFBF-43E8-ABCA-5799652125F9}" authorId="{022A6F16-3653-42A3-75BE-9E5891C38EA9}" status="resolved" created="2026-05-06T15:34:17.309" complete="100000">
    <pc:sldMkLst xmlns:pc="http://schemas.microsoft.com/office/powerpoint/2013/main/command">
      <pc:docMk/>
      <pc:sldMk cId="3992193063" sldId="2147482709"/>
    </pc:sldMkLst>
    <p188:replyLst>
      <p188:reply id="{41C2503B-56EC-4742-80EA-5F6A5960DAF1}" authorId="{08AA367A-3FE0-CE15-1CF5-256A1C107FE1}" created="2026-05-06T21:25:02.911">
        <p188:txBody>
          <a:bodyPr/>
          <a:lstStyle/>
          <a:p>
            <a:r>
              <a:rPr lang="es-MX"/>
              <a:t>Se reordenan</a:t>
            </a:r>
          </a:p>
        </p188:txBody>
      </p188:reply>
    </p188:replyLst>
    <p188:txBody>
      <a:bodyPr/>
      <a:lstStyle/>
      <a:p>
        <a:r>
          <a:rPr lang="en-US"/>
          <a:t>42 y 43 van arriba para la casuistica de una demanda en una iniciativa existente</a:t>
        </a:r>
      </a:p>
    </p188:txBody>
  </p188:cm>
</p188:cmLst>
</file>

<file path=ppt/comments/modernComment_7FFFFC57_F0AB8957.xml><?xml version="1.0" encoding="utf-8"?>
<p188:cmLst xmlns:a="http://schemas.openxmlformats.org/drawingml/2006/main" xmlns:r="http://schemas.openxmlformats.org/officeDocument/2006/relationships" xmlns:p188="http://schemas.microsoft.com/office/powerpoint/2018/8/main">
  <p188:cm id="{235CFC5C-5173-4FA0-BC31-26E90D62BB73}" authorId="{08AA367A-3FE0-CE15-1CF5-256A1C107FE1}" created="2026-05-05T22:38:24.438">
    <pc:sldMkLst xmlns:pc="http://schemas.microsoft.com/office/powerpoint/2013/main/command">
      <pc:docMk/>
      <pc:sldMk cId="4037773655" sldId="2147482711"/>
    </pc:sldMkLst>
    <p188:txBody>
      <a:bodyPr/>
      <a:lstStyle/>
      <a:p>
        <a:r>
          <a:rPr lang="es-MX"/>
          <a:t>slide 41 - team kanban, we discussed that the discovery side of the board wont be us never as is from others and sometimes is us through vendors, we will be almost always the orange and this is not reflected or suggestion of how we connect both worlds</a:t>
        </a:r>
      </a:p>
    </p188:txBody>
  </p188:cm>
</p188:cmLst>
</file>

<file path=ppt/comments/modernComment_7FFFFC58_58D12B51.xml><?xml version="1.0" encoding="utf-8"?>
<p188:cmLst xmlns:a="http://schemas.openxmlformats.org/drawingml/2006/main" xmlns:r="http://schemas.openxmlformats.org/officeDocument/2006/relationships" xmlns:p188="http://schemas.microsoft.com/office/powerpoint/2018/8/main">
  <p188:cm id="{1939D473-09DC-4945-B4C4-758BFD2B5BCC}" authorId="{08AA367A-3FE0-CE15-1CF5-256A1C107FE1}" created="2026-05-05T22:35:06.983">
    <pc:sldMkLst xmlns:pc="http://schemas.microsoft.com/office/powerpoint/2013/main/command">
      <pc:docMk/>
      <pc:sldMk cId="934555469" sldId="2147482659"/>
    </pc:sldMkLst>
    <p188:replyLst>
      <p188:reply id="{3C8B281A-84C9-4AFE-A187-A690CE883840}" authorId="{08AA367A-3FE0-CE15-1CF5-256A1C107FE1}" created="2026-05-05T23:29:12.406">
        <p188:txBody>
          <a:bodyPr/>
          <a:lstStyle/>
          <a:p>
            <a:r>
              <a:rPr lang="es-MX"/>
              <a:t>Opcos are included to be selected in the Opco Field </a:t>
            </a:r>
          </a:p>
        </p188:txBody>
        <p188:extLst>
          <p:ext xmlns:p="http://schemas.openxmlformats.org/presentationml/2006/main" uri="{57CB4572-C831-44C2-8A1C-0ADB6CCDFE69}">
            <p223:reactions xmlns:p223="http://schemas.microsoft.com/office/powerpoint/2022/03/main">
              <p223:rxn type="👍">
                <p223:instance time="2026-05-06T13:12:03.164" authorId="{022A6F16-3653-42A3-75BE-9E5891C38EA9}"/>
              </p223:rxn>
            </p223:reactions>
          </p:ext>
        </p188:extLst>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cm>
</p188:cmLst>
</file>

<file path=ppt/comments/modernComment_101_76D6022F.xml><?xml version="1.0" encoding="utf-8"?>
<p188:cmLst xmlns:a="http://schemas.openxmlformats.org/drawingml/2006/main" xmlns:r="http://schemas.openxmlformats.org/officeDocument/2006/relationships" xmlns:p188="http://schemas.microsoft.com/office/powerpoint/2018/8/main">
  <p188:cm id="{EA2FFE40-AF4A-4C0E-82D8-DE9C2F532169}" authorId="{022A6F16-3653-42A3-75BE-9E5891C38EA9}" created="2026-04-24T21:28:25.349">
    <pc:sldMkLst xmlns:pc="http://schemas.microsoft.com/office/powerpoint/2013/main/command">
      <pc:docMk/>
      <pc:sldMk cId="1993736751" sldId="257"/>
    </pc:sldMkLst>
    <p188:txBody>
      <a:bodyPr/>
      <a:lstStyle/>
      <a:p>
        <a:r>
          <a:rPr lang="en-US"/>
          <a:t>Demand Management: Prácticas clave
Single front door de demanda (Incidentes, mejoras, regulatory, innovación, deuda técnica)
Demand shaping (Conversaciones estructuradas problema–impacto–valor, no aceptar “soluciones” directamente)
Clasificación por tipo de producto: 
Run / Grow / Transform
Core SAP vs extensiones / satélites
Discovery ligero pero formal: Problem statement, Usuarios/personas, Hipótesis de valor y riesgo
Value &amp; prioritization framework: 
Business value, riesgo, urgencia regulatoria, Cost of delay</a:t>
        </a:r>
      </a:p>
    </p188:txBody>
  </p188:cm>
  <p188:cm id="{9CE84503-232B-4029-8E14-0DC4D8824C3E}" authorId="{022A6F16-3653-42A3-75BE-9E5891C38EA9}" created="2026-04-24T21:29:56.783">
    <pc:sldMkLst xmlns:pc="http://schemas.microsoft.com/office/powerpoint/2013/main/command">
      <pc:docMk/>
      <pc:sldMk cId="1993736751" sldId="257"/>
    </pc:sldMkLst>
    <p188:txBody>
      <a:bodyPr/>
      <a:lstStyle/>
      <a:p>
        <a:r>
          <a:rPr lang="en-US"/>
          <a:t>Preparation &amp; Planning: Product &amp; 
Prácticas clave
-Definición clara de productos
Productos ≠ aplicaciones
Ej.: “Order to Cash SAP” ≠ “SAP SD”
-Product vision &amp; outcome definition
-Outcomes esperados (no solo entregables)
-Roadmapping continuo. Rolling wave (3–6–12 meses) - Diferenciar compromisos vs hipótesis</a:t>
        </a:r>
      </a:p>
    </p188:txBody>
  </p188:cm>
  <p188:cm id="{8E32143C-72E6-4748-BDFC-C51073296EBF}" authorId="{022A6F16-3653-42A3-75BE-9E5891C38EA9}" created="2026-04-24T21:31:33.674">
    <pc:sldMkLst xmlns:pc="http://schemas.microsoft.com/office/powerpoint/2013/main/command">
      <pc:docMk/>
      <pc:sldMk cId="1993736751" sldId="257"/>
    </pc:sldMkLst>
    <p188:txBody>
      <a:bodyPr/>
      <a:lstStyle/>
      <a:p>
        <a:r>
          <a:rPr lang="en-US"/>
          <a:t>Preparation &amp; Planning:  Product Design &amp; Architecture Alignment
Fundamental en SAP para evitar que Product ≠ Architecture.
Prácticas clave: Dual track
Discovery (qué y por qué)
Delivery (cómo y cuándo)
Business process design: E2E processes (O2C, P2P, R2R…)
Non‑functional requirements: Performance, seguridad, compliance, escalabilidad</a:t>
        </a:r>
      </a:p>
    </p188:txBody>
  </p188:cm>
  <p188:cm id="{57B35EF3-4BE5-4D01-8D3F-993932B79357}" authorId="{022A6F16-3653-42A3-75BE-9E5891C38EA9}" created="2026-04-24T21:33:11.524">
    <ac:deMkLst xmlns:ac="http://schemas.microsoft.com/office/drawing/2013/main/command">
      <pc:docMk xmlns:pc="http://schemas.microsoft.com/office/powerpoint/2013/main/command"/>
      <pc:sldMk xmlns:pc="http://schemas.microsoft.com/office/powerpoint/2013/main/command" cId="1993736751" sldId="257"/>
      <ac:grpSpMk id="58" creationId="{8D8AAF41-01FF-FECE-0A4A-566970A2C819}"/>
    </ac:deMkLst>
    <p188:txBody>
      <a:bodyPr/>
      <a:lstStyle/>
      <a:p>
        <a:r>
          <a:rPr lang="en-US"/>
          <a:t>Execution: Prácticas clave
Product teams estables: PO, Tech Lead, equipo delivery
Backlog management por producto
Flow‑based delivery (when)
Scrum / Kanban / híbrido
Dependency management: Entre productos SAP, Con proveedores / integradores</a:t>
        </a:r>
      </a:p>
    </p188:txBody>
  </p188:cm>
  <p188:cm id="{F3BD41C8-AE18-4DF6-AFD1-989D12024F7A}" authorId="{022A6F16-3653-42A3-75BE-9E5891C38EA9}" created="2026-04-24T21:33:49.533">
    <ac:deMkLst xmlns:ac="http://schemas.microsoft.com/office/drawing/2013/main/command">
      <pc:docMk xmlns:pc="http://schemas.microsoft.com/office/powerpoint/2013/main/command"/>
      <pc:sldMk xmlns:pc="http://schemas.microsoft.com/office/powerpoint/2013/main/command" cId="1993736751" sldId="257"/>
      <ac:grpSpMk id="58" creationId="{8D8AAF41-01FF-FECE-0A4A-566970A2C819}"/>
    </ac:deMkLst>
    <p188:txBody>
      <a:bodyPr/>
      <a:lstStyle/>
      <a:p>
        <a:r>
          <a:rPr lang="es-MX"/>
          <a:t>Deployment: Hypercare y feedback loop - Medir impacto tras release
Deployment = Measure &amp; Learn</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0055F-4561-4C9A-997D-A7ADD31398FC}"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BBC74D56-4D20-4BE4-959F-48C7CB9CC04C}">
      <dgm:prSet phldrT="[Text]" phldr="0"/>
      <dgm:spPr>
        <a:xfrm>
          <a:off x="309" y="1028705"/>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a:solidFill>
                <a:sysClr val="window" lastClr="FFFFFF"/>
              </a:solidFill>
              <a:latin typeface="Lato"/>
              <a:ea typeface="+mn-ea"/>
              <a:cs typeface="+mn-cs"/>
            </a:rPr>
            <a:t>Final Stakeholder Demo</a:t>
          </a:r>
        </a:p>
      </dgm:t>
    </dgm:pt>
    <dgm:pt modelId="{3A7979A5-DAC0-4B7D-90AB-70AD4F2F8CAA}" type="parTrans" cxnId="{EF5DCE4F-4EE2-4C5F-B8AF-D9C6740DCEBC}">
      <dgm:prSet/>
      <dgm:spPr/>
      <dgm:t>
        <a:bodyPr/>
        <a:lstStyle/>
        <a:p>
          <a:endParaRPr lang="en-US"/>
        </a:p>
      </dgm:t>
    </dgm:pt>
    <dgm:pt modelId="{DF0A09C5-C727-4BF3-8E1E-06EF3B0168EA}" type="sibTrans" cxnId="{EF5DCE4F-4EE2-4C5F-B8AF-D9C6740DCEBC}">
      <dgm:prSet/>
      <dgm:spPr/>
      <dgm:t>
        <a:bodyPr/>
        <a:lstStyle/>
        <a:p>
          <a:endParaRPr lang="en-US"/>
        </a:p>
      </dgm:t>
    </dgm:pt>
    <dgm:pt modelId="{E9B02D59-06F7-49D0-8C5B-8BB2C4547F58}">
      <dgm:prSet phldr="0"/>
      <dgm:spPr>
        <a:xfrm>
          <a:off x="489577" y="181269"/>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a:solidFill>
                <a:sysClr val="window" lastClr="FFFFFF"/>
              </a:solidFill>
              <a:latin typeface="Lato"/>
              <a:ea typeface="+mn-ea"/>
              <a:cs typeface="+mn-cs"/>
            </a:rPr>
            <a:t>Sign Off</a:t>
          </a:r>
        </a:p>
      </dgm:t>
    </dgm:pt>
    <dgm:pt modelId="{0CB3C420-795A-491F-80D9-0231D4230C37}" type="parTrans" cxnId="{8C95B971-B896-4AC4-A9D3-766CD54C1007}">
      <dgm:prSet/>
      <dgm:spPr/>
      <dgm:t>
        <a:bodyPr/>
        <a:lstStyle/>
        <a:p>
          <a:endParaRPr lang="en-US"/>
        </a:p>
      </dgm:t>
    </dgm:pt>
    <dgm:pt modelId="{D6BB329A-FD92-4071-8922-CA14A1877C77}" type="sibTrans" cxnId="{8C95B971-B896-4AC4-A9D3-766CD54C1007}">
      <dgm:prSet/>
      <dgm:spPr>
        <a:xfrm>
          <a:off x="215922" y="154550"/>
          <a:ext cx="1290927" cy="1290927"/>
        </a:xfrm>
        <a:prstGeom prst="circularArrow">
          <a:avLst>
            <a:gd name="adj1" fmla="val 5689"/>
            <a:gd name="adj2" fmla="val 340510"/>
            <a:gd name="adj3" fmla="val 13195729"/>
            <a:gd name="adj4" fmla="val 17743737"/>
            <a:gd name="adj5" fmla="val 5908"/>
          </a:avLst>
        </a:prstGeom>
        <a:solidFill>
          <a:srgbClr val="3A3734"/>
        </a:solidFill>
        <a:ln>
          <a:noFill/>
        </a:ln>
        <a:effectLst/>
      </dgm:spPr>
      <dgm:t>
        <a:bodyPr/>
        <a:lstStyle/>
        <a:p>
          <a:endParaRPr lang="en-US"/>
        </a:p>
      </dgm:t>
    </dgm:pt>
    <dgm:pt modelId="{F325606A-B4AA-48A2-BF1D-D24E93C827DC}">
      <dgm:prSet phldr="0"/>
      <dgm:spPr>
        <a:xfrm>
          <a:off x="978844" y="1028705"/>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solidFill>
                <a:sysClr val="window" lastClr="FFFFFF"/>
              </a:solidFill>
              <a:latin typeface="Lato"/>
              <a:ea typeface="+mn-ea"/>
              <a:cs typeface="+mn-cs"/>
            </a:rPr>
            <a:t>Release</a:t>
          </a:r>
        </a:p>
      </dgm:t>
    </dgm:pt>
    <dgm:pt modelId="{7A710B35-1FA7-4019-B06C-E71850D50313}" type="parTrans" cxnId="{7FD6B016-BD36-429F-8DCF-E7FCF3ED1EA7}">
      <dgm:prSet/>
      <dgm:spPr/>
      <dgm:t>
        <a:bodyPr/>
        <a:lstStyle/>
        <a:p>
          <a:endParaRPr lang="en-US"/>
        </a:p>
      </dgm:t>
    </dgm:pt>
    <dgm:pt modelId="{0304D8EF-702B-4DC8-95FB-58D4B13020ED}" type="sibTrans" cxnId="{7FD6B016-BD36-429F-8DCF-E7FCF3ED1EA7}">
      <dgm:prSet/>
      <dgm:spPr/>
      <dgm:t>
        <a:bodyPr/>
        <a:lstStyle/>
        <a:p>
          <a:endParaRPr lang="en-US"/>
        </a:p>
      </dgm:t>
    </dgm:pt>
    <dgm:pt modelId="{6E5B3C80-23AF-47B5-90EC-A298EDC726E4}" type="pres">
      <dgm:prSet presAssocID="{C9D0055F-4561-4C9A-997D-A7ADD31398FC}" presName="Name0" presStyleCnt="0">
        <dgm:presLayoutVars>
          <dgm:dir/>
          <dgm:resizeHandles val="exact"/>
        </dgm:presLayoutVars>
      </dgm:prSet>
      <dgm:spPr/>
    </dgm:pt>
    <dgm:pt modelId="{58E78178-F680-4645-B023-B32B0399EE16}" type="pres">
      <dgm:prSet presAssocID="{C9D0055F-4561-4C9A-997D-A7ADD31398FC}" presName="cycle" presStyleCnt="0"/>
      <dgm:spPr/>
    </dgm:pt>
    <dgm:pt modelId="{9B00139F-B858-4982-BF5E-C7F0C7079277}" type="pres">
      <dgm:prSet presAssocID="{E9B02D59-06F7-49D0-8C5B-8BB2C4547F58}" presName="nodeFirstNode" presStyleLbl="node1" presStyleIdx="0" presStyleCnt="3" custScaleX="81801" custScaleY="81802" custRadScaleRad="68851" custRadScaleInc="-113530">
        <dgm:presLayoutVars>
          <dgm:bulletEnabled val="1"/>
        </dgm:presLayoutVars>
      </dgm:prSet>
      <dgm:spPr/>
    </dgm:pt>
    <dgm:pt modelId="{A9D001BC-CAF8-4223-B16F-2176BB933D94}" type="pres">
      <dgm:prSet presAssocID="{D6BB329A-FD92-4071-8922-CA14A1877C77}" presName="sibTransFirstNode" presStyleLbl="bgShp" presStyleIdx="0" presStyleCnt="1" custAng="10800000" custScaleX="76043" custScaleY="76043" custLinFactNeighborX="32828" custLinFactNeighborY="-57629"/>
      <dgm:spPr/>
    </dgm:pt>
    <dgm:pt modelId="{CAF42D83-0C23-4A02-AEA1-16802E2D1D9F}" type="pres">
      <dgm:prSet presAssocID="{F325606A-B4AA-48A2-BF1D-D24E93C827DC}" presName="nodeFollowingNodes" presStyleLbl="node1" presStyleIdx="1" presStyleCnt="3" custScaleX="81801" custScaleY="81802" custRadScaleRad="89376" custRadScaleInc="23046">
        <dgm:presLayoutVars>
          <dgm:bulletEnabled val="1"/>
        </dgm:presLayoutVars>
      </dgm:prSet>
      <dgm:spPr/>
    </dgm:pt>
    <dgm:pt modelId="{17A4CB1E-5098-4249-82B8-DF0A395E9E5A}" type="pres">
      <dgm:prSet presAssocID="{BBC74D56-4D20-4BE4-959F-48C7CB9CC04C}" presName="nodeFollowingNodes" presStyleLbl="node1" presStyleIdx="2" presStyleCnt="3" custScaleX="81801" custScaleY="81802" custRadScaleRad="108056" custRadScaleInc="141170">
        <dgm:presLayoutVars>
          <dgm:bulletEnabled val="1"/>
        </dgm:presLayoutVars>
      </dgm:prSet>
      <dgm:spPr/>
    </dgm:pt>
  </dgm:ptLst>
  <dgm:cxnLst>
    <dgm:cxn modelId="{7FD6B016-BD36-429F-8DCF-E7FCF3ED1EA7}" srcId="{C9D0055F-4561-4C9A-997D-A7ADD31398FC}" destId="{F325606A-B4AA-48A2-BF1D-D24E93C827DC}" srcOrd="1" destOrd="0" parTransId="{7A710B35-1FA7-4019-B06C-E71850D50313}" sibTransId="{0304D8EF-702B-4DC8-95FB-58D4B13020ED}"/>
    <dgm:cxn modelId="{EF5DCE4F-4EE2-4C5F-B8AF-D9C6740DCEBC}" srcId="{C9D0055F-4561-4C9A-997D-A7ADD31398FC}" destId="{BBC74D56-4D20-4BE4-959F-48C7CB9CC04C}" srcOrd="2" destOrd="0" parTransId="{3A7979A5-DAC0-4B7D-90AB-70AD4F2F8CAA}" sibTransId="{DF0A09C5-C727-4BF3-8E1E-06EF3B0168EA}"/>
    <dgm:cxn modelId="{6D06A754-2631-44C9-A2EA-9AF81E6A927B}" type="presOf" srcId="{E9B02D59-06F7-49D0-8C5B-8BB2C4547F58}" destId="{9B00139F-B858-4982-BF5E-C7F0C7079277}" srcOrd="0" destOrd="0" presId="urn:microsoft.com/office/officeart/2005/8/layout/cycle3"/>
    <dgm:cxn modelId="{8C95B971-B896-4AC4-A9D3-766CD54C1007}" srcId="{C9D0055F-4561-4C9A-997D-A7ADD31398FC}" destId="{E9B02D59-06F7-49D0-8C5B-8BB2C4547F58}" srcOrd="0" destOrd="0" parTransId="{0CB3C420-795A-491F-80D9-0231D4230C37}" sibTransId="{D6BB329A-FD92-4071-8922-CA14A1877C77}"/>
    <dgm:cxn modelId="{496C8E8F-335A-4320-B0E8-05E15E9474C9}" type="presOf" srcId="{D6BB329A-FD92-4071-8922-CA14A1877C77}" destId="{A9D001BC-CAF8-4223-B16F-2176BB933D94}" srcOrd="0" destOrd="0" presId="urn:microsoft.com/office/officeart/2005/8/layout/cycle3"/>
    <dgm:cxn modelId="{A9466DC5-F19B-4A7B-BECD-AAE624DA97E3}" type="presOf" srcId="{BBC74D56-4D20-4BE4-959F-48C7CB9CC04C}" destId="{17A4CB1E-5098-4249-82B8-DF0A395E9E5A}" srcOrd="0" destOrd="0" presId="urn:microsoft.com/office/officeart/2005/8/layout/cycle3"/>
    <dgm:cxn modelId="{1112C8E9-028A-4103-B618-0E50DCFC27AE}" type="presOf" srcId="{F325606A-B4AA-48A2-BF1D-D24E93C827DC}" destId="{CAF42D83-0C23-4A02-AEA1-16802E2D1D9F}" srcOrd="0" destOrd="0" presId="urn:microsoft.com/office/officeart/2005/8/layout/cycle3"/>
    <dgm:cxn modelId="{D436A3EA-47BE-4246-8375-E1B760F9D7B5}" type="presOf" srcId="{C9D0055F-4561-4C9A-997D-A7ADD31398FC}" destId="{6E5B3C80-23AF-47B5-90EC-A298EDC726E4}" srcOrd="0" destOrd="0" presId="urn:microsoft.com/office/officeart/2005/8/layout/cycle3"/>
    <dgm:cxn modelId="{9151B6DC-5A29-4A09-BCBE-59F4C256A17E}" type="presParOf" srcId="{6E5B3C80-23AF-47B5-90EC-A298EDC726E4}" destId="{58E78178-F680-4645-B023-B32B0399EE16}" srcOrd="0" destOrd="0" presId="urn:microsoft.com/office/officeart/2005/8/layout/cycle3"/>
    <dgm:cxn modelId="{6101968A-9760-4FB9-8757-133DCF2F083C}" type="presParOf" srcId="{58E78178-F680-4645-B023-B32B0399EE16}" destId="{9B00139F-B858-4982-BF5E-C7F0C7079277}" srcOrd="0" destOrd="0" presId="urn:microsoft.com/office/officeart/2005/8/layout/cycle3"/>
    <dgm:cxn modelId="{7AF290F6-3328-4662-862E-B11D588DD713}" type="presParOf" srcId="{58E78178-F680-4645-B023-B32B0399EE16}" destId="{A9D001BC-CAF8-4223-B16F-2176BB933D94}" srcOrd="1" destOrd="0" presId="urn:microsoft.com/office/officeart/2005/8/layout/cycle3"/>
    <dgm:cxn modelId="{6F3ED020-4CC9-4FFA-B8D6-0B5A5C35300D}" type="presParOf" srcId="{58E78178-F680-4645-B023-B32B0399EE16}" destId="{CAF42D83-0C23-4A02-AEA1-16802E2D1D9F}" srcOrd="2" destOrd="0" presId="urn:microsoft.com/office/officeart/2005/8/layout/cycle3"/>
    <dgm:cxn modelId="{62E3FBFB-F9D8-4EAA-9C0F-92932E6D51D9}" type="presParOf" srcId="{58E78178-F680-4645-B023-B32B0399EE16}" destId="{17A4CB1E-5098-4249-82B8-DF0A395E9E5A}" srcOrd="3" destOrd="0" presId="urn:microsoft.com/office/officeart/2005/8/layout/cycle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001BC-CAF8-4223-B16F-2176BB933D94}">
      <dsp:nvSpPr>
        <dsp:cNvPr id="0" name=""/>
        <dsp:cNvSpPr/>
      </dsp:nvSpPr>
      <dsp:spPr>
        <a:xfrm rot="10800000">
          <a:off x="414115" y="262194"/>
          <a:ext cx="981660" cy="981660"/>
        </a:xfrm>
        <a:prstGeom prst="circularArrow">
          <a:avLst>
            <a:gd name="adj1" fmla="val 5689"/>
            <a:gd name="adj2" fmla="val 340510"/>
            <a:gd name="adj3" fmla="val 13195729"/>
            <a:gd name="adj4" fmla="val 17743737"/>
            <a:gd name="adj5" fmla="val 5908"/>
          </a:avLst>
        </a:prstGeom>
        <a:solidFill>
          <a:srgbClr val="3A3734"/>
        </a:solidFill>
        <a:ln>
          <a:noFill/>
        </a:ln>
        <a:effectLst/>
      </dsp:spPr>
      <dsp:style>
        <a:lnRef idx="0">
          <a:scrgbClr r="0" g="0" b="0"/>
        </a:lnRef>
        <a:fillRef idx="1">
          <a:scrgbClr r="0" g="0" b="0"/>
        </a:fillRef>
        <a:effectRef idx="0">
          <a:scrgbClr r="0" g="0" b="0"/>
        </a:effectRef>
        <a:fontRef idx="minor"/>
      </dsp:style>
    </dsp:sp>
    <dsp:sp modelId="{9B00139F-B858-4982-BF5E-C7F0C7079277}">
      <dsp:nvSpPr>
        <dsp:cNvPr id="0" name=""/>
        <dsp:cNvSpPr/>
      </dsp:nvSpPr>
      <dsp:spPr>
        <a:xfrm>
          <a:off x="177015" y="862106"/>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rtl="0">
            <a:lnSpc>
              <a:spcPct val="90000"/>
            </a:lnSpc>
            <a:spcBef>
              <a:spcPct val="0"/>
            </a:spcBef>
            <a:spcAft>
              <a:spcPct val="35000"/>
            </a:spcAft>
            <a:buNone/>
          </a:pPr>
          <a:r>
            <a:rPr lang="en-US" sz="500" kern="1200">
              <a:solidFill>
                <a:sysClr val="window" lastClr="FFFFFF"/>
              </a:solidFill>
              <a:latin typeface="Lato"/>
              <a:ea typeface="+mn-ea"/>
              <a:cs typeface="+mn-cs"/>
            </a:rPr>
            <a:t>Sign Off</a:t>
          </a:r>
        </a:p>
      </dsp:txBody>
      <dsp:txXfrm>
        <a:off x="191862" y="876953"/>
        <a:ext cx="578593" cy="274453"/>
      </dsp:txXfrm>
    </dsp:sp>
    <dsp:sp modelId="{CAF42D83-0C23-4A02-AEA1-16802E2D1D9F}">
      <dsp:nvSpPr>
        <dsp:cNvPr id="0" name=""/>
        <dsp:cNvSpPr/>
      </dsp:nvSpPr>
      <dsp:spPr>
        <a:xfrm>
          <a:off x="876777" y="1171029"/>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solidFill>
                <a:sysClr val="window" lastClr="FFFFFF"/>
              </a:solidFill>
              <a:latin typeface="Lato"/>
              <a:ea typeface="+mn-ea"/>
              <a:cs typeface="+mn-cs"/>
            </a:rPr>
            <a:t>Release</a:t>
          </a:r>
        </a:p>
      </dsp:txBody>
      <dsp:txXfrm>
        <a:off x="891624" y="1185876"/>
        <a:ext cx="578593" cy="274453"/>
      </dsp:txXfrm>
    </dsp:sp>
    <dsp:sp modelId="{17A4CB1E-5098-4249-82B8-DF0A395E9E5A}">
      <dsp:nvSpPr>
        <dsp:cNvPr id="0" name=""/>
        <dsp:cNvSpPr/>
      </dsp:nvSpPr>
      <dsp:spPr>
        <a:xfrm>
          <a:off x="632200" y="174207"/>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rtl="0">
            <a:lnSpc>
              <a:spcPct val="90000"/>
            </a:lnSpc>
            <a:spcBef>
              <a:spcPct val="0"/>
            </a:spcBef>
            <a:spcAft>
              <a:spcPct val="35000"/>
            </a:spcAft>
            <a:buNone/>
          </a:pPr>
          <a:r>
            <a:rPr lang="en-US" sz="500" kern="1200">
              <a:solidFill>
                <a:sysClr val="window" lastClr="FFFFFF"/>
              </a:solidFill>
              <a:latin typeface="Lato"/>
              <a:ea typeface="+mn-ea"/>
              <a:cs typeface="+mn-cs"/>
            </a:rPr>
            <a:t>Final Stakeholder Demo</a:t>
          </a:r>
        </a:p>
      </dsp:txBody>
      <dsp:txXfrm>
        <a:off x="647047" y="189054"/>
        <a:ext cx="578593" cy="274453"/>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8D154-ADED-4EFF-B596-6EEB32FAAB9F}" type="datetimeFigureOut">
              <a:rPr lang="es-MX" smtClean="0"/>
              <a:t>06/05/26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9C3456-54B0-4954-870A-B63526EC04E9}" type="slidenum">
              <a:rPr lang="es-MX" smtClean="0"/>
              <a:t>‹nº›</a:t>
            </a:fld>
            <a:endParaRPr lang="es-MX"/>
          </a:p>
        </p:txBody>
      </p:sp>
    </p:spTree>
    <p:extLst>
      <p:ext uri="{BB962C8B-B14F-4D97-AF65-F5344CB8AC3E}">
        <p14:creationId xmlns:p14="http://schemas.microsoft.com/office/powerpoint/2010/main" val="2264898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F1592-30C4-ED63-776B-29C5DDB5BB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D10426-901E-BE41-F1C8-EDEEE02EF1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B20E11-4D65-3B04-5732-D3F6298F870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2C074B0-4B20-F7FA-8636-045B640AEA1A}"/>
              </a:ext>
            </a:extLst>
          </p:cNvPr>
          <p:cNvSpPr>
            <a:spLocks noGrp="1"/>
          </p:cNvSpPr>
          <p:nvPr>
            <p:ph type="sldNum" sz="quarter" idx="5"/>
          </p:nvPr>
        </p:nvSpPr>
        <p:spPr/>
        <p:txBody>
          <a:bodyPr/>
          <a:lstStyle/>
          <a:p>
            <a:pPr>
              <a:defRPr/>
            </a:pPr>
            <a:fld id="{F1CA40EA-03DA-B94C-9A0E-A28DB663F067}" type="slidenum">
              <a:rPr lang="es-ES" smtClean="0"/>
              <a:pPr>
                <a:defRPr/>
              </a:pPr>
              <a:t>2</a:t>
            </a:fld>
            <a:endParaRPr lang="es-ES"/>
          </a:p>
        </p:txBody>
      </p:sp>
    </p:spTree>
    <p:extLst>
      <p:ext uri="{BB962C8B-B14F-4D97-AF65-F5344CB8AC3E}">
        <p14:creationId xmlns:p14="http://schemas.microsoft.com/office/powerpoint/2010/main" val="172684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951EB-B134-E73E-0142-3ACC5EEC65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446258-42C1-D93D-7071-84BFDE9EE6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0588E-0FAA-C178-8A11-FDC1F0B19D7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3F1AB3C-24A9-9CFA-600F-CB32A4CECBB6}"/>
              </a:ext>
            </a:extLst>
          </p:cNvPr>
          <p:cNvSpPr>
            <a:spLocks noGrp="1"/>
          </p:cNvSpPr>
          <p:nvPr>
            <p:ph type="sldNum" sz="quarter" idx="5"/>
          </p:nvPr>
        </p:nvSpPr>
        <p:spPr/>
        <p:txBody>
          <a:bodyPr/>
          <a:lstStyle/>
          <a:p>
            <a:pPr>
              <a:defRPr/>
            </a:pPr>
            <a:fld id="{F1CA40EA-03DA-B94C-9A0E-A28DB663F067}" type="slidenum">
              <a:rPr lang="es-ES" smtClean="0"/>
              <a:pPr>
                <a:defRPr/>
              </a:pPr>
              <a:t>3</a:t>
            </a:fld>
            <a:endParaRPr lang="es-ES"/>
          </a:p>
        </p:txBody>
      </p:sp>
    </p:spTree>
    <p:extLst>
      <p:ext uri="{BB962C8B-B14F-4D97-AF65-F5344CB8AC3E}">
        <p14:creationId xmlns:p14="http://schemas.microsoft.com/office/powerpoint/2010/main" val="1939913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6F94-C79D-14B2-F7D6-BCA663269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E629D-78E2-67F6-D5FD-1286FF1152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131D31-4C9A-3A57-235A-3D684638E8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2F1F9F-57DC-6E23-DDB6-8B186259B5C1}"/>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890507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790FB-9F1D-A002-6D80-A665622D4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04C94-6AB6-7546-1CAA-87BCD22B22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EC837D-A57D-E0F9-9FF7-A4C111CB2A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F549BE-A872-D530-7ECC-44D6A702D76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614221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170C3-D310-1DC4-9B42-3CC26259B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DF18A-CE9A-97A0-7F5A-C2892D9AAD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0C8E30-172E-15D7-7046-99FCF09698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0CE9A1-4AAA-FB3B-AD29-5199AC3CBD3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333171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DA09-3152-879F-DE4A-737F30EE01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078EB8-3FFC-6762-ED8D-795E31CCAA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2EC7C2-31EA-FD7B-30B2-8E14107AE5B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93EDF7-9A7D-518A-7F64-6C960714D8A6}"/>
              </a:ext>
            </a:extLst>
          </p:cNvPr>
          <p:cNvSpPr>
            <a:spLocks noGrp="1"/>
          </p:cNvSpPr>
          <p:nvPr>
            <p:ph type="sldNum" sz="quarter" idx="5"/>
          </p:nvPr>
        </p:nvSpPr>
        <p:spPr/>
        <p:txBody>
          <a:bodyPr/>
          <a:lstStyle/>
          <a:p>
            <a:pPr>
              <a:defRPr/>
            </a:pPr>
            <a:fld id="{F1CA40EA-03DA-B94C-9A0E-A28DB663F067}" type="slidenum">
              <a:rPr lang="es-ES" smtClean="0"/>
              <a:pPr>
                <a:defRPr/>
              </a:pPr>
              <a:t>7</a:t>
            </a:fld>
            <a:endParaRPr lang="es-ES"/>
          </a:p>
        </p:txBody>
      </p:sp>
    </p:spTree>
    <p:extLst>
      <p:ext uri="{BB962C8B-B14F-4D97-AF65-F5344CB8AC3E}">
        <p14:creationId xmlns:p14="http://schemas.microsoft.com/office/powerpoint/2010/main" val="1469320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FE8C9-4F4C-B5CB-00BB-15A0274CE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944D0-90C4-1D16-FB1F-191EF1D946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BA2565-841A-A088-BB2E-FF94EBCAAF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0A5F27-C59A-59F7-92AD-4BC97E011E0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619371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E134-1FAE-DBC5-9480-2C9D7C319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542FD-CD3E-C83A-4DD7-20E5ED4426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3E6367-9676-94B2-1B13-316B8A9D17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B23889-3975-C6D6-5BF5-BE08FE5C3A1E}"/>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479943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B614-E894-2170-3F4D-60661524B3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C9EC9D-03E8-2167-228C-7BFD66F492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174A10-051B-BE12-69C2-82ABAB45CBC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41C1D0-D2C6-E539-4B30-3D0DC6DB6EA2}"/>
              </a:ext>
            </a:extLst>
          </p:cNvPr>
          <p:cNvSpPr>
            <a:spLocks noGrp="1"/>
          </p:cNvSpPr>
          <p:nvPr>
            <p:ph type="sldNum" sz="quarter" idx="5"/>
          </p:nvPr>
        </p:nvSpPr>
        <p:spPr/>
        <p:txBody>
          <a:bodyPr/>
          <a:lstStyle/>
          <a:p>
            <a:pPr>
              <a:defRPr/>
            </a:pPr>
            <a:fld id="{F1CA40EA-03DA-B94C-9A0E-A28DB663F067}" type="slidenum">
              <a:rPr lang="es-ES" smtClean="0"/>
              <a:pPr>
                <a:defRPr/>
              </a:pPr>
              <a:t>10</a:t>
            </a:fld>
            <a:endParaRPr lang="es-ES"/>
          </a:p>
        </p:txBody>
      </p:sp>
    </p:spTree>
    <p:extLst>
      <p:ext uri="{BB962C8B-B14F-4D97-AF65-F5344CB8AC3E}">
        <p14:creationId xmlns:p14="http://schemas.microsoft.com/office/powerpoint/2010/main" val="2474840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0838-FB1B-4612-A0B8-717E967143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70DC85-A3D9-C324-FAD7-629419BA42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1737D-64B9-8D4E-92D8-A7CC3D6EAC2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2E18C33-AF57-E71C-639E-5D3FF708010F}"/>
              </a:ext>
            </a:extLst>
          </p:cNvPr>
          <p:cNvSpPr>
            <a:spLocks noGrp="1"/>
          </p:cNvSpPr>
          <p:nvPr>
            <p:ph type="sldNum" sz="quarter" idx="5"/>
          </p:nvPr>
        </p:nvSpPr>
        <p:spPr/>
        <p:txBody>
          <a:bodyPr/>
          <a:lstStyle/>
          <a:p>
            <a:pPr>
              <a:defRPr/>
            </a:pPr>
            <a:fld id="{F1CA40EA-03DA-B94C-9A0E-A28DB663F067}" type="slidenum">
              <a:rPr lang="es-ES" smtClean="0"/>
              <a:pPr>
                <a:defRPr/>
              </a:pPr>
              <a:t>11</a:t>
            </a:fld>
            <a:endParaRPr lang="es-ES"/>
          </a:p>
        </p:txBody>
      </p:sp>
    </p:spTree>
    <p:extLst>
      <p:ext uri="{BB962C8B-B14F-4D97-AF65-F5344CB8AC3E}">
        <p14:creationId xmlns:p14="http://schemas.microsoft.com/office/powerpoint/2010/main" val="1863583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71F71-E17B-55EC-AD7F-B6632C53F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EE3EF-A60F-B53A-5DA3-7868553BEF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31B5B-72BF-03B4-1DEC-62292B25C4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244F98-EB91-B3CD-A6FB-6C5D8CE137E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149655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7FD9A-A0B3-8628-EF25-25777CEF7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B7CA0-E3DD-008D-B65B-9CAEC6AECF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614C2A-CBD2-6AFA-FF8B-1FE66DDD67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2874A5-1027-9966-0AEE-E6CBD56FB2A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788153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3BAC7-380F-B543-2954-23189EA2F7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6E33BC-1C4A-EEC3-112D-F0F0EED7BC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7E81A6D-3A61-6EDA-3B8E-7261F319D76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E2A55F8-1739-3D3A-848D-E2A202E273E6}"/>
              </a:ext>
            </a:extLst>
          </p:cNvPr>
          <p:cNvSpPr>
            <a:spLocks noGrp="1"/>
          </p:cNvSpPr>
          <p:nvPr>
            <p:ph type="sldNum" sz="quarter" idx="5"/>
          </p:nvPr>
        </p:nvSpPr>
        <p:spPr/>
        <p:txBody>
          <a:bodyPr/>
          <a:lstStyle/>
          <a:p>
            <a:pPr>
              <a:defRPr/>
            </a:pPr>
            <a:fld id="{F1CA40EA-03DA-B94C-9A0E-A28DB663F067}" type="slidenum">
              <a:rPr lang="es-ES" smtClean="0"/>
              <a:pPr>
                <a:defRPr/>
              </a:pPr>
              <a:t>15</a:t>
            </a:fld>
            <a:endParaRPr lang="es-ES"/>
          </a:p>
        </p:txBody>
      </p:sp>
    </p:spTree>
    <p:extLst>
      <p:ext uri="{BB962C8B-B14F-4D97-AF65-F5344CB8AC3E}">
        <p14:creationId xmlns:p14="http://schemas.microsoft.com/office/powerpoint/2010/main" val="2773588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6BFB1-B367-1329-34EC-CE974C058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C6FEF-8CDA-4BE2-0496-745829128F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83F246-37F1-C023-BD3A-79EAA40972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35F5D8-20F2-636C-42F0-8C187A312B32}"/>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63011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4B24-310E-0D24-2283-7E3036FE4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A9A05-8E84-2AC7-65FD-70EEEE0D98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8833EA-D26C-4916-C596-0FDBD80A46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3C8A73-01E3-6CE8-1427-0020F3B45F0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454366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3E915-4F87-61F1-BD95-C76D691F9E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0E7EC9-FDBD-284A-032A-DC4AF4A0D0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61BE39-70B8-1768-B6F2-5EA990BD4C5C}"/>
              </a:ext>
            </a:extLst>
          </p:cNvPr>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highlight>
                <a:srgbClr val="FFFF00"/>
              </a:highlight>
              <a:uLnTx/>
              <a:uFillTx/>
              <a:latin typeface="Arial" panose="020B0604020202020204" pitchFamily="34" charset="0"/>
              <a:ea typeface="+mn-ea"/>
              <a:cs typeface="Arial" panose="020B0604020202020204" pitchFamily="34" charset="0"/>
            </a:endParaRPr>
          </a:p>
        </p:txBody>
      </p:sp>
      <p:sp>
        <p:nvSpPr>
          <p:cNvPr id="4" name="Marcador de número de diapositiva 3">
            <a:extLst>
              <a:ext uri="{FF2B5EF4-FFF2-40B4-BE49-F238E27FC236}">
                <a16:creationId xmlns:a16="http://schemas.microsoft.com/office/drawing/2014/main" id="{5EF250B5-C17A-29EA-554F-2045268FAE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9C3456-54B0-4954-870A-B63526EC04E9}"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1108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7A4D4-07E0-DEA4-1711-E43AA3D55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7B58C-F991-A845-96ED-7D088DD709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7F1F27-F7A9-6C0E-BC9E-6580BDA5A4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29F9D0-4D01-2EC0-0992-D0FA8CE0229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09043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1F2EA-0760-465F-72E1-30794B993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9DAC4-3533-2D63-8510-366BA9B840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DD428-FCF6-620F-79F3-888FF6C2D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AC1969-631D-957F-0996-268F7304827C}"/>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983730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2AE2-3112-E87A-DB12-DAB4C5C71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86091-8679-C5A2-E198-CA9D9322E8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94A9D9-26D6-BBFF-6F35-B751E2575F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8BBC8B-45F7-D560-ABAE-6B581483A2A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44650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AE061-CDD8-B176-E0CE-9B70DCDD0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60ED1-6C75-47F6-453F-97DDE7377D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A40E24-58DE-E497-3AE1-DCD002D84D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834468-1277-B5D2-81D2-A53C1B974A4D}"/>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668524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C8023-B34A-65AC-B6EF-A48AAE6F5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D3990-3E75-065F-86A4-FEEE618BC0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6F411D-C0D7-8419-91A5-4E7E44072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985291-D690-43BF-C26F-0F6F9E27A837}"/>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001945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4D06B-0DE7-1383-79E4-8956F20C05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2A13FB-59A8-2FFB-2B79-CFDA85CE21B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2994C3-6DE6-14CB-0C8A-571F472447BD}"/>
              </a:ext>
            </a:extLst>
          </p:cNvPr>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highlight>
                <a:srgbClr val="FFFF00"/>
              </a:highlight>
              <a:uLnTx/>
              <a:uFillTx/>
              <a:latin typeface="Arial" panose="020B0604020202020204" pitchFamily="34" charset="0"/>
              <a:ea typeface="+mn-ea"/>
              <a:cs typeface="Arial" panose="020B0604020202020204" pitchFamily="34" charset="0"/>
            </a:endParaRPr>
          </a:p>
        </p:txBody>
      </p:sp>
      <p:sp>
        <p:nvSpPr>
          <p:cNvPr id="4" name="Marcador de número de diapositiva 3">
            <a:extLst>
              <a:ext uri="{FF2B5EF4-FFF2-40B4-BE49-F238E27FC236}">
                <a16:creationId xmlns:a16="http://schemas.microsoft.com/office/drawing/2014/main" id="{A6982C5F-84FD-501B-C263-DEA3F718CB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9C3456-54B0-4954-870A-B63526EC04E9}"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4205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2DF5-3394-CC0E-C75C-6D3A9561F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636E0-E4FC-2A19-985A-7D74D28E0A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B83EF8-2196-D257-305D-63FAD8E917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AF9177-176E-5E8B-98DD-671E87FF20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07706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i="0" kern="1200" err="1">
                <a:solidFill>
                  <a:schemeClr val="tx1"/>
                </a:solidFill>
                <a:effectLst/>
                <a:latin typeface="+mn-lt"/>
                <a:ea typeface="+mn-ea"/>
                <a:cs typeface="+mn-cs"/>
              </a:rPr>
              <a:t>Operational</a:t>
            </a:r>
            <a:r>
              <a:rPr lang="es-MX" sz="1200" b="1" i="0" kern="1200">
                <a:solidFill>
                  <a:schemeClr val="tx1"/>
                </a:solidFill>
                <a:effectLst/>
                <a:latin typeface="+mn-lt"/>
                <a:ea typeface="+mn-ea"/>
                <a:cs typeface="+mn-cs"/>
              </a:rPr>
              <a:t> Rules </a:t>
            </a:r>
            <a:r>
              <a:rPr lang="es-MX" sz="1200" b="1" i="0" kern="1200" err="1">
                <a:solidFill>
                  <a:schemeClr val="tx1"/>
                </a:solidFill>
                <a:effectLst/>
                <a:latin typeface="+mn-lt"/>
                <a:ea typeface="+mn-ea"/>
                <a:cs typeface="+mn-cs"/>
              </a:rPr>
              <a:t>by</a:t>
            </a:r>
            <a:r>
              <a:rPr lang="es-MX" sz="1200" b="1" i="0" kern="1200">
                <a:solidFill>
                  <a:schemeClr val="tx1"/>
                </a:solidFill>
                <a:effectLst/>
                <a:latin typeface="+mn-lt"/>
                <a:ea typeface="+mn-ea"/>
                <a:cs typeface="+mn-cs"/>
              </a:rPr>
              <a:t> </a:t>
            </a:r>
            <a:r>
              <a:rPr lang="es-MX" sz="1200" b="1" i="0" kern="1200" err="1">
                <a:solidFill>
                  <a:schemeClr val="tx1"/>
                </a:solidFill>
                <a:effectLst/>
                <a:latin typeface="+mn-lt"/>
                <a:ea typeface="+mn-ea"/>
                <a:cs typeface="+mn-cs"/>
              </a:rPr>
              <a:t>Size</a:t>
            </a:r>
            <a:endParaRPr lang="es-MX" sz="1200" b="0" i="0" kern="1200">
              <a:solidFill>
                <a:schemeClr val="tx1"/>
              </a:solidFill>
              <a:effectLst/>
              <a:latin typeface="+mn-lt"/>
              <a:ea typeface="+mn-ea"/>
              <a:cs typeface="+mn-cs"/>
            </a:endParaRPr>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26</a:t>
            </a:fld>
            <a:endParaRPr lang="es-MX"/>
          </a:p>
        </p:txBody>
      </p:sp>
    </p:spTree>
    <p:extLst>
      <p:ext uri="{BB962C8B-B14F-4D97-AF65-F5344CB8AC3E}">
        <p14:creationId xmlns:p14="http://schemas.microsoft.com/office/powerpoint/2010/main" val="1575189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3C02-099A-122B-5F20-4341723F7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26C08-2AE1-84EA-1A61-01E7529067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E9E696-7E66-3D78-D5F3-8D856A3E3E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1B9A6D-4210-F290-2A4A-5102685C099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2341497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29530-3771-6D74-D598-A8CA2409F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09E75-C43A-62E8-4BD6-F02CCF69CB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98CC29-BC6E-FC88-235C-7891B531E6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E2B41D-5A47-2C98-7D4E-D1992DFBBE8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918739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BB46A-64D1-FF98-DCD8-887D0C8B6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0DDF5-CC17-AF0D-7C6D-7A058981DC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AA7119-FF4A-F7B4-C51D-2E5C5B0EFB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A78524-5A85-6D54-BD42-0B2E9EE87BB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9133376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2101A-8B80-8A01-D448-0F93D99B3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C09A9-E27E-B9C0-1392-0CB564D63D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8B6543-C5DD-F789-A06F-B198AF4D85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8E348B-60D7-D2AF-726B-16F9407A70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6596143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15D3-565F-55B2-81D4-04C2C6A91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8B28B-F9C1-98E0-130E-FB3133C3EE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F082D2-7665-AFB3-F2F4-FC2D57F1B6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08ACD5-47EE-1F06-9EBC-C68FF776364D}"/>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592640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48995-E3A8-1428-1314-5BD89F65D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63920-2AFC-C419-3E3C-F558E74BE8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B39890-FD73-ED1F-241C-8A00DD7BEA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5943B8-BE3B-CF42-37A1-BE6C42A0C8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5519086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6DDDC-2AFC-9E1B-5B66-99F3BCC29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2798D-B649-F862-AA48-9DE75EE66E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FC6CB9-84EA-ED14-C867-BD6C9ABA85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A45249-BA0A-425C-567B-C9A136D3BF5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845698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err="1"/>
              <a:t>Previous</a:t>
            </a:r>
            <a:r>
              <a:rPr lang="es-MX"/>
              <a:t> </a:t>
            </a:r>
            <a:r>
              <a:rPr lang="es-MX" err="1"/>
              <a:t>definition</a:t>
            </a:r>
            <a:r>
              <a:rPr lang="es-MX"/>
              <a:t>: 15 </a:t>
            </a:r>
            <a:r>
              <a:rPr lang="es-MX" err="1"/>
              <a:t>days</a:t>
            </a:r>
            <a:r>
              <a:rPr lang="es-MX"/>
              <a:t> (</a:t>
            </a:r>
            <a:r>
              <a:rPr lang="es-MX" err="1"/>
              <a:t>pending</a:t>
            </a:r>
            <a:r>
              <a:rPr lang="es-MX"/>
              <a:t> </a:t>
            </a:r>
            <a:r>
              <a:rPr lang="es-MX" err="1"/>
              <a:t>if</a:t>
            </a:r>
            <a:r>
              <a:rPr lang="es-MX"/>
              <a:t> </a:t>
            </a:r>
            <a:r>
              <a:rPr lang="es-MX" err="1"/>
              <a:t>business</a:t>
            </a:r>
            <a:r>
              <a:rPr lang="es-MX"/>
              <a:t> </a:t>
            </a:r>
            <a:r>
              <a:rPr lang="es-MX" err="1"/>
              <a:t>or</a:t>
            </a:r>
            <a:r>
              <a:rPr lang="es-MX"/>
              <a:t> calendar). </a:t>
            </a:r>
            <a:r>
              <a:rPr lang="es-MX" err="1"/>
              <a:t>For</a:t>
            </a:r>
            <a:r>
              <a:rPr lang="es-MX"/>
              <a:t> </a:t>
            </a:r>
            <a:r>
              <a:rPr lang="es-MX" err="1"/>
              <a:t>production</a:t>
            </a:r>
            <a:r>
              <a:rPr lang="es-MX"/>
              <a:t> Support </a:t>
            </a:r>
            <a:r>
              <a:rPr lang="es-MX" err="1"/>
              <a:t>it’s</a:t>
            </a:r>
            <a:r>
              <a:rPr lang="es-MX"/>
              <a:t> </a:t>
            </a:r>
            <a:r>
              <a:rPr lang="es-MX" err="1"/>
              <a:t>currently</a:t>
            </a:r>
            <a:r>
              <a:rPr lang="es-MX"/>
              <a:t> </a:t>
            </a:r>
            <a:r>
              <a:rPr lang="es-MX" err="1"/>
              <a:t>triaged</a:t>
            </a:r>
            <a:r>
              <a:rPr lang="es-MX"/>
              <a:t> at </a:t>
            </a:r>
            <a:r>
              <a:rPr lang="es-MX" err="1"/>
              <a:t>the</a:t>
            </a:r>
            <a:r>
              <a:rPr lang="es-MX"/>
              <a:t> </a:t>
            </a:r>
            <a:r>
              <a:rPr lang="es-MX" err="1"/>
              <a:t>same</a:t>
            </a:r>
            <a:r>
              <a:rPr lang="es-MX"/>
              <a:t> </a:t>
            </a:r>
            <a:r>
              <a:rPr lang="es-MX" err="1"/>
              <a:t>day</a:t>
            </a:r>
            <a:r>
              <a:rPr lang="es-MX"/>
              <a:t>. </a:t>
            </a:r>
            <a:r>
              <a:rPr lang="es-MX" err="1"/>
              <a:t>For</a:t>
            </a:r>
            <a:r>
              <a:rPr lang="es-MX"/>
              <a:t> </a:t>
            </a:r>
            <a:r>
              <a:rPr lang="es-MX" err="1"/>
              <a:t>critical</a:t>
            </a:r>
            <a:r>
              <a:rPr lang="es-MX"/>
              <a:t> </a:t>
            </a:r>
            <a:r>
              <a:rPr lang="es-MX" err="1"/>
              <a:t>it’s</a:t>
            </a:r>
            <a:r>
              <a:rPr lang="es-MX"/>
              <a:t> </a:t>
            </a:r>
            <a:r>
              <a:rPr lang="es-MX" err="1"/>
              <a:t>looked</a:t>
            </a:r>
            <a:r>
              <a:rPr lang="es-MX"/>
              <a:t> at </a:t>
            </a:r>
            <a:r>
              <a:rPr lang="es-MX" err="1"/>
              <a:t>the</a:t>
            </a:r>
            <a:r>
              <a:rPr lang="es-MX"/>
              <a:t> </a:t>
            </a:r>
            <a:r>
              <a:rPr lang="es-MX" err="1"/>
              <a:t>same</a:t>
            </a:r>
            <a:r>
              <a:rPr lang="es-MX"/>
              <a:t> </a:t>
            </a:r>
            <a:r>
              <a:rPr lang="es-MX" err="1"/>
              <a:t>day</a:t>
            </a:r>
            <a:r>
              <a:rPr lang="es-MX"/>
              <a:t>. </a:t>
            </a:r>
          </a:p>
          <a:p>
            <a:r>
              <a:rPr lang="es-MX" err="1"/>
              <a:t>For</a:t>
            </a:r>
            <a:r>
              <a:rPr lang="es-MX"/>
              <a:t> </a:t>
            </a:r>
            <a:r>
              <a:rPr lang="es-MX" err="1"/>
              <a:t>critical</a:t>
            </a:r>
            <a:r>
              <a:rPr lang="es-MX"/>
              <a:t> ítems </a:t>
            </a:r>
            <a:r>
              <a:rPr lang="es-MX" err="1"/>
              <a:t>include</a:t>
            </a:r>
            <a:r>
              <a:rPr lang="es-MX"/>
              <a:t> a single </a:t>
            </a:r>
            <a:r>
              <a:rPr lang="es-MX" err="1"/>
              <a:t>day</a:t>
            </a:r>
            <a:r>
              <a:rPr lang="es-MX"/>
              <a:t> Review.</a:t>
            </a:r>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39</a:t>
            </a:fld>
            <a:endParaRPr lang="es-MX"/>
          </a:p>
        </p:txBody>
      </p:sp>
    </p:spTree>
    <p:extLst>
      <p:ext uri="{BB962C8B-B14F-4D97-AF65-F5344CB8AC3E}">
        <p14:creationId xmlns:p14="http://schemas.microsoft.com/office/powerpoint/2010/main" val="7069524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D1BA-5B2D-E636-DBD0-95CFD77CDA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9C9428-9AD1-656D-09A3-D724548437F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717126-36D2-A31E-C260-944DA9E93AE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85C12B-95C3-502D-2D65-B2C5BB1FEF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31765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9A30-052F-C716-8BF3-1F583A95D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9A674-1C2F-0495-C0A3-B59C70DA21BB}"/>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BF79646B-6856-E5F4-9273-724569106E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26824A-1C1A-EA3E-9574-EF1AE460E2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14320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Agregar detalle según el tipo si es </a:t>
            </a:r>
            <a:r>
              <a:rPr lang="es-MX" err="1"/>
              <a:t>small</a:t>
            </a:r>
            <a:r>
              <a:rPr lang="es-MX"/>
              <a:t> lo hace </a:t>
            </a:r>
            <a:r>
              <a:rPr lang="es-MX" err="1"/>
              <a:t>product</a:t>
            </a:r>
            <a:r>
              <a:rPr lang="es-MX"/>
              <a:t> </a:t>
            </a:r>
            <a:r>
              <a:rPr lang="es-MX" err="1"/>
              <a:t>owner</a:t>
            </a:r>
            <a:r>
              <a:rPr lang="es-MX"/>
              <a:t> y si es </a:t>
            </a:r>
            <a:r>
              <a:rPr lang="es-MX" err="1"/>
              <a:t>Midium</a:t>
            </a:r>
            <a:r>
              <a:rPr lang="es-MX"/>
              <a:t> y </a:t>
            </a:r>
            <a:r>
              <a:rPr lang="es-MX" err="1"/>
              <a:t>Large</a:t>
            </a:r>
            <a:endParaRPr lang="es-MX"/>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45</a:t>
            </a:fld>
            <a:endParaRPr lang="es-MX"/>
          </a:p>
        </p:txBody>
      </p:sp>
    </p:spTree>
    <p:extLst>
      <p:ext uri="{BB962C8B-B14F-4D97-AF65-F5344CB8AC3E}">
        <p14:creationId xmlns:p14="http://schemas.microsoft.com/office/powerpoint/2010/main" val="14413204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F8379-80FF-C5B5-D613-BF57F8D79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5A482B-EF23-C4D9-5A86-76D63732FA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33AD25-11FF-A685-3D39-4961C598D9F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A31D608-9408-0163-378E-AE73A23439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850151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9C3456-54B0-4954-870A-B63526EC04E9}" type="slidenum">
              <a:rPr lang="es-MX" smtClean="0"/>
              <a:t>50</a:t>
            </a:fld>
            <a:endParaRPr lang="es-MX"/>
          </a:p>
        </p:txBody>
      </p:sp>
    </p:spTree>
    <p:extLst>
      <p:ext uri="{BB962C8B-B14F-4D97-AF65-F5344CB8AC3E}">
        <p14:creationId xmlns:p14="http://schemas.microsoft.com/office/powerpoint/2010/main" val="5262320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9C3456-54B0-4954-870A-B63526EC04E9}" type="slidenum">
              <a:rPr lang="es-MX" smtClean="0"/>
              <a:t>52</a:t>
            </a:fld>
            <a:endParaRPr lang="es-MX"/>
          </a:p>
        </p:txBody>
      </p:sp>
    </p:spTree>
    <p:extLst>
      <p:ext uri="{BB962C8B-B14F-4D97-AF65-F5344CB8AC3E}">
        <p14:creationId xmlns:p14="http://schemas.microsoft.com/office/powerpoint/2010/main" val="30989810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F136B-AB1F-2B3C-001F-D0479124EB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777AB2-5FEC-4DD7-9417-1F410CAEFC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4317DE-2F39-57D7-885D-B2DEEF2D785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D9C57CB-00EE-3A4B-221A-61F9CDAFE46E}"/>
              </a:ext>
            </a:extLst>
          </p:cNvPr>
          <p:cNvSpPr>
            <a:spLocks noGrp="1"/>
          </p:cNvSpPr>
          <p:nvPr>
            <p:ph type="sldNum" sz="quarter" idx="5"/>
          </p:nvPr>
        </p:nvSpPr>
        <p:spPr/>
        <p:txBody>
          <a:bodyPr/>
          <a:lstStyle/>
          <a:p>
            <a:pPr>
              <a:defRPr/>
            </a:pPr>
            <a:fld id="{F1CA40EA-03DA-B94C-9A0E-A28DB663F067}" type="slidenum">
              <a:rPr lang="es-ES" smtClean="0"/>
              <a:pPr>
                <a:defRPr/>
              </a:pPr>
              <a:t>60</a:t>
            </a:fld>
            <a:endParaRPr lang="es-ES"/>
          </a:p>
        </p:txBody>
      </p:sp>
    </p:spTree>
    <p:extLst>
      <p:ext uri="{BB962C8B-B14F-4D97-AF65-F5344CB8AC3E}">
        <p14:creationId xmlns:p14="http://schemas.microsoft.com/office/powerpoint/2010/main" val="14897752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059C6-39BB-AF00-3C72-7B5A5E8AA5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18E997-92AD-ADAB-2E4C-ABAC3A1407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172C5E-160A-A28B-6729-047CC2191EE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8B6864B-3480-8231-0107-E5D778C542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354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95FE-3CA3-1805-FE9D-B64159A95E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E03EE1-44FE-258B-48ED-9BE4B8849C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230748-B666-C5D4-F58C-72542F0D2D6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B3C8227-20A5-A5B2-6CAD-12CCD002FA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36099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416F-8531-C07E-4E12-7538749EAE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EB542A-CCBD-2656-AC19-DEE332276EA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0009EF-81D2-8651-6B04-CAD02DF1CBB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163F7F9-55BE-2AC8-66ED-1FCF1C89948A}"/>
              </a:ext>
            </a:extLst>
          </p:cNvPr>
          <p:cNvSpPr>
            <a:spLocks noGrp="1"/>
          </p:cNvSpPr>
          <p:nvPr>
            <p:ph type="sldNum" sz="quarter" idx="5"/>
          </p:nvPr>
        </p:nvSpPr>
        <p:spPr/>
        <p:txBody>
          <a:bodyPr/>
          <a:lstStyle/>
          <a:p>
            <a:pPr>
              <a:defRPr/>
            </a:pPr>
            <a:fld id="{F1CA40EA-03DA-B94C-9A0E-A28DB663F067}" type="slidenum">
              <a:rPr lang="es-ES" smtClean="0"/>
              <a:pPr>
                <a:defRPr/>
              </a:pPr>
              <a:t>63</a:t>
            </a:fld>
            <a:endParaRPr lang="es-ES"/>
          </a:p>
        </p:txBody>
      </p:sp>
    </p:spTree>
    <p:extLst>
      <p:ext uri="{BB962C8B-B14F-4D97-AF65-F5344CB8AC3E}">
        <p14:creationId xmlns:p14="http://schemas.microsoft.com/office/powerpoint/2010/main" val="32386799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2D110-66FA-7FC9-C21A-64A6C988C9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389CC0-3811-AB8F-63FE-79B794AAA9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999672-E8B6-966B-4A59-6EE9C58748D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173B309-B849-2705-7295-ED4B609A990E}"/>
              </a:ext>
            </a:extLst>
          </p:cNvPr>
          <p:cNvSpPr>
            <a:spLocks noGrp="1"/>
          </p:cNvSpPr>
          <p:nvPr>
            <p:ph type="sldNum" sz="quarter" idx="5"/>
          </p:nvPr>
        </p:nvSpPr>
        <p:spPr/>
        <p:txBody>
          <a:bodyPr/>
          <a:lstStyle/>
          <a:p>
            <a:pPr>
              <a:defRPr/>
            </a:pPr>
            <a:fld id="{F1CA40EA-03DA-B94C-9A0E-A28DB663F067}" type="slidenum">
              <a:rPr lang="es-ES" smtClean="0"/>
              <a:pPr>
                <a:defRPr/>
              </a:pPr>
              <a:t>64</a:t>
            </a:fld>
            <a:endParaRPr lang="es-ES"/>
          </a:p>
        </p:txBody>
      </p:sp>
    </p:spTree>
    <p:extLst>
      <p:ext uri="{BB962C8B-B14F-4D97-AF65-F5344CB8AC3E}">
        <p14:creationId xmlns:p14="http://schemas.microsoft.com/office/powerpoint/2010/main" val="35490961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19519-9CC6-7E35-D63C-46E40DA0A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8C9C-1329-1002-A16D-CF954A24967C}"/>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6FF1C5D7-5095-87C0-D800-93E2E4BECD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3AD612-D561-F973-476C-CE5FE4682A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1812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6" name="Google Shape;1206;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207" name="Google Shape;1207;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419"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67</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1068779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7AF3-DB9E-D161-AE7F-290185300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9B108-F881-2B9F-4773-0F1D2F4FE6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938BBA-DB87-3B1C-99ED-F914DBFD14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BEE928-9993-1BCA-8272-137F6AB9F19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74</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458405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8D4B-C0DD-BC2C-AF96-3149E7E5B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4AE03-DCED-D1C8-C046-797D9EF023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F91320-FBAB-3689-ABF8-8EFF2908A9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D4928E-7DD2-DA38-AEE2-912959C5384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864201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43E4-514F-92D2-6FDB-07A1B5DF5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6F620-9749-4DF6-6A98-65ED4441B4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4D3AB9-DDB7-6FE6-29B2-065DFAD913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69B781-A3DD-6584-5204-584C1523C57C}"/>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718102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9A56-38C2-E1E1-38A3-E77F2ED15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D28DB-01BA-5849-40EA-DB1EB58962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343D65-C809-F282-7F70-2BB7FD6BE1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i="0">
                <a:solidFill>
                  <a:srgbClr val="004D2E"/>
                </a:solidFill>
              </a:rPr>
              <a:t>TRANSFORMATIONAL, VERY HIGH</a:t>
            </a:r>
            <a:r>
              <a:rPr lang="en-US" sz="1200" b="1" i="0">
                <a:solidFill>
                  <a:srgbClr val="004D2E"/>
                </a:solidFill>
              </a:rPr>
              <a:t>, </a:t>
            </a:r>
            <a:r>
              <a:rPr lang="es-MX" sz="1200" b="1" i="0">
                <a:solidFill>
                  <a:srgbClr val="004D2E"/>
                </a:solidFill>
              </a:rPr>
              <a:t>HIGH, LOW &amp; MINIMAL</a:t>
            </a:r>
          </a:p>
        </p:txBody>
      </p:sp>
      <p:sp>
        <p:nvSpPr>
          <p:cNvPr id="4" name="Slide Number Placeholder 3">
            <a:extLst>
              <a:ext uri="{FF2B5EF4-FFF2-40B4-BE49-F238E27FC236}">
                <a16:creationId xmlns:a16="http://schemas.microsoft.com/office/drawing/2014/main" id="{E5C92927-6417-C354-AEF2-FC46715847E6}"/>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041383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8C59-C075-405B-A4ED-6D225B4F2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935F8-B13F-5849-70BE-41F4DDBF6F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A16013-32CF-A423-B273-093F75675A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6B5E6F-3273-17C0-0B80-4FBE3825E05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386142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79CA75-9AA6-EA0B-5377-7D001B2701F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FD4231F-6080-6411-8EC8-E27C7450C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36F1189D-9CE9-8B86-EF27-A7704C975BE5}"/>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4A6799ED-A43E-790B-DA44-703E342DBE0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6C707E8-38FD-B24B-69CE-B445F08D949D}"/>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2519594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CDD774-6B31-7DB2-31CF-2693C0C6639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EFEFB71-0647-EE03-AEFF-1F3980AC510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7DD5747-7853-4D8B-CD2D-0BA86DD4689B}"/>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C98056BC-2609-B015-630D-0925D70F078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154C9B-0032-7986-37E7-3F43B757732A}"/>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932624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8B43A-7F30-8A0A-8023-7F5E9ED5C5C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FFAB2E0-4209-7429-68F2-B11AA5AEA0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6B10A52-1587-2608-5DA4-D95EC584488C}"/>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D4D7A122-02F8-8601-5B28-F7DB5118035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68CEA4-2AAF-C93C-E129-B586710D7E95}"/>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898627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9BA4D5-5BFE-BE61-9446-D75663948A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F684B7D-D024-B47D-D247-89F2B1F2646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D9F5C4C6-1DAB-92EA-123F-70F8DBA73B3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E9EAA4EA-A229-5052-EFA8-4E14C9706646}"/>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6" name="Marcador de pie de página 5">
            <a:extLst>
              <a:ext uri="{FF2B5EF4-FFF2-40B4-BE49-F238E27FC236}">
                <a16:creationId xmlns:a16="http://schemas.microsoft.com/office/drawing/2014/main" id="{13BE2AA8-98FA-AAA3-9850-088E72A1D4A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C01A36-910B-E744-FAC3-C4599AC87275}"/>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310507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45F9E-92EB-9483-1E77-D3527433758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47D5504-030F-AF18-0C3B-BE34CA16B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D79E515-2B93-331A-E96E-F04764BBF4C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9C1841E-5250-E63F-F23B-2DEDEAA981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7BA9FB0-6BC2-6FBE-F1B1-1707432D30C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2B83D75-E73F-C03D-956F-FB5F3E62A154}"/>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8" name="Marcador de pie de página 7">
            <a:extLst>
              <a:ext uri="{FF2B5EF4-FFF2-40B4-BE49-F238E27FC236}">
                <a16:creationId xmlns:a16="http://schemas.microsoft.com/office/drawing/2014/main" id="{0A3D54DA-8B34-FC25-585D-1619CC010E4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744DDE5-6C9A-62B4-F876-56D90ADD7647}"/>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617137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4CFBC-C664-5103-3328-579DDB0CCF5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0662528-81A2-41C4-1661-3A10EC6BAE6C}"/>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4" name="Marcador de pie de página 3">
            <a:extLst>
              <a:ext uri="{FF2B5EF4-FFF2-40B4-BE49-F238E27FC236}">
                <a16:creationId xmlns:a16="http://schemas.microsoft.com/office/drawing/2014/main" id="{F2664F8B-0619-4E7F-73A7-58EF24DF80F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E3867CD-728B-261F-CF5E-4D5A6542D689}"/>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223614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Espaço Reservado para Data 1">
            <a:extLst>
              <a:ext uri="{FF2B5EF4-FFF2-40B4-BE49-F238E27FC236}">
                <a16:creationId xmlns:a16="http://schemas.microsoft.com/office/drawing/2014/main" id="{04591BD9-0755-11AD-3285-9C79360A8D23}"/>
              </a:ext>
            </a:extLst>
          </p:cNvPr>
          <p:cNvSpPr>
            <a:spLocks noGrp="1"/>
          </p:cNvSpPr>
          <p:nvPr>
            <p:ph type="dt" sz="half" idx="10"/>
          </p:nvPr>
        </p:nvSpPr>
        <p:spPr>
          <a:xfrm>
            <a:off x="838200" y="6356350"/>
            <a:ext cx="2743200" cy="365125"/>
          </a:xfrm>
        </p:spPr>
        <p:txBody>
          <a:bodyPr/>
          <a:lstStyle/>
          <a:p>
            <a:fld id="{CF654233-1155-9147-8532-ACADC61C7946}" type="datetimeFigureOut">
              <a:rPr lang="pt-BR" smtClean="0"/>
              <a:t>06/05/2026</a:t>
            </a:fld>
            <a:endParaRPr lang="pt-BR"/>
          </a:p>
        </p:txBody>
      </p:sp>
      <p:sp>
        <p:nvSpPr>
          <p:cNvPr id="6" name="Espaço Reservado para Rodapé 2">
            <a:extLst>
              <a:ext uri="{FF2B5EF4-FFF2-40B4-BE49-F238E27FC236}">
                <a16:creationId xmlns:a16="http://schemas.microsoft.com/office/drawing/2014/main" id="{CF4D3DBD-4BD3-AE3C-AE51-B1473B5AE9EB}"/>
              </a:ext>
            </a:extLst>
          </p:cNvPr>
          <p:cNvSpPr>
            <a:spLocks noGrp="1"/>
          </p:cNvSpPr>
          <p:nvPr>
            <p:ph type="ftr" sz="quarter" idx="11"/>
          </p:nvPr>
        </p:nvSpPr>
        <p:spPr>
          <a:xfrm>
            <a:off x="4038600" y="6356350"/>
            <a:ext cx="4114800" cy="365125"/>
          </a:xfrm>
        </p:spPr>
        <p:txBody>
          <a:bodyPr/>
          <a:lstStyle/>
          <a:p>
            <a:endParaRPr lang="pt-BR"/>
          </a:p>
        </p:txBody>
      </p:sp>
      <p:sp>
        <p:nvSpPr>
          <p:cNvPr id="7" name="Espaço Reservado para Número de Slide 3">
            <a:extLst>
              <a:ext uri="{FF2B5EF4-FFF2-40B4-BE49-F238E27FC236}">
                <a16:creationId xmlns:a16="http://schemas.microsoft.com/office/drawing/2014/main" id="{3757134C-28B5-E138-22FA-6EB38234087A}"/>
              </a:ext>
            </a:extLst>
          </p:cNvPr>
          <p:cNvSpPr>
            <a:spLocks noGrp="1"/>
          </p:cNvSpPr>
          <p:nvPr>
            <p:ph type="sldNum" sz="quarter" idx="12"/>
          </p:nvPr>
        </p:nvSpPr>
        <p:spPr>
          <a:xfrm>
            <a:off x="8610600" y="6356350"/>
            <a:ext cx="2743200" cy="365125"/>
          </a:xfrm>
        </p:spPr>
        <p:txBody>
          <a:bodyPr/>
          <a:lstStyle/>
          <a:p>
            <a:fld id="{6E03A7BE-C238-DC45-9CF8-859DD1957D35}" type="slidenum">
              <a:rPr lang="pt-BR" smtClean="0"/>
              <a:t>‹nº›</a:t>
            </a:fld>
            <a:endParaRPr lang="pt-BR"/>
          </a:p>
        </p:txBody>
      </p:sp>
      <p:sp>
        <p:nvSpPr>
          <p:cNvPr id="8" name="Rectángulo 3">
            <a:extLst>
              <a:ext uri="{FF2B5EF4-FFF2-40B4-BE49-F238E27FC236}">
                <a16:creationId xmlns:a16="http://schemas.microsoft.com/office/drawing/2014/main" id="{360A5200-AE6A-58F9-A4AF-F3AD569364E3}"/>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9" name="Imagen 10" descr="Texto&#10;&#10;El contenido generado por IA puede ser incorrecto.">
            <a:extLst>
              <a:ext uri="{FF2B5EF4-FFF2-40B4-BE49-F238E27FC236}">
                <a16:creationId xmlns:a16="http://schemas.microsoft.com/office/drawing/2014/main" id="{2170D845-4C6D-6FE8-586A-81A6FAAF3B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10" name="Graphic 2">
            <a:extLst>
              <a:ext uri="{FF2B5EF4-FFF2-40B4-BE49-F238E27FC236}">
                <a16:creationId xmlns:a16="http://schemas.microsoft.com/office/drawing/2014/main" id="{43232206-824A-6D27-B53E-7FF58A749F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11" name="Footer Placeholder 3">
            <a:extLst>
              <a:ext uri="{FF2B5EF4-FFF2-40B4-BE49-F238E27FC236}">
                <a16:creationId xmlns:a16="http://schemas.microsoft.com/office/drawing/2014/main" id="{5D060D90-53EF-DFDE-AC37-3F875664819C}"/>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pic>
        <p:nvPicPr>
          <p:cNvPr id="12" name="Imagen 3">
            <a:extLst>
              <a:ext uri="{FF2B5EF4-FFF2-40B4-BE49-F238E27FC236}">
                <a16:creationId xmlns:a16="http://schemas.microsoft.com/office/drawing/2014/main" id="{C23DA07A-4F37-4825-45A5-A49C6BFE83F0}"/>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43779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4DEFA-71C9-91F4-0853-3FCEE457139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BAD771E-2934-CAC1-A040-D783128A92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7E3B6AD-C4C7-CCCC-5167-6C7374AD7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9D90124-72EE-530A-28A9-A20B33717BCA}"/>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6" name="Marcador de pie de página 5">
            <a:extLst>
              <a:ext uri="{FF2B5EF4-FFF2-40B4-BE49-F238E27FC236}">
                <a16:creationId xmlns:a16="http://schemas.microsoft.com/office/drawing/2014/main" id="{5921EC01-7574-2760-7110-AFB59ADD352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A12933D-7544-C9CF-625C-EA0B80B4FB9E}"/>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3675297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76A5EA-4457-485A-EBC2-1C247EAF56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F003799-AAFE-6A20-6EE4-478159E79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C3FF187-2826-1F42-BD68-E867E6F29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EEE446-EA11-9E0D-C08A-FD1A8ACBAA64}"/>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6" name="Marcador de pie de página 5">
            <a:extLst>
              <a:ext uri="{FF2B5EF4-FFF2-40B4-BE49-F238E27FC236}">
                <a16:creationId xmlns:a16="http://schemas.microsoft.com/office/drawing/2014/main" id="{DCD6F463-7C83-5CC2-ECB1-3B5C0B74DB8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14CAAC9-30CF-1E53-747B-12AA7E4596D1}"/>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180001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919F9-C346-57A3-6CF7-1FD989577C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C20962B-3903-0525-049B-462923476F5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8FFE2E0-9B25-1F6F-A9AF-F558C1F2A2AD}"/>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6E2ECAA0-773E-B7C5-C5A6-C3147FD973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560F346-B905-854A-F751-7EFC71AED3E4}"/>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1576947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C88835E-7BD1-00BB-02AD-B2B0BE262DE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C8FEEAA-ADE0-CF3C-22B4-3C5EE9B259E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2053743-F758-8A90-FDB0-6E3934FD81D5}"/>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5133F047-F41E-DF8E-9B6D-3CE1903876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F4FF394-2691-9DE2-B3A2-10E499B55954}"/>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838389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Arial" panose="020B0604020202020204" pitchFamily="34" charset="0"/>
              </a:rPr>
              <a:t>06/05/2026</a:t>
            </a:fld>
            <a:endParaRPr lang="en-US" sz="1500">
              <a:solidFill>
                <a:schemeClr val="bg1"/>
              </a:solidFill>
              <a:latin typeface="+mn-lt"/>
              <a:ea typeface="IberPangea Text Light" panose="020B0404000000000000" pitchFamily="34" charset="0"/>
              <a:cs typeface="Arial" panose="020B0604020202020204"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767274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 name="Imagen 3">
            <a:extLst>
              <a:ext uri="{FF2B5EF4-FFF2-40B4-BE49-F238E27FC236}">
                <a16:creationId xmlns:a16="http://schemas.microsoft.com/office/drawing/2014/main" id="{D9900CFF-1E6C-5FDA-48CB-8688B1281639}"/>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1463448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a:solidFill>
                <a:schemeClr val="accent4"/>
              </a:solidFill>
              <a:latin typeface="Arial" panose="020B0604020202020204" pitchFamily="34" charset="0"/>
              <a:ea typeface="IberPangea Text Light" panose="020B0404000000000000" pitchFamily="34" charset="0"/>
              <a:cs typeface="Arial" panose="020B0604020202020204"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560700" y="194310"/>
            <a:ext cx="354491" cy="323580"/>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
        <p:nvSpPr>
          <p:cNvPr id="5" name="Rectangle 4">
            <a:extLst>
              <a:ext uri="{FF2B5EF4-FFF2-40B4-BE49-F238E27FC236}">
                <a16:creationId xmlns:a16="http://schemas.microsoft.com/office/drawing/2014/main" id="{EF86E4BC-D637-9122-F476-8110E50D494B}"/>
              </a:ext>
            </a:extLst>
          </p:cNvPr>
          <p:cNvSpPr/>
          <p:nvPr userDrawn="1"/>
        </p:nvSpPr>
        <p:spPr>
          <a:xfrm>
            <a:off x="-1" y="0"/>
            <a:ext cx="12192001" cy="64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arcador de texto 4">
            <a:extLst>
              <a:ext uri="{FF2B5EF4-FFF2-40B4-BE49-F238E27FC236}">
                <a16:creationId xmlns:a16="http://schemas.microsoft.com/office/drawing/2014/main" id="{B13DCD9A-D9AB-0865-3437-5628D6654418}"/>
              </a:ext>
            </a:extLst>
          </p:cNvPr>
          <p:cNvSpPr>
            <a:spLocks noGrp="1"/>
          </p:cNvSpPr>
          <p:nvPr>
            <p:ph type="body" sz="quarter" idx="20" hasCustomPrompt="1"/>
          </p:nvPr>
        </p:nvSpPr>
        <p:spPr>
          <a:xfrm>
            <a:off x="198664" y="151554"/>
            <a:ext cx="8308800" cy="223200"/>
          </a:xfrm>
          <a:prstGeom prst="rect">
            <a:avLst/>
          </a:prstGeom>
        </p:spPr>
        <p:txBody>
          <a:bodyPr/>
          <a:lstStyle>
            <a:lvl1pPr marL="0" indent="0" algn="l">
              <a:buFontTx/>
              <a:buNone/>
              <a:defRPr sz="1100" baseline="0">
                <a:solidFill>
                  <a:schemeClr val="tx1"/>
                </a:solidFill>
                <a:latin typeface="Century Gothic" panose="020B0502020202020204" pitchFamily="34" charset="0"/>
                <a:cs typeface="Arial" panose="020B0604020202020204" pitchFamily="34" charset="0"/>
              </a:defRPr>
            </a:lvl1pPr>
          </a:lstStyle>
          <a:p>
            <a:pPr lvl="0"/>
            <a:r>
              <a:rPr lang="es-ES" noProof="0"/>
              <a:t>1. Capítulo – Subcapítulo</a:t>
            </a:r>
          </a:p>
        </p:txBody>
      </p:sp>
      <p:sp>
        <p:nvSpPr>
          <p:cNvPr id="10" name="1 Título">
            <a:extLst>
              <a:ext uri="{FF2B5EF4-FFF2-40B4-BE49-F238E27FC236}">
                <a16:creationId xmlns:a16="http://schemas.microsoft.com/office/drawing/2014/main" id="{2F75FB9D-897D-AB4B-1D37-B15704C0097A}"/>
              </a:ext>
            </a:extLst>
          </p:cNvPr>
          <p:cNvSpPr>
            <a:spLocks noGrp="1"/>
          </p:cNvSpPr>
          <p:nvPr>
            <p:ph type="title" hasCustomPrompt="1"/>
          </p:nvPr>
        </p:nvSpPr>
        <p:spPr>
          <a:xfrm>
            <a:off x="184484" y="418359"/>
            <a:ext cx="9198797" cy="576000"/>
          </a:xfrm>
          <a:prstGeom prst="rect">
            <a:avLst/>
          </a:prstGeom>
        </p:spPr>
        <p:txBody>
          <a:bodyPr/>
          <a:lstStyle>
            <a:lvl1pPr algn="l">
              <a:defRPr sz="1600" b="1" baseline="0">
                <a:solidFill>
                  <a:schemeClr val="accent2">
                    <a:lumMod val="50000"/>
                  </a:schemeClr>
                </a:solidFill>
                <a:latin typeface="Century Gothic" panose="020B0502020202020204" pitchFamily="34" charset="0"/>
              </a:defRPr>
            </a:lvl1pPr>
          </a:lstStyle>
          <a:p>
            <a:r>
              <a:rPr lang="es-ES" err="1"/>
              <a:t>Leading</a:t>
            </a:r>
            <a:endParaRPr lang="es-ES"/>
          </a:p>
        </p:txBody>
      </p:sp>
    </p:spTree>
    <p:extLst>
      <p:ext uri="{BB962C8B-B14F-4D97-AF65-F5344CB8AC3E}">
        <p14:creationId xmlns:p14="http://schemas.microsoft.com/office/powerpoint/2010/main" val="824069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Report + Imag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6" y="1539552"/>
            <a:ext cx="8065025" cy="4769769"/>
          </a:xfrm>
          <a:prstGeom prst="roundRect">
            <a:avLst>
              <a:gd name="adj" fmla="val 938"/>
            </a:avLst>
          </a:prstGeom>
        </p:spPr>
        <p:txBody>
          <a:bodyPr/>
          <a:lstStyle/>
          <a:p>
            <a:r>
              <a:rPr lang="es-ES" err="1"/>
              <a:t>Click</a:t>
            </a:r>
            <a:r>
              <a:rPr lang="es-ES"/>
              <a:t> </a:t>
            </a:r>
            <a:r>
              <a:rPr lang="es-ES" err="1"/>
              <a:t>here</a:t>
            </a:r>
            <a:r>
              <a:rPr lang="es-ES"/>
              <a:t> </a:t>
            </a:r>
            <a:r>
              <a:rPr lang="es-ES" err="1"/>
              <a:t>to</a:t>
            </a:r>
            <a:r>
              <a:rPr lang="es-ES"/>
              <a:t> </a:t>
            </a:r>
            <a:r>
              <a:rPr lang="es-ES" err="1"/>
              <a:t>add</a:t>
            </a:r>
            <a:r>
              <a:rPr lang="es-ES"/>
              <a:t> </a:t>
            </a:r>
            <a:r>
              <a:rPr lang="es-ES" err="1"/>
              <a:t>image</a:t>
            </a:r>
            <a:endParaRPr lang="es-ES_tradnl"/>
          </a:p>
        </p:txBody>
      </p:sp>
      <p:sp>
        <p:nvSpPr>
          <p:cNvPr id="11" name="Marcador de número de diapositiva 5">
            <a:extLst>
              <a:ext uri="{FF2B5EF4-FFF2-40B4-BE49-F238E27FC236}">
                <a16:creationId xmlns:a16="http://schemas.microsoft.com/office/drawing/2014/main" id="{13EEDF33-A1D8-F41B-CC18-CBD09C41419B}"/>
              </a:ext>
            </a:extLst>
          </p:cNvPr>
          <p:cNvSpPr>
            <a:spLocks noGrp="1"/>
          </p:cNvSpPr>
          <p:nvPr>
            <p:ph type="sldNum" sz="quarter" idx="4"/>
          </p:nvPr>
        </p:nvSpPr>
        <p:spPr>
          <a:xfrm>
            <a:off x="11164832" y="6453337"/>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s-ES" smtClean="0"/>
              <a:pPr/>
              <a:t>‹nº›</a:t>
            </a:fld>
            <a:endParaRPr lang="es-ES"/>
          </a:p>
        </p:txBody>
      </p:sp>
      <p:sp>
        <p:nvSpPr>
          <p:cNvPr id="2" name="Marcador de texto 2">
            <a:extLst>
              <a:ext uri="{FF2B5EF4-FFF2-40B4-BE49-F238E27FC236}">
                <a16:creationId xmlns:a16="http://schemas.microsoft.com/office/drawing/2014/main" id="{5C377FDF-622D-66EE-7059-500B01D9C5B2}"/>
              </a:ext>
            </a:extLst>
          </p:cNvPr>
          <p:cNvSpPr>
            <a:spLocks noGrp="1"/>
          </p:cNvSpPr>
          <p:nvPr>
            <p:ph type="body" sz="quarter" idx="19" hasCustomPrompt="1"/>
          </p:nvPr>
        </p:nvSpPr>
        <p:spPr>
          <a:xfrm>
            <a:off x="407221" y="1539552"/>
            <a:ext cx="3006127" cy="333699"/>
          </a:xfrm>
          <a:prstGeom prst="rect">
            <a:avLst/>
          </a:prstGeom>
        </p:spPr>
        <p:txBody>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_tradnl" err="1"/>
              <a:t>Click</a:t>
            </a:r>
            <a:r>
              <a:rPr lang="es-ES_tradnl"/>
              <a:t> </a:t>
            </a:r>
            <a:r>
              <a:rPr lang="es-ES_tradnl" err="1"/>
              <a:t>here</a:t>
            </a:r>
            <a:r>
              <a:rPr lang="es-ES_tradnl"/>
              <a:t> </a:t>
            </a:r>
            <a:r>
              <a:rPr lang="es-ES_tradnl" err="1"/>
              <a:t>to</a:t>
            </a:r>
            <a:r>
              <a:rPr lang="es-ES_tradnl"/>
              <a:t> </a:t>
            </a:r>
            <a:r>
              <a:rPr lang="es-ES_tradnl" err="1"/>
              <a:t>add</a:t>
            </a:r>
            <a:r>
              <a:rPr lang="es-ES_tradnl"/>
              <a:t> </a:t>
            </a:r>
            <a:r>
              <a:rPr lang="es-ES_tradnl" err="1"/>
              <a:t>your</a:t>
            </a:r>
            <a:r>
              <a:rPr lang="es-ES_tradnl"/>
              <a:t> </a:t>
            </a:r>
            <a:r>
              <a:rPr lang="es-ES_tradnl" err="1"/>
              <a:t>Section</a:t>
            </a:r>
            <a:r>
              <a:rPr lang="es-ES_tradnl"/>
              <a:t> </a:t>
            </a:r>
            <a:r>
              <a:rPr lang="es-ES_tradnl" err="1"/>
              <a:t>Subtitle</a:t>
            </a:r>
            <a:endParaRPr lang="es-ES_tradnl"/>
          </a:p>
        </p:txBody>
      </p:sp>
      <p:sp>
        <p:nvSpPr>
          <p:cNvPr id="4" name="Marcador de texto 3">
            <a:extLst>
              <a:ext uri="{FF2B5EF4-FFF2-40B4-BE49-F238E27FC236}">
                <a16:creationId xmlns:a16="http://schemas.microsoft.com/office/drawing/2014/main" id="{8D0023B0-0850-55B8-BD3A-D35A6857F9FA}"/>
              </a:ext>
            </a:extLst>
          </p:cNvPr>
          <p:cNvSpPr>
            <a:spLocks noGrp="1"/>
          </p:cNvSpPr>
          <p:nvPr>
            <p:ph type="body" sz="quarter" idx="20" hasCustomPrompt="1"/>
          </p:nvPr>
        </p:nvSpPr>
        <p:spPr>
          <a:xfrm>
            <a:off x="407221" y="2776538"/>
            <a:ext cx="3006127" cy="3532982"/>
          </a:xfrm>
          <a:prstGeom prst="rect">
            <a:avLst/>
          </a:prstGeom>
        </p:spPr>
        <p:txBody>
          <a:bodyPr/>
          <a:lstStyle>
            <a:lvl1pPr>
              <a:defRPr>
                <a:solidFill>
                  <a:srgbClr val="000000"/>
                </a:solidFill>
                <a:latin typeface="+mn-lt"/>
              </a:defRPr>
            </a:lvl1pPr>
          </a:lstStyle>
          <a:p>
            <a:r>
              <a:rPr lang="en-US"/>
              <a:t>Click here to add text</a:t>
            </a:r>
          </a:p>
        </p:txBody>
      </p:sp>
      <p:sp>
        <p:nvSpPr>
          <p:cNvPr id="9" name="Title 8">
            <a:extLst>
              <a:ext uri="{FF2B5EF4-FFF2-40B4-BE49-F238E27FC236}">
                <a16:creationId xmlns:a16="http://schemas.microsoft.com/office/drawing/2014/main" id="{88919088-715E-AD9B-617E-EF6832F84028}"/>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n-US"/>
              <a:t>Click here to add title</a:t>
            </a:r>
          </a:p>
        </p:txBody>
      </p:sp>
      <p:sp>
        <p:nvSpPr>
          <p:cNvPr id="6" name="Marcador de texto 4">
            <a:extLst>
              <a:ext uri="{FF2B5EF4-FFF2-40B4-BE49-F238E27FC236}">
                <a16:creationId xmlns:a16="http://schemas.microsoft.com/office/drawing/2014/main" id="{C2D8084F-62F5-BD09-E04E-124FA9DA692C}"/>
              </a:ext>
            </a:extLst>
          </p:cNvPr>
          <p:cNvSpPr>
            <a:spLocks noGrp="1"/>
          </p:cNvSpPr>
          <p:nvPr>
            <p:ph type="body" sz="quarter" idx="22"/>
          </p:nvPr>
        </p:nvSpPr>
        <p:spPr>
          <a:xfrm>
            <a:off x="407221" y="830919"/>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52D87967-BFF8-E2C1-554F-6470FDB1C1E5}"/>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cxnSp>
        <p:nvCxnSpPr>
          <p:cNvPr id="10" name="Conector recto 9">
            <a:extLst>
              <a:ext uri="{FF2B5EF4-FFF2-40B4-BE49-F238E27FC236}">
                <a16:creationId xmlns:a16="http://schemas.microsoft.com/office/drawing/2014/main" id="{9843C3CA-40FC-84FF-141A-D25EB7460BCC}"/>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7E8B1A4B-052E-C6E8-D64C-B7DFC4CABAB7}"/>
              </a:ext>
            </a:extLst>
          </p:cNvPr>
          <p:cNvGrpSpPr/>
          <p:nvPr userDrawn="1"/>
        </p:nvGrpSpPr>
        <p:grpSpPr>
          <a:xfrm>
            <a:off x="10646562" y="245834"/>
            <a:ext cx="1252193" cy="605697"/>
            <a:chOff x="3448376" y="5563089"/>
            <a:chExt cx="5306948" cy="2567186"/>
          </a:xfrm>
        </p:grpSpPr>
        <p:sp>
          <p:nvSpPr>
            <p:cNvPr id="5" name="Forma libre 163">
              <a:extLst>
                <a:ext uri="{FF2B5EF4-FFF2-40B4-BE49-F238E27FC236}">
                  <a16:creationId xmlns:a16="http://schemas.microsoft.com/office/drawing/2014/main" id="{B133BA64-DA19-8EB5-1396-084CC98C8370}"/>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969F866B-AACF-771D-9B4C-6964E46B33EF}"/>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5CF5A54E-6EAA-1CD2-F491-0E4CA923851B}"/>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6">
              <a:extLst>
                <a:ext uri="{FF2B5EF4-FFF2-40B4-BE49-F238E27FC236}">
                  <a16:creationId xmlns:a16="http://schemas.microsoft.com/office/drawing/2014/main" id="{EA118F21-96DB-79F4-6A89-410CFEE21006}"/>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8" name="Forma libre 167">
              <a:extLst>
                <a:ext uri="{FF2B5EF4-FFF2-40B4-BE49-F238E27FC236}">
                  <a16:creationId xmlns:a16="http://schemas.microsoft.com/office/drawing/2014/main" id="{D4EDBE7A-245A-36BC-452A-44F3AB674E5D}"/>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68">
              <a:extLst>
                <a:ext uri="{FF2B5EF4-FFF2-40B4-BE49-F238E27FC236}">
                  <a16:creationId xmlns:a16="http://schemas.microsoft.com/office/drawing/2014/main" id="{AAD83122-995D-22E8-BCCD-109CD631C815}"/>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69">
              <a:extLst>
                <a:ext uri="{FF2B5EF4-FFF2-40B4-BE49-F238E27FC236}">
                  <a16:creationId xmlns:a16="http://schemas.microsoft.com/office/drawing/2014/main" id="{370A40C1-F2D0-F92F-567B-2562CB6F3DB6}"/>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31" name="Forma libre 170">
              <a:extLst>
                <a:ext uri="{FF2B5EF4-FFF2-40B4-BE49-F238E27FC236}">
                  <a16:creationId xmlns:a16="http://schemas.microsoft.com/office/drawing/2014/main" id="{E452FDE1-C8B4-3994-BA56-4C626BB97329}"/>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32" name="Forma libre 171">
              <a:extLst>
                <a:ext uri="{FF2B5EF4-FFF2-40B4-BE49-F238E27FC236}">
                  <a16:creationId xmlns:a16="http://schemas.microsoft.com/office/drawing/2014/main" id="{B641B2ED-561D-FF05-ABA3-06427F5BEEA3}"/>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2">
              <a:extLst>
                <a:ext uri="{FF2B5EF4-FFF2-40B4-BE49-F238E27FC236}">
                  <a16:creationId xmlns:a16="http://schemas.microsoft.com/office/drawing/2014/main" id="{F97D6CFB-80FC-5FEE-63CE-92FF0CB8006D}"/>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4" name="Forma libre 173">
              <a:extLst>
                <a:ext uri="{FF2B5EF4-FFF2-40B4-BE49-F238E27FC236}">
                  <a16:creationId xmlns:a16="http://schemas.microsoft.com/office/drawing/2014/main" id="{B0C535A3-28B7-6E6D-92A9-4A5637631E2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5" name="Forma libre 174">
              <a:extLst>
                <a:ext uri="{FF2B5EF4-FFF2-40B4-BE49-F238E27FC236}">
                  <a16:creationId xmlns:a16="http://schemas.microsoft.com/office/drawing/2014/main" id="{DF4FF307-8CA7-63C0-A942-87D4E760651D}"/>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5">
              <a:extLst>
                <a:ext uri="{FF2B5EF4-FFF2-40B4-BE49-F238E27FC236}">
                  <a16:creationId xmlns:a16="http://schemas.microsoft.com/office/drawing/2014/main" id="{ECF9ED81-3F00-6592-C60F-12624859E562}"/>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7" name="Forma libre 176">
              <a:extLst>
                <a:ext uri="{FF2B5EF4-FFF2-40B4-BE49-F238E27FC236}">
                  <a16:creationId xmlns:a16="http://schemas.microsoft.com/office/drawing/2014/main" id="{4473105F-6875-7965-5804-8B868F3319BB}"/>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8" name="Forma libre 177">
              <a:extLst>
                <a:ext uri="{FF2B5EF4-FFF2-40B4-BE49-F238E27FC236}">
                  <a16:creationId xmlns:a16="http://schemas.microsoft.com/office/drawing/2014/main" id="{63F04C00-F257-3317-C7F1-AEDEC8B94C14}"/>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78">
              <a:extLst>
                <a:ext uri="{FF2B5EF4-FFF2-40B4-BE49-F238E27FC236}">
                  <a16:creationId xmlns:a16="http://schemas.microsoft.com/office/drawing/2014/main" id="{C97AA9D4-482D-D1FC-E971-5E2F1DCC44D0}"/>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79">
              <a:extLst>
                <a:ext uri="{FF2B5EF4-FFF2-40B4-BE49-F238E27FC236}">
                  <a16:creationId xmlns:a16="http://schemas.microsoft.com/office/drawing/2014/main" id="{CDD7929E-BCA7-2D28-FE02-3B0C346957F3}"/>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0">
              <a:extLst>
                <a:ext uri="{FF2B5EF4-FFF2-40B4-BE49-F238E27FC236}">
                  <a16:creationId xmlns:a16="http://schemas.microsoft.com/office/drawing/2014/main" id="{B45551EE-1B39-9DAB-AEFD-7F8500E1EB83}"/>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1">
              <a:extLst>
                <a:ext uri="{FF2B5EF4-FFF2-40B4-BE49-F238E27FC236}">
                  <a16:creationId xmlns:a16="http://schemas.microsoft.com/office/drawing/2014/main" id="{5640CAEE-263D-8C18-91BF-37798CC88187}"/>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3" name="Forma libre 182">
              <a:extLst>
                <a:ext uri="{FF2B5EF4-FFF2-40B4-BE49-F238E27FC236}">
                  <a16:creationId xmlns:a16="http://schemas.microsoft.com/office/drawing/2014/main" id="{D674B3BB-DDE2-8930-CD4B-E8E04A3C7CA8}"/>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3">
              <a:extLst>
                <a:ext uri="{FF2B5EF4-FFF2-40B4-BE49-F238E27FC236}">
                  <a16:creationId xmlns:a16="http://schemas.microsoft.com/office/drawing/2014/main" id="{FEF4490C-802F-BE09-BC8F-A693BF21F5E8}"/>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4">
              <a:extLst>
                <a:ext uri="{FF2B5EF4-FFF2-40B4-BE49-F238E27FC236}">
                  <a16:creationId xmlns:a16="http://schemas.microsoft.com/office/drawing/2014/main" id="{DDC8C2AC-DD69-DDF8-F8A9-073D73B8D2A4}"/>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6" name="Forma libre 185">
              <a:extLst>
                <a:ext uri="{FF2B5EF4-FFF2-40B4-BE49-F238E27FC236}">
                  <a16:creationId xmlns:a16="http://schemas.microsoft.com/office/drawing/2014/main" id="{CF4FAD9E-2B54-EE67-51B6-8A346243C932}"/>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6">
              <a:extLst>
                <a:ext uri="{FF2B5EF4-FFF2-40B4-BE49-F238E27FC236}">
                  <a16:creationId xmlns:a16="http://schemas.microsoft.com/office/drawing/2014/main" id="{DF668E3E-2418-B52E-4712-5A7C4E816089}"/>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87">
              <a:extLst>
                <a:ext uri="{FF2B5EF4-FFF2-40B4-BE49-F238E27FC236}">
                  <a16:creationId xmlns:a16="http://schemas.microsoft.com/office/drawing/2014/main" id="{0AED8698-F7C8-8C08-7126-2B4C215B9EF5}"/>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88">
              <a:extLst>
                <a:ext uri="{FF2B5EF4-FFF2-40B4-BE49-F238E27FC236}">
                  <a16:creationId xmlns:a16="http://schemas.microsoft.com/office/drawing/2014/main" id="{4D9C1108-006C-C501-64DE-B1CE65D0203D}"/>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50" name="Forma libre 189">
              <a:extLst>
                <a:ext uri="{FF2B5EF4-FFF2-40B4-BE49-F238E27FC236}">
                  <a16:creationId xmlns:a16="http://schemas.microsoft.com/office/drawing/2014/main" id="{D08E75ED-560C-161B-CED0-A04A35A6B155}"/>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0">
              <a:extLst>
                <a:ext uri="{FF2B5EF4-FFF2-40B4-BE49-F238E27FC236}">
                  <a16:creationId xmlns:a16="http://schemas.microsoft.com/office/drawing/2014/main" id="{D5F46EBE-84EF-D398-8E48-570DB3C838C8}"/>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1">
              <a:extLst>
                <a:ext uri="{FF2B5EF4-FFF2-40B4-BE49-F238E27FC236}">
                  <a16:creationId xmlns:a16="http://schemas.microsoft.com/office/drawing/2014/main" id="{AC7C16C5-D76A-95FD-4DEA-9641A1412441}"/>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2">
              <a:extLst>
                <a:ext uri="{FF2B5EF4-FFF2-40B4-BE49-F238E27FC236}">
                  <a16:creationId xmlns:a16="http://schemas.microsoft.com/office/drawing/2014/main" id="{2E7FA883-9259-B356-46B3-EF545F5FC174}"/>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3">
              <a:extLst>
                <a:ext uri="{FF2B5EF4-FFF2-40B4-BE49-F238E27FC236}">
                  <a16:creationId xmlns:a16="http://schemas.microsoft.com/office/drawing/2014/main" id="{CFA01631-95A4-B717-69BE-21C0511F988C}"/>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4">
              <a:extLst>
                <a:ext uri="{FF2B5EF4-FFF2-40B4-BE49-F238E27FC236}">
                  <a16:creationId xmlns:a16="http://schemas.microsoft.com/office/drawing/2014/main" id="{97B973BC-49A6-697F-0355-749F5ABBD61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5">
              <a:extLst>
                <a:ext uri="{FF2B5EF4-FFF2-40B4-BE49-F238E27FC236}">
                  <a16:creationId xmlns:a16="http://schemas.microsoft.com/office/drawing/2014/main" id="{7041B520-7037-2FF1-3119-DC4F83491E11}"/>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6">
              <a:extLst>
                <a:ext uri="{FF2B5EF4-FFF2-40B4-BE49-F238E27FC236}">
                  <a16:creationId xmlns:a16="http://schemas.microsoft.com/office/drawing/2014/main" id="{9942D261-26E7-134E-D154-8C2075578C9E}"/>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197">
              <a:extLst>
                <a:ext uri="{FF2B5EF4-FFF2-40B4-BE49-F238E27FC236}">
                  <a16:creationId xmlns:a16="http://schemas.microsoft.com/office/drawing/2014/main" id="{9EB19153-CDF4-1216-E76B-CBD3E60159A7}"/>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9" name="Forma libre 198">
              <a:extLst>
                <a:ext uri="{FF2B5EF4-FFF2-40B4-BE49-F238E27FC236}">
                  <a16:creationId xmlns:a16="http://schemas.microsoft.com/office/drawing/2014/main" id="{FCC6022E-D658-7741-277A-9CC292570EC4}"/>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60" name="Forma libre 199">
              <a:extLst>
                <a:ext uri="{FF2B5EF4-FFF2-40B4-BE49-F238E27FC236}">
                  <a16:creationId xmlns:a16="http://schemas.microsoft.com/office/drawing/2014/main" id="{1B659557-4E59-EE25-78C1-63C4C64B3C6A}"/>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61" name="Forma libre 200">
              <a:extLst>
                <a:ext uri="{FF2B5EF4-FFF2-40B4-BE49-F238E27FC236}">
                  <a16:creationId xmlns:a16="http://schemas.microsoft.com/office/drawing/2014/main" id="{35C6779F-F75D-DE02-7DAD-043DCFA69C8D}"/>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62" name="Forma libre 201">
              <a:extLst>
                <a:ext uri="{FF2B5EF4-FFF2-40B4-BE49-F238E27FC236}">
                  <a16:creationId xmlns:a16="http://schemas.microsoft.com/office/drawing/2014/main" id="{8967554B-0C65-EC6E-71D0-9EFA750427F0}"/>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pic>
        <p:nvPicPr>
          <p:cNvPr id="14" name="Imagen 3">
            <a:extLst>
              <a:ext uri="{FF2B5EF4-FFF2-40B4-BE49-F238E27FC236}">
                <a16:creationId xmlns:a16="http://schemas.microsoft.com/office/drawing/2014/main" id="{EB13A456-3FEC-AF8A-EE60-D2A8882EB181}"/>
              </a:ext>
            </a:extLst>
          </p:cNvPr>
          <p:cNvPicPr>
            <a:picLocks noChangeAspect="1"/>
          </p:cNvPicPr>
          <p:nvPr userDrawn="1"/>
        </p:nvPicPr>
        <p:blipFill>
          <a:blip r:embed="rId2">
            <a:clrChange>
              <a:clrFrom>
                <a:srgbClr val="FEFEFE"/>
              </a:clrFrom>
              <a:clrTo>
                <a:srgbClr val="FEFEFE">
                  <a:alpha val="0"/>
                </a:srgbClr>
              </a:clrTo>
            </a:clrChange>
          </a:blip>
          <a:srcRect l="6780" t="9432" r="9846" b="28432"/>
          <a:stretch>
            <a:fillRect/>
          </a:stretch>
        </p:blipFill>
        <p:spPr>
          <a:xfrm>
            <a:off x="9808886" y="331841"/>
            <a:ext cx="791126" cy="393595"/>
          </a:xfrm>
          <a:prstGeom prst="rect">
            <a:avLst/>
          </a:prstGeom>
          <a:solidFill>
            <a:schemeClr val="bg1"/>
          </a:solidFill>
        </p:spPr>
      </p:pic>
      <p:sp>
        <p:nvSpPr>
          <p:cNvPr id="67" name="Rectángulo 66">
            <a:extLst>
              <a:ext uri="{FF2B5EF4-FFF2-40B4-BE49-F238E27FC236}">
                <a16:creationId xmlns:a16="http://schemas.microsoft.com/office/drawing/2014/main" id="{5CBE9E23-014A-9E2A-1C35-3CBA7CA9AF59}"/>
              </a:ext>
            </a:extLst>
          </p:cNvPr>
          <p:cNvSpPr/>
          <p:nvPr userDrawn="1"/>
        </p:nvSpPr>
        <p:spPr>
          <a:xfrm>
            <a:off x="-718674" y="269539"/>
            <a:ext cx="624548" cy="355003"/>
          </a:xfrm>
          <a:prstGeom prst="rect">
            <a:avLst/>
          </a:prstGeom>
          <a:solidFill>
            <a:srgbClr val="00A343">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68" name="Rectángulo 67">
            <a:extLst>
              <a:ext uri="{FF2B5EF4-FFF2-40B4-BE49-F238E27FC236}">
                <a16:creationId xmlns:a16="http://schemas.microsoft.com/office/drawing/2014/main" id="{8DFD1F17-E200-3174-6854-43DA2AD30B6F}"/>
              </a:ext>
            </a:extLst>
          </p:cNvPr>
          <p:cNvSpPr/>
          <p:nvPr userDrawn="1"/>
        </p:nvSpPr>
        <p:spPr>
          <a:xfrm>
            <a:off x="-718674" y="677390"/>
            <a:ext cx="624548" cy="355003"/>
          </a:xfrm>
          <a:prstGeom prst="rect">
            <a:avLst/>
          </a:prstGeom>
          <a:solidFill>
            <a:srgbClr val="00A34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69" name="Rectángulo 68">
            <a:extLst>
              <a:ext uri="{FF2B5EF4-FFF2-40B4-BE49-F238E27FC236}">
                <a16:creationId xmlns:a16="http://schemas.microsoft.com/office/drawing/2014/main" id="{FAEC19AF-5F8E-D8A0-B978-E21B284F9D71}"/>
              </a:ext>
            </a:extLst>
          </p:cNvPr>
          <p:cNvSpPr/>
          <p:nvPr userDrawn="1"/>
        </p:nvSpPr>
        <p:spPr>
          <a:xfrm>
            <a:off x="-718674" y="1085241"/>
            <a:ext cx="624548" cy="355003"/>
          </a:xfrm>
          <a:prstGeom prst="rect">
            <a:avLst/>
          </a:prstGeom>
          <a:solidFill>
            <a:srgbClr val="E3850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0" name="Rectángulo 69">
            <a:extLst>
              <a:ext uri="{FF2B5EF4-FFF2-40B4-BE49-F238E27FC236}">
                <a16:creationId xmlns:a16="http://schemas.microsoft.com/office/drawing/2014/main" id="{E1AE8657-5952-FC47-25B1-C2C5D887DEEC}"/>
              </a:ext>
            </a:extLst>
          </p:cNvPr>
          <p:cNvSpPr/>
          <p:nvPr userDrawn="1"/>
        </p:nvSpPr>
        <p:spPr>
          <a:xfrm>
            <a:off x="-718674" y="1493092"/>
            <a:ext cx="624548" cy="355003"/>
          </a:xfrm>
          <a:prstGeom prst="rect">
            <a:avLst/>
          </a:prstGeom>
          <a:solidFill>
            <a:srgbClr val="E3850D">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1" name="Rectángulo 70">
            <a:extLst>
              <a:ext uri="{FF2B5EF4-FFF2-40B4-BE49-F238E27FC236}">
                <a16:creationId xmlns:a16="http://schemas.microsoft.com/office/drawing/2014/main" id="{62F7385E-214A-5B12-EA3D-8814FC4B6C54}"/>
              </a:ext>
            </a:extLst>
          </p:cNvPr>
          <p:cNvSpPr/>
          <p:nvPr userDrawn="1"/>
        </p:nvSpPr>
        <p:spPr>
          <a:xfrm>
            <a:off x="-718674" y="1900943"/>
            <a:ext cx="624548" cy="355003"/>
          </a:xfrm>
          <a:prstGeom prst="rect">
            <a:avLst/>
          </a:prstGeom>
          <a:solidFill>
            <a:srgbClr val="0792E5"/>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2" name="Rectángulo 71">
            <a:extLst>
              <a:ext uri="{FF2B5EF4-FFF2-40B4-BE49-F238E27FC236}">
                <a16:creationId xmlns:a16="http://schemas.microsoft.com/office/drawing/2014/main" id="{8FE6B43C-670B-6D4D-B674-129E7ED658E8}"/>
              </a:ext>
            </a:extLst>
          </p:cNvPr>
          <p:cNvSpPr/>
          <p:nvPr userDrawn="1"/>
        </p:nvSpPr>
        <p:spPr>
          <a:xfrm>
            <a:off x="-718674" y="2308794"/>
            <a:ext cx="624548" cy="355003"/>
          </a:xfrm>
          <a:prstGeom prst="rect">
            <a:avLst/>
          </a:prstGeom>
          <a:solidFill>
            <a:srgbClr val="0792E5">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3" name="Rectángulo 72">
            <a:extLst>
              <a:ext uri="{FF2B5EF4-FFF2-40B4-BE49-F238E27FC236}">
                <a16:creationId xmlns:a16="http://schemas.microsoft.com/office/drawing/2014/main" id="{D150CA87-8EB6-07BE-03C6-F60BCD727642}"/>
              </a:ext>
            </a:extLst>
          </p:cNvPr>
          <p:cNvSpPr/>
          <p:nvPr userDrawn="1"/>
        </p:nvSpPr>
        <p:spPr>
          <a:xfrm>
            <a:off x="-718674" y="2716645"/>
            <a:ext cx="624548" cy="355003"/>
          </a:xfrm>
          <a:prstGeom prst="rect">
            <a:avLst/>
          </a:prstGeom>
          <a:solidFill>
            <a:srgbClr val="FFFFFF">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4" name="Rectángulo 73">
            <a:extLst>
              <a:ext uri="{FF2B5EF4-FFF2-40B4-BE49-F238E27FC236}">
                <a16:creationId xmlns:a16="http://schemas.microsoft.com/office/drawing/2014/main" id="{96015E97-7685-C3D1-8E74-0D889714595B}"/>
              </a:ext>
            </a:extLst>
          </p:cNvPr>
          <p:cNvSpPr/>
          <p:nvPr userDrawn="1"/>
        </p:nvSpPr>
        <p:spPr>
          <a:xfrm>
            <a:off x="-718674" y="3124499"/>
            <a:ext cx="624548" cy="355003"/>
          </a:xfrm>
          <a:prstGeom prst="rect">
            <a:avLst/>
          </a:prstGeom>
          <a:solidFill>
            <a:srgbClr val="3A3734">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95910721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61293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0366785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3709854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495785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815047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85041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9124198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095419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467914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6196203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7252351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Arial" panose="020B0604020202020204" pitchFamily="34" charset="0"/>
              </a:rPr>
              <a:t>06/05/2026</a:t>
            </a:fld>
            <a:endParaRPr lang="en-US" sz="1500">
              <a:solidFill>
                <a:schemeClr val="bg1"/>
              </a:solidFill>
              <a:latin typeface="+mn-lt"/>
              <a:ea typeface="IberPangea Text Light" panose="020B0404000000000000" pitchFamily="34" charset="0"/>
              <a:cs typeface="Arial" panose="020B0604020202020204"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98916385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183226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5020993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954123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06272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830585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460590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258065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77824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789038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761445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27877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7_Solo el títul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B95E978-8472-CA69-B0B6-9C431E4CD996}"/>
              </a:ext>
            </a:extLst>
          </p:cNvPr>
          <p:cNvPicPr>
            <a:picLocks noChangeAspect="1"/>
          </p:cNvPicPr>
          <p:nvPr userDrawn="1"/>
        </p:nvPicPr>
        <p:blipFill>
          <a:blip r:embed="rId2">
            <a:alphaModFix amt="20000"/>
          </a:blip>
          <a:stretch>
            <a:fillRect/>
          </a:stretch>
        </p:blipFill>
        <p:spPr>
          <a:xfrm>
            <a:off x="-12131" y="0"/>
            <a:ext cx="12204131" cy="6858001"/>
          </a:xfrm>
          <a:prstGeom prst="rect">
            <a:avLst/>
          </a:prstGeom>
        </p:spPr>
      </p:pic>
      <p:pic>
        <p:nvPicPr>
          <p:cNvPr id="4" name="Imagen 3">
            <a:extLst>
              <a:ext uri="{FF2B5EF4-FFF2-40B4-BE49-F238E27FC236}">
                <a16:creationId xmlns:a16="http://schemas.microsoft.com/office/drawing/2014/main" id="{0F027B3D-B447-4970-1AAD-550A0D24CD62}"/>
              </a:ext>
            </a:extLst>
          </p:cNvPr>
          <p:cNvPicPr>
            <a:picLocks noChangeAspect="1"/>
          </p:cNvPicPr>
          <p:nvPr userDrawn="1"/>
        </p:nvPicPr>
        <p:blipFill>
          <a:blip r:embed="rId3"/>
          <a:stretch>
            <a:fillRect/>
          </a:stretch>
        </p:blipFill>
        <p:spPr>
          <a:xfrm>
            <a:off x="0" y="7347940"/>
            <a:ext cx="6858000" cy="697149"/>
          </a:xfrm>
          <a:prstGeom prst="rect">
            <a:avLst/>
          </a:prstGeom>
        </p:spPr>
      </p:pic>
    </p:spTree>
    <p:extLst>
      <p:ext uri="{BB962C8B-B14F-4D97-AF65-F5344CB8AC3E}">
        <p14:creationId xmlns:p14="http://schemas.microsoft.com/office/powerpoint/2010/main" val="9676624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Cover">
  <p:cSld name="Cover">
    <p:bg>
      <p:bgPr>
        <a:solidFill>
          <a:schemeClr val="lt1"/>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body" idx="1"/>
          </p:nvPr>
        </p:nvSpPr>
        <p:spPr>
          <a:xfrm>
            <a:off x="3719512" y="1527134"/>
            <a:ext cx="8066100" cy="443400"/>
          </a:xfrm>
          <a:prstGeom prst="rect">
            <a:avLst/>
          </a:prstGeom>
          <a:noFill/>
          <a:ln>
            <a:noFill/>
          </a:ln>
        </p:spPr>
        <p:txBody>
          <a:bodyPr spcFirstLastPara="1" wrap="square" lIns="0" tIns="0" rIns="0" bIns="0" anchor="b" anchorCtr="0">
            <a:noAutofit/>
          </a:bodyPr>
          <a:lstStyle>
            <a:lvl1pPr marL="457200" lvl="0" indent="-228600" algn="l" rtl="0">
              <a:lnSpc>
                <a:spcPct val="100000"/>
              </a:lnSpc>
              <a:spcBef>
                <a:spcPts val="0"/>
              </a:spcBef>
              <a:spcAft>
                <a:spcPts val="0"/>
              </a:spcAft>
              <a:buSzPts val="2000"/>
              <a:buFont typeface="Arial"/>
              <a:buNone/>
              <a:defRPr sz="2000" b="0" i="0">
                <a:solidFill>
                  <a:srgbClr val="8C8880"/>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21" name="Google Shape;21;p4"/>
          <p:cNvSpPr txBox="1">
            <a:spLocks noGrp="1"/>
          </p:cNvSpPr>
          <p:nvPr>
            <p:ph type="title"/>
          </p:nvPr>
        </p:nvSpPr>
        <p:spPr>
          <a:xfrm>
            <a:off x="3719513" y="2730572"/>
            <a:ext cx="8066100" cy="9099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1400"/>
              <a:buNone/>
              <a:defRPr sz="4400" b="1" i="0">
                <a:solidFill>
                  <a:schemeClr val="accent1"/>
                </a:solidFill>
                <a:latin typeface="Arial"/>
                <a:ea typeface="Arial"/>
                <a:cs typeface="Arial"/>
                <a:sym typeface="Aria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cxnSp>
        <p:nvCxnSpPr>
          <p:cNvPr id="22" name="Google Shape;22;p4"/>
          <p:cNvCxnSpPr/>
          <p:nvPr/>
        </p:nvCxnSpPr>
        <p:spPr>
          <a:xfrm>
            <a:off x="395847" y="2312570"/>
            <a:ext cx="11388900" cy="0"/>
          </a:xfrm>
          <a:prstGeom prst="straightConnector1">
            <a:avLst/>
          </a:prstGeom>
          <a:noFill/>
          <a:ln w="12700" cap="flat" cmpd="sng">
            <a:solidFill>
              <a:schemeClr val="accent1"/>
            </a:solidFill>
            <a:prstDash val="solid"/>
            <a:miter lim="800000"/>
            <a:headEnd type="none" w="sm" len="sm"/>
            <a:tailEnd type="none" w="sm" len="sm"/>
          </a:ln>
        </p:spPr>
      </p:cxnSp>
      <p:pic>
        <p:nvPicPr>
          <p:cNvPr id="23" name="Google Shape;23;p4"/>
          <p:cNvPicPr preferRelativeResize="0"/>
          <p:nvPr/>
        </p:nvPicPr>
        <p:blipFill rotWithShape="1">
          <a:blip r:embed="rId2">
            <a:alphaModFix/>
          </a:blip>
          <a:srcRect/>
          <a:stretch/>
        </p:blipFill>
        <p:spPr>
          <a:xfrm>
            <a:off x="256343" y="1402510"/>
            <a:ext cx="3257825" cy="750696"/>
          </a:xfrm>
          <a:prstGeom prst="rect">
            <a:avLst/>
          </a:prstGeom>
          <a:noFill/>
          <a:ln>
            <a:noFill/>
          </a:ln>
        </p:spPr>
      </p:pic>
    </p:spTree>
    <p:extLst>
      <p:ext uri="{BB962C8B-B14F-4D97-AF65-F5344CB8AC3E}">
        <p14:creationId xmlns:p14="http://schemas.microsoft.com/office/powerpoint/2010/main" val="26682001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Cover with Image">
  <p:cSld name="Cover with Image">
    <p:bg>
      <p:bgPr>
        <a:solidFill>
          <a:srgbClr val="F2F2F2"/>
        </a:solidFill>
        <a:effectLst/>
      </p:bgPr>
    </p:bg>
    <p:spTree>
      <p:nvGrpSpPr>
        <p:cNvPr id="1" name="Shape 26"/>
        <p:cNvGrpSpPr/>
        <p:nvPr/>
      </p:nvGrpSpPr>
      <p:grpSpPr>
        <a:xfrm>
          <a:off x="0" y="0"/>
          <a:ext cx="0" cy="0"/>
          <a:chOff x="0" y="0"/>
          <a:chExt cx="0" cy="0"/>
        </a:xfrm>
      </p:grpSpPr>
      <p:sp>
        <p:nvSpPr>
          <p:cNvPr id="27" name="Google Shape;27;p6"/>
          <p:cNvSpPr>
            <a:spLocks noGrp="1"/>
          </p:cNvSpPr>
          <p:nvPr>
            <p:ph type="pic" idx="2"/>
          </p:nvPr>
        </p:nvSpPr>
        <p:spPr>
          <a:xfrm>
            <a:off x="1" y="0"/>
            <a:ext cx="12192000" cy="6858000"/>
          </a:xfrm>
          <a:prstGeom prst="roundRect">
            <a:avLst>
              <a:gd name="adj" fmla="val 0"/>
            </a:avLst>
          </a:prstGeom>
          <a:noFill/>
          <a:ln>
            <a:noFill/>
          </a:ln>
        </p:spPr>
      </p:sp>
      <p:sp>
        <p:nvSpPr>
          <p:cNvPr id="28" name="Google Shape;28;p6"/>
          <p:cNvSpPr txBox="1">
            <a:spLocks noGrp="1"/>
          </p:cNvSpPr>
          <p:nvPr>
            <p:ph type="body" idx="1"/>
          </p:nvPr>
        </p:nvSpPr>
        <p:spPr>
          <a:xfrm>
            <a:off x="403502" y="2808051"/>
            <a:ext cx="11000700" cy="353400"/>
          </a:xfrm>
          <a:prstGeom prst="rect">
            <a:avLst/>
          </a:prstGeom>
          <a:noFill/>
          <a:ln>
            <a:noFill/>
          </a:ln>
        </p:spPr>
        <p:txBody>
          <a:bodyPr spcFirstLastPara="1" wrap="square" lIns="0" tIns="0" rIns="0" bIns="0" anchor="b" anchorCtr="0">
            <a:noAutofit/>
          </a:bodyPr>
          <a:lstStyle>
            <a:lvl1pPr marL="457200" lvl="0" indent="-228600" algn="l" rtl="0">
              <a:lnSpc>
                <a:spcPct val="100000"/>
              </a:lnSpc>
              <a:spcBef>
                <a:spcPts val="0"/>
              </a:spcBef>
              <a:spcAft>
                <a:spcPts val="0"/>
              </a:spcAft>
              <a:buSzPts val="2000"/>
              <a:buFont typeface="Arial"/>
              <a:buNone/>
              <a:defRPr sz="2000" b="0"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29" name="Google Shape;29;p6"/>
          <p:cNvSpPr txBox="1">
            <a:spLocks noGrp="1"/>
          </p:cNvSpPr>
          <p:nvPr>
            <p:ph type="title"/>
          </p:nvPr>
        </p:nvSpPr>
        <p:spPr>
          <a:xfrm>
            <a:off x="386862" y="3284983"/>
            <a:ext cx="5488500" cy="30252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1400"/>
              <a:buNone/>
              <a:defRPr sz="6000" b="1" i="0">
                <a:solidFill>
                  <a:schemeClr val="lt1"/>
                </a:solidFill>
                <a:latin typeface="Arial"/>
                <a:ea typeface="Arial"/>
                <a:cs typeface="Arial"/>
                <a:sym typeface="Aria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30" name="Google Shape;30;p6"/>
          <p:cNvSpPr txBox="1">
            <a:spLocks noGrp="1"/>
          </p:cNvSpPr>
          <p:nvPr>
            <p:ph type="body" idx="3"/>
          </p:nvPr>
        </p:nvSpPr>
        <p:spPr>
          <a:xfrm>
            <a:off x="407221" y="6454775"/>
            <a:ext cx="4075500" cy="239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500"/>
              <a:buFont typeface="Arial"/>
              <a:buNone/>
              <a:defRPr sz="1500" b="0"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31" name="Google Shape;31;p6"/>
          <p:cNvSpPr txBox="1"/>
          <p:nvPr/>
        </p:nvSpPr>
        <p:spPr>
          <a:xfrm>
            <a:off x="9509761" y="6454776"/>
            <a:ext cx="2273400" cy="2391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500">
                <a:solidFill>
                  <a:schemeClr val="lt1"/>
                </a:solidFill>
                <a:latin typeface="Arial"/>
                <a:ea typeface="Arial"/>
                <a:cs typeface="Arial"/>
                <a:sym typeface="Arial"/>
              </a:rPr>
              <a:t>22/08/2024</a:t>
            </a:r>
            <a:endParaRPr sz="1500">
              <a:solidFill>
                <a:schemeClr val="lt1"/>
              </a:solidFill>
              <a:latin typeface="Arial"/>
              <a:ea typeface="Arial"/>
              <a:cs typeface="Arial"/>
              <a:sym typeface="Arial"/>
            </a:endParaRPr>
          </a:p>
        </p:txBody>
      </p:sp>
      <p:grpSp>
        <p:nvGrpSpPr>
          <p:cNvPr id="32" name="Google Shape;32;p6"/>
          <p:cNvGrpSpPr/>
          <p:nvPr/>
        </p:nvGrpSpPr>
        <p:grpSpPr>
          <a:xfrm>
            <a:off x="11064613" y="243865"/>
            <a:ext cx="473748" cy="432438"/>
            <a:chOff x="5465909" y="2845257"/>
            <a:chExt cx="729516" cy="665904"/>
          </a:xfrm>
        </p:grpSpPr>
        <p:sp>
          <p:nvSpPr>
            <p:cNvPr id="33" name="Google Shape;33;p6"/>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 name="Google Shape;34;p6"/>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35;p6"/>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18817258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Divider Green">
  <p:cSld name="Divider Green">
    <p:bg>
      <p:bgPr>
        <a:solidFill>
          <a:schemeClr val="accent1"/>
        </a:solidFill>
        <a:effectLst/>
      </p:bgPr>
    </p:bg>
    <p:spTree>
      <p:nvGrpSpPr>
        <p:cNvPr id="1" name="Shape 36"/>
        <p:cNvGrpSpPr/>
        <p:nvPr/>
      </p:nvGrpSpPr>
      <p:grpSpPr>
        <a:xfrm>
          <a:off x="0" y="0"/>
          <a:ext cx="0" cy="0"/>
          <a:chOff x="0" y="0"/>
          <a:chExt cx="0" cy="0"/>
        </a:xfrm>
      </p:grpSpPr>
      <p:sp>
        <p:nvSpPr>
          <p:cNvPr id="37" name="Google Shape;37;p7"/>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38" name="Google Shape;38;p7"/>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39" name="Google Shape;39;p7"/>
          <p:cNvGrpSpPr/>
          <p:nvPr/>
        </p:nvGrpSpPr>
        <p:grpSpPr>
          <a:xfrm>
            <a:off x="11064613" y="243865"/>
            <a:ext cx="473748" cy="432438"/>
            <a:chOff x="5465909" y="2845257"/>
            <a:chExt cx="729516" cy="665904"/>
          </a:xfrm>
        </p:grpSpPr>
        <p:sp>
          <p:nvSpPr>
            <p:cNvPr id="40" name="Google Shape;40;p7"/>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7"/>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7"/>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917171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Divider">
  <p:cSld name="Divider">
    <p:bg>
      <p:bgPr>
        <a:solidFill>
          <a:schemeClr val="lt1"/>
        </a:solidFill>
        <a:effectLst/>
      </p:bgPr>
    </p:bg>
    <p:spTree>
      <p:nvGrpSpPr>
        <p:cNvPr id="1" name="Shape 43"/>
        <p:cNvGrpSpPr/>
        <p:nvPr/>
      </p:nvGrpSpPr>
      <p:grpSpPr>
        <a:xfrm>
          <a:off x="0" y="0"/>
          <a:ext cx="0" cy="0"/>
          <a:chOff x="0" y="0"/>
          <a:chExt cx="0" cy="0"/>
        </a:xfrm>
      </p:grpSpPr>
      <p:sp>
        <p:nvSpPr>
          <p:cNvPr id="44" name="Google Shape;44;p8"/>
          <p:cNvSpPr txBox="1">
            <a:spLocks noGrp="1"/>
          </p:cNvSpPr>
          <p:nvPr>
            <p:ph type="body" idx="1"/>
          </p:nvPr>
        </p:nvSpPr>
        <p:spPr>
          <a:xfrm>
            <a:off x="356400" y="439200"/>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accen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45" name="Google Shape;45;p8"/>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dk1"/>
                </a:solidFill>
                <a:latin typeface="Arial"/>
                <a:ea typeface="Arial"/>
                <a:cs typeface="Arial"/>
                <a:sym typeface="Arial"/>
              </a:rPr>
              <a:t>‹nº›</a:t>
            </a:fld>
            <a:endParaRPr sz="900">
              <a:solidFill>
                <a:schemeClr val="dk1"/>
              </a:solidFill>
              <a:latin typeface="Arial"/>
              <a:ea typeface="Arial"/>
              <a:cs typeface="Arial"/>
              <a:sym typeface="Arial"/>
            </a:endParaRPr>
          </a:p>
        </p:txBody>
      </p:sp>
      <p:grpSp>
        <p:nvGrpSpPr>
          <p:cNvPr id="46" name="Google Shape;46;p8"/>
          <p:cNvGrpSpPr/>
          <p:nvPr/>
        </p:nvGrpSpPr>
        <p:grpSpPr>
          <a:xfrm>
            <a:off x="11064613" y="243865"/>
            <a:ext cx="473748" cy="432438"/>
            <a:chOff x="5465909" y="2845257"/>
            <a:chExt cx="729516" cy="665904"/>
          </a:xfrm>
        </p:grpSpPr>
        <p:sp>
          <p:nvSpPr>
            <p:cNvPr id="47" name="Google Shape;47;p8"/>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8"/>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8"/>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6684065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1_Divider Green">
  <p:cSld name="1_Divider Green">
    <p:bg>
      <p:bgPr>
        <a:solidFill>
          <a:schemeClr val="accent6"/>
        </a:solidFill>
        <a:effectLst/>
      </p:bgPr>
    </p:bg>
    <p:spTree>
      <p:nvGrpSpPr>
        <p:cNvPr id="1" name="Shape 50"/>
        <p:cNvGrpSpPr/>
        <p:nvPr/>
      </p:nvGrpSpPr>
      <p:grpSpPr>
        <a:xfrm>
          <a:off x="0" y="0"/>
          <a:ext cx="0" cy="0"/>
          <a:chOff x="0" y="0"/>
          <a:chExt cx="0" cy="0"/>
        </a:xfrm>
      </p:grpSpPr>
      <p:sp>
        <p:nvSpPr>
          <p:cNvPr id="51" name="Google Shape;51;p9"/>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52" name="Google Shape;52;p9"/>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53" name="Google Shape;53;p9"/>
          <p:cNvGrpSpPr/>
          <p:nvPr/>
        </p:nvGrpSpPr>
        <p:grpSpPr>
          <a:xfrm>
            <a:off x="11064613" y="243865"/>
            <a:ext cx="473748" cy="432438"/>
            <a:chOff x="5465909" y="2845257"/>
            <a:chExt cx="729516" cy="665904"/>
          </a:xfrm>
        </p:grpSpPr>
        <p:sp>
          <p:nvSpPr>
            <p:cNvPr id="54" name="Google Shape;54;p9"/>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9"/>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56;p9"/>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1446677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2_Divider Green">
  <p:cSld name="2_Divider Green">
    <p:bg>
      <p:bgPr>
        <a:solidFill>
          <a:schemeClr val="accent5"/>
        </a:solidFill>
        <a:effectLst/>
      </p:bgPr>
    </p:bg>
    <p:spTree>
      <p:nvGrpSpPr>
        <p:cNvPr id="1" name="Shape 57"/>
        <p:cNvGrpSpPr/>
        <p:nvPr/>
      </p:nvGrpSpPr>
      <p:grpSpPr>
        <a:xfrm>
          <a:off x="0" y="0"/>
          <a:ext cx="0" cy="0"/>
          <a:chOff x="0" y="0"/>
          <a:chExt cx="0" cy="0"/>
        </a:xfrm>
      </p:grpSpPr>
      <p:sp>
        <p:nvSpPr>
          <p:cNvPr id="58" name="Google Shape;58;p10"/>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59" name="Google Shape;59;p10"/>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60" name="Google Shape;60;p10"/>
          <p:cNvGrpSpPr/>
          <p:nvPr/>
        </p:nvGrpSpPr>
        <p:grpSpPr>
          <a:xfrm>
            <a:off x="11064613" y="243865"/>
            <a:ext cx="473748" cy="432438"/>
            <a:chOff x="5465909" y="2845257"/>
            <a:chExt cx="729516" cy="665904"/>
          </a:xfrm>
        </p:grpSpPr>
        <p:sp>
          <p:nvSpPr>
            <p:cNvPr id="61" name="Google Shape;61;p10"/>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 name="Google Shape;62;p10"/>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10"/>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0351624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3_Divider Green">
  <p:cSld name="3_Divider Green">
    <p:bg>
      <p:bgPr>
        <a:solidFill>
          <a:schemeClr val="dk2"/>
        </a:solid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66" name="Google Shape;66;p11"/>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67" name="Google Shape;67;p11"/>
          <p:cNvGrpSpPr/>
          <p:nvPr/>
        </p:nvGrpSpPr>
        <p:grpSpPr>
          <a:xfrm>
            <a:off x="11064613" y="243865"/>
            <a:ext cx="473748" cy="432438"/>
            <a:chOff x="5465909" y="2845257"/>
            <a:chExt cx="729516" cy="665904"/>
          </a:xfrm>
        </p:grpSpPr>
        <p:sp>
          <p:nvSpPr>
            <p:cNvPr id="68" name="Google Shape;68;p11"/>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11"/>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11"/>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6673635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Symbol">
  <p:cSld name="Symbol">
    <p:bg>
      <p:bgPr>
        <a:solidFill>
          <a:schemeClr val="lt1"/>
        </a:solidFill>
        <a:effectLst/>
      </p:bgPr>
    </p:bg>
    <p:spTree>
      <p:nvGrpSpPr>
        <p:cNvPr id="1" name="Shape 71"/>
        <p:cNvGrpSpPr/>
        <p:nvPr/>
      </p:nvGrpSpPr>
      <p:grpSpPr>
        <a:xfrm>
          <a:off x="0" y="0"/>
          <a:ext cx="0" cy="0"/>
          <a:chOff x="0" y="0"/>
          <a:chExt cx="0" cy="0"/>
        </a:xfrm>
      </p:grpSpPr>
      <p:pic>
        <p:nvPicPr>
          <p:cNvPr id="72" name="Google Shape;72;p12"/>
          <p:cNvPicPr preferRelativeResize="0"/>
          <p:nvPr/>
        </p:nvPicPr>
        <p:blipFill rotWithShape="1">
          <a:blip r:embed="rId2">
            <a:alphaModFix/>
          </a:blip>
          <a:srcRect/>
          <a:stretch/>
        </p:blipFill>
        <p:spPr>
          <a:xfrm>
            <a:off x="5242574" y="2622552"/>
            <a:ext cx="1706065" cy="1612902"/>
          </a:xfrm>
          <a:prstGeom prst="rect">
            <a:avLst/>
          </a:prstGeom>
          <a:noFill/>
          <a:ln>
            <a:noFill/>
          </a:ln>
        </p:spPr>
      </p:pic>
    </p:spTree>
    <p:extLst>
      <p:ext uri="{BB962C8B-B14F-4D97-AF65-F5344CB8AC3E}">
        <p14:creationId xmlns:p14="http://schemas.microsoft.com/office/powerpoint/2010/main" val="21481489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chemeClr val="lt1"/>
        </a:solidFill>
        <a:effectLst/>
      </p:bgPr>
    </p:bg>
    <p:spTree>
      <p:nvGrpSpPr>
        <p:cNvPr id="1" name="Shape 73"/>
        <p:cNvGrpSpPr/>
        <p:nvPr/>
      </p:nvGrpSpPr>
      <p:grpSpPr>
        <a:xfrm>
          <a:off x="0" y="0"/>
          <a:ext cx="0" cy="0"/>
          <a:chOff x="0" y="0"/>
          <a:chExt cx="0" cy="0"/>
        </a:xfrm>
      </p:grpSpPr>
      <p:grpSp>
        <p:nvGrpSpPr>
          <p:cNvPr id="74" name="Google Shape;74;p13"/>
          <p:cNvGrpSpPr/>
          <p:nvPr/>
        </p:nvGrpSpPr>
        <p:grpSpPr>
          <a:xfrm>
            <a:off x="4495945" y="3036078"/>
            <a:ext cx="3199906" cy="1278298"/>
            <a:chOff x="10709665" y="301762"/>
            <a:chExt cx="1082585" cy="432471"/>
          </a:xfrm>
        </p:grpSpPr>
        <p:sp>
          <p:nvSpPr>
            <p:cNvPr id="75" name="Google Shape;75;p13"/>
            <p:cNvSpPr/>
            <p:nvPr/>
          </p:nvSpPr>
          <p:spPr>
            <a:xfrm>
              <a:off x="11039633" y="364114"/>
              <a:ext cx="132646" cy="141157"/>
            </a:xfrm>
            <a:custGeom>
              <a:avLst/>
              <a:gdLst/>
              <a:ahLst/>
              <a:cxnLst/>
              <a:rect l="l" t="t" r="r" b="b"/>
              <a:pathLst>
                <a:path w="558508" h="594344" extrusionOk="0">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13"/>
            <p:cNvSpPr/>
            <p:nvPr/>
          </p:nvSpPr>
          <p:spPr>
            <a:xfrm>
              <a:off x="11159160" y="402802"/>
              <a:ext cx="100566" cy="102643"/>
            </a:xfrm>
            <a:custGeom>
              <a:avLst/>
              <a:gdLst/>
              <a:ahLst/>
              <a:cxnLst/>
              <a:rect l="l" t="t" r="r" b="b"/>
              <a:pathLst>
                <a:path w="423435" h="432180" extrusionOk="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13"/>
            <p:cNvSpPr/>
            <p:nvPr/>
          </p:nvSpPr>
          <p:spPr>
            <a:xfrm>
              <a:off x="11260890" y="400806"/>
              <a:ext cx="90894" cy="106709"/>
            </a:xfrm>
            <a:custGeom>
              <a:avLst/>
              <a:gdLst/>
              <a:ahLst/>
              <a:cxnLst/>
              <a:rect l="l" t="t" r="r" b="b"/>
              <a:pathLst>
                <a:path w="382711" h="449300" extrusionOk="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13"/>
            <p:cNvSpPr/>
            <p:nvPr/>
          </p:nvSpPr>
          <p:spPr>
            <a:xfrm>
              <a:off x="11371157" y="400803"/>
              <a:ext cx="88055" cy="104492"/>
            </a:xfrm>
            <a:custGeom>
              <a:avLst/>
              <a:gdLst/>
              <a:ahLst/>
              <a:cxnLst/>
              <a:rect l="l" t="t" r="r" b="b"/>
              <a:pathLst>
                <a:path w="370759" h="439968" extrusionOk="0">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13"/>
            <p:cNvSpPr/>
            <p:nvPr/>
          </p:nvSpPr>
          <p:spPr>
            <a:xfrm>
              <a:off x="11472902" y="400789"/>
              <a:ext cx="98740" cy="140382"/>
            </a:xfrm>
            <a:custGeom>
              <a:avLst/>
              <a:gdLst/>
              <a:ahLst/>
              <a:cxnLst/>
              <a:rect l="l" t="t" r="r" b="b"/>
              <a:pathLst>
                <a:path w="415746" h="591083" extrusionOk="0">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13"/>
            <p:cNvSpPr/>
            <p:nvPr/>
          </p:nvSpPr>
          <p:spPr>
            <a:xfrm>
              <a:off x="11591573" y="400808"/>
              <a:ext cx="53512" cy="104456"/>
            </a:xfrm>
            <a:custGeom>
              <a:avLst/>
              <a:gdLst/>
              <a:ahLst/>
              <a:cxnLst/>
              <a:rect l="l" t="t" r="r" b="b"/>
              <a:pathLst>
                <a:path w="225314" h="439813" extrusionOk="0">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13"/>
            <p:cNvSpPr/>
            <p:nvPr/>
          </p:nvSpPr>
          <p:spPr>
            <a:xfrm>
              <a:off x="11656200" y="402823"/>
              <a:ext cx="19791" cy="102430"/>
            </a:xfrm>
            <a:custGeom>
              <a:avLst/>
              <a:gdLst/>
              <a:ahLst/>
              <a:cxnLst/>
              <a:rect l="l" t="t" r="r" b="b"/>
              <a:pathLst>
                <a:path w="83331" h="431284" extrusionOk="0">
                  <a:moveTo>
                    <a:pt x="0" y="0"/>
                  </a:moveTo>
                  <a:lnTo>
                    <a:pt x="83332" y="0"/>
                  </a:lnTo>
                  <a:lnTo>
                    <a:pt x="83332" y="431285"/>
                  </a:lnTo>
                  <a:lnTo>
                    <a:pt x="0" y="431285"/>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13"/>
            <p:cNvSpPr/>
            <p:nvPr/>
          </p:nvSpPr>
          <p:spPr>
            <a:xfrm>
              <a:off x="11652553" y="359481"/>
              <a:ext cx="27289" cy="26018"/>
            </a:xfrm>
            <a:custGeom>
              <a:avLst/>
              <a:gdLst/>
              <a:ahLst/>
              <a:cxnLst/>
              <a:rect l="l" t="t" r="r" b="b"/>
              <a:pathLst>
                <a:path w="114900" h="109551" extrusionOk="0">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13"/>
            <p:cNvSpPr/>
            <p:nvPr/>
          </p:nvSpPr>
          <p:spPr>
            <a:xfrm>
              <a:off x="11690901" y="364114"/>
              <a:ext cx="101349" cy="143151"/>
            </a:xfrm>
            <a:custGeom>
              <a:avLst/>
              <a:gdLst/>
              <a:ahLst/>
              <a:cxnLst/>
              <a:rect l="l" t="t" r="r" b="b"/>
              <a:pathLst>
                <a:path w="426734" h="602739" extrusionOk="0">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13"/>
            <p:cNvSpPr/>
            <p:nvPr/>
          </p:nvSpPr>
          <p:spPr>
            <a:xfrm>
              <a:off x="10866114" y="301762"/>
              <a:ext cx="134393" cy="215105"/>
            </a:xfrm>
            <a:custGeom>
              <a:avLst/>
              <a:gdLst/>
              <a:ahLst/>
              <a:cxnLst/>
              <a:rect l="l" t="t" r="r" b="b"/>
              <a:pathLst>
                <a:path w="565867" h="905704" extrusionOk="0">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13"/>
            <p:cNvSpPr/>
            <p:nvPr/>
          </p:nvSpPr>
          <p:spPr>
            <a:xfrm>
              <a:off x="10787879" y="301762"/>
              <a:ext cx="128510" cy="215096"/>
            </a:xfrm>
            <a:custGeom>
              <a:avLst/>
              <a:gdLst/>
              <a:ahLst/>
              <a:cxnLst/>
              <a:rect l="l" t="t" r="r" b="b"/>
              <a:pathLst>
                <a:path w="541096" h="905666" extrusionOk="0">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13"/>
            <p:cNvSpPr/>
            <p:nvPr/>
          </p:nvSpPr>
          <p:spPr>
            <a:xfrm>
              <a:off x="10709665" y="301762"/>
              <a:ext cx="128500" cy="265797"/>
            </a:xfrm>
            <a:custGeom>
              <a:avLst/>
              <a:gdLst/>
              <a:ahLst/>
              <a:cxnLst/>
              <a:rect l="l" t="t" r="r" b="b"/>
              <a:pathLst>
                <a:path w="541051" h="1119144" extrusionOk="0">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13"/>
            <p:cNvSpPr/>
            <p:nvPr/>
          </p:nvSpPr>
          <p:spPr>
            <a:xfrm>
              <a:off x="11053102" y="570151"/>
              <a:ext cx="55079" cy="59596"/>
            </a:xfrm>
            <a:custGeom>
              <a:avLst/>
              <a:gdLst/>
              <a:ahLst/>
              <a:cxnLst/>
              <a:rect l="l" t="t" r="r" b="b"/>
              <a:pathLst>
                <a:path w="231911" h="250929" extrusionOk="0">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13"/>
            <p:cNvSpPr/>
            <p:nvPr/>
          </p:nvSpPr>
          <p:spPr>
            <a:xfrm>
              <a:off x="11132978" y="586021"/>
              <a:ext cx="60327" cy="43723"/>
            </a:xfrm>
            <a:custGeom>
              <a:avLst/>
              <a:gdLst/>
              <a:ahLst/>
              <a:cxnLst/>
              <a:rect l="l" t="t" r="r" b="b"/>
              <a:pathLst>
                <a:path w="254008" h="184096" extrusionOk="0">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13"/>
            <p:cNvSpPr/>
            <p:nvPr/>
          </p:nvSpPr>
          <p:spPr>
            <a:xfrm>
              <a:off x="11200328" y="585980"/>
              <a:ext cx="40255" cy="44580"/>
            </a:xfrm>
            <a:custGeom>
              <a:avLst/>
              <a:gdLst/>
              <a:ahLst/>
              <a:cxnLst/>
              <a:rect l="l" t="t" r="r" b="b"/>
              <a:pathLst>
                <a:path w="169496" h="187705" extrusionOk="0">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13"/>
            <p:cNvSpPr/>
            <p:nvPr/>
          </p:nvSpPr>
          <p:spPr>
            <a:xfrm>
              <a:off x="11247880" y="586021"/>
              <a:ext cx="60327" cy="43766"/>
            </a:xfrm>
            <a:custGeom>
              <a:avLst/>
              <a:gdLst/>
              <a:ahLst/>
              <a:cxnLst/>
              <a:rect l="l" t="t" r="r" b="b"/>
              <a:pathLst>
                <a:path w="254008" h="184276" extrusionOk="0">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13"/>
            <p:cNvSpPr/>
            <p:nvPr/>
          </p:nvSpPr>
          <p:spPr>
            <a:xfrm>
              <a:off x="11317356" y="570151"/>
              <a:ext cx="42295" cy="60371"/>
            </a:xfrm>
            <a:custGeom>
              <a:avLst/>
              <a:gdLst/>
              <a:ahLst/>
              <a:cxnLst/>
              <a:rect l="l" t="t" r="r" b="b"/>
              <a:pathLst>
                <a:path w="178083" h="254195" extrusionOk="0">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13"/>
            <p:cNvSpPr/>
            <p:nvPr/>
          </p:nvSpPr>
          <p:spPr>
            <a:xfrm>
              <a:off x="11364832" y="585980"/>
              <a:ext cx="40298" cy="44580"/>
            </a:xfrm>
            <a:custGeom>
              <a:avLst/>
              <a:gdLst/>
              <a:ahLst/>
              <a:cxnLst/>
              <a:rect l="l" t="t" r="r" b="b"/>
              <a:pathLst>
                <a:path w="169675" h="187705" extrusionOk="0">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13"/>
            <p:cNvSpPr/>
            <p:nvPr/>
          </p:nvSpPr>
          <p:spPr>
            <a:xfrm>
              <a:off x="11412320" y="585982"/>
              <a:ext cx="21912" cy="43719"/>
            </a:xfrm>
            <a:custGeom>
              <a:avLst/>
              <a:gdLst/>
              <a:ahLst/>
              <a:cxnLst/>
              <a:rect l="l" t="t" r="r" b="b"/>
              <a:pathLst>
                <a:path w="92261" h="184079" extrusionOk="0">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13"/>
            <p:cNvSpPr/>
            <p:nvPr/>
          </p:nvSpPr>
          <p:spPr>
            <a:xfrm>
              <a:off x="11457752" y="585980"/>
              <a:ext cx="43324" cy="44618"/>
            </a:xfrm>
            <a:custGeom>
              <a:avLst/>
              <a:gdLst/>
              <a:ahLst/>
              <a:cxnLst/>
              <a:rect l="l" t="t" r="r" b="b"/>
              <a:pathLst>
                <a:path w="182416" h="187864" extrusionOk="0">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13"/>
            <p:cNvSpPr/>
            <p:nvPr/>
          </p:nvSpPr>
          <p:spPr>
            <a:xfrm>
              <a:off x="11503119" y="569640"/>
              <a:ext cx="24640" cy="60106"/>
            </a:xfrm>
            <a:custGeom>
              <a:avLst/>
              <a:gdLst/>
              <a:ahLst/>
              <a:cxnLst/>
              <a:rect l="l" t="t" r="r" b="b"/>
              <a:pathLst>
                <a:path w="103749" h="253080" extrusionOk="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13"/>
            <p:cNvSpPr/>
            <p:nvPr/>
          </p:nvSpPr>
          <p:spPr>
            <a:xfrm>
              <a:off x="11549397" y="572619"/>
              <a:ext cx="25493" cy="57134"/>
            </a:xfrm>
            <a:custGeom>
              <a:avLst/>
              <a:gdLst/>
              <a:ahLst/>
              <a:cxnLst/>
              <a:rect l="l" t="t" r="r" b="b"/>
              <a:pathLst>
                <a:path w="107340" h="240566" extrusionOk="0">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13"/>
            <p:cNvSpPr/>
            <p:nvPr/>
          </p:nvSpPr>
          <p:spPr>
            <a:xfrm>
              <a:off x="11580533" y="570151"/>
              <a:ext cx="36561" cy="59596"/>
            </a:xfrm>
            <a:custGeom>
              <a:avLst/>
              <a:gdLst/>
              <a:ahLst/>
              <a:cxnLst/>
              <a:rect l="l" t="t" r="r" b="b"/>
              <a:pathLst>
                <a:path w="153939" h="250929" extrusionOk="0">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13"/>
            <p:cNvSpPr/>
            <p:nvPr/>
          </p:nvSpPr>
          <p:spPr>
            <a:xfrm>
              <a:off x="11624195" y="585938"/>
              <a:ext cx="40297" cy="44580"/>
            </a:xfrm>
            <a:custGeom>
              <a:avLst/>
              <a:gdLst/>
              <a:ahLst/>
              <a:cxnLst/>
              <a:rect l="l" t="t" r="r" b="b"/>
              <a:pathLst>
                <a:path w="169671" h="187705" extrusionOk="0">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13"/>
            <p:cNvSpPr/>
            <p:nvPr/>
          </p:nvSpPr>
          <p:spPr>
            <a:xfrm>
              <a:off x="11058558" y="660592"/>
              <a:ext cx="7673" cy="59596"/>
            </a:xfrm>
            <a:custGeom>
              <a:avLst/>
              <a:gdLst/>
              <a:ahLst/>
              <a:cxnLst/>
              <a:rect l="l" t="t" r="r" b="b"/>
              <a:pathLst>
                <a:path w="32309" h="250929" extrusionOk="0">
                  <a:moveTo>
                    <a:pt x="0" y="0"/>
                  </a:moveTo>
                  <a:lnTo>
                    <a:pt x="32310" y="0"/>
                  </a:lnTo>
                  <a:lnTo>
                    <a:pt x="32310" y="250929"/>
                  </a:lnTo>
                  <a:lnTo>
                    <a:pt x="0" y="250929"/>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13"/>
            <p:cNvSpPr/>
            <p:nvPr/>
          </p:nvSpPr>
          <p:spPr>
            <a:xfrm>
              <a:off x="11076630" y="660593"/>
              <a:ext cx="42422" cy="60371"/>
            </a:xfrm>
            <a:custGeom>
              <a:avLst/>
              <a:gdLst/>
              <a:ahLst/>
              <a:cxnLst/>
              <a:rect l="l" t="t" r="r" b="b"/>
              <a:pathLst>
                <a:path w="178621" h="254195" extrusionOk="0">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13"/>
            <p:cNvSpPr/>
            <p:nvPr/>
          </p:nvSpPr>
          <p:spPr>
            <a:xfrm>
              <a:off x="11124192" y="676422"/>
              <a:ext cx="40255" cy="44580"/>
            </a:xfrm>
            <a:custGeom>
              <a:avLst/>
              <a:gdLst/>
              <a:ahLst/>
              <a:cxnLst/>
              <a:rect l="l" t="t" r="r" b="b"/>
              <a:pathLst>
                <a:path w="169496" h="187705" extrusionOk="0">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13"/>
            <p:cNvSpPr/>
            <p:nvPr/>
          </p:nvSpPr>
          <p:spPr>
            <a:xfrm>
              <a:off x="11171669" y="676424"/>
              <a:ext cx="21912" cy="43676"/>
            </a:xfrm>
            <a:custGeom>
              <a:avLst/>
              <a:gdLst/>
              <a:ahLst/>
              <a:cxnLst/>
              <a:rect l="l" t="t" r="r" b="b"/>
              <a:pathLst>
                <a:path w="92261" h="183899" extrusionOk="0">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13"/>
            <p:cNvSpPr/>
            <p:nvPr/>
          </p:nvSpPr>
          <p:spPr>
            <a:xfrm>
              <a:off x="11195191" y="660635"/>
              <a:ext cx="42339" cy="60371"/>
            </a:xfrm>
            <a:custGeom>
              <a:avLst/>
              <a:gdLst/>
              <a:ahLst/>
              <a:cxnLst/>
              <a:rect l="l" t="t" r="r" b="b"/>
              <a:pathLst>
                <a:path w="178269" h="254195" extrusionOk="0">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13"/>
            <p:cNvSpPr/>
            <p:nvPr/>
          </p:nvSpPr>
          <p:spPr>
            <a:xfrm>
              <a:off x="11246974" y="676424"/>
              <a:ext cx="21912" cy="43719"/>
            </a:xfrm>
            <a:custGeom>
              <a:avLst/>
              <a:gdLst/>
              <a:ahLst/>
              <a:cxnLst/>
              <a:rect l="l" t="t" r="r" b="b"/>
              <a:pathLst>
                <a:path w="92261" h="184079" extrusionOk="0">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13"/>
            <p:cNvSpPr/>
            <p:nvPr/>
          </p:nvSpPr>
          <p:spPr>
            <a:xfrm>
              <a:off x="11270401" y="676422"/>
              <a:ext cx="43324" cy="44618"/>
            </a:xfrm>
            <a:custGeom>
              <a:avLst/>
              <a:gdLst/>
              <a:ahLst/>
              <a:cxnLst/>
              <a:rect l="l" t="t" r="r" b="b"/>
              <a:pathLst>
                <a:path w="182416" h="187864" extrusionOk="0">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13"/>
            <p:cNvSpPr/>
            <p:nvPr/>
          </p:nvSpPr>
          <p:spPr>
            <a:xfrm>
              <a:off x="11320849" y="660550"/>
              <a:ext cx="15775" cy="59601"/>
            </a:xfrm>
            <a:custGeom>
              <a:avLst/>
              <a:gdLst/>
              <a:ahLst/>
              <a:cxnLst/>
              <a:rect l="l" t="t" r="r" b="b"/>
              <a:pathLst>
                <a:path w="66422" h="250952" extrusionOk="0">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7" name="Google Shape;107;p13"/>
            <p:cNvSpPr/>
            <p:nvPr/>
          </p:nvSpPr>
          <p:spPr>
            <a:xfrm>
              <a:off x="11339877" y="676379"/>
              <a:ext cx="37782" cy="44691"/>
            </a:xfrm>
            <a:custGeom>
              <a:avLst/>
              <a:gdLst/>
              <a:ahLst/>
              <a:cxnLst/>
              <a:rect l="l" t="t" r="r" b="b"/>
              <a:pathLst>
                <a:path w="159083" h="188171" extrusionOk="0">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 name="Google Shape;108;p13"/>
            <p:cNvSpPr/>
            <p:nvPr/>
          </p:nvSpPr>
          <p:spPr>
            <a:xfrm>
              <a:off x="11404928" y="659740"/>
              <a:ext cx="57305" cy="61220"/>
            </a:xfrm>
            <a:custGeom>
              <a:avLst/>
              <a:gdLst/>
              <a:ahLst/>
              <a:cxnLst/>
              <a:rect l="l" t="t" r="r" b="b"/>
              <a:pathLst>
                <a:path w="241285" h="257768" extrusionOk="0">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13"/>
            <p:cNvSpPr/>
            <p:nvPr/>
          </p:nvSpPr>
          <p:spPr>
            <a:xfrm>
              <a:off x="11469819" y="676423"/>
              <a:ext cx="21912" cy="43719"/>
            </a:xfrm>
            <a:custGeom>
              <a:avLst/>
              <a:gdLst/>
              <a:ahLst/>
              <a:cxnLst/>
              <a:rect l="l" t="t" r="r" b="b"/>
              <a:pathLst>
                <a:path w="92261" h="184082" extrusionOk="0">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 name="Google Shape;110;p13"/>
            <p:cNvSpPr/>
            <p:nvPr/>
          </p:nvSpPr>
          <p:spPr>
            <a:xfrm>
              <a:off x="11493246" y="676422"/>
              <a:ext cx="43324" cy="44618"/>
            </a:xfrm>
            <a:custGeom>
              <a:avLst/>
              <a:gdLst/>
              <a:ahLst/>
              <a:cxnLst/>
              <a:rect l="l" t="t" r="r" b="b"/>
              <a:pathLst>
                <a:path w="182416" h="187865" extrusionOk="0">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13"/>
            <p:cNvSpPr/>
            <p:nvPr/>
          </p:nvSpPr>
          <p:spPr>
            <a:xfrm>
              <a:off x="11543133" y="677191"/>
              <a:ext cx="36594" cy="43805"/>
            </a:xfrm>
            <a:custGeom>
              <a:avLst/>
              <a:gdLst/>
              <a:ahLst/>
              <a:cxnLst/>
              <a:rect l="l" t="t" r="r" b="b"/>
              <a:pathLst>
                <a:path w="154081" h="184441" extrusionOk="0">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 name="Google Shape;112;p13"/>
            <p:cNvSpPr/>
            <p:nvPr/>
          </p:nvSpPr>
          <p:spPr>
            <a:xfrm>
              <a:off x="11588738" y="676416"/>
              <a:ext cx="42338" cy="57817"/>
            </a:xfrm>
            <a:custGeom>
              <a:avLst/>
              <a:gdLst/>
              <a:ahLst/>
              <a:cxnLst/>
              <a:rect l="l" t="t" r="r" b="b"/>
              <a:pathLst>
                <a:path w="178264" h="243441" extrusionOk="0">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284202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Symbol Green">
  <p:cSld name="Symbol Green">
    <p:bg>
      <p:bgPr>
        <a:solidFill>
          <a:schemeClr val="accent1"/>
        </a:solidFill>
        <a:effectLst/>
      </p:bgPr>
    </p:bg>
    <p:spTree>
      <p:nvGrpSpPr>
        <p:cNvPr id="1" name="Shape 113"/>
        <p:cNvGrpSpPr/>
        <p:nvPr/>
      </p:nvGrpSpPr>
      <p:grpSpPr>
        <a:xfrm>
          <a:off x="0" y="0"/>
          <a:ext cx="0" cy="0"/>
          <a:chOff x="0" y="0"/>
          <a:chExt cx="0" cy="0"/>
        </a:xfrm>
      </p:grpSpPr>
      <p:pic>
        <p:nvPicPr>
          <p:cNvPr id="114" name="Google Shape;114;p14"/>
          <p:cNvPicPr preferRelativeResize="0"/>
          <p:nvPr/>
        </p:nvPicPr>
        <p:blipFill rotWithShape="1">
          <a:blip r:embed="rId2">
            <a:alphaModFix/>
          </a:blip>
          <a:srcRect/>
          <a:stretch/>
        </p:blipFill>
        <p:spPr>
          <a:xfrm>
            <a:off x="5246491" y="2622552"/>
            <a:ext cx="1706065" cy="1612902"/>
          </a:xfrm>
          <a:prstGeom prst="rect">
            <a:avLst/>
          </a:prstGeom>
          <a:noFill/>
          <a:ln>
            <a:noFill/>
          </a:ln>
        </p:spPr>
      </p:pic>
    </p:spTree>
    <p:extLst>
      <p:ext uri="{BB962C8B-B14F-4D97-AF65-F5344CB8AC3E}">
        <p14:creationId xmlns:p14="http://schemas.microsoft.com/office/powerpoint/2010/main" val="872730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Logo Green">
  <p:cSld name="Logo Green">
    <p:bg>
      <p:bgPr>
        <a:solidFill>
          <a:schemeClr val="accent1"/>
        </a:solidFill>
        <a:effectLst/>
      </p:bgPr>
    </p:bg>
    <p:spTree>
      <p:nvGrpSpPr>
        <p:cNvPr id="1" name="Shape 115"/>
        <p:cNvGrpSpPr/>
        <p:nvPr/>
      </p:nvGrpSpPr>
      <p:grpSpPr>
        <a:xfrm>
          <a:off x="0" y="0"/>
          <a:ext cx="0" cy="0"/>
          <a:chOff x="0" y="0"/>
          <a:chExt cx="0" cy="0"/>
        </a:xfrm>
      </p:grpSpPr>
      <p:grpSp>
        <p:nvGrpSpPr>
          <p:cNvPr id="116" name="Google Shape;116;p15"/>
          <p:cNvGrpSpPr/>
          <p:nvPr/>
        </p:nvGrpSpPr>
        <p:grpSpPr>
          <a:xfrm>
            <a:off x="4495945" y="3036078"/>
            <a:ext cx="3199906" cy="1278298"/>
            <a:chOff x="10709665" y="301762"/>
            <a:chExt cx="1082585" cy="432471"/>
          </a:xfrm>
        </p:grpSpPr>
        <p:sp>
          <p:nvSpPr>
            <p:cNvPr id="117" name="Google Shape;117;p15"/>
            <p:cNvSpPr/>
            <p:nvPr/>
          </p:nvSpPr>
          <p:spPr>
            <a:xfrm>
              <a:off x="11039633" y="364114"/>
              <a:ext cx="132646" cy="141157"/>
            </a:xfrm>
            <a:custGeom>
              <a:avLst/>
              <a:gdLst/>
              <a:ahLst/>
              <a:cxnLst/>
              <a:rect l="l" t="t" r="r" b="b"/>
              <a:pathLst>
                <a:path w="558508" h="594344" extrusionOk="0">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15"/>
            <p:cNvSpPr/>
            <p:nvPr/>
          </p:nvSpPr>
          <p:spPr>
            <a:xfrm>
              <a:off x="11159160" y="402802"/>
              <a:ext cx="100566" cy="102643"/>
            </a:xfrm>
            <a:custGeom>
              <a:avLst/>
              <a:gdLst/>
              <a:ahLst/>
              <a:cxnLst/>
              <a:rect l="l" t="t" r="r" b="b"/>
              <a:pathLst>
                <a:path w="423435" h="432180" extrusionOk="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15"/>
            <p:cNvSpPr/>
            <p:nvPr/>
          </p:nvSpPr>
          <p:spPr>
            <a:xfrm>
              <a:off x="11260890" y="400806"/>
              <a:ext cx="90894" cy="106709"/>
            </a:xfrm>
            <a:custGeom>
              <a:avLst/>
              <a:gdLst/>
              <a:ahLst/>
              <a:cxnLst/>
              <a:rect l="l" t="t" r="r" b="b"/>
              <a:pathLst>
                <a:path w="382711" h="449300" extrusionOk="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15"/>
            <p:cNvSpPr/>
            <p:nvPr/>
          </p:nvSpPr>
          <p:spPr>
            <a:xfrm>
              <a:off x="11371157" y="400803"/>
              <a:ext cx="88055" cy="104492"/>
            </a:xfrm>
            <a:custGeom>
              <a:avLst/>
              <a:gdLst/>
              <a:ahLst/>
              <a:cxnLst/>
              <a:rect l="l" t="t" r="r" b="b"/>
              <a:pathLst>
                <a:path w="370759" h="439968" extrusionOk="0">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15"/>
            <p:cNvSpPr/>
            <p:nvPr/>
          </p:nvSpPr>
          <p:spPr>
            <a:xfrm>
              <a:off x="11472902" y="400789"/>
              <a:ext cx="98740" cy="140382"/>
            </a:xfrm>
            <a:custGeom>
              <a:avLst/>
              <a:gdLst/>
              <a:ahLst/>
              <a:cxnLst/>
              <a:rect l="l" t="t" r="r" b="b"/>
              <a:pathLst>
                <a:path w="415746" h="591083" extrusionOk="0">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15"/>
            <p:cNvSpPr/>
            <p:nvPr/>
          </p:nvSpPr>
          <p:spPr>
            <a:xfrm>
              <a:off x="11591573" y="400808"/>
              <a:ext cx="53512" cy="104456"/>
            </a:xfrm>
            <a:custGeom>
              <a:avLst/>
              <a:gdLst/>
              <a:ahLst/>
              <a:cxnLst/>
              <a:rect l="l" t="t" r="r" b="b"/>
              <a:pathLst>
                <a:path w="225314" h="439813" extrusionOk="0">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15"/>
            <p:cNvSpPr/>
            <p:nvPr/>
          </p:nvSpPr>
          <p:spPr>
            <a:xfrm>
              <a:off x="11656200" y="402823"/>
              <a:ext cx="19791" cy="102430"/>
            </a:xfrm>
            <a:custGeom>
              <a:avLst/>
              <a:gdLst/>
              <a:ahLst/>
              <a:cxnLst/>
              <a:rect l="l" t="t" r="r" b="b"/>
              <a:pathLst>
                <a:path w="83331" h="431284" extrusionOk="0">
                  <a:moveTo>
                    <a:pt x="0" y="0"/>
                  </a:moveTo>
                  <a:lnTo>
                    <a:pt x="83332" y="0"/>
                  </a:lnTo>
                  <a:lnTo>
                    <a:pt x="83332" y="431285"/>
                  </a:lnTo>
                  <a:lnTo>
                    <a:pt x="0" y="43128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15"/>
            <p:cNvSpPr/>
            <p:nvPr/>
          </p:nvSpPr>
          <p:spPr>
            <a:xfrm>
              <a:off x="11652553" y="359481"/>
              <a:ext cx="27289" cy="26018"/>
            </a:xfrm>
            <a:custGeom>
              <a:avLst/>
              <a:gdLst/>
              <a:ahLst/>
              <a:cxnLst/>
              <a:rect l="l" t="t" r="r" b="b"/>
              <a:pathLst>
                <a:path w="114900" h="109551" extrusionOk="0">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15"/>
            <p:cNvSpPr/>
            <p:nvPr/>
          </p:nvSpPr>
          <p:spPr>
            <a:xfrm>
              <a:off x="11690901" y="364114"/>
              <a:ext cx="101349" cy="143151"/>
            </a:xfrm>
            <a:custGeom>
              <a:avLst/>
              <a:gdLst/>
              <a:ahLst/>
              <a:cxnLst/>
              <a:rect l="l" t="t" r="r" b="b"/>
              <a:pathLst>
                <a:path w="426734" h="602739" extrusionOk="0">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15"/>
            <p:cNvSpPr/>
            <p:nvPr/>
          </p:nvSpPr>
          <p:spPr>
            <a:xfrm>
              <a:off x="10866114" y="301762"/>
              <a:ext cx="134393" cy="215105"/>
            </a:xfrm>
            <a:custGeom>
              <a:avLst/>
              <a:gdLst/>
              <a:ahLst/>
              <a:cxnLst/>
              <a:rect l="l" t="t" r="r" b="b"/>
              <a:pathLst>
                <a:path w="565867" h="905704" extrusionOk="0">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15"/>
            <p:cNvSpPr/>
            <p:nvPr/>
          </p:nvSpPr>
          <p:spPr>
            <a:xfrm>
              <a:off x="10787879" y="301762"/>
              <a:ext cx="128510" cy="215096"/>
            </a:xfrm>
            <a:custGeom>
              <a:avLst/>
              <a:gdLst/>
              <a:ahLst/>
              <a:cxnLst/>
              <a:rect l="l" t="t" r="r" b="b"/>
              <a:pathLst>
                <a:path w="541096" h="905666" extrusionOk="0">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15"/>
            <p:cNvSpPr/>
            <p:nvPr/>
          </p:nvSpPr>
          <p:spPr>
            <a:xfrm>
              <a:off x="10709665" y="301762"/>
              <a:ext cx="128500" cy="265797"/>
            </a:xfrm>
            <a:custGeom>
              <a:avLst/>
              <a:gdLst/>
              <a:ahLst/>
              <a:cxnLst/>
              <a:rect l="l" t="t" r="r" b="b"/>
              <a:pathLst>
                <a:path w="541051" h="1119144" extrusionOk="0">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15"/>
            <p:cNvSpPr/>
            <p:nvPr/>
          </p:nvSpPr>
          <p:spPr>
            <a:xfrm>
              <a:off x="11053102" y="570151"/>
              <a:ext cx="55079" cy="59596"/>
            </a:xfrm>
            <a:custGeom>
              <a:avLst/>
              <a:gdLst/>
              <a:ahLst/>
              <a:cxnLst/>
              <a:rect l="l" t="t" r="r" b="b"/>
              <a:pathLst>
                <a:path w="231911" h="250929" extrusionOk="0">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15"/>
            <p:cNvSpPr/>
            <p:nvPr/>
          </p:nvSpPr>
          <p:spPr>
            <a:xfrm>
              <a:off x="11132978" y="586021"/>
              <a:ext cx="60327" cy="43723"/>
            </a:xfrm>
            <a:custGeom>
              <a:avLst/>
              <a:gdLst/>
              <a:ahLst/>
              <a:cxnLst/>
              <a:rect l="l" t="t" r="r" b="b"/>
              <a:pathLst>
                <a:path w="254008" h="184096" extrusionOk="0">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15"/>
            <p:cNvSpPr/>
            <p:nvPr/>
          </p:nvSpPr>
          <p:spPr>
            <a:xfrm>
              <a:off x="11200328" y="585980"/>
              <a:ext cx="40255" cy="44580"/>
            </a:xfrm>
            <a:custGeom>
              <a:avLst/>
              <a:gdLst/>
              <a:ahLst/>
              <a:cxnLst/>
              <a:rect l="l" t="t" r="r" b="b"/>
              <a:pathLst>
                <a:path w="169496" h="187705" extrusionOk="0">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2" name="Google Shape;132;p15"/>
            <p:cNvSpPr/>
            <p:nvPr/>
          </p:nvSpPr>
          <p:spPr>
            <a:xfrm>
              <a:off x="11247880" y="586021"/>
              <a:ext cx="60327" cy="43766"/>
            </a:xfrm>
            <a:custGeom>
              <a:avLst/>
              <a:gdLst/>
              <a:ahLst/>
              <a:cxnLst/>
              <a:rect l="l" t="t" r="r" b="b"/>
              <a:pathLst>
                <a:path w="254008" h="184276" extrusionOk="0">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15"/>
            <p:cNvSpPr/>
            <p:nvPr/>
          </p:nvSpPr>
          <p:spPr>
            <a:xfrm>
              <a:off x="11317356" y="570151"/>
              <a:ext cx="42295" cy="60371"/>
            </a:xfrm>
            <a:custGeom>
              <a:avLst/>
              <a:gdLst/>
              <a:ahLst/>
              <a:cxnLst/>
              <a:rect l="l" t="t" r="r" b="b"/>
              <a:pathLst>
                <a:path w="178083" h="254195" extrusionOk="0">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15"/>
            <p:cNvSpPr/>
            <p:nvPr/>
          </p:nvSpPr>
          <p:spPr>
            <a:xfrm>
              <a:off x="11364832" y="585980"/>
              <a:ext cx="40298" cy="44580"/>
            </a:xfrm>
            <a:custGeom>
              <a:avLst/>
              <a:gdLst/>
              <a:ahLst/>
              <a:cxnLst/>
              <a:rect l="l" t="t" r="r" b="b"/>
              <a:pathLst>
                <a:path w="169675" h="187705" extrusionOk="0">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5" name="Google Shape;135;p15"/>
            <p:cNvSpPr/>
            <p:nvPr/>
          </p:nvSpPr>
          <p:spPr>
            <a:xfrm>
              <a:off x="11412320" y="585982"/>
              <a:ext cx="21912" cy="43719"/>
            </a:xfrm>
            <a:custGeom>
              <a:avLst/>
              <a:gdLst/>
              <a:ahLst/>
              <a:cxnLst/>
              <a:rect l="l" t="t" r="r" b="b"/>
              <a:pathLst>
                <a:path w="92261" h="184079" extrusionOk="0">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6" name="Google Shape;136;p15"/>
            <p:cNvSpPr/>
            <p:nvPr/>
          </p:nvSpPr>
          <p:spPr>
            <a:xfrm>
              <a:off x="11457752" y="585980"/>
              <a:ext cx="43324" cy="44618"/>
            </a:xfrm>
            <a:custGeom>
              <a:avLst/>
              <a:gdLst/>
              <a:ahLst/>
              <a:cxnLst/>
              <a:rect l="l" t="t" r="r" b="b"/>
              <a:pathLst>
                <a:path w="182416" h="187864" extrusionOk="0">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7" name="Google Shape;137;p15"/>
            <p:cNvSpPr/>
            <p:nvPr/>
          </p:nvSpPr>
          <p:spPr>
            <a:xfrm>
              <a:off x="11503119" y="569640"/>
              <a:ext cx="24640" cy="60106"/>
            </a:xfrm>
            <a:custGeom>
              <a:avLst/>
              <a:gdLst/>
              <a:ahLst/>
              <a:cxnLst/>
              <a:rect l="l" t="t" r="r" b="b"/>
              <a:pathLst>
                <a:path w="103749" h="253080" extrusionOk="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15"/>
            <p:cNvSpPr/>
            <p:nvPr/>
          </p:nvSpPr>
          <p:spPr>
            <a:xfrm>
              <a:off x="11549397" y="572619"/>
              <a:ext cx="25493" cy="57134"/>
            </a:xfrm>
            <a:custGeom>
              <a:avLst/>
              <a:gdLst/>
              <a:ahLst/>
              <a:cxnLst/>
              <a:rect l="l" t="t" r="r" b="b"/>
              <a:pathLst>
                <a:path w="107340" h="240566" extrusionOk="0">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15"/>
            <p:cNvSpPr/>
            <p:nvPr/>
          </p:nvSpPr>
          <p:spPr>
            <a:xfrm>
              <a:off x="11580533" y="570151"/>
              <a:ext cx="36561" cy="59596"/>
            </a:xfrm>
            <a:custGeom>
              <a:avLst/>
              <a:gdLst/>
              <a:ahLst/>
              <a:cxnLst/>
              <a:rect l="l" t="t" r="r" b="b"/>
              <a:pathLst>
                <a:path w="153939" h="250929" extrusionOk="0">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15"/>
            <p:cNvSpPr/>
            <p:nvPr/>
          </p:nvSpPr>
          <p:spPr>
            <a:xfrm>
              <a:off x="11624195" y="585938"/>
              <a:ext cx="40297" cy="44580"/>
            </a:xfrm>
            <a:custGeom>
              <a:avLst/>
              <a:gdLst/>
              <a:ahLst/>
              <a:cxnLst/>
              <a:rect l="l" t="t" r="r" b="b"/>
              <a:pathLst>
                <a:path w="169671" h="187705" extrusionOk="0">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15"/>
            <p:cNvSpPr/>
            <p:nvPr/>
          </p:nvSpPr>
          <p:spPr>
            <a:xfrm>
              <a:off x="11058558" y="660592"/>
              <a:ext cx="7673" cy="59596"/>
            </a:xfrm>
            <a:custGeom>
              <a:avLst/>
              <a:gdLst/>
              <a:ahLst/>
              <a:cxnLst/>
              <a:rect l="l" t="t" r="r" b="b"/>
              <a:pathLst>
                <a:path w="32309" h="250929" extrusionOk="0">
                  <a:moveTo>
                    <a:pt x="0" y="0"/>
                  </a:moveTo>
                  <a:lnTo>
                    <a:pt x="32310" y="0"/>
                  </a:lnTo>
                  <a:lnTo>
                    <a:pt x="32310" y="250929"/>
                  </a:lnTo>
                  <a:lnTo>
                    <a:pt x="0" y="25092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15"/>
            <p:cNvSpPr/>
            <p:nvPr/>
          </p:nvSpPr>
          <p:spPr>
            <a:xfrm>
              <a:off x="11076630" y="660593"/>
              <a:ext cx="42422" cy="60371"/>
            </a:xfrm>
            <a:custGeom>
              <a:avLst/>
              <a:gdLst/>
              <a:ahLst/>
              <a:cxnLst/>
              <a:rect l="l" t="t" r="r" b="b"/>
              <a:pathLst>
                <a:path w="178621" h="254195" extrusionOk="0">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15"/>
            <p:cNvSpPr/>
            <p:nvPr/>
          </p:nvSpPr>
          <p:spPr>
            <a:xfrm>
              <a:off x="11124192" y="676422"/>
              <a:ext cx="40255" cy="44580"/>
            </a:xfrm>
            <a:custGeom>
              <a:avLst/>
              <a:gdLst/>
              <a:ahLst/>
              <a:cxnLst/>
              <a:rect l="l" t="t" r="r" b="b"/>
              <a:pathLst>
                <a:path w="169496" h="187705" extrusionOk="0">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15"/>
            <p:cNvSpPr/>
            <p:nvPr/>
          </p:nvSpPr>
          <p:spPr>
            <a:xfrm>
              <a:off x="11171669" y="676424"/>
              <a:ext cx="21912" cy="43676"/>
            </a:xfrm>
            <a:custGeom>
              <a:avLst/>
              <a:gdLst/>
              <a:ahLst/>
              <a:cxnLst/>
              <a:rect l="l" t="t" r="r" b="b"/>
              <a:pathLst>
                <a:path w="92261" h="183899" extrusionOk="0">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15"/>
            <p:cNvSpPr/>
            <p:nvPr/>
          </p:nvSpPr>
          <p:spPr>
            <a:xfrm>
              <a:off x="11195191" y="660635"/>
              <a:ext cx="42339" cy="60371"/>
            </a:xfrm>
            <a:custGeom>
              <a:avLst/>
              <a:gdLst/>
              <a:ahLst/>
              <a:cxnLst/>
              <a:rect l="l" t="t" r="r" b="b"/>
              <a:pathLst>
                <a:path w="178269" h="254195" extrusionOk="0">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15"/>
            <p:cNvSpPr/>
            <p:nvPr/>
          </p:nvSpPr>
          <p:spPr>
            <a:xfrm>
              <a:off x="11246974" y="676424"/>
              <a:ext cx="21912" cy="43719"/>
            </a:xfrm>
            <a:custGeom>
              <a:avLst/>
              <a:gdLst/>
              <a:ahLst/>
              <a:cxnLst/>
              <a:rect l="l" t="t" r="r" b="b"/>
              <a:pathLst>
                <a:path w="92261" h="184079" extrusionOk="0">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15"/>
            <p:cNvSpPr/>
            <p:nvPr/>
          </p:nvSpPr>
          <p:spPr>
            <a:xfrm>
              <a:off x="11270401" y="676422"/>
              <a:ext cx="43324" cy="44618"/>
            </a:xfrm>
            <a:custGeom>
              <a:avLst/>
              <a:gdLst/>
              <a:ahLst/>
              <a:cxnLst/>
              <a:rect l="l" t="t" r="r" b="b"/>
              <a:pathLst>
                <a:path w="182416" h="187864" extrusionOk="0">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15"/>
            <p:cNvSpPr/>
            <p:nvPr/>
          </p:nvSpPr>
          <p:spPr>
            <a:xfrm>
              <a:off x="11320849" y="660550"/>
              <a:ext cx="15775" cy="59601"/>
            </a:xfrm>
            <a:custGeom>
              <a:avLst/>
              <a:gdLst/>
              <a:ahLst/>
              <a:cxnLst/>
              <a:rect l="l" t="t" r="r" b="b"/>
              <a:pathLst>
                <a:path w="66422" h="250952" extrusionOk="0">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15"/>
            <p:cNvSpPr/>
            <p:nvPr/>
          </p:nvSpPr>
          <p:spPr>
            <a:xfrm>
              <a:off x="11339877" y="676379"/>
              <a:ext cx="37782" cy="44691"/>
            </a:xfrm>
            <a:custGeom>
              <a:avLst/>
              <a:gdLst/>
              <a:ahLst/>
              <a:cxnLst/>
              <a:rect l="l" t="t" r="r" b="b"/>
              <a:pathLst>
                <a:path w="159083" h="188171" extrusionOk="0">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15"/>
            <p:cNvSpPr/>
            <p:nvPr/>
          </p:nvSpPr>
          <p:spPr>
            <a:xfrm>
              <a:off x="11404928" y="659740"/>
              <a:ext cx="57305" cy="61220"/>
            </a:xfrm>
            <a:custGeom>
              <a:avLst/>
              <a:gdLst/>
              <a:ahLst/>
              <a:cxnLst/>
              <a:rect l="l" t="t" r="r" b="b"/>
              <a:pathLst>
                <a:path w="241285" h="257768" extrusionOk="0">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15"/>
            <p:cNvSpPr/>
            <p:nvPr/>
          </p:nvSpPr>
          <p:spPr>
            <a:xfrm>
              <a:off x="11469819" y="676423"/>
              <a:ext cx="21912" cy="43719"/>
            </a:xfrm>
            <a:custGeom>
              <a:avLst/>
              <a:gdLst/>
              <a:ahLst/>
              <a:cxnLst/>
              <a:rect l="l" t="t" r="r" b="b"/>
              <a:pathLst>
                <a:path w="92261" h="184082" extrusionOk="0">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15"/>
            <p:cNvSpPr/>
            <p:nvPr/>
          </p:nvSpPr>
          <p:spPr>
            <a:xfrm>
              <a:off x="11493246" y="676422"/>
              <a:ext cx="43324" cy="44618"/>
            </a:xfrm>
            <a:custGeom>
              <a:avLst/>
              <a:gdLst/>
              <a:ahLst/>
              <a:cxnLst/>
              <a:rect l="l" t="t" r="r" b="b"/>
              <a:pathLst>
                <a:path w="182416" h="187865" extrusionOk="0">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15"/>
            <p:cNvSpPr/>
            <p:nvPr/>
          </p:nvSpPr>
          <p:spPr>
            <a:xfrm>
              <a:off x="11543133" y="677191"/>
              <a:ext cx="36594" cy="43805"/>
            </a:xfrm>
            <a:custGeom>
              <a:avLst/>
              <a:gdLst/>
              <a:ahLst/>
              <a:cxnLst/>
              <a:rect l="l" t="t" r="r" b="b"/>
              <a:pathLst>
                <a:path w="154081" h="184441" extrusionOk="0">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15"/>
            <p:cNvSpPr/>
            <p:nvPr/>
          </p:nvSpPr>
          <p:spPr>
            <a:xfrm>
              <a:off x="11588738" y="676416"/>
              <a:ext cx="42338" cy="57817"/>
            </a:xfrm>
            <a:custGeom>
              <a:avLst/>
              <a:gdLst/>
              <a:ahLst/>
              <a:cxnLst/>
              <a:rect l="l" t="t" r="r" b="b"/>
              <a:pathLst>
                <a:path w="178264" h="243441" extrusionOk="0">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7745828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ext and Chart">
  <p:cSld name="Text and Chart">
    <p:spTree>
      <p:nvGrpSpPr>
        <p:cNvPr id="1" name="Shape 155"/>
        <p:cNvGrpSpPr/>
        <p:nvPr/>
      </p:nvGrpSpPr>
      <p:grpSpPr>
        <a:xfrm>
          <a:off x="0" y="0"/>
          <a:ext cx="0" cy="0"/>
          <a:chOff x="0" y="0"/>
          <a:chExt cx="0" cy="0"/>
        </a:xfrm>
      </p:grpSpPr>
      <p:sp>
        <p:nvSpPr>
          <p:cNvPr id="156" name="Google Shape;156;p16"/>
          <p:cNvSpPr txBox="1">
            <a:spLocks noGrp="1"/>
          </p:cNvSpPr>
          <p:nvPr>
            <p:ph type="title"/>
          </p:nvPr>
        </p:nvSpPr>
        <p:spPr>
          <a:xfrm>
            <a:off x="406797" y="177981"/>
            <a:ext cx="10386600" cy="607800"/>
          </a:xfrm>
          <a:prstGeom prst="rect">
            <a:avLst/>
          </a:prstGeom>
          <a:noFill/>
          <a:ln>
            <a:noFill/>
          </a:ln>
        </p:spPr>
        <p:txBody>
          <a:bodyPr spcFirstLastPara="1" wrap="square" lIns="0" tIns="0" rIns="0" bIns="0" anchor="b" anchorCtr="0">
            <a:normAutofit/>
          </a:bodyPr>
          <a:lstStyle>
            <a:lvl1pPr lvl="0" algn="l" rtl="0">
              <a:lnSpc>
                <a:spcPct val="85000"/>
              </a:lnSpc>
              <a:spcBef>
                <a:spcPts val="0"/>
              </a:spcBef>
              <a:spcAft>
                <a:spcPts val="0"/>
              </a:spcAft>
              <a:buSzPts val="1400"/>
              <a:buNone/>
              <a:defRPr>
                <a:solidFill>
                  <a:schemeClr val="accent1"/>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57" name="Google Shape;157;p16"/>
          <p:cNvSpPr>
            <a:spLocks noGrp="1"/>
          </p:cNvSpPr>
          <p:nvPr>
            <p:ph type="chart" idx="2"/>
          </p:nvPr>
        </p:nvSpPr>
        <p:spPr>
          <a:xfrm>
            <a:off x="3719754" y="1636686"/>
            <a:ext cx="8065800" cy="46740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R="0" lvl="2"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R="0" lvl="3"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R="0" lvl="5"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R="0" lvl="6"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R="0" lvl="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R="0" lvl="8"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158" name="Google Shape;158;p16"/>
          <p:cNvSpPr txBox="1">
            <a:spLocks noGrp="1"/>
          </p:cNvSpPr>
          <p:nvPr>
            <p:ph type="body" idx="1"/>
          </p:nvPr>
        </p:nvSpPr>
        <p:spPr>
          <a:xfrm>
            <a:off x="3708642" y="1131888"/>
            <a:ext cx="8065800" cy="504900"/>
          </a:xfrm>
          <a:prstGeom prst="rect">
            <a:avLst/>
          </a:prstGeom>
          <a:noFill/>
          <a:ln>
            <a:noFill/>
          </a:ln>
        </p:spPr>
        <p:txBody>
          <a:bodyPr spcFirstLastPara="1" wrap="square" lIns="0" tIns="0" rIns="0" bIns="0" anchor="t" anchorCtr="0">
            <a:noAutofit/>
          </a:bodyPr>
          <a:lstStyle>
            <a:lvl1pPr marL="457200" lvl="0" indent="-228600" algn="ctr" rtl="0">
              <a:lnSpc>
                <a:spcPct val="120000"/>
              </a:lnSpc>
              <a:spcBef>
                <a:spcPts val="0"/>
              </a:spcBef>
              <a:spcAft>
                <a:spcPts val="0"/>
              </a:spcAft>
              <a:buSzPts val="1400"/>
              <a:buFont typeface="Arial"/>
              <a:buNone/>
              <a:defRPr sz="1400" b="1">
                <a:solidFill>
                  <a:schemeClr val="dk1"/>
                </a:solidFil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159" name="Google Shape;159;p16"/>
          <p:cNvSpPr txBox="1">
            <a:spLocks noGrp="1"/>
          </p:cNvSpPr>
          <p:nvPr>
            <p:ph type="body" idx="3"/>
          </p:nvPr>
        </p:nvSpPr>
        <p:spPr>
          <a:xfrm>
            <a:off x="406800" y="1137600"/>
            <a:ext cx="3006000" cy="51732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SzPts val="1800"/>
              <a:buNone/>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0569645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1_Introduction">
  <p:cSld name="1_Introduction">
    <p:bg>
      <p:bgPr>
        <a:solidFill>
          <a:schemeClr val="accent1"/>
        </a:solidFill>
        <a:effectLst/>
      </p:bgPr>
    </p:bg>
    <p:spTree>
      <p:nvGrpSpPr>
        <p:cNvPr id="1" name="Shape 160"/>
        <p:cNvGrpSpPr/>
        <p:nvPr/>
      </p:nvGrpSpPr>
      <p:grpSpPr>
        <a:xfrm>
          <a:off x="0" y="0"/>
          <a:ext cx="0" cy="0"/>
          <a:chOff x="0" y="0"/>
          <a:chExt cx="0" cy="0"/>
        </a:xfrm>
      </p:grpSpPr>
      <p:sp>
        <p:nvSpPr>
          <p:cNvPr id="161" name="Google Shape;161;p17" descr="{&quot;HashCode&quot;:1231056682,&quot;Placement&quot;:&quot;Footer&quot;,&quot;Top&quot;:516.65155,&quot;Left&quot;:437.819916,&quot;SlideWidth&quot;:960,&quot;SlideHeight&quot;:540}"/>
          <p:cNvSpPr txBox="1"/>
          <p:nvPr/>
        </p:nvSpPr>
        <p:spPr>
          <a:xfrm>
            <a:off x="5560313" y="6454777"/>
            <a:ext cx="1071300" cy="403200"/>
          </a:xfrm>
          <a:prstGeom prst="rect">
            <a:avLst/>
          </a:prstGeom>
          <a:no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100" b="0" i="0">
                <a:solidFill>
                  <a:schemeClr val="lt1"/>
                </a:solidFill>
                <a:latin typeface="Arial"/>
                <a:ea typeface="Arial"/>
                <a:cs typeface="Arial"/>
                <a:sym typeface="Arial"/>
              </a:rPr>
              <a:t>Internal Use</a:t>
            </a:r>
            <a:endParaRPr/>
          </a:p>
        </p:txBody>
      </p:sp>
      <p:sp>
        <p:nvSpPr>
          <p:cNvPr id="162" name="Google Shape;162;p17"/>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163" name="Google Shape;163;p17"/>
          <p:cNvGrpSpPr/>
          <p:nvPr/>
        </p:nvGrpSpPr>
        <p:grpSpPr>
          <a:xfrm>
            <a:off x="11064613" y="243865"/>
            <a:ext cx="473748" cy="432438"/>
            <a:chOff x="5465909" y="2845257"/>
            <a:chExt cx="729516" cy="665904"/>
          </a:xfrm>
        </p:grpSpPr>
        <p:sp>
          <p:nvSpPr>
            <p:cNvPr id="164" name="Google Shape;164;p17"/>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p17"/>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6" name="Google Shape;166;p17"/>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6236251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p:cSld name="Blank">
    <p:bg>
      <p:bgPr>
        <a:solidFill>
          <a:schemeClr val="lt1"/>
        </a:solidFill>
        <a:effectLst/>
      </p:bgPr>
    </p:bg>
    <p:spTree>
      <p:nvGrpSpPr>
        <p:cNvPr id="1" name="Shape 167"/>
        <p:cNvGrpSpPr/>
        <p:nvPr/>
      </p:nvGrpSpPr>
      <p:grpSpPr>
        <a:xfrm>
          <a:off x="0" y="0"/>
          <a:ext cx="0" cy="0"/>
          <a:chOff x="0" y="0"/>
          <a:chExt cx="0" cy="0"/>
        </a:xfrm>
      </p:grpSpPr>
      <p:sp>
        <p:nvSpPr>
          <p:cNvPr id="168" name="Google Shape;168;p18"/>
          <p:cNvSpPr txBox="1">
            <a:spLocks noGrp="1"/>
          </p:cNvSpPr>
          <p:nvPr>
            <p:ph type="sldNum" idx="12"/>
          </p:nvPr>
        </p:nvSpPr>
        <p:spPr>
          <a:xfrm>
            <a:off x="11164831" y="6453336"/>
            <a:ext cx="619800" cy="2406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spcAft>
                <a:spcPts val="0"/>
              </a:spcAft>
              <a:buNone/>
              <a:defRPr sz="600" b="0" i="0">
                <a:solidFill>
                  <a:schemeClr val="dk2"/>
                </a:solidFill>
                <a:latin typeface="Arial"/>
                <a:ea typeface="Arial"/>
                <a:cs typeface="Arial"/>
                <a:sym typeface="Arial"/>
              </a:defRPr>
            </a:lvl1pPr>
            <a:lvl2pPr marL="0" marR="0" lvl="1" indent="0" algn="r" rtl="0">
              <a:spcBef>
                <a:spcPts val="0"/>
              </a:spcBef>
              <a:spcAft>
                <a:spcPts val="0"/>
              </a:spcAft>
              <a:buNone/>
              <a:defRPr sz="600" b="0" i="0">
                <a:solidFill>
                  <a:schemeClr val="dk2"/>
                </a:solidFill>
                <a:latin typeface="Arial"/>
                <a:ea typeface="Arial"/>
                <a:cs typeface="Arial"/>
                <a:sym typeface="Arial"/>
              </a:defRPr>
            </a:lvl2pPr>
            <a:lvl3pPr marL="0" marR="0" lvl="2" indent="0" algn="r" rtl="0">
              <a:spcBef>
                <a:spcPts val="0"/>
              </a:spcBef>
              <a:spcAft>
                <a:spcPts val="0"/>
              </a:spcAft>
              <a:buNone/>
              <a:defRPr sz="600" b="0" i="0">
                <a:solidFill>
                  <a:schemeClr val="dk2"/>
                </a:solidFill>
                <a:latin typeface="Arial"/>
                <a:ea typeface="Arial"/>
                <a:cs typeface="Arial"/>
                <a:sym typeface="Arial"/>
              </a:defRPr>
            </a:lvl3pPr>
            <a:lvl4pPr marL="0" marR="0" lvl="3" indent="0" algn="r" rtl="0">
              <a:spcBef>
                <a:spcPts val="0"/>
              </a:spcBef>
              <a:spcAft>
                <a:spcPts val="0"/>
              </a:spcAft>
              <a:buNone/>
              <a:defRPr sz="600" b="0" i="0">
                <a:solidFill>
                  <a:schemeClr val="dk2"/>
                </a:solidFill>
                <a:latin typeface="Arial"/>
                <a:ea typeface="Arial"/>
                <a:cs typeface="Arial"/>
                <a:sym typeface="Arial"/>
              </a:defRPr>
            </a:lvl4pPr>
            <a:lvl5pPr marL="0" marR="0" lvl="4" indent="0" algn="r" rtl="0">
              <a:spcBef>
                <a:spcPts val="0"/>
              </a:spcBef>
              <a:spcAft>
                <a:spcPts val="0"/>
              </a:spcAft>
              <a:buNone/>
              <a:defRPr sz="600" b="0" i="0">
                <a:solidFill>
                  <a:schemeClr val="dk2"/>
                </a:solidFill>
                <a:latin typeface="Arial"/>
                <a:ea typeface="Arial"/>
                <a:cs typeface="Arial"/>
                <a:sym typeface="Arial"/>
              </a:defRPr>
            </a:lvl5pPr>
            <a:lvl6pPr marL="0" marR="0" lvl="5" indent="0" algn="r" rtl="0">
              <a:spcBef>
                <a:spcPts val="0"/>
              </a:spcBef>
              <a:spcAft>
                <a:spcPts val="0"/>
              </a:spcAft>
              <a:buNone/>
              <a:defRPr sz="600" b="0" i="0">
                <a:solidFill>
                  <a:schemeClr val="dk2"/>
                </a:solidFill>
                <a:latin typeface="Arial"/>
                <a:ea typeface="Arial"/>
                <a:cs typeface="Arial"/>
                <a:sym typeface="Arial"/>
              </a:defRPr>
            </a:lvl6pPr>
            <a:lvl7pPr marL="0" marR="0" lvl="6" indent="0" algn="r" rtl="0">
              <a:spcBef>
                <a:spcPts val="0"/>
              </a:spcBef>
              <a:spcAft>
                <a:spcPts val="0"/>
              </a:spcAft>
              <a:buNone/>
              <a:defRPr sz="600" b="0" i="0">
                <a:solidFill>
                  <a:schemeClr val="dk2"/>
                </a:solidFill>
                <a:latin typeface="Arial"/>
                <a:ea typeface="Arial"/>
                <a:cs typeface="Arial"/>
                <a:sym typeface="Arial"/>
              </a:defRPr>
            </a:lvl7pPr>
            <a:lvl8pPr marL="0" marR="0" lvl="7" indent="0" algn="r" rtl="0">
              <a:spcBef>
                <a:spcPts val="0"/>
              </a:spcBef>
              <a:spcAft>
                <a:spcPts val="0"/>
              </a:spcAft>
              <a:buNone/>
              <a:defRPr sz="600" b="0" i="0">
                <a:solidFill>
                  <a:schemeClr val="dk2"/>
                </a:solidFill>
                <a:latin typeface="Arial"/>
                <a:ea typeface="Arial"/>
                <a:cs typeface="Arial"/>
                <a:sym typeface="Arial"/>
              </a:defRPr>
            </a:lvl8pPr>
            <a:lvl9pPr marL="0" marR="0" lvl="8" indent="0" algn="r" rtl="0">
              <a:spcBef>
                <a:spcPts val="0"/>
              </a:spcBef>
              <a:spcAft>
                <a:spcPts val="0"/>
              </a:spcAft>
              <a:buNone/>
              <a:defRPr sz="600" b="0" i="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4864408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alf Circle">
  <p:cSld name="Half Circle">
    <p:spTree>
      <p:nvGrpSpPr>
        <p:cNvPr id="1" name="Shape 199"/>
        <p:cNvGrpSpPr/>
        <p:nvPr/>
      </p:nvGrpSpPr>
      <p:grpSpPr>
        <a:xfrm>
          <a:off x="0" y="0"/>
          <a:ext cx="0" cy="0"/>
          <a:chOff x="0" y="0"/>
          <a:chExt cx="0" cy="0"/>
        </a:xfrm>
      </p:grpSpPr>
      <p:sp>
        <p:nvSpPr>
          <p:cNvPr id="200" name="Google Shape;200;g2873c01d2f6_2_3113"/>
          <p:cNvSpPr/>
          <p:nvPr/>
        </p:nvSpPr>
        <p:spPr>
          <a:xfrm>
            <a:off x="1" y="0"/>
            <a:ext cx="6084535" cy="6852565"/>
          </a:xfrm>
          <a:custGeom>
            <a:avLst/>
            <a:gdLst/>
            <a:ahLst/>
            <a:cxnLst/>
            <a:rect l="l" t="t" r="r" b="b"/>
            <a:pathLst>
              <a:path w="6084535" h="6852565" extrusionOk="0">
                <a:moveTo>
                  <a:pt x="0" y="0"/>
                </a:moveTo>
                <a:lnTo>
                  <a:pt x="5015113" y="0"/>
                </a:lnTo>
                <a:lnTo>
                  <a:pt x="5051518" y="51194"/>
                </a:lnTo>
                <a:cubicBezTo>
                  <a:pt x="5703711" y="1016567"/>
                  <a:pt x="6084535" y="2180341"/>
                  <a:pt x="6084535" y="3433061"/>
                </a:cubicBezTo>
                <a:cubicBezTo>
                  <a:pt x="6084535" y="4685781"/>
                  <a:pt x="5703711" y="5849555"/>
                  <a:pt x="5051518" y="6814928"/>
                </a:cubicBezTo>
                <a:lnTo>
                  <a:pt x="5024754" y="6852565"/>
                </a:lnTo>
                <a:lnTo>
                  <a:pt x="0" y="6852565"/>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Inter"/>
              <a:buNone/>
            </a:pPr>
            <a:endParaRPr sz="1400" b="0" i="0" u="none" strike="noStrike" cap="none">
              <a:solidFill>
                <a:schemeClr val="lt1"/>
              </a:solidFill>
              <a:latin typeface="Arial"/>
              <a:ea typeface="Arial"/>
              <a:cs typeface="Arial"/>
              <a:sym typeface="Arial"/>
            </a:endParaRPr>
          </a:p>
        </p:txBody>
      </p:sp>
      <p:sp>
        <p:nvSpPr>
          <p:cNvPr id="201" name="Google Shape;201;g2873c01d2f6_2_3113"/>
          <p:cNvSpPr txBox="1">
            <a:spLocks noGrp="1"/>
          </p:cNvSpPr>
          <p:nvPr>
            <p:ph type="title"/>
          </p:nvPr>
        </p:nvSpPr>
        <p:spPr>
          <a:xfrm>
            <a:off x="434341" y="2606040"/>
            <a:ext cx="4004400" cy="10803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3000"/>
              <a:buFont typeface="Inter"/>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2" name="Google Shape;202;g2873c01d2f6_2_3113"/>
          <p:cNvSpPr txBox="1">
            <a:spLocks noGrp="1"/>
          </p:cNvSpPr>
          <p:nvPr>
            <p:ph type="ftr" idx="11"/>
          </p:nvPr>
        </p:nvSpPr>
        <p:spPr>
          <a:xfrm>
            <a:off x="5429250" y="6356350"/>
            <a:ext cx="3886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03" name="Google Shape;203;g2873c01d2f6_2_3113"/>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pic>
        <p:nvPicPr>
          <p:cNvPr id="204" name="Google Shape;204;g2873c01d2f6_2_3113" descr="A picture containing text, clipart&#10;&#10;Description automatically generated"/>
          <p:cNvPicPr preferRelativeResize="0"/>
          <p:nvPr/>
        </p:nvPicPr>
        <p:blipFill rotWithShape="1">
          <a:blip r:embed="rId2">
            <a:alphaModFix/>
          </a:blip>
          <a:srcRect/>
          <a:stretch/>
        </p:blipFill>
        <p:spPr>
          <a:xfrm>
            <a:off x="555384" y="6433602"/>
            <a:ext cx="914400" cy="149846"/>
          </a:xfrm>
          <a:prstGeom prst="rect">
            <a:avLst/>
          </a:prstGeom>
          <a:noFill/>
          <a:ln>
            <a:noFill/>
          </a:ln>
        </p:spPr>
      </p:pic>
    </p:spTree>
    <p:extLst>
      <p:ext uri="{BB962C8B-B14F-4D97-AF65-F5344CB8AC3E}">
        <p14:creationId xmlns:p14="http://schemas.microsoft.com/office/powerpoint/2010/main" val="14964678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White Title">
  <p:cSld name="1_White Title">
    <p:spTree>
      <p:nvGrpSpPr>
        <p:cNvPr id="1" name="Shape 214"/>
        <p:cNvGrpSpPr/>
        <p:nvPr/>
      </p:nvGrpSpPr>
      <p:grpSpPr>
        <a:xfrm>
          <a:off x="0" y="0"/>
          <a:ext cx="0" cy="0"/>
          <a:chOff x="0" y="0"/>
          <a:chExt cx="0" cy="0"/>
        </a:xfrm>
      </p:grpSpPr>
      <p:sp>
        <p:nvSpPr>
          <p:cNvPr id="215" name="Google Shape;215;g2873c01d2f6_2_3128"/>
          <p:cNvSpPr txBox="1">
            <a:spLocks noGrp="1"/>
          </p:cNvSpPr>
          <p:nvPr>
            <p:ph type="title"/>
          </p:nvPr>
        </p:nvSpPr>
        <p:spPr>
          <a:xfrm>
            <a:off x="443864" y="548640"/>
            <a:ext cx="11328900" cy="5079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6" name="Google Shape;216;g2873c01d2f6_2_3128"/>
          <p:cNvSpPr txBox="1">
            <a:spLocks noGrp="1"/>
          </p:cNvSpPr>
          <p:nvPr>
            <p:ph type="ftr" idx="11"/>
          </p:nvPr>
        </p:nvSpPr>
        <p:spPr>
          <a:xfrm>
            <a:off x="1571625" y="6356350"/>
            <a:ext cx="715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17" name="Google Shape;217;g2873c01d2f6_2_3128"/>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1265755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White_Background 1">
  <p:cSld name="White_Background 1">
    <p:spTree>
      <p:nvGrpSpPr>
        <p:cNvPr id="1" name="Shape 221"/>
        <p:cNvGrpSpPr/>
        <p:nvPr/>
      </p:nvGrpSpPr>
      <p:grpSpPr>
        <a:xfrm>
          <a:off x="0" y="0"/>
          <a:ext cx="0" cy="0"/>
          <a:chOff x="0" y="0"/>
          <a:chExt cx="0" cy="0"/>
        </a:xfrm>
      </p:grpSpPr>
      <p:sp>
        <p:nvSpPr>
          <p:cNvPr id="222" name="Google Shape;222;g2873c01d2f6_2_3135"/>
          <p:cNvSpPr txBox="1">
            <a:spLocks noGrp="1"/>
          </p:cNvSpPr>
          <p:nvPr>
            <p:ph type="title"/>
          </p:nvPr>
        </p:nvSpPr>
        <p:spPr>
          <a:xfrm>
            <a:off x="587031" y="475898"/>
            <a:ext cx="7672500" cy="1097100"/>
          </a:xfrm>
          <a:prstGeom prst="rect">
            <a:avLst/>
          </a:prstGeom>
          <a:noFill/>
          <a:ln>
            <a:noFill/>
          </a:ln>
        </p:spPr>
        <p:txBody>
          <a:bodyPr spcFirstLastPara="1" wrap="square" lIns="60950" tIns="60950" rIns="60950" bIns="60950" anchor="t" anchorCtr="0">
            <a:norm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chemeClr val="accent2"/>
                </a:solidFill>
                <a:latin typeface="Arial"/>
                <a:ea typeface="Arial"/>
                <a:cs typeface="Arial"/>
                <a:sym typeface="Arial"/>
              </a:defRPr>
            </a:lvl1pPr>
            <a:lvl2pPr marR="0" lvl="1"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9pPr>
          </a:lstStyle>
          <a:p>
            <a:endParaRPr/>
          </a:p>
        </p:txBody>
      </p:sp>
      <p:sp>
        <p:nvSpPr>
          <p:cNvPr id="223" name="Google Shape;223;g2873c01d2f6_2_3135"/>
          <p:cNvSpPr txBox="1"/>
          <p:nvPr/>
        </p:nvSpPr>
        <p:spPr>
          <a:xfrm rot="-5400000">
            <a:off x="11044697" y="5860500"/>
            <a:ext cx="1834500" cy="160500"/>
          </a:xfrm>
          <a:prstGeom prst="rect">
            <a:avLst/>
          </a:prstGeom>
          <a:noFill/>
          <a:ln>
            <a:noFill/>
          </a:ln>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FFFFFF"/>
              </a:buClr>
              <a:buSzPts val="700"/>
              <a:buFont typeface="Helvetica Neue"/>
              <a:buNone/>
            </a:pPr>
            <a:r>
              <a:rPr lang="en-US" sz="700" b="0" i="0" u="none" strike="noStrike" cap="none">
                <a:solidFill>
                  <a:srgbClr val="999999"/>
                </a:solidFill>
                <a:latin typeface="Helvetica Neue"/>
                <a:ea typeface="Helvetica Neue"/>
                <a:cs typeface="Helvetica Neue"/>
                <a:sym typeface="Helvetica Neue"/>
              </a:rPr>
              <a:t>Talkdesk Proprietary &amp; Confidential</a:t>
            </a:r>
            <a:endParaRPr sz="700" b="0" i="0" u="none" strike="noStrike" cap="none">
              <a:solidFill>
                <a:srgbClr val="999999"/>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6809450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White_Background 2">
  <p:cSld name="White_Background 2">
    <p:spTree>
      <p:nvGrpSpPr>
        <p:cNvPr id="1" name="Shape 224"/>
        <p:cNvGrpSpPr/>
        <p:nvPr/>
      </p:nvGrpSpPr>
      <p:grpSpPr>
        <a:xfrm>
          <a:off x="0" y="0"/>
          <a:ext cx="0" cy="0"/>
          <a:chOff x="0" y="0"/>
          <a:chExt cx="0" cy="0"/>
        </a:xfrm>
      </p:grpSpPr>
      <p:sp>
        <p:nvSpPr>
          <p:cNvPr id="225" name="Google Shape;225;g2873c01d2f6_2_3138"/>
          <p:cNvSpPr txBox="1">
            <a:spLocks noGrp="1"/>
          </p:cNvSpPr>
          <p:nvPr>
            <p:ph type="title"/>
          </p:nvPr>
        </p:nvSpPr>
        <p:spPr>
          <a:xfrm>
            <a:off x="587031" y="475898"/>
            <a:ext cx="7672500" cy="1097100"/>
          </a:xfrm>
          <a:prstGeom prst="rect">
            <a:avLst/>
          </a:prstGeom>
          <a:noFill/>
          <a:ln>
            <a:noFill/>
          </a:ln>
        </p:spPr>
        <p:txBody>
          <a:bodyPr spcFirstLastPara="1" wrap="square" lIns="60950" tIns="60950" rIns="60950" bIns="60950" anchor="t" anchorCtr="0">
            <a:norm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chemeClr val="accent2"/>
                </a:solidFill>
                <a:latin typeface="Arial"/>
                <a:ea typeface="Arial"/>
                <a:cs typeface="Arial"/>
                <a:sym typeface="Arial"/>
              </a:defRPr>
            </a:lvl1pPr>
            <a:lvl2pPr marR="0" lvl="1"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9pPr>
          </a:lstStyle>
          <a:p>
            <a:endParaRPr/>
          </a:p>
        </p:txBody>
      </p:sp>
      <p:sp>
        <p:nvSpPr>
          <p:cNvPr id="226" name="Google Shape;226;g2873c01d2f6_2_3138"/>
          <p:cNvSpPr txBox="1"/>
          <p:nvPr/>
        </p:nvSpPr>
        <p:spPr>
          <a:xfrm rot="-5400000">
            <a:off x="11044697" y="5860500"/>
            <a:ext cx="1834500" cy="160500"/>
          </a:xfrm>
          <a:prstGeom prst="rect">
            <a:avLst/>
          </a:prstGeom>
          <a:noFill/>
          <a:ln>
            <a:noFill/>
          </a:ln>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FFFFFF"/>
              </a:buClr>
              <a:buSzPts val="700"/>
              <a:buFont typeface="Helvetica Neue"/>
              <a:buNone/>
            </a:pPr>
            <a:r>
              <a:rPr lang="en-US" sz="700" b="0" i="0" u="none" strike="noStrike" cap="none">
                <a:solidFill>
                  <a:srgbClr val="999999"/>
                </a:solidFill>
                <a:latin typeface="Helvetica Neue"/>
                <a:ea typeface="Helvetica Neue"/>
                <a:cs typeface="Helvetica Neue"/>
                <a:sym typeface="Helvetica Neue"/>
              </a:rPr>
              <a:t>Talkdesk Proprietary &amp; Confidential</a:t>
            </a:r>
            <a:endParaRPr sz="700" b="0" i="0" u="none" strike="noStrike" cap="none">
              <a:solidFill>
                <a:srgbClr val="999999"/>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39998259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56. Blank w/ Footer Info (deep purple) 1">
  <p:cSld name="56. Blank w/ Footer Info (deep purple) 1">
    <p:bg>
      <p:bgPr>
        <a:solidFill>
          <a:schemeClr val="dk1"/>
        </a:solidFill>
        <a:effectLst/>
      </p:bgPr>
    </p:bg>
    <p:spTree>
      <p:nvGrpSpPr>
        <p:cNvPr id="1" name="Shape 259"/>
        <p:cNvGrpSpPr/>
        <p:nvPr/>
      </p:nvGrpSpPr>
      <p:grpSpPr>
        <a:xfrm>
          <a:off x="0" y="0"/>
          <a:ext cx="0" cy="0"/>
          <a:chOff x="0" y="0"/>
          <a:chExt cx="0" cy="0"/>
        </a:xfrm>
      </p:grpSpPr>
      <p:pic>
        <p:nvPicPr>
          <p:cNvPr id="260" name="Google Shape;260;g2873c01d2f6_2_3173"/>
          <p:cNvPicPr preferRelativeResize="0"/>
          <p:nvPr/>
        </p:nvPicPr>
        <p:blipFill rotWithShape="1">
          <a:blip r:embed="rId2">
            <a:alphaModFix/>
          </a:blip>
          <a:srcRect/>
          <a:stretch/>
        </p:blipFill>
        <p:spPr>
          <a:xfrm>
            <a:off x="579120" y="6476920"/>
            <a:ext cx="853438" cy="138584"/>
          </a:xfrm>
          <a:prstGeom prst="rect">
            <a:avLst/>
          </a:prstGeom>
          <a:noFill/>
          <a:ln>
            <a:noFill/>
          </a:ln>
        </p:spPr>
      </p:pic>
    </p:spTree>
    <p:extLst>
      <p:ext uri="{BB962C8B-B14F-4D97-AF65-F5344CB8AC3E}">
        <p14:creationId xmlns:p14="http://schemas.microsoft.com/office/powerpoint/2010/main" val="170278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Dark Purple Blank">
  <p:cSld name="Dark Purple Blank">
    <p:bg>
      <p:bgPr>
        <a:solidFill>
          <a:schemeClr val="dk1"/>
        </a:solidFill>
        <a:effectLst/>
      </p:bgPr>
    </p:bg>
    <p:spTree>
      <p:nvGrpSpPr>
        <p:cNvPr id="1" name="Shape 270"/>
        <p:cNvGrpSpPr/>
        <p:nvPr/>
      </p:nvGrpSpPr>
      <p:grpSpPr>
        <a:xfrm>
          <a:off x="0" y="0"/>
          <a:ext cx="0" cy="0"/>
          <a:chOff x="0" y="0"/>
          <a:chExt cx="0" cy="0"/>
        </a:xfrm>
      </p:grpSpPr>
      <p:sp>
        <p:nvSpPr>
          <p:cNvPr id="271" name="Google Shape;271;g2873c01d2f6_2_3184"/>
          <p:cNvSpPr txBox="1">
            <a:spLocks noGrp="1"/>
          </p:cNvSpPr>
          <p:nvPr>
            <p:ph type="ftr" idx="11"/>
          </p:nvPr>
        </p:nvSpPr>
        <p:spPr>
          <a:xfrm>
            <a:off x="1571625" y="6356350"/>
            <a:ext cx="715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72" name="Google Shape;272;g2873c01d2f6_2_3184"/>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pic>
        <p:nvPicPr>
          <p:cNvPr id="273" name="Google Shape;273;g2873c01d2f6_2_3184" descr="A picture containing text, clipart&#10;&#10;Description automatically generated"/>
          <p:cNvPicPr preferRelativeResize="0"/>
          <p:nvPr/>
        </p:nvPicPr>
        <p:blipFill rotWithShape="1">
          <a:blip r:embed="rId2">
            <a:alphaModFix/>
          </a:blip>
          <a:srcRect/>
          <a:stretch/>
        </p:blipFill>
        <p:spPr>
          <a:xfrm>
            <a:off x="555384" y="6433602"/>
            <a:ext cx="914400" cy="149846"/>
          </a:xfrm>
          <a:prstGeom prst="rect">
            <a:avLst/>
          </a:prstGeom>
          <a:noFill/>
          <a:ln>
            <a:noFill/>
          </a:ln>
        </p:spPr>
      </p:pic>
      <p:sp>
        <p:nvSpPr>
          <p:cNvPr id="274" name="Google Shape;274;g2873c01d2f6_2_3184"/>
          <p:cNvSpPr txBox="1"/>
          <p:nvPr/>
        </p:nvSpPr>
        <p:spPr>
          <a:xfrm>
            <a:off x="8545050" y="6459802"/>
            <a:ext cx="2751600" cy="2406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000"/>
              <a:buFont typeface="Helvetica Neue"/>
              <a:buNone/>
            </a:pPr>
            <a:r>
              <a:rPr lang="en-US" sz="700" b="0" i="0" u="none" strike="noStrike" cap="none">
                <a:solidFill>
                  <a:schemeClr val="dk2"/>
                </a:solidFill>
                <a:latin typeface="Inter"/>
                <a:ea typeface="Inter"/>
                <a:cs typeface="Inter"/>
                <a:sym typeface="Inter"/>
              </a:rPr>
              <a:t>TALKDESK PROPRIETARY &amp; CONFIDENTIAL</a:t>
            </a:r>
            <a:endParaRPr sz="700" b="0" i="0" u="none" strike="noStrike" cap="none">
              <a:solidFill>
                <a:schemeClr val="dk2"/>
              </a:solidFill>
              <a:latin typeface="Inter"/>
              <a:ea typeface="Inter"/>
              <a:cs typeface="Inter"/>
              <a:sym typeface="Inter"/>
            </a:endParaRPr>
          </a:p>
        </p:txBody>
      </p:sp>
    </p:spTree>
    <p:extLst>
      <p:ext uri="{BB962C8B-B14F-4D97-AF65-F5344CB8AC3E}">
        <p14:creationId xmlns:p14="http://schemas.microsoft.com/office/powerpoint/2010/main" val="251011719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Report + Imag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6" y="1539552"/>
            <a:ext cx="8065025" cy="4769769"/>
          </a:xfrm>
          <a:prstGeom prst="roundRect">
            <a:avLst>
              <a:gd name="adj" fmla="val 938"/>
            </a:avLst>
          </a:prstGeom>
        </p:spPr>
        <p:txBody>
          <a:bodyPr/>
          <a:lstStyle/>
          <a:p>
            <a:r>
              <a:rPr lang="es-ES" err="1"/>
              <a:t>Click</a:t>
            </a:r>
            <a:r>
              <a:rPr lang="es-ES"/>
              <a:t> </a:t>
            </a:r>
            <a:r>
              <a:rPr lang="es-ES" err="1"/>
              <a:t>here</a:t>
            </a:r>
            <a:r>
              <a:rPr lang="es-ES"/>
              <a:t> </a:t>
            </a:r>
            <a:r>
              <a:rPr lang="es-ES" err="1"/>
              <a:t>to</a:t>
            </a:r>
            <a:r>
              <a:rPr lang="es-ES"/>
              <a:t> </a:t>
            </a:r>
            <a:r>
              <a:rPr lang="es-ES" err="1"/>
              <a:t>add</a:t>
            </a:r>
            <a:r>
              <a:rPr lang="es-ES"/>
              <a:t> </a:t>
            </a:r>
            <a:r>
              <a:rPr lang="es-ES" err="1"/>
              <a:t>image</a:t>
            </a:r>
            <a:endParaRPr lang="es-ES_tradnl"/>
          </a:p>
        </p:txBody>
      </p:sp>
      <p:sp>
        <p:nvSpPr>
          <p:cNvPr id="11" name="Marcador de número de diapositiva 5">
            <a:extLst>
              <a:ext uri="{FF2B5EF4-FFF2-40B4-BE49-F238E27FC236}">
                <a16:creationId xmlns:a16="http://schemas.microsoft.com/office/drawing/2014/main" id="{13EEDF33-A1D8-F41B-CC18-CBD09C41419B}"/>
              </a:ext>
            </a:extLst>
          </p:cNvPr>
          <p:cNvSpPr>
            <a:spLocks noGrp="1"/>
          </p:cNvSpPr>
          <p:nvPr>
            <p:ph type="sldNum" sz="quarter" idx="4"/>
          </p:nvPr>
        </p:nvSpPr>
        <p:spPr>
          <a:xfrm>
            <a:off x="11164832" y="6453337"/>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s-ES" smtClean="0"/>
              <a:pPr/>
              <a:t>‹nº›</a:t>
            </a:fld>
            <a:endParaRPr lang="es-ES"/>
          </a:p>
        </p:txBody>
      </p:sp>
      <p:sp>
        <p:nvSpPr>
          <p:cNvPr id="2" name="Marcador de texto 2">
            <a:extLst>
              <a:ext uri="{FF2B5EF4-FFF2-40B4-BE49-F238E27FC236}">
                <a16:creationId xmlns:a16="http://schemas.microsoft.com/office/drawing/2014/main" id="{5C377FDF-622D-66EE-7059-500B01D9C5B2}"/>
              </a:ext>
            </a:extLst>
          </p:cNvPr>
          <p:cNvSpPr>
            <a:spLocks noGrp="1"/>
          </p:cNvSpPr>
          <p:nvPr>
            <p:ph type="body" sz="quarter" idx="19" hasCustomPrompt="1"/>
          </p:nvPr>
        </p:nvSpPr>
        <p:spPr>
          <a:xfrm>
            <a:off x="407221" y="1539552"/>
            <a:ext cx="3006127" cy="333699"/>
          </a:xfrm>
          <a:prstGeom prst="rect">
            <a:avLst/>
          </a:prstGeom>
        </p:spPr>
        <p:txBody>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_tradnl" err="1"/>
              <a:t>Click</a:t>
            </a:r>
            <a:r>
              <a:rPr lang="es-ES_tradnl"/>
              <a:t> </a:t>
            </a:r>
            <a:r>
              <a:rPr lang="es-ES_tradnl" err="1"/>
              <a:t>here</a:t>
            </a:r>
            <a:r>
              <a:rPr lang="es-ES_tradnl"/>
              <a:t> </a:t>
            </a:r>
            <a:r>
              <a:rPr lang="es-ES_tradnl" err="1"/>
              <a:t>to</a:t>
            </a:r>
            <a:r>
              <a:rPr lang="es-ES_tradnl"/>
              <a:t> </a:t>
            </a:r>
            <a:r>
              <a:rPr lang="es-ES_tradnl" err="1"/>
              <a:t>add</a:t>
            </a:r>
            <a:r>
              <a:rPr lang="es-ES_tradnl"/>
              <a:t> </a:t>
            </a:r>
            <a:r>
              <a:rPr lang="es-ES_tradnl" err="1"/>
              <a:t>your</a:t>
            </a:r>
            <a:r>
              <a:rPr lang="es-ES_tradnl"/>
              <a:t> </a:t>
            </a:r>
            <a:r>
              <a:rPr lang="es-ES_tradnl" err="1"/>
              <a:t>Section</a:t>
            </a:r>
            <a:r>
              <a:rPr lang="es-ES_tradnl"/>
              <a:t> </a:t>
            </a:r>
            <a:r>
              <a:rPr lang="es-ES_tradnl" err="1"/>
              <a:t>Subtitle</a:t>
            </a:r>
            <a:endParaRPr lang="es-ES_tradnl"/>
          </a:p>
        </p:txBody>
      </p:sp>
      <p:sp>
        <p:nvSpPr>
          <p:cNvPr id="4" name="Marcador de texto 3">
            <a:extLst>
              <a:ext uri="{FF2B5EF4-FFF2-40B4-BE49-F238E27FC236}">
                <a16:creationId xmlns:a16="http://schemas.microsoft.com/office/drawing/2014/main" id="{8D0023B0-0850-55B8-BD3A-D35A6857F9FA}"/>
              </a:ext>
            </a:extLst>
          </p:cNvPr>
          <p:cNvSpPr>
            <a:spLocks noGrp="1"/>
          </p:cNvSpPr>
          <p:nvPr>
            <p:ph type="body" sz="quarter" idx="20" hasCustomPrompt="1"/>
          </p:nvPr>
        </p:nvSpPr>
        <p:spPr>
          <a:xfrm>
            <a:off x="407221" y="2776538"/>
            <a:ext cx="3006127" cy="3532982"/>
          </a:xfrm>
          <a:prstGeom prst="rect">
            <a:avLst/>
          </a:prstGeom>
        </p:spPr>
        <p:txBody>
          <a:bodyPr/>
          <a:lstStyle>
            <a:lvl1pPr>
              <a:defRPr>
                <a:solidFill>
                  <a:srgbClr val="000000"/>
                </a:solidFill>
                <a:latin typeface="+mn-lt"/>
              </a:defRPr>
            </a:lvl1pPr>
          </a:lstStyle>
          <a:p>
            <a:r>
              <a:rPr lang="en-US"/>
              <a:t>Click here to add text</a:t>
            </a:r>
          </a:p>
        </p:txBody>
      </p:sp>
      <p:sp>
        <p:nvSpPr>
          <p:cNvPr id="9" name="Title 8">
            <a:extLst>
              <a:ext uri="{FF2B5EF4-FFF2-40B4-BE49-F238E27FC236}">
                <a16:creationId xmlns:a16="http://schemas.microsoft.com/office/drawing/2014/main" id="{88919088-715E-AD9B-617E-EF6832F84028}"/>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n-US"/>
              <a:t>Click here to add title</a:t>
            </a:r>
          </a:p>
        </p:txBody>
      </p:sp>
      <p:sp>
        <p:nvSpPr>
          <p:cNvPr id="6" name="Marcador de texto 4">
            <a:extLst>
              <a:ext uri="{FF2B5EF4-FFF2-40B4-BE49-F238E27FC236}">
                <a16:creationId xmlns:a16="http://schemas.microsoft.com/office/drawing/2014/main" id="{C2D8084F-62F5-BD09-E04E-124FA9DA692C}"/>
              </a:ext>
            </a:extLst>
          </p:cNvPr>
          <p:cNvSpPr>
            <a:spLocks noGrp="1"/>
          </p:cNvSpPr>
          <p:nvPr>
            <p:ph type="body" sz="quarter" idx="22"/>
          </p:nvPr>
        </p:nvSpPr>
        <p:spPr>
          <a:xfrm>
            <a:off x="407221" y="830919"/>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52D87967-BFF8-E2C1-554F-6470FDB1C1E5}"/>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cxnSp>
        <p:nvCxnSpPr>
          <p:cNvPr id="10" name="Conector recto 9">
            <a:extLst>
              <a:ext uri="{FF2B5EF4-FFF2-40B4-BE49-F238E27FC236}">
                <a16:creationId xmlns:a16="http://schemas.microsoft.com/office/drawing/2014/main" id="{9843C3CA-40FC-84FF-141A-D25EB7460BCC}"/>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7E8B1A4B-052E-C6E8-D64C-B7DFC4CABAB7}"/>
              </a:ext>
            </a:extLst>
          </p:cNvPr>
          <p:cNvGrpSpPr/>
          <p:nvPr userDrawn="1"/>
        </p:nvGrpSpPr>
        <p:grpSpPr>
          <a:xfrm>
            <a:off x="10646562" y="245834"/>
            <a:ext cx="1252193" cy="605697"/>
            <a:chOff x="3448376" y="5563089"/>
            <a:chExt cx="5306948" cy="2567186"/>
          </a:xfrm>
        </p:grpSpPr>
        <p:sp>
          <p:nvSpPr>
            <p:cNvPr id="5" name="Forma libre 163">
              <a:extLst>
                <a:ext uri="{FF2B5EF4-FFF2-40B4-BE49-F238E27FC236}">
                  <a16:creationId xmlns:a16="http://schemas.microsoft.com/office/drawing/2014/main" id="{B133BA64-DA19-8EB5-1396-084CC98C8370}"/>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969F866B-AACF-771D-9B4C-6964E46B33EF}"/>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5CF5A54E-6EAA-1CD2-F491-0E4CA923851B}"/>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6">
              <a:extLst>
                <a:ext uri="{FF2B5EF4-FFF2-40B4-BE49-F238E27FC236}">
                  <a16:creationId xmlns:a16="http://schemas.microsoft.com/office/drawing/2014/main" id="{EA118F21-96DB-79F4-6A89-410CFEE21006}"/>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8" name="Forma libre 167">
              <a:extLst>
                <a:ext uri="{FF2B5EF4-FFF2-40B4-BE49-F238E27FC236}">
                  <a16:creationId xmlns:a16="http://schemas.microsoft.com/office/drawing/2014/main" id="{D4EDBE7A-245A-36BC-452A-44F3AB674E5D}"/>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68">
              <a:extLst>
                <a:ext uri="{FF2B5EF4-FFF2-40B4-BE49-F238E27FC236}">
                  <a16:creationId xmlns:a16="http://schemas.microsoft.com/office/drawing/2014/main" id="{AAD83122-995D-22E8-BCCD-109CD631C815}"/>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69">
              <a:extLst>
                <a:ext uri="{FF2B5EF4-FFF2-40B4-BE49-F238E27FC236}">
                  <a16:creationId xmlns:a16="http://schemas.microsoft.com/office/drawing/2014/main" id="{370A40C1-F2D0-F92F-567B-2562CB6F3DB6}"/>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31" name="Forma libre 170">
              <a:extLst>
                <a:ext uri="{FF2B5EF4-FFF2-40B4-BE49-F238E27FC236}">
                  <a16:creationId xmlns:a16="http://schemas.microsoft.com/office/drawing/2014/main" id="{E452FDE1-C8B4-3994-BA56-4C626BB97329}"/>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32" name="Forma libre 171">
              <a:extLst>
                <a:ext uri="{FF2B5EF4-FFF2-40B4-BE49-F238E27FC236}">
                  <a16:creationId xmlns:a16="http://schemas.microsoft.com/office/drawing/2014/main" id="{B641B2ED-561D-FF05-ABA3-06427F5BEEA3}"/>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2">
              <a:extLst>
                <a:ext uri="{FF2B5EF4-FFF2-40B4-BE49-F238E27FC236}">
                  <a16:creationId xmlns:a16="http://schemas.microsoft.com/office/drawing/2014/main" id="{F97D6CFB-80FC-5FEE-63CE-92FF0CB8006D}"/>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4" name="Forma libre 173">
              <a:extLst>
                <a:ext uri="{FF2B5EF4-FFF2-40B4-BE49-F238E27FC236}">
                  <a16:creationId xmlns:a16="http://schemas.microsoft.com/office/drawing/2014/main" id="{B0C535A3-28B7-6E6D-92A9-4A5637631E2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5" name="Forma libre 174">
              <a:extLst>
                <a:ext uri="{FF2B5EF4-FFF2-40B4-BE49-F238E27FC236}">
                  <a16:creationId xmlns:a16="http://schemas.microsoft.com/office/drawing/2014/main" id="{DF4FF307-8CA7-63C0-A942-87D4E760651D}"/>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5">
              <a:extLst>
                <a:ext uri="{FF2B5EF4-FFF2-40B4-BE49-F238E27FC236}">
                  <a16:creationId xmlns:a16="http://schemas.microsoft.com/office/drawing/2014/main" id="{ECF9ED81-3F00-6592-C60F-12624859E562}"/>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7" name="Forma libre 176">
              <a:extLst>
                <a:ext uri="{FF2B5EF4-FFF2-40B4-BE49-F238E27FC236}">
                  <a16:creationId xmlns:a16="http://schemas.microsoft.com/office/drawing/2014/main" id="{4473105F-6875-7965-5804-8B868F3319BB}"/>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8" name="Forma libre 177">
              <a:extLst>
                <a:ext uri="{FF2B5EF4-FFF2-40B4-BE49-F238E27FC236}">
                  <a16:creationId xmlns:a16="http://schemas.microsoft.com/office/drawing/2014/main" id="{63F04C00-F257-3317-C7F1-AEDEC8B94C14}"/>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78">
              <a:extLst>
                <a:ext uri="{FF2B5EF4-FFF2-40B4-BE49-F238E27FC236}">
                  <a16:creationId xmlns:a16="http://schemas.microsoft.com/office/drawing/2014/main" id="{C97AA9D4-482D-D1FC-E971-5E2F1DCC44D0}"/>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79">
              <a:extLst>
                <a:ext uri="{FF2B5EF4-FFF2-40B4-BE49-F238E27FC236}">
                  <a16:creationId xmlns:a16="http://schemas.microsoft.com/office/drawing/2014/main" id="{CDD7929E-BCA7-2D28-FE02-3B0C346957F3}"/>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0">
              <a:extLst>
                <a:ext uri="{FF2B5EF4-FFF2-40B4-BE49-F238E27FC236}">
                  <a16:creationId xmlns:a16="http://schemas.microsoft.com/office/drawing/2014/main" id="{B45551EE-1B39-9DAB-AEFD-7F8500E1EB83}"/>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1">
              <a:extLst>
                <a:ext uri="{FF2B5EF4-FFF2-40B4-BE49-F238E27FC236}">
                  <a16:creationId xmlns:a16="http://schemas.microsoft.com/office/drawing/2014/main" id="{5640CAEE-263D-8C18-91BF-37798CC88187}"/>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3" name="Forma libre 182">
              <a:extLst>
                <a:ext uri="{FF2B5EF4-FFF2-40B4-BE49-F238E27FC236}">
                  <a16:creationId xmlns:a16="http://schemas.microsoft.com/office/drawing/2014/main" id="{D674B3BB-DDE2-8930-CD4B-E8E04A3C7CA8}"/>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3">
              <a:extLst>
                <a:ext uri="{FF2B5EF4-FFF2-40B4-BE49-F238E27FC236}">
                  <a16:creationId xmlns:a16="http://schemas.microsoft.com/office/drawing/2014/main" id="{FEF4490C-802F-BE09-BC8F-A693BF21F5E8}"/>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4">
              <a:extLst>
                <a:ext uri="{FF2B5EF4-FFF2-40B4-BE49-F238E27FC236}">
                  <a16:creationId xmlns:a16="http://schemas.microsoft.com/office/drawing/2014/main" id="{DDC8C2AC-DD69-DDF8-F8A9-073D73B8D2A4}"/>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6" name="Forma libre 185">
              <a:extLst>
                <a:ext uri="{FF2B5EF4-FFF2-40B4-BE49-F238E27FC236}">
                  <a16:creationId xmlns:a16="http://schemas.microsoft.com/office/drawing/2014/main" id="{CF4FAD9E-2B54-EE67-51B6-8A346243C932}"/>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6">
              <a:extLst>
                <a:ext uri="{FF2B5EF4-FFF2-40B4-BE49-F238E27FC236}">
                  <a16:creationId xmlns:a16="http://schemas.microsoft.com/office/drawing/2014/main" id="{DF668E3E-2418-B52E-4712-5A7C4E816089}"/>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87">
              <a:extLst>
                <a:ext uri="{FF2B5EF4-FFF2-40B4-BE49-F238E27FC236}">
                  <a16:creationId xmlns:a16="http://schemas.microsoft.com/office/drawing/2014/main" id="{0AED8698-F7C8-8C08-7126-2B4C215B9EF5}"/>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88">
              <a:extLst>
                <a:ext uri="{FF2B5EF4-FFF2-40B4-BE49-F238E27FC236}">
                  <a16:creationId xmlns:a16="http://schemas.microsoft.com/office/drawing/2014/main" id="{4D9C1108-006C-C501-64DE-B1CE65D0203D}"/>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50" name="Forma libre 189">
              <a:extLst>
                <a:ext uri="{FF2B5EF4-FFF2-40B4-BE49-F238E27FC236}">
                  <a16:creationId xmlns:a16="http://schemas.microsoft.com/office/drawing/2014/main" id="{D08E75ED-560C-161B-CED0-A04A35A6B155}"/>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0">
              <a:extLst>
                <a:ext uri="{FF2B5EF4-FFF2-40B4-BE49-F238E27FC236}">
                  <a16:creationId xmlns:a16="http://schemas.microsoft.com/office/drawing/2014/main" id="{D5F46EBE-84EF-D398-8E48-570DB3C838C8}"/>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1">
              <a:extLst>
                <a:ext uri="{FF2B5EF4-FFF2-40B4-BE49-F238E27FC236}">
                  <a16:creationId xmlns:a16="http://schemas.microsoft.com/office/drawing/2014/main" id="{AC7C16C5-D76A-95FD-4DEA-9641A1412441}"/>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2">
              <a:extLst>
                <a:ext uri="{FF2B5EF4-FFF2-40B4-BE49-F238E27FC236}">
                  <a16:creationId xmlns:a16="http://schemas.microsoft.com/office/drawing/2014/main" id="{2E7FA883-9259-B356-46B3-EF545F5FC174}"/>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3">
              <a:extLst>
                <a:ext uri="{FF2B5EF4-FFF2-40B4-BE49-F238E27FC236}">
                  <a16:creationId xmlns:a16="http://schemas.microsoft.com/office/drawing/2014/main" id="{CFA01631-95A4-B717-69BE-21C0511F988C}"/>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4">
              <a:extLst>
                <a:ext uri="{FF2B5EF4-FFF2-40B4-BE49-F238E27FC236}">
                  <a16:creationId xmlns:a16="http://schemas.microsoft.com/office/drawing/2014/main" id="{97B973BC-49A6-697F-0355-749F5ABBD61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5">
              <a:extLst>
                <a:ext uri="{FF2B5EF4-FFF2-40B4-BE49-F238E27FC236}">
                  <a16:creationId xmlns:a16="http://schemas.microsoft.com/office/drawing/2014/main" id="{7041B520-7037-2FF1-3119-DC4F83491E11}"/>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6">
              <a:extLst>
                <a:ext uri="{FF2B5EF4-FFF2-40B4-BE49-F238E27FC236}">
                  <a16:creationId xmlns:a16="http://schemas.microsoft.com/office/drawing/2014/main" id="{9942D261-26E7-134E-D154-8C2075578C9E}"/>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197">
              <a:extLst>
                <a:ext uri="{FF2B5EF4-FFF2-40B4-BE49-F238E27FC236}">
                  <a16:creationId xmlns:a16="http://schemas.microsoft.com/office/drawing/2014/main" id="{9EB19153-CDF4-1216-E76B-CBD3E60159A7}"/>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9" name="Forma libre 198">
              <a:extLst>
                <a:ext uri="{FF2B5EF4-FFF2-40B4-BE49-F238E27FC236}">
                  <a16:creationId xmlns:a16="http://schemas.microsoft.com/office/drawing/2014/main" id="{FCC6022E-D658-7741-277A-9CC292570EC4}"/>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60" name="Forma libre 199">
              <a:extLst>
                <a:ext uri="{FF2B5EF4-FFF2-40B4-BE49-F238E27FC236}">
                  <a16:creationId xmlns:a16="http://schemas.microsoft.com/office/drawing/2014/main" id="{1B659557-4E59-EE25-78C1-63C4C64B3C6A}"/>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61" name="Forma libre 200">
              <a:extLst>
                <a:ext uri="{FF2B5EF4-FFF2-40B4-BE49-F238E27FC236}">
                  <a16:creationId xmlns:a16="http://schemas.microsoft.com/office/drawing/2014/main" id="{35C6779F-F75D-DE02-7DAD-043DCFA69C8D}"/>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62" name="Forma libre 201">
              <a:extLst>
                <a:ext uri="{FF2B5EF4-FFF2-40B4-BE49-F238E27FC236}">
                  <a16:creationId xmlns:a16="http://schemas.microsoft.com/office/drawing/2014/main" id="{8967554B-0C65-EC6E-71D0-9EFA750427F0}"/>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sp>
        <p:nvSpPr>
          <p:cNvPr id="15" name="Rectángulo 14">
            <a:extLst>
              <a:ext uri="{FF2B5EF4-FFF2-40B4-BE49-F238E27FC236}">
                <a16:creationId xmlns:a16="http://schemas.microsoft.com/office/drawing/2014/main" id="{9300B67A-9186-5A91-4B73-17CBFE01D3CD}"/>
              </a:ext>
            </a:extLst>
          </p:cNvPr>
          <p:cNvSpPr/>
          <p:nvPr userDrawn="1"/>
        </p:nvSpPr>
        <p:spPr>
          <a:xfrm>
            <a:off x="-718674" y="269539"/>
            <a:ext cx="624548" cy="35500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902400EC-FC28-291A-1147-B392D80499CD}"/>
              </a:ext>
            </a:extLst>
          </p:cNvPr>
          <p:cNvSpPr/>
          <p:nvPr userDrawn="1"/>
        </p:nvSpPr>
        <p:spPr>
          <a:xfrm>
            <a:off x="-718674" y="677390"/>
            <a:ext cx="624548" cy="35500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16">
            <a:extLst>
              <a:ext uri="{FF2B5EF4-FFF2-40B4-BE49-F238E27FC236}">
                <a16:creationId xmlns:a16="http://schemas.microsoft.com/office/drawing/2014/main" id="{80DA4EB8-FBEB-8406-60A4-12E563037658}"/>
              </a:ext>
            </a:extLst>
          </p:cNvPr>
          <p:cNvSpPr/>
          <p:nvPr userDrawn="1"/>
        </p:nvSpPr>
        <p:spPr>
          <a:xfrm>
            <a:off x="-718674" y="1085241"/>
            <a:ext cx="624548" cy="35500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E04246DC-FE19-B532-B868-CD2AB17DCFE1}"/>
              </a:ext>
            </a:extLst>
          </p:cNvPr>
          <p:cNvSpPr/>
          <p:nvPr userDrawn="1"/>
        </p:nvSpPr>
        <p:spPr>
          <a:xfrm>
            <a:off x="-718674" y="1493092"/>
            <a:ext cx="624548" cy="355003"/>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18">
            <a:extLst>
              <a:ext uri="{FF2B5EF4-FFF2-40B4-BE49-F238E27FC236}">
                <a16:creationId xmlns:a16="http://schemas.microsoft.com/office/drawing/2014/main" id="{4D60D52E-36C3-7FDD-0178-7286D4EEAC2B}"/>
              </a:ext>
            </a:extLst>
          </p:cNvPr>
          <p:cNvSpPr/>
          <p:nvPr userDrawn="1"/>
        </p:nvSpPr>
        <p:spPr>
          <a:xfrm>
            <a:off x="-718674" y="1900943"/>
            <a:ext cx="624548" cy="35500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6E48370E-BF8A-A811-8ACE-9E7FC10BC937}"/>
              </a:ext>
            </a:extLst>
          </p:cNvPr>
          <p:cNvSpPr/>
          <p:nvPr userDrawn="1"/>
        </p:nvSpPr>
        <p:spPr>
          <a:xfrm>
            <a:off x="-718674" y="2308794"/>
            <a:ext cx="624548" cy="355003"/>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a16="http://schemas.microsoft.com/office/drawing/2014/main" id="{1606481A-9EB4-FCA5-90F8-722461EBA84B}"/>
              </a:ext>
            </a:extLst>
          </p:cNvPr>
          <p:cNvSpPr/>
          <p:nvPr userDrawn="1"/>
        </p:nvSpPr>
        <p:spPr>
          <a:xfrm>
            <a:off x="-718674" y="2716645"/>
            <a:ext cx="624548" cy="35500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FDB2FFD3-DD99-4DD2-C6B3-16C202261049}"/>
              </a:ext>
            </a:extLst>
          </p:cNvPr>
          <p:cNvSpPr/>
          <p:nvPr userDrawn="1"/>
        </p:nvSpPr>
        <p:spPr>
          <a:xfrm>
            <a:off x="-718674" y="3124499"/>
            <a:ext cx="624548" cy="355003"/>
          </a:xfrm>
          <a:prstGeom prst="rect">
            <a:avLst/>
          </a:prstGeom>
          <a:solidFill>
            <a:schemeClr val="tx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4" name="Imagen 3">
            <a:extLst>
              <a:ext uri="{FF2B5EF4-FFF2-40B4-BE49-F238E27FC236}">
                <a16:creationId xmlns:a16="http://schemas.microsoft.com/office/drawing/2014/main" id="{EB13A456-3FEC-AF8A-EE60-D2A8882EB181}"/>
              </a:ext>
            </a:extLst>
          </p:cNvPr>
          <p:cNvPicPr>
            <a:picLocks noChangeAspect="1"/>
          </p:cNvPicPr>
          <p:nvPr userDrawn="1"/>
        </p:nvPicPr>
        <p:blipFill>
          <a:blip r:embed="rId2">
            <a:clrChange>
              <a:clrFrom>
                <a:srgbClr val="FEFEFE"/>
              </a:clrFrom>
              <a:clrTo>
                <a:srgbClr val="FEFEFE">
                  <a:alpha val="0"/>
                </a:srgbClr>
              </a:clrTo>
            </a:clrChange>
          </a:blip>
          <a:srcRect l="6780" t="9432" r="9846" b="28432"/>
          <a:stretch>
            <a:fillRect/>
          </a:stretch>
        </p:blipFill>
        <p:spPr>
          <a:xfrm>
            <a:off x="9808886" y="331841"/>
            <a:ext cx="791126" cy="393595"/>
          </a:xfrm>
          <a:prstGeom prst="rect">
            <a:avLst/>
          </a:prstGeom>
          <a:solidFill>
            <a:schemeClr val="bg1"/>
          </a:solidFill>
        </p:spPr>
      </p:pic>
    </p:spTree>
    <p:extLst>
      <p:ext uri="{BB962C8B-B14F-4D97-AF65-F5344CB8AC3E}">
        <p14:creationId xmlns:p14="http://schemas.microsoft.com/office/powerpoint/2010/main" val="776144007"/>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Report">
    <p:bg>
      <p:bgRef idx="1001">
        <a:schemeClr val="bg1"/>
      </p:bgRef>
    </p:bg>
    <p:spTree>
      <p:nvGrpSpPr>
        <p:cNvPr id="1" name=""/>
        <p:cNvGrpSpPr/>
        <p:nvPr/>
      </p:nvGrpSpPr>
      <p:grpSpPr>
        <a:xfrm>
          <a:off x="0" y="0"/>
          <a:ext cx="0" cy="0"/>
          <a:chOff x="0" y="0"/>
          <a:chExt cx="0" cy="0"/>
        </a:xfrm>
      </p:grpSpPr>
      <p:sp>
        <p:nvSpPr>
          <p:cNvPr id="6" name="Marcador de texto 4">
            <a:extLst>
              <a:ext uri="{FF2B5EF4-FFF2-40B4-BE49-F238E27FC236}">
                <a16:creationId xmlns:a16="http://schemas.microsoft.com/office/drawing/2014/main" id="{513E6C0B-DAE7-E859-4224-2E49972A5012}"/>
              </a:ext>
            </a:extLst>
          </p:cNvPr>
          <p:cNvSpPr>
            <a:spLocks noGrp="1"/>
          </p:cNvSpPr>
          <p:nvPr>
            <p:ph type="body" sz="quarter" idx="22"/>
          </p:nvPr>
        </p:nvSpPr>
        <p:spPr>
          <a:xfrm>
            <a:off x="407220" y="830918"/>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EFFC43A6-B6C3-35B5-ACC0-4C487F5C7044}"/>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sp>
        <p:nvSpPr>
          <p:cNvPr id="10" name="Marcador de número de diapositiva 2">
            <a:extLst>
              <a:ext uri="{FF2B5EF4-FFF2-40B4-BE49-F238E27FC236}">
                <a16:creationId xmlns:a16="http://schemas.microsoft.com/office/drawing/2014/main" id="{188A71E0-8ADE-18B3-B8A8-47DA36AF4261}"/>
              </a:ext>
            </a:extLst>
          </p:cNvPr>
          <p:cNvSpPr>
            <a:spLocks noGrp="1"/>
          </p:cNvSpPr>
          <p:nvPr>
            <p:ph type="sldNum" sz="quarter" idx="4"/>
          </p:nvPr>
        </p:nvSpPr>
        <p:spPr>
          <a:xfrm>
            <a:off x="11164831" y="6453336"/>
            <a:ext cx="619949" cy="240553"/>
          </a:xfrm>
          <a:prstGeom prst="rect">
            <a:avLst/>
          </a:prstGeom>
        </p:spPr>
        <p:txBody>
          <a:bodyPr/>
          <a:lstStyle/>
          <a:p>
            <a:fld id="{92A49E42-579D-0A4D-A382-D64C66A04E33}" type="slidenum">
              <a:rPr lang="es-ES" smtClean="0"/>
              <a:pPr/>
              <a:t>‹nº›</a:t>
            </a:fld>
            <a:endParaRPr lang="es-ES"/>
          </a:p>
        </p:txBody>
      </p:sp>
      <p:cxnSp>
        <p:nvCxnSpPr>
          <p:cNvPr id="19" name="Conector recto 18">
            <a:extLst>
              <a:ext uri="{FF2B5EF4-FFF2-40B4-BE49-F238E27FC236}">
                <a16:creationId xmlns:a16="http://schemas.microsoft.com/office/drawing/2014/main" id="{DB2C5834-ED03-3AFD-AC65-659BD6A09C19}"/>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BAFB12A6-973B-4235-6D56-2518880FDE01}"/>
              </a:ext>
            </a:extLst>
          </p:cNvPr>
          <p:cNvSpPr txBox="1"/>
          <p:nvPr userDrawn="1"/>
        </p:nvSpPr>
        <p:spPr>
          <a:xfrm>
            <a:off x="1423451" y="526212"/>
            <a:ext cx="0" cy="0"/>
          </a:xfrm>
          <a:prstGeom prst="rect">
            <a:avLst/>
          </a:prstGeom>
          <a:noFill/>
        </p:spPr>
        <p:txBody>
          <a:bodyPr wrap="none" lIns="0" tIns="0" rIns="0" bIns="0" rtlCol="0">
            <a:noAutofit/>
          </a:bodyPr>
          <a:lstStyle/>
          <a:p>
            <a:pPr algn="l"/>
            <a:endParaRPr lang="es-ES_tradnl"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grpSp>
        <p:nvGrpSpPr>
          <p:cNvPr id="9" name="Grupo 8">
            <a:extLst>
              <a:ext uri="{FF2B5EF4-FFF2-40B4-BE49-F238E27FC236}">
                <a16:creationId xmlns:a16="http://schemas.microsoft.com/office/drawing/2014/main" id="{B8E8A240-E26E-810C-694A-BB2191E08D3B}"/>
              </a:ext>
            </a:extLst>
          </p:cNvPr>
          <p:cNvGrpSpPr/>
          <p:nvPr userDrawn="1"/>
        </p:nvGrpSpPr>
        <p:grpSpPr>
          <a:xfrm>
            <a:off x="10646561" y="245833"/>
            <a:ext cx="1252193" cy="605697"/>
            <a:chOff x="3448376" y="5563089"/>
            <a:chExt cx="5306948" cy="2567186"/>
          </a:xfrm>
        </p:grpSpPr>
        <p:sp>
          <p:nvSpPr>
            <p:cNvPr id="11" name="Forma libre 163">
              <a:extLst>
                <a:ext uri="{FF2B5EF4-FFF2-40B4-BE49-F238E27FC236}">
                  <a16:creationId xmlns:a16="http://schemas.microsoft.com/office/drawing/2014/main" id="{223B97A2-83E0-B0D9-4ECA-B2C2FD3C003D}"/>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16922848-F469-9A45-8CB7-E8A7BD9C7D8E}"/>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1E0EE2DA-8B06-A26F-4939-EA00A365503E}"/>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4" name="Forma libre 166">
              <a:extLst>
                <a:ext uri="{FF2B5EF4-FFF2-40B4-BE49-F238E27FC236}">
                  <a16:creationId xmlns:a16="http://schemas.microsoft.com/office/drawing/2014/main" id="{53622C0A-15A3-B72B-AEC8-229FDAAB6A3D}"/>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5" name="Forma libre 167">
              <a:extLst>
                <a:ext uri="{FF2B5EF4-FFF2-40B4-BE49-F238E27FC236}">
                  <a16:creationId xmlns:a16="http://schemas.microsoft.com/office/drawing/2014/main" id="{81683ECC-3F85-988F-0825-87ACDB447118}"/>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6" name="Forma libre 168">
              <a:extLst>
                <a:ext uri="{FF2B5EF4-FFF2-40B4-BE49-F238E27FC236}">
                  <a16:creationId xmlns:a16="http://schemas.microsoft.com/office/drawing/2014/main" id="{A38D93BB-7A7D-5710-9DE8-BC2278CC6B64}"/>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9">
              <a:extLst>
                <a:ext uri="{FF2B5EF4-FFF2-40B4-BE49-F238E27FC236}">
                  <a16:creationId xmlns:a16="http://schemas.microsoft.com/office/drawing/2014/main" id="{9AD05AD8-9346-6C4C-E662-F6F699213375}"/>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28" name="Forma libre 170">
              <a:extLst>
                <a:ext uri="{FF2B5EF4-FFF2-40B4-BE49-F238E27FC236}">
                  <a16:creationId xmlns:a16="http://schemas.microsoft.com/office/drawing/2014/main" id="{25FA346F-C6B0-2BC5-01D2-A8F4AC52F2B3}"/>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71">
              <a:extLst>
                <a:ext uri="{FF2B5EF4-FFF2-40B4-BE49-F238E27FC236}">
                  <a16:creationId xmlns:a16="http://schemas.microsoft.com/office/drawing/2014/main" id="{75012B25-892E-2ECC-ACC8-347E43E4698C}"/>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72">
              <a:extLst>
                <a:ext uri="{FF2B5EF4-FFF2-40B4-BE49-F238E27FC236}">
                  <a16:creationId xmlns:a16="http://schemas.microsoft.com/office/drawing/2014/main" id="{42907A58-6491-FCF6-0D6B-66A1392201CC}"/>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1" name="Forma libre 173">
              <a:extLst>
                <a:ext uri="{FF2B5EF4-FFF2-40B4-BE49-F238E27FC236}">
                  <a16:creationId xmlns:a16="http://schemas.microsoft.com/office/drawing/2014/main" id="{A884D782-7D29-8147-4372-A624A7AA689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2" name="Forma libre 174">
              <a:extLst>
                <a:ext uri="{FF2B5EF4-FFF2-40B4-BE49-F238E27FC236}">
                  <a16:creationId xmlns:a16="http://schemas.microsoft.com/office/drawing/2014/main" id="{BBF85039-F5B1-10ED-7A9A-8F9DC644D78E}"/>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5">
              <a:extLst>
                <a:ext uri="{FF2B5EF4-FFF2-40B4-BE49-F238E27FC236}">
                  <a16:creationId xmlns:a16="http://schemas.microsoft.com/office/drawing/2014/main" id="{CCAD64A9-3797-BB13-C752-DAF90E58A563}"/>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4" name="Forma libre 176">
              <a:extLst>
                <a:ext uri="{FF2B5EF4-FFF2-40B4-BE49-F238E27FC236}">
                  <a16:creationId xmlns:a16="http://schemas.microsoft.com/office/drawing/2014/main" id="{AC31CD23-716A-DEC2-2C7E-AF81DAE1C334}"/>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5" name="Forma libre 177">
              <a:extLst>
                <a:ext uri="{FF2B5EF4-FFF2-40B4-BE49-F238E27FC236}">
                  <a16:creationId xmlns:a16="http://schemas.microsoft.com/office/drawing/2014/main" id="{158606F2-DB69-AFC0-3263-08037099CF98}"/>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8">
              <a:extLst>
                <a:ext uri="{FF2B5EF4-FFF2-40B4-BE49-F238E27FC236}">
                  <a16:creationId xmlns:a16="http://schemas.microsoft.com/office/drawing/2014/main" id="{5381C767-C18A-1E0E-E9E0-2EA550F7CA16}"/>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37" name="Forma libre 179">
              <a:extLst>
                <a:ext uri="{FF2B5EF4-FFF2-40B4-BE49-F238E27FC236}">
                  <a16:creationId xmlns:a16="http://schemas.microsoft.com/office/drawing/2014/main" id="{AB439B24-7408-78CF-10A6-E9FDEF84FA99}"/>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38" name="Forma libre 180">
              <a:extLst>
                <a:ext uri="{FF2B5EF4-FFF2-40B4-BE49-F238E27FC236}">
                  <a16:creationId xmlns:a16="http://schemas.microsoft.com/office/drawing/2014/main" id="{8D317458-69A1-F2C1-1EF8-74C715DA4759}"/>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81">
              <a:extLst>
                <a:ext uri="{FF2B5EF4-FFF2-40B4-BE49-F238E27FC236}">
                  <a16:creationId xmlns:a16="http://schemas.microsoft.com/office/drawing/2014/main" id="{6DB9C7E9-8076-CD58-C5A4-3B66A1E6242E}"/>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82">
              <a:extLst>
                <a:ext uri="{FF2B5EF4-FFF2-40B4-BE49-F238E27FC236}">
                  <a16:creationId xmlns:a16="http://schemas.microsoft.com/office/drawing/2014/main" id="{8BFDF502-0005-852C-9A33-2233A3B9B672}"/>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3">
              <a:extLst>
                <a:ext uri="{FF2B5EF4-FFF2-40B4-BE49-F238E27FC236}">
                  <a16:creationId xmlns:a16="http://schemas.microsoft.com/office/drawing/2014/main" id="{44737497-3913-CAD8-07EA-A60D0017A1FF}"/>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4">
              <a:extLst>
                <a:ext uri="{FF2B5EF4-FFF2-40B4-BE49-F238E27FC236}">
                  <a16:creationId xmlns:a16="http://schemas.microsoft.com/office/drawing/2014/main" id="{2544B1C3-4B44-1329-0CC7-44BE7FBEF459}"/>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3" name="Forma libre 185">
              <a:extLst>
                <a:ext uri="{FF2B5EF4-FFF2-40B4-BE49-F238E27FC236}">
                  <a16:creationId xmlns:a16="http://schemas.microsoft.com/office/drawing/2014/main" id="{44FBE60F-FC12-6D19-B2A2-4FEDF0F664F4}"/>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6">
              <a:extLst>
                <a:ext uri="{FF2B5EF4-FFF2-40B4-BE49-F238E27FC236}">
                  <a16:creationId xmlns:a16="http://schemas.microsoft.com/office/drawing/2014/main" id="{DC000866-DD66-7F5C-6AE0-BD859FE5A3BB}"/>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7">
              <a:extLst>
                <a:ext uri="{FF2B5EF4-FFF2-40B4-BE49-F238E27FC236}">
                  <a16:creationId xmlns:a16="http://schemas.microsoft.com/office/drawing/2014/main" id="{14299FD9-B2BB-B933-3EE0-41566CA4F6AB}"/>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6" name="Forma libre 188">
              <a:extLst>
                <a:ext uri="{FF2B5EF4-FFF2-40B4-BE49-F238E27FC236}">
                  <a16:creationId xmlns:a16="http://schemas.microsoft.com/office/drawing/2014/main" id="{647B2CD6-03FA-1851-B65D-CDA6E71F8E7E}"/>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9">
              <a:extLst>
                <a:ext uri="{FF2B5EF4-FFF2-40B4-BE49-F238E27FC236}">
                  <a16:creationId xmlns:a16="http://schemas.microsoft.com/office/drawing/2014/main" id="{BC7FDC4D-75B8-DF1A-BB81-11BEA5CA5758}"/>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90">
              <a:extLst>
                <a:ext uri="{FF2B5EF4-FFF2-40B4-BE49-F238E27FC236}">
                  <a16:creationId xmlns:a16="http://schemas.microsoft.com/office/drawing/2014/main" id="{D37A47E4-F5FA-2D77-FC81-332FEAA44349}"/>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91">
              <a:extLst>
                <a:ext uri="{FF2B5EF4-FFF2-40B4-BE49-F238E27FC236}">
                  <a16:creationId xmlns:a16="http://schemas.microsoft.com/office/drawing/2014/main" id="{FB4758ED-198B-F1C5-9002-B075FEF708AB}"/>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0" name="Forma libre 192">
              <a:extLst>
                <a:ext uri="{FF2B5EF4-FFF2-40B4-BE49-F238E27FC236}">
                  <a16:creationId xmlns:a16="http://schemas.microsoft.com/office/drawing/2014/main" id="{D18DB61A-E8B7-98F2-2F03-B4698729A5E5}"/>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3">
              <a:extLst>
                <a:ext uri="{FF2B5EF4-FFF2-40B4-BE49-F238E27FC236}">
                  <a16:creationId xmlns:a16="http://schemas.microsoft.com/office/drawing/2014/main" id="{E2C43B61-5AEB-55BC-F782-4BA483FB6F6A}"/>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4">
              <a:extLst>
                <a:ext uri="{FF2B5EF4-FFF2-40B4-BE49-F238E27FC236}">
                  <a16:creationId xmlns:a16="http://schemas.microsoft.com/office/drawing/2014/main" id="{EFD83374-3541-A58E-2731-488FF6D6358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5">
              <a:extLst>
                <a:ext uri="{FF2B5EF4-FFF2-40B4-BE49-F238E27FC236}">
                  <a16:creationId xmlns:a16="http://schemas.microsoft.com/office/drawing/2014/main" id="{3A30D415-E9E3-961A-2986-68D20226AB95}"/>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6">
              <a:extLst>
                <a:ext uri="{FF2B5EF4-FFF2-40B4-BE49-F238E27FC236}">
                  <a16:creationId xmlns:a16="http://schemas.microsoft.com/office/drawing/2014/main" id="{F4AF6503-E9CD-6D0E-D296-B2F5BAC23370}"/>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7">
              <a:extLst>
                <a:ext uri="{FF2B5EF4-FFF2-40B4-BE49-F238E27FC236}">
                  <a16:creationId xmlns:a16="http://schemas.microsoft.com/office/drawing/2014/main" id="{8D6B6D35-1346-55AF-6C4C-441C4104A36D}"/>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8">
              <a:extLst>
                <a:ext uri="{FF2B5EF4-FFF2-40B4-BE49-F238E27FC236}">
                  <a16:creationId xmlns:a16="http://schemas.microsoft.com/office/drawing/2014/main" id="{CA422E15-DDC3-37FF-C7D1-305FEEB695E8}"/>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9">
              <a:extLst>
                <a:ext uri="{FF2B5EF4-FFF2-40B4-BE49-F238E27FC236}">
                  <a16:creationId xmlns:a16="http://schemas.microsoft.com/office/drawing/2014/main" id="{596FD702-A9F8-2138-97EE-3326FF8C8634}"/>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200">
              <a:extLst>
                <a:ext uri="{FF2B5EF4-FFF2-40B4-BE49-F238E27FC236}">
                  <a16:creationId xmlns:a16="http://schemas.microsoft.com/office/drawing/2014/main" id="{16E81E6F-820B-0796-2F79-141CB8F589A1}"/>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59" name="Forma libre 201">
              <a:extLst>
                <a:ext uri="{FF2B5EF4-FFF2-40B4-BE49-F238E27FC236}">
                  <a16:creationId xmlns:a16="http://schemas.microsoft.com/office/drawing/2014/main" id="{F992DC1D-FFEE-F278-847B-FE272C8316ED}"/>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spTree>
    <p:extLst>
      <p:ext uri="{BB962C8B-B14F-4D97-AF65-F5344CB8AC3E}">
        <p14:creationId xmlns:p14="http://schemas.microsoft.com/office/powerpoint/2010/main" val="3912727833"/>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Objetivos">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C5C1C5DD-7146-48B3-B2D4-E8E106D04874}"/>
              </a:ext>
            </a:extLst>
          </p:cNvPr>
          <p:cNvSpPr>
            <a:spLocks noGrp="1"/>
          </p:cNvSpPr>
          <p:nvPr>
            <p:ph type="body" sz="quarter" idx="45"/>
          </p:nvPr>
        </p:nvSpPr>
        <p:spPr>
          <a:xfrm>
            <a:off x="600000" y="1065213"/>
            <a:ext cx="115920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22" name="Text Placeholder 14">
            <a:extLst>
              <a:ext uri="{FF2B5EF4-FFF2-40B4-BE49-F238E27FC236}">
                <a16:creationId xmlns:a16="http://schemas.microsoft.com/office/drawing/2014/main" id="{FF45D6DA-0F5A-48FC-BA95-A5D3A3BCDB68}"/>
              </a:ext>
            </a:extLst>
          </p:cNvPr>
          <p:cNvSpPr>
            <a:spLocks noGrp="1"/>
          </p:cNvSpPr>
          <p:nvPr>
            <p:ph type="body" sz="quarter" idx="14" hasCustomPrompt="1"/>
          </p:nvPr>
        </p:nvSpPr>
        <p:spPr>
          <a:xfrm>
            <a:off x="510293" y="447969"/>
            <a:ext cx="11057456" cy="457056"/>
          </a:xfrm>
          <a:prstGeom prst="rect">
            <a:avLst/>
          </a:prstGeom>
        </p:spPr>
        <p:txBody>
          <a:bodyPr anchor="t"/>
          <a:lstStyle>
            <a:lvl1pPr marL="0" indent="0">
              <a:spcBef>
                <a:spcPts val="0"/>
              </a:spcBef>
              <a:buNone/>
              <a:defRPr sz="2800" i="0">
                <a:solidFill>
                  <a:schemeClr val="accent5"/>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err="1"/>
              <a:t>Objectives</a:t>
            </a:r>
            <a:r>
              <a:rPr lang="es-ES"/>
              <a:t> </a:t>
            </a:r>
            <a:r>
              <a:rPr lang="es-ES" err="1"/>
              <a:t>of</a:t>
            </a:r>
            <a:r>
              <a:rPr lang="es-ES"/>
              <a:t> </a:t>
            </a:r>
            <a:r>
              <a:rPr lang="es-ES" err="1"/>
              <a:t>advertising</a:t>
            </a:r>
            <a:r>
              <a:rPr lang="es-ES"/>
              <a:t> </a:t>
            </a:r>
          </a:p>
        </p:txBody>
      </p:sp>
      <p:sp>
        <p:nvSpPr>
          <p:cNvPr id="23" name="Text Placeholder 4">
            <a:extLst>
              <a:ext uri="{FF2B5EF4-FFF2-40B4-BE49-F238E27FC236}">
                <a16:creationId xmlns:a16="http://schemas.microsoft.com/office/drawing/2014/main" id="{3AA3C6B4-F6FE-4711-8486-C7F9552AFF48}"/>
              </a:ext>
            </a:extLst>
          </p:cNvPr>
          <p:cNvSpPr>
            <a:spLocks noGrp="1"/>
          </p:cNvSpPr>
          <p:nvPr>
            <p:ph type="body" sz="quarter" idx="52"/>
          </p:nvPr>
        </p:nvSpPr>
        <p:spPr>
          <a:xfrm>
            <a:off x="619172" y="1051305"/>
            <a:ext cx="756000" cy="0"/>
          </a:xfrm>
          <a:prstGeom prst="rect">
            <a:avLst/>
          </a:prstGeom>
          <a:solidFill>
            <a:schemeClr val="tx2"/>
          </a:solidFill>
          <a:ln w="34925" cap="flat">
            <a:solidFill>
              <a:schemeClr val="tx2"/>
            </a:solidFill>
            <a:miter lim="800000"/>
          </a:ln>
        </p:spPr>
        <p:txBody>
          <a:bodyPr/>
          <a:lstStyle>
            <a:lvl1pPr>
              <a:defRPr sz="100">
                <a:solidFill>
                  <a:schemeClr val="bg1">
                    <a:alpha val="0"/>
                  </a:schemeClr>
                </a:solidFill>
              </a:defRPr>
            </a:lvl1pPr>
          </a:lstStyle>
          <a:p>
            <a:pPr lvl="0"/>
            <a:endParaRPr lang="en-US"/>
          </a:p>
        </p:txBody>
      </p:sp>
      <p:sp>
        <p:nvSpPr>
          <p:cNvPr id="28" name="Text Placeholder 14">
            <a:extLst>
              <a:ext uri="{FF2B5EF4-FFF2-40B4-BE49-F238E27FC236}">
                <a16:creationId xmlns:a16="http://schemas.microsoft.com/office/drawing/2014/main" id="{666B07E9-944B-45D5-A0D5-E9FB84BC5088}"/>
              </a:ext>
            </a:extLst>
          </p:cNvPr>
          <p:cNvSpPr>
            <a:spLocks noGrp="1"/>
          </p:cNvSpPr>
          <p:nvPr>
            <p:ph type="body" sz="quarter" idx="56" hasCustomPrompt="1"/>
          </p:nvPr>
        </p:nvSpPr>
        <p:spPr>
          <a:xfrm>
            <a:off x="6227603" y="1614516"/>
            <a:ext cx="5345688" cy="322729"/>
          </a:xfrm>
          <a:prstGeom prst="rect">
            <a:avLst/>
          </a:prstGeom>
        </p:spPr>
        <p:txBody>
          <a:bodyPr anchor="t"/>
          <a:lstStyle>
            <a:lvl1pPr marL="0" indent="0" algn="l">
              <a:spcBef>
                <a:spcPts val="0"/>
              </a:spcBef>
              <a:buNone/>
              <a:defRPr sz="1799" i="0">
                <a:solidFill>
                  <a:schemeClr val="accent1"/>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da-DK"/>
              <a:t>Lorem ipsum dolor sit amet</a:t>
            </a:r>
          </a:p>
        </p:txBody>
      </p:sp>
      <p:sp>
        <p:nvSpPr>
          <p:cNvPr id="29" name="Text Placeholder 2">
            <a:extLst>
              <a:ext uri="{FF2B5EF4-FFF2-40B4-BE49-F238E27FC236}">
                <a16:creationId xmlns:a16="http://schemas.microsoft.com/office/drawing/2014/main" id="{055AAE17-628F-41A5-8FC1-E2A5BFC195B0}"/>
              </a:ext>
            </a:extLst>
          </p:cNvPr>
          <p:cNvSpPr>
            <a:spLocks noGrp="1"/>
          </p:cNvSpPr>
          <p:nvPr>
            <p:ph type="body" sz="quarter" idx="57" hasCustomPrompt="1"/>
          </p:nvPr>
        </p:nvSpPr>
        <p:spPr>
          <a:xfrm>
            <a:off x="6497637" y="1989474"/>
            <a:ext cx="5070112" cy="1571670"/>
          </a:xfrm>
          <a:prstGeom prst="rect">
            <a:avLst/>
          </a:prstGeom>
        </p:spPr>
        <p:txBody>
          <a:bodyPr/>
          <a:lstStyle>
            <a:lvl1pPr marL="180957" indent="-180957">
              <a:lnSpc>
                <a:spcPct val="100000"/>
              </a:lnSpc>
              <a:spcBef>
                <a:spcPts val="0"/>
              </a:spcBef>
              <a:spcAft>
                <a:spcPts val="600"/>
              </a:spcAft>
              <a:buClr>
                <a:schemeClr val="accent4"/>
              </a:buClr>
              <a:defRPr sz="1200">
                <a:solidFill>
                  <a:schemeClr val="accent5"/>
                </a:solidFill>
              </a:defRPr>
            </a:lvl1pPr>
            <a:lvl2pPr marL="685731" indent="-228577">
              <a:lnSpc>
                <a:spcPct val="100000"/>
              </a:lnSpc>
              <a:buClr>
                <a:schemeClr val="accent4"/>
              </a:buClr>
              <a:buFont typeface="Lato Light" panose="020F0302020204030203" pitchFamily="34" charset="0"/>
              <a:buChar char="–"/>
              <a:defRPr sz="1200">
                <a:solidFill>
                  <a:schemeClr val="accent5"/>
                </a:solidFill>
              </a:defRPr>
            </a:lvl2pPr>
            <a:lvl3pPr marL="1142886" indent="-228577">
              <a:lnSpc>
                <a:spcPct val="100000"/>
              </a:lnSpc>
              <a:buClr>
                <a:schemeClr val="accent4"/>
              </a:buClr>
              <a:buFont typeface="Lato Light" panose="020F0302020204030203" pitchFamily="34" charset="0"/>
              <a:buChar char="–"/>
              <a:defRPr sz="1200">
                <a:solidFill>
                  <a:schemeClr val="accent5"/>
                </a:solidFill>
              </a:defRPr>
            </a:lvl3pPr>
            <a:lvl4pPr marL="1600040" indent="-228577">
              <a:lnSpc>
                <a:spcPct val="100000"/>
              </a:lnSpc>
              <a:buClr>
                <a:schemeClr val="accent4"/>
              </a:buClr>
              <a:buFont typeface="Lato Light" panose="020F0302020204030203" pitchFamily="34" charset="0"/>
              <a:buChar char="–"/>
              <a:defRPr sz="1050">
                <a:solidFill>
                  <a:schemeClr val="accent5"/>
                </a:solidFill>
              </a:defRPr>
            </a:lvl4pPr>
            <a:lvl5pPr marL="2057194" indent="-228577">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a:p>
            <a:pPr lvl="0"/>
            <a:r>
              <a:rPr lang="es-ES"/>
              <a:t>Mauris </a:t>
            </a:r>
            <a:r>
              <a:rPr lang="es-ES" err="1"/>
              <a:t>convallis</a:t>
            </a:r>
            <a:r>
              <a:rPr lang="es-ES"/>
              <a:t> </a:t>
            </a:r>
            <a:r>
              <a:rPr lang="es-ES" err="1"/>
              <a:t>consectetur</a:t>
            </a:r>
            <a:r>
              <a:rPr lang="es-ES"/>
              <a:t> </a:t>
            </a:r>
            <a:r>
              <a:rPr lang="es-ES" err="1"/>
              <a:t>convallis</a:t>
            </a:r>
            <a:r>
              <a:rPr lang="es-ES"/>
              <a:t>. Sed ante magna, </a:t>
            </a:r>
            <a:r>
              <a:rPr lang="es-ES" err="1"/>
              <a:t>finibus</a:t>
            </a:r>
            <a:r>
              <a:rPr lang="es-ES"/>
              <a:t> </a:t>
            </a:r>
            <a:r>
              <a:rPr lang="es-ES" err="1"/>
              <a:t>sit</a:t>
            </a:r>
            <a:r>
              <a:rPr lang="es-ES"/>
              <a:t> </a:t>
            </a:r>
            <a:r>
              <a:rPr lang="es-ES" err="1"/>
              <a:t>amet</a:t>
            </a:r>
            <a:r>
              <a:rPr lang="es-ES"/>
              <a:t> </a:t>
            </a:r>
            <a:r>
              <a:rPr lang="es-ES" err="1"/>
              <a:t>imperdiet</a:t>
            </a:r>
            <a:r>
              <a:rPr lang="es-ES"/>
              <a:t> vitae, </a:t>
            </a:r>
            <a:r>
              <a:rPr lang="es-ES" err="1"/>
              <a:t>fermentum</a:t>
            </a:r>
            <a:r>
              <a:rPr lang="es-ES"/>
              <a:t> id urna.</a:t>
            </a:r>
          </a:p>
        </p:txBody>
      </p:sp>
      <p:sp>
        <p:nvSpPr>
          <p:cNvPr id="30" name="Text Placeholder 14">
            <a:extLst>
              <a:ext uri="{FF2B5EF4-FFF2-40B4-BE49-F238E27FC236}">
                <a16:creationId xmlns:a16="http://schemas.microsoft.com/office/drawing/2014/main" id="{20E37CF4-1616-4EBB-B9D6-85777F631F7A}"/>
              </a:ext>
            </a:extLst>
          </p:cNvPr>
          <p:cNvSpPr>
            <a:spLocks noGrp="1"/>
          </p:cNvSpPr>
          <p:nvPr>
            <p:ph type="body" sz="quarter" idx="58" hasCustomPrompt="1"/>
          </p:nvPr>
        </p:nvSpPr>
        <p:spPr>
          <a:xfrm>
            <a:off x="6227603" y="3800192"/>
            <a:ext cx="5345688" cy="322729"/>
          </a:xfrm>
          <a:prstGeom prst="rect">
            <a:avLst/>
          </a:prstGeom>
        </p:spPr>
        <p:txBody>
          <a:bodyPr anchor="t"/>
          <a:lstStyle>
            <a:lvl1pPr marL="0" indent="0" algn="l">
              <a:spcBef>
                <a:spcPts val="0"/>
              </a:spcBef>
              <a:buNone/>
              <a:defRPr sz="1799" i="0">
                <a:solidFill>
                  <a:schemeClr val="accent1"/>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da-DK"/>
              <a:t>Lorem ipsum dolor sit amet</a:t>
            </a:r>
          </a:p>
        </p:txBody>
      </p:sp>
      <p:sp>
        <p:nvSpPr>
          <p:cNvPr id="31" name="Text Placeholder 2">
            <a:extLst>
              <a:ext uri="{FF2B5EF4-FFF2-40B4-BE49-F238E27FC236}">
                <a16:creationId xmlns:a16="http://schemas.microsoft.com/office/drawing/2014/main" id="{F8181370-CD9E-43A3-B96C-1403F61F9854}"/>
              </a:ext>
            </a:extLst>
          </p:cNvPr>
          <p:cNvSpPr>
            <a:spLocks noGrp="1"/>
          </p:cNvSpPr>
          <p:nvPr>
            <p:ph type="body" sz="quarter" idx="59" hasCustomPrompt="1"/>
          </p:nvPr>
        </p:nvSpPr>
        <p:spPr>
          <a:xfrm>
            <a:off x="6497637" y="4175151"/>
            <a:ext cx="5070112" cy="1175448"/>
          </a:xfrm>
          <a:prstGeom prst="rect">
            <a:avLst/>
          </a:prstGeom>
        </p:spPr>
        <p:txBody>
          <a:bodyPr/>
          <a:lstStyle>
            <a:lvl1pPr marL="180957" indent="-180957">
              <a:lnSpc>
                <a:spcPct val="100000"/>
              </a:lnSpc>
              <a:spcBef>
                <a:spcPts val="0"/>
              </a:spcBef>
              <a:spcAft>
                <a:spcPts val="600"/>
              </a:spcAft>
              <a:buClr>
                <a:schemeClr val="accent4"/>
              </a:buClr>
              <a:defRPr sz="1200">
                <a:solidFill>
                  <a:schemeClr val="accent5"/>
                </a:solidFill>
              </a:defRPr>
            </a:lvl1pPr>
            <a:lvl2pPr marL="685731" indent="-228577">
              <a:lnSpc>
                <a:spcPct val="100000"/>
              </a:lnSpc>
              <a:buClr>
                <a:schemeClr val="accent4"/>
              </a:buClr>
              <a:buFont typeface="Lato Light" panose="020F0302020204030203" pitchFamily="34" charset="0"/>
              <a:buChar char="–"/>
              <a:defRPr sz="1200">
                <a:solidFill>
                  <a:schemeClr val="accent5"/>
                </a:solidFill>
              </a:defRPr>
            </a:lvl2pPr>
            <a:lvl3pPr marL="1142886" indent="-228577">
              <a:lnSpc>
                <a:spcPct val="100000"/>
              </a:lnSpc>
              <a:buClr>
                <a:schemeClr val="accent4"/>
              </a:buClr>
              <a:buFont typeface="Lato Light" panose="020F0302020204030203" pitchFamily="34" charset="0"/>
              <a:buChar char="–"/>
              <a:defRPr sz="1200">
                <a:solidFill>
                  <a:schemeClr val="accent5"/>
                </a:solidFill>
              </a:defRPr>
            </a:lvl3pPr>
            <a:lvl4pPr marL="1600040" indent="-228577">
              <a:lnSpc>
                <a:spcPct val="100000"/>
              </a:lnSpc>
              <a:buClr>
                <a:schemeClr val="accent4"/>
              </a:buClr>
              <a:buFont typeface="Lato Light" panose="020F0302020204030203" pitchFamily="34" charset="0"/>
              <a:buChar char="–"/>
              <a:defRPr sz="1050">
                <a:solidFill>
                  <a:schemeClr val="accent5"/>
                </a:solidFill>
              </a:defRPr>
            </a:lvl4pPr>
            <a:lvl5pPr marL="2057194" indent="-228577">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p:txBody>
      </p:sp>
      <p:sp>
        <p:nvSpPr>
          <p:cNvPr id="55" name="Text Placeholder 2">
            <a:extLst>
              <a:ext uri="{FF2B5EF4-FFF2-40B4-BE49-F238E27FC236}">
                <a16:creationId xmlns:a16="http://schemas.microsoft.com/office/drawing/2014/main" id="{9A22A5F4-0900-4302-8E11-4D66CBB67D11}"/>
              </a:ext>
            </a:extLst>
          </p:cNvPr>
          <p:cNvSpPr>
            <a:spLocks noGrp="1"/>
          </p:cNvSpPr>
          <p:nvPr>
            <p:ph type="body" sz="quarter" idx="49"/>
          </p:nvPr>
        </p:nvSpPr>
        <p:spPr>
          <a:xfrm>
            <a:off x="611291" y="1530570"/>
            <a:ext cx="531957" cy="531957"/>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solidFill>
                  <a:schemeClr val="tx1">
                    <a:alpha val="0"/>
                  </a:schemeClr>
                </a:solidFill>
              </a:defRPr>
            </a:lvl1pPr>
          </a:lstStyle>
          <a:p>
            <a:pPr lvl="0"/>
            <a:endParaRPr lang="en-US"/>
          </a:p>
        </p:txBody>
      </p:sp>
      <p:sp>
        <p:nvSpPr>
          <p:cNvPr id="58" name="Text Placeholder 14">
            <a:extLst>
              <a:ext uri="{FF2B5EF4-FFF2-40B4-BE49-F238E27FC236}">
                <a16:creationId xmlns:a16="http://schemas.microsoft.com/office/drawing/2014/main" id="{93C895B8-E5A7-4362-B3F1-0D746951124C}"/>
              </a:ext>
            </a:extLst>
          </p:cNvPr>
          <p:cNvSpPr>
            <a:spLocks noGrp="1"/>
          </p:cNvSpPr>
          <p:nvPr>
            <p:ph type="body" sz="quarter" idx="61" hasCustomPrompt="1"/>
          </p:nvPr>
        </p:nvSpPr>
        <p:spPr>
          <a:xfrm>
            <a:off x="1280710" y="1571140"/>
            <a:ext cx="4024108" cy="457056"/>
          </a:xfrm>
          <a:prstGeom prst="rect">
            <a:avLst/>
          </a:prstGeom>
        </p:spPr>
        <p:txBody>
          <a:bodyPr anchor="t"/>
          <a:lstStyle>
            <a:lvl1pPr marL="0" indent="0">
              <a:lnSpc>
                <a:spcPct val="100000"/>
              </a:lnSpc>
              <a:spcBef>
                <a:spcPts val="0"/>
              </a:spcBef>
              <a:buNone/>
              <a:defRPr sz="1200" i="0">
                <a:solidFill>
                  <a:schemeClr val="accent5"/>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es-ES"/>
              <a:t>LOREM IPSUM DOLOR SIT AMET, CONSECTETUR ADIPISCING ELIT. NULLA EX DIAM, SIT AMET NEQUE</a:t>
            </a:r>
          </a:p>
        </p:txBody>
      </p:sp>
      <p:sp>
        <p:nvSpPr>
          <p:cNvPr id="62" name="Text Placeholder 4">
            <a:extLst>
              <a:ext uri="{FF2B5EF4-FFF2-40B4-BE49-F238E27FC236}">
                <a16:creationId xmlns:a16="http://schemas.microsoft.com/office/drawing/2014/main" id="{4DEBCA9D-D477-4C2C-AFCE-31FBD7454DE7}"/>
              </a:ext>
            </a:extLst>
          </p:cNvPr>
          <p:cNvSpPr>
            <a:spLocks noGrp="1"/>
          </p:cNvSpPr>
          <p:nvPr>
            <p:ph type="body" sz="quarter" idx="63"/>
          </p:nvPr>
        </p:nvSpPr>
        <p:spPr>
          <a:xfrm>
            <a:off x="1371245" y="2075448"/>
            <a:ext cx="39348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60" name="Text Placeholder 4">
            <a:extLst>
              <a:ext uri="{FF2B5EF4-FFF2-40B4-BE49-F238E27FC236}">
                <a16:creationId xmlns:a16="http://schemas.microsoft.com/office/drawing/2014/main" id="{A57E85E7-D0C3-492C-B30F-210C8641973A}"/>
              </a:ext>
            </a:extLst>
          </p:cNvPr>
          <p:cNvSpPr>
            <a:spLocks noGrp="1"/>
          </p:cNvSpPr>
          <p:nvPr>
            <p:ph type="body" sz="quarter" idx="62"/>
          </p:nvPr>
        </p:nvSpPr>
        <p:spPr>
          <a:xfrm>
            <a:off x="1384137" y="2058603"/>
            <a:ext cx="354717" cy="0"/>
          </a:xfrm>
          <a:prstGeom prst="rect">
            <a:avLst/>
          </a:prstGeom>
          <a:solidFill>
            <a:schemeClr val="accent1"/>
          </a:solidFill>
          <a:ln w="34925" cap="flat">
            <a:solidFill>
              <a:schemeClr val="accent1"/>
            </a:solidFill>
            <a:miter lim="800000"/>
          </a:ln>
        </p:spPr>
        <p:txBody>
          <a:bodyPr/>
          <a:lstStyle>
            <a:lvl1pPr>
              <a:defRPr sz="100">
                <a:solidFill>
                  <a:schemeClr val="bg1">
                    <a:alpha val="0"/>
                  </a:schemeClr>
                </a:solidFill>
              </a:defRPr>
            </a:lvl1pPr>
          </a:lstStyle>
          <a:p>
            <a:pPr lvl="0"/>
            <a:endParaRPr lang="en-US"/>
          </a:p>
        </p:txBody>
      </p:sp>
      <p:sp>
        <p:nvSpPr>
          <p:cNvPr id="14" name="Text Placeholder 14">
            <a:extLst>
              <a:ext uri="{FF2B5EF4-FFF2-40B4-BE49-F238E27FC236}">
                <a16:creationId xmlns:a16="http://schemas.microsoft.com/office/drawing/2014/main" id="{049FBC2D-1B24-4AC5-AEF0-141C3480B707}"/>
              </a:ext>
            </a:extLst>
          </p:cNvPr>
          <p:cNvSpPr>
            <a:spLocks noGrp="1"/>
          </p:cNvSpPr>
          <p:nvPr>
            <p:ph type="body" sz="quarter" idx="64" hasCustomPrompt="1"/>
          </p:nvPr>
        </p:nvSpPr>
        <p:spPr>
          <a:xfrm>
            <a:off x="510293" y="125239"/>
            <a:ext cx="11057453" cy="322729"/>
          </a:xfrm>
          <a:prstGeom prst="rect">
            <a:avLst/>
          </a:prstGeom>
        </p:spPr>
        <p:txBody>
          <a:bodyPr anchor="b"/>
          <a:lstStyle>
            <a:lvl1pPr marL="0" indent="0">
              <a:lnSpc>
                <a:spcPct val="100000"/>
              </a:lnSpc>
              <a:spcBef>
                <a:spcPts val="0"/>
              </a:spcBef>
              <a:buNone/>
              <a:defRPr sz="1200" i="0" spc="150" baseline="0">
                <a:solidFill>
                  <a:schemeClr val="accent1"/>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a:t>SECTION TITLE</a:t>
            </a:r>
          </a:p>
        </p:txBody>
      </p:sp>
      <p:sp>
        <p:nvSpPr>
          <p:cNvPr id="16" name="Text Placeholder 14">
            <a:extLst>
              <a:ext uri="{FF2B5EF4-FFF2-40B4-BE49-F238E27FC236}">
                <a16:creationId xmlns:a16="http://schemas.microsoft.com/office/drawing/2014/main" id="{56B99415-9CAB-4210-87A7-F6ACBE2AA1DA}"/>
              </a:ext>
            </a:extLst>
          </p:cNvPr>
          <p:cNvSpPr>
            <a:spLocks noGrp="1"/>
          </p:cNvSpPr>
          <p:nvPr>
            <p:ph type="body" sz="quarter" idx="65" hasCustomPrompt="1"/>
          </p:nvPr>
        </p:nvSpPr>
        <p:spPr>
          <a:xfrm>
            <a:off x="1069885" y="5749614"/>
            <a:ext cx="10052230" cy="472507"/>
          </a:xfrm>
          <a:prstGeom prst="rect">
            <a:avLst/>
          </a:prstGeom>
        </p:spPr>
        <p:txBody>
          <a:bodyPr anchor="ctr"/>
          <a:lstStyle>
            <a:lvl1pPr marL="0" indent="0" algn="ctr">
              <a:lnSpc>
                <a:spcPct val="100000"/>
              </a:lnSpc>
              <a:spcBef>
                <a:spcPts val="0"/>
              </a:spcBef>
              <a:buNone/>
              <a:defRPr sz="1200" i="0" spc="150" baseline="0">
                <a:solidFill>
                  <a:schemeClr val="accent1"/>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a:t>LOREM IPSUM DOLOR SIT AMET, CONSECTETUR ADIPISCING ELIT. SED MI PURUS, CONDIMENTUM NON MI IN, SCELERISQUE HENDRERIT URNA. CURABITUR EU RUTRUM TELLUS.</a:t>
            </a:r>
          </a:p>
        </p:txBody>
      </p:sp>
    </p:spTree>
    <p:extLst>
      <p:ext uri="{BB962C8B-B14F-4D97-AF65-F5344CB8AC3E}">
        <p14:creationId xmlns:p14="http://schemas.microsoft.com/office/powerpoint/2010/main" val="6553638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9" Type="http://schemas.openxmlformats.org/officeDocument/2006/relationships/slideLayout" Target="../slideLayouts/slideLayout36.xml"/><Relationship Id="rId10" Type="http://schemas.openxmlformats.org/officeDocument/2006/relationships/slideLayout" Target="../slideLayouts/slideLayout37.xml"/><Relationship Id="rId11" Type="http://schemas.openxmlformats.org/officeDocument/2006/relationships/slideLayout" Target="../slideLayouts/slideLayout38.xml"/><Relationship Id="rId12" Type="http://schemas.openxmlformats.org/officeDocument/2006/relationships/slideLayout" Target="../slideLayouts/slideLayout39.xml"/><Relationship Id="rId13" Type="http://schemas.openxmlformats.org/officeDocument/2006/relationships/theme" Target="../theme/theme3.xml"/><Relationship Id="rId1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slideLayout" Target="../slideLayouts/slideLayout53.xml"/><Relationship Id="rId15" Type="http://schemas.openxmlformats.org/officeDocument/2006/relationships/slideLayout" Target="../slideLayouts/slideLayout54.xml"/><Relationship Id="rId16" Type="http://schemas.openxmlformats.org/officeDocument/2006/relationships/slideLayout" Target="../slideLayouts/slideLayout55.xml"/><Relationship Id="rId17" Type="http://schemas.openxmlformats.org/officeDocument/2006/relationships/slideLayout" Target="../slideLayouts/slideLayout56.xml"/><Relationship Id="rId18" Type="http://schemas.openxmlformats.org/officeDocument/2006/relationships/slideLayout" Target="../slideLayouts/slideLayout57.xml"/><Relationship Id="rId19" Type="http://schemas.openxmlformats.org/officeDocument/2006/relationships/slideLayout" Target="../slideLayouts/slideLayout58.xml"/><Relationship Id="rId20" Type="http://schemas.openxmlformats.org/officeDocument/2006/relationships/slideLayout" Target="../slideLayouts/slideLayout59.xml"/><Relationship Id="rId21" Type="http://schemas.openxmlformats.org/officeDocument/2006/relationships/slideLayout" Target="../slideLayouts/slideLayout60.xml"/><Relationship Id="rId22" Type="http://schemas.openxmlformats.org/officeDocument/2006/relationships/slideLayout" Target="../slideLayouts/slideLayout61.xml"/><Relationship Id="rId23" Type="http://schemas.openxmlformats.org/officeDocument/2006/relationships/slideLayout" Target="../slideLayouts/slideLayout62.xml"/><Relationship Id="rId2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3AF19CD-D090-F3C7-A880-E0D95CCFA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1B14AA8-689D-538D-7B82-4C62DC108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B82E262-343D-A35A-DDAC-C4245E7150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AEED5C05-9DC2-233B-BDF0-7CE4CCBA0E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DFF0C0EB-4C08-B05D-D073-B8545166D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DCF970-4AC2-4415-89F0-97590DB6DD1E}" type="slidenum">
              <a:rPr lang="es-MX" smtClean="0"/>
              <a:t>‹nº›</a:t>
            </a:fld>
            <a:endParaRPr lang="es-MX"/>
          </a:p>
        </p:txBody>
      </p:sp>
    </p:spTree>
    <p:extLst>
      <p:ext uri="{BB962C8B-B14F-4D97-AF65-F5344CB8AC3E}">
        <p14:creationId xmlns:p14="http://schemas.microsoft.com/office/powerpoint/2010/main" val="130610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9" r:id="rId13"/>
    <p:sldLayoutId id="2147483690" r:id="rId14"/>
    <p:sldLayoutId id="214748372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24458199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pic>
        <p:nvPicPr>
          <p:cNvPr id="8" name="Picture 5" descr="Avangrid - Wikipedia">
            <a:extLst>
              <a:ext uri="{FF2B5EF4-FFF2-40B4-BE49-F238E27FC236}">
                <a16:creationId xmlns:a16="http://schemas.microsoft.com/office/drawing/2014/main" id="{9E8BB4E7-F584-ED7D-8585-F1AA2019189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272C0B10-ACCC-95C0-DB27-4119369CEF15}"/>
              </a:ext>
            </a:extLst>
          </p:cNvPr>
          <p:cNvSpPr/>
          <p:nvPr userDrawn="1"/>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92474534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06797" y="177981"/>
            <a:ext cx="10386600" cy="607800"/>
          </a:xfrm>
          <a:prstGeom prst="rect">
            <a:avLst/>
          </a:prstGeom>
          <a:noFill/>
          <a:ln>
            <a:noFill/>
          </a:ln>
        </p:spPr>
        <p:txBody>
          <a:bodyPr spcFirstLastPara="1" wrap="square" lIns="0" tIns="0" rIns="0" bIns="0" anchor="b" anchorCtr="0">
            <a:normAutofit/>
          </a:bodyPr>
          <a:lstStyle>
            <a:lvl1pPr marR="0" lvl="0" algn="l" rtl="0">
              <a:lnSpc>
                <a:spcPct val="85000"/>
              </a:lnSpc>
              <a:spcBef>
                <a:spcPts val="0"/>
              </a:spcBef>
              <a:spcAft>
                <a:spcPts val="0"/>
              </a:spcAft>
              <a:buSzPts val="1400"/>
              <a:buNone/>
              <a:defRPr sz="2300" b="1"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406400" y="1137600"/>
            <a:ext cx="3013200" cy="517260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L="1371600" marR="0" lvl="2" indent="-298450"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2100"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cxnSp>
        <p:nvCxnSpPr>
          <p:cNvPr id="12" name="Google Shape;12;p3"/>
          <p:cNvCxnSpPr/>
          <p:nvPr/>
        </p:nvCxnSpPr>
        <p:spPr>
          <a:xfrm>
            <a:off x="405372" y="789690"/>
            <a:ext cx="11380200" cy="0"/>
          </a:xfrm>
          <a:prstGeom prst="straightConnector1">
            <a:avLst/>
          </a:prstGeom>
          <a:noFill/>
          <a:ln w="12700" cap="flat" cmpd="sng">
            <a:solidFill>
              <a:schemeClr val="accent1"/>
            </a:solidFill>
            <a:prstDash val="solid"/>
            <a:miter lim="800000"/>
            <a:headEnd type="none" w="sm" len="sm"/>
            <a:tailEnd type="none" w="sm" len="sm"/>
          </a:ln>
        </p:spPr>
      </p:cxnSp>
      <p:sp>
        <p:nvSpPr>
          <p:cNvPr id="13" name="Google Shape;13;p3"/>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1"/>
                </a:solidFill>
                <a:latin typeface="Arial"/>
                <a:ea typeface="Arial"/>
                <a:cs typeface="Arial"/>
                <a:sym typeface="Arial"/>
              </a:rPr>
              <a:t>‹nº›</a:t>
            </a:fld>
            <a:endParaRPr sz="900" b="0" i="0" u="none" strike="noStrike" cap="none">
              <a:solidFill>
                <a:schemeClr val="dk1"/>
              </a:solidFill>
              <a:latin typeface="Arial"/>
              <a:ea typeface="Arial"/>
              <a:cs typeface="Arial"/>
              <a:sym typeface="Arial"/>
            </a:endParaRPr>
          </a:p>
        </p:txBody>
      </p:sp>
      <p:sp>
        <p:nvSpPr>
          <p:cNvPr id="14" name="Google Shape;14;p3" descr="{&quot;HashCode&quot;:1231056682,&quot;Placement&quot;:&quot;Footer&quot;,&quot;Top&quot;:516.65155,&quot;Left&quot;:437.819916,&quot;SlideWidth&quot;:960,&quot;SlideHeight&quot;:540}"/>
          <p:cNvSpPr txBox="1"/>
          <p:nvPr/>
        </p:nvSpPr>
        <p:spPr>
          <a:xfrm>
            <a:off x="5560313" y="6561475"/>
            <a:ext cx="1071300" cy="296400"/>
          </a:xfrm>
          <a:prstGeom prst="rect">
            <a:avLst/>
          </a:prstGeom>
          <a:no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200" b="0" i="0" u="none" strike="noStrike" cap="none">
                <a:solidFill>
                  <a:srgbClr val="008000"/>
                </a:solidFill>
                <a:latin typeface="Calibri"/>
                <a:ea typeface="Calibri"/>
                <a:cs typeface="Calibri"/>
                <a:sym typeface="Calibri"/>
              </a:rPr>
              <a:t>Internal Use</a:t>
            </a:r>
            <a:endParaRPr sz="1200" b="0" i="0" u="none" strike="noStrike" cap="none">
              <a:solidFill>
                <a:srgbClr val="008000"/>
              </a:solidFill>
              <a:latin typeface="Calibri"/>
              <a:ea typeface="Calibri"/>
              <a:cs typeface="Calibri"/>
              <a:sym typeface="Calibri"/>
            </a:endParaRPr>
          </a:p>
        </p:txBody>
      </p:sp>
      <p:grpSp>
        <p:nvGrpSpPr>
          <p:cNvPr id="15" name="Google Shape;15;p3"/>
          <p:cNvGrpSpPr/>
          <p:nvPr/>
        </p:nvGrpSpPr>
        <p:grpSpPr>
          <a:xfrm>
            <a:off x="11064613" y="243865"/>
            <a:ext cx="473748" cy="432438"/>
            <a:chOff x="5465909" y="2845257"/>
            <a:chExt cx="729516" cy="665904"/>
          </a:xfrm>
        </p:grpSpPr>
        <p:sp>
          <p:nvSpPr>
            <p:cNvPr id="16" name="Google Shape;16;p3"/>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3"/>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3"/>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496567322"/>
      </p:ext>
    </p:extLst>
  </p:cSld>
  <p:clrMap bg1="lt1" tx1="dk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5">
          <p15:clr>
            <a:srgbClr val="F26B43"/>
          </p15:clr>
        </p15:guide>
        <p15:guide id="2" pos="256">
          <p15:clr>
            <a:srgbClr val="F26B43"/>
          </p15:clr>
        </p15:guide>
        <p15:guide id="3" pos="7424">
          <p15:clr>
            <a:srgbClr val="F26B43"/>
          </p15:clr>
        </p15:guide>
        <p15:guide id="4" orient="horz" pos="4066">
          <p15:clr>
            <a:srgbClr val="F26B43"/>
          </p15:clr>
        </p15:guide>
        <p15:guide id="5" pos="3908">
          <p15:clr>
            <a:srgbClr val="F26B43"/>
          </p15:clr>
        </p15:guide>
        <p15:guide id="6" pos="3772">
          <p15:clr>
            <a:srgbClr val="F26B43"/>
          </p15:clr>
        </p15:guide>
        <p15:guide id="7" orient="horz" pos="713">
          <p15:clr>
            <a:srgbClr val="F26B43"/>
          </p15:clr>
        </p15:guide>
        <p15:guide id="8" orient="horz" pos="397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3.jpeg"/><Relationship Id="rId4" Type="http://schemas.openxmlformats.org/officeDocument/2006/relationships/image" Target="../media/image14.png"/><Relationship Id="rId5" Type="http://schemas.microsoft.com/office/2007/relationships/hdphoto" Target="../media/hdphoto1.wdp"/><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3.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xml"/><Relationship Id="rId3" Type="http://schemas.openxmlformats.org/officeDocument/2006/relationships/image" Target="../media/image15.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xml"/><Relationship Id="rId3" Type="http://schemas.openxmlformats.org/officeDocument/2006/relationships/image" Target="../media/image21.svg"/><Relationship Id="rId4" Type="http://schemas.openxmlformats.org/officeDocument/2006/relationships/image" Target="../media/image22.svg"/><Relationship Id="rId5" Type="http://schemas.openxmlformats.org/officeDocument/2006/relationships/image" Target="../media/image23.svg"/><Relationship Id="rId6" Type="http://schemas.openxmlformats.org/officeDocument/2006/relationships/image" Target="../media/image24.svg"/><Relationship Id="rId7" Type="http://schemas.openxmlformats.org/officeDocument/2006/relationships/image" Target="../media/image25.svg"/><Relationship Id="rId8"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3.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microsoft.com/office/2018/10/relationships/comments" Target="../comments/modernComment_101_76D6022F.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3.jpe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microsoft.com/office/2018/10/relationships/comments" Target="../comments/modernComment_7FFFFC21_1D1321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microsoft.com/office/2018/10/relationships/comments" Target="../comments/modernComment_7FFFFC1E_8B83557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microsoft.com/office/2018/10/relationships/comments" Target="../comments/modernComment_7FFFE8E4_7C660F74.xml"/><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microsoft.com/office/2018/10/relationships/comments" Target="../comments/modernComment_7FFFFC23_37B42F4D.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microsoft.com/office/2018/10/relationships/comments" Target="../comments/modernComment_7FFFFC29_47B8515C.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microsoft.com/office/2018/10/relationships/comments" Target="../comments/modernComment_7FFFFC51_6FCCBEFF.xml"/><Relationship Id="rId4" Type="http://schemas.openxmlformats.org/officeDocument/2006/relationships/image" Target="../media/image36.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microsoft.com/office/2018/10/relationships/comments" Target="../comments/modernComment_7FFFFC58_58D12B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microsoft.com/office/2018/10/relationships/comments" Target="../comments/modernComment_7FFFFC49_E41A1D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microsoft.com/office/2018/10/relationships/comments" Target="../comments/modernComment_7FFFFC4A_8E5B8B2E.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microsoft.com/office/2018/10/relationships/comments" Target="../comments/modernComment_7FFFFC2A_FF33AEC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microsoft.com/office/2018/10/relationships/comments" Target="../comments/modernComment_7FFFFC5C_31E484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microsoft.com/office/2018/10/relationships/comments" Target="../comments/modernComment_7FFFFC2D_A79D6E0D.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microsoft.com/office/2018/10/relationships/comments" Target="../comments/modernComment_7FFFFC2F_18CF10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34_F44F75D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35_7E829B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54_B598C76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microsoft.com/office/2018/10/relationships/comments" Target="../comments/modernComment_7FFFFC55_EDF408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3.jpe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57_F0AB895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3.jpe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45.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46.png"/><Relationship Id="rId3"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9.xml"/><Relationship Id="rId3" Type="http://schemas.openxmlformats.org/officeDocument/2006/relationships/image" Target="../media/image47.png"/><Relationship Id="rId4"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50.jpeg"/><Relationship Id="rId3" Type="http://schemas.openxmlformats.org/officeDocument/2006/relationships/image" Target="../media/image51.png"/><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0.xml"/><Relationship Id="rId3" Type="http://schemas.openxmlformats.org/officeDocument/2006/relationships/image" Target="../media/image13.jpeg"/><Relationship Id="rId4" Type="http://schemas.openxmlformats.org/officeDocument/2006/relationships/image" Target="../media/image14.png"/><Relationship Id="rId5" Type="http://schemas.microsoft.com/office/2007/relationships/hdphoto" Target="../media/hdphoto1.wdp"/><Relationship Id="rId6"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3.jpe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3.jpe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3.xml"/><Relationship Id="rId3" Type="http://schemas.openxmlformats.org/officeDocument/2006/relationships/image" Target="../media/image13.jpe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 Id="rId3" Type="http://schemas.openxmlformats.org/officeDocument/2006/relationships/image" Target="../media/image13.jpe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32_2DFCFA6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emf"/><Relationship Id="rId6" Type="http://schemas.openxmlformats.org/officeDocument/2006/relationships/diagramData" Target="../diagrams/data1.xml"/><Relationship Id="rId7" Type="http://schemas.openxmlformats.org/officeDocument/2006/relationships/diagramLayout" Target="../diagrams/layout1.xml"/><Relationship Id="rId8" Type="http://schemas.openxmlformats.org/officeDocument/2006/relationships/diagramQuickStyle" Target="../diagrams/quickStyle1.xml"/><Relationship Id="rId9" Type="http://schemas.openxmlformats.org/officeDocument/2006/relationships/diagramColors" Target="../diagrams/colors1.xml"/><Relationship Id="rId10" Type="http://schemas.microsoft.com/office/2007/relationships/diagramDrawing" Target="../diagrams/drawing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emf"/><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6.png"/><Relationship Id="rId3" Type="http://schemas.openxmlformats.org/officeDocument/2006/relationships/image" Target="../media/image54.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9.png"/><Relationship Id="rId3" Type="http://schemas.openxmlformats.org/officeDocument/2006/relationships/image" Target="../media/image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microsoft.com/office/2018/10/relationships/comments" Target="../comments/modernComment_7FFFFC2B_D0B9E28A.xml"/><Relationship Id="rId4" Type="http://schemas.openxmlformats.org/officeDocument/2006/relationships/image" Target="../media/image7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microsoft.com/office/2018/10/relationships/comments" Target="../comments/modernComment_7FFFFC3E_8F726A5B.xml"/><Relationship Id="rId4" Type="http://schemas.openxmlformats.org/officeDocument/2006/relationships/image" Target="../media/image59.png"/><Relationship Id="rId5" Type="http://schemas.openxmlformats.org/officeDocument/2006/relationships/image" Target="../media/image72.emf"/><Relationship Id="rId6" Type="http://schemas.openxmlformats.org/officeDocument/2006/relationships/image" Target="../media/image73.emf"/><Relationship Id="rId7" Type="http://schemas.openxmlformats.org/officeDocument/2006/relationships/image" Target="../media/image74.emf"/><Relationship Id="rId8" Type="http://schemas.openxmlformats.org/officeDocument/2006/relationships/image" Target="../media/image75.emf"/><Relationship Id="rId9" Type="http://schemas.openxmlformats.org/officeDocument/2006/relationships/image" Target="../media/image76.svg"/><Relationship Id="rId10" Type="http://schemas.openxmlformats.org/officeDocument/2006/relationships/image" Target="../media/image77.svg"/><Relationship Id="rId11" Type="http://schemas.openxmlformats.org/officeDocument/2006/relationships/image" Target="../media/image78.png"/><Relationship Id="rId12" Type="http://schemas.openxmlformats.org/officeDocument/2006/relationships/image" Target="../media/image79.emf"/><Relationship Id="rId13" Type="http://schemas.openxmlformats.org/officeDocument/2006/relationships/image" Target="../media/image56.png"/><Relationship Id="rId14" Type="http://schemas.openxmlformats.org/officeDocument/2006/relationships/image" Target="../media/image80.png"/><Relationship Id="rId15" Type="http://schemas.openxmlformats.org/officeDocument/2006/relationships/image" Target="../media/image8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microsoft.com/office/2018/10/relationships/comments" Target="../comments/modernComment_7FFFFC4F_EC5BFD84.xml"/><Relationship Id="rId4" Type="http://schemas.openxmlformats.org/officeDocument/2006/relationships/image" Target="../media/image8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 Id="rId3" Type="http://schemas.microsoft.com/office/2018/10/relationships/comments" Target="../comments/modernComment_7FFFFC27_868F6387.xml"/><Relationship Id="rId4" Type="http://schemas.openxmlformats.org/officeDocument/2006/relationships/image" Target="../media/image8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microsoft.com/office/2018/10/relationships/comments" Target="../comments/modernComment_7FFFFC45_F2E87E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50_D7142D4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A1FA6EE5-72DC-E2F0-A15F-C99C36EE47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265C6E6-7198-7297-0B9C-462641DD8069}"/>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2B2FA681-A0DA-8246-3C79-FC23219EF7A7}"/>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C69E46CD-BFA4-A09A-CD8B-8A2A79A09E7A}"/>
              </a:ext>
            </a:extLst>
          </p:cNvPr>
          <p:cNvSpPr>
            <a:spLocks noGrp="1"/>
          </p:cNvSpPr>
          <p:nvPr>
            <p:ph type="title"/>
          </p:nvPr>
        </p:nvSpPr>
        <p:spPr>
          <a:xfrm>
            <a:off x="384159" y="800002"/>
            <a:ext cx="586424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25F735F5-E455-90EB-93A1-CE698E0EB46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EE7A5CD9-BB15-9BAF-AEDD-0CF08743BCB0}"/>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Tree>
    <p:extLst>
      <p:ext uri="{BB962C8B-B14F-4D97-AF65-F5344CB8AC3E}">
        <p14:creationId xmlns:p14="http://schemas.microsoft.com/office/powerpoint/2010/main" val="217076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FB0F-A633-ACED-1462-004F5AE7511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1D3D6E7A-338F-AA3E-A065-1C08315AFE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6F8D8A1-6104-E982-685E-B9B94573C1D6}"/>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AE8A3503-8759-9166-4F3C-1A93A4582374}"/>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302FF308-1A02-D00D-C838-3083C631AC69}"/>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754E8464-B2E6-830E-55BC-A468E4C0E440}"/>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CE1411E4-CC01-ADE4-AA63-60E7CB0746C9}"/>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FA6B6DD1-A661-C0C6-29E1-B12C378CDBB6}"/>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D2DB52EF-C9C4-AAF8-FE03-92D2C4746115}"/>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70D67AA1-B75C-89CA-0BB5-AC4C75263056}"/>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D2A52D41-2F7B-D070-466B-1C708823B39E}"/>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B8917B66-F062-30AC-20E3-579C0082911A}"/>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828A278F-14CB-32B6-6566-387A70756414}"/>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B56FB012-5DD6-C8F4-9767-0D19BC51CCE9}"/>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BA430AF9-88C0-67C0-857E-6DA8804806AD}"/>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5896E8F4-4765-B017-BF3E-46210D26399F}"/>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FBDAB078-5A24-3063-E126-F23AB9AE972F}"/>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0A898503-CBA1-571C-905B-D2205DA635B5}"/>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C2DEAA35-E9AE-5DB6-F209-89BD09E064D6}"/>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DBFABB52-99EA-6053-0945-5E03E58A80F0}"/>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9B44E8D3-8463-C3DC-E59F-08CFA68A0A23}"/>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69381D8D-EE35-F047-A850-EE8084647B55}"/>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AAD15067-9003-FD47-748E-A6D84E6EEF76}"/>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4623ACE5-AB42-D3A8-9939-8EF49A17AB40}"/>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E4C297BE-0AE2-BD5F-AEF4-282EBC584B12}"/>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23F8B92D-8C55-6A08-CFFB-3CEF40B08363}"/>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08658472-46CB-8221-A864-90CEA2B75FD3}"/>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460063DB-DE83-91FC-1CB5-DAB134D7861B}"/>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2992FFFD-DFBD-F11D-06FF-38C531A38D67}"/>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FA51BFC6-F42E-0574-791B-141E60C4048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C2345F13-2C0F-42B4-7C3C-C5DF79E1582C}"/>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C0B01CD0-C00E-1B7C-CC45-C3BD621628BF}"/>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D9FA3259-13B0-0C6B-AD5F-71516ACCCB92}"/>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C70059CE-9FA9-3031-6F26-9831D66370E8}"/>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8E73CEEF-5975-0579-177D-9A5A28E0BB20}"/>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2BB152E6-CBFA-4854-591F-6464BC0A41C0}"/>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86BF20D3-F230-DA69-FF16-7D0E9E6E82AB}"/>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8EE7568E-0BB0-7175-FA92-5AD7460EC692}"/>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23055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D9CE-75C8-256F-53DB-230C5A2F1B66}"/>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9130A8C-08CE-5914-268D-51904A2038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2EFE6CC-EF05-9837-136B-6BD97B8A192F}"/>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472CD17F-0A45-8ABE-7993-21A62D5BB134}"/>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B499519E-E2DA-2C7E-680E-01B1BDED01B5}"/>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DC17BD87-9A1B-005C-7A6B-1C398E22C2A4}"/>
              </a:ext>
            </a:extLst>
          </p:cNvPr>
          <p:cNvSpPr>
            <a:spLocks noGrp="1"/>
          </p:cNvSpPr>
          <p:nvPr>
            <p:ph type="title"/>
          </p:nvPr>
        </p:nvSpPr>
        <p:spPr>
          <a:xfrm>
            <a:off x="384159" y="800002"/>
            <a:ext cx="5600081" cy="3025329"/>
          </a:xfrm>
        </p:spPr>
        <p:txBody>
          <a:bodyPr/>
          <a:lstStyle/>
          <a:p>
            <a:r>
              <a:rPr lang="en-US">
                <a:latin typeface="Arial" panose="020B0604020202020204" pitchFamily="34" charset="0"/>
                <a:cs typeface="Arial" panose="020B0604020202020204" pitchFamily="34" charset="0"/>
              </a:rPr>
              <a:t>LIFECYCLE END-TO-END PROCESS</a:t>
            </a:r>
            <a:br>
              <a:rPr lang="en-US">
                <a:latin typeface="Arial" panose="020B0604020202020204" pitchFamily="34" charset="0"/>
                <a:cs typeface="Arial" panose="020B0604020202020204" pitchFamily="34" charset="0"/>
              </a:rPr>
            </a:br>
            <a:br>
              <a:rPr lang="en-US">
                <a:latin typeface="Arial" panose="020B0604020202020204" pitchFamily="34" charset="0"/>
                <a:cs typeface="Arial" panose="020B0604020202020204" pitchFamily="34" charset="0"/>
              </a:rPr>
            </a:br>
            <a:r>
              <a:rPr lang="en-US" sz="2400" b="0">
                <a:latin typeface="Arial" panose="020B0604020202020204" pitchFamily="34" charset="0"/>
                <a:cs typeface="Arial" panose="020B0604020202020204" pitchFamily="34" charset="0"/>
              </a:rPr>
              <a:t>May 2026</a:t>
            </a:r>
            <a:endParaRPr lang="en-US" b="0">
              <a:latin typeface="Arial" panose="020B0604020202020204" pitchFamily="34" charset="0"/>
              <a:cs typeface="Arial" panose="020B0604020202020204" pitchFamily="34" charset="0"/>
            </a:endParaRPr>
          </a:p>
        </p:txBody>
      </p:sp>
      <p:sp>
        <p:nvSpPr>
          <p:cNvPr id="7" name="Text Placeholder 34">
            <a:extLst>
              <a:ext uri="{FF2B5EF4-FFF2-40B4-BE49-F238E27FC236}">
                <a16:creationId xmlns:a16="http://schemas.microsoft.com/office/drawing/2014/main" id="{1F7DF08A-55C6-9DAF-671A-C32BF3CFF71C}"/>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68D9C038-6240-6B8D-8536-A3C907B1CFF1}"/>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TextBox 20">
            <a:extLst>
              <a:ext uri="{FF2B5EF4-FFF2-40B4-BE49-F238E27FC236}">
                <a16:creationId xmlns:a16="http://schemas.microsoft.com/office/drawing/2014/main" id="{B38B25BA-5C75-CF10-3C49-02AEE1F2C4E9}"/>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1E9422FB-CF8E-1BCC-B6C8-637EB92809A2}"/>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138B5A02-1783-6AAC-1AD1-529C97A5D266}"/>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0DA3C135-BD95-65D5-4799-A01187563A00}"/>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6B982053-8661-8D43-B460-EDBCC2C7F4E8}"/>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D33853E6-16E4-7D72-6ED1-239214C56D9F}"/>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7E08C3F2-6247-9057-73FA-12E4FE1371BE}"/>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84D37CAD-F7E7-FA53-D590-0D66A9B49311}"/>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613D42B2-C330-9AA2-D7ED-709D736A337D}"/>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E0A63A80-C05C-156C-0803-1DD25E28B8B7}"/>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12376F75-23C9-80DF-9046-502BA6C8B9E6}"/>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C0E394D9-2914-666B-616C-C19ECDB0528C}"/>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9D3E36CF-A0C7-DFB4-A9B2-8F05C9D6F323}"/>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F59449E8-6531-4731-4382-CF1C21BBB146}"/>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8CD7B6AC-B650-9CB1-3E43-DEF4017214E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04B8F623-B68F-93C9-627E-20D9E5271DD3}"/>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C2D3FF8F-5A30-E240-4D9F-51A84EF858D5}"/>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AAD2F4E5-07D5-AB2F-62C2-2300763E7AC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A2283D2A-11D6-81F0-7383-F4BA5F32E205}"/>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FD7BB74D-AEAD-65F5-7678-313D3F915BE5}"/>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79F29A94-9863-7BB6-FF62-44539E339AF3}"/>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60" name="Rectángulo 2059">
            <a:extLst>
              <a:ext uri="{FF2B5EF4-FFF2-40B4-BE49-F238E27FC236}">
                <a16:creationId xmlns:a16="http://schemas.microsoft.com/office/drawing/2014/main" id="{3553A9BA-BB06-7E70-7F1E-5C8CB0601A84}"/>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AE755D28-99FE-B5EB-C65F-1B7F294E5FA8}"/>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0A05650D-A703-AC49-2B14-7D89207E5A23}"/>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EBB8F169-07C7-2FD5-7AD1-E0EE864256F5}"/>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E0F9E00E-B80D-3B73-C9BA-A5BE181AD762}"/>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0FA71636-64F0-0C64-E008-F3781072E75B}"/>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01E52F79-9116-BB80-4174-74F712F9C860}"/>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2FDBCA05-21E5-A913-414E-B30AADACE8ED}"/>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chemeClr val="bg1"/>
                  </a:solidFill>
                  <a:latin typeface="Arial" panose="020B0604020202020204" pitchFamily="34" charset="0"/>
                  <a:cs typeface="Arial" panose="020B0604020202020204" pitchFamily="34" charset="0"/>
                </a:rPr>
                <a:t>Context</a:t>
              </a:r>
              <a:endParaRPr lang="en-US" sz="20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7A003DCA-C9B1-1DBF-88C1-D64D909B1C6D}"/>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chemeClr val="bg1"/>
                </a:solidFill>
                <a:latin typeface="Arial" panose="020B0604020202020204" pitchFamily="34" charset="0"/>
                <a:ea typeface="Gordita"/>
                <a:cs typeface="Arial" panose="020B0604020202020204" pitchFamily="34" charset="0"/>
                <a:sym typeface="Gordita"/>
              </a:endParaRPr>
            </a:p>
          </p:txBody>
        </p:sp>
      </p:grpSp>
      <p:sp>
        <p:nvSpPr>
          <p:cNvPr id="2059" name="Rectángulo 2058">
            <a:extLst>
              <a:ext uri="{FF2B5EF4-FFF2-40B4-BE49-F238E27FC236}">
                <a16:creationId xmlns:a16="http://schemas.microsoft.com/office/drawing/2014/main" id="{D5D09EFD-6591-EAE4-CB6E-E850776FCEF9}"/>
              </a:ext>
            </a:extLst>
          </p:cNvPr>
          <p:cNvSpPr/>
          <p:nvPr/>
        </p:nvSpPr>
        <p:spPr>
          <a:xfrm>
            <a:off x="6106160" y="97452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393090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7865-B5C1-E858-EEB3-91C38DE225DF}"/>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A9372AE3-C830-E107-ECD2-4A2A73C20120}"/>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Avangrid is consolidating Customer Services Applications and IT Business Applications into a single Digital Products organization — demand fragmentation is the structural risk the Target Operating Model must resolve.</a:t>
            </a:r>
          </a:p>
        </p:txBody>
      </p:sp>
      <p:sp>
        <p:nvSpPr>
          <p:cNvPr id="71" name="Rectangle: Rounded Corners 2">
            <a:extLst>
              <a:ext uri="{FF2B5EF4-FFF2-40B4-BE49-F238E27FC236}">
                <a16:creationId xmlns:a16="http://schemas.microsoft.com/office/drawing/2014/main" id="{CCDCF13A-0469-24E3-75A9-1978FF4BD3D0}"/>
              </a:ext>
            </a:extLst>
          </p:cNvPr>
          <p:cNvSpPr/>
          <p:nvPr/>
        </p:nvSpPr>
        <p:spPr>
          <a:xfrm>
            <a:off x="325122" y="1702361"/>
            <a:ext cx="5549366" cy="430887"/>
          </a:xfrm>
          <a:prstGeom prst="roundRect">
            <a:avLst>
              <a:gd name="adj" fmla="val 7825"/>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2" name="Rectangle: Rounded Corners 5">
            <a:extLst>
              <a:ext uri="{FF2B5EF4-FFF2-40B4-BE49-F238E27FC236}">
                <a16:creationId xmlns:a16="http://schemas.microsoft.com/office/drawing/2014/main" id="{35299BE5-AB34-4863-16AE-CB601FCBD2CE}"/>
              </a:ext>
            </a:extLst>
          </p:cNvPr>
          <p:cNvSpPr/>
          <p:nvPr/>
        </p:nvSpPr>
        <p:spPr>
          <a:xfrm>
            <a:off x="6126401" y="1702361"/>
            <a:ext cx="5598687" cy="430887"/>
          </a:xfrm>
          <a:prstGeom prst="roundRect">
            <a:avLst>
              <a:gd name="adj" fmla="val 7825"/>
            </a:avLst>
          </a:prstGeom>
          <a:solidFill>
            <a:srgbClr val="00A34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TextBox 80">
            <a:extLst>
              <a:ext uri="{FF2B5EF4-FFF2-40B4-BE49-F238E27FC236}">
                <a16:creationId xmlns:a16="http://schemas.microsoft.com/office/drawing/2014/main" id="{0CC47B06-1062-A5E1-8FF4-F58281FBBED0}"/>
              </a:ext>
            </a:extLst>
          </p:cNvPr>
          <p:cNvSpPr txBox="1"/>
          <p:nvPr/>
        </p:nvSpPr>
        <p:spPr>
          <a:xfrm>
            <a:off x="616765" y="1821180"/>
            <a:ext cx="5029200" cy="218586"/>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PROJECT SCOPE</a:t>
            </a:r>
          </a:p>
        </p:txBody>
      </p:sp>
      <p:sp>
        <p:nvSpPr>
          <p:cNvPr id="75" name="Rectangle 38">
            <a:extLst>
              <a:ext uri="{FF2B5EF4-FFF2-40B4-BE49-F238E27FC236}">
                <a16:creationId xmlns:a16="http://schemas.microsoft.com/office/drawing/2014/main" id="{0FA9A3C6-CADE-736F-8B67-EA97047BCF44}"/>
              </a:ext>
            </a:extLst>
          </p:cNvPr>
          <p:cNvSpPr/>
          <p:nvPr/>
        </p:nvSpPr>
        <p:spPr>
          <a:xfrm>
            <a:off x="6154710" y="2260106"/>
            <a:ext cx="45719" cy="3730769"/>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6" name="TextBox 80">
            <a:extLst>
              <a:ext uri="{FF2B5EF4-FFF2-40B4-BE49-F238E27FC236}">
                <a16:creationId xmlns:a16="http://schemas.microsoft.com/office/drawing/2014/main" id="{9EC0CF7B-DACD-8CCA-C3D2-66C9CB7133DC}"/>
              </a:ext>
            </a:extLst>
          </p:cNvPr>
          <p:cNvSpPr txBox="1"/>
          <p:nvPr/>
        </p:nvSpPr>
        <p:spPr>
          <a:xfrm>
            <a:off x="6810598" y="1821180"/>
            <a:ext cx="4922678" cy="218586"/>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OBJECTIVES OF THIS DOCUMENT</a:t>
            </a:r>
          </a:p>
        </p:txBody>
      </p:sp>
      <p:pic>
        <p:nvPicPr>
          <p:cNvPr id="78" name="Gráfico 77" descr="Lupa con relleno sólido">
            <a:extLst>
              <a:ext uri="{FF2B5EF4-FFF2-40B4-BE49-F238E27FC236}">
                <a16:creationId xmlns:a16="http://schemas.microsoft.com/office/drawing/2014/main" id="{98C8CCDA-85C7-2749-1651-13F82D7C6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2423755"/>
            <a:ext cx="567771" cy="567771"/>
          </a:xfrm>
          <a:prstGeom prst="rect">
            <a:avLst/>
          </a:prstGeom>
        </p:spPr>
      </p:pic>
      <p:pic>
        <p:nvPicPr>
          <p:cNvPr id="79" name="Gráfico 78" descr="Diana con relleno sólido">
            <a:extLst>
              <a:ext uri="{FF2B5EF4-FFF2-40B4-BE49-F238E27FC236}">
                <a16:creationId xmlns:a16="http://schemas.microsoft.com/office/drawing/2014/main" id="{AE211B43-514C-1156-A820-6C2C1C64B2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5186966"/>
            <a:ext cx="624548" cy="624548"/>
          </a:xfrm>
          <a:prstGeom prst="rect">
            <a:avLst/>
          </a:prstGeom>
        </p:spPr>
      </p:pic>
      <p:pic>
        <p:nvPicPr>
          <p:cNvPr id="80" name="Gráfico 79" descr="Diana con relleno sólido">
            <a:extLst>
              <a:ext uri="{FF2B5EF4-FFF2-40B4-BE49-F238E27FC236}">
                <a16:creationId xmlns:a16="http://schemas.microsoft.com/office/drawing/2014/main" id="{A24092D1-8327-339E-4434-0677E25DBC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4252246"/>
            <a:ext cx="624548" cy="624548"/>
          </a:xfrm>
          <a:prstGeom prst="rect">
            <a:avLst/>
          </a:prstGeom>
        </p:spPr>
      </p:pic>
      <p:pic>
        <p:nvPicPr>
          <p:cNvPr id="81" name="Gráfico 80" descr="Diana con relleno sólido">
            <a:extLst>
              <a:ext uri="{FF2B5EF4-FFF2-40B4-BE49-F238E27FC236}">
                <a16:creationId xmlns:a16="http://schemas.microsoft.com/office/drawing/2014/main" id="{C2EB9A98-F495-D200-476F-83B2473FD3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3317526"/>
            <a:ext cx="624548" cy="624548"/>
          </a:xfrm>
          <a:prstGeom prst="rect">
            <a:avLst/>
          </a:prstGeom>
        </p:spPr>
      </p:pic>
      <p:pic>
        <p:nvPicPr>
          <p:cNvPr id="82" name="Gráfico 81" descr="Diana con relleno sólido">
            <a:extLst>
              <a:ext uri="{FF2B5EF4-FFF2-40B4-BE49-F238E27FC236}">
                <a16:creationId xmlns:a16="http://schemas.microsoft.com/office/drawing/2014/main" id="{4F4EB02E-15AE-1997-AF34-56315F098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2372646"/>
            <a:ext cx="624548" cy="624548"/>
          </a:xfrm>
          <a:prstGeom prst="rect">
            <a:avLst/>
          </a:prstGeom>
        </p:spPr>
      </p:pic>
      <p:pic>
        <p:nvPicPr>
          <p:cNvPr id="83" name="Gráfico 82" descr="Lupa con relleno sólido">
            <a:extLst>
              <a:ext uri="{FF2B5EF4-FFF2-40B4-BE49-F238E27FC236}">
                <a16:creationId xmlns:a16="http://schemas.microsoft.com/office/drawing/2014/main" id="{3642C889-C96E-1E45-6E6F-43FEC082E2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216235"/>
            <a:ext cx="567771" cy="567771"/>
          </a:xfrm>
          <a:prstGeom prst="rect">
            <a:avLst/>
          </a:prstGeom>
        </p:spPr>
      </p:pic>
      <p:pic>
        <p:nvPicPr>
          <p:cNvPr id="84" name="Gráfico 83" descr="Lupa con relleno sólido">
            <a:extLst>
              <a:ext uri="{FF2B5EF4-FFF2-40B4-BE49-F238E27FC236}">
                <a16:creationId xmlns:a16="http://schemas.microsoft.com/office/drawing/2014/main" id="{09894FFA-E849-ED46-532C-809E3C2E2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927435"/>
            <a:ext cx="567771" cy="567771"/>
          </a:xfrm>
          <a:prstGeom prst="rect">
            <a:avLst/>
          </a:prstGeom>
        </p:spPr>
      </p:pic>
      <p:pic>
        <p:nvPicPr>
          <p:cNvPr id="85" name="Gráfico 84" descr="Lupa con relleno sólido">
            <a:extLst>
              <a:ext uri="{FF2B5EF4-FFF2-40B4-BE49-F238E27FC236}">
                <a16:creationId xmlns:a16="http://schemas.microsoft.com/office/drawing/2014/main" id="{04DDA2EF-1E5B-4F2A-BC9A-7034909368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4770715"/>
            <a:ext cx="567771" cy="567771"/>
          </a:xfrm>
          <a:prstGeom prst="rect">
            <a:avLst/>
          </a:prstGeom>
        </p:spPr>
      </p:pic>
      <p:sp>
        <p:nvSpPr>
          <p:cNvPr id="86" name="Rectangle 38">
            <a:extLst>
              <a:ext uri="{FF2B5EF4-FFF2-40B4-BE49-F238E27FC236}">
                <a16:creationId xmlns:a16="http://schemas.microsoft.com/office/drawing/2014/main" id="{FF3A606D-BD5F-1403-BE2F-94683707FF43}"/>
              </a:ext>
            </a:extLst>
          </p:cNvPr>
          <p:cNvSpPr/>
          <p:nvPr/>
        </p:nvSpPr>
        <p:spPr>
          <a:xfrm>
            <a:off x="345441" y="2260106"/>
            <a:ext cx="45719" cy="3730769"/>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9" name="Text Placeholder 19">
            <a:extLst>
              <a:ext uri="{FF2B5EF4-FFF2-40B4-BE49-F238E27FC236}">
                <a16:creationId xmlns:a16="http://schemas.microsoft.com/office/drawing/2014/main" id="{79557E50-3365-98F5-2F7E-2BEE8FA71BDB}"/>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OBJECTIVES OF THE DOCUMENT</a:t>
            </a:r>
            <a:endParaRPr kumimoji="0" lang="en-US" sz="28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
        <p:nvSpPr>
          <p:cNvPr id="3" name="TextBox 81">
            <a:extLst>
              <a:ext uri="{FF2B5EF4-FFF2-40B4-BE49-F238E27FC236}">
                <a16:creationId xmlns:a16="http://schemas.microsoft.com/office/drawing/2014/main" id="{6332CDB2-965D-01C5-494A-DA9D41D4B9B3}"/>
              </a:ext>
            </a:extLst>
          </p:cNvPr>
          <p:cNvSpPr txBox="1"/>
          <p:nvPr/>
        </p:nvSpPr>
        <p:spPr>
          <a:xfrm>
            <a:off x="1107005" y="2359294"/>
            <a:ext cx="4767482" cy="3062441"/>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Digital Products in scope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IT Business Applications (4 teams, ~26 FTE) and Customer Services Apps (5 teams, ~24 FTE, 2 Sr. Manager vacancies).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Five end-to-end stages assessed per team</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Intake → Classification → Prioritization → Portfolio → Delivery.</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Baseline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grounded in interview evidence and RFI data received from the teams.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Wave 1 delivers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Baseline Report, Demand Map, Portfolio Landscape, Lifecycle v1.0, Jira Config v1.0, and a live BRS pilot.</a:t>
            </a:r>
          </a:p>
        </p:txBody>
      </p:sp>
      <p:sp>
        <p:nvSpPr>
          <p:cNvPr id="4" name="CuadroTexto 3">
            <a:extLst>
              <a:ext uri="{FF2B5EF4-FFF2-40B4-BE49-F238E27FC236}">
                <a16:creationId xmlns:a16="http://schemas.microsoft.com/office/drawing/2014/main" id="{A85E6D13-9DBE-1680-CEB2-353680A21F17}"/>
              </a:ext>
            </a:extLst>
          </p:cNvPr>
          <p:cNvSpPr txBox="1"/>
          <p:nvPr/>
        </p:nvSpPr>
        <p:spPr>
          <a:xfrm>
            <a:off x="6954675" y="2357260"/>
            <a:ext cx="4749645" cy="3536417"/>
          </a:xfrm>
          <a:prstGeom prst="rect">
            <a:avLst/>
          </a:prstGeom>
          <a:noFill/>
        </p:spPr>
        <p:txBody>
          <a:bodyPr wrap="square" lIns="0" tIns="0" rIns="0" bIns="0" anchor="t">
            <a:spAutoFit/>
          </a:bodyPr>
          <a:lstStyle>
            <a:defPPr>
              <a:defRPr lang="en-US"/>
            </a:defPPr>
            <a:lvl1pPr>
              <a:lnSpc>
                <a:spcPct val="110000"/>
              </a:lnSpc>
              <a:defRPr sz="1400" b="0" i="0">
                <a:solidFill>
                  <a:srgbClr val="2C3E50"/>
                </a:solidFill>
                <a:latin typeface="Helvetica Neue"/>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Provide an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overview of the current context</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key challenges, and objectives,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supported by a structured methodology to guide the definition of the target state.</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Define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end-to-end Digital Product lifecycle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including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demand typology</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value-based prioritization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governance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model, and enabling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tools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Design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target portfolio structure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and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supporting tool ecosystem</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identifying key gaps and shaping an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integrated portfolio management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approach.</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Outline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key actions required for implementation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including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pilot definition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readiness considerations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and a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roadmap for rollout.</a:t>
            </a:r>
          </a:p>
        </p:txBody>
      </p:sp>
    </p:spTree>
    <p:extLst>
      <p:ext uri="{BB962C8B-B14F-4D97-AF65-F5344CB8AC3E}">
        <p14:creationId xmlns:p14="http://schemas.microsoft.com/office/powerpoint/2010/main" val="257546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AF35-B0E0-21D9-CC40-10BD50F9EBBE}"/>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CCF60E49-BA28-2B85-C23F-809D4DF467CD}"/>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Our assessment highlights opportunities to strengthen alignment, governance, and prioritization across six operating-model blocks — Governance &amp; Strategy · Business Relationship · Build · Run · Data &amp; Analytics · Architecture &amp; Integration.</a:t>
            </a:r>
          </a:p>
        </p:txBody>
      </p:sp>
      <p:sp>
        <p:nvSpPr>
          <p:cNvPr id="89" name="Text Placeholder 19">
            <a:extLst>
              <a:ext uri="{FF2B5EF4-FFF2-40B4-BE49-F238E27FC236}">
                <a16:creationId xmlns:a16="http://schemas.microsoft.com/office/drawing/2014/main" id="{E952649C-F91B-CAF8-2BBF-48904D047412}"/>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CURRENT STATE ANALYSIS SUMMARY</a:t>
            </a:r>
          </a:p>
        </p:txBody>
      </p:sp>
      <p:sp>
        <p:nvSpPr>
          <p:cNvPr id="5" name="Rectángulo 7">
            <a:extLst>
              <a:ext uri="{FF2B5EF4-FFF2-40B4-BE49-F238E27FC236}">
                <a16:creationId xmlns:a16="http://schemas.microsoft.com/office/drawing/2014/main" id="{58672ECA-CBD5-CD55-A5B8-90C8C7BC0FA0}"/>
              </a:ext>
            </a:extLst>
          </p:cNvPr>
          <p:cNvSpPr/>
          <p:nvPr/>
        </p:nvSpPr>
        <p:spPr>
          <a:xfrm>
            <a:off x="470662" y="5062190"/>
            <a:ext cx="11459027" cy="1125681"/>
          </a:xfrm>
          <a:prstGeom prst="rect">
            <a:avLst/>
          </a:prstGeom>
          <a:solidFill>
            <a:srgbClr val="0792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FUTURE STATE GUIDING PRINCIPLES</a:t>
            </a:r>
          </a:p>
        </p:txBody>
      </p:sp>
      <p:sp>
        <p:nvSpPr>
          <p:cNvPr id="6" name="Rectangle 5">
            <a:extLst>
              <a:ext uri="{FF2B5EF4-FFF2-40B4-BE49-F238E27FC236}">
                <a16:creationId xmlns:a16="http://schemas.microsoft.com/office/drawing/2014/main" id="{E60E3629-58DE-553B-D499-BDE698F164FE}"/>
              </a:ext>
            </a:extLst>
          </p:cNvPr>
          <p:cNvSpPr/>
          <p:nvPr/>
        </p:nvSpPr>
        <p:spPr>
          <a:xfrm>
            <a:off x="470658" y="534054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riángulo isósceles 4">
            <a:extLst>
              <a:ext uri="{FF2B5EF4-FFF2-40B4-BE49-F238E27FC236}">
                <a16:creationId xmlns:a16="http://schemas.microsoft.com/office/drawing/2014/main" id="{DE08D087-E2D0-FA92-1E1B-BCCA231731C7}"/>
              </a:ext>
            </a:extLst>
          </p:cNvPr>
          <p:cNvSpPr/>
          <p:nvPr/>
        </p:nvSpPr>
        <p:spPr>
          <a:xfrm flipV="1">
            <a:off x="1158619" y="4761755"/>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Triángulo isósceles 5">
            <a:extLst>
              <a:ext uri="{FF2B5EF4-FFF2-40B4-BE49-F238E27FC236}">
                <a16:creationId xmlns:a16="http://schemas.microsoft.com/office/drawing/2014/main" id="{0C5449F2-F878-3C66-0F1F-5DC2BEDFAA72}"/>
              </a:ext>
            </a:extLst>
          </p:cNvPr>
          <p:cNvSpPr/>
          <p:nvPr/>
        </p:nvSpPr>
        <p:spPr>
          <a:xfrm flipV="1">
            <a:off x="5139770" y="4785460"/>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Triángulo isósceles 6">
            <a:extLst>
              <a:ext uri="{FF2B5EF4-FFF2-40B4-BE49-F238E27FC236}">
                <a16:creationId xmlns:a16="http://schemas.microsoft.com/office/drawing/2014/main" id="{1AA35AE7-2570-473D-0F35-2CB1494613D0}"/>
              </a:ext>
            </a:extLst>
          </p:cNvPr>
          <p:cNvSpPr/>
          <p:nvPr/>
        </p:nvSpPr>
        <p:spPr>
          <a:xfrm flipV="1">
            <a:off x="9376593" y="4785459"/>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Rectangle 5">
            <a:extLst>
              <a:ext uri="{FF2B5EF4-FFF2-40B4-BE49-F238E27FC236}">
                <a16:creationId xmlns:a16="http://schemas.microsoft.com/office/drawing/2014/main" id="{F9E94425-C10B-26C5-399B-4B4F0E057EEB}"/>
              </a:ext>
            </a:extLst>
          </p:cNvPr>
          <p:cNvSpPr/>
          <p:nvPr/>
        </p:nvSpPr>
        <p:spPr>
          <a:xfrm>
            <a:off x="8343857"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Rectangle 5">
            <a:extLst>
              <a:ext uri="{FF2B5EF4-FFF2-40B4-BE49-F238E27FC236}">
                <a16:creationId xmlns:a16="http://schemas.microsoft.com/office/drawing/2014/main" id="{E83C8F4C-EDC2-B42B-DA63-03E17A40E082}"/>
              </a:ext>
            </a:extLst>
          </p:cNvPr>
          <p:cNvSpPr/>
          <p:nvPr/>
        </p:nvSpPr>
        <p:spPr>
          <a:xfrm>
            <a:off x="4400609"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Rectangle 5">
            <a:extLst>
              <a:ext uri="{FF2B5EF4-FFF2-40B4-BE49-F238E27FC236}">
                <a16:creationId xmlns:a16="http://schemas.microsoft.com/office/drawing/2014/main" id="{195D6DFC-AB36-79E5-A938-B684198E0AB7}"/>
              </a:ext>
            </a:extLst>
          </p:cNvPr>
          <p:cNvSpPr/>
          <p:nvPr/>
        </p:nvSpPr>
        <p:spPr>
          <a:xfrm>
            <a:off x="470657"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Rectángulo 3">
            <a:extLst>
              <a:ext uri="{FF2B5EF4-FFF2-40B4-BE49-F238E27FC236}">
                <a16:creationId xmlns:a16="http://schemas.microsoft.com/office/drawing/2014/main" id="{35EC8907-7C93-9F24-8C61-A7ED2A25D27B}"/>
              </a:ext>
            </a:extLst>
          </p:cNvPr>
          <p:cNvSpPr/>
          <p:nvPr/>
        </p:nvSpPr>
        <p:spPr>
          <a:xfrm>
            <a:off x="8343330"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STRUCTURAL MISALIGNMENT</a:t>
            </a:r>
          </a:p>
        </p:txBody>
      </p:sp>
      <p:sp>
        <p:nvSpPr>
          <p:cNvPr id="14" name="Rectángulo 2">
            <a:extLst>
              <a:ext uri="{FF2B5EF4-FFF2-40B4-BE49-F238E27FC236}">
                <a16:creationId xmlns:a16="http://schemas.microsoft.com/office/drawing/2014/main" id="{1E3E886C-2B9B-DA32-8750-577B54C7E385}"/>
              </a:ext>
            </a:extLst>
          </p:cNvPr>
          <p:cNvSpPr/>
          <p:nvPr/>
        </p:nvSpPr>
        <p:spPr>
          <a:xfrm>
            <a:off x="4406994"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DELIVERY EXPERIENCE AND PAIN POINTS</a:t>
            </a:r>
          </a:p>
        </p:txBody>
      </p:sp>
      <p:sp>
        <p:nvSpPr>
          <p:cNvPr id="15" name="Rectángulo 1">
            <a:extLst>
              <a:ext uri="{FF2B5EF4-FFF2-40B4-BE49-F238E27FC236}">
                <a16:creationId xmlns:a16="http://schemas.microsoft.com/office/drawing/2014/main" id="{B445B694-53F3-2E46-328D-6FC74378310D}"/>
              </a:ext>
            </a:extLst>
          </p:cNvPr>
          <p:cNvSpPr/>
          <p:nvPr/>
        </p:nvSpPr>
        <p:spPr>
          <a:xfrm>
            <a:off x="470658"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OPERATING CONSTRAINTS</a:t>
            </a:r>
          </a:p>
        </p:txBody>
      </p:sp>
      <p:sp>
        <p:nvSpPr>
          <p:cNvPr id="16" name="TextBox 174">
            <a:extLst>
              <a:ext uri="{FF2B5EF4-FFF2-40B4-BE49-F238E27FC236}">
                <a16:creationId xmlns:a16="http://schemas.microsoft.com/office/drawing/2014/main" id="{81C719C2-7EC4-DF90-99E6-C810764EB3AA}"/>
              </a:ext>
            </a:extLst>
          </p:cNvPr>
          <p:cNvSpPr txBox="1"/>
          <p:nvPr/>
        </p:nvSpPr>
        <p:spPr>
          <a:xfrm>
            <a:off x="525956" y="2109317"/>
            <a:ext cx="3350053" cy="2830711"/>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structural and operational limitations currently constraining the model’s ability to scale and deliver value consistently.</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outlines the key factors: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People: Capacity &amp; accountability constrained · Run/Build blended · business-side roles missing (Process Owners, IT Business Partners, Demand Manager)</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Process: Standardization gap · Run/Build blended · module silos, not functional domains (Finance · Procurement · Asset </a:t>
            </a:r>
            <a:r>
              <a:rPr kumimoji="0" lang="en-US"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Mgmt</a:t>
            </a: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Tools: Fragmented ecosystem · no internal Data &amp; Analytics or Architecture capability</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Fragmented decisions · no ERP Steering Committee · no SAP Enterprise Architect</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TextBox 174">
            <a:extLst>
              <a:ext uri="{FF2B5EF4-FFF2-40B4-BE49-F238E27FC236}">
                <a16:creationId xmlns:a16="http://schemas.microsoft.com/office/drawing/2014/main" id="{49D44EDA-1B6D-D534-C483-9BC5021E5566}"/>
              </a:ext>
            </a:extLst>
          </p:cNvPr>
          <p:cNvSpPr txBox="1"/>
          <p:nvPr/>
        </p:nvSpPr>
        <p:spPr>
          <a:xfrm>
            <a:off x="4465147" y="2109317"/>
            <a:ext cx="3330101" cy="240290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friction points impacting execution and the business or user experience.</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describes the main issues identified related to:</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demand and intake drive reactive, non-strategic delivery</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clear product ownership weakens accountability and decision-making</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portfolio visibility constrains end-to-end planning and prioritization</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Uncoordinated capacity and overlapping initiatives reduce efficiency and impact</a:t>
            </a: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Box 174">
            <a:extLst>
              <a:ext uri="{FF2B5EF4-FFF2-40B4-BE49-F238E27FC236}">
                <a16:creationId xmlns:a16="http://schemas.microsoft.com/office/drawing/2014/main" id="{ABA5442B-CF1D-5CEB-06E9-B22FB2E210E5}"/>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refers to the misalignment between the organizational structure, governance model, and the way products are managed and delivered.</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highlights the structural gaps: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Entry Point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Value-Based Decision-Making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End-to-End Product View</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Ownership of Outcomes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Product-Level Steering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Common Language of Value</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Ownership Model</a:t>
            </a:r>
          </a:p>
        </p:txBody>
      </p:sp>
      <p:sp>
        <p:nvSpPr>
          <p:cNvPr id="19" name="Rectángulo: esquinas redondeadas 23">
            <a:extLst>
              <a:ext uri="{FF2B5EF4-FFF2-40B4-BE49-F238E27FC236}">
                <a16:creationId xmlns:a16="http://schemas.microsoft.com/office/drawing/2014/main" id="{4905AF94-76E4-33C4-A6C5-CDB698223850}"/>
              </a:ext>
            </a:extLst>
          </p:cNvPr>
          <p:cNvSpPr/>
          <p:nvPr/>
        </p:nvSpPr>
        <p:spPr>
          <a:xfrm>
            <a:off x="582330"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Intake &amp; Structuring</a:t>
            </a:r>
          </a:p>
        </p:txBody>
      </p:sp>
      <p:sp>
        <p:nvSpPr>
          <p:cNvPr id="20" name="Rectángulo: esquinas redondeadas 27">
            <a:extLst>
              <a:ext uri="{FF2B5EF4-FFF2-40B4-BE49-F238E27FC236}">
                <a16:creationId xmlns:a16="http://schemas.microsoft.com/office/drawing/2014/main" id="{72F19D18-7D85-42FE-C181-0446494213D8}"/>
              </a:ext>
            </a:extLst>
          </p:cNvPr>
          <p:cNvSpPr/>
          <p:nvPr/>
        </p:nvSpPr>
        <p:spPr>
          <a:xfrm>
            <a:off x="3417158"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Value-Based Prioritization</a:t>
            </a:r>
          </a:p>
        </p:txBody>
      </p:sp>
      <p:sp>
        <p:nvSpPr>
          <p:cNvPr id="21" name="Rectángulo: esquinas redondeadas 28">
            <a:extLst>
              <a:ext uri="{FF2B5EF4-FFF2-40B4-BE49-F238E27FC236}">
                <a16:creationId xmlns:a16="http://schemas.microsoft.com/office/drawing/2014/main" id="{C5F7D85D-0FE2-078F-C9FE-FA123C41AD53}"/>
              </a:ext>
            </a:extLst>
          </p:cNvPr>
          <p:cNvSpPr/>
          <p:nvPr/>
        </p:nvSpPr>
        <p:spPr>
          <a:xfrm>
            <a:off x="6251986"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22" name="Rectángulo: esquinas redondeadas 29">
            <a:extLst>
              <a:ext uri="{FF2B5EF4-FFF2-40B4-BE49-F238E27FC236}">
                <a16:creationId xmlns:a16="http://schemas.microsoft.com/office/drawing/2014/main" id="{23A53701-7EAC-6AC2-863D-37D3D95107B5}"/>
              </a:ext>
            </a:extLst>
          </p:cNvPr>
          <p:cNvSpPr/>
          <p:nvPr/>
        </p:nvSpPr>
        <p:spPr>
          <a:xfrm>
            <a:off x="9086813" y="563755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Governance &amp; Ownership</a:t>
            </a:r>
          </a:p>
        </p:txBody>
      </p:sp>
      <p:sp>
        <p:nvSpPr>
          <p:cNvPr id="23" name="TextBox 174">
            <a:extLst>
              <a:ext uri="{FF2B5EF4-FFF2-40B4-BE49-F238E27FC236}">
                <a16:creationId xmlns:a16="http://schemas.microsoft.com/office/drawing/2014/main" id="{5C1E4031-9F70-2DDB-28D8-97E194DD7FE1}"/>
              </a:ext>
            </a:extLst>
          </p:cNvPr>
          <p:cNvSpPr txBox="1"/>
          <p:nvPr/>
        </p:nvSpPr>
        <p:spPr>
          <a:xfrm>
            <a:off x="591245" y="537773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They will serve as a decision-making framework for designing processes, roles, and governance aligned with a more scalable, transparent, and product-oriented model.</a:t>
            </a:r>
          </a:p>
        </p:txBody>
      </p:sp>
      <p:pic>
        <p:nvPicPr>
          <p:cNvPr id="24" name="Gráfico 23" descr="Corona de usuario femenino con relleno sólido">
            <a:extLst>
              <a:ext uri="{FF2B5EF4-FFF2-40B4-BE49-F238E27FC236}">
                <a16:creationId xmlns:a16="http://schemas.microsoft.com/office/drawing/2014/main" id="{C10D6AF2-0F5A-CCAB-BBDA-5F2745824E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709499"/>
            <a:ext cx="250323" cy="250323"/>
          </a:xfrm>
          <a:prstGeom prst="rect">
            <a:avLst/>
          </a:prstGeom>
        </p:spPr>
      </p:pic>
      <p:pic>
        <p:nvPicPr>
          <p:cNvPr id="25" name="Gráfico 24" descr="Inventario de búsqueda con relleno sólido">
            <a:extLst>
              <a:ext uri="{FF2B5EF4-FFF2-40B4-BE49-F238E27FC236}">
                <a16:creationId xmlns:a16="http://schemas.microsoft.com/office/drawing/2014/main" id="{9B0FDEC3-49F7-919B-7ADE-636560D5CE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709499"/>
            <a:ext cx="250323" cy="250323"/>
          </a:xfrm>
          <a:prstGeom prst="rect">
            <a:avLst/>
          </a:prstGeom>
        </p:spPr>
      </p:pic>
      <p:pic>
        <p:nvPicPr>
          <p:cNvPr id="26" name="Gráfico 25" descr="Diamante con relleno sólido">
            <a:extLst>
              <a:ext uri="{FF2B5EF4-FFF2-40B4-BE49-F238E27FC236}">
                <a16:creationId xmlns:a16="http://schemas.microsoft.com/office/drawing/2014/main" id="{98FF8E9D-1BB8-1101-2C88-84F476AB3C2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709499"/>
            <a:ext cx="250323" cy="250323"/>
          </a:xfrm>
          <a:prstGeom prst="rect">
            <a:avLst/>
          </a:prstGeom>
        </p:spPr>
      </p:pic>
      <p:pic>
        <p:nvPicPr>
          <p:cNvPr id="27" name="Gráfico 26" descr="Bandeja de entrada marcada con relleno sólido">
            <a:extLst>
              <a:ext uri="{FF2B5EF4-FFF2-40B4-BE49-F238E27FC236}">
                <a16:creationId xmlns:a16="http://schemas.microsoft.com/office/drawing/2014/main" id="{B0A1CB9F-6F70-B0A6-1AD8-6292AA17320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709499"/>
            <a:ext cx="250323" cy="250323"/>
          </a:xfrm>
          <a:prstGeom prst="rect">
            <a:avLst/>
          </a:prstGeom>
        </p:spPr>
      </p:pic>
    </p:spTree>
    <p:extLst>
      <p:ext uri="{BB962C8B-B14F-4D97-AF65-F5344CB8AC3E}">
        <p14:creationId xmlns:p14="http://schemas.microsoft.com/office/powerpoint/2010/main" val="365407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4719-1417-5711-7A5B-995889A39216}"/>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4EFCA4B0-7982-3E62-E2A4-EEA4FEF0A73C}"/>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Four principles guide the Target Operating Model — each answers one of the 7 structural issues and is grounded in prior NTT work with Avangrid</a:t>
            </a:r>
          </a:p>
        </p:txBody>
      </p:sp>
      <p:sp>
        <p:nvSpPr>
          <p:cNvPr id="89" name="Text Placeholder 19">
            <a:extLst>
              <a:ext uri="{FF2B5EF4-FFF2-40B4-BE49-F238E27FC236}">
                <a16:creationId xmlns:a16="http://schemas.microsoft.com/office/drawing/2014/main" id="{599ABB37-233D-2737-23FD-F8970A28A9B1}"/>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END-TO-END PROCESS GUIDING PRINCIPLES</a:t>
            </a:r>
          </a:p>
        </p:txBody>
      </p:sp>
      <p:sp>
        <p:nvSpPr>
          <p:cNvPr id="3" name="CuadroTexto 2">
            <a:extLst>
              <a:ext uri="{FF2B5EF4-FFF2-40B4-BE49-F238E27FC236}">
                <a16:creationId xmlns:a16="http://schemas.microsoft.com/office/drawing/2014/main" id="{76334494-B20B-5AF5-2B37-4FD1BEF92EA1}"/>
              </a:ext>
            </a:extLst>
          </p:cNvPr>
          <p:cNvSpPr txBox="1"/>
          <p:nvPr/>
        </p:nvSpPr>
        <p:spPr>
          <a:xfrm>
            <a:off x="40640" y="3841597"/>
            <a:ext cx="1678842"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PRODUCT-CENTRIC DESIGN PRINCIPLES </a:t>
            </a:r>
            <a:endParaRPr kumimoji="0" lang="en-US" sz="1200" b="0"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cxnSp>
        <p:nvCxnSpPr>
          <p:cNvPr id="4" name="Conector recto 26">
            <a:extLst>
              <a:ext uri="{FF2B5EF4-FFF2-40B4-BE49-F238E27FC236}">
                <a16:creationId xmlns:a16="http://schemas.microsoft.com/office/drawing/2014/main" id="{54B64AD2-9FB2-01AA-BC82-8C630DEACB47}"/>
              </a:ext>
            </a:extLst>
          </p:cNvPr>
          <p:cNvCxnSpPr>
            <a:cxnSpLocks/>
          </p:cNvCxnSpPr>
          <p:nvPr/>
        </p:nvCxnSpPr>
        <p:spPr>
          <a:xfrm>
            <a:off x="1111201" y="1829818"/>
            <a:ext cx="2187038" cy="0"/>
          </a:xfrm>
          <a:prstGeom prst="line">
            <a:avLst/>
          </a:prstGeom>
          <a:solidFill>
            <a:schemeClr val="bg1"/>
          </a:solidFill>
          <a:ln w="19050">
            <a:solidFill>
              <a:srgbClr val="D9D9D9"/>
            </a:solidFill>
            <a:prstDash val="dash"/>
          </a:ln>
        </p:spPr>
      </p:cxnSp>
      <p:cxnSp>
        <p:nvCxnSpPr>
          <p:cNvPr id="28" name="Conector recto 34">
            <a:extLst>
              <a:ext uri="{FF2B5EF4-FFF2-40B4-BE49-F238E27FC236}">
                <a16:creationId xmlns:a16="http://schemas.microsoft.com/office/drawing/2014/main" id="{BDFD0304-7FC3-64A1-3347-E0DC8EE4762C}"/>
              </a:ext>
            </a:extLst>
          </p:cNvPr>
          <p:cNvCxnSpPr>
            <a:cxnSpLocks/>
          </p:cNvCxnSpPr>
          <p:nvPr/>
        </p:nvCxnSpPr>
        <p:spPr>
          <a:xfrm>
            <a:off x="1111201" y="5951066"/>
            <a:ext cx="2187038" cy="0"/>
          </a:xfrm>
          <a:prstGeom prst="line">
            <a:avLst/>
          </a:prstGeom>
          <a:solidFill>
            <a:schemeClr val="bg1"/>
          </a:solidFill>
          <a:ln w="19050">
            <a:solidFill>
              <a:srgbClr val="D9D9D9"/>
            </a:solidFill>
            <a:prstDash val="dash"/>
          </a:ln>
        </p:spPr>
      </p:cxnSp>
      <p:cxnSp>
        <p:nvCxnSpPr>
          <p:cNvPr id="29" name="Conector recto 32">
            <a:extLst>
              <a:ext uri="{FF2B5EF4-FFF2-40B4-BE49-F238E27FC236}">
                <a16:creationId xmlns:a16="http://schemas.microsoft.com/office/drawing/2014/main" id="{BBE927C9-80D3-CA7F-9EFD-9ADA701FDC5F}"/>
              </a:ext>
            </a:extLst>
          </p:cNvPr>
          <p:cNvCxnSpPr>
            <a:cxnSpLocks/>
          </p:cNvCxnSpPr>
          <p:nvPr/>
        </p:nvCxnSpPr>
        <p:spPr>
          <a:xfrm>
            <a:off x="2438400" y="3203433"/>
            <a:ext cx="2275840" cy="0"/>
          </a:xfrm>
          <a:prstGeom prst="line">
            <a:avLst/>
          </a:prstGeom>
          <a:solidFill>
            <a:schemeClr val="bg1"/>
          </a:solidFill>
          <a:ln w="19050">
            <a:solidFill>
              <a:srgbClr val="D9D9D9"/>
            </a:solidFill>
            <a:prstDash val="dash"/>
          </a:ln>
        </p:spPr>
      </p:cxnSp>
      <p:cxnSp>
        <p:nvCxnSpPr>
          <p:cNvPr id="30" name="Conector recto 33">
            <a:extLst>
              <a:ext uri="{FF2B5EF4-FFF2-40B4-BE49-F238E27FC236}">
                <a16:creationId xmlns:a16="http://schemas.microsoft.com/office/drawing/2014/main" id="{C82BD497-2E34-2538-546A-3CD1E23C638D}"/>
              </a:ext>
            </a:extLst>
          </p:cNvPr>
          <p:cNvCxnSpPr>
            <a:cxnSpLocks/>
          </p:cNvCxnSpPr>
          <p:nvPr/>
        </p:nvCxnSpPr>
        <p:spPr>
          <a:xfrm>
            <a:off x="2438400" y="4577450"/>
            <a:ext cx="2275840" cy="0"/>
          </a:xfrm>
          <a:prstGeom prst="line">
            <a:avLst/>
          </a:prstGeom>
          <a:solidFill>
            <a:schemeClr val="bg1"/>
          </a:solidFill>
          <a:ln w="19050">
            <a:solidFill>
              <a:srgbClr val="D9D9D9"/>
            </a:solidFill>
            <a:prstDash val="dash"/>
          </a:ln>
        </p:spPr>
      </p:cxnSp>
      <p:sp>
        <p:nvSpPr>
          <p:cNvPr id="31" name="CuadroTexto 27">
            <a:extLst>
              <a:ext uri="{FF2B5EF4-FFF2-40B4-BE49-F238E27FC236}">
                <a16:creationId xmlns:a16="http://schemas.microsoft.com/office/drawing/2014/main" id="{A7D3C2A3-23FE-87B4-45F3-5724874E5FD5}"/>
              </a:ext>
            </a:extLst>
          </p:cNvPr>
          <p:cNvSpPr txBox="1"/>
          <p:nvPr/>
        </p:nvSpPr>
        <p:spPr>
          <a:xfrm>
            <a:off x="3230880" y="1263842"/>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CuadroTexto 28">
            <a:extLst>
              <a:ext uri="{FF2B5EF4-FFF2-40B4-BE49-F238E27FC236}">
                <a16:creationId xmlns:a16="http://schemas.microsoft.com/office/drawing/2014/main" id="{1FE1A42D-DAC8-72F3-9AFC-690FC561C79E}"/>
              </a:ext>
            </a:extLst>
          </p:cNvPr>
          <p:cNvSpPr txBox="1"/>
          <p:nvPr/>
        </p:nvSpPr>
        <p:spPr>
          <a:xfrm>
            <a:off x="3230880" y="2637591"/>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CuadroTexto 29">
            <a:extLst>
              <a:ext uri="{FF2B5EF4-FFF2-40B4-BE49-F238E27FC236}">
                <a16:creationId xmlns:a16="http://schemas.microsoft.com/office/drawing/2014/main" id="{E8E826C4-6A8B-4907-1C24-39604280C3F2}"/>
              </a:ext>
            </a:extLst>
          </p:cNvPr>
          <p:cNvSpPr txBox="1"/>
          <p:nvPr/>
        </p:nvSpPr>
        <p:spPr>
          <a:xfrm>
            <a:off x="3230880" y="4011340"/>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CuadroTexto 30">
            <a:extLst>
              <a:ext uri="{FF2B5EF4-FFF2-40B4-BE49-F238E27FC236}">
                <a16:creationId xmlns:a16="http://schemas.microsoft.com/office/drawing/2014/main" id="{733F5906-3E33-A2A3-C69F-E4C3D5E05975}"/>
              </a:ext>
            </a:extLst>
          </p:cNvPr>
          <p:cNvSpPr txBox="1"/>
          <p:nvPr/>
        </p:nvSpPr>
        <p:spPr>
          <a:xfrm>
            <a:off x="3230880" y="5385090"/>
            <a:ext cx="8158480" cy="1277272"/>
          </a:xfrm>
          <a:prstGeom prst="rect">
            <a:avLst/>
          </a:prstGeom>
          <a:no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5" name="Graphic 26">
            <a:extLst>
              <a:ext uri="{FF2B5EF4-FFF2-40B4-BE49-F238E27FC236}">
                <a16:creationId xmlns:a16="http://schemas.microsoft.com/office/drawing/2014/main" id="{3F3523AE-2861-ADA7-C3ED-4C44A3B889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9530" y="1416695"/>
            <a:ext cx="2242867" cy="4947494"/>
          </a:xfrm>
          <a:prstGeom prst="rect">
            <a:avLst/>
          </a:prstGeom>
        </p:spPr>
      </p:pic>
      <p:sp>
        <p:nvSpPr>
          <p:cNvPr id="36" name="CuadroTexto 5">
            <a:extLst>
              <a:ext uri="{FF2B5EF4-FFF2-40B4-BE49-F238E27FC236}">
                <a16:creationId xmlns:a16="http://schemas.microsoft.com/office/drawing/2014/main" id="{1699039F-EB75-F406-68EF-FD6CB146DAA4}"/>
              </a:ext>
            </a:extLst>
          </p:cNvPr>
          <p:cNvSpPr txBox="1"/>
          <p:nvPr/>
        </p:nvSpPr>
        <p:spPr>
          <a:xfrm>
            <a:off x="3398884" y="1690917"/>
            <a:ext cx="194102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DEMAND INTAKE &amp; STRUCTURING</a:t>
            </a:r>
          </a:p>
        </p:txBody>
      </p:sp>
      <p:sp>
        <p:nvSpPr>
          <p:cNvPr id="37" name="CuadroTexto 7">
            <a:extLst>
              <a:ext uri="{FF2B5EF4-FFF2-40B4-BE49-F238E27FC236}">
                <a16:creationId xmlns:a16="http://schemas.microsoft.com/office/drawing/2014/main" id="{84507D65-8773-4B8E-FA28-3E3A8AD9E9B1}"/>
              </a:ext>
            </a:extLst>
          </p:cNvPr>
          <p:cNvSpPr txBox="1"/>
          <p:nvPr/>
        </p:nvSpPr>
        <p:spPr>
          <a:xfrm>
            <a:off x="3398884" y="2972735"/>
            <a:ext cx="194102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VALUE-BASED PRIORITIZATION</a:t>
            </a:r>
          </a:p>
        </p:txBody>
      </p:sp>
      <p:sp>
        <p:nvSpPr>
          <p:cNvPr id="38" name="CuadroTexto 9">
            <a:extLst>
              <a:ext uri="{FF2B5EF4-FFF2-40B4-BE49-F238E27FC236}">
                <a16:creationId xmlns:a16="http://schemas.microsoft.com/office/drawing/2014/main" id="{73594343-D943-250D-4B77-67D711C26A68}"/>
              </a:ext>
            </a:extLst>
          </p:cNvPr>
          <p:cNvSpPr txBox="1"/>
          <p:nvPr/>
        </p:nvSpPr>
        <p:spPr>
          <a:xfrm>
            <a:off x="3270653" y="4346618"/>
            <a:ext cx="207867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39" name="CuadroTexto 11">
            <a:extLst>
              <a:ext uri="{FF2B5EF4-FFF2-40B4-BE49-F238E27FC236}">
                <a16:creationId xmlns:a16="http://schemas.microsoft.com/office/drawing/2014/main" id="{3F33A554-F59A-2328-A652-684F02E6E305}"/>
              </a:ext>
            </a:extLst>
          </p:cNvPr>
          <p:cNvSpPr txBox="1"/>
          <p:nvPr/>
        </p:nvSpPr>
        <p:spPr>
          <a:xfrm>
            <a:off x="3398884" y="5720234"/>
            <a:ext cx="194102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PRODUCT GOVERNANCE &amp; OWNERSHIP</a:t>
            </a:r>
          </a:p>
        </p:txBody>
      </p:sp>
      <p:sp>
        <p:nvSpPr>
          <p:cNvPr id="40" name="CuadroTexto 3">
            <a:extLst>
              <a:ext uri="{FF2B5EF4-FFF2-40B4-BE49-F238E27FC236}">
                <a16:creationId xmlns:a16="http://schemas.microsoft.com/office/drawing/2014/main" id="{CFA86241-9C91-FAF1-FD34-E64381398212}"/>
              </a:ext>
            </a:extLst>
          </p:cNvPr>
          <p:cNvSpPr txBox="1"/>
          <p:nvPr/>
        </p:nvSpPr>
        <p:spPr>
          <a:xfrm>
            <a:off x="5137888" y="5385089"/>
            <a:ext cx="6332370"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a:t>
            </a:r>
            <a:r>
              <a:rPr lang="en-US" sz="1100" b="1">
                <a:solidFill>
                  <a:srgbClr val="00A343"/>
                </a:solidFill>
                <a:latin typeface="Arial" panose="020B0604020202020204" pitchFamily="34" charset="0"/>
                <a:cs typeface="Arial" panose="020B0604020202020204" pitchFamily="34" charset="0"/>
              </a:rPr>
              <a:t>accountability and governance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ensure decisions are aligned to product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Defined roles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Owner / Product Manager / Tech Lead)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Product-based governance forums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with decision rights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Vendor management aligned to 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KPIs tied to outcomes · domain-based organization (Finance · Procurement · Asset </a:t>
            </a:r>
            <a:r>
              <a:rPr lang="en-US" sz="1100" b="1" err="1">
                <a:solidFill>
                  <a:srgbClr val="00A343"/>
                </a:solidFill>
                <a:latin typeface="Arial" panose="020B0604020202020204" pitchFamily="34" charset="0"/>
                <a:cs typeface="Arial" panose="020B0604020202020204" pitchFamily="34" charset="0"/>
              </a:rPr>
              <a:t>Mgmt</a:t>
            </a:r>
            <a:r>
              <a:rPr lang="en-US" sz="1100" b="1">
                <a:solidFill>
                  <a:srgbClr val="00A343"/>
                </a:solidFill>
                <a:latin typeface="Arial" panose="020B0604020202020204" pitchFamily="34" charset="0"/>
                <a:cs typeface="Arial" panose="020B0604020202020204" pitchFamily="34" charset="0"/>
              </a:rPr>
              <a:t> · Supply Chain) · Run vs Build separated · Internal Data &amp; Architecture capability</a:t>
            </a:r>
          </a:p>
        </p:txBody>
      </p:sp>
      <p:sp>
        <p:nvSpPr>
          <p:cNvPr id="41" name="CuadroTexto 13">
            <a:extLst>
              <a:ext uri="{FF2B5EF4-FFF2-40B4-BE49-F238E27FC236}">
                <a16:creationId xmlns:a16="http://schemas.microsoft.com/office/drawing/2014/main" id="{D2603E9F-5E1A-FA68-5A42-9398EB50BBE6}"/>
              </a:ext>
            </a:extLst>
          </p:cNvPr>
          <p:cNvSpPr txBox="1"/>
          <p:nvPr/>
        </p:nvSpPr>
        <p:spPr>
          <a:xfrm>
            <a:off x="5116467" y="1275418"/>
            <a:ext cx="6390321"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demand must be captured through a </a:t>
            </a: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unified intake layer aligned to products or value streams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ensuring </a:t>
            </a:r>
            <a:r>
              <a:rPr lang="en-US" sz="1100" b="1">
                <a:solidFill>
                  <a:srgbClr val="00A343"/>
                </a:solidFill>
                <a:latin typeface="Arial" panose="020B0604020202020204" pitchFamily="34" charset="0"/>
                <a:cs typeface="Arial" panose="020B0604020202020204" pitchFamily="34" charset="0"/>
              </a:rPr>
              <a:t>full visibility and traceability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Single entry point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 product/value stream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Standard intake criteria </a:t>
            </a:r>
            <a:r>
              <a:rPr kumimoji="0" lang="en-US" sz="110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mandatory fields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Consistent demand categorization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teams (type, size, complexity, value driver)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Clear ownership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triage and backlog assignment </a:t>
            </a:r>
          </a:p>
        </p:txBody>
      </p:sp>
      <p:sp>
        <p:nvSpPr>
          <p:cNvPr id="42" name="CuadroTexto 15">
            <a:extLst>
              <a:ext uri="{FF2B5EF4-FFF2-40B4-BE49-F238E27FC236}">
                <a16:creationId xmlns:a16="http://schemas.microsoft.com/office/drawing/2014/main" id="{F63EFEC1-0344-8649-BF2A-E166AFE0B5B2}"/>
              </a:ext>
            </a:extLst>
          </p:cNvPr>
          <p:cNvSpPr txBox="1"/>
          <p:nvPr/>
        </p:nvSpPr>
        <p:spPr>
          <a:xfrm>
            <a:off x="5135234" y="2649435"/>
            <a:ext cx="6163322"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is consistently </a:t>
            </a:r>
            <a:r>
              <a:rPr lang="en-US" b="1">
                <a:solidFill>
                  <a:srgbClr val="00A343"/>
                </a:solidFill>
              </a:rPr>
              <a:t>evaluated and prioritized using a standardized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lang="en-US" b="1">
                <a:solidFill>
                  <a:srgbClr val="00A343"/>
                </a:solidFill>
              </a:rPr>
              <a:t>business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Common scoring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 urgency, risk, effort)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Transparent prioritization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competing demands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Product-level backlog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ownership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Trade-offs made at portfolio/product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level </a:t>
            </a:r>
          </a:p>
        </p:txBody>
      </p:sp>
      <p:sp>
        <p:nvSpPr>
          <p:cNvPr id="43" name="CuadroTexto 17">
            <a:extLst>
              <a:ext uri="{FF2B5EF4-FFF2-40B4-BE49-F238E27FC236}">
                <a16:creationId xmlns:a16="http://schemas.microsoft.com/office/drawing/2014/main" id="{818912C2-26A8-B1D4-D3DC-2AA9F400C2C8}"/>
              </a:ext>
            </a:extLst>
          </p:cNvPr>
          <p:cNvSpPr txBox="1"/>
          <p:nvPr/>
        </p:nvSpPr>
        <p:spPr>
          <a:xfrm>
            <a:off x="5135234" y="4023452"/>
            <a:ext cx="6163322" cy="938719"/>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00A343"/>
                </a:solidFill>
              </a:rPr>
              <a:t>End-to-end visibility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enables coordinated planning across demand, capacity, and delivery.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Integrated portfolio view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all products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Capacity planning aligned to product priorities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Roadmaps managed at product level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 project level)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Continuous tracking of delivery and outcomes </a:t>
            </a:r>
          </a:p>
        </p:txBody>
      </p:sp>
      <p:sp>
        <p:nvSpPr>
          <p:cNvPr id="44" name="Elipse 20">
            <a:extLst>
              <a:ext uri="{FF2B5EF4-FFF2-40B4-BE49-F238E27FC236}">
                <a16:creationId xmlns:a16="http://schemas.microsoft.com/office/drawing/2014/main" id="{473D9323-9B00-F2A2-41D4-C049AC27EDA5}"/>
              </a:ext>
            </a:extLst>
          </p:cNvPr>
          <p:cNvSpPr/>
          <p:nvPr/>
        </p:nvSpPr>
        <p:spPr>
          <a:xfrm>
            <a:off x="436760" y="1493218"/>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5" name="Elipse 21">
            <a:extLst>
              <a:ext uri="{FF2B5EF4-FFF2-40B4-BE49-F238E27FC236}">
                <a16:creationId xmlns:a16="http://schemas.microsoft.com/office/drawing/2014/main" id="{3E932970-2707-F966-3F1F-87B4C82BCFE8}"/>
              </a:ext>
            </a:extLst>
          </p:cNvPr>
          <p:cNvSpPr/>
          <p:nvPr/>
        </p:nvSpPr>
        <p:spPr>
          <a:xfrm>
            <a:off x="436760" y="5614868"/>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6" name="Elipse 22">
            <a:extLst>
              <a:ext uri="{FF2B5EF4-FFF2-40B4-BE49-F238E27FC236}">
                <a16:creationId xmlns:a16="http://schemas.microsoft.com/office/drawing/2014/main" id="{56DE8519-891A-19EC-27FE-27E726D13A62}"/>
              </a:ext>
            </a:extLst>
          </p:cNvPr>
          <p:cNvSpPr/>
          <p:nvPr/>
        </p:nvSpPr>
        <p:spPr>
          <a:xfrm>
            <a:off x="1788040" y="4240850"/>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7" name="Elipse 23">
            <a:extLst>
              <a:ext uri="{FF2B5EF4-FFF2-40B4-BE49-F238E27FC236}">
                <a16:creationId xmlns:a16="http://schemas.microsoft.com/office/drawing/2014/main" id="{BA2DD7AB-C21B-E8FB-5BC6-4200D7D0943D}"/>
              </a:ext>
            </a:extLst>
          </p:cNvPr>
          <p:cNvSpPr/>
          <p:nvPr/>
        </p:nvSpPr>
        <p:spPr>
          <a:xfrm>
            <a:off x="1788040" y="2866833"/>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48" name="Gráfico 47" descr="Corona de usuario femenino con relleno sólido">
            <a:extLst>
              <a:ext uri="{FF2B5EF4-FFF2-40B4-BE49-F238E27FC236}">
                <a16:creationId xmlns:a16="http://schemas.microsoft.com/office/drawing/2014/main" id="{5A97EC76-C387-8795-CBD0-3C91504B61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2435" y="5674955"/>
            <a:ext cx="567771" cy="567771"/>
          </a:xfrm>
          <a:prstGeom prst="rect">
            <a:avLst/>
          </a:prstGeom>
        </p:spPr>
      </p:pic>
      <p:pic>
        <p:nvPicPr>
          <p:cNvPr id="49" name="Gráfico 48" descr="Inventario de búsqueda con relleno sólido">
            <a:extLst>
              <a:ext uri="{FF2B5EF4-FFF2-40B4-BE49-F238E27FC236}">
                <a16:creationId xmlns:a16="http://schemas.microsoft.com/office/drawing/2014/main" id="{046C608B-1804-048E-9FEF-8EA41354C3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3875" y="4263702"/>
            <a:ext cx="567771" cy="567771"/>
          </a:xfrm>
          <a:prstGeom prst="rect">
            <a:avLst/>
          </a:prstGeom>
        </p:spPr>
      </p:pic>
      <p:pic>
        <p:nvPicPr>
          <p:cNvPr id="50" name="Gráfico 49" descr="Diamante con relleno sólido">
            <a:extLst>
              <a:ext uri="{FF2B5EF4-FFF2-40B4-BE49-F238E27FC236}">
                <a16:creationId xmlns:a16="http://schemas.microsoft.com/office/drawing/2014/main" id="{F38923C7-3072-2FC3-3686-2C66A2103B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53875" y="2954049"/>
            <a:ext cx="567771" cy="567771"/>
          </a:xfrm>
          <a:prstGeom prst="rect">
            <a:avLst/>
          </a:prstGeom>
        </p:spPr>
      </p:pic>
      <p:pic>
        <p:nvPicPr>
          <p:cNvPr id="51" name="Gráfico 50" descr="Bandeja de entrada marcada con relleno sólido">
            <a:extLst>
              <a:ext uri="{FF2B5EF4-FFF2-40B4-BE49-F238E27FC236}">
                <a16:creationId xmlns:a16="http://schemas.microsoft.com/office/drawing/2014/main" id="{8E0AEBEB-F687-1489-33E6-B800FCB74B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2755" y="1502155"/>
            <a:ext cx="567771" cy="567771"/>
          </a:xfrm>
          <a:prstGeom prst="rect">
            <a:avLst/>
          </a:prstGeom>
        </p:spPr>
      </p:pic>
      <p:pic>
        <p:nvPicPr>
          <p:cNvPr id="52" name="Gráfico 51" descr="Mejora continua con relleno sólido">
            <a:extLst>
              <a:ext uri="{FF2B5EF4-FFF2-40B4-BE49-F238E27FC236}">
                <a16:creationId xmlns:a16="http://schemas.microsoft.com/office/drawing/2014/main" id="{79143E55-7EDB-7CF7-8074-47A3D5CCB7C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7141" y="2966720"/>
            <a:ext cx="1005840" cy="1005840"/>
          </a:xfrm>
          <a:prstGeom prst="rect">
            <a:avLst/>
          </a:prstGeom>
        </p:spPr>
      </p:pic>
    </p:spTree>
    <p:extLst>
      <p:ext uri="{BB962C8B-B14F-4D97-AF65-F5344CB8AC3E}">
        <p14:creationId xmlns:p14="http://schemas.microsoft.com/office/powerpoint/2010/main" val="2508251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9266-401B-F697-E10E-C1E372438B0E}"/>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BBF41AB0-1426-58F2-6C86-7E529FBD23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792CAFF-7D74-DB28-0725-02A010BAA474}"/>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F7F41F32-9BF7-E14D-9F59-399D5FFAD290}"/>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CBB1189C-32FC-7E37-F2A9-12DCF4F0FFDB}"/>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32B2B4F9-4852-419C-D081-CD677B8B3CC3}"/>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D196CA12-19F7-2C3E-7EE5-C889004D4693}"/>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5644A6D5-06BF-57CE-06C3-033F14AFCEC9}"/>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C9027477-BEE3-082D-D9CB-D44D358D2BA1}"/>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764359A5-8397-7B95-0A93-C36C299C14A6}"/>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DE6BF162-E884-9BDA-8DAD-4E28AFFA3808}"/>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220F7E4B-AD3A-86F0-C0CC-D980C0FF7029}"/>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CCB36843-0EDA-8854-EDA4-501A403EFF30}"/>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62" name="TextBox 11">
            <a:extLst>
              <a:ext uri="{FF2B5EF4-FFF2-40B4-BE49-F238E27FC236}">
                <a16:creationId xmlns:a16="http://schemas.microsoft.com/office/drawing/2014/main" id="{8DAF8205-3AF9-B228-FE43-8F57821252BC}"/>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D59A233B-E73A-478A-E888-1F6BEE49D147}"/>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6C75F5F6-B19B-F8E5-2C9E-37DC3475D52C}"/>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C334F408-6661-F336-8FBE-2662E98D5D0C}"/>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E7DCB260-7911-5FCF-56CF-B5CDBB13D939}"/>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29B76D98-B86F-AE24-49A4-CE03C9CFF10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381AA6B6-4E95-DCBB-C1D4-7436992ADC53}"/>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EA8F49E2-94B9-0FE2-37C0-E170C6AE00C8}"/>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068A85E8-FDD9-5406-2A27-9BE44A4A13EA}"/>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D8B088B9-BA3D-3273-5203-EF2FFD8B08D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E2ECFDD5-D157-6A02-6FDF-07FED8ACCED8}"/>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C16CB9D4-13D9-55D1-68A4-CCE20B51191B}"/>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B882C006-90BE-5EA8-5BC4-1BDA7EEE96C4}"/>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5B59D685-A00D-EC90-B237-1B04831F447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05CCE40-43DA-9D24-36E0-B1F5F66F00D0}"/>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4E41A443-557A-F7FA-56E0-9E38E2EDFBF6}"/>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B4B04B04-0FC6-0081-3640-B11DFEAF0164}"/>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C04BA031-EB50-0FFF-53B4-8BAE02842D4F}"/>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FB7BF3B8-81DD-98F6-756B-051719C88C7D}"/>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1F2DCD8E-4908-E15D-FA6B-8791160CF140}"/>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89F68AB2-5BFD-1B72-37B2-19408E4E4B7C}"/>
              </a:ext>
            </a:extLst>
          </p:cNvPr>
          <p:cNvSpPr/>
          <p:nvPr/>
        </p:nvSpPr>
        <p:spPr>
          <a:xfrm>
            <a:off x="5394960" y="1849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57" name="Grupo 56">
            <a:extLst>
              <a:ext uri="{FF2B5EF4-FFF2-40B4-BE49-F238E27FC236}">
                <a16:creationId xmlns:a16="http://schemas.microsoft.com/office/drawing/2014/main" id="{9E0D4BEA-F112-4FAB-3E91-9D22F1D974E2}"/>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9DEAA430-08A2-DF45-B4CF-1125CD337D2A}"/>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Methodology</a:t>
              </a:r>
              <a:endParaRPr lang="en-US" sz="20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EAA77840-2E51-B91A-762C-8B92261AA3F4}"/>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chemeClr val="bg1"/>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6D1EB4F1-4C5A-C34A-DF84-741825A398DD}"/>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02</a:t>
            </a:r>
          </a:p>
        </p:txBody>
      </p:sp>
      <p:sp>
        <p:nvSpPr>
          <p:cNvPr id="2060" name="Rectángulo 2059">
            <a:extLst>
              <a:ext uri="{FF2B5EF4-FFF2-40B4-BE49-F238E27FC236}">
                <a16:creationId xmlns:a16="http://schemas.microsoft.com/office/drawing/2014/main" id="{3195BB30-F617-4E9F-CBF3-08A3231A09CC}"/>
              </a:ext>
            </a:extLst>
          </p:cNvPr>
          <p:cNvSpPr/>
          <p:nvPr/>
        </p:nvSpPr>
        <p:spPr>
          <a:xfrm>
            <a:off x="6106160" y="2026509"/>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2620693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BB22A-3ED4-D1CB-2B07-074353F95B14}"/>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B6DAD651-1C41-EB1F-34EF-B124144216D2}"/>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This project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
        <p:nvSpPr>
          <p:cNvPr id="89" name="Text Placeholder 19">
            <a:extLst>
              <a:ext uri="{FF2B5EF4-FFF2-40B4-BE49-F238E27FC236}">
                <a16:creationId xmlns:a16="http://schemas.microsoft.com/office/drawing/2014/main" id="{2D12DBF1-CDC0-0F58-13CD-05C6E6AC95FE}"/>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METHODOLOGY</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OUR METHODOLOGICAL FRAMEWORK</a:t>
            </a:r>
          </a:p>
        </p:txBody>
      </p:sp>
      <p:sp>
        <p:nvSpPr>
          <p:cNvPr id="5" name="Shape 54">
            <a:extLst>
              <a:ext uri="{FF2B5EF4-FFF2-40B4-BE49-F238E27FC236}">
                <a16:creationId xmlns:a16="http://schemas.microsoft.com/office/drawing/2014/main" id="{7159402F-4D25-3F92-0FE4-9A0EB45BC393}"/>
              </a:ext>
            </a:extLst>
          </p:cNvPr>
          <p:cNvSpPr/>
          <p:nvPr/>
        </p:nvSpPr>
        <p:spPr>
          <a:xfrm>
            <a:off x="333153" y="1677972"/>
            <a:ext cx="2195509" cy="4685121"/>
          </a:xfrm>
          <a:prstGeom prst="roundRect">
            <a:avLst>
              <a:gd name="adj" fmla="val 2656"/>
            </a:avLst>
          </a:prstGeom>
          <a:solidFill>
            <a:srgbClr val="EAEAEA"/>
          </a:solidFill>
          <a:ln/>
          <a:effectLst>
            <a:outerShdw blurRad="63500" dist="38100" dir="16200000" algn="bl" rotWithShape="0">
              <a:srgbClr val="000000">
                <a:alpha val="5000"/>
              </a:srgbClr>
            </a:outerShdw>
          </a:effectLst>
        </p:spPr>
        <p:txBody>
          <a:bodyPr/>
          <a:lstStyle/>
          <a:p>
            <a:endParaRPr lang="en-US">
              <a:solidFill>
                <a:prstClr val="black"/>
              </a:solidFill>
              <a:latin typeface="Arial" panose="020B0604020202020204" pitchFamily="34" charset="0"/>
              <a:cs typeface="Arial" panose="020B0604020202020204" pitchFamily="34" charset="0"/>
            </a:endParaRPr>
          </a:p>
        </p:txBody>
      </p:sp>
      <p:sp>
        <p:nvSpPr>
          <p:cNvPr id="6" name="Shape 55">
            <a:extLst>
              <a:ext uri="{FF2B5EF4-FFF2-40B4-BE49-F238E27FC236}">
                <a16:creationId xmlns:a16="http://schemas.microsoft.com/office/drawing/2014/main" id="{F350FC98-72FB-8EA6-6C78-020628BEB2D2}"/>
              </a:ext>
            </a:extLst>
          </p:cNvPr>
          <p:cNvSpPr/>
          <p:nvPr/>
        </p:nvSpPr>
        <p:spPr>
          <a:xfrm>
            <a:off x="333158"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Shape 56">
            <a:extLst>
              <a:ext uri="{FF2B5EF4-FFF2-40B4-BE49-F238E27FC236}">
                <a16:creationId xmlns:a16="http://schemas.microsoft.com/office/drawing/2014/main" id="{C697EE6B-322B-0088-79AD-B60703DCEDD3}"/>
              </a:ext>
            </a:extLst>
          </p:cNvPr>
          <p:cNvSpPr/>
          <p:nvPr/>
        </p:nvSpPr>
        <p:spPr>
          <a:xfrm>
            <a:off x="575006"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57">
            <a:extLst>
              <a:ext uri="{FF2B5EF4-FFF2-40B4-BE49-F238E27FC236}">
                <a16:creationId xmlns:a16="http://schemas.microsoft.com/office/drawing/2014/main" id="{72A05800-1AA6-8FA1-8F07-F6A3ABDE7DC1}"/>
              </a:ext>
            </a:extLst>
          </p:cNvPr>
          <p:cNvSpPr txBox="1"/>
          <p:nvPr/>
        </p:nvSpPr>
        <p:spPr>
          <a:xfrm>
            <a:off x="1151307"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1</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Enablement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59">
            <a:extLst>
              <a:ext uri="{FF2B5EF4-FFF2-40B4-BE49-F238E27FC236}">
                <a16:creationId xmlns:a16="http://schemas.microsoft.com/office/drawing/2014/main" id="{DDA92115-6D95-B64B-5B9A-D499450DAE9A}"/>
              </a:ext>
            </a:extLst>
          </p:cNvPr>
          <p:cNvSpPr txBox="1"/>
          <p:nvPr/>
        </p:nvSpPr>
        <p:spPr>
          <a:xfrm>
            <a:off x="490167"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Where are we starting from?</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10" name="Shape 54">
            <a:extLst>
              <a:ext uri="{FF2B5EF4-FFF2-40B4-BE49-F238E27FC236}">
                <a16:creationId xmlns:a16="http://schemas.microsoft.com/office/drawing/2014/main" id="{FD9BA603-A48B-80C9-BA23-B88AD9052DC2}"/>
              </a:ext>
            </a:extLst>
          </p:cNvPr>
          <p:cNvSpPr/>
          <p:nvPr/>
        </p:nvSpPr>
        <p:spPr>
          <a:xfrm>
            <a:off x="2667706" y="1677972"/>
            <a:ext cx="2195509" cy="4685121"/>
          </a:xfrm>
          <a:prstGeom prst="roundRect">
            <a:avLst>
              <a:gd name="adj" fmla="val 6561"/>
            </a:avLst>
          </a:prstGeom>
          <a:solidFill>
            <a:schemeClr val="accent6">
              <a:lumMod val="20000"/>
              <a:lumOff val="80000"/>
            </a:schemeClr>
          </a:solidFill>
          <a:ln/>
          <a:effectLst>
            <a:outerShdw blurRad="63500" dist="38100" dir="16200000" algn="bl" rotWithShape="0">
              <a:srgbClr val="000000">
                <a:alpha val="5000"/>
              </a:srgbClr>
            </a:outerShdw>
          </a:effectLst>
        </p:spPr>
        <p:txBody>
          <a:bodyPr/>
          <a:lstStyle/>
          <a:p>
            <a:endParaRPr lang="en-US">
              <a:solidFill>
                <a:prstClr val="black"/>
              </a:solidFill>
              <a:latin typeface="Arial" panose="020B0604020202020204" pitchFamily="34" charset="0"/>
              <a:cs typeface="Arial" panose="020B0604020202020204" pitchFamily="34" charset="0"/>
            </a:endParaRPr>
          </a:p>
        </p:txBody>
      </p:sp>
      <p:sp>
        <p:nvSpPr>
          <p:cNvPr id="11" name="Shape 55">
            <a:extLst>
              <a:ext uri="{FF2B5EF4-FFF2-40B4-BE49-F238E27FC236}">
                <a16:creationId xmlns:a16="http://schemas.microsoft.com/office/drawing/2014/main" id="{45E3765F-0E34-9461-DC39-A11E4B00B264}"/>
              </a:ext>
            </a:extLst>
          </p:cNvPr>
          <p:cNvSpPr/>
          <p:nvPr/>
        </p:nvSpPr>
        <p:spPr>
          <a:xfrm>
            <a:off x="2667710"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Shape 56">
            <a:extLst>
              <a:ext uri="{FF2B5EF4-FFF2-40B4-BE49-F238E27FC236}">
                <a16:creationId xmlns:a16="http://schemas.microsoft.com/office/drawing/2014/main" id="{B27842E1-42BB-5AF0-B3CC-7504259793AE}"/>
              </a:ext>
            </a:extLst>
          </p:cNvPr>
          <p:cNvSpPr/>
          <p:nvPr/>
        </p:nvSpPr>
        <p:spPr>
          <a:xfrm>
            <a:off x="2909559"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57">
            <a:extLst>
              <a:ext uri="{FF2B5EF4-FFF2-40B4-BE49-F238E27FC236}">
                <a16:creationId xmlns:a16="http://schemas.microsoft.com/office/drawing/2014/main" id="{A56A6185-1D22-DBE7-FD45-C8079AC3104C}"/>
              </a:ext>
            </a:extLst>
          </p:cNvPr>
          <p:cNvSpPr txBox="1"/>
          <p:nvPr/>
        </p:nvSpPr>
        <p:spPr>
          <a:xfrm>
            <a:off x="3485860"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2</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Define Lifecycle</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59">
            <a:extLst>
              <a:ext uri="{FF2B5EF4-FFF2-40B4-BE49-F238E27FC236}">
                <a16:creationId xmlns:a16="http://schemas.microsoft.com/office/drawing/2014/main" id="{F1CB513F-2B42-1142-3464-33104ECA9D55}"/>
              </a:ext>
            </a:extLst>
          </p:cNvPr>
          <p:cNvSpPr txBox="1"/>
          <p:nvPr/>
        </p:nvSpPr>
        <p:spPr>
          <a:xfrm>
            <a:off x="2824720"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How should we work?</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15" name="Shape 54">
            <a:extLst>
              <a:ext uri="{FF2B5EF4-FFF2-40B4-BE49-F238E27FC236}">
                <a16:creationId xmlns:a16="http://schemas.microsoft.com/office/drawing/2014/main" id="{EE3FE158-E0EC-CEC4-05F8-72D8AC763B5A}"/>
              </a:ext>
            </a:extLst>
          </p:cNvPr>
          <p:cNvSpPr/>
          <p:nvPr/>
        </p:nvSpPr>
        <p:spPr>
          <a:xfrm>
            <a:off x="5002259"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Shape 55">
            <a:extLst>
              <a:ext uri="{FF2B5EF4-FFF2-40B4-BE49-F238E27FC236}">
                <a16:creationId xmlns:a16="http://schemas.microsoft.com/office/drawing/2014/main" id="{CEE7939D-B367-BA70-AC47-A371FC202E05}"/>
              </a:ext>
            </a:extLst>
          </p:cNvPr>
          <p:cNvSpPr/>
          <p:nvPr/>
        </p:nvSpPr>
        <p:spPr>
          <a:xfrm>
            <a:off x="5002264"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56">
            <a:extLst>
              <a:ext uri="{FF2B5EF4-FFF2-40B4-BE49-F238E27FC236}">
                <a16:creationId xmlns:a16="http://schemas.microsoft.com/office/drawing/2014/main" id="{7634DA1C-CF0E-E4F3-CC0A-DCC144A46653}"/>
              </a:ext>
            </a:extLst>
          </p:cNvPr>
          <p:cNvSpPr/>
          <p:nvPr/>
        </p:nvSpPr>
        <p:spPr>
          <a:xfrm>
            <a:off x="5244112"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 57">
            <a:extLst>
              <a:ext uri="{FF2B5EF4-FFF2-40B4-BE49-F238E27FC236}">
                <a16:creationId xmlns:a16="http://schemas.microsoft.com/office/drawing/2014/main" id="{C9626578-0595-867C-17C4-E064CEBFB329}"/>
              </a:ext>
            </a:extLst>
          </p:cNvPr>
          <p:cNvSpPr txBox="1"/>
          <p:nvPr/>
        </p:nvSpPr>
        <p:spPr>
          <a:xfrm>
            <a:off x="5751544" y="1862265"/>
            <a:ext cx="1515094"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3</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Design Tool Ecosystem</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59">
            <a:extLst>
              <a:ext uri="{FF2B5EF4-FFF2-40B4-BE49-F238E27FC236}">
                <a16:creationId xmlns:a16="http://schemas.microsoft.com/office/drawing/2014/main" id="{E24AE08E-7878-3006-5070-551F380EBA13}"/>
              </a:ext>
            </a:extLst>
          </p:cNvPr>
          <p:cNvSpPr txBox="1"/>
          <p:nvPr/>
        </p:nvSpPr>
        <p:spPr>
          <a:xfrm>
            <a:off x="5159274"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What supports the process?</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20" name="Shape 54">
            <a:extLst>
              <a:ext uri="{FF2B5EF4-FFF2-40B4-BE49-F238E27FC236}">
                <a16:creationId xmlns:a16="http://schemas.microsoft.com/office/drawing/2014/main" id="{ED4900DD-60C6-EB79-77B9-C5C2154AB847}"/>
              </a:ext>
            </a:extLst>
          </p:cNvPr>
          <p:cNvSpPr/>
          <p:nvPr/>
        </p:nvSpPr>
        <p:spPr>
          <a:xfrm>
            <a:off x="7336812"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Shape 55">
            <a:extLst>
              <a:ext uri="{FF2B5EF4-FFF2-40B4-BE49-F238E27FC236}">
                <a16:creationId xmlns:a16="http://schemas.microsoft.com/office/drawing/2014/main" id="{3F45C222-7987-29AA-B68C-C7975F4EF10E}"/>
              </a:ext>
            </a:extLst>
          </p:cNvPr>
          <p:cNvSpPr/>
          <p:nvPr/>
        </p:nvSpPr>
        <p:spPr>
          <a:xfrm>
            <a:off x="7336817"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Shape 56">
            <a:extLst>
              <a:ext uri="{FF2B5EF4-FFF2-40B4-BE49-F238E27FC236}">
                <a16:creationId xmlns:a16="http://schemas.microsoft.com/office/drawing/2014/main" id="{D2EEB4A1-D707-9AB9-CC72-DD29C20DAAF9}"/>
              </a:ext>
            </a:extLst>
          </p:cNvPr>
          <p:cNvSpPr/>
          <p:nvPr/>
        </p:nvSpPr>
        <p:spPr>
          <a:xfrm>
            <a:off x="7578665"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Text 57">
            <a:extLst>
              <a:ext uri="{FF2B5EF4-FFF2-40B4-BE49-F238E27FC236}">
                <a16:creationId xmlns:a16="http://schemas.microsoft.com/office/drawing/2014/main" id="{1EA2B7B6-F941-75F1-BB5E-5D1F2593570E}"/>
              </a:ext>
            </a:extLst>
          </p:cNvPr>
          <p:cNvSpPr txBox="1"/>
          <p:nvPr/>
        </p:nvSpPr>
        <p:spPr>
          <a:xfrm>
            <a:off x="8154966" y="1862265"/>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4</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Pilot Execution (BRS)</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Text 59">
            <a:extLst>
              <a:ext uri="{FF2B5EF4-FFF2-40B4-BE49-F238E27FC236}">
                <a16:creationId xmlns:a16="http://schemas.microsoft.com/office/drawing/2014/main" id="{F87AF825-2C25-6478-9B81-F71F8221C4DE}"/>
              </a:ext>
            </a:extLst>
          </p:cNvPr>
          <p:cNvSpPr txBox="1"/>
          <p:nvPr/>
        </p:nvSpPr>
        <p:spPr>
          <a:xfrm>
            <a:off x="7493826"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Does it work in reality?</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25" name="Shape 54">
            <a:extLst>
              <a:ext uri="{FF2B5EF4-FFF2-40B4-BE49-F238E27FC236}">
                <a16:creationId xmlns:a16="http://schemas.microsoft.com/office/drawing/2014/main" id="{FC172BBD-30E1-531C-3F38-339107A5BB04}"/>
              </a:ext>
            </a:extLst>
          </p:cNvPr>
          <p:cNvSpPr/>
          <p:nvPr/>
        </p:nvSpPr>
        <p:spPr>
          <a:xfrm>
            <a:off x="9671366"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Shape 55">
            <a:extLst>
              <a:ext uri="{FF2B5EF4-FFF2-40B4-BE49-F238E27FC236}">
                <a16:creationId xmlns:a16="http://schemas.microsoft.com/office/drawing/2014/main" id="{08CF0B06-83FB-2F29-D9A5-D3C94116F49F}"/>
              </a:ext>
            </a:extLst>
          </p:cNvPr>
          <p:cNvSpPr/>
          <p:nvPr/>
        </p:nvSpPr>
        <p:spPr>
          <a:xfrm>
            <a:off x="9671371"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Shape 56">
            <a:extLst>
              <a:ext uri="{FF2B5EF4-FFF2-40B4-BE49-F238E27FC236}">
                <a16:creationId xmlns:a16="http://schemas.microsoft.com/office/drawing/2014/main" id="{69D77D73-B911-B3A1-F25C-8B04D0B33F8B}"/>
              </a:ext>
            </a:extLst>
          </p:cNvPr>
          <p:cNvSpPr/>
          <p:nvPr/>
        </p:nvSpPr>
        <p:spPr>
          <a:xfrm>
            <a:off x="9913219"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Text 57">
            <a:extLst>
              <a:ext uri="{FF2B5EF4-FFF2-40B4-BE49-F238E27FC236}">
                <a16:creationId xmlns:a16="http://schemas.microsoft.com/office/drawing/2014/main" id="{065E73D4-6EE1-C1DD-9E85-9CC8CC84528F}"/>
              </a:ext>
            </a:extLst>
          </p:cNvPr>
          <p:cNvSpPr txBox="1"/>
          <p:nvPr/>
        </p:nvSpPr>
        <p:spPr>
          <a:xfrm>
            <a:off x="10489520"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5</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Learn &amp; Adjust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ext 59">
            <a:extLst>
              <a:ext uri="{FF2B5EF4-FFF2-40B4-BE49-F238E27FC236}">
                <a16:creationId xmlns:a16="http://schemas.microsoft.com/office/drawing/2014/main" id="{7B7E3AD3-E0F2-0161-F775-F8302B959C57}"/>
              </a:ext>
            </a:extLst>
          </p:cNvPr>
          <p:cNvSpPr txBox="1"/>
          <p:nvPr/>
        </p:nvSpPr>
        <p:spPr>
          <a:xfrm>
            <a:off x="9828380"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What needs refinement?</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55" name="Shape 38">
            <a:extLst>
              <a:ext uri="{FF2B5EF4-FFF2-40B4-BE49-F238E27FC236}">
                <a16:creationId xmlns:a16="http://schemas.microsoft.com/office/drawing/2014/main" id="{62EC3D86-D80A-97E3-1650-5FBAFC73B3B8}"/>
              </a:ext>
            </a:extLst>
          </p:cNvPr>
          <p:cNvSpPr/>
          <p:nvPr/>
        </p:nvSpPr>
        <p:spPr>
          <a:xfrm>
            <a:off x="5113880" y="4762853"/>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 name="Text 39">
            <a:extLst>
              <a:ext uri="{FF2B5EF4-FFF2-40B4-BE49-F238E27FC236}">
                <a16:creationId xmlns:a16="http://schemas.microsoft.com/office/drawing/2014/main" id="{A3FE2458-0373-61AB-E0E9-C68FD44C63D0}"/>
              </a:ext>
            </a:extLst>
          </p:cNvPr>
          <p:cNvSpPr txBox="1"/>
          <p:nvPr/>
        </p:nvSpPr>
        <p:spPr>
          <a:xfrm>
            <a:off x="5362429" y="4762853"/>
            <a:ext cx="825705"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7" name="Image 5" descr="preencoded.png">
            <a:extLst>
              <a:ext uri="{FF2B5EF4-FFF2-40B4-BE49-F238E27FC236}">
                <a16:creationId xmlns:a16="http://schemas.microsoft.com/office/drawing/2014/main" id="{E5D1656B-8C65-448D-AB2B-351230478C01}"/>
              </a:ext>
            </a:extLst>
          </p:cNvPr>
          <p:cNvPicPr>
            <a:picLocks noChangeAspect="1"/>
          </p:cNvPicPr>
          <p:nvPr/>
        </p:nvPicPr>
        <p:blipFill>
          <a:blip r:embed="rId3"/>
          <a:srcRect l="-1923" r="-1923"/>
          <a:stretch/>
        </p:blipFill>
        <p:spPr>
          <a:xfrm>
            <a:off x="5199833" y="4822447"/>
            <a:ext cx="123444" cy="91706"/>
          </a:xfrm>
          <a:prstGeom prst="rect">
            <a:avLst/>
          </a:prstGeom>
          <a:solidFill>
            <a:srgbClr val="92D050"/>
          </a:solidFill>
        </p:spPr>
      </p:pic>
      <p:sp>
        <p:nvSpPr>
          <p:cNvPr id="58" name="Text 40">
            <a:extLst>
              <a:ext uri="{FF2B5EF4-FFF2-40B4-BE49-F238E27FC236}">
                <a16:creationId xmlns:a16="http://schemas.microsoft.com/office/drawing/2014/main" id="{7A90F2D2-3AA5-ADDC-1861-EC05B17430C1}"/>
              </a:ext>
            </a:extLst>
          </p:cNvPr>
          <p:cNvSpPr txBox="1"/>
          <p:nvPr/>
        </p:nvSpPr>
        <p:spPr>
          <a:xfrm>
            <a:off x="5130991" y="2852589"/>
            <a:ext cx="1969198"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Text 41">
            <a:extLst>
              <a:ext uri="{FF2B5EF4-FFF2-40B4-BE49-F238E27FC236}">
                <a16:creationId xmlns:a16="http://schemas.microsoft.com/office/drawing/2014/main" id="{5787ED73-4961-26AD-19A0-E063FD842B96}"/>
              </a:ext>
            </a:extLst>
          </p:cNvPr>
          <p:cNvSpPr txBox="1"/>
          <p:nvPr/>
        </p:nvSpPr>
        <p:spPr>
          <a:xfrm>
            <a:off x="5130991" y="3018969"/>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Text 42">
            <a:extLst>
              <a:ext uri="{FF2B5EF4-FFF2-40B4-BE49-F238E27FC236}">
                <a16:creationId xmlns:a16="http://schemas.microsoft.com/office/drawing/2014/main" id="{11606C80-4C6B-FCAA-8959-147EB43063F9}"/>
              </a:ext>
            </a:extLst>
          </p:cNvPr>
          <p:cNvSpPr txBox="1"/>
          <p:nvPr/>
        </p:nvSpPr>
        <p:spPr>
          <a:xfrm>
            <a:off x="5130991" y="3202187"/>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1" name="Text 11">
            <a:extLst>
              <a:ext uri="{FF2B5EF4-FFF2-40B4-BE49-F238E27FC236}">
                <a16:creationId xmlns:a16="http://schemas.microsoft.com/office/drawing/2014/main" id="{D572CC2E-E61F-8D74-9ECB-2B58C00DC7EA}"/>
              </a:ext>
            </a:extLst>
          </p:cNvPr>
          <p:cNvSpPr txBox="1"/>
          <p:nvPr/>
        </p:nvSpPr>
        <p:spPr>
          <a:xfrm>
            <a:off x="514371" y="2852589"/>
            <a:ext cx="1799311"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Text 12">
            <a:extLst>
              <a:ext uri="{FF2B5EF4-FFF2-40B4-BE49-F238E27FC236}">
                <a16:creationId xmlns:a16="http://schemas.microsoft.com/office/drawing/2014/main" id="{14B4BE13-E1C7-B832-3B26-4C6984F2D6B1}"/>
              </a:ext>
            </a:extLst>
          </p:cNvPr>
          <p:cNvSpPr txBox="1"/>
          <p:nvPr/>
        </p:nvSpPr>
        <p:spPr>
          <a:xfrm>
            <a:off x="514371" y="3018969"/>
            <a:ext cx="1799311"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3" name="Text 13">
            <a:extLst>
              <a:ext uri="{FF2B5EF4-FFF2-40B4-BE49-F238E27FC236}">
                <a16:creationId xmlns:a16="http://schemas.microsoft.com/office/drawing/2014/main" id="{C0F7CBD3-C22F-0942-1CD6-094EB0689605}"/>
              </a:ext>
            </a:extLst>
          </p:cNvPr>
          <p:cNvSpPr txBox="1"/>
          <p:nvPr/>
        </p:nvSpPr>
        <p:spPr>
          <a:xfrm>
            <a:off x="514371" y="3202187"/>
            <a:ext cx="1910429"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4" name="Shape 14">
            <a:extLst>
              <a:ext uri="{FF2B5EF4-FFF2-40B4-BE49-F238E27FC236}">
                <a16:creationId xmlns:a16="http://schemas.microsoft.com/office/drawing/2014/main" id="{D54EC708-DF83-6682-5BA4-AFDD17E2A9C8}"/>
              </a:ext>
            </a:extLst>
          </p:cNvPr>
          <p:cNvSpPr/>
          <p:nvPr/>
        </p:nvSpPr>
        <p:spPr>
          <a:xfrm>
            <a:off x="423620" y="4796341"/>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5" name="Text 15">
            <a:extLst>
              <a:ext uri="{FF2B5EF4-FFF2-40B4-BE49-F238E27FC236}">
                <a16:creationId xmlns:a16="http://schemas.microsoft.com/office/drawing/2014/main" id="{CEFFAECA-3EA5-8018-6163-3E33C9DEA936}"/>
              </a:ext>
            </a:extLst>
          </p:cNvPr>
          <p:cNvSpPr txBox="1"/>
          <p:nvPr/>
        </p:nvSpPr>
        <p:spPr>
          <a:xfrm>
            <a:off x="616765" y="4796341"/>
            <a:ext cx="1121512"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6" name="Image 1" descr="preencoded.png">
            <a:extLst>
              <a:ext uri="{FF2B5EF4-FFF2-40B4-BE49-F238E27FC236}">
                <a16:creationId xmlns:a16="http://schemas.microsoft.com/office/drawing/2014/main" id="{1E7A69C7-82B7-943E-85FB-A79EDFFC66EB}"/>
              </a:ext>
            </a:extLst>
          </p:cNvPr>
          <p:cNvPicPr>
            <a:picLocks noChangeAspect="1"/>
          </p:cNvPicPr>
          <p:nvPr/>
        </p:nvPicPr>
        <p:blipFill>
          <a:blip r:embed="rId4"/>
          <a:srcRect l="-3205" r="-3205"/>
          <a:stretch/>
        </p:blipFill>
        <p:spPr>
          <a:xfrm>
            <a:off x="509574" y="4865121"/>
            <a:ext cx="75895" cy="91706"/>
          </a:xfrm>
          <a:prstGeom prst="rect">
            <a:avLst/>
          </a:prstGeom>
          <a:solidFill>
            <a:srgbClr val="92D050"/>
          </a:solidFill>
        </p:spPr>
      </p:pic>
      <p:sp>
        <p:nvSpPr>
          <p:cNvPr id="67" name="Shape 14">
            <a:extLst>
              <a:ext uri="{FF2B5EF4-FFF2-40B4-BE49-F238E27FC236}">
                <a16:creationId xmlns:a16="http://schemas.microsoft.com/office/drawing/2014/main" id="{A47A65EF-763A-0FE2-C6BA-81617BDA61BE}"/>
              </a:ext>
            </a:extLst>
          </p:cNvPr>
          <p:cNvSpPr/>
          <p:nvPr/>
        </p:nvSpPr>
        <p:spPr>
          <a:xfrm>
            <a:off x="9752816" y="4796341"/>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 15">
            <a:extLst>
              <a:ext uri="{FF2B5EF4-FFF2-40B4-BE49-F238E27FC236}">
                <a16:creationId xmlns:a16="http://schemas.microsoft.com/office/drawing/2014/main" id="{8E786A31-8794-6D37-CB6F-585AA064CF6A}"/>
              </a:ext>
            </a:extLst>
          </p:cNvPr>
          <p:cNvSpPr txBox="1"/>
          <p:nvPr/>
        </p:nvSpPr>
        <p:spPr>
          <a:xfrm>
            <a:off x="9945961" y="4796341"/>
            <a:ext cx="1121512"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Text 29">
            <a:extLst>
              <a:ext uri="{FF2B5EF4-FFF2-40B4-BE49-F238E27FC236}">
                <a16:creationId xmlns:a16="http://schemas.microsoft.com/office/drawing/2014/main" id="{8574784E-BAD5-B1E1-B7B9-287AEDC6C0BF}"/>
              </a:ext>
            </a:extLst>
          </p:cNvPr>
          <p:cNvSpPr txBox="1"/>
          <p:nvPr/>
        </p:nvSpPr>
        <p:spPr>
          <a:xfrm>
            <a:off x="2767781" y="2852589"/>
            <a:ext cx="1969198"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Text 30">
            <a:extLst>
              <a:ext uri="{FF2B5EF4-FFF2-40B4-BE49-F238E27FC236}">
                <a16:creationId xmlns:a16="http://schemas.microsoft.com/office/drawing/2014/main" id="{F04A3A47-D161-0C5C-106B-EF31C2BD367C}"/>
              </a:ext>
            </a:extLst>
          </p:cNvPr>
          <p:cNvSpPr txBox="1"/>
          <p:nvPr/>
        </p:nvSpPr>
        <p:spPr>
          <a:xfrm>
            <a:off x="2767781" y="3018969"/>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Text 31">
            <a:extLst>
              <a:ext uri="{FF2B5EF4-FFF2-40B4-BE49-F238E27FC236}">
                <a16:creationId xmlns:a16="http://schemas.microsoft.com/office/drawing/2014/main" id="{710B1316-9D87-9723-CE90-4FC7E41AAC22}"/>
              </a:ext>
            </a:extLst>
          </p:cNvPr>
          <p:cNvSpPr txBox="1"/>
          <p:nvPr/>
        </p:nvSpPr>
        <p:spPr>
          <a:xfrm>
            <a:off x="2767781" y="3202187"/>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Text 73">
            <a:extLst>
              <a:ext uri="{FF2B5EF4-FFF2-40B4-BE49-F238E27FC236}">
                <a16:creationId xmlns:a16="http://schemas.microsoft.com/office/drawing/2014/main" id="{F4555D89-A7ED-D8D1-CD54-E7B6A08F182F}"/>
              </a:ext>
            </a:extLst>
          </p:cNvPr>
          <p:cNvSpPr txBox="1"/>
          <p:nvPr/>
        </p:nvSpPr>
        <p:spPr>
          <a:xfrm>
            <a:off x="7382264" y="2852589"/>
            <a:ext cx="2084442"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Text 74">
            <a:extLst>
              <a:ext uri="{FF2B5EF4-FFF2-40B4-BE49-F238E27FC236}">
                <a16:creationId xmlns:a16="http://schemas.microsoft.com/office/drawing/2014/main" id="{BBC074F2-BEA3-61A4-77EA-947247676570}"/>
              </a:ext>
            </a:extLst>
          </p:cNvPr>
          <p:cNvSpPr txBox="1"/>
          <p:nvPr/>
        </p:nvSpPr>
        <p:spPr>
          <a:xfrm>
            <a:off x="7382264" y="3018969"/>
            <a:ext cx="2084442"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Text 75">
            <a:extLst>
              <a:ext uri="{FF2B5EF4-FFF2-40B4-BE49-F238E27FC236}">
                <a16:creationId xmlns:a16="http://schemas.microsoft.com/office/drawing/2014/main" id="{FCF9B56D-A53C-9067-818E-0278CE7D3AA7}"/>
              </a:ext>
            </a:extLst>
          </p:cNvPr>
          <p:cNvSpPr txBox="1"/>
          <p:nvPr/>
        </p:nvSpPr>
        <p:spPr>
          <a:xfrm>
            <a:off x="7382264" y="3202187"/>
            <a:ext cx="2084442"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5" name="Text 75">
            <a:extLst>
              <a:ext uri="{FF2B5EF4-FFF2-40B4-BE49-F238E27FC236}">
                <a16:creationId xmlns:a16="http://schemas.microsoft.com/office/drawing/2014/main" id="{7685F6F2-17D3-4737-3E48-94A823D02DFB}"/>
              </a:ext>
            </a:extLst>
          </p:cNvPr>
          <p:cNvSpPr txBox="1"/>
          <p:nvPr/>
        </p:nvSpPr>
        <p:spPr>
          <a:xfrm>
            <a:off x="7382264" y="3408799"/>
            <a:ext cx="2084442" cy="173580"/>
          </a:xfrm>
          <a:prstGeom prst="rect">
            <a:avLst/>
          </a:prstGeom>
          <a:solidFill>
            <a:srgbClr val="00A343"/>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6" name="Image 7" descr="preencoded.png">
            <a:extLst>
              <a:ext uri="{FF2B5EF4-FFF2-40B4-BE49-F238E27FC236}">
                <a16:creationId xmlns:a16="http://schemas.microsoft.com/office/drawing/2014/main" id="{5CD8B296-B751-89B2-263F-2274A4CEF305}"/>
              </a:ext>
            </a:extLst>
          </p:cNvPr>
          <p:cNvPicPr>
            <a:picLocks noChangeAspect="1"/>
          </p:cNvPicPr>
          <p:nvPr/>
        </p:nvPicPr>
        <p:blipFill>
          <a:blip r:embed="rId5"/>
          <a:srcRect/>
          <a:stretch/>
        </p:blipFill>
        <p:spPr>
          <a:xfrm>
            <a:off x="9855859" y="4887443"/>
            <a:ext cx="95098" cy="91706"/>
          </a:xfrm>
          <a:prstGeom prst="rect">
            <a:avLst/>
          </a:prstGeom>
          <a:solidFill>
            <a:srgbClr val="92D050"/>
          </a:solidFill>
        </p:spPr>
      </p:pic>
      <p:sp>
        <p:nvSpPr>
          <p:cNvPr id="77" name="Text 51">
            <a:extLst>
              <a:ext uri="{FF2B5EF4-FFF2-40B4-BE49-F238E27FC236}">
                <a16:creationId xmlns:a16="http://schemas.microsoft.com/office/drawing/2014/main" id="{C8184DF9-3798-A23C-03F6-9180E3C59CC8}"/>
              </a:ext>
            </a:extLst>
          </p:cNvPr>
          <p:cNvSpPr txBox="1"/>
          <p:nvPr/>
        </p:nvSpPr>
        <p:spPr>
          <a:xfrm>
            <a:off x="9768056" y="2852589"/>
            <a:ext cx="1827426"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8" name="Text 52">
            <a:extLst>
              <a:ext uri="{FF2B5EF4-FFF2-40B4-BE49-F238E27FC236}">
                <a16:creationId xmlns:a16="http://schemas.microsoft.com/office/drawing/2014/main" id="{043C8808-671C-5407-058C-0689E47CC703}"/>
              </a:ext>
            </a:extLst>
          </p:cNvPr>
          <p:cNvSpPr txBox="1"/>
          <p:nvPr/>
        </p:nvSpPr>
        <p:spPr>
          <a:xfrm>
            <a:off x="9768056" y="3018969"/>
            <a:ext cx="1799311"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9" name="Text 53">
            <a:extLst>
              <a:ext uri="{FF2B5EF4-FFF2-40B4-BE49-F238E27FC236}">
                <a16:creationId xmlns:a16="http://schemas.microsoft.com/office/drawing/2014/main" id="{8ED270F1-D4C4-AE52-D522-EC595ED72521}"/>
              </a:ext>
            </a:extLst>
          </p:cNvPr>
          <p:cNvSpPr txBox="1"/>
          <p:nvPr/>
        </p:nvSpPr>
        <p:spPr>
          <a:xfrm>
            <a:off x="9768056" y="3202187"/>
            <a:ext cx="1910429"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0" name="Text 53">
            <a:extLst>
              <a:ext uri="{FF2B5EF4-FFF2-40B4-BE49-F238E27FC236}">
                <a16:creationId xmlns:a16="http://schemas.microsoft.com/office/drawing/2014/main" id="{56D7D58D-107B-F916-34AE-9C7C70F75AEE}"/>
              </a:ext>
            </a:extLst>
          </p:cNvPr>
          <p:cNvSpPr txBox="1"/>
          <p:nvPr/>
        </p:nvSpPr>
        <p:spPr>
          <a:xfrm>
            <a:off x="9768056" y="3407946"/>
            <a:ext cx="1910429" cy="173580"/>
          </a:xfrm>
          <a:prstGeom prst="rect">
            <a:avLst/>
          </a:prstGeom>
          <a:solidFill>
            <a:srgbClr val="00A343"/>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CuadroTexto 171">
            <a:extLst>
              <a:ext uri="{FF2B5EF4-FFF2-40B4-BE49-F238E27FC236}">
                <a16:creationId xmlns:a16="http://schemas.microsoft.com/office/drawing/2014/main" id="{0A8952EC-857F-9D29-9BB3-BB86F98425DB}"/>
              </a:ext>
            </a:extLst>
          </p:cNvPr>
          <p:cNvSpPr txBox="1"/>
          <p:nvPr/>
        </p:nvSpPr>
        <p:spPr>
          <a:xfrm>
            <a:off x="407473"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establish a fact-based understanding of the current state and identify the key gaps that must be addressed in the new model.</a:t>
            </a:r>
          </a:p>
        </p:txBody>
      </p:sp>
      <p:sp>
        <p:nvSpPr>
          <p:cNvPr id="82" name="CuadroTexto 172">
            <a:extLst>
              <a:ext uri="{FF2B5EF4-FFF2-40B4-BE49-F238E27FC236}">
                <a16:creationId xmlns:a16="http://schemas.microsoft.com/office/drawing/2014/main" id="{A5B2E72A-86A9-DCC4-BDEF-A4A1CC654109}"/>
              </a:ext>
            </a:extLst>
          </p:cNvPr>
          <p:cNvSpPr txBox="1"/>
          <p:nvPr/>
        </p:nvSpPr>
        <p:spPr>
          <a:xfrm>
            <a:off x="2742026"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create a clear, standardized way of working that aligns roles, decisions, and value-based prioritization end-to-end.</a:t>
            </a:r>
          </a:p>
        </p:txBody>
      </p:sp>
      <p:sp>
        <p:nvSpPr>
          <p:cNvPr id="83" name="CuadroTexto 173">
            <a:extLst>
              <a:ext uri="{FF2B5EF4-FFF2-40B4-BE49-F238E27FC236}">
                <a16:creationId xmlns:a16="http://schemas.microsoft.com/office/drawing/2014/main" id="{40A87D93-74E6-F4D2-0597-71F02FE7C4E9}"/>
              </a:ext>
            </a:extLst>
          </p:cNvPr>
          <p:cNvSpPr txBox="1"/>
          <p:nvPr/>
        </p:nvSpPr>
        <p:spPr>
          <a:xfrm>
            <a:off x="5076579"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ensure the right tools and configurations support the new lifecycle and enable integration, visibility, and scalability.</a:t>
            </a:r>
          </a:p>
        </p:txBody>
      </p:sp>
      <p:sp>
        <p:nvSpPr>
          <p:cNvPr id="84" name="CuadroTexto 174">
            <a:extLst>
              <a:ext uri="{FF2B5EF4-FFF2-40B4-BE49-F238E27FC236}">
                <a16:creationId xmlns:a16="http://schemas.microsoft.com/office/drawing/2014/main" id="{0EFF209A-EE66-6337-D415-11794EEE0417}"/>
              </a:ext>
            </a:extLst>
          </p:cNvPr>
          <p:cNvSpPr txBox="1"/>
          <p:nvPr/>
        </p:nvSpPr>
        <p:spPr>
          <a:xfrm>
            <a:off x="7411132"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validate the new operating model in a real project and test whether it works effectively in practice.</a:t>
            </a:r>
          </a:p>
        </p:txBody>
      </p:sp>
      <p:sp>
        <p:nvSpPr>
          <p:cNvPr id="85" name="CuadroTexto 175">
            <a:extLst>
              <a:ext uri="{FF2B5EF4-FFF2-40B4-BE49-F238E27FC236}">
                <a16:creationId xmlns:a16="http://schemas.microsoft.com/office/drawing/2014/main" id="{79174E68-7557-DC0A-025E-1C49FAAC3DD6}"/>
              </a:ext>
            </a:extLst>
          </p:cNvPr>
          <p:cNvSpPr txBox="1"/>
          <p:nvPr/>
        </p:nvSpPr>
        <p:spPr>
          <a:xfrm>
            <a:off x="9745686"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refine the model based on real feedback and prepare a stronger, scalable version for broader adoption.</a:t>
            </a:r>
          </a:p>
        </p:txBody>
      </p:sp>
      <p:sp>
        <p:nvSpPr>
          <p:cNvPr id="86" name="Shape 55">
            <a:extLst>
              <a:ext uri="{FF2B5EF4-FFF2-40B4-BE49-F238E27FC236}">
                <a16:creationId xmlns:a16="http://schemas.microsoft.com/office/drawing/2014/main" id="{9CF6CECF-30AE-C706-D0BD-422B939DA652}"/>
              </a:ext>
            </a:extLst>
          </p:cNvPr>
          <p:cNvSpPr/>
          <p:nvPr/>
        </p:nvSpPr>
        <p:spPr>
          <a:xfrm flipV="1">
            <a:off x="867591"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Shape 55">
            <a:extLst>
              <a:ext uri="{FF2B5EF4-FFF2-40B4-BE49-F238E27FC236}">
                <a16:creationId xmlns:a16="http://schemas.microsoft.com/office/drawing/2014/main" id="{DB9175DD-DCA8-9120-142B-02CA6DDDB3F8}"/>
              </a:ext>
            </a:extLst>
          </p:cNvPr>
          <p:cNvSpPr/>
          <p:nvPr/>
        </p:nvSpPr>
        <p:spPr>
          <a:xfrm flipV="1">
            <a:off x="3202143"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8" name="Shape 55">
            <a:extLst>
              <a:ext uri="{FF2B5EF4-FFF2-40B4-BE49-F238E27FC236}">
                <a16:creationId xmlns:a16="http://schemas.microsoft.com/office/drawing/2014/main" id="{B76FF6FA-23DB-F1E0-037E-B8710E7DE939}"/>
              </a:ext>
            </a:extLst>
          </p:cNvPr>
          <p:cNvSpPr/>
          <p:nvPr/>
        </p:nvSpPr>
        <p:spPr>
          <a:xfrm flipV="1">
            <a:off x="5536697"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0" name="Shape 55">
            <a:extLst>
              <a:ext uri="{FF2B5EF4-FFF2-40B4-BE49-F238E27FC236}">
                <a16:creationId xmlns:a16="http://schemas.microsoft.com/office/drawing/2014/main" id="{F4666441-DD0C-FA66-4B60-EF259EB9C71D}"/>
              </a:ext>
            </a:extLst>
          </p:cNvPr>
          <p:cNvSpPr/>
          <p:nvPr/>
        </p:nvSpPr>
        <p:spPr>
          <a:xfrm flipV="1">
            <a:off x="7871250"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1" name="Shape 55">
            <a:extLst>
              <a:ext uri="{FF2B5EF4-FFF2-40B4-BE49-F238E27FC236}">
                <a16:creationId xmlns:a16="http://schemas.microsoft.com/office/drawing/2014/main" id="{D757C170-0E5D-9972-1ED7-B8AE9A7FBC9E}"/>
              </a:ext>
            </a:extLst>
          </p:cNvPr>
          <p:cNvSpPr/>
          <p:nvPr/>
        </p:nvSpPr>
        <p:spPr>
          <a:xfrm flipV="1">
            <a:off x="10205804"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Shape 55">
            <a:extLst>
              <a:ext uri="{FF2B5EF4-FFF2-40B4-BE49-F238E27FC236}">
                <a16:creationId xmlns:a16="http://schemas.microsoft.com/office/drawing/2014/main" id="{E3356444-D6BD-93C9-CFF8-0E747F31B0B6}"/>
              </a:ext>
            </a:extLst>
          </p:cNvPr>
          <p:cNvSpPr/>
          <p:nvPr/>
        </p:nvSpPr>
        <p:spPr>
          <a:xfrm>
            <a:off x="333158"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3" name="Shape 55">
            <a:extLst>
              <a:ext uri="{FF2B5EF4-FFF2-40B4-BE49-F238E27FC236}">
                <a16:creationId xmlns:a16="http://schemas.microsoft.com/office/drawing/2014/main" id="{16738A9E-73BF-E837-D549-767092165A24}"/>
              </a:ext>
            </a:extLst>
          </p:cNvPr>
          <p:cNvSpPr/>
          <p:nvPr/>
        </p:nvSpPr>
        <p:spPr>
          <a:xfrm>
            <a:off x="2667710"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4" name="Shape 55">
            <a:extLst>
              <a:ext uri="{FF2B5EF4-FFF2-40B4-BE49-F238E27FC236}">
                <a16:creationId xmlns:a16="http://schemas.microsoft.com/office/drawing/2014/main" id="{114C42D1-27B5-DDAD-1D09-1AFAD486BF62}"/>
              </a:ext>
            </a:extLst>
          </p:cNvPr>
          <p:cNvSpPr/>
          <p:nvPr/>
        </p:nvSpPr>
        <p:spPr>
          <a:xfrm>
            <a:off x="5002264"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5" name="Shape 55">
            <a:extLst>
              <a:ext uri="{FF2B5EF4-FFF2-40B4-BE49-F238E27FC236}">
                <a16:creationId xmlns:a16="http://schemas.microsoft.com/office/drawing/2014/main" id="{2006E680-7FFC-8FAE-42D1-657A72541CDD}"/>
              </a:ext>
            </a:extLst>
          </p:cNvPr>
          <p:cNvSpPr/>
          <p:nvPr/>
        </p:nvSpPr>
        <p:spPr>
          <a:xfrm>
            <a:off x="7336817"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Shape 55">
            <a:extLst>
              <a:ext uri="{FF2B5EF4-FFF2-40B4-BE49-F238E27FC236}">
                <a16:creationId xmlns:a16="http://schemas.microsoft.com/office/drawing/2014/main" id="{E62C4177-3D01-A862-65E3-7A3B845B4D80}"/>
              </a:ext>
            </a:extLst>
          </p:cNvPr>
          <p:cNvSpPr/>
          <p:nvPr/>
        </p:nvSpPr>
        <p:spPr>
          <a:xfrm>
            <a:off x="9671371"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97" name="Image 0" descr="preencoded.png">
            <a:extLst>
              <a:ext uri="{FF2B5EF4-FFF2-40B4-BE49-F238E27FC236}">
                <a16:creationId xmlns:a16="http://schemas.microsoft.com/office/drawing/2014/main" id="{4535B11D-4A5E-31D5-7688-9A46E5965418}"/>
              </a:ext>
            </a:extLst>
          </p:cNvPr>
          <p:cNvPicPr>
            <a:picLocks noChangeAspect="1"/>
          </p:cNvPicPr>
          <p:nvPr/>
        </p:nvPicPr>
        <p:blipFill>
          <a:blip r:embed="rId6"/>
          <a:srcRect/>
          <a:stretch/>
        </p:blipFill>
        <p:spPr>
          <a:xfrm>
            <a:off x="645332" y="1933758"/>
            <a:ext cx="260158" cy="250879"/>
          </a:xfrm>
          <a:prstGeom prst="rect">
            <a:avLst/>
          </a:prstGeom>
          <a:noFill/>
        </p:spPr>
      </p:pic>
      <p:pic>
        <p:nvPicPr>
          <p:cNvPr id="98" name="Image 2" descr="preencoded.png">
            <a:extLst>
              <a:ext uri="{FF2B5EF4-FFF2-40B4-BE49-F238E27FC236}">
                <a16:creationId xmlns:a16="http://schemas.microsoft.com/office/drawing/2014/main" id="{C4C06712-0E84-20EC-67CB-00BE2A1CA4B8}"/>
              </a:ext>
            </a:extLst>
          </p:cNvPr>
          <p:cNvPicPr>
            <a:picLocks noChangeAspect="1"/>
          </p:cNvPicPr>
          <p:nvPr/>
        </p:nvPicPr>
        <p:blipFill>
          <a:blip r:embed="rId7"/>
          <a:srcRect l="-837" r="-837"/>
          <a:stretch/>
        </p:blipFill>
        <p:spPr>
          <a:xfrm>
            <a:off x="2960424" y="1933758"/>
            <a:ext cx="297580" cy="250879"/>
          </a:xfrm>
          <a:prstGeom prst="rect">
            <a:avLst/>
          </a:prstGeom>
          <a:noFill/>
        </p:spPr>
      </p:pic>
      <p:pic>
        <p:nvPicPr>
          <p:cNvPr id="99" name="Image 4" descr="preencoded.png">
            <a:extLst>
              <a:ext uri="{FF2B5EF4-FFF2-40B4-BE49-F238E27FC236}">
                <a16:creationId xmlns:a16="http://schemas.microsoft.com/office/drawing/2014/main" id="{40F0C815-9990-6C3C-AE7E-90004FEDD983}"/>
              </a:ext>
            </a:extLst>
          </p:cNvPr>
          <p:cNvPicPr>
            <a:picLocks noChangeAspect="1"/>
          </p:cNvPicPr>
          <p:nvPr/>
        </p:nvPicPr>
        <p:blipFill>
          <a:blip r:embed="rId8"/>
          <a:srcRect/>
          <a:stretch/>
        </p:blipFill>
        <p:spPr>
          <a:xfrm>
            <a:off x="5319643" y="1943556"/>
            <a:ext cx="260158" cy="250879"/>
          </a:xfrm>
          <a:prstGeom prst="rect">
            <a:avLst/>
          </a:prstGeom>
          <a:noFill/>
        </p:spPr>
      </p:pic>
      <p:pic>
        <p:nvPicPr>
          <p:cNvPr id="100" name="Image 6" descr="preencoded.png">
            <a:extLst>
              <a:ext uri="{FF2B5EF4-FFF2-40B4-BE49-F238E27FC236}">
                <a16:creationId xmlns:a16="http://schemas.microsoft.com/office/drawing/2014/main" id="{81BDF9D1-C7DD-A2A8-1114-E6620833A181}"/>
              </a:ext>
            </a:extLst>
          </p:cNvPr>
          <p:cNvPicPr>
            <a:picLocks noChangeAspect="1"/>
          </p:cNvPicPr>
          <p:nvPr/>
        </p:nvPicPr>
        <p:blipFill>
          <a:blip r:embed="rId9"/>
          <a:srcRect/>
          <a:stretch/>
        </p:blipFill>
        <p:spPr>
          <a:xfrm>
            <a:off x="9987757" y="1943556"/>
            <a:ext cx="260158" cy="250879"/>
          </a:xfrm>
          <a:prstGeom prst="rect">
            <a:avLst/>
          </a:prstGeom>
          <a:noFill/>
        </p:spPr>
      </p:pic>
      <p:pic>
        <p:nvPicPr>
          <p:cNvPr id="101" name="Image 10" descr="preencoded.png">
            <a:extLst>
              <a:ext uri="{FF2B5EF4-FFF2-40B4-BE49-F238E27FC236}">
                <a16:creationId xmlns:a16="http://schemas.microsoft.com/office/drawing/2014/main" id="{7580CECC-3100-0AA9-493F-ECB5EA8C8363}"/>
              </a:ext>
            </a:extLst>
          </p:cNvPr>
          <p:cNvPicPr>
            <a:picLocks noChangeAspect="1"/>
          </p:cNvPicPr>
          <p:nvPr/>
        </p:nvPicPr>
        <p:blipFill>
          <a:blip r:embed="rId10"/>
          <a:srcRect l="-1507" r="-1507"/>
          <a:stretch/>
        </p:blipFill>
        <p:spPr>
          <a:xfrm>
            <a:off x="7634961" y="1954960"/>
            <a:ext cx="304545" cy="228071"/>
          </a:xfrm>
          <a:prstGeom prst="rect">
            <a:avLst/>
          </a:prstGeom>
          <a:noFill/>
        </p:spPr>
      </p:pic>
      <p:sp>
        <p:nvSpPr>
          <p:cNvPr id="102" name="Text 38">
            <a:extLst>
              <a:ext uri="{FF2B5EF4-FFF2-40B4-BE49-F238E27FC236}">
                <a16:creationId xmlns:a16="http://schemas.microsoft.com/office/drawing/2014/main" id="{F3D63DB8-ED02-7CB0-C5D5-DB555F4DE7A6}"/>
              </a:ext>
            </a:extLst>
          </p:cNvPr>
          <p:cNvSpPr txBox="1"/>
          <p:nvPr/>
        </p:nvSpPr>
        <p:spPr>
          <a:xfrm>
            <a:off x="376888" y="5463168"/>
            <a:ext cx="2105863" cy="548168"/>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Baseline Report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Demand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Project Portfolio Landscape (SAP)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3" name="Text 38">
            <a:extLst>
              <a:ext uri="{FF2B5EF4-FFF2-40B4-BE49-F238E27FC236}">
                <a16:creationId xmlns:a16="http://schemas.microsoft.com/office/drawing/2014/main" id="{8A6C31C0-6963-4492-E3E0-3E6115F5F96B}"/>
              </a:ext>
            </a:extLst>
          </p:cNvPr>
          <p:cNvSpPr txBox="1"/>
          <p:nvPr/>
        </p:nvSpPr>
        <p:spPr>
          <a:xfrm>
            <a:off x="2737355" y="5469058"/>
            <a:ext cx="2105863" cy="548168"/>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Lifecycle Map v1.0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Demand Typology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Prioritization Framework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Roles &amp; RACI Matrix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endParaRPr>
          </a:p>
        </p:txBody>
      </p:sp>
      <p:sp>
        <p:nvSpPr>
          <p:cNvPr id="104" name="Text 38">
            <a:extLst>
              <a:ext uri="{FF2B5EF4-FFF2-40B4-BE49-F238E27FC236}">
                <a16:creationId xmlns:a16="http://schemas.microsoft.com/office/drawing/2014/main" id="{E6C93366-C0AA-3E45-0C9F-0FA76BBFBE30}"/>
              </a:ext>
            </a:extLst>
          </p:cNvPr>
          <p:cNvSpPr txBox="1"/>
          <p:nvPr/>
        </p:nvSpPr>
        <p:spPr>
          <a:xfrm>
            <a:off x="5055452"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Tool Ecosystem Design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Jira Configuration v1.0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Portfolio Concept Blueprint</a:t>
            </a:r>
          </a:p>
        </p:txBody>
      </p:sp>
      <p:sp>
        <p:nvSpPr>
          <p:cNvPr id="105" name="Text 38">
            <a:extLst>
              <a:ext uri="{FF2B5EF4-FFF2-40B4-BE49-F238E27FC236}">
                <a16:creationId xmlns:a16="http://schemas.microsoft.com/office/drawing/2014/main" id="{F58CCD96-3E16-540B-13D0-949B6C4567F9}"/>
              </a:ext>
            </a:extLst>
          </p:cNvPr>
          <p:cNvSpPr txBox="1"/>
          <p:nvPr/>
        </p:nvSpPr>
        <p:spPr>
          <a:xfrm>
            <a:off x="7390900"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Pilot Execution Report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First Reporting Output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Structured Feedback Log</a:t>
            </a:r>
          </a:p>
        </p:txBody>
      </p:sp>
      <p:sp>
        <p:nvSpPr>
          <p:cNvPr id="106" name="Text 38">
            <a:extLst>
              <a:ext uri="{FF2B5EF4-FFF2-40B4-BE49-F238E27FC236}">
                <a16:creationId xmlns:a16="http://schemas.microsoft.com/office/drawing/2014/main" id="{D9BECA44-6003-4D49-7589-8C44F4BEBB59}"/>
              </a:ext>
            </a:extLst>
          </p:cNvPr>
          <p:cNvSpPr txBox="1"/>
          <p:nvPr/>
        </p:nvSpPr>
        <p:spPr>
          <a:xfrm>
            <a:off x="9726349"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Lifecycle Map v2.0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Jira Config v2.0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Value Criteria Framework v2.0</a:t>
            </a:r>
          </a:p>
        </p:txBody>
      </p:sp>
      <p:sp>
        <p:nvSpPr>
          <p:cNvPr id="107" name="Retângulo 86">
            <a:extLst>
              <a:ext uri="{FF2B5EF4-FFF2-40B4-BE49-F238E27FC236}">
                <a16:creationId xmlns:a16="http://schemas.microsoft.com/office/drawing/2014/main" id="{1E34EE76-B57E-2E01-281B-61FDCF6F46CF}"/>
              </a:ext>
            </a:extLst>
          </p:cNvPr>
          <p:cNvSpPr/>
          <p:nvPr/>
        </p:nvSpPr>
        <p:spPr>
          <a:xfrm>
            <a:off x="5008880" y="1677971"/>
            <a:ext cx="6863079" cy="468512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8" name="Retângulo 86">
            <a:extLst>
              <a:ext uri="{FF2B5EF4-FFF2-40B4-BE49-F238E27FC236}">
                <a16:creationId xmlns:a16="http://schemas.microsoft.com/office/drawing/2014/main" id="{5AB089F9-B872-9626-11E6-47793FC7523E}"/>
              </a:ext>
            </a:extLst>
          </p:cNvPr>
          <p:cNvSpPr/>
          <p:nvPr/>
        </p:nvSpPr>
        <p:spPr>
          <a:xfrm>
            <a:off x="284481" y="1677971"/>
            <a:ext cx="2387600" cy="468512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5163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72897-E484-CC5C-35E5-E0516D1BE16D}"/>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D3F5B000-203F-8087-71F8-5D83D64009C8}"/>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t>We defined the target lifecycle through structured design workshops, aligning key capabilities, roles, and processes across the end-to-end model. This was iteratively refined through validation sessions and supported by the configuration of the Jira ecosystem to enable practical implementation.</a:t>
            </a: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C533B843-1937-E36C-1CFF-CC13E56B6CCA}"/>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METHODOLOGY</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STEP 2 - DEFINE LIFECYCLE | STEP 3 - DESIGN TOOL ECOSYSTEM</a:t>
            </a:r>
          </a:p>
        </p:txBody>
      </p:sp>
      <p:sp>
        <p:nvSpPr>
          <p:cNvPr id="3" name="Rectangle 67">
            <a:extLst>
              <a:ext uri="{FF2B5EF4-FFF2-40B4-BE49-F238E27FC236}">
                <a16:creationId xmlns:a16="http://schemas.microsoft.com/office/drawing/2014/main" id="{F2DFEEA4-3B91-CAF7-5DF8-178CCA748B49}"/>
              </a:ext>
            </a:extLst>
          </p:cNvPr>
          <p:cNvSpPr/>
          <p:nvPr/>
        </p:nvSpPr>
        <p:spPr>
          <a:xfrm>
            <a:off x="2770632" y="1828561"/>
            <a:ext cx="2240280" cy="114300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a:solidFill>
                <a:schemeClr val="bg1"/>
              </a:solidFill>
              <a:latin typeface="Arial" panose="020B0604020202020204" pitchFamily="34" charset="0"/>
              <a:cs typeface="Arial" panose="020B0604020202020204" pitchFamily="34" charset="0"/>
            </a:endParaRPr>
          </a:p>
        </p:txBody>
      </p:sp>
      <p:sp>
        <p:nvSpPr>
          <p:cNvPr id="4" name="Rectangle 68">
            <a:extLst>
              <a:ext uri="{FF2B5EF4-FFF2-40B4-BE49-F238E27FC236}">
                <a16:creationId xmlns:a16="http://schemas.microsoft.com/office/drawing/2014/main" id="{F7079041-4309-7AB3-E150-0884236B168A}"/>
              </a:ext>
            </a:extLst>
          </p:cNvPr>
          <p:cNvSpPr/>
          <p:nvPr/>
        </p:nvSpPr>
        <p:spPr>
          <a:xfrm>
            <a:off x="5084064" y="1828561"/>
            <a:ext cx="2240280" cy="11430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8" name="Rectangle 69">
            <a:extLst>
              <a:ext uri="{FF2B5EF4-FFF2-40B4-BE49-F238E27FC236}">
                <a16:creationId xmlns:a16="http://schemas.microsoft.com/office/drawing/2014/main" id="{ECFE0C02-BB32-CF03-627D-06B1006A228A}"/>
              </a:ext>
            </a:extLst>
          </p:cNvPr>
          <p:cNvSpPr/>
          <p:nvPr/>
        </p:nvSpPr>
        <p:spPr>
          <a:xfrm>
            <a:off x="7397496"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Rectangle 70">
            <a:extLst>
              <a:ext uri="{FF2B5EF4-FFF2-40B4-BE49-F238E27FC236}">
                <a16:creationId xmlns:a16="http://schemas.microsoft.com/office/drawing/2014/main" id="{C2ED932F-D815-1BF5-7826-016B9AC40D9B}"/>
              </a:ext>
            </a:extLst>
          </p:cNvPr>
          <p:cNvSpPr/>
          <p:nvPr/>
        </p:nvSpPr>
        <p:spPr>
          <a:xfrm>
            <a:off x="9710928"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Rectangle 72">
            <a:extLst>
              <a:ext uri="{FF2B5EF4-FFF2-40B4-BE49-F238E27FC236}">
                <a16:creationId xmlns:a16="http://schemas.microsoft.com/office/drawing/2014/main" id="{D7B7BB8F-42F0-F376-2ED3-0F2D64DF32E8}"/>
              </a:ext>
            </a:extLst>
          </p:cNvPr>
          <p:cNvSpPr/>
          <p:nvPr/>
        </p:nvSpPr>
        <p:spPr>
          <a:xfrm>
            <a:off x="457200"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31" name="TextBox 73">
            <a:extLst>
              <a:ext uri="{FF2B5EF4-FFF2-40B4-BE49-F238E27FC236}">
                <a16:creationId xmlns:a16="http://schemas.microsoft.com/office/drawing/2014/main" id="{7010D061-BA10-6226-FF8E-3A053473C12A}"/>
              </a:ext>
            </a:extLst>
          </p:cNvPr>
          <p:cNvSpPr txBox="1"/>
          <p:nvPr/>
        </p:nvSpPr>
        <p:spPr>
          <a:xfrm>
            <a:off x="594360" y="1920001"/>
            <a:ext cx="1965960" cy="156133"/>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95A5A6"/>
                </a:solidFill>
                <a:effectLst/>
                <a:uLnTx/>
                <a:uFillTx/>
                <a:latin typeface="Arial" panose="020B0604020202020204" pitchFamily="34" charset="0"/>
                <a:cs typeface="Arial" panose="020B0604020202020204" pitchFamily="34" charset="0"/>
              </a:defRPr>
            </a:lvl1pPr>
          </a:lstStyle>
          <a:p>
            <a:r>
              <a:rPr lang="en-US"/>
              <a:t>Step 1</a:t>
            </a:r>
          </a:p>
        </p:txBody>
      </p:sp>
      <p:sp>
        <p:nvSpPr>
          <p:cNvPr id="32" name="TextBox 74">
            <a:extLst>
              <a:ext uri="{FF2B5EF4-FFF2-40B4-BE49-F238E27FC236}">
                <a16:creationId xmlns:a16="http://schemas.microsoft.com/office/drawing/2014/main" id="{D522B3C0-EC1B-1310-E85C-E2441E56E5FA}"/>
              </a:ext>
            </a:extLst>
          </p:cNvPr>
          <p:cNvSpPr txBox="1"/>
          <p:nvPr/>
        </p:nvSpPr>
        <p:spPr>
          <a:xfrm>
            <a:off x="594360" y="2099070"/>
            <a:ext cx="1965960" cy="187424"/>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200" b="1"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Enablement</a:t>
            </a:r>
          </a:p>
        </p:txBody>
      </p:sp>
      <p:sp>
        <p:nvSpPr>
          <p:cNvPr id="33" name="TextBox 75">
            <a:extLst>
              <a:ext uri="{FF2B5EF4-FFF2-40B4-BE49-F238E27FC236}">
                <a16:creationId xmlns:a16="http://schemas.microsoft.com/office/drawing/2014/main" id="{F1696984-0870-5EB3-1B29-0F8A4143384E}"/>
              </a:ext>
            </a:extLst>
          </p:cNvPr>
          <p:cNvSpPr txBox="1"/>
          <p:nvPr/>
        </p:nvSpPr>
        <p:spPr>
          <a:xfrm>
            <a:off x="594360" y="2560080"/>
            <a:ext cx="1965960" cy="156133"/>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95A5A6"/>
                </a:solidFill>
                <a:effectLst/>
                <a:uLnTx/>
                <a:uFillTx/>
                <a:latin typeface="Arial" panose="020B0604020202020204" pitchFamily="34" charset="0"/>
                <a:cs typeface="Arial" panose="020B0604020202020204" pitchFamily="34" charset="0"/>
              </a:defRPr>
            </a:lvl1pPr>
          </a:lstStyle>
          <a:p>
            <a:r>
              <a:rPr lang="en-US"/>
              <a:t>Where are we starting from?</a:t>
            </a:r>
          </a:p>
        </p:txBody>
      </p:sp>
      <p:sp>
        <p:nvSpPr>
          <p:cNvPr id="34" name="Right Arrow 7">
            <a:extLst>
              <a:ext uri="{FF2B5EF4-FFF2-40B4-BE49-F238E27FC236}">
                <a16:creationId xmlns:a16="http://schemas.microsoft.com/office/drawing/2014/main" id="{47B9F203-85F2-BB5E-AEDC-8299529BFF94}"/>
              </a:ext>
            </a:extLst>
          </p:cNvPr>
          <p:cNvSpPr/>
          <p:nvPr/>
        </p:nvSpPr>
        <p:spPr>
          <a:xfrm>
            <a:off x="2621661"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5" name="TextBox 77">
            <a:extLst>
              <a:ext uri="{FF2B5EF4-FFF2-40B4-BE49-F238E27FC236}">
                <a16:creationId xmlns:a16="http://schemas.microsoft.com/office/drawing/2014/main" id="{EEF5C717-2D66-2C14-7D51-6977DF0D8702}"/>
              </a:ext>
            </a:extLst>
          </p:cNvPr>
          <p:cNvSpPr txBox="1"/>
          <p:nvPr/>
        </p:nvSpPr>
        <p:spPr>
          <a:xfrm>
            <a:off x="2907792"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Step 2</a:t>
            </a:r>
          </a:p>
        </p:txBody>
      </p:sp>
      <p:sp>
        <p:nvSpPr>
          <p:cNvPr id="36" name="TextBox 78">
            <a:extLst>
              <a:ext uri="{FF2B5EF4-FFF2-40B4-BE49-F238E27FC236}">
                <a16:creationId xmlns:a16="http://schemas.microsoft.com/office/drawing/2014/main" id="{9BC9C6D0-8F68-6670-B6DA-A4CD1A086990}"/>
              </a:ext>
            </a:extLst>
          </p:cNvPr>
          <p:cNvSpPr txBox="1"/>
          <p:nvPr/>
        </p:nvSpPr>
        <p:spPr>
          <a:xfrm>
            <a:off x="2907792"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Define Lifecycle</a:t>
            </a:r>
          </a:p>
        </p:txBody>
      </p:sp>
      <p:sp>
        <p:nvSpPr>
          <p:cNvPr id="37" name="TextBox 79">
            <a:extLst>
              <a:ext uri="{FF2B5EF4-FFF2-40B4-BE49-F238E27FC236}">
                <a16:creationId xmlns:a16="http://schemas.microsoft.com/office/drawing/2014/main" id="{977D4088-88A0-1D38-9387-CD145AAF7167}"/>
              </a:ext>
            </a:extLst>
          </p:cNvPr>
          <p:cNvSpPr txBox="1"/>
          <p:nvPr/>
        </p:nvSpPr>
        <p:spPr>
          <a:xfrm>
            <a:off x="2907792"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How should we work?</a:t>
            </a:r>
          </a:p>
        </p:txBody>
      </p:sp>
      <p:sp>
        <p:nvSpPr>
          <p:cNvPr id="38" name="Right Arrow 12">
            <a:extLst>
              <a:ext uri="{FF2B5EF4-FFF2-40B4-BE49-F238E27FC236}">
                <a16:creationId xmlns:a16="http://schemas.microsoft.com/office/drawing/2014/main" id="{BFA1DBF3-0E7B-F3D4-7B12-C466D7CAE801}"/>
              </a:ext>
            </a:extLst>
          </p:cNvPr>
          <p:cNvSpPr/>
          <p:nvPr/>
        </p:nvSpPr>
        <p:spPr>
          <a:xfrm>
            <a:off x="4935093"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9" name="TextBox 81">
            <a:extLst>
              <a:ext uri="{FF2B5EF4-FFF2-40B4-BE49-F238E27FC236}">
                <a16:creationId xmlns:a16="http://schemas.microsoft.com/office/drawing/2014/main" id="{EC2CE458-6731-201E-A11C-9164750B9366}"/>
              </a:ext>
            </a:extLst>
          </p:cNvPr>
          <p:cNvSpPr txBox="1"/>
          <p:nvPr/>
        </p:nvSpPr>
        <p:spPr>
          <a:xfrm>
            <a:off x="5221224"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Step 3</a:t>
            </a:r>
          </a:p>
        </p:txBody>
      </p:sp>
      <p:sp>
        <p:nvSpPr>
          <p:cNvPr id="40" name="TextBox 82">
            <a:extLst>
              <a:ext uri="{FF2B5EF4-FFF2-40B4-BE49-F238E27FC236}">
                <a16:creationId xmlns:a16="http://schemas.microsoft.com/office/drawing/2014/main" id="{F6A90099-8A84-D8BE-781B-B8064334DD86}"/>
              </a:ext>
            </a:extLst>
          </p:cNvPr>
          <p:cNvSpPr txBox="1"/>
          <p:nvPr/>
        </p:nvSpPr>
        <p:spPr>
          <a:xfrm>
            <a:off x="5221224"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Design Tool Ecosystem</a:t>
            </a:r>
          </a:p>
        </p:txBody>
      </p:sp>
      <p:sp>
        <p:nvSpPr>
          <p:cNvPr id="41" name="TextBox 83">
            <a:extLst>
              <a:ext uri="{FF2B5EF4-FFF2-40B4-BE49-F238E27FC236}">
                <a16:creationId xmlns:a16="http://schemas.microsoft.com/office/drawing/2014/main" id="{34D41A8D-4C42-A9DD-26EE-3FCE5A6E0A03}"/>
              </a:ext>
            </a:extLst>
          </p:cNvPr>
          <p:cNvSpPr txBox="1"/>
          <p:nvPr/>
        </p:nvSpPr>
        <p:spPr>
          <a:xfrm>
            <a:off x="5221224"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What supports the process?</a:t>
            </a:r>
          </a:p>
        </p:txBody>
      </p:sp>
      <p:sp>
        <p:nvSpPr>
          <p:cNvPr id="42" name="Right Arrow 17">
            <a:extLst>
              <a:ext uri="{FF2B5EF4-FFF2-40B4-BE49-F238E27FC236}">
                <a16:creationId xmlns:a16="http://schemas.microsoft.com/office/drawing/2014/main" id="{AA7890C0-0FD2-20EE-A43F-EB1F880595BD}"/>
              </a:ext>
            </a:extLst>
          </p:cNvPr>
          <p:cNvSpPr/>
          <p:nvPr/>
        </p:nvSpPr>
        <p:spPr>
          <a:xfrm>
            <a:off x="7248525"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3" name="TextBox 85">
            <a:extLst>
              <a:ext uri="{FF2B5EF4-FFF2-40B4-BE49-F238E27FC236}">
                <a16:creationId xmlns:a16="http://schemas.microsoft.com/office/drawing/2014/main" id="{FE098781-32AA-4107-72E8-F8462EF6AEF3}"/>
              </a:ext>
            </a:extLst>
          </p:cNvPr>
          <p:cNvSpPr txBox="1"/>
          <p:nvPr/>
        </p:nvSpPr>
        <p:spPr>
          <a:xfrm>
            <a:off x="7534656"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Step 4</a:t>
            </a:r>
          </a:p>
        </p:txBody>
      </p:sp>
      <p:sp>
        <p:nvSpPr>
          <p:cNvPr id="44" name="TextBox 86">
            <a:extLst>
              <a:ext uri="{FF2B5EF4-FFF2-40B4-BE49-F238E27FC236}">
                <a16:creationId xmlns:a16="http://schemas.microsoft.com/office/drawing/2014/main" id="{BA108A81-3AD1-39A0-90A1-296516E2C964}"/>
              </a:ext>
            </a:extLst>
          </p:cNvPr>
          <p:cNvSpPr txBox="1"/>
          <p:nvPr/>
        </p:nvSpPr>
        <p:spPr>
          <a:xfrm>
            <a:off x="7534656"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Pilot Execution (BRS)</a:t>
            </a:r>
          </a:p>
        </p:txBody>
      </p:sp>
      <p:sp>
        <p:nvSpPr>
          <p:cNvPr id="45" name="TextBox 87">
            <a:extLst>
              <a:ext uri="{FF2B5EF4-FFF2-40B4-BE49-F238E27FC236}">
                <a16:creationId xmlns:a16="http://schemas.microsoft.com/office/drawing/2014/main" id="{793B6C56-86F4-9F2D-3663-572E711BF8C3}"/>
              </a:ext>
            </a:extLst>
          </p:cNvPr>
          <p:cNvSpPr txBox="1"/>
          <p:nvPr/>
        </p:nvSpPr>
        <p:spPr>
          <a:xfrm>
            <a:off x="7534656"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Does it work in reality?</a:t>
            </a:r>
          </a:p>
        </p:txBody>
      </p:sp>
      <p:sp>
        <p:nvSpPr>
          <p:cNvPr id="46" name="Right Arrow 22">
            <a:extLst>
              <a:ext uri="{FF2B5EF4-FFF2-40B4-BE49-F238E27FC236}">
                <a16:creationId xmlns:a16="http://schemas.microsoft.com/office/drawing/2014/main" id="{2DDD8581-9F76-AE52-5781-FE2C0B4839FD}"/>
              </a:ext>
            </a:extLst>
          </p:cNvPr>
          <p:cNvSpPr/>
          <p:nvPr/>
        </p:nvSpPr>
        <p:spPr>
          <a:xfrm>
            <a:off x="9561957"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7" name="TextBox 89">
            <a:extLst>
              <a:ext uri="{FF2B5EF4-FFF2-40B4-BE49-F238E27FC236}">
                <a16:creationId xmlns:a16="http://schemas.microsoft.com/office/drawing/2014/main" id="{CF97E9AE-B2B2-6110-C08C-7BD0FB4203B0}"/>
              </a:ext>
            </a:extLst>
          </p:cNvPr>
          <p:cNvSpPr txBox="1"/>
          <p:nvPr/>
        </p:nvSpPr>
        <p:spPr>
          <a:xfrm>
            <a:off x="9848088"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Step 5</a:t>
            </a:r>
          </a:p>
        </p:txBody>
      </p:sp>
      <p:sp>
        <p:nvSpPr>
          <p:cNvPr id="48" name="TextBox 90">
            <a:extLst>
              <a:ext uri="{FF2B5EF4-FFF2-40B4-BE49-F238E27FC236}">
                <a16:creationId xmlns:a16="http://schemas.microsoft.com/office/drawing/2014/main" id="{6382B055-3AE1-6CDA-64F4-99B901A3B21A}"/>
              </a:ext>
            </a:extLst>
          </p:cNvPr>
          <p:cNvSpPr txBox="1"/>
          <p:nvPr/>
        </p:nvSpPr>
        <p:spPr>
          <a:xfrm>
            <a:off x="9848088"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Learn &amp; Adjust</a:t>
            </a:r>
          </a:p>
        </p:txBody>
      </p:sp>
      <p:sp>
        <p:nvSpPr>
          <p:cNvPr id="49" name="TextBox 91">
            <a:extLst>
              <a:ext uri="{FF2B5EF4-FFF2-40B4-BE49-F238E27FC236}">
                <a16:creationId xmlns:a16="http://schemas.microsoft.com/office/drawing/2014/main" id="{CAC935C6-498F-C33A-EF44-3BDB7A3043BB}"/>
              </a:ext>
            </a:extLst>
          </p:cNvPr>
          <p:cNvSpPr txBox="1"/>
          <p:nvPr/>
        </p:nvSpPr>
        <p:spPr>
          <a:xfrm>
            <a:off x="9848088"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What needs refinement?</a:t>
            </a:r>
          </a:p>
        </p:txBody>
      </p:sp>
      <p:sp>
        <p:nvSpPr>
          <p:cNvPr id="50" name="Rectangle 92">
            <a:extLst>
              <a:ext uri="{FF2B5EF4-FFF2-40B4-BE49-F238E27FC236}">
                <a16:creationId xmlns:a16="http://schemas.microsoft.com/office/drawing/2014/main" id="{979FA030-A4DC-509B-331C-17698492FCE1}"/>
              </a:ext>
            </a:extLst>
          </p:cNvPr>
          <p:cNvSpPr/>
          <p:nvPr/>
        </p:nvSpPr>
        <p:spPr>
          <a:xfrm>
            <a:off x="457200" y="3059953"/>
            <a:ext cx="11509248" cy="34747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1" name="TextBox 93">
            <a:extLst>
              <a:ext uri="{FF2B5EF4-FFF2-40B4-BE49-F238E27FC236}">
                <a16:creationId xmlns:a16="http://schemas.microsoft.com/office/drawing/2014/main" id="{21BEA7C6-F3B4-F5FF-2585-EDBF4677432C}"/>
              </a:ext>
            </a:extLst>
          </p:cNvPr>
          <p:cNvSpPr txBox="1"/>
          <p:nvPr/>
        </p:nvSpPr>
        <p:spPr>
          <a:xfrm>
            <a:off x="457200" y="3139977"/>
            <a:ext cx="11274552" cy="187424"/>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STEP </a:t>
            </a:r>
            <a:r>
              <a:rPr lang="en-US" sz="1200" b="1">
                <a:solidFill>
                  <a:srgbClr val="FFFFFF"/>
                </a:solidFill>
                <a:latin typeface="Arial" panose="020B0604020202020204" pitchFamily="34" charset="0"/>
                <a:cs typeface="Arial" panose="020B0604020202020204" pitchFamily="34" charset="0"/>
              </a:rPr>
              <a:t>2 &amp; 3</a:t>
            </a: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  </a:t>
            </a:r>
            <a:r>
              <a:rPr lang="en-US" sz="1200" b="1">
                <a:solidFill>
                  <a:srgbClr val="FFFFFF"/>
                </a:solidFill>
                <a:latin typeface="Arial" panose="020B0604020202020204" pitchFamily="34" charset="0"/>
                <a:cs typeface="Arial" panose="020B0604020202020204" pitchFamily="34" charset="0"/>
              </a:rPr>
              <a:t>DEFINE LIFECYCLE </a:t>
            </a: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DESIGN TOOL ECOSYSTEM</a:t>
            </a:r>
          </a:p>
        </p:txBody>
      </p:sp>
      <p:sp>
        <p:nvSpPr>
          <p:cNvPr id="52" name="TextBox 94">
            <a:extLst>
              <a:ext uri="{FF2B5EF4-FFF2-40B4-BE49-F238E27FC236}">
                <a16:creationId xmlns:a16="http://schemas.microsoft.com/office/drawing/2014/main" id="{8DAA5A37-CCC5-AB87-CFD2-48DE1828F30D}"/>
              </a:ext>
            </a:extLst>
          </p:cNvPr>
          <p:cNvSpPr txBox="1"/>
          <p:nvPr/>
        </p:nvSpPr>
        <p:spPr>
          <a:xfrm>
            <a:off x="457200" y="3535441"/>
            <a:ext cx="685800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WHAT WE DID</a:t>
            </a:r>
          </a:p>
        </p:txBody>
      </p:sp>
      <p:sp>
        <p:nvSpPr>
          <p:cNvPr id="109" name="Rectangle 95">
            <a:extLst>
              <a:ext uri="{FF2B5EF4-FFF2-40B4-BE49-F238E27FC236}">
                <a16:creationId xmlns:a16="http://schemas.microsoft.com/office/drawing/2014/main" id="{D3981AA5-DDEE-F9C0-4B98-2A403926EB53}"/>
              </a:ext>
            </a:extLst>
          </p:cNvPr>
          <p:cNvSpPr/>
          <p:nvPr/>
        </p:nvSpPr>
        <p:spPr>
          <a:xfrm>
            <a:off x="457200" y="382804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0" name="TextBox 96">
            <a:extLst>
              <a:ext uri="{FF2B5EF4-FFF2-40B4-BE49-F238E27FC236}">
                <a16:creationId xmlns:a16="http://schemas.microsoft.com/office/drawing/2014/main" id="{43A885BE-14D8-7794-0F2E-E8C14D31420F}"/>
              </a:ext>
            </a:extLst>
          </p:cNvPr>
          <p:cNvSpPr txBox="1"/>
          <p:nvPr/>
        </p:nvSpPr>
        <p:spPr>
          <a:xfrm>
            <a:off x="640080" y="390932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Lifecycle Design Workshops</a:t>
            </a:r>
          </a:p>
          <a:p>
            <a:pPr>
              <a:lnSpc>
                <a:spcPct val="110000"/>
              </a:lnSpc>
              <a:defRPr/>
            </a:pPr>
            <a:r>
              <a:rPr lang="en-US" sz="1100">
                <a:solidFill>
                  <a:srgbClr val="2C3E50"/>
                </a:solidFill>
                <a:latin typeface="Arial" panose="020B0604020202020204" pitchFamily="34" charset="0"/>
                <a:cs typeface="Arial" panose="020B0604020202020204" pitchFamily="34" charset="0"/>
              </a:rPr>
              <a:t>Facilitated working sessions to define and structure the end-to-end lifecycle model, aligning on key capabilities, stages, and interactions.</a:t>
            </a:r>
          </a:p>
        </p:txBody>
      </p:sp>
      <p:sp>
        <p:nvSpPr>
          <p:cNvPr id="112" name="Rectangle 98">
            <a:extLst>
              <a:ext uri="{FF2B5EF4-FFF2-40B4-BE49-F238E27FC236}">
                <a16:creationId xmlns:a16="http://schemas.microsoft.com/office/drawing/2014/main" id="{60DE9C39-2A15-AB72-DFB8-B41804565A5B}"/>
              </a:ext>
            </a:extLst>
          </p:cNvPr>
          <p:cNvSpPr/>
          <p:nvPr/>
        </p:nvSpPr>
        <p:spPr>
          <a:xfrm>
            <a:off x="457200" y="460528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3" name="TextBox 99">
            <a:extLst>
              <a:ext uri="{FF2B5EF4-FFF2-40B4-BE49-F238E27FC236}">
                <a16:creationId xmlns:a16="http://schemas.microsoft.com/office/drawing/2014/main" id="{96CA6CB0-043F-E560-F0DC-100521F58760}"/>
              </a:ext>
            </a:extLst>
          </p:cNvPr>
          <p:cNvSpPr txBox="1"/>
          <p:nvPr/>
        </p:nvSpPr>
        <p:spPr>
          <a:xfrm>
            <a:off x="640080" y="468656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Validation Sessions</a:t>
            </a:r>
          </a:p>
          <a:p>
            <a:pPr>
              <a:lnSpc>
                <a:spcPct val="110000"/>
              </a:lnSpc>
              <a:defRPr/>
            </a:pPr>
            <a:r>
              <a:rPr lang="en-US" sz="1100">
                <a:solidFill>
                  <a:srgbClr val="2C3E50"/>
                </a:solidFill>
                <a:latin typeface="Arial"/>
                <a:cs typeface="Arial"/>
              </a:rPr>
              <a:t>Conducted iterative validation sessions with stakeholders to refine the lifecycle model and ensure alignment with business and operational realities.</a:t>
            </a:r>
          </a:p>
        </p:txBody>
      </p:sp>
      <p:sp>
        <p:nvSpPr>
          <p:cNvPr id="115" name="Rectangle 101">
            <a:extLst>
              <a:ext uri="{FF2B5EF4-FFF2-40B4-BE49-F238E27FC236}">
                <a16:creationId xmlns:a16="http://schemas.microsoft.com/office/drawing/2014/main" id="{DA0FC179-EAD1-FC08-2611-94A6352B781C}"/>
              </a:ext>
            </a:extLst>
          </p:cNvPr>
          <p:cNvSpPr/>
          <p:nvPr/>
        </p:nvSpPr>
        <p:spPr>
          <a:xfrm>
            <a:off x="457200" y="538252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6" name="TextBox 102">
            <a:extLst>
              <a:ext uri="{FF2B5EF4-FFF2-40B4-BE49-F238E27FC236}">
                <a16:creationId xmlns:a16="http://schemas.microsoft.com/office/drawing/2014/main" id="{86F86687-4B71-F8D2-A684-ED8CA93A8336}"/>
              </a:ext>
            </a:extLst>
          </p:cNvPr>
          <p:cNvSpPr txBox="1"/>
          <p:nvPr/>
        </p:nvSpPr>
        <p:spPr>
          <a:xfrm>
            <a:off x="640080" y="543332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Tool Ecosystem Review &amp; Configuration (Jira)</a:t>
            </a:r>
          </a:p>
          <a:p>
            <a:pPr>
              <a:lnSpc>
                <a:spcPct val="110000"/>
              </a:lnSpc>
              <a:defRPr/>
            </a:pPr>
            <a:r>
              <a:rPr lang="en-US" sz="1100">
                <a:solidFill>
                  <a:srgbClr val="2C3E50"/>
                </a:solidFill>
                <a:latin typeface="Arial"/>
                <a:cs typeface="Arial"/>
              </a:rPr>
              <a:t>Assessed current tool landscape and supported the definition and configuration of the Jira ecosystem to align with the proposed lifecycle and portfolio structure.</a:t>
            </a:r>
          </a:p>
        </p:txBody>
      </p:sp>
      <p:sp>
        <p:nvSpPr>
          <p:cNvPr id="118" name="TextBox 104">
            <a:extLst>
              <a:ext uri="{FF2B5EF4-FFF2-40B4-BE49-F238E27FC236}">
                <a16:creationId xmlns:a16="http://schemas.microsoft.com/office/drawing/2014/main" id="{6108A55C-7C5B-34FE-2185-DD5450F34D2F}"/>
              </a:ext>
            </a:extLst>
          </p:cNvPr>
          <p:cNvSpPr txBox="1"/>
          <p:nvPr/>
        </p:nvSpPr>
        <p:spPr>
          <a:xfrm>
            <a:off x="7772400" y="3535441"/>
            <a:ext cx="411480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A443"/>
                </a:solidFill>
                <a:effectLst/>
                <a:uLnTx/>
                <a:uFillTx/>
                <a:latin typeface="Arial" panose="020B0604020202020204" pitchFamily="34" charset="0"/>
                <a:ea typeface="+mn-ea"/>
                <a:cs typeface="Arial" panose="020B0604020202020204" pitchFamily="34" charset="0"/>
              </a:rPr>
              <a:t>DELIVERABLES OF STEP 2 &amp; 3</a:t>
            </a:r>
          </a:p>
        </p:txBody>
      </p:sp>
      <p:sp>
        <p:nvSpPr>
          <p:cNvPr id="119" name="Rectangle 105">
            <a:extLst>
              <a:ext uri="{FF2B5EF4-FFF2-40B4-BE49-F238E27FC236}">
                <a16:creationId xmlns:a16="http://schemas.microsoft.com/office/drawing/2014/main" id="{CD28CEA3-4EEE-555A-2ADB-18E3CD596A37}"/>
              </a:ext>
            </a:extLst>
          </p:cNvPr>
          <p:cNvSpPr/>
          <p:nvPr/>
        </p:nvSpPr>
        <p:spPr>
          <a:xfrm>
            <a:off x="7772400" y="3837193"/>
            <a:ext cx="4194048" cy="154747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0" name="Rectangle 106">
            <a:extLst>
              <a:ext uri="{FF2B5EF4-FFF2-40B4-BE49-F238E27FC236}">
                <a16:creationId xmlns:a16="http://schemas.microsoft.com/office/drawing/2014/main" id="{2A7D7554-02CA-2790-209C-EDAC8AC94D30}"/>
              </a:ext>
            </a:extLst>
          </p:cNvPr>
          <p:cNvSpPr/>
          <p:nvPr/>
        </p:nvSpPr>
        <p:spPr>
          <a:xfrm>
            <a:off x="7772400" y="3871365"/>
            <a:ext cx="73152" cy="1471937"/>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1" name="TextBox 107">
            <a:extLst>
              <a:ext uri="{FF2B5EF4-FFF2-40B4-BE49-F238E27FC236}">
                <a16:creationId xmlns:a16="http://schemas.microsoft.com/office/drawing/2014/main" id="{B5CE39DE-8F3E-7128-20A3-6F91EC7CE8F8}"/>
              </a:ext>
            </a:extLst>
          </p:cNvPr>
          <p:cNvSpPr txBox="1"/>
          <p:nvPr/>
        </p:nvSpPr>
        <p:spPr>
          <a:xfrm>
            <a:off x="8001000" y="3911272"/>
            <a:ext cx="3657600" cy="1354217"/>
          </a:xfrm>
          <a:prstGeom prst="rect">
            <a:avLst/>
          </a:prstGeom>
          <a:noFill/>
        </p:spPr>
        <p:txBody>
          <a:bodyPr wrap="square" lIns="0" tIns="0" rIns="0" bIns="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Lifecycle End-To-End Process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Lifecycle Map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Demand Typology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Prioritization Framework</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Roles &amp; RACI Matrix</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Tool Ecosystem Design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Jira Configuration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Portfolio Concept Blueprint</a:t>
            </a:r>
          </a:p>
        </p:txBody>
      </p:sp>
    </p:spTree>
    <p:extLst>
      <p:ext uri="{BB962C8B-B14F-4D97-AF65-F5344CB8AC3E}">
        <p14:creationId xmlns:p14="http://schemas.microsoft.com/office/powerpoint/2010/main" val="1020381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2FEA2-F94F-C731-E288-8531D9C3C9A9}"/>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0E9F49F1-8E33-E0D9-FF86-1564E2984A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32FBF3E-DA03-3D93-83DE-F5C7453E2F7F}"/>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8C52F320-C564-A342-6FEA-1DFADCC321DE}"/>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046EAB7-CA94-438D-1708-2F6D1638E751}"/>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AD07E198-37E4-86C2-0664-8C3CDDA62952}"/>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496200CF-7F1E-7169-0C6A-FFA678A77BD2}"/>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40031DAE-C17F-5C76-2ED4-9E26D10D3EB3}"/>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C660AF5E-24DC-B70D-5CB8-1BAF3482EF49}"/>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BCFF2697-AD1D-B91F-E266-7F8ADD7CA3D1}"/>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50EBA409-9E29-235F-16FA-AFDA0A3F6B84}"/>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33F80CC3-0BF0-FEC1-8173-5052EC3F2F31}"/>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57" name="Grupo 56">
            <a:extLst>
              <a:ext uri="{FF2B5EF4-FFF2-40B4-BE49-F238E27FC236}">
                <a16:creationId xmlns:a16="http://schemas.microsoft.com/office/drawing/2014/main" id="{DD9C62CA-ECA2-E49F-8722-3FB65657A330}"/>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8AD4081C-DDBF-9920-0FEC-ED044FA0DB50}"/>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76C8FD59-B73B-545E-BF49-591AA68F022E}"/>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EC571C7D-3844-1B17-6DCB-76E5A519DA63}"/>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grpSp>
        <p:nvGrpSpPr>
          <p:cNvPr id="2049" name="Grupo 2048">
            <a:extLst>
              <a:ext uri="{FF2B5EF4-FFF2-40B4-BE49-F238E27FC236}">
                <a16:creationId xmlns:a16="http://schemas.microsoft.com/office/drawing/2014/main" id="{9A3651AF-3079-E4E7-19A9-1CEE11D25536}"/>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A8509BE9-9B26-FFF1-2A74-9DE027760B5B}"/>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88086EEF-01BC-ECF6-C4A4-7C47AF76F424}"/>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990A1539-26C7-7B6C-FEF4-3B4725385D8A}"/>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D5095E88-6076-A821-A8F5-939D54736D6D}"/>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6F05F323-E4FC-A62A-E99D-012A5868A400}"/>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94812E90-F863-9313-8625-612A275A03D7}"/>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8D5E56AD-5F35-3E5B-F001-0E2A8ECB770B}"/>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5F368593-0139-530D-D3C0-7000F93F136C}"/>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E08CE8F-7912-8204-0751-380AB7617A90}"/>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9E7786AF-9B41-6185-9149-644B8A1C1CD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9EC2E6C-8032-EE6A-8965-4A33CD83B29F}"/>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D935F6FA-1DA0-F94E-9B76-AC864F6E1467}"/>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AD36F30A-F1DD-7101-AF42-00B947BA8A6A}"/>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ED70DFEC-1BA3-1E9B-2A73-E9DFC7AB367B}"/>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42C3376B-C6CC-3002-806B-7FE0B2E3AA6E}"/>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F964CE58-E1B4-B1BE-3FBD-505C2E7F3190}"/>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89B30205-30DE-1553-7707-C23E0033C0AD}"/>
              </a:ext>
            </a:extLst>
          </p:cNvPr>
          <p:cNvSpPr/>
          <p:nvPr/>
        </p:nvSpPr>
        <p:spPr>
          <a:xfrm>
            <a:off x="5394960" y="294640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TextBox 20">
            <a:extLst>
              <a:ext uri="{FF2B5EF4-FFF2-40B4-BE49-F238E27FC236}">
                <a16:creationId xmlns:a16="http://schemas.microsoft.com/office/drawing/2014/main" id="{823A3017-BCBB-C20F-4735-6473D67F0D37}"/>
              </a:ext>
            </a:extLst>
          </p:cNvPr>
          <p:cNvSpPr txBox="1"/>
          <p:nvPr/>
        </p:nvSpPr>
        <p:spPr>
          <a:xfrm>
            <a:off x="6339805" y="383610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62" name="TextBox 11">
            <a:extLst>
              <a:ext uri="{FF2B5EF4-FFF2-40B4-BE49-F238E27FC236}">
                <a16:creationId xmlns:a16="http://schemas.microsoft.com/office/drawing/2014/main" id="{023BDEAE-BAD8-D838-9CFF-680812AAE926}"/>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01F84C16-131E-5DBE-A175-2115D4FA9241}"/>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F6344CB6-C46F-D939-EAB8-FB21B9643FC8}"/>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2061" name="Rectángulo 2060">
            <a:extLst>
              <a:ext uri="{FF2B5EF4-FFF2-40B4-BE49-F238E27FC236}">
                <a16:creationId xmlns:a16="http://schemas.microsoft.com/office/drawing/2014/main" id="{10F97658-DA95-0D35-8FCD-3FEBA5529C62}"/>
              </a:ext>
            </a:extLst>
          </p:cNvPr>
          <p:cNvSpPr/>
          <p:nvPr/>
        </p:nvSpPr>
        <p:spPr>
          <a:xfrm>
            <a:off x="6106160" y="311828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586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95CE-7041-EA94-0969-E2579B250A13}"/>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70B8A0A-8F9B-F6E8-8C31-3EC340ACAB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8E85E2D-BCFC-B51A-12D4-BC64BB4ECDD5}"/>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7968DA2B-BAFF-7636-0840-CD54FE89D46C}"/>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54CF065F-D268-05A7-E4AD-5B38DAD50A4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B2ADD45C-6D16-DBE2-482B-9CEE0961A706}"/>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C54F7BB4-E2CC-1E33-38D1-3C6F3813F7CF}"/>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8AC06FC5-359B-5B61-0B3E-CC614C05A95E}"/>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id="{9E1EEE03-39AA-BF99-70D2-ED5A9B0788EE}"/>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0D3122BB-A993-C57C-A3E9-69F56E0CD29D}"/>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7938C39D-F68A-6FF5-3192-5D8172D58B53}"/>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159F534-B086-5BA7-2790-C0CF1793185D}"/>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B444A090-7BB7-F126-A4AA-DAAC1DB787E5}"/>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B3434A7-2B6A-046C-9D7D-5939D65FF6D0}"/>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TextBox 20">
            <a:extLst>
              <a:ext uri="{FF2B5EF4-FFF2-40B4-BE49-F238E27FC236}">
                <a16:creationId xmlns:a16="http://schemas.microsoft.com/office/drawing/2014/main" id="{891ECC45-222E-4A17-000F-B4A4A35FE00D}"/>
              </a:ext>
            </a:extLst>
          </p:cNvPr>
          <p:cNvSpPr txBox="1"/>
          <p:nvPr/>
        </p:nvSpPr>
        <p:spPr>
          <a:xfrm>
            <a:off x="6339805" y="172282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3E9189EB-68C8-6E71-82B1-F3B1E28B91BC}"/>
              </a:ext>
            </a:extLst>
          </p:cNvPr>
          <p:cNvSpPr txBox="1"/>
          <p:nvPr/>
        </p:nvSpPr>
        <p:spPr>
          <a:xfrm>
            <a:off x="6348464" y="85845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E697E196-7268-EF0D-E855-E2802CE7EEED}"/>
              </a:ext>
            </a:extLst>
          </p:cNvPr>
          <p:cNvSpPr txBox="1"/>
          <p:nvPr/>
        </p:nvSpPr>
        <p:spPr>
          <a:xfrm>
            <a:off x="6344244" y="126180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D6EC978D-C48E-2F82-B91C-42D663990D65}"/>
              </a:ext>
            </a:extLst>
          </p:cNvPr>
          <p:cNvSpPr txBox="1"/>
          <p:nvPr/>
        </p:nvSpPr>
        <p:spPr>
          <a:xfrm>
            <a:off x="5466533" y="101171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9FA72B01-DA99-D8B7-C257-0565BABCC0D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9" name="Rectangle 44">
            <a:extLst>
              <a:ext uri="{FF2B5EF4-FFF2-40B4-BE49-F238E27FC236}">
                <a16:creationId xmlns:a16="http://schemas.microsoft.com/office/drawing/2014/main" id="{F36C327D-9E7B-7E24-7ADE-B835E7E8AC60}"/>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40D9E25-8D7D-62DA-E469-9E4AB8053609}"/>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C6C78A20-0C1A-D537-6AD5-ABB133CCA360}"/>
              </a:ext>
            </a:extLst>
          </p:cNvPr>
          <p:cNvSpPr/>
          <p:nvPr/>
        </p:nvSpPr>
        <p:spPr>
          <a:xfrm>
            <a:off x="6207760" y="267500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F3BA100A-597F-0E2F-EB37-314FC2285435}"/>
              </a:ext>
            </a:extLst>
          </p:cNvPr>
          <p:cNvSpPr/>
          <p:nvPr/>
        </p:nvSpPr>
        <p:spPr>
          <a:xfrm>
            <a:off x="6205311" y="267122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EF296A9E-0E45-EE24-D156-6E674697FB06}"/>
              </a:ext>
            </a:extLst>
          </p:cNvPr>
          <p:cNvSpPr/>
          <p:nvPr/>
        </p:nvSpPr>
        <p:spPr>
          <a:xfrm>
            <a:off x="6207760" y="33455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5D4808C0-2E9F-01BF-32F6-6609CA70B5D9}"/>
              </a:ext>
            </a:extLst>
          </p:cNvPr>
          <p:cNvSpPr/>
          <p:nvPr/>
        </p:nvSpPr>
        <p:spPr>
          <a:xfrm>
            <a:off x="6205311" y="3341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391655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26731-56C4-6519-FB47-DFCC82F77853}"/>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E004A090-CDB8-2B36-DDE5-0A7ACEB8E7F5}"/>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The lifecycle model establishes a structured end-to-end framework to manage demand from intake through planning, execution, and deployment, ensuring alignment with business priorities and value delivery. It is supported by clearly defined roles, integrated tools, governance, and performance metrics to enable consistent, transparent, and scalable operations.</a:t>
            </a:r>
          </a:p>
        </p:txBody>
      </p:sp>
      <p:sp>
        <p:nvSpPr>
          <p:cNvPr id="89" name="Text Placeholder 19">
            <a:extLst>
              <a:ext uri="{FF2B5EF4-FFF2-40B4-BE49-F238E27FC236}">
                <a16:creationId xmlns:a16="http://schemas.microsoft.com/office/drawing/2014/main" id="{AC09D52C-88E4-4F98-05D1-7344C71C22F5}"/>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BASE FRAMEWORK FOR THE LIFECYCLE MODEL</a:t>
            </a:r>
          </a:p>
        </p:txBody>
      </p:sp>
      <p:sp>
        <p:nvSpPr>
          <p:cNvPr id="10" name="Rectangle 44">
            <a:extLst>
              <a:ext uri="{FF2B5EF4-FFF2-40B4-BE49-F238E27FC236}">
                <a16:creationId xmlns:a16="http://schemas.microsoft.com/office/drawing/2014/main" id="{4FEDCD2E-4108-58AE-C2AA-9B441D491B1C}"/>
              </a:ext>
            </a:extLst>
          </p:cNvPr>
          <p:cNvSpPr/>
          <p:nvPr/>
        </p:nvSpPr>
        <p:spPr>
          <a:xfrm>
            <a:off x="45720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 name="Rectangle 45">
            <a:extLst>
              <a:ext uri="{FF2B5EF4-FFF2-40B4-BE49-F238E27FC236}">
                <a16:creationId xmlns:a16="http://schemas.microsoft.com/office/drawing/2014/main" id="{CF66A26D-1205-9385-2265-98583991F36C}"/>
              </a:ext>
            </a:extLst>
          </p:cNvPr>
          <p:cNvSpPr/>
          <p:nvPr/>
        </p:nvSpPr>
        <p:spPr>
          <a:xfrm>
            <a:off x="45720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 name="TextBox 46">
            <a:extLst>
              <a:ext uri="{FF2B5EF4-FFF2-40B4-BE49-F238E27FC236}">
                <a16:creationId xmlns:a16="http://schemas.microsoft.com/office/drawing/2014/main" id="{B153E251-5641-835B-5C08-5F13C79E03DD}"/>
              </a:ext>
            </a:extLst>
          </p:cNvPr>
          <p:cNvSpPr txBox="1"/>
          <p:nvPr/>
        </p:nvSpPr>
        <p:spPr>
          <a:xfrm>
            <a:off x="64008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01</a:t>
            </a:r>
          </a:p>
        </p:txBody>
      </p:sp>
      <p:sp>
        <p:nvSpPr>
          <p:cNvPr id="13" name="TextBox 47">
            <a:extLst>
              <a:ext uri="{FF2B5EF4-FFF2-40B4-BE49-F238E27FC236}">
                <a16:creationId xmlns:a16="http://schemas.microsoft.com/office/drawing/2014/main" id="{1F8BFEC3-231A-5FB1-0624-696C46754F3D}"/>
              </a:ext>
            </a:extLst>
          </p:cNvPr>
          <p:cNvSpPr txBox="1"/>
          <p:nvPr/>
        </p:nvSpPr>
        <p:spPr>
          <a:xfrm>
            <a:off x="1280160" y="1915117"/>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DEMAND </a:t>
            </a:r>
          </a:p>
          <a:p>
            <a:pPr algn="l"/>
            <a:r>
              <a:rPr lang="en-US" sz="1200" b="1">
                <a:latin typeface="Arial" panose="020B0604020202020204" pitchFamily="34" charset="0"/>
                <a:cs typeface="Arial" panose="020B0604020202020204" pitchFamily="34" charset="0"/>
              </a:rPr>
              <a:t>MANAGEMENT</a:t>
            </a:r>
            <a:endParaRPr lang="en-US" sz="1200" b="1" noProof="0">
              <a:latin typeface="Arial" panose="020B0604020202020204" pitchFamily="34" charset="0"/>
              <a:cs typeface="Arial" panose="020B0604020202020204" pitchFamily="34" charset="0"/>
            </a:endParaRPr>
          </a:p>
        </p:txBody>
      </p:sp>
      <p:sp>
        <p:nvSpPr>
          <p:cNvPr id="14" name="TextBox 49">
            <a:extLst>
              <a:ext uri="{FF2B5EF4-FFF2-40B4-BE49-F238E27FC236}">
                <a16:creationId xmlns:a16="http://schemas.microsoft.com/office/drawing/2014/main" id="{B0AFFBAA-A683-83D0-CF5F-F80158FFE669}"/>
              </a:ext>
            </a:extLst>
          </p:cNvPr>
          <p:cNvSpPr txBox="1"/>
          <p:nvPr/>
        </p:nvSpPr>
        <p:spPr>
          <a:xfrm>
            <a:off x="52120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Structures and </a:t>
            </a:r>
            <a:r>
              <a:rPr lang="en-US" b="1"/>
              <a:t>consolidates demand from multiple channels</a:t>
            </a:r>
            <a:r>
              <a:rPr lang="en-US"/>
              <a:t>, defining </a:t>
            </a:r>
            <a:r>
              <a:rPr lang="en-US" b="1"/>
              <a:t>value, type, and priority </a:t>
            </a:r>
            <a:r>
              <a:rPr lang="en-US"/>
              <a:t>while </a:t>
            </a:r>
            <a:r>
              <a:rPr lang="en-US" b="1"/>
              <a:t>ensuring visibility </a:t>
            </a:r>
            <a:r>
              <a:rPr lang="en-US"/>
              <a:t>and </a:t>
            </a:r>
            <a:r>
              <a:rPr lang="en-US" b="1"/>
              <a:t>consistent intake and classification</a:t>
            </a:r>
          </a:p>
        </p:txBody>
      </p:sp>
      <p:sp>
        <p:nvSpPr>
          <p:cNvPr id="15" name="Rectangle 52">
            <a:extLst>
              <a:ext uri="{FF2B5EF4-FFF2-40B4-BE49-F238E27FC236}">
                <a16:creationId xmlns:a16="http://schemas.microsoft.com/office/drawing/2014/main" id="{E4309B4C-9262-5552-BCD0-B96AD6895348}"/>
              </a:ext>
            </a:extLst>
          </p:cNvPr>
          <p:cNvSpPr/>
          <p:nvPr/>
        </p:nvSpPr>
        <p:spPr>
          <a:xfrm>
            <a:off x="329184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6" name="Rectangle 53">
            <a:extLst>
              <a:ext uri="{FF2B5EF4-FFF2-40B4-BE49-F238E27FC236}">
                <a16:creationId xmlns:a16="http://schemas.microsoft.com/office/drawing/2014/main" id="{79CB11B8-4E65-30ED-4CD5-25D43B9649C4}"/>
              </a:ext>
            </a:extLst>
          </p:cNvPr>
          <p:cNvSpPr/>
          <p:nvPr/>
        </p:nvSpPr>
        <p:spPr>
          <a:xfrm>
            <a:off x="329184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7" name="TextBox 54">
            <a:extLst>
              <a:ext uri="{FF2B5EF4-FFF2-40B4-BE49-F238E27FC236}">
                <a16:creationId xmlns:a16="http://schemas.microsoft.com/office/drawing/2014/main" id="{FAAB8823-F582-48EC-40F3-D887CE28B12E}"/>
              </a:ext>
            </a:extLst>
          </p:cNvPr>
          <p:cNvSpPr txBox="1"/>
          <p:nvPr/>
        </p:nvSpPr>
        <p:spPr>
          <a:xfrm>
            <a:off x="347472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02</a:t>
            </a:r>
          </a:p>
        </p:txBody>
      </p:sp>
      <p:sp>
        <p:nvSpPr>
          <p:cNvPr id="18" name="TextBox 55">
            <a:extLst>
              <a:ext uri="{FF2B5EF4-FFF2-40B4-BE49-F238E27FC236}">
                <a16:creationId xmlns:a16="http://schemas.microsoft.com/office/drawing/2014/main" id="{D922B5DD-E38F-233F-1BDB-DC4F9EB0B81E}"/>
              </a:ext>
            </a:extLst>
          </p:cNvPr>
          <p:cNvSpPr txBox="1"/>
          <p:nvPr/>
        </p:nvSpPr>
        <p:spPr>
          <a:xfrm>
            <a:off x="4114800" y="1915117"/>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PREPARATION &amp;</a:t>
            </a:r>
          </a:p>
          <a:p>
            <a:pPr algn="l"/>
            <a:r>
              <a:rPr lang="en-US" sz="1200" b="1">
                <a:latin typeface="Arial" panose="020B0604020202020204" pitchFamily="34" charset="0"/>
                <a:cs typeface="Arial" panose="020B0604020202020204" pitchFamily="34" charset="0"/>
              </a:rPr>
              <a:t>PLANNING</a:t>
            </a:r>
            <a:endParaRPr lang="en-US" sz="1200" b="1" noProof="0">
              <a:latin typeface="Arial" panose="020B0604020202020204" pitchFamily="34" charset="0"/>
              <a:cs typeface="Arial" panose="020B0604020202020204" pitchFamily="34" charset="0"/>
            </a:endParaRPr>
          </a:p>
        </p:txBody>
      </p:sp>
      <p:sp>
        <p:nvSpPr>
          <p:cNvPr id="19" name="TextBox 57">
            <a:extLst>
              <a:ext uri="{FF2B5EF4-FFF2-40B4-BE49-F238E27FC236}">
                <a16:creationId xmlns:a16="http://schemas.microsoft.com/office/drawing/2014/main" id="{70743A4D-08EA-8E35-CC24-2B8F17C5CA6B}"/>
              </a:ext>
            </a:extLst>
          </p:cNvPr>
          <p:cNvSpPr txBox="1"/>
          <p:nvPr/>
        </p:nvSpPr>
        <p:spPr>
          <a:xfrm>
            <a:off x="335584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Translates demand into a </a:t>
            </a:r>
            <a:r>
              <a:rPr lang="en-US" b="1"/>
              <a:t>prioritized and structured portfolio</a:t>
            </a:r>
            <a:r>
              <a:rPr lang="en-US"/>
              <a:t>, </a:t>
            </a:r>
            <a:r>
              <a:rPr lang="en-US" b="1"/>
              <a:t>aligning value</a:t>
            </a:r>
            <a:r>
              <a:rPr lang="en-US"/>
              <a:t>, </a:t>
            </a:r>
            <a:r>
              <a:rPr lang="en-US" b="1"/>
              <a:t>effort</a:t>
            </a:r>
            <a:r>
              <a:rPr lang="en-US"/>
              <a:t>, and </a:t>
            </a:r>
            <a:r>
              <a:rPr lang="en-US" b="1"/>
              <a:t>capacity </a:t>
            </a:r>
            <a:r>
              <a:rPr lang="en-US"/>
              <a:t>to define </a:t>
            </a:r>
            <a:r>
              <a:rPr lang="en-US" b="1"/>
              <a:t>actionable roadmaps and delivery plans</a:t>
            </a:r>
          </a:p>
        </p:txBody>
      </p:sp>
      <p:sp>
        <p:nvSpPr>
          <p:cNvPr id="20" name="Rectangle 60">
            <a:extLst>
              <a:ext uri="{FF2B5EF4-FFF2-40B4-BE49-F238E27FC236}">
                <a16:creationId xmlns:a16="http://schemas.microsoft.com/office/drawing/2014/main" id="{F1344D73-897E-7981-899F-59E3DFF5DD3E}"/>
              </a:ext>
            </a:extLst>
          </p:cNvPr>
          <p:cNvSpPr/>
          <p:nvPr/>
        </p:nvSpPr>
        <p:spPr>
          <a:xfrm>
            <a:off x="612648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1" name="Rectangle 61">
            <a:extLst>
              <a:ext uri="{FF2B5EF4-FFF2-40B4-BE49-F238E27FC236}">
                <a16:creationId xmlns:a16="http://schemas.microsoft.com/office/drawing/2014/main" id="{64518B02-0EEF-F6CE-C820-A0AD0078C48C}"/>
              </a:ext>
            </a:extLst>
          </p:cNvPr>
          <p:cNvSpPr/>
          <p:nvPr/>
        </p:nvSpPr>
        <p:spPr>
          <a:xfrm>
            <a:off x="612648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2" name="TextBox 62">
            <a:extLst>
              <a:ext uri="{FF2B5EF4-FFF2-40B4-BE49-F238E27FC236}">
                <a16:creationId xmlns:a16="http://schemas.microsoft.com/office/drawing/2014/main" id="{50AB2DF1-C411-53AC-7495-94CB269568C2}"/>
              </a:ext>
            </a:extLst>
          </p:cNvPr>
          <p:cNvSpPr txBox="1"/>
          <p:nvPr/>
        </p:nvSpPr>
        <p:spPr>
          <a:xfrm>
            <a:off x="630936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03</a:t>
            </a:r>
          </a:p>
        </p:txBody>
      </p:sp>
      <p:sp>
        <p:nvSpPr>
          <p:cNvPr id="23" name="TextBox 63">
            <a:extLst>
              <a:ext uri="{FF2B5EF4-FFF2-40B4-BE49-F238E27FC236}">
                <a16:creationId xmlns:a16="http://schemas.microsoft.com/office/drawing/2014/main" id="{8A6BD4BE-E0B9-164F-EEAE-E6E730E73077}"/>
              </a:ext>
            </a:extLst>
          </p:cNvPr>
          <p:cNvSpPr txBox="1"/>
          <p:nvPr/>
        </p:nvSpPr>
        <p:spPr>
          <a:xfrm>
            <a:off x="6949440" y="1915117"/>
            <a:ext cx="1828800" cy="424732"/>
          </a:xfrm>
          <a:prstGeom prst="rect">
            <a:avLst/>
          </a:prstGeom>
          <a:noFill/>
        </p:spPr>
        <p:txBody>
          <a:bodyPr wrap="square" lIns="54864" tIns="27432" rIns="54864" bIns="27432" anchor="t">
            <a:spAutoFit/>
          </a:bodyPr>
          <a:lstStyle/>
          <a:p>
            <a:r>
              <a:rPr lang="en-US" sz="1200" b="1" noProof="0">
                <a:latin typeface="Arial" panose="020B0604020202020204" pitchFamily="34" charset="0"/>
                <a:cs typeface="Arial" panose="020B0604020202020204" pitchFamily="34" charset="0"/>
              </a:rPr>
              <a:t>EXECUTION &amp; DELIVERY</a:t>
            </a:r>
          </a:p>
        </p:txBody>
      </p:sp>
      <p:sp>
        <p:nvSpPr>
          <p:cNvPr id="24" name="TextBox 65">
            <a:extLst>
              <a:ext uri="{FF2B5EF4-FFF2-40B4-BE49-F238E27FC236}">
                <a16:creationId xmlns:a16="http://schemas.microsoft.com/office/drawing/2014/main" id="{F8832EEA-CFF5-14C8-A7FE-499756FE8E42}"/>
              </a:ext>
            </a:extLst>
          </p:cNvPr>
          <p:cNvSpPr txBox="1"/>
          <p:nvPr/>
        </p:nvSpPr>
        <p:spPr>
          <a:xfrm>
            <a:off x="619048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Delivers </a:t>
            </a:r>
            <a:r>
              <a:rPr lang="en-US" b="1"/>
              <a:t>prioritized work through structured backlog management</a:t>
            </a:r>
            <a:r>
              <a:rPr lang="en-US"/>
              <a:t>, </a:t>
            </a:r>
            <a:r>
              <a:rPr lang="en-US" b="1"/>
              <a:t>clear requirements</a:t>
            </a:r>
            <a:r>
              <a:rPr lang="en-US"/>
              <a:t>, </a:t>
            </a:r>
            <a:r>
              <a:rPr lang="en-US" b="1"/>
              <a:t>coordinated development</a:t>
            </a:r>
            <a:r>
              <a:rPr lang="en-US"/>
              <a:t>, and </a:t>
            </a:r>
            <a:r>
              <a:rPr lang="en-US" b="1"/>
              <a:t>continuous tracking </a:t>
            </a:r>
            <a:r>
              <a:rPr lang="en-US"/>
              <a:t>of progress and dependencies</a:t>
            </a:r>
          </a:p>
        </p:txBody>
      </p:sp>
      <p:sp>
        <p:nvSpPr>
          <p:cNvPr id="25" name="Rectangle 68">
            <a:extLst>
              <a:ext uri="{FF2B5EF4-FFF2-40B4-BE49-F238E27FC236}">
                <a16:creationId xmlns:a16="http://schemas.microsoft.com/office/drawing/2014/main" id="{ADD3AB05-3EB0-AEF3-83F0-22C69D7899EB}"/>
              </a:ext>
            </a:extLst>
          </p:cNvPr>
          <p:cNvSpPr/>
          <p:nvPr/>
        </p:nvSpPr>
        <p:spPr>
          <a:xfrm>
            <a:off x="896112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6" name="Rectangle 69">
            <a:extLst>
              <a:ext uri="{FF2B5EF4-FFF2-40B4-BE49-F238E27FC236}">
                <a16:creationId xmlns:a16="http://schemas.microsoft.com/office/drawing/2014/main" id="{23256772-EE52-9629-5C95-CBE70009D268}"/>
              </a:ext>
            </a:extLst>
          </p:cNvPr>
          <p:cNvSpPr/>
          <p:nvPr/>
        </p:nvSpPr>
        <p:spPr>
          <a:xfrm>
            <a:off x="896112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7" name="TextBox 70">
            <a:extLst>
              <a:ext uri="{FF2B5EF4-FFF2-40B4-BE49-F238E27FC236}">
                <a16:creationId xmlns:a16="http://schemas.microsoft.com/office/drawing/2014/main" id="{46BAF6B9-5834-065B-82AB-992BE446E8FD}"/>
              </a:ext>
            </a:extLst>
          </p:cNvPr>
          <p:cNvSpPr txBox="1"/>
          <p:nvPr/>
        </p:nvSpPr>
        <p:spPr>
          <a:xfrm>
            <a:off x="914400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04</a:t>
            </a:r>
          </a:p>
        </p:txBody>
      </p:sp>
      <p:sp>
        <p:nvSpPr>
          <p:cNvPr id="53" name="TextBox 71">
            <a:extLst>
              <a:ext uri="{FF2B5EF4-FFF2-40B4-BE49-F238E27FC236}">
                <a16:creationId xmlns:a16="http://schemas.microsoft.com/office/drawing/2014/main" id="{13618774-2DDD-4EDE-8289-02E9E3F5A152}"/>
              </a:ext>
            </a:extLst>
          </p:cNvPr>
          <p:cNvSpPr txBox="1"/>
          <p:nvPr/>
        </p:nvSpPr>
        <p:spPr>
          <a:xfrm>
            <a:off x="9784080" y="2007450"/>
            <a:ext cx="1468120" cy="240066"/>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tx1"/>
                </a:solidFill>
                <a:latin typeface="Arial" panose="020B0604020202020204" pitchFamily="34" charset="0"/>
                <a:cs typeface="Arial" panose="020B0604020202020204" pitchFamily="34" charset="0"/>
              </a:rPr>
              <a:t>DEPLOYMENT</a:t>
            </a:r>
          </a:p>
        </p:txBody>
      </p:sp>
      <p:sp>
        <p:nvSpPr>
          <p:cNvPr id="54" name="TextBox 73">
            <a:extLst>
              <a:ext uri="{FF2B5EF4-FFF2-40B4-BE49-F238E27FC236}">
                <a16:creationId xmlns:a16="http://schemas.microsoft.com/office/drawing/2014/main" id="{CF289BBD-760C-DA2A-1FF0-8F0B80AB0D8C}"/>
              </a:ext>
            </a:extLst>
          </p:cNvPr>
          <p:cNvSpPr txBox="1"/>
          <p:nvPr/>
        </p:nvSpPr>
        <p:spPr>
          <a:xfrm>
            <a:off x="9025128" y="2396320"/>
            <a:ext cx="2615184" cy="978729"/>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Ensures </a:t>
            </a:r>
            <a:r>
              <a:rPr lang="en-US" b="1"/>
              <a:t>controlled release and transition to operations </a:t>
            </a:r>
            <a:r>
              <a:rPr lang="en-US"/>
              <a:t>through </a:t>
            </a:r>
            <a:r>
              <a:rPr lang="en-US" b="1"/>
              <a:t>coordinated planning</a:t>
            </a:r>
            <a:r>
              <a:rPr lang="en-US"/>
              <a:t>, </a:t>
            </a:r>
            <a:r>
              <a:rPr lang="en-US" b="1"/>
              <a:t>validation</a:t>
            </a:r>
            <a:r>
              <a:rPr lang="en-US"/>
              <a:t>, and </a:t>
            </a:r>
            <a:r>
              <a:rPr lang="en-US" b="1"/>
              <a:t>stabilization </a:t>
            </a:r>
            <a:r>
              <a:rPr lang="en-US"/>
              <a:t>of delivered solutions</a:t>
            </a:r>
          </a:p>
        </p:txBody>
      </p:sp>
      <p:sp>
        <p:nvSpPr>
          <p:cNvPr id="55" name="Rectangle 44">
            <a:extLst>
              <a:ext uri="{FF2B5EF4-FFF2-40B4-BE49-F238E27FC236}">
                <a16:creationId xmlns:a16="http://schemas.microsoft.com/office/drawing/2014/main" id="{F3DFA41E-6664-51BE-62D3-7E2B690A0BFB}"/>
              </a:ext>
            </a:extLst>
          </p:cNvPr>
          <p:cNvSpPr/>
          <p:nvPr/>
        </p:nvSpPr>
        <p:spPr>
          <a:xfrm>
            <a:off x="467360" y="368084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6" name="TextBox 46">
            <a:extLst>
              <a:ext uri="{FF2B5EF4-FFF2-40B4-BE49-F238E27FC236}">
                <a16:creationId xmlns:a16="http://schemas.microsoft.com/office/drawing/2014/main" id="{FB30324F-E302-12E5-8BB8-6440EEE1FF97}"/>
              </a:ext>
            </a:extLst>
          </p:cNvPr>
          <p:cNvSpPr txBox="1"/>
          <p:nvPr/>
        </p:nvSpPr>
        <p:spPr>
          <a:xfrm>
            <a:off x="640080" y="376789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05</a:t>
            </a:r>
          </a:p>
        </p:txBody>
      </p:sp>
      <p:sp>
        <p:nvSpPr>
          <p:cNvPr id="57" name="TextBox 47">
            <a:extLst>
              <a:ext uri="{FF2B5EF4-FFF2-40B4-BE49-F238E27FC236}">
                <a16:creationId xmlns:a16="http://schemas.microsoft.com/office/drawing/2014/main" id="{AC29D74A-1FFE-A5C8-6D13-D41413C46434}"/>
              </a:ext>
            </a:extLst>
          </p:cNvPr>
          <p:cNvSpPr txBox="1"/>
          <p:nvPr/>
        </p:nvSpPr>
        <p:spPr>
          <a:xfrm>
            <a:off x="1280160" y="3767898"/>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ROLES &amp; </a:t>
            </a:r>
          </a:p>
          <a:p>
            <a:pPr algn="l"/>
            <a:r>
              <a:rPr lang="en-US" sz="1200" b="1">
                <a:latin typeface="Arial" panose="020B0604020202020204" pitchFamily="34" charset="0"/>
                <a:cs typeface="Arial" panose="020B0604020202020204" pitchFamily="34" charset="0"/>
              </a:rPr>
              <a:t>RESPONSIBILITIES</a:t>
            </a:r>
            <a:endParaRPr lang="en-US" sz="1200" b="1" noProof="0">
              <a:latin typeface="Arial" panose="020B0604020202020204" pitchFamily="34" charset="0"/>
              <a:cs typeface="Arial" panose="020B0604020202020204" pitchFamily="34" charset="0"/>
            </a:endParaRPr>
          </a:p>
        </p:txBody>
      </p:sp>
      <p:sp>
        <p:nvSpPr>
          <p:cNvPr id="58" name="Rectangle 45">
            <a:extLst>
              <a:ext uri="{FF2B5EF4-FFF2-40B4-BE49-F238E27FC236}">
                <a16:creationId xmlns:a16="http://schemas.microsoft.com/office/drawing/2014/main" id="{FE8F5664-761A-4002-4FAF-AC0B1ECFF789}"/>
              </a:ext>
            </a:extLst>
          </p:cNvPr>
          <p:cNvSpPr/>
          <p:nvPr/>
        </p:nvSpPr>
        <p:spPr>
          <a:xfrm>
            <a:off x="464911" y="367706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9" name="TextBox 49">
            <a:extLst>
              <a:ext uri="{FF2B5EF4-FFF2-40B4-BE49-F238E27FC236}">
                <a16:creationId xmlns:a16="http://schemas.microsoft.com/office/drawing/2014/main" id="{3E73C0ED-F3A8-4BF3-B09F-F8BCD907CE20}"/>
              </a:ext>
            </a:extLst>
          </p:cNvPr>
          <p:cNvSpPr txBox="1"/>
          <p:nvPr/>
        </p:nvSpPr>
        <p:spPr>
          <a:xfrm>
            <a:off x="3162808" y="376789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a:t>
            </a:r>
            <a:r>
              <a:rPr lang="en-US" b="1"/>
              <a:t>roles and accountabilities across the lifecycle </a:t>
            </a:r>
            <a:r>
              <a:rPr lang="en-US"/>
              <a:t>to ensure end-to-end </a:t>
            </a:r>
            <a:r>
              <a:rPr lang="en-US" b="1"/>
              <a:t>ownership</a:t>
            </a:r>
            <a:r>
              <a:rPr lang="en-US"/>
              <a:t>, effective </a:t>
            </a:r>
            <a:r>
              <a:rPr lang="en-US" b="1"/>
              <a:t>decision-making</a:t>
            </a:r>
            <a:r>
              <a:rPr lang="en-US"/>
              <a:t>, and </a:t>
            </a:r>
            <a:r>
              <a:rPr lang="en-US" b="1"/>
              <a:t>alignment between business and IT</a:t>
            </a:r>
          </a:p>
        </p:txBody>
      </p:sp>
      <p:sp>
        <p:nvSpPr>
          <p:cNvPr id="60" name="Rectangle 44">
            <a:extLst>
              <a:ext uri="{FF2B5EF4-FFF2-40B4-BE49-F238E27FC236}">
                <a16:creationId xmlns:a16="http://schemas.microsoft.com/office/drawing/2014/main" id="{D057E101-EC88-CA80-A67A-1DD162187CC1}"/>
              </a:ext>
            </a:extLst>
          </p:cNvPr>
          <p:cNvSpPr/>
          <p:nvPr/>
        </p:nvSpPr>
        <p:spPr>
          <a:xfrm>
            <a:off x="467360" y="433108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1" name="TextBox 46">
            <a:extLst>
              <a:ext uri="{FF2B5EF4-FFF2-40B4-BE49-F238E27FC236}">
                <a16:creationId xmlns:a16="http://schemas.microsoft.com/office/drawing/2014/main" id="{7F4E1CB5-B00B-7131-1DBF-E3DFB2F66F62}"/>
              </a:ext>
            </a:extLst>
          </p:cNvPr>
          <p:cNvSpPr txBox="1"/>
          <p:nvPr/>
        </p:nvSpPr>
        <p:spPr>
          <a:xfrm>
            <a:off x="640080" y="441813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6</a:t>
            </a:r>
            <a:endParaRPr lang="en-US" sz="2400" b="1" noProof="0">
              <a:latin typeface="Arial" panose="020B0604020202020204" pitchFamily="34" charset="0"/>
              <a:cs typeface="Arial" panose="020B0604020202020204" pitchFamily="34" charset="0"/>
            </a:endParaRPr>
          </a:p>
        </p:txBody>
      </p:sp>
      <p:sp>
        <p:nvSpPr>
          <p:cNvPr id="62" name="TextBox 47">
            <a:extLst>
              <a:ext uri="{FF2B5EF4-FFF2-40B4-BE49-F238E27FC236}">
                <a16:creationId xmlns:a16="http://schemas.microsoft.com/office/drawing/2014/main" id="{AA401C50-D61F-C10D-B67F-AADBBD166B04}"/>
              </a:ext>
            </a:extLst>
          </p:cNvPr>
          <p:cNvSpPr txBox="1"/>
          <p:nvPr/>
        </p:nvSpPr>
        <p:spPr>
          <a:xfrm>
            <a:off x="1280160" y="451047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TOOLS</a:t>
            </a:r>
          </a:p>
        </p:txBody>
      </p:sp>
      <p:sp>
        <p:nvSpPr>
          <p:cNvPr id="63" name="Rectangle 45">
            <a:extLst>
              <a:ext uri="{FF2B5EF4-FFF2-40B4-BE49-F238E27FC236}">
                <a16:creationId xmlns:a16="http://schemas.microsoft.com/office/drawing/2014/main" id="{4D5D449F-942D-7B94-881B-EC4C6B5F8AF3}"/>
              </a:ext>
            </a:extLst>
          </p:cNvPr>
          <p:cNvSpPr/>
          <p:nvPr/>
        </p:nvSpPr>
        <p:spPr>
          <a:xfrm>
            <a:off x="464911" y="432730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4" name="TextBox 49">
            <a:extLst>
              <a:ext uri="{FF2B5EF4-FFF2-40B4-BE49-F238E27FC236}">
                <a16:creationId xmlns:a16="http://schemas.microsoft.com/office/drawing/2014/main" id="{D6A252EF-C4CA-F1D8-AB83-00777D962405}"/>
              </a:ext>
            </a:extLst>
          </p:cNvPr>
          <p:cNvSpPr txBox="1"/>
          <p:nvPr/>
        </p:nvSpPr>
        <p:spPr>
          <a:xfrm>
            <a:off x="3162808" y="441813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roles and accountabilities across the lifecycle to ensure end-to-end ownership, effective decision-making, and alignment between business and IT</a:t>
            </a:r>
          </a:p>
        </p:txBody>
      </p:sp>
      <p:sp>
        <p:nvSpPr>
          <p:cNvPr id="65" name="Rectangle 44">
            <a:extLst>
              <a:ext uri="{FF2B5EF4-FFF2-40B4-BE49-F238E27FC236}">
                <a16:creationId xmlns:a16="http://schemas.microsoft.com/office/drawing/2014/main" id="{474152E7-386D-53F2-9522-DA7B30B03260}"/>
              </a:ext>
            </a:extLst>
          </p:cNvPr>
          <p:cNvSpPr/>
          <p:nvPr/>
        </p:nvSpPr>
        <p:spPr>
          <a:xfrm>
            <a:off x="467360" y="498132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6" name="TextBox 46">
            <a:extLst>
              <a:ext uri="{FF2B5EF4-FFF2-40B4-BE49-F238E27FC236}">
                <a16:creationId xmlns:a16="http://schemas.microsoft.com/office/drawing/2014/main" id="{6D34C8CE-BC3D-0F28-0B52-19E5E629A95F}"/>
              </a:ext>
            </a:extLst>
          </p:cNvPr>
          <p:cNvSpPr txBox="1"/>
          <p:nvPr/>
        </p:nvSpPr>
        <p:spPr>
          <a:xfrm>
            <a:off x="640080" y="506837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7</a:t>
            </a:r>
            <a:endParaRPr lang="en-US" sz="2400" b="1" noProof="0">
              <a:latin typeface="Arial" panose="020B0604020202020204" pitchFamily="34" charset="0"/>
              <a:cs typeface="Arial" panose="020B0604020202020204" pitchFamily="34" charset="0"/>
            </a:endParaRPr>
          </a:p>
        </p:txBody>
      </p:sp>
      <p:sp>
        <p:nvSpPr>
          <p:cNvPr id="67" name="TextBox 47">
            <a:extLst>
              <a:ext uri="{FF2B5EF4-FFF2-40B4-BE49-F238E27FC236}">
                <a16:creationId xmlns:a16="http://schemas.microsoft.com/office/drawing/2014/main" id="{20B01825-36D8-706C-CF8C-35D2F1D446F4}"/>
              </a:ext>
            </a:extLst>
          </p:cNvPr>
          <p:cNvSpPr txBox="1"/>
          <p:nvPr/>
        </p:nvSpPr>
        <p:spPr>
          <a:xfrm>
            <a:off x="1280160" y="516071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GOVERNANCE</a:t>
            </a:r>
          </a:p>
        </p:txBody>
      </p:sp>
      <p:sp>
        <p:nvSpPr>
          <p:cNvPr id="68" name="Rectangle 45">
            <a:extLst>
              <a:ext uri="{FF2B5EF4-FFF2-40B4-BE49-F238E27FC236}">
                <a16:creationId xmlns:a16="http://schemas.microsoft.com/office/drawing/2014/main" id="{8EE4265D-5DCD-F403-FF7A-09A27A209943}"/>
              </a:ext>
            </a:extLst>
          </p:cNvPr>
          <p:cNvSpPr/>
          <p:nvPr/>
        </p:nvSpPr>
        <p:spPr>
          <a:xfrm>
            <a:off x="464911" y="497754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9" name="TextBox 49">
            <a:extLst>
              <a:ext uri="{FF2B5EF4-FFF2-40B4-BE49-F238E27FC236}">
                <a16:creationId xmlns:a16="http://schemas.microsoft.com/office/drawing/2014/main" id="{008801E3-D2E7-343A-4460-5D9EF0AF8190}"/>
              </a:ext>
            </a:extLst>
          </p:cNvPr>
          <p:cNvSpPr txBox="1"/>
          <p:nvPr/>
        </p:nvSpPr>
        <p:spPr>
          <a:xfrm>
            <a:off x="3162808" y="506837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Structured decision-making framework with defined forums, processes, and controls to ensure alignment, prioritization, and oversight across the lifecycle</a:t>
            </a:r>
          </a:p>
        </p:txBody>
      </p:sp>
      <p:sp>
        <p:nvSpPr>
          <p:cNvPr id="70" name="Rectangle 44">
            <a:extLst>
              <a:ext uri="{FF2B5EF4-FFF2-40B4-BE49-F238E27FC236}">
                <a16:creationId xmlns:a16="http://schemas.microsoft.com/office/drawing/2014/main" id="{B9678E0E-96A7-F37E-33EC-37DAFA235106}"/>
              </a:ext>
            </a:extLst>
          </p:cNvPr>
          <p:cNvSpPr/>
          <p:nvPr/>
        </p:nvSpPr>
        <p:spPr>
          <a:xfrm>
            <a:off x="467360" y="563156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1" name="TextBox 46">
            <a:extLst>
              <a:ext uri="{FF2B5EF4-FFF2-40B4-BE49-F238E27FC236}">
                <a16:creationId xmlns:a16="http://schemas.microsoft.com/office/drawing/2014/main" id="{DB65C7AA-39AF-E759-36B5-D8FFE22B931B}"/>
              </a:ext>
            </a:extLst>
          </p:cNvPr>
          <p:cNvSpPr txBox="1"/>
          <p:nvPr/>
        </p:nvSpPr>
        <p:spPr>
          <a:xfrm>
            <a:off x="640080" y="571861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08</a:t>
            </a:r>
          </a:p>
        </p:txBody>
      </p:sp>
      <p:sp>
        <p:nvSpPr>
          <p:cNvPr id="72" name="TextBox 47">
            <a:extLst>
              <a:ext uri="{FF2B5EF4-FFF2-40B4-BE49-F238E27FC236}">
                <a16:creationId xmlns:a16="http://schemas.microsoft.com/office/drawing/2014/main" id="{BAB30856-DA32-DE23-820B-B91EE4F4123A}"/>
              </a:ext>
            </a:extLst>
          </p:cNvPr>
          <p:cNvSpPr txBox="1"/>
          <p:nvPr/>
        </p:nvSpPr>
        <p:spPr>
          <a:xfrm>
            <a:off x="1280160" y="581095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PERFORMANCE</a:t>
            </a:r>
          </a:p>
        </p:txBody>
      </p:sp>
      <p:sp>
        <p:nvSpPr>
          <p:cNvPr id="73" name="Rectangle 45">
            <a:extLst>
              <a:ext uri="{FF2B5EF4-FFF2-40B4-BE49-F238E27FC236}">
                <a16:creationId xmlns:a16="http://schemas.microsoft.com/office/drawing/2014/main" id="{AB56CF81-7874-3CAD-E4C0-D1772794D1F5}"/>
              </a:ext>
            </a:extLst>
          </p:cNvPr>
          <p:cNvSpPr/>
          <p:nvPr/>
        </p:nvSpPr>
        <p:spPr>
          <a:xfrm>
            <a:off x="464911" y="5627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4" name="TextBox 49">
            <a:extLst>
              <a:ext uri="{FF2B5EF4-FFF2-40B4-BE49-F238E27FC236}">
                <a16:creationId xmlns:a16="http://schemas.microsoft.com/office/drawing/2014/main" id="{D8E4762B-4E6D-7F91-0694-B087F1C8DB61}"/>
              </a:ext>
            </a:extLst>
          </p:cNvPr>
          <p:cNvSpPr txBox="1"/>
          <p:nvPr/>
        </p:nvSpPr>
        <p:spPr>
          <a:xfrm>
            <a:off x="3162808" y="571861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Standardized metrics and KPIs to monitor demand, delivery, and outcomes, enabling transparency, accountability, and continuous improvement </a:t>
            </a:r>
          </a:p>
        </p:txBody>
      </p:sp>
    </p:spTree>
    <p:extLst>
      <p:ext uri="{BB962C8B-B14F-4D97-AF65-F5344CB8AC3E}">
        <p14:creationId xmlns:p14="http://schemas.microsoft.com/office/powerpoint/2010/main" val="1001675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B61F2-F38F-30D0-AFD7-D1184E644094}"/>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C4CDE7C-A9B8-EBDB-3D6D-CDD2BDEE9A87}"/>
              </a:ext>
            </a:extLst>
          </p:cNvPr>
          <p:cNvSpPr txBox="1"/>
          <p:nvPr/>
        </p:nvSpPr>
        <p:spPr>
          <a:xfrm>
            <a:off x="325121" y="864643"/>
            <a:ext cx="11504930" cy="307777"/>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XXX</a:t>
            </a:r>
          </a:p>
        </p:txBody>
      </p:sp>
      <p:sp>
        <p:nvSpPr>
          <p:cNvPr id="89" name="Text Placeholder 19">
            <a:extLst>
              <a:ext uri="{FF2B5EF4-FFF2-40B4-BE49-F238E27FC236}">
                <a16:creationId xmlns:a16="http://schemas.microsoft.com/office/drawing/2014/main" id="{817516B1-1F4D-4525-BF7D-57B05ECA512F}"/>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PROPOSED LIFECYCLE MODEL</a:t>
            </a:r>
          </a:p>
        </p:txBody>
      </p:sp>
      <p:sp>
        <p:nvSpPr>
          <p:cNvPr id="5" name="object 6">
            <a:extLst>
              <a:ext uri="{FF2B5EF4-FFF2-40B4-BE49-F238E27FC236}">
                <a16:creationId xmlns:a16="http://schemas.microsoft.com/office/drawing/2014/main" id="{5BA9055E-FCE4-FCBD-3834-AD3E4A35AFC4}"/>
              </a:ext>
            </a:extLst>
          </p:cNvPr>
          <p:cNvSpPr txBox="1"/>
          <p:nvPr/>
        </p:nvSpPr>
        <p:spPr>
          <a:xfrm>
            <a:off x="11559540" y="6070835"/>
            <a:ext cx="64135" cy="11683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600" b="0" i="0" u="none" strike="noStrike" kern="0" cap="none" spc="-50" normalizeH="0" baseline="0" noProof="0">
                <a:ln>
                  <a:noFill/>
                </a:ln>
                <a:solidFill>
                  <a:srgbClr val="00A343"/>
                </a:solidFill>
                <a:effectLst/>
                <a:uLnTx/>
                <a:uFillTx/>
                <a:latin typeface="Calibri"/>
                <a:cs typeface="Calibri"/>
              </a:rPr>
              <a:t>2</a:t>
            </a:r>
            <a:endParaRPr kumimoji="0" sz="600" b="0" i="0" u="none" strike="noStrike" kern="0" cap="none" spc="0" normalizeH="0" baseline="0" noProof="0">
              <a:ln>
                <a:noFill/>
              </a:ln>
              <a:solidFill>
                <a:sysClr val="windowText" lastClr="000000"/>
              </a:solidFill>
              <a:effectLst/>
              <a:uLnTx/>
              <a:uFillTx/>
              <a:latin typeface="Calibri"/>
              <a:cs typeface="Calibri"/>
            </a:endParaRPr>
          </a:p>
        </p:txBody>
      </p:sp>
      <p:pic>
        <p:nvPicPr>
          <p:cNvPr id="6" name="Picture 4">
            <a:extLst>
              <a:ext uri="{FF2B5EF4-FFF2-40B4-BE49-F238E27FC236}">
                <a16:creationId xmlns:a16="http://schemas.microsoft.com/office/drawing/2014/main" id="{A66FA472-92A5-2543-B460-E823A4FE362A}"/>
              </a:ext>
            </a:extLst>
          </p:cNvPr>
          <p:cNvPicPr>
            <a:picLocks noChangeAspect="1"/>
          </p:cNvPicPr>
          <p:nvPr/>
        </p:nvPicPr>
        <p:blipFill>
          <a:blip r:embed="rId3"/>
          <a:stretch>
            <a:fillRect/>
          </a:stretch>
        </p:blipFill>
        <p:spPr>
          <a:xfrm>
            <a:off x="1149319" y="1483579"/>
            <a:ext cx="9734292" cy="4927607"/>
          </a:xfrm>
          <a:prstGeom prst="rect">
            <a:avLst/>
          </a:prstGeom>
        </p:spPr>
      </p:pic>
    </p:spTree>
    <p:extLst>
      <p:ext uri="{BB962C8B-B14F-4D97-AF65-F5344CB8AC3E}">
        <p14:creationId xmlns:p14="http://schemas.microsoft.com/office/powerpoint/2010/main" val="3641485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BDB180-35EE-7A57-A864-A7E5FE357CDB}"/>
              </a:ext>
            </a:extLst>
          </p:cNvPr>
          <p:cNvSpPr/>
          <p:nvPr/>
        </p:nvSpPr>
        <p:spPr>
          <a:xfrm>
            <a:off x="140925"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DEMAND MANAGEMENT</a:t>
            </a:r>
          </a:p>
        </p:txBody>
      </p:sp>
      <p:sp>
        <p:nvSpPr>
          <p:cNvPr id="5" name="Rectángulo 4">
            <a:extLst>
              <a:ext uri="{FF2B5EF4-FFF2-40B4-BE49-F238E27FC236}">
                <a16:creationId xmlns:a16="http://schemas.microsoft.com/office/drawing/2014/main" id="{98D02BCE-B519-AF1B-E977-E9F538A20DCB}"/>
              </a:ext>
            </a:extLst>
          </p:cNvPr>
          <p:cNvSpPr/>
          <p:nvPr/>
        </p:nvSpPr>
        <p:spPr>
          <a:xfrm>
            <a:off x="140923"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6" name="Rectángulo 5">
            <a:extLst>
              <a:ext uri="{FF2B5EF4-FFF2-40B4-BE49-F238E27FC236}">
                <a16:creationId xmlns:a16="http://schemas.microsoft.com/office/drawing/2014/main" id="{76327896-BF4A-1C6F-96A3-711BE87A7210}"/>
              </a:ext>
            </a:extLst>
          </p:cNvPr>
          <p:cNvSpPr/>
          <p:nvPr/>
        </p:nvSpPr>
        <p:spPr>
          <a:xfrm>
            <a:off x="140923"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Demand intake channels (formal and informal)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Demand registration and logging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Channel consolidation level (single vs multiple entry points)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Standard intake formats or templates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Demand classification (type, size, urgency)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Differentiation between run, change, regulatory, and innovation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Business value definition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Availability of acceptance criteria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feasibility input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Triage and initial validation activities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routing and assignment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Handling of urgent or exception requests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visibility and tracking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Identification of duplicate or overlapping demand </a:t>
            </a:r>
          </a:p>
        </p:txBody>
      </p:sp>
      <p:sp>
        <p:nvSpPr>
          <p:cNvPr id="7" name="Rectángulo 6">
            <a:extLst>
              <a:ext uri="{FF2B5EF4-FFF2-40B4-BE49-F238E27FC236}">
                <a16:creationId xmlns:a16="http://schemas.microsoft.com/office/drawing/2014/main" id="{C2D50277-CC6C-2D1F-7196-3B69DD2007AB}"/>
              </a:ext>
            </a:extLst>
          </p:cNvPr>
          <p:cNvSpPr/>
          <p:nvPr/>
        </p:nvSpPr>
        <p:spPr>
          <a:xfrm>
            <a:off x="140923"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8" name="Rectángulo 7">
            <a:extLst>
              <a:ext uri="{FF2B5EF4-FFF2-40B4-BE49-F238E27FC236}">
                <a16:creationId xmlns:a16="http://schemas.microsoft.com/office/drawing/2014/main" id="{7F254025-5F7B-E680-3D82-9A3D51721776}"/>
              </a:ext>
            </a:extLst>
          </p:cNvPr>
          <p:cNvSpPr/>
          <p:nvPr/>
        </p:nvSpPr>
        <p:spPr>
          <a:xfrm>
            <a:off x="140923"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requestors / stakeholders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or demand managers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Architects or technical reviewers</a:t>
            </a:r>
          </a:p>
        </p:txBody>
      </p:sp>
      <p:sp>
        <p:nvSpPr>
          <p:cNvPr id="9" name="Rectángulo 8">
            <a:extLst>
              <a:ext uri="{FF2B5EF4-FFF2-40B4-BE49-F238E27FC236}">
                <a16:creationId xmlns:a16="http://schemas.microsoft.com/office/drawing/2014/main" id="{C690EB29-3997-259A-9481-1EED99AE9C55}"/>
              </a:ext>
            </a:extLst>
          </p:cNvPr>
          <p:cNvSpPr/>
          <p:nvPr/>
        </p:nvSpPr>
        <p:spPr>
          <a:xfrm>
            <a:off x="140923"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10" name="Rectángulo 9">
            <a:extLst>
              <a:ext uri="{FF2B5EF4-FFF2-40B4-BE49-F238E27FC236}">
                <a16:creationId xmlns:a16="http://schemas.microsoft.com/office/drawing/2014/main" id="{A88FFA16-9E8C-180F-C2E6-7A8600715841}"/>
              </a:ext>
            </a:extLst>
          </p:cNvPr>
          <p:cNvSpPr/>
          <p:nvPr/>
        </p:nvSpPr>
        <p:spPr>
          <a:xfrm>
            <a:off x="140923"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capture tools Demand tracking and backlog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Communication channels Documentation tools for capturing request details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Reporting or visibility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Rectángulo 10">
            <a:extLst>
              <a:ext uri="{FF2B5EF4-FFF2-40B4-BE49-F238E27FC236}">
                <a16:creationId xmlns:a16="http://schemas.microsoft.com/office/drawing/2014/main" id="{F7AA309A-EFF6-A78A-0177-838E6F1D0067}"/>
              </a:ext>
            </a:extLst>
          </p:cNvPr>
          <p:cNvSpPr/>
          <p:nvPr/>
        </p:nvSpPr>
        <p:spPr>
          <a:xfrm>
            <a:off x="140923"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12" name="Rectángulo 11">
            <a:extLst>
              <a:ext uri="{FF2B5EF4-FFF2-40B4-BE49-F238E27FC236}">
                <a16:creationId xmlns:a16="http://schemas.microsoft.com/office/drawing/2014/main" id="{C6C98AD2-825F-E7AB-6102-FCDD78D4E621}"/>
              </a:ext>
            </a:extLst>
          </p:cNvPr>
          <p:cNvSpPr/>
          <p:nvPr/>
        </p:nvSpPr>
        <p:spPr>
          <a:xfrm>
            <a:off x="140923"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review forums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Decision-making practices for accepting, rejecting, or redirecting demand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Escalation mechanisms for urgent or conflicting requests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intake guidelines or policies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mechanisms with business stakeholders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demand inflow and backlog health</a:t>
            </a:r>
          </a:p>
        </p:txBody>
      </p:sp>
      <p:sp>
        <p:nvSpPr>
          <p:cNvPr id="13" name="Rectángulo 12">
            <a:extLst>
              <a:ext uri="{FF2B5EF4-FFF2-40B4-BE49-F238E27FC236}">
                <a16:creationId xmlns:a16="http://schemas.microsoft.com/office/drawing/2014/main" id="{7CC6E548-DEF8-2B85-CCD2-FFE88CEFDE4A}"/>
              </a:ext>
            </a:extLst>
          </p:cNvPr>
          <p:cNvSpPr/>
          <p:nvPr/>
        </p:nvSpPr>
        <p:spPr>
          <a:xfrm>
            <a:off x="140923"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14" name="Rectángulo 13">
            <a:extLst>
              <a:ext uri="{FF2B5EF4-FFF2-40B4-BE49-F238E27FC236}">
                <a16:creationId xmlns:a16="http://schemas.microsoft.com/office/drawing/2014/main" id="{DE5EE6CE-4BF8-34A8-C566-1DF4A018C78D}"/>
              </a:ext>
            </a:extLst>
          </p:cNvPr>
          <p:cNvSpPr/>
          <p:nvPr/>
        </p:nvSpPr>
        <p:spPr>
          <a:xfrm>
            <a:off x="140923"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volume and inflow trends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quality (completeness, clarity)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Triage lead time% of demand entering through formal channels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of urgent or bypassed requests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duplication or overlap indicators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and traceability of demand status</a:t>
            </a:r>
          </a:p>
        </p:txBody>
      </p:sp>
      <p:sp>
        <p:nvSpPr>
          <p:cNvPr id="16" name="Rectángulo 15">
            <a:extLst>
              <a:ext uri="{FF2B5EF4-FFF2-40B4-BE49-F238E27FC236}">
                <a16:creationId xmlns:a16="http://schemas.microsoft.com/office/drawing/2014/main" id="{A85CD2A5-B769-F15D-4F5C-65632E311004}"/>
              </a:ext>
            </a:extLst>
          </p:cNvPr>
          <p:cNvSpPr/>
          <p:nvPr/>
        </p:nvSpPr>
        <p:spPr>
          <a:xfrm>
            <a:off x="3133327"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PREPARATION &amp; PLANNING</a:t>
            </a:r>
          </a:p>
        </p:txBody>
      </p:sp>
      <p:sp>
        <p:nvSpPr>
          <p:cNvPr id="18" name="Rectángulo 17">
            <a:extLst>
              <a:ext uri="{FF2B5EF4-FFF2-40B4-BE49-F238E27FC236}">
                <a16:creationId xmlns:a16="http://schemas.microsoft.com/office/drawing/2014/main" id="{91667602-ED58-E6E4-48E2-DB2747F2EA57}"/>
              </a:ext>
            </a:extLst>
          </p:cNvPr>
          <p:cNvSpPr/>
          <p:nvPr/>
        </p:nvSpPr>
        <p:spPr>
          <a:xfrm>
            <a:off x="3133325"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19" name="Rectángulo 18">
            <a:extLst>
              <a:ext uri="{FF2B5EF4-FFF2-40B4-BE49-F238E27FC236}">
                <a16:creationId xmlns:a16="http://schemas.microsoft.com/office/drawing/2014/main" id="{8C573E15-8F9F-AEBC-20FC-C23B2791C19A}"/>
              </a:ext>
            </a:extLst>
          </p:cNvPr>
          <p:cNvSpPr/>
          <p:nvPr/>
        </p:nvSpPr>
        <p:spPr>
          <a:xfrm>
            <a:off x="3133325"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consolidation and portfolio structuring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prioritization mechanisms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Use of value, risk, and effort considerations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backlog management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Roadmap definition (short / mid / long term)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cycles (e.g., monthly, quarterly)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Effort estimation practices (high-level and detailed)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Capacity planning and forecasting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between demand and available capacity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allocation to teams / squads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Handling of unplanned or ad-hoc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Grouping and structuring of work (epics, features, initiatives) </a:t>
            </a:r>
          </a:p>
        </p:txBody>
      </p:sp>
      <p:sp>
        <p:nvSpPr>
          <p:cNvPr id="20" name="Rectángulo 19">
            <a:extLst>
              <a:ext uri="{FF2B5EF4-FFF2-40B4-BE49-F238E27FC236}">
                <a16:creationId xmlns:a16="http://schemas.microsoft.com/office/drawing/2014/main" id="{9D97E351-84DA-CC39-D07E-D83B348CD5A9}"/>
              </a:ext>
            </a:extLst>
          </p:cNvPr>
          <p:cNvSpPr/>
          <p:nvPr/>
        </p:nvSpPr>
        <p:spPr>
          <a:xfrm>
            <a:off x="3133325"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21" name="Rectángulo 20">
            <a:extLst>
              <a:ext uri="{FF2B5EF4-FFF2-40B4-BE49-F238E27FC236}">
                <a16:creationId xmlns:a16="http://schemas.microsoft.com/office/drawing/2014/main" id="{9054BDFB-799E-36DC-A0A1-0648932EE1CF}"/>
              </a:ext>
            </a:extLst>
          </p:cNvPr>
          <p:cNvSpPr/>
          <p:nvPr/>
        </p:nvSpPr>
        <p:spPr>
          <a:xfrm>
            <a:off x="3133325"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managers / product owners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leads / architects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stakeholders </a:t>
            </a:r>
          </a:p>
        </p:txBody>
      </p:sp>
      <p:sp>
        <p:nvSpPr>
          <p:cNvPr id="22" name="Rectángulo 21">
            <a:extLst>
              <a:ext uri="{FF2B5EF4-FFF2-40B4-BE49-F238E27FC236}">
                <a16:creationId xmlns:a16="http://schemas.microsoft.com/office/drawing/2014/main" id="{24E823B6-AD29-F213-D3D6-54E09A2BDEB9}"/>
              </a:ext>
            </a:extLst>
          </p:cNvPr>
          <p:cNvSpPr/>
          <p:nvPr/>
        </p:nvSpPr>
        <p:spPr>
          <a:xfrm>
            <a:off x="3133325"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23" name="Rectángulo 22">
            <a:extLst>
              <a:ext uri="{FF2B5EF4-FFF2-40B4-BE49-F238E27FC236}">
                <a16:creationId xmlns:a16="http://schemas.microsoft.com/office/drawing/2014/main" id="{0357B456-2397-84F3-0BEA-CA3A88168DA8}"/>
              </a:ext>
            </a:extLst>
          </p:cNvPr>
          <p:cNvSpPr/>
          <p:nvPr/>
        </p:nvSpPr>
        <p:spPr>
          <a:xfrm>
            <a:off x="3133325"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Backlog and portfolio management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 mapping and planning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Estimation and capacity planning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Reporting and visualization tools </a:t>
            </a:r>
          </a:p>
        </p:txBody>
      </p:sp>
      <p:sp>
        <p:nvSpPr>
          <p:cNvPr id="24" name="Rectángulo 23">
            <a:extLst>
              <a:ext uri="{FF2B5EF4-FFF2-40B4-BE49-F238E27FC236}">
                <a16:creationId xmlns:a16="http://schemas.microsoft.com/office/drawing/2014/main" id="{03DBB336-CF8B-F1D6-5927-8967811A22D8}"/>
              </a:ext>
            </a:extLst>
          </p:cNvPr>
          <p:cNvSpPr/>
          <p:nvPr/>
        </p:nvSpPr>
        <p:spPr>
          <a:xfrm>
            <a:off x="3133325"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25" name="Rectángulo 24">
            <a:extLst>
              <a:ext uri="{FF2B5EF4-FFF2-40B4-BE49-F238E27FC236}">
                <a16:creationId xmlns:a16="http://schemas.microsoft.com/office/drawing/2014/main" id="{F48320F0-1075-C065-A6C2-F7D3F62F7E3B}"/>
              </a:ext>
            </a:extLst>
          </p:cNvPr>
          <p:cNvSpPr/>
          <p:nvPr/>
        </p:nvSpPr>
        <p:spPr>
          <a:xfrm>
            <a:off x="3133325"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review forums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and planning decision-making practices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mechanisms between business and technology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prioritization criteria and guidelines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demand vs capacity balance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 practices for deferring or rejecting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Cross-area coordination mechanisms (if multiple OPCOs / domains) </a:t>
            </a:r>
          </a:p>
        </p:txBody>
      </p:sp>
      <p:sp>
        <p:nvSpPr>
          <p:cNvPr id="26" name="Rectángulo 25">
            <a:extLst>
              <a:ext uri="{FF2B5EF4-FFF2-40B4-BE49-F238E27FC236}">
                <a16:creationId xmlns:a16="http://schemas.microsoft.com/office/drawing/2014/main" id="{BDE5C897-8A32-71C7-708A-2ED5245B6880}"/>
              </a:ext>
            </a:extLst>
          </p:cNvPr>
          <p:cNvSpPr/>
          <p:nvPr/>
        </p:nvSpPr>
        <p:spPr>
          <a:xfrm>
            <a:off x="3133325"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27" name="Rectángulo 26">
            <a:extLst>
              <a:ext uri="{FF2B5EF4-FFF2-40B4-BE49-F238E27FC236}">
                <a16:creationId xmlns:a16="http://schemas.microsoft.com/office/drawing/2014/main" id="{8B9D2DBE-5B31-3788-1A5D-29A31A016BAB}"/>
              </a:ext>
            </a:extLst>
          </p:cNvPr>
          <p:cNvSpPr/>
          <p:nvPr/>
        </p:nvSpPr>
        <p:spPr>
          <a:xfrm>
            <a:off x="3133325"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vs capacity visibility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cycle time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of demand planned vs unplanned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between planned and committed work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predictability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balance (e.g., run vs change vs regulatory)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roadmap and planning outcomes </a:t>
            </a:r>
          </a:p>
        </p:txBody>
      </p:sp>
      <p:sp>
        <p:nvSpPr>
          <p:cNvPr id="28" name="Rectángulo 27">
            <a:extLst>
              <a:ext uri="{FF2B5EF4-FFF2-40B4-BE49-F238E27FC236}">
                <a16:creationId xmlns:a16="http://schemas.microsoft.com/office/drawing/2014/main" id="{57A34BEA-0BDA-660F-A6DF-394490E30EAD}"/>
              </a:ext>
            </a:extLst>
          </p:cNvPr>
          <p:cNvSpPr/>
          <p:nvPr/>
        </p:nvSpPr>
        <p:spPr>
          <a:xfrm>
            <a:off x="6125728"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EXECUTION</a:t>
            </a:r>
          </a:p>
        </p:txBody>
      </p:sp>
      <p:sp>
        <p:nvSpPr>
          <p:cNvPr id="30" name="Rectángulo 29">
            <a:extLst>
              <a:ext uri="{FF2B5EF4-FFF2-40B4-BE49-F238E27FC236}">
                <a16:creationId xmlns:a16="http://schemas.microsoft.com/office/drawing/2014/main" id="{89427BBC-7357-4F02-6675-DFECF4C63833}"/>
              </a:ext>
            </a:extLst>
          </p:cNvPr>
          <p:cNvSpPr/>
          <p:nvPr/>
        </p:nvSpPr>
        <p:spPr>
          <a:xfrm>
            <a:off x="6125727"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31" name="Rectángulo 30">
            <a:extLst>
              <a:ext uri="{FF2B5EF4-FFF2-40B4-BE49-F238E27FC236}">
                <a16:creationId xmlns:a16="http://schemas.microsoft.com/office/drawing/2014/main" id="{DCD7B171-7E66-04BC-AFD5-BB0C47000717}"/>
              </a:ext>
            </a:extLst>
          </p:cNvPr>
          <p:cNvSpPr/>
          <p:nvPr/>
        </p:nvSpPr>
        <p:spPr>
          <a:xfrm>
            <a:off x="6125727"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Intake of work from prioritized backlog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breakdown (epics, stories, tasks)Sprint / iteration management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prioritization at team level</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Ready (or equivalent readiness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Done (or completion criteria)</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Development and build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Testing practices (unit, integration, functional, UAT)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Defect management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Dependency management (intra- and inter-team)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Cross-team coordination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progress tracking and visibility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Documentation of functional and technical aspects</a:t>
            </a:r>
          </a:p>
        </p:txBody>
      </p:sp>
      <p:sp>
        <p:nvSpPr>
          <p:cNvPr id="32" name="Rectángulo 31">
            <a:extLst>
              <a:ext uri="{FF2B5EF4-FFF2-40B4-BE49-F238E27FC236}">
                <a16:creationId xmlns:a16="http://schemas.microsoft.com/office/drawing/2014/main" id="{873AFA94-3833-9C29-6C4E-263ECD213D89}"/>
              </a:ext>
            </a:extLst>
          </p:cNvPr>
          <p:cNvSpPr/>
          <p:nvPr/>
        </p:nvSpPr>
        <p:spPr>
          <a:xfrm>
            <a:off x="6125727"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33" name="Rectángulo 32">
            <a:extLst>
              <a:ext uri="{FF2B5EF4-FFF2-40B4-BE49-F238E27FC236}">
                <a16:creationId xmlns:a16="http://schemas.microsoft.com/office/drawing/2014/main" id="{508FC605-7A9F-EEBB-7CC7-3EF12FC0AF20}"/>
              </a:ext>
            </a:extLst>
          </p:cNvPr>
          <p:cNvSpPr/>
          <p:nvPr/>
        </p:nvSpPr>
        <p:spPr>
          <a:xfrm>
            <a:off x="6125727"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teams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leads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Scrum masters / delivery managers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owners / business representatives </a:t>
            </a:r>
          </a:p>
        </p:txBody>
      </p:sp>
      <p:sp>
        <p:nvSpPr>
          <p:cNvPr id="34" name="Rectángulo 33">
            <a:extLst>
              <a:ext uri="{FF2B5EF4-FFF2-40B4-BE49-F238E27FC236}">
                <a16:creationId xmlns:a16="http://schemas.microsoft.com/office/drawing/2014/main" id="{8185864B-CEBE-C100-6C91-90AAD0A5F5BC}"/>
              </a:ext>
            </a:extLst>
          </p:cNvPr>
          <p:cNvSpPr/>
          <p:nvPr/>
        </p:nvSpPr>
        <p:spPr>
          <a:xfrm>
            <a:off x="6125727"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35" name="Rectángulo 34">
            <a:extLst>
              <a:ext uri="{FF2B5EF4-FFF2-40B4-BE49-F238E27FC236}">
                <a16:creationId xmlns:a16="http://schemas.microsoft.com/office/drawing/2014/main" id="{A2AFB2C1-3499-FFDC-C3FE-6D1BFBC91FDE}"/>
              </a:ext>
            </a:extLst>
          </p:cNvPr>
          <p:cNvSpPr/>
          <p:nvPr/>
        </p:nvSpPr>
        <p:spPr>
          <a:xfrm>
            <a:off x="6125727"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management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Collaboration and communication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Documentation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Rectángulo 35">
            <a:extLst>
              <a:ext uri="{FF2B5EF4-FFF2-40B4-BE49-F238E27FC236}">
                <a16:creationId xmlns:a16="http://schemas.microsoft.com/office/drawing/2014/main" id="{26430243-0612-D531-4005-228386CF8DB7}"/>
              </a:ext>
            </a:extLst>
          </p:cNvPr>
          <p:cNvSpPr/>
          <p:nvPr/>
        </p:nvSpPr>
        <p:spPr>
          <a:xfrm>
            <a:off x="6125727"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37" name="Rectángulo 36">
            <a:extLst>
              <a:ext uri="{FF2B5EF4-FFF2-40B4-BE49-F238E27FC236}">
                <a16:creationId xmlns:a16="http://schemas.microsoft.com/office/drawing/2014/main" id="{1BE9AD9B-2580-3A7F-3818-99EA264F166A}"/>
              </a:ext>
            </a:extLst>
          </p:cNvPr>
          <p:cNvSpPr/>
          <p:nvPr/>
        </p:nvSpPr>
        <p:spPr>
          <a:xfrm>
            <a:off x="6125727"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review forums (e.g., sprint reviews, demos)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Issue and risk escalation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delivery progress and performance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delivery standards and guidelines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Coordination mechanisms across teams or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with business during execution</a:t>
            </a:r>
          </a:p>
        </p:txBody>
      </p:sp>
      <p:sp>
        <p:nvSpPr>
          <p:cNvPr id="38" name="Rectángulo 37">
            <a:extLst>
              <a:ext uri="{FF2B5EF4-FFF2-40B4-BE49-F238E27FC236}">
                <a16:creationId xmlns:a16="http://schemas.microsoft.com/office/drawing/2014/main" id="{F2686C63-57F4-C63B-399E-B07C7501FAEC}"/>
              </a:ext>
            </a:extLst>
          </p:cNvPr>
          <p:cNvSpPr/>
          <p:nvPr/>
        </p:nvSpPr>
        <p:spPr>
          <a:xfrm>
            <a:off x="6125727"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39" name="Rectángulo 38">
            <a:extLst>
              <a:ext uri="{FF2B5EF4-FFF2-40B4-BE49-F238E27FC236}">
                <a16:creationId xmlns:a16="http://schemas.microsoft.com/office/drawing/2014/main" id="{FBAD352E-08AB-7AC9-970D-DA911F545B00}"/>
              </a:ext>
            </a:extLst>
          </p:cNvPr>
          <p:cNvSpPr/>
          <p:nvPr/>
        </p:nvSpPr>
        <p:spPr>
          <a:xfrm>
            <a:off x="6125727"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Velocity / throughput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Lead time and cycle time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Predictability (planned vs delivered)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Defect rates and quality indicators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in progress (WIP) levels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Dependency-related delays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execution progress</a:t>
            </a:r>
          </a:p>
        </p:txBody>
      </p:sp>
      <p:sp>
        <p:nvSpPr>
          <p:cNvPr id="44" name="Rectángulo 43">
            <a:extLst>
              <a:ext uri="{FF2B5EF4-FFF2-40B4-BE49-F238E27FC236}">
                <a16:creationId xmlns:a16="http://schemas.microsoft.com/office/drawing/2014/main" id="{103E3C6E-5D8A-7A4B-BA7F-EFE96110B9DE}"/>
              </a:ext>
            </a:extLst>
          </p:cNvPr>
          <p:cNvSpPr/>
          <p:nvPr/>
        </p:nvSpPr>
        <p:spPr>
          <a:xfrm>
            <a:off x="9137876"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DEPLOYMENT</a:t>
            </a:r>
          </a:p>
        </p:txBody>
      </p:sp>
      <p:sp>
        <p:nvSpPr>
          <p:cNvPr id="46" name="Rectángulo 45">
            <a:extLst>
              <a:ext uri="{FF2B5EF4-FFF2-40B4-BE49-F238E27FC236}">
                <a16:creationId xmlns:a16="http://schemas.microsoft.com/office/drawing/2014/main" id="{142ED981-3DB5-4AD9-2DDD-78ADE3614905}"/>
              </a:ext>
            </a:extLst>
          </p:cNvPr>
          <p:cNvSpPr/>
          <p:nvPr/>
        </p:nvSpPr>
        <p:spPr>
          <a:xfrm>
            <a:off x="9137873" y="37603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47" name="Rectángulo 46">
            <a:extLst>
              <a:ext uri="{FF2B5EF4-FFF2-40B4-BE49-F238E27FC236}">
                <a16:creationId xmlns:a16="http://schemas.microsoft.com/office/drawing/2014/main" id="{62D9340B-6735-1EE5-7F46-C31E37ECCB4C}"/>
              </a:ext>
            </a:extLst>
          </p:cNvPr>
          <p:cNvSpPr/>
          <p:nvPr/>
        </p:nvSpPr>
        <p:spPr>
          <a:xfrm>
            <a:off x="9137873" y="686427"/>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planning and scheduling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coordination across teams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Change management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Deployment execution (manual or automated)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Environment management (dev, test, prod)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Rollback and recovery capabilities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Validation and sign-off processes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Post-deployment verification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Hypercare and stabilization support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Transition to operations and support teams</a:t>
            </a:r>
          </a:p>
        </p:txBody>
      </p:sp>
      <p:sp>
        <p:nvSpPr>
          <p:cNvPr id="48" name="Rectángulo 47">
            <a:extLst>
              <a:ext uri="{FF2B5EF4-FFF2-40B4-BE49-F238E27FC236}">
                <a16:creationId xmlns:a16="http://schemas.microsoft.com/office/drawing/2014/main" id="{556F8F3E-86A9-0B1B-3CC5-8B2BA98CF977}"/>
              </a:ext>
            </a:extLst>
          </p:cNvPr>
          <p:cNvSpPr/>
          <p:nvPr/>
        </p:nvSpPr>
        <p:spPr>
          <a:xfrm>
            <a:off x="9137873" y="230779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49" name="Rectángulo 48">
            <a:extLst>
              <a:ext uri="{FF2B5EF4-FFF2-40B4-BE49-F238E27FC236}">
                <a16:creationId xmlns:a16="http://schemas.microsoft.com/office/drawing/2014/main" id="{DD743998-A764-DF27-719C-E1368DC4C8C2}"/>
              </a:ext>
            </a:extLst>
          </p:cNvPr>
          <p:cNvSpPr/>
          <p:nvPr/>
        </p:nvSpPr>
        <p:spPr>
          <a:xfrm>
            <a:off x="9137873" y="2618187"/>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managers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Operations / support teams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teams (as contributors to release)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stakeholders (for validation / sign-off)</a:t>
            </a:r>
          </a:p>
        </p:txBody>
      </p:sp>
      <p:sp>
        <p:nvSpPr>
          <p:cNvPr id="50" name="Rectángulo 49">
            <a:extLst>
              <a:ext uri="{FF2B5EF4-FFF2-40B4-BE49-F238E27FC236}">
                <a16:creationId xmlns:a16="http://schemas.microsoft.com/office/drawing/2014/main" id="{B92FDCE9-E54B-A5E1-6B2A-48A2A760FFC7}"/>
              </a:ext>
            </a:extLst>
          </p:cNvPr>
          <p:cNvSpPr/>
          <p:nvPr/>
        </p:nvSpPr>
        <p:spPr>
          <a:xfrm>
            <a:off x="9137873" y="3191129"/>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51" name="Rectángulo 50">
            <a:extLst>
              <a:ext uri="{FF2B5EF4-FFF2-40B4-BE49-F238E27FC236}">
                <a16:creationId xmlns:a16="http://schemas.microsoft.com/office/drawing/2014/main" id="{99E5AFAF-56C5-B89F-13F9-3D797E7EBF4F}"/>
              </a:ext>
            </a:extLst>
          </p:cNvPr>
          <p:cNvSpPr/>
          <p:nvPr/>
        </p:nvSpPr>
        <p:spPr>
          <a:xfrm>
            <a:off x="9137873" y="3491363"/>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and deployment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Monitoring and alerting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Incident and support management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Rectángulo 51">
            <a:extLst>
              <a:ext uri="{FF2B5EF4-FFF2-40B4-BE49-F238E27FC236}">
                <a16:creationId xmlns:a16="http://schemas.microsoft.com/office/drawing/2014/main" id="{654B17EE-B79E-8DC6-12C9-B31A5648919C}"/>
              </a:ext>
            </a:extLst>
          </p:cNvPr>
          <p:cNvSpPr/>
          <p:nvPr/>
        </p:nvSpPr>
        <p:spPr>
          <a:xfrm>
            <a:off x="9137873" y="4074466"/>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53" name="Rectángulo 52">
            <a:extLst>
              <a:ext uri="{FF2B5EF4-FFF2-40B4-BE49-F238E27FC236}">
                <a16:creationId xmlns:a16="http://schemas.microsoft.com/office/drawing/2014/main" id="{D93E8B0D-9CD8-62C2-D47D-C07DCF916D8B}"/>
              </a:ext>
            </a:extLst>
          </p:cNvPr>
          <p:cNvSpPr/>
          <p:nvPr/>
        </p:nvSpPr>
        <p:spPr>
          <a:xfrm>
            <a:off x="9137873" y="4384858"/>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and change approval forums (e.g., CAB or equivalents)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Decision-making practices for release readiness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deployment risks and impacts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deployment and change policies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Coordination between delivery and operations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Control mechanisms for production changes</a:t>
            </a:r>
          </a:p>
        </p:txBody>
      </p:sp>
      <p:sp>
        <p:nvSpPr>
          <p:cNvPr id="54" name="Rectángulo 53">
            <a:extLst>
              <a:ext uri="{FF2B5EF4-FFF2-40B4-BE49-F238E27FC236}">
                <a16:creationId xmlns:a16="http://schemas.microsoft.com/office/drawing/2014/main" id="{0658769A-B192-5A41-DDB6-9CD4E6CB4F5A}"/>
              </a:ext>
            </a:extLst>
          </p:cNvPr>
          <p:cNvSpPr/>
          <p:nvPr/>
        </p:nvSpPr>
        <p:spPr>
          <a:xfrm>
            <a:off x="9137873" y="5389071"/>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55" name="Rectángulo 54">
            <a:extLst>
              <a:ext uri="{FF2B5EF4-FFF2-40B4-BE49-F238E27FC236}">
                <a16:creationId xmlns:a16="http://schemas.microsoft.com/office/drawing/2014/main" id="{372AEE07-5DEC-140A-A131-4EEA8861D6CD}"/>
              </a:ext>
            </a:extLst>
          </p:cNvPr>
          <p:cNvSpPr/>
          <p:nvPr/>
        </p:nvSpPr>
        <p:spPr>
          <a:xfrm>
            <a:off x="9137873" y="5699465"/>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Deployment success rate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Incidents and defects post-release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Time to recover from failures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frequency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Stability of deployed solutions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Effectiveness of </a:t>
            </a:r>
            <a:r>
              <a:rPr kumimoji="0" lang="en-US" sz="7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hypercare</a:t>
            </a: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period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release outcomes</a:t>
            </a:r>
          </a:p>
        </p:txBody>
      </p:sp>
    </p:spTree>
    <p:extLst>
      <p:ext uri="{BB962C8B-B14F-4D97-AF65-F5344CB8AC3E}">
        <p14:creationId xmlns:p14="http://schemas.microsoft.com/office/powerpoint/2010/main" val="1993736751"/>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CA37-81F2-12A4-6F22-A0A5D346EE3B}"/>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48FC1FEA-EA8E-F14C-E0ED-3768BC6401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248AE47-9CF6-6D41-F686-805F0657ADDE}"/>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F0BE4E43-E01D-C7B7-D944-189D28910403}"/>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4E2366B3-FA6F-DF86-CC34-CC486D397B9D}"/>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391C251A-D13F-C4BB-6BF4-3A7D21534CD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1DE86A4A-6B2C-02A4-BC2F-9484530F55DD}"/>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34DD1406-8CFF-B9D2-4B58-67A55B692B8B}"/>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id="{A82AFF1A-667C-A4DC-69AE-26B4A1525DDA}"/>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F054FEB7-968F-799F-E2FE-C9BFDFBDD06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CC0C8156-8932-E544-1607-C1B394295DC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8F7C5D7-224D-678C-8786-570892E08F6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4AA254A0-303A-7CCF-AF66-9BED5C244BB0}"/>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A82F734D-5D0E-0933-5137-39BD09882771}"/>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TextBox 20">
            <a:extLst>
              <a:ext uri="{FF2B5EF4-FFF2-40B4-BE49-F238E27FC236}">
                <a16:creationId xmlns:a16="http://schemas.microsoft.com/office/drawing/2014/main" id="{4FFAB956-FA20-6622-9868-DEB17CBC73C4}"/>
              </a:ext>
            </a:extLst>
          </p:cNvPr>
          <p:cNvSpPr txBox="1"/>
          <p:nvPr/>
        </p:nvSpPr>
        <p:spPr>
          <a:xfrm>
            <a:off x="6339805" y="172282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7EBCE420-12AA-F3E9-A352-A775EC326A6B}"/>
              </a:ext>
            </a:extLst>
          </p:cNvPr>
          <p:cNvSpPr txBox="1"/>
          <p:nvPr/>
        </p:nvSpPr>
        <p:spPr>
          <a:xfrm>
            <a:off x="6348464" y="85845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9E0223E0-ACF0-A57B-53BE-C53421161F0E}"/>
              </a:ext>
            </a:extLst>
          </p:cNvPr>
          <p:cNvSpPr txBox="1"/>
          <p:nvPr/>
        </p:nvSpPr>
        <p:spPr>
          <a:xfrm>
            <a:off x="6344244" y="126180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9AF4AEF2-3733-7713-D2FE-916F7BA89964}"/>
              </a:ext>
            </a:extLst>
          </p:cNvPr>
          <p:cNvSpPr txBox="1"/>
          <p:nvPr/>
        </p:nvSpPr>
        <p:spPr>
          <a:xfrm>
            <a:off x="5466533" y="101171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4B6DCAC7-0DA7-3ACB-A2A6-56EE1BBEBC0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9" name="Rectangle 44">
            <a:extLst>
              <a:ext uri="{FF2B5EF4-FFF2-40B4-BE49-F238E27FC236}">
                <a16:creationId xmlns:a16="http://schemas.microsoft.com/office/drawing/2014/main" id="{28AC9D4C-DDD5-B6B3-B44F-30D0C2CF0C61}"/>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7ED14AA5-92B6-434B-FBE6-FA5C8709CA22}"/>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B8153841-308F-F2AF-AC78-96F78C74F7AF}"/>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s-MX" b="1">
                <a:solidFill>
                  <a:schemeClr val="accent1"/>
                </a:solidFill>
                <a:latin typeface="Arial" panose="020B0604020202020204" pitchFamily="34" charset="0"/>
                <a:cs typeface="Arial" panose="020B0604020202020204" pitchFamily="34" charset="0"/>
              </a:rPr>
              <a:t>DEMAND MANAGEMENT</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PREPARATION &amp; PLANNING</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EXECUTION</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253796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1306C-2019-7F72-9273-61F28B4490FB}"/>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A24A3CBB-9E08-FF03-0504-5126472B3E4A}"/>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defRPr/>
            </a:pPr>
            <a:r>
              <a:rPr kumimoji="0" lang="en-US" sz="1400" b="0" i="0" u="none" strike="noStrike" kern="1200" cap="none" spc="0" normalizeH="0" baseline="0" noProof="0">
                <a:ln>
                  <a:noFill/>
                </a:ln>
                <a:solidFill>
                  <a:srgbClr val="3A3734"/>
                </a:solidFill>
                <a:effectLst/>
                <a:uLnTx/>
                <a:uFillTx/>
                <a:latin typeface="Arial"/>
                <a:ea typeface="+mn-ea"/>
                <a:cs typeface="Arial"/>
              </a:rPr>
              <a:t>Four core practices that reshape the intake conversation</a:t>
            </a:r>
          </a:p>
          <a:p>
            <a:pPr>
              <a:defRPr/>
            </a:pP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13E33989-8AE1-6722-A0AB-9CE51CFD7A83}"/>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chemeClr val="tx1"/>
                </a:solidFill>
                <a:latin typeface="IberPangea Text Medium" panose="020B0604000000000000" pitchFamily="34" charset="0"/>
              </a:rPr>
              <a:t>CORE PRINCIPLES</a:t>
            </a:r>
          </a:p>
          <a:p>
            <a:pPr>
              <a:buClr>
                <a:srgbClr val="FFFFFF"/>
              </a:buClr>
              <a:buSzPts val="3100"/>
              <a:defRPr/>
            </a:pPr>
            <a:endParaRPr kumimoji="0" lang="en-US" sz="2800" b="1" i="0" u="none" strike="noStrike" kern="1200" cap="none" spc="0" normalizeH="0" baseline="0" noProof="0">
              <a:ln>
                <a:noFill/>
              </a:ln>
              <a:solidFill>
                <a:schemeClr val="tx1"/>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grpSp>
        <p:nvGrpSpPr>
          <p:cNvPr id="23" name="Grupo 22">
            <a:extLst>
              <a:ext uri="{FF2B5EF4-FFF2-40B4-BE49-F238E27FC236}">
                <a16:creationId xmlns:a16="http://schemas.microsoft.com/office/drawing/2014/main" id="{554543DE-4596-FAE0-9CEB-7002C6C366DA}"/>
              </a:ext>
            </a:extLst>
          </p:cNvPr>
          <p:cNvGrpSpPr/>
          <p:nvPr/>
        </p:nvGrpSpPr>
        <p:grpSpPr>
          <a:xfrm>
            <a:off x="912080" y="1393475"/>
            <a:ext cx="9899880" cy="4813364"/>
            <a:chOff x="1362075" y="1510665"/>
            <a:chExt cx="8999889" cy="4375785"/>
          </a:xfrm>
        </p:grpSpPr>
        <p:sp>
          <p:nvSpPr>
            <p:cNvPr id="3" name="Rounded Rectangle 5">
              <a:extLst>
                <a:ext uri="{FF2B5EF4-FFF2-40B4-BE49-F238E27FC236}">
                  <a16:creationId xmlns:a16="http://schemas.microsoft.com/office/drawing/2014/main" id="{E89A4DFD-BC2F-2B3F-3776-2434358461A2}"/>
                </a:ext>
              </a:extLst>
            </p:cNvPr>
            <p:cNvSpPr/>
            <p:nvPr/>
          </p:nvSpPr>
          <p:spPr>
            <a:xfrm>
              <a:off x="1362075"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4" name="Rectangle 6">
              <a:extLst>
                <a:ext uri="{FF2B5EF4-FFF2-40B4-BE49-F238E27FC236}">
                  <a16:creationId xmlns:a16="http://schemas.microsoft.com/office/drawing/2014/main" id="{A14B0D41-BCC8-9454-35BC-2AE5CF1C1818}"/>
                </a:ext>
              </a:extLst>
            </p:cNvPr>
            <p:cNvSpPr/>
            <p:nvPr/>
          </p:nvSpPr>
          <p:spPr>
            <a:xfrm>
              <a:off x="1362075"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5" name="TextBox 7">
              <a:extLst>
                <a:ext uri="{FF2B5EF4-FFF2-40B4-BE49-F238E27FC236}">
                  <a16:creationId xmlns:a16="http://schemas.microsoft.com/office/drawing/2014/main" id="{ABB37D9A-CB49-E4DD-4D22-77E98AC0704B}"/>
                </a:ext>
              </a:extLst>
            </p:cNvPr>
            <p:cNvSpPr txBox="1"/>
            <p:nvPr/>
          </p:nvSpPr>
          <p:spPr>
            <a:xfrm>
              <a:off x="1453515"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SINGLE FRONT DOOR FOR DEMAND</a:t>
              </a:r>
            </a:p>
          </p:txBody>
        </p:sp>
        <p:sp>
          <p:nvSpPr>
            <p:cNvPr id="6" name="TextBox 8">
              <a:extLst>
                <a:ext uri="{FF2B5EF4-FFF2-40B4-BE49-F238E27FC236}">
                  <a16:creationId xmlns:a16="http://schemas.microsoft.com/office/drawing/2014/main" id="{0A431951-B278-DE5C-B8A7-61DA54769168}"/>
                </a:ext>
              </a:extLst>
            </p:cNvPr>
            <p:cNvSpPr txBox="1"/>
            <p:nvPr/>
          </p:nvSpPr>
          <p:spPr>
            <a:xfrm>
              <a:off x="1499235"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All demand types in one place</a:t>
              </a:r>
            </a:p>
          </p:txBody>
        </p:sp>
        <p:sp>
          <p:nvSpPr>
            <p:cNvPr id="7" name="TextBox 9">
              <a:extLst>
                <a:ext uri="{FF2B5EF4-FFF2-40B4-BE49-F238E27FC236}">
                  <a16:creationId xmlns:a16="http://schemas.microsoft.com/office/drawing/2014/main" id="{3C7DBE54-179A-B293-2B22-7EEA4F15E83C}"/>
                </a:ext>
              </a:extLst>
            </p:cNvPr>
            <p:cNvSpPr txBox="1"/>
            <p:nvPr/>
          </p:nvSpPr>
          <p:spPr>
            <a:xfrm>
              <a:off x="1544955" y="2607945"/>
              <a:ext cx="1801916" cy="1483156"/>
            </a:xfrm>
            <a:prstGeom prst="rect">
              <a:avLst/>
            </a:prstGeom>
            <a:noFill/>
          </p:spPr>
          <p:txBody>
            <a:bodyPr wrap="square" lIns="45720" tIns="36576" rIns="45720" bIns="36576">
              <a:spAutoFit/>
            </a:bodyPr>
            <a:lstStyle/>
            <a:p>
              <a:pPr>
                <a:lnSpc>
                  <a:spcPct val="140000"/>
                </a:lnSpc>
              </a:pPr>
              <a:r>
                <a:rPr sz="1050" b="0">
                  <a:solidFill>
                    <a:srgbClr val="2C3E50"/>
                  </a:solidFill>
                  <a:latin typeface="+mj-lt"/>
                </a:rPr>
                <a:t>•  Enhancements</a:t>
              </a:r>
            </a:p>
            <a:p>
              <a:pPr>
                <a:lnSpc>
                  <a:spcPct val="140000"/>
                </a:lnSpc>
              </a:pPr>
              <a:r>
                <a:rPr sz="1050" b="0">
                  <a:solidFill>
                    <a:srgbClr val="2C3E50"/>
                  </a:solidFill>
                  <a:latin typeface="+mj-lt"/>
                </a:rPr>
                <a:t>•  Regulatory items</a:t>
              </a:r>
            </a:p>
            <a:p>
              <a:pPr>
                <a:lnSpc>
                  <a:spcPct val="140000"/>
                </a:lnSpc>
              </a:pPr>
              <a:r>
                <a:rPr sz="1050" b="0">
                  <a:solidFill>
                    <a:srgbClr val="2C3E50"/>
                  </a:solidFill>
                  <a:latin typeface="+mj-lt"/>
                </a:rPr>
                <a:t>•  Innovation initiatives</a:t>
              </a:r>
            </a:p>
            <a:p>
              <a:pPr>
                <a:lnSpc>
                  <a:spcPct val="140000"/>
                </a:lnSpc>
              </a:pPr>
              <a:r>
                <a:rPr sz="1050" b="0">
                  <a:solidFill>
                    <a:srgbClr val="2C3E50"/>
                  </a:solidFill>
                  <a:latin typeface="+mj-lt"/>
                </a:rPr>
                <a:t>•  Technical debt</a:t>
              </a:r>
              <a:endParaRPr lang="pt-BR" sz="1050" b="0">
                <a:solidFill>
                  <a:srgbClr val="2C3E50"/>
                </a:solidFill>
                <a:latin typeface="+mj-lt"/>
              </a:endParaRPr>
            </a:p>
            <a:p>
              <a:pPr>
                <a:lnSpc>
                  <a:spcPct val="140000"/>
                </a:lnSpc>
              </a:pPr>
              <a:r>
                <a:rPr lang="pt-BR" sz="1050">
                  <a:solidFill>
                    <a:srgbClr val="2C3E50"/>
                  </a:solidFill>
                  <a:latin typeface="+mj-lt"/>
                </a:rPr>
                <a:t>•  Large </a:t>
              </a:r>
              <a:r>
                <a:rPr lang="pt-BR" sz="1050" err="1">
                  <a:solidFill>
                    <a:srgbClr val="2C3E50"/>
                  </a:solidFill>
                  <a:latin typeface="+mj-lt"/>
                </a:rPr>
                <a:t>projects</a:t>
              </a:r>
              <a:endParaRPr lang="pt-BR" sz="1050">
                <a:solidFill>
                  <a:srgbClr val="2C3E50"/>
                </a:solidFill>
                <a:latin typeface="+mj-lt"/>
              </a:endParaRPr>
            </a:p>
            <a:p>
              <a:pPr>
                <a:lnSpc>
                  <a:spcPct val="140000"/>
                </a:lnSpc>
              </a:pPr>
              <a:r>
                <a:rPr lang="pt-BR" sz="1050">
                  <a:solidFill>
                    <a:srgbClr val="2C3E50"/>
                  </a:solidFill>
                </a:rPr>
                <a:t>•  </a:t>
              </a:r>
              <a:r>
                <a:rPr lang="pt-BR" sz="1050" b="1" err="1">
                  <a:solidFill>
                    <a:srgbClr val="2C3E50"/>
                  </a:solidFill>
                </a:rPr>
                <a:t>Incidents</a:t>
              </a:r>
              <a:r>
                <a:rPr lang="pt-BR" sz="1050" b="1">
                  <a:solidFill>
                    <a:srgbClr val="2C3E50"/>
                  </a:solidFill>
                </a:rPr>
                <a:t> </a:t>
              </a:r>
              <a:r>
                <a:rPr lang="pt-BR" sz="1050" b="1" err="1">
                  <a:solidFill>
                    <a:srgbClr val="2C3E50"/>
                  </a:solidFill>
                </a:rPr>
                <a:t>handled</a:t>
              </a:r>
              <a:r>
                <a:rPr lang="pt-BR" sz="1050" b="1">
                  <a:solidFill>
                    <a:srgbClr val="2C3E50"/>
                  </a:solidFill>
                </a:rPr>
                <a:t> in IT </a:t>
              </a:r>
              <a:r>
                <a:rPr lang="pt-BR" sz="1050" b="1" err="1">
                  <a:solidFill>
                    <a:srgbClr val="2C3E50"/>
                  </a:solidFill>
                </a:rPr>
                <a:t>Now</a:t>
              </a:r>
              <a:r>
                <a:rPr lang="pt-BR" sz="1050" b="1">
                  <a:solidFill>
                    <a:srgbClr val="2C3E50"/>
                  </a:solidFill>
                </a:rPr>
                <a:t> </a:t>
              </a:r>
              <a:r>
                <a:rPr lang="pt-BR" sz="1050" b="1" err="1">
                  <a:solidFill>
                    <a:srgbClr val="2C3E50"/>
                  </a:solidFill>
                </a:rPr>
                <a:t>only</a:t>
              </a:r>
              <a:endParaRPr sz="1050" b="0">
                <a:solidFill>
                  <a:srgbClr val="2C3E50"/>
                </a:solidFill>
                <a:latin typeface="+mj-lt"/>
              </a:endParaRPr>
            </a:p>
          </p:txBody>
        </p:sp>
        <p:sp>
          <p:nvSpPr>
            <p:cNvPr id="8" name="Rounded Rectangle 10">
              <a:extLst>
                <a:ext uri="{FF2B5EF4-FFF2-40B4-BE49-F238E27FC236}">
                  <a16:creationId xmlns:a16="http://schemas.microsoft.com/office/drawing/2014/main" id="{C40508A0-4721-5790-9405-DAE0DB4E2AC2}"/>
                </a:ext>
              </a:extLst>
            </p:cNvPr>
            <p:cNvSpPr/>
            <p:nvPr/>
          </p:nvSpPr>
          <p:spPr>
            <a:xfrm>
              <a:off x="3639479"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9" name="Rectangle 11">
              <a:extLst>
                <a:ext uri="{FF2B5EF4-FFF2-40B4-BE49-F238E27FC236}">
                  <a16:creationId xmlns:a16="http://schemas.microsoft.com/office/drawing/2014/main" id="{2F17A62F-4BF2-7C7B-58F9-4793CBEEAC71}"/>
                </a:ext>
              </a:extLst>
            </p:cNvPr>
            <p:cNvSpPr/>
            <p:nvPr/>
          </p:nvSpPr>
          <p:spPr>
            <a:xfrm>
              <a:off x="3639479"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0" name="TextBox 12">
              <a:extLst>
                <a:ext uri="{FF2B5EF4-FFF2-40B4-BE49-F238E27FC236}">
                  <a16:creationId xmlns:a16="http://schemas.microsoft.com/office/drawing/2014/main" id="{1D200D93-F24B-0E25-0330-621968F1D928}"/>
                </a:ext>
              </a:extLst>
            </p:cNvPr>
            <p:cNvSpPr txBox="1"/>
            <p:nvPr/>
          </p:nvSpPr>
          <p:spPr>
            <a:xfrm>
              <a:off x="3730919" y="1707119"/>
              <a:ext cx="1984796" cy="201454"/>
            </a:xfrm>
            <a:prstGeom prst="rect">
              <a:avLst/>
            </a:prstGeom>
            <a:noFill/>
          </p:spPr>
          <p:txBody>
            <a:bodyPr wrap="square" lIns="45720" tIns="18288" rIns="45720" bIns="18288" anchor="ctr">
              <a:spAutoFit/>
            </a:bodyPr>
            <a:lstStyle/>
            <a:p>
              <a:pPr algn="ctr"/>
              <a:r>
                <a:rPr sz="1200" b="1" i="0">
                  <a:solidFill>
                    <a:srgbClr val="FFFFFF"/>
                  </a:solidFill>
                  <a:latin typeface="+mj-lt"/>
                </a:rPr>
                <a:t>DEMAND SHAPING</a:t>
              </a:r>
            </a:p>
          </p:txBody>
        </p:sp>
        <p:sp>
          <p:nvSpPr>
            <p:cNvPr id="11" name="TextBox 13">
              <a:extLst>
                <a:ext uri="{FF2B5EF4-FFF2-40B4-BE49-F238E27FC236}">
                  <a16:creationId xmlns:a16="http://schemas.microsoft.com/office/drawing/2014/main" id="{38F67F36-9569-F5ED-69EA-AD8F376CE65D}"/>
                </a:ext>
              </a:extLst>
            </p:cNvPr>
            <p:cNvSpPr txBox="1"/>
            <p:nvPr/>
          </p:nvSpPr>
          <p:spPr>
            <a:xfrm>
              <a:off x="3776639" y="2108359"/>
              <a:ext cx="1893356" cy="313373"/>
            </a:xfrm>
            <a:prstGeom prst="rect">
              <a:avLst/>
            </a:prstGeom>
            <a:noFill/>
          </p:spPr>
          <p:txBody>
            <a:bodyPr wrap="square" lIns="45720" tIns="18288" rIns="45720" bIns="18288" anchor="ctr">
              <a:spAutoFit/>
            </a:bodyPr>
            <a:lstStyle/>
            <a:p>
              <a:pPr algn="ctr"/>
              <a:r>
                <a:rPr sz="1000" b="0" i="1">
                  <a:solidFill>
                    <a:srgbClr val="FFFFFF"/>
                  </a:solidFill>
                  <a:latin typeface="+mj-lt"/>
                </a:rPr>
                <a:t>Structured problem-impact-value conversations</a:t>
              </a:r>
            </a:p>
          </p:txBody>
        </p:sp>
        <p:sp>
          <p:nvSpPr>
            <p:cNvPr id="12" name="TextBox 14">
              <a:extLst>
                <a:ext uri="{FF2B5EF4-FFF2-40B4-BE49-F238E27FC236}">
                  <a16:creationId xmlns:a16="http://schemas.microsoft.com/office/drawing/2014/main" id="{FAC232EC-8EF2-8A3A-58C6-D47ADEE00D37}"/>
                </a:ext>
              </a:extLst>
            </p:cNvPr>
            <p:cNvSpPr txBox="1"/>
            <p:nvPr/>
          </p:nvSpPr>
          <p:spPr>
            <a:xfrm>
              <a:off x="3822359" y="2607945"/>
              <a:ext cx="1801916" cy="2230755"/>
            </a:xfrm>
            <a:prstGeom prst="rect">
              <a:avLst/>
            </a:prstGeom>
            <a:noFill/>
          </p:spPr>
          <p:txBody>
            <a:bodyPr wrap="square" lIns="45720" tIns="36576" rIns="45720" bIns="36576">
              <a:noAutofit/>
            </a:bodyPr>
            <a:lstStyle/>
            <a:p>
              <a:pPr>
                <a:lnSpc>
                  <a:spcPct val="140000"/>
                </a:lnSpc>
              </a:pPr>
              <a:r>
                <a:rPr sz="1050" b="0">
                  <a:solidFill>
                    <a:srgbClr val="2C3E50"/>
                  </a:solidFill>
                  <a:latin typeface="+mj-lt"/>
                </a:rPr>
                <a:t>•  Don't accept 'solutions' directly</a:t>
              </a:r>
            </a:p>
            <a:p>
              <a:pPr>
                <a:lnSpc>
                  <a:spcPct val="140000"/>
                </a:lnSpc>
              </a:pPr>
              <a:r>
                <a:rPr sz="1050" b="0">
                  <a:solidFill>
                    <a:srgbClr val="2C3E50"/>
                  </a:solidFill>
                  <a:latin typeface="+mj-lt"/>
                </a:rPr>
                <a:t>•  Work with requesters to surface the underlying problem</a:t>
              </a:r>
            </a:p>
            <a:p>
              <a:pPr>
                <a:lnSpc>
                  <a:spcPct val="140000"/>
                </a:lnSpc>
              </a:pPr>
              <a:r>
                <a:rPr sz="1050" b="0">
                  <a:solidFill>
                    <a:srgbClr val="2C3E50"/>
                  </a:solidFill>
                  <a:latin typeface="+mj-lt"/>
                </a:rPr>
                <a:t>•  Quantify impact before discussing solution</a:t>
              </a:r>
            </a:p>
            <a:p>
              <a:pPr>
                <a:lnSpc>
                  <a:spcPct val="140000"/>
                </a:lnSpc>
              </a:pPr>
              <a:r>
                <a:rPr sz="1050" b="0">
                  <a:solidFill>
                    <a:srgbClr val="2C3E50"/>
                  </a:solidFill>
                  <a:latin typeface="+mj-lt"/>
                </a:rPr>
                <a:t>•  Apply value lens before scoping work</a:t>
              </a:r>
            </a:p>
          </p:txBody>
        </p:sp>
        <p:sp>
          <p:nvSpPr>
            <p:cNvPr id="13" name="Rounded Rectangle 15">
              <a:extLst>
                <a:ext uri="{FF2B5EF4-FFF2-40B4-BE49-F238E27FC236}">
                  <a16:creationId xmlns:a16="http://schemas.microsoft.com/office/drawing/2014/main" id="{08BBF511-44CB-4582-85D1-581E86DF35BE}"/>
                </a:ext>
              </a:extLst>
            </p:cNvPr>
            <p:cNvSpPr/>
            <p:nvPr/>
          </p:nvSpPr>
          <p:spPr>
            <a:xfrm>
              <a:off x="5916884"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4" name="Rectangle 16">
              <a:extLst>
                <a:ext uri="{FF2B5EF4-FFF2-40B4-BE49-F238E27FC236}">
                  <a16:creationId xmlns:a16="http://schemas.microsoft.com/office/drawing/2014/main" id="{A6832BD3-84D5-5F46-F61A-004368FDD73A}"/>
                </a:ext>
              </a:extLst>
            </p:cNvPr>
            <p:cNvSpPr/>
            <p:nvPr/>
          </p:nvSpPr>
          <p:spPr>
            <a:xfrm>
              <a:off x="5916884"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5" name="TextBox 17">
              <a:extLst>
                <a:ext uri="{FF2B5EF4-FFF2-40B4-BE49-F238E27FC236}">
                  <a16:creationId xmlns:a16="http://schemas.microsoft.com/office/drawing/2014/main" id="{1EB3AC3B-4B20-F65B-8BF5-88622F2CD789}"/>
                </a:ext>
              </a:extLst>
            </p:cNvPr>
            <p:cNvSpPr txBox="1"/>
            <p:nvPr/>
          </p:nvSpPr>
          <p:spPr>
            <a:xfrm>
              <a:off x="6008324"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CLASSIFICATION BY PRODUCT TYPE</a:t>
              </a:r>
            </a:p>
          </p:txBody>
        </p:sp>
        <p:sp>
          <p:nvSpPr>
            <p:cNvPr id="16" name="TextBox 18">
              <a:extLst>
                <a:ext uri="{FF2B5EF4-FFF2-40B4-BE49-F238E27FC236}">
                  <a16:creationId xmlns:a16="http://schemas.microsoft.com/office/drawing/2014/main" id="{78718D6F-7A06-87B1-AD33-297D2295C660}"/>
                </a:ext>
              </a:extLst>
            </p:cNvPr>
            <p:cNvSpPr txBox="1"/>
            <p:nvPr/>
          </p:nvSpPr>
          <p:spPr>
            <a:xfrm>
              <a:off x="6054044"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Two complementary axes</a:t>
              </a:r>
            </a:p>
          </p:txBody>
        </p:sp>
        <p:sp>
          <p:nvSpPr>
            <p:cNvPr id="17" name="TextBox 19">
              <a:extLst>
                <a:ext uri="{FF2B5EF4-FFF2-40B4-BE49-F238E27FC236}">
                  <a16:creationId xmlns:a16="http://schemas.microsoft.com/office/drawing/2014/main" id="{34AA7FB1-16D9-928B-FE0D-D07027E3A777}"/>
                </a:ext>
              </a:extLst>
            </p:cNvPr>
            <p:cNvSpPr txBox="1"/>
            <p:nvPr/>
          </p:nvSpPr>
          <p:spPr>
            <a:xfrm>
              <a:off x="6099764" y="2607945"/>
              <a:ext cx="1801916" cy="2230755"/>
            </a:xfrm>
            <a:prstGeom prst="rect">
              <a:avLst/>
            </a:prstGeom>
            <a:noFill/>
          </p:spPr>
          <p:txBody>
            <a:bodyPr wrap="square" lIns="45720" tIns="36576" rIns="45720" bIns="36576">
              <a:noAutofit/>
            </a:bodyPr>
            <a:lstStyle/>
            <a:p>
              <a:pPr>
                <a:lnSpc>
                  <a:spcPct val="140000"/>
                </a:lnSpc>
              </a:pPr>
              <a:r>
                <a:rPr lang="es-MX" sz="1050" b="0">
                  <a:solidFill>
                    <a:srgbClr val="2C3E50"/>
                  </a:solidFill>
                  <a:latin typeface="+mj-lt"/>
                </a:rPr>
                <a:t>•  </a:t>
              </a:r>
              <a:r>
                <a:rPr sz="1050" b="0">
                  <a:solidFill>
                    <a:srgbClr val="2C3E50"/>
                  </a:solidFill>
                  <a:latin typeface="+mj-lt"/>
                </a:rPr>
                <a:t>Run · Grow · Transform   (investment intent)</a:t>
              </a:r>
            </a:p>
            <a:p>
              <a:pPr>
                <a:lnSpc>
                  <a:spcPct val="140000"/>
                </a:lnSpc>
              </a:pPr>
              <a:r>
                <a:rPr sz="1050" b="0">
                  <a:solidFill>
                    <a:srgbClr val="2C3E50"/>
                  </a:solidFill>
                  <a:latin typeface="+mj-lt"/>
                </a:rPr>
                <a:t>•  Core SAP   vs   Extensions / satellites   (architecture impact)</a:t>
              </a:r>
            </a:p>
            <a:p>
              <a:pPr>
                <a:lnSpc>
                  <a:spcPct val="140000"/>
                </a:lnSpc>
              </a:pPr>
              <a:r>
                <a:rPr sz="1050" b="0">
                  <a:solidFill>
                    <a:srgbClr val="2C3E50"/>
                  </a:solidFill>
                  <a:latin typeface="+mj-lt"/>
                </a:rPr>
                <a:t>•  Both axes captured at intake form</a:t>
              </a:r>
            </a:p>
            <a:p>
              <a:pPr>
                <a:lnSpc>
                  <a:spcPct val="140000"/>
                </a:lnSpc>
              </a:pPr>
              <a:r>
                <a:rPr sz="1050" b="0">
                  <a:solidFill>
                    <a:srgbClr val="2C3E50"/>
                  </a:solidFill>
                  <a:latin typeface="+mj-lt"/>
                </a:rPr>
                <a:t>•  Drives capacity allocation and routing</a:t>
              </a:r>
            </a:p>
          </p:txBody>
        </p:sp>
        <p:sp>
          <p:nvSpPr>
            <p:cNvPr id="18" name="Rounded Rectangle 20">
              <a:extLst>
                <a:ext uri="{FF2B5EF4-FFF2-40B4-BE49-F238E27FC236}">
                  <a16:creationId xmlns:a16="http://schemas.microsoft.com/office/drawing/2014/main" id="{DD68DE16-1DBF-86F3-EF9A-0AE7AC8A0C1E}"/>
                </a:ext>
              </a:extLst>
            </p:cNvPr>
            <p:cNvSpPr/>
            <p:nvPr/>
          </p:nvSpPr>
          <p:spPr>
            <a:xfrm>
              <a:off x="8194288"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9" name="Rectangle 21">
              <a:extLst>
                <a:ext uri="{FF2B5EF4-FFF2-40B4-BE49-F238E27FC236}">
                  <a16:creationId xmlns:a16="http://schemas.microsoft.com/office/drawing/2014/main" id="{14D5D6A2-B8B2-CC6D-F083-31CCDD93E947}"/>
                </a:ext>
              </a:extLst>
            </p:cNvPr>
            <p:cNvSpPr/>
            <p:nvPr/>
          </p:nvSpPr>
          <p:spPr>
            <a:xfrm>
              <a:off x="8194288"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20" name="TextBox 22">
              <a:extLst>
                <a:ext uri="{FF2B5EF4-FFF2-40B4-BE49-F238E27FC236}">
                  <a16:creationId xmlns:a16="http://schemas.microsoft.com/office/drawing/2014/main" id="{62366B68-4836-38E8-FEEB-6810EEFC3698}"/>
                </a:ext>
              </a:extLst>
            </p:cNvPr>
            <p:cNvSpPr txBox="1"/>
            <p:nvPr/>
          </p:nvSpPr>
          <p:spPr>
            <a:xfrm>
              <a:off x="8285728"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LIGHTWEIGHT BUT FORMAL DISCOVERY</a:t>
              </a:r>
            </a:p>
          </p:txBody>
        </p:sp>
        <p:sp>
          <p:nvSpPr>
            <p:cNvPr id="21" name="TextBox 23">
              <a:extLst>
                <a:ext uri="{FF2B5EF4-FFF2-40B4-BE49-F238E27FC236}">
                  <a16:creationId xmlns:a16="http://schemas.microsoft.com/office/drawing/2014/main" id="{8875C95F-5F64-669F-7E30-5A7939094D0B}"/>
                </a:ext>
              </a:extLst>
            </p:cNvPr>
            <p:cNvSpPr txBox="1"/>
            <p:nvPr/>
          </p:nvSpPr>
          <p:spPr>
            <a:xfrm>
              <a:off x="8331448"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Required artifacts before scoring</a:t>
              </a:r>
            </a:p>
          </p:txBody>
        </p:sp>
        <p:sp>
          <p:nvSpPr>
            <p:cNvPr id="22" name="TextBox 24">
              <a:extLst>
                <a:ext uri="{FF2B5EF4-FFF2-40B4-BE49-F238E27FC236}">
                  <a16:creationId xmlns:a16="http://schemas.microsoft.com/office/drawing/2014/main" id="{F9173DBF-2F15-195F-89F8-9F272817D02E}"/>
                </a:ext>
              </a:extLst>
            </p:cNvPr>
            <p:cNvSpPr txBox="1"/>
            <p:nvPr/>
          </p:nvSpPr>
          <p:spPr>
            <a:xfrm>
              <a:off x="8287073" y="2607945"/>
              <a:ext cx="1982108" cy="2230755"/>
            </a:xfrm>
            <a:prstGeom prst="rect">
              <a:avLst/>
            </a:prstGeom>
            <a:noFill/>
          </p:spPr>
          <p:txBody>
            <a:bodyPr wrap="square" lIns="45720" tIns="36576" rIns="45720" bIns="36576">
              <a:noAutofit/>
            </a:bodyPr>
            <a:lstStyle>
              <a:defPPr>
                <a:defRPr lang="es-MX"/>
              </a:defPPr>
              <a:lvl1pPr>
                <a:lnSpc>
                  <a:spcPct val="140000"/>
                </a:lnSpc>
                <a:defRPr sz="1050" b="0">
                  <a:solidFill>
                    <a:srgbClr val="2C3E50"/>
                  </a:solidFill>
                  <a:latin typeface="+mj-lt"/>
                </a:defRPr>
              </a:lvl1pPr>
            </a:lstStyle>
            <a:p>
              <a:r>
                <a:rPr lang="en-US" noProof="0"/>
                <a:t>• Problem statement (clear description of the issue/opportunity) </a:t>
              </a:r>
            </a:p>
            <a:p>
              <a:r>
                <a:rPr lang="en-US" noProof="0"/>
                <a:t>• Users / personas impacted (who is affected and how) </a:t>
              </a:r>
            </a:p>
            <a:p>
              <a:r>
                <a:rPr lang="en-US" noProof="0"/>
                <a:t>• Hypothesis of value (owned by Business Requester / Product Manager) </a:t>
              </a:r>
            </a:p>
            <a:p>
              <a:pPr marL="171450" indent="-77788">
                <a:buFont typeface="Arial" panose="020B0604020202020204" pitchFamily="34" charset="0"/>
                <a:buChar char="•"/>
              </a:pPr>
              <a:r>
                <a:rPr lang="en-US" sz="800" noProof="0"/>
                <a:t>Expected outcome (revenue, cost, CX, risk reduction) </a:t>
              </a:r>
            </a:p>
            <a:p>
              <a:pPr marL="171450" indent="-77788">
                <a:buFont typeface="Arial" panose="020B0604020202020204" pitchFamily="34" charset="0"/>
                <a:buChar char="•"/>
              </a:pPr>
              <a:r>
                <a:rPr lang="en-US" sz="800" noProof="0"/>
                <a:t>Scope of impact (volume, OPCOs, processes) </a:t>
              </a:r>
            </a:p>
            <a:p>
              <a:r>
                <a:rPr lang="es-MX"/>
                <a:t>• </a:t>
              </a:r>
              <a:r>
                <a:rPr lang="en-US" noProof="0"/>
                <a:t>Hypothesis of risk (validated with Tech / Architect) </a:t>
              </a:r>
            </a:p>
            <a:p>
              <a:pPr marL="171450" indent="-77788">
                <a:buFont typeface="Arial" panose="020B0604020202020204" pitchFamily="34" charset="0"/>
                <a:buChar char="•"/>
              </a:pPr>
              <a:r>
                <a:rPr lang="en-US" sz="800"/>
                <a:t>Technical complexity or dependencies </a:t>
              </a:r>
            </a:p>
            <a:p>
              <a:pPr marL="171450" indent="-77788">
                <a:buFont typeface="Arial" panose="020B0604020202020204" pitchFamily="34" charset="0"/>
                <a:buChar char="•"/>
              </a:pPr>
              <a:r>
                <a:rPr lang="en-US" sz="800"/>
                <a:t>Delivery risks (integration, vendors, timelines) </a:t>
              </a:r>
            </a:p>
            <a:p>
              <a:pPr marL="171450" indent="-77788">
                <a:buFont typeface="Arial" panose="020B0604020202020204" pitchFamily="34" charset="0"/>
                <a:buChar char="•"/>
              </a:pPr>
              <a:r>
                <a:rPr lang="en-US" sz="800"/>
                <a:t>Regulatory or operational constraints</a:t>
              </a:r>
            </a:p>
          </p:txBody>
        </p:sp>
      </p:grpSp>
      <p:sp>
        <p:nvSpPr>
          <p:cNvPr id="25" name="CaixaDeTexto 24">
            <a:extLst>
              <a:ext uri="{FF2B5EF4-FFF2-40B4-BE49-F238E27FC236}">
                <a16:creationId xmlns:a16="http://schemas.microsoft.com/office/drawing/2014/main" id="{3446C9BB-FE66-F9DE-2C2B-F88EE88E538D}"/>
              </a:ext>
            </a:extLst>
          </p:cNvPr>
          <p:cNvSpPr txBox="1"/>
          <p:nvPr/>
        </p:nvSpPr>
        <p:spPr>
          <a:xfrm>
            <a:off x="8427516" y="5682998"/>
            <a:ext cx="2384444" cy="338554"/>
          </a:xfrm>
          <a:prstGeom prst="rect">
            <a:avLst/>
          </a:prstGeom>
          <a:noFill/>
        </p:spPr>
        <p:txBody>
          <a:bodyPr wrap="square">
            <a:spAutoFit/>
          </a:bodyPr>
          <a:lstStyle/>
          <a:p>
            <a:pPr algn="l"/>
            <a:r>
              <a:rPr lang="pt-BR" sz="800" i="1">
                <a:solidFill>
                  <a:srgbClr val="A5ADBA"/>
                </a:solidFill>
              </a:rPr>
              <a:t>Discovery feeds: </a:t>
            </a:r>
            <a:r>
              <a:rPr lang="pt-BR" sz="800" i="1" err="1">
                <a:solidFill>
                  <a:srgbClr val="A5ADBA"/>
                </a:solidFill>
              </a:rPr>
              <a:t>Description</a:t>
            </a:r>
            <a:r>
              <a:rPr lang="pt-BR" sz="800" i="1">
                <a:solidFill>
                  <a:srgbClr val="A5ADBA"/>
                </a:solidFill>
              </a:rPr>
              <a:t> (</a:t>
            </a:r>
            <a:r>
              <a:rPr lang="pt-BR" sz="800" i="1" err="1">
                <a:solidFill>
                  <a:srgbClr val="A5ADBA"/>
                </a:solidFill>
              </a:rPr>
              <a:t>Funnel</a:t>
            </a:r>
            <a:r>
              <a:rPr lang="pt-BR" sz="800" i="1">
                <a:solidFill>
                  <a:srgbClr val="A5ADBA"/>
                </a:solidFill>
              </a:rPr>
              <a:t>)  ·  BV/UX </a:t>
            </a:r>
            <a:r>
              <a:rPr lang="pt-BR" sz="800" i="1" err="1">
                <a:solidFill>
                  <a:srgbClr val="A5ADBA"/>
                </a:solidFill>
              </a:rPr>
              <a:t>scoring</a:t>
            </a:r>
            <a:r>
              <a:rPr lang="pt-BR" sz="800" i="1">
                <a:solidFill>
                  <a:srgbClr val="A5ADBA"/>
                </a:solidFill>
              </a:rPr>
              <a:t> (</a:t>
            </a:r>
            <a:r>
              <a:rPr lang="pt-BR" sz="800" i="1" err="1">
                <a:solidFill>
                  <a:srgbClr val="A5ADBA"/>
                </a:solidFill>
              </a:rPr>
              <a:t>Analyzing</a:t>
            </a:r>
            <a:r>
              <a:rPr lang="pt-BR" sz="800" i="1">
                <a:solidFill>
                  <a:srgbClr val="A5ADBA"/>
                </a:solidFill>
              </a:rPr>
              <a:t>)  ·  </a:t>
            </a:r>
            <a:r>
              <a:rPr lang="pt-BR" sz="800" i="1" err="1">
                <a:solidFill>
                  <a:srgbClr val="A5ADBA"/>
                </a:solidFill>
              </a:rPr>
              <a:t>DoR</a:t>
            </a:r>
            <a:r>
              <a:rPr lang="pt-BR" sz="800" i="1">
                <a:solidFill>
                  <a:srgbClr val="A5ADBA"/>
                </a:solidFill>
              </a:rPr>
              <a:t> check </a:t>
            </a:r>
            <a:r>
              <a:rPr lang="pt-BR" sz="800" i="1" err="1">
                <a:solidFill>
                  <a:srgbClr val="A5ADBA"/>
                </a:solidFill>
              </a:rPr>
              <a:t>at</a:t>
            </a:r>
            <a:r>
              <a:rPr lang="pt-BR" sz="800" i="1">
                <a:solidFill>
                  <a:srgbClr val="A5ADBA"/>
                </a:solidFill>
              </a:rPr>
              <a:t> Gate 1</a:t>
            </a:r>
          </a:p>
        </p:txBody>
      </p:sp>
    </p:spTree>
    <p:extLst>
      <p:ext uri="{BB962C8B-B14F-4D97-AF65-F5344CB8AC3E}">
        <p14:creationId xmlns:p14="http://schemas.microsoft.com/office/powerpoint/2010/main" val="487792952"/>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94504-55BB-1F09-1043-2808CB5D6628}"/>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83BEF94-955E-AAA0-3A92-90BE5D5735AD}"/>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grpSp>
        <p:nvGrpSpPr>
          <p:cNvPr id="75" name="Grupo 74">
            <a:extLst>
              <a:ext uri="{FF2B5EF4-FFF2-40B4-BE49-F238E27FC236}">
                <a16:creationId xmlns:a16="http://schemas.microsoft.com/office/drawing/2014/main" id="{2FA73D77-27E0-31DE-498C-1D29E9536D0D}"/>
              </a:ext>
            </a:extLst>
          </p:cNvPr>
          <p:cNvGrpSpPr/>
          <p:nvPr/>
        </p:nvGrpSpPr>
        <p:grpSpPr>
          <a:xfrm>
            <a:off x="274320" y="1396720"/>
            <a:ext cx="11435899" cy="4956103"/>
            <a:chOff x="274320" y="1187680"/>
            <a:chExt cx="11435899" cy="5238990"/>
          </a:xfrm>
        </p:grpSpPr>
        <p:sp>
          <p:nvSpPr>
            <p:cNvPr id="3" name="Rectangle 6">
              <a:extLst>
                <a:ext uri="{FF2B5EF4-FFF2-40B4-BE49-F238E27FC236}">
                  <a16:creationId xmlns:a16="http://schemas.microsoft.com/office/drawing/2014/main" id="{79A3C13A-5677-F7F8-776E-A0D44CD1292D}"/>
                </a:ext>
              </a:extLst>
            </p:cNvPr>
            <p:cNvSpPr/>
            <p:nvPr/>
          </p:nvSpPr>
          <p:spPr>
            <a:xfrm>
              <a:off x="27432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sz="1200" b="1">
                <a:solidFill>
                  <a:prstClr val="white"/>
                </a:solidFill>
                <a:latin typeface="Arial" panose="020B0604020202020204" pitchFamily="34" charset="0"/>
                <a:cs typeface="Arial" panose="020B0604020202020204" pitchFamily="34" charset="0"/>
              </a:endParaRPr>
            </a:p>
          </p:txBody>
        </p:sp>
        <p:sp>
          <p:nvSpPr>
            <p:cNvPr id="4" name="TextBox 7">
              <a:extLst>
                <a:ext uri="{FF2B5EF4-FFF2-40B4-BE49-F238E27FC236}">
                  <a16:creationId xmlns:a16="http://schemas.microsoft.com/office/drawing/2014/main" id="{DD10AA04-AFDE-2440-DC01-BB85C728BF52}"/>
                </a:ext>
              </a:extLst>
            </p:cNvPr>
            <p:cNvSpPr txBox="1"/>
            <p:nvPr/>
          </p:nvSpPr>
          <p:spPr>
            <a:xfrm>
              <a:off x="27432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01 · SOURCES</a:t>
              </a:r>
            </a:p>
          </p:txBody>
        </p:sp>
        <p:sp>
          <p:nvSpPr>
            <p:cNvPr id="5" name="TextBox 8">
              <a:extLst>
                <a:ext uri="{FF2B5EF4-FFF2-40B4-BE49-F238E27FC236}">
                  <a16:creationId xmlns:a16="http://schemas.microsoft.com/office/drawing/2014/main" id="{9F2D3D7E-A132-C4A6-39EE-FF3D097DCA37}"/>
                </a:ext>
              </a:extLst>
            </p:cNvPr>
            <p:cNvSpPr txBox="1"/>
            <p:nvPr/>
          </p:nvSpPr>
          <p:spPr>
            <a:xfrm>
              <a:off x="27432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Who sends demand</a:t>
              </a:r>
            </a:p>
          </p:txBody>
        </p:sp>
        <p:sp>
          <p:nvSpPr>
            <p:cNvPr id="6" name="Rectangle 9">
              <a:extLst>
                <a:ext uri="{FF2B5EF4-FFF2-40B4-BE49-F238E27FC236}">
                  <a16:creationId xmlns:a16="http://schemas.microsoft.com/office/drawing/2014/main" id="{5FCC12EE-A5D0-8DB7-DC0B-8FB70D36B04F}"/>
                </a:ext>
              </a:extLst>
            </p:cNvPr>
            <p:cNvSpPr/>
            <p:nvPr/>
          </p:nvSpPr>
          <p:spPr>
            <a:xfrm>
              <a:off x="315468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sz="1200" b="1">
                <a:solidFill>
                  <a:prstClr val="white"/>
                </a:solidFill>
                <a:latin typeface="Arial" panose="020B0604020202020204" pitchFamily="34" charset="0"/>
                <a:cs typeface="Arial" panose="020B0604020202020204" pitchFamily="34" charset="0"/>
              </a:endParaRPr>
            </a:p>
          </p:txBody>
        </p:sp>
        <p:sp>
          <p:nvSpPr>
            <p:cNvPr id="7" name="TextBox 10">
              <a:extLst>
                <a:ext uri="{FF2B5EF4-FFF2-40B4-BE49-F238E27FC236}">
                  <a16:creationId xmlns:a16="http://schemas.microsoft.com/office/drawing/2014/main" id="{3BCC9CAD-B597-AB58-FBE3-6338C24D922A}"/>
                </a:ext>
              </a:extLst>
            </p:cNvPr>
            <p:cNvSpPr txBox="1"/>
            <p:nvPr/>
          </p:nvSpPr>
          <p:spPr>
            <a:xfrm>
              <a:off x="315468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02 · INTAKE FORM (JIRA)</a:t>
              </a:r>
            </a:p>
          </p:txBody>
        </p:sp>
        <p:sp>
          <p:nvSpPr>
            <p:cNvPr id="8" name="TextBox 11">
              <a:extLst>
                <a:ext uri="{FF2B5EF4-FFF2-40B4-BE49-F238E27FC236}">
                  <a16:creationId xmlns:a16="http://schemas.microsoft.com/office/drawing/2014/main" id="{01E637C9-FB74-D610-2F5A-F23D48F94379}"/>
                </a:ext>
              </a:extLst>
            </p:cNvPr>
            <p:cNvSpPr txBox="1"/>
            <p:nvPr/>
          </p:nvSpPr>
          <p:spPr>
            <a:xfrm>
              <a:off x="315468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Mandatory fields capture intent</a:t>
              </a:r>
            </a:p>
          </p:txBody>
        </p:sp>
        <p:sp>
          <p:nvSpPr>
            <p:cNvPr id="9" name="Rectangle 12">
              <a:extLst>
                <a:ext uri="{FF2B5EF4-FFF2-40B4-BE49-F238E27FC236}">
                  <a16:creationId xmlns:a16="http://schemas.microsoft.com/office/drawing/2014/main" id="{848113EB-6549-F345-6F52-45B758EBF23C}"/>
                </a:ext>
              </a:extLst>
            </p:cNvPr>
            <p:cNvSpPr/>
            <p:nvPr/>
          </p:nvSpPr>
          <p:spPr>
            <a:xfrm>
              <a:off x="603504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10" name="TextBox 13">
              <a:extLst>
                <a:ext uri="{FF2B5EF4-FFF2-40B4-BE49-F238E27FC236}">
                  <a16:creationId xmlns:a16="http://schemas.microsoft.com/office/drawing/2014/main" id="{8C1EA42F-A022-AD0D-A473-D7E98B66C448}"/>
                </a:ext>
              </a:extLst>
            </p:cNvPr>
            <p:cNvSpPr txBox="1"/>
            <p:nvPr/>
          </p:nvSpPr>
          <p:spPr>
            <a:xfrm>
              <a:off x="603504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03 · MAIN VALUE STREAM</a:t>
              </a:r>
            </a:p>
          </p:txBody>
        </p:sp>
        <p:sp>
          <p:nvSpPr>
            <p:cNvPr id="11" name="TextBox 14">
              <a:extLst>
                <a:ext uri="{FF2B5EF4-FFF2-40B4-BE49-F238E27FC236}">
                  <a16:creationId xmlns:a16="http://schemas.microsoft.com/office/drawing/2014/main" id="{F4E4DD68-5594-6E49-D631-917E73039C68}"/>
                </a:ext>
              </a:extLst>
            </p:cNvPr>
            <p:cNvSpPr txBox="1"/>
            <p:nvPr/>
          </p:nvSpPr>
          <p:spPr>
            <a:xfrm>
              <a:off x="603504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End-to-end customer outcome</a:t>
              </a:r>
            </a:p>
          </p:txBody>
        </p:sp>
        <p:sp>
          <p:nvSpPr>
            <p:cNvPr id="12" name="Rectangle 15">
              <a:extLst>
                <a:ext uri="{FF2B5EF4-FFF2-40B4-BE49-F238E27FC236}">
                  <a16:creationId xmlns:a16="http://schemas.microsoft.com/office/drawing/2014/main" id="{059DEE55-FC00-EE07-1389-9B315D6DBEE7}"/>
                </a:ext>
              </a:extLst>
            </p:cNvPr>
            <p:cNvSpPr/>
            <p:nvPr/>
          </p:nvSpPr>
          <p:spPr>
            <a:xfrm>
              <a:off x="891540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13" name="TextBox 16">
              <a:extLst>
                <a:ext uri="{FF2B5EF4-FFF2-40B4-BE49-F238E27FC236}">
                  <a16:creationId xmlns:a16="http://schemas.microsoft.com/office/drawing/2014/main" id="{5628B363-F411-2161-F2E9-FAA26309639A}"/>
                </a:ext>
              </a:extLst>
            </p:cNvPr>
            <p:cNvSpPr txBox="1"/>
            <p:nvPr/>
          </p:nvSpPr>
          <p:spPr>
            <a:xfrm>
              <a:off x="891540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04 · VALUE STREAM TEAM</a:t>
              </a:r>
            </a:p>
          </p:txBody>
        </p:sp>
        <p:sp>
          <p:nvSpPr>
            <p:cNvPr id="14" name="TextBox 17">
              <a:extLst>
                <a:ext uri="{FF2B5EF4-FFF2-40B4-BE49-F238E27FC236}">
                  <a16:creationId xmlns:a16="http://schemas.microsoft.com/office/drawing/2014/main" id="{86037842-B1F4-C8A7-2BF2-B197A1D9D19A}"/>
                </a:ext>
              </a:extLst>
            </p:cNvPr>
            <p:cNvSpPr txBox="1"/>
            <p:nvPr/>
          </p:nvSpPr>
          <p:spPr>
            <a:xfrm>
              <a:off x="8915400" y="1798886"/>
              <a:ext cx="2788920" cy="159462"/>
            </a:xfrm>
            <a:prstGeom prst="rect">
              <a:avLst/>
            </a:prstGeom>
            <a:noFill/>
          </p:spPr>
          <p:txBody>
            <a:bodyPr wrap="square" lIns="36000" tIns="18000" rIns="36000" bIns="18000" anchor="t">
              <a:spAutoFit/>
            </a:bodyPr>
            <a:lstStyle/>
            <a:p>
              <a:pPr algn="ctr"/>
              <a:r>
                <a:rPr lang="en-US" sz="800" b="0" i="1">
                  <a:solidFill>
                    <a:schemeClr val="bg1"/>
                  </a:solidFill>
                </a:rPr>
                <a:t>Auto-routed · 4 CS + 5 ITBA + 1 Enabling</a:t>
              </a:r>
            </a:p>
          </p:txBody>
        </p:sp>
        <p:sp>
          <p:nvSpPr>
            <p:cNvPr id="15" name="Rectangle 18">
              <a:extLst>
                <a:ext uri="{FF2B5EF4-FFF2-40B4-BE49-F238E27FC236}">
                  <a16:creationId xmlns:a16="http://schemas.microsoft.com/office/drawing/2014/main" id="{A2A3CA71-8574-E796-717B-9177545A54B2}"/>
                </a:ext>
              </a:extLst>
            </p:cNvPr>
            <p:cNvSpPr/>
            <p:nvPr/>
          </p:nvSpPr>
          <p:spPr>
            <a:xfrm>
              <a:off x="274320" y="2100638"/>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9">
              <a:extLst>
                <a:ext uri="{FF2B5EF4-FFF2-40B4-BE49-F238E27FC236}">
                  <a16:creationId xmlns:a16="http://schemas.microsoft.com/office/drawing/2014/main" id="{73CD881A-1285-F866-87CA-DBA6F7825823}"/>
                </a:ext>
              </a:extLst>
            </p:cNvPr>
            <p:cNvSpPr txBox="1"/>
            <p:nvPr/>
          </p:nvSpPr>
          <p:spPr>
            <a:xfrm>
              <a:off x="274320" y="2100638"/>
              <a:ext cx="2788920" cy="320040"/>
            </a:xfrm>
            <a:prstGeom prst="rect">
              <a:avLst/>
            </a:prstGeom>
            <a:noFill/>
          </p:spPr>
          <p:txBody>
            <a:bodyPr wrap="square" lIns="36000" tIns="18000" rIns="36000" bIns="18000" anchor="ctr">
              <a:spAutoFit/>
            </a:bodyPr>
            <a:lstStyle/>
            <a:p>
              <a:pPr algn="ctr"/>
              <a:r>
                <a:rPr sz="1100" b="1" i="0">
                  <a:solidFill>
                    <a:srgbClr val="FFFFFF"/>
                  </a:solidFill>
                </a:rPr>
                <a:t>BRS (UIL · CMP · NY)</a:t>
              </a:r>
            </a:p>
          </p:txBody>
        </p:sp>
        <p:sp>
          <p:nvSpPr>
            <p:cNvPr id="17" name="Rectangle 20">
              <a:extLst>
                <a:ext uri="{FF2B5EF4-FFF2-40B4-BE49-F238E27FC236}">
                  <a16:creationId xmlns:a16="http://schemas.microsoft.com/office/drawing/2014/main" id="{0FE8BA99-119E-F86C-8847-B28535C39139}"/>
                </a:ext>
              </a:extLst>
            </p:cNvPr>
            <p:cNvSpPr/>
            <p:nvPr/>
          </p:nvSpPr>
          <p:spPr>
            <a:xfrm>
              <a:off x="274320" y="2457254"/>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21">
              <a:extLst>
                <a:ext uri="{FF2B5EF4-FFF2-40B4-BE49-F238E27FC236}">
                  <a16:creationId xmlns:a16="http://schemas.microsoft.com/office/drawing/2014/main" id="{98FCB63B-AA17-8892-2694-6A57AEB0BD72}"/>
                </a:ext>
              </a:extLst>
            </p:cNvPr>
            <p:cNvSpPr txBox="1"/>
            <p:nvPr/>
          </p:nvSpPr>
          <p:spPr>
            <a:xfrm>
              <a:off x="274320" y="2457254"/>
              <a:ext cx="2788920" cy="320040"/>
            </a:xfrm>
            <a:prstGeom prst="rect">
              <a:avLst/>
            </a:prstGeom>
            <a:noFill/>
          </p:spPr>
          <p:txBody>
            <a:bodyPr wrap="square" lIns="36000" tIns="18000" rIns="36000" bIns="18000" anchor="ctr">
              <a:spAutoFit/>
            </a:bodyPr>
            <a:lstStyle/>
            <a:p>
              <a:pPr algn="ctr"/>
              <a:r>
                <a:rPr sz="1100" b="1" i="0">
                  <a:solidFill>
                    <a:srgbClr val="FFFFFF"/>
                  </a:solidFill>
                </a:rPr>
                <a:t>CX &amp; Digital CoE</a:t>
              </a:r>
            </a:p>
          </p:txBody>
        </p:sp>
        <p:sp>
          <p:nvSpPr>
            <p:cNvPr id="19" name="Rectangle 22">
              <a:extLst>
                <a:ext uri="{FF2B5EF4-FFF2-40B4-BE49-F238E27FC236}">
                  <a16:creationId xmlns:a16="http://schemas.microsoft.com/office/drawing/2014/main" id="{DACFF466-3116-C87F-551C-B85B1C2EAD8C}"/>
                </a:ext>
              </a:extLst>
            </p:cNvPr>
            <p:cNvSpPr/>
            <p:nvPr/>
          </p:nvSpPr>
          <p:spPr>
            <a:xfrm>
              <a:off x="274320" y="2813870"/>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3">
              <a:extLst>
                <a:ext uri="{FF2B5EF4-FFF2-40B4-BE49-F238E27FC236}">
                  <a16:creationId xmlns:a16="http://schemas.microsoft.com/office/drawing/2014/main" id="{0E65DF9F-867A-F74F-3E42-4C1F01C3772C}"/>
                </a:ext>
              </a:extLst>
            </p:cNvPr>
            <p:cNvSpPr txBox="1"/>
            <p:nvPr/>
          </p:nvSpPr>
          <p:spPr>
            <a:xfrm>
              <a:off x="274320" y="2813870"/>
              <a:ext cx="2788920" cy="320040"/>
            </a:xfrm>
            <a:prstGeom prst="rect">
              <a:avLst/>
            </a:prstGeom>
            <a:noFill/>
          </p:spPr>
          <p:txBody>
            <a:bodyPr wrap="square" lIns="36000" tIns="18000" rIns="36000" bIns="18000" anchor="ctr">
              <a:spAutoFit/>
            </a:bodyPr>
            <a:lstStyle/>
            <a:p>
              <a:pPr algn="ctr"/>
              <a:r>
                <a:rPr sz="1100" b="1" i="0">
                  <a:solidFill>
                    <a:srgbClr val="FFFFFF"/>
                  </a:solidFill>
                </a:rPr>
                <a:t>Data &amp; Analytics</a:t>
              </a:r>
            </a:p>
          </p:txBody>
        </p:sp>
        <p:sp>
          <p:nvSpPr>
            <p:cNvPr id="21" name="Rectangle 24">
              <a:extLst>
                <a:ext uri="{FF2B5EF4-FFF2-40B4-BE49-F238E27FC236}">
                  <a16:creationId xmlns:a16="http://schemas.microsoft.com/office/drawing/2014/main" id="{3F523CEF-4578-3D0C-31B8-C22F4CCDF56D}"/>
                </a:ext>
              </a:extLst>
            </p:cNvPr>
            <p:cNvSpPr/>
            <p:nvPr/>
          </p:nvSpPr>
          <p:spPr>
            <a:xfrm>
              <a:off x="274320" y="3170486"/>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5">
              <a:extLst>
                <a:ext uri="{FF2B5EF4-FFF2-40B4-BE49-F238E27FC236}">
                  <a16:creationId xmlns:a16="http://schemas.microsoft.com/office/drawing/2014/main" id="{64E9F79A-AA09-88D9-B23D-DD0859DF9AFF}"/>
                </a:ext>
              </a:extLst>
            </p:cNvPr>
            <p:cNvSpPr txBox="1"/>
            <p:nvPr/>
          </p:nvSpPr>
          <p:spPr>
            <a:xfrm>
              <a:off x="274320" y="3170486"/>
              <a:ext cx="2788920" cy="320040"/>
            </a:xfrm>
            <a:prstGeom prst="rect">
              <a:avLst/>
            </a:prstGeom>
            <a:noFill/>
          </p:spPr>
          <p:txBody>
            <a:bodyPr wrap="square" lIns="36000" tIns="18000" rIns="36000" bIns="18000" anchor="ctr">
              <a:spAutoFit/>
            </a:bodyPr>
            <a:lstStyle/>
            <a:p>
              <a:pPr algn="ctr"/>
              <a:r>
                <a:rPr sz="1100" b="1" i="0">
                  <a:solidFill>
                    <a:srgbClr val="FFFFFF"/>
                  </a:solidFill>
                </a:rPr>
                <a:t>Infrastructure</a:t>
              </a:r>
            </a:p>
          </p:txBody>
        </p:sp>
        <p:sp>
          <p:nvSpPr>
            <p:cNvPr id="23" name="Rectangle 26">
              <a:extLst>
                <a:ext uri="{FF2B5EF4-FFF2-40B4-BE49-F238E27FC236}">
                  <a16:creationId xmlns:a16="http://schemas.microsoft.com/office/drawing/2014/main" id="{5BC8335A-98D9-ACEC-739F-AC9E18280BED}"/>
                </a:ext>
              </a:extLst>
            </p:cNvPr>
            <p:cNvSpPr/>
            <p:nvPr/>
          </p:nvSpPr>
          <p:spPr>
            <a:xfrm>
              <a:off x="274320" y="3527102"/>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7">
              <a:extLst>
                <a:ext uri="{FF2B5EF4-FFF2-40B4-BE49-F238E27FC236}">
                  <a16:creationId xmlns:a16="http://schemas.microsoft.com/office/drawing/2014/main" id="{CDF14953-31B8-EDC2-DFDA-5D782ECA1A0B}"/>
                </a:ext>
              </a:extLst>
            </p:cNvPr>
            <p:cNvSpPr txBox="1"/>
            <p:nvPr/>
          </p:nvSpPr>
          <p:spPr>
            <a:xfrm>
              <a:off x="274320" y="3584307"/>
              <a:ext cx="2788920" cy="205629"/>
            </a:xfrm>
            <a:prstGeom prst="rect">
              <a:avLst/>
            </a:prstGeom>
            <a:noFill/>
          </p:spPr>
          <p:txBody>
            <a:bodyPr wrap="square" lIns="36000" tIns="18000" rIns="36000" bIns="18000" anchor="ctr">
              <a:spAutoFit/>
            </a:bodyPr>
            <a:lstStyle/>
            <a:p>
              <a:pPr algn="ctr"/>
              <a:r>
                <a:rPr sz="1100" b="1" i="0">
                  <a:solidFill>
                    <a:srgbClr val="FFFFFF"/>
                  </a:solidFill>
                </a:rPr>
                <a:t>IA</a:t>
              </a:r>
            </a:p>
          </p:txBody>
        </p:sp>
        <p:sp>
          <p:nvSpPr>
            <p:cNvPr id="25" name="Rectangle 28">
              <a:extLst>
                <a:ext uri="{FF2B5EF4-FFF2-40B4-BE49-F238E27FC236}">
                  <a16:creationId xmlns:a16="http://schemas.microsoft.com/office/drawing/2014/main" id="{B5920DC7-E20E-B3D1-C6E9-33F80EBDBB35}"/>
                </a:ext>
              </a:extLst>
            </p:cNvPr>
            <p:cNvSpPr/>
            <p:nvPr/>
          </p:nvSpPr>
          <p:spPr>
            <a:xfrm>
              <a:off x="274320" y="3883718"/>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9">
              <a:extLst>
                <a:ext uri="{FF2B5EF4-FFF2-40B4-BE49-F238E27FC236}">
                  <a16:creationId xmlns:a16="http://schemas.microsoft.com/office/drawing/2014/main" id="{F69FE496-98B5-37C1-C6E6-450C6A38EA9B}"/>
                </a:ext>
              </a:extLst>
            </p:cNvPr>
            <p:cNvSpPr txBox="1"/>
            <p:nvPr/>
          </p:nvSpPr>
          <p:spPr>
            <a:xfrm>
              <a:off x="274320" y="3940923"/>
              <a:ext cx="2788920" cy="205629"/>
            </a:xfrm>
            <a:prstGeom prst="rect">
              <a:avLst/>
            </a:prstGeom>
            <a:noFill/>
          </p:spPr>
          <p:txBody>
            <a:bodyPr wrap="square" lIns="36000" tIns="18000" rIns="36000" bIns="18000" anchor="ctr">
              <a:spAutoFit/>
            </a:bodyPr>
            <a:lstStyle/>
            <a:p>
              <a:pPr algn="ctr"/>
              <a:r>
                <a:rPr sz="1100" b="1" i="0">
                  <a:solidFill>
                    <a:srgbClr val="FFFFFF"/>
                  </a:solidFill>
                </a:rPr>
                <a:t>OT</a:t>
              </a:r>
            </a:p>
          </p:txBody>
        </p:sp>
        <p:sp>
          <p:nvSpPr>
            <p:cNvPr id="27" name="Rectangle 30">
              <a:extLst>
                <a:ext uri="{FF2B5EF4-FFF2-40B4-BE49-F238E27FC236}">
                  <a16:creationId xmlns:a16="http://schemas.microsoft.com/office/drawing/2014/main" id="{08045F05-04E1-262C-2751-4BB743427454}"/>
                </a:ext>
              </a:extLst>
            </p:cNvPr>
            <p:cNvSpPr/>
            <p:nvPr/>
          </p:nvSpPr>
          <p:spPr>
            <a:xfrm>
              <a:off x="274320" y="4240334"/>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1">
              <a:extLst>
                <a:ext uri="{FF2B5EF4-FFF2-40B4-BE49-F238E27FC236}">
                  <a16:creationId xmlns:a16="http://schemas.microsoft.com/office/drawing/2014/main" id="{B8E821B7-58D2-5F58-7B45-38B24D6368DD}"/>
                </a:ext>
              </a:extLst>
            </p:cNvPr>
            <p:cNvSpPr txBox="1"/>
            <p:nvPr/>
          </p:nvSpPr>
          <p:spPr>
            <a:xfrm>
              <a:off x="274320" y="4240334"/>
              <a:ext cx="2788920" cy="320040"/>
            </a:xfrm>
            <a:prstGeom prst="rect">
              <a:avLst/>
            </a:prstGeom>
            <a:noFill/>
          </p:spPr>
          <p:txBody>
            <a:bodyPr wrap="square" lIns="36000" tIns="18000" rIns="36000" bIns="18000" anchor="ctr">
              <a:spAutoFit/>
            </a:bodyPr>
            <a:lstStyle/>
            <a:p>
              <a:pPr algn="ctr"/>
              <a:r>
                <a:rPr sz="1100" b="1" i="0">
                  <a:solidFill>
                    <a:srgbClr val="FFFFFF"/>
                  </a:solidFill>
                </a:rPr>
                <a:t>Procurement</a:t>
              </a:r>
            </a:p>
          </p:txBody>
        </p:sp>
        <p:sp>
          <p:nvSpPr>
            <p:cNvPr id="29" name="Rectangle 32">
              <a:extLst>
                <a:ext uri="{FF2B5EF4-FFF2-40B4-BE49-F238E27FC236}">
                  <a16:creationId xmlns:a16="http://schemas.microsoft.com/office/drawing/2014/main" id="{AB15BAD2-5914-EED7-D447-6F80AB84C914}"/>
                </a:ext>
              </a:extLst>
            </p:cNvPr>
            <p:cNvSpPr/>
            <p:nvPr/>
          </p:nvSpPr>
          <p:spPr>
            <a:xfrm>
              <a:off x="274320" y="4596950"/>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3">
              <a:extLst>
                <a:ext uri="{FF2B5EF4-FFF2-40B4-BE49-F238E27FC236}">
                  <a16:creationId xmlns:a16="http://schemas.microsoft.com/office/drawing/2014/main" id="{BA18710D-114E-81CC-97C0-20B248F11613}"/>
                </a:ext>
              </a:extLst>
            </p:cNvPr>
            <p:cNvSpPr txBox="1"/>
            <p:nvPr/>
          </p:nvSpPr>
          <p:spPr>
            <a:xfrm>
              <a:off x="274320" y="4596950"/>
              <a:ext cx="2788920" cy="320040"/>
            </a:xfrm>
            <a:prstGeom prst="rect">
              <a:avLst/>
            </a:prstGeom>
            <a:noFill/>
          </p:spPr>
          <p:txBody>
            <a:bodyPr wrap="square" lIns="36000" tIns="18000" rIns="36000" bIns="18000" anchor="ctr">
              <a:spAutoFit/>
            </a:bodyPr>
            <a:lstStyle/>
            <a:p>
              <a:pPr algn="ctr"/>
              <a:r>
                <a:rPr sz="1100" b="1" i="0">
                  <a:solidFill>
                    <a:srgbClr val="FFFFFF"/>
                  </a:solidFill>
                </a:rPr>
                <a:t>Regulatory</a:t>
              </a:r>
            </a:p>
          </p:txBody>
        </p:sp>
        <p:sp>
          <p:nvSpPr>
            <p:cNvPr id="31" name="Rectangle 34">
              <a:extLst>
                <a:ext uri="{FF2B5EF4-FFF2-40B4-BE49-F238E27FC236}">
                  <a16:creationId xmlns:a16="http://schemas.microsoft.com/office/drawing/2014/main" id="{CAA99058-71E4-4D5F-23CB-61536C6BB729}"/>
                </a:ext>
              </a:extLst>
            </p:cNvPr>
            <p:cNvSpPr/>
            <p:nvPr/>
          </p:nvSpPr>
          <p:spPr>
            <a:xfrm>
              <a:off x="274320" y="4953566"/>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5">
              <a:extLst>
                <a:ext uri="{FF2B5EF4-FFF2-40B4-BE49-F238E27FC236}">
                  <a16:creationId xmlns:a16="http://schemas.microsoft.com/office/drawing/2014/main" id="{6D2F6C18-AE44-869C-32D5-43CC9D06B496}"/>
                </a:ext>
              </a:extLst>
            </p:cNvPr>
            <p:cNvSpPr txBox="1"/>
            <p:nvPr/>
          </p:nvSpPr>
          <p:spPr>
            <a:xfrm>
              <a:off x="274320" y="4953566"/>
              <a:ext cx="2788920" cy="320040"/>
            </a:xfrm>
            <a:prstGeom prst="rect">
              <a:avLst/>
            </a:prstGeom>
            <a:noFill/>
          </p:spPr>
          <p:txBody>
            <a:bodyPr wrap="square" lIns="36000" tIns="18000" rIns="36000" bIns="18000" anchor="ctr">
              <a:spAutoFit/>
            </a:bodyPr>
            <a:lstStyle/>
            <a:p>
              <a:pPr algn="ctr"/>
              <a:r>
                <a:rPr sz="1100" b="1" i="0">
                  <a:solidFill>
                    <a:srgbClr val="FFFFFF"/>
                  </a:solidFill>
                </a:rPr>
                <a:t>Corporate Areas</a:t>
              </a:r>
            </a:p>
          </p:txBody>
        </p:sp>
        <p:sp>
          <p:nvSpPr>
            <p:cNvPr id="33" name="Rectangle 36">
              <a:extLst>
                <a:ext uri="{FF2B5EF4-FFF2-40B4-BE49-F238E27FC236}">
                  <a16:creationId xmlns:a16="http://schemas.microsoft.com/office/drawing/2014/main" id="{4521A20E-9DEC-133E-7AB3-3F09E5D5474C}"/>
                </a:ext>
              </a:extLst>
            </p:cNvPr>
            <p:cNvSpPr/>
            <p:nvPr/>
          </p:nvSpPr>
          <p:spPr>
            <a:xfrm>
              <a:off x="274320" y="5310182"/>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7">
              <a:extLst>
                <a:ext uri="{FF2B5EF4-FFF2-40B4-BE49-F238E27FC236}">
                  <a16:creationId xmlns:a16="http://schemas.microsoft.com/office/drawing/2014/main" id="{7298CE79-124A-A024-261C-730B03CD9F44}"/>
                </a:ext>
              </a:extLst>
            </p:cNvPr>
            <p:cNvSpPr txBox="1"/>
            <p:nvPr/>
          </p:nvSpPr>
          <p:spPr>
            <a:xfrm>
              <a:off x="274320" y="5367387"/>
              <a:ext cx="2788920" cy="205629"/>
            </a:xfrm>
            <a:prstGeom prst="rect">
              <a:avLst/>
            </a:prstGeom>
            <a:noFill/>
          </p:spPr>
          <p:txBody>
            <a:bodyPr wrap="square" lIns="36000" tIns="18000" rIns="36000" bIns="18000" anchor="ctr">
              <a:spAutoFit/>
            </a:bodyPr>
            <a:lstStyle/>
            <a:p>
              <a:pPr algn="ctr"/>
              <a:r>
                <a:rPr sz="1100" b="1" i="0">
                  <a:solidFill>
                    <a:srgbClr val="FFFFFF"/>
                  </a:solidFill>
                </a:rPr>
                <a:t>P&amp;T (</a:t>
              </a:r>
              <a:r>
                <a:rPr lang="es-MX" sz="1100" b="1" i="0">
                  <a:solidFill>
                    <a:srgbClr val="FFFFFF"/>
                  </a:solidFill>
                </a:rPr>
                <a:t>G&amp;E</a:t>
              </a:r>
              <a:r>
                <a:rPr sz="1100" b="1" i="0">
                  <a:solidFill>
                    <a:srgbClr val="FFFFFF"/>
                  </a:solidFill>
                </a:rPr>
                <a:t>· Global SAP)</a:t>
              </a:r>
            </a:p>
          </p:txBody>
        </p:sp>
        <p:sp>
          <p:nvSpPr>
            <p:cNvPr id="35" name="Rectangle 38">
              <a:extLst>
                <a:ext uri="{FF2B5EF4-FFF2-40B4-BE49-F238E27FC236}">
                  <a16:creationId xmlns:a16="http://schemas.microsoft.com/office/drawing/2014/main" id="{779C94D5-5456-3C5D-A212-374F2E9D1078}"/>
                </a:ext>
              </a:extLst>
            </p:cNvPr>
            <p:cNvSpPr/>
            <p:nvPr/>
          </p:nvSpPr>
          <p:spPr>
            <a:xfrm>
              <a:off x="274320" y="5666798"/>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9">
              <a:extLst>
                <a:ext uri="{FF2B5EF4-FFF2-40B4-BE49-F238E27FC236}">
                  <a16:creationId xmlns:a16="http://schemas.microsoft.com/office/drawing/2014/main" id="{246EE8E1-89F5-BA6C-1A4B-6FD3EB61C187}"/>
                </a:ext>
              </a:extLst>
            </p:cNvPr>
            <p:cNvSpPr txBox="1"/>
            <p:nvPr/>
          </p:nvSpPr>
          <p:spPr>
            <a:xfrm>
              <a:off x="274320" y="5724003"/>
              <a:ext cx="2788920" cy="205629"/>
            </a:xfrm>
            <a:prstGeom prst="rect">
              <a:avLst/>
            </a:prstGeom>
            <a:noFill/>
          </p:spPr>
          <p:txBody>
            <a:bodyPr wrap="square" lIns="36000" tIns="18000" rIns="36000" bIns="18000" anchor="ctr">
              <a:spAutoFit/>
            </a:bodyPr>
            <a:lstStyle/>
            <a:p>
              <a:pPr algn="ctr"/>
              <a:r>
                <a:rPr lang="es-MX" sz="1100" b="1" i="0">
                  <a:solidFill>
                    <a:srgbClr val="FFFFFF"/>
                  </a:solidFill>
                </a:rPr>
                <a:t>GIS</a:t>
              </a:r>
              <a:endParaRPr sz="1100" b="1" i="0">
                <a:solidFill>
                  <a:srgbClr val="FFFFFF"/>
                </a:solidFill>
              </a:endParaRPr>
            </a:p>
          </p:txBody>
        </p:sp>
        <p:sp>
          <p:nvSpPr>
            <p:cNvPr id="37" name="Rounded Rectangle 40">
              <a:extLst>
                <a:ext uri="{FF2B5EF4-FFF2-40B4-BE49-F238E27FC236}">
                  <a16:creationId xmlns:a16="http://schemas.microsoft.com/office/drawing/2014/main" id="{758F56B6-E059-0DE1-C3DA-9D322602C2DC}"/>
                </a:ext>
              </a:extLst>
            </p:cNvPr>
            <p:cNvSpPr/>
            <p:nvPr/>
          </p:nvSpPr>
          <p:spPr>
            <a:xfrm>
              <a:off x="3154680" y="2128990"/>
              <a:ext cx="2788920" cy="4297680"/>
            </a:xfrm>
            <a:prstGeom prst="roundRect">
              <a:avLst>
                <a:gd name="adj" fmla="val 4000"/>
              </a:avLst>
            </a:prstGeom>
            <a:noFill/>
            <a:ln w="31750">
              <a:solidFill>
                <a:srgbClr val="FF9C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41">
              <a:extLst>
                <a:ext uri="{FF2B5EF4-FFF2-40B4-BE49-F238E27FC236}">
                  <a16:creationId xmlns:a16="http://schemas.microsoft.com/office/drawing/2014/main" id="{245A9B9D-1A8D-8472-8DC9-742C76D6758E}"/>
                </a:ext>
              </a:extLst>
            </p:cNvPr>
            <p:cNvSpPr/>
            <p:nvPr/>
          </p:nvSpPr>
          <p:spPr>
            <a:xfrm>
              <a:off x="3140149" y="2101558"/>
              <a:ext cx="2821172" cy="393192"/>
            </a:xfrm>
            <a:prstGeom prst="roundRect">
              <a:avLst>
                <a:gd name="adj" fmla="val 4000"/>
              </a:avLst>
            </a:prstGeom>
            <a:solidFill>
              <a:srgbClr val="FF9C1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39" name="TextBox 42">
              <a:extLst>
                <a:ext uri="{FF2B5EF4-FFF2-40B4-BE49-F238E27FC236}">
                  <a16:creationId xmlns:a16="http://schemas.microsoft.com/office/drawing/2014/main" id="{93CFCE48-69DC-815F-C546-B24583B5C076}"/>
                </a:ext>
              </a:extLst>
            </p:cNvPr>
            <p:cNvSpPr txBox="1"/>
            <p:nvPr/>
          </p:nvSpPr>
          <p:spPr>
            <a:xfrm>
              <a:off x="3154679" y="2193667"/>
              <a:ext cx="2651761" cy="236406"/>
            </a:xfrm>
            <a:prstGeom prst="rect">
              <a:avLst/>
            </a:prstGeom>
            <a:noFill/>
          </p:spPr>
          <p:txBody>
            <a:bodyPr wrap="square" lIns="36000" tIns="18000" rIns="36000" bIns="18000" anchor="ctr">
              <a:spAutoFit/>
            </a:bodyPr>
            <a:lstStyle/>
            <a:p>
              <a:pPr algn="ctr"/>
              <a:r>
                <a:rPr sz="1300" b="1" i="0">
                  <a:solidFill>
                    <a:srgbClr val="FFFFFF"/>
                  </a:solidFill>
                </a:rPr>
                <a:t>JIRA REQUEST FORM</a:t>
              </a:r>
            </a:p>
          </p:txBody>
        </p:sp>
        <p:sp>
          <p:nvSpPr>
            <p:cNvPr id="40" name="TextBox 43">
              <a:extLst>
                <a:ext uri="{FF2B5EF4-FFF2-40B4-BE49-F238E27FC236}">
                  <a16:creationId xmlns:a16="http://schemas.microsoft.com/office/drawing/2014/main" id="{D1730A21-1826-D4F3-D359-66B8A668F03A}"/>
                </a:ext>
              </a:extLst>
            </p:cNvPr>
            <p:cNvSpPr txBox="1"/>
            <p:nvPr/>
          </p:nvSpPr>
          <p:spPr>
            <a:xfrm>
              <a:off x="3246120" y="2586190"/>
              <a:ext cx="2606040" cy="190240"/>
            </a:xfrm>
            <a:prstGeom prst="rect">
              <a:avLst/>
            </a:prstGeom>
            <a:noFill/>
          </p:spPr>
          <p:txBody>
            <a:bodyPr wrap="square" lIns="36000" tIns="18000" rIns="36000" bIns="18000" anchor="t">
              <a:spAutoFit/>
            </a:bodyPr>
            <a:lstStyle/>
            <a:p>
              <a:pPr algn="l"/>
              <a:r>
                <a:rPr lang="en-US" sz="1000" b="1" i="0">
                  <a:solidFill>
                    <a:srgbClr val="3A3634"/>
                  </a:solidFill>
                </a:rPr>
                <a:t>▸ Value Stream destination</a:t>
              </a:r>
            </a:p>
          </p:txBody>
        </p:sp>
        <p:sp>
          <p:nvSpPr>
            <p:cNvPr id="41" name="TextBox 44">
              <a:extLst>
                <a:ext uri="{FF2B5EF4-FFF2-40B4-BE49-F238E27FC236}">
                  <a16:creationId xmlns:a16="http://schemas.microsoft.com/office/drawing/2014/main" id="{809CDF80-CCA8-7CEE-B933-4926ACD15216}"/>
                </a:ext>
              </a:extLst>
            </p:cNvPr>
            <p:cNvSpPr txBox="1"/>
            <p:nvPr/>
          </p:nvSpPr>
          <p:spPr>
            <a:xfrm>
              <a:off x="3337560" y="2750782"/>
              <a:ext cx="2514600" cy="164592"/>
            </a:xfrm>
            <a:prstGeom prst="rect">
              <a:avLst/>
            </a:prstGeom>
            <a:noFill/>
          </p:spPr>
          <p:txBody>
            <a:bodyPr wrap="square" lIns="36000" tIns="18000" rIns="36000" bIns="18000" anchor="t">
              <a:spAutoFit/>
            </a:bodyPr>
            <a:lstStyle/>
            <a:p>
              <a:pPr algn="l"/>
              <a:r>
                <a:rPr lang="en-US" sz="800" b="0" i="1">
                  <a:solidFill>
                    <a:srgbClr val="3A3634"/>
                  </a:solidFill>
                </a:rPr>
                <a:t>(routes the card)</a:t>
              </a:r>
            </a:p>
          </p:txBody>
        </p:sp>
        <p:sp>
          <p:nvSpPr>
            <p:cNvPr id="42" name="TextBox 45">
              <a:extLst>
                <a:ext uri="{FF2B5EF4-FFF2-40B4-BE49-F238E27FC236}">
                  <a16:creationId xmlns:a16="http://schemas.microsoft.com/office/drawing/2014/main" id="{C7675622-6314-15B0-234D-8B771E8B45EC}"/>
                </a:ext>
              </a:extLst>
            </p:cNvPr>
            <p:cNvSpPr txBox="1"/>
            <p:nvPr/>
          </p:nvSpPr>
          <p:spPr>
            <a:xfrm>
              <a:off x="3246120" y="2970238"/>
              <a:ext cx="2606040" cy="190240"/>
            </a:xfrm>
            <a:prstGeom prst="rect">
              <a:avLst/>
            </a:prstGeom>
            <a:noFill/>
          </p:spPr>
          <p:txBody>
            <a:bodyPr wrap="square" lIns="36000" tIns="18000" rIns="36000" bIns="18000" anchor="t">
              <a:spAutoFit/>
            </a:bodyPr>
            <a:lstStyle/>
            <a:p>
              <a:pPr algn="l"/>
              <a:r>
                <a:rPr lang="en-US" sz="1000" b="1" i="0">
                  <a:solidFill>
                    <a:srgbClr val="3A3634"/>
                  </a:solidFill>
                </a:rPr>
                <a:t>▸ Demand type</a:t>
              </a:r>
            </a:p>
          </p:txBody>
        </p:sp>
        <p:sp>
          <p:nvSpPr>
            <p:cNvPr id="43" name="TextBox 46">
              <a:extLst>
                <a:ext uri="{FF2B5EF4-FFF2-40B4-BE49-F238E27FC236}">
                  <a16:creationId xmlns:a16="http://schemas.microsoft.com/office/drawing/2014/main" id="{14D21C7E-A8B3-97B1-DFC3-9D0277E6E67D}"/>
                </a:ext>
              </a:extLst>
            </p:cNvPr>
            <p:cNvSpPr txBox="1"/>
            <p:nvPr/>
          </p:nvSpPr>
          <p:spPr>
            <a:xfrm>
              <a:off x="3337560" y="3134830"/>
              <a:ext cx="2514600" cy="164592"/>
            </a:xfrm>
            <a:prstGeom prst="rect">
              <a:avLst/>
            </a:prstGeom>
            <a:noFill/>
          </p:spPr>
          <p:txBody>
            <a:bodyPr wrap="square" lIns="36000" tIns="18000" rIns="36000" bIns="18000" anchor="t">
              <a:spAutoFit/>
            </a:bodyPr>
            <a:lstStyle/>
            <a:p>
              <a:pPr algn="l"/>
              <a:r>
                <a:rPr lang="en-US" sz="800" b="0" i="1">
                  <a:solidFill>
                    <a:srgbClr val="3A3634"/>
                  </a:solidFill>
                </a:rPr>
                <a:t>Production Support · Regulatory · Non-Regulatory</a:t>
              </a:r>
            </a:p>
          </p:txBody>
        </p:sp>
        <p:sp>
          <p:nvSpPr>
            <p:cNvPr id="44" name="TextBox 47">
              <a:extLst>
                <a:ext uri="{FF2B5EF4-FFF2-40B4-BE49-F238E27FC236}">
                  <a16:creationId xmlns:a16="http://schemas.microsoft.com/office/drawing/2014/main" id="{0A142501-4E32-A716-2353-55D87CD3F7A5}"/>
                </a:ext>
              </a:extLst>
            </p:cNvPr>
            <p:cNvSpPr txBox="1"/>
            <p:nvPr/>
          </p:nvSpPr>
          <p:spPr>
            <a:xfrm>
              <a:off x="3246120" y="3354286"/>
              <a:ext cx="2606040" cy="190240"/>
            </a:xfrm>
            <a:prstGeom prst="rect">
              <a:avLst/>
            </a:prstGeom>
            <a:noFill/>
          </p:spPr>
          <p:txBody>
            <a:bodyPr wrap="square" lIns="36000" tIns="18000" rIns="36000" bIns="18000" anchor="t">
              <a:spAutoFit/>
            </a:bodyPr>
            <a:lstStyle/>
            <a:p>
              <a:pPr algn="l"/>
              <a:r>
                <a:rPr lang="en-US" sz="1000" b="1" i="0">
                  <a:solidFill>
                    <a:srgbClr val="3A3634"/>
                  </a:solidFill>
                </a:rPr>
                <a:t>▸ T-shirt size</a:t>
              </a:r>
            </a:p>
          </p:txBody>
        </p:sp>
        <p:sp>
          <p:nvSpPr>
            <p:cNvPr id="45" name="TextBox 48">
              <a:extLst>
                <a:ext uri="{FF2B5EF4-FFF2-40B4-BE49-F238E27FC236}">
                  <a16:creationId xmlns:a16="http://schemas.microsoft.com/office/drawing/2014/main" id="{C41D2306-1208-60F5-DE6B-4F28937A69E4}"/>
                </a:ext>
              </a:extLst>
            </p:cNvPr>
            <p:cNvSpPr txBox="1"/>
            <p:nvPr/>
          </p:nvSpPr>
          <p:spPr>
            <a:xfrm>
              <a:off x="3337560" y="3518878"/>
              <a:ext cx="2514600" cy="164592"/>
            </a:xfrm>
            <a:prstGeom prst="rect">
              <a:avLst/>
            </a:prstGeom>
            <a:noFill/>
          </p:spPr>
          <p:txBody>
            <a:bodyPr wrap="square" lIns="36000" tIns="18000" rIns="36000" bIns="18000" anchor="t">
              <a:spAutoFit/>
            </a:bodyPr>
            <a:lstStyle/>
            <a:p>
              <a:pPr algn="l"/>
              <a:r>
                <a:rPr lang="en-US" sz="800" b="0" i="1">
                  <a:solidFill>
                    <a:srgbClr val="3A3634"/>
                  </a:solidFill>
                </a:rPr>
                <a:t>S · M · L · XL</a:t>
              </a:r>
            </a:p>
          </p:txBody>
        </p:sp>
        <p:sp>
          <p:nvSpPr>
            <p:cNvPr id="46" name="TextBox 49">
              <a:extLst>
                <a:ext uri="{FF2B5EF4-FFF2-40B4-BE49-F238E27FC236}">
                  <a16:creationId xmlns:a16="http://schemas.microsoft.com/office/drawing/2014/main" id="{FFBCF262-020D-D80C-CF7C-1B59660B62E6}"/>
                </a:ext>
              </a:extLst>
            </p:cNvPr>
            <p:cNvSpPr txBox="1"/>
            <p:nvPr/>
          </p:nvSpPr>
          <p:spPr>
            <a:xfrm>
              <a:off x="3246120" y="3738334"/>
              <a:ext cx="2606040" cy="190240"/>
            </a:xfrm>
            <a:prstGeom prst="rect">
              <a:avLst/>
            </a:prstGeom>
            <a:noFill/>
          </p:spPr>
          <p:txBody>
            <a:bodyPr wrap="square" lIns="36000" tIns="18000" rIns="36000" bIns="18000" anchor="t">
              <a:spAutoFit/>
            </a:bodyPr>
            <a:lstStyle/>
            <a:p>
              <a:pPr algn="l"/>
              <a:r>
                <a:rPr lang="en-US" sz="1000" b="1" i="0">
                  <a:solidFill>
                    <a:srgbClr val="3A3634"/>
                  </a:solidFill>
                </a:rPr>
                <a:t>▸ Class of Service</a:t>
              </a:r>
            </a:p>
          </p:txBody>
        </p:sp>
        <p:sp>
          <p:nvSpPr>
            <p:cNvPr id="47" name="TextBox 50">
              <a:extLst>
                <a:ext uri="{FF2B5EF4-FFF2-40B4-BE49-F238E27FC236}">
                  <a16:creationId xmlns:a16="http://schemas.microsoft.com/office/drawing/2014/main" id="{855A079E-ABAC-E110-2C43-064361C330A0}"/>
                </a:ext>
              </a:extLst>
            </p:cNvPr>
            <p:cNvSpPr txBox="1"/>
            <p:nvPr/>
          </p:nvSpPr>
          <p:spPr>
            <a:xfrm>
              <a:off x="3337560" y="3902926"/>
              <a:ext cx="2514600" cy="164592"/>
            </a:xfrm>
            <a:prstGeom prst="rect">
              <a:avLst/>
            </a:prstGeom>
            <a:noFill/>
          </p:spPr>
          <p:txBody>
            <a:bodyPr wrap="square" lIns="36000" tIns="18000" rIns="36000" bIns="18000" anchor="t">
              <a:spAutoFit/>
            </a:bodyPr>
            <a:lstStyle/>
            <a:p>
              <a:pPr algn="l"/>
              <a:r>
                <a:rPr lang="en-US" sz="800" b="0" i="1">
                  <a:solidFill>
                    <a:srgbClr val="3A3634"/>
                  </a:solidFill>
                </a:rPr>
                <a:t>Standard · Fixed-date · Expedite · Intangible</a:t>
              </a:r>
            </a:p>
          </p:txBody>
        </p:sp>
        <p:sp>
          <p:nvSpPr>
            <p:cNvPr id="48" name="TextBox 51">
              <a:extLst>
                <a:ext uri="{FF2B5EF4-FFF2-40B4-BE49-F238E27FC236}">
                  <a16:creationId xmlns:a16="http://schemas.microsoft.com/office/drawing/2014/main" id="{E723487F-33BB-3601-DA49-940D1BCF6104}"/>
                </a:ext>
              </a:extLst>
            </p:cNvPr>
            <p:cNvSpPr txBox="1"/>
            <p:nvPr/>
          </p:nvSpPr>
          <p:spPr>
            <a:xfrm>
              <a:off x="3246120" y="4122382"/>
              <a:ext cx="2606040" cy="190240"/>
            </a:xfrm>
            <a:prstGeom prst="rect">
              <a:avLst/>
            </a:prstGeom>
            <a:noFill/>
          </p:spPr>
          <p:txBody>
            <a:bodyPr wrap="square" lIns="36000" tIns="18000" rIns="36000" bIns="18000" anchor="t">
              <a:spAutoFit/>
            </a:bodyPr>
            <a:lstStyle/>
            <a:p>
              <a:pPr algn="l"/>
              <a:r>
                <a:rPr lang="en-US" sz="1000" b="1" i="0">
                  <a:solidFill>
                    <a:srgbClr val="3A3634"/>
                  </a:solidFill>
                </a:rPr>
                <a:t>▸ OPCO</a:t>
              </a:r>
            </a:p>
          </p:txBody>
        </p:sp>
        <p:sp>
          <p:nvSpPr>
            <p:cNvPr id="49" name="TextBox 52">
              <a:extLst>
                <a:ext uri="{FF2B5EF4-FFF2-40B4-BE49-F238E27FC236}">
                  <a16:creationId xmlns:a16="http://schemas.microsoft.com/office/drawing/2014/main" id="{8B83AD5A-62E3-688C-1741-DF03D8168C95}"/>
                </a:ext>
              </a:extLst>
            </p:cNvPr>
            <p:cNvSpPr txBox="1"/>
            <p:nvPr/>
          </p:nvSpPr>
          <p:spPr>
            <a:xfrm>
              <a:off x="3337560" y="4286974"/>
              <a:ext cx="2514600" cy="164592"/>
            </a:xfrm>
            <a:prstGeom prst="rect">
              <a:avLst/>
            </a:prstGeom>
            <a:noFill/>
          </p:spPr>
          <p:txBody>
            <a:bodyPr wrap="square" lIns="36000" tIns="18000" rIns="36000" bIns="18000" anchor="t">
              <a:spAutoFit/>
            </a:bodyPr>
            <a:lstStyle/>
            <a:p>
              <a:pPr algn="l"/>
              <a:r>
                <a:rPr lang="en-US" sz="800" b="0" i="1">
                  <a:solidFill>
                    <a:srgbClr val="3A3634"/>
                  </a:solidFill>
                </a:rPr>
                <a:t>UIL · CMP · NY · Iberdrola · Cross</a:t>
              </a:r>
            </a:p>
          </p:txBody>
        </p:sp>
        <p:sp>
          <p:nvSpPr>
            <p:cNvPr id="50" name="TextBox 53">
              <a:extLst>
                <a:ext uri="{FF2B5EF4-FFF2-40B4-BE49-F238E27FC236}">
                  <a16:creationId xmlns:a16="http://schemas.microsoft.com/office/drawing/2014/main" id="{99EE2221-3D6D-687E-1DCA-1E9ED169E3ED}"/>
                </a:ext>
              </a:extLst>
            </p:cNvPr>
            <p:cNvSpPr txBox="1"/>
            <p:nvPr/>
          </p:nvSpPr>
          <p:spPr>
            <a:xfrm>
              <a:off x="3246120" y="4506430"/>
              <a:ext cx="2606040" cy="190240"/>
            </a:xfrm>
            <a:prstGeom prst="rect">
              <a:avLst/>
            </a:prstGeom>
            <a:noFill/>
          </p:spPr>
          <p:txBody>
            <a:bodyPr wrap="square" lIns="36000" tIns="18000" rIns="36000" bIns="18000" anchor="t">
              <a:spAutoFit/>
            </a:bodyPr>
            <a:lstStyle/>
            <a:p>
              <a:pPr algn="l"/>
              <a:r>
                <a:rPr lang="en-US" sz="1000" b="1" i="0">
                  <a:solidFill>
                    <a:srgbClr val="3A3634"/>
                  </a:solidFill>
                </a:rPr>
                <a:t>▸ Business value statement</a:t>
              </a:r>
            </a:p>
          </p:txBody>
        </p:sp>
        <p:sp>
          <p:nvSpPr>
            <p:cNvPr id="51" name="TextBox 54">
              <a:extLst>
                <a:ext uri="{FF2B5EF4-FFF2-40B4-BE49-F238E27FC236}">
                  <a16:creationId xmlns:a16="http://schemas.microsoft.com/office/drawing/2014/main" id="{A9F24DAE-039F-9B6A-B4CB-22E640123FBD}"/>
                </a:ext>
              </a:extLst>
            </p:cNvPr>
            <p:cNvSpPr txBox="1"/>
            <p:nvPr/>
          </p:nvSpPr>
          <p:spPr>
            <a:xfrm>
              <a:off x="3337560" y="4671022"/>
              <a:ext cx="2514600" cy="164592"/>
            </a:xfrm>
            <a:prstGeom prst="rect">
              <a:avLst/>
            </a:prstGeom>
            <a:noFill/>
          </p:spPr>
          <p:txBody>
            <a:bodyPr wrap="square" lIns="36000" tIns="18000" rIns="36000" bIns="18000" anchor="t">
              <a:spAutoFit/>
            </a:bodyPr>
            <a:lstStyle/>
            <a:p>
              <a:pPr algn="l"/>
              <a:r>
                <a:rPr lang="en-US" sz="800" b="0" i="1">
                  <a:solidFill>
                    <a:srgbClr val="3A3634"/>
                  </a:solidFill>
                </a:rPr>
                <a:t>Who benefits and how</a:t>
              </a:r>
            </a:p>
          </p:txBody>
        </p:sp>
        <p:sp>
          <p:nvSpPr>
            <p:cNvPr id="52" name="TextBox 55">
              <a:extLst>
                <a:ext uri="{FF2B5EF4-FFF2-40B4-BE49-F238E27FC236}">
                  <a16:creationId xmlns:a16="http://schemas.microsoft.com/office/drawing/2014/main" id="{A465106C-7F78-5127-B547-66C1CA991185}"/>
                </a:ext>
              </a:extLst>
            </p:cNvPr>
            <p:cNvSpPr txBox="1"/>
            <p:nvPr/>
          </p:nvSpPr>
          <p:spPr>
            <a:xfrm>
              <a:off x="3246120" y="4890478"/>
              <a:ext cx="2606040" cy="190240"/>
            </a:xfrm>
            <a:prstGeom prst="rect">
              <a:avLst/>
            </a:prstGeom>
            <a:noFill/>
          </p:spPr>
          <p:txBody>
            <a:bodyPr wrap="square" lIns="36000" tIns="18000" rIns="36000" bIns="18000" anchor="t">
              <a:spAutoFit/>
            </a:bodyPr>
            <a:lstStyle/>
            <a:p>
              <a:pPr algn="l"/>
              <a:r>
                <a:rPr lang="en-US" sz="1000" b="1" i="0">
                  <a:solidFill>
                    <a:srgbClr val="3A3634"/>
                  </a:solidFill>
                </a:rPr>
                <a:t>▸ Sponsor</a:t>
              </a:r>
            </a:p>
          </p:txBody>
        </p:sp>
        <p:sp>
          <p:nvSpPr>
            <p:cNvPr id="53" name="TextBox 56">
              <a:extLst>
                <a:ext uri="{FF2B5EF4-FFF2-40B4-BE49-F238E27FC236}">
                  <a16:creationId xmlns:a16="http://schemas.microsoft.com/office/drawing/2014/main" id="{D7E1C225-A526-ACEE-868E-C08A7578245F}"/>
                </a:ext>
              </a:extLst>
            </p:cNvPr>
            <p:cNvSpPr txBox="1"/>
            <p:nvPr/>
          </p:nvSpPr>
          <p:spPr>
            <a:xfrm>
              <a:off x="3337560" y="5055070"/>
              <a:ext cx="2514600" cy="164592"/>
            </a:xfrm>
            <a:prstGeom prst="rect">
              <a:avLst/>
            </a:prstGeom>
            <a:noFill/>
          </p:spPr>
          <p:txBody>
            <a:bodyPr wrap="square" lIns="36000" tIns="18000" rIns="36000" bIns="18000" anchor="t">
              <a:spAutoFit/>
            </a:bodyPr>
            <a:lstStyle/>
            <a:p>
              <a:pPr algn="l"/>
              <a:r>
                <a:rPr lang="en-US" sz="800" b="0" i="1">
                  <a:solidFill>
                    <a:srgbClr val="3A3634"/>
                  </a:solidFill>
                </a:rPr>
                <a:t>(approves at intake)</a:t>
              </a:r>
            </a:p>
          </p:txBody>
        </p:sp>
        <p:sp>
          <p:nvSpPr>
            <p:cNvPr id="54" name="TextBox 57">
              <a:extLst>
                <a:ext uri="{FF2B5EF4-FFF2-40B4-BE49-F238E27FC236}">
                  <a16:creationId xmlns:a16="http://schemas.microsoft.com/office/drawing/2014/main" id="{46D74497-7839-B2FD-EC32-704D1483BA0B}"/>
                </a:ext>
              </a:extLst>
            </p:cNvPr>
            <p:cNvSpPr txBox="1"/>
            <p:nvPr/>
          </p:nvSpPr>
          <p:spPr>
            <a:xfrm>
              <a:off x="3246120" y="5274526"/>
              <a:ext cx="2606040" cy="190240"/>
            </a:xfrm>
            <a:prstGeom prst="rect">
              <a:avLst/>
            </a:prstGeom>
            <a:noFill/>
          </p:spPr>
          <p:txBody>
            <a:bodyPr wrap="square" lIns="36000" tIns="18000" rIns="36000" bIns="18000" anchor="t">
              <a:spAutoFit/>
            </a:bodyPr>
            <a:lstStyle/>
            <a:p>
              <a:pPr algn="l"/>
              <a:r>
                <a:rPr lang="en-US" sz="1000" b="1" i="0">
                  <a:solidFill>
                    <a:srgbClr val="3A3634"/>
                  </a:solidFill>
                </a:rPr>
                <a:t>▸ Pain Score inputs</a:t>
              </a:r>
            </a:p>
          </p:txBody>
        </p:sp>
        <p:sp>
          <p:nvSpPr>
            <p:cNvPr id="55" name="TextBox 58">
              <a:extLst>
                <a:ext uri="{FF2B5EF4-FFF2-40B4-BE49-F238E27FC236}">
                  <a16:creationId xmlns:a16="http://schemas.microsoft.com/office/drawing/2014/main" id="{27DF5C6F-5941-E831-4F16-333C4D56AACA}"/>
                </a:ext>
              </a:extLst>
            </p:cNvPr>
            <p:cNvSpPr txBox="1"/>
            <p:nvPr/>
          </p:nvSpPr>
          <p:spPr>
            <a:xfrm>
              <a:off x="3337560" y="5439118"/>
              <a:ext cx="2514600" cy="164592"/>
            </a:xfrm>
            <a:prstGeom prst="rect">
              <a:avLst/>
            </a:prstGeom>
            <a:noFill/>
          </p:spPr>
          <p:txBody>
            <a:bodyPr wrap="square" lIns="36000" tIns="18000" rIns="36000" bIns="18000" anchor="t">
              <a:spAutoFit/>
            </a:bodyPr>
            <a:lstStyle/>
            <a:p>
              <a:pPr algn="l"/>
              <a:r>
                <a:rPr lang="en-US" sz="800" b="0" i="1">
                  <a:solidFill>
                    <a:srgbClr val="3A3634"/>
                  </a:solidFill>
                </a:rPr>
                <a:t>ITBA: </a:t>
              </a:r>
              <a:r>
                <a:rPr lang="en-US" sz="800" b="0" i="1" err="1">
                  <a:solidFill>
                    <a:srgbClr val="3A3634"/>
                  </a:solidFill>
                </a:rPr>
                <a:t>BV·UX·Safety·Effort</a:t>
              </a:r>
              <a:r>
                <a:rPr lang="en-US" sz="800" b="0" i="1">
                  <a:solidFill>
                    <a:srgbClr val="3A3634"/>
                  </a:solidFill>
                </a:rPr>
                <a:t>   ·   CS: </a:t>
              </a:r>
              <a:r>
                <a:rPr lang="en-US" sz="800" b="0" i="1" err="1">
                  <a:solidFill>
                    <a:srgbClr val="3A3634"/>
                  </a:solidFill>
                </a:rPr>
                <a:t>BV·UX·Effort</a:t>
              </a:r>
              <a:r>
                <a:rPr lang="en-US" sz="800" b="0" i="1">
                  <a:solidFill>
                    <a:srgbClr val="3A3634"/>
                  </a:solidFill>
                </a:rPr>
                <a:t> (no Safety)</a:t>
              </a:r>
            </a:p>
          </p:txBody>
        </p:sp>
        <p:sp>
          <p:nvSpPr>
            <p:cNvPr id="56" name="Rounded Rectangle 59">
              <a:extLst>
                <a:ext uri="{FF2B5EF4-FFF2-40B4-BE49-F238E27FC236}">
                  <a16:creationId xmlns:a16="http://schemas.microsoft.com/office/drawing/2014/main" id="{56BEDF9F-C30A-D1AC-24B6-17E0BDA0E7E9}"/>
                </a:ext>
              </a:extLst>
            </p:cNvPr>
            <p:cNvSpPr/>
            <p:nvPr/>
          </p:nvSpPr>
          <p:spPr>
            <a:xfrm>
              <a:off x="3246120" y="5832310"/>
              <a:ext cx="2606040" cy="457200"/>
            </a:xfrm>
            <a:prstGeom prst="roundRect">
              <a:avLst>
                <a:gd name="adj" fmla="val 10000"/>
              </a:avLst>
            </a:prstGeom>
            <a:solidFill>
              <a:srgbClr val="FFF6E6"/>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60">
              <a:extLst>
                <a:ext uri="{FF2B5EF4-FFF2-40B4-BE49-F238E27FC236}">
                  <a16:creationId xmlns:a16="http://schemas.microsoft.com/office/drawing/2014/main" id="{7B39F3FE-45F0-5517-FE67-17F3080F7B80}"/>
                </a:ext>
              </a:extLst>
            </p:cNvPr>
            <p:cNvSpPr txBox="1"/>
            <p:nvPr/>
          </p:nvSpPr>
          <p:spPr>
            <a:xfrm>
              <a:off x="3246120" y="5832310"/>
              <a:ext cx="2606040" cy="457200"/>
            </a:xfrm>
            <a:prstGeom prst="rect">
              <a:avLst/>
            </a:prstGeom>
            <a:noFill/>
          </p:spPr>
          <p:txBody>
            <a:bodyPr wrap="square" lIns="36000" tIns="18000" rIns="36000" bIns="18000" anchor="ctr">
              <a:spAutoFit/>
            </a:bodyPr>
            <a:lstStyle/>
            <a:p>
              <a:pPr algn="ctr"/>
              <a:r>
                <a:rPr sz="900" b="1" i="0">
                  <a:solidFill>
                    <a:srgbClr val="DE350B"/>
                  </a:solidFill>
                </a:rPr>
                <a:t>IT Now is reserved for incidents only — not for new demand.</a:t>
              </a:r>
            </a:p>
          </p:txBody>
        </p:sp>
        <p:sp>
          <p:nvSpPr>
            <p:cNvPr id="59" name="Rounded Rectangle 62">
              <a:extLst>
                <a:ext uri="{FF2B5EF4-FFF2-40B4-BE49-F238E27FC236}">
                  <a16:creationId xmlns:a16="http://schemas.microsoft.com/office/drawing/2014/main" id="{505A1D2E-0ADE-A8CE-2223-335B3F6F9058}"/>
                </a:ext>
              </a:extLst>
            </p:cNvPr>
            <p:cNvSpPr/>
            <p:nvPr/>
          </p:nvSpPr>
          <p:spPr>
            <a:xfrm>
              <a:off x="6172200" y="2100638"/>
              <a:ext cx="2514600" cy="2139696"/>
            </a:xfrm>
            <a:prstGeom prst="roundRect">
              <a:avLst>
                <a:gd name="adj" fmla="val 4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3">
              <a:extLst>
                <a:ext uri="{FF2B5EF4-FFF2-40B4-BE49-F238E27FC236}">
                  <a16:creationId xmlns:a16="http://schemas.microsoft.com/office/drawing/2014/main" id="{33590FE3-459C-5475-DC2A-62D1FAE10A81}"/>
                </a:ext>
              </a:extLst>
            </p:cNvPr>
            <p:cNvSpPr txBox="1"/>
            <p:nvPr/>
          </p:nvSpPr>
          <p:spPr>
            <a:xfrm>
              <a:off x="6172200" y="2283518"/>
              <a:ext cx="2514600" cy="190240"/>
            </a:xfrm>
            <a:prstGeom prst="rect">
              <a:avLst/>
            </a:prstGeom>
            <a:noFill/>
          </p:spPr>
          <p:txBody>
            <a:bodyPr wrap="square" lIns="36000" tIns="18000" rIns="36000" bIns="18000" anchor="t">
              <a:spAutoFit/>
            </a:bodyPr>
            <a:lstStyle/>
            <a:p>
              <a:pPr algn="ctr"/>
              <a:r>
                <a:rPr lang="en-US" sz="1000" b="1">
                  <a:solidFill>
                    <a:srgbClr val="173458"/>
                  </a:solidFill>
                </a:rPr>
                <a:t>CUSTOMER SERVICES</a:t>
              </a:r>
            </a:p>
          </p:txBody>
        </p:sp>
        <p:sp>
          <p:nvSpPr>
            <p:cNvPr id="61" name="TextBox 64">
              <a:extLst>
                <a:ext uri="{FF2B5EF4-FFF2-40B4-BE49-F238E27FC236}">
                  <a16:creationId xmlns:a16="http://schemas.microsoft.com/office/drawing/2014/main" id="{33E44C79-3B80-DAEC-29BA-87B46E38706E}"/>
                </a:ext>
              </a:extLst>
            </p:cNvPr>
            <p:cNvSpPr txBox="1"/>
            <p:nvPr/>
          </p:nvSpPr>
          <p:spPr>
            <a:xfrm>
              <a:off x="6172200" y="2512118"/>
              <a:ext cx="2514600" cy="190240"/>
            </a:xfrm>
            <a:prstGeom prst="rect">
              <a:avLst/>
            </a:prstGeom>
            <a:noFill/>
          </p:spPr>
          <p:txBody>
            <a:bodyPr wrap="square" lIns="36000" tIns="18000" rIns="36000" bIns="18000" anchor="t">
              <a:spAutoFit/>
            </a:bodyPr>
            <a:lstStyle/>
            <a:p>
              <a:pPr algn="ctr"/>
              <a:r>
                <a:rPr lang="en-US" sz="1000" b="1">
                  <a:solidFill>
                    <a:srgbClr val="173458"/>
                  </a:solidFill>
                </a:rPr>
                <a:t>METER-2-CASH </a:t>
              </a:r>
            </a:p>
          </p:txBody>
        </p:sp>
        <p:sp>
          <p:nvSpPr>
            <p:cNvPr id="62" name="TextBox 65">
              <a:extLst>
                <a:ext uri="{FF2B5EF4-FFF2-40B4-BE49-F238E27FC236}">
                  <a16:creationId xmlns:a16="http://schemas.microsoft.com/office/drawing/2014/main" id="{055950AD-FFCF-7CE1-270F-CD489CD82968}"/>
                </a:ext>
              </a:extLst>
            </p:cNvPr>
            <p:cNvSpPr txBox="1"/>
            <p:nvPr/>
          </p:nvSpPr>
          <p:spPr>
            <a:xfrm>
              <a:off x="6377940" y="2758170"/>
              <a:ext cx="2423160" cy="313350"/>
            </a:xfrm>
            <a:prstGeom prst="rect">
              <a:avLst/>
            </a:prstGeom>
            <a:noFill/>
          </p:spPr>
          <p:txBody>
            <a:bodyPr wrap="square" lIns="36000" tIns="18000" rIns="36000" bIns="18000" anchor="t">
              <a:spAutoFit/>
            </a:bodyPr>
            <a:lstStyle/>
            <a:p>
              <a:r>
                <a:rPr lang="en-US" sz="900" b="1" i="0">
                  <a:solidFill>
                    <a:srgbClr val="173458"/>
                  </a:solidFill>
                </a:rPr>
                <a:t>METER → </a:t>
              </a:r>
              <a:r>
                <a:rPr lang="da-DK" sz="900" b="1">
                  <a:solidFill>
                    <a:srgbClr val="173458"/>
                  </a:solidFill>
                </a:rPr>
                <a:t>Meter &amp; Device Operations</a:t>
              </a:r>
            </a:p>
            <a:p>
              <a:endParaRPr lang="en-US" sz="900" b="1" i="0">
                <a:solidFill>
                  <a:srgbClr val="173458"/>
                </a:solidFill>
              </a:endParaRPr>
            </a:p>
          </p:txBody>
        </p:sp>
        <p:sp>
          <p:nvSpPr>
            <p:cNvPr id="63" name="TextBox 66">
              <a:extLst>
                <a:ext uri="{FF2B5EF4-FFF2-40B4-BE49-F238E27FC236}">
                  <a16:creationId xmlns:a16="http://schemas.microsoft.com/office/drawing/2014/main" id="{6E45CD7C-10B6-B4E8-E1B0-F73BBEE76020}"/>
                </a:ext>
              </a:extLst>
            </p:cNvPr>
            <p:cNvSpPr txBox="1"/>
            <p:nvPr/>
          </p:nvSpPr>
          <p:spPr>
            <a:xfrm>
              <a:off x="6377940" y="2959338"/>
              <a:ext cx="2423160" cy="313350"/>
            </a:xfrm>
            <a:prstGeom prst="rect">
              <a:avLst/>
            </a:prstGeom>
            <a:noFill/>
          </p:spPr>
          <p:txBody>
            <a:bodyPr wrap="square" lIns="36000" tIns="18000" rIns="36000" bIns="18000" anchor="t">
              <a:spAutoFit/>
            </a:bodyPr>
            <a:lstStyle/>
            <a:p>
              <a:r>
                <a:rPr lang="en-US" sz="900" b="1" i="0">
                  <a:solidFill>
                    <a:srgbClr val="173458"/>
                  </a:solidFill>
                </a:rPr>
                <a:t>BILL → </a:t>
              </a:r>
              <a:r>
                <a:rPr lang="es-MX" sz="900" b="1">
                  <a:solidFill>
                    <a:srgbClr val="173458"/>
                  </a:solidFill>
                </a:rPr>
                <a:t>Billing Operations</a:t>
              </a:r>
            </a:p>
            <a:p>
              <a:endParaRPr lang="en-US" sz="900" b="1" i="0">
                <a:solidFill>
                  <a:srgbClr val="173458"/>
                </a:solidFill>
              </a:endParaRPr>
            </a:p>
          </p:txBody>
        </p:sp>
        <p:sp>
          <p:nvSpPr>
            <p:cNvPr id="64" name="TextBox 67">
              <a:extLst>
                <a:ext uri="{FF2B5EF4-FFF2-40B4-BE49-F238E27FC236}">
                  <a16:creationId xmlns:a16="http://schemas.microsoft.com/office/drawing/2014/main" id="{E8FD4255-65C2-B8B4-73FC-A1D95ACEB5EB}"/>
                </a:ext>
              </a:extLst>
            </p:cNvPr>
            <p:cNvSpPr txBox="1"/>
            <p:nvPr/>
          </p:nvSpPr>
          <p:spPr>
            <a:xfrm>
              <a:off x="6377940" y="3160506"/>
              <a:ext cx="2423160" cy="313350"/>
            </a:xfrm>
            <a:prstGeom prst="rect">
              <a:avLst/>
            </a:prstGeom>
            <a:noFill/>
          </p:spPr>
          <p:txBody>
            <a:bodyPr wrap="square" lIns="36000" tIns="18000" rIns="36000" bIns="18000" anchor="t">
              <a:spAutoFit/>
            </a:bodyPr>
            <a:lstStyle/>
            <a:p>
              <a:r>
                <a:rPr lang="en-US" sz="900" b="1" i="0">
                  <a:solidFill>
                    <a:srgbClr val="173458"/>
                  </a:solidFill>
                </a:rPr>
                <a:t>COLLECT → </a:t>
              </a:r>
              <a:r>
                <a:rPr lang="es-MX" sz="900" b="1">
                  <a:solidFill>
                    <a:srgbClr val="173458"/>
                  </a:solidFill>
                </a:rPr>
                <a:t>Revenue &amp; Collections</a:t>
              </a:r>
            </a:p>
            <a:p>
              <a:endParaRPr lang="en-US" sz="900" b="1" i="0">
                <a:solidFill>
                  <a:srgbClr val="173458"/>
                </a:solidFill>
              </a:endParaRPr>
            </a:p>
          </p:txBody>
        </p:sp>
        <p:sp>
          <p:nvSpPr>
            <p:cNvPr id="65" name="TextBox 68">
              <a:extLst>
                <a:ext uri="{FF2B5EF4-FFF2-40B4-BE49-F238E27FC236}">
                  <a16:creationId xmlns:a16="http://schemas.microsoft.com/office/drawing/2014/main" id="{B502985E-D57B-CE48-00C1-1DB94592CE78}"/>
                </a:ext>
              </a:extLst>
            </p:cNvPr>
            <p:cNvSpPr txBox="1"/>
            <p:nvPr/>
          </p:nvSpPr>
          <p:spPr>
            <a:xfrm>
              <a:off x="6377940" y="3353576"/>
              <a:ext cx="2423160" cy="313350"/>
            </a:xfrm>
            <a:prstGeom prst="rect">
              <a:avLst/>
            </a:prstGeom>
            <a:noFill/>
          </p:spPr>
          <p:txBody>
            <a:bodyPr wrap="square" lIns="36000" tIns="18000" rIns="36000" bIns="18000" anchor="t">
              <a:spAutoFit/>
            </a:bodyPr>
            <a:lstStyle/>
            <a:p>
              <a:r>
                <a:rPr lang="en-US" sz="900" b="1" i="0">
                  <a:solidFill>
                    <a:srgbClr val="173458"/>
                  </a:solidFill>
                </a:rPr>
                <a:t>SERVE → </a:t>
              </a:r>
              <a:r>
                <a:rPr lang="en-US" sz="900" b="1">
                  <a:solidFill>
                    <a:srgbClr val="173458"/>
                  </a:solidFill>
                </a:rPr>
                <a:t>Customer Care &amp; Engagement</a:t>
              </a:r>
            </a:p>
            <a:p>
              <a:endParaRPr lang="en-US" sz="900" b="1" i="0">
                <a:solidFill>
                  <a:srgbClr val="173458"/>
                </a:solidFill>
              </a:endParaRPr>
            </a:p>
          </p:txBody>
        </p:sp>
        <p:sp>
          <p:nvSpPr>
            <p:cNvPr id="66" name="TextBox 69">
              <a:extLst>
                <a:ext uri="{FF2B5EF4-FFF2-40B4-BE49-F238E27FC236}">
                  <a16:creationId xmlns:a16="http://schemas.microsoft.com/office/drawing/2014/main" id="{905BD9F6-D5C4-6B8D-D461-142B5522E376}"/>
                </a:ext>
              </a:extLst>
            </p:cNvPr>
            <p:cNvSpPr txBox="1"/>
            <p:nvPr/>
          </p:nvSpPr>
          <p:spPr>
            <a:xfrm>
              <a:off x="6217920" y="3658603"/>
              <a:ext cx="2423160" cy="159462"/>
            </a:xfrm>
            <a:prstGeom prst="rect">
              <a:avLst/>
            </a:prstGeom>
            <a:noFill/>
          </p:spPr>
          <p:txBody>
            <a:bodyPr wrap="square" lIns="36000" tIns="18000" rIns="36000" bIns="18000" anchor="t">
              <a:spAutoFit/>
            </a:bodyPr>
            <a:lstStyle/>
            <a:p>
              <a:pPr algn="ctr"/>
              <a:r>
                <a:rPr lang="en-US" sz="800" b="0" i="1">
                  <a:solidFill>
                    <a:srgbClr val="173458"/>
                  </a:solidFill>
                </a:rPr>
                <a:t>Enabling Team supports all 4 stages</a:t>
              </a:r>
            </a:p>
          </p:txBody>
        </p:sp>
        <p:sp>
          <p:nvSpPr>
            <p:cNvPr id="67" name="Rounded Rectangle 70">
              <a:extLst>
                <a:ext uri="{FF2B5EF4-FFF2-40B4-BE49-F238E27FC236}">
                  <a16:creationId xmlns:a16="http://schemas.microsoft.com/office/drawing/2014/main" id="{0856A2DD-0435-5561-8940-4374FBB35BCA}"/>
                </a:ext>
              </a:extLst>
            </p:cNvPr>
            <p:cNvSpPr/>
            <p:nvPr/>
          </p:nvSpPr>
          <p:spPr>
            <a:xfrm>
              <a:off x="6172200" y="4266046"/>
              <a:ext cx="2514600" cy="2160623"/>
            </a:xfrm>
            <a:prstGeom prst="roundRect">
              <a:avLst>
                <a:gd name="adj" fmla="val 4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3458"/>
                </a:solidFill>
              </a:endParaRPr>
            </a:p>
          </p:txBody>
        </p:sp>
        <p:sp>
          <p:nvSpPr>
            <p:cNvPr id="68" name="TextBox 71">
              <a:extLst>
                <a:ext uri="{FF2B5EF4-FFF2-40B4-BE49-F238E27FC236}">
                  <a16:creationId xmlns:a16="http://schemas.microsoft.com/office/drawing/2014/main" id="{276182F4-6251-0AF2-5814-348F2E357B1C}"/>
                </a:ext>
              </a:extLst>
            </p:cNvPr>
            <p:cNvSpPr txBox="1"/>
            <p:nvPr/>
          </p:nvSpPr>
          <p:spPr>
            <a:xfrm>
              <a:off x="6172200" y="4838101"/>
              <a:ext cx="2514600" cy="236406"/>
            </a:xfrm>
            <a:prstGeom prst="rect">
              <a:avLst/>
            </a:prstGeom>
            <a:noFill/>
          </p:spPr>
          <p:txBody>
            <a:bodyPr wrap="square" lIns="36000" tIns="18000" rIns="36000" bIns="18000" anchor="t">
              <a:spAutoFit/>
            </a:bodyPr>
            <a:lstStyle/>
            <a:p>
              <a:pPr algn="ctr"/>
              <a:r>
                <a:rPr sz="1300" b="1" i="0">
                  <a:solidFill>
                    <a:srgbClr val="808080"/>
                  </a:solidFill>
                </a:rPr>
                <a:t>IT BUSINESS APPLICATIONS</a:t>
              </a:r>
            </a:p>
          </p:txBody>
        </p:sp>
        <p:sp>
          <p:nvSpPr>
            <p:cNvPr id="69" name="TextBox 72">
              <a:extLst>
                <a:ext uri="{FF2B5EF4-FFF2-40B4-BE49-F238E27FC236}">
                  <a16:creationId xmlns:a16="http://schemas.microsoft.com/office/drawing/2014/main" id="{B3356130-D9D1-3852-B97B-C2F60B618C49}"/>
                </a:ext>
              </a:extLst>
            </p:cNvPr>
            <p:cNvSpPr txBox="1"/>
            <p:nvPr/>
          </p:nvSpPr>
          <p:spPr>
            <a:xfrm>
              <a:off x="6172200" y="5066701"/>
              <a:ext cx="2514600" cy="205629"/>
            </a:xfrm>
            <a:prstGeom prst="rect">
              <a:avLst/>
            </a:prstGeom>
            <a:noFill/>
          </p:spPr>
          <p:txBody>
            <a:bodyPr wrap="square" lIns="36000" tIns="18000" rIns="36000" bIns="18000" anchor="t">
              <a:spAutoFit/>
            </a:bodyPr>
            <a:lstStyle/>
            <a:p>
              <a:pPr algn="ctr"/>
              <a:r>
                <a:rPr lang="en-US" sz="1100" b="1" i="0">
                  <a:solidFill>
                    <a:srgbClr val="808080"/>
                  </a:solidFill>
                </a:rPr>
                <a:t>Carlos Garbin · 5 DVS </a:t>
              </a:r>
            </a:p>
          </p:txBody>
        </p:sp>
        <p:sp>
          <p:nvSpPr>
            <p:cNvPr id="70" name="TextBox 73">
              <a:extLst>
                <a:ext uri="{FF2B5EF4-FFF2-40B4-BE49-F238E27FC236}">
                  <a16:creationId xmlns:a16="http://schemas.microsoft.com/office/drawing/2014/main" id="{0AA0AC1E-39C2-A0F4-550F-9BA4D5017029}"/>
                </a:ext>
              </a:extLst>
            </p:cNvPr>
            <p:cNvSpPr txBox="1"/>
            <p:nvPr/>
          </p:nvSpPr>
          <p:spPr>
            <a:xfrm>
              <a:off x="6217920" y="3592552"/>
              <a:ext cx="2423160" cy="590349"/>
            </a:xfrm>
            <a:prstGeom prst="rect">
              <a:avLst/>
            </a:prstGeom>
            <a:noFill/>
          </p:spPr>
          <p:txBody>
            <a:bodyPr wrap="square" lIns="36000" tIns="18000" rIns="36000" bIns="18000" anchor="t">
              <a:spAutoFit/>
            </a:bodyPr>
            <a:lstStyle/>
            <a:p>
              <a:pPr algn="ctr"/>
              <a:r>
                <a:rPr lang="en-US" sz="900" b="0" i="0">
                  <a:solidFill>
                    <a:srgbClr val="808080"/>
                  </a:solidFill>
                </a:rPr>
                <a:t>
</a:t>
              </a:r>
              <a:r>
                <a:rPr lang="en-US" sz="900" b="0" i="0">
                  <a:solidFill>
                    <a:srgbClr val="C00000"/>
                  </a:solidFill>
                </a:rPr>
                <a:t>
Foundation: SAP Basis · Gold Client · RPA · TOSCA</a:t>
              </a:r>
            </a:p>
          </p:txBody>
        </p:sp>
        <p:sp>
          <p:nvSpPr>
            <p:cNvPr id="87" name="Rounded Rectangle 74">
              <a:extLst>
                <a:ext uri="{FF2B5EF4-FFF2-40B4-BE49-F238E27FC236}">
                  <a16:creationId xmlns:a16="http://schemas.microsoft.com/office/drawing/2014/main" id="{E0C5DA5C-5B5B-1AFF-6971-9545D4C791DE}"/>
                </a:ext>
              </a:extLst>
            </p:cNvPr>
            <p:cNvSpPr/>
            <p:nvPr/>
          </p:nvSpPr>
          <p:spPr>
            <a:xfrm>
              <a:off x="8915400" y="2100638"/>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75">
              <a:extLst>
                <a:ext uri="{FF2B5EF4-FFF2-40B4-BE49-F238E27FC236}">
                  <a16:creationId xmlns:a16="http://schemas.microsoft.com/office/drawing/2014/main" id="{C4D43DB8-0944-A861-E68A-7DE775F864E0}"/>
                </a:ext>
              </a:extLst>
            </p:cNvPr>
            <p:cNvSpPr txBox="1"/>
            <p:nvPr/>
          </p:nvSpPr>
          <p:spPr>
            <a:xfrm>
              <a:off x="9006840" y="2137214"/>
              <a:ext cx="2331720" cy="190240"/>
            </a:xfrm>
            <a:prstGeom prst="rect">
              <a:avLst/>
            </a:prstGeom>
            <a:noFill/>
          </p:spPr>
          <p:txBody>
            <a:bodyPr wrap="square" lIns="36000" tIns="18000" rIns="36000" bIns="18000" anchor="t">
              <a:spAutoFit/>
            </a:bodyPr>
            <a:lstStyle/>
            <a:p>
              <a:pPr algn="l"/>
              <a:r>
                <a:rPr lang="da-DK" sz="1000" b="1" i="0">
                  <a:solidFill>
                    <a:srgbClr val="173458"/>
                  </a:solidFill>
                </a:rPr>
                <a:t>Meter &amp; Device Operations</a:t>
              </a:r>
            </a:p>
          </p:txBody>
        </p:sp>
        <p:sp>
          <p:nvSpPr>
            <p:cNvPr id="90" name="TextBox 76">
              <a:extLst>
                <a:ext uri="{FF2B5EF4-FFF2-40B4-BE49-F238E27FC236}">
                  <a16:creationId xmlns:a16="http://schemas.microsoft.com/office/drawing/2014/main" id="{37972D13-EA36-87A9-874E-295A64324B66}"/>
                </a:ext>
              </a:extLst>
            </p:cNvPr>
            <p:cNvSpPr txBox="1"/>
            <p:nvPr/>
          </p:nvSpPr>
          <p:spPr>
            <a:xfrm>
              <a:off x="9006840" y="2301806"/>
              <a:ext cx="2606040" cy="164592"/>
            </a:xfrm>
            <a:prstGeom prst="rect">
              <a:avLst/>
            </a:prstGeom>
            <a:noFill/>
          </p:spPr>
          <p:txBody>
            <a:bodyPr wrap="square" lIns="36000" tIns="18000" rIns="36000" bIns="18000" anchor="t">
              <a:spAutoFit/>
            </a:bodyPr>
            <a:lstStyle/>
            <a:p>
              <a:pPr algn="l"/>
              <a:r>
                <a:rPr sz="700" b="0" i="1">
                  <a:solidFill>
                    <a:srgbClr val="42526E"/>
                  </a:solidFill>
                </a:rPr>
                <a:t>Smart Metering · MDM · IS-U Device · 8760 EDI</a:t>
              </a:r>
            </a:p>
          </p:txBody>
        </p:sp>
        <p:sp>
          <p:nvSpPr>
            <p:cNvPr id="91" name="Rounded Rectangle 77">
              <a:extLst>
                <a:ext uri="{FF2B5EF4-FFF2-40B4-BE49-F238E27FC236}">
                  <a16:creationId xmlns:a16="http://schemas.microsoft.com/office/drawing/2014/main" id="{EAC9AD09-81ED-29A6-AC18-3A83026C7CDA}"/>
                </a:ext>
              </a:extLst>
            </p:cNvPr>
            <p:cNvSpPr/>
            <p:nvPr/>
          </p:nvSpPr>
          <p:spPr>
            <a:xfrm>
              <a:off x="8915400" y="2533149"/>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78">
              <a:extLst>
                <a:ext uri="{FF2B5EF4-FFF2-40B4-BE49-F238E27FC236}">
                  <a16:creationId xmlns:a16="http://schemas.microsoft.com/office/drawing/2014/main" id="{B7719F71-4351-2C08-4ACA-76CF5230F3ED}"/>
                </a:ext>
              </a:extLst>
            </p:cNvPr>
            <p:cNvSpPr txBox="1"/>
            <p:nvPr/>
          </p:nvSpPr>
          <p:spPr>
            <a:xfrm>
              <a:off x="9006840" y="2569725"/>
              <a:ext cx="2331720" cy="201099"/>
            </a:xfrm>
            <a:prstGeom prst="rect">
              <a:avLst/>
            </a:prstGeom>
            <a:noFill/>
          </p:spPr>
          <p:txBody>
            <a:bodyPr wrap="square" lIns="36000" tIns="18000" rIns="36000" bIns="18000" anchor="t">
              <a:spAutoFit/>
            </a:bodyPr>
            <a:lstStyle/>
            <a:p>
              <a:pPr algn="l"/>
              <a:r>
                <a:rPr lang="es-MX" sz="1000" b="1" i="0">
                  <a:solidFill>
                    <a:srgbClr val="173458"/>
                  </a:solidFill>
                </a:rPr>
                <a:t>Billing &amp; Retail Operations</a:t>
              </a:r>
            </a:p>
          </p:txBody>
        </p:sp>
        <p:sp>
          <p:nvSpPr>
            <p:cNvPr id="93" name="TextBox 79">
              <a:extLst>
                <a:ext uri="{FF2B5EF4-FFF2-40B4-BE49-F238E27FC236}">
                  <a16:creationId xmlns:a16="http://schemas.microsoft.com/office/drawing/2014/main" id="{75C629A7-01EB-F4EB-997E-D328E1180690}"/>
                </a:ext>
              </a:extLst>
            </p:cNvPr>
            <p:cNvSpPr txBox="1"/>
            <p:nvPr/>
          </p:nvSpPr>
          <p:spPr>
            <a:xfrm>
              <a:off x="9006840" y="2734317"/>
              <a:ext cx="2606040" cy="164592"/>
            </a:xfrm>
            <a:prstGeom prst="rect">
              <a:avLst/>
            </a:prstGeom>
            <a:noFill/>
          </p:spPr>
          <p:txBody>
            <a:bodyPr wrap="square" lIns="36000" tIns="18000" rIns="36000" bIns="18000" anchor="t">
              <a:spAutoFit/>
            </a:bodyPr>
            <a:lstStyle/>
            <a:p>
              <a:pPr algn="l"/>
              <a:r>
                <a:rPr sz="700" b="0" i="1">
                  <a:solidFill>
                    <a:srgbClr val="42526E"/>
                  </a:solidFill>
                </a:rPr>
                <a:t>SAP ECC (FI/SD) · Streamserve · OpenText</a:t>
              </a:r>
            </a:p>
          </p:txBody>
        </p:sp>
        <p:sp>
          <p:nvSpPr>
            <p:cNvPr id="94" name="Rounded Rectangle 80">
              <a:extLst>
                <a:ext uri="{FF2B5EF4-FFF2-40B4-BE49-F238E27FC236}">
                  <a16:creationId xmlns:a16="http://schemas.microsoft.com/office/drawing/2014/main" id="{E180DC62-3B64-C982-DB7C-E66C743A9023}"/>
                </a:ext>
              </a:extLst>
            </p:cNvPr>
            <p:cNvSpPr/>
            <p:nvPr/>
          </p:nvSpPr>
          <p:spPr>
            <a:xfrm>
              <a:off x="8915400" y="2965660"/>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81">
              <a:extLst>
                <a:ext uri="{FF2B5EF4-FFF2-40B4-BE49-F238E27FC236}">
                  <a16:creationId xmlns:a16="http://schemas.microsoft.com/office/drawing/2014/main" id="{E3394F80-876A-9DB4-5479-2CE5C8B4B42E}"/>
                </a:ext>
              </a:extLst>
            </p:cNvPr>
            <p:cNvSpPr txBox="1"/>
            <p:nvPr/>
          </p:nvSpPr>
          <p:spPr>
            <a:xfrm>
              <a:off x="9006840" y="3002236"/>
              <a:ext cx="2331720" cy="190240"/>
            </a:xfrm>
            <a:prstGeom prst="rect">
              <a:avLst/>
            </a:prstGeom>
            <a:noFill/>
          </p:spPr>
          <p:txBody>
            <a:bodyPr wrap="square" lIns="36000" tIns="18000" rIns="36000" bIns="18000" anchor="t">
              <a:spAutoFit/>
            </a:bodyPr>
            <a:lstStyle/>
            <a:p>
              <a:pPr algn="l"/>
              <a:r>
                <a:rPr lang="es-MX" sz="1000" b="1" i="0">
                  <a:solidFill>
                    <a:srgbClr val="173458"/>
                  </a:solidFill>
                </a:rPr>
                <a:t>Revenue &amp; Collections</a:t>
              </a:r>
            </a:p>
          </p:txBody>
        </p:sp>
        <p:sp>
          <p:nvSpPr>
            <p:cNvPr id="96" name="TextBox 82">
              <a:extLst>
                <a:ext uri="{FF2B5EF4-FFF2-40B4-BE49-F238E27FC236}">
                  <a16:creationId xmlns:a16="http://schemas.microsoft.com/office/drawing/2014/main" id="{EA0FC5B0-3716-F2A4-9E4D-420BB1017805}"/>
                </a:ext>
              </a:extLst>
            </p:cNvPr>
            <p:cNvSpPr txBox="1"/>
            <p:nvPr/>
          </p:nvSpPr>
          <p:spPr>
            <a:xfrm>
              <a:off x="9006840" y="3166828"/>
              <a:ext cx="2606040" cy="164592"/>
            </a:xfrm>
            <a:prstGeom prst="rect">
              <a:avLst/>
            </a:prstGeom>
            <a:noFill/>
          </p:spPr>
          <p:txBody>
            <a:bodyPr wrap="square" lIns="36000" tIns="18000" rIns="36000" bIns="18000" anchor="t">
              <a:spAutoFit/>
            </a:bodyPr>
            <a:lstStyle/>
            <a:p>
              <a:pPr algn="l"/>
              <a:r>
                <a:rPr sz="700" b="0" i="1">
                  <a:solidFill>
                    <a:srgbClr val="42526E"/>
                  </a:solidFill>
                </a:rPr>
                <a:t>SAP FICA · SOVOS Taxware · Payment · Dunning</a:t>
              </a:r>
            </a:p>
          </p:txBody>
        </p:sp>
        <p:sp>
          <p:nvSpPr>
            <p:cNvPr id="97" name="Rounded Rectangle 85">
              <a:extLst>
                <a:ext uri="{FF2B5EF4-FFF2-40B4-BE49-F238E27FC236}">
                  <a16:creationId xmlns:a16="http://schemas.microsoft.com/office/drawing/2014/main" id="{33E96250-90B7-6461-3D00-D2F676BF878E}"/>
                </a:ext>
              </a:extLst>
            </p:cNvPr>
            <p:cNvSpPr/>
            <p:nvPr/>
          </p:nvSpPr>
          <p:spPr>
            <a:xfrm>
              <a:off x="8915400" y="3398171"/>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86">
              <a:extLst>
                <a:ext uri="{FF2B5EF4-FFF2-40B4-BE49-F238E27FC236}">
                  <a16:creationId xmlns:a16="http://schemas.microsoft.com/office/drawing/2014/main" id="{16198F41-01B0-0372-A057-62AAF53FEEB9}"/>
                </a:ext>
              </a:extLst>
            </p:cNvPr>
            <p:cNvSpPr txBox="1"/>
            <p:nvPr/>
          </p:nvSpPr>
          <p:spPr>
            <a:xfrm>
              <a:off x="9006840" y="3434747"/>
              <a:ext cx="2331720" cy="190240"/>
            </a:xfrm>
            <a:prstGeom prst="rect">
              <a:avLst/>
            </a:prstGeom>
            <a:noFill/>
          </p:spPr>
          <p:txBody>
            <a:bodyPr wrap="square" lIns="36000" tIns="18000" rIns="36000" bIns="18000" anchor="t">
              <a:spAutoFit/>
            </a:bodyPr>
            <a:lstStyle/>
            <a:p>
              <a:pPr algn="l"/>
              <a:r>
                <a:rPr lang="en-US" sz="1000" b="1" i="0">
                  <a:solidFill>
                    <a:srgbClr val="173458"/>
                  </a:solidFill>
                </a:rPr>
                <a:t>Customer Care &amp; Engagement</a:t>
              </a:r>
            </a:p>
          </p:txBody>
        </p:sp>
        <p:sp>
          <p:nvSpPr>
            <p:cNvPr id="99" name="TextBox 87">
              <a:extLst>
                <a:ext uri="{FF2B5EF4-FFF2-40B4-BE49-F238E27FC236}">
                  <a16:creationId xmlns:a16="http://schemas.microsoft.com/office/drawing/2014/main" id="{D46E317A-614E-3AB8-3ED8-E248AA250C1C}"/>
                </a:ext>
              </a:extLst>
            </p:cNvPr>
            <p:cNvSpPr txBox="1"/>
            <p:nvPr/>
          </p:nvSpPr>
          <p:spPr>
            <a:xfrm>
              <a:off x="9006840" y="3599339"/>
              <a:ext cx="2606040" cy="164592"/>
            </a:xfrm>
            <a:prstGeom prst="rect">
              <a:avLst/>
            </a:prstGeom>
            <a:noFill/>
          </p:spPr>
          <p:txBody>
            <a:bodyPr wrap="square" lIns="36000" tIns="18000" rIns="36000" bIns="18000" anchor="t">
              <a:spAutoFit/>
            </a:bodyPr>
            <a:lstStyle/>
            <a:p>
              <a:pPr algn="l"/>
              <a:r>
                <a:rPr sz="700" b="0" i="1">
                  <a:solidFill>
                    <a:srgbClr val="42526E"/>
                  </a:solidFill>
                </a:rPr>
                <a:t>SAP CRM · Genesys · Nuance IVR · Medallia</a:t>
              </a:r>
            </a:p>
          </p:txBody>
        </p:sp>
        <p:sp>
          <p:nvSpPr>
            <p:cNvPr id="100" name="Rounded Rectangle 88">
              <a:extLst>
                <a:ext uri="{FF2B5EF4-FFF2-40B4-BE49-F238E27FC236}">
                  <a16:creationId xmlns:a16="http://schemas.microsoft.com/office/drawing/2014/main" id="{3B58E463-7A59-2E34-873F-42D39F1C141D}"/>
                </a:ext>
              </a:extLst>
            </p:cNvPr>
            <p:cNvSpPr/>
            <p:nvPr/>
          </p:nvSpPr>
          <p:spPr>
            <a:xfrm>
              <a:off x="8915400" y="4271187"/>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89">
              <a:extLst>
                <a:ext uri="{FF2B5EF4-FFF2-40B4-BE49-F238E27FC236}">
                  <a16:creationId xmlns:a16="http://schemas.microsoft.com/office/drawing/2014/main" id="{F6CEC4DC-9721-7BD9-EF75-CEDE1C64EF78}"/>
                </a:ext>
              </a:extLst>
            </p:cNvPr>
            <p:cNvSpPr txBox="1"/>
            <p:nvPr/>
          </p:nvSpPr>
          <p:spPr>
            <a:xfrm>
              <a:off x="9006840" y="4307763"/>
              <a:ext cx="2331720" cy="190240"/>
            </a:xfrm>
            <a:prstGeom prst="rect">
              <a:avLst/>
            </a:prstGeom>
            <a:noFill/>
          </p:spPr>
          <p:txBody>
            <a:bodyPr wrap="square" lIns="36000" tIns="18000" rIns="36000" bIns="18000" anchor="t">
              <a:spAutoFit/>
            </a:bodyPr>
            <a:lstStyle/>
            <a:p>
              <a:pPr algn="l"/>
              <a:r>
                <a:rPr lang="es-MX" sz="1000" b="1" i="0">
                  <a:solidFill>
                    <a:srgbClr val="808080"/>
                  </a:solidFill>
                </a:rPr>
                <a:t>Field Operations</a:t>
              </a:r>
            </a:p>
          </p:txBody>
        </p:sp>
        <p:sp>
          <p:nvSpPr>
            <p:cNvPr id="102" name="TextBox 90">
              <a:extLst>
                <a:ext uri="{FF2B5EF4-FFF2-40B4-BE49-F238E27FC236}">
                  <a16:creationId xmlns:a16="http://schemas.microsoft.com/office/drawing/2014/main" id="{9281F470-4429-1E82-A4CB-2E382733455C}"/>
                </a:ext>
              </a:extLst>
            </p:cNvPr>
            <p:cNvSpPr txBox="1"/>
            <p:nvPr/>
          </p:nvSpPr>
          <p:spPr>
            <a:xfrm>
              <a:off x="9006840" y="4472355"/>
              <a:ext cx="2606040" cy="144073"/>
            </a:xfrm>
            <a:prstGeom prst="rect">
              <a:avLst/>
            </a:prstGeom>
            <a:noFill/>
          </p:spPr>
          <p:txBody>
            <a:bodyPr wrap="square" lIns="36000" tIns="18000" rIns="36000" bIns="18000" anchor="t">
              <a:spAutoFit/>
            </a:bodyPr>
            <a:lstStyle/>
            <a:p>
              <a:pPr algn="l"/>
              <a:r>
                <a:rPr sz="700" b="0" i="1">
                  <a:solidFill>
                    <a:srgbClr val="808080"/>
                  </a:solidFill>
                </a:rPr>
                <a:t>GIS · Workforce · OSG</a:t>
              </a:r>
            </a:p>
          </p:txBody>
        </p:sp>
        <p:sp>
          <p:nvSpPr>
            <p:cNvPr id="103" name="Rounded Rectangle 91">
              <a:extLst>
                <a:ext uri="{FF2B5EF4-FFF2-40B4-BE49-F238E27FC236}">
                  <a16:creationId xmlns:a16="http://schemas.microsoft.com/office/drawing/2014/main" id="{6360A010-4171-E2DC-5BC7-F30E102BF1AD}"/>
                </a:ext>
              </a:extLst>
            </p:cNvPr>
            <p:cNvSpPr/>
            <p:nvPr/>
          </p:nvSpPr>
          <p:spPr>
            <a:xfrm>
              <a:off x="8915400" y="4715815"/>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92">
              <a:extLst>
                <a:ext uri="{FF2B5EF4-FFF2-40B4-BE49-F238E27FC236}">
                  <a16:creationId xmlns:a16="http://schemas.microsoft.com/office/drawing/2014/main" id="{1593A959-7A35-7D12-7A43-63EB365D3198}"/>
                </a:ext>
              </a:extLst>
            </p:cNvPr>
            <p:cNvSpPr txBox="1"/>
            <p:nvPr/>
          </p:nvSpPr>
          <p:spPr>
            <a:xfrm>
              <a:off x="9006840" y="4752391"/>
              <a:ext cx="2331720" cy="190240"/>
            </a:xfrm>
            <a:prstGeom prst="rect">
              <a:avLst/>
            </a:prstGeom>
            <a:noFill/>
          </p:spPr>
          <p:txBody>
            <a:bodyPr wrap="square" lIns="36000" tIns="18000" rIns="36000" bIns="18000" anchor="t">
              <a:spAutoFit/>
            </a:bodyPr>
            <a:lstStyle/>
            <a:p>
              <a:pPr algn="l"/>
              <a:r>
                <a:rPr lang="es-MX" sz="1000" b="1" i="0">
                  <a:solidFill>
                    <a:srgbClr val="808080"/>
                  </a:solidFill>
                </a:rPr>
                <a:t>Engineering &amp; Asset Mgmt</a:t>
              </a:r>
            </a:p>
          </p:txBody>
        </p:sp>
        <p:sp>
          <p:nvSpPr>
            <p:cNvPr id="105" name="TextBox 93">
              <a:extLst>
                <a:ext uri="{FF2B5EF4-FFF2-40B4-BE49-F238E27FC236}">
                  <a16:creationId xmlns:a16="http://schemas.microsoft.com/office/drawing/2014/main" id="{5E7EEBF4-CFB1-A857-C45D-93CBA588B7F8}"/>
                </a:ext>
              </a:extLst>
            </p:cNvPr>
            <p:cNvSpPr txBox="1"/>
            <p:nvPr/>
          </p:nvSpPr>
          <p:spPr>
            <a:xfrm>
              <a:off x="9006840" y="4916983"/>
              <a:ext cx="2606040" cy="144073"/>
            </a:xfrm>
            <a:prstGeom prst="rect">
              <a:avLst/>
            </a:prstGeom>
            <a:noFill/>
          </p:spPr>
          <p:txBody>
            <a:bodyPr wrap="square" lIns="36000" tIns="18000" rIns="36000" bIns="18000" anchor="t">
              <a:spAutoFit/>
            </a:bodyPr>
            <a:lstStyle/>
            <a:p>
              <a:pPr algn="l"/>
              <a:r>
                <a:rPr sz="700" b="0" i="1">
                  <a:solidFill>
                    <a:srgbClr val="808080"/>
                  </a:solidFill>
                </a:rPr>
                <a:t>Maintenance · Engineering</a:t>
              </a:r>
            </a:p>
          </p:txBody>
        </p:sp>
        <p:sp>
          <p:nvSpPr>
            <p:cNvPr id="106" name="Rounded Rectangle 94">
              <a:extLst>
                <a:ext uri="{FF2B5EF4-FFF2-40B4-BE49-F238E27FC236}">
                  <a16:creationId xmlns:a16="http://schemas.microsoft.com/office/drawing/2014/main" id="{F854C72D-8ABB-83B2-7DF6-64585A1CE197}"/>
                </a:ext>
              </a:extLst>
            </p:cNvPr>
            <p:cNvSpPr/>
            <p:nvPr/>
          </p:nvSpPr>
          <p:spPr>
            <a:xfrm>
              <a:off x="8915400" y="5148326"/>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95">
              <a:extLst>
                <a:ext uri="{FF2B5EF4-FFF2-40B4-BE49-F238E27FC236}">
                  <a16:creationId xmlns:a16="http://schemas.microsoft.com/office/drawing/2014/main" id="{C9A75285-10E1-A16D-8DF1-5CAADCED2D27}"/>
                </a:ext>
              </a:extLst>
            </p:cNvPr>
            <p:cNvSpPr txBox="1"/>
            <p:nvPr/>
          </p:nvSpPr>
          <p:spPr>
            <a:xfrm>
              <a:off x="9006840" y="5184902"/>
              <a:ext cx="2331720" cy="190240"/>
            </a:xfrm>
            <a:prstGeom prst="rect">
              <a:avLst/>
            </a:prstGeom>
            <a:noFill/>
          </p:spPr>
          <p:txBody>
            <a:bodyPr wrap="square" lIns="36000" tIns="18000" rIns="36000" bIns="18000" anchor="t">
              <a:spAutoFit/>
            </a:bodyPr>
            <a:lstStyle/>
            <a:p>
              <a:pPr algn="l"/>
              <a:r>
                <a:rPr lang="es-MX" sz="1000" b="1" i="0">
                  <a:solidFill>
                    <a:srgbClr val="808080"/>
                  </a:solidFill>
                </a:rPr>
                <a:t>Network Operations &amp; Control</a:t>
              </a:r>
            </a:p>
          </p:txBody>
        </p:sp>
        <p:sp>
          <p:nvSpPr>
            <p:cNvPr id="108" name="TextBox 96">
              <a:extLst>
                <a:ext uri="{FF2B5EF4-FFF2-40B4-BE49-F238E27FC236}">
                  <a16:creationId xmlns:a16="http://schemas.microsoft.com/office/drawing/2014/main" id="{2C1FA734-E8D5-2C7D-8647-322B643C9C62}"/>
                </a:ext>
              </a:extLst>
            </p:cNvPr>
            <p:cNvSpPr txBox="1"/>
            <p:nvPr/>
          </p:nvSpPr>
          <p:spPr>
            <a:xfrm>
              <a:off x="9006840" y="5349494"/>
              <a:ext cx="2606040" cy="144073"/>
            </a:xfrm>
            <a:prstGeom prst="rect">
              <a:avLst/>
            </a:prstGeom>
            <a:noFill/>
          </p:spPr>
          <p:txBody>
            <a:bodyPr wrap="square" lIns="36000" tIns="18000" rIns="36000" bIns="18000" anchor="t">
              <a:spAutoFit/>
            </a:bodyPr>
            <a:lstStyle/>
            <a:p>
              <a:pPr algn="l"/>
              <a:r>
                <a:rPr sz="700" b="0" i="1">
                  <a:solidFill>
                    <a:srgbClr val="808080"/>
                  </a:solidFill>
                </a:rPr>
                <a:t>SCADA · EMS · OMS</a:t>
              </a:r>
            </a:p>
          </p:txBody>
        </p:sp>
        <p:sp>
          <p:nvSpPr>
            <p:cNvPr id="109" name="Rounded Rectangle 97">
              <a:extLst>
                <a:ext uri="{FF2B5EF4-FFF2-40B4-BE49-F238E27FC236}">
                  <a16:creationId xmlns:a16="http://schemas.microsoft.com/office/drawing/2014/main" id="{10F3903F-A8E4-F9F8-9959-219C2E0305F7}"/>
                </a:ext>
              </a:extLst>
            </p:cNvPr>
            <p:cNvSpPr/>
            <p:nvPr/>
          </p:nvSpPr>
          <p:spPr>
            <a:xfrm>
              <a:off x="8915400" y="5580837"/>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98">
              <a:extLst>
                <a:ext uri="{FF2B5EF4-FFF2-40B4-BE49-F238E27FC236}">
                  <a16:creationId xmlns:a16="http://schemas.microsoft.com/office/drawing/2014/main" id="{10716374-FF5A-6677-9745-43FE86225050}"/>
                </a:ext>
              </a:extLst>
            </p:cNvPr>
            <p:cNvSpPr txBox="1"/>
            <p:nvPr/>
          </p:nvSpPr>
          <p:spPr>
            <a:xfrm>
              <a:off x="9006840" y="5617413"/>
              <a:ext cx="2331720" cy="190240"/>
            </a:xfrm>
            <a:prstGeom prst="rect">
              <a:avLst/>
            </a:prstGeom>
            <a:noFill/>
          </p:spPr>
          <p:txBody>
            <a:bodyPr wrap="square" lIns="36000" tIns="18000" rIns="36000" bIns="18000" anchor="t">
              <a:spAutoFit/>
            </a:bodyPr>
            <a:lstStyle/>
            <a:p>
              <a:pPr algn="l"/>
              <a:r>
                <a:rPr lang="es-MX" sz="1000" b="1" i="0">
                  <a:solidFill>
                    <a:srgbClr val="808080"/>
                  </a:solidFill>
                </a:rPr>
                <a:t>Corporate &amp; Regulatory</a:t>
              </a:r>
            </a:p>
          </p:txBody>
        </p:sp>
        <p:sp>
          <p:nvSpPr>
            <p:cNvPr id="111" name="TextBox 99">
              <a:extLst>
                <a:ext uri="{FF2B5EF4-FFF2-40B4-BE49-F238E27FC236}">
                  <a16:creationId xmlns:a16="http://schemas.microsoft.com/office/drawing/2014/main" id="{030E68CB-A994-77B9-A2C5-9A94B208D9AA}"/>
                </a:ext>
              </a:extLst>
            </p:cNvPr>
            <p:cNvSpPr txBox="1"/>
            <p:nvPr/>
          </p:nvSpPr>
          <p:spPr>
            <a:xfrm>
              <a:off x="9006840" y="5782005"/>
              <a:ext cx="2606040" cy="144073"/>
            </a:xfrm>
            <a:prstGeom prst="rect">
              <a:avLst/>
            </a:prstGeom>
            <a:noFill/>
          </p:spPr>
          <p:txBody>
            <a:bodyPr wrap="square" lIns="36000" tIns="18000" rIns="36000" bIns="18000" anchor="t">
              <a:spAutoFit/>
            </a:bodyPr>
            <a:lstStyle/>
            <a:p>
              <a:pPr algn="l"/>
              <a:r>
                <a:rPr sz="700" b="0" i="1">
                  <a:solidFill>
                    <a:srgbClr val="808080"/>
                  </a:solidFill>
                </a:rPr>
                <a:t>FI · HR · Procurement · Reg.</a:t>
              </a:r>
            </a:p>
          </p:txBody>
        </p:sp>
        <p:sp>
          <p:nvSpPr>
            <p:cNvPr id="112" name="Rounded Rectangle 100">
              <a:extLst>
                <a:ext uri="{FF2B5EF4-FFF2-40B4-BE49-F238E27FC236}">
                  <a16:creationId xmlns:a16="http://schemas.microsoft.com/office/drawing/2014/main" id="{DB1F3489-4B1D-A55D-AD42-569F82C176AA}"/>
                </a:ext>
              </a:extLst>
            </p:cNvPr>
            <p:cNvSpPr/>
            <p:nvPr/>
          </p:nvSpPr>
          <p:spPr>
            <a:xfrm>
              <a:off x="8915400" y="6013348"/>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01">
              <a:extLst>
                <a:ext uri="{FF2B5EF4-FFF2-40B4-BE49-F238E27FC236}">
                  <a16:creationId xmlns:a16="http://schemas.microsoft.com/office/drawing/2014/main" id="{F27BEC53-6008-265A-3064-187AC06B8803}"/>
                </a:ext>
              </a:extLst>
            </p:cNvPr>
            <p:cNvSpPr txBox="1"/>
            <p:nvPr/>
          </p:nvSpPr>
          <p:spPr>
            <a:xfrm>
              <a:off x="9006840" y="6049924"/>
              <a:ext cx="2331720" cy="190240"/>
            </a:xfrm>
            <a:prstGeom prst="rect">
              <a:avLst/>
            </a:prstGeom>
            <a:noFill/>
          </p:spPr>
          <p:txBody>
            <a:bodyPr wrap="square" lIns="36000" tIns="18000" rIns="36000" bIns="18000" anchor="t">
              <a:spAutoFit/>
            </a:bodyPr>
            <a:lstStyle/>
            <a:p>
              <a:pPr algn="l"/>
              <a:r>
                <a:rPr lang="es-MX" sz="1000" b="1" i="0">
                  <a:solidFill>
                    <a:srgbClr val="808080"/>
                  </a:solidFill>
                </a:rPr>
                <a:t>Iberdrola Corp Services</a:t>
              </a:r>
            </a:p>
          </p:txBody>
        </p:sp>
        <p:sp>
          <p:nvSpPr>
            <p:cNvPr id="114" name="TextBox 102">
              <a:extLst>
                <a:ext uri="{FF2B5EF4-FFF2-40B4-BE49-F238E27FC236}">
                  <a16:creationId xmlns:a16="http://schemas.microsoft.com/office/drawing/2014/main" id="{F3B33D73-F6E2-D032-0344-FDE55988BDDB}"/>
                </a:ext>
              </a:extLst>
            </p:cNvPr>
            <p:cNvSpPr txBox="1"/>
            <p:nvPr/>
          </p:nvSpPr>
          <p:spPr>
            <a:xfrm>
              <a:off x="9006840" y="6214516"/>
              <a:ext cx="2606040" cy="144073"/>
            </a:xfrm>
            <a:prstGeom prst="rect">
              <a:avLst/>
            </a:prstGeom>
            <a:noFill/>
          </p:spPr>
          <p:txBody>
            <a:bodyPr wrap="square" lIns="36000" tIns="18000" rIns="36000" bIns="18000" anchor="t">
              <a:spAutoFit/>
            </a:bodyPr>
            <a:lstStyle/>
            <a:p>
              <a:pPr algn="l"/>
              <a:r>
                <a:rPr sz="700" b="0" i="1">
                  <a:solidFill>
                    <a:srgbClr val="808080"/>
                  </a:solidFill>
                </a:rPr>
                <a:t>Global SAP · Corp. Apps</a:t>
              </a:r>
            </a:p>
          </p:txBody>
        </p:sp>
        <p:sp>
          <p:nvSpPr>
            <p:cNvPr id="115" name="Rounded Rectangle 103">
              <a:extLst>
                <a:ext uri="{FF2B5EF4-FFF2-40B4-BE49-F238E27FC236}">
                  <a16:creationId xmlns:a16="http://schemas.microsoft.com/office/drawing/2014/main" id="{C166F58F-BDD7-C534-0B10-C08FE5A664C3}"/>
                </a:ext>
              </a:extLst>
            </p:cNvPr>
            <p:cNvSpPr/>
            <p:nvPr/>
          </p:nvSpPr>
          <p:spPr>
            <a:xfrm>
              <a:off x="8915400" y="3833987"/>
              <a:ext cx="2788920" cy="405079"/>
            </a:xfrm>
            <a:prstGeom prst="roundRect">
              <a:avLst>
                <a:gd name="adj" fmla="val 5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C00000"/>
                </a:solidFill>
              </a:endParaRPr>
            </a:p>
          </p:txBody>
        </p:sp>
        <p:sp>
          <p:nvSpPr>
            <p:cNvPr id="116" name="TextBox 104">
              <a:extLst>
                <a:ext uri="{FF2B5EF4-FFF2-40B4-BE49-F238E27FC236}">
                  <a16:creationId xmlns:a16="http://schemas.microsoft.com/office/drawing/2014/main" id="{B433C828-9E2C-4385-B252-058B991B7BCE}"/>
                </a:ext>
              </a:extLst>
            </p:cNvPr>
            <p:cNvSpPr txBox="1"/>
            <p:nvPr/>
          </p:nvSpPr>
          <p:spPr>
            <a:xfrm>
              <a:off x="9006840" y="3849299"/>
              <a:ext cx="2331720" cy="190240"/>
            </a:xfrm>
            <a:prstGeom prst="rect">
              <a:avLst/>
            </a:prstGeom>
            <a:noFill/>
          </p:spPr>
          <p:txBody>
            <a:bodyPr wrap="square" lIns="36000" tIns="18000" rIns="36000" bIns="18000" anchor="t">
              <a:spAutoFit/>
            </a:bodyPr>
            <a:lstStyle/>
            <a:p>
              <a:pPr algn="l"/>
              <a:r>
                <a:rPr sz="1000" b="1" i="0">
                  <a:solidFill>
                    <a:srgbClr val="C00000"/>
                  </a:solidFill>
                </a:rPr>
                <a:t>Enabling Team — Foundation Services</a:t>
              </a:r>
            </a:p>
          </p:txBody>
        </p:sp>
        <p:sp>
          <p:nvSpPr>
            <p:cNvPr id="117" name="TextBox 105">
              <a:extLst>
                <a:ext uri="{FF2B5EF4-FFF2-40B4-BE49-F238E27FC236}">
                  <a16:creationId xmlns:a16="http://schemas.microsoft.com/office/drawing/2014/main" id="{56A8D345-A63F-C358-ECB0-394AA238B074}"/>
                </a:ext>
              </a:extLst>
            </p:cNvPr>
            <p:cNvSpPr txBox="1"/>
            <p:nvPr/>
          </p:nvSpPr>
          <p:spPr>
            <a:xfrm>
              <a:off x="9006840" y="3999715"/>
              <a:ext cx="2606040" cy="164592"/>
            </a:xfrm>
            <a:prstGeom prst="rect">
              <a:avLst/>
            </a:prstGeom>
            <a:noFill/>
          </p:spPr>
          <p:txBody>
            <a:bodyPr wrap="square" lIns="36000" tIns="18000" rIns="36000" bIns="18000" anchor="t">
              <a:spAutoFit/>
            </a:bodyPr>
            <a:lstStyle/>
            <a:p>
              <a:pPr algn="l"/>
              <a:r>
                <a:rPr sz="700" b="0" i="1">
                  <a:solidFill>
                    <a:srgbClr val="42526E"/>
                  </a:solidFill>
                </a:rPr>
                <a:t>SAP Basis · Gold Client · Blue Prism · TOSCA · Enable Now · Jira (no PM)</a:t>
              </a:r>
            </a:p>
          </p:txBody>
        </p:sp>
        <p:sp>
          <p:nvSpPr>
            <p:cNvPr id="85" name="TextBox 7">
              <a:extLst>
                <a:ext uri="{FF2B5EF4-FFF2-40B4-BE49-F238E27FC236}">
                  <a16:creationId xmlns:a16="http://schemas.microsoft.com/office/drawing/2014/main" id="{32B61911-E726-AB44-C130-14F4446A3E0F}"/>
                </a:ext>
              </a:extLst>
            </p:cNvPr>
            <p:cNvSpPr txBox="1"/>
            <p:nvPr/>
          </p:nvSpPr>
          <p:spPr>
            <a:xfrm>
              <a:off x="274320" y="1187680"/>
              <a:ext cx="5684028" cy="292785"/>
            </a:xfrm>
            <a:prstGeom prst="rect">
              <a:avLst/>
            </a:prstGeom>
            <a:solidFill>
              <a:schemeClr val="tx1"/>
            </a:solidFill>
          </p:spPr>
          <p:txBody>
            <a:bodyPr wrap="square" lIns="36000" tIns="18000" rIns="36000" bIns="18000" anchor="t">
              <a:spAutoFit/>
            </a:bodyPr>
            <a:lstStyle/>
            <a:p>
              <a:pPr algn="ctr"/>
              <a:r>
                <a:rPr lang="en-US" sz="1400" b="1">
                  <a:solidFill>
                    <a:schemeClr val="bg1"/>
                  </a:solidFill>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INTAKE OF DEMAND FROM REQUESTORS</a:t>
              </a:r>
              <a:endParaRPr sz="1300" b="1" i="0">
                <a:solidFill>
                  <a:schemeClr val="bg1"/>
                </a:solidFill>
              </a:endParaRPr>
            </a:p>
          </p:txBody>
        </p:sp>
        <p:sp>
          <p:nvSpPr>
            <p:cNvPr id="86" name="TextBox 7">
              <a:extLst>
                <a:ext uri="{FF2B5EF4-FFF2-40B4-BE49-F238E27FC236}">
                  <a16:creationId xmlns:a16="http://schemas.microsoft.com/office/drawing/2014/main" id="{1A25D11A-ADF8-C775-2FF8-70AC908763C7}"/>
                </a:ext>
              </a:extLst>
            </p:cNvPr>
            <p:cNvSpPr txBox="1"/>
            <p:nvPr/>
          </p:nvSpPr>
          <p:spPr>
            <a:xfrm>
              <a:off x="6026191" y="1187680"/>
              <a:ext cx="5684028" cy="266167"/>
            </a:xfrm>
            <a:prstGeom prst="rect">
              <a:avLst/>
            </a:prstGeom>
            <a:solidFill>
              <a:schemeClr val="tx1"/>
            </a:solidFill>
          </p:spPr>
          <p:txBody>
            <a:bodyPr wrap="square" lIns="36000" tIns="18000" rIns="36000" bIns="18000" anchor="t">
              <a:spAutoFit/>
            </a:bodyPr>
            <a:lstStyle/>
            <a:p>
              <a:pPr algn="ctr"/>
              <a:r>
                <a:rPr lang="en-US" sz="1400" b="1" i="0">
                  <a:solidFill>
                    <a:schemeClr val="bg1"/>
                  </a:solidFill>
                  <a:latin typeface="IberPangea Text Medium" panose="020B0604000000000000" pitchFamily="34" charset="0"/>
                  <a:sym typeface="Arial"/>
                </a:rPr>
                <a:t>INITIAL CLASSIFICATION AND TRIAGE</a:t>
              </a:r>
              <a:endParaRPr sz="1300" b="1" i="0">
                <a:solidFill>
                  <a:schemeClr val="bg1"/>
                </a:solidFill>
              </a:endParaRPr>
            </a:p>
          </p:txBody>
        </p:sp>
      </p:grpSp>
      <p:sp>
        <p:nvSpPr>
          <p:cNvPr id="58" name="Text Placeholder 19">
            <a:extLst>
              <a:ext uri="{FF2B5EF4-FFF2-40B4-BE49-F238E27FC236}">
                <a16:creationId xmlns:a16="http://schemas.microsoft.com/office/drawing/2014/main" id="{EFC8B9C4-4607-D270-BA2C-B33F1AE2A80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JIRA AS A SINGLE SOURCE OF TRUTH FOR DEMAND</a:t>
            </a:r>
          </a:p>
        </p:txBody>
      </p:sp>
      <p:sp>
        <p:nvSpPr>
          <p:cNvPr id="71" name="Rectángulo 70">
            <a:extLst>
              <a:ext uri="{FF2B5EF4-FFF2-40B4-BE49-F238E27FC236}">
                <a16:creationId xmlns:a16="http://schemas.microsoft.com/office/drawing/2014/main" id="{9C0578C9-495B-028B-648C-4FB37AB00998}"/>
              </a:ext>
            </a:extLst>
          </p:cNvPr>
          <p:cNvSpPr/>
          <p:nvPr/>
        </p:nvSpPr>
        <p:spPr>
          <a:xfrm>
            <a:off x="3481429"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sp>
        <p:nvSpPr>
          <p:cNvPr id="72" name="Rectángulo 71">
            <a:extLst>
              <a:ext uri="{FF2B5EF4-FFF2-40B4-BE49-F238E27FC236}">
                <a16:creationId xmlns:a16="http://schemas.microsoft.com/office/drawing/2014/main" id="{DFD20C7B-0A10-8E69-93D8-6B8D03FF8C41}"/>
              </a:ext>
            </a:extLst>
          </p:cNvPr>
          <p:cNvSpPr/>
          <p:nvPr/>
        </p:nvSpPr>
        <p:spPr>
          <a:xfrm>
            <a:off x="6320322"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sp>
        <p:nvSpPr>
          <p:cNvPr id="73" name="Rectángulo 72">
            <a:extLst>
              <a:ext uri="{FF2B5EF4-FFF2-40B4-BE49-F238E27FC236}">
                <a16:creationId xmlns:a16="http://schemas.microsoft.com/office/drawing/2014/main" id="{69DF3A15-A04D-F507-225E-16364613A0F6}"/>
              </a:ext>
            </a:extLst>
          </p:cNvPr>
          <p:cNvSpPr/>
          <p:nvPr/>
        </p:nvSpPr>
        <p:spPr>
          <a:xfrm>
            <a:off x="9137950"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grpSp>
        <p:nvGrpSpPr>
          <p:cNvPr id="78" name="Grupo 77">
            <a:extLst>
              <a:ext uri="{FF2B5EF4-FFF2-40B4-BE49-F238E27FC236}">
                <a16:creationId xmlns:a16="http://schemas.microsoft.com/office/drawing/2014/main" id="{CA1D9D5C-4981-D525-EA4B-AA1D1C7EBE2A}"/>
              </a:ext>
            </a:extLst>
          </p:cNvPr>
          <p:cNvGrpSpPr/>
          <p:nvPr/>
        </p:nvGrpSpPr>
        <p:grpSpPr>
          <a:xfrm>
            <a:off x="6172200" y="6481796"/>
            <a:ext cx="2514600" cy="265513"/>
            <a:chOff x="12282638" y="3833454"/>
            <a:chExt cx="2338137" cy="405079"/>
          </a:xfrm>
        </p:grpSpPr>
        <p:sp>
          <p:nvSpPr>
            <p:cNvPr id="77" name="Rounded Rectangle 100">
              <a:extLst>
                <a:ext uri="{FF2B5EF4-FFF2-40B4-BE49-F238E27FC236}">
                  <a16:creationId xmlns:a16="http://schemas.microsoft.com/office/drawing/2014/main" id="{57E3641B-42E4-BCAE-8933-3D2BFE87DCAC}"/>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76" name="CuadroTexto 75">
              <a:extLst>
                <a:ext uri="{FF2B5EF4-FFF2-40B4-BE49-F238E27FC236}">
                  <a16:creationId xmlns:a16="http://schemas.microsoft.com/office/drawing/2014/main" id="{3F89E79F-C650-9680-4400-02DC2173EF2E}"/>
                </a:ext>
              </a:extLst>
            </p:cNvPr>
            <p:cNvSpPr txBox="1"/>
            <p:nvPr/>
          </p:nvSpPr>
          <p:spPr>
            <a:xfrm>
              <a:off x="12394131" y="3906938"/>
              <a:ext cx="2196000" cy="328691"/>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750" b="1" i="1">
                  <a:solidFill>
                    <a:srgbClr val="3A3634"/>
                  </a:solidFill>
                  <a:latin typeface="Arial" panose="020B0604020202020204" pitchFamily="34" charset="0"/>
                  <a:cs typeface="Arial" panose="020B0604020202020204" pitchFamily="34" charset="0"/>
                </a:rPr>
                <a:t>Roles: Domain Product Manager + Architect</a:t>
              </a:r>
            </a:p>
          </p:txBody>
        </p:sp>
      </p:grpSp>
      <p:grpSp>
        <p:nvGrpSpPr>
          <p:cNvPr id="79" name="Grupo 78">
            <a:extLst>
              <a:ext uri="{FF2B5EF4-FFF2-40B4-BE49-F238E27FC236}">
                <a16:creationId xmlns:a16="http://schemas.microsoft.com/office/drawing/2014/main" id="{09118C9A-211D-B9C9-E2A8-46F78D2B420E}"/>
              </a:ext>
            </a:extLst>
          </p:cNvPr>
          <p:cNvGrpSpPr/>
          <p:nvPr/>
        </p:nvGrpSpPr>
        <p:grpSpPr>
          <a:xfrm>
            <a:off x="8913800" y="6480192"/>
            <a:ext cx="2788920" cy="265513"/>
            <a:chOff x="12282638" y="3833454"/>
            <a:chExt cx="2338137" cy="405079"/>
          </a:xfrm>
        </p:grpSpPr>
        <p:sp>
          <p:nvSpPr>
            <p:cNvPr id="80" name="Rounded Rectangle 100">
              <a:extLst>
                <a:ext uri="{FF2B5EF4-FFF2-40B4-BE49-F238E27FC236}">
                  <a16:creationId xmlns:a16="http://schemas.microsoft.com/office/drawing/2014/main" id="{E8473F63-F0B2-18D4-F992-226AD289FE63}"/>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81" name="CuadroTexto 80">
              <a:extLst>
                <a:ext uri="{FF2B5EF4-FFF2-40B4-BE49-F238E27FC236}">
                  <a16:creationId xmlns:a16="http://schemas.microsoft.com/office/drawing/2014/main" id="{5A06B61D-79F6-93FC-A7D4-1F6EEAD3D6F5}"/>
                </a:ext>
              </a:extLst>
            </p:cNvPr>
            <p:cNvSpPr txBox="1"/>
            <p:nvPr/>
          </p:nvSpPr>
          <p:spPr>
            <a:xfrm>
              <a:off x="12394131" y="3906938"/>
              <a:ext cx="2196000" cy="328691"/>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750" b="1" i="1">
                  <a:solidFill>
                    <a:srgbClr val="3A3634"/>
                  </a:solidFill>
                  <a:latin typeface="Arial" panose="020B0604020202020204" pitchFamily="34" charset="0"/>
                  <a:cs typeface="Arial" panose="020B0604020202020204" pitchFamily="34" charset="0"/>
                </a:rPr>
                <a:t>Roles: Domain Product Manager + Architect</a:t>
              </a:r>
            </a:p>
          </p:txBody>
        </p:sp>
      </p:grpSp>
      <p:grpSp>
        <p:nvGrpSpPr>
          <p:cNvPr id="82" name="Grupo 81">
            <a:extLst>
              <a:ext uri="{FF2B5EF4-FFF2-40B4-BE49-F238E27FC236}">
                <a16:creationId xmlns:a16="http://schemas.microsoft.com/office/drawing/2014/main" id="{253D9AAB-FB6D-9590-C9AF-6C3E4106A7F9}"/>
              </a:ext>
            </a:extLst>
          </p:cNvPr>
          <p:cNvGrpSpPr/>
          <p:nvPr/>
        </p:nvGrpSpPr>
        <p:grpSpPr>
          <a:xfrm>
            <a:off x="3154680" y="6478586"/>
            <a:ext cx="2800136" cy="265513"/>
            <a:chOff x="12273235" y="3833454"/>
            <a:chExt cx="2347540" cy="405079"/>
          </a:xfrm>
        </p:grpSpPr>
        <p:sp>
          <p:nvSpPr>
            <p:cNvPr id="83" name="Rounded Rectangle 100">
              <a:extLst>
                <a:ext uri="{FF2B5EF4-FFF2-40B4-BE49-F238E27FC236}">
                  <a16:creationId xmlns:a16="http://schemas.microsoft.com/office/drawing/2014/main" id="{7D71D805-F323-9EC2-33E7-7B784CD1E6D6}"/>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84" name="CuadroTexto 83">
              <a:extLst>
                <a:ext uri="{FF2B5EF4-FFF2-40B4-BE49-F238E27FC236}">
                  <a16:creationId xmlns:a16="http://schemas.microsoft.com/office/drawing/2014/main" id="{D6A46235-352D-876D-8C5B-6DD9F17F6BB6}"/>
                </a:ext>
              </a:extLst>
            </p:cNvPr>
            <p:cNvSpPr txBox="1"/>
            <p:nvPr/>
          </p:nvSpPr>
          <p:spPr>
            <a:xfrm>
              <a:off x="12273235" y="3906938"/>
              <a:ext cx="2316896" cy="316952"/>
            </a:xfrm>
            <a:prstGeom prst="rect">
              <a:avLst/>
            </a:prstGeom>
            <a:noFill/>
          </p:spPr>
          <p:txBody>
            <a:bodyPr wrap="square">
              <a:spAutoFit/>
            </a:bodyPr>
            <a:lstStyle/>
            <a:p>
              <a:pPr>
                <a:defRPr/>
              </a:pPr>
              <a:r>
                <a:rPr lang="en-US" sz="750" b="1" i="1">
                  <a:solidFill>
                    <a:srgbClr val="3A3634"/>
                  </a:solidFill>
                  <a:latin typeface="Arial" panose="020B0604020202020204" pitchFamily="34" charset="0"/>
                  <a:cs typeface="Arial" panose="020B0604020202020204" pitchFamily="34" charset="0"/>
                </a:rPr>
                <a:t>Roles: Business Requester + Domain Product Manager</a:t>
              </a:r>
            </a:p>
          </p:txBody>
        </p:sp>
      </p:grpSp>
    </p:spTree>
    <p:extLst>
      <p:ext uri="{BB962C8B-B14F-4D97-AF65-F5344CB8AC3E}">
        <p14:creationId xmlns:p14="http://schemas.microsoft.com/office/powerpoint/2010/main" val="2340640121"/>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D9D1D-35A2-1DA6-8B35-4A2E88BD906B}"/>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C0686D1B-AB60-245A-0938-BB98C1C34ADF}"/>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OBJECTIVE</a:t>
            </a:r>
          </a:p>
        </p:txBody>
      </p:sp>
      <p:sp>
        <p:nvSpPr>
          <p:cNvPr id="14" name="TextBox 13">
            <a:extLst>
              <a:ext uri="{FF2B5EF4-FFF2-40B4-BE49-F238E27FC236}">
                <a16:creationId xmlns:a16="http://schemas.microsoft.com/office/drawing/2014/main" id="{7FC7BA63-B22A-3C84-5E89-8AEBBD84A584}"/>
              </a:ext>
            </a:extLst>
          </p:cNvPr>
          <p:cNvSpPr txBox="1"/>
          <p:nvPr/>
        </p:nvSpPr>
        <p:spPr>
          <a:xfrm>
            <a:off x="1805653" y="924510"/>
            <a:ext cx="5245387"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None/>
            </a:pPr>
            <a:r>
              <a:rPr lang="en-US"/>
              <a:t>Formalize a piece of work so it can be visualized, prioritized, tracked, and continuously improved within a controlled flow system.</a:t>
            </a:r>
          </a:p>
        </p:txBody>
      </p:sp>
      <p:sp>
        <p:nvSpPr>
          <p:cNvPr id="19" name="Rectángulo 18">
            <a:extLst>
              <a:ext uri="{FF2B5EF4-FFF2-40B4-BE49-F238E27FC236}">
                <a16:creationId xmlns:a16="http://schemas.microsoft.com/office/drawing/2014/main" id="{A48D8062-780E-0D13-ED3B-B09090605CF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PARTICIPANTS</a:t>
            </a:r>
          </a:p>
        </p:txBody>
      </p:sp>
      <p:sp>
        <p:nvSpPr>
          <p:cNvPr id="32" name="TextBox 13">
            <a:extLst>
              <a:ext uri="{FF2B5EF4-FFF2-40B4-BE49-F238E27FC236}">
                <a16:creationId xmlns:a16="http://schemas.microsoft.com/office/drawing/2014/main" id="{5E1C7717-026C-C03C-B54D-4F7F7006241F}"/>
              </a:ext>
            </a:extLst>
          </p:cNvPr>
          <p:cNvSpPr txBox="1"/>
          <p:nvPr/>
        </p:nvSpPr>
        <p:spPr>
          <a:xfrm>
            <a:off x="8786685" y="924510"/>
            <a:ext cx="3162973"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Business Requester</a:t>
            </a:r>
          </a:p>
          <a:p>
            <a:r>
              <a:rPr lang="en-US"/>
              <a:t>Domain Product </a:t>
            </a:r>
            <a:r>
              <a:rPr lang="en-US">
                <a:cs typeface="Arial" panose="020B0604020202020204" pitchFamily="34" charset="0"/>
              </a:rPr>
              <a:t>Manager</a:t>
            </a:r>
            <a:endParaRPr lang="en-US"/>
          </a:p>
        </p:txBody>
      </p:sp>
      <p:sp>
        <p:nvSpPr>
          <p:cNvPr id="33" name="Rounded Rectangle 5">
            <a:extLst>
              <a:ext uri="{FF2B5EF4-FFF2-40B4-BE49-F238E27FC236}">
                <a16:creationId xmlns:a16="http://schemas.microsoft.com/office/drawing/2014/main" id="{DB07AC75-DE19-5721-0EE2-238C694F258A}"/>
              </a:ext>
            </a:extLst>
          </p:cNvPr>
          <p:cNvSpPr/>
          <p:nvPr/>
        </p:nvSpPr>
        <p:spPr>
          <a:xfrm>
            <a:off x="213360" y="2118968"/>
            <a:ext cx="6837680"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Requester</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creates a ticket using Intake template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JIRA</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For new demand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Requester</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fill mandatory fields: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Title (clear, outcome-based)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Description (problem, not solution)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Demand Type: Regulatory / Non-regulatory</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Business value (</a:t>
            </a:r>
            <a:r>
              <a:rPr lang="en-US" sz="1100" u="sng">
                <a:solidFill>
                  <a:srgbClr val="3A3734"/>
                </a:solidFill>
                <a:latin typeface="Arial" panose="020B0604020202020204" pitchFamily="34" charset="0"/>
                <a:cs typeface="Arial" panose="020B0604020202020204" pitchFamily="34" charset="0"/>
              </a:rPr>
              <a:t>why it matters, narrative: $ impact, % delta, Time saved, Volume, Compliance,  Safety.)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Acceptance criteria (what success looks like / Definition of Ready: </a:t>
            </a:r>
            <a:r>
              <a:rPr lang="en-US" sz="1100" b="1">
                <a:solidFill>
                  <a:srgbClr val="3A3734"/>
                </a:solidFill>
                <a:latin typeface="Arial" panose="020B0604020202020204" pitchFamily="34" charset="0"/>
                <a:cs typeface="Arial" panose="020B0604020202020204" pitchFamily="34" charset="0"/>
              </a:rPr>
              <a:t>Action, Threshold, Window &amp; Verification</a:t>
            </a:r>
            <a:r>
              <a:rPr lang="en-US" sz="1100">
                <a:solidFill>
                  <a:srgbClr val="3A3734"/>
                </a:solidFill>
                <a:latin typeface="Arial" panose="020B0604020202020204" pitchFamily="34" charset="0"/>
                <a:cs typeface="Arial" panose="020B0604020202020204" pitchFamily="34" charset="0"/>
              </a:rPr>
              <a:t>)</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Budget: (Yes/No)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Requested due date (if applicable)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Value Stream Definition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a:p>
            <a:pPr lvl="0">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3</a:t>
            </a: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a:t>
            </a:r>
            <a:r>
              <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The </a:t>
            </a:r>
            <a:r>
              <a:rPr lang="en-US" sz="1100" b="1">
                <a:solidFill>
                  <a:srgbClr val="2C3E50"/>
                </a:solidFill>
                <a:latin typeface="Arial" panose="020B0604020202020204" pitchFamily="34" charset="0"/>
                <a:cs typeface="Arial" panose="020B0604020202020204" pitchFamily="34" charset="0"/>
              </a:rPr>
              <a:t>Domain Product Manager</a:t>
            </a: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r>
              <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take ownership of the ticket with this: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Ticket Criteria</a:t>
            </a: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Fully filled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No missing mandatory fields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Clear business context provided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0467B8EC-C86A-C107-E4D4-14A3E1752E0F}"/>
              </a:ext>
            </a:extLst>
          </p:cNvPr>
          <p:cNvSpPr/>
          <p:nvPr/>
        </p:nvSpPr>
        <p:spPr>
          <a:xfrm>
            <a:off x="213359" y="1756648"/>
            <a:ext cx="6837681"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PROCESS</a:t>
            </a:r>
          </a:p>
        </p:txBody>
      </p:sp>
      <p:sp>
        <p:nvSpPr>
          <p:cNvPr id="36" name="Rounded Rectangle 5">
            <a:extLst>
              <a:ext uri="{FF2B5EF4-FFF2-40B4-BE49-F238E27FC236}">
                <a16:creationId xmlns:a16="http://schemas.microsoft.com/office/drawing/2014/main" id="{F5450AF1-CAD9-97AE-AFD2-3595F4C70DB0}"/>
              </a:ext>
            </a:extLst>
          </p:cNvPr>
          <p:cNvSpPr/>
          <p:nvPr/>
        </p:nvSpPr>
        <p:spPr>
          <a:xfrm>
            <a:off x="7195771" y="2118968"/>
            <a:ext cx="4753887"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IT Now or JIRA Ticket</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lang="en-US" sz="1100" noProof="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Acceptance Criteria</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E07DC21F-7CDD-F58C-40DE-DAE30611AB17}"/>
              </a:ext>
            </a:extLst>
          </p:cNvPr>
          <p:cNvSpPr/>
          <p:nvPr/>
        </p:nvSpPr>
        <p:spPr>
          <a:xfrm>
            <a:off x="7195771" y="1756648"/>
            <a:ext cx="4753887"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ARTIFACTS</a:t>
            </a:r>
          </a:p>
        </p:txBody>
      </p:sp>
      <p:sp>
        <p:nvSpPr>
          <p:cNvPr id="12" name="Rounded Rectangle 5">
            <a:extLst>
              <a:ext uri="{FF2B5EF4-FFF2-40B4-BE49-F238E27FC236}">
                <a16:creationId xmlns:a16="http://schemas.microsoft.com/office/drawing/2014/main" id="{3974FA40-9229-4315-3BF2-F370DA14A3A9}"/>
              </a:ext>
            </a:extLst>
          </p:cNvPr>
          <p:cNvSpPr/>
          <p:nvPr/>
        </p:nvSpPr>
        <p:spPr>
          <a:xfrm>
            <a:off x="5403822" y="549857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Tools</a:t>
            </a:r>
            <a:endParaRPr kumimoji="0" lang="en-US" sz="1100" b="0"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pic>
        <p:nvPicPr>
          <p:cNvPr id="13" name="Picture 2">
            <a:extLst>
              <a:ext uri="{FF2B5EF4-FFF2-40B4-BE49-F238E27FC236}">
                <a16:creationId xmlns:a16="http://schemas.microsoft.com/office/drawing/2014/main" id="{6150ABB3-3205-FE6B-9E6C-E6A7A7A867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7281" y="5879460"/>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19">
            <a:extLst>
              <a:ext uri="{FF2B5EF4-FFF2-40B4-BE49-F238E27FC236}">
                <a16:creationId xmlns:a16="http://schemas.microsoft.com/office/drawing/2014/main" id="{E01C0A8E-B4BA-F698-99EC-668095BE0B2C}"/>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INTAKE OF DEMAND FROM REQUESTORS</a:t>
            </a:r>
          </a:p>
        </p:txBody>
      </p:sp>
      <p:grpSp>
        <p:nvGrpSpPr>
          <p:cNvPr id="10" name="Grupo 9">
            <a:extLst>
              <a:ext uri="{FF2B5EF4-FFF2-40B4-BE49-F238E27FC236}">
                <a16:creationId xmlns:a16="http://schemas.microsoft.com/office/drawing/2014/main" id="{558D2EDA-293B-5970-675A-1F40126F102A}"/>
              </a:ext>
            </a:extLst>
          </p:cNvPr>
          <p:cNvGrpSpPr/>
          <p:nvPr/>
        </p:nvGrpSpPr>
        <p:grpSpPr>
          <a:xfrm>
            <a:off x="9512592" y="2204671"/>
            <a:ext cx="1829752" cy="946263"/>
            <a:chOff x="5027602" y="2828025"/>
            <a:chExt cx="2919116" cy="1750588"/>
          </a:xfrm>
          <a:effectLst>
            <a:outerShdw blurRad="50800" dist="38100" dir="10800000" algn="r" rotWithShape="0">
              <a:prstClr val="black">
                <a:alpha val="40000"/>
              </a:prstClr>
            </a:outerShdw>
          </a:effectLst>
        </p:grpSpPr>
        <p:pic>
          <p:nvPicPr>
            <p:cNvPr id="5" name="Imagen 4">
              <a:extLst>
                <a:ext uri="{FF2B5EF4-FFF2-40B4-BE49-F238E27FC236}">
                  <a16:creationId xmlns:a16="http://schemas.microsoft.com/office/drawing/2014/main" id="{0FAFB2A0-2E85-E467-43CF-08F9B8C1DE1B}"/>
                </a:ext>
              </a:extLst>
            </p:cNvPr>
            <p:cNvPicPr>
              <a:picLocks noChangeAspect="1"/>
            </p:cNvPicPr>
            <p:nvPr/>
          </p:nvPicPr>
          <p:blipFill>
            <a:blip r:embed="rId5"/>
            <a:stretch>
              <a:fillRect/>
            </a:stretch>
          </p:blipFill>
          <p:spPr>
            <a:xfrm>
              <a:off x="5027602" y="2828025"/>
              <a:ext cx="2136796" cy="1201948"/>
            </a:xfrm>
            <a:prstGeom prst="rect">
              <a:avLst/>
            </a:prstGeom>
          </p:spPr>
        </p:pic>
        <p:pic>
          <p:nvPicPr>
            <p:cNvPr id="8" name="Imagen 7">
              <a:extLst>
                <a:ext uri="{FF2B5EF4-FFF2-40B4-BE49-F238E27FC236}">
                  <a16:creationId xmlns:a16="http://schemas.microsoft.com/office/drawing/2014/main" id="{45489FDE-7911-2191-9683-72DDCA6900AA}"/>
                </a:ext>
              </a:extLst>
            </p:cNvPr>
            <p:cNvPicPr>
              <a:picLocks noChangeAspect="1"/>
            </p:cNvPicPr>
            <p:nvPr/>
          </p:nvPicPr>
          <p:blipFill>
            <a:blip r:embed="rId6"/>
            <a:stretch>
              <a:fillRect/>
            </a:stretch>
          </p:blipFill>
          <p:spPr>
            <a:xfrm>
              <a:off x="5418762" y="3102345"/>
              <a:ext cx="2136796" cy="1201948"/>
            </a:xfrm>
            <a:prstGeom prst="rect">
              <a:avLst/>
            </a:prstGeom>
          </p:spPr>
        </p:pic>
        <p:pic>
          <p:nvPicPr>
            <p:cNvPr id="9" name="Imagen 8">
              <a:extLst>
                <a:ext uri="{FF2B5EF4-FFF2-40B4-BE49-F238E27FC236}">
                  <a16:creationId xmlns:a16="http://schemas.microsoft.com/office/drawing/2014/main" id="{F0CCDCDD-F6F6-2F62-E948-2189A8BBBF1D}"/>
                </a:ext>
              </a:extLst>
            </p:cNvPr>
            <p:cNvPicPr>
              <a:picLocks noChangeAspect="1"/>
            </p:cNvPicPr>
            <p:nvPr/>
          </p:nvPicPr>
          <p:blipFill>
            <a:blip r:embed="rId6"/>
            <a:stretch>
              <a:fillRect/>
            </a:stretch>
          </p:blipFill>
          <p:spPr>
            <a:xfrm>
              <a:off x="5809922" y="3376665"/>
              <a:ext cx="2136796" cy="1201948"/>
            </a:xfrm>
            <a:prstGeom prst="rect">
              <a:avLst/>
            </a:prstGeom>
          </p:spPr>
        </p:pic>
      </p:grpSp>
      <p:pic>
        <p:nvPicPr>
          <p:cNvPr id="25" name="Imagen 24">
            <a:extLst>
              <a:ext uri="{FF2B5EF4-FFF2-40B4-BE49-F238E27FC236}">
                <a16:creationId xmlns:a16="http://schemas.microsoft.com/office/drawing/2014/main" id="{9802E318-C890-1C7E-F55B-DADB6D6CA0BE}"/>
              </a:ext>
            </a:extLst>
          </p:cNvPr>
          <p:cNvPicPr>
            <a:picLocks noChangeAspect="1"/>
          </p:cNvPicPr>
          <p:nvPr/>
        </p:nvPicPr>
        <p:blipFill>
          <a:blip r:embed="rId7"/>
          <a:stretch>
            <a:fillRect/>
          </a:stretch>
        </p:blipFill>
        <p:spPr>
          <a:xfrm>
            <a:off x="9512592" y="3526187"/>
            <a:ext cx="1870119" cy="1048513"/>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2087063412"/>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BF01F-63AD-D765-5EDB-08043A69AA88}"/>
            </a:ext>
          </a:extLst>
        </p:cNvPr>
        <p:cNvGrpSpPr/>
        <p:nvPr/>
      </p:nvGrpSpPr>
      <p:grpSpPr>
        <a:xfrm>
          <a:off x="0" y="0"/>
          <a:ext cx="0" cy="0"/>
          <a:chOff x="0" y="0"/>
          <a:chExt cx="0" cy="0"/>
        </a:xfrm>
      </p:grpSpPr>
      <p:sp>
        <p:nvSpPr>
          <p:cNvPr id="58" name="Rounded Rectangle 4">
            <a:extLst>
              <a:ext uri="{FF2B5EF4-FFF2-40B4-BE49-F238E27FC236}">
                <a16:creationId xmlns:a16="http://schemas.microsoft.com/office/drawing/2014/main" id="{8DD06B4C-34C3-699C-73A4-BE06E365971D}"/>
              </a:ext>
            </a:extLst>
          </p:cNvPr>
          <p:cNvSpPr/>
          <p:nvPr/>
        </p:nvSpPr>
        <p:spPr>
          <a:xfrm>
            <a:off x="343535" y="851541"/>
            <a:ext cx="11430000" cy="5852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86">
            <a:extLst>
              <a:ext uri="{FF2B5EF4-FFF2-40B4-BE49-F238E27FC236}">
                <a16:creationId xmlns:a16="http://schemas.microsoft.com/office/drawing/2014/main" id="{E5447CDE-F1E7-AEE4-084C-C3F4365DF1CE}"/>
              </a:ext>
            </a:extLst>
          </p:cNvPr>
          <p:cNvSpPr/>
          <p:nvPr/>
        </p:nvSpPr>
        <p:spPr>
          <a:xfrm>
            <a:off x="7291297" y="5121682"/>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CuadroTexto 204">
            <a:extLst>
              <a:ext uri="{FF2B5EF4-FFF2-40B4-BE49-F238E27FC236}">
                <a16:creationId xmlns:a16="http://schemas.microsoft.com/office/drawing/2014/main" id="{5FA70451-070F-EDCD-A2C7-BF10CCBFA6FA}"/>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sp>
        <p:nvSpPr>
          <p:cNvPr id="71" name="Rectangle 5">
            <a:extLst>
              <a:ext uri="{FF2B5EF4-FFF2-40B4-BE49-F238E27FC236}">
                <a16:creationId xmlns:a16="http://schemas.microsoft.com/office/drawing/2014/main" id="{A643CFB4-B11C-8528-0639-84EC176EE5D6}"/>
              </a:ext>
            </a:extLst>
          </p:cNvPr>
          <p:cNvSpPr/>
          <p:nvPr/>
        </p:nvSpPr>
        <p:spPr>
          <a:xfrm>
            <a:off x="365760" y="868680"/>
            <a:ext cx="11430000" cy="292608"/>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7A32"/>
              </a:solidFill>
            </a:endParaRPr>
          </a:p>
        </p:txBody>
      </p:sp>
      <p:sp>
        <p:nvSpPr>
          <p:cNvPr id="72" name="TextBox 6">
            <a:extLst>
              <a:ext uri="{FF2B5EF4-FFF2-40B4-BE49-F238E27FC236}">
                <a16:creationId xmlns:a16="http://schemas.microsoft.com/office/drawing/2014/main" id="{2C1DE720-E8C7-46F8-52F8-2F210736C72F}"/>
              </a:ext>
            </a:extLst>
          </p:cNvPr>
          <p:cNvSpPr txBox="1"/>
          <p:nvPr/>
        </p:nvSpPr>
        <p:spPr>
          <a:xfrm>
            <a:off x="502920" y="905256"/>
            <a:ext cx="7315200" cy="219456"/>
          </a:xfrm>
          <a:prstGeom prst="rect">
            <a:avLst/>
          </a:prstGeom>
          <a:noFill/>
        </p:spPr>
        <p:txBody>
          <a:bodyPr wrap="square" lIns="36000" tIns="18000" rIns="36000" bIns="18000" anchor="t">
            <a:spAutoFit/>
          </a:bodyPr>
          <a:lstStyle/>
          <a:p>
            <a:pPr algn="l"/>
            <a:r>
              <a:rPr sz="1000" b="1" i="0">
                <a:solidFill>
                  <a:srgbClr val="FFFFFF"/>
                </a:solidFill>
              </a:rPr>
              <a:t>▦  Jira Software  /  Avangrid · Digital Products  /  Create Issue</a:t>
            </a:r>
          </a:p>
        </p:txBody>
      </p:sp>
      <p:sp>
        <p:nvSpPr>
          <p:cNvPr id="73" name="Rectangle 7">
            <a:extLst>
              <a:ext uri="{FF2B5EF4-FFF2-40B4-BE49-F238E27FC236}">
                <a16:creationId xmlns:a16="http://schemas.microsoft.com/office/drawing/2014/main" id="{C3C829C4-3D78-E21F-53CC-5313FB07FA6C}"/>
              </a:ext>
            </a:extLst>
          </p:cNvPr>
          <p:cNvSpPr/>
          <p:nvPr/>
        </p:nvSpPr>
        <p:spPr>
          <a:xfrm>
            <a:off x="365760" y="1161288"/>
            <a:ext cx="11430000" cy="29260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11">
            <a:extLst>
              <a:ext uri="{FF2B5EF4-FFF2-40B4-BE49-F238E27FC236}">
                <a16:creationId xmlns:a16="http://schemas.microsoft.com/office/drawing/2014/main" id="{1CA90671-34E8-8D8B-2E46-A76AD45A8A8B}"/>
              </a:ext>
            </a:extLst>
          </p:cNvPr>
          <p:cNvSpPr txBox="1"/>
          <p:nvPr/>
        </p:nvSpPr>
        <p:spPr>
          <a:xfrm>
            <a:off x="548640" y="1581912"/>
            <a:ext cx="6583680" cy="205629"/>
          </a:xfrm>
          <a:prstGeom prst="rect">
            <a:avLst/>
          </a:prstGeom>
          <a:noFill/>
        </p:spPr>
        <p:txBody>
          <a:bodyPr wrap="square" lIns="36000" tIns="18000" rIns="36000" bIns="18000" anchor="t">
            <a:spAutoFit/>
          </a:bodyPr>
          <a:lstStyle/>
          <a:p>
            <a:pPr algn="l"/>
            <a:r>
              <a:rPr lang="en-US" sz="1100" b="1" i="0">
                <a:solidFill>
                  <a:srgbClr val="007A32"/>
                </a:solidFill>
              </a:rPr>
              <a:t> WHAT</a:t>
            </a:r>
          </a:p>
        </p:txBody>
      </p:sp>
      <p:sp>
        <p:nvSpPr>
          <p:cNvPr id="78" name="Rectangle 12">
            <a:extLst>
              <a:ext uri="{FF2B5EF4-FFF2-40B4-BE49-F238E27FC236}">
                <a16:creationId xmlns:a16="http://schemas.microsoft.com/office/drawing/2014/main" id="{41F045A5-3CA1-D7F5-570C-E8E8DF3E7606}"/>
              </a:ext>
            </a:extLst>
          </p:cNvPr>
          <p:cNvSpPr/>
          <p:nvPr/>
        </p:nvSpPr>
        <p:spPr>
          <a:xfrm>
            <a:off x="548640" y="1783080"/>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13">
            <a:extLst>
              <a:ext uri="{FF2B5EF4-FFF2-40B4-BE49-F238E27FC236}">
                <a16:creationId xmlns:a16="http://schemas.microsoft.com/office/drawing/2014/main" id="{D1CCD134-95C3-67A5-721A-F42A10C2B4A9}"/>
              </a:ext>
            </a:extLst>
          </p:cNvPr>
          <p:cNvSpPr txBox="1"/>
          <p:nvPr/>
        </p:nvSpPr>
        <p:spPr>
          <a:xfrm>
            <a:off x="548640" y="1874520"/>
            <a:ext cx="6583680" cy="174851"/>
          </a:xfrm>
          <a:prstGeom prst="rect">
            <a:avLst/>
          </a:prstGeom>
          <a:noFill/>
        </p:spPr>
        <p:txBody>
          <a:bodyPr wrap="square" lIns="36000" tIns="18000" rIns="36000" bIns="18000" anchor="t">
            <a:spAutoFit/>
          </a:bodyPr>
          <a:lstStyle/>
          <a:p>
            <a:r>
              <a:rPr sz="900" b="1" i="0">
                <a:solidFill>
                  <a:srgbClr val="172B4D"/>
                </a:solidFill>
              </a:rPr>
              <a:t>Title  ·  outcome-based, not task-based</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p>
        </p:txBody>
      </p:sp>
      <p:sp>
        <p:nvSpPr>
          <p:cNvPr id="80" name="Rounded Rectangle 14">
            <a:extLst>
              <a:ext uri="{FF2B5EF4-FFF2-40B4-BE49-F238E27FC236}">
                <a16:creationId xmlns:a16="http://schemas.microsoft.com/office/drawing/2014/main" id="{BAAE427C-8AB9-A3C2-D8B1-669BF04305F6}"/>
              </a:ext>
            </a:extLst>
          </p:cNvPr>
          <p:cNvSpPr/>
          <p:nvPr/>
        </p:nvSpPr>
        <p:spPr>
          <a:xfrm>
            <a:off x="548640" y="2039112"/>
            <a:ext cx="6583680" cy="237744"/>
          </a:xfrm>
          <a:prstGeom prst="roundRect">
            <a:avLst>
              <a:gd name="adj" fmla="val 5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15">
            <a:extLst>
              <a:ext uri="{FF2B5EF4-FFF2-40B4-BE49-F238E27FC236}">
                <a16:creationId xmlns:a16="http://schemas.microsoft.com/office/drawing/2014/main" id="{131CFA2F-D191-E7F3-04B0-B37CC71BC292}"/>
              </a:ext>
            </a:extLst>
          </p:cNvPr>
          <p:cNvSpPr txBox="1"/>
          <p:nvPr/>
        </p:nvSpPr>
        <p:spPr>
          <a:xfrm>
            <a:off x="621792" y="2057400"/>
            <a:ext cx="6437376" cy="201168"/>
          </a:xfrm>
          <a:prstGeom prst="rect">
            <a:avLst/>
          </a:prstGeom>
          <a:noFill/>
        </p:spPr>
        <p:txBody>
          <a:bodyPr wrap="square" lIns="36000" tIns="18000" rIns="36000" bIns="18000" anchor="t">
            <a:spAutoFit/>
          </a:bodyPr>
          <a:lstStyle/>
          <a:p>
            <a:pPr algn="l"/>
            <a:r>
              <a:rPr sz="900" b="0" i="1">
                <a:solidFill>
                  <a:srgbClr val="A5ADBA"/>
                </a:solidFill>
              </a:rPr>
              <a:t>e.g. "Reduce billing-correction cycle from 14 to 5 days"</a:t>
            </a:r>
          </a:p>
        </p:txBody>
      </p:sp>
      <p:sp>
        <p:nvSpPr>
          <p:cNvPr id="82" name="TextBox 16">
            <a:extLst>
              <a:ext uri="{FF2B5EF4-FFF2-40B4-BE49-F238E27FC236}">
                <a16:creationId xmlns:a16="http://schemas.microsoft.com/office/drawing/2014/main" id="{288B0E71-E79D-1238-DC3F-60AC04B01BAB}"/>
              </a:ext>
            </a:extLst>
          </p:cNvPr>
          <p:cNvSpPr txBox="1"/>
          <p:nvPr/>
        </p:nvSpPr>
        <p:spPr>
          <a:xfrm>
            <a:off x="548640" y="2350008"/>
            <a:ext cx="6583680" cy="174851"/>
          </a:xfrm>
          <a:prstGeom prst="rect">
            <a:avLst/>
          </a:prstGeom>
          <a:noFill/>
        </p:spPr>
        <p:txBody>
          <a:bodyPr wrap="square" lIns="36000" tIns="18000" rIns="36000" bIns="18000" anchor="t">
            <a:spAutoFit/>
          </a:bodyPr>
          <a:lstStyle/>
          <a:p>
            <a:r>
              <a:rPr sz="900" b="1" i="0">
                <a:solidFill>
                  <a:srgbClr val="172B4D"/>
                </a:solidFill>
              </a:rPr>
              <a:t>Description   ·  describe the problem, not the solution</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aber</a:t>
            </a:r>
            <a:r>
              <a:rPr lang="pt-BR" sz="900" b="1">
                <a:solidFill>
                  <a:srgbClr val="172B4D"/>
                </a:solidFill>
              </a:rPr>
              <a:t> </a:t>
            </a:r>
            <a:endParaRPr lang="pt-BR" sz="900" b="1" i="0">
              <a:solidFill>
                <a:srgbClr val="172B4D"/>
              </a:solidFill>
            </a:endParaRPr>
          </a:p>
        </p:txBody>
      </p:sp>
      <p:sp>
        <p:nvSpPr>
          <p:cNvPr id="83" name="Rounded Rectangle 17">
            <a:extLst>
              <a:ext uri="{FF2B5EF4-FFF2-40B4-BE49-F238E27FC236}">
                <a16:creationId xmlns:a16="http://schemas.microsoft.com/office/drawing/2014/main" id="{AE722A92-9CB7-F019-1C1C-4C1D9B599B9F}"/>
              </a:ext>
            </a:extLst>
          </p:cNvPr>
          <p:cNvSpPr/>
          <p:nvPr/>
        </p:nvSpPr>
        <p:spPr>
          <a:xfrm>
            <a:off x="548640" y="2514600"/>
            <a:ext cx="6583680" cy="457200"/>
          </a:xfrm>
          <a:prstGeom prst="roundRect">
            <a:avLst>
              <a:gd name="adj" fmla="val 4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18">
            <a:extLst>
              <a:ext uri="{FF2B5EF4-FFF2-40B4-BE49-F238E27FC236}">
                <a16:creationId xmlns:a16="http://schemas.microsoft.com/office/drawing/2014/main" id="{E1850C4F-E96E-F38E-9D8D-B4AC79DEE4CA}"/>
              </a:ext>
            </a:extLst>
          </p:cNvPr>
          <p:cNvSpPr txBox="1"/>
          <p:nvPr/>
        </p:nvSpPr>
        <p:spPr>
          <a:xfrm>
            <a:off x="621792" y="2532888"/>
            <a:ext cx="6437376" cy="420624"/>
          </a:xfrm>
          <a:prstGeom prst="rect">
            <a:avLst/>
          </a:prstGeom>
          <a:noFill/>
        </p:spPr>
        <p:txBody>
          <a:bodyPr wrap="square" lIns="36000" tIns="18000" rIns="36000" bIns="18000" anchor="t">
            <a:spAutoFit/>
          </a:bodyPr>
          <a:lstStyle/>
          <a:p>
            <a:pPr algn="l"/>
            <a:r>
              <a:rPr sz="900" b="0" i="1">
                <a:solidFill>
                  <a:srgbClr val="A5ADBA"/>
                </a:solidFill>
              </a:rPr>
              <a:t>Context · current pain · who is affected · what blocks today</a:t>
            </a:r>
          </a:p>
        </p:txBody>
      </p:sp>
      <p:sp>
        <p:nvSpPr>
          <p:cNvPr id="85" name="TextBox 19">
            <a:extLst>
              <a:ext uri="{FF2B5EF4-FFF2-40B4-BE49-F238E27FC236}">
                <a16:creationId xmlns:a16="http://schemas.microsoft.com/office/drawing/2014/main" id="{52A96B1C-5291-4834-33F8-CDDD93CB2F69}"/>
              </a:ext>
            </a:extLst>
          </p:cNvPr>
          <p:cNvSpPr txBox="1"/>
          <p:nvPr/>
        </p:nvSpPr>
        <p:spPr>
          <a:xfrm>
            <a:off x="548640" y="3063240"/>
            <a:ext cx="3200400" cy="174851"/>
          </a:xfrm>
          <a:prstGeom prst="rect">
            <a:avLst/>
          </a:prstGeom>
          <a:noFill/>
        </p:spPr>
        <p:txBody>
          <a:bodyPr wrap="square" lIns="36000" tIns="18000" rIns="36000" bIns="18000" anchor="t">
            <a:spAutoFit/>
          </a:bodyPr>
          <a:lstStyle/>
          <a:p>
            <a:r>
              <a:rPr sz="900" b="1" i="0">
                <a:solidFill>
                  <a:srgbClr val="172B4D"/>
                </a:solidFill>
              </a:rPr>
              <a:t>Business Value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 </a:t>
            </a:r>
            <a:r>
              <a:rPr lang="pt-BR" sz="900" b="1" err="1">
                <a:solidFill>
                  <a:srgbClr val="172B4D"/>
                </a:solidFill>
              </a:rPr>
              <a:t>narrative</a:t>
            </a:r>
            <a:r>
              <a:rPr lang="pt-BR" sz="900" b="1">
                <a:solidFill>
                  <a:srgbClr val="172B4D"/>
                </a:solidFill>
              </a:rPr>
              <a:t>  </a:t>
            </a:r>
            <a:endParaRPr lang="pt-BR" sz="900" b="1" i="0">
              <a:solidFill>
                <a:srgbClr val="172B4D"/>
              </a:solidFill>
            </a:endParaRPr>
          </a:p>
        </p:txBody>
      </p:sp>
      <p:sp>
        <p:nvSpPr>
          <p:cNvPr id="86" name="Rounded Rectangle 20">
            <a:extLst>
              <a:ext uri="{FF2B5EF4-FFF2-40B4-BE49-F238E27FC236}">
                <a16:creationId xmlns:a16="http://schemas.microsoft.com/office/drawing/2014/main" id="{1C6B11AE-5BAE-9404-4223-4E3827B8BEB2}"/>
              </a:ext>
            </a:extLst>
          </p:cNvPr>
          <p:cNvSpPr/>
          <p:nvPr/>
        </p:nvSpPr>
        <p:spPr>
          <a:xfrm>
            <a:off x="54864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21">
            <a:extLst>
              <a:ext uri="{FF2B5EF4-FFF2-40B4-BE49-F238E27FC236}">
                <a16:creationId xmlns:a16="http://schemas.microsoft.com/office/drawing/2014/main" id="{AC79FC77-BD8A-437D-3AAE-D020540699AA}"/>
              </a:ext>
            </a:extLst>
          </p:cNvPr>
          <p:cNvSpPr txBox="1"/>
          <p:nvPr/>
        </p:nvSpPr>
        <p:spPr>
          <a:xfrm>
            <a:off x="3931920" y="3063240"/>
            <a:ext cx="3200400" cy="313350"/>
          </a:xfrm>
          <a:prstGeom prst="rect">
            <a:avLst/>
          </a:prstGeom>
          <a:noFill/>
        </p:spPr>
        <p:txBody>
          <a:bodyPr wrap="square" lIns="36000" tIns="18000" rIns="36000" bIns="18000" anchor="t">
            <a:spAutoFit/>
          </a:bodyPr>
          <a:lstStyle/>
          <a:p>
            <a:r>
              <a:rPr sz="900" b="1" i="0">
                <a:solidFill>
                  <a:srgbClr val="172B4D"/>
                </a:solidFill>
              </a:rPr>
              <a:t>Acceptance Criteria *  ·  measurable</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a:t>
            </a:r>
            <a:endParaRPr lang="pt-BR" sz="900" b="1" i="0">
              <a:solidFill>
                <a:srgbClr val="172B4D"/>
              </a:solidFill>
            </a:endParaRPr>
          </a:p>
        </p:txBody>
      </p:sp>
      <p:sp>
        <p:nvSpPr>
          <p:cNvPr id="119" name="Rounded Rectangle 22">
            <a:extLst>
              <a:ext uri="{FF2B5EF4-FFF2-40B4-BE49-F238E27FC236}">
                <a16:creationId xmlns:a16="http://schemas.microsoft.com/office/drawing/2014/main" id="{1591750A-4D5A-6A15-A54D-93CFFA2664CB}"/>
              </a:ext>
            </a:extLst>
          </p:cNvPr>
          <p:cNvSpPr/>
          <p:nvPr/>
        </p:nvSpPr>
        <p:spPr>
          <a:xfrm>
            <a:off x="393192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23">
            <a:extLst>
              <a:ext uri="{FF2B5EF4-FFF2-40B4-BE49-F238E27FC236}">
                <a16:creationId xmlns:a16="http://schemas.microsoft.com/office/drawing/2014/main" id="{C17174F2-4B83-7A3C-B010-F79A6B620003}"/>
              </a:ext>
            </a:extLst>
          </p:cNvPr>
          <p:cNvSpPr txBox="1"/>
          <p:nvPr/>
        </p:nvSpPr>
        <p:spPr>
          <a:xfrm>
            <a:off x="548640" y="3657600"/>
            <a:ext cx="6583680" cy="205629"/>
          </a:xfrm>
          <a:prstGeom prst="rect">
            <a:avLst/>
          </a:prstGeom>
          <a:noFill/>
        </p:spPr>
        <p:txBody>
          <a:bodyPr wrap="square" lIns="36000" tIns="18000" rIns="36000" bIns="18000" anchor="t">
            <a:spAutoFit/>
          </a:bodyPr>
          <a:lstStyle/>
          <a:p>
            <a:pPr algn="l"/>
            <a:r>
              <a:rPr lang="en-US" sz="1100" b="1" i="0">
                <a:solidFill>
                  <a:srgbClr val="007A32"/>
                </a:solidFill>
              </a:rPr>
              <a:t>ROUTING  ·  selecting Value Stream auto-routes the ticket</a:t>
            </a:r>
          </a:p>
        </p:txBody>
      </p:sp>
      <p:sp>
        <p:nvSpPr>
          <p:cNvPr id="121" name="Rectangle 24">
            <a:extLst>
              <a:ext uri="{FF2B5EF4-FFF2-40B4-BE49-F238E27FC236}">
                <a16:creationId xmlns:a16="http://schemas.microsoft.com/office/drawing/2014/main" id="{3F0D0771-0603-4AB7-751A-8D68E807D355}"/>
              </a:ext>
            </a:extLst>
          </p:cNvPr>
          <p:cNvSpPr/>
          <p:nvPr/>
        </p:nvSpPr>
        <p:spPr>
          <a:xfrm>
            <a:off x="548640" y="3858768"/>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25">
            <a:extLst>
              <a:ext uri="{FF2B5EF4-FFF2-40B4-BE49-F238E27FC236}">
                <a16:creationId xmlns:a16="http://schemas.microsoft.com/office/drawing/2014/main" id="{3638437F-BE69-6EF4-C775-C4D1369C0ED0}"/>
              </a:ext>
            </a:extLst>
          </p:cNvPr>
          <p:cNvSpPr txBox="1"/>
          <p:nvPr/>
        </p:nvSpPr>
        <p:spPr>
          <a:xfrm>
            <a:off x="548640" y="3950208"/>
            <a:ext cx="6583680" cy="174851"/>
          </a:xfrm>
          <a:prstGeom prst="rect">
            <a:avLst/>
          </a:prstGeom>
          <a:noFill/>
        </p:spPr>
        <p:txBody>
          <a:bodyPr wrap="square" lIns="36000" tIns="18000" rIns="36000" bIns="18000" anchor="t">
            <a:spAutoFit/>
          </a:bodyPr>
          <a:lstStyle/>
          <a:p>
            <a:r>
              <a:rPr sz="900" b="1" i="0">
                <a:solidFill>
                  <a:srgbClr val="172B4D"/>
                </a:solidFill>
              </a:rPr>
              <a:t>Value Stream destination</a:t>
            </a:r>
            <a:r>
              <a:rPr lang="en-US" sz="900" b="1">
                <a:solidFill>
                  <a:srgbClr val="806000"/>
                </a:solidFill>
              </a:rPr>
              <a:t> </a:t>
            </a:r>
            <a:r>
              <a:rPr lang="en-US" sz="900" b="1">
                <a:solidFill>
                  <a:srgbClr val="172B4D"/>
                </a:solidFill>
              </a:rPr>
              <a:t>*  ·  drives </a:t>
            </a:r>
            <a:r>
              <a:rPr lang="en-US" sz="900" b="1" err="1">
                <a:solidFill>
                  <a:srgbClr val="172B4D"/>
                </a:solidFill>
              </a:rPr>
              <a:t>auto-routing</a:t>
            </a:r>
            <a:r>
              <a:rPr lang="en-US" sz="900" b="1">
                <a:solidFill>
                  <a:srgbClr val="172B4D"/>
                </a:solidFill>
              </a:rPr>
              <a:t>  · </a:t>
            </a:r>
            <a:r>
              <a:rPr lang="en-US" sz="900" b="1" err="1">
                <a:solidFill>
                  <a:srgbClr val="172B4D"/>
                </a:solidFill>
              </a:rPr>
              <a:t>Stage</a:t>
            </a:r>
            <a:r>
              <a:rPr lang="en-US" sz="900" b="1">
                <a:solidFill>
                  <a:srgbClr val="172B4D"/>
                </a:solidFill>
              </a:rPr>
              <a:t>: </a:t>
            </a:r>
            <a:r>
              <a:rPr lang="en-US" sz="900" b="1" err="1">
                <a:solidFill>
                  <a:srgbClr val="172B4D"/>
                </a:solidFill>
              </a:rPr>
              <a:t>Funnel</a:t>
            </a:r>
            <a:r>
              <a:rPr lang="en-US" sz="900" b="1">
                <a:solidFill>
                  <a:srgbClr val="172B4D"/>
                </a:solidFill>
              </a:rPr>
              <a:t> (</a:t>
            </a:r>
            <a:r>
              <a:rPr lang="en-US" sz="900" b="1" err="1">
                <a:solidFill>
                  <a:srgbClr val="172B4D"/>
                </a:solidFill>
              </a:rPr>
              <a:t>Requester</a:t>
            </a:r>
            <a:r>
              <a:rPr lang="en-US" sz="900" b="1">
                <a:solidFill>
                  <a:srgbClr val="172B4D"/>
                </a:solidFill>
              </a:rPr>
              <a:t>) </a:t>
            </a:r>
          </a:p>
        </p:txBody>
      </p:sp>
      <p:sp>
        <p:nvSpPr>
          <p:cNvPr id="123" name="Rounded Rectangle 26">
            <a:extLst>
              <a:ext uri="{FF2B5EF4-FFF2-40B4-BE49-F238E27FC236}">
                <a16:creationId xmlns:a16="http://schemas.microsoft.com/office/drawing/2014/main" id="{DD6DDFC4-1CE4-E077-7B67-22BF20B89136}"/>
              </a:ext>
            </a:extLst>
          </p:cNvPr>
          <p:cNvSpPr/>
          <p:nvPr/>
        </p:nvSpPr>
        <p:spPr>
          <a:xfrm>
            <a:off x="548640" y="4133088"/>
            <a:ext cx="6583680" cy="292608"/>
          </a:xfrm>
          <a:prstGeom prst="roundRect">
            <a:avLst>
              <a:gd name="adj" fmla="val 5000"/>
            </a:avLst>
          </a:prstGeom>
          <a:no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27">
            <a:extLst>
              <a:ext uri="{FF2B5EF4-FFF2-40B4-BE49-F238E27FC236}">
                <a16:creationId xmlns:a16="http://schemas.microsoft.com/office/drawing/2014/main" id="{0997C7FB-ED05-F6E9-7314-29C2068EF8D2}"/>
              </a:ext>
            </a:extLst>
          </p:cNvPr>
          <p:cNvSpPr txBox="1"/>
          <p:nvPr/>
        </p:nvSpPr>
        <p:spPr>
          <a:xfrm>
            <a:off x="640080" y="4169664"/>
            <a:ext cx="6583680" cy="237744"/>
          </a:xfrm>
          <a:prstGeom prst="rect">
            <a:avLst/>
          </a:prstGeom>
          <a:noFill/>
        </p:spPr>
        <p:txBody>
          <a:bodyPr wrap="square" lIns="36000" tIns="18000" rIns="36000" bIns="18000" anchor="t">
            <a:spAutoFit/>
          </a:bodyPr>
          <a:lstStyle/>
          <a:p>
            <a:pPr algn="l"/>
            <a:r>
              <a:rPr sz="1000" b="1" i="0">
                <a:solidFill>
                  <a:srgbClr val="172B4D"/>
                </a:solidFill>
              </a:rPr>
              <a:t>▼  Select Value Stream / Team…</a:t>
            </a:r>
          </a:p>
        </p:txBody>
      </p:sp>
      <p:sp>
        <p:nvSpPr>
          <p:cNvPr id="125" name="Rounded Rectangle 28">
            <a:extLst>
              <a:ext uri="{FF2B5EF4-FFF2-40B4-BE49-F238E27FC236}">
                <a16:creationId xmlns:a16="http://schemas.microsoft.com/office/drawing/2014/main" id="{2AA5611D-BBFA-CC51-BE64-23CDDAE71735}"/>
              </a:ext>
            </a:extLst>
          </p:cNvPr>
          <p:cNvSpPr/>
          <p:nvPr/>
        </p:nvSpPr>
        <p:spPr>
          <a:xfrm>
            <a:off x="54864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30">
            <a:extLst>
              <a:ext uri="{FF2B5EF4-FFF2-40B4-BE49-F238E27FC236}">
                <a16:creationId xmlns:a16="http://schemas.microsoft.com/office/drawing/2014/main" id="{8A957B81-398C-FD74-9041-D86FD7DA3024}"/>
              </a:ext>
            </a:extLst>
          </p:cNvPr>
          <p:cNvSpPr txBox="1"/>
          <p:nvPr/>
        </p:nvSpPr>
        <p:spPr>
          <a:xfrm>
            <a:off x="640080" y="4535424"/>
            <a:ext cx="3040380" cy="190240"/>
          </a:xfrm>
          <a:prstGeom prst="rect">
            <a:avLst/>
          </a:prstGeom>
          <a:noFill/>
        </p:spPr>
        <p:txBody>
          <a:bodyPr wrap="square" lIns="36000" tIns="18000" rIns="36000" bIns="18000" anchor="t">
            <a:spAutoFit/>
          </a:bodyPr>
          <a:lstStyle/>
          <a:p>
            <a:pPr algn="l"/>
            <a:r>
              <a:rPr sz="1000" b="1" i="0">
                <a:solidFill>
                  <a:srgbClr val="162A4D"/>
                </a:solidFill>
              </a:rPr>
              <a:t>ITBA · Carlos Garbin · 5 </a:t>
            </a:r>
            <a:r>
              <a:rPr lang="pt-BR" sz="1000" b="1" i="0" err="1">
                <a:solidFill>
                  <a:srgbClr val="162A4D"/>
                </a:solidFill>
              </a:rPr>
              <a:t>teams</a:t>
            </a:r>
            <a:endParaRPr sz="1000" b="1" i="0">
              <a:solidFill>
                <a:srgbClr val="162A4D"/>
              </a:solidFill>
            </a:endParaRPr>
          </a:p>
        </p:txBody>
      </p:sp>
      <p:sp>
        <p:nvSpPr>
          <p:cNvPr id="128" name="TextBox 31">
            <a:extLst>
              <a:ext uri="{FF2B5EF4-FFF2-40B4-BE49-F238E27FC236}">
                <a16:creationId xmlns:a16="http://schemas.microsoft.com/office/drawing/2014/main" id="{29D8F336-968D-2699-D359-93C42B37BEB3}"/>
              </a:ext>
            </a:extLst>
          </p:cNvPr>
          <p:cNvSpPr txBox="1"/>
          <p:nvPr/>
        </p:nvSpPr>
        <p:spPr>
          <a:xfrm>
            <a:off x="658368" y="4809744"/>
            <a:ext cx="3040380" cy="174851"/>
          </a:xfrm>
          <a:prstGeom prst="rect">
            <a:avLst/>
          </a:prstGeom>
          <a:noFill/>
        </p:spPr>
        <p:txBody>
          <a:bodyPr wrap="square" lIns="36000" tIns="18000" rIns="36000" bIns="18000" anchor="t">
            <a:spAutoFit/>
          </a:bodyPr>
          <a:lstStyle/>
          <a:p>
            <a:pPr algn="l"/>
            <a:r>
              <a:rPr sz="900" b="0" i="0">
                <a:solidFill>
                  <a:srgbClr val="162A4D"/>
                </a:solidFill>
              </a:rPr>
              <a:t>○  Field Operations</a:t>
            </a:r>
          </a:p>
        </p:txBody>
      </p:sp>
      <p:sp>
        <p:nvSpPr>
          <p:cNvPr id="129" name="TextBox 32">
            <a:extLst>
              <a:ext uri="{FF2B5EF4-FFF2-40B4-BE49-F238E27FC236}">
                <a16:creationId xmlns:a16="http://schemas.microsoft.com/office/drawing/2014/main" id="{4134B12D-A0DD-417E-3DF7-3A1A9005D762}"/>
              </a:ext>
            </a:extLst>
          </p:cNvPr>
          <p:cNvSpPr txBox="1"/>
          <p:nvPr/>
        </p:nvSpPr>
        <p:spPr>
          <a:xfrm>
            <a:off x="658368" y="5065776"/>
            <a:ext cx="3040380" cy="174851"/>
          </a:xfrm>
          <a:prstGeom prst="rect">
            <a:avLst/>
          </a:prstGeom>
          <a:noFill/>
        </p:spPr>
        <p:txBody>
          <a:bodyPr wrap="square" lIns="36000" tIns="18000" rIns="36000" bIns="18000" anchor="t">
            <a:spAutoFit/>
          </a:bodyPr>
          <a:lstStyle/>
          <a:p>
            <a:pPr algn="l"/>
            <a:r>
              <a:rPr sz="900" b="0" i="0">
                <a:solidFill>
                  <a:srgbClr val="162A4D"/>
                </a:solidFill>
              </a:rPr>
              <a:t>○  Engineering &amp; Asset Mgmt</a:t>
            </a:r>
          </a:p>
        </p:txBody>
      </p:sp>
      <p:sp>
        <p:nvSpPr>
          <p:cNvPr id="130" name="TextBox 33">
            <a:extLst>
              <a:ext uri="{FF2B5EF4-FFF2-40B4-BE49-F238E27FC236}">
                <a16:creationId xmlns:a16="http://schemas.microsoft.com/office/drawing/2014/main" id="{07738C4B-6140-0E47-E1D0-F3660780BB36}"/>
              </a:ext>
            </a:extLst>
          </p:cNvPr>
          <p:cNvSpPr txBox="1"/>
          <p:nvPr/>
        </p:nvSpPr>
        <p:spPr>
          <a:xfrm>
            <a:off x="658368" y="5321808"/>
            <a:ext cx="3040380" cy="174851"/>
          </a:xfrm>
          <a:prstGeom prst="rect">
            <a:avLst/>
          </a:prstGeom>
          <a:noFill/>
        </p:spPr>
        <p:txBody>
          <a:bodyPr wrap="square" lIns="36000" tIns="18000" rIns="36000" bIns="18000" anchor="t">
            <a:spAutoFit/>
          </a:bodyPr>
          <a:lstStyle/>
          <a:p>
            <a:pPr algn="l"/>
            <a:r>
              <a:rPr sz="900" b="0" i="0">
                <a:solidFill>
                  <a:srgbClr val="162A4D"/>
                </a:solidFill>
              </a:rPr>
              <a:t>○  Network Operations &amp; Control</a:t>
            </a:r>
          </a:p>
        </p:txBody>
      </p:sp>
      <p:sp>
        <p:nvSpPr>
          <p:cNvPr id="131" name="TextBox 34">
            <a:extLst>
              <a:ext uri="{FF2B5EF4-FFF2-40B4-BE49-F238E27FC236}">
                <a16:creationId xmlns:a16="http://schemas.microsoft.com/office/drawing/2014/main" id="{09F8166F-28F2-7588-D2BA-3034DD39A994}"/>
              </a:ext>
            </a:extLst>
          </p:cNvPr>
          <p:cNvSpPr txBox="1"/>
          <p:nvPr/>
        </p:nvSpPr>
        <p:spPr>
          <a:xfrm>
            <a:off x="658368" y="5577840"/>
            <a:ext cx="3040380" cy="174851"/>
          </a:xfrm>
          <a:prstGeom prst="rect">
            <a:avLst/>
          </a:prstGeom>
          <a:noFill/>
        </p:spPr>
        <p:txBody>
          <a:bodyPr wrap="square" lIns="36000" tIns="18000" rIns="36000" bIns="18000" anchor="t">
            <a:spAutoFit/>
          </a:bodyPr>
          <a:lstStyle/>
          <a:p>
            <a:pPr algn="l"/>
            <a:r>
              <a:rPr sz="900" b="0" i="0">
                <a:solidFill>
                  <a:srgbClr val="162A4D"/>
                </a:solidFill>
              </a:rPr>
              <a:t>○  Corporate &amp; Regulatory</a:t>
            </a:r>
          </a:p>
        </p:txBody>
      </p:sp>
      <p:sp>
        <p:nvSpPr>
          <p:cNvPr id="132" name="TextBox 35">
            <a:extLst>
              <a:ext uri="{FF2B5EF4-FFF2-40B4-BE49-F238E27FC236}">
                <a16:creationId xmlns:a16="http://schemas.microsoft.com/office/drawing/2014/main" id="{60AF9DA0-CDB5-25B0-A4F5-AFD1BB9C4FDB}"/>
              </a:ext>
            </a:extLst>
          </p:cNvPr>
          <p:cNvSpPr txBox="1"/>
          <p:nvPr/>
        </p:nvSpPr>
        <p:spPr>
          <a:xfrm>
            <a:off x="658368" y="5833872"/>
            <a:ext cx="3040380" cy="174851"/>
          </a:xfrm>
          <a:prstGeom prst="rect">
            <a:avLst/>
          </a:prstGeom>
          <a:noFill/>
        </p:spPr>
        <p:txBody>
          <a:bodyPr wrap="square" lIns="36000" tIns="18000" rIns="36000" bIns="18000" anchor="t">
            <a:spAutoFit/>
          </a:bodyPr>
          <a:lstStyle/>
          <a:p>
            <a:pPr algn="l"/>
            <a:r>
              <a:rPr sz="900" b="0" i="0">
                <a:solidFill>
                  <a:srgbClr val="162A4D"/>
                </a:solidFill>
              </a:rPr>
              <a:t>○  Iberdrola Corp Services</a:t>
            </a:r>
          </a:p>
        </p:txBody>
      </p:sp>
      <p:sp>
        <p:nvSpPr>
          <p:cNvPr id="133" name="TextBox 36">
            <a:extLst>
              <a:ext uri="{FF2B5EF4-FFF2-40B4-BE49-F238E27FC236}">
                <a16:creationId xmlns:a16="http://schemas.microsoft.com/office/drawing/2014/main" id="{A8091876-297A-3682-F6FB-92C0640C9FC9}"/>
              </a:ext>
            </a:extLst>
          </p:cNvPr>
          <p:cNvSpPr txBox="1"/>
          <p:nvPr/>
        </p:nvSpPr>
        <p:spPr>
          <a:xfrm>
            <a:off x="658368" y="6126480"/>
            <a:ext cx="3040380" cy="164592"/>
          </a:xfrm>
          <a:prstGeom prst="rect">
            <a:avLst/>
          </a:prstGeom>
          <a:noFill/>
        </p:spPr>
        <p:txBody>
          <a:bodyPr wrap="square" lIns="36000" tIns="18000" rIns="36000" bIns="18000" anchor="t">
            <a:spAutoFit/>
          </a:bodyPr>
          <a:lstStyle/>
          <a:p>
            <a:pPr algn="l"/>
            <a:r>
              <a:rPr sz="800" b="1" i="1">
                <a:solidFill>
                  <a:srgbClr val="162A4D"/>
                </a:solidFill>
              </a:rPr>
              <a:t>→ ITBA Portfolio Board</a:t>
            </a:r>
          </a:p>
        </p:txBody>
      </p:sp>
      <p:sp>
        <p:nvSpPr>
          <p:cNvPr id="134" name="Rounded Rectangle 37">
            <a:extLst>
              <a:ext uri="{FF2B5EF4-FFF2-40B4-BE49-F238E27FC236}">
                <a16:creationId xmlns:a16="http://schemas.microsoft.com/office/drawing/2014/main" id="{BF8E920C-F5E3-9BEE-C10F-DD96E7159AE6}"/>
              </a:ext>
            </a:extLst>
          </p:cNvPr>
          <p:cNvSpPr/>
          <p:nvPr/>
        </p:nvSpPr>
        <p:spPr>
          <a:xfrm>
            <a:off x="390906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39">
            <a:extLst>
              <a:ext uri="{FF2B5EF4-FFF2-40B4-BE49-F238E27FC236}">
                <a16:creationId xmlns:a16="http://schemas.microsoft.com/office/drawing/2014/main" id="{344A95A8-EDE1-264E-A935-CAAB3B5360C4}"/>
              </a:ext>
            </a:extLst>
          </p:cNvPr>
          <p:cNvSpPr txBox="1"/>
          <p:nvPr/>
        </p:nvSpPr>
        <p:spPr>
          <a:xfrm>
            <a:off x="4000500" y="4535424"/>
            <a:ext cx="3040380" cy="190240"/>
          </a:xfrm>
          <a:prstGeom prst="rect">
            <a:avLst/>
          </a:prstGeom>
          <a:noFill/>
        </p:spPr>
        <p:txBody>
          <a:bodyPr wrap="square" lIns="36000" tIns="18000" rIns="36000" bIns="18000" anchor="t">
            <a:spAutoFit/>
          </a:bodyPr>
          <a:lstStyle/>
          <a:p>
            <a:pPr algn="l"/>
            <a:r>
              <a:rPr sz="1000" b="1" i="0">
                <a:solidFill>
                  <a:srgbClr val="162A4D"/>
                </a:solidFill>
              </a:rPr>
              <a:t>CS · Kumar </a:t>
            </a:r>
            <a:r>
              <a:rPr lang="es-MX" sz="1000" b="1" i="0">
                <a:solidFill>
                  <a:srgbClr val="162A4D"/>
                </a:solidFill>
              </a:rPr>
              <a:t>Jaladanki</a:t>
            </a:r>
            <a:r>
              <a:rPr sz="1000" b="1" i="0">
                <a:solidFill>
                  <a:srgbClr val="162A4D"/>
                </a:solidFill>
              </a:rPr>
              <a:t> · 4 </a:t>
            </a:r>
            <a:r>
              <a:rPr lang="pt-BR" sz="1000" b="1" i="0" err="1">
                <a:solidFill>
                  <a:srgbClr val="162A4D"/>
                </a:solidFill>
              </a:rPr>
              <a:t>teams</a:t>
            </a:r>
            <a:r>
              <a:rPr sz="1000" b="1" i="0">
                <a:solidFill>
                  <a:srgbClr val="162A4D"/>
                </a:solidFill>
              </a:rPr>
              <a:t> + Enabling</a:t>
            </a:r>
          </a:p>
        </p:txBody>
      </p:sp>
      <p:sp>
        <p:nvSpPr>
          <p:cNvPr id="137" name="TextBox 40">
            <a:extLst>
              <a:ext uri="{FF2B5EF4-FFF2-40B4-BE49-F238E27FC236}">
                <a16:creationId xmlns:a16="http://schemas.microsoft.com/office/drawing/2014/main" id="{95520C72-3FE5-235B-A6DA-E51B1BF700F5}"/>
              </a:ext>
            </a:extLst>
          </p:cNvPr>
          <p:cNvSpPr txBox="1"/>
          <p:nvPr/>
        </p:nvSpPr>
        <p:spPr>
          <a:xfrm>
            <a:off x="4018788" y="4809744"/>
            <a:ext cx="3040380" cy="174851"/>
          </a:xfrm>
          <a:prstGeom prst="rect">
            <a:avLst/>
          </a:prstGeom>
          <a:noFill/>
        </p:spPr>
        <p:txBody>
          <a:bodyPr wrap="square" lIns="36000" tIns="18000" rIns="36000" bIns="18000" anchor="t">
            <a:spAutoFit/>
          </a:bodyPr>
          <a:lstStyle/>
          <a:p>
            <a:pPr algn="l"/>
            <a:r>
              <a:rPr sz="900" b="1" i="0">
                <a:solidFill>
                  <a:srgbClr val="162A4D"/>
                </a:solidFill>
              </a:rPr>
              <a:t>●  Meter &amp; Device Operations</a:t>
            </a:r>
          </a:p>
        </p:txBody>
      </p:sp>
      <p:sp>
        <p:nvSpPr>
          <p:cNvPr id="138" name="TextBox 41">
            <a:extLst>
              <a:ext uri="{FF2B5EF4-FFF2-40B4-BE49-F238E27FC236}">
                <a16:creationId xmlns:a16="http://schemas.microsoft.com/office/drawing/2014/main" id="{14C25D95-5C0B-C237-3070-420E99651D49}"/>
              </a:ext>
            </a:extLst>
          </p:cNvPr>
          <p:cNvSpPr txBox="1"/>
          <p:nvPr/>
        </p:nvSpPr>
        <p:spPr>
          <a:xfrm>
            <a:off x="4018788" y="5065776"/>
            <a:ext cx="3040380" cy="174851"/>
          </a:xfrm>
          <a:prstGeom prst="rect">
            <a:avLst/>
          </a:prstGeom>
          <a:noFill/>
        </p:spPr>
        <p:txBody>
          <a:bodyPr wrap="square" lIns="36000" tIns="18000" rIns="36000" bIns="18000" anchor="t">
            <a:spAutoFit/>
          </a:bodyPr>
          <a:lstStyle/>
          <a:p>
            <a:pPr algn="l"/>
            <a:r>
              <a:rPr sz="900" b="0" i="0">
                <a:solidFill>
                  <a:srgbClr val="162A4D"/>
                </a:solidFill>
              </a:rPr>
              <a:t>○  Billing Operations</a:t>
            </a:r>
          </a:p>
        </p:txBody>
      </p:sp>
      <p:sp>
        <p:nvSpPr>
          <p:cNvPr id="139" name="TextBox 42">
            <a:extLst>
              <a:ext uri="{FF2B5EF4-FFF2-40B4-BE49-F238E27FC236}">
                <a16:creationId xmlns:a16="http://schemas.microsoft.com/office/drawing/2014/main" id="{8FFFD53D-F063-9643-ED83-FBD4A1165143}"/>
              </a:ext>
            </a:extLst>
          </p:cNvPr>
          <p:cNvSpPr txBox="1"/>
          <p:nvPr/>
        </p:nvSpPr>
        <p:spPr>
          <a:xfrm>
            <a:off x="4018788" y="5321808"/>
            <a:ext cx="3040380" cy="174851"/>
          </a:xfrm>
          <a:prstGeom prst="rect">
            <a:avLst/>
          </a:prstGeom>
          <a:noFill/>
        </p:spPr>
        <p:txBody>
          <a:bodyPr wrap="square" lIns="36000" tIns="18000" rIns="36000" bIns="18000" anchor="t">
            <a:spAutoFit/>
          </a:bodyPr>
          <a:lstStyle/>
          <a:p>
            <a:pPr algn="l"/>
            <a:r>
              <a:rPr sz="900" b="0" i="0">
                <a:solidFill>
                  <a:srgbClr val="162A4D"/>
                </a:solidFill>
              </a:rPr>
              <a:t>○  Revenue &amp; Collections</a:t>
            </a:r>
          </a:p>
        </p:txBody>
      </p:sp>
      <p:sp>
        <p:nvSpPr>
          <p:cNvPr id="140" name="TextBox 43">
            <a:extLst>
              <a:ext uri="{FF2B5EF4-FFF2-40B4-BE49-F238E27FC236}">
                <a16:creationId xmlns:a16="http://schemas.microsoft.com/office/drawing/2014/main" id="{DA2615D7-2A82-5308-52F7-9D7CCF45E6A2}"/>
              </a:ext>
            </a:extLst>
          </p:cNvPr>
          <p:cNvSpPr txBox="1"/>
          <p:nvPr/>
        </p:nvSpPr>
        <p:spPr>
          <a:xfrm>
            <a:off x="4018788" y="5577840"/>
            <a:ext cx="3040380" cy="174851"/>
          </a:xfrm>
          <a:prstGeom prst="rect">
            <a:avLst/>
          </a:prstGeom>
          <a:noFill/>
        </p:spPr>
        <p:txBody>
          <a:bodyPr wrap="square" lIns="36000" tIns="18000" rIns="36000" bIns="18000" anchor="t">
            <a:spAutoFit/>
          </a:bodyPr>
          <a:lstStyle/>
          <a:p>
            <a:pPr algn="l"/>
            <a:r>
              <a:rPr sz="900" b="0" i="0">
                <a:solidFill>
                  <a:srgbClr val="162A4D"/>
                </a:solidFill>
              </a:rPr>
              <a:t>○  Customer Care &amp; Engagement</a:t>
            </a:r>
          </a:p>
        </p:txBody>
      </p:sp>
      <p:sp>
        <p:nvSpPr>
          <p:cNvPr id="141" name="TextBox 44">
            <a:extLst>
              <a:ext uri="{FF2B5EF4-FFF2-40B4-BE49-F238E27FC236}">
                <a16:creationId xmlns:a16="http://schemas.microsoft.com/office/drawing/2014/main" id="{F8E9BD57-2ECD-1B1C-086F-B866581A6B12}"/>
              </a:ext>
            </a:extLst>
          </p:cNvPr>
          <p:cNvSpPr txBox="1"/>
          <p:nvPr/>
        </p:nvSpPr>
        <p:spPr>
          <a:xfrm>
            <a:off x="4018788" y="5833872"/>
            <a:ext cx="3040380" cy="174851"/>
          </a:xfrm>
          <a:prstGeom prst="rect">
            <a:avLst/>
          </a:prstGeom>
          <a:noFill/>
        </p:spPr>
        <p:txBody>
          <a:bodyPr wrap="square" lIns="36000" tIns="18000" rIns="36000" bIns="18000" anchor="t">
            <a:spAutoFit/>
          </a:bodyPr>
          <a:lstStyle/>
          <a:p>
            <a:pPr algn="l"/>
            <a:r>
              <a:rPr sz="900" b="0" i="0">
                <a:solidFill>
                  <a:srgbClr val="162A4D"/>
                </a:solidFill>
              </a:rPr>
              <a:t>○  Enabling Team — Foundation Services</a:t>
            </a:r>
          </a:p>
        </p:txBody>
      </p:sp>
      <p:sp>
        <p:nvSpPr>
          <p:cNvPr id="142" name="TextBox 45">
            <a:extLst>
              <a:ext uri="{FF2B5EF4-FFF2-40B4-BE49-F238E27FC236}">
                <a16:creationId xmlns:a16="http://schemas.microsoft.com/office/drawing/2014/main" id="{2EA6A13C-E5B9-0221-7608-9EE6383EBCF3}"/>
              </a:ext>
            </a:extLst>
          </p:cNvPr>
          <p:cNvSpPr txBox="1"/>
          <p:nvPr/>
        </p:nvSpPr>
        <p:spPr>
          <a:xfrm>
            <a:off x="7269480" y="1581912"/>
            <a:ext cx="4389120" cy="205629"/>
          </a:xfrm>
          <a:prstGeom prst="rect">
            <a:avLst/>
          </a:prstGeom>
          <a:noFill/>
        </p:spPr>
        <p:txBody>
          <a:bodyPr wrap="square" lIns="36000" tIns="18000" rIns="36000" bIns="18000" anchor="t">
            <a:spAutoFit/>
          </a:bodyPr>
          <a:lstStyle/>
          <a:p>
            <a:pPr algn="l"/>
            <a:r>
              <a:rPr lang="en-US" sz="1100" b="1" i="0">
                <a:solidFill>
                  <a:srgbClr val="007A32"/>
                </a:solidFill>
              </a:rPr>
              <a:t>CLASSIFICATION</a:t>
            </a:r>
          </a:p>
        </p:txBody>
      </p:sp>
      <p:sp>
        <p:nvSpPr>
          <p:cNvPr id="143" name="Rectangle 46">
            <a:extLst>
              <a:ext uri="{FF2B5EF4-FFF2-40B4-BE49-F238E27FC236}">
                <a16:creationId xmlns:a16="http://schemas.microsoft.com/office/drawing/2014/main" id="{D619BE21-4C3E-4381-B1A2-43536F27F8D2}"/>
              </a:ext>
            </a:extLst>
          </p:cNvPr>
          <p:cNvSpPr/>
          <p:nvPr/>
        </p:nvSpPr>
        <p:spPr>
          <a:xfrm>
            <a:off x="7269480" y="1783080"/>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47">
            <a:extLst>
              <a:ext uri="{FF2B5EF4-FFF2-40B4-BE49-F238E27FC236}">
                <a16:creationId xmlns:a16="http://schemas.microsoft.com/office/drawing/2014/main" id="{6A703F70-662C-1A2A-A247-1C5DC5C76242}"/>
              </a:ext>
            </a:extLst>
          </p:cNvPr>
          <p:cNvSpPr txBox="1"/>
          <p:nvPr/>
        </p:nvSpPr>
        <p:spPr>
          <a:xfrm>
            <a:off x="7269480" y="1874520"/>
            <a:ext cx="4389120" cy="174851"/>
          </a:xfrm>
          <a:prstGeom prst="rect">
            <a:avLst/>
          </a:prstGeom>
          <a:noFill/>
        </p:spPr>
        <p:txBody>
          <a:bodyPr wrap="square" lIns="36000" tIns="18000" rIns="36000" bIns="18000" anchor="t">
            <a:spAutoFit/>
          </a:bodyPr>
          <a:lstStyle/>
          <a:p>
            <a:r>
              <a:rPr sz="900" b="1" i="0">
                <a:solidFill>
                  <a:srgbClr val="172B4D"/>
                </a:solidFill>
              </a:rPr>
              <a:t>Class of Service   </a:t>
            </a:r>
            <a:r>
              <a:rPr lang="pt-BR" sz="900" b="1" i="0">
                <a:solidFill>
                  <a:srgbClr val="172B4D"/>
                </a:solidFill>
              </a:rPr>
              <a:t>·</a:t>
            </a:r>
            <a:r>
              <a:rPr sz="900" b="1" i="0">
                <a:solidFill>
                  <a:srgbClr val="172B4D"/>
                </a:solidFill>
              </a:rPr>
              <a:t>  </a:t>
            </a:r>
            <a:r>
              <a:rPr lang="es-MX" sz="900" b="1" i="0">
                <a:solidFill>
                  <a:srgbClr val="172B4D"/>
                </a:solidFill>
              </a:rPr>
              <a:t>swimlane</a:t>
            </a:r>
            <a:r>
              <a:rPr sz="900" b="1" i="0">
                <a:solidFill>
                  <a:srgbClr val="172B4D"/>
                </a:solidFill>
              </a:rPr>
              <a:t> assignment</a:t>
            </a:r>
            <a:r>
              <a:rPr lang="pt-BR" sz="900" b="1">
                <a:solidFill>
                  <a:srgbClr val="172B4D"/>
                </a:solidFill>
              </a:rPr>
              <a:t> · PM (</a:t>
            </a:r>
            <a:r>
              <a:rPr lang="pt-BR" sz="900" b="1" err="1">
                <a:solidFill>
                  <a:srgbClr val="172B4D"/>
                </a:solidFill>
              </a:rPr>
              <a:t>initial</a:t>
            </a:r>
            <a:r>
              <a:rPr lang="pt-BR" sz="900" b="1">
                <a:solidFill>
                  <a:srgbClr val="172B4D"/>
                </a:solidFill>
              </a:rPr>
              <a:t> </a:t>
            </a:r>
            <a:r>
              <a:rPr lang="pt-BR" sz="900" b="1" err="1">
                <a:solidFill>
                  <a:srgbClr val="172B4D"/>
                </a:solidFill>
              </a:rPr>
              <a:t>guess</a:t>
            </a:r>
            <a:r>
              <a:rPr lang="pt-BR" sz="900" b="1">
                <a:solidFill>
                  <a:srgbClr val="172B4D"/>
                </a:solidFill>
              </a:rPr>
              <a:t>)</a:t>
            </a:r>
            <a:endParaRPr lang="pt-BR" sz="900" b="1" i="0">
              <a:solidFill>
                <a:srgbClr val="172B4D"/>
              </a:solidFill>
            </a:endParaRPr>
          </a:p>
        </p:txBody>
      </p:sp>
      <p:sp>
        <p:nvSpPr>
          <p:cNvPr id="145" name="Rounded Rectangle 48">
            <a:extLst>
              <a:ext uri="{FF2B5EF4-FFF2-40B4-BE49-F238E27FC236}">
                <a16:creationId xmlns:a16="http://schemas.microsoft.com/office/drawing/2014/main" id="{F90C7C46-4E61-D143-E537-CD690566CAD0}"/>
              </a:ext>
            </a:extLst>
          </p:cNvPr>
          <p:cNvSpPr/>
          <p:nvPr/>
        </p:nvSpPr>
        <p:spPr>
          <a:xfrm>
            <a:off x="7269480" y="2057400"/>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49">
            <a:extLst>
              <a:ext uri="{FF2B5EF4-FFF2-40B4-BE49-F238E27FC236}">
                <a16:creationId xmlns:a16="http://schemas.microsoft.com/office/drawing/2014/main" id="{B27CC8D9-D32E-0179-0041-190762320393}"/>
              </a:ext>
            </a:extLst>
          </p:cNvPr>
          <p:cNvSpPr txBox="1"/>
          <p:nvPr/>
        </p:nvSpPr>
        <p:spPr>
          <a:xfrm>
            <a:off x="6734556" y="211878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Standard</a:t>
            </a:r>
          </a:p>
        </p:txBody>
      </p:sp>
      <p:sp>
        <p:nvSpPr>
          <p:cNvPr id="147" name="Rounded Rectangle 50">
            <a:extLst>
              <a:ext uri="{FF2B5EF4-FFF2-40B4-BE49-F238E27FC236}">
                <a16:creationId xmlns:a16="http://schemas.microsoft.com/office/drawing/2014/main" id="{8B1DB533-0AB3-8714-F481-3879301419CA}"/>
              </a:ext>
            </a:extLst>
          </p:cNvPr>
          <p:cNvSpPr/>
          <p:nvPr/>
        </p:nvSpPr>
        <p:spPr>
          <a:xfrm>
            <a:off x="8949068" y="1986959"/>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51">
            <a:extLst>
              <a:ext uri="{FF2B5EF4-FFF2-40B4-BE49-F238E27FC236}">
                <a16:creationId xmlns:a16="http://schemas.microsoft.com/office/drawing/2014/main" id="{CC78624F-B9FF-654E-763F-50EB9F80426B}"/>
              </a:ext>
            </a:extLst>
          </p:cNvPr>
          <p:cNvSpPr txBox="1"/>
          <p:nvPr/>
        </p:nvSpPr>
        <p:spPr>
          <a:xfrm>
            <a:off x="8949068" y="2106250"/>
            <a:ext cx="2167128" cy="201168"/>
          </a:xfrm>
          <a:prstGeom prst="rect">
            <a:avLst/>
          </a:prstGeom>
          <a:noFill/>
        </p:spPr>
        <p:txBody>
          <a:bodyPr wrap="square" lIns="36000" tIns="18000" rIns="36000" bIns="18000" anchor="ctr">
            <a:spAutoFit/>
          </a:bodyPr>
          <a:lstStyle/>
          <a:p>
            <a:pPr algn="ctr"/>
            <a:r>
              <a:rPr sz="900" b="1" i="0">
                <a:solidFill>
                  <a:srgbClr val="0F2A47"/>
                </a:solidFill>
              </a:rPr>
              <a:t>○  Fixed-Date</a:t>
            </a:r>
          </a:p>
        </p:txBody>
      </p:sp>
      <p:sp>
        <p:nvSpPr>
          <p:cNvPr id="149" name="Rounded Rectangle 52">
            <a:extLst>
              <a:ext uri="{FF2B5EF4-FFF2-40B4-BE49-F238E27FC236}">
                <a16:creationId xmlns:a16="http://schemas.microsoft.com/office/drawing/2014/main" id="{1D216FC9-C036-EE44-BC2A-76929DFC50B4}"/>
              </a:ext>
            </a:extLst>
          </p:cNvPr>
          <p:cNvSpPr/>
          <p:nvPr/>
        </p:nvSpPr>
        <p:spPr>
          <a:xfrm>
            <a:off x="7269480" y="2304288"/>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53">
            <a:extLst>
              <a:ext uri="{FF2B5EF4-FFF2-40B4-BE49-F238E27FC236}">
                <a16:creationId xmlns:a16="http://schemas.microsoft.com/office/drawing/2014/main" id="{30263858-556E-4C1B-7887-CCA4A6490C2E}"/>
              </a:ext>
            </a:extLst>
          </p:cNvPr>
          <p:cNvSpPr txBox="1"/>
          <p:nvPr/>
        </p:nvSpPr>
        <p:spPr>
          <a:xfrm>
            <a:off x="6726244" y="235205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Expedite</a:t>
            </a:r>
          </a:p>
        </p:txBody>
      </p:sp>
      <p:sp>
        <p:nvSpPr>
          <p:cNvPr id="151" name="Rounded Rectangle 54">
            <a:extLst>
              <a:ext uri="{FF2B5EF4-FFF2-40B4-BE49-F238E27FC236}">
                <a16:creationId xmlns:a16="http://schemas.microsoft.com/office/drawing/2014/main" id="{146BB6FB-C97E-EC69-8925-898DE2B3787C}"/>
              </a:ext>
            </a:extLst>
          </p:cNvPr>
          <p:cNvSpPr/>
          <p:nvPr/>
        </p:nvSpPr>
        <p:spPr>
          <a:xfrm>
            <a:off x="8949068" y="2233847"/>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55">
            <a:extLst>
              <a:ext uri="{FF2B5EF4-FFF2-40B4-BE49-F238E27FC236}">
                <a16:creationId xmlns:a16="http://schemas.microsoft.com/office/drawing/2014/main" id="{652647BC-FE76-CB3A-CA05-3B991AA256EC}"/>
              </a:ext>
            </a:extLst>
          </p:cNvPr>
          <p:cNvSpPr txBox="1"/>
          <p:nvPr/>
        </p:nvSpPr>
        <p:spPr>
          <a:xfrm>
            <a:off x="8921636" y="2343017"/>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Intangible</a:t>
            </a:r>
          </a:p>
        </p:txBody>
      </p:sp>
      <p:sp>
        <p:nvSpPr>
          <p:cNvPr id="153" name="TextBox 56">
            <a:extLst>
              <a:ext uri="{FF2B5EF4-FFF2-40B4-BE49-F238E27FC236}">
                <a16:creationId xmlns:a16="http://schemas.microsoft.com/office/drawing/2014/main" id="{FBE2E05F-7F53-AB0C-FEEA-77AF5429FDC7}"/>
              </a:ext>
            </a:extLst>
          </p:cNvPr>
          <p:cNvSpPr txBox="1"/>
          <p:nvPr/>
        </p:nvSpPr>
        <p:spPr>
          <a:xfrm>
            <a:off x="7269480" y="2606040"/>
            <a:ext cx="2011680" cy="174851"/>
          </a:xfrm>
          <a:prstGeom prst="rect">
            <a:avLst/>
          </a:prstGeom>
          <a:noFill/>
        </p:spPr>
        <p:txBody>
          <a:bodyPr wrap="square" lIns="36000" tIns="18000" rIns="36000" bIns="18000" anchor="t">
            <a:spAutoFit/>
          </a:bodyPr>
          <a:lstStyle/>
          <a:p>
            <a:r>
              <a:rPr lang="es-MX" sz="900" b="1" i="0" err="1">
                <a:solidFill>
                  <a:srgbClr val="172B4D"/>
                </a:solidFill>
              </a:rPr>
              <a:t>Demand</a:t>
            </a:r>
            <a:r>
              <a:rPr lang="es-MX" sz="900" b="1" i="0">
                <a:solidFill>
                  <a:srgbClr val="172B4D"/>
                </a:solidFill>
              </a:rPr>
              <a:t> </a:t>
            </a:r>
            <a:r>
              <a:rPr lang="es-MX" sz="900" b="1" i="0" err="1">
                <a:solidFill>
                  <a:srgbClr val="172B4D"/>
                </a:solidFill>
              </a:rPr>
              <a:t>Type</a:t>
            </a:r>
            <a:r>
              <a:rPr lang="es-MX" sz="900" b="1" i="0">
                <a:solidFill>
                  <a:srgbClr val="172B4D"/>
                </a:solidFill>
              </a:rPr>
              <a:t>:</a:t>
            </a:r>
            <a:endParaRPr lang="pt-BR" sz="900" b="1" i="0">
              <a:solidFill>
                <a:srgbClr val="172B4D"/>
              </a:solidFill>
            </a:endParaRPr>
          </a:p>
        </p:txBody>
      </p:sp>
      <p:sp>
        <p:nvSpPr>
          <p:cNvPr id="154" name="Rounded Rectangle 57">
            <a:extLst>
              <a:ext uri="{FF2B5EF4-FFF2-40B4-BE49-F238E27FC236}">
                <a16:creationId xmlns:a16="http://schemas.microsoft.com/office/drawing/2014/main" id="{55DAC886-0861-5B67-5009-C3CE4E39AD8D}"/>
              </a:ext>
            </a:extLst>
          </p:cNvPr>
          <p:cNvSpPr/>
          <p:nvPr/>
        </p:nvSpPr>
        <p:spPr>
          <a:xfrm>
            <a:off x="7269480" y="2770632"/>
            <a:ext cx="201168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58">
            <a:extLst>
              <a:ext uri="{FF2B5EF4-FFF2-40B4-BE49-F238E27FC236}">
                <a16:creationId xmlns:a16="http://schemas.microsoft.com/office/drawing/2014/main" id="{B0D9D742-61CF-8801-2E3D-3F9830473C63}"/>
              </a:ext>
            </a:extLst>
          </p:cNvPr>
          <p:cNvSpPr txBox="1"/>
          <p:nvPr/>
        </p:nvSpPr>
        <p:spPr>
          <a:xfrm>
            <a:off x="7342632" y="2788920"/>
            <a:ext cx="1920240" cy="174851"/>
          </a:xfrm>
          <a:prstGeom prst="rect">
            <a:avLst/>
          </a:prstGeom>
          <a:noFill/>
        </p:spPr>
        <p:txBody>
          <a:bodyPr wrap="square" lIns="36000" tIns="18000" rIns="36000" bIns="18000" anchor="t">
            <a:spAutoFit/>
          </a:bodyPr>
          <a:lstStyle/>
          <a:p>
            <a:r>
              <a:rPr sz="900" b="1" i="0">
                <a:solidFill>
                  <a:srgbClr val="172B4D"/>
                </a:solidFill>
              </a:rPr>
              <a:t> </a:t>
            </a:r>
            <a:r>
              <a:rPr lang="pt-BR" sz="900">
                <a:solidFill>
                  <a:srgbClr val="172B4D"/>
                </a:solidFill>
              </a:rPr>
              <a:t>▼ </a:t>
            </a:r>
            <a:r>
              <a:rPr lang="pt-BR" sz="800" i="0" err="1">
                <a:solidFill>
                  <a:srgbClr val="172B4D"/>
                </a:solidFill>
              </a:rPr>
              <a:t>Regulatory</a:t>
            </a:r>
            <a:r>
              <a:rPr lang="pt-BR" sz="800" i="0">
                <a:solidFill>
                  <a:srgbClr val="172B4D"/>
                </a:solidFill>
              </a:rPr>
              <a:t> </a:t>
            </a:r>
            <a:r>
              <a:rPr lang="pt-BR" sz="800">
                <a:solidFill>
                  <a:srgbClr val="172B4D"/>
                </a:solidFill>
              </a:rPr>
              <a:t>· </a:t>
            </a:r>
            <a:r>
              <a:rPr lang="pt-BR" sz="800" err="1">
                <a:solidFill>
                  <a:srgbClr val="172B4D"/>
                </a:solidFill>
              </a:rPr>
              <a:t>Produc</a:t>
            </a:r>
            <a:r>
              <a:rPr lang="pt-BR" sz="800">
                <a:solidFill>
                  <a:srgbClr val="172B4D"/>
                </a:solidFill>
              </a:rPr>
              <a:t> </a:t>
            </a:r>
            <a:r>
              <a:rPr lang="pt-BR" sz="800" err="1">
                <a:solidFill>
                  <a:srgbClr val="172B4D"/>
                </a:solidFill>
              </a:rPr>
              <a:t>Sup</a:t>
            </a:r>
            <a:r>
              <a:rPr lang="pt-BR" sz="800">
                <a:solidFill>
                  <a:srgbClr val="172B4D"/>
                </a:solidFill>
              </a:rPr>
              <a:t> · Non-</a:t>
            </a:r>
            <a:r>
              <a:rPr lang="pt-BR" sz="800" err="1">
                <a:solidFill>
                  <a:srgbClr val="172B4D"/>
                </a:solidFill>
              </a:rPr>
              <a:t>Reg</a:t>
            </a:r>
            <a:r>
              <a:rPr lang="pt-BR" sz="800" i="0">
                <a:solidFill>
                  <a:srgbClr val="172B4D"/>
                </a:solidFill>
              </a:rPr>
              <a:t>  </a:t>
            </a:r>
            <a:endParaRPr lang="pt-BR" sz="900" i="0">
              <a:solidFill>
                <a:srgbClr val="172B4D"/>
              </a:solidFill>
            </a:endParaRPr>
          </a:p>
        </p:txBody>
      </p:sp>
      <p:sp>
        <p:nvSpPr>
          <p:cNvPr id="156" name="TextBox 59">
            <a:extLst>
              <a:ext uri="{FF2B5EF4-FFF2-40B4-BE49-F238E27FC236}">
                <a16:creationId xmlns:a16="http://schemas.microsoft.com/office/drawing/2014/main" id="{281188E5-0063-2D71-5E07-82962C96F7CC}"/>
              </a:ext>
            </a:extLst>
          </p:cNvPr>
          <p:cNvSpPr txBox="1"/>
          <p:nvPr/>
        </p:nvSpPr>
        <p:spPr>
          <a:xfrm>
            <a:off x="9464040" y="2606040"/>
            <a:ext cx="2194560" cy="174851"/>
          </a:xfrm>
          <a:prstGeom prst="rect">
            <a:avLst/>
          </a:prstGeom>
          <a:noFill/>
        </p:spPr>
        <p:txBody>
          <a:bodyPr wrap="square" lIns="36000" tIns="18000" rIns="36000" bIns="18000" anchor="t">
            <a:spAutoFit/>
          </a:bodyPr>
          <a:lstStyle/>
          <a:p>
            <a:r>
              <a:rPr sz="900" b="1" i="0">
                <a:solidFill>
                  <a:srgbClr val="172B4D"/>
                </a:solidFill>
              </a:rPr>
              <a:t>Size</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57" name="Rounded Rectangle 60">
            <a:extLst>
              <a:ext uri="{FF2B5EF4-FFF2-40B4-BE49-F238E27FC236}">
                <a16:creationId xmlns:a16="http://schemas.microsoft.com/office/drawing/2014/main" id="{B7D19C04-5058-0082-E4A3-FD022D06FAD0}"/>
              </a:ext>
            </a:extLst>
          </p:cNvPr>
          <p:cNvSpPr/>
          <p:nvPr/>
        </p:nvSpPr>
        <p:spPr>
          <a:xfrm>
            <a:off x="9464040" y="2770632"/>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61">
            <a:extLst>
              <a:ext uri="{FF2B5EF4-FFF2-40B4-BE49-F238E27FC236}">
                <a16:creationId xmlns:a16="http://schemas.microsoft.com/office/drawing/2014/main" id="{E7497B6A-7783-62A6-AEEB-7A8BC78CE79C}"/>
              </a:ext>
            </a:extLst>
          </p:cNvPr>
          <p:cNvSpPr txBox="1"/>
          <p:nvPr/>
        </p:nvSpPr>
        <p:spPr>
          <a:xfrm>
            <a:off x="9537192" y="2788920"/>
            <a:ext cx="2103120" cy="201168"/>
          </a:xfrm>
          <a:prstGeom prst="rect">
            <a:avLst/>
          </a:prstGeom>
          <a:noFill/>
        </p:spPr>
        <p:txBody>
          <a:bodyPr wrap="square" lIns="36000" tIns="18000" rIns="36000" bIns="18000" anchor="t">
            <a:spAutoFit/>
          </a:bodyPr>
          <a:lstStyle/>
          <a:p>
            <a:pPr algn="l"/>
            <a:r>
              <a:rPr sz="900" b="0" i="0">
                <a:solidFill>
                  <a:srgbClr val="172B4D"/>
                </a:solidFill>
              </a:rPr>
              <a:t>▼ S · M · L · XL</a:t>
            </a:r>
          </a:p>
        </p:txBody>
      </p:sp>
      <p:sp>
        <p:nvSpPr>
          <p:cNvPr id="162" name="TextBox 65">
            <a:extLst>
              <a:ext uri="{FF2B5EF4-FFF2-40B4-BE49-F238E27FC236}">
                <a16:creationId xmlns:a16="http://schemas.microsoft.com/office/drawing/2014/main" id="{6D1FE1B4-FB0A-B974-0667-2DECFBCC72A7}"/>
              </a:ext>
            </a:extLst>
          </p:cNvPr>
          <p:cNvSpPr txBox="1"/>
          <p:nvPr/>
        </p:nvSpPr>
        <p:spPr>
          <a:xfrm>
            <a:off x="7269479" y="3055076"/>
            <a:ext cx="2511829" cy="174851"/>
          </a:xfrm>
          <a:prstGeom prst="rect">
            <a:avLst/>
          </a:prstGeom>
          <a:noFill/>
        </p:spPr>
        <p:txBody>
          <a:bodyPr wrap="square" lIns="36000" tIns="18000" rIns="36000" bIns="18000" anchor="t">
            <a:spAutoFit/>
          </a:bodyPr>
          <a:lstStyle/>
          <a:p>
            <a:r>
              <a:rPr sz="900" b="1" i="0">
                <a:solidFill>
                  <a:srgbClr val="172B4D"/>
                </a:solidFill>
              </a:rPr>
              <a:t>Run / Grow / Transform</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63" name="Rounded Rectangle 66">
            <a:extLst>
              <a:ext uri="{FF2B5EF4-FFF2-40B4-BE49-F238E27FC236}">
                <a16:creationId xmlns:a16="http://schemas.microsoft.com/office/drawing/2014/main" id="{AFE55F16-B0B5-030C-CB6A-897B8D602E49}"/>
              </a:ext>
            </a:extLst>
          </p:cNvPr>
          <p:cNvSpPr/>
          <p:nvPr/>
        </p:nvSpPr>
        <p:spPr>
          <a:xfrm>
            <a:off x="7269480" y="3219668"/>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67">
            <a:extLst>
              <a:ext uri="{FF2B5EF4-FFF2-40B4-BE49-F238E27FC236}">
                <a16:creationId xmlns:a16="http://schemas.microsoft.com/office/drawing/2014/main" id="{EB89C4EE-1594-C2F1-07C2-0B5AFA191227}"/>
              </a:ext>
            </a:extLst>
          </p:cNvPr>
          <p:cNvSpPr txBox="1"/>
          <p:nvPr/>
        </p:nvSpPr>
        <p:spPr>
          <a:xfrm>
            <a:off x="7342632" y="3237956"/>
            <a:ext cx="2103120" cy="201168"/>
          </a:xfrm>
          <a:prstGeom prst="rect">
            <a:avLst/>
          </a:prstGeom>
          <a:noFill/>
        </p:spPr>
        <p:txBody>
          <a:bodyPr wrap="square" lIns="36000" tIns="18000" rIns="36000" bIns="18000" anchor="t">
            <a:spAutoFit/>
          </a:bodyPr>
          <a:lstStyle/>
          <a:p>
            <a:pPr algn="l"/>
            <a:r>
              <a:rPr sz="900" b="0" i="0">
                <a:solidFill>
                  <a:srgbClr val="172B4D"/>
                </a:solidFill>
              </a:rPr>
              <a:t>▼ Run · Grow · Transform</a:t>
            </a:r>
          </a:p>
        </p:txBody>
      </p:sp>
      <p:sp>
        <p:nvSpPr>
          <p:cNvPr id="165" name="Rounded Rectangle 68">
            <a:extLst>
              <a:ext uri="{FF2B5EF4-FFF2-40B4-BE49-F238E27FC236}">
                <a16:creationId xmlns:a16="http://schemas.microsoft.com/office/drawing/2014/main" id="{50A0EF76-5470-E3CA-BB09-6B6E5A2D366D}"/>
              </a:ext>
            </a:extLst>
          </p:cNvPr>
          <p:cNvSpPr/>
          <p:nvPr/>
        </p:nvSpPr>
        <p:spPr>
          <a:xfrm>
            <a:off x="7232904" y="3483864"/>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69">
            <a:extLst>
              <a:ext uri="{FF2B5EF4-FFF2-40B4-BE49-F238E27FC236}">
                <a16:creationId xmlns:a16="http://schemas.microsoft.com/office/drawing/2014/main" id="{E9613972-1AFD-B589-88B1-7F3F5409107A}"/>
              </a:ext>
            </a:extLst>
          </p:cNvPr>
          <p:cNvSpPr txBox="1"/>
          <p:nvPr/>
        </p:nvSpPr>
        <p:spPr>
          <a:xfrm>
            <a:off x="7269480" y="3520440"/>
            <a:ext cx="4389120" cy="174851"/>
          </a:xfrm>
          <a:prstGeom prst="rect">
            <a:avLst/>
          </a:prstGeom>
          <a:noFill/>
        </p:spPr>
        <p:txBody>
          <a:bodyPr wrap="square" lIns="36000" tIns="18000" rIns="36000" bIns="18000" anchor="t">
            <a:spAutoFit/>
          </a:bodyPr>
          <a:lstStyle/>
          <a:p>
            <a:r>
              <a:rPr sz="900" b="1" i="0">
                <a:solidFill>
                  <a:srgbClr val="172A4D"/>
                </a:solidFill>
              </a:rPr>
              <a:t>Customer Impact Tier  ·  CS only · drives Auto-Expedite</a:t>
            </a:r>
            <a:r>
              <a:rPr lang="pt-BR" sz="900" b="1">
                <a:solidFill>
                  <a:srgbClr val="172A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r>
              <a:rPr lang="pt-BR" sz="900" b="1" i="0">
                <a:solidFill>
                  <a:srgbClr val="172A4D"/>
                </a:solidFill>
              </a:rPr>
              <a:t> </a:t>
            </a:r>
          </a:p>
        </p:txBody>
      </p:sp>
      <p:sp>
        <p:nvSpPr>
          <p:cNvPr id="167" name="Rounded Rectangle 70">
            <a:extLst>
              <a:ext uri="{FF2B5EF4-FFF2-40B4-BE49-F238E27FC236}">
                <a16:creationId xmlns:a16="http://schemas.microsoft.com/office/drawing/2014/main" id="{63B5B194-6128-78AE-3424-6C202DA51500}"/>
              </a:ext>
            </a:extLst>
          </p:cNvPr>
          <p:cNvSpPr/>
          <p:nvPr/>
        </p:nvSpPr>
        <p:spPr>
          <a:xfrm>
            <a:off x="7269480"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71">
            <a:extLst>
              <a:ext uri="{FF2B5EF4-FFF2-40B4-BE49-F238E27FC236}">
                <a16:creationId xmlns:a16="http://schemas.microsoft.com/office/drawing/2014/main" id="{1BFE0B1A-1FC7-F402-734B-9457BD72E9E7}"/>
              </a:ext>
            </a:extLst>
          </p:cNvPr>
          <p:cNvSpPr txBox="1"/>
          <p:nvPr/>
        </p:nvSpPr>
        <p:spPr>
          <a:xfrm>
            <a:off x="7268648" y="3769893"/>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P1 </a:t>
            </a:r>
            <a:r>
              <a:rPr lang="es-MX" sz="800" b="1" i="0">
                <a:solidFill>
                  <a:srgbClr val="172A4D"/>
                </a:solidFill>
              </a:rPr>
              <a:t>Critical</a:t>
            </a:r>
          </a:p>
        </p:txBody>
      </p:sp>
      <p:sp>
        <p:nvSpPr>
          <p:cNvPr id="169" name="Rounded Rectangle 72">
            <a:extLst>
              <a:ext uri="{FF2B5EF4-FFF2-40B4-BE49-F238E27FC236}">
                <a16:creationId xmlns:a16="http://schemas.microsoft.com/office/drawing/2014/main" id="{C7105C2B-908B-9D2A-57E0-E3541AC6E856}"/>
              </a:ext>
            </a:extLst>
          </p:cNvPr>
          <p:cNvSpPr/>
          <p:nvPr/>
        </p:nvSpPr>
        <p:spPr>
          <a:xfrm>
            <a:off x="8380476"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73">
            <a:extLst>
              <a:ext uri="{FF2B5EF4-FFF2-40B4-BE49-F238E27FC236}">
                <a16:creationId xmlns:a16="http://schemas.microsoft.com/office/drawing/2014/main" id="{54F51B13-1383-8570-8126-E8984798EA48}"/>
              </a:ext>
            </a:extLst>
          </p:cNvPr>
          <p:cNvSpPr txBox="1"/>
          <p:nvPr/>
        </p:nvSpPr>
        <p:spPr>
          <a:xfrm>
            <a:off x="8275320" y="3774430"/>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P2 </a:t>
            </a:r>
            <a:r>
              <a:rPr lang="es-MX" sz="800" b="1" i="0">
                <a:solidFill>
                  <a:srgbClr val="172A4D"/>
                </a:solidFill>
              </a:rPr>
              <a:t>High</a:t>
            </a:r>
          </a:p>
        </p:txBody>
      </p:sp>
      <p:sp>
        <p:nvSpPr>
          <p:cNvPr id="171" name="Rounded Rectangle 74">
            <a:extLst>
              <a:ext uri="{FF2B5EF4-FFF2-40B4-BE49-F238E27FC236}">
                <a16:creationId xmlns:a16="http://schemas.microsoft.com/office/drawing/2014/main" id="{EBBDA631-424C-46E6-ADAD-DFA16A6EF8E5}"/>
              </a:ext>
            </a:extLst>
          </p:cNvPr>
          <p:cNvSpPr/>
          <p:nvPr/>
        </p:nvSpPr>
        <p:spPr>
          <a:xfrm>
            <a:off x="9491472"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75">
            <a:extLst>
              <a:ext uri="{FF2B5EF4-FFF2-40B4-BE49-F238E27FC236}">
                <a16:creationId xmlns:a16="http://schemas.microsoft.com/office/drawing/2014/main" id="{FA27D569-608B-2C0B-AA6A-5F22FB920675}"/>
              </a:ext>
            </a:extLst>
          </p:cNvPr>
          <p:cNvSpPr txBox="1"/>
          <p:nvPr/>
        </p:nvSpPr>
        <p:spPr>
          <a:xfrm>
            <a:off x="9440570" y="3769968"/>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a:t>
            </a:r>
            <a:r>
              <a:rPr sz="800" b="1" i="0">
                <a:solidFill>
                  <a:srgbClr val="0F2A47"/>
                </a:solidFill>
              </a:rPr>
              <a:t>P3 Medium</a:t>
            </a:r>
          </a:p>
        </p:txBody>
      </p:sp>
      <p:sp>
        <p:nvSpPr>
          <p:cNvPr id="173" name="Rounded Rectangle 76">
            <a:extLst>
              <a:ext uri="{FF2B5EF4-FFF2-40B4-BE49-F238E27FC236}">
                <a16:creationId xmlns:a16="http://schemas.microsoft.com/office/drawing/2014/main" id="{CF641B61-430E-31D9-5DF4-9C37AE615AA8}"/>
              </a:ext>
            </a:extLst>
          </p:cNvPr>
          <p:cNvSpPr/>
          <p:nvPr/>
        </p:nvSpPr>
        <p:spPr>
          <a:xfrm>
            <a:off x="10602468"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77">
            <a:extLst>
              <a:ext uri="{FF2B5EF4-FFF2-40B4-BE49-F238E27FC236}">
                <a16:creationId xmlns:a16="http://schemas.microsoft.com/office/drawing/2014/main" id="{4F64F193-E2F5-7BCA-70D6-8795948D1952}"/>
              </a:ext>
            </a:extLst>
          </p:cNvPr>
          <p:cNvSpPr txBox="1"/>
          <p:nvPr/>
        </p:nvSpPr>
        <p:spPr>
          <a:xfrm>
            <a:off x="10556360" y="3771251"/>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P4 </a:t>
            </a:r>
            <a:r>
              <a:rPr lang="es-MX" sz="800" b="1" i="0">
                <a:solidFill>
                  <a:srgbClr val="172A4D"/>
                </a:solidFill>
              </a:rPr>
              <a:t>Low</a:t>
            </a:r>
          </a:p>
        </p:txBody>
      </p:sp>
      <p:sp>
        <p:nvSpPr>
          <p:cNvPr id="175" name="Rounded Rectangle 78">
            <a:extLst>
              <a:ext uri="{FF2B5EF4-FFF2-40B4-BE49-F238E27FC236}">
                <a16:creationId xmlns:a16="http://schemas.microsoft.com/office/drawing/2014/main" id="{ACC9397A-96D7-1DDA-D2FF-8C3151CF4E45}"/>
              </a:ext>
            </a:extLst>
          </p:cNvPr>
          <p:cNvSpPr/>
          <p:nvPr/>
        </p:nvSpPr>
        <p:spPr>
          <a:xfrm>
            <a:off x="7232904" y="4059936"/>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83">
            <a:extLst>
              <a:ext uri="{FF2B5EF4-FFF2-40B4-BE49-F238E27FC236}">
                <a16:creationId xmlns:a16="http://schemas.microsoft.com/office/drawing/2014/main" id="{1B3F0B14-7C90-CABA-FD01-D24F8CAEFF9F}"/>
              </a:ext>
            </a:extLst>
          </p:cNvPr>
          <p:cNvSpPr txBox="1"/>
          <p:nvPr/>
        </p:nvSpPr>
        <p:spPr>
          <a:xfrm>
            <a:off x="7251192" y="4133088"/>
            <a:ext cx="4389120" cy="205629"/>
          </a:xfrm>
          <a:prstGeom prst="rect">
            <a:avLst/>
          </a:prstGeom>
          <a:noFill/>
        </p:spPr>
        <p:txBody>
          <a:bodyPr wrap="square" lIns="36000" tIns="18000" rIns="36000" bIns="18000" anchor="t">
            <a:spAutoFit/>
          </a:bodyPr>
          <a:lstStyle/>
          <a:p>
            <a:pPr algn="l"/>
            <a:r>
              <a:rPr lang="en-US" sz="1100" b="1" i="0">
                <a:solidFill>
                  <a:srgbClr val="007A32"/>
                </a:solidFill>
              </a:rPr>
              <a:t> CONTEXT</a:t>
            </a:r>
          </a:p>
        </p:txBody>
      </p:sp>
      <p:sp>
        <p:nvSpPr>
          <p:cNvPr id="181" name="Rectangle 84">
            <a:extLst>
              <a:ext uri="{FF2B5EF4-FFF2-40B4-BE49-F238E27FC236}">
                <a16:creationId xmlns:a16="http://schemas.microsoft.com/office/drawing/2014/main" id="{3010E64D-F621-8158-95F3-8CD44388AE45}"/>
              </a:ext>
            </a:extLst>
          </p:cNvPr>
          <p:cNvSpPr/>
          <p:nvPr/>
        </p:nvSpPr>
        <p:spPr>
          <a:xfrm>
            <a:off x="7251192" y="4334256"/>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85">
            <a:extLst>
              <a:ext uri="{FF2B5EF4-FFF2-40B4-BE49-F238E27FC236}">
                <a16:creationId xmlns:a16="http://schemas.microsoft.com/office/drawing/2014/main" id="{3BE9F2FA-DBF1-ACFF-B119-577FA300821C}"/>
              </a:ext>
            </a:extLst>
          </p:cNvPr>
          <p:cNvSpPr txBox="1"/>
          <p:nvPr/>
        </p:nvSpPr>
        <p:spPr>
          <a:xfrm>
            <a:off x="7251192" y="4425696"/>
            <a:ext cx="1426464" cy="174851"/>
          </a:xfrm>
          <a:prstGeom prst="rect">
            <a:avLst/>
          </a:prstGeom>
          <a:noFill/>
        </p:spPr>
        <p:txBody>
          <a:bodyPr wrap="square" lIns="36000" tIns="18000" rIns="36000" bIns="18000" anchor="t">
            <a:spAutoFit/>
          </a:bodyPr>
          <a:lstStyle/>
          <a:p>
            <a:r>
              <a:rPr sz="900" b="1" i="0">
                <a:solidFill>
                  <a:srgbClr val="172B4D"/>
                </a:solidFill>
              </a:rPr>
              <a:t>OPCO</a:t>
            </a:r>
            <a:endParaRPr lang="es-MX" sz="900" b="1" i="0">
              <a:solidFill>
                <a:srgbClr val="172B4D"/>
              </a:solidFill>
            </a:endParaRPr>
          </a:p>
        </p:txBody>
      </p:sp>
      <p:sp>
        <p:nvSpPr>
          <p:cNvPr id="183" name="Rounded Rectangle 86">
            <a:extLst>
              <a:ext uri="{FF2B5EF4-FFF2-40B4-BE49-F238E27FC236}">
                <a16:creationId xmlns:a16="http://schemas.microsoft.com/office/drawing/2014/main" id="{6D0FBE6A-6DA4-4860-CBDA-5E9EBC2AB32A}"/>
              </a:ext>
            </a:extLst>
          </p:cNvPr>
          <p:cNvSpPr/>
          <p:nvPr/>
        </p:nvSpPr>
        <p:spPr>
          <a:xfrm>
            <a:off x="7251192"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87">
            <a:extLst>
              <a:ext uri="{FF2B5EF4-FFF2-40B4-BE49-F238E27FC236}">
                <a16:creationId xmlns:a16="http://schemas.microsoft.com/office/drawing/2014/main" id="{7CA1E957-CC55-6281-7815-3DBCD117E4B7}"/>
              </a:ext>
            </a:extLst>
          </p:cNvPr>
          <p:cNvSpPr txBox="1"/>
          <p:nvPr/>
        </p:nvSpPr>
        <p:spPr>
          <a:xfrm>
            <a:off x="7306056" y="4608576"/>
            <a:ext cx="1426464" cy="201168"/>
          </a:xfrm>
          <a:prstGeom prst="rect">
            <a:avLst/>
          </a:prstGeom>
          <a:noFill/>
        </p:spPr>
        <p:txBody>
          <a:bodyPr wrap="square" lIns="36000" tIns="18000" rIns="36000" bIns="18000" anchor="t">
            <a:spAutoFit/>
          </a:bodyPr>
          <a:lstStyle/>
          <a:p>
            <a:pPr algn="l"/>
            <a:r>
              <a:rPr sz="800" b="0" i="0">
                <a:solidFill>
                  <a:srgbClr val="172B4D"/>
                </a:solidFill>
              </a:rPr>
              <a:t>▼ UIL · CMP · NY</a:t>
            </a:r>
          </a:p>
        </p:txBody>
      </p:sp>
      <p:sp>
        <p:nvSpPr>
          <p:cNvPr id="185" name="TextBox 88">
            <a:extLst>
              <a:ext uri="{FF2B5EF4-FFF2-40B4-BE49-F238E27FC236}">
                <a16:creationId xmlns:a16="http://schemas.microsoft.com/office/drawing/2014/main" id="{1BB1D886-2FB6-6271-BD31-AFC8729121F6}"/>
              </a:ext>
            </a:extLst>
          </p:cNvPr>
          <p:cNvSpPr txBox="1"/>
          <p:nvPr/>
        </p:nvSpPr>
        <p:spPr>
          <a:xfrm>
            <a:off x="8732520" y="4425696"/>
            <a:ext cx="1426464" cy="174851"/>
          </a:xfrm>
          <a:prstGeom prst="rect">
            <a:avLst/>
          </a:prstGeom>
          <a:noFill/>
        </p:spPr>
        <p:txBody>
          <a:bodyPr wrap="square" lIns="36000" tIns="18000" rIns="36000" bIns="18000" anchor="t">
            <a:spAutoFit/>
          </a:bodyPr>
          <a:lstStyle/>
          <a:p>
            <a:pPr algn="l"/>
            <a:r>
              <a:rPr sz="900" b="1" i="0">
                <a:solidFill>
                  <a:srgbClr val="172B4D"/>
                </a:solidFill>
              </a:rPr>
              <a:t>Sponsor </a:t>
            </a:r>
          </a:p>
        </p:txBody>
      </p:sp>
      <p:sp>
        <p:nvSpPr>
          <p:cNvPr id="186" name="Rounded Rectangle 89">
            <a:extLst>
              <a:ext uri="{FF2B5EF4-FFF2-40B4-BE49-F238E27FC236}">
                <a16:creationId xmlns:a16="http://schemas.microsoft.com/office/drawing/2014/main" id="{F85408CF-20D3-233B-3D00-574CDC831746}"/>
              </a:ext>
            </a:extLst>
          </p:cNvPr>
          <p:cNvSpPr/>
          <p:nvPr/>
        </p:nvSpPr>
        <p:spPr>
          <a:xfrm>
            <a:off x="8732520"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90">
            <a:extLst>
              <a:ext uri="{FF2B5EF4-FFF2-40B4-BE49-F238E27FC236}">
                <a16:creationId xmlns:a16="http://schemas.microsoft.com/office/drawing/2014/main" id="{521191BD-CC68-C6EC-EEDD-3E6EF2187570}"/>
              </a:ext>
            </a:extLst>
          </p:cNvPr>
          <p:cNvSpPr txBox="1"/>
          <p:nvPr/>
        </p:nvSpPr>
        <p:spPr>
          <a:xfrm>
            <a:off x="8787384" y="4608576"/>
            <a:ext cx="1426464" cy="201168"/>
          </a:xfrm>
          <a:prstGeom prst="rect">
            <a:avLst/>
          </a:prstGeom>
          <a:noFill/>
        </p:spPr>
        <p:txBody>
          <a:bodyPr wrap="square" lIns="36000" tIns="18000" rIns="36000" bIns="18000" anchor="t">
            <a:spAutoFit/>
          </a:bodyPr>
          <a:lstStyle/>
          <a:p>
            <a:pPr algn="l"/>
            <a:r>
              <a:rPr sz="800" b="0" i="1">
                <a:solidFill>
                  <a:srgbClr val="A5ADBA"/>
                </a:solidFill>
              </a:rPr>
              <a:t>@ User picker</a:t>
            </a:r>
          </a:p>
        </p:txBody>
      </p:sp>
      <p:sp>
        <p:nvSpPr>
          <p:cNvPr id="188" name="TextBox 91">
            <a:extLst>
              <a:ext uri="{FF2B5EF4-FFF2-40B4-BE49-F238E27FC236}">
                <a16:creationId xmlns:a16="http://schemas.microsoft.com/office/drawing/2014/main" id="{044148ED-D143-F489-F336-B211C6B6A523}"/>
              </a:ext>
            </a:extLst>
          </p:cNvPr>
          <p:cNvSpPr txBox="1"/>
          <p:nvPr/>
        </p:nvSpPr>
        <p:spPr>
          <a:xfrm>
            <a:off x="10213848" y="4425696"/>
            <a:ext cx="1426464" cy="164592"/>
          </a:xfrm>
          <a:prstGeom prst="rect">
            <a:avLst/>
          </a:prstGeom>
          <a:noFill/>
        </p:spPr>
        <p:txBody>
          <a:bodyPr wrap="square" lIns="36000" tIns="18000" rIns="36000" bIns="18000" anchor="t">
            <a:spAutoFit/>
          </a:bodyPr>
          <a:lstStyle/>
          <a:p>
            <a:pPr algn="l"/>
            <a:r>
              <a:rPr sz="900" b="1" i="0">
                <a:solidFill>
                  <a:srgbClr val="172B4D"/>
                </a:solidFill>
              </a:rPr>
              <a:t>Due Date</a:t>
            </a:r>
          </a:p>
        </p:txBody>
      </p:sp>
      <p:sp>
        <p:nvSpPr>
          <p:cNvPr id="189" name="Rounded Rectangle 92">
            <a:extLst>
              <a:ext uri="{FF2B5EF4-FFF2-40B4-BE49-F238E27FC236}">
                <a16:creationId xmlns:a16="http://schemas.microsoft.com/office/drawing/2014/main" id="{3FE401A9-E076-DBFF-538C-1050FFA29CE9}"/>
              </a:ext>
            </a:extLst>
          </p:cNvPr>
          <p:cNvSpPr/>
          <p:nvPr/>
        </p:nvSpPr>
        <p:spPr>
          <a:xfrm>
            <a:off x="10213848"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93">
            <a:extLst>
              <a:ext uri="{FF2B5EF4-FFF2-40B4-BE49-F238E27FC236}">
                <a16:creationId xmlns:a16="http://schemas.microsoft.com/office/drawing/2014/main" id="{5E428EFA-5232-C64B-67C1-DFBD18A447F0}"/>
              </a:ext>
            </a:extLst>
          </p:cNvPr>
          <p:cNvSpPr txBox="1"/>
          <p:nvPr/>
        </p:nvSpPr>
        <p:spPr>
          <a:xfrm>
            <a:off x="10268712" y="4608576"/>
            <a:ext cx="1426464" cy="201168"/>
          </a:xfrm>
          <a:prstGeom prst="rect">
            <a:avLst/>
          </a:prstGeom>
          <a:noFill/>
        </p:spPr>
        <p:txBody>
          <a:bodyPr wrap="square" lIns="36000" tIns="18000" rIns="36000" bIns="18000" anchor="t">
            <a:spAutoFit/>
          </a:bodyPr>
          <a:lstStyle/>
          <a:p>
            <a:pPr algn="l"/>
            <a:r>
              <a:rPr sz="800" b="0" i="1">
                <a:solidFill>
                  <a:srgbClr val="A5ADBA"/>
                </a:solidFill>
              </a:rPr>
              <a:t>📅 YYYY-MM-DD</a:t>
            </a:r>
          </a:p>
        </p:txBody>
      </p:sp>
      <p:sp>
        <p:nvSpPr>
          <p:cNvPr id="191" name="Rounded Rectangle 94">
            <a:extLst>
              <a:ext uri="{FF2B5EF4-FFF2-40B4-BE49-F238E27FC236}">
                <a16:creationId xmlns:a16="http://schemas.microsoft.com/office/drawing/2014/main" id="{46CC89AA-77C9-3185-C54D-3B33B68FDC52}"/>
              </a:ext>
            </a:extLst>
          </p:cNvPr>
          <p:cNvSpPr/>
          <p:nvPr/>
        </p:nvSpPr>
        <p:spPr>
          <a:xfrm>
            <a:off x="7251192" y="5470036"/>
            <a:ext cx="4389120" cy="824075"/>
          </a:xfrm>
          <a:prstGeom prst="roundRect">
            <a:avLst>
              <a:gd name="adj" fmla="val 6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95">
            <a:extLst>
              <a:ext uri="{FF2B5EF4-FFF2-40B4-BE49-F238E27FC236}">
                <a16:creationId xmlns:a16="http://schemas.microsoft.com/office/drawing/2014/main" id="{9772C042-757A-6208-025F-BFA111DB9FAB}"/>
              </a:ext>
            </a:extLst>
          </p:cNvPr>
          <p:cNvSpPr txBox="1"/>
          <p:nvPr/>
        </p:nvSpPr>
        <p:spPr>
          <a:xfrm>
            <a:off x="7388352" y="5516562"/>
            <a:ext cx="4205852" cy="159462"/>
          </a:xfrm>
          <a:prstGeom prst="rect">
            <a:avLst/>
          </a:prstGeom>
          <a:noFill/>
        </p:spPr>
        <p:txBody>
          <a:bodyPr wrap="square" lIns="36000" tIns="18000" rIns="36000" bIns="18000" anchor="t">
            <a:spAutoFit/>
          </a:bodyPr>
          <a:lstStyle/>
          <a:p>
            <a:pPr algn="ctr"/>
            <a:r>
              <a:rPr sz="800" b="1" i="0">
                <a:solidFill>
                  <a:schemeClr val="bg1"/>
                </a:solidFill>
              </a:rPr>
              <a:t>PAIN SCORE  ·  auto-computed</a:t>
            </a:r>
          </a:p>
        </p:txBody>
      </p:sp>
      <p:sp>
        <p:nvSpPr>
          <p:cNvPr id="193" name="TextBox 96">
            <a:extLst>
              <a:ext uri="{FF2B5EF4-FFF2-40B4-BE49-F238E27FC236}">
                <a16:creationId xmlns:a16="http://schemas.microsoft.com/office/drawing/2014/main" id="{297089CF-F230-D13C-869E-AC0C9DC0E619}"/>
              </a:ext>
            </a:extLst>
          </p:cNvPr>
          <p:cNvSpPr txBox="1"/>
          <p:nvPr/>
        </p:nvSpPr>
        <p:spPr>
          <a:xfrm>
            <a:off x="7251192" y="5667523"/>
            <a:ext cx="4389120" cy="590349"/>
          </a:xfrm>
          <a:prstGeom prst="rect">
            <a:avLst/>
          </a:prstGeom>
          <a:noFill/>
        </p:spPr>
        <p:txBody>
          <a:bodyPr wrap="square" lIns="36000" tIns="18000" rIns="36000" bIns="18000" anchor="ctr">
            <a:spAutoFit/>
          </a:bodyPr>
          <a:lstStyle/>
          <a:p>
            <a:pPr algn="ctr"/>
            <a:r>
              <a:rPr lang="pt-BR" sz="1200" b="1" i="0">
                <a:solidFill>
                  <a:schemeClr val="bg1"/>
                </a:solidFill>
              </a:rPr>
              <a:t>Pain Score  ITBA = (BV x </a:t>
            </a:r>
            <a:r>
              <a:rPr lang="pt-BR" sz="1200" b="1" i="0" err="1">
                <a:solidFill>
                  <a:schemeClr val="bg1"/>
                </a:solidFill>
              </a:rPr>
              <a:t>OPCOmult·w</a:t>
            </a:r>
            <a:r>
              <a:rPr lang="pt-BR" sz="1200" b="1" i="0">
                <a:solidFill>
                  <a:schemeClr val="bg1"/>
                </a:solidFill>
              </a:rPr>
              <a:t>₁ + </a:t>
            </a:r>
            <a:r>
              <a:rPr lang="pt-BR" sz="1200" b="1" i="0" err="1">
                <a:solidFill>
                  <a:schemeClr val="bg1"/>
                </a:solidFill>
              </a:rPr>
              <a:t>UX·w</a:t>
            </a:r>
            <a:r>
              <a:rPr lang="pt-BR" sz="1200" b="1" i="0">
                <a:solidFill>
                  <a:schemeClr val="bg1"/>
                </a:solidFill>
              </a:rPr>
              <a:t>₂ + </a:t>
            </a:r>
            <a:r>
              <a:rPr lang="pt-BR" sz="1200" b="1" i="0" err="1">
                <a:solidFill>
                  <a:schemeClr val="bg1"/>
                </a:solidFill>
              </a:rPr>
              <a:t>Safety·w</a:t>
            </a:r>
            <a:r>
              <a:rPr lang="pt-BR" sz="1200" b="1" i="0">
                <a:solidFill>
                  <a:schemeClr val="bg1"/>
                </a:solidFill>
              </a:rPr>
              <a:t>₃) / </a:t>
            </a:r>
            <a:r>
              <a:rPr lang="pt-BR" sz="1200" b="1" i="0" err="1">
                <a:solidFill>
                  <a:schemeClr val="bg1"/>
                </a:solidFill>
              </a:rPr>
              <a:t>Effort</a:t>
            </a:r>
            <a:r>
              <a:rPr lang="pt-BR" sz="1200" b="1" i="0">
                <a:solidFill>
                  <a:schemeClr val="bg1"/>
                </a:solidFill>
              </a:rPr>
              <a:t>
Pain Score  CS    = (BV x </a:t>
            </a:r>
            <a:r>
              <a:rPr lang="pt-BR" sz="1200" b="1" err="1">
                <a:solidFill>
                  <a:schemeClr val="bg1"/>
                </a:solidFill>
              </a:rPr>
              <a:t>OPCOmult</a:t>
            </a:r>
            <a:r>
              <a:rPr lang="pt-BR" sz="1200" b="1">
                <a:solidFill>
                  <a:schemeClr val="bg1"/>
                </a:solidFill>
              </a:rPr>
              <a:t>· w₁ </a:t>
            </a:r>
            <a:r>
              <a:rPr lang="pt-BR" sz="1200" b="1" i="0">
                <a:solidFill>
                  <a:schemeClr val="bg1"/>
                </a:solidFill>
              </a:rPr>
              <a:t>+ </a:t>
            </a:r>
            <a:r>
              <a:rPr lang="pt-BR" sz="1200" b="1">
                <a:solidFill>
                  <a:schemeClr val="bg1"/>
                </a:solidFill>
              </a:rPr>
              <a:t>UX· w₂ ) </a:t>
            </a:r>
            <a:r>
              <a:rPr lang="pt-BR" sz="1200" b="1" i="0">
                <a:solidFill>
                  <a:schemeClr val="bg1"/>
                </a:solidFill>
              </a:rPr>
              <a:t>/ </a:t>
            </a:r>
            <a:r>
              <a:rPr lang="pt-BR" sz="1200" b="1" i="0" err="1">
                <a:solidFill>
                  <a:schemeClr val="bg1"/>
                </a:solidFill>
              </a:rPr>
              <a:t>Effort</a:t>
            </a:r>
            <a:endParaRPr lang="pt-BR" sz="1200" b="1" i="0">
              <a:solidFill>
                <a:schemeClr val="bg1"/>
              </a:solidFill>
            </a:endParaRPr>
          </a:p>
        </p:txBody>
      </p:sp>
      <p:sp>
        <p:nvSpPr>
          <p:cNvPr id="194" name="Rounded Rectangle 97">
            <a:extLst>
              <a:ext uri="{FF2B5EF4-FFF2-40B4-BE49-F238E27FC236}">
                <a16:creationId xmlns:a16="http://schemas.microsoft.com/office/drawing/2014/main" id="{EC0CB021-56D1-BF66-94C2-8AABA9FA2802}"/>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98">
            <a:extLst>
              <a:ext uri="{FF2B5EF4-FFF2-40B4-BE49-F238E27FC236}">
                <a16:creationId xmlns:a16="http://schemas.microsoft.com/office/drawing/2014/main" id="{9A14EB9A-949A-E53F-7594-4C9FC0741767}"/>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196" name="TextBox 36">
            <a:extLst>
              <a:ext uri="{FF2B5EF4-FFF2-40B4-BE49-F238E27FC236}">
                <a16:creationId xmlns:a16="http://schemas.microsoft.com/office/drawing/2014/main" id="{CC24960B-5856-8DAD-0FE3-0366C1625384}"/>
              </a:ext>
            </a:extLst>
          </p:cNvPr>
          <p:cNvSpPr txBox="1"/>
          <p:nvPr/>
        </p:nvSpPr>
        <p:spPr>
          <a:xfrm>
            <a:off x="4011930" y="6130598"/>
            <a:ext cx="3040380" cy="164592"/>
          </a:xfrm>
          <a:prstGeom prst="rect">
            <a:avLst/>
          </a:prstGeom>
          <a:noFill/>
        </p:spPr>
        <p:txBody>
          <a:bodyPr wrap="square" lIns="36000" tIns="18000" rIns="36000" bIns="18000" anchor="t">
            <a:spAutoFit/>
          </a:bodyPr>
          <a:lstStyle/>
          <a:p>
            <a:pPr algn="l"/>
            <a:r>
              <a:rPr sz="800" b="1" i="1">
                <a:solidFill>
                  <a:srgbClr val="162A4D"/>
                </a:solidFill>
              </a:rPr>
              <a:t>→ </a:t>
            </a:r>
            <a:r>
              <a:rPr lang="pt-BR" sz="800" b="1" i="1">
                <a:solidFill>
                  <a:srgbClr val="162A4D"/>
                </a:solidFill>
              </a:rPr>
              <a:t>CS</a:t>
            </a:r>
            <a:r>
              <a:rPr sz="800" b="1" i="1">
                <a:solidFill>
                  <a:srgbClr val="162A4D"/>
                </a:solidFill>
              </a:rPr>
              <a:t> Portfolio Board</a:t>
            </a:r>
          </a:p>
        </p:txBody>
      </p:sp>
      <p:sp>
        <p:nvSpPr>
          <p:cNvPr id="4" name="Rounded Rectangle 8">
            <a:extLst>
              <a:ext uri="{FF2B5EF4-FFF2-40B4-BE49-F238E27FC236}">
                <a16:creationId xmlns:a16="http://schemas.microsoft.com/office/drawing/2014/main" id="{4B77D9A6-3F67-75B6-2A00-32590268C941}"/>
              </a:ext>
            </a:extLst>
          </p:cNvPr>
          <p:cNvSpPr/>
          <p:nvPr/>
        </p:nvSpPr>
        <p:spPr>
          <a:xfrm>
            <a:off x="502920" y="1197864"/>
            <a:ext cx="592784" cy="219456"/>
          </a:xfrm>
          <a:prstGeom prst="roundRect">
            <a:avLst>
              <a:gd name="adj" fmla="val 6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5B3AD08A-35F5-0941-0D7C-71D90044592F}"/>
              </a:ext>
            </a:extLst>
          </p:cNvPr>
          <p:cNvSpPr txBox="1"/>
          <p:nvPr/>
        </p:nvSpPr>
        <p:spPr>
          <a:xfrm>
            <a:off x="548639" y="1216152"/>
            <a:ext cx="602244" cy="174851"/>
          </a:xfrm>
          <a:prstGeom prst="rect">
            <a:avLst/>
          </a:prstGeom>
          <a:noFill/>
        </p:spPr>
        <p:txBody>
          <a:bodyPr wrap="square" lIns="36000" tIns="18000" rIns="36000" bIns="18000" anchor="t">
            <a:spAutoFit/>
          </a:bodyPr>
          <a:lstStyle/>
          <a:p>
            <a:r>
              <a:rPr lang="en-US" sz="900" b="1" i="0">
                <a:solidFill>
                  <a:srgbClr val="007A32"/>
                </a:solidFill>
              </a:rPr>
              <a:t>Demand</a:t>
            </a:r>
          </a:p>
        </p:txBody>
      </p:sp>
      <p:sp>
        <p:nvSpPr>
          <p:cNvPr id="6" name="TextBox 10">
            <a:extLst>
              <a:ext uri="{FF2B5EF4-FFF2-40B4-BE49-F238E27FC236}">
                <a16:creationId xmlns:a16="http://schemas.microsoft.com/office/drawing/2014/main" id="{48EE3EDD-B4FC-D3A3-0C4A-98646922AB95}"/>
              </a:ext>
            </a:extLst>
          </p:cNvPr>
          <p:cNvSpPr txBox="1"/>
          <p:nvPr/>
        </p:nvSpPr>
        <p:spPr>
          <a:xfrm>
            <a:off x="3603867" y="1216152"/>
            <a:ext cx="3657600" cy="182880"/>
          </a:xfrm>
          <a:prstGeom prst="rect">
            <a:avLst/>
          </a:prstGeom>
          <a:noFill/>
        </p:spPr>
        <p:txBody>
          <a:bodyPr wrap="square" lIns="36000" tIns="18000" rIns="36000" bIns="18000" anchor="t">
            <a:spAutoFit/>
          </a:bodyPr>
          <a:lstStyle/>
          <a:p>
            <a:pPr algn="l"/>
            <a:r>
              <a:rPr sz="900" b="1" i="0">
                <a:solidFill>
                  <a:srgbClr val="6B778C"/>
                </a:solidFill>
              </a:rPr>
              <a:t>DGTL-PROD-NNNN</a:t>
            </a:r>
          </a:p>
        </p:txBody>
      </p:sp>
      <p:sp>
        <p:nvSpPr>
          <p:cNvPr id="8" name="TextBox 196">
            <a:extLst>
              <a:ext uri="{FF2B5EF4-FFF2-40B4-BE49-F238E27FC236}">
                <a16:creationId xmlns:a16="http://schemas.microsoft.com/office/drawing/2014/main" id="{2BCD04ED-B85A-58F6-9789-116087491D42}"/>
              </a:ext>
            </a:extLst>
          </p:cNvPr>
          <p:cNvSpPr txBox="1"/>
          <p:nvPr/>
        </p:nvSpPr>
        <p:spPr>
          <a:xfrm>
            <a:off x="640080" y="3246120"/>
            <a:ext cx="3108960" cy="282573"/>
          </a:xfrm>
          <a:prstGeom prst="rect">
            <a:avLst/>
          </a:prstGeom>
          <a:noFill/>
        </p:spPr>
        <p:txBody>
          <a:bodyPr wrap="square" lIns="36000" tIns="18000" rIns="36000" bIns="18000" anchor="t">
            <a:spAutoFit/>
          </a:bodyPr>
          <a:lstStyle/>
          <a:p>
            <a:pPr algn="l"/>
            <a:r>
              <a:rPr lang="pt-BR" sz="800" b="0" i="1" err="1">
                <a:solidFill>
                  <a:srgbClr val="6B778C"/>
                </a:solidFill>
                <a:latin typeface="Arial"/>
              </a:rPr>
              <a:t>Add</a:t>
            </a:r>
            <a:r>
              <a:rPr lang="pt-BR" sz="800" b="0" i="1">
                <a:solidFill>
                  <a:srgbClr val="6B778C"/>
                </a:solidFill>
                <a:latin typeface="Arial"/>
              </a:rPr>
              <a:t> business </a:t>
            </a:r>
            <a:r>
              <a:rPr lang="pt-BR" sz="800" b="0" i="1" err="1">
                <a:solidFill>
                  <a:srgbClr val="6B778C"/>
                </a:solidFill>
                <a:latin typeface="Arial"/>
              </a:rPr>
              <a:t>value</a:t>
            </a:r>
            <a:r>
              <a:rPr lang="pt-BR" sz="800" b="0" i="1">
                <a:solidFill>
                  <a:srgbClr val="6B778C"/>
                </a:solidFill>
                <a:latin typeface="Arial"/>
              </a:rPr>
              <a:t> </a:t>
            </a:r>
            <a:r>
              <a:rPr lang="pt-BR" sz="800" b="0" i="1" err="1">
                <a:solidFill>
                  <a:srgbClr val="6B778C"/>
                </a:solidFill>
                <a:latin typeface="Arial"/>
              </a:rPr>
              <a:t>description</a:t>
            </a:r>
            <a:r>
              <a:rPr lang="pt-BR" sz="800" b="0" i="1">
                <a:solidFill>
                  <a:srgbClr val="6B778C"/>
                </a:solidFill>
                <a:latin typeface="Arial"/>
              </a:rPr>
              <a:t>: </a:t>
            </a:r>
            <a:r>
              <a:rPr sz="800" b="0" i="1">
                <a:solidFill>
                  <a:srgbClr val="6B778C"/>
                </a:solidFill>
                <a:latin typeface="Arial"/>
              </a:rPr>
              <a:t>$ impact · % delta · NPS · CSAT · time saved · volume · compliance · safety / customer reliability</a:t>
            </a:r>
          </a:p>
        </p:txBody>
      </p:sp>
      <p:sp>
        <p:nvSpPr>
          <p:cNvPr id="10" name="TextBox 197">
            <a:extLst>
              <a:ext uri="{FF2B5EF4-FFF2-40B4-BE49-F238E27FC236}">
                <a16:creationId xmlns:a16="http://schemas.microsoft.com/office/drawing/2014/main" id="{46DE553B-338F-8ACB-F125-5D08C32C76EE}"/>
              </a:ext>
            </a:extLst>
          </p:cNvPr>
          <p:cNvSpPr txBox="1"/>
          <p:nvPr/>
        </p:nvSpPr>
        <p:spPr>
          <a:xfrm>
            <a:off x="4023360" y="3246120"/>
            <a:ext cx="3108960" cy="282573"/>
          </a:xfrm>
          <a:prstGeom prst="rect">
            <a:avLst/>
          </a:prstGeom>
          <a:noFill/>
        </p:spPr>
        <p:txBody>
          <a:bodyPr wrap="square" lIns="36000" tIns="18000" rIns="36000" bIns="18000" anchor="t">
            <a:spAutoFit/>
          </a:bodyPr>
          <a:lstStyle/>
          <a:p>
            <a:pPr algn="l"/>
            <a:r>
              <a:rPr lang="pt-BR" sz="800" i="1">
                <a:solidFill>
                  <a:srgbClr val="6B778C"/>
                </a:solidFill>
                <a:latin typeface="Arial"/>
              </a:rPr>
              <a:t>L</a:t>
            </a:r>
            <a:r>
              <a:rPr sz="800" b="0" i="1" err="1">
                <a:solidFill>
                  <a:srgbClr val="6B778C"/>
                </a:solidFill>
                <a:latin typeface="Arial"/>
              </a:rPr>
              <a:t>ist</a:t>
            </a:r>
            <a:r>
              <a:rPr sz="800" b="0" i="1">
                <a:solidFill>
                  <a:srgbClr val="6B778C"/>
                </a:solidFill>
                <a:latin typeface="Arial"/>
              </a:rPr>
              <a:t> of measurable conditions · binary pass/fail · who confirms (UAT)</a:t>
            </a:r>
          </a:p>
        </p:txBody>
      </p:sp>
      <p:sp>
        <p:nvSpPr>
          <p:cNvPr id="9" name="Text Placeholder 19">
            <a:extLst>
              <a:ext uri="{FF2B5EF4-FFF2-40B4-BE49-F238E27FC236}">
                <a16:creationId xmlns:a16="http://schemas.microsoft.com/office/drawing/2014/main" id="{5C48F3D3-4150-4620-FA1D-5FA09C6A2B4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Single intake form </a:t>
            </a:r>
          </a:p>
        </p:txBody>
      </p:sp>
      <p:sp>
        <p:nvSpPr>
          <p:cNvPr id="11" name="Rectángulo 10">
            <a:extLst>
              <a:ext uri="{FF2B5EF4-FFF2-40B4-BE49-F238E27FC236}">
                <a16:creationId xmlns:a16="http://schemas.microsoft.com/office/drawing/2014/main" id="{EE602A33-5DD5-25D3-2F0E-EE1FD8BA6ED5}"/>
              </a:ext>
            </a:extLst>
          </p:cNvPr>
          <p:cNvSpPr/>
          <p:nvPr/>
        </p:nvSpPr>
        <p:spPr>
          <a:xfrm>
            <a:off x="7177280" y="1551008"/>
            <a:ext cx="4824695" cy="1064869"/>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E1E933DD-B3EB-3348-FB81-FFF63083D612}"/>
              </a:ext>
            </a:extLst>
          </p:cNvPr>
          <p:cNvSpPr/>
          <p:nvPr/>
        </p:nvSpPr>
        <p:spPr>
          <a:xfrm>
            <a:off x="7177280" y="3050906"/>
            <a:ext cx="4824695" cy="1324323"/>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67327B32-CAE0-9639-9FD8-A4D214ED6E5E}"/>
              </a:ext>
            </a:extLst>
          </p:cNvPr>
          <p:cNvSpPr/>
          <p:nvPr/>
        </p:nvSpPr>
        <p:spPr>
          <a:xfrm>
            <a:off x="9456516" y="2597775"/>
            <a:ext cx="2199190" cy="532964"/>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BF0D9B3C-0D9F-605C-1008-9B9FEAAC7896}"/>
              </a:ext>
            </a:extLst>
          </p:cNvPr>
          <p:cNvSpPr/>
          <p:nvPr/>
        </p:nvSpPr>
        <p:spPr>
          <a:xfrm>
            <a:off x="7227412" y="5386400"/>
            <a:ext cx="4774564" cy="983429"/>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esquinas redondeadas 15">
            <a:extLst>
              <a:ext uri="{FF2B5EF4-FFF2-40B4-BE49-F238E27FC236}">
                <a16:creationId xmlns:a16="http://schemas.microsoft.com/office/drawing/2014/main" id="{FD079D32-078F-CD3B-27EE-66BB119FD002}"/>
              </a:ext>
            </a:extLst>
          </p:cNvPr>
          <p:cNvSpPr/>
          <p:nvPr/>
        </p:nvSpPr>
        <p:spPr>
          <a:xfrm>
            <a:off x="483181" y="1760930"/>
            <a:ext cx="6696072" cy="4661441"/>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esquinas redondeadas 16">
            <a:extLst>
              <a:ext uri="{FF2B5EF4-FFF2-40B4-BE49-F238E27FC236}">
                <a16:creationId xmlns:a16="http://schemas.microsoft.com/office/drawing/2014/main" id="{0FD68ACB-5572-4AE3-47C3-12D019AA4514}"/>
              </a:ext>
            </a:extLst>
          </p:cNvPr>
          <p:cNvSpPr/>
          <p:nvPr/>
        </p:nvSpPr>
        <p:spPr>
          <a:xfrm>
            <a:off x="7253401" y="2540136"/>
            <a:ext cx="2079528" cy="629904"/>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5A47134E-5555-B0D0-2F98-F23D63506C43}"/>
              </a:ext>
            </a:extLst>
          </p:cNvPr>
          <p:cNvSpPr/>
          <p:nvPr/>
        </p:nvSpPr>
        <p:spPr>
          <a:xfrm>
            <a:off x="7243401" y="4253190"/>
            <a:ext cx="4476383" cy="629904"/>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TextBox 85">
            <a:extLst>
              <a:ext uri="{FF2B5EF4-FFF2-40B4-BE49-F238E27FC236}">
                <a16:creationId xmlns:a16="http://schemas.microsoft.com/office/drawing/2014/main" id="{3E4B9149-2C58-1C35-416D-40BDE9B796CB}"/>
              </a:ext>
            </a:extLst>
          </p:cNvPr>
          <p:cNvSpPr txBox="1"/>
          <p:nvPr/>
        </p:nvSpPr>
        <p:spPr>
          <a:xfrm>
            <a:off x="7281271" y="4967117"/>
            <a:ext cx="1426464" cy="174851"/>
          </a:xfrm>
          <a:prstGeom prst="rect">
            <a:avLst/>
          </a:prstGeom>
          <a:noFill/>
        </p:spPr>
        <p:txBody>
          <a:bodyPr wrap="square" lIns="36000" tIns="18000" rIns="36000" bIns="18000" anchor="t">
            <a:spAutoFit/>
          </a:bodyPr>
          <a:lstStyle/>
          <a:p>
            <a:r>
              <a:rPr lang="es-MX" sz="900" b="1">
                <a:solidFill>
                  <a:srgbClr val="172B4D"/>
                </a:solidFill>
              </a:rPr>
              <a:t>Budget</a:t>
            </a:r>
            <a:endParaRPr lang="es-MX" sz="900" b="1" i="0">
              <a:solidFill>
                <a:srgbClr val="172B4D"/>
              </a:solidFill>
            </a:endParaRPr>
          </a:p>
        </p:txBody>
      </p:sp>
      <p:sp>
        <p:nvSpPr>
          <p:cNvPr id="7" name="TextBox 87">
            <a:extLst>
              <a:ext uri="{FF2B5EF4-FFF2-40B4-BE49-F238E27FC236}">
                <a16:creationId xmlns:a16="http://schemas.microsoft.com/office/drawing/2014/main" id="{1B804080-932D-B724-A024-899AC1F74596}"/>
              </a:ext>
            </a:extLst>
          </p:cNvPr>
          <p:cNvSpPr txBox="1"/>
          <p:nvPr/>
        </p:nvSpPr>
        <p:spPr>
          <a:xfrm>
            <a:off x="7336135" y="5149997"/>
            <a:ext cx="1426464" cy="159462"/>
          </a:xfrm>
          <a:prstGeom prst="rect">
            <a:avLst/>
          </a:prstGeom>
          <a:noFill/>
        </p:spPr>
        <p:txBody>
          <a:bodyPr wrap="square" lIns="36000" tIns="18000" rIns="36000" bIns="18000" anchor="t">
            <a:spAutoFit/>
          </a:bodyPr>
          <a:lstStyle/>
          <a:p>
            <a:r>
              <a:rPr sz="800" b="0" i="0">
                <a:solidFill>
                  <a:srgbClr val="172B4D"/>
                </a:solidFill>
              </a:rPr>
              <a:t>▼ </a:t>
            </a:r>
            <a:r>
              <a:rPr lang="en-US" sz="800">
                <a:solidFill>
                  <a:srgbClr val="172B4D"/>
                </a:solidFill>
              </a:rPr>
              <a:t>Yes / No</a:t>
            </a:r>
            <a:endParaRPr lang="pt-BR" sz="800" b="0" i="0">
              <a:solidFill>
                <a:srgbClr val="172B4D"/>
              </a:solidFill>
            </a:endParaRPr>
          </a:p>
        </p:txBody>
      </p:sp>
      <p:sp>
        <p:nvSpPr>
          <p:cNvPr id="18" name="Rectángulo: esquinas redondeadas 18">
            <a:extLst>
              <a:ext uri="{FF2B5EF4-FFF2-40B4-BE49-F238E27FC236}">
                <a16:creationId xmlns:a16="http://schemas.microsoft.com/office/drawing/2014/main" id="{87831C60-57DC-5548-C94E-32DA612A98D6}"/>
              </a:ext>
            </a:extLst>
          </p:cNvPr>
          <p:cNvSpPr/>
          <p:nvPr/>
        </p:nvSpPr>
        <p:spPr>
          <a:xfrm>
            <a:off x="7253427" y="4975084"/>
            <a:ext cx="1699094" cy="439405"/>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93455546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8D12-7B79-826F-A497-6C94C7906BAA}"/>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F71AAD31-AC0A-F864-4905-7F8F2DD7D957}"/>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12A6F955-1FE5-C558-2AC5-5CFA7DB111AC}"/>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Title</a:t>
            </a:r>
          </a:p>
        </p:txBody>
      </p:sp>
      <p:sp>
        <p:nvSpPr>
          <p:cNvPr id="5" name="TextBox 11">
            <a:extLst>
              <a:ext uri="{FF2B5EF4-FFF2-40B4-BE49-F238E27FC236}">
                <a16:creationId xmlns:a16="http://schemas.microsoft.com/office/drawing/2014/main" id="{4601FF7F-F905-AD93-9B3A-DF102925B5B8}"/>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Free text · max 120 chars · plain text</a:t>
            </a:r>
          </a:p>
        </p:txBody>
      </p:sp>
      <p:sp>
        <p:nvSpPr>
          <p:cNvPr id="8" name="Rounded Rectangle 14">
            <a:extLst>
              <a:ext uri="{FF2B5EF4-FFF2-40B4-BE49-F238E27FC236}">
                <a16:creationId xmlns:a16="http://schemas.microsoft.com/office/drawing/2014/main" id="{5F453D77-34E2-7541-E012-AD9E204599B1}"/>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5">
            <a:extLst>
              <a:ext uri="{FF2B5EF4-FFF2-40B4-BE49-F238E27FC236}">
                <a16:creationId xmlns:a16="http://schemas.microsoft.com/office/drawing/2014/main" id="{5E205883-8A6A-5F43-120E-EF7D2801D673}"/>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6B778C"/>
                </a:solidFill>
              </a:rPr>
              <a:t>HOW IT LOOKS IN JIRA</a:t>
            </a:r>
          </a:p>
        </p:txBody>
      </p:sp>
      <p:sp>
        <p:nvSpPr>
          <p:cNvPr id="10" name="TextBox 16">
            <a:extLst>
              <a:ext uri="{FF2B5EF4-FFF2-40B4-BE49-F238E27FC236}">
                <a16:creationId xmlns:a16="http://schemas.microsoft.com/office/drawing/2014/main" id="{B05B1A2F-3A85-E59C-B223-181E2B1AD43B}"/>
              </a:ext>
            </a:extLst>
          </p:cNvPr>
          <p:cNvSpPr txBox="1"/>
          <p:nvPr/>
        </p:nvSpPr>
        <p:spPr>
          <a:xfrm>
            <a:off x="502920" y="2057400"/>
            <a:ext cx="5486400" cy="201168"/>
          </a:xfrm>
          <a:prstGeom prst="rect">
            <a:avLst/>
          </a:prstGeom>
          <a:noFill/>
        </p:spPr>
        <p:txBody>
          <a:bodyPr wrap="square" lIns="36000" tIns="18000" rIns="36000" bIns="18000" anchor="t">
            <a:spAutoFit/>
          </a:bodyPr>
          <a:lstStyle/>
          <a:p>
            <a:pPr algn="l"/>
            <a:r>
              <a:rPr sz="1000" b="1" i="0">
                <a:solidFill>
                  <a:srgbClr val="172B4D"/>
                </a:solidFill>
              </a:rPr>
              <a:t>Title *</a:t>
            </a:r>
          </a:p>
        </p:txBody>
      </p:sp>
      <p:sp>
        <p:nvSpPr>
          <p:cNvPr id="11" name="Rounded Rectangle 17">
            <a:extLst>
              <a:ext uri="{FF2B5EF4-FFF2-40B4-BE49-F238E27FC236}">
                <a16:creationId xmlns:a16="http://schemas.microsoft.com/office/drawing/2014/main" id="{1CAC93BC-860F-ECCA-8816-073E90B4ABE8}"/>
              </a:ext>
            </a:extLst>
          </p:cNvPr>
          <p:cNvSpPr/>
          <p:nvPr/>
        </p:nvSpPr>
        <p:spPr>
          <a:xfrm>
            <a:off x="502920" y="2258568"/>
            <a:ext cx="5376672" cy="292608"/>
          </a:xfrm>
          <a:prstGeom prst="roundRect">
            <a:avLst>
              <a:gd name="adj" fmla="val 6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8">
            <a:extLst>
              <a:ext uri="{FF2B5EF4-FFF2-40B4-BE49-F238E27FC236}">
                <a16:creationId xmlns:a16="http://schemas.microsoft.com/office/drawing/2014/main" id="{EFEF4D28-4CBF-A6E6-4B82-87DA3A8E704A}"/>
              </a:ext>
            </a:extLst>
          </p:cNvPr>
          <p:cNvSpPr txBox="1"/>
          <p:nvPr/>
        </p:nvSpPr>
        <p:spPr>
          <a:xfrm>
            <a:off x="594360" y="2295144"/>
            <a:ext cx="5212080" cy="219456"/>
          </a:xfrm>
          <a:prstGeom prst="rect">
            <a:avLst/>
          </a:prstGeom>
          <a:noFill/>
        </p:spPr>
        <p:txBody>
          <a:bodyPr wrap="square" lIns="36000" tIns="18000" rIns="36000" bIns="18000" anchor="t">
            <a:spAutoFit/>
          </a:bodyPr>
          <a:lstStyle/>
          <a:p>
            <a:pPr algn="l"/>
            <a:r>
              <a:rPr sz="900" b="0" i="1">
                <a:solidFill>
                  <a:srgbClr val="A5ADBA"/>
                </a:solidFill>
              </a:rPr>
              <a:t>Type a clear, outcome-based summary…</a:t>
            </a:r>
          </a:p>
        </p:txBody>
      </p:sp>
      <p:sp>
        <p:nvSpPr>
          <p:cNvPr id="13" name="TextBox 19">
            <a:extLst>
              <a:ext uri="{FF2B5EF4-FFF2-40B4-BE49-F238E27FC236}">
                <a16:creationId xmlns:a16="http://schemas.microsoft.com/office/drawing/2014/main" id="{59F3CB35-98B9-9664-D4C0-610290FD5667}"/>
              </a:ext>
            </a:extLst>
          </p:cNvPr>
          <p:cNvSpPr txBox="1"/>
          <p:nvPr/>
        </p:nvSpPr>
        <p:spPr>
          <a:xfrm>
            <a:off x="502920" y="2743200"/>
            <a:ext cx="5486400" cy="201168"/>
          </a:xfrm>
          <a:prstGeom prst="rect">
            <a:avLst/>
          </a:prstGeom>
          <a:noFill/>
        </p:spPr>
        <p:txBody>
          <a:bodyPr wrap="square" lIns="36000" tIns="18000" rIns="36000" bIns="18000" anchor="t">
            <a:spAutoFit/>
          </a:bodyPr>
          <a:lstStyle/>
          <a:p>
            <a:pPr algn="l"/>
            <a:r>
              <a:rPr sz="1000" b="1" i="0">
                <a:solidFill>
                  <a:srgbClr val="006B3F"/>
                </a:solidFill>
              </a:rPr>
              <a:t>GOOD EXAMPLES (✓)</a:t>
            </a:r>
          </a:p>
        </p:txBody>
      </p:sp>
      <p:sp>
        <p:nvSpPr>
          <p:cNvPr id="14" name="Rounded Rectangle 20">
            <a:extLst>
              <a:ext uri="{FF2B5EF4-FFF2-40B4-BE49-F238E27FC236}">
                <a16:creationId xmlns:a16="http://schemas.microsoft.com/office/drawing/2014/main" id="{95117EF7-D0C2-1FAB-29AF-58426A994A3B}"/>
              </a:ext>
            </a:extLst>
          </p:cNvPr>
          <p:cNvSpPr/>
          <p:nvPr/>
        </p:nvSpPr>
        <p:spPr>
          <a:xfrm>
            <a:off x="502920" y="2971800"/>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1">
            <a:extLst>
              <a:ext uri="{FF2B5EF4-FFF2-40B4-BE49-F238E27FC236}">
                <a16:creationId xmlns:a16="http://schemas.microsoft.com/office/drawing/2014/main" id="{C32054C7-063D-0B5F-4479-B976348D464B}"/>
              </a:ext>
            </a:extLst>
          </p:cNvPr>
          <p:cNvSpPr txBox="1"/>
          <p:nvPr/>
        </p:nvSpPr>
        <p:spPr>
          <a:xfrm>
            <a:off x="594360" y="3008376"/>
            <a:ext cx="5212080" cy="219456"/>
          </a:xfrm>
          <a:prstGeom prst="rect">
            <a:avLst/>
          </a:prstGeom>
          <a:noFill/>
        </p:spPr>
        <p:txBody>
          <a:bodyPr wrap="square" lIns="36000" tIns="18000" rIns="36000" bIns="18000" anchor="t">
            <a:spAutoFit/>
          </a:bodyPr>
          <a:lstStyle/>
          <a:p>
            <a:pPr algn="l"/>
            <a:r>
              <a:rPr sz="900" b="0" i="0">
                <a:solidFill>
                  <a:srgbClr val="172B4D"/>
                </a:solidFill>
              </a:rPr>
              <a:t>✓  Reduce billing-correction cycle from 14 to 5 days</a:t>
            </a:r>
          </a:p>
        </p:txBody>
      </p:sp>
      <p:sp>
        <p:nvSpPr>
          <p:cNvPr id="16" name="Rounded Rectangle 22">
            <a:extLst>
              <a:ext uri="{FF2B5EF4-FFF2-40B4-BE49-F238E27FC236}">
                <a16:creationId xmlns:a16="http://schemas.microsoft.com/office/drawing/2014/main" id="{9A6FCE63-7D41-165E-FED6-DC9CB634866F}"/>
              </a:ext>
            </a:extLst>
          </p:cNvPr>
          <p:cNvSpPr/>
          <p:nvPr/>
        </p:nvSpPr>
        <p:spPr>
          <a:xfrm>
            <a:off x="502920" y="3300984"/>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3">
            <a:extLst>
              <a:ext uri="{FF2B5EF4-FFF2-40B4-BE49-F238E27FC236}">
                <a16:creationId xmlns:a16="http://schemas.microsoft.com/office/drawing/2014/main" id="{8312A17E-A986-7A8E-20D3-817F43F3E787}"/>
              </a:ext>
            </a:extLst>
          </p:cNvPr>
          <p:cNvSpPr txBox="1"/>
          <p:nvPr/>
        </p:nvSpPr>
        <p:spPr>
          <a:xfrm>
            <a:off x="594360" y="3337560"/>
            <a:ext cx="5212080" cy="219456"/>
          </a:xfrm>
          <a:prstGeom prst="rect">
            <a:avLst/>
          </a:prstGeom>
          <a:noFill/>
        </p:spPr>
        <p:txBody>
          <a:bodyPr wrap="square" lIns="36000" tIns="18000" rIns="36000" bIns="18000" anchor="t">
            <a:spAutoFit/>
          </a:bodyPr>
          <a:lstStyle/>
          <a:p>
            <a:pPr algn="l"/>
            <a:r>
              <a:rPr sz="900" b="0" i="0">
                <a:solidFill>
                  <a:srgbClr val="172B4D"/>
                </a:solidFill>
              </a:rPr>
              <a:t>✓  Add Spanish language to IVR menu for UIL OPCO</a:t>
            </a:r>
          </a:p>
        </p:txBody>
      </p:sp>
      <p:sp>
        <p:nvSpPr>
          <p:cNvPr id="18" name="Rounded Rectangle 24">
            <a:extLst>
              <a:ext uri="{FF2B5EF4-FFF2-40B4-BE49-F238E27FC236}">
                <a16:creationId xmlns:a16="http://schemas.microsoft.com/office/drawing/2014/main" id="{4B660CD3-F5F5-C31B-D395-FEA5A43CDD33}"/>
              </a:ext>
            </a:extLst>
          </p:cNvPr>
          <p:cNvSpPr/>
          <p:nvPr/>
        </p:nvSpPr>
        <p:spPr>
          <a:xfrm>
            <a:off x="502920" y="3630168"/>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25">
            <a:extLst>
              <a:ext uri="{FF2B5EF4-FFF2-40B4-BE49-F238E27FC236}">
                <a16:creationId xmlns:a16="http://schemas.microsoft.com/office/drawing/2014/main" id="{6C51DDC2-4C11-AD1A-8819-C6CD23CC3D40}"/>
              </a:ext>
            </a:extLst>
          </p:cNvPr>
          <p:cNvSpPr txBox="1"/>
          <p:nvPr/>
        </p:nvSpPr>
        <p:spPr>
          <a:xfrm>
            <a:off x="594360" y="3666744"/>
            <a:ext cx="5212080" cy="219456"/>
          </a:xfrm>
          <a:prstGeom prst="rect">
            <a:avLst/>
          </a:prstGeom>
          <a:noFill/>
        </p:spPr>
        <p:txBody>
          <a:bodyPr wrap="square" lIns="36000" tIns="18000" rIns="36000" bIns="18000" anchor="t">
            <a:spAutoFit/>
          </a:bodyPr>
          <a:lstStyle/>
          <a:p>
            <a:pPr algn="l"/>
            <a:r>
              <a:rPr sz="900" b="0" i="0">
                <a:solidFill>
                  <a:srgbClr val="172B4D"/>
                </a:solidFill>
              </a:rPr>
              <a:t>✓  Eliminate manual intervention on rate-case Q3 release</a:t>
            </a:r>
          </a:p>
        </p:txBody>
      </p:sp>
      <p:sp>
        <p:nvSpPr>
          <p:cNvPr id="20" name="Rounded Rectangle 26">
            <a:extLst>
              <a:ext uri="{FF2B5EF4-FFF2-40B4-BE49-F238E27FC236}">
                <a16:creationId xmlns:a16="http://schemas.microsoft.com/office/drawing/2014/main" id="{718B7F8A-6196-63E2-E813-B9C73C3545ED}"/>
              </a:ext>
            </a:extLst>
          </p:cNvPr>
          <p:cNvSpPr/>
          <p:nvPr/>
        </p:nvSpPr>
        <p:spPr>
          <a:xfrm>
            <a:off x="502920" y="3959352"/>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7">
            <a:extLst>
              <a:ext uri="{FF2B5EF4-FFF2-40B4-BE49-F238E27FC236}">
                <a16:creationId xmlns:a16="http://schemas.microsoft.com/office/drawing/2014/main" id="{4B50A7C4-59FF-73E2-232F-132D8C7973F2}"/>
              </a:ext>
            </a:extLst>
          </p:cNvPr>
          <p:cNvSpPr txBox="1"/>
          <p:nvPr/>
        </p:nvSpPr>
        <p:spPr>
          <a:xfrm>
            <a:off x="594360" y="3995928"/>
            <a:ext cx="5212080" cy="219456"/>
          </a:xfrm>
          <a:prstGeom prst="rect">
            <a:avLst/>
          </a:prstGeom>
          <a:noFill/>
        </p:spPr>
        <p:txBody>
          <a:bodyPr wrap="square" lIns="36000" tIns="18000" rIns="36000" bIns="18000" anchor="t">
            <a:spAutoFit/>
          </a:bodyPr>
          <a:lstStyle/>
          <a:p>
            <a:pPr algn="l"/>
            <a:r>
              <a:rPr sz="900" b="0" i="0">
                <a:solidFill>
                  <a:srgbClr val="172B4D"/>
                </a:solidFill>
              </a:rPr>
              <a:t>✓  Improve CRM page load from 8s to &lt;2s</a:t>
            </a:r>
          </a:p>
        </p:txBody>
      </p:sp>
      <p:sp>
        <p:nvSpPr>
          <p:cNvPr id="22" name="TextBox 28">
            <a:extLst>
              <a:ext uri="{FF2B5EF4-FFF2-40B4-BE49-F238E27FC236}">
                <a16:creationId xmlns:a16="http://schemas.microsoft.com/office/drawing/2014/main" id="{E7FC871E-0C9D-0B0F-34B9-D35A74484266}"/>
              </a:ext>
            </a:extLst>
          </p:cNvPr>
          <p:cNvSpPr txBox="1"/>
          <p:nvPr/>
        </p:nvSpPr>
        <p:spPr>
          <a:xfrm>
            <a:off x="502920" y="4379976"/>
            <a:ext cx="5486400" cy="201168"/>
          </a:xfrm>
          <a:prstGeom prst="rect">
            <a:avLst/>
          </a:prstGeom>
          <a:noFill/>
        </p:spPr>
        <p:txBody>
          <a:bodyPr wrap="square" lIns="36000" tIns="18000" rIns="36000" bIns="18000" anchor="t">
            <a:spAutoFit/>
          </a:bodyPr>
          <a:lstStyle/>
          <a:p>
            <a:pPr algn="l"/>
            <a:r>
              <a:rPr sz="1000" b="1" i="0">
                <a:solidFill>
                  <a:srgbClr val="DE350B"/>
                </a:solidFill>
              </a:rPr>
              <a:t>BAD EXAMPLES (✗) — get bounced at triage</a:t>
            </a:r>
          </a:p>
        </p:txBody>
      </p:sp>
      <p:sp>
        <p:nvSpPr>
          <p:cNvPr id="23" name="Rounded Rectangle 29">
            <a:extLst>
              <a:ext uri="{FF2B5EF4-FFF2-40B4-BE49-F238E27FC236}">
                <a16:creationId xmlns:a16="http://schemas.microsoft.com/office/drawing/2014/main" id="{48F0C067-CBF0-6F08-44D2-91FA8DEF7264}"/>
              </a:ext>
            </a:extLst>
          </p:cNvPr>
          <p:cNvSpPr/>
          <p:nvPr/>
        </p:nvSpPr>
        <p:spPr>
          <a:xfrm>
            <a:off x="502920" y="4654296"/>
            <a:ext cx="5376672" cy="274320"/>
          </a:xfrm>
          <a:prstGeom prst="roundRect">
            <a:avLst>
              <a:gd name="adj" fmla="val 10000"/>
            </a:avLst>
          </a:prstGeom>
          <a:solidFill>
            <a:srgbClr val="FFE5DD"/>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30">
            <a:extLst>
              <a:ext uri="{FF2B5EF4-FFF2-40B4-BE49-F238E27FC236}">
                <a16:creationId xmlns:a16="http://schemas.microsoft.com/office/drawing/2014/main" id="{E69312D6-AC84-5A87-9D5B-F493A8F704EE}"/>
              </a:ext>
            </a:extLst>
          </p:cNvPr>
          <p:cNvSpPr txBox="1"/>
          <p:nvPr/>
        </p:nvSpPr>
        <p:spPr>
          <a:xfrm>
            <a:off x="594360" y="4690872"/>
            <a:ext cx="5212080" cy="219456"/>
          </a:xfrm>
          <a:prstGeom prst="rect">
            <a:avLst/>
          </a:prstGeom>
          <a:noFill/>
        </p:spPr>
        <p:txBody>
          <a:bodyPr wrap="square" lIns="36000" tIns="18000" rIns="36000" bIns="18000" anchor="t">
            <a:spAutoFit/>
          </a:bodyPr>
          <a:lstStyle/>
          <a:p>
            <a:pPr algn="l"/>
            <a:r>
              <a:rPr sz="900" b="0" i="0">
                <a:solidFill>
                  <a:srgbClr val="172B4D"/>
                </a:solidFill>
              </a:rPr>
              <a:t>✗  Fix system  ·  System is broken  ·  Update CRM</a:t>
            </a:r>
          </a:p>
        </p:txBody>
      </p:sp>
      <p:sp>
        <p:nvSpPr>
          <p:cNvPr id="25" name="Rounded Rectangle 31">
            <a:extLst>
              <a:ext uri="{FF2B5EF4-FFF2-40B4-BE49-F238E27FC236}">
                <a16:creationId xmlns:a16="http://schemas.microsoft.com/office/drawing/2014/main" id="{11B7D297-830C-6613-67C4-E430BFDE1FAC}"/>
              </a:ext>
            </a:extLst>
          </p:cNvPr>
          <p:cNvSpPr/>
          <p:nvPr/>
        </p:nvSpPr>
        <p:spPr>
          <a:xfrm>
            <a:off x="502920" y="4983480"/>
            <a:ext cx="5376672" cy="274320"/>
          </a:xfrm>
          <a:prstGeom prst="roundRect">
            <a:avLst>
              <a:gd name="adj" fmla="val 10000"/>
            </a:avLst>
          </a:prstGeom>
          <a:solidFill>
            <a:srgbClr val="FFE5DD"/>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32">
            <a:extLst>
              <a:ext uri="{FF2B5EF4-FFF2-40B4-BE49-F238E27FC236}">
                <a16:creationId xmlns:a16="http://schemas.microsoft.com/office/drawing/2014/main" id="{EB0511BD-7193-E496-9236-2091550433B4}"/>
              </a:ext>
            </a:extLst>
          </p:cNvPr>
          <p:cNvSpPr txBox="1"/>
          <p:nvPr/>
        </p:nvSpPr>
        <p:spPr>
          <a:xfrm>
            <a:off x="594360" y="5020056"/>
            <a:ext cx="5212080" cy="219456"/>
          </a:xfrm>
          <a:prstGeom prst="rect">
            <a:avLst/>
          </a:prstGeom>
          <a:noFill/>
        </p:spPr>
        <p:txBody>
          <a:bodyPr wrap="square" lIns="36000" tIns="18000" rIns="36000" bIns="18000" anchor="t">
            <a:spAutoFit/>
          </a:bodyPr>
          <a:lstStyle/>
          <a:p>
            <a:pPr algn="l"/>
            <a:r>
              <a:rPr sz="900" b="0" i="0">
                <a:solidFill>
                  <a:srgbClr val="172B4D"/>
                </a:solidFill>
              </a:rPr>
              <a:t>✗  Improve billing  ·  Make it faster</a:t>
            </a:r>
          </a:p>
        </p:txBody>
      </p:sp>
      <p:sp>
        <p:nvSpPr>
          <p:cNvPr id="27" name="Rounded Rectangle 33">
            <a:extLst>
              <a:ext uri="{FF2B5EF4-FFF2-40B4-BE49-F238E27FC236}">
                <a16:creationId xmlns:a16="http://schemas.microsoft.com/office/drawing/2014/main" id="{497458BA-A96F-947E-49B3-35BB1EB69E1E}"/>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4">
            <a:extLst>
              <a:ext uri="{FF2B5EF4-FFF2-40B4-BE49-F238E27FC236}">
                <a16:creationId xmlns:a16="http://schemas.microsoft.com/office/drawing/2014/main" id="{796DCED4-84F3-46D7-1949-F4BA63F44035}"/>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29" name="TextBox 35">
            <a:extLst>
              <a:ext uri="{FF2B5EF4-FFF2-40B4-BE49-F238E27FC236}">
                <a16:creationId xmlns:a16="http://schemas.microsoft.com/office/drawing/2014/main" id="{9CE9E5C4-9E55-7392-5F48-DFF83787BA29}"/>
              </a:ext>
            </a:extLst>
          </p:cNvPr>
          <p:cNvSpPr txBox="1"/>
          <p:nvPr/>
        </p:nvSpPr>
        <p:spPr>
          <a:xfrm>
            <a:off x="6336792" y="1984248"/>
            <a:ext cx="5394960" cy="498016"/>
          </a:xfrm>
          <a:prstGeom prst="rect">
            <a:avLst/>
          </a:prstGeom>
          <a:noFill/>
        </p:spPr>
        <p:txBody>
          <a:bodyPr wrap="square" lIns="36000" tIns="18000" rIns="36000" bIns="18000" anchor="t">
            <a:spAutoFit/>
          </a:bodyPr>
          <a:lstStyle/>
          <a:p>
            <a:pPr algn="l"/>
            <a:r>
              <a:rPr sz="1000" b="0" i="0">
                <a:solidFill>
                  <a:srgbClr val="172B4D"/>
                </a:solidFill>
              </a:rPr>
              <a:t>A short outcome statement that captures the user-visible result of the demand. The Title becomes the card's display label across all boards (Portfolio, </a:t>
            </a:r>
            <a:r>
              <a:rPr lang="pt-BR" sz="1000">
                <a:solidFill>
                  <a:srgbClr val="172B4D"/>
                </a:solidFill>
              </a:rPr>
              <a:t>Teams</a:t>
            </a:r>
            <a:r>
              <a:rPr sz="1000" b="0" i="0">
                <a:solidFill>
                  <a:srgbClr val="172B4D"/>
                </a:solidFill>
              </a:rPr>
              <a:t>, Enterprise) and is the FIRST thing executives see when scanning the backlog.</a:t>
            </a:r>
          </a:p>
        </p:txBody>
      </p:sp>
      <p:sp>
        <p:nvSpPr>
          <p:cNvPr id="30" name="TextBox 36">
            <a:extLst>
              <a:ext uri="{FF2B5EF4-FFF2-40B4-BE49-F238E27FC236}">
                <a16:creationId xmlns:a16="http://schemas.microsoft.com/office/drawing/2014/main" id="{C998D2F2-F307-D15E-A9D9-5F8432014D7E}"/>
              </a:ext>
            </a:extLst>
          </p:cNvPr>
          <p:cNvSpPr txBox="1"/>
          <p:nvPr/>
        </p:nvSpPr>
        <p:spPr>
          <a:xfrm>
            <a:off x="6336792" y="2697480"/>
            <a:ext cx="5486400" cy="201168"/>
          </a:xfrm>
          <a:prstGeom prst="rect">
            <a:avLst/>
          </a:prstGeom>
          <a:noFill/>
        </p:spPr>
        <p:txBody>
          <a:bodyPr wrap="square" lIns="36000" tIns="18000" rIns="36000" bIns="18000" anchor="t">
            <a:spAutoFit/>
          </a:bodyPr>
          <a:lstStyle/>
          <a:p>
            <a:pPr algn="l"/>
            <a:r>
              <a:rPr sz="900" b="1" i="0">
                <a:solidFill>
                  <a:srgbClr val="006B3F"/>
                </a:solidFill>
              </a:rPr>
              <a:t>WRITING RULES</a:t>
            </a:r>
          </a:p>
        </p:txBody>
      </p:sp>
      <p:sp>
        <p:nvSpPr>
          <p:cNvPr id="31" name="Rounded Rectangle 37">
            <a:extLst>
              <a:ext uri="{FF2B5EF4-FFF2-40B4-BE49-F238E27FC236}">
                <a16:creationId xmlns:a16="http://schemas.microsoft.com/office/drawing/2014/main" id="{013C6E30-0E61-2AF5-F9E7-2A575C8A8D34}"/>
              </a:ext>
            </a:extLst>
          </p:cNvPr>
          <p:cNvSpPr/>
          <p:nvPr/>
        </p:nvSpPr>
        <p:spPr>
          <a:xfrm>
            <a:off x="6336792" y="289864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8">
            <a:extLst>
              <a:ext uri="{FF2B5EF4-FFF2-40B4-BE49-F238E27FC236}">
                <a16:creationId xmlns:a16="http://schemas.microsoft.com/office/drawing/2014/main" id="{ED165B24-370E-3196-FA83-583F1988B227}"/>
              </a:ext>
            </a:extLst>
          </p:cNvPr>
          <p:cNvSpPr txBox="1"/>
          <p:nvPr/>
        </p:nvSpPr>
        <p:spPr>
          <a:xfrm>
            <a:off x="6336792" y="2935224"/>
            <a:ext cx="1828800" cy="201168"/>
          </a:xfrm>
          <a:prstGeom prst="rect">
            <a:avLst/>
          </a:prstGeom>
          <a:noFill/>
        </p:spPr>
        <p:txBody>
          <a:bodyPr wrap="square" lIns="36000" tIns="18000" rIns="36000" bIns="18000" anchor="ctr">
            <a:spAutoFit/>
          </a:bodyPr>
          <a:lstStyle/>
          <a:p>
            <a:pPr algn="ctr"/>
            <a:r>
              <a:rPr sz="900" b="1" i="0">
                <a:solidFill>
                  <a:srgbClr val="FFFFFF"/>
                </a:solidFill>
              </a:rPr>
              <a:t>VERB-FIRST</a:t>
            </a:r>
          </a:p>
        </p:txBody>
      </p:sp>
      <p:sp>
        <p:nvSpPr>
          <p:cNvPr id="33" name="TextBox 39">
            <a:extLst>
              <a:ext uri="{FF2B5EF4-FFF2-40B4-BE49-F238E27FC236}">
                <a16:creationId xmlns:a16="http://schemas.microsoft.com/office/drawing/2014/main" id="{CC08E512-254E-D780-D4B8-66CB58563630}"/>
              </a:ext>
            </a:extLst>
          </p:cNvPr>
          <p:cNvSpPr txBox="1"/>
          <p:nvPr/>
        </p:nvSpPr>
        <p:spPr>
          <a:xfrm>
            <a:off x="8275320" y="2935224"/>
            <a:ext cx="3520440" cy="292608"/>
          </a:xfrm>
          <a:prstGeom prst="rect">
            <a:avLst/>
          </a:prstGeom>
          <a:noFill/>
        </p:spPr>
        <p:txBody>
          <a:bodyPr wrap="square" lIns="36000" tIns="18000" rIns="36000" bIns="18000" anchor="ctr">
            <a:spAutoFit/>
          </a:bodyPr>
          <a:lstStyle/>
          <a:p>
            <a:pPr algn="l"/>
            <a:r>
              <a:rPr sz="900" b="0" i="0">
                <a:solidFill>
                  <a:srgbClr val="172B4D"/>
                </a:solidFill>
              </a:rPr>
              <a:t>Start with action verb (Reduce · Add · Eliminate · Improve · Replace)</a:t>
            </a:r>
          </a:p>
        </p:txBody>
      </p:sp>
      <p:sp>
        <p:nvSpPr>
          <p:cNvPr id="34" name="Rounded Rectangle 40">
            <a:extLst>
              <a:ext uri="{FF2B5EF4-FFF2-40B4-BE49-F238E27FC236}">
                <a16:creationId xmlns:a16="http://schemas.microsoft.com/office/drawing/2014/main" id="{B34EFF5C-D549-0DB2-87A7-22F14EA482C7}"/>
              </a:ext>
            </a:extLst>
          </p:cNvPr>
          <p:cNvSpPr/>
          <p:nvPr/>
        </p:nvSpPr>
        <p:spPr>
          <a:xfrm>
            <a:off x="6336792" y="326440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41">
            <a:extLst>
              <a:ext uri="{FF2B5EF4-FFF2-40B4-BE49-F238E27FC236}">
                <a16:creationId xmlns:a16="http://schemas.microsoft.com/office/drawing/2014/main" id="{0E0FDF56-FC2A-4A20-C7A6-4C7F6340079D}"/>
              </a:ext>
            </a:extLst>
          </p:cNvPr>
          <p:cNvSpPr txBox="1"/>
          <p:nvPr/>
        </p:nvSpPr>
        <p:spPr>
          <a:xfrm>
            <a:off x="6336792" y="3300984"/>
            <a:ext cx="1828800" cy="201168"/>
          </a:xfrm>
          <a:prstGeom prst="rect">
            <a:avLst/>
          </a:prstGeom>
          <a:noFill/>
        </p:spPr>
        <p:txBody>
          <a:bodyPr wrap="square" lIns="36000" tIns="18000" rIns="36000" bIns="18000" anchor="ctr">
            <a:spAutoFit/>
          </a:bodyPr>
          <a:lstStyle/>
          <a:p>
            <a:pPr algn="ctr"/>
            <a:r>
              <a:rPr sz="900" b="1" i="0">
                <a:solidFill>
                  <a:srgbClr val="FFFFFF"/>
                </a:solidFill>
              </a:rPr>
              <a:t>MEASURABLE</a:t>
            </a:r>
          </a:p>
        </p:txBody>
      </p:sp>
      <p:sp>
        <p:nvSpPr>
          <p:cNvPr id="36" name="TextBox 42">
            <a:extLst>
              <a:ext uri="{FF2B5EF4-FFF2-40B4-BE49-F238E27FC236}">
                <a16:creationId xmlns:a16="http://schemas.microsoft.com/office/drawing/2014/main" id="{51358C4C-5328-3F61-AF32-F24F19D4D0C5}"/>
              </a:ext>
            </a:extLst>
          </p:cNvPr>
          <p:cNvSpPr txBox="1"/>
          <p:nvPr/>
        </p:nvSpPr>
        <p:spPr>
          <a:xfrm>
            <a:off x="8275320" y="3300984"/>
            <a:ext cx="3520440" cy="292608"/>
          </a:xfrm>
          <a:prstGeom prst="rect">
            <a:avLst/>
          </a:prstGeom>
          <a:noFill/>
        </p:spPr>
        <p:txBody>
          <a:bodyPr wrap="square" lIns="36000" tIns="18000" rIns="36000" bIns="18000" anchor="ctr">
            <a:spAutoFit/>
          </a:bodyPr>
          <a:lstStyle/>
          <a:p>
            <a:pPr algn="l"/>
            <a:r>
              <a:rPr sz="900" b="0" i="0">
                <a:solidFill>
                  <a:srgbClr val="172B4D"/>
                </a:solidFill>
              </a:rPr>
              <a:t>Include a number when possible (from X to Y, by Z%)</a:t>
            </a:r>
          </a:p>
        </p:txBody>
      </p:sp>
      <p:sp>
        <p:nvSpPr>
          <p:cNvPr id="37" name="Rounded Rectangle 43">
            <a:extLst>
              <a:ext uri="{FF2B5EF4-FFF2-40B4-BE49-F238E27FC236}">
                <a16:creationId xmlns:a16="http://schemas.microsoft.com/office/drawing/2014/main" id="{14FEF6D7-B222-E097-2482-7264073DA89D}"/>
              </a:ext>
            </a:extLst>
          </p:cNvPr>
          <p:cNvSpPr/>
          <p:nvPr/>
        </p:nvSpPr>
        <p:spPr>
          <a:xfrm>
            <a:off x="6336792" y="363016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4">
            <a:extLst>
              <a:ext uri="{FF2B5EF4-FFF2-40B4-BE49-F238E27FC236}">
                <a16:creationId xmlns:a16="http://schemas.microsoft.com/office/drawing/2014/main" id="{BE46F43F-FAA3-A749-84DE-D1D6E4B34636}"/>
              </a:ext>
            </a:extLst>
          </p:cNvPr>
          <p:cNvSpPr txBox="1"/>
          <p:nvPr/>
        </p:nvSpPr>
        <p:spPr>
          <a:xfrm>
            <a:off x="6336792" y="3666744"/>
            <a:ext cx="1828800" cy="201168"/>
          </a:xfrm>
          <a:prstGeom prst="rect">
            <a:avLst/>
          </a:prstGeom>
          <a:noFill/>
        </p:spPr>
        <p:txBody>
          <a:bodyPr wrap="square" lIns="36000" tIns="18000" rIns="36000" bIns="18000" anchor="ctr">
            <a:spAutoFit/>
          </a:bodyPr>
          <a:lstStyle/>
          <a:p>
            <a:pPr algn="ctr"/>
            <a:r>
              <a:rPr sz="900" b="1" i="0">
                <a:solidFill>
                  <a:srgbClr val="FFFFFF"/>
                </a:solidFill>
              </a:rPr>
              <a:t>OUTCOME, NOT TASK</a:t>
            </a:r>
          </a:p>
        </p:txBody>
      </p:sp>
      <p:sp>
        <p:nvSpPr>
          <p:cNvPr id="39" name="TextBox 45">
            <a:extLst>
              <a:ext uri="{FF2B5EF4-FFF2-40B4-BE49-F238E27FC236}">
                <a16:creationId xmlns:a16="http://schemas.microsoft.com/office/drawing/2014/main" id="{4D8EF769-2F93-1E4F-4CB4-4EEC998300E7}"/>
              </a:ext>
            </a:extLst>
          </p:cNvPr>
          <p:cNvSpPr txBox="1"/>
          <p:nvPr/>
        </p:nvSpPr>
        <p:spPr>
          <a:xfrm>
            <a:off x="8275320" y="3666744"/>
            <a:ext cx="3520440" cy="292608"/>
          </a:xfrm>
          <a:prstGeom prst="rect">
            <a:avLst/>
          </a:prstGeom>
          <a:noFill/>
        </p:spPr>
        <p:txBody>
          <a:bodyPr wrap="square" lIns="36000" tIns="18000" rIns="36000" bIns="18000" anchor="ctr">
            <a:spAutoFit/>
          </a:bodyPr>
          <a:lstStyle/>
          <a:p>
            <a:pPr algn="l"/>
            <a:r>
              <a:rPr sz="900" b="0" i="0">
                <a:solidFill>
                  <a:srgbClr val="172B4D"/>
                </a:solidFill>
              </a:rPr>
              <a:t>Describe what changes for the user, not what code you'll write</a:t>
            </a:r>
          </a:p>
        </p:txBody>
      </p:sp>
      <p:sp>
        <p:nvSpPr>
          <p:cNvPr id="40" name="Rounded Rectangle 46">
            <a:extLst>
              <a:ext uri="{FF2B5EF4-FFF2-40B4-BE49-F238E27FC236}">
                <a16:creationId xmlns:a16="http://schemas.microsoft.com/office/drawing/2014/main" id="{6C04C51D-F3E7-D364-EA4E-739D83DF6473}"/>
              </a:ext>
            </a:extLst>
          </p:cNvPr>
          <p:cNvSpPr/>
          <p:nvPr/>
        </p:nvSpPr>
        <p:spPr>
          <a:xfrm>
            <a:off x="6336792" y="399592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7">
            <a:extLst>
              <a:ext uri="{FF2B5EF4-FFF2-40B4-BE49-F238E27FC236}">
                <a16:creationId xmlns:a16="http://schemas.microsoft.com/office/drawing/2014/main" id="{DC8391C2-1F56-E7E3-303C-4746993E8538}"/>
              </a:ext>
            </a:extLst>
          </p:cNvPr>
          <p:cNvSpPr txBox="1"/>
          <p:nvPr/>
        </p:nvSpPr>
        <p:spPr>
          <a:xfrm>
            <a:off x="6336792" y="4032504"/>
            <a:ext cx="1828800" cy="201168"/>
          </a:xfrm>
          <a:prstGeom prst="rect">
            <a:avLst/>
          </a:prstGeom>
          <a:noFill/>
        </p:spPr>
        <p:txBody>
          <a:bodyPr wrap="square" lIns="36000" tIns="18000" rIns="36000" bIns="18000" anchor="ctr">
            <a:spAutoFit/>
          </a:bodyPr>
          <a:lstStyle/>
          <a:p>
            <a:pPr algn="ctr"/>
            <a:r>
              <a:rPr sz="900" b="1" i="0">
                <a:solidFill>
                  <a:srgbClr val="FFFFFF"/>
                </a:solidFill>
              </a:rPr>
              <a:t>ONE LINE</a:t>
            </a:r>
          </a:p>
        </p:txBody>
      </p:sp>
      <p:sp>
        <p:nvSpPr>
          <p:cNvPr id="42" name="TextBox 48">
            <a:extLst>
              <a:ext uri="{FF2B5EF4-FFF2-40B4-BE49-F238E27FC236}">
                <a16:creationId xmlns:a16="http://schemas.microsoft.com/office/drawing/2014/main" id="{D5751584-9AD1-996E-DAEE-A6F480933867}"/>
              </a:ext>
            </a:extLst>
          </p:cNvPr>
          <p:cNvSpPr txBox="1"/>
          <p:nvPr/>
        </p:nvSpPr>
        <p:spPr>
          <a:xfrm>
            <a:off x="8275320" y="4032504"/>
            <a:ext cx="3520440" cy="292608"/>
          </a:xfrm>
          <a:prstGeom prst="rect">
            <a:avLst/>
          </a:prstGeom>
          <a:noFill/>
        </p:spPr>
        <p:txBody>
          <a:bodyPr wrap="square" lIns="36000" tIns="18000" rIns="36000" bIns="18000" anchor="ctr">
            <a:spAutoFit/>
          </a:bodyPr>
          <a:lstStyle/>
          <a:p>
            <a:pPr algn="l"/>
            <a:r>
              <a:rPr sz="900" b="0" i="0">
                <a:solidFill>
                  <a:srgbClr val="172B4D"/>
                </a:solidFill>
              </a:rPr>
              <a:t>Max 120 characters · if it doesn't fit, scope is too broad</a:t>
            </a:r>
          </a:p>
        </p:txBody>
      </p:sp>
      <p:sp>
        <p:nvSpPr>
          <p:cNvPr id="43" name="Rounded Rectangle 49">
            <a:extLst>
              <a:ext uri="{FF2B5EF4-FFF2-40B4-BE49-F238E27FC236}">
                <a16:creationId xmlns:a16="http://schemas.microsoft.com/office/drawing/2014/main" id="{537867BC-C33F-E743-5EFE-770E0A2FBC22}"/>
              </a:ext>
            </a:extLst>
          </p:cNvPr>
          <p:cNvSpPr/>
          <p:nvPr/>
        </p:nvSpPr>
        <p:spPr>
          <a:xfrm>
            <a:off x="6336792" y="436168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50">
            <a:extLst>
              <a:ext uri="{FF2B5EF4-FFF2-40B4-BE49-F238E27FC236}">
                <a16:creationId xmlns:a16="http://schemas.microsoft.com/office/drawing/2014/main" id="{3A5E4EEE-80F9-8936-D0ED-585BCC79BC37}"/>
              </a:ext>
            </a:extLst>
          </p:cNvPr>
          <p:cNvSpPr txBox="1"/>
          <p:nvPr/>
        </p:nvSpPr>
        <p:spPr>
          <a:xfrm>
            <a:off x="6336792" y="4398264"/>
            <a:ext cx="1828800" cy="201168"/>
          </a:xfrm>
          <a:prstGeom prst="rect">
            <a:avLst/>
          </a:prstGeom>
          <a:noFill/>
        </p:spPr>
        <p:txBody>
          <a:bodyPr wrap="square" lIns="36000" tIns="18000" rIns="36000" bIns="18000" anchor="ctr">
            <a:spAutoFit/>
          </a:bodyPr>
          <a:lstStyle/>
          <a:p>
            <a:pPr algn="ctr"/>
            <a:r>
              <a:rPr sz="900" b="1" i="0">
                <a:solidFill>
                  <a:srgbClr val="FFFFFF"/>
                </a:solidFill>
              </a:rPr>
              <a:t>NO JARGON</a:t>
            </a:r>
          </a:p>
        </p:txBody>
      </p:sp>
      <p:sp>
        <p:nvSpPr>
          <p:cNvPr id="45" name="TextBox 51">
            <a:extLst>
              <a:ext uri="{FF2B5EF4-FFF2-40B4-BE49-F238E27FC236}">
                <a16:creationId xmlns:a16="http://schemas.microsoft.com/office/drawing/2014/main" id="{473F2D15-A8A7-BA66-E700-6C7FE0261B22}"/>
              </a:ext>
            </a:extLst>
          </p:cNvPr>
          <p:cNvSpPr txBox="1"/>
          <p:nvPr/>
        </p:nvSpPr>
        <p:spPr>
          <a:xfrm>
            <a:off x="8275320" y="4398264"/>
            <a:ext cx="3520440" cy="292608"/>
          </a:xfrm>
          <a:prstGeom prst="rect">
            <a:avLst/>
          </a:prstGeom>
          <a:noFill/>
        </p:spPr>
        <p:txBody>
          <a:bodyPr wrap="square" lIns="36000" tIns="18000" rIns="36000" bIns="18000" anchor="ctr">
            <a:spAutoFit/>
          </a:bodyPr>
          <a:lstStyle/>
          <a:p>
            <a:pPr algn="l"/>
            <a:r>
              <a:rPr sz="900" b="0" i="0">
                <a:solidFill>
                  <a:srgbClr val="172B4D"/>
                </a:solidFill>
              </a:rPr>
              <a:t>If a stakeholder outside IT can't read it, rewrite</a:t>
            </a:r>
          </a:p>
        </p:txBody>
      </p:sp>
      <p:sp>
        <p:nvSpPr>
          <p:cNvPr id="46" name="TextBox 52">
            <a:extLst>
              <a:ext uri="{FF2B5EF4-FFF2-40B4-BE49-F238E27FC236}">
                <a16:creationId xmlns:a16="http://schemas.microsoft.com/office/drawing/2014/main" id="{6C8ABEAC-AF3C-05A6-9DCE-17784B3B0E04}"/>
              </a:ext>
            </a:extLst>
          </p:cNvPr>
          <p:cNvSpPr txBox="1"/>
          <p:nvPr/>
        </p:nvSpPr>
        <p:spPr>
          <a:xfrm>
            <a:off x="6336792" y="4937760"/>
            <a:ext cx="5486400" cy="201168"/>
          </a:xfrm>
          <a:prstGeom prst="rect">
            <a:avLst/>
          </a:prstGeom>
          <a:noFill/>
        </p:spPr>
        <p:txBody>
          <a:bodyPr wrap="square" lIns="36000" tIns="18000" rIns="36000" bIns="18000" anchor="t">
            <a:spAutoFit/>
          </a:bodyPr>
          <a:lstStyle/>
          <a:p>
            <a:pPr algn="l"/>
            <a:r>
              <a:rPr sz="900" b="1" i="0">
                <a:solidFill>
                  <a:srgbClr val="DE350B"/>
                </a:solidFill>
              </a:rPr>
              <a:t>WHAT BREAKS WITHOUT IT</a:t>
            </a:r>
          </a:p>
        </p:txBody>
      </p:sp>
      <p:sp>
        <p:nvSpPr>
          <p:cNvPr id="47" name="TextBox 53">
            <a:extLst>
              <a:ext uri="{FF2B5EF4-FFF2-40B4-BE49-F238E27FC236}">
                <a16:creationId xmlns:a16="http://schemas.microsoft.com/office/drawing/2014/main" id="{6496368F-235E-FAF9-8504-381750230A09}"/>
              </a:ext>
            </a:extLst>
          </p:cNvPr>
          <p:cNvSpPr txBox="1"/>
          <p:nvPr/>
        </p:nvSpPr>
        <p:spPr>
          <a:xfrm>
            <a:off x="6336792" y="5138928"/>
            <a:ext cx="5394960" cy="868680"/>
          </a:xfrm>
          <a:prstGeom prst="rect">
            <a:avLst/>
          </a:prstGeom>
          <a:noFill/>
        </p:spPr>
        <p:txBody>
          <a:bodyPr wrap="square" lIns="36000" tIns="18000" rIns="36000" bIns="18000" anchor="t">
            <a:spAutoFit/>
          </a:bodyPr>
          <a:lstStyle/>
          <a:p>
            <a:pPr algn="l"/>
            <a:r>
              <a:rPr sz="1000" b="0" i="0">
                <a:solidFill>
                  <a:srgbClr val="172B4D"/>
                </a:solidFill>
              </a:rPr>
              <a:t>Generic titles like "Fix system" make every card look the same on the board. Triage cannot tell at a glance which item is critical. Backlog ranking becomes meaningless. Stakeholders ignore the dashboard.</a:t>
            </a:r>
          </a:p>
        </p:txBody>
      </p:sp>
      <p:sp>
        <p:nvSpPr>
          <p:cNvPr id="48" name="Rounded Rectangle 54">
            <a:extLst>
              <a:ext uri="{FF2B5EF4-FFF2-40B4-BE49-F238E27FC236}">
                <a16:creationId xmlns:a16="http://schemas.microsoft.com/office/drawing/2014/main" id="{6F83F162-83D8-AC29-4F51-0189A3D633CD}"/>
              </a:ext>
            </a:extLst>
          </p:cNvPr>
          <p:cNvSpPr/>
          <p:nvPr/>
        </p:nvSpPr>
        <p:spPr>
          <a:xfrm>
            <a:off x="365760" y="6263640"/>
            <a:ext cx="5650992" cy="471856"/>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5">
            <a:extLst>
              <a:ext uri="{FF2B5EF4-FFF2-40B4-BE49-F238E27FC236}">
                <a16:creationId xmlns:a16="http://schemas.microsoft.com/office/drawing/2014/main" id="{999DFEE3-8D4B-E92F-FDC1-B92D0C4C1C63}"/>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50" name="TextBox 56">
            <a:extLst>
              <a:ext uri="{FF2B5EF4-FFF2-40B4-BE49-F238E27FC236}">
                <a16:creationId xmlns:a16="http://schemas.microsoft.com/office/drawing/2014/main" id="{06656543-3900-17A4-3EA7-41A4E9309D31}"/>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Clear, outcome-based summary becomes the card display label across boards. First field execs see when scanning. Wrong title = invisible card.</a:t>
            </a:r>
          </a:p>
        </p:txBody>
      </p:sp>
      <p:sp>
        <p:nvSpPr>
          <p:cNvPr id="51" name="Rounded Rectangle 57">
            <a:extLst>
              <a:ext uri="{FF2B5EF4-FFF2-40B4-BE49-F238E27FC236}">
                <a16:creationId xmlns:a16="http://schemas.microsoft.com/office/drawing/2014/main" id="{CF3B22C9-BFF6-304D-CA62-7FF322FA3341}"/>
              </a:ext>
            </a:extLst>
          </p:cNvPr>
          <p:cNvSpPr/>
          <p:nvPr/>
        </p:nvSpPr>
        <p:spPr>
          <a:xfrm>
            <a:off x="6199632" y="6263640"/>
            <a:ext cx="5650992" cy="475488"/>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8">
            <a:extLst>
              <a:ext uri="{FF2B5EF4-FFF2-40B4-BE49-F238E27FC236}">
                <a16:creationId xmlns:a16="http://schemas.microsoft.com/office/drawing/2014/main" id="{258B9459-B2FD-E907-F2F1-7C5F48449732}"/>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53" name="TextBox 59">
            <a:extLst>
              <a:ext uri="{FF2B5EF4-FFF2-40B4-BE49-F238E27FC236}">
                <a16:creationId xmlns:a16="http://schemas.microsoft.com/office/drawing/2014/main" id="{2D1C5B89-62FB-AA04-5870-F48900A2B566}"/>
              </a:ext>
            </a:extLst>
          </p:cNvPr>
          <p:cNvSpPr txBox="1"/>
          <p:nvPr/>
        </p:nvSpPr>
        <p:spPr>
          <a:xfrm>
            <a:off x="6336792" y="6446520"/>
            <a:ext cx="5394960" cy="201168"/>
          </a:xfrm>
          <a:prstGeom prst="rect">
            <a:avLst/>
          </a:prstGeom>
          <a:noFill/>
        </p:spPr>
        <p:txBody>
          <a:bodyPr wrap="square" lIns="36000" tIns="18000" rIns="36000" bIns="18000" anchor="t">
            <a:spAutoFit/>
          </a:bodyPr>
          <a:lstStyle/>
          <a:p>
            <a:pPr algn="l"/>
            <a:r>
              <a:rPr sz="900" b="1" i="1">
                <a:solidFill>
                  <a:srgbClr val="F08629"/>
                </a:solidFill>
              </a:rPr>
              <a:t>▸ Card display label · backlog scannability · search indexing</a:t>
            </a:r>
          </a:p>
        </p:txBody>
      </p:sp>
      <p:sp>
        <p:nvSpPr>
          <p:cNvPr id="2" name="TextBox 13">
            <a:extLst>
              <a:ext uri="{FF2B5EF4-FFF2-40B4-BE49-F238E27FC236}">
                <a16:creationId xmlns:a16="http://schemas.microsoft.com/office/drawing/2014/main" id="{C4CEF21E-AB90-FB1B-5CBB-58D9132DB29B}"/>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6" name="Text Placeholder 19">
            <a:extLst>
              <a:ext uri="{FF2B5EF4-FFF2-40B4-BE49-F238E27FC236}">
                <a16:creationId xmlns:a16="http://schemas.microsoft.com/office/drawing/2014/main" id="{5F282ED7-8778-F313-18CE-96E77BD829A6}"/>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Field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guide - title</a:t>
            </a:r>
          </a:p>
        </p:txBody>
      </p:sp>
    </p:spTree>
    <p:extLst>
      <p:ext uri="{BB962C8B-B14F-4D97-AF65-F5344CB8AC3E}">
        <p14:creationId xmlns:p14="http://schemas.microsoft.com/office/powerpoint/2010/main" val="1088806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FE60-C98E-E6CB-1B41-AE16CF31A0F1}"/>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807AF834-C703-3008-B883-5270165BD408}"/>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DAA6D20A-58F1-E262-708B-19246A337996}"/>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Description</a:t>
            </a:r>
          </a:p>
        </p:txBody>
      </p:sp>
      <p:sp>
        <p:nvSpPr>
          <p:cNvPr id="7" name="TextBox 11">
            <a:extLst>
              <a:ext uri="{FF2B5EF4-FFF2-40B4-BE49-F238E27FC236}">
                <a16:creationId xmlns:a16="http://schemas.microsoft.com/office/drawing/2014/main" id="{44F3C4D9-779F-25EA-A958-739F135F4688}"/>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min 100 chars · supports lists, links, mentions</a:t>
            </a:r>
          </a:p>
        </p:txBody>
      </p:sp>
      <p:sp>
        <p:nvSpPr>
          <p:cNvPr id="58" name="Rounded Rectangle 14">
            <a:extLst>
              <a:ext uri="{FF2B5EF4-FFF2-40B4-BE49-F238E27FC236}">
                <a16:creationId xmlns:a16="http://schemas.microsoft.com/office/drawing/2014/main" id="{151B84A0-53CE-622A-02F0-7167C22E790D}"/>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15">
            <a:extLst>
              <a:ext uri="{FF2B5EF4-FFF2-40B4-BE49-F238E27FC236}">
                <a16:creationId xmlns:a16="http://schemas.microsoft.com/office/drawing/2014/main" id="{D5C07BD7-5AD8-E656-7F18-2778F8D662EF}"/>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STRUCTURE — 4 paragraphs</a:t>
            </a:r>
          </a:p>
        </p:txBody>
      </p:sp>
      <p:sp>
        <p:nvSpPr>
          <p:cNvPr id="60" name="Rounded Rectangle 16">
            <a:extLst>
              <a:ext uri="{FF2B5EF4-FFF2-40B4-BE49-F238E27FC236}">
                <a16:creationId xmlns:a16="http://schemas.microsoft.com/office/drawing/2014/main" id="{2BAC5C10-4894-0014-BBF9-15635DD6FF80}"/>
              </a:ext>
            </a:extLst>
          </p:cNvPr>
          <p:cNvSpPr/>
          <p:nvPr/>
        </p:nvSpPr>
        <p:spPr>
          <a:xfrm>
            <a:off x="502920" y="2011680"/>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17">
            <a:extLst>
              <a:ext uri="{FF2B5EF4-FFF2-40B4-BE49-F238E27FC236}">
                <a16:creationId xmlns:a16="http://schemas.microsoft.com/office/drawing/2014/main" id="{487229E5-71F6-A15C-A752-247AC0585795}"/>
              </a:ext>
            </a:extLst>
          </p:cNvPr>
          <p:cNvSpPr/>
          <p:nvPr/>
        </p:nvSpPr>
        <p:spPr>
          <a:xfrm>
            <a:off x="502920" y="2011680"/>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18">
            <a:extLst>
              <a:ext uri="{FF2B5EF4-FFF2-40B4-BE49-F238E27FC236}">
                <a16:creationId xmlns:a16="http://schemas.microsoft.com/office/drawing/2014/main" id="{B77AD75F-9DCA-9EFC-620A-CA6A1E2D9DE8}"/>
              </a:ext>
            </a:extLst>
          </p:cNvPr>
          <p:cNvSpPr txBox="1"/>
          <p:nvPr/>
        </p:nvSpPr>
        <p:spPr>
          <a:xfrm>
            <a:off x="502920" y="2011680"/>
            <a:ext cx="1554480" cy="960120"/>
          </a:xfrm>
          <a:prstGeom prst="rect">
            <a:avLst/>
          </a:prstGeom>
          <a:noFill/>
        </p:spPr>
        <p:txBody>
          <a:bodyPr wrap="square" lIns="36000" tIns="18000" rIns="36000" bIns="18000" anchor="ctr">
            <a:spAutoFit/>
          </a:bodyPr>
          <a:lstStyle/>
          <a:p>
            <a:pPr algn="ctr"/>
            <a:r>
              <a:rPr sz="1000" b="1" i="0">
                <a:solidFill>
                  <a:srgbClr val="FFFFFF"/>
                </a:solidFill>
              </a:rPr>
              <a:t>CONTEXT</a:t>
            </a:r>
          </a:p>
        </p:txBody>
      </p:sp>
      <p:sp>
        <p:nvSpPr>
          <p:cNvPr id="63" name="TextBox 19">
            <a:extLst>
              <a:ext uri="{FF2B5EF4-FFF2-40B4-BE49-F238E27FC236}">
                <a16:creationId xmlns:a16="http://schemas.microsoft.com/office/drawing/2014/main" id="{5757F4E1-B485-2CE0-56FD-5F77378E8DBC}"/>
              </a:ext>
            </a:extLst>
          </p:cNvPr>
          <p:cNvSpPr txBox="1"/>
          <p:nvPr/>
        </p:nvSpPr>
        <p:spPr>
          <a:xfrm>
            <a:off x="2148840" y="2057400"/>
            <a:ext cx="3657600" cy="164592"/>
          </a:xfrm>
          <a:prstGeom prst="rect">
            <a:avLst/>
          </a:prstGeom>
          <a:noFill/>
        </p:spPr>
        <p:txBody>
          <a:bodyPr wrap="square" lIns="36000" tIns="18000" rIns="36000" bIns="18000" anchor="t">
            <a:spAutoFit/>
          </a:bodyPr>
          <a:lstStyle/>
          <a:p>
            <a:pPr algn="l"/>
            <a:r>
              <a:rPr sz="800" b="0" i="1">
                <a:solidFill>
                  <a:srgbClr val="004D2E"/>
                </a:solidFill>
              </a:rPr>
              <a:t>What is happening today · the as-is state · who does it · how often</a:t>
            </a:r>
          </a:p>
        </p:txBody>
      </p:sp>
      <p:sp>
        <p:nvSpPr>
          <p:cNvPr id="64" name="TextBox 20">
            <a:extLst>
              <a:ext uri="{FF2B5EF4-FFF2-40B4-BE49-F238E27FC236}">
                <a16:creationId xmlns:a16="http://schemas.microsoft.com/office/drawing/2014/main" id="{B77CDAD7-602D-38A1-079B-9C1C25711969}"/>
              </a:ext>
            </a:extLst>
          </p:cNvPr>
          <p:cNvSpPr txBox="1"/>
          <p:nvPr/>
        </p:nvSpPr>
        <p:spPr>
          <a:xfrm>
            <a:off x="2148840" y="2240280"/>
            <a:ext cx="3657600" cy="713232"/>
          </a:xfrm>
          <a:prstGeom prst="rect">
            <a:avLst/>
          </a:prstGeom>
          <a:noFill/>
        </p:spPr>
        <p:txBody>
          <a:bodyPr wrap="square" lIns="36000" tIns="18000" rIns="36000" bIns="18000" anchor="t">
            <a:spAutoFit/>
          </a:bodyPr>
          <a:lstStyle/>
          <a:p>
            <a:pPr algn="l"/>
            <a:r>
              <a:rPr sz="900" b="0" i="0">
                <a:solidFill>
                  <a:srgbClr val="172B4D"/>
                </a:solidFill>
              </a:rPr>
              <a:t>Customer Care reps manually reconcile billing errors after each meter reading cycle (every 30 days, ~1,200 errors per cycle across 7 OPCOs).</a:t>
            </a:r>
          </a:p>
        </p:txBody>
      </p:sp>
      <p:sp>
        <p:nvSpPr>
          <p:cNvPr id="65" name="Rounded Rectangle 21">
            <a:extLst>
              <a:ext uri="{FF2B5EF4-FFF2-40B4-BE49-F238E27FC236}">
                <a16:creationId xmlns:a16="http://schemas.microsoft.com/office/drawing/2014/main" id="{4A9E3D62-A8E5-5009-C1AB-9CD82B7EB4D6}"/>
              </a:ext>
            </a:extLst>
          </p:cNvPr>
          <p:cNvSpPr/>
          <p:nvPr/>
        </p:nvSpPr>
        <p:spPr>
          <a:xfrm>
            <a:off x="502920" y="3044951"/>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22">
            <a:extLst>
              <a:ext uri="{FF2B5EF4-FFF2-40B4-BE49-F238E27FC236}">
                <a16:creationId xmlns:a16="http://schemas.microsoft.com/office/drawing/2014/main" id="{6032E3D5-9ED4-209B-C9E2-1BB22E6EA10E}"/>
              </a:ext>
            </a:extLst>
          </p:cNvPr>
          <p:cNvSpPr/>
          <p:nvPr/>
        </p:nvSpPr>
        <p:spPr>
          <a:xfrm>
            <a:off x="502920" y="3044951"/>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23">
            <a:extLst>
              <a:ext uri="{FF2B5EF4-FFF2-40B4-BE49-F238E27FC236}">
                <a16:creationId xmlns:a16="http://schemas.microsoft.com/office/drawing/2014/main" id="{C3CCE2CD-A560-8D1C-BD53-9231F79D5948}"/>
              </a:ext>
            </a:extLst>
          </p:cNvPr>
          <p:cNvSpPr txBox="1"/>
          <p:nvPr/>
        </p:nvSpPr>
        <p:spPr>
          <a:xfrm>
            <a:off x="502920" y="3044951"/>
            <a:ext cx="1554480" cy="960120"/>
          </a:xfrm>
          <a:prstGeom prst="rect">
            <a:avLst/>
          </a:prstGeom>
          <a:noFill/>
        </p:spPr>
        <p:txBody>
          <a:bodyPr wrap="square" lIns="36000" tIns="18000" rIns="36000" bIns="18000" anchor="ctr">
            <a:spAutoFit/>
          </a:bodyPr>
          <a:lstStyle/>
          <a:p>
            <a:pPr algn="ctr"/>
            <a:r>
              <a:rPr sz="1000" b="1" i="0">
                <a:solidFill>
                  <a:srgbClr val="FFFFFF"/>
                </a:solidFill>
              </a:rPr>
              <a:t>CURRENT PAIN</a:t>
            </a:r>
          </a:p>
        </p:txBody>
      </p:sp>
      <p:sp>
        <p:nvSpPr>
          <p:cNvPr id="68" name="TextBox 24">
            <a:extLst>
              <a:ext uri="{FF2B5EF4-FFF2-40B4-BE49-F238E27FC236}">
                <a16:creationId xmlns:a16="http://schemas.microsoft.com/office/drawing/2014/main" id="{2DB09B06-CA02-9024-9F80-1C12444EB662}"/>
              </a:ext>
            </a:extLst>
          </p:cNvPr>
          <p:cNvSpPr txBox="1"/>
          <p:nvPr/>
        </p:nvSpPr>
        <p:spPr>
          <a:xfrm>
            <a:off x="2148840" y="3090671"/>
            <a:ext cx="3657600" cy="164592"/>
          </a:xfrm>
          <a:prstGeom prst="rect">
            <a:avLst/>
          </a:prstGeom>
          <a:noFill/>
        </p:spPr>
        <p:txBody>
          <a:bodyPr wrap="square" lIns="36000" tIns="18000" rIns="36000" bIns="18000" anchor="t">
            <a:spAutoFit/>
          </a:bodyPr>
          <a:lstStyle/>
          <a:p>
            <a:pPr algn="l"/>
            <a:r>
              <a:rPr sz="800" b="0" i="1">
                <a:solidFill>
                  <a:srgbClr val="004D2E"/>
                </a:solidFill>
              </a:rPr>
              <a:t>What hurts · what risk · what waste</a:t>
            </a:r>
          </a:p>
        </p:txBody>
      </p:sp>
      <p:sp>
        <p:nvSpPr>
          <p:cNvPr id="69" name="TextBox 25">
            <a:extLst>
              <a:ext uri="{FF2B5EF4-FFF2-40B4-BE49-F238E27FC236}">
                <a16:creationId xmlns:a16="http://schemas.microsoft.com/office/drawing/2014/main" id="{C311D228-284F-CAD8-389F-A6B584B166DB}"/>
              </a:ext>
            </a:extLst>
          </p:cNvPr>
          <p:cNvSpPr txBox="1"/>
          <p:nvPr/>
        </p:nvSpPr>
        <p:spPr>
          <a:xfrm>
            <a:off x="2148840" y="3273551"/>
            <a:ext cx="3657600" cy="713232"/>
          </a:xfrm>
          <a:prstGeom prst="rect">
            <a:avLst/>
          </a:prstGeom>
          <a:noFill/>
        </p:spPr>
        <p:txBody>
          <a:bodyPr wrap="square" lIns="36000" tIns="18000" rIns="36000" bIns="18000" anchor="t">
            <a:spAutoFit/>
          </a:bodyPr>
          <a:lstStyle/>
          <a:p>
            <a:pPr algn="l"/>
            <a:r>
              <a:rPr sz="900" b="0" i="0">
                <a:solidFill>
                  <a:srgbClr val="172B4D"/>
                </a:solidFill>
              </a:rPr>
              <a:t>Each error takes 12 min to fix, totaling 240 hrs/cycle of manual labor. Customers wait 14 days for corrected bill — generates 8% of inbound complaints.</a:t>
            </a:r>
          </a:p>
        </p:txBody>
      </p:sp>
      <p:sp>
        <p:nvSpPr>
          <p:cNvPr id="70" name="Rounded Rectangle 26">
            <a:extLst>
              <a:ext uri="{FF2B5EF4-FFF2-40B4-BE49-F238E27FC236}">
                <a16:creationId xmlns:a16="http://schemas.microsoft.com/office/drawing/2014/main" id="{7FE91BE5-BB79-7F80-4C74-DE8C76C655CA}"/>
              </a:ext>
            </a:extLst>
          </p:cNvPr>
          <p:cNvSpPr/>
          <p:nvPr/>
        </p:nvSpPr>
        <p:spPr>
          <a:xfrm>
            <a:off x="502920" y="4078222"/>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27">
            <a:extLst>
              <a:ext uri="{FF2B5EF4-FFF2-40B4-BE49-F238E27FC236}">
                <a16:creationId xmlns:a16="http://schemas.microsoft.com/office/drawing/2014/main" id="{5F3A52FB-1833-DBDF-4DCE-4307C94A7696}"/>
              </a:ext>
            </a:extLst>
          </p:cNvPr>
          <p:cNvSpPr/>
          <p:nvPr/>
        </p:nvSpPr>
        <p:spPr>
          <a:xfrm>
            <a:off x="502920" y="4078222"/>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28">
            <a:extLst>
              <a:ext uri="{FF2B5EF4-FFF2-40B4-BE49-F238E27FC236}">
                <a16:creationId xmlns:a16="http://schemas.microsoft.com/office/drawing/2014/main" id="{4EE842DA-6ABA-38A8-A393-795305D39CC0}"/>
              </a:ext>
            </a:extLst>
          </p:cNvPr>
          <p:cNvSpPr txBox="1"/>
          <p:nvPr/>
        </p:nvSpPr>
        <p:spPr>
          <a:xfrm>
            <a:off x="502920" y="4078222"/>
            <a:ext cx="1554480" cy="960120"/>
          </a:xfrm>
          <a:prstGeom prst="rect">
            <a:avLst/>
          </a:prstGeom>
          <a:noFill/>
        </p:spPr>
        <p:txBody>
          <a:bodyPr wrap="square" lIns="36000" tIns="18000" rIns="36000" bIns="18000" anchor="ctr">
            <a:spAutoFit/>
          </a:bodyPr>
          <a:lstStyle/>
          <a:p>
            <a:pPr algn="ctr"/>
            <a:r>
              <a:rPr sz="1000" b="1" i="0">
                <a:solidFill>
                  <a:srgbClr val="FFFFFF"/>
                </a:solidFill>
              </a:rPr>
              <a:t>WHO IS AFFECTED</a:t>
            </a:r>
          </a:p>
        </p:txBody>
      </p:sp>
      <p:sp>
        <p:nvSpPr>
          <p:cNvPr id="73" name="TextBox 29">
            <a:extLst>
              <a:ext uri="{FF2B5EF4-FFF2-40B4-BE49-F238E27FC236}">
                <a16:creationId xmlns:a16="http://schemas.microsoft.com/office/drawing/2014/main" id="{1DE9B36A-E174-6F0E-A171-84DC5F6397FD}"/>
              </a:ext>
            </a:extLst>
          </p:cNvPr>
          <p:cNvSpPr txBox="1"/>
          <p:nvPr/>
        </p:nvSpPr>
        <p:spPr>
          <a:xfrm>
            <a:off x="2148840" y="4123942"/>
            <a:ext cx="3657600" cy="164592"/>
          </a:xfrm>
          <a:prstGeom prst="rect">
            <a:avLst/>
          </a:prstGeom>
          <a:noFill/>
        </p:spPr>
        <p:txBody>
          <a:bodyPr wrap="square" lIns="36000" tIns="18000" rIns="36000" bIns="18000" anchor="t">
            <a:spAutoFit/>
          </a:bodyPr>
          <a:lstStyle/>
          <a:p>
            <a:pPr algn="l"/>
            <a:r>
              <a:rPr sz="800" b="0" i="1">
                <a:solidFill>
                  <a:srgbClr val="004D2E"/>
                </a:solidFill>
              </a:rPr>
              <a:t>Users · OPCOs · regulators · field crews</a:t>
            </a:r>
          </a:p>
        </p:txBody>
      </p:sp>
      <p:sp>
        <p:nvSpPr>
          <p:cNvPr id="74" name="TextBox 30">
            <a:extLst>
              <a:ext uri="{FF2B5EF4-FFF2-40B4-BE49-F238E27FC236}">
                <a16:creationId xmlns:a16="http://schemas.microsoft.com/office/drawing/2014/main" id="{B2A47C70-9D1C-C5A9-AC50-CAC69A034BE7}"/>
              </a:ext>
            </a:extLst>
          </p:cNvPr>
          <p:cNvSpPr txBox="1"/>
          <p:nvPr/>
        </p:nvSpPr>
        <p:spPr>
          <a:xfrm>
            <a:off x="2148840" y="4306822"/>
            <a:ext cx="3657600" cy="713232"/>
          </a:xfrm>
          <a:prstGeom prst="rect">
            <a:avLst/>
          </a:prstGeom>
          <a:noFill/>
        </p:spPr>
        <p:txBody>
          <a:bodyPr wrap="square" lIns="36000" tIns="18000" rIns="36000" bIns="18000" anchor="t">
            <a:spAutoFit/>
          </a:bodyPr>
          <a:lstStyle/>
          <a:p>
            <a:pPr algn="l"/>
            <a:r>
              <a:rPr sz="900" b="0" i="0">
                <a:solidFill>
                  <a:srgbClr val="172B4D"/>
                </a:solidFill>
              </a:rPr>
              <a:t>65 Customer Care agents (CR1) · 7 OPCOs (UIL, CMP, NY×3, RG&amp;E×2) · all residential billing customers in error states.</a:t>
            </a:r>
          </a:p>
        </p:txBody>
      </p:sp>
      <p:sp>
        <p:nvSpPr>
          <p:cNvPr id="75" name="Rounded Rectangle 31">
            <a:extLst>
              <a:ext uri="{FF2B5EF4-FFF2-40B4-BE49-F238E27FC236}">
                <a16:creationId xmlns:a16="http://schemas.microsoft.com/office/drawing/2014/main" id="{3013CCCD-760B-A266-BB95-45E765433681}"/>
              </a:ext>
            </a:extLst>
          </p:cNvPr>
          <p:cNvSpPr/>
          <p:nvPr/>
        </p:nvSpPr>
        <p:spPr>
          <a:xfrm>
            <a:off x="502920" y="5111493"/>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32">
            <a:extLst>
              <a:ext uri="{FF2B5EF4-FFF2-40B4-BE49-F238E27FC236}">
                <a16:creationId xmlns:a16="http://schemas.microsoft.com/office/drawing/2014/main" id="{D708AF68-6244-9746-6328-4E2139FE19A3}"/>
              </a:ext>
            </a:extLst>
          </p:cNvPr>
          <p:cNvSpPr/>
          <p:nvPr/>
        </p:nvSpPr>
        <p:spPr>
          <a:xfrm>
            <a:off x="502920" y="5111493"/>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33">
            <a:extLst>
              <a:ext uri="{FF2B5EF4-FFF2-40B4-BE49-F238E27FC236}">
                <a16:creationId xmlns:a16="http://schemas.microsoft.com/office/drawing/2014/main" id="{3FCA36F6-64C6-A08D-9A52-25B77F311561}"/>
              </a:ext>
            </a:extLst>
          </p:cNvPr>
          <p:cNvSpPr txBox="1"/>
          <p:nvPr/>
        </p:nvSpPr>
        <p:spPr>
          <a:xfrm>
            <a:off x="502920" y="5111493"/>
            <a:ext cx="1554480" cy="960120"/>
          </a:xfrm>
          <a:prstGeom prst="rect">
            <a:avLst/>
          </a:prstGeom>
          <a:noFill/>
        </p:spPr>
        <p:txBody>
          <a:bodyPr wrap="square" lIns="36000" tIns="18000" rIns="36000" bIns="18000" anchor="ctr">
            <a:spAutoFit/>
          </a:bodyPr>
          <a:lstStyle/>
          <a:p>
            <a:pPr algn="ctr"/>
            <a:r>
              <a:rPr sz="1000" b="1" i="0">
                <a:solidFill>
                  <a:srgbClr val="FFFFFF"/>
                </a:solidFill>
              </a:rPr>
              <a:t>WHAT BLOCKS TODAY</a:t>
            </a:r>
          </a:p>
        </p:txBody>
      </p:sp>
      <p:sp>
        <p:nvSpPr>
          <p:cNvPr id="78" name="TextBox 34">
            <a:extLst>
              <a:ext uri="{FF2B5EF4-FFF2-40B4-BE49-F238E27FC236}">
                <a16:creationId xmlns:a16="http://schemas.microsoft.com/office/drawing/2014/main" id="{07EC2ECA-3C69-9B62-1319-696119AF06AC}"/>
              </a:ext>
            </a:extLst>
          </p:cNvPr>
          <p:cNvSpPr txBox="1"/>
          <p:nvPr/>
        </p:nvSpPr>
        <p:spPr>
          <a:xfrm>
            <a:off x="2148840" y="5157213"/>
            <a:ext cx="3657600" cy="164592"/>
          </a:xfrm>
          <a:prstGeom prst="rect">
            <a:avLst/>
          </a:prstGeom>
          <a:noFill/>
        </p:spPr>
        <p:txBody>
          <a:bodyPr wrap="square" lIns="36000" tIns="18000" rIns="36000" bIns="18000" anchor="t">
            <a:spAutoFit/>
          </a:bodyPr>
          <a:lstStyle/>
          <a:p>
            <a:pPr algn="l"/>
            <a:r>
              <a:rPr sz="800" b="0" i="1">
                <a:solidFill>
                  <a:srgbClr val="004D2E"/>
                </a:solidFill>
              </a:rPr>
              <a:t>Workarounds · manual steps · missing data</a:t>
            </a:r>
          </a:p>
        </p:txBody>
      </p:sp>
      <p:sp>
        <p:nvSpPr>
          <p:cNvPr id="79" name="TextBox 35">
            <a:extLst>
              <a:ext uri="{FF2B5EF4-FFF2-40B4-BE49-F238E27FC236}">
                <a16:creationId xmlns:a16="http://schemas.microsoft.com/office/drawing/2014/main" id="{2B088D0A-A9B7-C34E-DC20-408876DC694F}"/>
              </a:ext>
            </a:extLst>
          </p:cNvPr>
          <p:cNvSpPr txBox="1"/>
          <p:nvPr/>
        </p:nvSpPr>
        <p:spPr>
          <a:xfrm>
            <a:off x="2148840" y="5340093"/>
            <a:ext cx="3657600" cy="713232"/>
          </a:xfrm>
          <a:prstGeom prst="rect">
            <a:avLst/>
          </a:prstGeom>
          <a:noFill/>
        </p:spPr>
        <p:txBody>
          <a:bodyPr wrap="square" lIns="36000" tIns="18000" rIns="36000" bIns="18000" anchor="t">
            <a:spAutoFit/>
          </a:bodyPr>
          <a:lstStyle/>
          <a:p>
            <a:pPr algn="l"/>
            <a:r>
              <a:rPr sz="900" b="0" i="0">
                <a:solidFill>
                  <a:srgbClr val="172B4D"/>
                </a:solidFill>
              </a:rPr>
              <a:t>No automated reconciliation between MDM and SAP FICA. Excel-based reports run twice daily by hand. Vendor SAP partner queue is 3 weeks deep.</a:t>
            </a:r>
          </a:p>
        </p:txBody>
      </p:sp>
      <p:sp>
        <p:nvSpPr>
          <p:cNvPr id="80" name="Rounded Rectangle 36">
            <a:extLst>
              <a:ext uri="{FF2B5EF4-FFF2-40B4-BE49-F238E27FC236}">
                <a16:creationId xmlns:a16="http://schemas.microsoft.com/office/drawing/2014/main" id="{3D0A98EB-B579-8380-438A-B11035FBDAAB}"/>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37">
            <a:extLst>
              <a:ext uri="{FF2B5EF4-FFF2-40B4-BE49-F238E27FC236}">
                <a16:creationId xmlns:a16="http://schemas.microsoft.com/office/drawing/2014/main" id="{30404C26-D907-576D-029B-7AA8730829F8}"/>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82" name="TextBox 38">
            <a:extLst>
              <a:ext uri="{FF2B5EF4-FFF2-40B4-BE49-F238E27FC236}">
                <a16:creationId xmlns:a16="http://schemas.microsoft.com/office/drawing/2014/main" id="{D63244BE-0866-F253-FAD6-39BFB0C88FA2}"/>
              </a:ext>
            </a:extLst>
          </p:cNvPr>
          <p:cNvSpPr txBox="1"/>
          <p:nvPr/>
        </p:nvSpPr>
        <p:spPr>
          <a:xfrm>
            <a:off x="6336792" y="1984248"/>
            <a:ext cx="5394960" cy="640080"/>
          </a:xfrm>
          <a:prstGeom prst="rect">
            <a:avLst/>
          </a:prstGeom>
          <a:noFill/>
        </p:spPr>
        <p:txBody>
          <a:bodyPr wrap="square" lIns="36000" tIns="18000" rIns="36000" bIns="18000" anchor="t">
            <a:spAutoFit/>
          </a:bodyPr>
          <a:lstStyle/>
          <a:p>
            <a:pPr algn="l"/>
            <a:r>
              <a:rPr sz="1000" b="0" i="0">
                <a:solidFill>
                  <a:srgbClr val="172B4D"/>
                </a:solidFill>
              </a:rPr>
              <a:t>Free-text narrative giving the triage team enough business context to understand the problem WITHOUT scheduling a meeting. Description is the difference between a TRIAGED ticket and a BOUNCED one.</a:t>
            </a:r>
          </a:p>
        </p:txBody>
      </p:sp>
      <p:sp>
        <p:nvSpPr>
          <p:cNvPr id="83" name="TextBox 39">
            <a:extLst>
              <a:ext uri="{FF2B5EF4-FFF2-40B4-BE49-F238E27FC236}">
                <a16:creationId xmlns:a16="http://schemas.microsoft.com/office/drawing/2014/main" id="{5A0581AB-38D7-1AD0-513D-746A59CEAEF9}"/>
              </a:ext>
            </a:extLst>
          </p:cNvPr>
          <p:cNvSpPr txBox="1"/>
          <p:nvPr/>
        </p:nvSpPr>
        <p:spPr>
          <a:xfrm>
            <a:off x="6336792" y="2697480"/>
            <a:ext cx="5486400" cy="201168"/>
          </a:xfrm>
          <a:prstGeom prst="rect">
            <a:avLst/>
          </a:prstGeom>
          <a:noFill/>
        </p:spPr>
        <p:txBody>
          <a:bodyPr wrap="square" lIns="36000" tIns="18000" rIns="36000" bIns="18000" anchor="t">
            <a:spAutoFit/>
          </a:bodyPr>
          <a:lstStyle/>
          <a:p>
            <a:pPr algn="l"/>
            <a:r>
              <a:rPr sz="900" b="1" i="0">
                <a:solidFill>
                  <a:srgbClr val="006B3F"/>
                </a:solidFill>
              </a:rPr>
              <a:t>GOLDEN RULE</a:t>
            </a:r>
          </a:p>
        </p:txBody>
      </p:sp>
      <p:sp>
        <p:nvSpPr>
          <p:cNvPr id="84" name="Rounded Rectangle 40">
            <a:extLst>
              <a:ext uri="{FF2B5EF4-FFF2-40B4-BE49-F238E27FC236}">
                <a16:creationId xmlns:a16="http://schemas.microsoft.com/office/drawing/2014/main" id="{EB7B4FA1-33AE-01C8-4772-D22CB6E6B55F}"/>
              </a:ext>
            </a:extLst>
          </p:cNvPr>
          <p:cNvSpPr/>
          <p:nvPr/>
        </p:nvSpPr>
        <p:spPr>
          <a:xfrm>
            <a:off x="6336792" y="2898648"/>
            <a:ext cx="5394960" cy="457200"/>
          </a:xfrm>
          <a:prstGeom prst="roundRect">
            <a:avLst>
              <a:gd name="adj" fmla="val 5000"/>
            </a:avLst>
          </a:prstGeom>
          <a:solidFill>
            <a:srgbClr val="E6F2EB"/>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41">
            <a:extLst>
              <a:ext uri="{FF2B5EF4-FFF2-40B4-BE49-F238E27FC236}">
                <a16:creationId xmlns:a16="http://schemas.microsoft.com/office/drawing/2014/main" id="{55000243-35C9-20EA-99D9-198A56DC9B64}"/>
              </a:ext>
            </a:extLst>
          </p:cNvPr>
          <p:cNvSpPr txBox="1"/>
          <p:nvPr/>
        </p:nvSpPr>
        <p:spPr>
          <a:xfrm>
            <a:off x="6336792" y="2898648"/>
            <a:ext cx="5394960" cy="457200"/>
          </a:xfrm>
          <a:prstGeom prst="rect">
            <a:avLst/>
          </a:prstGeom>
          <a:noFill/>
        </p:spPr>
        <p:txBody>
          <a:bodyPr wrap="square" lIns="36000" tIns="18000" rIns="36000" bIns="18000" anchor="ctr">
            <a:spAutoFit/>
          </a:bodyPr>
          <a:lstStyle/>
          <a:p>
            <a:pPr algn="ctr"/>
            <a:r>
              <a:rPr sz="1400" b="1" i="0">
                <a:solidFill>
                  <a:srgbClr val="004D2E"/>
                </a:solidFill>
              </a:rPr>
              <a:t>Describe the PROBLEM · NOT the solution</a:t>
            </a:r>
          </a:p>
        </p:txBody>
      </p:sp>
      <p:sp>
        <p:nvSpPr>
          <p:cNvPr id="86" name="TextBox 42">
            <a:extLst>
              <a:ext uri="{FF2B5EF4-FFF2-40B4-BE49-F238E27FC236}">
                <a16:creationId xmlns:a16="http://schemas.microsoft.com/office/drawing/2014/main" id="{B0221DE6-95CB-DD5E-ACB4-164E03421C40}"/>
              </a:ext>
            </a:extLst>
          </p:cNvPr>
          <p:cNvSpPr txBox="1"/>
          <p:nvPr/>
        </p:nvSpPr>
        <p:spPr>
          <a:xfrm>
            <a:off x="6336792" y="3474720"/>
            <a:ext cx="5486400" cy="201168"/>
          </a:xfrm>
          <a:prstGeom prst="rect">
            <a:avLst/>
          </a:prstGeom>
          <a:noFill/>
        </p:spPr>
        <p:txBody>
          <a:bodyPr wrap="square" lIns="36000" tIns="18000" rIns="36000" bIns="18000" anchor="t">
            <a:spAutoFit/>
          </a:bodyPr>
          <a:lstStyle/>
          <a:p>
            <a:pPr algn="l"/>
            <a:r>
              <a:rPr sz="900" b="1" i="0">
                <a:solidFill>
                  <a:srgbClr val="006B3F"/>
                </a:solidFill>
              </a:rPr>
              <a:t>WHY THIS MATTERS</a:t>
            </a:r>
          </a:p>
        </p:txBody>
      </p:sp>
      <p:sp>
        <p:nvSpPr>
          <p:cNvPr id="87" name="TextBox 43">
            <a:extLst>
              <a:ext uri="{FF2B5EF4-FFF2-40B4-BE49-F238E27FC236}">
                <a16:creationId xmlns:a16="http://schemas.microsoft.com/office/drawing/2014/main" id="{13CCB98C-9B59-326D-DF26-663168E59073}"/>
              </a:ext>
            </a:extLst>
          </p:cNvPr>
          <p:cNvSpPr txBox="1"/>
          <p:nvPr/>
        </p:nvSpPr>
        <p:spPr>
          <a:xfrm>
            <a:off x="6336792" y="3675888"/>
            <a:ext cx="5394960" cy="777240"/>
          </a:xfrm>
          <a:prstGeom prst="rect">
            <a:avLst/>
          </a:prstGeom>
          <a:noFill/>
        </p:spPr>
        <p:txBody>
          <a:bodyPr wrap="square" lIns="36000" tIns="18000" rIns="36000" bIns="18000" anchor="t">
            <a:spAutoFit/>
          </a:bodyPr>
          <a:lstStyle/>
          <a:p>
            <a:pPr algn="l"/>
            <a:r>
              <a:rPr sz="1000" b="0" i="0">
                <a:solidFill>
                  <a:srgbClr val="172B4D"/>
                </a:solidFill>
              </a:rPr>
              <a:t>If you write "add a button to do X" the team is locked into your solution. If you write "users can't do X today, costing $Y/month" the team can engineer the cheapest path. Solutions belong in Acceptance Criteria, not Description.</a:t>
            </a:r>
          </a:p>
        </p:txBody>
      </p:sp>
      <p:sp>
        <p:nvSpPr>
          <p:cNvPr id="88" name="TextBox 44">
            <a:extLst>
              <a:ext uri="{FF2B5EF4-FFF2-40B4-BE49-F238E27FC236}">
                <a16:creationId xmlns:a16="http://schemas.microsoft.com/office/drawing/2014/main" id="{E9417C13-1F35-F741-BB83-7D607F8E6CC4}"/>
              </a:ext>
            </a:extLst>
          </p:cNvPr>
          <p:cNvSpPr txBox="1"/>
          <p:nvPr/>
        </p:nvSpPr>
        <p:spPr>
          <a:xfrm>
            <a:off x="6336792" y="4526280"/>
            <a:ext cx="5486400" cy="201168"/>
          </a:xfrm>
          <a:prstGeom prst="rect">
            <a:avLst/>
          </a:prstGeom>
          <a:noFill/>
        </p:spPr>
        <p:txBody>
          <a:bodyPr wrap="square" lIns="36000" tIns="18000" rIns="36000" bIns="18000" anchor="t">
            <a:spAutoFit/>
          </a:bodyPr>
          <a:lstStyle/>
          <a:p>
            <a:pPr algn="l"/>
            <a:r>
              <a:rPr sz="900" b="1" i="0">
                <a:solidFill>
                  <a:srgbClr val="DE350B"/>
                </a:solidFill>
              </a:rPr>
              <a:t>GETS BOUNCED IF…</a:t>
            </a:r>
          </a:p>
        </p:txBody>
      </p:sp>
      <p:sp>
        <p:nvSpPr>
          <p:cNvPr id="90" name="TextBox 45">
            <a:extLst>
              <a:ext uri="{FF2B5EF4-FFF2-40B4-BE49-F238E27FC236}">
                <a16:creationId xmlns:a16="http://schemas.microsoft.com/office/drawing/2014/main" id="{5C918F86-3670-15CC-9F50-490E663537A6}"/>
              </a:ext>
            </a:extLst>
          </p:cNvPr>
          <p:cNvSpPr txBox="1"/>
          <p:nvPr/>
        </p:nvSpPr>
        <p:spPr>
          <a:xfrm>
            <a:off x="6336792" y="4727448"/>
            <a:ext cx="5394960" cy="201168"/>
          </a:xfrm>
          <a:prstGeom prst="rect">
            <a:avLst/>
          </a:prstGeom>
          <a:noFill/>
        </p:spPr>
        <p:txBody>
          <a:bodyPr wrap="square" lIns="36000" tIns="18000" rIns="36000" bIns="18000" anchor="t">
            <a:spAutoFit/>
          </a:bodyPr>
          <a:lstStyle/>
          <a:p>
            <a:pPr algn="l"/>
            <a:r>
              <a:rPr sz="900" b="0" i="0">
                <a:solidFill>
                  <a:srgbClr val="DE350B"/>
                </a:solidFill>
              </a:rPr>
              <a:t>✗  Less than 100 characters</a:t>
            </a:r>
          </a:p>
        </p:txBody>
      </p:sp>
      <p:sp>
        <p:nvSpPr>
          <p:cNvPr id="91" name="TextBox 46">
            <a:extLst>
              <a:ext uri="{FF2B5EF4-FFF2-40B4-BE49-F238E27FC236}">
                <a16:creationId xmlns:a16="http://schemas.microsoft.com/office/drawing/2014/main" id="{702D04D3-E922-911A-CE69-77FBEC9C0D2D}"/>
              </a:ext>
            </a:extLst>
          </p:cNvPr>
          <p:cNvSpPr txBox="1"/>
          <p:nvPr/>
        </p:nvSpPr>
        <p:spPr>
          <a:xfrm>
            <a:off x="6336792" y="4965192"/>
            <a:ext cx="5394960" cy="201168"/>
          </a:xfrm>
          <a:prstGeom prst="rect">
            <a:avLst/>
          </a:prstGeom>
          <a:noFill/>
        </p:spPr>
        <p:txBody>
          <a:bodyPr wrap="square" lIns="36000" tIns="18000" rIns="36000" bIns="18000" anchor="t">
            <a:spAutoFit/>
          </a:bodyPr>
          <a:lstStyle/>
          <a:p>
            <a:pPr algn="l"/>
            <a:r>
              <a:rPr sz="900" b="0" i="0">
                <a:solidFill>
                  <a:srgbClr val="DE350B"/>
                </a:solidFill>
              </a:rPr>
              <a:t>✗  No mention of who is affected</a:t>
            </a:r>
          </a:p>
        </p:txBody>
      </p:sp>
      <p:sp>
        <p:nvSpPr>
          <p:cNvPr id="92" name="TextBox 47">
            <a:extLst>
              <a:ext uri="{FF2B5EF4-FFF2-40B4-BE49-F238E27FC236}">
                <a16:creationId xmlns:a16="http://schemas.microsoft.com/office/drawing/2014/main" id="{2CC5C0EF-82FA-91BB-7371-3D178340680C}"/>
              </a:ext>
            </a:extLst>
          </p:cNvPr>
          <p:cNvSpPr txBox="1"/>
          <p:nvPr/>
        </p:nvSpPr>
        <p:spPr>
          <a:xfrm>
            <a:off x="6336792" y="5202936"/>
            <a:ext cx="5394960" cy="201168"/>
          </a:xfrm>
          <a:prstGeom prst="rect">
            <a:avLst/>
          </a:prstGeom>
          <a:noFill/>
        </p:spPr>
        <p:txBody>
          <a:bodyPr wrap="square" lIns="36000" tIns="18000" rIns="36000" bIns="18000" anchor="t">
            <a:spAutoFit/>
          </a:bodyPr>
          <a:lstStyle/>
          <a:p>
            <a:pPr algn="l"/>
            <a:r>
              <a:rPr sz="900" b="0" i="0">
                <a:solidFill>
                  <a:srgbClr val="DE350B"/>
                </a:solidFill>
              </a:rPr>
              <a:t>✗  No quantification (volume · frequency · impact)</a:t>
            </a:r>
          </a:p>
        </p:txBody>
      </p:sp>
      <p:sp>
        <p:nvSpPr>
          <p:cNvPr id="93" name="TextBox 48">
            <a:extLst>
              <a:ext uri="{FF2B5EF4-FFF2-40B4-BE49-F238E27FC236}">
                <a16:creationId xmlns:a16="http://schemas.microsoft.com/office/drawing/2014/main" id="{974E1F0E-CA2B-7A52-CCB1-ED775B782A0E}"/>
              </a:ext>
            </a:extLst>
          </p:cNvPr>
          <p:cNvSpPr txBox="1"/>
          <p:nvPr/>
        </p:nvSpPr>
        <p:spPr>
          <a:xfrm>
            <a:off x="6336792" y="5440680"/>
            <a:ext cx="5394960" cy="201168"/>
          </a:xfrm>
          <a:prstGeom prst="rect">
            <a:avLst/>
          </a:prstGeom>
          <a:noFill/>
        </p:spPr>
        <p:txBody>
          <a:bodyPr wrap="square" lIns="36000" tIns="18000" rIns="36000" bIns="18000" anchor="t">
            <a:spAutoFit/>
          </a:bodyPr>
          <a:lstStyle/>
          <a:p>
            <a:pPr algn="l"/>
            <a:r>
              <a:rPr sz="900" b="0" i="0">
                <a:solidFill>
                  <a:srgbClr val="DE350B"/>
                </a:solidFill>
              </a:rPr>
              <a:t>✗  Reads as a feature request, not a problem statement</a:t>
            </a:r>
          </a:p>
        </p:txBody>
      </p:sp>
      <p:sp>
        <p:nvSpPr>
          <p:cNvPr id="94" name="Rounded Rectangle 49">
            <a:extLst>
              <a:ext uri="{FF2B5EF4-FFF2-40B4-BE49-F238E27FC236}">
                <a16:creationId xmlns:a16="http://schemas.microsoft.com/office/drawing/2014/main" id="{27F46FED-3F5D-7932-643C-C324B6EF3A2B}"/>
              </a:ext>
            </a:extLst>
          </p:cNvPr>
          <p:cNvSpPr/>
          <p:nvPr/>
        </p:nvSpPr>
        <p:spPr>
          <a:xfrm>
            <a:off x="365760" y="6263640"/>
            <a:ext cx="5650992" cy="523054"/>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50">
            <a:extLst>
              <a:ext uri="{FF2B5EF4-FFF2-40B4-BE49-F238E27FC236}">
                <a16:creationId xmlns:a16="http://schemas.microsoft.com/office/drawing/2014/main" id="{6C6A6BCD-BE04-A98B-1059-8CFEF8DA52CE}"/>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96" name="TextBox 51">
            <a:extLst>
              <a:ext uri="{FF2B5EF4-FFF2-40B4-BE49-F238E27FC236}">
                <a16:creationId xmlns:a16="http://schemas.microsoft.com/office/drawing/2014/main" id="{41054D8B-146C-A954-3475-C880201456A3}"/>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Triage cannot validate </a:t>
            </a:r>
            <a:r>
              <a:rPr sz="900" b="0" i="0" err="1">
                <a:solidFill>
                  <a:srgbClr val="172B4D"/>
                </a:solidFill>
              </a:rPr>
              <a:t>DoR</a:t>
            </a:r>
            <a:r>
              <a:rPr sz="900" b="0" i="0">
                <a:solidFill>
                  <a:srgbClr val="172B4D"/>
                </a:solidFill>
              </a:rPr>
              <a:t> or compute Pain Score without business context. Description is the difference between TRIAGED and BOUNCED.</a:t>
            </a:r>
          </a:p>
        </p:txBody>
      </p:sp>
      <p:sp>
        <p:nvSpPr>
          <p:cNvPr id="97" name="Rounded Rectangle 52">
            <a:extLst>
              <a:ext uri="{FF2B5EF4-FFF2-40B4-BE49-F238E27FC236}">
                <a16:creationId xmlns:a16="http://schemas.microsoft.com/office/drawing/2014/main" id="{6659F38D-5B34-895A-DB63-3207381B1BF0}"/>
              </a:ext>
            </a:extLst>
          </p:cNvPr>
          <p:cNvSpPr/>
          <p:nvPr/>
        </p:nvSpPr>
        <p:spPr>
          <a:xfrm>
            <a:off x="6199632" y="6263640"/>
            <a:ext cx="5650992" cy="523054"/>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53">
            <a:extLst>
              <a:ext uri="{FF2B5EF4-FFF2-40B4-BE49-F238E27FC236}">
                <a16:creationId xmlns:a16="http://schemas.microsoft.com/office/drawing/2014/main" id="{9EAE8069-5C88-1AD4-3453-24D92C59EFCE}"/>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99" name="TextBox 54">
            <a:extLst>
              <a:ext uri="{FF2B5EF4-FFF2-40B4-BE49-F238E27FC236}">
                <a16:creationId xmlns:a16="http://schemas.microsoft.com/office/drawing/2014/main" id="{5A659886-C003-C6F7-446F-D919A45B472D}"/>
              </a:ext>
            </a:extLst>
          </p:cNvPr>
          <p:cNvSpPr txBox="1"/>
          <p:nvPr/>
        </p:nvSpPr>
        <p:spPr>
          <a:xfrm>
            <a:off x="6336792" y="6446520"/>
            <a:ext cx="5394960" cy="201168"/>
          </a:xfrm>
          <a:prstGeom prst="rect">
            <a:avLst/>
          </a:prstGeom>
          <a:noFill/>
        </p:spPr>
        <p:txBody>
          <a:bodyPr wrap="square" lIns="36000" tIns="18000" rIns="36000" bIns="18000" anchor="t">
            <a:spAutoFit/>
          </a:bodyPr>
          <a:lstStyle/>
          <a:p>
            <a:pPr algn="l"/>
            <a:r>
              <a:rPr sz="900" b="1" i="1">
                <a:solidFill>
                  <a:srgbClr val="F08629"/>
                </a:solidFill>
              </a:rPr>
              <a:t>▸ Drives Triage decision · DoR validation · Pain Score component</a:t>
            </a:r>
          </a:p>
        </p:txBody>
      </p:sp>
      <p:sp>
        <p:nvSpPr>
          <p:cNvPr id="3" name="TextBox 13">
            <a:extLst>
              <a:ext uri="{FF2B5EF4-FFF2-40B4-BE49-F238E27FC236}">
                <a16:creationId xmlns:a16="http://schemas.microsoft.com/office/drawing/2014/main" id="{9FC0157B-B3D6-D186-CDF3-EC34CEFEF660}"/>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4" name="Text Placeholder 19">
            <a:extLst>
              <a:ext uri="{FF2B5EF4-FFF2-40B4-BE49-F238E27FC236}">
                <a16:creationId xmlns:a16="http://schemas.microsoft.com/office/drawing/2014/main" id="{F7364E58-121F-0697-96AB-92D1790BB442}"/>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description</a:t>
            </a:r>
          </a:p>
        </p:txBody>
      </p:sp>
    </p:spTree>
    <p:extLst>
      <p:ext uri="{BB962C8B-B14F-4D97-AF65-F5344CB8AC3E}">
        <p14:creationId xmlns:p14="http://schemas.microsoft.com/office/powerpoint/2010/main" val="2893551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EAAF-2A40-C8C4-6132-1F1A89CCCEBD}"/>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8090A9AC-66D8-F430-788F-5774F41C6396}"/>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9BDF9510-DE49-2C4E-B12D-2D94A7EEB0B5}"/>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Acceptance Criteria</a:t>
            </a:r>
          </a:p>
        </p:txBody>
      </p:sp>
      <p:sp>
        <p:nvSpPr>
          <p:cNvPr id="7" name="TextBox 11">
            <a:extLst>
              <a:ext uri="{FF2B5EF4-FFF2-40B4-BE49-F238E27FC236}">
                <a16:creationId xmlns:a16="http://schemas.microsoft.com/office/drawing/2014/main" id="{752FB81F-3B6C-7378-DD6C-94F6AC00F873}"/>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checklist format · each item testable</a:t>
            </a:r>
          </a:p>
        </p:txBody>
      </p:sp>
      <p:sp>
        <p:nvSpPr>
          <p:cNvPr id="58" name="Rounded Rectangle 14">
            <a:extLst>
              <a:ext uri="{FF2B5EF4-FFF2-40B4-BE49-F238E27FC236}">
                <a16:creationId xmlns:a16="http://schemas.microsoft.com/office/drawing/2014/main" id="{F5A9C028-2677-F661-B5EB-FF5BDA57D7A7}"/>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15">
            <a:extLst>
              <a:ext uri="{FF2B5EF4-FFF2-40B4-BE49-F238E27FC236}">
                <a16:creationId xmlns:a16="http://schemas.microsoft.com/office/drawing/2014/main" id="{BE7D04F9-96AA-3C93-04E6-1CA8EA65B7BB}"/>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FORMAT — checklist with measurable items</a:t>
            </a:r>
          </a:p>
        </p:txBody>
      </p:sp>
      <p:sp>
        <p:nvSpPr>
          <p:cNvPr id="60" name="TextBox 16">
            <a:extLst>
              <a:ext uri="{FF2B5EF4-FFF2-40B4-BE49-F238E27FC236}">
                <a16:creationId xmlns:a16="http://schemas.microsoft.com/office/drawing/2014/main" id="{4192B453-BDF2-D01C-B0EB-467794A2C326}"/>
              </a:ext>
            </a:extLst>
          </p:cNvPr>
          <p:cNvSpPr txBox="1"/>
          <p:nvPr/>
        </p:nvSpPr>
        <p:spPr>
          <a:xfrm>
            <a:off x="502920" y="2057400"/>
            <a:ext cx="5486400" cy="201168"/>
          </a:xfrm>
          <a:prstGeom prst="rect">
            <a:avLst/>
          </a:prstGeom>
          <a:noFill/>
        </p:spPr>
        <p:txBody>
          <a:bodyPr wrap="square" lIns="36000" tIns="18000" rIns="36000" bIns="18000" anchor="t">
            <a:spAutoFit/>
          </a:bodyPr>
          <a:lstStyle/>
          <a:p>
            <a:pPr algn="l"/>
            <a:r>
              <a:rPr sz="900" b="1" i="0">
                <a:solidFill>
                  <a:srgbClr val="6B778C"/>
                </a:solidFill>
              </a:rPr>
              <a:t>STRUCTURE PER ITEM</a:t>
            </a:r>
          </a:p>
        </p:txBody>
      </p:sp>
      <p:sp>
        <p:nvSpPr>
          <p:cNvPr id="61" name="Rounded Rectangle 17">
            <a:extLst>
              <a:ext uri="{FF2B5EF4-FFF2-40B4-BE49-F238E27FC236}">
                <a16:creationId xmlns:a16="http://schemas.microsoft.com/office/drawing/2014/main" id="{33EA4F9F-56A3-C961-8D49-0BB70E94744F}"/>
              </a:ext>
            </a:extLst>
          </p:cNvPr>
          <p:cNvSpPr/>
          <p:nvPr/>
        </p:nvSpPr>
        <p:spPr>
          <a:xfrm>
            <a:off x="502920" y="228600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18">
            <a:extLst>
              <a:ext uri="{FF2B5EF4-FFF2-40B4-BE49-F238E27FC236}">
                <a16:creationId xmlns:a16="http://schemas.microsoft.com/office/drawing/2014/main" id="{28D58AD3-BDAD-AC4F-9093-6AB2A5138583}"/>
              </a:ext>
            </a:extLst>
          </p:cNvPr>
          <p:cNvSpPr txBox="1"/>
          <p:nvPr/>
        </p:nvSpPr>
        <p:spPr>
          <a:xfrm>
            <a:off x="502920" y="2286000"/>
            <a:ext cx="1463040" cy="292608"/>
          </a:xfrm>
          <a:prstGeom prst="rect">
            <a:avLst/>
          </a:prstGeom>
          <a:noFill/>
        </p:spPr>
        <p:txBody>
          <a:bodyPr wrap="square" lIns="36000" tIns="18000" rIns="36000" bIns="18000" anchor="ctr">
            <a:spAutoFit/>
          </a:bodyPr>
          <a:lstStyle/>
          <a:p>
            <a:pPr algn="ctr"/>
            <a:r>
              <a:rPr sz="1000" b="1" i="0">
                <a:solidFill>
                  <a:srgbClr val="FFFFFF"/>
                </a:solidFill>
              </a:rPr>
              <a:t>Action</a:t>
            </a:r>
          </a:p>
        </p:txBody>
      </p:sp>
      <p:sp>
        <p:nvSpPr>
          <p:cNvPr id="63" name="TextBox 19">
            <a:extLst>
              <a:ext uri="{FF2B5EF4-FFF2-40B4-BE49-F238E27FC236}">
                <a16:creationId xmlns:a16="http://schemas.microsoft.com/office/drawing/2014/main" id="{6B0CA045-B83A-C2BE-3FFF-5338B4F41FE8}"/>
              </a:ext>
            </a:extLst>
          </p:cNvPr>
          <p:cNvSpPr txBox="1"/>
          <p:nvPr/>
        </p:nvSpPr>
        <p:spPr>
          <a:xfrm>
            <a:off x="2103120" y="2331720"/>
            <a:ext cx="3657600" cy="201168"/>
          </a:xfrm>
          <a:prstGeom prst="rect">
            <a:avLst/>
          </a:prstGeom>
          <a:noFill/>
        </p:spPr>
        <p:txBody>
          <a:bodyPr wrap="square" lIns="36000" tIns="18000" rIns="36000" bIns="18000" anchor="t">
            <a:spAutoFit/>
          </a:bodyPr>
          <a:lstStyle/>
          <a:p>
            <a:pPr algn="l"/>
            <a:r>
              <a:rPr sz="900" b="0" i="0">
                <a:solidFill>
                  <a:srgbClr val="172B4D"/>
                </a:solidFill>
              </a:rPr>
              <a:t>What the system / user does</a:t>
            </a:r>
          </a:p>
        </p:txBody>
      </p:sp>
      <p:sp>
        <p:nvSpPr>
          <p:cNvPr id="64" name="Rounded Rectangle 20">
            <a:extLst>
              <a:ext uri="{FF2B5EF4-FFF2-40B4-BE49-F238E27FC236}">
                <a16:creationId xmlns:a16="http://schemas.microsoft.com/office/drawing/2014/main" id="{0673B1CA-F143-6789-35AF-67FD8D407D9C}"/>
              </a:ext>
            </a:extLst>
          </p:cNvPr>
          <p:cNvSpPr/>
          <p:nvPr/>
        </p:nvSpPr>
        <p:spPr>
          <a:xfrm>
            <a:off x="502920" y="265176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21">
            <a:extLst>
              <a:ext uri="{FF2B5EF4-FFF2-40B4-BE49-F238E27FC236}">
                <a16:creationId xmlns:a16="http://schemas.microsoft.com/office/drawing/2014/main" id="{A07449CD-B610-858F-5DCE-5924C2148FAD}"/>
              </a:ext>
            </a:extLst>
          </p:cNvPr>
          <p:cNvSpPr txBox="1"/>
          <p:nvPr/>
        </p:nvSpPr>
        <p:spPr>
          <a:xfrm>
            <a:off x="502920" y="2651760"/>
            <a:ext cx="1463040" cy="292608"/>
          </a:xfrm>
          <a:prstGeom prst="rect">
            <a:avLst/>
          </a:prstGeom>
          <a:noFill/>
        </p:spPr>
        <p:txBody>
          <a:bodyPr wrap="square" lIns="36000" tIns="18000" rIns="36000" bIns="18000" anchor="ctr">
            <a:spAutoFit/>
          </a:bodyPr>
          <a:lstStyle/>
          <a:p>
            <a:pPr algn="ctr"/>
            <a:r>
              <a:rPr sz="1000" b="1" i="0">
                <a:solidFill>
                  <a:srgbClr val="FFFFFF"/>
                </a:solidFill>
              </a:rPr>
              <a:t>Threshold</a:t>
            </a:r>
          </a:p>
        </p:txBody>
      </p:sp>
      <p:sp>
        <p:nvSpPr>
          <p:cNvPr id="66" name="TextBox 22">
            <a:extLst>
              <a:ext uri="{FF2B5EF4-FFF2-40B4-BE49-F238E27FC236}">
                <a16:creationId xmlns:a16="http://schemas.microsoft.com/office/drawing/2014/main" id="{926D26E1-24FC-D0E9-4E61-968FC5F72170}"/>
              </a:ext>
            </a:extLst>
          </p:cNvPr>
          <p:cNvSpPr txBox="1"/>
          <p:nvPr/>
        </p:nvSpPr>
        <p:spPr>
          <a:xfrm>
            <a:off x="2103120" y="2697480"/>
            <a:ext cx="3657600" cy="201168"/>
          </a:xfrm>
          <a:prstGeom prst="rect">
            <a:avLst/>
          </a:prstGeom>
          <a:noFill/>
        </p:spPr>
        <p:txBody>
          <a:bodyPr wrap="square" lIns="36000" tIns="18000" rIns="36000" bIns="18000" anchor="t">
            <a:spAutoFit/>
          </a:bodyPr>
          <a:lstStyle/>
          <a:p>
            <a:pPr algn="l"/>
            <a:r>
              <a:rPr sz="900" b="0" i="0">
                <a:solidFill>
                  <a:srgbClr val="172B4D"/>
                </a:solidFill>
              </a:rPr>
              <a:t>Number or boolean state</a:t>
            </a:r>
          </a:p>
        </p:txBody>
      </p:sp>
      <p:sp>
        <p:nvSpPr>
          <p:cNvPr id="67" name="Rounded Rectangle 23">
            <a:extLst>
              <a:ext uri="{FF2B5EF4-FFF2-40B4-BE49-F238E27FC236}">
                <a16:creationId xmlns:a16="http://schemas.microsoft.com/office/drawing/2014/main" id="{172055AB-11EF-2959-39B1-CC7B15DD14CA}"/>
              </a:ext>
            </a:extLst>
          </p:cNvPr>
          <p:cNvSpPr/>
          <p:nvPr/>
        </p:nvSpPr>
        <p:spPr>
          <a:xfrm>
            <a:off x="502920" y="301752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24">
            <a:extLst>
              <a:ext uri="{FF2B5EF4-FFF2-40B4-BE49-F238E27FC236}">
                <a16:creationId xmlns:a16="http://schemas.microsoft.com/office/drawing/2014/main" id="{9599EC5D-2317-433F-B544-6D14A70BA053}"/>
              </a:ext>
            </a:extLst>
          </p:cNvPr>
          <p:cNvSpPr txBox="1"/>
          <p:nvPr/>
        </p:nvSpPr>
        <p:spPr>
          <a:xfrm>
            <a:off x="502920" y="3017520"/>
            <a:ext cx="1463040" cy="292608"/>
          </a:xfrm>
          <a:prstGeom prst="rect">
            <a:avLst/>
          </a:prstGeom>
          <a:noFill/>
        </p:spPr>
        <p:txBody>
          <a:bodyPr wrap="square" lIns="36000" tIns="18000" rIns="36000" bIns="18000" anchor="ctr">
            <a:spAutoFit/>
          </a:bodyPr>
          <a:lstStyle/>
          <a:p>
            <a:pPr algn="ctr"/>
            <a:r>
              <a:rPr sz="1000" b="1" i="0">
                <a:solidFill>
                  <a:srgbClr val="FFFFFF"/>
                </a:solidFill>
              </a:rPr>
              <a:t>Window</a:t>
            </a:r>
          </a:p>
        </p:txBody>
      </p:sp>
      <p:sp>
        <p:nvSpPr>
          <p:cNvPr id="69" name="TextBox 25">
            <a:extLst>
              <a:ext uri="{FF2B5EF4-FFF2-40B4-BE49-F238E27FC236}">
                <a16:creationId xmlns:a16="http://schemas.microsoft.com/office/drawing/2014/main" id="{890354A7-83BB-2437-7CAE-0963D779F8D4}"/>
              </a:ext>
            </a:extLst>
          </p:cNvPr>
          <p:cNvSpPr txBox="1"/>
          <p:nvPr/>
        </p:nvSpPr>
        <p:spPr>
          <a:xfrm>
            <a:off x="2103120" y="3063240"/>
            <a:ext cx="3657600" cy="201168"/>
          </a:xfrm>
          <a:prstGeom prst="rect">
            <a:avLst/>
          </a:prstGeom>
          <a:noFill/>
        </p:spPr>
        <p:txBody>
          <a:bodyPr wrap="square" lIns="36000" tIns="18000" rIns="36000" bIns="18000" anchor="t">
            <a:spAutoFit/>
          </a:bodyPr>
          <a:lstStyle/>
          <a:p>
            <a:pPr algn="l"/>
            <a:r>
              <a:rPr sz="900" b="0" i="0">
                <a:solidFill>
                  <a:srgbClr val="172B4D"/>
                </a:solidFill>
              </a:rPr>
              <a:t>Over what time / volume</a:t>
            </a:r>
          </a:p>
        </p:txBody>
      </p:sp>
      <p:sp>
        <p:nvSpPr>
          <p:cNvPr id="70" name="Rounded Rectangle 26">
            <a:extLst>
              <a:ext uri="{FF2B5EF4-FFF2-40B4-BE49-F238E27FC236}">
                <a16:creationId xmlns:a16="http://schemas.microsoft.com/office/drawing/2014/main" id="{19067080-59F8-4FB6-DF9A-89D7E0692B8A}"/>
              </a:ext>
            </a:extLst>
          </p:cNvPr>
          <p:cNvSpPr/>
          <p:nvPr/>
        </p:nvSpPr>
        <p:spPr>
          <a:xfrm>
            <a:off x="502920" y="338328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27">
            <a:extLst>
              <a:ext uri="{FF2B5EF4-FFF2-40B4-BE49-F238E27FC236}">
                <a16:creationId xmlns:a16="http://schemas.microsoft.com/office/drawing/2014/main" id="{37E0D8B9-0F76-76F7-392D-86A801321ED0}"/>
              </a:ext>
            </a:extLst>
          </p:cNvPr>
          <p:cNvSpPr txBox="1"/>
          <p:nvPr/>
        </p:nvSpPr>
        <p:spPr>
          <a:xfrm>
            <a:off x="502920" y="3383280"/>
            <a:ext cx="1463040" cy="292608"/>
          </a:xfrm>
          <a:prstGeom prst="rect">
            <a:avLst/>
          </a:prstGeom>
          <a:noFill/>
        </p:spPr>
        <p:txBody>
          <a:bodyPr wrap="square" lIns="36000" tIns="18000" rIns="36000" bIns="18000" anchor="ctr">
            <a:spAutoFit/>
          </a:bodyPr>
          <a:lstStyle/>
          <a:p>
            <a:pPr algn="ctr"/>
            <a:r>
              <a:rPr sz="1000" b="1" i="0">
                <a:solidFill>
                  <a:srgbClr val="FFFFFF"/>
                </a:solidFill>
              </a:rPr>
              <a:t>Verification</a:t>
            </a:r>
          </a:p>
        </p:txBody>
      </p:sp>
      <p:sp>
        <p:nvSpPr>
          <p:cNvPr id="72" name="TextBox 28">
            <a:extLst>
              <a:ext uri="{FF2B5EF4-FFF2-40B4-BE49-F238E27FC236}">
                <a16:creationId xmlns:a16="http://schemas.microsoft.com/office/drawing/2014/main" id="{433855ED-91E4-38BA-B716-411A669FBECC}"/>
              </a:ext>
            </a:extLst>
          </p:cNvPr>
          <p:cNvSpPr txBox="1"/>
          <p:nvPr/>
        </p:nvSpPr>
        <p:spPr>
          <a:xfrm>
            <a:off x="2103120" y="3429000"/>
            <a:ext cx="3657600" cy="201168"/>
          </a:xfrm>
          <a:prstGeom prst="rect">
            <a:avLst/>
          </a:prstGeom>
          <a:noFill/>
        </p:spPr>
        <p:txBody>
          <a:bodyPr wrap="square" lIns="36000" tIns="18000" rIns="36000" bIns="18000" anchor="t">
            <a:spAutoFit/>
          </a:bodyPr>
          <a:lstStyle/>
          <a:p>
            <a:pPr algn="l"/>
            <a:r>
              <a:rPr sz="900" b="0" i="0">
                <a:solidFill>
                  <a:srgbClr val="172B4D"/>
                </a:solidFill>
              </a:rPr>
              <a:t>Who confirms · how</a:t>
            </a:r>
          </a:p>
        </p:txBody>
      </p:sp>
      <p:sp>
        <p:nvSpPr>
          <p:cNvPr id="73" name="TextBox 29">
            <a:extLst>
              <a:ext uri="{FF2B5EF4-FFF2-40B4-BE49-F238E27FC236}">
                <a16:creationId xmlns:a16="http://schemas.microsoft.com/office/drawing/2014/main" id="{5928F015-C285-590B-581A-250BCE5A93FD}"/>
              </a:ext>
            </a:extLst>
          </p:cNvPr>
          <p:cNvSpPr txBox="1"/>
          <p:nvPr/>
        </p:nvSpPr>
        <p:spPr>
          <a:xfrm>
            <a:off x="502920" y="3931920"/>
            <a:ext cx="5486400" cy="201168"/>
          </a:xfrm>
          <a:prstGeom prst="rect">
            <a:avLst/>
          </a:prstGeom>
          <a:noFill/>
        </p:spPr>
        <p:txBody>
          <a:bodyPr wrap="square" lIns="36000" tIns="18000" rIns="36000" bIns="18000" anchor="t">
            <a:spAutoFit/>
          </a:bodyPr>
          <a:lstStyle/>
          <a:p>
            <a:pPr algn="l"/>
            <a:r>
              <a:rPr sz="900" b="1" i="0">
                <a:solidFill>
                  <a:srgbClr val="006B3F"/>
                </a:solidFill>
              </a:rPr>
              <a:t>EXAMPLE CHECKLIST</a:t>
            </a:r>
          </a:p>
        </p:txBody>
      </p:sp>
      <p:sp>
        <p:nvSpPr>
          <p:cNvPr id="74" name="Rounded Rectangle 30">
            <a:extLst>
              <a:ext uri="{FF2B5EF4-FFF2-40B4-BE49-F238E27FC236}">
                <a16:creationId xmlns:a16="http://schemas.microsoft.com/office/drawing/2014/main" id="{7CCDACF3-251F-227A-6ECF-251ABB077763}"/>
              </a:ext>
            </a:extLst>
          </p:cNvPr>
          <p:cNvSpPr/>
          <p:nvPr/>
        </p:nvSpPr>
        <p:spPr>
          <a:xfrm>
            <a:off x="502920" y="416052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31">
            <a:extLst>
              <a:ext uri="{FF2B5EF4-FFF2-40B4-BE49-F238E27FC236}">
                <a16:creationId xmlns:a16="http://schemas.microsoft.com/office/drawing/2014/main" id="{B5631C3F-D013-3A58-DA03-C6FF0B765AD5}"/>
              </a:ext>
            </a:extLst>
          </p:cNvPr>
          <p:cNvSpPr txBox="1"/>
          <p:nvPr/>
        </p:nvSpPr>
        <p:spPr>
          <a:xfrm>
            <a:off x="594360" y="420624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76" name="TextBox 32">
            <a:extLst>
              <a:ext uri="{FF2B5EF4-FFF2-40B4-BE49-F238E27FC236}">
                <a16:creationId xmlns:a16="http://schemas.microsoft.com/office/drawing/2014/main" id="{A2153789-7B52-69F2-CD52-7147DBBCD847}"/>
              </a:ext>
            </a:extLst>
          </p:cNvPr>
          <p:cNvSpPr txBox="1"/>
          <p:nvPr/>
        </p:nvSpPr>
        <p:spPr>
          <a:xfrm>
            <a:off x="914400" y="4206240"/>
            <a:ext cx="4937760" cy="219456"/>
          </a:xfrm>
          <a:prstGeom prst="rect">
            <a:avLst/>
          </a:prstGeom>
          <a:noFill/>
        </p:spPr>
        <p:txBody>
          <a:bodyPr wrap="square" lIns="36000" tIns="18000" rIns="36000" bIns="18000" anchor="t">
            <a:spAutoFit/>
          </a:bodyPr>
          <a:lstStyle/>
          <a:p>
            <a:pPr algn="l"/>
            <a:r>
              <a:rPr sz="900" b="0" i="0">
                <a:solidFill>
                  <a:srgbClr val="172B4D"/>
                </a:solidFill>
              </a:rPr>
              <a:t>Billing engine completes daily run before 06:00 EST</a:t>
            </a:r>
          </a:p>
        </p:txBody>
      </p:sp>
      <p:sp>
        <p:nvSpPr>
          <p:cNvPr id="77" name="Rounded Rectangle 33">
            <a:extLst>
              <a:ext uri="{FF2B5EF4-FFF2-40B4-BE49-F238E27FC236}">
                <a16:creationId xmlns:a16="http://schemas.microsoft.com/office/drawing/2014/main" id="{ECD10586-1EBC-0114-0BE6-9DD4CFBAD2D3}"/>
              </a:ext>
            </a:extLst>
          </p:cNvPr>
          <p:cNvSpPr/>
          <p:nvPr/>
        </p:nvSpPr>
        <p:spPr>
          <a:xfrm>
            <a:off x="502920" y="452628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34">
            <a:extLst>
              <a:ext uri="{FF2B5EF4-FFF2-40B4-BE49-F238E27FC236}">
                <a16:creationId xmlns:a16="http://schemas.microsoft.com/office/drawing/2014/main" id="{7DA371B0-2159-27DB-7ED2-363B712B7671}"/>
              </a:ext>
            </a:extLst>
          </p:cNvPr>
          <p:cNvSpPr txBox="1"/>
          <p:nvPr/>
        </p:nvSpPr>
        <p:spPr>
          <a:xfrm>
            <a:off x="594360" y="457200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79" name="TextBox 35">
            <a:extLst>
              <a:ext uri="{FF2B5EF4-FFF2-40B4-BE49-F238E27FC236}">
                <a16:creationId xmlns:a16="http://schemas.microsoft.com/office/drawing/2014/main" id="{0B7F62E1-017B-DF02-FA8F-B9A1543B7275}"/>
              </a:ext>
            </a:extLst>
          </p:cNvPr>
          <p:cNvSpPr txBox="1"/>
          <p:nvPr/>
        </p:nvSpPr>
        <p:spPr>
          <a:xfrm>
            <a:off x="914400" y="4572000"/>
            <a:ext cx="4937760" cy="219456"/>
          </a:xfrm>
          <a:prstGeom prst="rect">
            <a:avLst/>
          </a:prstGeom>
          <a:noFill/>
        </p:spPr>
        <p:txBody>
          <a:bodyPr wrap="square" lIns="36000" tIns="18000" rIns="36000" bIns="18000" anchor="t">
            <a:spAutoFit/>
          </a:bodyPr>
          <a:lstStyle/>
          <a:p>
            <a:pPr algn="l"/>
            <a:r>
              <a:rPr sz="900" b="0" i="0">
                <a:solidFill>
                  <a:srgbClr val="172B4D"/>
                </a:solidFill>
              </a:rPr>
              <a:t>Error rate &lt; 0.5% across all 7 OPCOs · 30-day rolling average</a:t>
            </a:r>
          </a:p>
        </p:txBody>
      </p:sp>
      <p:sp>
        <p:nvSpPr>
          <p:cNvPr id="80" name="Rounded Rectangle 36">
            <a:extLst>
              <a:ext uri="{FF2B5EF4-FFF2-40B4-BE49-F238E27FC236}">
                <a16:creationId xmlns:a16="http://schemas.microsoft.com/office/drawing/2014/main" id="{1B8B8057-F10D-C030-2766-3C1B313A5832}"/>
              </a:ext>
            </a:extLst>
          </p:cNvPr>
          <p:cNvSpPr/>
          <p:nvPr/>
        </p:nvSpPr>
        <p:spPr>
          <a:xfrm>
            <a:off x="502920" y="489204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37">
            <a:extLst>
              <a:ext uri="{FF2B5EF4-FFF2-40B4-BE49-F238E27FC236}">
                <a16:creationId xmlns:a16="http://schemas.microsoft.com/office/drawing/2014/main" id="{69A22ADB-2F45-A62B-BEA4-56E9D5B9121E}"/>
              </a:ext>
            </a:extLst>
          </p:cNvPr>
          <p:cNvSpPr txBox="1"/>
          <p:nvPr/>
        </p:nvSpPr>
        <p:spPr>
          <a:xfrm>
            <a:off x="594360" y="493776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2" name="TextBox 38">
            <a:extLst>
              <a:ext uri="{FF2B5EF4-FFF2-40B4-BE49-F238E27FC236}">
                <a16:creationId xmlns:a16="http://schemas.microsoft.com/office/drawing/2014/main" id="{27B25E25-E1CF-8326-F659-231D9EF655E3}"/>
              </a:ext>
            </a:extLst>
          </p:cNvPr>
          <p:cNvSpPr txBox="1"/>
          <p:nvPr/>
        </p:nvSpPr>
        <p:spPr>
          <a:xfrm>
            <a:off x="914400" y="4937760"/>
            <a:ext cx="4937760" cy="219456"/>
          </a:xfrm>
          <a:prstGeom prst="rect">
            <a:avLst/>
          </a:prstGeom>
          <a:noFill/>
        </p:spPr>
        <p:txBody>
          <a:bodyPr wrap="square" lIns="36000" tIns="18000" rIns="36000" bIns="18000" anchor="t">
            <a:spAutoFit/>
          </a:bodyPr>
          <a:lstStyle/>
          <a:p>
            <a:pPr algn="l"/>
            <a:r>
              <a:rPr sz="900" b="0" i="0">
                <a:solidFill>
                  <a:srgbClr val="172B4D"/>
                </a:solidFill>
              </a:rPr>
              <a:t>P95 cycle time ≤ 5 days · verified over 30-day window</a:t>
            </a:r>
          </a:p>
        </p:txBody>
      </p:sp>
      <p:sp>
        <p:nvSpPr>
          <p:cNvPr id="83" name="Rounded Rectangle 39">
            <a:extLst>
              <a:ext uri="{FF2B5EF4-FFF2-40B4-BE49-F238E27FC236}">
                <a16:creationId xmlns:a16="http://schemas.microsoft.com/office/drawing/2014/main" id="{CEF1984C-F184-1621-686D-160BF08E13CC}"/>
              </a:ext>
            </a:extLst>
          </p:cNvPr>
          <p:cNvSpPr/>
          <p:nvPr/>
        </p:nvSpPr>
        <p:spPr>
          <a:xfrm>
            <a:off x="502920" y="525780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40">
            <a:extLst>
              <a:ext uri="{FF2B5EF4-FFF2-40B4-BE49-F238E27FC236}">
                <a16:creationId xmlns:a16="http://schemas.microsoft.com/office/drawing/2014/main" id="{4F969919-99E9-5AAA-1A09-DD803097AB1C}"/>
              </a:ext>
            </a:extLst>
          </p:cNvPr>
          <p:cNvSpPr txBox="1"/>
          <p:nvPr/>
        </p:nvSpPr>
        <p:spPr>
          <a:xfrm>
            <a:off x="594360" y="530352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5" name="TextBox 41">
            <a:extLst>
              <a:ext uri="{FF2B5EF4-FFF2-40B4-BE49-F238E27FC236}">
                <a16:creationId xmlns:a16="http://schemas.microsoft.com/office/drawing/2014/main" id="{F2B51782-462D-FC3F-EDE0-A053C1F9FA88}"/>
              </a:ext>
            </a:extLst>
          </p:cNvPr>
          <p:cNvSpPr txBox="1"/>
          <p:nvPr/>
        </p:nvSpPr>
        <p:spPr>
          <a:xfrm>
            <a:off x="914400" y="5303520"/>
            <a:ext cx="4937760" cy="219456"/>
          </a:xfrm>
          <a:prstGeom prst="rect">
            <a:avLst/>
          </a:prstGeom>
          <a:noFill/>
        </p:spPr>
        <p:txBody>
          <a:bodyPr wrap="square" lIns="36000" tIns="18000" rIns="36000" bIns="18000" anchor="t">
            <a:spAutoFit/>
          </a:bodyPr>
          <a:lstStyle/>
          <a:p>
            <a:pPr algn="l"/>
            <a:r>
              <a:rPr sz="900" b="0" i="0">
                <a:solidFill>
                  <a:srgbClr val="172B4D"/>
                </a:solidFill>
              </a:rPr>
              <a:t>Documentation updated · runbook published in Confluence</a:t>
            </a:r>
          </a:p>
        </p:txBody>
      </p:sp>
      <p:sp>
        <p:nvSpPr>
          <p:cNvPr id="86" name="Rounded Rectangle 42">
            <a:extLst>
              <a:ext uri="{FF2B5EF4-FFF2-40B4-BE49-F238E27FC236}">
                <a16:creationId xmlns:a16="http://schemas.microsoft.com/office/drawing/2014/main" id="{78BE0F31-7E8D-9B17-2A86-3D74FAF3CC30}"/>
              </a:ext>
            </a:extLst>
          </p:cNvPr>
          <p:cNvSpPr/>
          <p:nvPr/>
        </p:nvSpPr>
        <p:spPr>
          <a:xfrm>
            <a:off x="502920" y="562356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43">
            <a:extLst>
              <a:ext uri="{FF2B5EF4-FFF2-40B4-BE49-F238E27FC236}">
                <a16:creationId xmlns:a16="http://schemas.microsoft.com/office/drawing/2014/main" id="{691B6DEF-44DA-0534-9BDA-A83BABE4D3C4}"/>
              </a:ext>
            </a:extLst>
          </p:cNvPr>
          <p:cNvSpPr txBox="1"/>
          <p:nvPr/>
        </p:nvSpPr>
        <p:spPr>
          <a:xfrm>
            <a:off x="594360" y="566928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8" name="TextBox 44">
            <a:extLst>
              <a:ext uri="{FF2B5EF4-FFF2-40B4-BE49-F238E27FC236}">
                <a16:creationId xmlns:a16="http://schemas.microsoft.com/office/drawing/2014/main" id="{E1E9BC8F-BA36-9DCF-279D-728B3B18CEBF}"/>
              </a:ext>
            </a:extLst>
          </p:cNvPr>
          <p:cNvSpPr txBox="1"/>
          <p:nvPr/>
        </p:nvSpPr>
        <p:spPr>
          <a:xfrm>
            <a:off x="914400" y="5669280"/>
            <a:ext cx="4937760" cy="219456"/>
          </a:xfrm>
          <a:prstGeom prst="rect">
            <a:avLst/>
          </a:prstGeom>
          <a:noFill/>
        </p:spPr>
        <p:txBody>
          <a:bodyPr wrap="square" lIns="36000" tIns="18000" rIns="36000" bIns="18000" anchor="t">
            <a:spAutoFit/>
          </a:bodyPr>
          <a:lstStyle/>
          <a:p>
            <a:pPr algn="l"/>
            <a:r>
              <a:rPr sz="900" b="0" i="0">
                <a:solidFill>
                  <a:srgbClr val="172B4D"/>
                </a:solidFill>
              </a:rPr>
              <a:t>UAT signed off by Customer Care lead (named Sponsor)</a:t>
            </a:r>
          </a:p>
        </p:txBody>
      </p:sp>
      <p:sp>
        <p:nvSpPr>
          <p:cNvPr id="90" name="Rounded Rectangle 45">
            <a:extLst>
              <a:ext uri="{FF2B5EF4-FFF2-40B4-BE49-F238E27FC236}">
                <a16:creationId xmlns:a16="http://schemas.microsoft.com/office/drawing/2014/main" id="{6E7A3103-11F9-0529-1147-331652C28C0E}"/>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46">
            <a:extLst>
              <a:ext uri="{FF2B5EF4-FFF2-40B4-BE49-F238E27FC236}">
                <a16:creationId xmlns:a16="http://schemas.microsoft.com/office/drawing/2014/main" id="{ADFA0756-DB5A-1764-4339-212718D27640}"/>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92" name="TextBox 47">
            <a:extLst>
              <a:ext uri="{FF2B5EF4-FFF2-40B4-BE49-F238E27FC236}">
                <a16:creationId xmlns:a16="http://schemas.microsoft.com/office/drawing/2014/main" id="{7831F6D6-D06D-72E3-E2FD-C2ECCB0CF35F}"/>
              </a:ext>
            </a:extLst>
          </p:cNvPr>
          <p:cNvSpPr txBox="1"/>
          <p:nvPr/>
        </p:nvSpPr>
        <p:spPr>
          <a:xfrm>
            <a:off x="6336792" y="1984248"/>
            <a:ext cx="5394960" cy="841248"/>
          </a:xfrm>
          <a:prstGeom prst="rect">
            <a:avLst/>
          </a:prstGeom>
          <a:noFill/>
        </p:spPr>
        <p:txBody>
          <a:bodyPr wrap="square" lIns="36000" tIns="18000" rIns="36000" bIns="18000" anchor="t">
            <a:spAutoFit/>
          </a:bodyPr>
          <a:lstStyle/>
          <a:p>
            <a:pPr algn="l"/>
            <a:r>
              <a:rPr sz="1000" b="0" i="0">
                <a:solidFill>
                  <a:srgbClr val="172B4D"/>
                </a:solidFill>
              </a:rPr>
              <a:t>The DEFINITION OF DONE for this demand. Each item is a binary check — either it passed UAT or it didn't. Acceptance Criteria is what UAT tests against, what Gate 1 reviews, and what Sponsor signs off.</a:t>
            </a:r>
          </a:p>
        </p:txBody>
      </p:sp>
      <p:sp>
        <p:nvSpPr>
          <p:cNvPr id="93" name="TextBox 48">
            <a:extLst>
              <a:ext uri="{FF2B5EF4-FFF2-40B4-BE49-F238E27FC236}">
                <a16:creationId xmlns:a16="http://schemas.microsoft.com/office/drawing/2014/main" id="{1FA57602-4EEE-D49D-9428-A21866B04969}"/>
              </a:ext>
            </a:extLst>
          </p:cNvPr>
          <p:cNvSpPr txBox="1"/>
          <p:nvPr/>
        </p:nvSpPr>
        <p:spPr>
          <a:xfrm>
            <a:off x="6336792" y="2880360"/>
            <a:ext cx="5486400" cy="201168"/>
          </a:xfrm>
          <a:prstGeom prst="rect">
            <a:avLst/>
          </a:prstGeom>
          <a:noFill/>
        </p:spPr>
        <p:txBody>
          <a:bodyPr wrap="square" lIns="36000" tIns="18000" rIns="36000" bIns="18000" anchor="t">
            <a:spAutoFit/>
          </a:bodyPr>
          <a:lstStyle/>
          <a:p>
            <a:pPr algn="l"/>
            <a:r>
              <a:rPr sz="900" b="1" i="0">
                <a:solidFill>
                  <a:srgbClr val="006B3F"/>
                </a:solidFill>
              </a:rPr>
              <a:t>RULES</a:t>
            </a:r>
          </a:p>
        </p:txBody>
      </p:sp>
      <p:sp>
        <p:nvSpPr>
          <p:cNvPr id="94" name="Rounded Rectangle 49">
            <a:extLst>
              <a:ext uri="{FF2B5EF4-FFF2-40B4-BE49-F238E27FC236}">
                <a16:creationId xmlns:a16="http://schemas.microsoft.com/office/drawing/2014/main" id="{C57C54FA-4755-7841-7D4C-2C1B0331A6E8}"/>
              </a:ext>
            </a:extLst>
          </p:cNvPr>
          <p:cNvSpPr/>
          <p:nvPr/>
        </p:nvSpPr>
        <p:spPr>
          <a:xfrm>
            <a:off x="6336792" y="308152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50">
            <a:extLst>
              <a:ext uri="{FF2B5EF4-FFF2-40B4-BE49-F238E27FC236}">
                <a16:creationId xmlns:a16="http://schemas.microsoft.com/office/drawing/2014/main" id="{27FE66C0-B6AE-200B-53A3-5D32F925D8D2}"/>
              </a:ext>
            </a:extLst>
          </p:cNvPr>
          <p:cNvSpPr txBox="1"/>
          <p:nvPr/>
        </p:nvSpPr>
        <p:spPr>
          <a:xfrm>
            <a:off x="6336792" y="3081528"/>
            <a:ext cx="1371600" cy="292608"/>
          </a:xfrm>
          <a:prstGeom prst="rect">
            <a:avLst/>
          </a:prstGeom>
          <a:noFill/>
        </p:spPr>
        <p:txBody>
          <a:bodyPr wrap="square" lIns="36000" tIns="18000" rIns="36000" bIns="18000" anchor="ctr">
            <a:spAutoFit/>
          </a:bodyPr>
          <a:lstStyle/>
          <a:p>
            <a:pPr algn="ctr"/>
            <a:r>
              <a:rPr sz="900" b="1" i="0">
                <a:solidFill>
                  <a:srgbClr val="FFFFFF"/>
                </a:solidFill>
              </a:rPr>
              <a:t>BINARY</a:t>
            </a:r>
          </a:p>
        </p:txBody>
      </p:sp>
      <p:sp>
        <p:nvSpPr>
          <p:cNvPr id="96" name="TextBox 51">
            <a:extLst>
              <a:ext uri="{FF2B5EF4-FFF2-40B4-BE49-F238E27FC236}">
                <a16:creationId xmlns:a16="http://schemas.microsoft.com/office/drawing/2014/main" id="{382FA55F-24F9-B02C-9DBA-CEFCCE7D042E}"/>
              </a:ext>
            </a:extLst>
          </p:cNvPr>
          <p:cNvSpPr txBox="1"/>
          <p:nvPr/>
        </p:nvSpPr>
        <p:spPr>
          <a:xfrm>
            <a:off x="7818120" y="3118104"/>
            <a:ext cx="3931920" cy="292608"/>
          </a:xfrm>
          <a:prstGeom prst="rect">
            <a:avLst/>
          </a:prstGeom>
          <a:noFill/>
        </p:spPr>
        <p:txBody>
          <a:bodyPr wrap="square" lIns="36000" tIns="18000" rIns="36000" bIns="18000" anchor="ctr">
            <a:spAutoFit/>
          </a:bodyPr>
          <a:lstStyle/>
          <a:p>
            <a:pPr algn="l"/>
            <a:r>
              <a:rPr sz="900" b="0" i="0">
                <a:solidFill>
                  <a:srgbClr val="172B4D"/>
                </a:solidFill>
              </a:rPr>
              <a:t>Each item must be testable as PASS or FAIL — no shades of gray</a:t>
            </a:r>
          </a:p>
        </p:txBody>
      </p:sp>
      <p:sp>
        <p:nvSpPr>
          <p:cNvPr id="97" name="Rounded Rectangle 52">
            <a:extLst>
              <a:ext uri="{FF2B5EF4-FFF2-40B4-BE49-F238E27FC236}">
                <a16:creationId xmlns:a16="http://schemas.microsoft.com/office/drawing/2014/main" id="{41AC9D64-6486-DF59-C3EC-77C5311604BB}"/>
              </a:ext>
            </a:extLst>
          </p:cNvPr>
          <p:cNvSpPr/>
          <p:nvPr/>
        </p:nvSpPr>
        <p:spPr>
          <a:xfrm>
            <a:off x="6336792" y="344728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53">
            <a:extLst>
              <a:ext uri="{FF2B5EF4-FFF2-40B4-BE49-F238E27FC236}">
                <a16:creationId xmlns:a16="http://schemas.microsoft.com/office/drawing/2014/main" id="{29B946C2-9AA8-91EE-6D5C-9992CACF811C}"/>
              </a:ext>
            </a:extLst>
          </p:cNvPr>
          <p:cNvSpPr txBox="1"/>
          <p:nvPr/>
        </p:nvSpPr>
        <p:spPr>
          <a:xfrm>
            <a:off x="6336792" y="3447288"/>
            <a:ext cx="1371600" cy="292608"/>
          </a:xfrm>
          <a:prstGeom prst="rect">
            <a:avLst/>
          </a:prstGeom>
          <a:noFill/>
        </p:spPr>
        <p:txBody>
          <a:bodyPr wrap="square" lIns="36000" tIns="18000" rIns="36000" bIns="18000" anchor="ctr">
            <a:spAutoFit/>
          </a:bodyPr>
          <a:lstStyle/>
          <a:p>
            <a:pPr algn="ctr"/>
            <a:r>
              <a:rPr sz="900" b="1" i="0">
                <a:solidFill>
                  <a:srgbClr val="FFFFFF"/>
                </a:solidFill>
              </a:rPr>
              <a:t>MEASURABLE</a:t>
            </a:r>
          </a:p>
        </p:txBody>
      </p:sp>
      <p:sp>
        <p:nvSpPr>
          <p:cNvPr id="99" name="TextBox 54">
            <a:extLst>
              <a:ext uri="{FF2B5EF4-FFF2-40B4-BE49-F238E27FC236}">
                <a16:creationId xmlns:a16="http://schemas.microsoft.com/office/drawing/2014/main" id="{D74E49B9-E7F2-A929-F74D-6B813BBEEFBE}"/>
              </a:ext>
            </a:extLst>
          </p:cNvPr>
          <p:cNvSpPr txBox="1"/>
          <p:nvPr/>
        </p:nvSpPr>
        <p:spPr>
          <a:xfrm>
            <a:off x="7818120" y="3483864"/>
            <a:ext cx="3931920" cy="292608"/>
          </a:xfrm>
          <a:prstGeom prst="rect">
            <a:avLst/>
          </a:prstGeom>
          <a:noFill/>
        </p:spPr>
        <p:txBody>
          <a:bodyPr wrap="square" lIns="36000" tIns="18000" rIns="36000" bIns="18000" anchor="ctr">
            <a:spAutoFit/>
          </a:bodyPr>
          <a:lstStyle/>
          <a:p>
            <a:pPr algn="l"/>
            <a:r>
              <a:rPr sz="900" b="0" i="0">
                <a:solidFill>
                  <a:srgbClr val="172B4D"/>
                </a:solidFill>
              </a:rPr>
              <a:t>Includes a number or a defined state · no "better" or "faster"</a:t>
            </a:r>
          </a:p>
        </p:txBody>
      </p:sp>
      <p:sp>
        <p:nvSpPr>
          <p:cNvPr id="111" name="Rounded Rectangle 55">
            <a:extLst>
              <a:ext uri="{FF2B5EF4-FFF2-40B4-BE49-F238E27FC236}">
                <a16:creationId xmlns:a16="http://schemas.microsoft.com/office/drawing/2014/main" id="{71F522F7-AED5-763B-5C35-2079AF74472E}"/>
              </a:ext>
            </a:extLst>
          </p:cNvPr>
          <p:cNvSpPr/>
          <p:nvPr/>
        </p:nvSpPr>
        <p:spPr>
          <a:xfrm>
            <a:off x="6336792" y="381304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56">
            <a:extLst>
              <a:ext uri="{FF2B5EF4-FFF2-40B4-BE49-F238E27FC236}">
                <a16:creationId xmlns:a16="http://schemas.microsoft.com/office/drawing/2014/main" id="{20AAAD33-636E-B0FD-3040-9DFEC71C1EC2}"/>
              </a:ext>
            </a:extLst>
          </p:cNvPr>
          <p:cNvSpPr txBox="1"/>
          <p:nvPr/>
        </p:nvSpPr>
        <p:spPr>
          <a:xfrm>
            <a:off x="6336792" y="3813048"/>
            <a:ext cx="1371600" cy="292608"/>
          </a:xfrm>
          <a:prstGeom prst="rect">
            <a:avLst/>
          </a:prstGeom>
          <a:noFill/>
        </p:spPr>
        <p:txBody>
          <a:bodyPr wrap="square" lIns="36000" tIns="18000" rIns="36000" bIns="18000" anchor="ctr">
            <a:spAutoFit/>
          </a:bodyPr>
          <a:lstStyle/>
          <a:p>
            <a:pPr algn="ctr"/>
            <a:r>
              <a:rPr sz="900" b="1" i="0">
                <a:solidFill>
                  <a:srgbClr val="FFFFFF"/>
                </a:solidFill>
              </a:rPr>
              <a:t>VERIFIABLE</a:t>
            </a:r>
          </a:p>
        </p:txBody>
      </p:sp>
      <p:sp>
        <p:nvSpPr>
          <p:cNvPr id="113" name="TextBox 57">
            <a:extLst>
              <a:ext uri="{FF2B5EF4-FFF2-40B4-BE49-F238E27FC236}">
                <a16:creationId xmlns:a16="http://schemas.microsoft.com/office/drawing/2014/main" id="{884950F0-25FD-F123-2AE7-86787C347A64}"/>
              </a:ext>
            </a:extLst>
          </p:cNvPr>
          <p:cNvSpPr txBox="1"/>
          <p:nvPr/>
        </p:nvSpPr>
        <p:spPr>
          <a:xfrm>
            <a:off x="7818120" y="3849624"/>
            <a:ext cx="3931920" cy="292608"/>
          </a:xfrm>
          <a:prstGeom prst="rect">
            <a:avLst/>
          </a:prstGeom>
          <a:noFill/>
        </p:spPr>
        <p:txBody>
          <a:bodyPr wrap="square" lIns="36000" tIns="18000" rIns="36000" bIns="18000" anchor="ctr">
            <a:spAutoFit/>
          </a:bodyPr>
          <a:lstStyle/>
          <a:p>
            <a:pPr algn="l"/>
            <a:r>
              <a:rPr sz="900" b="0" i="0">
                <a:solidFill>
                  <a:srgbClr val="172B4D"/>
                </a:solidFill>
              </a:rPr>
              <a:t>Names who confirms (Sponsor / UAT team / vendor) and how</a:t>
            </a:r>
          </a:p>
        </p:txBody>
      </p:sp>
      <p:sp>
        <p:nvSpPr>
          <p:cNvPr id="114" name="Rounded Rectangle 58">
            <a:extLst>
              <a:ext uri="{FF2B5EF4-FFF2-40B4-BE49-F238E27FC236}">
                <a16:creationId xmlns:a16="http://schemas.microsoft.com/office/drawing/2014/main" id="{4139BBC5-83E9-84F0-524E-A4BADE8A134A}"/>
              </a:ext>
            </a:extLst>
          </p:cNvPr>
          <p:cNvSpPr/>
          <p:nvPr/>
        </p:nvSpPr>
        <p:spPr>
          <a:xfrm>
            <a:off x="6336792" y="417880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59">
            <a:extLst>
              <a:ext uri="{FF2B5EF4-FFF2-40B4-BE49-F238E27FC236}">
                <a16:creationId xmlns:a16="http://schemas.microsoft.com/office/drawing/2014/main" id="{FDE24DAB-534E-64DD-773C-4C98417CA6AD}"/>
              </a:ext>
            </a:extLst>
          </p:cNvPr>
          <p:cNvSpPr txBox="1"/>
          <p:nvPr/>
        </p:nvSpPr>
        <p:spPr>
          <a:xfrm>
            <a:off x="6336792" y="4178808"/>
            <a:ext cx="1371600" cy="292608"/>
          </a:xfrm>
          <a:prstGeom prst="rect">
            <a:avLst/>
          </a:prstGeom>
          <a:noFill/>
        </p:spPr>
        <p:txBody>
          <a:bodyPr wrap="square" lIns="36000" tIns="18000" rIns="36000" bIns="18000" anchor="ctr">
            <a:spAutoFit/>
          </a:bodyPr>
          <a:lstStyle/>
          <a:p>
            <a:pPr algn="ctr"/>
            <a:r>
              <a:rPr sz="900" b="1" i="0">
                <a:solidFill>
                  <a:srgbClr val="FFFFFF"/>
                </a:solidFill>
              </a:rPr>
              <a:t>INDEPENDENT</a:t>
            </a:r>
          </a:p>
        </p:txBody>
      </p:sp>
      <p:sp>
        <p:nvSpPr>
          <p:cNvPr id="116" name="TextBox 60">
            <a:extLst>
              <a:ext uri="{FF2B5EF4-FFF2-40B4-BE49-F238E27FC236}">
                <a16:creationId xmlns:a16="http://schemas.microsoft.com/office/drawing/2014/main" id="{26D4871F-6AC4-329B-FBF7-EEC00B030D5F}"/>
              </a:ext>
            </a:extLst>
          </p:cNvPr>
          <p:cNvSpPr txBox="1"/>
          <p:nvPr/>
        </p:nvSpPr>
        <p:spPr>
          <a:xfrm>
            <a:off x="7818120" y="4215384"/>
            <a:ext cx="3931920" cy="292608"/>
          </a:xfrm>
          <a:prstGeom prst="rect">
            <a:avLst/>
          </a:prstGeom>
          <a:noFill/>
        </p:spPr>
        <p:txBody>
          <a:bodyPr wrap="square" lIns="36000" tIns="18000" rIns="36000" bIns="18000" anchor="ctr">
            <a:spAutoFit/>
          </a:bodyPr>
          <a:lstStyle/>
          <a:p>
            <a:pPr algn="l"/>
            <a:r>
              <a:rPr sz="900" b="0" i="0">
                <a:solidFill>
                  <a:srgbClr val="172B4D"/>
                </a:solidFill>
              </a:rPr>
              <a:t>Each item testable on its own · no chained dependencies</a:t>
            </a:r>
          </a:p>
        </p:txBody>
      </p:sp>
      <p:sp>
        <p:nvSpPr>
          <p:cNvPr id="117" name="Rounded Rectangle 61">
            <a:extLst>
              <a:ext uri="{FF2B5EF4-FFF2-40B4-BE49-F238E27FC236}">
                <a16:creationId xmlns:a16="http://schemas.microsoft.com/office/drawing/2014/main" id="{30BFBA94-3D93-A890-CA31-D1AB15D62382}"/>
              </a:ext>
            </a:extLst>
          </p:cNvPr>
          <p:cNvSpPr/>
          <p:nvPr/>
        </p:nvSpPr>
        <p:spPr>
          <a:xfrm>
            <a:off x="6336792" y="454456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62">
            <a:extLst>
              <a:ext uri="{FF2B5EF4-FFF2-40B4-BE49-F238E27FC236}">
                <a16:creationId xmlns:a16="http://schemas.microsoft.com/office/drawing/2014/main" id="{536E53B9-4B39-D910-C0FE-6070CBB5633B}"/>
              </a:ext>
            </a:extLst>
          </p:cNvPr>
          <p:cNvSpPr txBox="1"/>
          <p:nvPr/>
        </p:nvSpPr>
        <p:spPr>
          <a:xfrm>
            <a:off x="6336792" y="4544568"/>
            <a:ext cx="1371600" cy="292608"/>
          </a:xfrm>
          <a:prstGeom prst="rect">
            <a:avLst/>
          </a:prstGeom>
          <a:noFill/>
        </p:spPr>
        <p:txBody>
          <a:bodyPr wrap="square" lIns="36000" tIns="18000" rIns="36000" bIns="18000" anchor="ctr">
            <a:spAutoFit/>
          </a:bodyPr>
          <a:lstStyle/>
          <a:p>
            <a:pPr algn="ctr"/>
            <a:r>
              <a:rPr sz="900" b="1" i="0">
                <a:solidFill>
                  <a:srgbClr val="FFFFFF"/>
                </a:solidFill>
              </a:rPr>
              <a:t>3 TO 7 ITEMS</a:t>
            </a:r>
          </a:p>
        </p:txBody>
      </p:sp>
      <p:sp>
        <p:nvSpPr>
          <p:cNvPr id="119" name="TextBox 63">
            <a:extLst>
              <a:ext uri="{FF2B5EF4-FFF2-40B4-BE49-F238E27FC236}">
                <a16:creationId xmlns:a16="http://schemas.microsoft.com/office/drawing/2014/main" id="{D7A663D3-FE61-42E0-8BFF-CF2E91E25BD8}"/>
              </a:ext>
            </a:extLst>
          </p:cNvPr>
          <p:cNvSpPr txBox="1"/>
          <p:nvPr/>
        </p:nvSpPr>
        <p:spPr>
          <a:xfrm>
            <a:off x="7818120" y="4581144"/>
            <a:ext cx="3931920" cy="292608"/>
          </a:xfrm>
          <a:prstGeom prst="rect">
            <a:avLst/>
          </a:prstGeom>
          <a:noFill/>
        </p:spPr>
        <p:txBody>
          <a:bodyPr wrap="square" lIns="36000" tIns="18000" rIns="36000" bIns="18000" anchor="ctr">
            <a:spAutoFit/>
          </a:bodyPr>
          <a:lstStyle/>
          <a:p>
            <a:pPr algn="l"/>
            <a:r>
              <a:rPr sz="900" b="0" i="0">
                <a:solidFill>
                  <a:srgbClr val="172B4D"/>
                </a:solidFill>
              </a:rPr>
              <a:t>Less than 3 = scope vague · more than 7 = scope too wide</a:t>
            </a:r>
          </a:p>
        </p:txBody>
      </p:sp>
      <p:sp>
        <p:nvSpPr>
          <p:cNvPr id="120" name="TextBox 64">
            <a:extLst>
              <a:ext uri="{FF2B5EF4-FFF2-40B4-BE49-F238E27FC236}">
                <a16:creationId xmlns:a16="http://schemas.microsoft.com/office/drawing/2014/main" id="{D06347EB-205C-264E-485C-AC28C2388707}"/>
              </a:ext>
            </a:extLst>
          </p:cNvPr>
          <p:cNvSpPr txBox="1"/>
          <p:nvPr/>
        </p:nvSpPr>
        <p:spPr>
          <a:xfrm>
            <a:off x="6336792" y="5001768"/>
            <a:ext cx="5486400" cy="201168"/>
          </a:xfrm>
          <a:prstGeom prst="rect">
            <a:avLst/>
          </a:prstGeom>
          <a:noFill/>
        </p:spPr>
        <p:txBody>
          <a:bodyPr wrap="square" lIns="36000" tIns="18000" rIns="36000" bIns="18000" anchor="t">
            <a:spAutoFit/>
          </a:bodyPr>
          <a:lstStyle/>
          <a:p>
            <a:pPr algn="l"/>
            <a:r>
              <a:rPr sz="900" b="1" i="0">
                <a:solidFill>
                  <a:srgbClr val="DE350B"/>
                </a:solidFill>
              </a:rPr>
              <a:t>BAD EXAMPLES (✗ — not measurable)</a:t>
            </a:r>
          </a:p>
        </p:txBody>
      </p:sp>
      <p:sp>
        <p:nvSpPr>
          <p:cNvPr id="121" name="TextBox 65">
            <a:extLst>
              <a:ext uri="{FF2B5EF4-FFF2-40B4-BE49-F238E27FC236}">
                <a16:creationId xmlns:a16="http://schemas.microsoft.com/office/drawing/2014/main" id="{D18ACE90-75A1-DA79-D4F3-F7049C77915A}"/>
              </a:ext>
            </a:extLst>
          </p:cNvPr>
          <p:cNvSpPr txBox="1"/>
          <p:nvPr/>
        </p:nvSpPr>
        <p:spPr>
          <a:xfrm>
            <a:off x="6336792" y="5212080"/>
            <a:ext cx="5394960" cy="201168"/>
          </a:xfrm>
          <a:prstGeom prst="rect">
            <a:avLst/>
          </a:prstGeom>
          <a:noFill/>
        </p:spPr>
        <p:txBody>
          <a:bodyPr wrap="square" lIns="36000" tIns="18000" rIns="36000" bIns="18000" anchor="t">
            <a:spAutoFit/>
          </a:bodyPr>
          <a:lstStyle/>
          <a:p>
            <a:pPr algn="l"/>
            <a:r>
              <a:rPr sz="900" b="0" i="0">
                <a:solidFill>
                  <a:srgbClr val="DE350B"/>
                </a:solidFill>
              </a:rPr>
              <a:t>✗  Users are happy with the new flow</a:t>
            </a:r>
          </a:p>
        </p:txBody>
      </p:sp>
      <p:sp>
        <p:nvSpPr>
          <p:cNvPr id="122" name="TextBox 66">
            <a:extLst>
              <a:ext uri="{FF2B5EF4-FFF2-40B4-BE49-F238E27FC236}">
                <a16:creationId xmlns:a16="http://schemas.microsoft.com/office/drawing/2014/main" id="{58D68878-DDDB-0E5D-26E2-6D08EC6F867F}"/>
              </a:ext>
            </a:extLst>
          </p:cNvPr>
          <p:cNvSpPr txBox="1"/>
          <p:nvPr/>
        </p:nvSpPr>
        <p:spPr>
          <a:xfrm>
            <a:off x="6336792" y="5413248"/>
            <a:ext cx="5394960" cy="201168"/>
          </a:xfrm>
          <a:prstGeom prst="rect">
            <a:avLst/>
          </a:prstGeom>
          <a:noFill/>
        </p:spPr>
        <p:txBody>
          <a:bodyPr wrap="square" lIns="36000" tIns="18000" rIns="36000" bIns="18000" anchor="t">
            <a:spAutoFit/>
          </a:bodyPr>
          <a:lstStyle/>
          <a:p>
            <a:pPr algn="l"/>
            <a:r>
              <a:rPr sz="900" b="0" i="0">
                <a:solidFill>
                  <a:srgbClr val="DE350B"/>
                </a:solidFill>
              </a:rPr>
              <a:t>✗  Performance is improved</a:t>
            </a:r>
          </a:p>
        </p:txBody>
      </p:sp>
      <p:sp>
        <p:nvSpPr>
          <p:cNvPr id="123" name="TextBox 67">
            <a:extLst>
              <a:ext uri="{FF2B5EF4-FFF2-40B4-BE49-F238E27FC236}">
                <a16:creationId xmlns:a16="http://schemas.microsoft.com/office/drawing/2014/main" id="{7D268F81-BB5F-F828-4136-438B4266506C}"/>
              </a:ext>
            </a:extLst>
          </p:cNvPr>
          <p:cNvSpPr txBox="1"/>
          <p:nvPr/>
        </p:nvSpPr>
        <p:spPr>
          <a:xfrm>
            <a:off x="6336792" y="5614416"/>
            <a:ext cx="5394960" cy="201168"/>
          </a:xfrm>
          <a:prstGeom prst="rect">
            <a:avLst/>
          </a:prstGeom>
          <a:noFill/>
        </p:spPr>
        <p:txBody>
          <a:bodyPr wrap="square" lIns="36000" tIns="18000" rIns="36000" bIns="18000" anchor="t">
            <a:spAutoFit/>
          </a:bodyPr>
          <a:lstStyle/>
          <a:p>
            <a:pPr algn="l"/>
            <a:r>
              <a:rPr sz="900" b="0" i="0">
                <a:solidFill>
                  <a:srgbClr val="DE350B"/>
                </a:solidFill>
              </a:rPr>
              <a:t>✗  It works as expected</a:t>
            </a:r>
          </a:p>
        </p:txBody>
      </p:sp>
      <p:sp>
        <p:nvSpPr>
          <p:cNvPr id="124" name="TextBox 68">
            <a:extLst>
              <a:ext uri="{FF2B5EF4-FFF2-40B4-BE49-F238E27FC236}">
                <a16:creationId xmlns:a16="http://schemas.microsoft.com/office/drawing/2014/main" id="{451001EB-1A1D-9644-64D4-4E0EBF418415}"/>
              </a:ext>
            </a:extLst>
          </p:cNvPr>
          <p:cNvSpPr txBox="1"/>
          <p:nvPr/>
        </p:nvSpPr>
        <p:spPr>
          <a:xfrm>
            <a:off x="6336792" y="5815584"/>
            <a:ext cx="5394960" cy="201168"/>
          </a:xfrm>
          <a:prstGeom prst="rect">
            <a:avLst/>
          </a:prstGeom>
          <a:noFill/>
        </p:spPr>
        <p:txBody>
          <a:bodyPr wrap="square" lIns="36000" tIns="18000" rIns="36000" bIns="18000" anchor="t">
            <a:spAutoFit/>
          </a:bodyPr>
          <a:lstStyle/>
          <a:p>
            <a:pPr algn="l"/>
            <a:r>
              <a:rPr sz="900" b="0" i="0">
                <a:solidFill>
                  <a:srgbClr val="DE350B"/>
                </a:solidFill>
              </a:rPr>
              <a:t>✗  Solution meets business needs</a:t>
            </a:r>
          </a:p>
        </p:txBody>
      </p:sp>
      <p:sp>
        <p:nvSpPr>
          <p:cNvPr id="125" name="Rounded Rectangle 69">
            <a:extLst>
              <a:ext uri="{FF2B5EF4-FFF2-40B4-BE49-F238E27FC236}">
                <a16:creationId xmlns:a16="http://schemas.microsoft.com/office/drawing/2014/main" id="{81BECF94-5378-609F-5858-6C1561DCE03D}"/>
              </a:ext>
            </a:extLst>
          </p:cNvPr>
          <p:cNvSpPr/>
          <p:nvPr/>
        </p:nvSpPr>
        <p:spPr>
          <a:xfrm>
            <a:off x="365760" y="6263640"/>
            <a:ext cx="5650992" cy="530352"/>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70">
            <a:extLst>
              <a:ext uri="{FF2B5EF4-FFF2-40B4-BE49-F238E27FC236}">
                <a16:creationId xmlns:a16="http://schemas.microsoft.com/office/drawing/2014/main" id="{69DF32E2-16FE-FB03-2F0E-87B58358F9BF}"/>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27" name="TextBox 71">
            <a:extLst>
              <a:ext uri="{FF2B5EF4-FFF2-40B4-BE49-F238E27FC236}">
                <a16:creationId xmlns:a16="http://schemas.microsoft.com/office/drawing/2014/main" id="{C6D7A652-BFA8-8645-1526-E80E2F2100CB}"/>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Without measurable AC, the squad cannot tell if work is done. UAT becomes opinion. Gates can't sign off. Demand stays in REVIEW forever.</a:t>
            </a:r>
          </a:p>
        </p:txBody>
      </p:sp>
      <p:sp>
        <p:nvSpPr>
          <p:cNvPr id="128" name="Rounded Rectangle 72">
            <a:extLst>
              <a:ext uri="{FF2B5EF4-FFF2-40B4-BE49-F238E27FC236}">
                <a16:creationId xmlns:a16="http://schemas.microsoft.com/office/drawing/2014/main" id="{6D36C570-137B-E4D4-B2E5-44313F4F0795}"/>
              </a:ext>
            </a:extLst>
          </p:cNvPr>
          <p:cNvSpPr/>
          <p:nvPr/>
        </p:nvSpPr>
        <p:spPr>
          <a:xfrm>
            <a:off x="6199632" y="6263640"/>
            <a:ext cx="5650992" cy="530352"/>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73">
            <a:extLst>
              <a:ext uri="{FF2B5EF4-FFF2-40B4-BE49-F238E27FC236}">
                <a16:creationId xmlns:a16="http://schemas.microsoft.com/office/drawing/2014/main" id="{5E4414DD-DEF9-46AF-AB46-F96A75B5B579}"/>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30" name="TextBox 74">
            <a:extLst>
              <a:ext uri="{FF2B5EF4-FFF2-40B4-BE49-F238E27FC236}">
                <a16:creationId xmlns:a16="http://schemas.microsoft.com/office/drawing/2014/main" id="{8066E6B1-1EDF-C12A-8857-90E326BEAB6E}"/>
              </a:ext>
            </a:extLst>
          </p:cNvPr>
          <p:cNvSpPr txBox="1"/>
          <p:nvPr/>
        </p:nvSpPr>
        <p:spPr>
          <a:xfrm>
            <a:off x="6336792" y="6446520"/>
            <a:ext cx="5394960" cy="313350"/>
          </a:xfrm>
          <a:prstGeom prst="rect">
            <a:avLst/>
          </a:prstGeom>
          <a:noFill/>
        </p:spPr>
        <p:txBody>
          <a:bodyPr wrap="square" lIns="36000" tIns="18000" rIns="36000" bIns="18000" anchor="t">
            <a:spAutoFit/>
          </a:bodyPr>
          <a:lstStyle/>
          <a:p>
            <a:r>
              <a:rPr sz="900" b="1" i="1">
                <a:solidFill>
                  <a:srgbClr val="F08629"/>
                </a:solidFill>
              </a:rPr>
              <a:t>▸ </a:t>
            </a:r>
            <a:r>
              <a:rPr lang="pt-BR" sz="900" b="1" i="1" err="1">
                <a:solidFill>
                  <a:srgbClr val="F08629"/>
                </a:solidFill>
              </a:rPr>
              <a:t>Definition</a:t>
            </a:r>
            <a:r>
              <a:rPr lang="pt-BR" sz="900" b="1" i="1">
                <a:solidFill>
                  <a:srgbClr val="F08629"/>
                </a:solidFill>
              </a:rPr>
              <a:t> </a:t>
            </a:r>
            <a:r>
              <a:rPr lang="pt-BR" sz="900" b="1" i="1" err="1">
                <a:solidFill>
                  <a:srgbClr val="F08629"/>
                </a:solidFill>
              </a:rPr>
              <a:t>of</a:t>
            </a:r>
            <a:r>
              <a:rPr lang="pt-BR" sz="900" b="1" i="1">
                <a:solidFill>
                  <a:srgbClr val="F08629"/>
                </a:solidFill>
              </a:rPr>
              <a:t> </a:t>
            </a:r>
            <a:r>
              <a:rPr lang="pt-BR" sz="900" b="1" i="1" err="1">
                <a:solidFill>
                  <a:srgbClr val="F08629"/>
                </a:solidFill>
              </a:rPr>
              <a:t>Done</a:t>
            </a:r>
            <a:r>
              <a:rPr lang="pt-BR" sz="900" b="1" i="1">
                <a:solidFill>
                  <a:srgbClr val="F08629"/>
                </a:solidFill>
              </a:rPr>
              <a:t> · UAT </a:t>
            </a:r>
            <a:r>
              <a:rPr lang="pt-BR" sz="900" b="1" i="1" err="1">
                <a:solidFill>
                  <a:srgbClr val="F08629"/>
                </a:solidFill>
              </a:rPr>
              <a:t>signoff</a:t>
            </a:r>
            <a:r>
              <a:rPr lang="pt-BR" sz="900" b="1" i="1">
                <a:solidFill>
                  <a:srgbClr val="F08629"/>
                </a:solidFill>
              </a:rPr>
              <a:t> · Gate 1 </a:t>
            </a:r>
            <a:r>
              <a:rPr lang="pt-BR" sz="900" b="1" i="1" err="1">
                <a:solidFill>
                  <a:srgbClr val="F08629"/>
                </a:solidFill>
              </a:rPr>
              <a:t>reference</a:t>
            </a:r>
            <a:r>
              <a:rPr lang="pt-BR" sz="900" b="1" i="1">
                <a:solidFill>
                  <a:srgbClr val="F08629"/>
                </a:solidFill>
              </a:rPr>
              <a:t> (</a:t>
            </a:r>
            <a:r>
              <a:rPr lang="pt-BR" sz="900" b="1" i="1" err="1">
                <a:solidFill>
                  <a:srgbClr val="F08629"/>
                </a:solidFill>
              </a:rPr>
              <a:t>if</a:t>
            </a:r>
            <a:r>
              <a:rPr lang="pt-BR" sz="900" b="1" i="1">
                <a:solidFill>
                  <a:srgbClr val="F08629"/>
                </a:solidFill>
              </a:rPr>
              <a:t> </a:t>
            </a:r>
            <a:r>
              <a:rPr lang="pt-BR" sz="900" b="1" i="1" err="1">
                <a:solidFill>
                  <a:srgbClr val="F08629"/>
                </a:solidFill>
              </a:rPr>
              <a:t>Type</a:t>
            </a:r>
            <a:r>
              <a:rPr lang="pt-BR" sz="900" b="1" i="1">
                <a:solidFill>
                  <a:srgbClr val="F08629"/>
                </a:solidFill>
              </a:rPr>
              <a:t>=Non-</a:t>
            </a:r>
            <a:r>
              <a:rPr lang="pt-BR" sz="900" b="1" i="1" err="1">
                <a:solidFill>
                  <a:srgbClr val="F08629"/>
                </a:solidFill>
              </a:rPr>
              <a:t>Regulatory</a:t>
            </a:r>
            <a:r>
              <a:rPr lang="pt-BR" sz="900" b="1" i="1">
                <a:solidFill>
                  <a:srgbClr val="F08629"/>
                </a:solidFill>
              </a:rPr>
              <a:t> </a:t>
            </a:r>
            <a:r>
              <a:rPr lang="pt-BR" sz="900" b="1" i="1" err="1">
                <a:solidFill>
                  <a:srgbClr val="F08629"/>
                </a:solidFill>
              </a:rPr>
              <a:t>and</a:t>
            </a:r>
            <a:r>
              <a:rPr lang="pt-BR" sz="900" b="1" i="1">
                <a:solidFill>
                  <a:srgbClr val="F08629"/>
                </a:solidFill>
              </a:rPr>
              <a:t> </a:t>
            </a:r>
            <a:r>
              <a:rPr lang="pt-BR" sz="900" b="1" i="1" err="1">
                <a:solidFill>
                  <a:srgbClr val="F08629"/>
                </a:solidFill>
              </a:rPr>
              <a:t>R</a:t>
            </a:r>
            <a:r>
              <a:rPr lang="pt-BR" sz="900" b="1" i="1">
                <a:solidFill>
                  <a:srgbClr val="F08629"/>
                </a:solidFill>
              </a:rPr>
              <a:t>/</a:t>
            </a:r>
            <a:r>
              <a:rPr lang="pt-BR" sz="900" b="1" i="1" err="1">
                <a:solidFill>
                  <a:srgbClr val="F08629"/>
                </a:solidFill>
              </a:rPr>
              <a:t>G</a:t>
            </a:r>
            <a:r>
              <a:rPr lang="pt-BR" sz="900" b="1" i="1">
                <a:solidFill>
                  <a:srgbClr val="F08629"/>
                </a:solidFill>
              </a:rPr>
              <a:t>/</a:t>
            </a:r>
            <a:r>
              <a:rPr lang="pt-BR" sz="900" b="1" i="1" err="1">
                <a:solidFill>
                  <a:srgbClr val="F08629"/>
                </a:solidFill>
              </a:rPr>
              <a:t>T</a:t>
            </a:r>
            <a:r>
              <a:rPr lang="pt-BR" sz="900" b="1" i="1">
                <a:solidFill>
                  <a:srgbClr val="F08629"/>
                </a:solidFill>
              </a:rPr>
              <a:t>=</a:t>
            </a:r>
            <a:r>
              <a:rPr lang="pt-BR" sz="900" b="1" i="1" err="1">
                <a:solidFill>
                  <a:srgbClr val="F08629"/>
                </a:solidFill>
              </a:rPr>
              <a:t>Transform</a:t>
            </a:r>
            <a:r>
              <a:rPr lang="pt-BR" sz="900" b="1" i="1">
                <a:solidFill>
                  <a:srgbClr val="F08629"/>
                </a:solidFill>
              </a:rPr>
              <a:t>)</a:t>
            </a:r>
          </a:p>
          <a:p>
            <a:pPr algn="l"/>
            <a:endParaRPr sz="900" b="1" i="1">
              <a:solidFill>
                <a:srgbClr val="F08629"/>
              </a:solidFill>
            </a:endParaRPr>
          </a:p>
        </p:txBody>
      </p:sp>
      <p:sp>
        <p:nvSpPr>
          <p:cNvPr id="3" name="TextBox 13">
            <a:extLst>
              <a:ext uri="{FF2B5EF4-FFF2-40B4-BE49-F238E27FC236}">
                <a16:creationId xmlns:a16="http://schemas.microsoft.com/office/drawing/2014/main" id="{8B881D7B-A400-AB21-4CF1-E01BFE839D2C}"/>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4" name="Text Placeholder 19">
            <a:extLst>
              <a:ext uri="{FF2B5EF4-FFF2-40B4-BE49-F238E27FC236}">
                <a16:creationId xmlns:a16="http://schemas.microsoft.com/office/drawing/2014/main" id="{7F28E240-F208-2C1C-73E7-76DB3425CED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acceptance criteria</a:t>
            </a:r>
          </a:p>
        </p:txBody>
      </p:sp>
    </p:spTree>
    <p:extLst>
      <p:ext uri="{BB962C8B-B14F-4D97-AF65-F5344CB8AC3E}">
        <p14:creationId xmlns:p14="http://schemas.microsoft.com/office/powerpoint/2010/main" val="2302592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6B1D-7BEE-F4A0-67CE-11EDD12FEF67}"/>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64C0A1C4-40E8-DA76-0201-5C1EB066FC9F}"/>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9498F20F-3751-DFA3-4FE2-F9B6941FFD6D}"/>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Value Stream destination</a:t>
            </a:r>
          </a:p>
        </p:txBody>
      </p:sp>
      <p:sp>
        <p:nvSpPr>
          <p:cNvPr id="5" name="TextBox 11">
            <a:extLst>
              <a:ext uri="{FF2B5EF4-FFF2-40B4-BE49-F238E27FC236}">
                <a16:creationId xmlns:a16="http://schemas.microsoft.com/office/drawing/2014/main" id="{A3ECABA8-A4B4-2723-848C-3578D4AA0DDC}"/>
              </a:ext>
            </a:extLst>
          </p:cNvPr>
          <p:cNvSpPr txBox="1"/>
          <p:nvPr/>
        </p:nvSpPr>
        <p:spPr>
          <a:xfrm>
            <a:off x="502920" y="1088136"/>
            <a:ext cx="7315200" cy="144073"/>
          </a:xfrm>
          <a:prstGeom prst="rect">
            <a:avLst/>
          </a:prstGeom>
          <a:noFill/>
        </p:spPr>
        <p:txBody>
          <a:bodyPr wrap="square" lIns="36000" tIns="18000" rIns="36000" bIns="18000" anchor="t">
            <a:spAutoFit/>
          </a:bodyPr>
          <a:lstStyle/>
          <a:p>
            <a:pPr algn="l"/>
            <a:r>
              <a:rPr sz="700" b="1" i="0">
                <a:solidFill>
                  <a:srgbClr val="E6F2EB"/>
                </a:solidFill>
              </a:rPr>
              <a:t>TYPE  ·  Single-select dropdown · 10 options (5 ITBA + 4 CS + 1 Enabling Team)</a:t>
            </a:r>
          </a:p>
        </p:txBody>
      </p:sp>
      <p:sp>
        <p:nvSpPr>
          <p:cNvPr id="14" name="TextBox 18">
            <a:extLst>
              <a:ext uri="{FF2B5EF4-FFF2-40B4-BE49-F238E27FC236}">
                <a16:creationId xmlns:a16="http://schemas.microsoft.com/office/drawing/2014/main" id="{27AE2758-C04F-0812-27A9-06E8472C7B44}"/>
              </a:ext>
            </a:extLst>
          </p:cNvPr>
          <p:cNvSpPr txBox="1"/>
          <p:nvPr/>
        </p:nvSpPr>
        <p:spPr>
          <a:xfrm>
            <a:off x="502920" y="1880687"/>
            <a:ext cx="5326380" cy="197934"/>
          </a:xfrm>
          <a:prstGeom prst="rect">
            <a:avLst/>
          </a:prstGeom>
          <a:noFill/>
        </p:spPr>
        <p:txBody>
          <a:bodyPr wrap="square" lIns="36000" tIns="18000" rIns="36000" bIns="18000" anchor="t">
            <a:spAutoFit/>
          </a:bodyPr>
          <a:lstStyle/>
          <a:p>
            <a:pPr algn="l"/>
            <a:r>
              <a:rPr lang="en-US" sz="1050" b="1">
                <a:solidFill>
                  <a:srgbClr val="162A4D"/>
                </a:solidFill>
              </a:rPr>
              <a:t>ITBA · IT Business Apps · Carlos Garbin · 5 teams </a:t>
            </a:r>
          </a:p>
        </p:txBody>
      </p:sp>
      <p:sp>
        <p:nvSpPr>
          <p:cNvPr id="15" name="Rounded Rectangle 19">
            <a:extLst>
              <a:ext uri="{FF2B5EF4-FFF2-40B4-BE49-F238E27FC236}">
                <a16:creationId xmlns:a16="http://schemas.microsoft.com/office/drawing/2014/main" id="{0B5889E0-202B-1A93-847C-C82BB0FD76A3}"/>
              </a:ext>
            </a:extLst>
          </p:cNvPr>
          <p:cNvSpPr/>
          <p:nvPr/>
        </p:nvSpPr>
        <p:spPr>
          <a:xfrm>
            <a:off x="502920" y="2356175"/>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0">
            <a:extLst>
              <a:ext uri="{FF2B5EF4-FFF2-40B4-BE49-F238E27FC236}">
                <a16:creationId xmlns:a16="http://schemas.microsoft.com/office/drawing/2014/main" id="{45B048AD-3617-BB4D-F16F-52D95A90649E}"/>
              </a:ext>
            </a:extLst>
          </p:cNvPr>
          <p:cNvSpPr txBox="1"/>
          <p:nvPr/>
        </p:nvSpPr>
        <p:spPr>
          <a:xfrm>
            <a:off x="640080" y="2411039"/>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7" name="TextBox 21">
            <a:extLst>
              <a:ext uri="{FF2B5EF4-FFF2-40B4-BE49-F238E27FC236}">
                <a16:creationId xmlns:a16="http://schemas.microsoft.com/office/drawing/2014/main" id="{B75B53F2-5471-F7B0-F997-5D771CCD47A8}"/>
              </a:ext>
            </a:extLst>
          </p:cNvPr>
          <p:cNvSpPr txBox="1"/>
          <p:nvPr/>
        </p:nvSpPr>
        <p:spPr>
          <a:xfrm>
            <a:off x="868680" y="2392751"/>
            <a:ext cx="4960620" cy="201168"/>
          </a:xfrm>
          <a:prstGeom prst="rect">
            <a:avLst/>
          </a:prstGeom>
          <a:noFill/>
        </p:spPr>
        <p:txBody>
          <a:bodyPr wrap="square" lIns="36000" tIns="18000" rIns="36000" bIns="18000" anchor="t">
            <a:spAutoFit/>
          </a:bodyPr>
          <a:lstStyle/>
          <a:p>
            <a:pPr algn="l"/>
            <a:r>
              <a:rPr sz="1100" b="1" i="0">
                <a:solidFill>
                  <a:srgbClr val="172B4D"/>
                </a:solidFill>
              </a:rPr>
              <a:t>Field Operations</a:t>
            </a:r>
          </a:p>
        </p:txBody>
      </p:sp>
      <p:sp>
        <p:nvSpPr>
          <p:cNvPr id="18" name="TextBox 22">
            <a:extLst>
              <a:ext uri="{FF2B5EF4-FFF2-40B4-BE49-F238E27FC236}">
                <a16:creationId xmlns:a16="http://schemas.microsoft.com/office/drawing/2014/main" id="{263CCE63-DE9F-9597-EF7F-78C039BB0F9D}"/>
              </a:ext>
            </a:extLst>
          </p:cNvPr>
          <p:cNvSpPr txBox="1"/>
          <p:nvPr/>
        </p:nvSpPr>
        <p:spPr>
          <a:xfrm>
            <a:off x="868680" y="2575631"/>
            <a:ext cx="4960620" cy="164592"/>
          </a:xfrm>
          <a:prstGeom prst="rect">
            <a:avLst/>
          </a:prstGeom>
          <a:noFill/>
        </p:spPr>
        <p:txBody>
          <a:bodyPr wrap="square" lIns="36000" tIns="18000" rIns="36000" bIns="18000" anchor="t">
            <a:spAutoFit/>
          </a:bodyPr>
          <a:lstStyle/>
          <a:p>
            <a:pPr algn="l"/>
            <a:r>
              <a:rPr sz="800" b="0" i="1">
                <a:solidFill>
                  <a:srgbClr val="6B778C"/>
                </a:solidFill>
              </a:rPr>
              <a:t>GIS · Workforce · OSG</a:t>
            </a:r>
          </a:p>
        </p:txBody>
      </p:sp>
      <p:sp>
        <p:nvSpPr>
          <p:cNvPr id="19" name="TextBox 23">
            <a:extLst>
              <a:ext uri="{FF2B5EF4-FFF2-40B4-BE49-F238E27FC236}">
                <a16:creationId xmlns:a16="http://schemas.microsoft.com/office/drawing/2014/main" id="{93491E18-D2BB-9034-7C81-3D485B8DA2F4}"/>
              </a:ext>
            </a:extLst>
          </p:cNvPr>
          <p:cNvSpPr txBox="1"/>
          <p:nvPr/>
        </p:nvSpPr>
        <p:spPr>
          <a:xfrm>
            <a:off x="868680" y="2740223"/>
            <a:ext cx="4960620" cy="164592"/>
          </a:xfrm>
          <a:prstGeom prst="rect">
            <a:avLst/>
          </a:prstGeom>
          <a:noFill/>
        </p:spPr>
        <p:txBody>
          <a:bodyPr wrap="square" lIns="36000" tIns="18000" rIns="36000" bIns="18000" anchor="t">
            <a:spAutoFit/>
          </a:bodyPr>
          <a:lstStyle/>
          <a:p>
            <a:pPr algn="l"/>
            <a:r>
              <a:rPr sz="800" b="0" i="0">
                <a:solidFill>
                  <a:srgbClr val="42526E"/>
                </a:solidFill>
              </a:rPr>
              <a:t>Distribution / field crew systems</a:t>
            </a:r>
          </a:p>
        </p:txBody>
      </p:sp>
      <p:sp>
        <p:nvSpPr>
          <p:cNvPr id="20" name="Rounded Rectangle 24">
            <a:extLst>
              <a:ext uri="{FF2B5EF4-FFF2-40B4-BE49-F238E27FC236}">
                <a16:creationId xmlns:a16="http://schemas.microsoft.com/office/drawing/2014/main" id="{B33EC497-8131-4D55-33AA-83BA8F0E10DE}"/>
              </a:ext>
            </a:extLst>
          </p:cNvPr>
          <p:cNvSpPr/>
          <p:nvPr/>
        </p:nvSpPr>
        <p:spPr>
          <a:xfrm>
            <a:off x="502920" y="3014543"/>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5">
            <a:extLst>
              <a:ext uri="{FF2B5EF4-FFF2-40B4-BE49-F238E27FC236}">
                <a16:creationId xmlns:a16="http://schemas.microsoft.com/office/drawing/2014/main" id="{CB02E9D7-2292-7D51-A0EB-6C23C6F04054}"/>
              </a:ext>
            </a:extLst>
          </p:cNvPr>
          <p:cNvSpPr txBox="1"/>
          <p:nvPr/>
        </p:nvSpPr>
        <p:spPr>
          <a:xfrm>
            <a:off x="640080" y="3069407"/>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22" name="TextBox 26">
            <a:extLst>
              <a:ext uri="{FF2B5EF4-FFF2-40B4-BE49-F238E27FC236}">
                <a16:creationId xmlns:a16="http://schemas.microsoft.com/office/drawing/2014/main" id="{2C2D90B1-D1BD-AC4D-EF50-E9D2E7972FB5}"/>
              </a:ext>
            </a:extLst>
          </p:cNvPr>
          <p:cNvSpPr txBox="1"/>
          <p:nvPr/>
        </p:nvSpPr>
        <p:spPr>
          <a:xfrm>
            <a:off x="868680" y="3051119"/>
            <a:ext cx="4960620" cy="201168"/>
          </a:xfrm>
          <a:prstGeom prst="rect">
            <a:avLst/>
          </a:prstGeom>
          <a:noFill/>
        </p:spPr>
        <p:txBody>
          <a:bodyPr wrap="square" lIns="36000" tIns="18000" rIns="36000" bIns="18000" anchor="t">
            <a:spAutoFit/>
          </a:bodyPr>
          <a:lstStyle/>
          <a:p>
            <a:pPr algn="l"/>
            <a:r>
              <a:rPr sz="1100" b="1" i="0">
                <a:solidFill>
                  <a:srgbClr val="172B4D"/>
                </a:solidFill>
              </a:rPr>
              <a:t>Engineering &amp; Asset Mgmt</a:t>
            </a:r>
          </a:p>
        </p:txBody>
      </p:sp>
      <p:sp>
        <p:nvSpPr>
          <p:cNvPr id="23" name="TextBox 27">
            <a:extLst>
              <a:ext uri="{FF2B5EF4-FFF2-40B4-BE49-F238E27FC236}">
                <a16:creationId xmlns:a16="http://schemas.microsoft.com/office/drawing/2014/main" id="{03A957D7-7DB4-5C90-D8B0-14043087298F}"/>
              </a:ext>
            </a:extLst>
          </p:cNvPr>
          <p:cNvSpPr txBox="1"/>
          <p:nvPr/>
        </p:nvSpPr>
        <p:spPr>
          <a:xfrm>
            <a:off x="868680" y="3233999"/>
            <a:ext cx="4960620" cy="164592"/>
          </a:xfrm>
          <a:prstGeom prst="rect">
            <a:avLst/>
          </a:prstGeom>
          <a:noFill/>
        </p:spPr>
        <p:txBody>
          <a:bodyPr wrap="square" lIns="36000" tIns="18000" rIns="36000" bIns="18000" anchor="t">
            <a:spAutoFit/>
          </a:bodyPr>
          <a:lstStyle/>
          <a:p>
            <a:pPr algn="l"/>
            <a:r>
              <a:rPr sz="800" b="0" i="1">
                <a:solidFill>
                  <a:srgbClr val="6B778C"/>
                </a:solidFill>
              </a:rPr>
              <a:t>Maintenance · Engineering</a:t>
            </a:r>
          </a:p>
        </p:txBody>
      </p:sp>
      <p:sp>
        <p:nvSpPr>
          <p:cNvPr id="24" name="TextBox 28">
            <a:extLst>
              <a:ext uri="{FF2B5EF4-FFF2-40B4-BE49-F238E27FC236}">
                <a16:creationId xmlns:a16="http://schemas.microsoft.com/office/drawing/2014/main" id="{97691E8E-D67F-7F07-00C1-C71690875FAC}"/>
              </a:ext>
            </a:extLst>
          </p:cNvPr>
          <p:cNvSpPr txBox="1"/>
          <p:nvPr/>
        </p:nvSpPr>
        <p:spPr>
          <a:xfrm>
            <a:off x="868680" y="3398591"/>
            <a:ext cx="4960620" cy="164592"/>
          </a:xfrm>
          <a:prstGeom prst="rect">
            <a:avLst/>
          </a:prstGeom>
          <a:noFill/>
        </p:spPr>
        <p:txBody>
          <a:bodyPr wrap="square" lIns="36000" tIns="18000" rIns="36000" bIns="18000" anchor="t">
            <a:spAutoFit/>
          </a:bodyPr>
          <a:lstStyle/>
          <a:p>
            <a:pPr algn="l"/>
            <a:r>
              <a:rPr sz="800" b="0" i="0">
                <a:solidFill>
                  <a:srgbClr val="42526E"/>
                </a:solidFill>
              </a:rPr>
              <a:t>Asset lifecycle · capital planning</a:t>
            </a:r>
          </a:p>
        </p:txBody>
      </p:sp>
      <p:sp>
        <p:nvSpPr>
          <p:cNvPr id="25" name="Rounded Rectangle 29">
            <a:extLst>
              <a:ext uri="{FF2B5EF4-FFF2-40B4-BE49-F238E27FC236}">
                <a16:creationId xmlns:a16="http://schemas.microsoft.com/office/drawing/2014/main" id="{60F6F417-6D56-50B9-603B-32BE02C23AAF}"/>
              </a:ext>
            </a:extLst>
          </p:cNvPr>
          <p:cNvSpPr/>
          <p:nvPr/>
        </p:nvSpPr>
        <p:spPr>
          <a:xfrm>
            <a:off x="502920" y="3672911"/>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30">
            <a:extLst>
              <a:ext uri="{FF2B5EF4-FFF2-40B4-BE49-F238E27FC236}">
                <a16:creationId xmlns:a16="http://schemas.microsoft.com/office/drawing/2014/main" id="{AEB757B7-6EA5-30C5-3283-FD6EE92C7840}"/>
              </a:ext>
            </a:extLst>
          </p:cNvPr>
          <p:cNvSpPr txBox="1"/>
          <p:nvPr/>
        </p:nvSpPr>
        <p:spPr>
          <a:xfrm>
            <a:off x="640080" y="3727775"/>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27" name="TextBox 31">
            <a:extLst>
              <a:ext uri="{FF2B5EF4-FFF2-40B4-BE49-F238E27FC236}">
                <a16:creationId xmlns:a16="http://schemas.microsoft.com/office/drawing/2014/main" id="{D57415E9-EE93-0956-2439-E37417054BB2}"/>
              </a:ext>
            </a:extLst>
          </p:cNvPr>
          <p:cNvSpPr txBox="1"/>
          <p:nvPr/>
        </p:nvSpPr>
        <p:spPr>
          <a:xfrm>
            <a:off x="868680" y="3709487"/>
            <a:ext cx="4960620" cy="201168"/>
          </a:xfrm>
          <a:prstGeom prst="rect">
            <a:avLst/>
          </a:prstGeom>
          <a:noFill/>
        </p:spPr>
        <p:txBody>
          <a:bodyPr wrap="square" lIns="36000" tIns="18000" rIns="36000" bIns="18000" anchor="t">
            <a:spAutoFit/>
          </a:bodyPr>
          <a:lstStyle/>
          <a:p>
            <a:pPr algn="l"/>
            <a:r>
              <a:rPr sz="1100" b="1" i="0">
                <a:solidFill>
                  <a:srgbClr val="172B4D"/>
                </a:solidFill>
              </a:rPr>
              <a:t>Network Operations &amp; Control</a:t>
            </a:r>
          </a:p>
        </p:txBody>
      </p:sp>
      <p:sp>
        <p:nvSpPr>
          <p:cNvPr id="28" name="TextBox 32">
            <a:extLst>
              <a:ext uri="{FF2B5EF4-FFF2-40B4-BE49-F238E27FC236}">
                <a16:creationId xmlns:a16="http://schemas.microsoft.com/office/drawing/2014/main" id="{53A9C05E-F842-EAD2-BBAE-FDD67FDB7528}"/>
              </a:ext>
            </a:extLst>
          </p:cNvPr>
          <p:cNvSpPr txBox="1"/>
          <p:nvPr/>
        </p:nvSpPr>
        <p:spPr>
          <a:xfrm>
            <a:off x="868680" y="3892367"/>
            <a:ext cx="4960620" cy="164592"/>
          </a:xfrm>
          <a:prstGeom prst="rect">
            <a:avLst/>
          </a:prstGeom>
          <a:noFill/>
        </p:spPr>
        <p:txBody>
          <a:bodyPr wrap="square" lIns="36000" tIns="18000" rIns="36000" bIns="18000" anchor="t">
            <a:spAutoFit/>
          </a:bodyPr>
          <a:lstStyle/>
          <a:p>
            <a:pPr algn="l"/>
            <a:r>
              <a:rPr sz="800" b="0" i="1">
                <a:solidFill>
                  <a:srgbClr val="6B778C"/>
                </a:solidFill>
              </a:rPr>
              <a:t>SCADA · EMS · OMS</a:t>
            </a:r>
          </a:p>
        </p:txBody>
      </p:sp>
      <p:sp>
        <p:nvSpPr>
          <p:cNvPr id="29" name="TextBox 33">
            <a:extLst>
              <a:ext uri="{FF2B5EF4-FFF2-40B4-BE49-F238E27FC236}">
                <a16:creationId xmlns:a16="http://schemas.microsoft.com/office/drawing/2014/main" id="{60F78F05-91B4-E76B-9412-DE17950C19A0}"/>
              </a:ext>
            </a:extLst>
          </p:cNvPr>
          <p:cNvSpPr txBox="1"/>
          <p:nvPr/>
        </p:nvSpPr>
        <p:spPr>
          <a:xfrm>
            <a:off x="868680" y="4056959"/>
            <a:ext cx="4960620" cy="164592"/>
          </a:xfrm>
          <a:prstGeom prst="rect">
            <a:avLst/>
          </a:prstGeom>
          <a:noFill/>
        </p:spPr>
        <p:txBody>
          <a:bodyPr wrap="square" lIns="36000" tIns="18000" rIns="36000" bIns="18000" anchor="t">
            <a:spAutoFit/>
          </a:bodyPr>
          <a:lstStyle/>
          <a:p>
            <a:pPr algn="l"/>
            <a:r>
              <a:rPr sz="800" b="0" i="0">
                <a:solidFill>
                  <a:srgbClr val="42526E"/>
                </a:solidFill>
              </a:rPr>
              <a:t>Real-time grid operations</a:t>
            </a:r>
          </a:p>
        </p:txBody>
      </p:sp>
      <p:sp>
        <p:nvSpPr>
          <p:cNvPr id="30" name="Rounded Rectangle 34">
            <a:extLst>
              <a:ext uri="{FF2B5EF4-FFF2-40B4-BE49-F238E27FC236}">
                <a16:creationId xmlns:a16="http://schemas.microsoft.com/office/drawing/2014/main" id="{90A735BB-C9C9-C80C-A9C1-9BB939A19525}"/>
              </a:ext>
            </a:extLst>
          </p:cNvPr>
          <p:cNvSpPr/>
          <p:nvPr/>
        </p:nvSpPr>
        <p:spPr>
          <a:xfrm>
            <a:off x="502920" y="4331279"/>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5">
            <a:extLst>
              <a:ext uri="{FF2B5EF4-FFF2-40B4-BE49-F238E27FC236}">
                <a16:creationId xmlns:a16="http://schemas.microsoft.com/office/drawing/2014/main" id="{6571928E-25F8-E5E3-F93E-4E079A6D31DF}"/>
              </a:ext>
            </a:extLst>
          </p:cNvPr>
          <p:cNvSpPr txBox="1"/>
          <p:nvPr/>
        </p:nvSpPr>
        <p:spPr>
          <a:xfrm>
            <a:off x="640080" y="4386143"/>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32" name="TextBox 36">
            <a:extLst>
              <a:ext uri="{FF2B5EF4-FFF2-40B4-BE49-F238E27FC236}">
                <a16:creationId xmlns:a16="http://schemas.microsoft.com/office/drawing/2014/main" id="{37BF8FED-889C-2985-6105-C4C00CE15537}"/>
              </a:ext>
            </a:extLst>
          </p:cNvPr>
          <p:cNvSpPr txBox="1"/>
          <p:nvPr/>
        </p:nvSpPr>
        <p:spPr>
          <a:xfrm>
            <a:off x="868680" y="4367855"/>
            <a:ext cx="4960620" cy="201168"/>
          </a:xfrm>
          <a:prstGeom prst="rect">
            <a:avLst/>
          </a:prstGeom>
          <a:noFill/>
        </p:spPr>
        <p:txBody>
          <a:bodyPr wrap="square" lIns="36000" tIns="18000" rIns="36000" bIns="18000" anchor="t">
            <a:spAutoFit/>
          </a:bodyPr>
          <a:lstStyle/>
          <a:p>
            <a:pPr algn="l"/>
            <a:r>
              <a:rPr sz="1100" b="1" i="0">
                <a:solidFill>
                  <a:srgbClr val="172B4D"/>
                </a:solidFill>
              </a:rPr>
              <a:t>Corporate &amp; Regulatory</a:t>
            </a:r>
          </a:p>
        </p:txBody>
      </p:sp>
      <p:sp>
        <p:nvSpPr>
          <p:cNvPr id="33" name="TextBox 37">
            <a:extLst>
              <a:ext uri="{FF2B5EF4-FFF2-40B4-BE49-F238E27FC236}">
                <a16:creationId xmlns:a16="http://schemas.microsoft.com/office/drawing/2014/main" id="{A7DA9DD0-A58F-7C33-E4A3-DF7FAD51505A}"/>
              </a:ext>
            </a:extLst>
          </p:cNvPr>
          <p:cNvSpPr txBox="1"/>
          <p:nvPr/>
        </p:nvSpPr>
        <p:spPr>
          <a:xfrm>
            <a:off x="868680" y="4550735"/>
            <a:ext cx="4960620" cy="164592"/>
          </a:xfrm>
          <a:prstGeom prst="rect">
            <a:avLst/>
          </a:prstGeom>
          <a:noFill/>
        </p:spPr>
        <p:txBody>
          <a:bodyPr wrap="square" lIns="36000" tIns="18000" rIns="36000" bIns="18000" anchor="t">
            <a:spAutoFit/>
          </a:bodyPr>
          <a:lstStyle/>
          <a:p>
            <a:pPr algn="l"/>
            <a:r>
              <a:rPr sz="800" b="0" i="1">
                <a:solidFill>
                  <a:srgbClr val="6B778C"/>
                </a:solidFill>
              </a:rPr>
              <a:t>FI · HR · Procurement · Reg.</a:t>
            </a:r>
          </a:p>
        </p:txBody>
      </p:sp>
      <p:sp>
        <p:nvSpPr>
          <p:cNvPr id="34" name="TextBox 38">
            <a:extLst>
              <a:ext uri="{FF2B5EF4-FFF2-40B4-BE49-F238E27FC236}">
                <a16:creationId xmlns:a16="http://schemas.microsoft.com/office/drawing/2014/main" id="{B2A0FCAB-63B0-9F59-6526-176D40BC77CF}"/>
              </a:ext>
            </a:extLst>
          </p:cNvPr>
          <p:cNvSpPr txBox="1"/>
          <p:nvPr/>
        </p:nvSpPr>
        <p:spPr>
          <a:xfrm>
            <a:off x="868680" y="4715327"/>
            <a:ext cx="4960620" cy="164592"/>
          </a:xfrm>
          <a:prstGeom prst="rect">
            <a:avLst/>
          </a:prstGeom>
          <a:noFill/>
        </p:spPr>
        <p:txBody>
          <a:bodyPr wrap="square" lIns="36000" tIns="18000" rIns="36000" bIns="18000" anchor="t">
            <a:spAutoFit/>
          </a:bodyPr>
          <a:lstStyle/>
          <a:p>
            <a:pPr algn="l"/>
            <a:r>
              <a:rPr sz="800" b="0" i="0">
                <a:solidFill>
                  <a:srgbClr val="42526E"/>
                </a:solidFill>
              </a:rPr>
              <a:t>Corporate functions · compliance</a:t>
            </a:r>
          </a:p>
        </p:txBody>
      </p:sp>
      <p:sp>
        <p:nvSpPr>
          <p:cNvPr id="35" name="Rounded Rectangle 39">
            <a:extLst>
              <a:ext uri="{FF2B5EF4-FFF2-40B4-BE49-F238E27FC236}">
                <a16:creationId xmlns:a16="http://schemas.microsoft.com/office/drawing/2014/main" id="{DCA45741-2B57-07D0-E44E-9925D36923DC}"/>
              </a:ext>
            </a:extLst>
          </p:cNvPr>
          <p:cNvSpPr/>
          <p:nvPr/>
        </p:nvSpPr>
        <p:spPr>
          <a:xfrm>
            <a:off x="502920" y="4989647"/>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0">
            <a:extLst>
              <a:ext uri="{FF2B5EF4-FFF2-40B4-BE49-F238E27FC236}">
                <a16:creationId xmlns:a16="http://schemas.microsoft.com/office/drawing/2014/main" id="{C45B5B00-2EA7-63C0-A783-8E5EFCC40AE2}"/>
              </a:ext>
            </a:extLst>
          </p:cNvPr>
          <p:cNvSpPr txBox="1"/>
          <p:nvPr/>
        </p:nvSpPr>
        <p:spPr>
          <a:xfrm>
            <a:off x="640080" y="5044511"/>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37" name="TextBox 41">
            <a:extLst>
              <a:ext uri="{FF2B5EF4-FFF2-40B4-BE49-F238E27FC236}">
                <a16:creationId xmlns:a16="http://schemas.microsoft.com/office/drawing/2014/main" id="{4AC9480F-06B4-75EC-28D3-8C60F24A2004}"/>
              </a:ext>
            </a:extLst>
          </p:cNvPr>
          <p:cNvSpPr txBox="1"/>
          <p:nvPr/>
        </p:nvSpPr>
        <p:spPr>
          <a:xfrm>
            <a:off x="868680" y="5026223"/>
            <a:ext cx="4960620" cy="201168"/>
          </a:xfrm>
          <a:prstGeom prst="rect">
            <a:avLst/>
          </a:prstGeom>
          <a:noFill/>
        </p:spPr>
        <p:txBody>
          <a:bodyPr wrap="square" lIns="36000" tIns="18000" rIns="36000" bIns="18000" anchor="t">
            <a:spAutoFit/>
          </a:bodyPr>
          <a:lstStyle/>
          <a:p>
            <a:pPr algn="l"/>
            <a:r>
              <a:rPr sz="1100" b="1" i="0">
                <a:solidFill>
                  <a:srgbClr val="172B4D"/>
                </a:solidFill>
              </a:rPr>
              <a:t>Iberdrola Corp Services</a:t>
            </a:r>
          </a:p>
        </p:txBody>
      </p:sp>
      <p:sp>
        <p:nvSpPr>
          <p:cNvPr id="38" name="TextBox 42">
            <a:extLst>
              <a:ext uri="{FF2B5EF4-FFF2-40B4-BE49-F238E27FC236}">
                <a16:creationId xmlns:a16="http://schemas.microsoft.com/office/drawing/2014/main" id="{01BCC4CF-B1C7-5238-441F-63C0B6DFBACE}"/>
              </a:ext>
            </a:extLst>
          </p:cNvPr>
          <p:cNvSpPr txBox="1"/>
          <p:nvPr/>
        </p:nvSpPr>
        <p:spPr>
          <a:xfrm>
            <a:off x="868680" y="5209103"/>
            <a:ext cx="4960620" cy="164592"/>
          </a:xfrm>
          <a:prstGeom prst="rect">
            <a:avLst/>
          </a:prstGeom>
          <a:noFill/>
        </p:spPr>
        <p:txBody>
          <a:bodyPr wrap="square" lIns="36000" tIns="18000" rIns="36000" bIns="18000" anchor="t">
            <a:spAutoFit/>
          </a:bodyPr>
          <a:lstStyle/>
          <a:p>
            <a:pPr algn="l"/>
            <a:r>
              <a:rPr sz="800" b="0" i="1">
                <a:solidFill>
                  <a:srgbClr val="6B778C"/>
                </a:solidFill>
              </a:rPr>
              <a:t>Global SAP · Corp Apps</a:t>
            </a:r>
          </a:p>
        </p:txBody>
      </p:sp>
      <p:sp>
        <p:nvSpPr>
          <p:cNvPr id="39" name="TextBox 43">
            <a:extLst>
              <a:ext uri="{FF2B5EF4-FFF2-40B4-BE49-F238E27FC236}">
                <a16:creationId xmlns:a16="http://schemas.microsoft.com/office/drawing/2014/main" id="{E8F2C86D-7C68-A2E8-8514-1666CD82AA3B}"/>
              </a:ext>
            </a:extLst>
          </p:cNvPr>
          <p:cNvSpPr txBox="1"/>
          <p:nvPr/>
        </p:nvSpPr>
        <p:spPr>
          <a:xfrm>
            <a:off x="868680" y="5373695"/>
            <a:ext cx="4960620" cy="164592"/>
          </a:xfrm>
          <a:prstGeom prst="rect">
            <a:avLst/>
          </a:prstGeom>
          <a:noFill/>
        </p:spPr>
        <p:txBody>
          <a:bodyPr wrap="square" lIns="36000" tIns="18000" rIns="36000" bIns="18000" anchor="t">
            <a:spAutoFit/>
          </a:bodyPr>
          <a:lstStyle/>
          <a:p>
            <a:pPr algn="l"/>
            <a:r>
              <a:rPr sz="800" b="0" i="0">
                <a:solidFill>
                  <a:srgbClr val="42526E"/>
                </a:solidFill>
              </a:rPr>
              <a:t>Iberdrola Spain corporate</a:t>
            </a:r>
          </a:p>
        </p:txBody>
      </p:sp>
      <p:sp>
        <p:nvSpPr>
          <p:cNvPr id="40" name="TextBox 44">
            <a:extLst>
              <a:ext uri="{FF2B5EF4-FFF2-40B4-BE49-F238E27FC236}">
                <a16:creationId xmlns:a16="http://schemas.microsoft.com/office/drawing/2014/main" id="{8CDFD7A0-ADC9-CA5F-360A-C9AC02C65E88}"/>
              </a:ext>
            </a:extLst>
          </p:cNvPr>
          <p:cNvSpPr txBox="1"/>
          <p:nvPr/>
        </p:nvSpPr>
        <p:spPr>
          <a:xfrm>
            <a:off x="502920" y="5419113"/>
            <a:ext cx="5326380" cy="205629"/>
          </a:xfrm>
          <a:prstGeom prst="rect">
            <a:avLst/>
          </a:prstGeom>
          <a:noFill/>
        </p:spPr>
        <p:txBody>
          <a:bodyPr wrap="square" lIns="36000" tIns="18000" rIns="36000" bIns="18000" anchor="ctr">
            <a:spAutoFit/>
          </a:bodyPr>
          <a:lstStyle/>
          <a:p>
            <a:pPr algn="r"/>
            <a:r>
              <a:rPr lang="en-US" sz="1100" b="1">
                <a:solidFill>
                  <a:srgbClr val="172B4D"/>
                </a:solidFill>
              </a:rPr>
              <a:t>→ ITBA Portfolio Board · Carlos owns</a:t>
            </a:r>
          </a:p>
        </p:txBody>
      </p:sp>
      <p:sp>
        <p:nvSpPr>
          <p:cNvPr id="41" name="Rounded Rectangle 45">
            <a:extLst>
              <a:ext uri="{FF2B5EF4-FFF2-40B4-BE49-F238E27FC236}">
                <a16:creationId xmlns:a16="http://schemas.microsoft.com/office/drawing/2014/main" id="{5DB1C508-63EA-18FF-FFCF-6A58A44D181F}"/>
              </a:ext>
            </a:extLst>
          </p:cNvPr>
          <p:cNvSpPr/>
          <p:nvPr/>
        </p:nvSpPr>
        <p:spPr>
          <a:xfrm>
            <a:off x="6240780" y="1807535"/>
            <a:ext cx="5600700" cy="3931920"/>
          </a:xfrm>
          <a:prstGeom prst="roundRect">
            <a:avLst>
              <a:gd name="adj" fmla="val 4000"/>
            </a:avLst>
          </a:prstGeom>
          <a:noFill/>
          <a:ln w="25400">
            <a:solidFill>
              <a:srgbClr val="081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7">
            <a:extLst>
              <a:ext uri="{FF2B5EF4-FFF2-40B4-BE49-F238E27FC236}">
                <a16:creationId xmlns:a16="http://schemas.microsoft.com/office/drawing/2014/main" id="{1151D381-CB3C-A7BF-1B69-9FB9576765E7}"/>
              </a:ext>
            </a:extLst>
          </p:cNvPr>
          <p:cNvSpPr txBox="1"/>
          <p:nvPr/>
        </p:nvSpPr>
        <p:spPr>
          <a:xfrm>
            <a:off x="6377940" y="1880687"/>
            <a:ext cx="5326380" cy="197934"/>
          </a:xfrm>
          <a:prstGeom prst="rect">
            <a:avLst/>
          </a:prstGeom>
          <a:noFill/>
        </p:spPr>
        <p:txBody>
          <a:bodyPr wrap="square" lIns="36000" tIns="18000" rIns="36000" bIns="18000" anchor="t">
            <a:spAutoFit/>
          </a:bodyPr>
          <a:lstStyle/>
          <a:p>
            <a:pPr algn="l"/>
            <a:r>
              <a:rPr lang="en-US" sz="1050" b="1">
                <a:solidFill>
                  <a:srgbClr val="162A4D"/>
                </a:solidFill>
              </a:rPr>
              <a:t>CS · Customer Services Apps · Kumar </a:t>
            </a:r>
            <a:r>
              <a:rPr lang="en-US" sz="1050" b="1" err="1">
                <a:solidFill>
                  <a:srgbClr val="162A4D"/>
                </a:solidFill>
              </a:rPr>
              <a:t>Jaladanki</a:t>
            </a:r>
            <a:r>
              <a:rPr lang="en-US" sz="1050" b="1">
                <a:solidFill>
                  <a:srgbClr val="162A4D"/>
                </a:solidFill>
              </a:rPr>
              <a:t> · 4 </a:t>
            </a:r>
            <a:r>
              <a:rPr lang="en-US" sz="1050" b="1" err="1">
                <a:solidFill>
                  <a:srgbClr val="162A4D"/>
                </a:solidFill>
              </a:rPr>
              <a:t>teams</a:t>
            </a:r>
            <a:r>
              <a:rPr lang="en-US" sz="1050" b="1">
                <a:solidFill>
                  <a:srgbClr val="162A4D"/>
                </a:solidFill>
              </a:rPr>
              <a:t> + Enabling</a:t>
            </a:r>
          </a:p>
        </p:txBody>
      </p:sp>
      <p:sp>
        <p:nvSpPr>
          <p:cNvPr id="44" name="Rounded Rectangle 48">
            <a:extLst>
              <a:ext uri="{FF2B5EF4-FFF2-40B4-BE49-F238E27FC236}">
                <a16:creationId xmlns:a16="http://schemas.microsoft.com/office/drawing/2014/main" id="{09DC397F-0D2E-9E48-2C2D-78FD3D4CC938}"/>
              </a:ext>
            </a:extLst>
          </p:cNvPr>
          <p:cNvSpPr/>
          <p:nvPr/>
        </p:nvSpPr>
        <p:spPr>
          <a:xfrm>
            <a:off x="6377940" y="2356175"/>
            <a:ext cx="5326380" cy="594360"/>
          </a:xfrm>
          <a:prstGeom prst="roundRect">
            <a:avLst>
              <a:gd name="adj" fmla="val 4000"/>
            </a:avLst>
          </a:prstGeom>
          <a:no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9">
            <a:extLst>
              <a:ext uri="{FF2B5EF4-FFF2-40B4-BE49-F238E27FC236}">
                <a16:creationId xmlns:a16="http://schemas.microsoft.com/office/drawing/2014/main" id="{C1D9E278-A45B-B22F-8100-1800D3C63762}"/>
              </a:ext>
            </a:extLst>
          </p:cNvPr>
          <p:cNvSpPr txBox="1"/>
          <p:nvPr/>
        </p:nvSpPr>
        <p:spPr>
          <a:xfrm>
            <a:off x="6515100" y="2411039"/>
            <a:ext cx="274320" cy="201168"/>
          </a:xfrm>
          <a:prstGeom prst="rect">
            <a:avLst/>
          </a:prstGeom>
          <a:noFill/>
        </p:spPr>
        <p:txBody>
          <a:bodyPr wrap="square" lIns="36000" tIns="18000" rIns="36000" bIns="18000" anchor="t">
            <a:spAutoFit/>
          </a:bodyPr>
          <a:lstStyle/>
          <a:p>
            <a:pPr algn="l"/>
            <a:r>
              <a:rPr sz="1400" b="1" i="0">
                <a:solidFill>
                  <a:srgbClr val="006B3F"/>
                </a:solidFill>
              </a:rPr>
              <a:t>●</a:t>
            </a:r>
          </a:p>
        </p:txBody>
      </p:sp>
      <p:sp>
        <p:nvSpPr>
          <p:cNvPr id="46" name="TextBox 50">
            <a:extLst>
              <a:ext uri="{FF2B5EF4-FFF2-40B4-BE49-F238E27FC236}">
                <a16:creationId xmlns:a16="http://schemas.microsoft.com/office/drawing/2014/main" id="{CE963FE5-66EC-BB6D-106E-6B47578969AF}"/>
              </a:ext>
            </a:extLst>
          </p:cNvPr>
          <p:cNvSpPr txBox="1"/>
          <p:nvPr/>
        </p:nvSpPr>
        <p:spPr>
          <a:xfrm>
            <a:off x="6743700" y="2392751"/>
            <a:ext cx="4960620" cy="205629"/>
          </a:xfrm>
          <a:prstGeom prst="rect">
            <a:avLst/>
          </a:prstGeom>
          <a:noFill/>
        </p:spPr>
        <p:txBody>
          <a:bodyPr wrap="square" lIns="36000" tIns="18000" rIns="36000" bIns="18000" anchor="t">
            <a:spAutoFit/>
          </a:bodyPr>
          <a:lstStyle/>
          <a:p>
            <a:pPr algn="l"/>
            <a:r>
              <a:rPr lang="en-US" sz="1100" b="1">
                <a:solidFill>
                  <a:srgbClr val="172B4D"/>
                </a:solidFill>
              </a:rPr>
              <a:t>Meter &amp; Device Operations</a:t>
            </a:r>
          </a:p>
        </p:txBody>
      </p:sp>
      <p:sp>
        <p:nvSpPr>
          <p:cNvPr id="47" name="TextBox 51">
            <a:extLst>
              <a:ext uri="{FF2B5EF4-FFF2-40B4-BE49-F238E27FC236}">
                <a16:creationId xmlns:a16="http://schemas.microsoft.com/office/drawing/2014/main" id="{5B5BC412-84C4-2632-53EA-4AFC26FD814B}"/>
              </a:ext>
            </a:extLst>
          </p:cNvPr>
          <p:cNvSpPr txBox="1"/>
          <p:nvPr/>
        </p:nvSpPr>
        <p:spPr>
          <a:xfrm>
            <a:off x="6743700" y="2575631"/>
            <a:ext cx="4960620" cy="164592"/>
          </a:xfrm>
          <a:prstGeom prst="rect">
            <a:avLst/>
          </a:prstGeom>
          <a:noFill/>
        </p:spPr>
        <p:txBody>
          <a:bodyPr wrap="square" lIns="36000" tIns="18000" rIns="36000" bIns="18000" anchor="t">
            <a:spAutoFit/>
          </a:bodyPr>
          <a:lstStyle/>
          <a:p>
            <a:pPr algn="l"/>
            <a:r>
              <a:rPr sz="800" b="0" i="1">
                <a:solidFill>
                  <a:srgbClr val="6B778C"/>
                </a:solidFill>
              </a:rPr>
              <a:t>Smart Metering · MDM · IS-U Device · 8760 EDI</a:t>
            </a:r>
          </a:p>
        </p:txBody>
      </p:sp>
      <p:sp>
        <p:nvSpPr>
          <p:cNvPr id="48" name="TextBox 52">
            <a:extLst>
              <a:ext uri="{FF2B5EF4-FFF2-40B4-BE49-F238E27FC236}">
                <a16:creationId xmlns:a16="http://schemas.microsoft.com/office/drawing/2014/main" id="{D31E4F49-C83B-B67F-8CB8-26FE19F27001}"/>
              </a:ext>
            </a:extLst>
          </p:cNvPr>
          <p:cNvSpPr txBox="1"/>
          <p:nvPr/>
        </p:nvSpPr>
        <p:spPr>
          <a:xfrm>
            <a:off x="6743700" y="2740223"/>
            <a:ext cx="4960620" cy="164592"/>
          </a:xfrm>
          <a:prstGeom prst="rect">
            <a:avLst/>
          </a:prstGeom>
          <a:noFill/>
        </p:spPr>
        <p:txBody>
          <a:bodyPr wrap="square" lIns="36000" tIns="18000" rIns="36000" bIns="18000" anchor="t">
            <a:spAutoFit/>
          </a:bodyPr>
          <a:lstStyle/>
          <a:p>
            <a:pPr algn="l"/>
            <a:r>
              <a:rPr sz="800" b="0" i="0">
                <a:solidFill>
                  <a:srgbClr val="42526E"/>
                </a:solidFill>
              </a:rPr>
              <a:t>Capture every read · zero data loss</a:t>
            </a:r>
          </a:p>
        </p:txBody>
      </p:sp>
      <p:sp>
        <p:nvSpPr>
          <p:cNvPr id="49" name="Rounded Rectangle 53">
            <a:extLst>
              <a:ext uri="{FF2B5EF4-FFF2-40B4-BE49-F238E27FC236}">
                <a16:creationId xmlns:a16="http://schemas.microsoft.com/office/drawing/2014/main" id="{D0D09FDA-673A-49AF-E80E-45EE5ED32B83}"/>
              </a:ext>
            </a:extLst>
          </p:cNvPr>
          <p:cNvSpPr/>
          <p:nvPr/>
        </p:nvSpPr>
        <p:spPr>
          <a:xfrm>
            <a:off x="6377940" y="3014543"/>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54">
            <a:extLst>
              <a:ext uri="{FF2B5EF4-FFF2-40B4-BE49-F238E27FC236}">
                <a16:creationId xmlns:a16="http://schemas.microsoft.com/office/drawing/2014/main" id="{1363982A-68CA-A5C1-1BB5-44DA84563B1D}"/>
              </a:ext>
            </a:extLst>
          </p:cNvPr>
          <p:cNvSpPr txBox="1"/>
          <p:nvPr/>
        </p:nvSpPr>
        <p:spPr>
          <a:xfrm>
            <a:off x="6515100" y="3069407"/>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51" name="TextBox 55">
            <a:extLst>
              <a:ext uri="{FF2B5EF4-FFF2-40B4-BE49-F238E27FC236}">
                <a16:creationId xmlns:a16="http://schemas.microsoft.com/office/drawing/2014/main" id="{F6EBA4E8-7430-9F39-D9A8-20C09BD1201A}"/>
              </a:ext>
            </a:extLst>
          </p:cNvPr>
          <p:cNvSpPr txBox="1"/>
          <p:nvPr/>
        </p:nvSpPr>
        <p:spPr>
          <a:xfrm>
            <a:off x="6743700" y="3051119"/>
            <a:ext cx="4960620" cy="205629"/>
          </a:xfrm>
          <a:prstGeom prst="rect">
            <a:avLst/>
          </a:prstGeom>
          <a:noFill/>
        </p:spPr>
        <p:txBody>
          <a:bodyPr wrap="square" lIns="36000" tIns="18000" rIns="36000" bIns="18000" anchor="t">
            <a:spAutoFit/>
          </a:bodyPr>
          <a:lstStyle/>
          <a:p>
            <a:pPr algn="l"/>
            <a:r>
              <a:rPr lang="en-US" sz="1100" b="1">
                <a:solidFill>
                  <a:srgbClr val="172B4D"/>
                </a:solidFill>
              </a:rPr>
              <a:t>Billing &amp; Retail Operations</a:t>
            </a:r>
          </a:p>
        </p:txBody>
      </p:sp>
      <p:sp>
        <p:nvSpPr>
          <p:cNvPr id="52" name="TextBox 56">
            <a:extLst>
              <a:ext uri="{FF2B5EF4-FFF2-40B4-BE49-F238E27FC236}">
                <a16:creationId xmlns:a16="http://schemas.microsoft.com/office/drawing/2014/main" id="{4C549AF6-6D6D-C078-D8E3-2757850369BA}"/>
              </a:ext>
            </a:extLst>
          </p:cNvPr>
          <p:cNvSpPr txBox="1"/>
          <p:nvPr/>
        </p:nvSpPr>
        <p:spPr>
          <a:xfrm>
            <a:off x="6743700" y="3233999"/>
            <a:ext cx="4960620" cy="164592"/>
          </a:xfrm>
          <a:prstGeom prst="rect">
            <a:avLst/>
          </a:prstGeom>
          <a:noFill/>
        </p:spPr>
        <p:txBody>
          <a:bodyPr wrap="square" lIns="36000" tIns="18000" rIns="36000" bIns="18000" anchor="t">
            <a:spAutoFit/>
          </a:bodyPr>
          <a:lstStyle/>
          <a:p>
            <a:pPr algn="l"/>
            <a:r>
              <a:rPr sz="800" b="0" i="1">
                <a:solidFill>
                  <a:srgbClr val="6B778C"/>
                </a:solidFill>
              </a:rPr>
              <a:t>SAP ECC (FI/SD) · Streamserve · OpenText</a:t>
            </a:r>
          </a:p>
        </p:txBody>
      </p:sp>
      <p:sp>
        <p:nvSpPr>
          <p:cNvPr id="53" name="TextBox 57">
            <a:extLst>
              <a:ext uri="{FF2B5EF4-FFF2-40B4-BE49-F238E27FC236}">
                <a16:creationId xmlns:a16="http://schemas.microsoft.com/office/drawing/2014/main" id="{AF174F34-A305-F2A5-2B9A-6059964ED653}"/>
              </a:ext>
            </a:extLst>
          </p:cNvPr>
          <p:cNvSpPr txBox="1"/>
          <p:nvPr/>
        </p:nvSpPr>
        <p:spPr>
          <a:xfrm>
            <a:off x="6743700" y="3398591"/>
            <a:ext cx="4960620" cy="164592"/>
          </a:xfrm>
          <a:prstGeom prst="rect">
            <a:avLst/>
          </a:prstGeom>
          <a:noFill/>
        </p:spPr>
        <p:txBody>
          <a:bodyPr wrap="square" lIns="36000" tIns="18000" rIns="36000" bIns="18000" anchor="t">
            <a:spAutoFit/>
          </a:bodyPr>
          <a:lstStyle/>
          <a:p>
            <a:pPr algn="l"/>
            <a:r>
              <a:rPr sz="800" b="0" i="0">
                <a:solidFill>
                  <a:srgbClr val="42526E"/>
                </a:solidFill>
              </a:rPr>
              <a:t>Bill on time · every OPCO · every day</a:t>
            </a:r>
          </a:p>
        </p:txBody>
      </p:sp>
      <p:sp>
        <p:nvSpPr>
          <p:cNvPr id="54" name="Rounded Rectangle 58">
            <a:extLst>
              <a:ext uri="{FF2B5EF4-FFF2-40B4-BE49-F238E27FC236}">
                <a16:creationId xmlns:a16="http://schemas.microsoft.com/office/drawing/2014/main" id="{38755225-3376-128E-EA92-AFE8C0F9ADD6}"/>
              </a:ext>
            </a:extLst>
          </p:cNvPr>
          <p:cNvSpPr/>
          <p:nvPr/>
        </p:nvSpPr>
        <p:spPr>
          <a:xfrm>
            <a:off x="6377940" y="3672911"/>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9">
            <a:extLst>
              <a:ext uri="{FF2B5EF4-FFF2-40B4-BE49-F238E27FC236}">
                <a16:creationId xmlns:a16="http://schemas.microsoft.com/office/drawing/2014/main" id="{25A9AAB1-08C0-CDA3-EF56-F3CE55B9427F}"/>
              </a:ext>
            </a:extLst>
          </p:cNvPr>
          <p:cNvSpPr txBox="1"/>
          <p:nvPr/>
        </p:nvSpPr>
        <p:spPr>
          <a:xfrm>
            <a:off x="6515100" y="3727775"/>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00" name="TextBox 60">
            <a:extLst>
              <a:ext uri="{FF2B5EF4-FFF2-40B4-BE49-F238E27FC236}">
                <a16:creationId xmlns:a16="http://schemas.microsoft.com/office/drawing/2014/main" id="{053CF82D-265D-5E2B-570E-4FCE34DB8DBC}"/>
              </a:ext>
            </a:extLst>
          </p:cNvPr>
          <p:cNvSpPr txBox="1"/>
          <p:nvPr/>
        </p:nvSpPr>
        <p:spPr>
          <a:xfrm>
            <a:off x="6743700" y="3709487"/>
            <a:ext cx="4960620" cy="205629"/>
          </a:xfrm>
          <a:prstGeom prst="rect">
            <a:avLst/>
          </a:prstGeom>
          <a:noFill/>
        </p:spPr>
        <p:txBody>
          <a:bodyPr wrap="square" lIns="36000" tIns="18000" rIns="36000" bIns="18000" anchor="t">
            <a:spAutoFit/>
          </a:bodyPr>
          <a:lstStyle/>
          <a:p>
            <a:r>
              <a:rPr lang="en-US" sz="1100" b="1">
                <a:solidFill>
                  <a:srgbClr val="172B4D"/>
                </a:solidFill>
              </a:rPr>
              <a:t>Revenue &amp; Collections</a:t>
            </a:r>
          </a:p>
        </p:txBody>
      </p:sp>
      <p:sp>
        <p:nvSpPr>
          <p:cNvPr id="101" name="TextBox 61">
            <a:extLst>
              <a:ext uri="{FF2B5EF4-FFF2-40B4-BE49-F238E27FC236}">
                <a16:creationId xmlns:a16="http://schemas.microsoft.com/office/drawing/2014/main" id="{102D0642-B359-4B0B-1C99-E8249474F53F}"/>
              </a:ext>
            </a:extLst>
          </p:cNvPr>
          <p:cNvSpPr txBox="1"/>
          <p:nvPr/>
        </p:nvSpPr>
        <p:spPr>
          <a:xfrm>
            <a:off x="6743700" y="3892367"/>
            <a:ext cx="4960620" cy="164592"/>
          </a:xfrm>
          <a:prstGeom prst="rect">
            <a:avLst/>
          </a:prstGeom>
          <a:noFill/>
        </p:spPr>
        <p:txBody>
          <a:bodyPr wrap="square" lIns="36000" tIns="18000" rIns="36000" bIns="18000" anchor="t">
            <a:spAutoFit/>
          </a:bodyPr>
          <a:lstStyle/>
          <a:p>
            <a:pPr algn="l"/>
            <a:r>
              <a:rPr sz="800" b="0" i="1">
                <a:solidFill>
                  <a:srgbClr val="6B778C"/>
                </a:solidFill>
              </a:rPr>
              <a:t>SAP FICA · SOVOS Taxware · Payment</a:t>
            </a:r>
          </a:p>
        </p:txBody>
      </p:sp>
      <p:sp>
        <p:nvSpPr>
          <p:cNvPr id="102" name="TextBox 62">
            <a:extLst>
              <a:ext uri="{FF2B5EF4-FFF2-40B4-BE49-F238E27FC236}">
                <a16:creationId xmlns:a16="http://schemas.microsoft.com/office/drawing/2014/main" id="{578D73FA-3833-C13C-21C1-593B4E33CEB7}"/>
              </a:ext>
            </a:extLst>
          </p:cNvPr>
          <p:cNvSpPr txBox="1"/>
          <p:nvPr/>
        </p:nvSpPr>
        <p:spPr>
          <a:xfrm>
            <a:off x="6743700" y="4056959"/>
            <a:ext cx="4960620" cy="164592"/>
          </a:xfrm>
          <a:prstGeom prst="rect">
            <a:avLst/>
          </a:prstGeom>
          <a:noFill/>
        </p:spPr>
        <p:txBody>
          <a:bodyPr wrap="square" lIns="36000" tIns="18000" rIns="36000" bIns="18000" anchor="t">
            <a:spAutoFit/>
          </a:bodyPr>
          <a:lstStyle/>
          <a:p>
            <a:pPr algn="l"/>
            <a:r>
              <a:rPr sz="800" b="0" i="0">
                <a:solidFill>
                  <a:srgbClr val="42526E"/>
                </a:solidFill>
              </a:rPr>
              <a:t>Convert invoices into cash · comply</a:t>
            </a:r>
          </a:p>
        </p:txBody>
      </p:sp>
      <p:sp>
        <p:nvSpPr>
          <p:cNvPr id="103" name="Rounded Rectangle 63">
            <a:extLst>
              <a:ext uri="{FF2B5EF4-FFF2-40B4-BE49-F238E27FC236}">
                <a16:creationId xmlns:a16="http://schemas.microsoft.com/office/drawing/2014/main" id="{C19247D9-11F6-81BB-374C-ACFDB95C4F02}"/>
              </a:ext>
            </a:extLst>
          </p:cNvPr>
          <p:cNvSpPr/>
          <p:nvPr/>
        </p:nvSpPr>
        <p:spPr>
          <a:xfrm>
            <a:off x="6377940" y="4331279"/>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64">
            <a:extLst>
              <a:ext uri="{FF2B5EF4-FFF2-40B4-BE49-F238E27FC236}">
                <a16:creationId xmlns:a16="http://schemas.microsoft.com/office/drawing/2014/main" id="{578315F1-189F-52CF-B05E-C35AFAE26C24}"/>
              </a:ext>
            </a:extLst>
          </p:cNvPr>
          <p:cNvSpPr txBox="1"/>
          <p:nvPr/>
        </p:nvSpPr>
        <p:spPr>
          <a:xfrm>
            <a:off x="6515100" y="4386143"/>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05" name="TextBox 65">
            <a:extLst>
              <a:ext uri="{FF2B5EF4-FFF2-40B4-BE49-F238E27FC236}">
                <a16:creationId xmlns:a16="http://schemas.microsoft.com/office/drawing/2014/main" id="{D214D2E5-E31C-D600-7A6F-38D9B66D3AC1}"/>
              </a:ext>
            </a:extLst>
          </p:cNvPr>
          <p:cNvSpPr txBox="1"/>
          <p:nvPr/>
        </p:nvSpPr>
        <p:spPr>
          <a:xfrm>
            <a:off x="6743700" y="4367855"/>
            <a:ext cx="4960620" cy="205629"/>
          </a:xfrm>
          <a:prstGeom prst="rect">
            <a:avLst/>
          </a:prstGeom>
          <a:noFill/>
        </p:spPr>
        <p:txBody>
          <a:bodyPr wrap="square" lIns="36000" tIns="18000" rIns="36000" bIns="18000" anchor="t">
            <a:spAutoFit/>
          </a:bodyPr>
          <a:lstStyle/>
          <a:p>
            <a:r>
              <a:rPr lang="en-US" sz="1100" b="1">
                <a:solidFill>
                  <a:srgbClr val="172B4D"/>
                </a:solidFill>
              </a:rPr>
              <a:t>Customer Care &amp; Engagement</a:t>
            </a:r>
          </a:p>
        </p:txBody>
      </p:sp>
      <p:sp>
        <p:nvSpPr>
          <p:cNvPr id="106" name="TextBox 66">
            <a:extLst>
              <a:ext uri="{FF2B5EF4-FFF2-40B4-BE49-F238E27FC236}">
                <a16:creationId xmlns:a16="http://schemas.microsoft.com/office/drawing/2014/main" id="{8AC13404-9575-FDB2-8ACB-194932D55BF7}"/>
              </a:ext>
            </a:extLst>
          </p:cNvPr>
          <p:cNvSpPr txBox="1"/>
          <p:nvPr/>
        </p:nvSpPr>
        <p:spPr>
          <a:xfrm>
            <a:off x="6743700" y="4550735"/>
            <a:ext cx="4960620" cy="164592"/>
          </a:xfrm>
          <a:prstGeom prst="rect">
            <a:avLst/>
          </a:prstGeom>
          <a:noFill/>
        </p:spPr>
        <p:txBody>
          <a:bodyPr wrap="square" lIns="36000" tIns="18000" rIns="36000" bIns="18000" anchor="t">
            <a:spAutoFit/>
          </a:bodyPr>
          <a:lstStyle/>
          <a:p>
            <a:pPr algn="l"/>
            <a:r>
              <a:rPr sz="800" b="0" i="1">
                <a:solidFill>
                  <a:srgbClr val="6B778C"/>
                </a:solidFill>
              </a:rPr>
              <a:t>SAP CRM · Genesys · Nuance IVR · Medallia</a:t>
            </a:r>
          </a:p>
        </p:txBody>
      </p:sp>
      <p:sp>
        <p:nvSpPr>
          <p:cNvPr id="107" name="TextBox 67">
            <a:extLst>
              <a:ext uri="{FF2B5EF4-FFF2-40B4-BE49-F238E27FC236}">
                <a16:creationId xmlns:a16="http://schemas.microsoft.com/office/drawing/2014/main" id="{A341961C-2AB4-30DE-DAAF-7E6A0B1E15ED}"/>
              </a:ext>
            </a:extLst>
          </p:cNvPr>
          <p:cNvSpPr txBox="1"/>
          <p:nvPr/>
        </p:nvSpPr>
        <p:spPr>
          <a:xfrm>
            <a:off x="6743700" y="4715327"/>
            <a:ext cx="4960620" cy="164592"/>
          </a:xfrm>
          <a:prstGeom prst="rect">
            <a:avLst/>
          </a:prstGeom>
          <a:noFill/>
        </p:spPr>
        <p:txBody>
          <a:bodyPr wrap="square" lIns="36000" tIns="18000" rIns="36000" bIns="18000" anchor="t">
            <a:spAutoFit/>
          </a:bodyPr>
          <a:lstStyle/>
          <a:p>
            <a:pPr algn="l"/>
            <a:r>
              <a:rPr sz="800" b="0" i="0">
                <a:solidFill>
                  <a:srgbClr val="42526E"/>
                </a:solidFill>
              </a:rPr>
              <a:t>Resolve interactions on first contact</a:t>
            </a:r>
          </a:p>
        </p:txBody>
      </p:sp>
      <p:sp>
        <p:nvSpPr>
          <p:cNvPr id="108" name="Rounded Rectangle 68">
            <a:extLst>
              <a:ext uri="{FF2B5EF4-FFF2-40B4-BE49-F238E27FC236}">
                <a16:creationId xmlns:a16="http://schemas.microsoft.com/office/drawing/2014/main" id="{7E5EFAA7-36EE-028E-B3C9-E0A77F79B588}"/>
              </a:ext>
            </a:extLst>
          </p:cNvPr>
          <p:cNvSpPr/>
          <p:nvPr/>
        </p:nvSpPr>
        <p:spPr>
          <a:xfrm>
            <a:off x="6377940" y="4989647"/>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69">
            <a:extLst>
              <a:ext uri="{FF2B5EF4-FFF2-40B4-BE49-F238E27FC236}">
                <a16:creationId xmlns:a16="http://schemas.microsoft.com/office/drawing/2014/main" id="{100E97A3-782E-AFFA-497B-A508F7DF8B5F}"/>
              </a:ext>
            </a:extLst>
          </p:cNvPr>
          <p:cNvSpPr txBox="1"/>
          <p:nvPr/>
        </p:nvSpPr>
        <p:spPr>
          <a:xfrm>
            <a:off x="6515100" y="5044511"/>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10" name="TextBox 70">
            <a:extLst>
              <a:ext uri="{FF2B5EF4-FFF2-40B4-BE49-F238E27FC236}">
                <a16:creationId xmlns:a16="http://schemas.microsoft.com/office/drawing/2014/main" id="{20BA77E4-F3FC-32DE-262A-D6D270A5DEB8}"/>
              </a:ext>
            </a:extLst>
          </p:cNvPr>
          <p:cNvSpPr txBox="1"/>
          <p:nvPr/>
        </p:nvSpPr>
        <p:spPr>
          <a:xfrm>
            <a:off x="6743700" y="5026223"/>
            <a:ext cx="4960620" cy="205629"/>
          </a:xfrm>
          <a:prstGeom prst="rect">
            <a:avLst/>
          </a:prstGeom>
          <a:noFill/>
        </p:spPr>
        <p:txBody>
          <a:bodyPr wrap="square" lIns="36000" tIns="18000" rIns="36000" bIns="18000" anchor="t">
            <a:spAutoFit/>
          </a:bodyPr>
          <a:lstStyle/>
          <a:p>
            <a:r>
              <a:rPr lang="en-US" sz="1100" b="1">
                <a:solidFill>
                  <a:srgbClr val="172B4D"/>
                </a:solidFill>
              </a:rPr>
              <a:t>Enabling Team — Foundation Services</a:t>
            </a:r>
          </a:p>
        </p:txBody>
      </p:sp>
      <p:sp>
        <p:nvSpPr>
          <p:cNvPr id="131" name="TextBox 71">
            <a:extLst>
              <a:ext uri="{FF2B5EF4-FFF2-40B4-BE49-F238E27FC236}">
                <a16:creationId xmlns:a16="http://schemas.microsoft.com/office/drawing/2014/main" id="{9DCA20EE-BC52-74AF-3CF5-DAB5421C7FA5}"/>
              </a:ext>
            </a:extLst>
          </p:cNvPr>
          <p:cNvSpPr txBox="1"/>
          <p:nvPr/>
        </p:nvSpPr>
        <p:spPr>
          <a:xfrm>
            <a:off x="6743700" y="5209103"/>
            <a:ext cx="4960620" cy="164592"/>
          </a:xfrm>
          <a:prstGeom prst="rect">
            <a:avLst/>
          </a:prstGeom>
          <a:noFill/>
        </p:spPr>
        <p:txBody>
          <a:bodyPr wrap="square" lIns="36000" tIns="18000" rIns="36000" bIns="18000" anchor="t">
            <a:spAutoFit/>
          </a:bodyPr>
          <a:lstStyle/>
          <a:p>
            <a:pPr algn="l"/>
            <a:r>
              <a:rPr sz="800" b="0" i="1">
                <a:solidFill>
                  <a:srgbClr val="6B778C"/>
                </a:solidFill>
              </a:rPr>
              <a:t>Basis · Gold Client · Blue Prism · TOSCA · Jira (no PM)</a:t>
            </a:r>
          </a:p>
        </p:txBody>
      </p:sp>
      <p:sp>
        <p:nvSpPr>
          <p:cNvPr id="132" name="TextBox 72">
            <a:extLst>
              <a:ext uri="{FF2B5EF4-FFF2-40B4-BE49-F238E27FC236}">
                <a16:creationId xmlns:a16="http://schemas.microsoft.com/office/drawing/2014/main" id="{B7EE93C4-20DB-DF7F-4322-4518E855111A}"/>
              </a:ext>
            </a:extLst>
          </p:cNvPr>
          <p:cNvSpPr txBox="1"/>
          <p:nvPr/>
        </p:nvSpPr>
        <p:spPr>
          <a:xfrm>
            <a:off x="6743700" y="5373695"/>
            <a:ext cx="4960620" cy="164592"/>
          </a:xfrm>
          <a:prstGeom prst="rect">
            <a:avLst/>
          </a:prstGeom>
          <a:noFill/>
        </p:spPr>
        <p:txBody>
          <a:bodyPr wrap="square" lIns="36000" tIns="18000" rIns="36000" bIns="18000" anchor="t">
            <a:spAutoFit/>
          </a:bodyPr>
          <a:lstStyle/>
          <a:p>
            <a:pPr algn="l"/>
            <a:r>
              <a:rPr sz="800" b="0" i="0">
                <a:solidFill>
                  <a:srgbClr val="42526E"/>
                </a:solidFill>
              </a:rPr>
              <a:t>Shared services for the 4 DVS</a:t>
            </a:r>
          </a:p>
        </p:txBody>
      </p:sp>
      <p:sp>
        <p:nvSpPr>
          <p:cNvPr id="133" name="TextBox 73">
            <a:extLst>
              <a:ext uri="{FF2B5EF4-FFF2-40B4-BE49-F238E27FC236}">
                <a16:creationId xmlns:a16="http://schemas.microsoft.com/office/drawing/2014/main" id="{E4D43F50-5FF9-8F20-1B0B-21EF741DE496}"/>
              </a:ext>
            </a:extLst>
          </p:cNvPr>
          <p:cNvSpPr txBox="1"/>
          <p:nvPr/>
        </p:nvSpPr>
        <p:spPr>
          <a:xfrm>
            <a:off x="6377940" y="5421378"/>
            <a:ext cx="5326380" cy="205629"/>
          </a:xfrm>
          <a:prstGeom prst="rect">
            <a:avLst/>
          </a:prstGeom>
          <a:noFill/>
        </p:spPr>
        <p:txBody>
          <a:bodyPr wrap="square" lIns="36000" tIns="18000" rIns="36000" bIns="18000" anchor="ctr">
            <a:spAutoFit/>
          </a:bodyPr>
          <a:lstStyle/>
          <a:p>
            <a:pPr algn="r"/>
            <a:r>
              <a:rPr lang="en-US" sz="1100" b="1">
                <a:solidFill>
                  <a:srgbClr val="172B4D"/>
                </a:solidFill>
              </a:rPr>
              <a:t>→ CS Portfolio Board · Kumar owns</a:t>
            </a:r>
          </a:p>
        </p:txBody>
      </p:sp>
      <p:sp>
        <p:nvSpPr>
          <p:cNvPr id="134" name="Rounded Rectangle 74">
            <a:extLst>
              <a:ext uri="{FF2B5EF4-FFF2-40B4-BE49-F238E27FC236}">
                <a16:creationId xmlns:a16="http://schemas.microsoft.com/office/drawing/2014/main" id="{2AAC6324-4CC6-F7A2-1F20-6B4A2FE43850}"/>
              </a:ext>
            </a:extLst>
          </p:cNvPr>
          <p:cNvSpPr/>
          <p:nvPr/>
        </p:nvSpPr>
        <p:spPr>
          <a:xfrm>
            <a:off x="365760" y="5976561"/>
            <a:ext cx="5650992" cy="471856"/>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75">
            <a:extLst>
              <a:ext uri="{FF2B5EF4-FFF2-40B4-BE49-F238E27FC236}">
                <a16:creationId xmlns:a16="http://schemas.microsoft.com/office/drawing/2014/main" id="{1BAD11A4-14AA-E7C0-C271-DC776ED09C21}"/>
              </a:ext>
            </a:extLst>
          </p:cNvPr>
          <p:cNvSpPr txBox="1"/>
          <p:nvPr/>
        </p:nvSpPr>
        <p:spPr>
          <a:xfrm>
            <a:off x="502920" y="6013137"/>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36" name="TextBox 76">
            <a:extLst>
              <a:ext uri="{FF2B5EF4-FFF2-40B4-BE49-F238E27FC236}">
                <a16:creationId xmlns:a16="http://schemas.microsoft.com/office/drawing/2014/main" id="{74109904-BF56-9801-8DC2-0580E5910AA8}"/>
              </a:ext>
            </a:extLst>
          </p:cNvPr>
          <p:cNvSpPr txBox="1"/>
          <p:nvPr/>
        </p:nvSpPr>
        <p:spPr>
          <a:xfrm>
            <a:off x="502920" y="6159441"/>
            <a:ext cx="5394960" cy="313350"/>
          </a:xfrm>
          <a:prstGeom prst="rect">
            <a:avLst/>
          </a:prstGeom>
          <a:noFill/>
        </p:spPr>
        <p:txBody>
          <a:bodyPr wrap="square" lIns="36000" tIns="18000" rIns="36000" bIns="18000" anchor="t">
            <a:spAutoFit/>
          </a:bodyPr>
          <a:lstStyle/>
          <a:p>
            <a:r>
              <a:rPr lang="pt-BR" sz="900" err="1">
                <a:solidFill>
                  <a:srgbClr val="172B4D"/>
                </a:solidFill>
              </a:rPr>
              <a:t>If</a:t>
            </a:r>
            <a:r>
              <a:rPr lang="pt-BR" sz="900">
                <a:solidFill>
                  <a:srgbClr val="172B4D"/>
                </a:solidFill>
              </a:rPr>
              <a:t> </a:t>
            </a:r>
            <a:r>
              <a:rPr lang="pt-BR" sz="900" err="1">
                <a:solidFill>
                  <a:srgbClr val="172B4D"/>
                </a:solidFill>
              </a:rPr>
              <a:t>Product</a:t>
            </a:r>
            <a:r>
              <a:rPr lang="pt-BR" sz="900">
                <a:solidFill>
                  <a:srgbClr val="172B4D"/>
                </a:solidFill>
              </a:rPr>
              <a:t> Manager </a:t>
            </a:r>
            <a:r>
              <a:rPr lang="pt-BR" sz="900" err="1">
                <a:solidFill>
                  <a:srgbClr val="172B4D"/>
                </a:solidFill>
              </a:rPr>
              <a:t>never</a:t>
            </a:r>
            <a:r>
              <a:rPr lang="pt-BR" sz="900">
                <a:solidFill>
                  <a:srgbClr val="172B4D"/>
                </a:solidFill>
              </a:rPr>
              <a:t> </a:t>
            </a:r>
            <a:r>
              <a:rPr lang="pt-BR" sz="900" err="1">
                <a:solidFill>
                  <a:srgbClr val="172B4D"/>
                </a:solidFill>
              </a:rPr>
              <a:t>gets</a:t>
            </a:r>
            <a:r>
              <a:rPr lang="pt-BR" sz="900">
                <a:solidFill>
                  <a:srgbClr val="172B4D"/>
                </a:solidFill>
              </a:rPr>
              <a:t> </a:t>
            </a:r>
            <a:r>
              <a:rPr lang="pt-BR" sz="900" err="1">
                <a:solidFill>
                  <a:srgbClr val="172B4D"/>
                </a:solidFill>
              </a:rPr>
              <a:t>notified</a:t>
            </a:r>
            <a:r>
              <a:rPr lang="pt-BR" sz="900">
                <a:solidFill>
                  <a:srgbClr val="172B4D"/>
                </a:solidFill>
              </a:rPr>
              <a:t> </a:t>
            </a:r>
            <a:r>
              <a:rPr lang="pt-BR" sz="900" err="1">
                <a:solidFill>
                  <a:srgbClr val="172B4D"/>
                </a:solidFill>
              </a:rPr>
              <a:t>so</a:t>
            </a:r>
            <a:r>
              <a:rPr lang="pt-BR" sz="900">
                <a:solidFill>
                  <a:srgbClr val="172B4D"/>
                </a:solidFill>
              </a:rPr>
              <a:t> </a:t>
            </a:r>
            <a:r>
              <a:rPr lang="pt-BR" sz="900" err="1">
                <a:solidFill>
                  <a:srgbClr val="172B4D"/>
                </a:solidFill>
              </a:rPr>
              <a:t>the</a:t>
            </a:r>
            <a:r>
              <a:rPr lang="pt-BR" sz="900">
                <a:solidFill>
                  <a:srgbClr val="172B4D"/>
                </a:solidFill>
              </a:rPr>
              <a:t> </a:t>
            </a:r>
            <a:r>
              <a:rPr lang="pt-BR" sz="900" err="1">
                <a:solidFill>
                  <a:srgbClr val="172B4D"/>
                </a:solidFill>
              </a:rPr>
              <a:t>Triage</a:t>
            </a:r>
            <a:r>
              <a:rPr lang="pt-BR" sz="900">
                <a:solidFill>
                  <a:srgbClr val="172B4D"/>
                </a:solidFill>
              </a:rPr>
              <a:t> </a:t>
            </a:r>
            <a:r>
              <a:rPr lang="pt-BR" sz="900" err="1">
                <a:solidFill>
                  <a:srgbClr val="172B4D"/>
                </a:solidFill>
              </a:rPr>
              <a:t>never</a:t>
            </a:r>
            <a:r>
              <a:rPr lang="pt-BR" sz="900">
                <a:solidFill>
                  <a:srgbClr val="172B4D"/>
                </a:solidFill>
              </a:rPr>
              <a:t> </a:t>
            </a:r>
            <a:r>
              <a:rPr lang="pt-BR" sz="900" err="1">
                <a:solidFill>
                  <a:srgbClr val="172B4D"/>
                </a:solidFill>
              </a:rPr>
              <a:t>happens</a:t>
            </a:r>
            <a:r>
              <a:rPr lang="pt-BR" sz="900">
                <a:solidFill>
                  <a:srgbClr val="172B4D"/>
                </a:solidFill>
              </a:rPr>
              <a:t>.</a:t>
            </a:r>
          </a:p>
          <a:p>
            <a:pPr algn="l"/>
            <a:endParaRPr sz="900" b="0" i="0">
              <a:solidFill>
                <a:srgbClr val="172B4D"/>
              </a:solidFill>
            </a:endParaRPr>
          </a:p>
        </p:txBody>
      </p:sp>
      <p:sp>
        <p:nvSpPr>
          <p:cNvPr id="137" name="Rounded Rectangle 77">
            <a:extLst>
              <a:ext uri="{FF2B5EF4-FFF2-40B4-BE49-F238E27FC236}">
                <a16:creationId xmlns:a16="http://schemas.microsoft.com/office/drawing/2014/main" id="{00D964BC-4BA5-C7EE-AC08-F6D2610AF4BE}"/>
              </a:ext>
            </a:extLst>
          </p:cNvPr>
          <p:cNvSpPr/>
          <p:nvPr/>
        </p:nvSpPr>
        <p:spPr>
          <a:xfrm>
            <a:off x="6199632" y="5976561"/>
            <a:ext cx="5650992" cy="471856"/>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78">
            <a:extLst>
              <a:ext uri="{FF2B5EF4-FFF2-40B4-BE49-F238E27FC236}">
                <a16:creationId xmlns:a16="http://schemas.microsoft.com/office/drawing/2014/main" id="{2C5CE514-F840-2792-D009-AB593F793FCC}"/>
              </a:ext>
            </a:extLst>
          </p:cNvPr>
          <p:cNvSpPr txBox="1"/>
          <p:nvPr/>
        </p:nvSpPr>
        <p:spPr>
          <a:xfrm>
            <a:off x="6336792" y="6013137"/>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39" name="TextBox 79">
            <a:extLst>
              <a:ext uri="{FF2B5EF4-FFF2-40B4-BE49-F238E27FC236}">
                <a16:creationId xmlns:a16="http://schemas.microsoft.com/office/drawing/2014/main" id="{B12F660A-8F9E-18EA-2180-37D126343932}"/>
              </a:ext>
            </a:extLst>
          </p:cNvPr>
          <p:cNvSpPr txBox="1"/>
          <p:nvPr/>
        </p:nvSpPr>
        <p:spPr>
          <a:xfrm>
            <a:off x="6336792" y="6159441"/>
            <a:ext cx="5394960" cy="174851"/>
          </a:xfrm>
          <a:prstGeom prst="rect">
            <a:avLst/>
          </a:prstGeom>
          <a:noFill/>
        </p:spPr>
        <p:txBody>
          <a:bodyPr wrap="square" lIns="36000" tIns="18000" rIns="36000" bIns="18000" anchor="t">
            <a:spAutoFit/>
          </a:bodyPr>
          <a:lstStyle/>
          <a:p>
            <a:r>
              <a:rPr lang="pt-BR" sz="900" b="1" i="1">
                <a:solidFill>
                  <a:srgbClr val="F08629"/>
                </a:solidFill>
              </a:rPr>
              <a:t>@</a:t>
            </a:r>
            <a:r>
              <a:rPr lang="pt-BR" sz="900" b="1" i="1" err="1">
                <a:solidFill>
                  <a:srgbClr val="F08629"/>
                </a:solidFill>
              </a:rPr>
              <a:t>notify</a:t>
            </a:r>
            <a:r>
              <a:rPr lang="pt-BR" sz="900" b="1" i="1">
                <a:solidFill>
                  <a:srgbClr val="F08629"/>
                </a:solidFill>
              </a:rPr>
              <a:t> PM · sets </a:t>
            </a:r>
            <a:r>
              <a:rPr lang="pt-BR" sz="900" b="1" i="1" err="1">
                <a:solidFill>
                  <a:srgbClr val="F08629"/>
                </a:solidFill>
              </a:rPr>
              <a:t>squad</a:t>
            </a:r>
            <a:r>
              <a:rPr lang="pt-BR" sz="900" b="1" i="1">
                <a:solidFill>
                  <a:srgbClr val="F08629"/>
                </a:solidFill>
              </a:rPr>
              <a:t> </a:t>
            </a:r>
            <a:r>
              <a:rPr lang="pt-BR" sz="900" b="1" i="1" err="1">
                <a:solidFill>
                  <a:srgbClr val="F08629"/>
                </a:solidFill>
              </a:rPr>
              <a:t>swimlane</a:t>
            </a:r>
            <a:r>
              <a:rPr lang="pt-BR" sz="900" b="1" i="1">
                <a:solidFill>
                  <a:srgbClr val="F08629"/>
                </a:solidFill>
              </a:rPr>
              <a:t> · </a:t>
            </a:r>
            <a:r>
              <a:rPr lang="pt-BR" sz="900" b="1" i="1" err="1">
                <a:solidFill>
                  <a:srgbClr val="F08629"/>
                </a:solidFill>
              </a:rPr>
              <a:t>routes</a:t>
            </a:r>
            <a:r>
              <a:rPr lang="pt-BR" sz="900" b="1" i="1">
                <a:solidFill>
                  <a:srgbClr val="F08629"/>
                </a:solidFill>
              </a:rPr>
              <a:t> </a:t>
            </a:r>
            <a:r>
              <a:rPr lang="pt-BR" sz="900" b="1" i="1" err="1">
                <a:solidFill>
                  <a:srgbClr val="F08629"/>
                </a:solidFill>
              </a:rPr>
              <a:t>to</a:t>
            </a:r>
            <a:r>
              <a:rPr lang="pt-BR" sz="900" b="1" i="1">
                <a:solidFill>
                  <a:srgbClr val="F08629"/>
                </a:solidFill>
              </a:rPr>
              <a:t> portfolio board</a:t>
            </a:r>
          </a:p>
        </p:txBody>
      </p:sp>
      <p:sp>
        <p:nvSpPr>
          <p:cNvPr id="2" name="TextBox 13">
            <a:extLst>
              <a:ext uri="{FF2B5EF4-FFF2-40B4-BE49-F238E27FC236}">
                <a16:creationId xmlns:a16="http://schemas.microsoft.com/office/drawing/2014/main" id="{48074F36-12B6-2CF9-2363-BC100631E161}"/>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6" name="Text Placeholder 19">
            <a:extLst>
              <a:ext uri="{FF2B5EF4-FFF2-40B4-BE49-F238E27FC236}">
                <a16:creationId xmlns:a16="http://schemas.microsoft.com/office/drawing/2014/main" id="{5B183A5A-48D5-D98F-8330-DDBBEBC30DAC}"/>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Value stream definition</a:t>
            </a:r>
          </a:p>
        </p:txBody>
      </p:sp>
      <p:sp>
        <p:nvSpPr>
          <p:cNvPr id="12" name="Rounded Rectangle 16">
            <a:extLst>
              <a:ext uri="{FF2B5EF4-FFF2-40B4-BE49-F238E27FC236}">
                <a16:creationId xmlns:a16="http://schemas.microsoft.com/office/drawing/2014/main" id="{98E01F8C-4EC0-B131-3D88-3D58B503E839}"/>
              </a:ext>
            </a:extLst>
          </p:cNvPr>
          <p:cNvSpPr/>
          <p:nvPr/>
        </p:nvSpPr>
        <p:spPr>
          <a:xfrm>
            <a:off x="365760" y="1807535"/>
            <a:ext cx="5600700" cy="3931920"/>
          </a:xfrm>
          <a:prstGeom prst="roundRect">
            <a:avLst>
              <a:gd name="adj" fmla="val 4000"/>
            </a:avLst>
          </a:prstGeom>
          <a:solidFill>
            <a:schemeClr val="bg1">
              <a:alpha val="75000"/>
            </a:schemeClr>
          </a:solidFill>
          <a:ln w="25400">
            <a:solidFill>
              <a:srgbClr val="081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0326178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0D720-6124-60A5-22B3-3D60041583A6}"/>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7800A89D-D61E-F612-2B8F-E62623924FF4}"/>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OBJECTIVE</a:t>
            </a:r>
          </a:p>
        </p:txBody>
      </p:sp>
      <p:sp>
        <p:nvSpPr>
          <p:cNvPr id="14" name="TextBox 13">
            <a:extLst>
              <a:ext uri="{FF2B5EF4-FFF2-40B4-BE49-F238E27FC236}">
                <a16:creationId xmlns:a16="http://schemas.microsoft.com/office/drawing/2014/main" id="{E64E6AF8-11A0-AF37-5F68-4F3A0EE89095}"/>
              </a:ext>
            </a:extLst>
          </p:cNvPr>
          <p:cNvSpPr txBox="1"/>
          <p:nvPr/>
        </p:nvSpPr>
        <p:spPr>
          <a:xfrm>
            <a:off x="1805653" y="924510"/>
            <a:ext cx="5245387"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0" indent="0">
              <a:buNone/>
            </a:pPr>
            <a:r>
              <a:rPr lang="en-US"/>
              <a:t>Assess feasibility and quantify demand priority by consolidating business, technical, and operational inputs, generating a standardized Pain Score to enable objective portfolio decisions.</a:t>
            </a:r>
            <a:endParaRPr kumimoji="0" lang="en-US" sz="1100" b="1" i="0" u="none" strike="noStrike" kern="1200" cap="none" spc="0" normalizeH="0" baseline="0" noProof="0">
              <a:ln>
                <a:noFill/>
              </a:ln>
              <a:solidFill>
                <a:srgbClr val="2C3E50"/>
              </a:solidFill>
              <a:effectLst/>
              <a:uLnTx/>
              <a:uFillTx/>
              <a:latin typeface="Arial"/>
              <a:ea typeface="+mn-ea"/>
              <a:cs typeface="+mn-cs"/>
            </a:endParaRPr>
          </a:p>
        </p:txBody>
      </p:sp>
      <p:sp>
        <p:nvSpPr>
          <p:cNvPr id="19" name="Rectángulo 18">
            <a:extLst>
              <a:ext uri="{FF2B5EF4-FFF2-40B4-BE49-F238E27FC236}">
                <a16:creationId xmlns:a16="http://schemas.microsoft.com/office/drawing/2014/main" id="{CB727EB2-2BE3-C6B2-D2DA-F503F89A4818}"/>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PARTICIPANTS</a:t>
            </a:r>
          </a:p>
        </p:txBody>
      </p:sp>
      <p:sp>
        <p:nvSpPr>
          <p:cNvPr id="32" name="TextBox 13">
            <a:extLst>
              <a:ext uri="{FF2B5EF4-FFF2-40B4-BE49-F238E27FC236}">
                <a16:creationId xmlns:a16="http://schemas.microsoft.com/office/drawing/2014/main" id="{2FA8FA79-D0EA-6F72-1623-D88E575FA2B7}"/>
              </a:ext>
            </a:extLst>
          </p:cNvPr>
          <p:cNvSpPr txBox="1"/>
          <p:nvPr/>
        </p:nvSpPr>
        <p:spPr>
          <a:xfrm>
            <a:off x="8786685" y="924510"/>
            <a:ext cx="3162973"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a:ea typeface="+mn-ea"/>
                <a:cs typeface="+mn-cs"/>
              </a:rPr>
              <a:t>Domain Product </a:t>
            </a:r>
            <a:r>
              <a:rPr kumimoji="0" lang="en-US" sz="1100" b="1" i="0" u="none" strike="noStrike" kern="1200" cap="none" spc="0" normalizeH="0" baseline="0" noProof="0">
                <a:ln>
                  <a:noFill/>
                </a:ln>
                <a:solidFill>
                  <a:srgbClr val="2C3E50"/>
                </a:solidFill>
                <a:effectLst/>
                <a:uLnTx/>
                <a:uFillTx/>
                <a:latin typeface="Arial"/>
                <a:ea typeface="+mn-ea"/>
                <a:cs typeface="Arial" panose="020B0604020202020204" pitchFamily="34" charset="0"/>
              </a:rPr>
              <a:t>Manager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cs typeface="Arial" panose="020B0604020202020204" pitchFamily="34" charset="0"/>
              </a:rPr>
              <a:t>Architect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a:ea typeface="+mn-ea"/>
                <a:cs typeface="Arial" panose="020B0604020202020204" pitchFamily="34" charset="0"/>
              </a:rPr>
              <a:t>Customer Services / Business Applications Managers</a:t>
            </a:r>
            <a:endParaRPr kumimoji="0" lang="en-US" sz="1100" b="1" i="0" u="none" strike="noStrike" kern="1200" cap="none" spc="0" normalizeH="0" baseline="0" noProof="0">
              <a:ln>
                <a:noFill/>
              </a:ln>
              <a:solidFill>
                <a:srgbClr val="2C3E50"/>
              </a:solidFill>
              <a:effectLst/>
              <a:uLnTx/>
              <a:uFillTx/>
              <a:latin typeface="Arial"/>
              <a:ea typeface="+mn-ea"/>
              <a:cs typeface="+mn-cs"/>
            </a:endParaRPr>
          </a:p>
        </p:txBody>
      </p:sp>
      <p:sp>
        <p:nvSpPr>
          <p:cNvPr id="33" name="Rounded Rectangle 5">
            <a:extLst>
              <a:ext uri="{FF2B5EF4-FFF2-40B4-BE49-F238E27FC236}">
                <a16:creationId xmlns:a16="http://schemas.microsoft.com/office/drawing/2014/main" id="{8361B520-08E3-68A4-4937-9137459198DA}"/>
              </a:ext>
            </a:extLst>
          </p:cNvPr>
          <p:cNvSpPr/>
          <p:nvPr/>
        </p:nvSpPr>
        <p:spPr>
          <a:xfrm>
            <a:off x="213360" y="2118967"/>
            <a:ext cx="6840000" cy="4467138"/>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2C3E50"/>
                </a:solidFill>
                <a:effectLst/>
                <a:uLnTx/>
                <a:uFillTx/>
                <a:latin typeface="Aptos" panose="02110004020202020204"/>
                <a:ea typeface="+mn-ea"/>
                <a:cs typeface="+mn-cs"/>
              </a:rPr>
              <a:t>		</a:t>
            </a:r>
            <a:r>
              <a:rPr kumimoji="0" lang="en-US" sz="9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PROCESS: REVIEWING</a:t>
            </a:r>
            <a:endParaRPr kumimoji="0" lang="en-US" sz="7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a:p>
            <a:pPr marL="228600" indent="-228600">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validate</a:t>
            </a:r>
            <a:r>
              <a:rPr lang="es-MX" altLang="es-MX" sz="1100" b="1">
                <a:solidFill>
                  <a:srgbClr val="2C3E50"/>
                </a:solidFill>
                <a:latin typeface="Arial"/>
              </a:rPr>
              <a:t> and refine </a:t>
            </a:r>
            <a:r>
              <a:rPr lang="es-MX" altLang="es-MX" sz="1100" b="1" err="1">
                <a:solidFill>
                  <a:srgbClr val="2C3E50"/>
                </a:solidFill>
                <a:latin typeface="Arial"/>
              </a:rPr>
              <a:t>demand</a:t>
            </a:r>
            <a:r>
              <a:rPr lang="es-MX" altLang="es-MX" sz="1100" b="1">
                <a:solidFill>
                  <a:srgbClr val="2C3E50"/>
                </a:solidFill>
                <a:latin typeface="Arial"/>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the </a:t>
            </a:r>
            <a:r>
              <a:rPr lang="es-MX" altLang="es-MX" sz="1100" err="1">
                <a:solidFill>
                  <a:srgbClr val="3A3734"/>
                </a:solidFill>
                <a:latin typeface="Arial" panose="020B0604020202020204" pitchFamily="34" charset="0"/>
                <a:cs typeface="Arial" panose="020B0604020202020204" pitchFamily="34" charset="0"/>
              </a:rPr>
              <a:t>business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need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clearly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defined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it</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duplicate</a:t>
            </a:r>
            <a:r>
              <a:rPr lang="es-MX" altLang="es-MX" sz="1100">
                <a:solidFill>
                  <a:srgbClr val="3A3734"/>
                </a:solidFill>
                <a:latin typeface="Arial" panose="020B0604020202020204" pitchFamily="34" charset="0"/>
                <a:cs typeface="Arial" panose="020B0604020202020204" pitchFamily="34" charset="0"/>
              </a:rPr>
              <a:t>?</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value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clearly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defined</a:t>
            </a:r>
            <a:r>
              <a:rPr lang="es-MX" altLang="es-MX" sz="1100">
                <a:solidFill>
                  <a:srgbClr val="3A3734"/>
                </a:solidFill>
                <a:latin typeface="Arial" panose="020B0604020202020204" pitchFamily="34" charset="0"/>
                <a:cs typeface="Arial" panose="020B0604020202020204" pitchFamily="34" charset="0"/>
              </a:rPr>
              <a:t>?</a:t>
            </a:r>
          </a:p>
          <a:p>
            <a:pPr marL="228600" lvl="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confirms</a:t>
            </a:r>
            <a:r>
              <a:rPr lang="es-MX" altLang="es-MX" sz="1100" b="1">
                <a:solidFill>
                  <a:srgbClr val="2C3E50"/>
                </a:solidFill>
                <a:latin typeface="Arial"/>
              </a:rPr>
              <a:t> and </a:t>
            </a:r>
            <a:r>
              <a:rPr lang="es-MX" altLang="es-MX" sz="1100" b="1" err="1">
                <a:solidFill>
                  <a:srgbClr val="2C3E50"/>
                </a:solidFill>
                <a:latin typeface="Arial"/>
              </a:rPr>
              <a:t>adjusts</a:t>
            </a:r>
            <a:r>
              <a:rPr lang="es-MX" altLang="es-MX" sz="1100" b="1">
                <a:solidFill>
                  <a:srgbClr val="2C3E50"/>
                </a:solidFill>
                <a:latin typeface="Arial"/>
              </a:rPr>
              <a:t> </a:t>
            </a:r>
            <a:r>
              <a:rPr lang="es-MX" altLang="es-MX" sz="1100" b="1" err="1">
                <a:solidFill>
                  <a:srgbClr val="2C3E50"/>
                </a:solidFill>
                <a:latin typeface="Arial"/>
              </a:rPr>
              <a:t>classification</a:t>
            </a:r>
            <a:r>
              <a:rPr lang="es-MX" altLang="es-MX" sz="1100" b="1">
                <a:solidFill>
                  <a:srgbClr val="2C3E50"/>
                </a:solidFill>
                <a:latin typeface="Arial"/>
              </a:rPr>
              <a:t> drivers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Type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Production</a:t>
            </a:r>
            <a:r>
              <a:rPr lang="es-MX" altLang="es-MX" sz="1100">
                <a:solidFill>
                  <a:srgbClr val="3A3734"/>
                </a:solidFill>
                <a:latin typeface="Arial" panose="020B0604020202020204" pitchFamily="34" charset="0"/>
                <a:cs typeface="Arial" panose="020B0604020202020204" pitchFamily="34" charset="0"/>
              </a:rPr>
              <a:t> Support / </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 Non-</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Size</a:t>
            </a:r>
            <a:r>
              <a:rPr lang="es-MX" altLang="es-MX" sz="1100">
                <a:solidFill>
                  <a:srgbClr val="3A3734"/>
                </a:solidFill>
                <a:latin typeface="Arial" panose="020B0604020202020204" pitchFamily="34" charset="0"/>
                <a:cs typeface="Arial" panose="020B0604020202020204" pitchFamily="34" charset="0"/>
              </a:rPr>
              <a:t> (S / M / L / XL) — drives </a:t>
            </a:r>
            <a:r>
              <a:rPr lang="es-MX" altLang="es-MX" sz="1100" err="1">
                <a:solidFill>
                  <a:srgbClr val="3A3734"/>
                </a:solidFill>
                <a:latin typeface="Arial" panose="020B0604020202020204" pitchFamily="34" charset="0"/>
                <a:cs typeface="Arial" panose="020B0604020202020204" pitchFamily="34" charset="0"/>
              </a:rPr>
              <a:t>level</a:t>
            </a:r>
            <a:r>
              <a:rPr lang="es-MX" altLang="es-MX" sz="1100">
                <a:solidFill>
                  <a:srgbClr val="3A3734"/>
                </a:solidFill>
                <a:latin typeface="Arial" panose="020B0604020202020204" pitchFamily="34" charset="0"/>
                <a:cs typeface="Arial" panose="020B0604020202020204" pitchFamily="34" charset="0"/>
              </a:rPr>
              <a:t> of </a:t>
            </a:r>
            <a:r>
              <a:rPr lang="es-MX" altLang="es-MX" sz="1100" err="1">
                <a:solidFill>
                  <a:srgbClr val="3A3734"/>
                </a:solidFill>
                <a:latin typeface="Arial" panose="020B0604020202020204" pitchFamily="34" charset="0"/>
                <a:cs typeface="Arial" panose="020B0604020202020204" pitchFamily="34" charset="0"/>
              </a:rPr>
              <a:t>analysis</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Validates</a:t>
            </a:r>
            <a:r>
              <a:rPr lang="es-MX" altLang="es-MX" sz="1100">
                <a:solidFill>
                  <a:srgbClr val="3A3734"/>
                </a:solidFill>
                <a:latin typeface="Arial" panose="020B0604020202020204" pitchFamily="34" charset="0"/>
                <a:cs typeface="Arial" panose="020B0604020202020204" pitchFamily="34" charset="0"/>
              </a:rPr>
              <a:t> Business </a:t>
            </a:r>
            <a:r>
              <a:rPr lang="es-MX" altLang="es-MX" sz="1100" err="1">
                <a:solidFill>
                  <a:srgbClr val="3A3734"/>
                </a:solidFill>
                <a:latin typeface="Arial" panose="020B0604020202020204" pitchFamily="34" charset="0"/>
                <a:cs typeface="Arial" panose="020B0604020202020204" pitchFamily="34" charset="0"/>
              </a:rPr>
              <a:t>value</a:t>
            </a:r>
            <a:endParaRPr lang="es-MX" altLang="es-MX" sz="1100">
              <a:solidFill>
                <a:srgbClr val="3A3734"/>
              </a:solidFill>
              <a:latin typeface="Arial" panose="020B0604020202020204" pitchFamily="34" charset="0"/>
              <a:cs typeface="Arial" panose="020B0604020202020204" pitchFamily="34" charset="0"/>
            </a:endParaRPr>
          </a:p>
          <a:p>
            <a:pPr marL="228600" indent="-228600" fontAlgn="base">
              <a:spcBef>
                <a:spcPct val="0"/>
              </a:spcBef>
              <a:spcAft>
                <a:spcPct val="0"/>
              </a:spcAft>
              <a:buFont typeface="+mj-lt"/>
              <a:buAutoNum type="arabicPeriod"/>
              <a:defRPr/>
            </a:pPr>
            <a:r>
              <a:rPr lang="es-MX" altLang="es-MX" sz="1100" b="1">
                <a:solidFill>
                  <a:srgbClr val="2C3E50"/>
                </a:solidFill>
                <a:latin typeface="Arial"/>
              </a:rPr>
              <a:t>Customer Services / Business </a:t>
            </a:r>
            <a:r>
              <a:rPr lang="es-MX" altLang="es-MX" sz="1100" b="1" err="1">
                <a:solidFill>
                  <a:srgbClr val="2C3E50"/>
                </a:solidFill>
                <a:latin typeface="Arial"/>
              </a:rPr>
              <a:t>Applications</a:t>
            </a:r>
            <a:r>
              <a:rPr lang="es-MX" altLang="es-MX" sz="1100" b="1">
                <a:solidFill>
                  <a:srgbClr val="2C3E50"/>
                </a:solidFill>
                <a:latin typeface="Arial"/>
              </a:rPr>
              <a:t> Managers:</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Class</a:t>
            </a:r>
            <a:r>
              <a:rPr lang="es-MX" altLang="es-MX" sz="1100">
                <a:solidFill>
                  <a:srgbClr val="3A3734"/>
                </a:solidFill>
                <a:latin typeface="Arial" panose="020B0604020202020204" pitchFamily="34" charset="0"/>
                <a:cs typeface="Arial" panose="020B0604020202020204" pitchFamily="34" charset="0"/>
              </a:rPr>
              <a:t> of Service (Standard / </a:t>
            </a:r>
            <a:r>
              <a:rPr lang="es-MX" altLang="es-MX" sz="1100" err="1">
                <a:solidFill>
                  <a:srgbClr val="3A3734"/>
                </a:solidFill>
                <a:latin typeface="Arial" panose="020B0604020202020204" pitchFamily="34" charset="0"/>
                <a:cs typeface="Arial" panose="020B0604020202020204" pitchFamily="34" charset="0"/>
              </a:rPr>
              <a:t>Fixed</a:t>
            </a:r>
            <a:r>
              <a:rPr lang="es-MX" altLang="es-MX" sz="1100">
                <a:solidFill>
                  <a:srgbClr val="3A3734"/>
                </a:solidFill>
                <a:latin typeface="Arial" panose="020B0604020202020204" pitchFamily="34" charset="0"/>
                <a:cs typeface="Arial" panose="020B0604020202020204" pitchFamily="34" charset="0"/>
              </a:rPr>
              <a:t>-Date / Expedite / Intangible)</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Safety </a:t>
            </a:r>
            <a:r>
              <a:rPr lang="es-MX" altLang="es-MX" sz="1100" err="1">
                <a:solidFill>
                  <a:srgbClr val="3A3734"/>
                </a:solidFill>
                <a:latin typeface="Arial" panose="020B0604020202020204" pitchFamily="34" charset="0"/>
                <a:cs typeface="Arial" panose="020B0604020202020204" pitchFamily="34" charset="0"/>
              </a:rPr>
              <a:t>Level</a:t>
            </a:r>
            <a:r>
              <a:rPr lang="es-MX" altLang="es-MX" sz="1100">
                <a:solidFill>
                  <a:srgbClr val="3A3734"/>
                </a:solidFill>
                <a:latin typeface="Arial" panose="020B0604020202020204" pitchFamily="34" charset="0"/>
                <a:cs typeface="Arial" panose="020B0604020202020204" pitchFamily="34" charset="0"/>
              </a:rPr>
              <a:t> (Business </a:t>
            </a:r>
            <a:r>
              <a:rPr lang="es-MX" altLang="es-MX" sz="1100" err="1">
                <a:solidFill>
                  <a:srgbClr val="3A3734"/>
                </a:solidFill>
                <a:latin typeface="Arial" panose="020B0604020202020204" pitchFamily="34" charset="0"/>
                <a:cs typeface="Arial" panose="020B0604020202020204" pitchFamily="34" charset="0"/>
              </a:rPr>
              <a:t>Applications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only</a:t>
            </a:r>
            <a:r>
              <a:rPr lang="es-MX" altLang="es-MX" sz="1100">
                <a:solidFill>
                  <a:srgbClr val="3A3734"/>
                </a:solidFill>
                <a:latin typeface="Arial" panose="020B0604020202020204" pitchFamily="34" charset="0"/>
                <a:cs typeface="Arial" panose="020B0604020202020204" pitchFamily="34" charset="0"/>
              </a:rPr>
              <a:t>) </a:t>
            </a: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Architect</a:t>
            </a:r>
            <a:r>
              <a:rPr lang="es-MX" altLang="es-MX" sz="1100" b="1">
                <a:solidFill>
                  <a:srgbClr val="2C3E50"/>
                </a:solidFill>
                <a:latin typeface="Arial"/>
              </a:rPr>
              <a:t> + </a:t>
            </a: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assess</a:t>
            </a:r>
            <a:r>
              <a:rPr lang="es-MX" altLang="es-MX" sz="1100" b="1">
                <a:solidFill>
                  <a:srgbClr val="2C3E50"/>
                </a:solidFill>
                <a:latin typeface="Arial"/>
              </a:rPr>
              <a:t> </a:t>
            </a:r>
            <a:r>
              <a:rPr lang="es-MX" altLang="es-MX" sz="1100" b="1" err="1">
                <a:solidFill>
                  <a:srgbClr val="2C3E50"/>
                </a:solidFill>
                <a:latin typeface="Arial"/>
              </a:rPr>
              <a:t>effort</a:t>
            </a:r>
            <a:r>
              <a:rPr lang="es-MX" altLang="es-MX" sz="1100" b="1">
                <a:solidFill>
                  <a:srgbClr val="2C3E50"/>
                </a:solidFill>
                <a:latin typeface="Arial"/>
              </a:rPr>
              <a:t> and </a:t>
            </a:r>
            <a:r>
              <a:rPr lang="es-MX" altLang="es-MX" sz="1100" b="1" err="1">
                <a:solidFill>
                  <a:srgbClr val="2C3E50"/>
                </a:solidFill>
                <a:latin typeface="Arial"/>
              </a:rPr>
              <a:t>feasibility</a:t>
            </a:r>
            <a:r>
              <a:rPr lang="es-MX" altLang="es-MX" sz="1100" b="1">
                <a:solidFill>
                  <a:srgbClr val="2C3E50"/>
                </a:solidFill>
                <a:latin typeface="Arial"/>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Validate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architecture</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integration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impact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Align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sizing</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delivery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considerations</a:t>
            </a:r>
            <a:r>
              <a:rPr lang="es-MX" altLang="es-MX" sz="1100">
                <a:solidFill>
                  <a:srgbClr val="3A3734"/>
                </a:solidFill>
                <a:latin typeface="Arial" panose="020B0604020202020204" pitchFamily="34" charset="0"/>
                <a:cs typeface="Arial" panose="020B0604020202020204" pitchFamily="34" charset="0"/>
              </a:rPr>
              <a:t> </a:t>
            </a:r>
          </a:p>
          <a:p>
            <a:pPr marL="228600" lvl="0" indent="-228600" fontAlgn="base">
              <a:spcBef>
                <a:spcPct val="0"/>
              </a:spcBef>
              <a:spcAft>
                <a:spcPct val="0"/>
              </a:spcAft>
              <a:buFont typeface="+mj-lt"/>
              <a:buAutoNum type="arabicPeriod"/>
              <a:defRPr/>
            </a:pPr>
            <a:r>
              <a:rPr lang="es-MX" altLang="es-MX" sz="1100" b="1" err="1">
                <a:solidFill>
                  <a:srgbClr val="2C3E50"/>
                </a:solidFill>
                <a:latin typeface="Arial"/>
              </a:rPr>
              <a:t>System</a:t>
            </a:r>
            <a:r>
              <a:rPr lang="es-MX" altLang="es-MX" sz="1100" b="1">
                <a:solidFill>
                  <a:srgbClr val="2C3E50"/>
                </a:solidFill>
                <a:latin typeface="Arial"/>
              </a:rPr>
              <a:t> (Jira </a:t>
            </a:r>
            <a:r>
              <a:rPr lang="es-MX" altLang="es-MX" sz="1100" b="1" err="1">
                <a:solidFill>
                  <a:srgbClr val="2C3E50"/>
                </a:solidFill>
                <a:latin typeface="Arial"/>
              </a:rPr>
              <a:t>automation</a:t>
            </a:r>
            <a:r>
              <a:rPr lang="es-MX" altLang="es-MX" sz="1100" b="1">
                <a:solidFill>
                  <a:srgbClr val="2C3E50"/>
                </a:solidFill>
                <a:latin typeface="Arial"/>
              </a:rPr>
              <a:t>) computes </a:t>
            </a:r>
            <a:r>
              <a:rPr lang="es-MX" altLang="es-MX" sz="1100" b="1" err="1">
                <a:solidFill>
                  <a:srgbClr val="2C3E50"/>
                </a:solidFill>
                <a:latin typeface="Arial"/>
              </a:rPr>
              <a:t>Pain</a:t>
            </a:r>
            <a:r>
              <a:rPr lang="es-MX" altLang="es-MX" sz="1100" b="1">
                <a:solidFill>
                  <a:srgbClr val="2C3E50"/>
                </a:solidFill>
                <a:latin typeface="Arial"/>
              </a:rPr>
              <a:t> Score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Inputs: BV, UX, Safety (ITBA </a:t>
            </a:r>
            <a:r>
              <a:rPr lang="es-MX" altLang="es-MX" sz="1100" err="1">
                <a:solidFill>
                  <a:srgbClr val="3A3734"/>
                </a:solidFill>
                <a:latin typeface="Arial" panose="020B0604020202020204" pitchFamily="34" charset="0"/>
                <a:cs typeface="Arial" panose="020B0604020202020204" pitchFamily="34" charset="0"/>
              </a:rPr>
              <a:t>only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Apply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model</a:t>
            </a:r>
            <a:r>
              <a:rPr lang="es-MX" altLang="es-MX" sz="1100">
                <a:solidFill>
                  <a:srgbClr val="3A3734"/>
                </a:solidFill>
                <a:latin typeface="Arial" panose="020B0604020202020204" pitchFamily="34" charset="0"/>
                <a:cs typeface="Arial" panose="020B0604020202020204" pitchFamily="34" charset="0"/>
              </a:rPr>
              <a:t>: </a:t>
            </a:r>
          </a:p>
          <a:p>
            <a:pPr marL="1143000" lvl="2"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CS: (BV ×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 0.40 + UX × 0.60) /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p>
          <a:p>
            <a:pPr marL="1143000" lvl="2"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ITBA: (BV ×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 0.45 + UX × 0.30 + Safety × 0.25) /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Score </a:t>
            </a:r>
            <a:r>
              <a:rPr lang="es-MX" altLang="es-MX" sz="1100" err="1">
                <a:solidFill>
                  <a:srgbClr val="3A3734"/>
                </a:solidFill>
                <a:latin typeface="Arial" panose="020B0604020202020204" pitchFamily="34" charset="0"/>
                <a:cs typeface="Arial" panose="020B0604020202020204" pitchFamily="34" charset="0"/>
              </a:rPr>
              <a:t>auto-calculates</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ranks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 </a:t>
            </a:r>
            <a:r>
              <a:rPr lang="es-MX" altLang="es-MX" sz="1100" b="1" err="1">
                <a:solidFill>
                  <a:srgbClr val="2C3E50"/>
                </a:solidFill>
                <a:latin typeface="Arial"/>
              </a:rPr>
              <a:t>Architect</a:t>
            </a:r>
            <a:r>
              <a:rPr lang="es-MX" altLang="es-MX" sz="1100" b="1">
                <a:solidFill>
                  <a:srgbClr val="2C3E50"/>
                </a:solidFill>
                <a:latin typeface="Arial"/>
              </a:rPr>
              <a:t> </a:t>
            </a:r>
            <a:r>
              <a:rPr lang="es-MX" altLang="es-MX" sz="1100" b="1" err="1">
                <a:solidFill>
                  <a:srgbClr val="2C3E50"/>
                </a:solidFill>
                <a:latin typeface="Arial"/>
              </a:rPr>
              <a:t>normalize</a:t>
            </a:r>
            <a:r>
              <a:rPr lang="es-MX" altLang="es-MX" sz="1100" b="1">
                <a:solidFill>
                  <a:srgbClr val="2C3E50"/>
                </a:solidFill>
                <a:latin typeface="Arial"/>
              </a:rPr>
              <a:t> and prepare </a:t>
            </a:r>
            <a:r>
              <a:rPr lang="es-MX" altLang="es-MX" sz="1100" b="1" err="1">
                <a:solidFill>
                  <a:srgbClr val="2C3E50"/>
                </a:solidFill>
                <a:latin typeface="Arial"/>
              </a:rPr>
              <a:t>demand</a:t>
            </a:r>
            <a:r>
              <a:rPr lang="es-MX" altLang="es-MX" sz="1100" b="1">
                <a:solidFill>
                  <a:srgbClr val="2C3E50"/>
                </a:solidFill>
                <a:latin typeface="Arial"/>
              </a:rPr>
              <a:t> for </a:t>
            </a:r>
            <a:r>
              <a:rPr lang="es-MX" altLang="es-MX" sz="1100" b="1" err="1">
                <a:solidFill>
                  <a:srgbClr val="2C3E50"/>
                </a:solidFill>
                <a:latin typeface="Arial"/>
              </a:rPr>
              <a:t>governance</a:t>
            </a:r>
            <a:endParaRPr lang="es-MX" altLang="es-MX" sz="1100" b="1">
              <a:solidFill>
                <a:srgbClr val="2C3E50"/>
              </a:solidFill>
              <a:latin typeface="Arial"/>
            </a:endParaRP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Lock</a:t>
            </a:r>
            <a:r>
              <a:rPr lang="es-MX" altLang="es-MX" sz="1100">
                <a:solidFill>
                  <a:srgbClr val="3A3734"/>
                </a:solidFill>
                <a:latin typeface="Arial" panose="020B0604020202020204" pitchFamily="34" charset="0"/>
                <a:cs typeface="Arial" panose="020B0604020202020204" pitchFamily="34" charset="0"/>
              </a:rPr>
              <a:t> final </a:t>
            </a:r>
            <a:r>
              <a:rPr lang="es-MX" altLang="es-MX" sz="1100" err="1">
                <a:solidFill>
                  <a:srgbClr val="3A3734"/>
                </a:solidFill>
                <a:latin typeface="Arial" panose="020B0604020202020204" pitchFamily="34" charset="0"/>
                <a:cs typeface="Arial" panose="020B0604020202020204" pitchFamily="34" charset="0"/>
              </a:rPr>
              <a:t>Size</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Class</a:t>
            </a:r>
            <a:r>
              <a:rPr lang="es-MX" altLang="es-MX" sz="1100">
                <a:solidFill>
                  <a:srgbClr val="3A3734"/>
                </a:solidFill>
                <a:latin typeface="Arial" panose="020B0604020202020204" pitchFamily="34" charset="0"/>
                <a:cs typeface="Arial" panose="020B0604020202020204" pitchFamily="34" charset="0"/>
              </a:rPr>
              <a:t> of Service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Ensure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consistency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e.g</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 </a:t>
            </a:r>
            <a:r>
              <a:rPr lang="es-MX" altLang="es-MX" sz="1100" err="1">
                <a:solidFill>
                  <a:srgbClr val="3A3734"/>
                </a:solidFill>
                <a:latin typeface="Arial" panose="020B0604020202020204" pitchFamily="34" charset="0"/>
                <a:cs typeface="Arial" panose="020B0604020202020204" pitchFamily="34" charset="0"/>
              </a:rPr>
              <a:t>Fixed</a:t>
            </a:r>
            <a:r>
              <a:rPr lang="es-MX" altLang="es-MX" sz="1100">
                <a:solidFill>
                  <a:srgbClr val="3A3734"/>
                </a:solidFill>
                <a:latin typeface="Arial" panose="020B0604020202020204" pitchFamily="34" charset="0"/>
                <a:cs typeface="Arial" panose="020B0604020202020204" pitchFamily="34" charset="0"/>
              </a:rPr>
              <a:t>-Date)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Complete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card</a:t>
            </a:r>
            <a:r>
              <a:rPr lang="es-MX" altLang="es-MX" sz="1100">
                <a:solidFill>
                  <a:srgbClr val="3A3734"/>
                </a:solidFill>
                <a:latin typeface="Arial" panose="020B0604020202020204" pitchFamily="34" charset="0"/>
                <a:cs typeface="Arial" panose="020B0604020202020204" pitchFamily="34" charset="0"/>
              </a:rPr>
              <a:t> for portfolio </a:t>
            </a:r>
            <a:r>
              <a:rPr lang="es-MX" altLang="es-MX" sz="1100" err="1">
                <a:solidFill>
                  <a:srgbClr val="3A3734"/>
                </a:solidFill>
                <a:latin typeface="Arial" panose="020B0604020202020204" pitchFamily="34" charset="0"/>
                <a:cs typeface="Arial" panose="020B0604020202020204" pitchFamily="34" charset="0"/>
              </a:rPr>
              <a:t>review</a:t>
            </a:r>
            <a:endParaRPr lang="es-MX" altLang="es-MX" sz="1100" b="1">
              <a:solidFill>
                <a:srgbClr val="2C3E50"/>
              </a:solidFill>
              <a:latin typeface="Arial"/>
            </a:endParaRP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iniciate</a:t>
            </a:r>
            <a:r>
              <a:rPr lang="es-MX" altLang="es-MX" sz="1100" b="1">
                <a:solidFill>
                  <a:srgbClr val="2C3E50"/>
                </a:solidFill>
                <a:latin typeface="Arial"/>
              </a:rPr>
              <a:t> </a:t>
            </a:r>
            <a:r>
              <a:rPr lang="es-MX" altLang="es-MX" sz="1100" b="1" err="1">
                <a:solidFill>
                  <a:srgbClr val="2C3E50"/>
                </a:solidFill>
                <a:latin typeface="Arial"/>
              </a:rPr>
              <a:t>Autorouting</a:t>
            </a:r>
            <a:r>
              <a:rPr lang="es-MX" altLang="es-MX" sz="1100" b="1">
                <a:solidFill>
                  <a:srgbClr val="2C3E50"/>
                </a:solidFill>
                <a:latin typeface="Arial"/>
              </a:rPr>
              <a:t> &amp; Triage </a:t>
            </a:r>
          </a:p>
          <a:p>
            <a:pPr lvl="1" fontAlgn="base">
              <a:spcBef>
                <a:spcPct val="0"/>
              </a:spcBef>
              <a:spcAft>
                <a:spcPct val="0"/>
              </a:spcAft>
              <a:defRPr/>
            </a:pPr>
            <a:endParaRPr lang="es-MX" altLang="es-MX" sz="1100">
              <a:solidFill>
                <a:srgbClr val="3A3734"/>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s-MX" altLang="es-MX" sz="1050">
              <a:solidFill>
                <a:schemeClr val="tx1"/>
              </a:solidFill>
              <a:latin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en-US" sz="700" b="0" i="0" u="none" strike="noStrike" kern="1200" cap="none" spc="0" normalizeH="0" baseline="0" noProof="0">
              <a:ln>
                <a:noFill/>
              </a:ln>
              <a:solidFill>
                <a:srgbClr val="2C3E50"/>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sp>
        <p:nvSpPr>
          <p:cNvPr id="34" name="Rectángulo 33">
            <a:extLst>
              <a:ext uri="{FF2B5EF4-FFF2-40B4-BE49-F238E27FC236}">
                <a16:creationId xmlns:a16="http://schemas.microsoft.com/office/drawing/2014/main" id="{C68120EA-D78D-5DBF-C3C5-987F5C7C0DCF}"/>
              </a:ext>
            </a:extLst>
          </p:cNvPr>
          <p:cNvSpPr/>
          <p:nvPr/>
        </p:nvSpPr>
        <p:spPr>
          <a:xfrm>
            <a:off x="213360" y="1756648"/>
            <a:ext cx="6840000"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PROCESS</a:t>
            </a:r>
          </a:p>
        </p:txBody>
      </p:sp>
      <p:sp>
        <p:nvSpPr>
          <p:cNvPr id="36" name="Rounded Rectangle 5">
            <a:extLst>
              <a:ext uri="{FF2B5EF4-FFF2-40B4-BE49-F238E27FC236}">
                <a16:creationId xmlns:a16="http://schemas.microsoft.com/office/drawing/2014/main" id="{3C7E47D2-C88B-B352-A0D5-CCFD19A1D015}"/>
              </a:ext>
            </a:extLst>
          </p:cNvPr>
          <p:cNvSpPr/>
          <p:nvPr/>
        </p:nvSpPr>
        <p:spPr>
          <a:xfrm>
            <a:off x="7213600" y="2118968"/>
            <a:ext cx="4736058" cy="4467138"/>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Demand Type</a:t>
            </a:r>
            <a:r>
              <a:rPr lang="en-US" sz="1100">
                <a:solidFill>
                  <a:srgbClr val="3A3734"/>
                </a:solidFill>
                <a:latin typeface="Arial" panose="020B0604020202020204" pitchFamily="34" charset="0"/>
                <a:cs typeface="Arial" panose="020B0604020202020204" pitchFamily="34" charset="0"/>
              </a:rPr>
              <a:t> &amp; Demand Size</a:t>
            </a:r>
          </a:p>
          <a:p>
            <a:pPr marR="0" lvl="0" defTabSz="914400" rtl="0" eaLnBrk="1" fontAlgn="auto" latinLnBrk="0" hangingPunct="1">
              <a:lnSpc>
                <a:spcPct val="100000"/>
              </a:lnSpc>
              <a:spcBef>
                <a:spcPts val="0"/>
              </a:spcBef>
              <a:spcAft>
                <a:spcPts val="0"/>
              </a:spcAft>
              <a:buClrTx/>
              <a:buSzTx/>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Class of Service</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lang="en-US" sz="1100">
              <a:solidFill>
                <a:srgbClr val="3A3734"/>
              </a:solidFill>
              <a:latin typeface="Arial" panose="020B0604020202020204" pitchFamily="34" charset="0"/>
              <a:cs typeface="Arial" panose="020B0604020202020204" pitchFamily="34" charset="0"/>
            </a:endParaRPr>
          </a:p>
          <a:p>
            <a:pPr>
              <a:defRPr/>
            </a:pPr>
            <a:endParaRPr lang="es-MX" altLang="es-MX" sz="1100">
              <a:solidFill>
                <a:srgbClr val="3A3734"/>
              </a:solidFill>
              <a:latin typeface="Arial" panose="020B0604020202020204" pitchFamily="34" charset="0"/>
              <a:cs typeface="Arial" panose="020B0604020202020204" pitchFamily="34" charset="0"/>
            </a:endParaRPr>
          </a:p>
          <a:p>
            <a:pPr>
              <a:defRPr/>
            </a:pPr>
            <a:r>
              <a:rPr lang="es-MX" altLang="es-MX" sz="1100" err="1">
                <a:solidFill>
                  <a:srgbClr val="3A3734"/>
                </a:solidFill>
                <a:latin typeface="Arial" panose="020B0604020202020204" pitchFamily="34" charset="0"/>
                <a:cs typeface="Arial" panose="020B0604020202020204" pitchFamily="34" charset="0"/>
              </a:rPr>
              <a:t>Pain</a:t>
            </a:r>
            <a:r>
              <a:rPr lang="es-MX" altLang="es-MX" sz="1100">
                <a:solidFill>
                  <a:srgbClr val="3A3734"/>
                </a:solidFill>
                <a:latin typeface="Arial" panose="020B0604020202020204" pitchFamily="34" charset="0"/>
                <a:cs typeface="Arial" panose="020B0604020202020204" pitchFamily="34" charset="0"/>
              </a:rPr>
              <a:t> Score </a:t>
            </a:r>
            <a:r>
              <a:rPr lang="es-MX" altLang="es-MX" sz="1100" err="1">
                <a:solidFill>
                  <a:srgbClr val="3A3734"/>
                </a:solidFill>
                <a:latin typeface="Arial" panose="020B0604020202020204" pitchFamily="34" charset="0"/>
                <a:cs typeface="Arial" panose="020B0604020202020204" pitchFamily="34" charset="0"/>
              </a:rPr>
              <a:t>auto-calculates</a:t>
            </a:r>
            <a:r>
              <a:rPr lang="es-MX" altLang="es-MX" sz="1100">
                <a:solidFill>
                  <a:srgbClr val="3A3734"/>
                </a:solidFill>
                <a:latin typeface="Arial" panose="020B0604020202020204" pitchFamily="34" charset="0"/>
                <a:cs typeface="Arial" panose="020B0604020202020204" pitchFamily="34" charset="0"/>
              </a:rPr>
              <a:t> &amp; </a:t>
            </a:r>
          </a:p>
          <a:p>
            <a:pPr>
              <a:defRPr/>
            </a:pPr>
            <a:r>
              <a:rPr lang="es-MX" altLang="es-MX" sz="1100" err="1">
                <a:solidFill>
                  <a:srgbClr val="3A3734"/>
                </a:solidFill>
                <a:latin typeface="Arial" panose="020B0604020202020204" pitchFamily="34" charset="0"/>
                <a:cs typeface="Arial" panose="020B0604020202020204" pitchFamily="34" charset="0"/>
              </a:rPr>
              <a:t>ranks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lvl="0">
              <a:defRPr/>
            </a:pPr>
            <a:endParaRPr lang="es-MX" altLang="es-MX" sz="1100" b="1">
              <a:solidFill>
                <a:srgbClr val="2C3E50"/>
              </a:solidFill>
              <a:latin typeface="Arial"/>
            </a:endParaRPr>
          </a:p>
          <a:p>
            <a:pPr lvl="0">
              <a:defRPr/>
            </a:pPr>
            <a:r>
              <a:rPr lang="es-MX" altLang="es-MX" sz="1100" err="1">
                <a:solidFill>
                  <a:srgbClr val="2C3E50"/>
                </a:solidFill>
                <a:latin typeface="Arial"/>
              </a:rPr>
              <a:t>Autorauting</a:t>
            </a:r>
            <a:r>
              <a:rPr lang="es-MX" altLang="es-MX" sz="1100">
                <a:solidFill>
                  <a:srgbClr val="2C3E50"/>
                </a:solidFill>
                <a:latin typeface="Arial"/>
              </a:rPr>
              <a:t> &amp; </a:t>
            </a:r>
            <a:r>
              <a:rPr lang="es-MX" altLang="es-MX" sz="1100" err="1">
                <a:solidFill>
                  <a:srgbClr val="2C3E50"/>
                </a:solidFill>
                <a:latin typeface="Arial"/>
              </a:rPr>
              <a:t>Traige</a:t>
            </a:r>
            <a:endParaRPr kumimoji="0" lang="en-US" sz="110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sp>
        <p:nvSpPr>
          <p:cNvPr id="39" name="Rectángulo 38">
            <a:extLst>
              <a:ext uri="{FF2B5EF4-FFF2-40B4-BE49-F238E27FC236}">
                <a16:creationId xmlns:a16="http://schemas.microsoft.com/office/drawing/2014/main" id="{87EAE616-D789-3B61-634A-DB4B7BFFCA4C}"/>
              </a:ext>
            </a:extLst>
          </p:cNvPr>
          <p:cNvSpPr/>
          <p:nvPr/>
        </p:nvSpPr>
        <p:spPr>
          <a:xfrm>
            <a:off x="7213600" y="1756648"/>
            <a:ext cx="4736058"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ARTIFACTS</a:t>
            </a:r>
          </a:p>
        </p:txBody>
      </p:sp>
      <p:sp>
        <p:nvSpPr>
          <p:cNvPr id="12" name="Rounded Rectangle 5">
            <a:extLst>
              <a:ext uri="{FF2B5EF4-FFF2-40B4-BE49-F238E27FC236}">
                <a16:creationId xmlns:a16="http://schemas.microsoft.com/office/drawing/2014/main" id="{E1C33AA2-53F0-EE06-4921-9A8B257F7F3E}"/>
              </a:ext>
            </a:extLst>
          </p:cNvPr>
          <p:cNvSpPr/>
          <p:nvPr/>
        </p:nvSpPr>
        <p:spPr>
          <a:xfrm>
            <a:off x="5345453" y="5830557"/>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Tools</a:t>
            </a:r>
            <a:endParaRPr kumimoji="0" lang="en-US" sz="1100" b="0"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pic>
        <p:nvPicPr>
          <p:cNvPr id="13" name="Picture 2">
            <a:extLst>
              <a:ext uri="{FF2B5EF4-FFF2-40B4-BE49-F238E27FC236}">
                <a16:creationId xmlns:a16="http://schemas.microsoft.com/office/drawing/2014/main" id="{CC1A44E3-A16E-DDCA-E736-26E7DB227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8912" y="6211443"/>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9">
            <a:extLst>
              <a:ext uri="{FF2B5EF4-FFF2-40B4-BE49-F238E27FC236}">
                <a16:creationId xmlns:a16="http://schemas.microsoft.com/office/drawing/2014/main" id="{5B1ED3B9-8D88-7B90-8E4A-B8A98FDA64ED}"/>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a:t>
            </a:r>
          </a:p>
        </p:txBody>
      </p:sp>
      <p:sp>
        <p:nvSpPr>
          <p:cNvPr id="3" name="Rectangle 1">
            <a:extLst>
              <a:ext uri="{FF2B5EF4-FFF2-40B4-BE49-F238E27FC236}">
                <a16:creationId xmlns:a16="http://schemas.microsoft.com/office/drawing/2014/main" id="{B6093DE0-7F8D-AA1E-5FDF-BC26E843520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a:ln>
                <a:noFill/>
              </a:ln>
              <a:solidFill>
                <a:schemeClr val="tx1"/>
              </a:solidFill>
              <a:effectLst/>
              <a:latin typeface="Arial" panose="020B0604020202020204" pitchFamily="34" charset="0"/>
            </a:endParaRPr>
          </a:p>
        </p:txBody>
      </p:sp>
      <p:pic>
        <p:nvPicPr>
          <p:cNvPr id="18" name="Imagen 17">
            <a:extLst>
              <a:ext uri="{FF2B5EF4-FFF2-40B4-BE49-F238E27FC236}">
                <a16:creationId xmlns:a16="http://schemas.microsoft.com/office/drawing/2014/main" id="{9CDF7788-6787-7D45-EE6A-3BC5B020B8DE}"/>
              </a:ext>
            </a:extLst>
          </p:cNvPr>
          <p:cNvPicPr>
            <a:picLocks noChangeAspect="1"/>
          </p:cNvPicPr>
          <p:nvPr/>
        </p:nvPicPr>
        <p:blipFill>
          <a:blip r:embed="rId5"/>
          <a:stretch>
            <a:fillRect/>
          </a:stretch>
        </p:blipFill>
        <p:spPr>
          <a:xfrm>
            <a:off x="9855019" y="2191535"/>
            <a:ext cx="1744031" cy="975662"/>
          </a:xfrm>
          <a:prstGeom prst="rect">
            <a:avLst/>
          </a:prstGeom>
          <a:effectLst>
            <a:outerShdw blurRad="50800" dist="38100" dir="10800000" algn="r" rotWithShape="0">
              <a:prstClr val="black">
                <a:alpha val="40000"/>
              </a:prstClr>
            </a:outerShdw>
          </a:effectLst>
        </p:spPr>
      </p:pic>
      <p:pic>
        <p:nvPicPr>
          <p:cNvPr id="21" name="Imagen 20">
            <a:extLst>
              <a:ext uri="{FF2B5EF4-FFF2-40B4-BE49-F238E27FC236}">
                <a16:creationId xmlns:a16="http://schemas.microsoft.com/office/drawing/2014/main" id="{9E5C7BD3-3C3D-9F97-EE48-C2706F73D2DD}"/>
              </a:ext>
            </a:extLst>
          </p:cNvPr>
          <p:cNvPicPr>
            <a:picLocks noChangeAspect="1"/>
          </p:cNvPicPr>
          <p:nvPr/>
        </p:nvPicPr>
        <p:blipFill>
          <a:blip r:embed="rId6"/>
          <a:stretch>
            <a:fillRect/>
          </a:stretch>
        </p:blipFill>
        <p:spPr>
          <a:xfrm>
            <a:off x="9855019" y="3249980"/>
            <a:ext cx="1746000" cy="982039"/>
          </a:xfrm>
          <a:prstGeom prst="rect">
            <a:avLst/>
          </a:prstGeom>
          <a:effectLst>
            <a:outerShdw blurRad="50800" dist="38100" dir="10800000" algn="r" rotWithShape="0">
              <a:prstClr val="black">
                <a:alpha val="40000"/>
              </a:prstClr>
            </a:outerShdw>
          </a:effectLst>
        </p:spPr>
      </p:pic>
      <p:pic>
        <p:nvPicPr>
          <p:cNvPr id="25" name="Imagen 24">
            <a:extLst>
              <a:ext uri="{FF2B5EF4-FFF2-40B4-BE49-F238E27FC236}">
                <a16:creationId xmlns:a16="http://schemas.microsoft.com/office/drawing/2014/main" id="{D90821B5-30C2-0B34-7B01-8AF89FD0FC6D}"/>
              </a:ext>
            </a:extLst>
          </p:cNvPr>
          <p:cNvPicPr>
            <a:picLocks noChangeAspect="1"/>
          </p:cNvPicPr>
          <p:nvPr/>
        </p:nvPicPr>
        <p:blipFill>
          <a:blip r:embed="rId7"/>
          <a:stretch>
            <a:fillRect/>
          </a:stretch>
        </p:blipFill>
        <p:spPr>
          <a:xfrm>
            <a:off x="9847837" y="4390879"/>
            <a:ext cx="1746000" cy="981258"/>
          </a:xfrm>
          <a:prstGeom prst="rect">
            <a:avLst/>
          </a:prstGeom>
          <a:effectLst>
            <a:outerShdw blurRad="50800" dist="38100" dir="10800000" algn="r" rotWithShape="0">
              <a:prstClr val="black">
                <a:alpha val="40000"/>
              </a:prstClr>
            </a:outerShdw>
          </a:effectLst>
        </p:spPr>
      </p:pic>
      <p:pic>
        <p:nvPicPr>
          <p:cNvPr id="27" name="Imagen 26">
            <a:extLst>
              <a:ext uri="{FF2B5EF4-FFF2-40B4-BE49-F238E27FC236}">
                <a16:creationId xmlns:a16="http://schemas.microsoft.com/office/drawing/2014/main" id="{40E1197E-E9A4-C5DD-ADCE-E480AE1861AA}"/>
              </a:ext>
            </a:extLst>
          </p:cNvPr>
          <p:cNvPicPr>
            <a:picLocks noChangeAspect="1"/>
          </p:cNvPicPr>
          <p:nvPr/>
        </p:nvPicPr>
        <p:blipFill>
          <a:blip r:embed="rId8"/>
          <a:stretch>
            <a:fillRect/>
          </a:stretch>
        </p:blipFill>
        <p:spPr>
          <a:xfrm>
            <a:off x="9845435" y="5455701"/>
            <a:ext cx="1746000" cy="974318"/>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1875689215"/>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83A2-025E-B47A-313C-E10140906929}"/>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1DAD65BD-9E9D-8B4B-EE8D-71B8531718FD}"/>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sp>
        <p:nvSpPr>
          <p:cNvPr id="58" name="Rounded Rectangle 4">
            <a:extLst>
              <a:ext uri="{FF2B5EF4-FFF2-40B4-BE49-F238E27FC236}">
                <a16:creationId xmlns:a16="http://schemas.microsoft.com/office/drawing/2014/main" id="{62543812-CB7F-ECF9-C252-B9614FA05DF1}"/>
              </a:ext>
            </a:extLst>
          </p:cNvPr>
          <p:cNvSpPr/>
          <p:nvPr/>
        </p:nvSpPr>
        <p:spPr>
          <a:xfrm>
            <a:off x="343535" y="851541"/>
            <a:ext cx="11430000" cy="5852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5">
            <a:extLst>
              <a:ext uri="{FF2B5EF4-FFF2-40B4-BE49-F238E27FC236}">
                <a16:creationId xmlns:a16="http://schemas.microsoft.com/office/drawing/2014/main" id="{9CA99ACA-8C63-E7FC-7DBB-81C41A951152}"/>
              </a:ext>
            </a:extLst>
          </p:cNvPr>
          <p:cNvSpPr/>
          <p:nvPr/>
        </p:nvSpPr>
        <p:spPr>
          <a:xfrm>
            <a:off x="365760" y="868680"/>
            <a:ext cx="11430000" cy="292608"/>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7A32"/>
              </a:solidFill>
            </a:endParaRPr>
          </a:p>
        </p:txBody>
      </p:sp>
      <p:sp>
        <p:nvSpPr>
          <p:cNvPr id="72" name="TextBox 6">
            <a:extLst>
              <a:ext uri="{FF2B5EF4-FFF2-40B4-BE49-F238E27FC236}">
                <a16:creationId xmlns:a16="http://schemas.microsoft.com/office/drawing/2014/main" id="{83ED88CD-AB3A-55C9-0614-169E8B7635B2}"/>
              </a:ext>
            </a:extLst>
          </p:cNvPr>
          <p:cNvSpPr txBox="1"/>
          <p:nvPr/>
        </p:nvSpPr>
        <p:spPr>
          <a:xfrm>
            <a:off x="502920" y="905256"/>
            <a:ext cx="7315200" cy="219456"/>
          </a:xfrm>
          <a:prstGeom prst="rect">
            <a:avLst/>
          </a:prstGeom>
          <a:noFill/>
        </p:spPr>
        <p:txBody>
          <a:bodyPr wrap="square" lIns="36000" tIns="18000" rIns="36000" bIns="18000" anchor="t">
            <a:spAutoFit/>
          </a:bodyPr>
          <a:lstStyle/>
          <a:p>
            <a:pPr algn="l"/>
            <a:r>
              <a:rPr sz="1000" b="1" i="0">
                <a:solidFill>
                  <a:srgbClr val="FFFFFF"/>
                </a:solidFill>
              </a:rPr>
              <a:t>▦  Jira Software  /  Avangrid · Digital Products  /  Create Issue</a:t>
            </a:r>
          </a:p>
        </p:txBody>
      </p:sp>
      <p:sp>
        <p:nvSpPr>
          <p:cNvPr id="73" name="Rectangle 7">
            <a:extLst>
              <a:ext uri="{FF2B5EF4-FFF2-40B4-BE49-F238E27FC236}">
                <a16:creationId xmlns:a16="http://schemas.microsoft.com/office/drawing/2014/main" id="{B473D9ED-1315-939F-4051-1315B0279C05}"/>
              </a:ext>
            </a:extLst>
          </p:cNvPr>
          <p:cNvSpPr/>
          <p:nvPr/>
        </p:nvSpPr>
        <p:spPr>
          <a:xfrm>
            <a:off x="365760" y="1161288"/>
            <a:ext cx="11430000" cy="29260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12">
            <a:extLst>
              <a:ext uri="{FF2B5EF4-FFF2-40B4-BE49-F238E27FC236}">
                <a16:creationId xmlns:a16="http://schemas.microsoft.com/office/drawing/2014/main" id="{0E5676F9-6B67-E5A6-C218-24F8FEAC77AE}"/>
              </a:ext>
            </a:extLst>
          </p:cNvPr>
          <p:cNvSpPr/>
          <p:nvPr/>
        </p:nvSpPr>
        <p:spPr>
          <a:xfrm>
            <a:off x="548640" y="1783080"/>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13">
            <a:extLst>
              <a:ext uri="{FF2B5EF4-FFF2-40B4-BE49-F238E27FC236}">
                <a16:creationId xmlns:a16="http://schemas.microsoft.com/office/drawing/2014/main" id="{AB36117C-E34C-9784-AEC6-AD7D476D4385}"/>
              </a:ext>
            </a:extLst>
          </p:cNvPr>
          <p:cNvSpPr txBox="1"/>
          <p:nvPr/>
        </p:nvSpPr>
        <p:spPr>
          <a:xfrm>
            <a:off x="548640" y="1874520"/>
            <a:ext cx="6583680" cy="174851"/>
          </a:xfrm>
          <a:prstGeom prst="rect">
            <a:avLst/>
          </a:prstGeom>
          <a:noFill/>
        </p:spPr>
        <p:txBody>
          <a:bodyPr wrap="square" lIns="36000" tIns="18000" rIns="36000" bIns="18000" anchor="t">
            <a:spAutoFit/>
          </a:bodyPr>
          <a:lstStyle/>
          <a:p>
            <a:r>
              <a:rPr sz="900" b="1" i="0">
                <a:solidFill>
                  <a:srgbClr val="172B4D"/>
                </a:solidFill>
              </a:rPr>
              <a:t>Title  ·  outcome-based, not task-based</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p>
        </p:txBody>
      </p:sp>
      <p:sp>
        <p:nvSpPr>
          <p:cNvPr id="80" name="Rounded Rectangle 14">
            <a:extLst>
              <a:ext uri="{FF2B5EF4-FFF2-40B4-BE49-F238E27FC236}">
                <a16:creationId xmlns:a16="http://schemas.microsoft.com/office/drawing/2014/main" id="{503B9C5C-611A-CEA9-9C17-8FD5AC7813B2}"/>
              </a:ext>
            </a:extLst>
          </p:cNvPr>
          <p:cNvSpPr/>
          <p:nvPr/>
        </p:nvSpPr>
        <p:spPr>
          <a:xfrm>
            <a:off x="548640" y="2039112"/>
            <a:ext cx="6583680" cy="237744"/>
          </a:xfrm>
          <a:prstGeom prst="roundRect">
            <a:avLst>
              <a:gd name="adj" fmla="val 5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15">
            <a:extLst>
              <a:ext uri="{FF2B5EF4-FFF2-40B4-BE49-F238E27FC236}">
                <a16:creationId xmlns:a16="http://schemas.microsoft.com/office/drawing/2014/main" id="{9DB33906-59FB-D03A-7BA4-247836A27185}"/>
              </a:ext>
            </a:extLst>
          </p:cNvPr>
          <p:cNvSpPr txBox="1"/>
          <p:nvPr/>
        </p:nvSpPr>
        <p:spPr>
          <a:xfrm>
            <a:off x="621792" y="2057400"/>
            <a:ext cx="6437376" cy="201168"/>
          </a:xfrm>
          <a:prstGeom prst="rect">
            <a:avLst/>
          </a:prstGeom>
          <a:noFill/>
        </p:spPr>
        <p:txBody>
          <a:bodyPr wrap="square" lIns="36000" tIns="18000" rIns="36000" bIns="18000" anchor="t">
            <a:spAutoFit/>
          </a:bodyPr>
          <a:lstStyle/>
          <a:p>
            <a:pPr algn="l"/>
            <a:r>
              <a:rPr sz="900" b="0" i="1">
                <a:solidFill>
                  <a:srgbClr val="A5ADBA"/>
                </a:solidFill>
              </a:rPr>
              <a:t>e.g. "Reduce billing-correction cycle from 14 to 5 days"</a:t>
            </a:r>
          </a:p>
        </p:txBody>
      </p:sp>
      <p:sp>
        <p:nvSpPr>
          <p:cNvPr id="82" name="TextBox 16">
            <a:extLst>
              <a:ext uri="{FF2B5EF4-FFF2-40B4-BE49-F238E27FC236}">
                <a16:creationId xmlns:a16="http://schemas.microsoft.com/office/drawing/2014/main" id="{93CB2B8B-786E-6280-22B8-6CE87005CCFE}"/>
              </a:ext>
            </a:extLst>
          </p:cNvPr>
          <p:cNvSpPr txBox="1"/>
          <p:nvPr/>
        </p:nvSpPr>
        <p:spPr>
          <a:xfrm>
            <a:off x="548640" y="2350008"/>
            <a:ext cx="6583680" cy="174851"/>
          </a:xfrm>
          <a:prstGeom prst="rect">
            <a:avLst/>
          </a:prstGeom>
          <a:noFill/>
        </p:spPr>
        <p:txBody>
          <a:bodyPr wrap="square" lIns="36000" tIns="18000" rIns="36000" bIns="18000" anchor="t">
            <a:spAutoFit/>
          </a:bodyPr>
          <a:lstStyle/>
          <a:p>
            <a:r>
              <a:rPr sz="900" b="1" i="0">
                <a:solidFill>
                  <a:srgbClr val="172B4D"/>
                </a:solidFill>
              </a:rPr>
              <a:t>Description   ·  describe the problem, not the solution</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aber</a:t>
            </a:r>
            <a:r>
              <a:rPr lang="pt-BR" sz="900" b="1">
                <a:solidFill>
                  <a:srgbClr val="172B4D"/>
                </a:solidFill>
              </a:rPr>
              <a:t> </a:t>
            </a:r>
            <a:endParaRPr lang="pt-BR" sz="900" b="1" i="0">
              <a:solidFill>
                <a:srgbClr val="172B4D"/>
              </a:solidFill>
            </a:endParaRPr>
          </a:p>
        </p:txBody>
      </p:sp>
      <p:sp>
        <p:nvSpPr>
          <p:cNvPr id="83" name="Rounded Rectangle 17">
            <a:extLst>
              <a:ext uri="{FF2B5EF4-FFF2-40B4-BE49-F238E27FC236}">
                <a16:creationId xmlns:a16="http://schemas.microsoft.com/office/drawing/2014/main" id="{F26DE280-E388-A950-9817-91D378EF1EA8}"/>
              </a:ext>
            </a:extLst>
          </p:cNvPr>
          <p:cNvSpPr/>
          <p:nvPr/>
        </p:nvSpPr>
        <p:spPr>
          <a:xfrm>
            <a:off x="548640" y="2514600"/>
            <a:ext cx="6583680" cy="457200"/>
          </a:xfrm>
          <a:prstGeom prst="roundRect">
            <a:avLst>
              <a:gd name="adj" fmla="val 4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18">
            <a:extLst>
              <a:ext uri="{FF2B5EF4-FFF2-40B4-BE49-F238E27FC236}">
                <a16:creationId xmlns:a16="http://schemas.microsoft.com/office/drawing/2014/main" id="{21A91801-1667-8548-3369-121F23EC68BB}"/>
              </a:ext>
            </a:extLst>
          </p:cNvPr>
          <p:cNvSpPr txBox="1"/>
          <p:nvPr/>
        </p:nvSpPr>
        <p:spPr>
          <a:xfrm>
            <a:off x="621792" y="2532888"/>
            <a:ext cx="6437376" cy="420624"/>
          </a:xfrm>
          <a:prstGeom prst="rect">
            <a:avLst/>
          </a:prstGeom>
          <a:noFill/>
        </p:spPr>
        <p:txBody>
          <a:bodyPr wrap="square" lIns="36000" tIns="18000" rIns="36000" bIns="18000" anchor="t">
            <a:spAutoFit/>
          </a:bodyPr>
          <a:lstStyle/>
          <a:p>
            <a:pPr algn="l"/>
            <a:r>
              <a:rPr sz="900" b="0" i="1">
                <a:solidFill>
                  <a:srgbClr val="A5ADBA"/>
                </a:solidFill>
              </a:rPr>
              <a:t>Context · current pain · who is affected · what blocks today</a:t>
            </a:r>
          </a:p>
        </p:txBody>
      </p:sp>
      <p:sp>
        <p:nvSpPr>
          <p:cNvPr id="85" name="TextBox 19">
            <a:extLst>
              <a:ext uri="{FF2B5EF4-FFF2-40B4-BE49-F238E27FC236}">
                <a16:creationId xmlns:a16="http://schemas.microsoft.com/office/drawing/2014/main" id="{333B72D8-1364-68A0-6745-FE340CA2A0AF}"/>
              </a:ext>
            </a:extLst>
          </p:cNvPr>
          <p:cNvSpPr txBox="1"/>
          <p:nvPr/>
        </p:nvSpPr>
        <p:spPr>
          <a:xfrm>
            <a:off x="548640" y="3063240"/>
            <a:ext cx="3200400" cy="174851"/>
          </a:xfrm>
          <a:prstGeom prst="rect">
            <a:avLst/>
          </a:prstGeom>
          <a:noFill/>
        </p:spPr>
        <p:txBody>
          <a:bodyPr wrap="square" lIns="36000" tIns="18000" rIns="36000" bIns="18000" anchor="t">
            <a:spAutoFit/>
          </a:bodyPr>
          <a:lstStyle/>
          <a:p>
            <a:r>
              <a:rPr sz="900" b="1" i="0">
                <a:solidFill>
                  <a:srgbClr val="172B4D"/>
                </a:solidFill>
              </a:rPr>
              <a:t>Business Value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 </a:t>
            </a:r>
            <a:r>
              <a:rPr lang="pt-BR" sz="900" b="1" err="1">
                <a:solidFill>
                  <a:srgbClr val="172B4D"/>
                </a:solidFill>
              </a:rPr>
              <a:t>narrative</a:t>
            </a:r>
            <a:r>
              <a:rPr lang="pt-BR" sz="900" b="1">
                <a:solidFill>
                  <a:srgbClr val="172B4D"/>
                </a:solidFill>
              </a:rPr>
              <a:t>  </a:t>
            </a:r>
            <a:endParaRPr lang="pt-BR" sz="900" b="1" i="0">
              <a:solidFill>
                <a:srgbClr val="172B4D"/>
              </a:solidFill>
            </a:endParaRPr>
          </a:p>
        </p:txBody>
      </p:sp>
      <p:sp>
        <p:nvSpPr>
          <p:cNvPr id="86" name="Rounded Rectangle 20">
            <a:extLst>
              <a:ext uri="{FF2B5EF4-FFF2-40B4-BE49-F238E27FC236}">
                <a16:creationId xmlns:a16="http://schemas.microsoft.com/office/drawing/2014/main" id="{00E0F42F-1A3F-71B8-1A86-494165F4957F}"/>
              </a:ext>
            </a:extLst>
          </p:cNvPr>
          <p:cNvSpPr/>
          <p:nvPr/>
        </p:nvSpPr>
        <p:spPr>
          <a:xfrm>
            <a:off x="54864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21">
            <a:extLst>
              <a:ext uri="{FF2B5EF4-FFF2-40B4-BE49-F238E27FC236}">
                <a16:creationId xmlns:a16="http://schemas.microsoft.com/office/drawing/2014/main" id="{C47EC5F1-5175-5FCB-B2AD-B7382AA94809}"/>
              </a:ext>
            </a:extLst>
          </p:cNvPr>
          <p:cNvSpPr txBox="1"/>
          <p:nvPr/>
        </p:nvSpPr>
        <p:spPr>
          <a:xfrm>
            <a:off x="3931920" y="3063240"/>
            <a:ext cx="3200400" cy="313350"/>
          </a:xfrm>
          <a:prstGeom prst="rect">
            <a:avLst/>
          </a:prstGeom>
          <a:noFill/>
        </p:spPr>
        <p:txBody>
          <a:bodyPr wrap="square" lIns="36000" tIns="18000" rIns="36000" bIns="18000" anchor="t">
            <a:spAutoFit/>
          </a:bodyPr>
          <a:lstStyle/>
          <a:p>
            <a:r>
              <a:rPr sz="900" b="1" i="0">
                <a:solidFill>
                  <a:srgbClr val="172B4D"/>
                </a:solidFill>
              </a:rPr>
              <a:t>Acceptance Criteria *  ·  measurable</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a:t>
            </a:r>
            <a:endParaRPr lang="pt-BR" sz="900" b="1" i="0">
              <a:solidFill>
                <a:srgbClr val="172B4D"/>
              </a:solidFill>
            </a:endParaRPr>
          </a:p>
        </p:txBody>
      </p:sp>
      <p:sp>
        <p:nvSpPr>
          <p:cNvPr id="119" name="Rounded Rectangle 22">
            <a:extLst>
              <a:ext uri="{FF2B5EF4-FFF2-40B4-BE49-F238E27FC236}">
                <a16:creationId xmlns:a16="http://schemas.microsoft.com/office/drawing/2014/main" id="{75E61503-0487-BC0A-B726-98B6F9DCEE99}"/>
              </a:ext>
            </a:extLst>
          </p:cNvPr>
          <p:cNvSpPr/>
          <p:nvPr/>
        </p:nvSpPr>
        <p:spPr>
          <a:xfrm>
            <a:off x="393192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23">
            <a:extLst>
              <a:ext uri="{FF2B5EF4-FFF2-40B4-BE49-F238E27FC236}">
                <a16:creationId xmlns:a16="http://schemas.microsoft.com/office/drawing/2014/main" id="{E54267B5-0D06-79A3-4565-3DDEEF253C0D}"/>
              </a:ext>
            </a:extLst>
          </p:cNvPr>
          <p:cNvSpPr txBox="1"/>
          <p:nvPr/>
        </p:nvSpPr>
        <p:spPr>
          <a:xfrm>
            <a:off x="548640" y="3657600"/>
            <a:ext cx="6583680" cy="205629"/>
          </a:xfrm>
          <a:prstGeom prst="rect">
            <a:avLst/>
          </a:prstGeom>
          <a:noFill/>
        </p:spPr>
        <p:txBody>
          <a:bodyPr wrap="square" lIns="36000" tIns="18000" rIns="36000" bIns="18000" anchor="t">
            <a:spAutoFit/>
          </a:bodyPr>
          <a:lstStyle/>
          <a:p>
            <a:pPr algn="l"/>
            <a:r>
              <a:rPr lang="en-US" sz="1100" b="1" i="0">
                <a:solidFill>
                  <a:srgbClr val="007A32"/>
                </a:solidFill>
              </a:rPr>
              <a:t>ROUTING  ·  selecting Value Stream auto-routes the ticket</a:t>
            </a:r>
          </a:p>
        </p:txBody>
      </p:sp>
      <p:sp>
        <p:nvSpPr>
          <p:cNvPr id="121" name="Rectangle 24">
            <a:extLst>
              <a:ext uri="{FF2B5EF4-FFF2-40B4-BE49-F238E27FC236}">
                <a16:creationId xmlns:a16="http://schemas.microsoft.com/office/drawing/2014/main" id="{3E6FCEF0-B811-E665-3CD6-551FA7962488}"/>
              </a:ext>
            </a:extLst>
          </p:cNvPr>
          <p:cNvSpPr/>
          <p:nvPr/>
        </p:nvSpPr>
        <p:spPr>
          <a:xfrm>
            <a:off x="548640" y="3858768"/>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25">
            <a:extLst>
              <a:ext uri="{FF2B5EF4-FFF2-40B4-BE49-F238E27FC236}">
                <a16:creationId xmlns:a16="http://schemas.microsoft.com/office/drawing/2014/main" id="{68BC06EF-341F-AC29-DC40-A92FB32A0271}"/>
              </a:ext>
            </a:extLst>
          </p:cNvPr>
          <p:cNvSpPr txBox="1"/>
          <p:nvPr/>
        </p:nvSpPr>
        <p:spPr>
          <a:xfrm>
            <a:off x="548640" y="3950208"/>
            <a:ext cx="6583680" cy="174851"/>
          </a:xfrm>
          <a:prstGeom prst="rect">
            <a:avLst/>
          </a:prstGeom>
          <a:noFill/>
        </p:spPr>
        <p:txBody>
          <a:bodyPr wrap="square" lIns="36000" tIns="18000" rIns="36000" bIns="18000" anchor="t">
            <a:spAutoFit/>
          </a:bodyPr>
          <a:lstStyle/>
          <a:p>
            <a:r>
              <a:rPr sz="900" b="1" i="0">
                <a:solidFill>
                  <a:srgbClr val="172B4D"/>
                </a:solidFill>
              </a:rPr>
              <a:t>Value Stream destination</a:t>
            </a:r>
            <a:r>
              <a:rPr lang="en-US" sz="900" b="1">
                <a:solidFill>
                  <a:srgbClr val="806000"/>
                </a:solidFill>
              </a:rPr>
              <a:t> </a:t>
            </a:r>
            <a:r>
              <a:rPr lang="en-US" sz="900" b="1">
                <a:solidFill>
                  <a:srgbClr val="172B4D"/>
                </a:solidFill>
              </a:rPr>
              <a:t>*  ·  drives </a:t>
            </a:r>
            <a:r>
              <a:rPr lang="en-US" sz="900" b="1" err="1">
                <a:solidFill>
                  <a:srgbClr val="172B4D"/>
                </a:solidFill>
              </a:rPr>
              <a:t>auto-routing</a:t>
            </a:r>
            <a:r>
              <a:rPr lang="en-US" sz="900" b="1">
                <a:solidFill>
                  <a:srgbClr val="172B4D"/>
                </a:solidFill>
              </a:rPr>
              <a:t>  · </a:t>
            </a:r>
            <a:r>
              <a:rPr lang="en-US" sz="900" b="1" err="1">
                <a:solidFill>
                  <a:srgbClr val="172B4D"/>
                </a:solidFill>
              </a:rPr>
              <a:t>Stage</a:t>
            </a:r>
            <a:r>
              <a:rPr lang="en-US" sz="900" b="1">
                <a:solidFill>
                  <a:srgbClr val="172B4D"/>
                </a:solidFill>
              </a:rPr>
              <a:t>: </a:t>
            </a:r>
            <a:r>
              <a:rPr lang="en-US" sz="900" b="1" err="1">
                <a:solidFill>
                  <a:srgbClr val="172B4D"/>
                </a:solidFill>
              </a:rPr>
              <a:t>Funnel</a:t>
            </a:r>
            <a:r>
              <a:rPr lang="en-US" sz="900" b="1">
                <a:solidFill>
                  <a:srgbClr val="172B4D"/>
                </a:solidFill>
              </a:rPr>
              <a:t> (</a:t>
            </a:r>
            <a:r>
              <a:rPr lang="en-US" sz="900" b="1" err="1">
                <a:solidFill>
                  <a:srgbClr val="172B4D"/>
                </a:solidFill>
              </a:rPr>
              <a:t>Requester</a:t>
            </a:r>
            <a:r>
              <a:rPr lang="en-US" sz="900" b="1">
                <a:solidFill>
                  <a:srgbClr val="172B4D"/>
                </a:solidFill>
              </a:rPr>
              <a:t>) </a:t>
            </a:r>
          </a:p>
        </p:txBody>
      </p:sp>
      <p:sp>
        <p:nvSpPr>
          <p:cNvPr id="123" name="Rounded Rectangle 26">
            <a:extLst>
              <a:ext uri="{FF2B5EF4-FFF2-40B4-BE49-F238E27FC236}">
                <a16:creationId xmlns:a16="http://schemas.microsoft.com/office/drawing/2014/main" id="{BC683DDD-A9F4-00FD-9EB8-DA60F509101B}"/>
              </a:ext>
            </a:extLst>
          </p:cNvPr>
          <p:cNvSpPr/>
          <p:nvPr/>
        </p:nvSpPr>
        <p:spPr>
          <a:xfrm>
            <a:off x="548640" y="4133088"/>
            <a:ext cx="6583680" cy="292608"/>
          </a:xfrm>
          <a:prstGeom prst="roundRect">
            <a:avLst>
              <a:gd name="adj" fmla="val 5000"/>
            </a:avLst>
          </a:prstGeom>
          <a:no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27">
            <a:extLst>
              <a:ext uri="{FF2B5EF4-FFF2-40B4-BE49-F238E27FC236}">
                <a16:creationId xmlns:a16="http://schemas.microsoft.com/office/drawing/2014/main" id="{2787D942-6D48-CBA5-3369-DD45DD5CA41A}"/>
              </a:ext>
            </a:extLst>
          </p:cNvPr>
          <p:cNvSpPr txBox="1"/>
          <p:nvPr/>
        </p:nvSpPr>
        <p:spPr>
          <a:xfrm>
            <a:off x="640080" y="4169664"/>
            <a:ext cx="6583680" cy="237744"/>
          </a:xfrm>
          <a:prstGeom prst="rect">
            <a:avLst/>
          </a:prstGeom>
          <a:noFill/>
        </p:spPr>
        <p:txBody>
          <a:bodyPr wrap="square" lIns="36000" tIns="18000" rIns="36000" bIns="18000" anchor="t">
            <a:spAutoFit/>
          </a:bodyPr>
          <a:lstStyle/>
          <a:p>
            <a:pPr algn="l"/>
            <a:r>
              <a:rPr sz="1000" b="1" i="0">
                <a:solidFill>
                  <a:srgbClr val="172B4D"/>
                </a:solidFill>
              </a:rPr>
              <a:t>▼  Select Value Stream / Team…</a:t>
            </a:r>
          </a:p>
        </p:txBody>
      </p:sp>
      <p:sp>
        <p:nvSpPr>
          <p:cNvPr id="125" name="Rounded Rectangle 28">
            <a:extLst>
              <a:ext uri="{FF2B5EF4-FFF2-40B4-BE49-F238E27FC236}">
                <a16:creationId xmlns:a16="http://schemas.microsoft.com/office/drawing/2014/main" id="{58DD76F2-4AC1-360E-4D65-645DC5232BE7}"/>
              </a:ext>
            </a:extLst>
          </p:cNvPr>
          <p:cNvSpPr/>
          <p:nvPr/>
        </p:nvSpPr>
        <p:spPr>
          <a:xfrm>
            <a:off x="54864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30">
            <a:extLst>
              <a:ext uri="{FF2B5EF4-FFF2-40B4-BE49-F238E27FC236}">
                <a16:creationId xmlns:a16="http://schemas.microsoft.com/office/drawing/2014/main" id="{A561F3E6-DE8B-DD79-461F-865740876B77}"/>
              </a:ext>
            </a:extLst>
          </p:cNvPr>
          <p:cNvSpPr txBox="1"/>
          <p:nvPr/>
        </p:nvSpPr>
        <p:spPr>
          <a:xfrm>
            <a:off x="640080" y="4535424"/>
            <a:ext cx="3040380" cy="190240"/>
          </a:xfrm>
          <a:prstGeom prst="rect">
            <a:avLst/>
          </a:prstGeom>
          <a:noFill/>
        </p:spPr>
        <p:txBody>
          <a:bodyPr wrap="square" lIns="36000" tIns="18000" rIns="36000" bIns="18000" anchor="t">
            <a:spAutoFit/>
          </a:bodyPr>
          <a:lstStyle/>
          <a:p>
            <a:pPr algn="l"/>
            <a:r>
              <a:rPr sz="1000" b="1" i="0">
                <a:solidFill>
                  <a:srgbClr val="162A4D"/>
                </a:solidFill>
              </a:rPr>
              <a:t>ITBA · Carlos Garbin · 5 </a:t>
            </a:r>
            <a:r>
              <a:rPr lang="pt-BR" sz="1000" b="1" i="0" err="1">
                <a:solidFill>
                  <a:srgbClr val="162A4D"/>
                </a:solidFill>
              </a:rPr>
              <a:t>teams</a:t>
            </a:r>
            <a:endParaRPr sz="1000" b="1" i="0">
              <a:solidFill>
                <a:srgbClr val="162A4D"/>
              </a:solidFill>
            </a:endParaRPr>
          </a:p>
        </p:txBody>
      </p:sp>
      <p:sp>
        <p:nvSpPr>
          <p:cNvPr id="128" name="TextBox 31">
            <a:extLst>
              <a:ext uri="{FF2B5EF4-FFF2-40B4-BE49-F238E27FC236}">
                <a16:creationId xmlns:a16="http://schemas.microsoft.com/office/drawing/2014/main" id="{DCB5B278-F0AB-D7A8-9BBE-4653271D84ED}"/>
              </a:ext>
            </a:extLst>
          </p:cNvPr>
          <p:cNvSpPr txBox="1"/>
          <p:nvPr/>
        </p:nvSpPr>
        <p:spPr>
          <a:xfrm>
            <a:off x="658368" y="4809744"/>
            <a:ext cx="3040380" cy="174851"/>
          </a:xfrm>
          <a:prstGeom prst="rect">
            <a:avLst/>
          </a:prstGeom>
          <a:noFill/>
        </p:spPr>
        <p:txBody>
          <a:bodyPr wrap="square" lIns="36000" tIns="18000" rIns="36000" bIns="18000" anchor="t">
            <a:spAutoFit/>
          </a:bodyPr>
          <a:lstStyle/>
          <a:p>
            <a:pPr algn="l"/>
            <a:r>
              <a:rPr sz="900" b="0" i="0">
                <a:solidFill>
                  <a:srgbClr val="162A4D"/>
                </a:solidFill>
              </a:rPr>
              <a:t>○  Field Operations</a:t>
            </a:r>
          </a:p>
        </p:txBody>
      </p:sp>
      <p:sp>
        <p:nvSpPr>
          <p:cNvPr id="129" name="TextBox 32">
            <a:extLst>
              <a:ext uri="{FF2B5EF4-FFF2-40B4-BE49-F238E27FC236}">
                <a16:creationId xmlns:a16="http://schemas.microsoft.com/office/drawing/2014/main" id="{70FA8982-696D-057A-3176-3CD6BC430C4B}"/>
              </a:ext>
            </a:extLst>
          </p:cNvPr>
          <p:cNvSpPr txBox="1"/>
          <p:nvPr/>
        </p:nvSpPr>
        <p:spPr>
          <a:xfrm>
            <a:off x="658368" y="5065776"/>
            <a:ext cx="3040380" cy="174851"/>
          </a:xfrm>
          <a:prstGeom prst="rect">
            <a:avLst/>
          </a:prstGeom>
          <a:noFill/>
        </p:spPr>
        <p:txBody>
          <a:bodyPr wrap="square" lIns="36000" tIns="18000" rIns="36000" bIns="18000" anchor="t">
            <a:spAutoFit/>
          </a:bodyPr>
          <a:lstStyle/>
          <a:p>
            <a:pPr algn="l"/>
            <a:r>
              <a:rPr sz="900" b="0" i="0">
                <a:solidFill>
                  <a:srgbClr val="162A4D"/>
                </a:solidFill>
              </a:rPr>
              <a:t>○  Engineering &amp; Asset Mgmt</a:t>
            </a:r>
          </a:p>
        </p:txBody>
      </p:sp>
      <p:sp>
        <p:nvSpPr>
          <p:cNvPr id="130" name="TextBox 33">
            <a:extLst>
              <a:ext uri="{FF2B5EF4-FFF2-40B4-BE49-F238E27FC236}">
                <a16:creationId xmlns:a16="http://schemas.microsoft.com/office/drawing/2014/main" id="{AD9E9E69-7456-4619-8009-1DC5FC9F2C25}"/>
              </a:ext>
            </a:extLst>
          </p:cNvPr>
          <p:cNvSpPr txBox="1"/>
          <p:nvPr/>
        </p:nvSpPr>
        <p:spPr>
          <a:xfrm>
            <a:off x="658368" y="5321808"/>
            <a:ext cx="3040380" cy="174851"/>
          </a:xfrm>
          <a:prstGeom prst="rect">
            <a:avLst/>
          </a:prstGeom>
          <a:noFill/>
        </p:spPr>
        <p:txBody>
          <a:bodyPr wrap="square" lIns="36000" tIns="18000" rIns="36000" bIns="18000" anchor="t">
            <a:spAutoFit/>
          </a:bodyPr>
          <a:lstStyle/>
          <a:p>
            <a:pPr algn="l"/>
            <a:r>
              <a:rPr sz="900" b="0" i="0">
                <a:solidFill>
                  <a:srgbClr val="162A4D"/>
                </a:solidFill>
              </a:rPr>
              <a:t>○  Network Operations &amp; Control</a:t>
            </a:r>
          </a:p>
        </p:txBody>
      </p:sp>
      <p:sp>
        <p:nvSpPr>
          <p:cNvPr id="131" name="TextBox 34">
            <a:extLst>
              <a:ext uri="{FF2B5EF4-FFF2-40B4-BE49-F238E27FC236}">
                <a16:creationId xmlns:a16="http://schemas.microsoft.com/office/drawing/2014/main" id="{EE678A80-72D1-B9BB-CC22-D35E8CA3FA23}"/>
              </a:ext>
            </a:extLst>
          </p:cNvPr>
          <p:cNvSpPr txBox="1"/>
          <p:nvPr/>
        </p:nvSpPr>
        <p:spPr>
          <a:xfrm>
            <a:off x="658368" y="5577840"/>
            <a:ext cx="3040380" cy="174851"/>
          </a:xfrm>
          <a:prstGeom prst="rect">
            <a:avLst/>
          </a:prstGeom>
          <a:noFill/>
        </p:spPr>
        <p:txBody>
          <a:bodyPr wrap="square" lIns="36000" tIns="18000" rIns="36000" bIns="18000" anchor="t">
            <a:spAutoFit/>
          </a:bodyPr>
          <a:lstStyle/>
          <a:p>
            <a:pPr algn="l"/>
            <a:r>
              <a:rPr sz="900" b="0" i="0">
                <a:solidFill>
                  <a:srgbClr val="162A4D"/>
                </a:solidFill>
              </a:rPr>
              <a:t>○  Corporate &amp; Regulatory</a:t>
            </a:r>
          </a:p>
        </p:txBody>
      </p:sp>
      <p:sp>
        <p:nvSpPr>
          <p:cNvPr id="132" name="TextBox 35">
            <a:extLst>
              <a:ext uri="{FF2B5EF4-FFF2-40B4-BE49-F238E27FC236}">
                <a16:creationId xmlns:a16="http://schemas.microsoft.com/office/drawing/2014/main" id="{ABD68E23-4283-74D6-998B-C085153D47EF}"/>
              </a:ext>
            </a:extLst>
          </p:cNvPr>
          <p:cNvSpPr txBox="1"/>
          <p:nvPr/>
        </p:nvSpPr>
        <p:spPr>
          <a:xfrm>
            <a:off x="658368" y="5833872"/>
            <a:ext cx="3040380" cy="174851"/>
          </a:xfrm>
          <a:prstGeom prst="rect">
            <a:avLst/>
          </a:prstGeom>
          <a:noFill/>
        </p:spPr>
        <p:txBody>
          <a:bodyPr wrap="square" lIns="36000" tIns="18000" rIns="36000" bIns="18000" anchor="t">
            <a:spAutoFit/>
          </a:bodyPr>
          <a:lstStyle/>
          <a:p>
            <a:pPr algn="l"/>
            <a:r>
              <a:rPr sz="900" b="0" i="0">
                <a:solidFill>
                  <a:srgbClr val="162A4D"/>
                </a:solidFill>
              </a:rPr>
              <a:t>○  Iberdrola Corp Services</a:t>
            </a:r>
          </a:p>
        </p:txBody>
      </p:sp>
      <p:sp>
        <p:nvSpPr>
          <p:cNvPr id="133" name="TextBox 36">
            <a:extLst>
              <a:ext uri="{FF2B5EF4-FFF2-40B4-BE49-F238E27FC236}">
                <a16:creationId xmlns:a16="http://schemas.microsoft.com/office/drawing/2014/main" id="{4E140D8E-EC5C-421F-B4A4-C3104F36C1B1}"/>
              </a:ext>
            </a:extLst>
          </p:cNvPr>
          <p:cNvSpPr txBox="1"/>
          <p:nvPr/>
        </p:nvSpPr>
        <p:spPr>
          <a:xfrm>
            <a:off x="658368" y="6126480"/>
            <a:ext cx="3040380" cy="164592"/>
          </a:xfrm>
          <a:prstGeom prst="rect">
            <a:avLst/>
          </a:prstGeom>
          <a:noFill/>
        </p:spPr>
        <p:txBody>
          <a:bodyPr wrap="square" lIns="36000" tIns="18000" rIns="36000" bIns="18000" anchor="t">
            <a:spAutoFit/>
          </a:bodyPr>
          <a:lstStyle/>
          <a:p>
            <a:pPr algn="l"/>
            <a:r>
              <a:rPr sz="800" b="1" i="1">
                <a:solidFill>
                  <a:srgbClr val="162A4D"/>
                </a:solidFill>
              </a:rPr>
              <a:t>→ ITBA Portfolio Board</a:t>
            </a:r>
          </a:p>
        </p:txBody>
      </p:sp>
      <p:sp>
        <p:nvSpPr>
          <p:cNvPr id="134" name="Rounded Rectangle 37">
            <a:extLst>
              <a:ext uri="{FF2B5EF4-FFF2-40B4-BE49-F238E27FC236}">
                <a16:creationId xmlns:a16="http://schemas.microsoft.com/office/drawing/2014/main" id="{55A33B39-E797-72CE-9837-91E753C94A25}"/>
              </a:ext>
            </a:extLst>
          </p:cNvPr>
          <p:cNvSpPr/>
          <p:nvPr/>
        </p:nvSpPr>
        <p:spPr>
          <a:xfrm>
            <a:off x="390906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39">
            <a:extLst>
              <a:ext uri="{FF2B5EF4-FFF2-40B4-BE49-F238E27FC236}">
                <a16:creationId xmlns:a16="http://schemas.microsoft.com/office/drawing/2014/main" id="{B7D3BA70-8AD4-0106-0D24-6739E25EF66E}"/>
              </a:ext>
            </a:extLst>
          </p:cNvPr>
          <p:cNvSpPr txBox="1"/>
          <p:nvPr/>
        </p:nvSpPr>
        <p:spPr>
          <a:xfrm>
            <a:off x="4000500" y="4535424"/>
            <a:ext cx="3040380" cy="190240"/>
          </a:xfrm>
          <a:prstGeom prst="rect">
            <a:avLst/>
          </a:prstGeom>
          <a:noFill/>
        </p:spPr>
        <p:txBody>
          <a:bodyPr wrap="square" lIns="36000" tIns="18000" rIns="36000" bIns="18000" anchor="t">
            <a:spAutoFit/>
          </a:bodyPr>
          <a:lstStyle/>
          <a:p>
            <a:pPr algn="l"/>
            <a:r>
              <a:rPr sz="1000" b="1" i="0">
                <a:solidFill>
                  <a:srgbClr val="162A4D"/>
                </a:solidFill>
              </a:rPr>
              <a:t>CS · Kumar </a:t>
            </a:r>
            <a:r>
              <a:rPr lang="es-MX" sz="1000" b="1" i="0">
                <a:solidFill>
                  <a:srgbClr val="162A4D"/>
                </a:solidFill>
              </a:rPr>
              <a:t>Jaladanki</a:t>
            </a:r>
            <a:r>
              <a:rPr sz="1000" b="1" i="0">
                <a:solidFill>
                  <a:srgbClr val="162A4D"/>
                </a:solidFill>
              </a:rPr>
              <a:t> · 4 </a:t>
            </a:r>
            <a:r>
              <a:rPr lang="pt-BR" sz="1000" b="1" i="0" err="1">
                <a:solidFill>
                  <a:srgbClr val="162A4D"/>
                </a:solidFill>
              </a:rPr>
              <a:t>teams</a:t>
            </a:r>
            <a:r>
              <a:rPr sz="1000" b="1" i="0">
                <a:solidFill>
                  <a:srgbClr val="162A4D"/>
                </a:solidFill>
              </a:rPr>
              <a:t> + Enabling</a:t>
            </a:r>
          </a:p>
        </p:txBody>
      </p:sp>
      <p:sp>
        <p:nvSpPr>
          <p:cNvPr id="137" name="TextBox 40">
            <a:extLst>
              <a:ext uri="{FF2B5EF4-FFF2-40B4-BE49-F238E27FC236}">
                <a16:creationId xmlns:a16="http://schemas.microsoft.com/office/drawing/2014/main" id="{993B0001-90BC-4C1E-0DB0-74B28D5B5FAF}"/>
              </a:ext>
            </a:extLst>
          </p:cNvPr>
          <p:cNvSpPr txBox="1"/>
          <p:nvPr/>
        </p:nvSpPr>
        <p:spPr>
          <a:xfrm>
            <a:off x="4018788" y="4809744"/>
            <a:ext cx="3040380" cy="174851"/>
          </a:xfrm>
          <a:prstGeom prst="rect">
            <a:avLst/>
          </a:prstGeom>
          <a:noFill/>
        </p:spPr>
        <p:txBody>
          <a:bodyPr wrap="square" lIns="36000" tIns="18000" rIns="36000" bIns="18000" anchor="t">
            <a:spAutoFit/>
          </a:bodyPr>
          <a:lstStyle/>
          <a:p>
            <a:pPr algn="l"/>
            <a:r>
              <a:rPr sz="900" b="1" i="0">
                <a:solidFill>
                  <a:srgbClr val="162A4D"/>
                </a:solidFill>
              </a:rPr>
              <a:t>●  Meter &amp; Device Operations</a:t>
            </a:r>
          </a:p>
        </p:txBody>
      </p:sp>
      <p:sp>
        <p:nvSpPr>
          <p:cNvPr id="138" name="TextBox 41">
            <a:extLst>
              <a:ext uri="{FF2B5EF4-FFF2-40B4-BE49-F238E27FC236}">
                <a16:creationId xmlns:a16="http://schemas.microsoft.com/office/drawing/2014/main" id="{F053D881-9E1F-E815-6992-DA430F616755}"/>
              </a:ext>
            </a:extLst>
          </p:cNvPr>
          <p:cNvSpPr txBox="1"/>
          <p:nvPr/>
        </p:nvSpPr>
        <p:spPr>
          <a:xfrm>
            <a:off x="4018788" y="5065776"/>
            <a:ext cx="3040380" cy="174851"/>
          </a:xfrm>
          <a:prstGeom prst="rect">
            <a:avLst/>
          </a:prstGeom>
          <a:noFill/>
        </p:spPr>
        <p:txBody>
          <a:bodyPr wrap="square" lIns="36000" tIns="18000" rIns="36000" bIns="18000" anchor="t">
            <a:spAutoFit/>
          </a:bodyPr>
          <a:lstStyle/>
          <a:p>
            <a:pPr algn="l"/>
            <a:r>
              <a:rPr sz="900" b="0" i="0">
                <a:solidFill>
                  <a:srgbClr val="162A4D"/>
                </a:solidFill>
              </a:rPr>
              <a:t>○  Billing Operations</a:t>
            </a:r>
          </a:p>
        </p:txBody>
      </p:sp>
      <p:sp>
        <p:nvSpPr>
          <p:cNvPr id="139" name="TextBox 42">
            <a:extLst>
              <a:ext uri="{FF2B5EF4-FFF2-40B4-BE49-F238E27FC236}">
                <a16:creationId xmlns:a16="http://schemas.microsoft.com/office/drawing/2014/main" id="{0A700539-DF04-D1F4-D3A7-F97EDBCACF8E}"/>
              </a:ext>
            </a:extLst>
          </p:cNvPr>
          <p:cNvSpPr txBox="1"/>
          <p:nvPr/>
        </p:nvSpPr>
        <p:spPr>
          <a:xfrm>
            <a:off x="4018788" y="5321808"/>
            <a:ext cx="3040380" cy="174851"/>
          </a:xfrm>
          <a:prstGeom prst="rect">
            <a:avLst/>
          </a:prstGeom>
          <a:noFill/>
        </p:spPr>
        <p:txBody>
          <a:bodyPr wrap="square" lIns="36000" tIns="18000" rIns="36000" bIns="18000" anchor="t">
            <a:spAutoFit/>
          </a:bodyPr>
          <a:lstStyle/>
          <a:p>
            <a:pPr algn="l"/>
            <a:r>
              <a:rPr sz="900" b="0" i="0">
                <a:solidFill>
                  <a:srgbClr val="162A4D"/>
                </a:solidFill>
              </a:rPr>
              <a:t>○  Revenue &amp; Collections</a:t>
            </a:r>
          </a:p>
        </p:txBody>
      </p:sp>
      <p:sp>
        <p:nvSpPr>
          <p:cNvPr id="140" name="TextBox 43">
            <a:extLst>
              <a:ext uri="{FF2B5EF4-FFF2-40B4-BE49-F238E27FC236}">
                <a16:creationId xmlns:a16="http://schemas.microsoft.com/office/drawing/2014/main" id="{7A2FB02A-77EE-1122-86A9-12D5D88C9916}"/>
              </a:ext>
            </a:extLst>
          </p:cNvPr>
          <p:cNvSpPr txBox="1"/>
          <p:nvPr/>
        </p:nvSpPr>
        <p:spPr>
          <a:xfrm>
            <a:off x="4018788" y="5577840"/>
            <a:ext cx="3040380" cy="174851"/>
          </a:xfrm>
          <a:prstGeom prst="rect">
            <a:avLst/>
          </a:prstGeom>
          <a:noFill/>
        </p:spPr>
        <p:txBody>
          <a:bodyPr wrap="square" lIns="36000" tIns="18000" rIns="36000" bIns="18000" anchor="t">
            <a:spAutoFit/>
          </a:bodyPr>
          <a:lstStyle/>
          <a:p>
            <a:pPr algn="l"/>
            <a:r>
              <a:rPr sz="900" b="0" i="0">
                <a:solidFill>
                  <a:srgbClr val="162A4D"/>
                </a:solidFill>
              </a:rPr>
              <a:t>○  Customer Care &amp; Engagement</a:t>
            </a:r>
          </a:p>
        </p:txBody>
      </p:sp>
      <p:sp>
        <p:nvSpPr>
          <p:cNvPr id="141" name="TextBox 44">
            <a:extLst>
              <a:ext uri="{FF2B5EF4-FFF2-40B4-BE49-F238E27FC236}">
                <a16:creationId xmlns:a16="http://schemas.microsoft.com/office/drawing/2014/main" id="{AB9EA24D-4AE4-707E-636D-F609C60A9013}"/>
              </a:ext>
            </a:extLst>
          </p:cNvPr>
          <p:cNvSpPr txBox="1"/>
          <p:nvPr/>
        </p:nvSpPr>
        <p:spPr>
          <a:xfrm>
            <a:off x="4018788" y="5833872"/>
            <a:ext cx="3040380" cy="174851"/>
          </a:xfrm>
          <a:prstGeom prst="rect">
            <a:avLst/>
          </a:prstGeom>
          <a:noFill/>
        </p:spPr>
        <p:txBody>
          <a:bodyPr wrap="square" lIns="36000" tIns="18000" rIns="36000" bIns="18000" anchor="t">
            <a:spAutoFit/>
          </a:bodyPr>
          <a:lstStyle/>
          <a:p>
            <a:pPr algn="l"/>
            <a:r>
              <a:rPr sz="900" b="0" i="0">
                <a:solidFill>
                  <a:srgbClr val="162A4D"/>
                </a:solidFill>
              </a:rPr>
              <a:t>○  Enabling Team — Foundation Services</a:t>
            </a:r>
          </a:p>
        </p:txBody>
      </p:sp>
      <p:sp>
        <p:nvSpPr>
          <p:cNvPr id="142" name="TextBox 45">
            <a:extLst>
              <a:ext uri="{FF2B5EF4-FFF2-40B4-BE49-F238E27FC236}">
                <a16:creationId xmlns:a16="http://schemas.microsoft.com/office/drawing/2014/main" id="{333217E3-6350-1064-F23B-F96BC5FC4CE8}"/>
              </a:ext>
            </a:extLst>
          </p:cNvPr>
          <p:cNvSpPr txBox="1"/>
          <p:nvPr/>
        </p:nvSpPr>
        <p:spPr>
          <a:xfrm>
            <a:off x="7269480" y="1581912"/>
            <a:ext cx="4389120" cy="205629"/>
          </a:xfrm>
          <a:prstGeom prst="rect">
            <a:avLst/>
          </a:prstGeom>
          <a:noFill/>
        </p:spPr>
        <p:txBody>
          <a:bodyPr wrap="square" lIns="36000" tIns="18000" rIns="36000" bIns="18000" anchor="t">
            <a:spAutoFit/>
          </a:bodyPr>
          <a:lstStyle/>
          <a:p>
            <a:pPr algn="l"/>
            <a:r>
              <a:rPr lang="en-US" sz="1100" b="1" i="0">
                <a:solidFill>
                  <a:srgbClr val="007A32"/>
                </a:solidFill>
              </a:rPr>
              <a:t>CLASSIFICATION</a:t>
            </a:r>
          </a:p>
        </p:txBody>
      </p:sp>
      <p:sp>
        <p:nvSpPr>
          <p:cNvPr id="143" name="Rectangle 46">
            <a:extLst>
              <a:ext uri="{FF2B5EF4-FFF2-40B4-BE49-F238E27FC236}">
                <a16:creationId xmlns:a16="http://schemas.microsoft.com/office/drawing/2014/main" id="{7D0508DD-414F-27EC-C380-3FFD3CB0DE47}"/>
              </a:ext>
            </a:extLst>
          </p:cNvPr>
          <p:cNvSpPr/>
          <p:nvPr/>
        </p:nvSpPr>
        <p:spPr>
          <a:xfrm>
            <a:off x="7269480" y="1783080"/>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47">
            <a:extLst>
              <a:ext uri="{FF2B5EF4-FFF2-40B4-BE49-F238E27FC236}">
                <a16:creationId xmlns:a16="http://schemas.microsoft.com/office/drawing/2014/main" id="{FE3D1CC6-9BBA-3BE5-4F80-8D2AD3286899}"/>
              </a:ext>
            </a:extLst>
          </p:cNvPr>
          <p:cNvSpPr txBox="1"/>
          <p:nvPr/>
        </p:nvSpPr>
        <p:spPr>
          <a:xfrm>
            <a:off x="7269480" y="1874520"/>
            <a:ext cx="4389120" cy="174851"/>
          </a:xfrm>
          <a:prstGeom prst="rect">
            <a:avLst/>
          </a:prstGeom>
          <a:noFill/>
        </p:spPr>
        <p:txBody>
          <a:bodyPr wrap="square" lIns="36000" tIns="18000" rIns="36000" bIns="18000" anchor="t">
            <a:spAutoFit/>
          </a:bodyPr>
          <a:lstStyle/>
          <a:p>
            <a:r>
              <a:rPr sz="900" b="1" i="0">
                <a:solidFill>
                  <a:srgbClr val="172B4D"/>
                </a:solidFill>
              </a:rPr>
              <a:t>Class of Service   </a:t>
            </a:r>
            <a:r>
              <a:rPr lang="pt-BR" sz="900" b="1" i="0">
                <a:solidFill>
                  <a:srgbClr val="172B4D"/>
                </a:solidFill>
              </a:rPr>
              <a:t>·</a:t>
            </a:r>
            <a:r>
              <a:rPr sz="900" b="1" i="0">
                <a:solidFill>
                  <a:srgbClr val="172B4D"/>
                </a:solidFill>
              </a:rPr>
              <a:t>  </a:t>
            </a:r>
            <a:r>
              <a:rPr lang="es-MX" sz="900" b="1" i="0">
                <a:solidFill>
                  <a:srgbClr val="172B4D"/>
                </a:solidFill>
              </a:rPr>
              <a:t>swimlane</a:t>
            </a:r>
            <a:r>
              <a:rPr sz="900" b="1" i="0">
                <a:solidFill>
                  <a:srgbClr val="172B4D"/>
                </a:solidFill>
              </a:rPr>
              <a:t> assignment</a:t>
            </a:r>
            <a:r>
              <a:rPr lang="pt-BR" sz="900" b="1">
                <a:solidFill>
                  <a:srgbClr val="172B4D"/>
                </a:solidFill>
              </a:rPr>
              <a:t> · PM (</a:t>
            </a:r>
            <a:r>
              <a:rPr lang="pt-BR" sz="900" b="1" err="1">
                <a:solidFill>
                  <a:srgbClr val="172B4D"/>
                </a:solidFill>
              </a:rPr>
              <a:t>initial</a:t>
            </a:r>
            <a:r>
              <a:rPr lang="pt-BR" sz="900" b="1">
                <a:solidFill>
                  <a:srgbClr val="172B4D"/>
                </a:solidFill>
              </a:rPr>
              <a:t> </a:t>
            </a:r>
            <a:r>
              <a:rPr lang="pt-BR" sz="900" b="1" err="1">
                <a:solidFill>
                  <a:srgbClr val="172B4D"/>
                </a:solidFill>
              </a:rPr>
              <a:t>guess</a:t>
            </a:r>
            <a:r>
              <a:rPr lang="pt-BR" sz="900" b="1">
                <a:solidFill>
                  <a:srgbClr val="172B4D"/>
                </a:solidFill>
              </a:rPr>
              <a:t>)</a:t>
            </a:r>
            <a:endParaRPr lang="pt-BR" sz="900" b="1" i="0">
              <a:solidFill>
                <a:srgbClr val="172B4D"/>
              </a:solidFill>
            </a:endParaRPr>
          </a:p>
        </p:txBody>
      </p:sp>
      <p:sp>
        <p:nvSpPr>
          <p:cNvPr id="145" name="Rounded Rectangle 48">
            <a:extLst>
              <a:ext uri="{FF2B5EF4-FFF2-40B4-BE49-F238E27FC236}">
                <a16:creationId xmlns:a16="http://schemas.microsoft.com/office/drawing/2014/main" id="{7251F640-0C8B-7B31-9297-1D07C9876F00}"/>
              </a:ext>
            </a:extLst>
          </p:cNvPr>
          <p:cNvSpPr/>
          <p:nvPr/>
        </p:nvSpPr>
        <p:spPr>
          <a:xfrm>
            <a:off x="7269480" y="2057400"/>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49">
            <a:extLst>
              <a:ext uri="{FF2B5EF4-FFF2-40B4-BE49-F238E27FC236}">
                <a16:creationId xmlns:a16="http://schemas.microsoft.com/office/drawing/2014/main" id="{B57E244F-16A0-01E8-B770-49BABCC2D7B8}"/>
              </a:ext>
            </a:extLst>
          </p:cNvPr>
          <p:cNvSpPr txBox="1"/>
          <p:nvPr/>
        </p:nvSpPr>
        <p:spPr>
          <a:xfrm>
            <a:off x="6734556" y="211878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Standard</a:t>
            </a:r>
          </a:p>
        </p:txBody>
      </p:sp>
      <p:sp>
        <p:nvSpPr>
          <p:cNvPr id="147" name="Rounded Rectangle 50">
            <a:extLst>
              <a:ext uri="{FF2B5EF4-FFF2-40B4-BE49-F238E27FC236}">
                <a16:creationId xmlns:a16="http://schemas.microsoft.com/office/drawing/2014/main" id="{C7A90248-3681-B098-6542-B2AF85592986}"/>
              </a:ext>
            </a:extLst>
          </p:cNvPr>
          <p:cNvSpPr/>
          <p:nvPr/>
        </p:nvSpPr>
        <p:spPr>
          <a:xfrm>
            <a:off x="8949068" y="1986959"/>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51">
            <a:extLst>
              <a:ext uri="{FF2B5EF4-FFF2-40B4-BE49-F238E27FC236}">
                <a16:creationId xmlns:a16="http://schemas.microsoft.com/office/drawing/2014/main" id="{5A268CC2-40D8-91C9-4CCA-8B09E5EAEA6C}"/>
              </a:ext>
            </a:extLst>
          </p:cNvPr>
          <p:cNvSpPr txBox="1"/>
          <p:nvPr/>
        </p:nvSpPr>
        <p:spPr>
          <a:xfrm>
            <a:off x="8949068" y="2106250"/>
            <a:ext cx="2167128" cy="201168"/>
          </a:xfrm>
          <a:prstGeom prst="rect">
            <a:avLst/>
          </a:prstGeom>
          <a:noFill/>
        </p:spPr>
        <p:txBody>
          <a:bodyPr wrap="square" lIns="36000" tIns="18000" rIns="36000" bIns="18000" anchor="ctr">
            <a:spAutoFit/>
          </a:bodyPr>
          <a:lstStyle/>
          <a:p>
            <a:pPr algn="ctr"/>
            <a:r>
              <a:rPr sz="900" b="1" i="0">
                <a:solidFill>
                  <a:srgbClr val="0F2A47"/>
                </a:solidFill>
              </a:rPr>
              <a:t>○  Fixed-Date</a:t>
            </a:r>
          </a:p>
        </p:txBody>
      </p:sp>
      <p:sp>
        <p:nvSpPr>
          <p:cNvPr id="149" name="Rounded Rectangle 52">
            <a:extLst>
              <a:ext uri="{FF2B5EF4-FFF2-40B4-BE49-F238E27FC236}">
                <a16:creationId xmlns:a16="http://schemas.microsoft.com/office/drawing/2014/main" id="{15A9DBCA-6B43-1914-A9F8-B2E417AE4CD0}"/>
              </a:ext>
            </a:extLst>
          </p:cNvPr>
          <p:cNvSpPr/>
          <p:nvPr/>
        </p:nvSpPr>
        <p:spPr>
          <a:xfrm>
            <a:off x="7269480" y="2304288"/>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53">
            <a:extLst>
              <a:ext uri="{FF2B5EF4-FFF2-40B4-BE49-F238E27FC236}">
                <a16:creationId xmlns:a16="http://schemas.microsoft.com/office/drawing/2014/main" id="{B635A192-3581-D977-88F7-4133057A2F41}"/>
              </a:ext>
            </a:extLst>
          </p:cNvPr>
          <p:cNvSpPr txBox="1"/>
          <p:nvPr/>
        </p:nvSpPr>
        <p:spPr>
          <a:xfrm>
            <a:off x="6726244" y="235205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Expedite</a:t>
            </a:r>
          </a:p>
        </p:txBody>
      </p:sp>
      <p:sp>
        <p:nvSpPr>
          <p:cNvPr id="151" name="Rounded Rectangle 54">
            <a:extLst>
              <a:ext uri="{FF2B5EF4-FFF2-40B4-BE49-F238E27FC236}">
                <a16:creationId xmlns:a16="http://schemas.microsoft.com/office/drawing/2014/main" id="{2C296E8B-7324-3D29-7D4F-144BA76F656B}"/>
              </a:ext>
            </a:extLst>
          </p:cNvPr>
          <p:cNvSpPr/>
          <p:nvPr/>
        </p:nvSpPr>
        <p:spPr>
          <a:xfrm>
            <a:off x="8949068" y="2233847"/>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55">
            <a:extLst>
              <a:ext uri="{FF2B5EF4-FFF2-40B4-BE49-F238E27FC236}">
                <a16:creationId xmlns:a16="http://schemas.microsoft.com/office/drawing/2014/main" id="{04BDC588-371B-A6E3-DDBC-BD9EA2ED27A3}"/>
              </a:ext>
            </a:extLst>
          </p:cNvPr>
          <p:cNvSpPr txBox="1"/>
          <p:nvPr/>
        </p:nvSpPr>
        <p:spPr>
          <a:xfrm>
            <a:off x="8921636" y="2343017"/>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Intangible</a:t>
            </a:r>
          </a:p>
        </p:txBody>
      </p:sp>
      <p:sp>
        <p:nvSpPr>
          <p:cNvPr id="153" name="TextBox 56">
            <a:extLst>
              <a:ext uri="{FF2B5EF4-FFF2-40B4-BE49-F238E27FC236}">
                <a16:creationId xmlns:a16="http://schemas.microsoft.com/office/drawing/2014/main" id="{E164475A-4370-9E2B-FE70-670434D0DEEF}"/>
              </a:ext>
            </a:extLst>
          </p:cNvPr>
          <p:cNvSpPr txBox="1"/>
          <p:nvPr/>
        </p:nvSpPr>
        <p:spPr>
          <a:xfrm>
            <a:off x="7269480" y="2606040"/>
            <a:ext cx="2011680" cy="174851"/>
          </a:xfrm>
          <a:prstGeom prst="rect">
            <a:avLst/>
          </a:prstGeom>
          <a:noFill/>
        </p:spPr>
        <p:txBody>
          <a:bodyPr wrap="square" lIns="36000" tIns="18000" rIns="36000" bIns="18000" anchor="t">
            <a:spAutoFit/>
          </a:bodyPr>
          <a:lstStyle/>
          <a:p>
            <a:r>
              <a:rPr lang="es-MX" sz="900" b="1" i="0" err="1">
                <a:solidFill>
                  <a:srgbClr val="172B4D"/>
                </a:solidFill>
              </a:rPr>
              <a:t>Regulatory</a:t>
            </a:r>
            <a:r>
              <a:rPr lang="es-MX" sz="900" b="1" i="0">
                <a:solidFill>
                  <a:srgbClr val="172B4D"/>
                </a:solidFill>
              </a:rPr>
              <a:t>:</a:t>
            </a:r>
            <a:endParaRPr lang="pt-BR" sz="900" b="1" i="0">
              <a:solidFill>
                <a:srgbClr val="172B4D"/>
              </a:solidFill>
            </a:endParaRPr>
          </a:p>
        </p:txBody>
      </p:sp>
      <p:sp>
        <p:nvSpPr>
          <p:cNvPr id="154" name="Rounded Rectangle 57">
            <a:extLst>
              <a:ext uri="{FF2B5EF4-FFF2-40B4-BE49-F238E27FC236}">
                <a16:creationId xmlns:a16="http://schemas.microsoft.com/office/drawing/2014/main" id="{61B930CA-2E9D-B31F-AEB1-791392694319}"/>
              </a:ext>
            </a:extLst>
          </p:cNvPr>
          <p:cNvSpPr/>
          <p:nvPr/>
        </p:nvSpPr>
        <p:spPr>
          <a:xfrm>
            <a:off x="7269480" y="2770632"/>
            <a:ext cx="201168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58">
            <a:extLst>
              <a:ext uri="{FF2B5EF4-FFF2-40B4-BE49-F238E27FC236}">
                <a16:creationId xmlns:a16="http://schemas.microsoft.com/office/drawing/2014/main" id="{6CC2D48E-E7F5-7163-294F-8BB1F99C125B}"/>
              </a:ext>
            </a:extLst>
          </p:cNvPr>
          <p:cNvSpPr txBox="1"/>
          <p:nvPr/>
        </p:nvSpPr>
        <p:spPr>
          <a:xfrm>
            <a:off x="7342632" y="2788920"/>
            <a:ext cx="1920240" cy="174851"/>
          </a:xfrm>
          <a:prstGeom prst="rect">
            <a:avLst/>
          </a:prstGeom>
          <a:noFill/>
        </p:spPr>
        <p:txBody>
          <a:bodyPr wrap="square" lIns="36000" tIns="18000" rIns="36000" bIns="18000" anchor="t">
            <a:spAutoFit/>
          </a:bodyPr>
          <a:lstStyle/>
          <a:p>
            <a:r>
              <a:rPr sz="900" b="1" i="0">
                <a:solidFill>
                  <a:srgbClr val="172B4D"/>
                </a:solidFill>
              </a:rPr>
              <a:t> </a:t>
            </a:r>
            <a:r>
              <a:rPr lang="pt-BR" sz="900">
                <a:solidFill>
                  <a:srgbClr val="172B4D"/>
                </a:solidFill>
              </a:rPr>
              <a:t>▼ </a:t>
            </a:r>
            <a:r>
              <a:rPr lang="pt-BR" sz="800" i="0" err="1">
                <a:solidFill>
                  <a:srgbClr val="172B4D"/>
                </a:solidFill>
              </a:rPr>
              <a:t>Regulatory</a:t>
            </a:r>
            <a:r>
              <a:rPr lang="pt-BR" sz="800" i="0">
                <a:solidFill>
                  <a:srgbClr val="172B4D"/>
                </a:solidFill>
              </a:rPr>
              <a:t> </a:t>
            </a:r>
            <a:r>
              <a:rPr lang="pt-BR" sz="800">
                <a:solidFill>
                  <a:srgbClr val="172B4D"/>
                </a:solidFill>
              </a:rPr>
              <a:t>· </a:t>
            </a:r>
            <a:r>
              <a:rPr lang="pt-BR" sz="800" err="1">
                <a:solidFill>
                  <a:srgbClr val="172B4D"/>
                </a:solidFill>
              </a:rPr>
              <a:t>Produc</a:t>
            </a:r>
            <a:r>
              <a:rPr lang="pt-BR" sz="800">
                <a:solidFill>
                  <a:srgbClr val="172B4D"/>
                </a:solidFill>
              </a:rPr>
              <a:t> </a:t>
            </a:r>
            <a:r>
              <a:rPr lang="pt-BR" sz="800" err="1">
                <a:solidFill>
                  <a:srgbClr val="172B4D"/>
                </a:solidFill>
              </a:rPr>
              <a:t>Sup</a:t>
            </a:r>
            <a:r>
              <a:rPr lang="pt-BR" sz="800">
                <a:solidFill>
                  <a:srgbClr val="172B4D"/>
                </a:solidFill>
              </a:rPr>
              <a:t> · Non-</a:t>
            </a:r>
            <a:r>
              <a:rPr lang="pt-BR" sz="800" err="1">
                <a:solidFill>
                  <a:srgbClr val="172B4D"/>
                </a:solidFill>
              </a:rPr>
              <a:t>Reg</a:t>
            </a:r>
            <a:r>
              <a:rPr lang="pt-BR" sz="800" i="0">
                <a:solidFill>
                  <a:srgbClr val="172B4D"/>
                </a:solidFill>
              </a:rPr>
              <a:t>  </a:t>
            </a:r>
            <a:endParaRPr lang="pt-BR" sz="900" i="0">
              <a:solidFill>
                <a:srgbClr val="172B4D"/>
              </a:solidFill>
            </a:endParaRPr>
          </a:p>
        </p:txBody>
      </p:sp>
      <p:sp>
        <p:nvSpPr>
          <p:cNvPr id="156" name="TextBox 59">
            <a:extLst>
              <a:ext uri="{FF2B5EF4-FFF2-40B4-BE49-F238E27FC236}">
                <a16:creationId xmlns:a16="http://schemas.microsoft.com/office/drawing/2014/main" id="{83AEDE72-F84D-0503-F2F9-82EA2E125418}"/>
              </a:ext>
            </a:extLst>
          </p:cNvPr>
          <p:cNvSpPr txBox="1"/>
          <p:nvPr/>
        </p:nvSpPr>
        <p:spPr>
          <a:xfrm>
            <a:off x="9464040" y="2606040"/>
            <a:ext cx="2194560" cy="174851"/>
          </a:xfrm>
          <a:prstGeom prst="rect">
            <a:avLst/>
          </a:prstGeom>
          <a:noFill/>
        </p:spPr>
        <p:txBody>
          <a:bodyPr wrap="square" lIns="36000" tIns="18000" rIns="36000" bIns="18000" anchor="t">
            <a:spAutoFit/>
          </a:bodyPr>
          <a:lstStyle/>
          <a:p>
            <a:r>
              <a:rPr sz="900" b="1" i="0">
                <a:solidFill>
                  <a:srgbClr val="172B4D"/>
                </a:solidFill>
              </a:rPr>
              <a:t>Size</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57" name="Rounded Rectangle 60">
            <a:extLst>
              <a:ext uri="{FF2B5EF4-FFF2-40B4-BE49-F238E27FC236}">
                <a16:creationId xmlns:a16="http://schemas.microsoft.com/office/drawing/2014/main" id="{3F5BA67A-7E63-72BD-B03F-D04175304F40}"/>
              </a:ext>
            </a:extLst>
          </p:cNvPr>
          <p:cNvSpPr/>
          <p:nvPr/>
        </p:nvSpPr>
        <p:spPr>
          <a:xfrm>
            <a:off x="9464040" y="2770632"/>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61">
            <a:extLst>
              <a:ext uri="{FF2B5EF4-FFF2-40B4-BE49-F238E27FC236}">
                <a16:creationId xmlns:a16="http://schemas.microsoft.com/office/drawing/2014/main" id="{C3DED98E-AFD0-3CD1-0EC1-E72D50646C07}"/>
              </a:ext>
            </a:extLst>
          </p:cNvPr>
          <p:cNvSpPr txBox="1"/>
          <p:nvPr/>
        </p:nvSpPr>
        <p:spPr>
          <a:xfrm>
            <a:off x="9537192" y="2788920"/>
            <a:ext cx="2103120" cy="201168"/>
          </a:xfrm>
          <a:prstGeom prst="rect">
            <a:avLst/>
          </a:prstGeom>
          <a:noFill/>
        </p:spPr>
        <p:txBody>
          <a:bodyPr wrap="square" lIns="36000" tIns="18000" rIns="36000" bIns="18000" anchor="t">
            <a:spAutoFit/>
          </a:bodyPr>
          <a:lstStyle/>
          <a:p>
            <a:pPr algn="l"/>
            <a:r>
              <a:rPr sz="900" b="0" i="0">
                <a:solidFill>
                  <a:srgbClr val="172B4D"/>
                </a:solidFill>
              </a:rPr>
              <a:t>▼ S · M · L · XL</a:t>
            </a:r>
          </a:p>
        </p:txBody>
      </p:sp>
      <p:sp>
        <p:nvSpPr>
          <p:cNvPr id="175" name="Rounded Rectangle 78">
            <a:extLst>
              <a:ext uri="{FF2B5EF4-FFF2-40B4-BE49-F238E27FC236}">
                <a16:creationId xmlns:a16="http://schemas.microsoft.com/office/drawing/2014/main" id="{DFC9731C-B259-B361-1A4C-1B55AE761E28}"/>
              </a:ext>
            </a:extLst>
          </p:cNvPr>
          <p:cNvSpPr/>
          <p:nvPr/>
        </p:nvSpPr>
        <p:spPr>
          <a:xfrm>
            <a:off x="7232904" y="4059936"/>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83">
            <a:extLst>
              <a:ext uri="{FF2B5EF4-FFF2-40B4-BE49-F238E27FC236}">
                <a16:creationId xmlns:a16="http://schemas.microsoft.com/office/drawing/2014/main" id="{E3BC9217-8579-36CA-08D7-DBB46B1B245C}"/>
              </a:ext>
            </a:extLst>
          </p:cNvPr>
          <p:cNvSpPr txBox="1"/>
          <p:nvPr/>
        </p:nvSpPr>
        <p:spPr>
          <a:xfrm>
            <a:off x="7251192" y="4133088"/>
            <a:ext cx="4389120" cy="205629"/>
          </a:xfrm>
          <a:prstGeom prst="rect">
            <a:avLst/>
          </a:prstGeom>
          <a:noFill/>
        </p:spPr>
        <p:txBody>
          <a:bodyPr wrap="square" lIns="36000" tIns="18000" rIns="36000" bIns="18000" anchor="t">
            <a:spAutoFit/>
          </a:bodyPr>
          <a:lstStyle/>
          <a:p>
            <a:pPr algn="l"/>
            <a:r>
              <a:rPr lang="en-US" sz="1100" b="1" i="0">
                <a:solidFill>
                  <a:srgbClr val="007A32"/>
                </a:solidFill>
              </a:rPr>
              <a:t> CONTEXT</a:t>
            </a:r>
          </a:p>
        </p:txBody>
      </p:sp>
      <p:sp>
        <p:nvSpPr>
          <p:cNvPr id="181" name="Rectangle 84">
            <a:extLst>
              <a:ext uri="{FF2B5EF4-FFF2-40B4-BE49-F238E27FC236}">
                <a16:creationId xmlns:a16="http://schemas.microsoft.com/office/drawing/2014/main" id="{C6F45D3B-3A1B-D12E-9E69-3BA3E71CD970}"/>
              </a:ext>
            </a:extLst>
          </p:cNvPr>
          <p:cNvSpPr/>
          <p:nvPr/>
        </p:nvSpPr>
        <p:spPr>
          <a:xfrm>
            <a:off x="7251192" y="4334256"/>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85">
            <a:extLst>
              <a:ext uri="{FF2B5EF4-FFF2-40B4-BE49-F238E27FC236}">
                <a16:creationId xmlns:a16="http://schemas.microsoft.com/office/drawing/2014/main" id="{7BF9A4DF-4B04-4EA1-86EF-32D997727EC4}"/>
              </a:ext>
            </a:extLst>
          </p:cNvPr>
          <p:cNvSpPr txBox="1"/>
          <p:nvPr/>
        </p:nvSpPr>
        <p:spPr>
          <a:xfrm>
            <a:off x="7251192" y="4425696"/>
            <a:ext cx="1426464" cy="174851"/>
          </a:xfrm>
          <a:prstGeom prst="rect">
            <a:avLst/>
          </a:prstGeom>
          <a:noFill/>
        </p:spPr>
        <p:txBody>
          <a:bodyPr wrap="square" lIns="36000" tIns="18000" rIns="36000" bIns="18000" anchor="t">
            <a:spAutoFit/>
          </a:bodyPr>
          <a:lstStyle/>
          <a:p>
            <a:r>
              <a:rPr sz="900" b="1" i="0">
                <a:solidFill>
                  <a:srgbClr val="172B4D"/>
                </a:solidFill>
              </a:rPr>
              <a:t>OPCO</a:t>
            </a:r>
            <a:endParaRPr lang="es-MX" sz="900" b="1" i="0">
              <a:solidFill>
                <a:srgbClr val="172B4D"/>
              </a:solidFill>
            </a:endParaRPr>
          </a:p>
        </p:txBody>
      </p:sp>
      <p:sp>
        <p:nvSpPr>
          <p:cNvPr id="183" name="Rounded Rectangle 86">
            <a:extLst>
              <a:ext uri="{FF2B5EF4-FFF2-40B4-BE49-F238E27FC236}">
                <a16:creationId xmlns:a16="http://schemas.microsoft.com/office/drawing/2014/main" id="{48242B81-4C47-F427-301C-133080D558B8}"/>
              </a:ext>
            </a:extLst>
          </p:cNvPr>
          <p:cNvSpPr/>
          <p:nvPr/>
        </p:nvSpPr>
        <p:spPr>
          <a:xfrm>
            <a:off x="7251192"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87">
            <a:extLst>
              <a:ext uri="{FF2B5EF4-FFF2-40B4-BE49-F238E27FC236}">
                <a16:creationId xmlns:a16="http://schemas.microsoft.com/office/drawing/2014/main" id="{09D5EE59-515F-1E73-0CB9-80D9C3D2DA0B}"/>
              </a:ext>
            </a:extLst>
          </p:cNvPr>
          <p:cNvSpPr txBox="1"/>
          <p:nvPr/>
        </p:nvSpPr>
        <p:spPr>
          <a:xfrm>
            <a:off x="7306056" y="4608576"/>
            <a:ext cx="1426464" cy="201168"/>
          </a:xfrm>
          <a:prstGeom prst="rect">
            <a:avLst/>
          </a:prstGeom>
          <a:noFill/>
        </p:spPr>
        <p:txBody>
          <a:bodyPr wrap="square" lIns="36000" tIns="18000" rIns="36000" bIns="18000" anchor="t">
            <a:spAutoFit/>
          </a:bodyPr>
          <a:lstStyle/>
          <a:p>
            <a:pPr algn="l"/>
            <a:r>
              <a:rPr sz="800" b="0" i="0">
                <a:solidFill>
                  <a:srgbClr val="172B4D"/>
                </a:solidFill>
              </a:rPr>
              <a:t>▼ UIL · CMP · NY</a:t>
            </a:r>
          </a:p>
        </p:txBody>
      </p:sp>
      <p:sp>
        <p:nvSpPr>
          <p:cNvPr id="185" name="TextBox 88">
            <a:extLst>
              <a:ext uri="{FF2B5EF4-FFF2-40B4-BE49-F238E27FC236}">
                <a16:creationId xmlns:a16="http://schemas.microsoft.com/office/drawing/2014/main" id="{D64942D3-44E5-DAAC-65FA-3F97DC209E2C}"/>
              </a:ext>
            </a:extLst>
          </p:cNvPr>
          <p:cNvSpPr txBox="1"/>
          <p:nvPr/>
        </p:nvSpPr>
        <p:spPr>
          <a:xfrm>
            <a:off x="8732520" y="4425696"/>
            <a:ext cx="1426464" cy="174851"/>
          </a:xfrm>
          <a:prstGeom prst="rect">
            <a:avLst/>
          </a:prstGeom>
          <a:noFill/>
        </p:spPr>
        <p:txBody>
          <a:bodyPr wrap="square" lIns="36000" tIns="18000" rIns="36000" bIns="18000" anchor="t">
            <a:spAutoFit/>
          </a:bodyPr>
          <a:lstStyle/>
          <a:p>
            <a:pPr algn="l"/>
            <a:r>
              <a:rPr sz="900" b="1" i="0">
                <a:solidFill>
                  <a:srgbClr val="172B4D"/>
                </a:solidFill>
              </a:rPr>
              <a:t>Sponsor </a:t>
            </a:r>
          </a:p>
        </p:txBody>
      </p:sp>
      <p:sp>
        <p:nvSpPr>
          <p:cNvPr id="186" name="Rounded Rectangle 89">
            <a:extLst>
              <a:ext uri="{FF2B5EF4-FFF2-40B4-BE49-F238E27FC236}">
                <a16:creationId xmlns:a16="http://schemas.microsoft.com/office/drawing/2014/main" id="{9CB63DAC-2301-76EC-1976-E66FEDF4B2C4}"/>
              </a:ext>
            </a:extLst>
          </p:cNvPr>
          <p:cNvSpPr/>
          <p:nvPr/>
        </p:nvSpPr>
        <p:spPr>
          <a:xfrm>
            <a:off x="8732520"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90">
            <a:extLst>
              <a:ext uri="{FF2B5EF4-FFF2-40B4-BE49-F238E27FC236}">
                <a16:creationId xmlns:a16="http://schemas.microsoft.com/office/drawing/2014/main" id="{B40EB805-1294-F642-CC99-BA895E3753A6}"/>
              </a:ext>
            </a:extLst>
          </p:cNvPr>
          <p:cNvSpPr txBox="1"/>
          <p:nvPr/>
        </p:nvSpPr>
        <p:spPr>
          <a:xfrm>
            <a:off x="8787384" y="4608576"/>
            <a:ext cx="1426464" cy="201168"/>
          </a:xfrm>
          <a:prstGeom prst="rect">
            <a:avLst/>
          </a:prstGeom>
          <a:noFill/>
        </p:spPr>
        <p:txBody>
          <a:bodyPr wrap="square" lIns="36000" tIns="18000" rIns="36000" bIns="18000" anchor="t">
            <a:spAutoFit/>
          </a:bodyPr>
          <a:lstStyle/>
          <a:p>
            <a:pPr algn="l"/>
            <a:r>
              <a:rPr sz="800" b="0" i="1">
                <a:solidFill>
                  <a:srgbClr val="A5ADBA"/>
                </a:solidFill>
              </a:rPr>
              <a:t>@ User picker</a:t>
            </a:r>
          </a:p>
        </p:txBody>
      </p:sp>
      <p:sp>
        <p:nvSpPr>
          <p:cNvPr id="188" name="TextBox 91">
            <a:extLst>
              <a:ext uri="{FF2B5EF4-FFF2-40B4-BE49-F238E27FC236}">
                <a16:creationId xmlns:a16="http://schemas.microsoft.com/office/drawing/2014/main" id="{C6AC391F-4954-6F3D-B5D7-3EAAC0B09500}"/>
              </a:ext>
            </a:extLst>
          </p:cNvPr>
          <p:cNvSpPr txBox="1"/>
          <p:nvPr/>
        </p:nvSpPr>
        <p:spPr>
          <a:xfrm>
            <a:off x="10213848" y="4425696"/>
            <a:ext cx="1426464" cy="164592"/>
          </a:xfrm>
          <a:prstGeom prst="rect">
            <a:avLst/>
          </a:prstGeom>
          <a:noFill/>
        </p:spPr>
        <p:txBody>
          <a:bodyPr wrap="square" lIns="36000" tIns="18000" rIns="36000" bIns="18000" anchor="t">
            <a:spAutoFit/>
          </a:bodyPr>
          <a:lstStyle/>
          <a:p>
            <a:pPr algn="l"/>
            <a:r>
              <a:rPr sz="900" b="1" i="0">
                <a:solidFill>
                  <a:srgbClr val="172B4D"/>
                </a:solidFill>
              </a:rPr>
              <a:t>Due Date</a:t>
            </a:r>
          </a:p>
        </p:txBody>
      </p:sp>
      <p:sp>
        <p:nvSpPr>
          <p:cNvPr id="189" name="Rounded Rectangle 92">
            <a:extLst>
              <a:ext uri="{FF2B5EF4-FFF2-40B4-BE49-F238E27FC236}">
                <a16:creationId xmlns:a16="http://schemas.microsoft.com/office/drawing/2014/main" id="{18D1BF3D-87EB-F579-C548-8D7C8E59895A}"/>
              </a:ext>
            </a:extLst>
          </p:cNvPr>
          <p:cNvSpPr/>
          <p:nvPr/>
        </p:nvSpPr>
        <p:spPr>
          <a:xfrm>
            <a:off x="10213848"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93">
            <a:extLst>
              <a:ext uri="{FF2B5EF4-FFF2-40B4-BE49-F238E27FC236}">
                <a16:creationId xmlns:a16="http://schemas.microsoft.com/office/drawing/2014/main" id="{5EB1A754-6AFD-BBB8-E786-0CF6B1C932F7}"/>
              </a:ext>
            </a:extLst>
          </p:cNvPr>
          <p:cNvSpPr txBox="1"/>
          <p:nvPr/>
        </p:nvSpPr>
        <p:spPr>
          <a:xfrm>
            <a:off x="10268712" y="4608576"/>
            <a:ext cx="1426464" cy="201168"/>
          </a:xfrm>
          <a:prstGeom prst="rect">
            <a:avLst/>
          </a:prstGeom>
          <a:noFill/>
        </p:spPr>
        <p:txBody>
          <a:bodyPr wrap="square" lIns="36000" tIns="18000" rIns="36000" bIns="18000" anchor="t">
            <a:spAutoFit/>
          </a:bodyPr>
          <a:lstStyle/>
          <a:p>
            <a:pPr algn="l"/>
            <a:r>
              <a:rPr sz="800" b="0" i="1">
                <a:solidFill>
                  <a:srgbClr val="A5ADBA"/>
                </a:solidFill>
              </a:rPr>
              <a:t>📅 YYYY-MM-DD</a:t>
            </a:r>
          </a:p>
        </p:txBody>
      </p:sp>
      <p:sp>
        <p:nvSpPr>
          <p:cNvPr id="191" name="Rounded Rectangle 94">
            <a:extLst>
              <a:ext uri="{FF2B5EF4-FFF2-40B4-BE49-F238E27FC236}">
                <a16:creationId xmlns:a16="http://schemas.microsoft.com/office/drawing/2014/main" id="{97A989EB-0ED8-0F54-BF64-0E8C7AB37B71}"/>
              </a:ext>
            </a:extLst>
          </p:cNvPr>
          <p:cNvSpPr/>
          <p:nvPr/>
        </p:nvSpPr>
        <p:spPr>
          <a:xfrm>
            <a:off x="7251192" y="4928615"/>
            <a:ext cx="4389120" cy="824075"/>
          </a:xfrm>
          <a:prstGeom prst="roundRect">
            <a:avLst>
              <a:gd name="adj" fmla="val 6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95">
            <a:extLst>
              <a:ext uri="{FF2B5EF4-FFF2-40B4-BE49-F238E27FC236}">
                <a16:creationId xmlns:a16="http://schemas.microsoft.com/office/drawing/2014/main" id="{06AD457E-7036-D6F3-A697-9ECDF792B73B}"/>
              </a:ext>
            </a:extLst>
          </p:cNvPr>
          <p:cNvSpPr txBox="1"/>
          <p:nvPr/>
        </p:nvSpPr>
        <p:spPr>
          <a:xfrm>
            <a:off x="7388352" y="4975141"/>
            <a:ext cx="4205852" cy="159462"/>
          </a:xfrm>
          <a:prstGeom prst="rect">
            <a:avLst/>
          </a:prstGeom>
          <a:noFill/>
        </p:spPr>
        <p:txBody>
          <a:bodyPr wrap="square" lIns="36000" tIns="18000" rIns="36000" bIns="18000" anchor="t">
            <a:spAutoFit/>
          </a:bodyPr>
          <a:lstStyle/>
          <a:p>
            <a:pPr algn="ctr"/>
            <a:r>
              <a:rPr sz="800" b="1" i="0">
                <a:solidFill>
                  <a:schemeClr val="bg1"/>
                </a:solidFill>
              </a:rPr>
              <a:t>PAIN SCORE  ·  auto-computed</a:t>
            </a:r>
          </a:p>
        </p:txBody>
      </p:sp>
      <p:sp>
        <p:nvSpPr>
          <p:cNvPr id="193" name="TextBox 96">
            <a:extLst>
              <a:ext uri="{FF2B5EF4-FFF2-40B4-BE49-F238E27FC236}">
                <a16:creationId xmlns:a16="http://schemas.microsoft.com/office/drawing/2014/main" id="{D82DBA46-1B7A-DC70-45FC-693A081388C4}"/>
              </a:ext>
            </a:extLst>
          </p:cNvPr>
          <p:cNvSpPr txBox="1"/>
          <p:nvPr/>
        </p:nvSpPr>
        <p:spPr>
          <a:xfrm>
            <a:off x="7251192" y="5126102"/>
            <a:ext cx="4389120" cy="590349"/>
          </a:xfrm>
          <a:prstGeom prst="rect">
            <a:avLst/>
          </a:prstGeom>
          <a:noFill/>
        </p:spPr>
        <p:txBody>
          <a:bodyPr wrap="square" lIns="36000" tIns="18000" rIns="36000" bIns="18000" anchor="ctr">
            <a:spAutoFit/>
          </a:bodyPr>
          <a:lstStyle/>
          <a:p>
            <a:pPr algn="ctr"/>
            <a:r>
              <a:rPr lang="pt-BR" sz="1200" b="1" i="0">
                <a:solidFill>
                  <a:schemeClr val="bg1"/>
                </a:solidFill>
              </a:rPr>
              <a:t>Pain Score  ITBA = (BV x </a:t>
            </a:r>
            <a:r>
              <a:rPr lang="pt-BR" sz="1200" b="1" i="0" err="1">
                <a:solidFill>
                  <a:schemeClr val="bg1"/>
                </a:solidFill>
              </a:rPr>
              <a:t>OPCOmult·w</a:t>
            </a:r>
            <a:r>
              <a:rPr lang="pt-BR" sz="1200" b="1" i="0">
                <a:solidFill>
                  <a:schemeClr val="bg1"/>
                </a:solidFill>
              </a:rPr>
              <a:t>₁ + </a:t>
            </a:r>
            <a:r>
              <a:rPr lang="pt-BR" sz="1200" b="1" i="0" err="1">
                <a:solidFill>
                  <a:schemeClr val="bg1"/>
                </a:solidFill>
              </a:rPr>
              <a:t>UX·w</a:t>
            </a:r>
            <a:r>
              <a:rPr lang="pt-BR" sz="1200" b="1" i="0">
                <a:solidFill>
                  <a:schemeClr val="bg1"/>
                </a:solidFill>
              </a:rPr>
              <a:t>₂ + </a:t>
            </a:r>
            <a:r>
              <a:rPr lang="pt-BR" sz="1200" b="1" i="0" err="1">
                <a:solidFill>
                  <a:schemeClr val="bg1"/>
                </a:solidFill>
              </a:rPr>
              <a:t>Safety·w</a:t>
            </a:r>
            <a:r>
              <a:rPr lang="pt-BR" sz="1200" b="1" i="0">
                <a:solidFill>
                  <a:schemeClr val="bg1"/>
                </a:solidFill>
              </a:rPr>
              <a:t>₃) / </a:t>
            </a:r>
            <a:r>
              <a:rPr lang="pt-BR" sz="1200" b="1" i="0" err="1">
                <a:solidFill>
                  <a:schemeClr val="bg1"/>
                </a:solidFill>
              </a:rPr>
              <a:t>Effort</a:t>
            </a:r>
            <a:r>
              <a:rPr lang="pt-BR" sz="1200" b="1" i="0">
                <a:solidFill>
                  <a:schemeClr val="bg1"/>
                </a:solidFill>
              </a:rPr>
              <a:t>
Pain Score  CS    = (BV x </a:t>
            </a:r>
            <a:r>
              <a:rPr lang="pt-BR" sz="1200" b="1" err="1">
                <a:solidFill>
                  <a:schemeClr val="bg1"/>
                </a:solidFill>
              </a:rPr>
              <a:t>OPCOmult</a:t>
            </a:r>
            <a:r>
              <a:rPr lang="pt-BR" sz="1200" b="1">
                <a:solidFill>
                  <a:schemeClr val="bg1"/>
                </a:solidFill>
              </a:rPr>
              <a:t>· w₁ </a:t>
            </a:r>
            <a:r>
              <a:rPr lang="pt-BR" sz="1200" b="1" i="0">
                <a:solidFill>
                  <a:schemeClr val="bg1"/>
                </a:solidFill>
              </a:rPr>
              <a:t>+ </a:t>
            </a:r>
            <a:r>
              <a:rPr lang="pt-BR" sz="1200" b="1">
                <a:solidFill>
                  <a:schemeClr val="bg1"/>
                </a:solidFill>
              </a:rPr>
              <a:t>UX· w₂ ) </a:t>
            </a:r>
            <a:r>
              <a:rPr lang="pt-BR" sz="1200" b="1" i="0">
                <a:solidFill>
                  <a:schemeClr val="bg1"/>
                </a:solidFill>
              </a:rPr>
              <a:t>/ </a:t>
            </a:r>
            <a:r>
              <a:rPr lang="pt-BR" sz="1200" b="1" i="0" err="1">
                <a:solidFill>
                  <a:schemeClr val="bg1"/>
                </a:solidFill>
              </a:rPr>
              <a:t>Effort</a:t>
            </a:r>
            <a:endParaRPr lang="pt-BR" sz="1200" b="1" i="0">
              <a:solidFill>
                <a:schemeClr val="bg1"/>
              </a:solidFill>
            </a:endParaRPr>
          </a:p>
        </p:txBody>
      </p:sp>
      <p:sp>
        <p:nvSpPr>
          <p:cNvPr id="194" name="Rounded Rectangle 97">
            <a:extLst>
              <a:ext uri="{FF2B5EF4-FFF2-40B4-BE49-F238E27FC236}">
                <a16:creationId xmlns:a16="http://schemas.microsoft.com/office/drawing/2014/main" id="{CEA9C235-EC19-3256-EC30-D661F1A9C26A}"/>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98">
            <a:extLst>
              <a:ext uri="{FF2B5EF4-FFF2-40B4-BE49-F238E27FC236}">
                <a16:creationId xmlns:a16="http://schemas.microsoft.com/office/drawing/2014/main" id="{3820488F-E764-08F2-9F11-6FC9DFFF769D}"/>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196" name="TextBox 36">
            <a:extLst>
              <a:ext uri="{FF2B5EF4-FFF2-40B4-BE49-F238E27FC236}">
                <a16:creationId xmlns:a16="http://schemas.microsoft.com/office/drawing/2014/main" id="{3C016A96-384A-3D67-CCA6-81A15C82083F}"/>
              </a:ext>
            </a:extLst>
          </p:cNvPr>
          <p:cNvSpPr txBox="1"/>
          <p:nvPr/>
        </p:nvSpPr>
        <p:spPr>
          <a:xfrm>
            <a:off x="4011930" y="6130598"/>
            <a:ext cx="3040380" cy="164592"/>
          </a:xfrm>
          <a:prstGeom prst="rect">
            <a:avLst/>
          </a:prstGeom>
          <a:noFill/>
        </p:spPr>
        <p:txBody>
          <a:bodyPr wrap="square" lIns="36000" tIns="18000" rIns="36000" bIns="18000" anchor="t">
            <a:spAutoFit/>
          </a:bodyPr>
          <a:lstStyle/>
          <a:p>
            <a:pPr algn="l"/>
            <a:r>
              <a:rPr sz="800" b="1" i="1">
                <a:solidFill>
                  <a:srgbClr val="162A4D"/>
                </a:solidFill>
              </a:rPr>
              <a:t>→ </a:t>
            </a:r>
            <a:r>
              <a:rPr lang="pt-BR" sz="800" b="1" i="1">
                <a:solidFill>
                  <a:srgbClr val="162A4D"/>
                </a:solidFill>
              </a:rPr>
              <a:t>CS</a:t>
            </a:r>
            <a:r>
              <a:rPr sz="800" b="1" i="1">
                <a:solidFill>
                  <a:srgbClr val="162A4D"/>
                </a:solidFill>
              </a:rPr>
              <a:t> Portfolio Board</a:t>
            </a:r>
          </a:p>
        </p:txBody>
      </p:sp>
      <p:sp>
        <p:nvSpPr>
          <p:cNvPr id="4" name="Rounded Rectangle 8">
            <a:extLst>
              <a:ext uri="{FF2B5EF4-FFF2-40B4-BE49-F238E27FC236}">
                <a16:creationId xmlns:a16="http://schemas.microsoft.com/office/drawing/2014/main" id="{CE5AC251-B081-C292-1845-C3E7B89EAC33}"/>
              </a:ext>
            </a:extLst>
          </p:cNvPr>
          <p:cNvSpPr/>
          <p:nvPr/>
        </p:nvSpPr>
        <p:spPr>
          <a:xfrm>
            <a:off x="502919" y="1197864"/>
            <a:ext cx="2849881" cy="219456"/>
          </a:xfrm>
          <a:prstGeom prst="roundRect">
            <a:avLst>
              <a:gd name="adj" fmla="val 6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F848BA74-667E-94C4-DE68-BE66D5C94CBA}"/>
              </a:ext>
            </a:extLst>
          </p:cNvPr>
          <p:cNvSpPr txBox="1"/>
          <p:nvPr/>
        </p:nvSpPr>
        <p:spPr>
          <a:xfrm>
            <a:off x="548639" y="1216152"/>
            <a:ext cx="2856412" cy="174851"/>
          </a:xfrm>
          <a:prstGeom prst="rect">
            <a:avLst/>
          </a:prstGeom>
          <a:noFill/>
        </p:spPr>
        <p:txBody>
          <a:bodyPr wrap="square" lIns="36000" tIns="18000" rIns="36000" bIns="18000" anchor="t">
            <a:spAutoFit/>
          </a:bodyPr>
          <a:lstStyle/>
          <a:p>
            <a:r>
              <a:rPr lang="pt-BR" sz="900">
                <a:solidFill>
                  <a:srgbClr val="172B4D"/>
                </a:solidFill>
              </a:rPr>
              <a:t>▼ </a:t>
            </a:r>
            <a:r>
              <a:rPr lang="en-US" sz="900" b="1" i="0">
                <a:solidFill>
                  <a:srgbClr val="007A32"/>
                </a:solidFill>
              </a:rPr>
              <a:t>Production Support · Regulatory · Non-Regulatory</a:t>
            </a:r>
          </a:p>
        </p:txBody>
      </p:sp>
      <p:sp>
        <p:nvSpPr>
          <p:cNvPr id="6" name="TextBox 10">
            <a:extLst>
              <a:ext uri="{FF2B5EF4-FFF2-40B4-BE49-F238E27FC236}">
                <a16:creationId xmlns:a16="http://schemas.microsoft.com/office/drawing/2014/main" id="{F5F6BF51-1314-7372-1229-0F3DD8FA50D5}"/>
              </a:ext>
            </a:extLst>
          </p:cNvPr>
          <p:cNvSpPr txBox="1"/>
          <p:nvPr/>
        </p:nvSpPr>
        <p:spPr>
          <a:xfrm>
            <a:off x="3603867" y="1216152"/>
            <a:ext cx="3657600" cy="182880"/>
          </a:xfrm>
          <a:prstGeom prst="rect">
            <a:avLst/>
          </a:prstGeom>
          <a:noFill/>
        </p:spPr>
        <p:txBody>
          <a:bodyPr wrap="square" lIns="36000" tIns="18000" rIns="36000" bIns="18000" anchor="t">
            <a:spAutoFit/>
          </a:bodyPr>
          <a:lstStyle/>
          <a:p>
            <a:pPr algn="l"/>
            <a:r>
              <a:rPr sz="900" b="1" i="0">
                <a:solidFill>
                  <a:srgbClr val="6B778C"/>
                </a:solidFill>
              </a:rPr>
              <a:t>DGTL-PROD-NNNN</a:t>
            </a:r>
          </a:p>
        </p:txBody>
      </p:sp>
      <p:sp>
        <p:nvSpPr>
          <p:cNvPr id="8" name="TextBox 196">
            <a:extLst>
              <a:ext uri="{FF2B5EF4-FFF2-40B4-BE49-F238E27FC236}">
                <a16:creationId xmlns:a16="http://schemas.microsoft.com/office/drawing/2014/main" id="{3E7E665B-F049-359D-887D-E26D6D9E48BE}"/>
              </a:ext>
            </a:extLst>
          </p:cNvPr>
          <p:cNvSpPr txBox="1"/>
          <p:nvPr/>
        </p:nvSpPr>
        <p:spPr>
          <a:xfrm>
            <a:off x="640080" y="3246120"/>
            <a:ext cx="3108960" cy="282573"/>
          </a:xfrm>
          <a:prstGeom prst="rect">
            <a:avLst/>
          </a:prstGeom>
          <a:noFill/>
        </p:spPr>
        <p:txBody>
          <a:bodyPr wrap="square" lIns="36000" tIns="18000" rIns="36000" bIns="18000" anchor="t">
            <a:spAutoFit/>
          </a:bodyPr>
          <a:lstStyle/>
          <a:p>
            <a:pPr algn="l"/>
            <a:r>
              <a:rPr lang="pt-BR" sz="800" b="0" i="1" err="1">
                <a:solidFill>
                  <a:srgbClr val="6B778C"/>
                </a:solidFill>
                <a:latin typeface="Arial"/>
              </a:rPr>
              <a:t>Add</a:t>
            </a:r>
            <a:r>
              <a:rPr lang="pt-BR" sz="800" b="0" i="1">
                <a:solidFill>
                  <a:srgbClr val="6B778C"/>
                </a:solidFill>
                <a:latin typeface="Arial"/>
              </a:rPr>
              <a:t> business </a:t>
            </a:r>
            <a:r>
              <a:rPr lang="pt-BR" sz="800" b="0" i="1" err="1">
                <a:solidFill>
                  <a:srgbClr val="6B778C"/>
                </a:solidFill>
                <a:latin typeface="Arial"/>
              </a:rPr>
              <a:t>value</a:t>
            </a:r>
            <a:r>
              <a:rPr lang="pt-BR" sz="800" b="0" i="1">
                <a:solidFill>
                  <a:srgbClr val="6B778C"/>
                </a:solidFill>
                <a:latin typeface="Arial"/>
              </a:rPr>
              <a:t> </a:t>
            </a:r>
            <a:r>
              <a:rPr lang="pt-BR" sz="800" b="0" i="1" err="1">
                <a:solidFill>
                  <a:srgbClr val="6B778C"/>
                </a:solidFill>
                <a:latin typeface="Arial"/>
              </a:rPr>
              <a:t>description</a:t>
            </a:r>
            <a:r>
              <a:rPr lang="pt-BR" sz="800" b="0" i="1">
                <a:solidFill>
                  <a:srgbClr val="6B778C"/>
                </a:solidFill>
                <a:latin typeface="Arial"/>
              </a:rPr>
              <a:t>: </a:t>
            </a:r>
            <a:r>
              <a:rPr sz="800" b="0" i="1">
                <a:solidFill>
                  <a:srgbClr val="6B778C"/>
                </a:solidFill>
                <a:latin typeface="Arial"/>
              </a:rPr>
              <a:t>$ impact · % delta · NPS · CSAT · time saved · volume · compliance · safety / customer reliability</a:t>
            </a:r>
          </a:p>
        </p:txBody>
      </p:sp>
      <p:sp>
        <p:nvSpPr>
          <p:cNvPr id="10" name="TextBox 197">
            <a:extLst>
              <a:ext uri="{FF2B5EF4-FFF2-40B4-BE49-F238E27FC236}">
                <a16:creationId xmlns:a16="http://schemas.microsoft.com/office/drawing/2014/main" id="{B9D7DB02-8E97-50C7-8841-46C5119422D5}"/>
              </a:ext>
            </a:extLst>
          </p:cNvPr>
          <p:cNvSpPr txBox="1"/>
          <p:nvPr/>
        </p:nvSpPr>
        <p:spPr>
          <a:xfrm>
            <a:off x="4023360" y="3246120"/>
            <a:ext cx="3108960" cy="282573"/>
          </a:xfrm>
          <a:prstGeom prst="rect">
            <a:avLst/>
          </a:prstGeom>
          <a:noFill/>
        </p:spPr>
        <p:txBody>
          <a:bodyPr wrap="square" lIns="36000" tIns="18000" rIns="36000" bIns="18000" anchor="t">
            <a:spAutoFit/>
          </a:bodyPr>
          <a:lstStyle/>
          <a:p>
            <a:pPr algn="l"/>
            <a:r>
              <a:rPr lang="pt-BR" sz="800" i="1">
                <a:solidFill>
                  <a:srgbClr val="6B778C"/>
                </a:solidFill>
                <a:latin typeface="Arial"/>
              </a:rPr>
              <a:t>L</a:t>
            </a:r>
            <a:r>
              <a:rPr sz="800" b="0" i="1" err="1">
                <a:solidFill>
                  <a:srgbClr val="6B778C"/>
                </a:solidFill>
                <a:latin typeface="Arial"/>
              </a:rPr>
              <a:t>ist</a:t>
            </a:r>
            <a:r>
              <a:rPr sz="800" b="0" i="1">
                <a:solidFill>
                  <a:srgbClr val="6B778C"/>
                </a:solidFill>
                <a:latin typeface="Arial"/>
              </a:rPr>
              <a:t> of measurable conditions · binary pass/fail · who confirms (UAT)</a:t>
            </a:r>
          </a:p>
        </p:txBody>
      </p:sp>
      <p:sp>
        <p:nvSpPr>
          <p:cNvPr id="9" name="Text Placeholder 19">
            <a:extLst>
              <a:ext uri="{FF2B5EF4-FFF2-40B4-BE49-F238E27FC236}">
                <a16:creationId xmlns:a16="http://schemas.microsoft.com/office/drawing/2014/main" id="{AA2F7266-24A2-214E-D767-895A9B347729}"/>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Single intake form </a:t>
            </a:r>
          </a:p>
        </p:txBody>
      </p:sp>
      <p:sp>
        <p:nvSpPr>
          <p:cNvPr id="11" name="Rectángulo 10">
            <a:extLst>
              <a:ext uri="{FF2B5EF4-FFF2-40B4-BE49-F238E27FC236}">
                <a16:creationId xmlns:a16="http://schemas.microsoft.com/office/drawing/2014/main" id="{4C82B128-1511-3987-B79D-A5FD30665F91}"/>
              </a:ext>
            </a:extLst>
          </p:cNvPr>
          <p:cNvSpPr/>
          <p:nvPr/>
        </p:nvSpPr>
        <p:spPr>
          <a:xfrm>
            <a:off x="383190" y="1551008"/>
            <a:ext cx="6784526" cy="4908786"/>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51F745DB-0644-07DC-CA46-C44BA1F290A5}"/>
              </a:ext>
            </a:extLst>
          </p:cNvPr>
          <p:cNvSpPr/>
          <p:nvPr/>
        </p:nvSpPr>
        <p:spPr>
          <a:xfrm>
            <a:off x="7096774" y="2597775"/>
            <a:ext cx="2199190" cy="532964"/>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33224A94-191C-5C9B-476A-6F33FC5DC0DF}"/>
              </a:ext>
            </a:extLst>
          </p:cNvPr>
          <p:cNvSpPr/>
          <p:nvPr/>
        </p:nvSpPr>
        <p:spPr>
          <a:xfrm>
            <a:off x="7177280" y="4037213"/>
            <a:ext cx="4824695" cy="822301"/>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AEA037D2-50AA-166D-2304-A79D11D536BE}"/>
              </a:ext>
            </a:extLst>
          </p:cNvPr>
          <p:cNvSpPr/>
          <p:nvPr/>
        </p:nvSpPr>
        <p:spPr>
          <a:xfrm>
            <a:off x="7243401" y="1522561"/>
            <a:ext cx="4476383" cy="1670182"/>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esquinas redondeadas 6">
            <a:extLst>
              <a:ext uri="{FF2B5EF4-FFF2-40B4-BE49-F238E27FC236}">
                <a16:creationId xmlns:a16="http://schemas.microsoft.com/office/drawing/2014/main" id="{8E2AC1C5-3552-3B5D-92B5-5AB2E83B1C9F}"/>
              </a:ext>
            </a:extLst>
          </p:cNvPr>
          <p:cNvSpPr/>
          <p:nvPr/>
        </p:nvSpPr>
        <p:spPr>
          <a:xfrm>
            <a:off x="7214526" y="4828858"/>
            <a:ext cx="4476383" cy="1140756"/>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490103121"/>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4F8E-BCA7-9FE7-C46C-A320DB1FCAB9}"/>
            </a:ext>
          </a:extLst>
        </p:cNvPr>
        <p:cNvGrpSpPr/>
        <p:nvPr/>
      </p:nvGrpSpPr>
      <p:grpSpPr>
        <a:xfrm>
          <a:off x="0" y="0"/>
          <a:ext cx="0" cy="0"/>
          <a:chOff x="0" y="0"/>
          <a:chExt cx="0" cy="0"/>
        </a:xfrm>
      </p:grpSpPr>
      <p:sp>
        <p:nvSpPr>
          <p:cNvPr id="135" name="Rounded Rectangle 38">
            <a:extLst>
              <a:ext uri="{FF2B5EF4-FFF2-40B4-BE49-F238E27FC236}">
                <a16:creationId xmlns:a16="http://schemas.microsoft.com/office/drawing/2014/main" id="{32C1ED21-B18D-2DED-0594-25FB0D13C93D}"/>
              </a:ext>
            </a:extLst>
          </p:cNvPr>
          <p:cNvSpPr/>
          <p:nvPr/>
        </p:nvSpPr>
        <p:spPr>
          <a:xfrm>
            <a:off x="493295" y="4605848"/>
            <a:ext cx="5688000" cy="198325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4">
            <a:extLst>
              <a:ext uri="{FF2B5EF4-FFF2-40B4-BE49-F238E27FC236}">
                <a16:creationId xmlns:a16="http://schemas.microsoft.com/office/drawing/2014/main" id="{42D26DDF-B435-72A5-AA6C-65E2F5D2E09F}"/>
              </a:ext>
            </a:extLst>
          </p:cNvPr>
          <p:cNvSpPr/>
          <p:nvPr/>
        </p:nvSpPr>
        <p:spPr>
          <a:xfrm>
            <a:off x="6285313" y="4603096"/>
            <a:ext cx="5688000" cy="1983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22">
            <a:extLst>
              <a:ext uri="{FF2B5EF4-FFF2-40B4-BE49-F238E27FC236}">
                <a16:creationId xmlns:a16="http://schemas.microsoft.com/office/drawing/2014/main" id="{A8D72B38-BF01-60EA-01E3-DF88F26BB5F0}"/>
              </a:ext>
            </a:extLst>
          </p:cNvPr>
          <p:cNvSpPr/>
          <p:nvPr/>
        </p:nvSpPr>
        <p:spPr>
          <a:xfrm>
            <a:off x="9225206" y="1164453"/>
            <a:ext cx="2800350" cy="3293397"/>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29">
            <a:extLst>
              <a:ext uri="{FF2B5EF4-FFF2-40B4-BE49-F238E27FC236}">
                <a16:creationId xmlns:a16="http://schemas.microsoft.com/office/drawing/2014/main" id="{8A7FD13B-E4D4-E0A4-3328-19E777CC2F44}"/>
              </a:ext>
            </a:extLst>
          </p:cNvPr>
          <p:cNvSpPr txBox="1"/>
          <p:nvPr/>
        </p:nvSpPr>
        <p:spPr>
          <a:xfrm>
            <a:off x="9362366" y="4339697"/>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Owns roadmap horizon · multi-quarter</a:t>
            </a:r>
          </a:p>
        </p:txBody>
      </p:sp>
      <p:sp>
        <p:nvSpPr>
          <p:cNvPr id="57" name="Rounded Rectangle 23">
            <a:extLst>
              <a:ext uri="{FF2B5EF4-FFF2-40B4-BE49-F238E27FC236}">
                <a16:creationId xmlns:a16="http://schemas.microsoft.com/office/drawing/2014/main" id="{7359742F-50C9-D6A1-1C48-DCCB3C918191}"/>
              </a:ext>
            </a:extLst>
          </p:cNvPr>
          <p:cNvSpPr/>
          <p:nvPr/>
        </p:nvSpPr>
        <p:spPr>
          <a:xfrm>
            <a:off x="9225206" y="1164453"/>
            <a:ext cx="2800350" cy="724547"/>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24">
            <a:extLst>
              <a:ext uri="{FF2B5EF4-FFF2-40B4-BE49-F238E27FC236}">
                <a16:creationId xmlns:a16="http://schemas.microsoft.com/office/drawing/2014/main" id="{0E2DFA73-3F37-F484-3BD9-BE80C6C80116}"/>
              </a:ext>
            </a:extLst>
          </p:cNvPr>
          <p:cNvSpPr txBox="1"/>
          <p:nvPr/>
        </p:nvSpPr>
        <p:spPr>
          <a:xfrm>
            <a:off x="9225206" y="1545748"/>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a:t>
            </a:r>
            <a:r>
              <a:rPr lang="pt-BR" sz="1100" b="1" i="0">
                <a:solidFill>
                  <a:srgbClr val="FFFFFF"/>
                </a:solidFill>
                <a:latin typeface="Arial"/>
              </a:rPr>
              <a:t> </a:t>
            </a:r>
            <a:r>
              <a:rPr lang="pt-BR" sz="1100" b="1">
                <a:solidFill>
                  <a:srgbClr val="FFFFFF"/>
                </a:solidFill>
                <a:latin typeface="Arial"/>
              </a:rPr>
              <a:t>X</a:t>
            </a:r>
            <a:r>
              <a:rPr lang="pt-BR" sz="1100" b="1" i="0">
                <a:solidFill>
                  <a:srgbClr val="FFFFFF"/>
                </a:solidFill>
                <a:latin typeface="Arial"/>
              </a:rPr>
              <a:t>L</a:t>
            </a:r>
            <a:endParaRPr sz="1100" b="1" i="0">
              <a:solidFill>
                <a:srgbClr val="FFFFFF"/>
              </a:solidFill>
              <a:latin typeface="Arial"/>
            </a:endParaRPr>
          </a:p>
        </p:txBody>
      </p:sp>
      <p:sp>
        <p:nvSpPr>
          <p:cNvPr id="59" name="TextBox 25">
            <a:extLst>
              <a:ext uri="{FF2B5EF4-FFF2-40B4-BE49-F238E27FC236}">
                <a16:creationId xmlns:a16="http://schemas.microsoft.com/office/drawing/2014/main" id="{A0D59EBA-CEAF-A2B1-E4FC-A51F4352375D}"/>
              </a:ext>
            </a:extLst>
          </p:cNvPr>
          <p:cNvSpPr txBox="1"/>
          <p:nvPr/>
        </p:nvSpPr>
        <p:spPr>
          <a:xfrm>
            <a:off x="9362366" y="2020736"/>
            <a:ext cx="2526030" cy="237125"/>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60" name="TextBox 26">
            <a:extLst>
              <a:ext uri="{FF2B5EF4-FFF2-40B4-BE49-F238E27FC236}">
                <a16:creationId xmlns:a16="http://schemas.microsoft.com/office/drawing/2014/main" id="{828359A9-8FB1-2B55-340F-B070A38D8AD6}"/>
              </a:ext>
            </a:extLst>
          </p:cNvPr>
          <p:cNvSpPr txBox="1"/>
          <p:nvPr/>
        </p:nvSpPr>
        <p:spPr>
          <a:xfrm>
            <a:off x="9362366" y="2257861"/>
            <a:ext cx="2526030" cy="395208"/>
          </a:xfrm>
          <a:prstGeom prst="rect">
            <a:avLst/>
          </a:prstGeom>
          <a:noFill/>
        </p:spPr>
        <p:txBody>
          <a:bodyPr wrap="square" lIns="36000" tIns="18000" rIns="36000" bIns="18000" anchor="t">
            <a:spAutoFit/>
          </a:bodyPr>
          <a:lstStyle/>
          <a:p>
            <a:pPr algn="l"/>
            <a:r>
              <a:rPr sz="1100" b="1" i="0">
                <a:solidFill>
                  <a:srgbClr val="006B3F"/>
                </a:solidFill>
                <a:latin typeface="Arial"/>
              </a:rPr>
              <a:t>Initiative + Epics</a:t>
            </a:r>
          </a:p>
        </p:txBody>
      </p:sp>
      <p:sp>
        <p:nvSpPr>
          <p:cNvPr id="61" name="TextBox 27">
            <a:extLst>
              <a:ext uri="{FF2B5EF4-FFF2-40B4-BE49-F238E27FC236}">
                <a16:creationId xmlns:a16="http://schemas.microsoft.com/office/drawing/2014/main" id="{03EC0DC0-F928-00B2-15A0-BC7F6BD00FFD}"/>
              </a:ext>
            </a:extLst>
          </p:cNvPr>
          <p:cNvSpPr txBox="1"/>
          <p:nvPr/>
        </p:nvSpPr>
        <p:spPr>
          <a:xfrm>
            <a:off x="9362366" y="2543150"/>
            <a:ext cx="2526030" cy="237125"/>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62" name="TextBox 28">
            <a:extLst>
              <a:ext uri="{FF2B5EF4-FFF2-40B4-BE49-F238E27FC236}">
                <a16:creationId xmlns:a16="http://schemas.microsoft.com/office/drawing/2014/main" id="{4CD043A5-6BD3-6EC2-1362-23C32265889C}"/>
              </a:ext>
            </a:extLst>
          </p:cNvPr>
          <p:cNvSpPr txBox="1"/>
          <p:nvPr/>
        </p:nvSpPr>
        <p:spPr>
          <a:xfrm>
            <a:off x="9362366" y="2741775"/>
            <a:ext cx="2526030" cy="190240"/>
          </a:xfrm>
          <a:prstGeom prst="rect">
            <a:avLst/>
          </a:prstGeom>
          <a:noFill/>
        </p:spPr>
        <p:txBody>
          <a:bodyPr wrap="square" lIns="36000" tIns="18000" rIns="36000" bIns="18000" anchor="t">
            <a:spAutoFit/>
          </a:bodyPr>
          <a:lstStyle/>
          <a:p>
            <a:pPr algn="l"/>
            <a:r>
              <a:rPr lang="es-MX" sz="1000" b="1" i="0">
                <a:solidFill>
                  <a:srgbClr val="2C3E50"/>
                </a:solidFill>
                <a:latin typeface="Arial"/>
              </a:rPr>
              <a:t>MANAGED in PPM </a:t>
            </a:r>
            <a:r>
              <a:rPr lang="es-MX" sz="1000" b="1" i="0" err="1">
                <a:solidFill>
                  <a:srgbClr val="2C3E50"/>
                </a:solidFill>
                <a:latin typeface="Arial"/>
              </a:rPr>
              <a:t>Now</a:t>
            </a:r>
            <a:endParaRPr sz="1000" b="1" i="0">
              <a:solidFill>
                <a:srgbClr val="2C3E50"/>
              </a:solidFill>
              <a:latin typeface="Arial"/>
            </a:endParaRPr>
          </a:p>
        </p:txBody>
      </p:sp>
      <p:sp>
        <p:nvSpPr>
          <p:cNvPr id="2" name="Rounded Rectangle 6">
            <a:extLst>
              <a:ext uri="{FF2B5EF4-FFF2-40B4-BE49-F238E27FC236}">
                <a16:creationId xmlns:a16="http://schemas.microsoft.com/office/drawing/2014/main" id="{BCFCB205-2CE6-4BCB-1434-55ECB02146F5}"/>
              </a:ext>
            </a:extLst>
          </p:cNvPr>
          <p:cNvSpPr/>
          <p:nvPr/>
        </p:nvSpPr>
        <p:spPr>
          <a:xfrm>
            <a:off x="435543" y="1164453"/>
            <a:ext cx="2800350" cy="329339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7">
            <a:extLst>
              <a:ext uri="{FF2B5EF4-FFF2-40B4-BE49-F238E27FC236}">
                <a16:creationId xmlns:a16="http://schemas.microsoft.com/office/drawing/2014/main" id="{3A62FBAD-B375-4900-A6A2-BD1D72BB42D7}"/>
              </a:ext>
            </a:extLst>
          </p:cNvPr>
          <p:cNvSpPr/>
          <p:nvPr/>
        </p:nvSpPr>
        <p:spPr>
          <a:xfrm>
            <a:off x="435543" y="1164453"/>
            <a:ext cx="2800350" cy="724547"/>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8">
            <a:extLst>
              <a:ext uri="{FF2B5EF4-FFF2-40B4-BE49-F238E27FC236}">
                <a16:creationId xmlns:a16="http://schemas.microsoft.com/office/drawing/2014/main" id="{9ACF9E91-7A97-26A3-B7A7-88B201F95F85}"/>
              </a:ext>
            </a:extLst>
          </p:cNvPr>
          <p:cNvSpPr txBox="1"/>
          <p:nvPr/>
        </p:nvSpPr>
        <p:spPr>
          <a:xfrm>
            <a:off x="435543" y="1555580"/>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 S</a:t>
            </a:r>
          </a:p>
        </p:txBody>
      </p:sp>
      <p:sp>
        <p:nvSpPr>
          <p:cNvPr id="8" name="TextBox 9">
            <a:extLst>
              <a:ext uri="{FF2B5EF4-FFF2-40B4-BE49-F238E27FC236}">
                <a16:creationId xmlns:a16="http://schemas.microsoft.com/office/drawing/2014/main" id="{F1B01556-815A-40E1-0D44-24A367F54363}"/>
              </a:ext>
            </a:extLst>
          </p:cNvPr>
          <p:cNvSpPr txBox="1"/>
          <p:nvPr/>
        </p:nvSpPr>
        <p:spPr>
          <a:xfrm>
            <a:off x="572703" y="2020735"/>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9" name="TextBox 10">
            <a:extLst>
              <a:ext uri="{FF2B5EF4-FFF2-40B4-BE49-F238E27FC236}">
                <a16:creationId xmlns:a16="http://schemas.microsoft.com/office/drawing/2014/main" id="{060A29BD-8A67-07C6-B0B2-6583F2E646E8}"/>
              </a:ext>
            </a:extLst>
          </p:cNvPr>
          <p:cNvSpPr txBox="1"/>
          <p:nvPr/>
        </p:nvSpPr>
        <p:spPr>
          <a:xfrm>
            <a:off x="572703" y="2257860"/>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Story (no Epic)</a:t>
            </a:r>
          </a:p>
        </p:txBody>
      </p:sp>
      <p:sp>
        <p:nvSpPr>
          <p:cNvPr id="10" name="TextBox 11">
            <a:extLst>
              <a:ext uri="{FF2B5EF4-FFF2-40B4-BE49-F238E27FC236}">
                <a16:creationId xmlns:a16="http://schemas.microsoft.com/office/drawing/2014/main" id="{E3264AD9-3744-63DD-D760-7FEDF5EABF24}"/>
              </a:ext>
            </a:extLst>
          </p:cNvPr>
          <p:cNvSpPr txBox="1"/>
          <p:nvPr/>
        </p:nvSpPr>
        <p:spPr>
          <a:xfrm>
            <a:off x="572703" y="2552777"/>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11" name="TextBox 12">
            <a:extLst>
              <a:ext uri="{FF2B5EF4-FFF2-40B4-BE49-F238E27FC236}">
                <a16:creationId xmlns:a16="http://schemas.microsoft.com/office/drawing/2014/main" id="{FBC01BFB-F5C0-7B20-27E9-9125B0C571F5}"/>
              </a:ext>
            </a:extLst>
          </p:cNvPr>
          <p:cNvSpPr txBox="1"/>
          <p:nvPr/>
        </p:nvSpPr>
        <p:spPr>
          <a:xfrm>
            <a:off x="572703" y="2751395"/>
            <a:ext cx="2526030" cy="658679"/>
          </a:xfrm>
          <a:prstGeom prst="rect">
            <a:avLst/>
          </a:prstGeom>
          <a:noFill/>
        </p:spPr>
        <p:txBody>
          <a:bodyPr wrap="square" lIns="36000" tIns="18000" rIns="36000" bIns="18000" anchor="t">
            <a:spAutoFit/>
          </a:bodyPr>
          <a:lstStyle/>
          <a:p>
            <a:pPr algn="l"/>
            <a:r>
              <a:rPr sz="1000" b="1" i="0">
                <a:solidFill>
                  <a:srgbClr val="2C3E50"/>
                </a:solidFill>
                <a:latin typeface="Arial"/>
              </a:rPr>
              <a:t>TEAM BACKLOG
DIRECT</a:t>
            </a:r>
          </a:p>
        </p:txBody>
      </p:sp>
      <p:sp>
        <p:nvSpPr>
          <p:cNvPr id="12" name="TextBox 13">
            <a:extLst>
              <a:ext uri="{FF2B5EF4-FFF2-40B4-BE49-F238E27FC236}">
                <a16:creationId xmlns:a16="http://schemas.microsoft.com/office/drawing/2014/main" id="{21C85B24-9287-E17A-0E75-AD2A72A821A6}"/>
              </a:ext>
            </a:extLst>
          </p:cNvPr>
          <p:cNvSpPr txBox="1"/>
          <p:nvPr/>
        </p:nvSpPr>
        <p:spPr>
          <a:xfrm>
            <a:off x="572703" y="4339689"/>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Skip portfolio · pulled by squad</a:t>
            </a:r>
          </a:p>
        </p:txBody>
      </p:sp>
      <p:sp>
        <p:nvSpPr>
          <p:cNvPr id="13" name="Rounded Rectangle 14">
            <a:extLst>
              <a:ext uri="{FF2B5EF4-FFF2-40B4-BE49-F238E27FC236}">
                <a16:creationId xmlns:a16="http://schemas.microsoft.com/office/drawing/2014/main" id="{C8059836-C202-338D-23D1-C551C1A17C78}"/>
              </a:ext>
            </a:extLst>
          </p:cNvPr>
          <p:cNvSpPr/>
          <p:nvPr/>
        </p:nvSpPr>
        <p:spPr>
          <a:xfrm>
            <a:off x="3365431" y="1164453"/>
            <a:ext cx="2800350" cy="329339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5">
            <a:extLst>
              <a:ext uri="{FF2B5EF4-FFF2-40B4-BE49-F238E27FC236}">
                <a16:creationId xmlns:a16="http://schemas.microsoft.com/office/drawing/2014/main" id="{B850BF42-354B-8216-1E30-8B503C49B54A}"/>
              </a:ext>
            </a:extLst>
          </p:cNvPr>
          <p:cNvSpPr/>
          <p:nvPr/>
        </p:nvSpPr>
        <p:spPr>
          <a:xfrm>
            <a:off x="3365431" y="1164453"/>
            <a:ext cx="2800350" cy="724546"/>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6">
            <a:extLst>
              <a:ext uri="{FF2B5EF4-FFF2-40B4-BE49-F238E27FC236}">
                <a16:creationId xmlns:a16="http://schemas.microsoft.com/office/drawing/2014/main" id="{E8002C0F-5FED-60D8-D85B-FB298C9571E2}"/>
              </a:ext>
            </a:extLst>
          </p:cNvPr>
          <p:cNvSpPr txBox="1"/>
          <p:nvPr/>
        </p:nvSpPr>
        <p:spPr>
          <a:xfrm>
            <a:off x="3365431" y="1545748"/>
            <a:ext cx="2800350" cy="296245"/>
          </a:xfrm>
          <a:prstGeom prst="rect">
            <a:avLst/>
          </a:prstGeom>
          <a:noFill/>
        </p:spPr>
        <p:txBody>
          <a:bodyPr wrap="square" lIns="36000" tIns="18000" rIns="36000" bIns="18000" anchor="ctr">
            <a:spAutoFit/>
          </a:bodyPr>
          <a:lstStyle/>
          <a:p>
            <a:pPr algn="ctr"/>
            <a:r>
              <a:rPr sz="1100" b="1" i="0">
                <a:solidFill>
                  <a:srgbClr val="FFFFFF"/>
                </a:solidFill>
                <a:latin typeface="Arial"/>
              </a:rPr>
              <a:t>Size = M</a:t>
            </a:r>
          </a:p>
        </p:txBody>
      </p:sp>
      <p:sp>
        <p:nvSpPr>
          <p:cNvPr id="16" name="TextBox 17">
            <a:extLst>
              <a:ext uri="{FF2B5EF4-FFF2-40B4-BE49-F238E27FC236}">
                <a16:creationId xmlns:a16="http://schemas.microsoft.com/office/drawing/2014/main" id="{1F6CCC3D-C5FA-7987-3595-A7DB5D08F662}"/>
              </a:ext>
            </a:extLst>
          </p:cNvPr>
          <p:cNvSpPr txBox="1"/>
          <p:nvPr/>
        </p:nvSpPr>
        <p:spPr>
          <a:xfrm>
            <a:off x="3502591" y="2020735"/>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17" name="TextBox 18">
            <a:extLst>
              <a:ext uri="{FF2B5EF4-FFF2-40B4-BE49-F238E27FC236}">
                <a16:creationId xmlns:a16="http://schemas.microsoft.com/office/drawing/2014/main" id="{210A574F-AD7A-5B65-AA89-2DF777CF43F1}"/>
              </a:ext>
            </a:extLst>
          </p:cNvPr>
          <p:cNvSpPr txBox="1"/>
          <p:nvPr/>
        </p:nvSpPr>
        <p:spPr>
          <a:xfrm>
            <a:off x="3502591" y="2257859"/>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Epic + Stories</a:t>
            </a:r>
          </a:p>
        </p:txBody>
      </p:sp>
      <p:sp>
        <p:nvSpPr>
          <p:cNvPr id="18" name="TextBox 19">
            <a:extLst>
              <a:ext uri="{FF2B5EF4-FFF2-40B4-BE49-F238E27FC236}">
                <a16:creationId xmlns:a16="http://schemas.microsoft.com/office/drawing/2014/main" id="{386BC7ED-E330-C052-41EC-AEBDBE1A0989}"/>
              </a:ext>
            </a:extLst>
          </p:cNvPr>
          <p:cNvSpPr txBox="1"/>
          <p:nvPr/>
        </p:nvSpPr>
        <p:spPr>
          <a:xfrm>
            <a:off x="3502591" y="2572027"/>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20" name="TextBox 21">
            <a:extLst>
              <a:ext uri="{FF2B5EF4-FFF2-40B4-BE49-F238E27FC236}">
                <a16:creationId xmlns:a16="http://schemas.microsoft.com/office/drawing/2014/main" id="{CFA43912-9D66-3D9C-F2B4-4CEF2B410241}"/>
              </a:ext>
            </a:extLst>
          </p:cNvPr>
          <p:cNvSpPr txBox="1"/>
          <p:nvPr/>
        </p:nvSpPr>
        <p:spPr>
          <a:xfrm>
            <a:off x="3502591" y="4349319"/>
            <a:ext cx="2526030" cy="240820"/>
          </a:xfrm>
          <a:prstGeom prst="rect">
            <a:avLst/>
          </a:prstGeom>
          <a:noFill/>
        </p:spPr>
        <p:txBody>
          <a:bodyPr wrap="square" lIns="36000" tIns="18000" rIns="36000" bIns="18000" anchor="t">
            <a:spAutoFit/>
          </a:bodyPr>
          <a:lstStyle/>
          <a:p>
            <a:pPr algn="l"/>
            <a:r>
              <a:rPr sz="850" b="0" i="1">
                <a:solidFill>
                  <a:srgbClr val="006B3F"/>
                </a:solidFill>
                <a:latin typeface="Arial"/>
              </a:rPr>
              <a:t>Sequenced by Pain + </a:t>
            </a:r>
            <a:r>
              <a:rPr lang="en-US" sz="850" b="0" i="1" err="1">
                <a:solidFill>
                  <a:srgbClr val="006B3F"/>
                </a:solidFill>
                <a:latin typeface="Arial"/>
              </a:rPr>
              <a:t>CoS</a:t>
            </a:r>
            <a:endParaRPr sz="850" b="0" i="1">
              <a:solidFill>
                <a:srgbClr val="006B3F"/>
              </a:solidFill>
              <a:latin typeface="Arial"/>
            </a:endParaRPr>
          </a:p>
        </p:txBody>
      </p:sp>
      <p:sp>
        <p:nvSpPr>
          <p:cNvPr id="21" name="Rounded Rectangle 22">
            <a:extLst>
              <a:ext uri="{FF2B5EF4-FFF2-40B4-BE49-F238E27FC236}">
                <a16:creationId xmlns:a16="http://schemas.microsoft.com/office/drawing/2014/main" id="{9723B852-9CD3-396F-1410-552853B9E0E2}"/>
              </a:ext>
            </a:extLst>
          </p:cNvPr>
          <p:cNvSpPr/>
          <p:nvPr/>
        </p:nvSpPr>
        <p:spPr>
          <a:xfrm>
            <a:off x="6295319" y="1164453"/>
            <a:ext cx="2800350" cy="329339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3">
            <a:extLst>
              <a:ext uri="{FF2B5EF4-FFF2-40B4-BE49-F238E27FC236}">
                <a16:creationId xmlns:a16="http://schemas.microsoft.com/office/drawing/2014/main" id="{41877D8B-24F5-B1E4-4CC8-45E8910BBBD7}"/>
              </a:ext>
            </a:extLst>
          </p:cNvPr>
          <p:cNvSpPr/>
          <p:nvPr/>
        </p:nvSpPr>
        <p:spPr>
          <a:xfrm>
            <a:off x="6295319" y="1164453"/>
            <a:ext cx="2800350" cy="724547"/>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4">
            <a:extLst>
              <a:ext uri="{FF2B5EF4-FFF2-40B4-BE49-F238E27FC236}">
                <a16:creationId xmlns:a16="http://schemas.microsoft.com/office/drawing/2014/main" id="{E52EF0C2-C849-4403-AB93-B9B962A4580E}"/>
              </a:ext>
            </a:extLst>
          </p:cNvPr>
          <p:cNvSpPr txBox="1"/>
          <p:nvPr/>
        </p:nvSpPr>
        <p:spPr>
          <a:xfrm>
            <a:off x="6295319" y="1545748"/>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a:t>
            </a:r>
            <a:r>
              <a:rPr lang="pt-BR" sz="1100" b="1" i="0">
                <a:solidFill>
                  <a:srgbClr val="FFFFFF"/>
                </a:solidFill>
                <a:latin typeface="Arial"/>
              </a:rPr>
              <a:t> L</a:t>
            </a:r>
            <a:endParaRPr sz="1100" b="1" i="0">
              <a:solidFill>
                <a:srgbClr val="FFFFFF"/>
              </a:solidFill>
              <a:latin typeface="Arial"/>
            </a:endParaRPr>
          </a:p>
        </p:txBody>
      </p:sp>
      <p:sp>
        <p:nvSpPr>
          <p:cNvPr id="24" name="TextBox 25">
            <a:extLst>
              <a:ext uri="{FF2B5EF4-FFF2-40B4-BE49-F238E27FC236}">
                <a16:creationId xmlns:a16="http://schemas.microsoft.com/office/drawing/2014/main" id="{A7A8EF91-B722-E78E-D723-9395454C5010}"/>
              </a:ext>
            </a:extLst>
          </p:cNvPr>
          <p:cNvSpPr txBox="1"/>
          <p:nvPr/>
        </p:nvSpPr>
        <p:spPr>
          <a:xfrm>
            <a:off x="6432479" y="2020736"/>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25" name="TextBox 26">
            <a:extLst>
              <a:ext uri="{FF2B5EF4-FFF2-40B4-BE49-F238E27FC236}">
                <a16:creationId xmlns:a16="http://schemas.microsoft.com/office/drawing/2014/main" id="{6A7D62E8-CE2C-2E95-60E2-14AB92969E65}"/>
              </a:ext>
            </a:extLst>
          </p:cNvPr>
          <p:cNvSpPr txBox="1"/>
          <p:nvPr/>
        </p:nvSpPr>
        <p:spPr>
          <a:xfrm>
            <a:off x="6432479" y="2257860"/>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Initiative + Epics</a:t>
            </a:r>
          </a:p>
        </p:txBody>
      </p:sp>
      <p:sp>
        <p:nvSpPr>
          <p:cNvPr id="26" name="TextBox 27">
            <a:extLst>
              <a:ext uri="{FF2B5EF4-FFF2-40B4-BE49-F238E27FC236}">
                <a16:creationId xmlns:a16="http://schemas.microsoft.com/office/drawing/2014/main" id="{3ABF87E2-1947-3B31-F68C-934A83E3F6FA}"/>
              </a:ext>
            </a:extLst>
          </p:cNvPr>
          <p:cNvSpPr txBox="1"/>
          <p:nvPr/>
        </p:nvSpPr>
        <p:spPr>
          <a:xfrm>
            <a:off x="6432479" y="2552774"/>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28" name="TextBox 29">
            <a:extLst>
              <a:ext uri="{FF2B5EF4-FFF2-40B4-BE49-F238E27FC236}">
                <a16:creationId xmlns:a16="http://schemas.microsoft.com/office/drawing/2014/main" id="{24B11F09-004B-725B-26A9-883162AE524B}"/>
              </a:ext>
            </a:extLst>
          </p:cNvPr>
          <p:cNvSpPr txBox="1"/>
          <p:nvPr/>
        </p:nvSpPr>
        <p:spPr>
          <a:xfrm>
            <a:off x="6432479" y="4339687"/>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Owns roadmap horizon · multi-quarter</a:t>
            </a:r>
          </a:p>
        </p:txBody>
      </p:sp>
      <p:sp>
        <p:nvSpPr>
          <p:cNvPr id="38" name="TextBox 39">
            <a:extLst>
              <a:ext uri="{FF2B5EF4-FFF2-40B4-BE49-F238E27FC236}">
                <a16:creationId xmlns:a16="http://schemas.microsoft.com/office/drawing/2014/main" id="{FDE22E4C-7A0A-59BA-93FA-B3FB955B155E}"/>
              </a:ext>
            </a:extLst>
          </p:cNvPr>
          <p:cNvSpPr txBox="1"/>
          <p:nvPr/>
        </p:nvSpPr>
        <p:spPr>
          <a:xfrm>
            <a:off x="502920" y="4709938"/>
            <a:ext cx="3816000" cy="201168"/>
          </a:xfrm>
          <a:prstGeom prst="rect">
            <a:avLst/>
          </a:prstGeom>
          <a:noFill/>
        </p:spPr>
        <p:txBody>
          <a:bodyPr wrap="square" lIns="36000" tIns="18000" rIns="36000" bIns="18000" anchor="t">
            <a:spAutoFit/>
          </a:bodyPr>
          <a:lstStyle/>
          <a:p>
            <a:pPr algn="l"/>
            <a:r>
              <a:rPr sz="1100" b="1" i="0">
                <a:solidFill>
                  <a:srgbClr val="006B3F"/>
                </a:solidFill>
                <a:latin typeface="Arial"/>
              </a:rPr>
              <a:t>ONE LOGIC · TWO LEVELS — why size dictates routing</a:t>
            </a:r>
          </a:p>
        </p:txBody>
      </p:sp>
      <p:sp>
        <p:nvSpPr>
          <p:cNvPr id="39" name="TextBox 40">
            <a:extLst>
              <a:ext uri="{FF2B5EF4-FFF2-40B4-BE49-F238E27FC236}">
                <a16:creationId xmlns:a16="http://schemas.microsoft.com/office/drawing/2014/main" id="{58184B72-3071-2AF4-CE11-CBDC7D6BB7E5}"/>
              </a:ext>
            </a:extLst>
          </p:cNvPr>
          <p:cNvSpPr txBox="1"/>
          <p:nvPr/>
        </p:nvSpPr>
        <p:spPr>
          <a:xfrm>
            <a:off x="502920" y="4982147"/>
            <a:ext cx="4114800" cy="201168"/>
          </a:xfrm>
          <a:prstGeom prst="rect">
            <a:avLst/>
          </a:prstGeom>
          <a:noFill/>
        </p:spPr>
        <p:txBody>
          <a:bodyPr wrap="square" lIns="36000" tIns="18000" rIns="36000" bIns="18000" anchor="t">
            <a:spAutoFit/>
          </a:bodyPr>
          <a:lstStyle/>
          <a:p>
            <a:pPr algn="l"/>
            <a:r>
              <a:rPr sz="900" b="1" i="0">
                <a:solidFill>
                  <a:srgbClr val="2C3E50"/>
                </a:solidFill>
                <a:latin typeface="Arial"/>
              </a:rPr>
              <a:t>TEAM-LEVEL  ·  Squad pulls by capacity</a:t>
            </a:r>
          </a:p>
        </p:txBody>
      </p:sp>
      <p:sp>
        <p:nvSpPr>
          <p:cNvPr id="40" name="TextBox 41">
            <a:extLst>
              <a:ext uri="{FF2B5EF4-FFF2-40B4-BE49-F238E27FC236}">
                <a16:creationId xmlns:a16="http://schemas.microsoft.com/office/drawing/2014/main" id="{742311F9-7054-6A31-2789-CE482B7DD261}"/>
              </a:ext>
            </a:extLst>
          </p:cNvPr>
          <p:cNvSpPr txBox="1"/>
          <p:nvPr/>
        </p:nvSpPr>
        <p:spPr>
          <a:xfrm>
            <a:off x="723450" y="5194786"/>
            <a:ext cx="5184000" cy="384048"/>
          </a:xfrm>
          <a:prstGeom prst="rect">
            <a:avLst/>
          </a:prstGeom>
          <a:noFill/>
        </p:spPr>
        <p:txBody>
          <a:bodyPr wrap="square" lIns="36000" tIns="18000" rIns="36000" bIns="18000" anchor="t">
            <a:spAutoFit/>
          </a:bodyPr>
          <a:lstStyle/>
          <a:p>
            <a:pPr algn="l"/>
            <a:r>
              <a:rPr sz="900" b="0" i="0">
                <a:solidFill>
                  <a:srgbClr val="2C3E50"/>
                </a:solidFill>
                <a:latin typeface="Arial"/>
              </a:rPr>
              <a:t>Size S items DON'T need cross-team coordination · go straight to Squad's Team Kanban after Triage. Squad pulls when WIP slot available.</a:t>
            </a:r>
          </a:p>
        </p:txBody>
      </p:sp>
      <p:sp>
        <p:nvSpPr>
          <p:cNvPr id="41" name="TextBox 42">
            <a:extLst>
              <a:ext uri="{FF2B5EF4-FFF2-40B4-BE49-F238E27FC236}">
                <a16:creationId xmlns:a16="http://schemas.microsoft.com/office/drawing/2014/main" id="{068E54A7-7875-F68B-5BE4-322BF42ACCD7}"/>
              </a:ext>
            </a:extLst>
          </p:cNvPr>
          <p:cNvSpPr txBox="1"/>
          <p:nvPr/>
        </p:nvSpPr>
        <p:spPr>
          <a:xfrm>
            <a:off x="493295" y="5693547"/>
            <a:ext cx="4114800" cy="201168"/>
          </a:xfrm>
          <a:prstGeom prst="rect">
            <a:avLst/>
          </a:prstGeom>
          <a:noFill/>
        </p:spPr>
        <p:txBody>
          <a:bodyPr wrap="square" lIns="36000" tIns="18000" rIns="36000" bIns="18000" anchor="t">
            <a:spAutoFit/>
          </a:bodyPr>
          <a:lstStyle/>
          <a:p>
            <a:pPr algn="l"/>
            <a:r>
              <a:rPr sz="900" b="1" i="0">
                <a:solidFill>
                  <a:srgbClr val="2C3E50"/>
                </a:solidFill>
                <a:latin typeface="Arial"/>
              </a:rPr>
              <a:t>PORTFOLIO-LEVEL  ·  Director sequences</a:t>
            </a:r>
          </a:p>
        </p:txBody>
      </p:sp>
      <p:sp>
        <p:nvSpPr>
          <p:cNvPr id="42" name="TextBox 43">
            <a:extLst>
              <a:ext uri="{FF2B5EF4-FFF2-40B4-BE49-F238E27FC236}">
                <a16:creationId xmlns:a16="http://schemas.microsoft.com/office/drawing/2014/main" id="{9E371394-CC68-08A7-1241-88368F060B45}"/>
              </a:ext>
            </a:extLst>
          </p:cNvPr>
          <p:cNvSpPr txBox="1"/>
          <p:nvPr/>
        </p:nvSpPr>
        <p:spPr>
          <a:xfrm>
            <a:off x="723450" y="5902350"/>
            <a:ext cx="4788000" cy="174851"/>
          </a:xfrm>
          <a:prstGeom prst="rect">
            <a:avLst/>
          </a:prstGeom>
          <a:noFill/>
        </p:spPr>
        <p:txBody>
          <a:bodyPr wrap="square" lIns="36000" tIns="18000" rIns="36000" bIns="18000" anchor="t">
            <a:spAutoFit/>
          </a:bodyPr>
          <a:lstStyle/>
          <a:p>
            <a:pPr algn="l"/>
            <a:r>
              <a:rPr sz="900" b="0" i="0">
                <a:solidFill>
                  <a:srgbClr val="2C3E50"/>
                </a:solidFill>
                <a:latin typeface="Arial"/>
              </a:rPr>
              <a:t>Size M/L touch capacity slots · multiple squads · vendor scope · need Gate 2 approval for ROI + capacity reservation.</a:t>
            </a:r>
          </a:p>
        </p:txBody>
      </p:sp>
      <p:sp>
        <p:nvSpPr>
          <p:cNvPr id="44" name="TextBox 45">
            <a:extLst>
              <a:ext uri="{FF2B5EF4-FFF2-40B4-BE49-F238E27FC236}">
                <a16:creationId xmlns:a16="http://schemas.microsoft.com/office/drawing/2014/main" id="{F97AAB68-FEC1-5C36-402D-09C8D9F97C1C}"/>
              </a:ext>
            </a:extLst>
          </p:cNvPr>
          <p:cNvSpPr txBox="1"/>
          <p:nvPr/>
        </p:nvSpPr>
        <p:spPr>
          <a:xfrm>
            <a:off x="6285313" y="4689816"/>
            <a:ext cx="3096000" cy="201168"/>
          </a:xfrm>
          <a:prstGeom prst="rect">
            <a:avLst/>
          </a:prstGeom>
          <a:noFill/>
        </p:spPr>
        <p:txBody>
          <a:bodyPr wrap="square" lIns="36000" tIns="18000" rIns="36000" bIns="18000" anchor="t">
            <a:spAutoFit/>
          </a:bodyPr>
          <a:lstStyle/>
          <a:p>
            <a:pPr algn="l"/>
            <a:r>
              <a:rPr sz="1100" b="1" i="0">
                <a:solidFill>
                  <a:srgbClr val="2C578B"/>
                </a:solidFill>
                <a:latin typeface="Arial"/>
              </a:rPr>
              <a:t>CS vs ITBA  ·  WHERE THE LOGIC DIFFERS</a:t>
            </a:r>
          </a:p>
        </p:txBody>
      </p:sp>
      <p:grpSp>
        <p:nvGrpSpPr>
          <p:cNvPr id="132" name="Grupo 131">
            <a:extLst>
              <a:ext uri="{FF2B5EF4-FFF2-40B4-BE49-F238E27FC236}">
                <a16:creationId xmlns:a16="http://schemas.microsoft.com/office/drawing/2014/main" id="{0562DA38-5511-2F18-4924-32D7AFEE5EB7}"/>
              </a:ext>
            </a:extLst>
          </p:cNvPr>
          <p:cNvGrpSpPr/>
          <p:nvPr/>
        </p:nvGrpSpPr>
        <p:grpSpPr>
          <a:xfrm>
            <a:off x="6285313" y="5036233"/>
            <a:ext cx="868680" cy="317106"/>
            <a:chOff x="365760" y="5036233"/>
            <a:chExt cx="868680" cy="201168"/>
          </a:xfrm>
        </p:grpSpPr>
        <p:sp>
          <p:nvSpPr>
            <p:cNvPr id="45" name="Rounded Rectangle 46">
              <a:extLst>
                <a:ext uri="{FF2B5EF4-FFF2-40B4-BE49-F238E27FC236}">
                  <a16:creationId xmlns:a16="http://schemas.microsoft.com/office/drawing/2014/main" id="{DAAE9DD0-EE05-3E5B-F460-610E4A1EA07F}"/>
                </a:ext>
              </a:extLst>
            </p:cNvPr>
            <p:cNvSpPr/>
            <p:nvPr/>
          </p:nvSpPr>
          <p:spPr>
            <a:xfrm>
              <a:off x="365760" y="5036233"/>
              <a:ext cx="86868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7">
              <a:extLst>
                <a:ext uri="{FF2B5EF4-FFF2-40B4-BE49-F238E27FC236}">
                  <a16:creationId xmlns:a16="http://schemas.microsoft.com/office/drawing/2014/main" id="{5E78F098-7E0C-7F00-8F45-755C130AD01F}"/>
                </a:ext>
              </a:extLst>
            </p:cNvPr>
            <p:cNvSpPr txBox="1"/>
            <p:nvPr/>
          </p:nvSpPr>
          <p:spPr>
            <a:xfrm>
              <a:off x="365760" y="50362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grpSp>
      <p:sp>
        <p:nvSpPr>
          <p:cNvPr id="47" name="TextBox 48">
            <a:extLst>
              <a:ext uri="{FF2B5EF4-FFF2-40B4-BE49-F238E27FC236}">
                <a16:creationId xmlns:a16="http://schemas.microsoft.com/office/drawing/2014/main" id="{F19FC6FA-27F7-ECC2-AFA6-D28734774CCB}"/>
              </a:ext>
            </a:extLst>
          </p:cNvPr>
          <p:cNvSpPr txBox="1"/>
          <p:nvPr/>
        </p:nvSpPr>
        <p:spPr>
          <a:xfrm>
            <a:off x="7245433" y="50362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1 OVS Meter-to-Cash · 4 </a:t>
            </a:r>
            <a:r>
              <a:rPr lang="pt-BR" sz="900" b="0" i="0" err="1">
                <a:solidFill>
                  <a:srgbClr val="2C3E50"/>
                </a:solidFill>
                <a:latin typeface="Arial"/>
              </a:rPr>
              <a:t>teams</a:t>
            </a:r>
            <a:r>
              <a:rPr sz="900" b="0" i="0">
                <a:solidFill>
                  <a:srgbClr val="2C3E50"/>
                </a:solidFill>
                <a:latin typeface="Arial"/>
              </a:rPr>
              <a:t> + 1 Enabling · weights w₁=0.40 w₂=0.60 (no Safety) · Customer Reliability replaces Safety · OVS KPIs (NPS · CSAT · Reliability)</a:t>
            </a:r>
          </a:p>
        </p:txBody>
      </p:sp>
      <p:grpSp>
        <p:nvGrpSpPr>
          <p:cNvPr id="133" name="Grupo 132">
            <a:extLst>
              <a:ext uri="{FF2B5EF4-FFF2-40B4-BE49-F238E27FC236}">
                <a16:creationId xmlns:a16="http://schemas.microsoft.com/office/drawing/2014/main" id="{715B0108-8195-476A-6F37-18554F5067F7}"/>
              </a:ext>
            </a:extLst>
          </p:cNvPr>
          <p:cNvGrpSpPr/>
          <p:nvPr/>
        </p:nvGrpSpPr>
        <p:grpSpPr>
          <a:xfrm>
            <a:off x="6285313" y="5493433"/>
            <a:ext cx="868680" cy="317106"/>
            <a:chOff x="365760" y="5493433"/>
            <a:chExt cx="868680" cy="201168"/>
          </a:xfrm>
        </p:grpSpPr>
        <p:sp>
          <p:nvSpPr>
            <p:cNvPr id="48" name="Rounded Rectangle 49">
              <a:extLst>
                <a:ext uri="{FF2B5EF4-FFF2-40B4-BE49-F238E27FC236}">
                  <a16:creationId xmlns:a16="http://schemas.microsoft.com/office/drawing/2014/main" id="{B373A4B7-62C9-8CFB-DB40-40AFBEBB086A}"/>
                </a:ext>
              </a:extLst>
            </p:cNvPr>
            <p:cNvSpPr/>
            <p:nvPr/>
          </p:nvSpPr>
          <p:spPr>
            <a:xfrm>
              <a:off x="365760" y="5493433"/>
              <a:ext cx="8686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0">
              <a:extLst>
                <a:ext uri="{FF2B5EF4-FFF2-40B4-BE49-F238E27FC236}">
                  <a16:creationId xmlns:a16="http://schemas.microsoft.com/office/drawing/2014/main" id="{601D1FF3-ABE7-DB8E-7128-80AC47ABEB91}"/>
                </a:ext>
              </a:extLst>
            </p:cNvPr>
            <p:cNvSpPr txBox="1"/>
            <p:nvPr/>
          </p:nvSpPr>
          <p:spPr>
            <a:xfrm>
              <a:off x="365760" y="54934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grpSp>
      <p:sp>
        <p:nvSpPr>
          <p:cNvPr id="50" name="TextBox 51">
            <a:extLst>
              <a:ext uri="{FF2B5EF4-FFF2-40B4-BE49-F238E27FC236}">
                <a16:creationId xmlns:a16="http://schemas.microsoft.com/office/drawing/2014/main" id="{C20C1E20-413E-727D-00F9-7202FFD1A495}"/>
              </a:ext>
            </a:extLst>
          </p:cNvPr>
          <p:cNvSpPr txBox="1"/>
          <p:nvPr/>
        </p:nvSpPr>
        <p:spPr>
          <a:xfrm>
            <a:off x="7245433" y="54934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5 teams unchanged · weights w₁=0.45 w₂=0.30 w₃=0.25 (BV-heavy · safety relevant for grid systems) · </a:t>
            </a:r>
            <a:r>
              <a:rPr lang="pt-BR" sz="900" b="0" i="0">
                <a:solidFill>
                  <a:srgbClr val="2C3E50"/>
                </a:solidFill>
                <a:latin typeface="Arial"/>
              </a:rPr>
              <a:t>PM</a:t>
            </a:r>
            <a:r>
              <a:rPr sz="900" b="0" i="0">
                <a:solidFill>
                  <a:srgbClr val="2C3E50"/>
                </a:solidFill>
                <a:latin typeface="Arial"/>
              </a:rPr>
              <a:t>· Carlos approves at Gate 2</a:t>
            </a:r>
          </a:p>
        </p:txBody>
      </p:sp>
      <p:grpSp>
        <p:nvGrpSpPr>
          <p:cNvPr id="134" name="Grupo 133">
            <a:extLst>
              <a:ext uri="{FF2B5EF4-FFF2-40B4-BE49-F238E27FC236}">
                <a16:creationId xmlns:a16="http://schemas.microsoft.com/office/drawing/2014/main" id="{72419FF0-762A-6711-5FA5-0BB15B59ED15}"/>
              </a:ext>
            </a:extLst>
          </p:cNvPr>
          <p:cNvGrpSpPr/>
          <p:nvPr/>
        </p:nvGrpSpPr>
        <p:grpSpPr>
          <a:xfrm>
            <a:off x="6285313" y="5950633"/>
            <a:ext cx="868680" cy="317106"/>
            <a:chOff x="365760" y="5950633"/>
            <a:chExt cx="868680" cy="201168"/>
          </a:xfrm>
        </p:grpSpPr>
        <p:sp>
          <p:nvSpPr>
            <p:cNvPr id="51" name="Rounded Rectangle 52">
              <a:extLst>
                <a:ext uri="{FF2B5EF4-FFF2-40B4-BE49-F238E27FC236}">
                  <a16:creationId xmlns:a16="http://schemas.microsoft.com/office/drawing/2014/main" id="{35127806-770F-2A46-04D1-5DAD3B9636F0}"/>
                </a:ext>
              </a:extLst>
            </p:cNvPr>
            <p:cNvSpPr/>
            <p:nvPr/>
          </p:nvSpPr>
          <p:spPr>
            <a:xfrm>
              <a:off x="365760" y="5950633"/>
              <a:ext cx="868680" cy="201168"/>
            </a:xfrm>
            <a:prstGeom prst="roundRect">
              <a:avLst>
                <a:gd name="adj" fmla="val 30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3">
              <a:extLst>
                <a:ext uri="{FF2B5EF4-FFF2-40B4-BE49-F238E27FC236}">
                  <a16:creationId xmlns:a16="http://schemas.microsoft.com/office/drawing/2014/main" id="{F22EF6FF-42C9-BEF0-C2B3-24CA411704EB}"/>
                </a:ext>
              </a:extLst>
            </p:cNvPr>
            <p:cNvSpPr txBox="1"/>
            <p:nvPr/>
          </p:nvSpPr>
          <p:spPr>
            <a:xfrm>
              <a:off x="365760" y="59506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BOTH</a:t>
              </a:r>
            </a:p>
          </p:txBody>
        </p:sp>
      </p:grpSp>
      <p:sp>
        <p:nvSpPr>
          <p:cNvPr id="53" name="TextBox 54">
            <a:extLst>
              <a:ext uri="{FF2B5EF4-FFF2-40B4-BE49-F238E27FC236}">
                <a16:creationId xmlns:a16="http://schemas.microsoft.com/office/drawing/2014/main" id="{80D00851-65F1-7F2A-7E82-D2382C58B829}"/>
              </a:ext>
            </a:extLst>
          </p:cNvPr>
          <p:cNvSpPr txBox="1"/>
          <p:nvPr/>
        </p:nvSpPr>
        <p:spPr>
          <a:xfrm>
            <a:off x="7245433" y="59506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Same intake form · same A1–A6 automations · same Triage cadence · same Gate 2 cadence · same Class of Service taxonomy</a:t>
            </a:r>
          </a:p>
        </p:txBody>
      </p:sp>
      <p:sp>
        <p:nvSpPr>
          <p:cNvPr id="6" name="Text Placeholder 19">
            <a:extLst>
              <a:ext uri="{FF2B5EF4-FFF2-40B4-BE49-F238E27FC236}">
                <a16:creationId xmlns:a16="http://schemas.microsoft.com/office/drawing/2014/main" id="{CD4CF27A-48B6-FD6A-095E-EC496A5B312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ROUTING LOGIC BY SIZE</a:t>
            </a:r>
          </a:p>
        </p:txBody>
      </p:sp>
      <p:sp>
        <p:nvSpPr>
          <p:cNvPr id="136" name="TextBox 47">
            <a:extLst>
              <a:ext uri="{FF2B5EF4-FFF2-40B4-BE49-F238E27FC236}">
                <a16:creationId xmlns:a16="http://schemas.microsoft.com/office/drawing/2014/main" id="{530AA1CB-8C56-F581-ECD8-226797ABA604}"/>
              </a:ext>
            </a:extLst>
          </p:cNvPr>
          <p:cNvSpPr txBox="1"/>
          <p:nvPr/>
        </p:nvSpPr>
        <p:spPr>
          <a:xfrm>
            <a:off x="617571" y="1209921"/>
            <a:ext cx="2448000" cy="374906"/>
          </a:xfrm>
          <a:prstGeom prst="rect">
            <a:avLst/>
          </a:prstGeom>
          <a:noFill/>
        </p:spPr>
        <p:txBody>
          <a:bodyPr wrap="square" lIns="36000" tIns="18000" rIns="36000" bIns="18000" anchor="t">
            <a:spAutoFit/>
          </a:bodyPr>
          <a:lstStyle/>
          <a:p>
            <a:pPr algn="ctr"/>
            <a:r>
              <a:rPr sz="1100" b="1" i="0">
                <a:solidFill>
                  <a:schemeClr val="bg1"/>
                </a:solidFill>
              </a:rPr>
              <a:t>Small  ·  &lt; </a:t>
            </a:r>
            <a:r>
              <a:rPr lang="es-MX" sz="1100" b="1" i="0">
                <a:solidFill>
                  <a:schemeClr val="bg1"/>
                </a:solidFill>
              </a:rPr>
              <a:t>1-3 </a:t>
            </a:r>
            <a:r>
              <a:rPr lang="es-MX" sz="1100" b="1" i="0" err="1">
                <a:solidFill>
                  <a:schemeClr val="bg1"/>
                </a:solidFill>
              </a:rPr>
              <a:t>months</a:t>
            </a:r>
            <a:r>
              <a:rPr lang="es-MX" sz="1100" b="1" i="0">
                <a:solidFill>
                  <a:schemeClr val="bg1"/>
                </a:solidFill>
              </a:rPr>
              <a:t> </a:t>
            </a:r>
            <a:r>
              <a:rPr sz="1100" b="1" i="0">
                <a:solidFill>
                  <a:schemeClr val="bg1"/>
                </a:solidFill>
              </a:rPr>
              <a:t>· &lt; $10k · </a:t>
            </a:r>
            <a:r>
              <a:rPr lang="es-MX" sz="1100" b="1" i="0">
                <a:solidFill>
                  <a:schemeClr val="bg1"/>
                </a:solidFill>
              </a:rPr>
              <a:t>&lt; 5 </a:t>
            </a:r>
            <a:r>
              <a:rPr lang="es-MX" sz="1100" b="1" i="0" err="1">
                <a:solidFill>
                  <a:schemeClr val="bg1"/>
                </a:solidFill>
              </a:rPr>
              <a:t>resources</a:t>
            </a:r>
            <a:endParaRPr sz="1100" b="1" i="0">
              <a:solidFill>
                <a:schemeClr val="bg1"/>
              </a:solidFill>
            </a:endParaRPr>
          </a:p>
        </p:txBody>
      </p:sp>
      <p:sp>
        <p:nvSpPr>
          <p:cNvPr id="209" name="TextBox 52">
            <a:extLst>
              <a:ext uri="{FF2B5EF4-FFF2-40B4-BE49-F238E27FC236}">
                <a16:creationId xmlns:a16="http://schemas.microsoft.com/office/drawing/2014/main" id="{CD2BDE2D-23C5-31D1-5057-A51780A125CC}"/>
              </a:ext>
            </a:extLst>
          </p:cNvPr>
          <p:cNvSpPr txBox="1"/>
          <p:nvPr/>
        </p:nvSpPr>
        <p:spPr>
          <a:xfrm>
            <a:off x="3379606" y="1189737"/>
            <a:ext cx="2772000" cy="374906"/>
          </a:xfrm>
          <a:prstGeom prst="rect">
            <a:avLst/>
          </a:prstGeom>
          <a:noFill/>
        </p:spPr>
        <p:txBody>
          <a:bodyPr wrap="square" lIns="36000" tIns="18000" rIns="36000" bIns="18000" anchor="t">
            <a:spAutoFit/>
          </a:bodyPr>
          <a:lstStyle/>
          <a:p>
            <a:pPr algn="ctr"/>
            <a:r>
              <a:rPr sz="1100" b="1" i="0">
                <a:solidFill>
                  <a:schemeClr val="bg1"/>
                </a:solidFill>
              </a:rPr>
              <a:t>Medium  ·  </a:t>
            </a:r>
            <a:r>
              <a:rPr lang="es-MX" sz="1100" b="1" i="0">
                <a:solidFill>
                  <a:schemeClr val="bg1"/>
                </a:solidFill>
              </a:rPr>
              <a:t>3-6 </a:t>
            </a:r>
            <a:r>
              <a:rPr lang="es-MX" sz="1100" b="1" i="0" err="1">
                <a:solidFill>
                  <a:schemeClr val="bg1"/>
                </a:solidFill>
              </a:rPr>
              <a:t>months</a:t>
            </a:r>
            <a:r>
              <a:rPr lang="es-MX" sz="1100" b="1" i="0">
                <a:solidFill>
                  <a:schemeClr val="bg1"/>
                </a:solidFill>
              </a:rPr>
              <a:t> </a:t>
            </a:r>
            <a:r>
              <a:rPr sz="1100" b="1" i="0">
                <a:solidFill>
                  <a:schemeClr val="bg1"/>
                </a:solidFill>
              </a:rPr>
              <a:t>· &lt; $500k · </a:t>
            </a:r>
            <a:r>
              <a:rPr lang="es-MX" sz="1100" b="1" i="0">
                <a:solidFill>
                  <a:schemeClr val="bg1"/>
                </a:solidFill>
              </a:rPr>
              <a:t>&lt; 10 </a:t>
            </a:r>
            <a:r>
              <a:rPr lang="es-MX" sz="1100" b="1" i="0" err="1">
                <a:solidFill>
                  <a:schemeClr val="bg1"/>
                </a:solidFill>
              </a:rPr>
              <a:t>resources</a:t>
            </a:r>
            <a:r>
              <a:rPr lang="es-MX" sz="1100" b="1" i="0">
                <a:solidFill>
                  <a:schemeClr val="bg1"/>
                </a:solidFill>
              </a:rPr>
              <a:t> </a:t>
            </a:r>
            <a:endParaRPr sz="1100" b="1" i="0">
              <a:solidFill>
                <a:schemeClr val="bg1"/>
              </a:solidFill>
            </a:endParaRPr>
          </a:p>
        </p:txBody>
      </p:sp>
      <p:sp>
        <p:nvSpPr>
          <p:cNvPr id="210" name="TextBox 57">
            <a:extLst>
              <a:ext uri="{FF2B5EF4-FFF2-40B4-BE49-F238E27FC236}">
                <a16:creationId xmlns:a16="http://schemas.microsoft.com/office/drawing/2014/main" id="{D96C2681-CF13-BD80-22D2-584D6BF2B49F}"/>
              </a:ext>
            </a:extLst>
          </p:cNvPr>
          <p:cNvSpPr txBox="1"/>
          <p:nvPr/>
        </p:nvSpPr>
        <p:spPr>
          <a:xfrm>
            <a:off x="6323669" y="1188436"/>
            <a:ext cx="2772000" cy="374906"/>
          </a:xfrm>
          <a:prstGeom prst="rect">
            <a:avLst/>
          </a:prstGeom>
          <a:noFill/>
        </p:spPr>
        <p:txBody>
          <a:bodyPr wrap="square" lIns="36000" tIns="18000" rIns="36000" bIns="18000" anchor="t">
            <a:spAutoFit/>
          </a:bodyPr>
          <a:lstStyle/>
          <a:p>
            <a:pPr algn="ctr"/>
            <a:r>
              <a:rPr sz="1100" b="1" i="0">
                <a:solidFill>
                  <a:schemeClr val="bg1"/>
                </a:solidFill>
              </a:rPr>
              <a:t>Large  ·  </a:t>
            </a:r>
            <a:r>
              <a:rPr lang="es-MX" sz="1100" b="1">
                <a:solidFill>
                  <a:schemeClr val="bg1"/>
                </a:solidFill>
              </a:rPr>
              <a:t>&gt;6 </a:t>
            </a:r>
            <a:r>
              <a:rPr lang="es-MX" sz="1100" b="1" err="1">
                <a:solidFill>
                  <a:schemeClr val="bg1"/>
                </a:solidFill>
              </a:rPr>
              <a:t>months</a:t>
            </a:r>
            <a:r>
              <a:rPr lang="es-MX" sz="1100" b="1">
                <a:solidFill>
                  <a:schemeClr val="bg1"/>
                </a:solidFill>
              </a:rPr>
              <a:t> </a:t>
            </a:r>
            <a:r>
              <a:rPr sz="1100" b="1" i="0">
                <a:solidFill>
                  <a:schemeClr val="bg1"/>
                </a:solidFill>
              </a:rPr>
              <a:t>· </a:t>
            </a:r>
            <a:r>
              <a:rPr lang="es-MX" sz="1100" b="1" i="0">
                <a:solidFill>
                  <a:schemeClr val="bg1"/>
                </a:solidFill>
              </a:rPr>
              <a:t>&gt;$</a:t>
            </a:r>
            <a:r>
              <a:rPr lang="es-MX" sz="1100" b="1">
                <a:solidFill>
                  <a:schemeClr val="bg1"/>
                </a:solidFill>
              </a:rPr>
              <a:t>500k · &gt;</a:t>
            </a:r>
            <a:r>
              <a:rPr lang="es-MX" sz="1100" b="1" i="0">
                <a:solidFill>
                  <a:schemeClr val="bg1"/>
                </a:solidFill>
              </a:rPr>
              <a:t>10 </a:t>
            </a:r>
            <a:r>
              <a:rPr lang="es-MX" sz="1100" b="1" i="0" err="1">
                <a:solidFill>
                  <a:schemeClr val="bg1"/>
                </a:solidFill>
              </a:rPr>
              <a:t>resources</a:t>
            </a:r>
            <a:endParaRPr sz="1100" b="1" i="0">
              <a:solidFill>
                <a:schemeClr val="bg1"/>
              </a:solidFill>
            </a:endParaRPr>
          </a:p>
        </p:txBody>
      </p:sp>
      <p:sp>
        <p:nvSpPr>
          <p:cNvPr id="211" name="TextBox 62">
            <a:extLst>
              <a:ext uri="{FF2B5EF4-FFF2-40B4-BE49-F238E27FC236}">
                <a16:creationId xmlns:a16="http://schemas.microsoft.com/office/drawing/2014/main" id="{6E14D2E0-9C1D-76AC-E1E8-2CE31BCAE00F}"/>
              </a:ext>
            </a:extLst>
          </p:cNvPr>
          <p:cNvSpPr txBox="1"/>
          <p:nvPr/>
        </p:nvSpPr>
        <p:spPr>
          <a:xfrm>
            <a:off x="9225521" y="1187082"/>
            <a:ext cx="2799720" cy="544183"/>
          </a:xfrm>
          <a:prstGeom prst="rect">
            <a:avLst/>
          </a:prstGeom>
          <a:noFill/>
        </p:spPr>
        <p:txBody>
          <a:bodyPr wrap="square" lIns="36000" tIns="18000" rIns="36000" bIns="18000" anchor="t">
            <a:spAutoFit/>
          </a:bodyPr>
          <a:lstStyle/>
          <a:p>
            <a:pPr algn="ctr"/>
            <a:r>
              <a:rPr sz="1100" b="1" i="0">
                <a:solidFill>
                  <a:schemeClr val="bg1"/>
                </a:solidFill>
              </a:rPr>
              <a:t>Extra-Large  ·  </a:t>
            </a:r>
            <a:r>
              <a:rPr lang="es-MX" sz="1100" b="1" i="0" err="1">
                <a:solidFill>
                  <a:schemeClr val="bg1"/>
                </a:solidFill>
              </a:rPr>
              <a:t>Multi-anual</a:t>
            </a:r>
            <a:r>
              <a:rPr lang="es-MX" sz="1100" b="1" i="0">
                <a:solidFill>
                  <a:schemeClr val="bg1"/>
                </a:solidFill>
              </a:rPr>
              <a:t> </a:t>
            </a:r>
            <a:r>
              <a:rPr lang="es-MX" sz="1100" b="1" i="0" err="1">
                <a:solidFill>
                  <a:schemeClr val="bg1"/>
                </a:solidFill>
              </a:rPr>
              <a:t>transformational</a:t>
            </a:r>
            <a:r>
              <a:rPr lang="es-MX" sz="1100" b="1" i="0">
                <a:solidFill>
                  <a:schemeClr val="bg1"/>
                </a:solidFill>
              </a:rPr>
              <a:t> </a:t>
            </a:r>
            <a:r>
              <a:rPr lang="es-MX" sz="1100" b="1" i="0" err="1">
                <a:solidFill>
                  <a:schemeClr val="bg1"/>
                </a:solidFill>
              </a:rPr>
              <a:t>projects</a:t>
            </a:r>
            <a:r>
              <a:rPr lang="es-MX" sz="1100" b="1" i="0">
                <a:solidFill>
                  <a:schemeClr val="bg1"/>
                </a:solidFill>
              </a:rPr>
              <a:t> </a:t>
            </a:r>
            <a:r>
              <a:rPr lang="es-MX" sz="1100" b="1" i="0" err="1">
                <a:solidFill>
                  <a:schemeClr val="bg1"/>
                </a:solidFill>
              </a:rPr>
              <a:t>with</a:t>
            </a:r>
            <a:r>
              <a:rPr lang="es-MX" sz="1100" b="1" i="0">
                <a:solidFill>
                  <a:schemeClr val="bg1"/>
                </a:solidFill>
              </a:rPr>
              <a:t> </a:t>
            </a:r>
            <a:r>
              <a:rPr lang="es-MX" sz="1100" b="1" i="0" err="1">
                <a:solidFill>
                  <a:schemeClr val="bg1"/>
                </a:solidFill>
              </a:rPr>
              <a:t>great</a:t>
            </a:r>
            <a:r>
              <a:rPr lang="es-MX" sz="1100" b="1" i="0">
                <a:solidFill>
                  <a:schemeClr val="bg1"/>
                </a:solidFill>
              </a:rPr>
              <a:t> </a:t>
            </a:r>
            <a:r>
              <a:rPr lang="es-MX" sz="1100" b="1" i="0" err="1">
                <a:solidFill>
                  <a:schemeClr val="bg1"/>
                </a:solidFill>
              </a:rPr>
              <a:t>resources</a:t>
            </a:r>
            <a:endParaRPr sz="1100" b="1" i="0">
              <a:solidFill>
                <a:schemeClr val="bg1"/>
              </a:solidFill>
            </a:endParaRPr>
          </a:p>
        </p:txBody>
      </p:sp>
      <p:sp>
        <p:nvSpPr>
          <p:cNvPr id="214" name="TextBox 53">
            <a:extLst>
              <a:ext uri="{FF2B5EF4-FFF2-40B4-BE49-F238E27FC236}">
                <a16:creationId xmlns:a16="http://schemas.microsoft.com/office/drawing/2014/main" id="{B7733CC9-0130-8F4E-5CB0-185BE6A80292}"/>
              </a:ext>
            </a:extLst>
          </p:cNvPr>
          <p:cNvSpPr txBox="1"/>
          <p:nvPr/>
        </p:nvSpPr>
        <p:spPr>
          <a:xfrm>
            <a:off x="3502590" y="3421280"/>
            <a:ext cx="2678705" cy="528794"/>
          </a:xfrm>
          <a:prstGeom prst="rect">
            <a:avLst/>
          </a:prstGeom>
          <a:noFill/>
        </p:spPr>
        <p:txBody>
          <a:bodyPr wrap="square" lIns="36000" tIns="18000" rIns="36000" bIns="18000" anchor="t">
            <a:spAutoFit/>
          </a:bodyPr>
          <a:lstStyle/>
          <a:p>
            <a:pPr algn="l"/>
            <a:r>
              <a:rPr lang="pt-BR" sz="800" b="0" i="0">
                <a:solidFill>
                  <a:srgbClr val="172B4D"/>
                </a:solidFill>
              </a:rPr>
              <a:t>•  </a:t>
            </a:r>
            <a:r>
              <a:rPr lang="pt-BR" sz="800" b="0" i="0" err="1">
                <a:solidFill>
                  <a:srgbClr val="172B4D"/>
                </a:solidFill>
              </a:rPr>
              <a:t>Lightweight</a:t>
            </a:r>
            <a:r>
              <a:rPr lang="pt-BR" sz="800" b="0" i="0">
                <a:solidFill>
                  <a:srgbClr val="172B4D"/>
                </a:solidFill>
              </a:rPr>
              <a:t> Discovery (1–2 </a:t>
            </a:r>
            <a:r>
              <a:rPr lang="pt-BR" sz="800" b="0" i="0" err="1">
                <a:solidFill>
                  <a:srgbClr val="172B4D"/>
                </a:solidFill>
              </a:rPr>
              <a:t>weeks</a:t>
            </a:r>
            <a:r>
              <a:rPr lang="pt-BR" sz="800" b="0" i="0">
                <a:solidFill>
                  <a:srgbClr val="172B4D"/>
                </a:solidFill>
              </a:rPr>
              <a:t>)</a:t>
            </a:r>
          </a:p>
          <a:p>
            <a:pPr algn="l"/>
            <a:r>
              <a:rPr lang="pt-BR" sz="800" b="0" i="0">
                <a:solidFill>
                  <a:srgbClr val="172B4D"/>
                </a:solidFill>
              </a:rPr>
              <a:t>•  Standard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a:t>
            </a:r>
            <a:r>
              <a:rPr lang="pt-BR" sz="800" b="0" i="0" err="1">
                <a:solidFill>
                  <a:srgbClr val="172B4D"/>
                </a:solidFill>
              </a:rPr>
              <a:t>CoS</a:t>
            </a:r>
            <a:r>
              <a:rPr lang="pt-BR" sz="800" b="0" i="0">
                <a:solidFill>
                  <a:srgbClr val="172B4D"/>
                </a:solidFill>
              </a:rPr>
              <a:t> · OPCO · Pain Score</a:t>
            </a:r>
          </a:p>
          <a:p>
            <a:pPr algn="l"/>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business </a:t>
            </a:r>
            <a:r>
              <a:rPr lang="pt-BR" sz="800" b="0" i="0" err="1">
                <a:solidFill>
                  <a:srgbClr val="172B4D"/>
                </a:solidFill>
              </a:rPr>
              <a:t>unit</a:t>
            </a:r>
            <a:r>
              <a:rPr lang="pt-BR" sz="800" b="0" i="0">
                <a:solidFill>
                  <a:srgbClr val="172B4D"/>
                </a:solidFill>
              </a:rPr>
              <a:t> lead</a:t>
            </a:r>
          </a:p>
        </p:txBody>
      </p:sp>
      <p:sp>
        <p:nvSpPr>
          <p:cNvPr id="215" name="TextBox 58">
            <a:extLst>
              <a:ext uri="{FF2B5EF4-FFF2-40B4-BE49-F238E27FC236}">
                <a16:creationId xmlns:a16="http://schemas.microsoft.com/office/drawing/2014/main" id="{FE8058B7-96BE-6660-E5A6-B76BB9DD2C6A}"/>
              </a:ext>
            </a:extLst>
          </p:cNvPr>
          <p:cNvSpPr txBox="1"/>
          <p:nvPr/>
        </p:nvSpPr>
        <p:spPr>
          <a:xfrm>
            <a:off x="6432478" y="3421280"/>
            <a:ext cx="2663191" cy="651905"/>
          </a:xfrm>
          <a:prstGeom prst="rect">
            <a:avLst/>
          </a:prstGeom>
          <a:noFill/>
        </p:spPr>
        <p:txBody>
          <a:bodyPr wrap="square" lIns="36000" tIns="18000" rIns="36000" bIns="18000" anchor="t">
            <a:spAutoFit/>
          </a:bodyPr>
          <a:lstStyle/>
          <a:p>
            <a:pPr lvl="0"/>
            <a:r>
              <a:rPr lang="pt-BR" sz="800" b="0" i="0">
                <a:solidFill>
                  <a:srgbClr val="172B4D"/>
                </a:solidFill>
              </a:rPr>
              <a:t>•  Full Discovery — </a:t>
            </a:r>
            <a:r>
              <a:rPr lang="pt-BR" sz="800" b="0" i="0" err="1">
                <a:solidFill>
                  <a:srgbClr val="172B4D"/>
                </a:solidFill>
              </a:rPr>
              <a:t>outcome</a:t>
            </a:r>
            <a:r>
              <a:rPr lang="pt-BR" sz="800" b="0" i="0">
                <a:solidFill>
                  <a:srgbClr val="172B4D"/>
                </a:solidFill>
              </a:rPr>
              <a:t> · </a:t>
            </a:r>
            <a:r>
              <a:rPr lang="pt-BR" sz="800" b="0" i="0" err="1">
                <a:solidFill>
                  <a:srgbClr val="172B4D"/>
                </a:solidFill>
              </a:rPr>
              <a:t>users</a:t>
            </a:r>
            <a:r>
              <a:rPr lang="pt-BR" sz="800" b="0" i="0">
                <a:solidFill>
                  <a:srgbClr val="172B4D"/>
                </a:solidFill>
              </a:rPr>
              <a:t> · </a:t>
            </a:r>
            <a:r>
              <a:rPr lang="pt-BR" sz="800" b="0" i="0" err="1">
                <a:solidFill>
                  <a:srgbClr val="172B4D"/>
                </a:solidFill>
              </a:rPr>
              <a:t>solution</a:t>
            </a:r>
            <a:r>
              <a:rPr lang="pt-BR" sz="800" b="0" i="0">
                <a:solidFill>
                  <a:srgbClr val="172B4D"/>
                </a:solidFill>
              </a:rPr>
              <a:t> shape</a:t>
            </a:r>
          </a:p>
          <a:p>
            <a:pPr lvl="0"/>
            <a:r>
              <a:rPr lang="pt-BR" sz="800" b="0" i="0">
                <a:solidFill>
                  <a:srgbClr val="172B4D"/>
                </a:solidFill>
              </a:rPr>
              <a:t>•  Full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budget · </a:t>
            </a:r>
            <a:r>
              <a:rPr lang="pt-BR" sz="800" b="0" i="0" err="1">
                <a:solidFill>
                  <a:srgbClr val="172B4D"/>
                </a:solidFill>
              </a:rPr>
              <a:t>vendor</a:t>
            </a:r>
            <a:r>
              <a:rPr lang="pt-BR" sz="800" b="0" i="0">
                <a:solidFill>
                  <a:srgbClr val="172B4D"/>
                </a:solidFill>
              </a:rPr>
              <a:t> model · </a:t>
            </a:r>
            <a:r>
              <a:rPr lang="pt-BR" sz="800" b="0" i="0" err="1">
                <a:solidFill>
                  <a:srgbClr val="172B4D"/>
                </a:solidFill>
              </a:rPr>
              <a:t>architecture</a:t>
            </a:r>
            <a:r>
              <a:rPr lang="pt-BR" sz="800" b="0" i="0">
                <a:solidFill>
                  <a:srgbClr val="172B4D"/>
                </a:solidFill>
              </a:rPr>
              <a:t> review</a:t>
            </a:r>
          </a:p>
          <a:p>
            <a:pPr lvl="0"/>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r>
              <a:rPr lang="pt-BR" sz="800" b="0" i="0">
                <a:solidFill>
                  <a:srgbClr val="172B4D"/>
                </a:solidFill>
              </a:rPr>
              <a:t> · Gate </a:t>
            </a:r>
            <a:r>
              <a:rPr lang="pt-BR" sz="800" b="0" i="0" err="1">
                <a:solidFill>
                  <a:srgbClr val="172B4D"/>
                </a:solidFill>
              </a:rPr>
              <a:t>decision</a:t>
            </a:r>
            <a:r>
              <a:rPr lang="pt-BR" sz="800" b="0" i="0">
                <a:solidFill>
                  <a:srgbClr val="172B4D"/>
                </a:solidFill>
              </a:rPr>
              <a:t> </a:t>
            </a:r>
            <a:r>
              <a:rPr lang="pt-BR" sz="800" b="0" i="0" err="1">
                <a:solidFill>
                  <a:srgbClr val="172B4D"/>
                </a:solidFill>
              </a:rPr>
              <a:t>next</a:t>
            </a:r>
            <a:r>
              <a:rPr lang="pt-BR" sz="800" b="0" i="0">
                <a:solidFill>
                  <a:srgbClr val="172B4D"/>
                </a:solidFill>
              </a:rPr>
              <a:t> </a:t>
            </a:r>
            <a:r>
              <a:rPr lang="pt-BR" sz="800" b="0" i="0" err="1">
                <a:solidFill>
                  <a:srgbClr val="172B4D"/>
                </a:solidFill>
              </a:rPr>
              <a:t>monthly</a:t>
            </a:r>
            <a:endParaRPr lang="pt-BR" sz="800" b="0" i="0">
              <a:solidFill>
                <a:srgbClr val="172B4D"/>
              </a:solidFill>
            </a:endParaRPr>
          </a:p>
          <a:p>
            <a:pPr lvl="0"/>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Director</a:t>
            </a:r>
            <a:r>
              <a:rPr lang="pt-BR" sz="800" b="0" i="0">
                <a:solidFill>
                  <a:srgbClr val="172B4D"/>
                </a:solidFill>
              </a:rPr>
              <a:t> (</a:t>
            </a:r>
            <a:endParaRPr sz="800" b="0" i="0">
              <a:solidFill>
                <a:srgbClr val="172B4D"/>
              </a:solidFill>
            </a:endParaRPr>
          </a:p>
        </p:txBody>
      </p:sp>
      <p:sp>
        <p:nvSpPr>
          <p:cNvPr id="216" name="TextBox 63">
            <a:extLst>
              <a:ext uri="{FF2B5EF4-FFF2-40B4-BE49-F238E27FC236}">
                <a16:creationId xmlns:a16="http://schemas.microsoft.com/office/drawing/2014/main" id="{30FC6BCD-B991-9EF1-197B-64DD263B55AA}"/>
              </a:ext>
            </a:extLst>
          </p:cNvPr>
          <p:cNvSpPr txBox="1"/>
          <p:nvPr/>
        </p:nvSpPr>
        <p:spPr>
          <a:xfrm>
            <a:off x="9401877" y="3421280"/>
            <a:ext cx="2231323" cy="313350"/>
          </a:xfrm>
          <a:prstGeom prst="rect">
            <a:avLst/>
          </a:prstGeom>
          <a:noFill/>
        </p:spPr>
        <p:txBody>
          <a:bodyPr wrap="square" lIns="36000" tIns="18000" rIns="36000" bIns="18000" anchor="t">
            <a:spAutoFit/>
          </a:bodyPr>
          <a:lstStyle/>
          <a:p>
            <a:pPr lvl="0"/>
            <a:r>
              <a:rPr lang="pt-BR" sz="900" b="0" i="0">
                <a:solidFill>
                  <a:srgbClr val="172B4D"/>
                </a:solidFill>
              </a:rPr>
              <a:t>•  MANAGED IN PPM </a:t>
            </a:r>
            <a:r>
              <a:rPr lang="pt-BR" sz="900" b="0" i="0" err="1">
                <a:solidFill>
                  <a:srgbClr val="172B4D"/>
                </a:solidFill>
              </a:rPr>
              <a:t>Now</a:t>
            </a:r>
            <a:endParaRPr lang="pt-BR" sz="900" b="0" i="0">
              <a:solidFill>
                <a:srgbClr val="172B4D"/>
              </a:solidFill>
            </a:endParaRPr>
          </a:p>
          <a:p>
            <a:pPr lvl="0"/>
            <a:endParaRPr sz="900" b="0" i="0">
              <a:solidFill>
                <a:srgbClr val="172B4D"/>
              </a:solidFill>
            </a:endParaRPr>
          </a:p>
        </p:txBody>
      </p:sp>
      <p:sp>
        <p:nvSpPr>
          <p:cNvPr id="217" name="TextBox 53">
            <a:extLst>
              <a:ext uri="{FF2B5EF4-FFF2-40B4-BE49-F238E27FC236}">
                <a16:creationId xmlns:a16="http://schemas.microsoft.com/office/drawing/2014/main" id="{AF991005-EA01-7DEC-B021-5ED96FCE1243}"/>
              </a:ext>
            </a:extLst>
          </p:cNvPr>
          <p:cNvSpPr txBox="1"/>
          <p:nvPr/>
        </p:nvSpPr>
        <p:spPr>
          <a:xfrm>
            <a:off x="536932" y="3421280"/>
            <a:ext cx="2691339" cy="77501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Squad's</a:t>
            </a:r>
            <a:r>
              <a:rPr lang="pt-BR" sz="800" b="0" i="0">
                <a:solidFill>
                  <a:srgbClr val="172B4D"/>
                </a:solidFill>
              </a:rPr>
              <a:t> Team </a:t>
            </a:r>
            <a:r>
              <a:rPr lang="pt-BR" sz="800" b="0" i="0" err="1">
                <a:solidFill>
                  <a:srgbClr val="172B4D"/>
                </a:solidFill>
              </a:rPr>
              <a:t>Kanban</a:t>
            </a:r>
            <a:endParaRPr lang="pt-BR" sz="800" b="0" i="0">
              <a:solidFill>
                <a:srgbClr val="172B4D"/>
              </a:solidFill>
            </a:endParaRPr>
          </a:p>
          <a:p>
            <a:pPr algn="l"/>
            <a:r>
              <a:rPr lang="pt-BR" sz="800" b="0" i="0">
                <a:solidFill>
                  <a:srgbClr val="172B4D"/>
                </a:solidFill>
              </a:rPr>
              <a:t>•  </a:t>
            </a:r>
            <a:r>
              <a:rPr lang="pt-BR" sz="800" b="0" i="0" err="1">
                <a:solidFill>
                  <a:srgbClr val="172B4D"/>
                </a:solidFill>
              </a:rPr>
              <a:t>Skips</a:t>
            </a:r>
            <a:r>
              <a:rPr lang="pt-BR" sz="800" b="0" i="0">
                <a:solidFill>
                  <a:srgbClr val="172B4D"/>
                </a:solidFill>
              </a:rPr>
              <a:t> Portfolio Gate</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a:t>
            </a:r>
            <a:r>
              <a:rPr lang="pt-BR" sz="800" b="0" i="0" err="1">
                <a:solidFill>
                  <a:srgbClr val="172B4D"/>
                </a:solidFill>
              </a:rPr>
              <a:t>DoR</a:t>
            </a:r>
            <a:r>
              <a:rPr lang="pt-BR" sz="800" b="0" i="0">
                <a:solidFill>
                  <a:srgbClr val="172B4D"/>
                </a:solidFill>
              </a:rPr>
              <a:t> — </a:t>
            </a:r>
            <a:r>
              <a:rPr lang="pt-BR" sz="800" b="0" i="0" err="1">
                <a:solidFill>
                  <a:srgbClr val="172B4D"/>
                </a:solidFill>
              </a:rPr>
              <a:t>title</a:t>
            </a:r>
            <a:r>
              <a:rPr lang="pt-BR" sz="800" b="0" i="0">
                <a:solidFill>
                  <a:srgbClr val="172B4D"/>
                </a:solidFill>
              </a:rPr>
              <a:t> · BV · </a:t>
            </a:r>
            <a:r>
              <a:rPr lang="pt-BR" sz="800" b="0" i="0" err="1">
                <a:solidFill>
                  <a:srgbClr val="172B4D"/>
                </a:solidFill>
              </a:rPr>
              <a:t>acceptance</a:t>
            </a:r>
            <a:r>
              <a:rPr lang="pt-BR" sz="800" b="0" i="0">
                <a:solidFill>
                  <a:srgbClr val="172B4D"/>
                </a:solidFill>
              </a:rPr>
              <a:t> </a:t>
            </a:r>
            <a:r>
              <a:rPr lang="pt-BR" sz="800" b="0" i="0" err="1">
                <a:solidFill>
                  <a:srgbClr val="172B4D"/>
                </a:solidFill>
              </a:rPr>
              <a:t>criteria</a:t>
            </a:r>
            <a:endParaRPr lang="pt-BR" sz="800" b="0" i="0">
              <a:solidFill>
                <a:srgbClr val="172B4D"/>
              </a:solidFill>
            </a:endParaRPr>
          </a:p>
          <a:p>
            <a:pPr algn="l"/>
            <a:r>
              <a:rPr lang="pt-BR" sz="800" b="0" i="0">
                <a:solidFill>
                  <a:srgbClr val="172B4D"/>
                </a:solidFill>
              </a:rPr>
              <a:t>•  </a:t>
            </a:r>
            <a:r>
              <a:rPr lang="pt-BR" sz="800" b="0" i="0" err="1">
                <a:solidFill>
                  <a:srgbClr val="172B4D"/>
                </a:solidFill>
              </a:rPr>
              <a:t>Triage</a:t>
            </a:r>
            <a:r>
              <a:rPr lang="pt-BR" sz="800" b="0" i="0">
                <a:solidFill>
                  <a:srgbClr val="172B4D"/>
                </a:solidFill>
              </a:rPr>
              <a:t> SLA: 2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sub-team</a:t>
            </a:r>
            <a:r>
              <a:rPr lang="pt-BR" sz="800" b="0" i="0">
                <a:solidFill>
                  <a:srgbClr val="172B4D"/>
                </a:solidFill>
              </a:rPr>
              <a:t> lead</a:t>
            </a:r>
          </a:p>
          <a:p>
            <a:pPr algn="l"/>
            <a:endParaRPr lang="pt-BR" sz="800" b="0" i="0">
              <a:solidFill>
                <a:srgbClr val="172B4D"/>
              </a:solidFill>
            </a:endParaRPr>
          </a:p>
        </p:txBody>
      </p:sp>
      <p:sp>
        <p:nvSpPr>
          <p:cNvPr id="218" name="TextBox 11">
            <a:extLst>
              <a:ext uri="{FF2B5EF4-FFF2-40B4-BE49-F238E27FC236}">
                <a16:creationId xmlns:a16="http://schemas.microsoft.com/office/drawing/2014/main" id="{EDF57417-B0B6-5948-7005-B73EC84C6924}"/>
              </a:ext>
            </a:extLst>
          </p:cNvPr>
          <p:cNvSpPr txBox="1"/>
          <p:nvPr/>
        </p:nvSpPr>
        <p:spPr>
          <a:xfrm>
            <a:off x="580723" y="3266602"/>
            <a:ext cx="2526030" cy="159462"/>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19" name="TextBox 11">
            <a:extLst>
              <a:ext uri="{FF2B5EF4-FFF2-40B4-BE49-F238E27FC236}">
                <a16:creationId xmlns:a16="http://schemas.microsoft.com/office/drawing/2014/main" id="{6BA26D3A-990E-2AAA-EBF6-C1284E21BE80}"/>
              </a:ext>
            </a:extLst>
          </p:cNvPr>
          <p:cNvSpPr txBox="1"/>
          <p:nvPr/>
        </p:nvSpPr>
        <p:spPr>
          <a:xfrm>
            <a:off x="3502591"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20" name="TextBox 11">
            <a:extLst>
              <a:ext uri="{FF2B5EF4-FFF2-40B4-BE49-F238E27FC236}">
                <a16:creationId xmlns:a16="http://schemas.microsoft.com/office/drawing/2014/main" id="{ECDFFBF9-CF5C-BC53-DB15-165248A2F430}"/>
              </a:ext>
            </a:extLst>
          </p:cNvPr>
          <p:cNvSpPr txBox="1"/>
          <p:nvPr/>
        </p:nvSpPr>
        <p:spPr>
          <a:xfrm>
            <a:off x="6413228"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21" name="TextBox 11">
            <a:extLst>
              <a:ext uri="{FF2B5EF4-FFF2-40B4-BE49-F238E27FC236}">
                <a16:creationId xmlns:a16="http://schemas.microsoft.com/office/drawing/2014/main" id="{98FE570B-2FCC-0EC5-B333-BC0FF7E4D226}"/>
              </a:ext>
            </a:extLst>
          </p:cNvPr>
          <p:cNvSpPr txBox="1"/>
          <p:nvPr/>
        </p:nvSpPr>
        <p:spPr>
          <a:xfrm>
            <a:off x="9385837"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148" name="TextBox 28">
            <a:extLst>
              <a:ext uri="{FF2B5EF4-FFF2-40B4-BE49-F238E27FC236}">
                <a16:creationId xmlns:a16="http://schemas.microsoft.com/office/drawing/2014/main" id="{7529888B-F53E-88CD-B6E3-D79D289EE589}"/>
              </a:ext>
            </a:extLst>
          </p:cNvPr>
          <p:cNvSpPr txBox="1"/>
          <p:nvPr/>
        </p:nvSpPr>
        <p:spPr>
          <a:xfrm>
            <a:off x="3492634" y="2751399"/>
            <a:ext cx="2526030" cy="344128"/>
          </a:xfrm>
          <a:prstGeom prst="rect">
            <a:avLst/>
          </a:prstGeom>
          <a:noFill/>
        </p:spPr>
        <p:txBody>
          <a:bodyPr wrap="square" lIns="36000" tIns="18000" rIns="36000" bIns="18000" anchor="t">
            <a:spAutoFit/>
          </a:bodyPr>
          <a:lstStyle/>
          <a:p>
            <a:pPr algn="l"/>
            <a:r>
              <a:rPr lang="es-MX" sz="1000" b="1" i="0">
                <a:solidFill>
                  <a:srgbClr val="2C3E50"/>
                </a:solidFill>
                <a:latin typeface="Arial"/>
              </a:rPr>
              <a:t>PORTFOLIO BACKLOG</a:t>
            </a:r>
            <a:r>
              <a:rPr lang="pt-BR" sz="1000" b="1" i="0">
                <a:solidFill>
                  <a:srgbClr val="2C3E50"/>
                </a:solidFill>
                <a:latin typeface="Arial"/>
              </a:rPr>
              <a:t>
</a:t>
            </a:r>
            <a:r>
              <a:rPr sz="1000" b="1" i="0">
                <a:solidFill>
                  <a:srgbClr val="2C3E50"/>
                </a:solidFill>
                <a:latin typeface="Arial"/>
              </a:rPr>
              <a:t>GATE 2 </a:t>
            </a:r>
          </a:p>
        </p:txBody>
      </p:sp>
      <p:sp>
        <p:nvSpPr>
          <p:cNvPr id="149" name="TextBox 28">
            <a:extLst>
              <a:ext uri="{FF2B5EF4-FFF2-40B4-BE49-F238E27FC236}">
                <a16:creationId xmlns:a16="http://schemas.microsoft.com/office/drawing/2014/main" id="{46DDA71B-21C7-3E7D-05DC-CA00A16085E4}"/>
              </a:ext>
            </a:extLst>
          </p:cNvPr>
          <p:cNvSpPr txBox="1"/>
          <p:nvPr/>
        </p:nvSpPr>
        <p:spPr>
          <a:xfrm>
            <a:off x="6402856" y="2741775"/>
            <a:ext cx="2526030" cy="190240"/>
          </a:xfrm>
          <a:prstGeom prst="rect">
            <a:avLst/>
          </a:prstGeom>
          <a:noFill/>
        </p:spPr>
        <p:txBody>
          <a:bodyPr wrap="square" lIns="36000" tIns="18000" rIns="36000" bIns="18000" anchor="t">
            <a:spAutoFit/>
          </a:bodyPr>
          <a:lstStyle/>
          <a:p>
            <a:pPr algn="l"/>
            <a:r>
              <a:rPr lang="es-MX" sz="1000" b="1" i="0">
                <a:solidFill>
                  <a:srgbClr val="2C3E50"/>
                </a:solidFill>
                <a:latin typeface="Arial"/>
              </a:rPr>
              <a:t>MANAGED in PPM </a:t>
            </a:r>
            <a:r>
              <a:rPr lang="es-MX" sz="1000" b="1" i="0" err="1">
                <a:solidFill>
                  <a:srgbClr val="2C3E50"/>
                </a:solidFill>
                <a:latin typeface="Arial"/>
              </a:rPr>
              <a:t>Now</a:t>
            </a:r>
            <a:endParaRPr sz="1000" b="1" i="0">
              <a:solidFill>
                <a:srgbClr val="2C3E50"/>
              </a:solidFill>
              <a:latin typeface="Arial"/>
            </a:endParaRPr>
          </a:p>
        </p:txBody>
      </p:sp>
    </p:spTree>
    <p:extLst>
      <p:ext uri="{BB962C8B-B14F-4D97-AF65-F5344CB8AC3E}">
        <p14:creationId xmlns:p14="http://schemas.microsoft.com/office/powerpoint/2010/main" val="3826916645"/>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7B21-4B23-471D-A415-1A1945FC03F4}"/>
            </a:ext>
          </a:extLst>
        </p:cNvPr>
        <p:cNvGrpSpPr/>
        <p:nvPr/>
      </p:nvGrpSpPr>
      <p:grpSpPr>
        <a:xfrm>
          <a:off x="0" y="0"/>
          <a:ext cx="0" cy="0"/>
          <a:chOff x="0" y="0"/>
          <a:chExt cx="0" cy="0"/>
        </a:xfrm>
      </p:grpSpPr>
      <p:sp>
        <p:nvSpPr>
          <p:cNvPr id="4" name="Rounded Rectangle 6">
            <a:extLst>
              <a:ext uri="{FF2B5EF4-FFF2-40B4-BE49-F238E27FC236}">
                <a16:creationId xmlns:a16="http://schemas.microsoft.com/office/drawing/2014/main" id="{2A42B4D8-D879-6A54-289C-F26A6109C242}"/>
              </a:ext>
            </a:extLst>
          </p:cNvPr>
          <p:cNvSpPr/>
          <p:nvPr/>
        </p:nvSpPr>
        <p:spPr>
          <a:xfrm>
            <a:off x="365760" y="1267850"/>
            <a:ext cx="2800350" cy="2039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7">
            <a:extLst>
              <a:ext uri="{FF2B5EF4-FFF2-40B4-BE49-F238E27FC236}">
                <a16:creationId xmlns:a16="http://schemas.microsoft.com/office/drawing/2014/main" id="{E6DF8F03-43D0-5176-E89A-B5176737F9D5}"/>
              </a:ext>
            </a:extLst>
          </p:cNvPr>
          <p:cNvSpPr/>
          <p:nvPr/>
        </p:nvSpPr>
        <p:spPr>
          <a:xfrm>
            <a:off x="365760" y="1276642"/>
            <a:ext cx="2800350"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a:extLst>
              <a:ext uri="{FF2B5EF4-FFF2-40B4-BE49-F238E27FC236}">
                <a16:creationId xmlns:a16="http://schemas.microsoft.com/office/drawing/2014/main" id="{3D9C0A12-B7F8-9978-5D7E-902D501CF000}"/>
              </a:ext>
            </a:extLst>
          </p:cNvPr>
          <p:cNvSpPr txBox="1"/>
          <p:nvPr/>
        </p:nvSpPr>
        <p:spPr>
          <a:xfrm>
            <a:off x="36576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01 OBSERVE</a:t>
            </a:r>
          </a:p>
        </p:txBody>
      </p:sp>
      <p:sp>
        <p:nvSpPr>
          <p:cNvPr id="9" name="TextBox 9">
            <a:extLst>
              <a:ext uri="{FF2B5EF4-FFF2-40B4-BE49-F238E27FC236}">
                <a16:creationId xmlns:a16="http://schemas.microsoft.com/office/drawing/2014/main" id="{27FB5582-36F7-9AB6-0632-3C64D00FF8F4}"/>
              </a:ext>
            </a:extLst>
          </p:cNvPr>
          <p:cNvSpPr txBox="1"/>
          <p:nvPr/>
        </p:nvSpPr>
        <p:spPr>
          <a:xfrm>
            <a:off x="36576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MEASURE flow per CoS</a:t>
            </a:r>
          </a:p>
        </p:txBody>
      </p:sp>
      <p:sp>
        <p:nvSpPr>
          <p:cNvPr id="10" name="TextBox 10">
            <a:extLst>
              <a:ext uri="{FF2B5EF4-FFF2-40B4-BE49-F238E27FC236}">
                <a16:creationId xmlns:a16="http://schemas.microsoft.com/office/drawing/2014/main" id="{4690712E-7EB9-B9A2-4A46-076684C4931A}"/>
              </a:ext>
            </a:extLst>
          </p:cNvPr>
          <p:cNvSpPr txBox="1"/>
          <p:nvPr/>
        </p:nvSpPr>
        <p:spPr>
          <a:xfrm>
            <a:off x="502920" y="2045090"/>
            <a:ext cx="2526030" cy="474933"/>
          </a:xfrm>
          <a:prstGeom prst="rect">
            <a:avLst/>
          </a:prstGeom>
          <a:noFill/>
        </p:spPr>
        <p:txBody>
          <a:bodyPr wrap="square" lIns="36000" tIns="18000" rIns="36000" bIns="18000" anchor="t">
            <a:spAutoFit/>
          </a:bodyPr>
          <a:lstStyle/>
          <a:p>
            <a:pPr algn="l"/>
            <a:r>
              <a:rPr sz="950" b="0" i="0">
                <a:solidFill>
                  <a:srgbClr val="2C3E50"/>
                </a:solidFill>
                <a:latin typeface="Arial"/>
              </a:rPr>
              <a:t>Squad cycle-time + WIP + completion-rate per </a:t>
            </a:r>
            <a:r>
              <a:rPr lang="en-US" sz="950" b="0" i="0" err="1">
                <a:solidFill>
                  <a:srgbClr val="2C3E50"/>
                </a:solidFill>
                <a:latin typeface="Arial"/>
              </a:rPr>
              <a:t>CoS</a:t>
            </a:r>
            <a:r>
              <a:rPr sz="950" b="0" i="0">
                <a:solidFill>
                  <a:srgbClr val="2C3E50"/>
                </a:solidFill>
                <a:latin typeface="Arial"/>
              </a:rPr>
              <a:t> lane · weekly snapshot</a:t>
            </a:r>
            <a:endParaRPr lang="es-MX" sz="950" b="0" i="0">
              <a:solidFill>
                <a:srgbClr val="2C3E50"/>
              </a:solidFill>
              <a:latin typeface="Arial"/>
            </a:endParaRPr>
          </a:p>
          <a:p>
            <a:pPr algn="l"/>
            <a:endParaRPr lang="es-MX" sz="950">
              <a:solidFill>
                <a:srgbClr val="2C3E50"/>
              </a:solidFill>
              <a:latin typeface="Arial"/>
            </a:endParaRPr>
          </a:p>
        </p:txBody>
      </p:sp>
      <p:sp>
        <p:nvSpPr>
          <p:cNvPr id="11" name="Rounded Rectangle 11">
            <a:extLst>
              <a:ext uri="{FF2B5EF4-FFF2-40B4-BE49-F238E27FC236}">
                <a16:creationId xmlns:a16="http://schemas.microsoft.com/office/drawing/2014/main" id="{CC50FAAF-BD20-CB9E-C824-DF93C16F9E07}"/>
              </a:ext>
            </a:extLst>
          </p:cNvPr>
          <p:cNvSpPr/>
          <p:nvPr/>
        </p:nvSpPr>
        <p:spPr>
          <a:xfrm>
            <a:off x="3257550" y="1267850"/>
            <a:ext cx="2800350" cy="2039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2">
            <a:extLst>
              <a:ext uri="{FF2B5EF4-FFF2-40B4-BE49-F238E27FC236}">
                <a16:creationId xmlns:a16="http://schemas.microsoft.com/office/drawing/2014/main" id="{69CAC72E-4D31-1833-CA8D-E42D9CB6BDF8}"/>
              </a:ext>
            </a:extLst>
          </p:cNvPr>
          <p:cNvSpPr/>
          <p:nvPr/>
        </p:nvSpPr>
        <p:spPr>
          <a:xfrm>
            <a:off x="3257550" y="1276642"/>
            <a:ext cx="2800350"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3">
            <a:extLst>
              <a:ext uri="{FF2B5EF4-FFF2-40B4-BE49-F238E27FC236}">
                <a16:creationId xmlns:a16="http://schemas.microsoft.com/office/drawing/2014/main" id="{63CB808B-FB9A-A96B-48F4-F73DCA6112EF}"/>
              </a:ext>
            </a:extLst>
          </p:cNvPr>
          <p:cNvSpPr txBox="1"/>
          <p:nvPr/>
        </p:nvSpPr>
        <p:spPr>
          <a:xfrm>
            <a:off x="325755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02 ASSESS</a:t>
            </a:r>
          </a:p>
        </p:txBody>
      </p:sp>
      <p:sp>
        <p:nvSpPr>
          <p:cNvPr id="14" name="TextBox 14">
            <a:extLst>
              <a:ext uri="{FF2B5EF4-FFF2-40B4-BE49-F238E27FC236}">
                <a16:creationId xmlns:a16="http://schemas.microsoft.com/office/drawing/2014/main" id="{45D375A0-A5B9-71C0-858E-05F6035C5850}"/>
              </a:ext>
            </a:extLst>
          </p:cNvPr>
          <p:cNvSpPr txBox="1"/>
          <p:nvPr/>
        </p:nvSpPr>
        <p:spPr>
          <a:xfrm>
            <a:off x="325755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DETECT imbalances</a:t>
            </a:r>
          </a:p>
        </p:txBody>
      </p:sp>
      <p:sp>
        <p:nvSpPr>
          <p:cNvPr id="15" name="TextBox 15">
            <a:extLst>
              <a:ext uri="{FF2B5EF4-FFF2-40B4-BE49-F238E27FC236}">
                <a16:creationId xmlns:a16="http://schemas.microsoft.com/office/drawing/2014/main" id="{95BF5C91-D0A4-D838-5B30-A0C068170E6D}"/>
              </a:ext>
            </a:extLst>
          </p:cNvPr>
          <p:cNvSpPr txBox="1"/>
          <p:nvPr/>
        </p:nvSpPr>
        <p:spPr>
          <a:xfrm>
            <a:off x="3394710" y="2045090"/>
            <a:ext cx="2526030" cy="1828800"/>
          </a:xfrm>
          <a:prstGeom prst="rect">
            <a:avLst/>
          </a:prstGeom>
          <a:noFill/>
        </p:spPr>
        <p:txBody>
          <a:bodyPr wrap="square" lIns="36000" tIns="18000" rIns="36000" bIns="18000" anchor="t">
            <a:spAutoFit/>
          </a:bodyPr>
          <a:lstStyle/>
          <a:p>
            <a:pPr algn="l"/>
            <a:r>
              <a:rPr sz="950" b="0" i="0">
                <a:solidFill>
                  <a:srgbClr val="2C3E50"/>
                </a:solidFill>
                <a:latin typeface="Arial"/>
              </a:rPr>
              <a:t>Are Expedites &gt; planned cap? Fixed-Date items at risk? Standard starving? Aging tags rising?</a:t>
            </a:r>
          </a:p>
        </p:txBody>
      </p:sp>
      <p:sp>
        <p:nvSpPr>
          <p:cNvPr id="16" name="Rounded Rectangle 16">
            <a:extLst>
              <a:ext uri="{FF2B5EF4-FFF2-40B4-BE49-F238E27FC236}">
                <a16:creationId xmlns:a16="http://schemas.microsoft.com/office/drawing/2014/main" id="{460FA083-0F88-DEC2-64A3-D1FEE9D6C008}"/>
              </a:ext>
            </a:extLst>
          </p:cNvPr>
          <p:cNvSpPr/>
          <p:nvPr/>
        </p:nvSpPr>
        <p:spPr>
          <a:xfrm>
            <a:off x="6149340" y="1267850"/>
            <a:ext cx="2800350" cy="2926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7">
            <a:extLst>
              <a:ext uri="{FF2B5EF4-FFF2-40B4-BE49-F238E27FC236}">
                <a16:creationId xmlns:a16="http://schemas.microsoft.com/office/drawing/2014/main" id="{46537794-6623-300E-B011-FF70B7120F0F}"/>
              </a:ext>
            </a:extLst>
          </p:cNvPr>
          <p:cNvSpPr/>
          <p:nvPr/>
        </p:nvSpPr>
        <p:spPr>
          <a:xfrm>
            <a:off x="6149340" y="1276642"/>
            <a:ext cx="2800350"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a:extLst>
              <a:ext uri="{FF2B5EF4-FFF2-40B4-BE49-F238E27FC236}">
                <a16:creationId xmlns:a16="http://schemas.microsoft.com/office/drawing/2014/main" id="{E31184D7-2C88-EB06-582A-519740CD609B}"/>
              </a:ext>
            </a:extLst>
          </p:cNvPr>
          <p:cNvSpPr txBox="1"/>
          <p:nvPr/>
        </p:nvSpPr>
        <p:spPr>
          <a:xfrm>
            <a:off x="614934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03 DECIDE</a:t>
            </a:r>
          </a:p>
        </p:txBody>
      </p:sp>
      <p:sp>
        <p:nvSpPr>
          <p:cNvPr id="19" name="TextBox 19">
            <a:extLst>
              <a:ext uri="{FF2B5EF4-FFF2-40B4-BE49-F238E27FC236}">
                <a16:creationId xmlns:a16="http://schemas.microsoft.com/office/drawing/2014/main" id="{C33722D7-E316-A695-D250-640B62C217CA}"/>
              </a:ext>
            </a:extLst>
          </p:cNvPr>
          <p:cNvSpPr txBox="1"/>
          <p:nvPr/>
        </p:nvSpPr>
        <p:spPr>
          <a:xfrm>
            <a:off x="614934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REBALANCE proposed</a:t>
            </a:r>
          </a:p>
        </p:txBody>
      </p:sp>
      <p:sp>
        <p:nvSpPr>
          <p:cNvPr id="20" name="TextBox 20">
            <a:extLst>
              <a:ext uri="{FF2B5EF4-FFF2-40B4-BE49-F238E27FC236}">
                <a16:creationId xmlns:a16="http://schemas.microsoft.com/office/drawing/2014/main" id="{D47D419C-EFBA-B9B6-0311-71A65F602902}"/>
              </a:ext>
            </a:extLst>
          </p:cNvPr>
          <p:cNvSpPr txBox="1"/>
          <p:nvPr/>
        </p:nvSpPr>
        <p:spPr>
          <a:xfrm>
            <a:off x="6286500" y="2053882"/>
            <a:ext cx="2526030" cy="474933"/>
          </a:xfrm>
          <a:prstGeom prst="rect">
            <a:avLst/>
          </a:prstGeom>
          <a:noFill/>
        </p:spPr>
        <p:txBody>
          <a:bodyPr wrap="square" lIns="36000" tIns="18000" rIns="36000" bIns="18000" anchor="t">
            <a:spAutoFit/>
          </a:bodyPr>
          <a:lstStyle/>
          <a:p>
            <a:pPr algn="l"/>
            <a:r>
              <a:rPr lang="en-US" sz="950">
                <a:solidFill>
                  <a:srgbClr val="2C3E50"/>
                </a:solidFill>
                <a:latin typeface="Arial"/>
              </a:rPr>
              <a:t>PM  propose adjustments for next quarter · Director endorses at Gate 2</a:t>
            </a:r>
          </a:p>
          <a:p>
            <a:pPr algn="l"/>
            <a:endParaRPr lang="en-US" sz="950">
              <a:solidFill>
                <a:srgbClr val="2C3E50"/>
              </a:solidFill>
              <a:latin typeface="Arial"/>
            </a:endParaRPr>
          </a:p>
        </p:txBody>
      </p:sp>
      <p:sp>
        <p:nvSpPr>
          <p:cNvPr id="21" name="Rounded Rectangle 21">
            <a:extLst>
              <a:ext uri="{FF2B5EF4-FFF2-40B4-BE49-F238E27FC236}">
                <a16:creationId xmlns:a16="http://schemas.microsoft.com/office/drawing/2014/main" id="{1A53AB69-3137-30A5-A52B-E2D6997F8980}"/>
              </a:ext>
            </a:extLst>
          </p:cNvPr>
          <p:cNvSpPr/>
          <p:nvPr/>
        </p:nvSpPr>
        <p:spPr>
          <a:xfrm>
            <a:off x="9041130" y="1267850"/>
            <a:ext cx="2800350" cy="2926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2">
            <a:extLst>
              <a:ext uri="{FF2B5EF4-FFF2-40B4-BE49-F238E27FC236}">
                <a16:creationId xmlns:a16="http://schemas.microsoft.com/office/drawing/2014/main" id="{EA8F367A-3E6E-6BA0-C1AB-DC58AEEE26C4}"/>
              </a:ext>
            </a:extLst>
          </p:cNvPr>
          <p:cNvSpPr/>
          <p:nvPr/>
        </p:nvSpPr>
        <p:spPr>
          <a:xfrm>
            <a:off x="9041130" y="1276642"/>
            <a:ext cx="2800350" cy="59436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3">
            <a:extLst>
              <a:ext uri="{FF2B5EF4-FFF2-40B4-BE49-F238E27FC236}">
                <a16:creationId xmlns:a16="http://schemas.microsoft.com/office/drawing/2014/main" id="{62DCF2BA-CBB0-9C37-0A07-86686E0AF957}"/>
              </a:ext>
            </a:extLst>
          </p:cNvPr>
          <p:cNvSpPr txBox="1"/>
          <p:nvPr/>
        </p:nvSpPr>
        <p:spPr>
          <a:xfrm>
            <a:off x="904113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04 ADJUST</a:t>
            </a:r>
          </a:p>
        </p:txBody>
      </p:sp>
      <p:sp>
        <p:nvSpPr>
          <p:cNvPr id="24" name="TextBox 24">
            <a:extLst>
              <a:ext uri="{FF2B5EF4-FFF2-40B4-BE49-F238E27FC236}">
                <a16:creationId xmlns:a16="http://schemas.microsoft.com/office/drawing/2014/main" id="{131DF76B-6DEF-07E7-E22A-28163BEBBC90}"/>
              </a:ext>
            </a:extLst>
          </p:cNvPr>
          <p:cNvSpPr txBox="1"/>
          <p:nvPr/>
        </p:nvSpPr>
        <p:spPr>
          <a:xfrm>
            <a:off x="904113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APPLY new mix</a:t>
            </a:r>
          </a:p>
        </p:txBody>
      </p:sp>
      <p:sp>
        <p:nvSpPr>
          <p:cNvPr id="25" name="TextBox 25">
            <a:extLst>
              <a:ext uri="{FF2B5EF4-FFF2-40B4-BE49-F238E27FC236}">
                <a16:creationId xmlns:a16="http://schemas.microsoft.com/office/drawing/2014/main" id="{2D30C2CE-DEF0-6D4C-6DAD-C07C98B9E600}"/>
              </a:ext>
            </a:extLst>
          </p:cNvPr>
          <p:cNvSpPr txBox="1"/>
          <p:nvPr/>
        </p:nvSpPr>
        <p:spPr>
          <a:xfrm>
            <a:off x="9178290" y="2045090"/>
            <a:ext cx="2526030" cy="1828800"/>
          </a:xfrm>
          <a:prstGeom prst="rect">
            <a:avLst/>
          </a:prstGeom>
          <a:noFill/>
        </p:spPr>
        <p:txBody>
          <a:bodyPr wrap="square" lIns="36000" tIns="18000" rIns="36000" bIns="18000" anchor="t">
            <a:spAutoFit/>
          </a:bodyPr>
          <a:lstStyle/>
          <a:p>
            <a:pPr algn="l"/>
            <a:r>
              <a:rPr sz="950" b="0" i="0">
                <a:solidFill>
                  <a:srgbClr val="2C3E50"/>
                </a:solidFill>
                <a:latin typeface="Arial"/>
              </a:rPr>
              <a:t>WIP limits updated in Jira · automations re-tuned · KPIs re-baselined · loop back to OBSERVE</a:t>
            </a:r>
          </a:p>
        </p:txBody>
      </p:sp>
      <p:sp>
        <p:nvSpPr>
          <p:cNvPr id="26" name="Rounded Rectangle 26">
            <a:extLst>
              <a:ext uri="{FF2B5EF4-FFF2-40B4-BE49-F238E27FC236}">
                <a16:creationId xmlns:a16="http://schemas.microsoft.com/office/drawing/2014/main" id="{9591DB44-9102-CD6F-25DE-B7DE01BFB279}"/>
              </a:ext>
            </a:extLst>
          </p:cNvPr>
          <p:cNvSpPr/>
          <p:nvPr/>
        </p:nvSpPr>
        <p:spPr>
          <a:xfrm>
            <a:off x="365760" y="3010965"/>
            <a:ext cx="11475720" cy="1431036"/>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7">
            <a:extLst>
              <a:ext uri="{FF2B5EF4-FFF2-40B4-BE49-F238E27FC236}">
                <a16:creationId xmlns:a16="http://schemas.microsoft.com/office/drawing/2014/main" id="{988105C9-4D7A-9E43-AB05-B74B63DADEA1}"/>
              </a:ext>
            </a:extLst>
          </p:cNvPr>
          <p:cNvSpPr txBox="1"/>
          <p:nvPr/>
        </p:nvSpPr>
        <p:spPr>
          <a:xfrm>
            <a:off x="502920" y="3102405"/>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WHO OWNS WHAT  ·  THE LOOP THAT NEVER STOPS</a:t>
            </a:r>
          </a:p>
        </p:txBody>
      </p:sp>
      <p:sp>
        <p:nvSpPr>
          <p:cNvPr id="28" name="TextBox 28">
            <a:extLst>
              <a:ext uri="{FF2B5EF4-FFF2-40B4-BE49-F238E27FC236}">
                <a16:creationId xmlns:a16="http://schemas.microsoft.com/office/drawing/2014/main" id="{1DEAC1AD-F2FE-3553-1D6D-327B1B6F1E15}"/>
              </a:ext>
            </a:extLst>
          </p:cNvPr>
          <p:cNvSpPr txBox="1"/>
          <p:nvPr/>
        </p:nvSpPr>
        <p:spPr>
          <a:xfrm>
            <a:off x="502920" y="3376725"/>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OBSERVE</a:t>
            </a:r>
          </a:p>
        </p:txBody>
      </p:sp>
      <p:sp>
        <p:nvSpPr>
          <p:cNvPr id="29" name="TextBox 29">
            <a:extLst>
              <a:ext uri="{FF2B5EF4-FFF2-40B4-BE49-F238E27FC236}">
                <a16:creationId xmlns:a16="http://schemas.microsoft.com/office/drawing/2014/main" id="{6D38516F-6A35-DDA3-07E5-E790FF957CF7}"/>
              </a:ext>
            </a:extLst>
          </p:cNvPr>
          <p:cNvSpPr txBox="1"/>
          <p:nvPr/>
        </p:nvSpPr>
        <p:spPr>
          <a:xfrm>
            <a:off x="2423160" y="3376725"/>
            <a:ext cx="5029200" cy="174851"/>
          </a:xfrm>
          <a:prstGeom prst="rect">
            <a:avLst/>
          </a:prstGeom>
          <a:noFill/>
        </p:spPr>
        <p:txBody>
          <a:bodyPr wrap="square" lIns="36000" tIns="18000" rIns="36000" bIns="18000" anchor="t">
            <a:spAutoFit/>
          </a:bodyPr>
          <a:lstStyle/>
          <a:p>
            <a:r>
              <a:rPr lang="en-US" sz="900" b="0" i="0">
                <a:solidFill>
                  <a:srgbClr val="2C3E50"/>
                </a:solidFill>
                <a:latin typeface="Arial"/>
              </a:rPr>
              <a:t>P</a:t>
            </a:r>
            <a:r>
              <a:rPr lang="en-US" sz="900" b="0" i="0" err="1">
                <a:solidFill>
                  <a:srgbClr val="2C3E50"/>
                </a:solidFill>
                <a:latin typeface="Arial"/>
              </a:rPr>
              <a:t>roduct</a:t>
            </a:r>
            <a:r>
              <a:rPr lang="en-US" sz="900" b="0" i="0">
                <a:solidFill>
                  <a:srgbClr val="2C3E50"/>
                </a:solidFill>
                <a:latin typeface="Arial"/>
              </a:rPr>
              <a:t> M</a:t>
            </a:r>
            <a:r>
              <a:rPr lang="en-US" sz="900" b="0" i="0" err="1">
                <a:solidFill>
                  <a:srgbClr val="2C3E50"/>
                </a:solidFill>
                <a:latin typeface="Arial"/>
              </a:rPr>
              <a:t>anager</a:t>
            </a:r>
            <a:r>
              <a:rPr lang="en-US" sz="900" b="0" i="0">
                <a:solidFill>
                  <a:srgbClr val="2C3E50"/>
                </a:solidFill>
                <a:latin typeface="Arial"/>
              </a:rPr>
              <a:t> </a:t>
            </a:r>
            <a:r>
              <a:rPr lang="en-US" sz="900">
                <a:solidFill>
                  <a:srgbClr val="2C3E50"/>
                </a:solidFill>
                <a:latin typeface="Arial"/>
              </a:rPr>
              <a:t>(Portfolio </a:t>
            </a:r>
            <a:r>
              <a:rPr sz="900" b="0" i="0">
                <a:solidFill>
                  <a:srgbClr val="2C3E50"/>
                </a:solidFill>
                <a:latin typeface="Arial"/>
              </a:rPr>
              <a:t>per VS)</a:t>
            </a:r>
            <a:r>
              <a:rPr lang="es-MX" sz="900" b="0" i="0">
                <a:solidFill>
                  <a:srgbClr val="2C3E50"/>
                </a:solidFill>
                <a:latin typeface="Arial"/>
              </a:rPr>
              <a:t> – Customer </a:t>
            </a:r>
            <a:r>
              <a:rPr lang="es-MX" sz="900" b="0" i="0" err="1">
                <a:solidFill>
                  <a:srgbClr val="2C3E50"/>
                </a:solidFill>
                <a:latin typeface="Arial"/>
              </a:rPr>
              <a:t>Services</a:t>
            </a:r>
            <a:r>
              <a:rPr lang="es-MX" sz="900" b="0" i="0">
                <a:solidFill>
                  <a:srgbClr val="2C3E50"/>
                </a:solidFill>
                <a:latin typeface="Arial"/>
              </a:rPr>
              <a:t> </a:t>
            </a:r>
            <a:r>
              <a:rPr lang="es-MX" sz="900" b="0" i="0" err="1">
                <a:solidFill>
                  <a:srgbClr val="2C3E50"/>
                </a:solidFill>
                <a:latin typeface="Arial"/>
              </a:rPr>
              <a:t>Applications</a:t>
            </a:r>
            <a:r>
              <a:rPr lang="es-MX" sz="900" b="0" i="0">
                <a:solidFill>
                  <a:srgbClr val="2C3E50"/>
                </a:solidFill>
                <a:latin typeface="Arial"/>
              </a:rPr>
              <a:t> Manager</a:t>
            </a:r>
            <a:endParaRPr lang="en-US" sz="900" b="0" i="0">
              <a:solidFill>
                <a:srgbClr val="2C3E50"/>
              </a:solidFill>
              <a:latin typeface="Arial"/>
            </a:endParaRPr>
          </a:p>
        </p:txBody>
      </p:sp>
      <p:sp>
        <p:nvSpPr>
          <p:cNvPr id="30" name="TextBox 30">
            <a:extLst>
              <a:ext uri="{FF2B5EF4-FFF2-40B4-BE49-F238E27FC236}">
                <a16:creationId xmlns:a16="http://schemas.microsoft.com/office/drawing/2014/main" id="{1717BA32-426C-BA7F-5E89-7FB138050528}"/>
              </a:ext>
            </a:extLst>
          </p:cNvPr>
          <p:cNvSpPr txBox="1"/>
          <p:nvPr/>
        </p:nvSpPr>
        <p:spPr>
          <a:xfrm>
            <a:off x="7498079" y="3376725"/>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Weekly · automated dashboard</a:t>
            </a:r>
          </a:p>
        </p:txBody>
      </p:sp>
      <p:sp>
        <p:nvSpPr>
          <p:cNvPr id="31" name="TextBox 31">
            <a:extLst>
              <a:ext uri="{FF2B5EF4-FFF2-40B4-BE49-F238E27FC236}">
                <a16:creationId xmlns:a16="http://schemas.microsoft.com/office/drawing/2014/main" id="{40F8D5A2-DE0C-4D20-967B-4E1AE641BEB3}"/>
              </a:ext>
            </a:extLst>
          </p:cNvPr>
          <p:cNvSpPr txBox="1"/>
          <p:nvPr/>
        </p:nvSpPr>
        <p:spPr>
          <a:xfrm>
            <a:off x="502920" y="3577893"/>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ASSESS</a:t>
            </a:r>
          </a:p>
        </p:txBody>
      </p:sp>
      <p:sp>
        <p:nvSpPr>
          <p:cNvPr id="32" name="TextBox 32">
            <a:extLst>
              <a:ext uri="{FF2B5EF4-FFF2-40B4-BE49-F238E27FC236}">
                <a16:creationId xmlns:a16="http://schemas.microsoft.com/office/drawing/2014/main" id="{504D6BF4-0400-B340-6B2A-BE38EB40674B}"/>
              </a:ext>
            </a:extLst>
          </p:cNvPr>
          <p:cNvSpPr txBox="1"/>
          <p:nvPr/>
        </p:nvSpPr>
        <p:spPr>
          <a:xfrm>
            <a:off x="2423160" y="3577893"/>
            <a:ext cx="5029200" cy="174851"/>
          </a:xfrm>
          <a:prstGeom prst="rect">
            <a:avLst/>
          </a:prstGeom>
          <a:noFill/>
        </p:spPr>
        <p:txBody>
          <a:bodyPr wrap="square" lIns="36000" tIns="18000" rIns="36000" bIns="18000" anchor="t">
            <a:spAutoFit/>
          </a:bodyPr>
          <a:lstStyle/>
          <a:p>
            <a:r>
              <a:rPr lang="es-MX" sz="900" err="1">
                <a:solidFill>
                  <a:srgbClr val="2C3E50"/>
                </a:solidFill>
                <a:latin typeface="Arial"/>
              </a:rPr>
              <a:t>Product</a:t>
            </a:r>
            <a:r>
              <a:rPr lang="es-MX" sz="900">
                <a:solidFill>
                  <a:srgbClr val="2C3E50"/>
                </a:solidFill>
                <a:latin typeface="Arial"/>
              </a:rPr>
              <a:t> Manager – Customer </a:t>
            </a:r>
            <a:r>
              <a:rPr lang="es-MX" sz="900" err="1">
                <a:solidFill>
                  <a:srgbClr val="2C3E50"/>
                </a:solidFill>
                <a:latin typeface="Arial"/>
              </a:rPr>
              <a:t>Services</a:t>
            </a:r>
            <a:r>
              <a:rPr lang="es-MX" sz="900">
                <a:solidFill>
                  <a:srgbClr val="2C3E50"/>
                </a:solidFill>
                <a:latin typeface="Arial"/>
              </a:rPr>
              <a:t> </a:t>
            </a:r>
            <a:r>
              <a:rPr lang="es-MX" sz="900" err="1">
                <a:solidFill>
                  <a:srgbClr val="2C3E50"/>
                </a:solidFill>
                <a:latin typeface="Arial"/>
              </a:rPr>
              <a:t>Applications</a:t>
            </a:r>
            <a:r>
              <a:rPr lang="es-MX" sz="900">
                <a:solidFill>
                  <a:srgbClr val="2C3E50"/>
                </a:solidFill>
                <a:latin typeface="Arial"/>
              </a:rPr>
              <a:t> Manager</a:t>
            </a:r>
            <a:endParaRPr lang="en-US" sz="900">
              <a:solidFill>
                <a:srgbClr val="2C3E50"/>
              </a:solidFill>
              <a:latin typeface="Arial"/>
            </a:endParaRPr>
          </a:p>
        </p:txBody>
      </p:sp>
      <p:sp>
        <p:nvSpPr>
          <p:cNvPr id="33" name="TextBox 33">
            <a:extLst>
              <a:ext uri="{FF2B5EF4-FFF2-40B4-BE49-F238E27FC236}">
                <a16:creationId xmlns:a16="http://schemas.microsoft.com/office/drawing/2014/main" id="{551FB394-CD9F-CAD8-956F-9360AD5D2CF4}"/>
              </a:ext>
            </a:extLst>
          </p:cNvPr>
          <p:cNvSpPr txBox="1"/>
          <p:nvPr/>
        </p:nvSpPr>
        <p:spPr>
          <a:xfrm>
            <a:off x="7498079" y="3577893"/>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Weekly · Triage meeting</a:t>
            </a:r>
          </a:p>
        </p:txBody>
      </p:sp>
      <p:sp>
        <p:nvSpPr>
          <p:cNvPr id="34" name="TextBox 34">
            <a:extLst>
              <a:ext uri="{FF2B5EF4-FFF2-40B4-BE49-F238E27FC236}">
                <a16:creationId xmlns:a16="http://schemas.microsoft.com/office/drawing/2014/main" id="{275B99CF-C7B3-53D9-6ED3-7D667BC420AE}"/>
              </a:ext>
            </a:extLst>
          </p:cNvPr>
          <p:cNvSpPr txBox="1"/>
          <p:nvPr/>
        </p:nvSpPr>
        <p:spPr>
          <a:xfrm>
            <a:off x="502920" y="3779061"/>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DECIDE</a:t>
            </a:r>
          </a:p>
        </p:txBody>
      </p:sp>
      <p:sp>
        <p:nvSpPr>
          <p:cNvPr id="35" name="TextBox 35">
            <a:extLst>
              <a:ext uri="{FF2B5EF4-FFF2-40B4-BE49-F238E27FC236}">
                <a16:creationId xmlns:a16="http://schemas.microsoft.com/office/drawing/2014/main" id="{863C3BA7-A8AA-FEC3-0ADD-87989AF16F5D}"/>
              </a:ext>
            </a:extLst>
          </p:cNvPr>
          <p:cNvSpPr txBox="1"/>
          <p:nvPr/>
        </p:nvSpPr>
        <p:spPr>
          <a:xfrm>
            <a:off x="2423160" y="3779061"/>
            <a:ext cx="5029200" cy="174851"/>
          </a:xfrm>
          <a:prstGeom prst="rect">
            <a:avLst/>
          </a:prstGeom>
          <a:noFill/>
        </p:spPr>
        <p:txBody>
          <a:bodyPr wrap="square" lIns="36000" tIns="18000" rIns="36000" bIns="18000" anchor="t">
            <a:spAutoFit/>
          </a:bodyPr>
          <a:lstStyle/>
          <a:p>
            <a:r>
              <a:rPr sz="900" b="0" i="0">
                <a:solidFill>
                  <a:srgbClr val="2C3E50"/>
                </a:solidFill>
                <a:latin typeface="Arial"/>
              </a:rPr>
              <a:t>Director at Gate 2</a:t>
            </a:r>
            <a:r>
              <a:rPr lang="es-MX" sz="900" b="0" i="0">
                <a:solidFill>
                  <a:srgbClr val="2C3E50"/>
                </a:solidFill>
                <a:latin typeface="Arial"/>
              </a:rPr>
              <a:t> – IT </a:t>
            </a:r>
            <a:r>
              <a:rPr lang="es-MX" sz="900" b="0" i="0" err="1">
                <a:solidFill>
                  <a:srgbClr val="2C3E50"/>
                </a:solidFill>
                <a:latin typeface="Arial"/>
              </a:rPr>
              <a:t>Program</a:t>
            </a:r>
            <a:r>
              <a:rPr lang="es-MX" sz="900" b="0" i="0">
                <a:solidFill>
                  <a:srgbClr val="2C3E50"/>
                </a:solidFill>
                <a:latin typeface="Arial"/>
              </a:rPr>
              <a:t> </a:t>
            </a:r>
            <a:r>
              <a:rPr lang="es-MX" sz="900" b="0" i="0" err="1">
                <a:solidFill>
                  <a:srgbClr val="2C3E50"/>
                </a:solidFill>
                <a:latin typeface="Arial"/>
              </a:rPr>
              <a:t>Delivery</a:t>
            </a:r>
            <a:endParaRPr lang="en-US" sz="900" b="0" i="0">
              <a:solidFill>
                <a:srgbClr val="2C3E50"/>
              </a:solidFill>
              <a:latin typeface="Arial"/>
            </a:endParaRPr>
          </a:p>
        </p:txBody>
      </p:sp>
      <p:sp>
        <p:nvSpPr>
          <p:cNvPr id="36" name="TextBox 36">
            <a:extLst>
              <a:ext uri="{FF2B5EF4-FFF2-40B4-BE49-F238E27FC236}">
                <a16:creationId xmlns:a16="http://schemas.microsoft.com/office/drawing/2014/main" id="{8243E2DF-801B-41AA-2AFF-56AE97495385}"/>
              </a:ext>
            </a:extLst>
          </p:cNvPr>
          <p:cNvSpPr txBox="1"/>
          <p:nvPr/>
        </p:nvSpPr>
        <p:spPr>
          <a:xfrm>
            <a:off x="7498079" y="3779061"/>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Monthly · Portfolio Committee</a:t>
            </a:r>
          </a:p>
        </p:txBody>
      </p:sp>
      <p:sp>
        <p:nvSpPr>
          <p:cNvPr id="37" name="TextBox 37">
            <a:extLst>
              <a:ext uri="{FF2B5EF4-FFF2-40B4-BE49-F238E27FC236}">
                <a16:creationId xmlns:a16="http://schemas.microsoft.com/office/drawing/2014/main" id="{CF81F43F-702F-E8DD-2799-195C9B61067A}"/>
              </a:ext>
            </a:extLst>
          </p:cNvPr>
          <p:cNvSpPr txBox="1"/>
          <p:nvPr/>
        </p:nvSpPr>
        <p:spPr>
          <a:xfrm>
            <a:off x="502920" y="3980229"/>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ADJUST</a:t>
            </a:r>
          </a:p>
        </p:txBody>
      </p:sp>
      <p:sp>
        <p:nvSpPr>
          <p:cNvPr id="38" name="TextBox 38">
            <a:extLst>
              <a:ext uri="{FF2B5EF4-FFF2-40B4-BE49-F238E27FC236}">
                <a16:creationId xmlns:a16="http://schemas.microsoft.com/office/drawing/2014/main" id="{44B497A9-B52A-9B6D-4E4F-C8A45209C115}"/>
              </a:ext>
            </a:extLst>
          </p:cNvPr>
          <p:cNvSpPr txBox="1"/>
          <p:nvPr/>
        </p:nvSpPr>
        <p:spPr>
          <a:xfrm>
            <a:off x="2423160" y="3980229"/>
            <a:ext cx="5029200" cy="174851"/>
          </a:xfrm>
          <a:prstGeom prst="rect">
            <a:avLst/>
          </a:prstGeom>
          <a:noFill/>
        </p:spPr>
        <p:txBody>
          <a:bodyPr wrap="square" lIns="36000" tIns="18000" rIns="36000" bIns="18000" anchor="t">
            <a:spAutoFit/>
          </a:bodyPr>
          <a:lstStyle/>
          <a:p>
            <a:pPr algn="l"/>
            <a:r>
              <a:rPr sz="900" b="0" i="0">
                <a:solidFill>
                  <a:srgbClr val="2C3E50"/>
                </a:solidFill>
                <a:latin typeface="Arial"/>
              </a:rPr>
              <a:t>Squad Lead</a:t>
            </a:r>
            <a:r>
              <a:rPr lang="es-MX" sz="900" b="0" i="0">
                <a:solidFill>
                  <a:srgbClr val="2C3E50"/>
                </a:solidFill>
                <a:latin typeface="Arial"/>
              </a:rPr>
              <a:t> – IT </a:t>
            </a:r>
            <a:r>
              <a:rPr lang="es-MX" sz="900" b="0" i="0" err="1">
                <a:solidFill>
                  <a:srgbClr val="2C3E50"/>
                </a:solidFill>
                <a:latin typeface="Arial"/>
              </a:rPr>
              <a:t>Program</a:t>
            </a:r>
            <a:r>
              <a:rPr lang="es-MX" sz="900" b="0" i="0">
                <a:solidFill>
                  <a:srgbClr val="2C3E50"/>
                </a:solidFill>
                <a:latin typeface="Arial"/>
              </a:rPr>
              <a:t> </a:t>
            </a:r>
            <a:r>
              <a:rPr lang="es-MX" sz="900" b="0" i="0" err="1">
                <a:solidFill>
                  <a:srgbClr val="2C3E50"/>
                </a:solidFill>
                <a:latin typeface="Arial"/>
              </a:rPr>
              <a:t>Deliver</a:t>
            </a:r>
            <a:endParaRPr sz="900" b="0" i="0">
              <a:solidFill>
                <a:srgbClr val="2C3E50"/>
              </a:solidFill>
              <a:latin typeface="Arial"/>
            </a:endParaRPr>
          </a:p>
        </p:txBody>
      </p:sp>
      <p:sp>
        <p:nvSpPr>
          <p:cNvPr id="39" name="TextBox 39">
            <a:extLst>
              <a:ext uri="{FF2B5EF4-FFF2-40B4-BE49-F238E27FC236}">
                <a16:creationId xmlns:a16="http://schemas.microsoft.com/office/drawing/2014/main" id="{4DE53DC8-E7B4-809F-B645-2DB952CFE606}"/>
              </a:ext>
            </a:extLst>
          </p:cNvPr>
          <p:cNvSpPr txBox="1"/>
          <p:nvPr/>
        </p:nvSpPr>
        <p:spPr>
          <a:xfrm>
            <a:off x="7498079" y="3980229"/>
            <a:ext cx="4206240" cy="451850"/>
          </a:xfrm>
          <a:prstGeom prst="rect">
            <a:avLst/>
          </a:prstGeom>
          <a:noFill/>
        </p:spPr>
        <p:txBody>
          <a:bodyPr wrap="square" lIns="36000" tIns="18000" rIns="36000" bIns="18000" anchor="t">
            <a:spAutoFit/>
          </a:bodyPr>
          <a:lstStyle/>
          <a:p>
            <a:r>
              <a:rPr lang="pt-BR" sz="900" i="1" err="1">
                <a:solidFill>
                  <a:srgbClr val="6B778C"/>
                </a:solidFill>
                <a:latin typeface="Arial"/>
              </a:rPr>
              <a:t>End</a:t>
            </a:r>
            <a:r>
              <a:rPr lang="pt-BR" sz="900" i="1">
                <a:solidFill>
                  <a:srgbClr val="6B778C"/>
                </a:solidFill>
                <a:latin typeface="Arial"/>
              </a:rPr>
              <a:t> of </a:t>
            </a:r>
            <a:r>
              <a:rPr lang="pt-BR" sz="900" i="1" err="1">
                <a:solidFill>
                  <a:srgbClr val="6B778C"/>
                </a:solidFill>
                <a:latin typeface="Arial"/>
              </a:rPr>
              <a:t>quarter</a:t>
            </a:r>
            <a:r>
              <a:rPr lang="pt-BR" sz="900" i="1">
                <a:solidFill>
                  <a:srgbClr val="6B778C"/>
                </a:solidFill>
                <a:latin typeface="Arial"/>
              </a:rPr>
              <a:t> · feeds </a:t>
            </a:r>
            <a:r>
              <a:rPr lang="pt-BR" sz="900" i="1" err="1">
                <a:solidFill>
                  <a:srgbClr val="6B778C"/>
                </a:solidFill>
                <a:latin typeface="Arial"/>
              </a:rPr>
              <a:t>quarterly</a:t>
            </a:r>
            <a:r>
              <a:rPr lang="pt-BR" sz="900" i="1">
                <a:solidFill>
                  <a:srgbClr val="6B778C"/>
                </a:solidFill>
                <a:latin typeface="Arial"/>
              </a:rPr>
              <a:t> </a:t>
            </a:r>
            <a:r>
              <a:rPr lang="pt-BR" sz="900" i="1" err="1">
                <a:solidFill>
                  <a:srgbClr val="6B778C"/>
                </a:solidFill>
                <a:latin typeface="Arial"/>
              </a:rPr>
              <a:t>priorities</a:t>
            </a:r>
            <a:r>
              <a:rPr lang="pt-BR" sz="900" i="1">
                <a:solidFill>
                  <a:srgbClr val="6B778C"/>
                </a:solidFill>
                <a:latin typeface="Arial"/>
              </a:rPr>
              <a:t> </a:t>
            </a:r>
            <a:r>
              <a:rPr lang="pt-BR" sz="900" i="1" err="1">
                <a:solidFill>
                  <a:srgbClr val="6B778C"/>
                </a:solidFill>
                <a:latin typeface="Arial"/>
              </a:rPr>
              <a:t>summary</a:t>
            </a:r>
            <a:r>
              <a:rPr lang="pt-BR" sz="900" i="1">
                <a:solidFill>
                  <a:srgbClr val="6B778C"/>
                </a:solidFill>
                <a:latin typeface="Arial"/>
              </a:rPr>
              <a:t> to </a:t>
            </a:r>
            <a:r>
              <a:rPr lang="pt-BR" sz="900" i="1" err="1">
                <a:solidFill>
                  <a:srgbClr val="6B778C"/>
                </a:solidFill>
                <a:latin typeface="Arial"/>
              </a:rPr>
              <a:t>existing</a:t>
            </a:r>
            <a:r>
              <a:rPr lang="pt-BR" sz="900" i="1">
                <a:solidFill>
                  <a:srgbClr val="6B778C"/>
                </a:solidFill>
                <a:latin typeface="Arial"/>
              </a:rPr>
              <a:t> P&amp;T BRP / Digital </a:t>
            </a:r>
            <a:r>
              <a:rPr lang="pt-BR" sz="900" i="1" err="1">
                <a:solidFill>
                  <a:srgbClr val="6B778C"/>
                </a:solidFill>
                <a:latin typeface="Arial"/>
              </a:rPr>
              <a:t>CoE</a:t>
            </a:r>
            <a:r>
              <a:rPr lang="pt-BR" sz="900" i="1">
                <a:solidFill>
                  <a:srgbClr val="6B778C"/>
                </a:solidFill>
                <a:latin typeface="Arial"/>
              </a:rPr>
              <a:t> BRP</a:t>
            </a:r>
          </a:p>
          <a:p>
            <a:endParaRPr lang="pt-BR" sz="900" i="1">
              <a:solidFill>
                <a:srgbClr val="6B778C"/>
              </a:solidFill>
              <a:latin typeface="Arial"/>
            </a:endParaRPr>
          </a:p>
        </p:txBody>
      </p:sp>
      <p:sp>
        <p:nvSpPr>
          <p:cNvPr id="2" name="Rounded Rectangle 40">
            <a:extLst>
              <a:ext uri="{FF2B5EF4-FFF2-40B4-BE49-F238E27FC236}">
                <a16:creationId xmlns:a16="http://schemas.microsoft.com/office/drawing/2014/main" id="{C576C530-DD29-DA52-8BB9-26FCBA66188E}"/>
              </a:ext>
            </a:extLst>
          </p:cNvPr>
          <p:cNvSpPr/>
          <p:nvPr/>
        </p:nvSpPr>
        <p:spPr>
          <a:xfrm>
            <a:off x="320040" y="4785253"/>
            <a:ext cx="11475720" cy="10058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41">
            <a:extLst>
              <a:ext uri="{FF2B5EF4-FFF2-40B4-BE49-F238E27FC236}">
                <a16:creationId xmlns:a16="http://schemas.microsoft.com/office/drawing/2014/main" id="{991ECB6F-3FCD-C18E-272C-DB745DCEC65A}"/>
              </a:ext>
            </a:extLst>
          </p:cNvPr>
          <p:cNvSpPr txBox="1"/>
          <p:nvPr/>
        </p:nvSpPr>
        <p:spPr>
          <a:xfrm>
            <a:off x="365760" y="4821829"/>
            <a:ext cx="11155680" cy="182880"/>
          </a:xfrm>
          <a:prstGeom prst="rect">
            <a:avLst/>
          </a:prstGeom>
          <a:noFill/>
        </p:spPr>
        <p:txBody>
          <a:bodyPr wrap="square" lIns="36000" tIns="18000" rIns="36000" bIns="18000" anchor="t">
            <a:spAutoFit/>
          </a:bodyPr>
          <a:lstStyle/>
          <a:p>
            <a:pPr algn="l"/>
            <a:r>
              <a:rPr sz="800" b="1" i="0">
                <a:solidFill>
                  <a:srgbClr val="006B3F"/>
                </a:solidFill>
                <a:latin typeface="Arial"/>
              </a:rPr>
              <a:t>FOUR CoS LANES  ·  ASSIGNMENT RULES  ·  capacity % to be defined per quarter at Gate 2 (not committed yet)</a:t>
            </a:r>
          </a:p>
        </p:txBody>
      </p:sp>
      <p:sp>
        <p:nvSpPr>
          <p:cNvPr id="6" name="Rounded Rectangle 42">
            <a:extLst>
              <a:ext uri="{FF2B5EF4-FFF2-40B4-BE49-F238E27FC236}">
                <a16:creationId xmlns:a16="http://schemas.microsoft.com/office/drawing/2014/main" id="{1D53B990-B5AF-03A6-F9F3-83DADD8DEDE2}"/>
              </a:ext>
            </a:extLst>
          </p:cNvPr>
          <p:cNvSpPr/>
          <p:nvPr/>
        </p:nvSpPr>
        <p:spPr>
          <a:xfrm>
            <a:off x="457200" y="5041285"/>
            <a:ext cx="2731770" cy="329184"/>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43">
            <a:extLst>
              <a:ext uri="{FF2B5EF4-FFF2-40B4-BE49-F238E27FC236}">
                <a16:creationId xmlns:a16="http://schemas.microsoft.com/office/drawing/2014/main" id="{FD4447A9-B140-78AA-04AD-FEA271C995D3}"/>
              </a:ext>
            </a:extLst>
          </p:cNvPr>
          <p:cNvSpPr txBox="1"/>
          <p:nvPr/>
        </p:nvSpPr>
        <p:spPr>
          <a:xfrm>
            <a:off x="45720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Standard</a:t>
            </a:r>
          </a:p>
        </p:txBody>
      </p:sp>
      <p:sp>
        <p:nvSpPr>
          <p:cNvPr id="42" name="TextBox 44">
            <a:extLst>
              <a:ext uri="{FF2B5EF4-FFF2-40B4-BE49-F238E27FC236}">
                <a16:creationId xmlns:a16="http://schemas.microsoft.com/office/drawing/2014/main" id="{97DB261B-8F86-5648-B946-5BD1C2ED229F}"/>
              </a:ext>
            </a:extLst>
          </p:cNvPr>
          <p:cNvSpPr txBox="1"/>
          <p:nvPr/>
        </p:nvSpPr>
        <p:spPr>
          <a:xfrm>
            <a:off x="45720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default · no flag</a:t>
            </a:r>
          </a:p>
        </p:txBody>
      </p:sp>
      <p:sp>
        <p:nvSpPr>
          <p:cNvPr id="43" name="TextBox 45">
            <a:extLst>
              <a:ext uri="{FF2B5EF4-FFF2-40B4-BE49-F238E27FC236}">
                <a16:creationId xmlns:a16="http://schemas.microsoft.com/office/drawing/2014/main" id="{ABE26484-0343-CEFC-D4C9-E6B5E75D12CB}"/>
              </a:ext>
            </a:extLst>
          </p:cNvPr>
          <p:cNvSpPr txBox="1"/>
          <p:nvPr/>
        </p:nvSpPr>
        <p:spPr>
          <a:xfrm>
            <a:off x="45720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Bulk of demand · ranked by Pain Score</a:t>
            </a:r>
          </a:p>
        </p:txBody>
      </p:sp>
      <p:sp>
        <p:nvSpPr>
          <p:cNvPr id="44" name="Rounded Rectangle 46">
            <a:extLst>
              <a:ext uri="{FF2B5EF4-FFF2-40B4-BE49-F238E27FC236}">
                <a16:creationId xmlns:a16="http://schemas.microsoft.com/office/drawing/2014/main" id="{E88C1E54-01A9-38F4-A21F-877C20960E80}"/>
              </a:ext>
            </a:extLst>
          </p:cNvPr>
          <p:cNvSpPr/>
          <p:nvPr/>
        </p:nvSpPr>
        <p:spPr>
          <a:xfrm>
            <a:off x="3280410" y="5041285"/>
            <a:ext cx="2731770" cy="329184"/>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7">
            <a:extLst>
              <a:ext uri="{FF2B5EF4-FFF2-40B4-BE49-F238E27FC236}">
                <a16:creationId xmlns:a16="http://schemas.microsoft.com/office/drawing/2014/main" id="{66C68AB5-C535-4BBD-77DB-B3DF5CF6CDDC}"/>
              </a:ext>
            </a:extLst>
          </p:cNvPr>
          <p:cNvSpPr txBox="1"/>
          <p:nvPr/>
        </p:nvSpPr>
        <p:spPr>
          <a:xfrm>
            <a:off x="328041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Fixed-Date</a:t>
            </a:r>
          </a:p>
        </p:txBody>
      </p:sp>
      <p:sp>
        <p:nvSpPr>
          <p:cNvPr id="46" name="TextBox 48">
            <a:extLst>
              <a:ext uri="{FF2B5EF4-FFF2-40B4-BE49-F238E27FC236}">
                <a16:creationId xmlns:a16="http://schemas.microsoft.com/office/drawing/2014/main" id="{C4058E20-FEB2-5331-2C72-13A7183C05F9}"/>
              </a:ext>
            </a:extLst>
          </p:cNvPr>
          <p:cNvSpPr txBox="1"/>
          <p:nvPr/>
        </p:nvSpPr>
        <p:spPr>
          <a:xfrm>
            <a:off x="328041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Type = Regulatory  →  A3 auto</a:t>
            </a:r>
          </a:p>
        </p:txBody>
      </p:sp>
      <p:sp>
        <p:nvSpPr>
          <p:cNvPr id="47" name="TextBox 49">
            <a:extLst>
              <a:ext uri="{FF2B5EF4-FFF2-40B4-BE49-F238E27FC236}">
                <a16:creationId xmlns:a16="http://schemas.microsoft.com/office/drawing/2014/main" id="{999C61E2-389C-0B9F-5C87-B35E93CDC346}"/>
              </a:ext>
            </a:extLst>
          </p:cNvPr>
          <p:cNvSpPr txBox="1"/>
          <p:nvPr/>
        </p:nvSpPr>
        <p:spPr>
          <a:xfrm>
            <a:off x="328041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External deadline · scheduled backwards</a:t>
            </a:r>
          </a:p>
        </p:txBody>
      </p:sp>
      <p:sp>
        <p:nvSpPr>
          <p:cNvPr id="48" name="Rounded Rectangle 50">
            <a:extLst>
              <a:ext uri="{FF2B5EF4-FFF2-40B4-BE49-F238E27FC236}">
                <a16:creationId xmlns:a16="http://schemas.microsoft.com/office/drawing/2014/main" id="{656092DB-EA83-30D7-83DE-DEEB3F36F9CE}"/>
              </a:ext>
            </a:extLst>
          </p:cNvPr>
          <p:cNvSpPr/>
          <p:nvPr/>
        </p:nvSpPr>
        <p:spPr>
          <a:xfrm>
            <a:off x="6103620" y="5041285"/>
            <a:ext cx="2731770" cy="329184"/>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1">
            <a:extLst>
              <a:ext uri="{FF2B5EF4-FFF2-40B4-BE49-F238E27FC236}">
                <a16:creationId xmlns:a16="http://schemas.microsoft.com/office/drawing/2014/main" id="{AC831BDD-318C-DBF1-C23F-847289D875AC}"/>
              </a:ext>
            </a:extLst>
          </p:cNvPr>
          <p:cNvSpPr txBox="1"/>
          <p:nvPr/>
        </p:nvSpPr>
        <p:spPr>
          <a:xfrm>
            <a:off x="610362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Expedite</a:t>
            </a:r>
          </a:p>
        </p:txBody>
      </p:sp>
      <p:sp>
        <p:nvSpPr>
          <p:cNvPr id="50" name="TextBox 52">
            <a:extLst>
              <a:ext uri="{FF2B5EF4-FFF2-40B4-BE49-F238E27FC236}">
                <a16:creationId xmlns:a16="http://schemas.microsoft.com/office/drawing/2014/main" id="{8C40014A-600C-A039-08DB-628C79041DE5}"/>
              </a:ext>
            </a:extLst>
          </p:cNvPr>
          <p:cNvSpPr txBox="1"/>
          <p:nvPr/>
        </p:nvSpPr>
        <p:spPr>
          <a:xfrm>
            <a:off x="610362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CIT P1/P2  →  A2 auto</a:t>
            </a:r>
          </a:p>
        </p:txBody>
      </p:sp>
      <p:sp>
        <p:nvSpPr>
          <p:cNvPr id="51" name="TextBox 53">
            <a:extLst>
              <a:ext uri="{FF2B5EF4-FFF2-40B4-BE49-F238E27FC236}">
                <a16:creationId xmlns:a16="http://schemas.microsoft.com/office/drawing/2014/main" id="{2AEB9F8D-58DA-CA31-3D00-81E47071B579}"/>
              </a:ext>
            </a:extLst>
          </p:cNvPr>
          <p:cNvSpPr txBox="1"/>
          <p:nvPr/>
        </p:nvSpPr>
        <p:spPr>
          <a:xfrm>
            <a:off x="610362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Customer outage · jump-the-queue</a:t>
            </a:r>
          </a:p>
        </p:txBody>
      </p:sp>
      <p:sp>
        <p:nvSpPr>
          <p:cNvPr id="52" name="Rounded Rectangle 54">
            <a:extLst>
              <a:ext uri="{FF2B5EF4-FFF2-40B4-BE49-F238E27FC236}">
                <a16:creationId xmlns:a16="http://schemas.microsoft.com/office/drawing/2014/main" id="{7F3F6C5E-1ED6-7C13-C7E1-9182A1097E03}"/>
              </a:ext>
            </a:extLst>
          </p:cNvPr>
          <p:cNvSpPr/>
          <p:nvPr/>
        </p:nvSpPr>
        <p:spPr>
          <a:xfrm>
            <a:off x="8926830" y="5041285"/>
            <a:ext cx="2731770" cy="329184"/>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5">
            <a:extLst>
              <a:ext uri="{FF2B5EF4-FFF2-40B4-BE49-F238E27FC236}">
                <a16:creationId xmlns:a16="http://schemas.microsoft.com/office/drawing/2014/main" id="{066B50C7-B025-9E43-0864-868F5360032A}"/>
              </a:ext>
            </a:extLst>
          </p:cNvPr>
          <p:cNvSpPr txBox="1"/>
          <p:nvPr/>
        </p:nvSpPr>
        <p:spPr>
          <a:xfrm>
            <a:off x="892683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Intangible</a:t>
            </a:r>
          </a:p>
        </p:txBody>
      </p:sp>
      <p:sp>
        <p:nvSpPr>
          <p:cNvPr id="54" name="TextBox 56">
            <a:extLst>
              <a:ext uri="{FF2B5EF4-FFF2-40B4-BE49-F238E27FC236}">
                <a16:creationId xmlns:a16="http://schemas.microsoft.com/office/drawing/2014/main" id="{A9BEB634-9FDC-4E4D-2346-AF80210C42C0}"/>
              </a:ext>
            </a:extLst>
          </p:cNvPr>
          <p:cNvSpPr txBox="1"/>
          <p:nvPr/>
        </p:nvSpPr>
        <p:spPr>
          <a:xfrm>
            <a:off x="892683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tech debt · opt-in by PM</a:t>
            </a:r>
          </a:p>
        </p:txBody>
      </p:sp>
      <p:sp>
        <p:nvSpPr>
          <p:cNvPr id="55" name="TextBox 57">
            <a:extLst>
              <a:ext uri="{FF2B5EF4-FFF2-40B4-BE49-F238E27FC236}">
                <a16:creationId xmlns:a16="http://schemas.microsoft.com/office/drawing/2014/main" id="{F986FE1E-AB54-78D0-0B64-3D5E72AB9F14}"/>
              </a:ext>
            </a:extLst>
          </p:cNvPr>
          <p:cNvSpPr txBox="1"/>
          <p:nvPr/>
        </p:nvSpPr>
        <p:spPr>
          <a:xfrm>
            <a:off x="892683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Refactor · platform · enablers</a:t>
            </a:r>
          </a:p>
        </p:txBody>
      </p:sp>
      <p:sp>
        <p:nvSpPr>
          <p:cNvPr id="40" name="Text Placeholder 19">
            <a:extLst>
              <a:ext uri="{FF2B5EF4-FFF2-40B4-BE49-F238E27FC236}">
                <a16:creationId xmlns:a16="http://schemas.microsoft.com/office/drawing/2014/main" id="{B1DB0D25-DDED-388C-179B-3A7B60052B2C}"/>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Class of service Process</a:t>
            </a:r>
          </a:p>
        </p:txBody>
      </p:sp>
    </p:spTree>
    <p:extLst>
      <p:ext uri="{BB962C8B-B14F-4D97-AF65-F5344CB8AC3E}">
        <p14:creationId xmlns:p14="http://schemas.microsoft.com/office/powerpoint/2010/main" val="2388364078"/>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7E90-F8D9-C984-905E-2B74CBF7FA14}"/>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B2403799-9004-C3BD-A999-DE2F553D8D9F}"/>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B50AE72A-CAFC-2AAB-671F-70B517DA2788}"/>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Class of Service</a:t>
            </a:r>
          </a:p>
        </p:txBody>
      </p:sp>
      <p:sp>
        <p:nvSpPr>
          <p:cNvPr id="7" name="TextBox 11">
            <a:extLst>
              <a:ext uri="{FF2B5EF4-FFF2-40B4-BE49-F238E27FC236}">
                <a16:creationId xmlns:a16="http://schemas.microsoft.com/office/drawing/2014/main" id="{F8AEB4C9-FC78-3342-BFCB-14D1044637A7}"/>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Single-select · 4 options · best-guess at intake · finalized at triage</a:t>
            </a:r>
          </a:p>
        </p:txBody>
      </p:sp>
      <p:sp>
        <p:nvSpPr>
          <p:cNvPr id="58" name="Rounded Rectangle 14">
            <a:extLst>
              <a:ext uri="{FF2B5EF4-FFF2-40B4-BE49-F238E27FC236}">
                <a16:creationId xmlns:a16="http://schemas.microsoft.com/office/drawing/2014/main" id="{0C7F073C-F33B-73F2-34E9-D716A6898C85}"/>
              </a:ext>
            </a:extLst>
          </p:cNvPr>
          <p:cNvSpPr/>
          <p:nvPr/>
        </p:nvSpPr>
        <p:spPr>
          <a:xfrm>
            <a:off x="365760" y="1691640"/>
            <a:ext cx="5600700" cy="2125980"/>
          </a:xfrm>
          <a:prstGeom prst="roundRect">
            <a:avLst>
              <a:gd name="adj" fmla="val 4000"/>
            </a:avLst>
          </a:prstGeom>
          <a:solidFill>
            <a:srgbClr val="FFFFFF"/>
          </a:solidFill>
          <a:ln w="3175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15">
            <a:extLst>
              <a:ext uri="{FF2B5EF4-FFF2-40B4-BE49-F238E27FC236}">
                <a16:creationId xmlns:a16="http://schemas.microsoft.com/office/drawing/2014/main" id="{C3538E89-5839-E8ED-F9E0-7D67CB94F153}"/>
              </a:ext>
            </a:extLst>
          </p:cNvPr>
          <p:cNvSpPr/>
          <p:nvPr/>
        </p:nvSpPr>
        <p:spPr>
          <a:xfrm>
            <a:off x="365760" y="1691640"/>
            <a:ext cx="5600700" cy="45720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16">
            <a:extLst>
              <a:ext uri="{FF2B5EF4-FFF2-40B4-BE49-F238E27FC236}">
                <a16:creationId xmlns:a16="http://schemas.microsoft.com/office/drawing/2014/main" id="{D4036518-04C2-2530-1F54-7F8B4532FA8D}"/>
              </a:ext>
            </a:extLst>
          </p:cNvPr>
          <p:cNvSpPr txBox="1"/>
          <p:nvPr/>
        </p:nvSpPr>
        <p:spPr>
          <a:xfrm>
            <a:off x="502920" y="1746504"/>
            <a:ext cx="5600700" cy="201168"/>
          </a:xfrm>
          <a:prstGeom prst="rect">
            <a:avLst/>
          </a:prstGeom>
          <a:noFill/>
        </p:spPr>
        <p:txBody>
          <a:bodyPr wrap="square" lIns="36000" tIns="18000" rIns="36000" bIns="18000" anchor="t">
            <a:spAutoFit/>
          </a:bodyPr>
          <a:lstStyle/>
          <a:p>
            <a:pPr algn="l"/>
            <a:r>
              <a:rPr sz="1400" b="1" i="0">
                <a:solidFill>
                  <a:srgbClr val="FFFFFF"/>
                </a:solidFill>
              </a:rPr>
              <a:t>Standard</a:t>
            </a:r>
          </a:p>
        </p:txBody>
      </p:sp>
      <p:sp>
        <p:nvSpPr>
          <p:cNvPr id="61" name="TextBox 17">
            <a:extLst>
              <a:ext uri="{FF2B5EF4-FFF2-40B4-BE49-F238E27FC236}">
                <a16:creationId xmlns:a16="http://schemas.microsoft.com/office/drawing/2014/main" id="{953F0772-CD06-318F-7ECA-3740988FFBB7}"/>
              </a:ext>
            </a:extLst>
          </p:cNvPr>
          <p:cNvSpPr txBox="1"/>
          <p:nvPr/>
        </p:nvSpPr>
        <p:spPr>
          <a:xfrm>
            <a:off x="502920" y="1938528"/>
            <a:ext cx="5600700" cy="182880"/>
          </a:xfrm>
          <a:prstGeom prst="rect">
            <a:avLst/>
          </a:prstGeom>
          <a:noFill/>
        </p:spPr>
        <p:txBody>
          <a:bodyPr wrap="square" lIns="36000" tIns="18000" rIns="36000" bIns="18000" anchor="t">
            <a:spAutoFit/>
          </a:bodyPr>
          <a:lstStyle/>
          <a:p>
            <a:pPr algn="l"/>
            <a:r>
              <a:rPr sz="800" b="0" i="1">
                <a:solidFill>
                  <a:srgbClr val="FFFFFF"/>
                </a:solidFill>
              </a:rPr>
              <a:t>Default flow · FIFO · Pain Score ranked</a:t>
            </a:r>
          </a:p>
        </p:txBody>
      </p:sp>
      <p:sp>
        <p:nvSpPr>
          <p:cNvPr id="62" name="TextBox 18">
            <a:extLst>
              <a:ext uri="{FF2B5EF4-FFF2-40B4-BE49-F238E27FC236}">
                <a16:creationId xmlns:a16="http://schemas.microsoft.com/office/drawing/2014/main" id="{4D58C179-F11B-2A1E-B687-BA74360EBA8A}"/>
              </a:ext>
            </a:extLst>
          </p:cNvPr>
          <p:cNvSpPr txBox="1"/>
          <p:nvPr/>
        </p:nvSpPr>
        <p:spPr>
          <a:xfrm>
            <a:off x="548640" y="224028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63" name="TextBox 19">
            <a:extLst>
              <a:ext uri="{FF2B5EF4-FFF2-40B4-BE49-F238E27FC236}">
                <a16:creationId xmlns:a16="http://schemas.microsoft.com/office/drawing/2014/main" id="{A8767E50-D65C-811D-0AA9-B71F5855564A}"/>
              </a:ext>
            </a:extLst>
          </p:cNvPr>
          <p:cNvSpPr txBox="1"/>
          <p:nvPr/>
        </p:nvSpPr>
        <p:spPr>
          <a:xfrm>
            <a:off x="548640" y="2386584"/>
            <a:ext cx="5326380" cy="365760"/>
          </a:xfrm>
          <a:prstGeom prst="rect">
            <a:avLst/>
          </a:prstGeom>
          <a:noFill/>
        </p:spPr>
        <p:txBody>
          <a:bodyPr wrap="square" lIns="36000" tIns="18000" rIns="36000" bIns="18000" anchor="t">
            <a:spAutoFit/>
          </a:bodyPr>
          <a:lstStyle/>
          <a:p>
            <a:pPr algn="l"/>
            <a:r>
              <a:rPr sz="900" b="0" i="0">
                <a:solidFill>
                  <a:srgbClr val="172B4D"/>
                </a:solidFill>
              </a:rPr>
              <a:t>Bulk of demand · normal scheduling · no external deadline · no customer-facing severity</a:t>
            </a:r>
          </a:p>
        </p:txBody>
      </p:sp>
      <p:sp>
        <p:nvSpPr>
          <p:cNvPr id="64" name="TextBox 20">
            <a:extLst>
              <a:ext uri="{FF2B5EF4-FFF2-40B4-BE49-F238E27FC236}">
                <a16:creationId xmlns:a16="http://schemas.microsoft.com/office/drawing/2014/main" id="{D3A08C17-9683-0A37-B823-E654A77E93E4}"/>
              </a:ext>
            </a:extLst>
          </p:cNvPr>
          <p:cNvSpPr txBox="1"/>
          <p:nvPr/>
        </p:nvSpPr>
        <p:spPr>
          <a:xfrm>
            <a:off x="548640" y="262952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65" name="TextBox 21">
            <a:extLst>
              <a:ext uri="{FF2B5EF4-FFF2-40B4-BE49-F238E27FC236}">
                <a16:creationId xmlns:a16="http://schemas.microsoft.com/office/drawing/2014/main" id="{27AECBF2-46AB-7171-E2A2-04701D46D4D5}"/>
              </a:ext>
            </a:extLst>
          </p:cNvPr>
          <p:cNvSpPr txBox="1"/>
          <p:nvPr/>
        </p:nvSpPr>
        <p:spPr>
          <a:xfrm>
            <a:off x="548640" y="2794121"/>
            <a:ext cx="5326380" cy="174851"/>
          </a:xfrm>
          <a:prstGeom prst="rect">
            <a:avLst/>
          </a:prstGeom>
          <a:noFill/>
        </p:spPr>
        <p:txBody>
          <a:bodyPr wrap="square" lIns="36000" tIns="18000" rIns="36000" bIns="18000" anchor="t">
            <a:spAutoFit/>
          </a:bodyPr>
          <a:lstStyle/>
          <a:p>
            <a:r>
              <a:rPr lang="es-MX" sz="900">
                <a:solidFill>
                  <a:srgbClr val="172B4D"/>
                </a:solidFill>
              </a:rPr>
              <a:t>Majority share · % set at Gate 2 (monthly</a:t>
            </a:r>
          </a:p>
        </p:txBody>
      </p:sp>
      <p:sp>
        <p:nvSpPr>
          <p:cNvPr id="66" name="TextBox 22">
            <a:extLst>
              <a:ext uri="{FF2B5EF4-FFF2-40B4-BE49-F238E27FC236}">
                <a16:creationId xmlns:a16="http://schemas.microsoft.com/office/drawing/2014/main" id="{4B1148CD-19BA-E4F3-F4E5-840F7E1318A6}"/>
              </a:ext>
            </a:extLst>
          </p:cNvPr>
          <p:cNvSpPr txBox="1"/>
          <p:nvPr/>
        </p:nvSpPr>
        <p:spPr>
          <a:xfrm>
            <a:off x="548640" y="304100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67" name="TextBox 23">
            <a:extLst>
              <a:ext uri="{FF2B5EF4-FFF2-40B4-BE49-F238E27FC236}">
                <a16:creationId xmlns:a16="http://schemas.microsoft.com/office/drawing/2014/main" id="{A2123F6A-8FC4-FD5B-1AA6-5E17677F77DE}"/>
              </a:ext>
            </a:extLst>
          </p:cNvPr>
          <p:cNvSpPr txBox="1"/>
          <p:nvPr/>
        </p:nvSpPr>
        <p:spPr>
          <a:xfrm>
            <a:off x="548640" y="3187313"/>
            <a:ext cx="5326380" cy="201168"/>
          </a:xfrm>
          <a:prstGeom prst="rect">
            <a:avLst/>
          </a:prstGeom>
          <a:noFill/>
        </p:spPr>
        <p:txBody>
          <a:bodyPr wrap="square" lIns="36000" tIns="18000" rIns="36000" bIns="18000" anchor="t">
            <a:spAutoFit/>
          </a:bodyPr>
          <a:lstStyle/>
          <a:p>
            <a:pPr algn="l"/>
            <a:r>
              <a:rPr sz="900" b="0" i="0">
                <a:solidFill>
                  <a:srgbClr val="172B4D"/>
                </a:solidFill>
              </a:rPr>
              <a:t>WIP 3–4 per squad · 14 days aging alert</a:t>
            </a:r>
          </a:p>
        </p:txBody>
      </p:sp>
      <p:sp>
        <p:nvSpPr>
          <p:cNvPr id="68" name="TextBox 24">
            <a:extLst>
              <a:ext uri="{FF2B5EF4-FFF2-40B4-BE49-F238E27FC236}">
                <a16:creationId xmlns:a16="http://schemas.microsoft.com/office/drawing/2014/main" id="{4013894C-0CFA-2484-94F7-D4BD3C3BA320}"/>
              </a:ext>
            </a:extLst>
          </p:cNvPr>
          <p:cNvSpPr txBox="1"/>
          <p:nvPr/>
        </p:nvSpPr>
        <p:spPr>
          <a:xfrm>
            <a:off x="548640" y="350282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69" name="TextBox 25">
            <a:extLst>
              <a:ext uri="{FF2B5EF4-FFF2-40B4-BE49-F238E27FC236}">
                <a16:creationId xmlns:a16="http://schemas.microsoft.com/office/drawing/2014/main" id="{45ACDA71-1D57-0ECB-2367-3703062ABFC2}"/>
              </a:ext>
            </a:extLst>
          </p:cNvPr>
          <p:cNvSpPr txBox="1"/>
          <p:nvPr/>
        </p:nvSpPr>
        <p:spPr>
          <a:xfrm>
            <a:off x="548640" y="3649127"/>
            <a:ext cx="5326380" cy="365760"/>
          </a:xfrm>
          <a:prstGeom prst="rect">
            <a:avLst/>
          </a:prstGeom>
          <a:noFill/>
        </p:spPr>
        <p:txBody>
          <a:bodyPr wrap="square" lIns="36000" tIns="18000" rIns="36000" bIns="18000" anchor="t">
            <a:spAutoFit/>
          </a:bodyPr>
          <a:lstStyle/>
          <a:p>
            <a:pPr algn="l"/>
            <a:r>
              <a:rPr sz="800" b="0" i="1">
                <a:solidFill>
                  <a:srgbClr val="172B4D"/>
                </a:solidFill>
              </a:rPr>
              <a:t>Disconnect flow rebuild · CRM data dedup · ARCFM enhancement</a:t>
            </a:r>
          </a:p>
        </p:txBody>
      </p:sp>
      <p:sp>
        <p:nvSpPr>
          <p:cNvPr id="70" name="Rounded Rectangle 26">
            <a:extLst>
              <a:ext uri="{FF2B5EF4-FFF2-40B4-BE49-F238E27FC236}">
                <a16:creationId xmlns:a16="http://schemas.microsoft.com/office/drawing/2014/main" id="{00454A47-4C4F-A631-EA8B-29353054F075}"/>
              </a:ext>
            </a:extLst>
          </p:cNvPr>
          <p:cNvSpPr/>
          <p:nvPr/>
        </p:nvSpPr>
        <p:spPr>
          <a:xfrm>
            <a:off x="6240780" y="1691640"/>
            <a:ext cx="5600700" cy="2125980"/>
          </a:xfrm>
          <a:prstGeom prst="roundRect">
            <a:avLst>
              <a:gd name="adj" fmla="val 4000"/>
            </a:avLst>
          </a:prstGeom>
          <a:solidFill>
            <a:srgbClr val="FFFFFF"/>
          </a:solidFill>
          <a:ln w="31750">
            <a:solidFill>
              <a:srgbClr val="009E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27">
            <a:extLst>
              <a:ext uri="{FF2B5EF4-FFF2-40B4-BE49-F238E27FC236}">
                <a16:creationId xmlns:a16="http://schemas.microsoft.com/office/drawing/2014/main" id="{CEB1490C-F90F-1B96-492C-2508891AA482}"/>
              </a:ext>
            </a:extLst>
          </p:cNvPr>
          <p:cNvSpPr/>
          <p:nvPr/>
        </p:nvSpPr>
        <p:spPr>
          <a:xfrm>
            <a:off x="6240779" y="1691640"/>
            <a:ext cx="5614615" cy="457200"/>
          </a:xfrm>
          <a:prstGeom prst="roundRect">
            <a:avLst>
              <a:gd name="adj" fmla="val 4000"/>
            </a:avLst>
          </a:prstGeom>
          <a:solidFill>
            <a:srgbClr val="009E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28">
            <a:extLst>
              <a:ext uri="{FF2B5EF4-FFF2-40B4-BE49-F238E27FC236}">
                <a16:creationId xmlns:a16="http://schemas.microsoft.com/office/drawing/2014/main" id="{673BEA03-4BCA-EDA0-0257-2A3023C6EC3F}"/>
              </a:ext>
            </a:extLst>
          </p:cNvPr>
          <p:cNvSpPr txBox="1"/>
          <p:nvPr/>
        </p:nvSpPr>
        <p:spPr>
          <a:xfrm>
            <a:off x="6377940" y="1746504"/>
            <a:ext cx="5600700" cy="251795"/>
          </a:xfrm>
          <a:prstGeom prst="rect">
            <a:avLst/>
          </a:prstGeom>
          <a:noFill/>
        </p:spPr>
        <p:txBody>
          <a:bodyPr wrap="square" lIns="36000" tIns="18000" rIns="36000" bIns="18000" anchor="t">
            <a:spAutoFit/>
          </a:bodyPr>
          <a:lstStyle/>
          <a:p>
            <a:pPr algn="l"/>
            <a:r>
              <a:rPr lang="es-MX" sz="1400" b="1" i="0" err="1">
                <a:solidFill>
                  <a:schemeClr val="bg1"/>
                </a:solidFill>
              </a:rPr>
              <a:t>Fixed</a:t>
            </a:r>
            <a:r>
              <a:rPr lang="es-MX" sz="1400" b="1" i="0">
                <a:solidFill>
                  <a:schemeClr val="bg1"/>
                </a:solidFill>
              </a:rPr>
              <a:t>-Date</a:t>
            </a:r>
          </a:p>
        </p:txBody>
      </p:sp>
      <p:sp>
        <p:nvSpPr>
          <p:cNvPr id="73" name="TextBox 29">
            <a:extLst>
              <a:ext uri="{FF2B5EF4-FFF2-40B4-BE49-F238E27FC236}">
                <a16:creationId xmlns:a16="http://schemas.microsoft.com/office/drawing/2014/main" id="{F17F467C-348A-452D-F90A-62B1733AC219}"/>
              </a:ext>
            </a:extLst>
          </p:cNvPr>
          <p:cNvSpPr txBox="1"/>
          <p:nvPr/>
        </p:nvSpPr>
        <p:spPr>
          <a:xfrm>
            <a:off x="6377940" y="1938528"/>
            <a:ext cx="5600700" cy="159462"/>
          </a:xfrm>
          <a:prstGeom prst="rect">
            <a:avLst/>
          </a:prstGeom>
          <a:noFill/>
        </p:spPr>
        <p:txBody>
          <a:bodyPr wrap="square" lIns="36000" tIns="18000" rIns="36000" bIns="18000" anchor="t">
            <a:spAutoFit/>
          </a:bodyPr>
          <a:lstStyle/>
          <a:p>
            <a:pPr algn="l"/>
            <a:r>
              <a:rPr lang="en-US" sz="800" b="0" i="1">
                <a:solidFill>
                  <a:schemeClr val="bg1"/>
                </a:solidFill>
              </a:rPr>
              <a:t>Deadline-locked · scheduled backwards from end-date</a:t>
            </a:r>
          </a:p>
        </p:txBody>
      </p:sp>
      <p:sp>
        <p:nvSpPr>
          <p:cNvPr id="74" name="TextBox 30">
            <a:extLst>
              <a:ext uri="{FF2B5EF4-FFF2-40B4-BE49-F238E27FC236}">
                <a16:creationId xmlns:a16="http://schemas.microsoft.com/office/drawing/2014/main" id="{16237C18-50D6-ECDD-39ED-87A22147459A}"/>
              </a:ext>
            </a:extLst>
          </p:cNvPr>
          <p:cNvSpPr txBox="1"/>
          <p:nvPr/>
        </p:nvSpPr>
        <p:spPr>
          <a:xfrm>
            <a:off x="6423660" y="224028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75" name="TextBox 31">
            <a:extLst>
              <a:ext uri="{FF2B5EF4-FFF2-40B4-BE49-F238E27FC236}">
                <a16:creationId xmlns:a16="http://schemas.microsoft.com/office/drawing/2014/main" id="{2A583ADE-6B1B-E4F3-3422-57D88143673D}"/>
              </a:ext>
            </a:extLst>
          </p:cNvPr>
          <p:cNvSpPr txBox="1"/>
          <p:nvPr/>
        </p:nvSpPr>
        <p:spPr>
          <a:xfrm>
            <a:off x="6423660" y="2386584"/>
            <a:ext cx="5326380" cy="365760"/>
          </a:xfrm>
          <a:prstGeom prst="rect">
            <a:avLst/>
          </a:prstGeom>
          <a:noFill/>
        </p:spPr>
        <p:txBody>
          <a:bodyPr wrap="square" lIns="36000" tIns="18000" rIns="36000" bIns="18000" anchor="t">
            <a:spAutoFit/>
          </a:bodyPr>
          <a:lstStyle/>
          <a:p>
            <a:pPr algn="l"/>
            <a:r>
              <a:rPr sz="900" b="0" i="0">
                <a:solidFill>
                  <a:srgbClr val="172B4D"/>
                </a:solidFill>
              </a:rPr>
              <a:t>External deadline (regulator · contract · vendor lock) · late delivery has compliance / financial penalty</a:t>
            </a:r>
          </a:p>
        </p:txBody>
      </p:sp>
      <p:sp>
        <p:nvSpPr>
          <p:cNvPr id="76" name="TextBox 32">
            <a:extLst>
              <a:ext uri="{FF2B5EF4-FFF2-40B4-BE49-F238E27FC236}">
                <a16:creationId xmlns:a16="http://schemas.microsoft.com/office/drawing/2014/main" id="{40FF0150-B36F-178E-E5E7-4B8540368F89}"/>
              </a:ext>
            </a:extLst>
          </p:cNvPr>
          <p:cNvSpPr txBox="1"/>
          <p:nvPr/>
        </p:nvSpPr>
        <p:spPr>
          <a:xfrm>
            <a:off x="6423660" y="262952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77" name="TextBox 33">
            <a:extLst>
              <a:ext uri="{FF2B5EF4-FFF2-40B4-BE49-F238E27FC236}">
                <a16:creationId xmlns:a16="http://schemas.microsoft.com/office/drawing/2014/main" id="{FEBD5805-DFE6-3BF9-7EFF-3930EADE1E68}"/>
              </a:ext>
            </a:extLst>
          </p:cNvPr>
          <p:cNvSpPr txBox="1"/>
          <p:nvPr/>
        </p:nvSpPr>
        <p:spPr>
          <a:xfrm>
            <a:off x="6423660" y="2794121"/>
            <a:ext cx="5326380" cy="174851"/>
          </a:xfrm>
          <a:prstGeom prst="rect">
            <a:avLst/>
          </a:prstGeom>
          <a:noFill/>
        </p:spPr>
        <p:txBody>
          <a:bodyPr wrap="square" lIns="36000" tIns="18000" rIns="36000" bIns="18000" anchor="t">
            <a:spAutoFit/>
          </a:bodyPr>
          <a:lstStyle/>
          <a:p>
            <a:r>
              <a:rPr lang="en-US" sz="900">
                <a:solidFill>
                  <a:srgbClr val="172B4D"/>
                </a:solidFill>
              </a:rPr>
              <a:t>Regulatory-driven · % set at Gate 2 (monthly)</a:t>
            </a:r>
          </a:p>
        </p:txBody>
      </p:sp>
      <p:sp>
        <p:nvSpPr>
          <p:cNvPr id="78" name="TextBox 34">
            <a:extLst>
              <a:ext uri="{FF2B5EF4-FFF2-40B4-BE49-F238E27FC236}">
                <a16:creationId xmlns:a16="http://schemas.microsoft.com/office/drawing/2014/main" id="{3C34A8DA-0167-A266-C0A0-40C635136734}"/>
              </a:ext>
            </a:extLst>
          </p:cNvPr>
          <p:cNvSpPr txBox="1"/>
          <p:nvPr/>
        </p:nvSpPr>
        <p:spPr>
          <a:xfrm>
            <a:off x="6423660" y="304100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79" name="TextBox 35">
            <a:extLst>
              <a:ext uri="{FF2B5EF4-FFF2-40B4-BE49-F238E27FC236}">
                <a16:creationId xmlns:a16="http://schemas.microsoft.com/office/drawing/2014/main" id="{B52BCAA1-BB95-8831-3026-186D41AE896A}"/>
              </a:ext>
            </a:extLst>
          </p:cNvPr>
          <p:cNvSpPr txBox="1"/>
          <p:nvPr/>
        </p:nvSpPr>
        <p:spPr>
          <a:xfrm>
            <a:off x="6423660" y="3187313"/>
            <a:ext cx="5326380" cy="201168"/>
          </a:xfrm>
          <a:prstGeom prst="rect">
            <a:avLst/>
          </a:prstGeom>
          <a:noFill/>
        </p:spPr>
        <p:txBody>
          <a:bodyPr wrap="square" lIns="36000" tIns="18000" rIns="36000" bIns="18000" anchor="t">
            <a:spAutoFit/>
          </a:bodyPr>
          <a:lstStyle/>
          <a:p>
            <a:pPr algn="l"/>
            <a:r>
              <a:rPr sz="900" b="0" i="0">
                <a:solidFill>
                  <a:srgbClr val="172B4D"/>
                </a:solidFill>
              </a:rPr>
              <a:t>WIP 2 per squad · 50% remaining timeline alert</a:t>
            </a:r>
          </a:p>
        </p:txBody>
      </p:sp>
      <p:sp>
        <p:nvSpPr>
          <p:cNvPr id="80" name="TextBox 36">
            <a:extLst>
              <a:ext uri="{FF2B5EF4-FFF2-40B4-BE49-F238E27FC236}">
                <a16:creationId xmlns:a16="http://schemas.microsoft.com/office/drawing/2014/main" id="{A6687F99-A2DC-03F9-BF01-988047CC92DB}"/>
              </a:ext>
            </a:extLst>
          </p:cNvPr>
          <p:cNvSpPr txBox="1"/>
          <p:nvPr/>
        </p:nvSpPr>
        <p:spPr>
          <a:xfrm>
            <a:off x="6423660" y="350282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81" name="TextBox 37">
            <a:extLst>
              <a:ext uri="{FF2B5EF4-FFF2-40B4-BE49-F238E27FC236}">
                <a16:creationId xmlns:a16="http://schemas.microsoft.com/office/drawing/2014/main" id="{53F50722-07A0-8EDE-EE2D-99B0A563F899}"/>
              </a:ext>
            </a:extLst>
          </p:cNvPr>
          <p:cNvSpPr txBox="1"/>
          <p:nvPr/>
        </p:nvSpPr>
        <p:spPr>
          <a:xfrm>
            <a:off x="6423660" y="3649127"/>
            <a:ext cx="5326380" cy="365760"/>
          </a:xfrm>
          <a:prstGeom prst="rect">
            <a:avLst/>
          </a:prstGeom>
          <a:noFill/>
        </p:spPr>
        <p:txBody>
          <a:bodyPr wrap="square" lIns="36000" tIns="18000" rIns="36000" bIns="18000" anchor="t">
            <a:spAutoFit/>
          </a:bodyPr>
          <a:lstStyle/>
          <a:p>
            <a:pPr algn="l"/>
            <a:r>
              <a:rPr sz="800" b="0" i="1">
                <a:solidFill>
                  <a:srgbClr val="172B4D"/>
                </a:solidFill>
              </a:rPr>
              <a:t>PUC tariff banner · SOX audit log · Iberdrola Q-close · CT/ME/NY rollouts</a:t>
            </a:r>
          </a:p>
        </p:txBody>
      </p:sp>
      <p:sp>
        <p:nvSpPr>
          <p:cNvPr id="82" name="Rounded Rectangle 38">
            <a:extLst>
              <a:ext uri="{FF2B5EF4-FFF2-40B4-BE49-F238E27FC236}">
                <a16:creationId xmlns:a16="http://schemas.microsoft.com/office/drawing/2014/main" id="{8AC14D51-5505-38E1-08ED-09FB7D5BA98A}"/>
              </a:ext>
            </a:extLst>
          </p:cNvPr>
          <p:cNvSpPr/>
          <p:nvPr/>
        </p:nvSpPr>
        <p:spPr>
          <a:xfrm>
            <a:off x="365760" y="4000500"/>
            <a:ext cx="5600700" cy="2125980"/>
          </a:xfrm>
          <a:prstGeom prst="roundRect">
            <a:avLst>
              <a:gd name="adj" fmla="val 4000"/>
            </a:avLst>
          </a:prstGeom>
          <a:solidFill>
            <a:srgbClr val="FFFFFF"/>
          </a:solid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39">
            <a:extLst>
              <a:ext uri="{FF2B5EF4-FFF2-40B4-BE49-F238E27FC236}">
                <a16:creationId xmlns:a16="http://schemas.microsoft.com/office/drawing/2014/main" id="{A8C125D1-8333-7695-2A95-1C2BE9159140}"/>
              </a:ext>
            </a:extLst>
          </p:cNvPr>
          <p:cNvSpPr/>
          <p:nvPr/>
        </p:nvSpPr>
        <p:spPr>
          <a:xfrm>
            <a:off x="365760" y="4000500"/>
            <a:ext cx="5600700" cy="457200"/>
          </a:xfrm>
          <a:prstGeom prst="roundRect">
            <a:avLst>
              <a:gd name="adj" fmla="val 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40">
            <a:extLst>
              <a:ext uri="{FF2B5EF4-FFF2-40B4-BE49-F238E27FC236}">
                <a16:creationId xmlns:a16="http://schemas.microsoft.com/office/drawing/2014/main" id="{84FDC19B-D64C-2730-1814-A29627709137}"/>
              </a:ext>
            </a:extLst>
          </p:cNvPr>
          <p:cNvSpPr txBox="1"/>
          <p:nvPr/>
        </p:nvSpPr>
        <p:spPr>
          <a:xfrm>
            <a:off x="502920" y="4055364"/>
            <a:ext cx="5600700" cy="201168"/>
          </a:xfrm>
          <a:prstGeom prst="rect">
            <a:avLst/>
          </a:prstGeom>
          <a:noFill/>
        </p:spPr>
        <p:txBody>
          <a:bodyPr wrap="square" lIns="36000" tIns="18000" rIns="36000" bIns="18000" anchor="t">
            <a:spAutoFit/>
          </a:bodyPr>
          <a:lstStyle/>
          <a:p>
            <a:pPr algn="l"/>
            <a:r>
              <a:rPr sz="1400" b="1" i="0">
                <a:solidFill>
                  <a:srgbClr val="FFFFFF"/>
                </a:solidFill>
              </a:rPr>
              <a:t>Expedite</a:t>
            </a:r>
          </a:p>
        </p:txBody>
      </p:sp>
      <p:sp>
        <p:nvSpPr>
          <p:cNvPr id="85" name="TextBox 41">
            <a:extLst>
              <a:ext uri="{FF2B5EF4-FFF2-40B4-BE49-F238E27FC236}">
                <a16:creationId xmlns:a16="http://schemas.microsoft.com/office/drawing/2014/main" id="{D804FBD9-65D4-2EB9-CC1F-CF9387628B30}"/>
              </a:ext>
            </a:extLst>
          </p:cNvPr>
          <p:cNvSpPr txBox="1"/>
          <p:nvPr/>
        </p:nvSpPr>
        <p:spPr>
          <a:xfrm>
            <a:off x="502920" y="4247388"/>
            <a:ext cx="5600700" cy="182880"/>
          </a:xfrm>
          <a:prstGeom prst="rect">
            <a:avLst/>
          </a:prstGeom>
          <a:noFill/>
        </p:spPr>
        <p:txBody>
          <a:bodyPr wrap="square" lIns="36000" tIns="18000" rIns="36000" bIns="18000" anchor="t">
            <a:spAutoFit/>
          </a:bodyPr>
          <a:lstStyle/>
          <a:p>
            <a:pPr algn="l"/>
            <a:r>
              <a:rPr sz="800" b="0" i="1">
                <a:solidFill>
                  <a:srgbClr val="FFFFFF"/>
                </a:solidFill>
              </a:rPr>
              <a:t>Jump-the-queue · 1 in flight · capacity reserved</a:t>
            </a:r>
          </a:p>
        </p:txBody>
      </p:sp>
      <p:sp>
        <p:nvSpPr>
          <p:cNvPr id="86" name="TextBox 42">
            <a:extLst>
              <a:ext uri="{FF2B5EF4-FFF2-40B4-BE49-F238E27FC236}">
                <a16:creationId xmlns:a16="http://schemas.microsoft.com/office/drawing/2014/main" id="{B26D395A-527A-6995-10F5-F571E455F0DF}"/>
              </a:ext>
            </a:extLst>
          </p:cNvPr>
          <p:cNvSpPr txBox="1"/>
          <p:nvPr/>
        </p:nvSpPr>
        <p:spPr>
          <a:xfrm>
            <a:off x="548640" y="4601394"/>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87" name="TextBox 43">
            <a:extLst>
              <a:ext uri="{FF2B5EF4-FFF2-40B4-BE49-F238E27FC236}">
                <a16:creationId xmlns:a16="http://schemas.microsoft.com/office/drawing/2014/main" id="{11BE211E-AB51-BE10-41BF-217580EFDAF7}"/>
              </a:ext>
            </a:extLst>
          </p:cNvPr>
          <p:cNvSpPr txBox="1"/>
          <p:nvPr/>
        </p:nvSpPr>
        <p:spPr>
          <a:xfrm>
            <a:off x="548640" y="4747698"/>
            <a:ext cx="5326380" cy="313350"/>
          </a:xfrm>
          <a:prstGeom prst="rect">
            <a:avLst/>
          </a:prstGeom>
          <a:noFill/>
        </p:spPr>
        <p:txBody>
          <a:bodyPr wrap="square" lIns="36000" tIns="18000" rIns="36000" bIns="18000" anchor="t">
            <a:spAutoFit/>
          </a:bodyPr>
          <a:lstStyle/>
          <a:p>
            <a:pPr algn="l"/>
            <a:r>
              <a:rPr lang="pt-BR" sz="900" b="0" i="0">
                <a:solidFill>
                  <a:srgbClr val="172B4D"/>
                </a:solidFill>
              </a:rPr>
              <a:t>P1 (&gt;100k </a:t>
            </a:r>
            <a:r>
              <a:rPr lang="pt-BR" sz="900" b="0" i="0" err="1">
                <a:solidFill>
                  <a:srgbClr val="172B4D"/>
                </a:solidFill>
              </a:rPr>
              <a:t>customers</a:t>
            </a:r>
            <a:r>
              <a:rPr lang="pt-BR" sz="900" b="0" i="0">
                <a:solidFill>
                  <a:srgbClr val="172B4D"/>
                </a:solidFill>
              </a:rPr>
              <a:t> OR full OPCO </a:t>
            </a:r>
            <a:r>
              <a:rPr lang="pt-BR" sz="900" b="0" i="0" err="1">
                <a:solidFill>
                  <a:srgbClr val="172B4D"/>
                </a:solidFill>
              </a:rPr>
              <a:t>outage</a:t>
            </a:r>
            <a:r>
              <a:rPr lang="pt-BR" sz="900" b="0" i="0">
                <a:solidFill>
                  <a:srgbClr val="172B4D"/>
                </a:solidFill>
              </a:rPr>
              <a:t>) · P2 (&gt;10k </a:t>
            </a:r>
            <a:r>
              <a:rPr lang="pt-BR" sz="900" b="0" i="0" err="1">
                <a:solidFill>
                  <a:srgbClr val="172B4D"/>
                </a:solidFill>
              </a:rPr>
              <a:t>customers</a:t>
            </a:r>
            <a:r>
              <a:rPr lang="pt-BR" sz="900" b="0" i="0">
                <a:solidFill>
                  <a:srgbClr val="172B4D"/>
                </a:solidFill>
              </a:rPr>
              <a:t> · </a:t>
            </a:r>
            <a:r>
              <a:rPr lang="pt-BR" sz="900" b="0" i="0" err="1">
                <a:solidFill>
                  <a:srgbClr val="172B4D"/>
                </a:solidFill>
              </a:rPr>
              <a:t>degraded</a:t>
            </a:r>
            <a:r>
              <a:rPr lang="pt-BR" sz="900" b="0" i="0">
                <a:solidFill>
                  <a:srgbClr val="172B4D"/>
                </a:solidFill>
              </a:rPr>
              <a:t> </a:t>
            </a:r>
            <a:r>
              <a:rPr lang="pt-BR" sz="900" b="0" i="0" err="1">
                <a:solidFill>
                  <a:srgbClr val="172B4D"/>
                </a:solidFill>
              </a:rPr>
              <a:t>service</a:t>
            </a:r>
            <a:r>
              <a:rPr lang="pt-BR" sz="900" b="0" i="0">
                <a:solidFill>
                  <a:srgbClr val="172B4D"/>
                </a:solidFill>
              </a:rPr>
              <a:t>) · </a:t>
            </a:r>
            <a:r>
              <a:rPr lang="pt-BR" sz="900" b="0" i="0" err="1">
                <a:solidFill>
                  <a:srgbClr val="172B4D"/>
                </a:solidFill>
              </a:rPr>
              <a:t>regulatory</a:t>
            </a:r>
            <a:r>
              <a:rPr lang="pt-BR" sz="900" b="0" i="0">
                <a:solidFill>
                  <a:srgbClr val="172B4D"/>
                </a:solidFill>
              </a:rPr>
              <a:t> deadline &lt; 30 </a:t>
            </a:r>
            <a:r>
              <a:rPr lang="pt-BR" sz="900" b="0" i="0" err="1">
                <a:solidFill>
                  <a:srgbClr val="172B4D"/>
                </a:solidFill>
              </a:rPr>
              <a:t>days</a:t>
            </a:r>
            <a:endParaRPr lang="pt-BR" sz="900" b="0" i="0">
              <a:solidFill>
                <a:srgbClr val="172B4D"/>
              </a:solidFill>
            </a:endParaRPr>
          </a:p>
        </p:txBody>
      </p:sp>
      <p:sp>
        <p:nvSpPr>
          <p:cNvPr id="88" name="TextBox 44">
            <a:extLst>
              <a:ext uri="{FF2B5EF4-FFF2-40B4-BE49-F238E27FC236}">
                <a16:creationId xmlns:a16="http://schemas.microsoft.com/office/drawing/2014/main" id="{E5432701-4228-7061-8BC3-DA071438A63D}"/>
              </a:ext>
            </a:extLst>
          </p:cNvPr>
          <p:cNvSpPr txBox="1"/>
          <p:nvPr/>
        </p:nvSpPr>
        <p:spPr>
          <a:xfrm>
            <a:off x="548640" y="5034187"/>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90" name="TextBox 45">
            <a:extLst>
              <a:ext uri="{FF2B5EF4-FFF2-40B4-BE49-F238E27FC236}">
                <a16:creationId xmlns:a16="http://schemas.microsoft.com/office/drawing/2014/main" id="{C6EA158D-8CE5-217D-C60F-6B6B102E2581}"/>
              </a:ext>
            </a:extLst>
          </p:cNvPr>
          <p:cNvSpPr txBox="1"/>
          <p:nvPr/>
        </p:nvSpPr>
        <p:spPr>
          <a:xfrm>
            <a:off x="548640" y="5198779"/>
            <a:ext cx="5326380" cy="328739"/>
          </a:xfrm>
          <a:prstGeom prst="rect">
            <a:avLst/>
          </a:prstGeom>
          <a:noFill/>
        </p:spPr>
        <p:txBody>
          <a:bodyPr wrap="square" lIns="36000" tIns="18000" rIns="36000" bIns="18000" anchor="t">
            <a:spAutoFit/>
          </a:bodyPr>
          <a:lstStyle/>
          <a:p>
            <a:r>
              <a:rPr lang="pt-BR" sz="900" err="1">
                <a:solidFill>
                  <a:srgbClr val="172B4D"/>
                </a:solidFill>
              </a:rPr>
              <a:t>Reserved</a:t>
            </a:r>
            <a:r>
              <a:rPr lang="pt-BR" sz="900">
                <a:solidFill>
                  <a:srgbClr val="172B4D"/>
                </a:solidFill>
              </a:rPr>
              <a:t> for P1/P2 · % set </a:t>
            </a:r>
            <a:r>
              <a:rPr lang="pt-BR" sz="900" err="1">
                <a:solidFill>
                  <a:srgbClr val="172B4D"/>
                </a:solidFill>
              </a:rPr>
              <a:t>at</a:t>
            </a:r>
            <a:r>
              <a:rPr lang="pt-BR" sz="900">
                <a:solidFill>
                  <a:srgbClr val="172B4D"/>
                </a:solidFill>
              </a:rPr>
              <a:t> Gate 2 (</a:t>
            </a:r>
            <a:r>
              <a:rPr lang="pt-BR" sz="900" err="1">
                <a:solidFill>
                  <a:srgbClr val="172B4D"/>
                </a:solidFill>
              </a:rPr>
              <a:t>monthly</a:t>
            </a:r>
            <a:r>
              <a:rPr lang="pt-BR" sz="900">
                <a:solidFill>
                  <a:srgbClr val="172B4D"/>
                </a:solidFill>
              </a:rPr>
              <a:t>)</a:t>
            </a:r>
          </a:p>
          <a:p>
            <a:pPr algn="l"/>
            <a:endParaRPr sz="1000" b="1" i="0">
              <a:solidFill>
                <a:srgbClr val="B83567"/>
              </a:solidFill>
            </a:endParaRPr>
          </a:p>
        </p:txBody>
      </p:sp>
      <p:sp>
        <p:nvSpPr>
          <p:cNvPr id="91" name="TextBox 46">
            <a:extLst>
              <a:ext uri="{FF2B5EF4-FFF2-40B4-BE49-F238E27FC236}">
                <a16:creationId xmlns:a16="http://schemas.microsoft.com/office/drawing/2014/main" id="{DD2295EB-37AB-52CD-64EB-91C00BC2EFC4}"/>
              </a:ext>
            </a:extLst>
          </p:cNvPr>
          <p:cNvSpPr txBox="1"/>
          <p:nvPr/>
        </p:nvSpPr>
        <p:spPr>
          <a:xfrm>
            <a:off x="548640" y="5445667"/>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92" name="TextBox 47">
            <a:extLst>
              <a:ext uri="{FF2B5EF4-FFF2-40B4-BE49-F238E27FC236}">
                <a16:creationId xmlns:a16="http://schemas.microsoft.com/office/drawing/2014/main" id="{EEA355DB-3B55-141D-BD01-C0F739D02FEF}"/>
              </a:ext>
            </a:extLst>
          </p:cNvPr>
          <p:cNvSpPr txBox="1"/>
          <p:nvPr/>
        </p:nvSpPr>
        <p:spPr>
          <a:xfrm>
            <a:off x="548640" y="5591971"/>
            <a:ext cx="5326380" cy="201168"/>
          </a:xfrm>
          <a:prstGeom prst="rect">
            <a:avLst/>
          </a:prstGeom>
          <a:noFill/>
        </p:spPr>
        <p:txBody>
          <a:bodyPr wrap="square" lIns="36000" tIns="18000" rIns="36000" bIns="18000" anchor="t">
            <a:spAutoFit/>
          </a:bodyPr>
          <a:lstStyle/>
          <a:p>
            <a:pPr algn="l"/>
            <a:r>
              <a:rPr sz="900" b="0" i="0">
                <a:solidFill>
                  <a:srgbClr val="172B4D"/>
                </a:solidFill>
              </a:rPr>
              <a:t>WIP 1 per squad · 4-hour alert · auto-escalate</a:t>
            </a:r>
          </a:p>
        </p:txBody>
      </p:sp>
      <p:sp>
        <p:nvSpPr>
          <p:cNvPr id="93" name="TextBox 48">
            <a:extLst>
              <a:ext uri="{FF2B5EF4-FFF2-40B4-BE49-F238E27FC236}">
                <a16:creationId xmlns:a16="http://schemas.microsoft.com/office/drawing/2014/main" id="{E6C2E6DD-317A-3AEB-952F-57D11839CC11}"/>
              </a:ext>
            </a:extLst>
          </p:cNvPr>
          <p:cNvSpPr txBox="1"/>
          <p:nvPr/>
        </p:nvSpPr>
        <p:spPr>
          <a:xfrm>
            <a:off x="548640" y="581168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94" name="TextBox 49">
            <a:extLst>
              <a:ext uri="{FF2B5EF4-FFF2-40B4-BE49-F238E27FC236}">
                <a16:creationId xmlns:a16="http://schemas.microsoft.com/office/drawing/2014/main" id="{453D865F-1CE2-7BCD-7445-2300B1EF2074}"/>
              </a:ext>
            </a:extLst>
          </p:cNvPr>
          <p:cNvSpPr txBox="1"/>
          <p:nvPr/>
        </p:nvSpPr>
        <p:spPr>
          <a:xfrm>
            <a:off x="548640" y="5957987"/>
            <a:ext cx="5326380" cy="365760"/>
          </a:xfrm>
          <a:prstGeom prst="rect">
            <a:avLst/>
          </a:prstGeom>
          <a:noFill/>
        </p:spPr>
        <p:txBody>
          <a:bodyPr wrap="square" lIns="36000" tIns="18000" rIns="36000" bIns="18000" anchor="t">
            <a:spAutoFit/>
          </a:bodyPr>
          <a:lstStyle/>
          <a:p>
            <a:pPr algn="l"/>
            <a:r>
              <a:rPr sz="800" b="0" i="1">
                <a:solidFill>
                  <a:srgbClr val="172B4D"/>
                </a:solidFill>
              </a:rPr>
              <a:t>Billing engine down · IVR 503 · Iberdrola month-close blocker</a:t>
            </a:r>
          </a:p>
        </p:txBody>
      </p:sp>
      <p:sp>
        <p:nvSpPr>
          <p:cNvPr id="95" name="Rounded Rectangle 50">
            <a:extLst>
              <a:ext uri="{FF2B5EF4-FFF2-40B4-BE49-F238E27FC236}">
                <a16:creationId xmlns:a16="http://schemas.microsoft.com/office/drawing/2014/main" id="{BE3B7AA1-6227-383C-0381-6DADDA8C755B}"/>
              </a:ext>
            </a:extLst>
          </p:cNvPr>
          <p:cNvSpPr/>
          <p:nvPr/>
        </p:nvSpPr>
        <p:spPr>
          <a:xfrm>
            <a:off x="6240780" y="4000500"/>
            <a:ext cx="5600700" cy="2125980"/>
          </a:xfrm>
          <a:prstGeom prst="roundRect">
            <a:avLst>
              <a:gd name="adj" fmla="val 4000"/>
            </a:avLst>
          </a:prstGeom>
          <a:solidFill>
            <a:srgbClr val="FFFFFF"/>
          </a:solidFill>
          <a:ln w="317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51">
            <a:extLst>
              <a:ext uri="{FF2B5EF4-FFF2-40B4-BE49-F238E27FC236}">
                <a16:creationId xmlns:a16="http://schemas.microsoft.com/office/drawing/2014/main" id="{1418552F-441F-C478-F5C2-8CE36225C740}"/>
              </a:ext>
            </a:extLst>
          </p:cNvPr>
          <p:cNvSpPr/>
          <p:nvPr/>
        </p:nvSpPr>
        <p:spPr>
          <a:xfrm>
            <a:off x="6240780" y="4000500"/>
            <a:ext cx="5600700" cy="4572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52">
            <a:extLst>
              <a:ext uri="{FF2B5EF4-FFF2-40B4-BE49-F238E27FC236}">
                <a16:creationId xmlns:a16="http://schemas.microsoft.com/office/drawing/2014/main" id="{CF513119-E770-1384-4DF8-E2F4F3D6A2D6}"/>
              </a:ext>
            </a:extLst>
          </p:cNvPr>
          <p:cNvSpPr txBox="1"/>
          <p:nvPr/>
        </p:nvSpPr>
        <p:spPr>
          <a:xfrm>
            <a:off x="6377940" y="4055364"/>
            <a:ext cx="5600700" cy="201168"/>
          </a:xfrm>
          <a:prstGeom prst="rect">
            <a:avLst/>
          </a:prstGeom>
          <a:noFill/>
        </p:spPr>
        <p:txBody>
          <a:bodyPr wrap="square" lIns="36000" tIns="18000" rIns="36000" bIns="18000" anchor="t">
            <a:spAutoFit/>
          </a:bodyPr>
          <a:lstStyle/>
          <a:p>
            <a:pPr algn="l"/>
            <a:r>
              <a:rPr sz="1400" b="1" i="0">
                <a:solidFill>
                  <a:srgbClr val="FFFFFF"/>
                </a:solidFill>
              </a:rPr>
              <a:t>Intangible</a:t>
            </a:r>
          </a:p>
        </p:txBody>
      </p:sp>
      <p:sp>
        <p:nvSpPr>
          <p:cNvPr id="98" name="TextBox 53">
            <a:extLst>
              <a:ext uri="{FF2B5EF4-FFF2-40B4-BE49-F238E27FC236}">
                <a16:creationId xmlns:a16="http://schemas.microsoft.com/office/drawing/2014/main" id="{4C21767E-A635-DFEA-5450-3AC69309DE2E}"/>
              </a:ext>
            </a:extLst>
          </p:cNvPr>
          <p:cNvSpPr txBox="1"/>
          <p:nvPr/>
        </p:nvSpPr>
        <p:spPr>
          <a:xfrm>
            <a:off x="6377940" y="4247388"/>
            <a:ext cx="5600700" cy="182880"/>
          </a:xfrm>
          <a:prstGeom prst="rect">
            <a:avLst/>
          </a:prstGeom>
          <a:noFill/>
        </p:spPr>
        <p:txBody>
          <a:bodyPr wrap="square" lIns="36000" tIns="18000" rIns="36000" bIns="18000" anchor="t">
            <a:spAutoFit/>
          </a:bodyPr>
          <a:lstStyle/>
          <a:p>
            <a:pPr algn="l"/>
            <a:r>
              <a:rPr sz="800" b="0" i="1">
                <a:solidFill>
                  <a:srgbClr val="FFFFFF"/>
                </a:solidFill>
              </a:rPr>
              <a:t>Tech debt · refactor · enablers · platform work</a:t>
            </a:r>
          </a:p>
        </p:txBody>
      </p:sp>
      <p:sp>
        <p:nvSpPr>
          <p:cNvPr id="99" name="TextBox 54">
            <a:extLst>
              <a:ext uri="{FF2B5EF4-FFF2-40B4-BE49-F238E27FC236}">
                <a16:creationId xmlns:a16="http://schemas.microsoft.com/office/drawing/2014/main" id="{5B0A7C83-0CF6-6D53-C966-3432AAD41313}"/>
              </a:ext>
            </a:extLst>
          </p:cNvPr>
          <p:cNvSpPr txBox="1"/>
          <p:nvPr/>
        </p:nvSpPr>
        <p:spPr>
          <a:xfrm>
            <a:off x="6423660" y="454914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111" name="TextBox 55">
            <a:extLst>
              <a:ext uri="{FF2B5EF4-FFF2-40B4-BE49-F238E27FC236}">
                <a16:creationId xmlns:a16="http://schemas.microsoft.com/office/drawing/2014/main" id="{B254F83A-A61B-F04B-C020-0DF602D345D1}"/>
              </a:ext>
            </a:extLst>
          </p:cNvPr>
          <p:cNvSpPr txBox="1"/>
          <p:nvPr/>
        </p:nvSpPr>
        <p:spPr>
          <a:xfrm>
            <a:off x="6423660" y="4695444"/>
            <a:ext cx="5326380" cy="365760"/>
          </a:xfrm>
          <a:prstGeom prst="rect">
            <a:avLst/>
          </a:prstGeom>
          <a:noFill/>
        </p:spPr>
        <p:txBody>
          <a:bodyPr wrap="square" lIns="36000" tIns="18000" rIns="36000" bIns="18000" anchor="t">
            <a:spAutoFit/>
          </a:bodyPr>
          <a:lstStyle/>
          <a:p>
            <a:pPr algn="l"/>
            <a:r>
              <a:rPr sz="900" b="0" i="0">
                <a:solidFill>
                  <a:srgbClr val="172B4D"/>
                </a:solidFill>
              </a:rPr>
              <a:t>No direct user-visible value · long-term health · refactor · platform · documentation</a:t>
            </a:r>
          </a:p>
        </p:txBody>
      </p:sp>
      <p:sp>
        <p:nvSpPr>
          <p:cNvPr id="112" name="TextBox 56">
            <a:extLst>
              <a:ext uri="{FF2B5EF4-FFF2-40B4-BE49-F238E27FC236}">
                <a16:creationId xmlns:a16="http://schemas.microsoft.com/office/drawing/2014/main" id="{74397327-7F1E-83AD-EEFD-618E18B01902}"/>
              </a:ext>
            </a:extLst>
          </p:cNvPr>
          <p:cNvSpPr txBox="1"/>
          <p:nvPr/>
        </p:nvSpPr>
        <p:spPr>
          <a:xfrm>
            <a:off x="6423660" y="493838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113" name="TextBox 57">
            <a:extLst>
              <a:ext uri="{FF2B5EF4-FFF2-40B4-BE49-F238E27FC236}">
                <a16:creationId xmlns:a16="http://schemas.microsoft.com/office/drawing/2014/main" id="{5DEC59E8-4356-433F-F459-B5417F0348D7}"/>
              </a:ext>
            </a:extLst>
          </p:cNvPr>
          <p:cNvSpPr txBox="1"/>
          <p:nvPr/>
        </p:nvSpPr>
        <p:spPr>
          <a:xfrm>
            <a:off x="6423660" y="5102981"/>
            <a:ext cx="5326380" cy="174851"/>
          </a:xfrm>
          <a:prstGeom prst="rect">
            <a:avLst/>
          </a:prstGeom>
          <a:noFill/>
        </p:spPr>
        <p:txBody>
          <a:bodyPr wrap="square" lIns="36000" tIns="18000" rIns="36000" bIns="18000" anchor="t">
            <a:spAutoFit/>
          </a:bodyPr>
          <a:lstStyle/>
          <a:p>
            <a:r>
              <a:rPr lang="es-MX" sz="900">
                <a:solidFill>
                  <a:srgbClr val="172B4D"/>
                </a:solidFill>
              </a:rPr>
              <a:t>Tech debt allocation · % set at Gate 2 (monthly)</a:t>
            </a:r>
          </a:p>
        </p:txBody>
      </p:sp>
      <p:sp>
        <p:nvSpPr>
          <p:cNvPr id="114" name="TextBox 58">
            <a:extLst>
              <a:ext uri="{FF2B5EF4-FFF2-40B4-BE49-F238E27FC236}">
                <a16:creationId xmlns:a16="http://schemas.microsoft.com/office/drawing/2014/main" id="{BC4C8BAC-BB43-B3B6-B8CA-2054F4493A69}"/>
              </a:ext>
            </a:extLst>
          </p:cNvPr>
          <p:cNvSpPr txBox="1"/>
          <p:nvPr/>
        </p:nvSpPr>
        <p:spPr>
          <a:xfrm>
            <a:off x="6423660" y="534986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115" name="TextBox 59">
            <a:extLst>
              <a:ext uri="{FF2B5EF4-FFF2-40B4-BE49-F238E27FC236}">
                <a16:creationId xmlns:a16="http://schemas.microsoft.com/office/drawing/2014/main" id="{4360D1AD-904B-DFFB-5DFE-7CFA26007A8E}"/>
              </a:ext>
            </a:extLst>
          </p:cNvPr>
          <p:cNvSpPr txBox="1"/>
          <p:nvPr/>
        </p:nvSpPr>
        <p:spPr>
          <a:xfrm>
            <a:off x="6423660" y="5496173"/>
            <a:ext cx="5326380" cy="201168"/>
          </a:xfrm>
          <a:prstGeom prst="rect">
            <a:avLst/>
          </a:prstGeom>
          <a:noFill/>
        </p:spPr>
        <p:txBody>
          <a:bodyPr wrap="square" lIns="36000" tIns="18000" rIns="36000" bIns="18000" anchor="t">
            <a:spAutoFit/>
          </a:bodyPr>
          <a:lstStyle/>
          <a:p>
            <a:pPr algn="l"/>
            <a:r>
              <a:rPr sz="900" b="0" i="0">
                <a:solidFill>
                  <a:srgbClr val="172B4D"/>
                </a:solidFill>
              </a:rPr>
              <a:t>WIP 1 per squad · 90 days aging · low-priority alert</a:t>
            </a:r>
          </a:p>
        </p:txBody>
      </p:sp>
      <p:sp>
        <p:nvSpPr>
          <p:cNvPr id="116" name="TextBox 60">
            <a:extLst>
              <a:ext uri="{FF2B5EF4-FFF2-40B4-BE49-F238E27FC236}">
                <a16:creationId xmlns:a16="http://schemas.microsoft.com/office/drawing/2014/main" id="{ABB05A24-0E60-2EC8-770D-0590BFDE7F3E}"/>
              </a:ext>
            </a:extLst>
          </p:cNvPr>
          <p:cNvSpPr txBox="1"/>
          <p:nvPr/>
        </p:nvSpPr>
        <p:spPr>
          <a:xfrm>
            <a:off x="6423660" y="581168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117" name="TextBox 61">
            <a:extLst>
              <a:ext uri="{FF2B5EF4-FFF2-40B4-BE49-F238E27FC236}">
                <a16:creationId xmlns:a16="http://schemas.microsoft.com/office/drawing/2014/main" id="{A5022B4D-D363-B88D-3ED4-4DD49DFD6AE9}"/>
              </a:ext>
            </a:extLst>
          </p:cNvPr>
          <p:cNvSpPr txBox="1"/>
          <p:nvPr/>
        </p:nvSpPr>
        <p:spPr>
          <a:xfrm>
            <a:off x="6423660" y="5957987"/>
            <a:ext cx="5326380" cy="365760"/>
          </a:xfrm>
          <a:prstGeom prst="rect">
            <a:avLst/>
          </a:prstGeom>
          <a:noFill/>
        </p:spPr>
        <p:txBody>
          <a:bodyPr wrap="square" lIns="36000" tIns="18000" rIns="36000" bIns="18000" anchor="t">
            <a:spAutoFit/>
          </a:bodyPr>
          <a:lstStyle/>
          <a:p>
            <a:pPr algn="l"/>
            <a:r>
              <a:rPr sz="800" b="0" i="1">
                <a:solidFill>
                  <a:srgbClr val="172B4D"/>
                </a:solidFill>
              </a:rPr>
              <a:t>CRM tech debt · SAP Basis kernel patches · pipeline modernization</a:t>
            </a:r>
          </a:p>
        </p:txBody>
      </p:sp>
      <p:sp>
        <p:nvSpPr>
          <p:cNvPr id="3" name="TextBox 13">
            <a:extLst>
              <a:ext uri="{FF2B5EF4-FFF2-40B4-BE49-F238E27FC236}">
                <a16:creationId xmlns:a16="http://schemas.microsoft.com/office/drawing/2014/main" id="{759CB5BC-2CAF-548A-DD3C-FF1E1D695F4F}"/>
              </a:ext>
            </a:extLst>
          </p:cNvPr>
          <p:cNvSpPr txBox="1"/>
          <p:nvPr/>
        </p:nvSpPr>
        <p:spPr>
          <a:xfrm>
            <a:off x="8046720" y="1235555"/>
            <a:ext cx="3840480" cy="144073"/>
          </a:xfrm>
          <a:prstGeom prst="rect">
            <a:avLst/>
          </a:prstGeom>
          <a:noFill/>
        </p:spPr>
        <p:txBody>
          <a:bodyPr wrap="square" lIns="36000" tIns="18000" rIns="36000" bIns="18000" anchor="ctr">
            <a:spAutoFit/>
          </a:bodyPr>
          <a:lstStyle/>
          <a:p>
            <a:pPr algn="ctr"/>
            <a:r>
              <a:rPr sz="700" b="1" i="0">
                <a:solidFill>
                  <a:srgbClr val="FFFFFF"/>
                </a:solidFill>
              </a:rPr>
              <a:t>● REVIEWING / ANALYZING  ·  </a:t>
            </a:r>
            <a:r>
              <a:rPr lang="pt-BR" sz="700" b="1" i="0">
                <a:solidFill>
                  <a:srgbClr val="FFFFFF"/>
                </a:solidFill>
              </a:rPr>
              <a:t>PM</a:t>
            </a:r>
            <a:r>
              <a:rPr sz="700" b="1" i="0">
                <a:solidFill>
                  <a:srgbClr val="FFFFFF"/>
                </a:solidFill>
              </a:rPr>
              <a:t> + ARCHITECT</a:t>
            </a:r>
          </a:p>
        </p:txBody>
      </p:sp>
      <p:sp>
        <p:nvSpPr>
          <p:cNvPr id="4" name="Text Placeholder 19">
            <a:extLst>
              <a:ext uri="{FF2B5EF4-FFF2-40B4-BE49-F238E27FC236}">
                <a16:creationId xmlns:a16="http://schemas.microsoft.com/office/drawing/2014/main" id="{FAFE9A3D-93F4-1E37-3C35-DB832C4D6170}"/>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Class of Service Classification</a:t>
            </a:r>
          </a:p>
        </p:txBody>
      </p:sp>
    </p:spTree>
    <p:extLst>
      <p:ext uri="{BB962C8B-B14F-4D97-AF65-F5344CB8AC3E}">
        <p14:creationId xmlns:p14="http://schemas.microsoft.com/office/powerpoint/2010/main" val="4281577156"/>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FE38-914F-98A9-31AD-3ECFF655C5F9}"/>
            </a:ext>
          </a:extLst>
        </p:cNvPr>
        <p:cNvGrpSpPr/>
        <p:nvPr/>
      </p:nvGrpSpPr>
      <p:grpSpPr>
        <a:xfrm>
          <a:off x="0" y="0"/>
          <a:ext cx="0" cy="0"/>
          <a:chOff x="0" y="0"/>
          <a:chExt cx="0" cy="0"/>
        </a:xfrm>
      </p:grpSpPr>
      <p:sp>
        <p:nvSpPr>
          <p:cNvPr id="59" name="Rounded Rectangle 37">
            <a:extLst>
              <a:ext uri="{FF2B5EF4-FFF2-40B4-BE49-F238E27FC236}">
                <a16:creationId xmlns:a16="http://schemas.microsoft.com/office/drawing/2014/main" id="{0B14EA1D-42A5-889C-543E-849FADFB4BFD}"/>
              </a:ext>
            </a:extLst>
          </p:cNvPr>
          <p:cNvSpPr/>
          <p:nvPr/>
        </p:nvSpPr>
        <p:spPr>
          <a:xfrm>
            <a:off x="9626783" y="1628219"/>
            <a:ext cx="2221992" cy="1795702"/>
          </a:xfrm>
          <a:prstGeom prst="roundRect">
            <a:avLst>
              <a:gd name="adj" fmla="val 4000"/>
            </a:avLst>
          </a:prstGeom>
          <a:solidFill>
            <a:srgbClr val="FFFFFF"/>
          </a:solidFill>
          <a:ln w="317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ounded Rectangle 9">
            <a:extLst>
              <a:ext uri="{FF2B5EF4-FFF2-40B4-BE49-F238E27FC236}">
                <a16:creationId xmlns:a16="http://schemas.microsoft.com/office/drawing/2014/main" id="{73F82E27-AAAD-CBB6-A5DD-8269044E3514}"/>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0">
            <a:extLst>
              <a:ext uri="{FF2B5EF4-FFF2-40B4-BE49-F238E27FC236}">
                <a16:creationId xmlns:a16="http://schemas.microsoft.com/office/drawing/2014/main" id="{C9393A72-A876-32AF-52EC-34FB2D4CF292}"/>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Pain Score · Auto-Computation</a:t>
            </a:r>
          </a:p>
        </p:txBody>
      </p:sp>
      <p:sp>
        <p:nvSpPr>
          <p:cNvPr id="4" name="TextBox 11">
            <a:extLst>
              <a:ext uri="{FF2B5EF4-FFF2-40B4-BE49-F238E27FC236}">
                <a16:creationId xmlns:a16="http://schemas.microsoft.com/office/drawing/2014/main" id="{21212216-C088-7E2C-82CB-6FB9CCED49B5}"/>
              </a:ext>
            </a:extLst>
          </p:cNvPr>
          <p:cNvSpPr txBox="1"/>
          <p:nvPr/>
        </p:nvSpPr>
        <p:spPr>
          <a:xfrm>
            <a:off x="502920" y="1088136"/>
            <a:ext cx="7315200" cy="144073"/>
          </a:xfrm>
          <a:prstGeom prst="rect">
            <a:avLst/>
          </a:prstGeom>
          <a:noFill/>
        </p:spPr>
        <p:txBody>
          <a:bodyPr wrap="square" lIns="36000" tIns="18000" rIns="36000" bIns="18000" anchor="t">
            <a:spAutoFit/>
          </a:bodyPr>
          <a:lstStyle/>
          <a:p>
            <a:pPr algn="l"/>
            <a:r>
              <a:rPr sz="700" b="1" i="0">
                <a:solidFill>
                  <a:schemeClr val="bg1"/>
                </a:solidFill>
              </a:rPr>
              <a:t>re-computed if BV/UX/Safety(ITBA)/Effort</a:t>
            </a:r>
          </a:p>
        </p:txBody>
      </p:sp>
      <p:sp>
        <p:nvSpPr>
          <p:cNvPr id="7" name="Rounded Rectangle 16">
            <a:extLst>
              <a:ext uri="{FF2B5EF4-FFF2-40B4-BE49-F238E27FC236}">
                <a16:creationId xmlns:a16="http://schemas.microsoft.com/office/drawing/2014/main" id="{97E7FEE6-B103-A0C6-C0A8-098E79A4CC69}"/>
              </a:ext>
            </a:extLst>
          </p:cNvPr>
          <p:cNvSpPr/>
          <p:nvPr/>
        </p:nvSpPr>
        <p:spPr>
          <a:xfrm>
            <a:off x="365760" y="1598465"/>
            <a:ext cx="2221992" cy="1820382"/>
          </a:xfrm>
          <a:prstGeom prst="roundRect">
            <a:avLst>
              <a:gd name="adj" fmla="val 4000"/>
            </a:avLst>
          </a:prstGeom>
          <a:solidFill>
            <a:srgbClr val="FFFFFF"/>
          </a:solidFill>
          <a:ln w="317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17">
            <a:extLst>
              <a:ext uri="{FF2B5EF4-FFF2-40B4-BE49-F238E27FC236}">
                <a16:creationId xmlns:a16="http://schemas.microsoft.com/office/drawing/2014/main" id="{E123C563-4B9B-770D-13E2-B14D3C297EC4}"/>
              </a:ext>
            </a:extLst>
          </p:cNvPr>
          <p:cNvSpPr/>
          <p:nvPr/>
        </p:nvSpPr>
        <p:spPr>
          <a:xfrm>
            <a:off x="365760" y="1598464"/>
            <a:ext cx="2221992"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8">
            <a:extLst>
              <a:ext uri="{FF2B5EF4-FFF2-40B4-BE49-F238E27FC236}">
                <a16:creationId xmlns:a16="http://schemas.microsoft.com/office/drawing/2014/main" id="{3A5F0207-F337-EB03-9EC4-46303B775915}"/>
              </a:ext>
            </a:extLst>
          </p:cNvPr>
          <p:cNvSpPr txBox="1"/>
          <p:nvPr/>
        </p:nvSpPr>
        <p:spPr>
          <a:xfrm>
            <a:off x="365760"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BV</a:t>
            </a:r>
          </a:p>
        </p:txBody>
      </p:sp>
      <p:sp>
        <p:nvSpPr>
          <p:cNvPr id="10" name="TextBox 19">
            <a:extLst>
              <a:ext uri="{FF2B5EF4-FFF2-40B4-BE49-F238E27FC236}">
                <a16:creationId xmlns:a16="http://schemas.microsoft.com/office/drawing/2014/main" id="{40F8BAAE-6EA6-A3E6-FEAA-E83A8E3B185B}"/>
              </a:ext>
            </a:extLst>
          </p:cNvPr>
          <p:cNvSpPr txBox="1"/>
          <p:nvPr/>
        </p:nvSpPr>
        <p:spPr>
          <a:xfrm>
            <a:off x="365760" y="1964224"/>
            <a:ext cx="2221992"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11" name="TextBox 20">
            <a:extLst>
              <a:ext uri="{FF2B5EF4-FFF2-40B4-BE49-F238E27FC236}">
                <a16:creationId xmlns:a16="http://schemas.microsoft.com/office/drawing/2014/main" id="{113FAA5F-4CDE-E24A-1FFC-BF1DA05CA851}"/>
              </a:ext>
            </a:extLst>
          </p:cNvPr>
          <p:cNvSpPr txBox="1"/>
          <p:nvPr/>
        </p:nvSpPr>
        <p:spPr>
          <a:xfrm>
            <a:off x="478742" y="2210096"/>
            <a:ext cx="1996026" cy="201168"/>
          </a:xfrm>
          <a:prstGeom prst="rect">
            <a:avLst/>
          </a:prstGeom>
          <a:noFill/>
        </p:spPr>
        <p:txBody>
          <a:bodyPr wrap="square" lIns="36000" tIns="18000" rIns="36000" bIns="18000" anchor="t">
            <a:spAutoFit/>
          </a:bodyPr>
          <a:lstStyle/>
          <a:p>
            <a:pPr algn="l"/>
            <a:r>
              <a:rPr sz="1000" b="1" i="0">
                <a:solidFill>
                  <a:srgbClr val="006B3F"/>
                </a:solidFill>
              </a:rPr>
              <a:t>Business Value (1–5)</a:t>
            </a:r>
          </a:p>
        </p:txBody>
      </p:sp>
      <p:sp>
        <p:nvSpPr>
          <p:cNvPr id="12" name="TextBox 21">
            <a:extLst>
              <a:ext uri="{FF2B5EF4-FFF2-40B4-BE49-F238E27FC236}">
                <a16:creationId xmlns:a16="http://schemas.microsoft.com/office/drawing/2014/main" id="{E474E6DD-7A78-7650-D9C3-8EAE7285BBC8}"/>
              </a:ext>
            </a:extLst>
          </p:cNvPr>
          <p:cNvSpPr txBox="1"/>
          <p:nvPr/>
        </p:nvSpPr>
        <p:spPr>
          <a:xfrm>
            <a:off x="478742" y="2392976"/>
            <a:ext cx="1996026" cy="201168"/>
          </a:xfrm>
          <a:prstGeom prst="rect">
            <a:avLst/>
          </a:prstGeom>
          <a:noFill/>
        </p:spPr>
        <p:txBody>
          <a:bodyPr wrap="square" lIns="36000" tIns="18000" rIns="36000" bIns="18000" anchor="t">
            <a:spAutoFit/>
          </a:bodyPr>
          <a:lstStyle/>
          <a:p>
            <a:pPr algn="l"/>
            <a:r>
              <a:rPr sz="800" b="0" i="1">
                <a:solidFill>
                  <a:srgbClr val="6B778C"/>
                </a:solidFill>
              </a:rPr>
              <a:t>from BUSINESS VALUE field</a:t>
            </a:r>
          </a:p>
        </p:txBody>
      </p:sp>
      <p:sp>
        <p:nvSpPr>
          <p:cNvPr id="13" name="TextBox 22">
            <a:extLst>
              <a:ext uri="{FF2B5EF4-FFF2-40B4-BE49-F238E27FC236}">
                <a16:creationId xmlns:a16="http://schemas.microsoft.com/office/drawing/2014/main" id="{2C1FC5E8-B687-D49B-D489-7BB662E65D53}"/>
              </a:ext>
            </a:extLst>
          </p:cNvPr>
          <p:cNvSpPr txBox="1"/>
          <p:nvPr/>
        </p:nvSpPr>
        <p:spPr>
          <a:xfrm>
            <a:off x="478742" y="2667296"/>
            <a:ext cx="1996026" cy="960120"/>
          </a:xfrm>
          <a:prstGeom prst="rect">
            <a:avLst/>
          </a:prstGeom>
          <a:noFill/>
        </p:spPr>
        <p:txBody>
          <a:bodyPr wrap="square" lIns="36000" tIns="18000" rIns="36000" bIns="18000" anchor="t">
            <a:spAutoFit/>
          </a:bodyPr>
          <a:lstStyle/>
          <a:p>
            <a:pPr algn="l"/>
            <a:r>
              <a:rPr sz="800" b="0" i="0">
                <a:solidFill>
                  <a:srgbClr val="172B4D"/>
                </a:solidFill>
              </a:rPr>
              <a:t>Quantified business impact:
· $ revenue / cost
· NPS / CSAT delta
· Volume affected
· Compliance gap</a:t>
            </a:r>
          </a:p>
        </p:txBody>
      </p:sp>
      <p:sp>
        <p:nvSpPr>
          <p:cNvPr id="14" name="Rounded Rectangle 23">
            <a:extLst>
              <a:ext uri="{FF2B5EF4-FFF2-40B4-BE49-F238E27FC236}">
                <a16:creationId xmlns:a16="http://schemas.microsoft.com/office/drawing/2014/main" id="{A238C15D-9040-6ECA-00BF-765F4E2754D9}"/>
              </a:ext>
            </a:extLst>
          </p:cNvPr>
          <p:cNvSpPr/>
          <p:nvPr/>
        </p:nvSpPr>
        <p:spPr>
          <a:xfrm>
            <a:off x="2679192" y="1598465"/>
            <a:ext cx="2221992" cy="1820382"/>
          </a:xfrm>
          <a:prstGeom prst="roundRect">
            <a:avLst>
              <a:gd name="adj" fmla="val 4000"/>
            </a:avLst>
          </a:prstGeom>
          <a:solidFill>
            <a:srgbClr val="FFFFFF"/>
          </a:solidFill>
          <a:ln w="3175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24">
            <a:extLst>
              <a:ext uri="{FF2B5EF4-FFF2-40B4-BE49-F238E27FC236}">
                <a16:creationId xmlns:a16="http://schemas.microsoft.com/office/drawing/2014/main" id="{5C1E82FA-8327-AA9A-A777-D1E2F89F85B8}"/>
              </a:ext>
            </a:extLst>
          </p:cNvPr>
          <p:cNvSpPr/>
          <p:nvPr/>
        </p:nvSpPr>
        <p:spPr>
          <a:xfrm>
            <a:off x="2679192" y="1598464"/>
            <a:ext cx="2221992"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5">
            <a:extLst>
              <a:ext uri="{FF2B5EF4-FFF2-40B4-BE49-F238E27FC236}">
                <a16:creationId xmlns:a16="http://schemas.microsoft.com/office/drawing/2014/main" id="{76943278-F200-E0C2-85F4-D00DE94286B9}"/>
              </a:ext>
            </a:extLst>
          </p:cNvPr>
          <p:cNvSpPr txBox="1"/>
          <p:nvPr/>
        </p:nvSpPr>
        <p:spPr>
          <a:xfrm>
            <a:off x="2679192"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UX</a:t>
            </a:r>
          </a:p>
        </p:txBody>
      </p:sp>
      <p:sp>
        <p:nvSpPr>
          <p:cNvPr id="17" name="TextBox 26">
            <a:extLst>
              <a:ext uri="{FF2B5EF4-FFF2-40B4-BE49-F238E27FC236}">
                <a16:creationId xmlns:a16="http://schemas.microsoft.com/office/drawing/2014/main" id="{C22484A3-AF05-196B-91C7-C0E52C06A2B4}"/>
              </a:ext>
            </a:extLst>
          </p:cNvPr>
          <p:cNvSpPr txBox="1"/>
          <p:nvPr/>
        </p:nvSpPr>
        <p:spPr>
          <a:xfrm>
            <a:off x="2679192" y="1964224"/>
            <a:ext cx="2109009"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18" name="TextBox 27">
            <a:extLst>
              <a:ext uri="{FF2B5EF4-FFF2-40B4-BE49-F238E27FC236}">
                <a16:creationId xmlns:a16="http://schemas.microsoft.com/office/drawing/2014/main" id="{D70E9059-4578-8949-CCDF-A85EBEED38C2}"/>
              </a:ext>
            </a:extLst>
          </p:cNvPr>
          <p:cNvSpPr txBox="1"/>
          <p:nvPr/>
        </p:nvSpPr>
        <p:spPr>
          <a:xfrm>
            <a:off x="2792174" y="2210096"/>
            <a:ext cx="1996026" cy="190240"/>
          </a:xfrm>
          <a:prstGeom prst="rect">
            <a:avLst/>
          </a:prstGeom>
          <a:noFill/>
        </p:spPr>
        <p:txBody>
          <a:bodyPr wrap="square" lIns="36000" tIns="18000" rIns="36000" bIns="18000" anchor="t">
            <a:spAutoFit/>
          </a:bodyPr>
          <a:lstStyle/>
          <a:p>
            <a:pPr algn="l"/>
            <a:r>
              <a:rPr lang="es-MX" sz="1000" b="1" i="0">
                <a:solidFill>
                  <a:srgbClr val="008950"/>
                </a:solidFill>
              </a:rPr>
              <a:t>User Experience (1–5)</a:t>
            </a:r>
          </a:p>
        </p:txBody>
      </p:sp>
      <p:sp>
        <p:nvSpPr>
          <p:cNvPr id="19" name="TextBox 28">
            <a:extLst>
              <a:ext uri="{FF2B5EF4-FFF2-40B4-BE49-F238E27FC236}">
                <a16:creationId xmlns:a16="http://schemas.microsoft.com/office/drawing/2014/main" id="{2D13D443-691B-D1C4-3A76-DBDFFD9AFD20}"/>
              </a:ext>
            </a:extLst>
          </p:cNvPr>
          <p:cNvSpPr txBox="1"/>
          <p:nvPr/>
        </p:nvSpPr>
        <p:spPr>
          <a:xfrm>
            <a:off x="2792174" y="2392976"/>
            <a:ext cx="1996026" cy="159462"/>
          </a:xfrm>
          <a:prstGeom prst="rect">
            <a:avLst/>
          </a:prstGeom>
          <a:noFill/>
        </p:spPr>
        <p:txBody>
          <a:bodyPr wrap="square" lIns="36000" tIns="18000" rIns="36000" bIns="18000" anchor="t">
            <a:spAutoFit/>
          </a:bodyPr>
          <a:lstStyle>
            <a:defPPr>
              <a:defRPr lang="es-MX"/>
            </a:defPPr>
            <a:lvl1pPr>
              <a:defRPr sz="800" b="0" i="1">
                <a:solidFill>
                  <a:srgbClr val="6B778C"/>
                </a:solidFill>
              </a:defRPr>
            </a:lvl1pPr>
          </a:lstStyle>
          <a:p>
            <a:r>
              <a:rPr lang="en-US"/>
              <a:t>scored at Analyzing by PM</a:t>
            </a:r>
          </a:p>
        </p:txBody>
      </p:sp>
      <p:sp>
        <p:nvSpPr>
          <p:cNvPr id="20" name="TextBox 29">
            <a:extLst>
              <a:ext uri="{FF2B5EF4-FFF2-40B4-BE49-F238E27FC236}">
                <a16:creationId xmlns:a16="http://schemas.microsoft.com/office/drawing/2014/main" id="{429DAF54-08A3-13A3-38A3-9CCCB1ECBE0B}"/>
              </a:ext>
            </a:extLst>
          </p:cNvPr>
          <p:cNvSpPr txBox="1"/>
          <p:nvPr/>
        </p:nvSpPr>
        <p:spPr>
          <a:xfrm>
            <a:off x="2792174" y="2667296"/>
            <a:ext cx="1996026" cy="960120"/>
          </a:xfrm>
          <a:prstGeom prst="rect">
            <a:avLst/>
          </a:prstGeom>
          <a:noFill/>
        </p:spPr>
        <p:txBody>
          <a:bodyPr wrap="square" lIns="36000" tIns="18000" rIns="36000" bIns="18000" anchor="t">
            <a:spAutoFit/>
          </a:bodyPr>
          <a:lstStyle/>
          <a:p>
            <a:pPr algn="l"/>
            <a:r>
              <a:rPr sz="800" b="0" i="0">
                <a:solidFill>
                  <a:srgbClr val="172B4D"/>
                </a:solidFill>
              </a:rPr>
              <a:t>User-perceived pain:
· Frustration level
· Workarounds needed
· Time-to-task
· Error frequency</a:t>
            </a:r>
          </a:p>
        </p:txBody>
      </p:sp>
      <p:sp>
        <p:nvSpPr>
          <p:cNvPr id="21" name="Rounded Rectangle 30">
            <a:extLst>
              <a:ext uri="{FF2B5EF4-FFF2-40B4-BE49-F238E27FC236}">
                <a16:creationId xmlns:a16="http://schemas.microsoft.com/office/drawing/2014/main" id="{8122F66C-FD73-8A1A-7706-6AF8599C8E23}"/>
              </a:ext>
            </a:extLst>
          </p:cNvPr>
          <p:cNvSpPr/>
          <p:nvPr/>
        </p:nvSpPr>
        <p:spPr>
          <a:xfrm>
            <a:off x="4992624" y="1598465"/>
            <a:ext cx="2221992" cy="1820382"/>
          </a:xfrm>
          <a:prstGeom prst="roundRect">
            <a:avLst>
              <a:gd name="adj" fmla="val 4000"/>
            </a:avLst>
          </a:prstGeom>
          <a:solidFill>
            <a:srgbClr val="FFFFFF"/>
          </a:solidFill>
          <a:ln w="31750">
            <a:solidFill>
              <a:srgbClr val="009F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31">
            <a:extLst>
              <a:ext uri="{FF2B5EF4-FFF2-40B4-BE49-F238E27FC236}">
                <a16:creationId xmlns:a16="http://schemas.microsoft.com/office/drawing/2014/main" id="{E69CB2CD-BBFC-1A0B-DA5B-633146C1F541}"/>
              </a:ext>
            </a:extLst>
          </p:cNvPr>
          <p:cNvSpPr/>
          <p:nvPr/>
        </p:nvSpPr>
        <p:spPr>
          <a:xfrm>
            <a:off x="4992624" y="1598464"/>
            <a:ext cx="2221992"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32">
            <a:extLst>
              <a:ext uri="{FF2B5EF4-FFF2-40B4-BE49-F238E27FC236}">
                <a16:creationId xmlns:a16="http://schemas.microsoft.com/office/drawing/2014/main" id="{FEAD56E1-E843-D426-ED15-14F27D114083}"/>
              </a:ext>
            </a:extLst>
          </p:cNvPr>
          <p:cNvSpPr txBox="1"/>
          <p:nvPr/>
        </p:nvSpPr>
        <p:spPr>
          <a:xfrm>
            <a:off x="4992624" y="1593891"/>
            <a:ext cx="2221992" cy="374906"/>
          </a:xfrm>
          <a:prstGeom prst="rect">
            <a:avLst/>
          </a:prstGeom>
          <a:noFill/>
        </p:spPr>
        <p:txBody>
          <a:bodyPr wrap="square" lIns="36000" tIns="18000" rIns="36000" bIns="18000" anchor="ctr">
            <a:spAutoFit/>
          </a:bodyPr>
          <a:lstStyle/>
          <a:p>
            <a:pPr algn="ctr"/>
            <a:r>
              <a:rPr sz="2200" b="1" i="0">
                <a:solidFill>
                  <a:srgbClr val="FFFFFF"/>
                </a:solidFill>
              </a:rPr>
              <a:t>Safety</a:t>
            </a:r>
            <a:r>
              <a:rPr lang="pt-BR" sz="2200" b="1" i="0">
                <a:solidFill>
                  <a:srgbClr val="FFFFFF"/>
                </a:solidFill>
              </a:rPr>
              <a:t>*</a:t>
            </a:r>
            <a:endParaRPr sz="2200" b="1" i="0">
              <a:solidFill>
                <a:srgbClr val="FFFFFF"/>
              </a:solidFill>
            </a:endParaRPr>
          </a:p>
        </p:txBody>
      </p:sp>
      <p:sp>
        <p:nvSpPr>
          <p:cNvPr id="24" name="TextBox 33">
            <a:extLst>
              <a:ext uri="{FF2B5EF4-FFF2-40B4-BE49-F238E27FC236}">
                <a16:creationId xmlns:a16="http://schemas.microsoft.com/office/drawing/2014/main" id="{25F931BD-DE2F-FDA7-C16D-F70DAD6BA612}"/>
              </a:ext>
            </a:extLst>
          </p:cNvPr>
          <p:cNvSpPr txBox="1"/>
          <p:nvPr/>
        </p:nvSpPr>
        <p:spPr>
          <a:xfrm>
            <a:off x="4992624" y="1964224"/>
            <a:ext cx="2221992"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25" name="TextBox 34">
            <a:extLst>
              <a:ext uri="{FF2B5EF4-FFF2-40B4-BE49-F238E27FC236}">
                <a16:creationId xmlns:a16="http://schemas.microsoft.com/office/drawing/2014/main" id="{DA863055-EB45-B701-EF41-1814B9653B59}"/>
              </a:ext>
            </a:extLst>
          </p:cNvPr>
          <p:cNvSpPr txBox="1"/>
          <p:nvPr/>
        </p:nvSpPr>
        <p:spPr>
          <a:xfrm>
            <a:off x="5105606" y="2210096"/>
            <a:ext cx="1996026" cy="190240"/>
          </a:xfrm>
          <a:prstGeom prst="rect">
            <a:avLst/>
          </a:prstGeom>
          <a:noFill/>
        </p:spPr>
        <p:txBody>
          <a:bodyPr wrap="square" lIns="36000" tIns="18000" rIns="36000" bIns="18000" anchor="t">
            <a:spAutoFit/>
          </a:bodyPr>
          <a:lstStyle/>
          <a:p>
            <a:pPr algn="l"/>
            <a:r>
              <a:rPr lang="es-MX" sz="1000" b="1" i="0">
                <a:solidFill>
                  <a:srgbClr val="009F5D"/>
                </a:solidFill>
              </a:rPr>
              <a:t>Utility-sector risk (1–5)</a:t>
            </a:r>
          </a:p>
        </p:txBody>
      </p:sp>
      <p:sp>
        <p:nvSpPr>
          <p:cNvPr id="26" name="TextBox 35">
            <a:extLst>
              <a:ext uri="{FF2B5EF4-FFF2-40B4-BE49-F238E27FC236}">
                <a16:creationId xmlns:a16="http://schemas.microsoft.com/office/drawing/2014/main" id="{300046EC-D501-32AF-3E57-3C5F90834AA3}"/>
              </a:ext>
            </a:extLst>
          </p:cNvPr>
          <p:cNvSpPr txBox="1"/>
          <p:nvPr/>
        </p:nvSpPr>
        <p:spPr>
          <a:xfrm>
            <a:off x="5105606" y="2392976"/>
            <a:ext cx="1996026" cy="159462"/>
          </a:xfrm>
          <a:prstGeom prst="rect">
            <a:avLst/>
          </a:prstGeom>
          <a:noFill/>
        </p:spPr>
        <p:txBody>
          <a:bodyPr wrap="square" lIns="36000" tIns="18000" rIns="36000" bIns="18000" anchor="t">
            <a:spAutoFit/>
          </a:bodyPr>
          <a:lstStyle/>
          <a:p>
            <a:pPr algn="l"/>
            <a:r>
              <a:rPr sz="800" b="0" i="1">
                <a:solidFill>
                  <a:srgbClr val="6B778C"/>
                </a:solidFill>
              </a:rPr>
              <a:t>scored at TRIAGE</a:t>
            </a:r>
            <a:r>
              <a:rPr lang="pt-BR" sz="800" b="0" i="1">
                <a:solidFill>
                  <a:srgbClr val="6B778C"/>
                </a:solidFill>
              </a:rPr>
              <a:t> </a:t>
            </a:r>
            <a:r>
              <a:rPr lang="pt-BR" sz="800" b="1" i="1" err="1">
                <a:solidFill>
                  <a:srgbClr val="6B778C"/>
                </a:solidFill>
              </a:rPr>
              <a:t>just</a:t>
            </a:r>
            <a:r>
              <a:rPr lang="pt-BR" sz="800" b="1" i="1">
                <a:solidFill>
                  <a:srgbClr val="6B778C"/>
                </a:solidFill>
              </a:rPr>
              <a:t> for ITBA</a:t>
            </a:r>
          </a:p>
        </p:txBody>
      </p:sp>
      <p:sp>
        <p:nvSpPr>
          <p:cNvPr id="27" name="TextBox 36">
            <a:extLst>
              <a:ext uri="{FF2B5EF4-FFF2-40B4-BE49-F238E27FC236}">
                <a16:creationId xmlns:a16="http://schemas.microsoft.com/office/drawing/2014/main" id="{279E1C57-12FD-43A6-0863-44C4D97C6014}"/>
              </a:ext>
            </a:extLst>
          </p:cNvPr>
          <p:cNvSpPr txBox="1"/>
          <p:nvPr/>
        </p:nvSpPr>
        <p:spPr>
          <a:xfrm>
            <a:off x="5105606" y="2667296"/>
            <a:ext cx="1996026" cy="960120"/>
          </a:xfrm>
          <a:prstGeom prst="rect">
            <a:avLst/>
          </a:prstGeom>
          <a:noFill/>
        </p:spPr>
        <p:txBody>
          <a:bodyPr wrap="square" lIns="36000" tIns="18000" rIns="36000" bIns="18000" anchor="t">
            <a:spAutoFit/>
          </a:bodyPr>
          <a:lstStyle/>
          <a:p>
            <a:pPr algn="l"/>
            <a:r>
              <a:rPr sz="800" b="0" i="0">
                <a:solidFill>
                  <a:srgbClr val="172B4D"/>
                </a:solidFill>
              </a:rPr>
              <a:t>Safety dimensions:
· Field crew exposure
· Public hazard
· Regulatory breach
· Cybersecurity</a:t>
            </a:r>
          </a:p>
        </p:txBody>
      </p:sp>
      <p:sp>
        <p:nvSpPr>
          <p:cNvPr id="28" name="Rounded Rectangle 37">
            <a:extLst>
              <a:ext uri="{FF2B5EF4-FFF2-40B4-BE49-F238E27FC236}">
                <a16:creationId xmlns:a16="http://schemas.microsoft.com/office/drawing/2014/main" id="{3667232E-E064-B16D-F86B-B2C465E59A67}"/>
              </a:ext>
            </a:extLst>
          </p:cNvPr>
          <p:cNvSpPr/>
          <p:nvPr/>
        </p:nvSpPr>
        <p:spPr>
          <a:xfrm>
            <a:off x="7306056" y="1598465"/>
            <a:ext cx="2221992" cy="1820382"/>
          </a:xfrm>
          <a:prstGeom prst="roundRect">
            <a:avLst>
              <a:gd name="adj" fmla="val 4000"/>
            </a:avLst>
          </a:prstGeom>
          <a:solidFill>
            <a:srgbClr val="FFFFFF"/>
          </a:solidFill>
          <a:ln w="317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38">
            <a:extLst>
              <a:ext uri="{FF2B5EF4-FFF2-40B4-BE49-F238E27FC236}">
                <a16:creationId xmlns:a16="http://schemas.microsoft.com/office/drawing/2014/main" id="{67C4CF7E-883E-FFFF-4A7C-FDBABDC08928}"/>
              </a:ext>
            </a:extLst>
          </p:cNvPr>
          <p:cNvSpPr/>
          <p:nvPr/>
        </p:nvSpPr>
        <p:spPr>
          <a:xfrm>
            <a:off x="7306056" y="1598464"/>
            <a:ext cx="2221992" cy="594360"/>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9">
            <a:extLst>
              <a:ext uri="{FF2B5EF4-FFF2-40B4-BE49-F238E27FC236}">
                <a16:creationId xmlns:a16="http://schemas.microsoft.com/office/drawing/2014/main" id="{AE19C0A7-4401-5009-E9C0-248C6A86D449}"/>
              </a:ext>
            </a:extLst>
          </p:cNvPr>
          <p:cNvSpPr txBox="1"/>
          <p:nvPr/>
        </p:nvSpPr>
        <p:spPr>
          <a:xfrm>
            <a:off x="7306056"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Effort</a:t>
            </a:r>
          </a:p>
        </p:txBody>
      </p:sp>
      <p:sp>
        <p:nvSpPr>
          <p:cNvPr id="31" name="TextBox 40">
            <a:extLst>
              <a:ext uri="{FF2B5EF4-FFF2-40B4-BE49-F238E27FC236}">
                <a16:creationId xmlns:a16="http://schemas.microsoft.com/office/drawing/2014/main" id="{5A8C9ED1-3D11-048A-9745-D3CFF891E0A9}"/>
              </a:ext>
            </a:extLst>
          </p:cNvPr>
          <p:cNvSpPr txBox="1"/>
          <p:nvPr/>
        </p:nvSpPr>
        <p:spPr>
          <a:xfrm>
            <a:off x="7306056" y="1964224"/>
            <a:ext cx="2221992" cy="174851"/>
          </a:xfrm>
          <a:prstGeom prst="rect">
            <a:avLst/>
          </a:prstGeom>
          <a:noFill/>
        </p:spPr>
        <p:txBody>
          <a:bodyPr wrap="square" lIns="36000" tIns="18000" rIns="36000" bIns="18000" anchor="t">
            <a:spAutoFit/>
          </a:bodyPr>
          <a:lstStyle/>
          <a:p>
            <a:pPr algn="ctr"/>
            <a:endParaRPr sz="900" b="1" i="0">
              <a:solidFill>
                <a:srgbClr val="FFFFFF"/>
              </a:solidFill>
            </a:endParaRPr>
          </a:p>
        </p:txBody>
      </p:sp>
      <p:sp>
        <p:nvSpPr>
          <p:cNvPr id="32" name="TextBox 41">
            <a:extLst>
              <a:ext uri="{FF2B5EF4-FFF2-40B4-BE49-F238E27FC236}">
                <a16:creationId xmlns:a16="http://schemas.microsoft.com/office/drawing/2014/main" id="{8749FF40-D322-7204-AE4F-494AF0505646}"/>
              </a:ext>
            </a:extLst>
          </p:cNvPr>
          <p:cNvSpPr txBox="1"/>
          <p:nvPr/>
        </p:nvSpPr>
        <p:spPr>
          <a:xfrm>
            <a:off x="7419038" y="2210096"/>
            <a:ext cx="1996026" cy="190240"/>
          </a:xfrm>
          <a:prstGeom prst="rect">
            <a:avLst/>
          </a:prstGeom>
          <a:noFill/>
        </p:spPr>
        <p:txBody>
          <a:bodyPr wrap="square" lIns="36000" tIns="18000" rIns="36000" bIns="18000" anchor="t">
            <a:spAutoFit/>
          </a:bodyPr>
          <a:lstStyle/>
          <a:p>
            <a:pPr algn="l"/>
            <a:r>
              <a:rPr lang="es-MX" sz="1000" b="1" i="0" err="1">
                <a:solidFill>
                  <a:srgbClr val="00B46E"/>
                </a:solidFill>
              </a:rPr>
              <a:t>Complexity</a:t>
            </a:r>
            <a:r>
              <a:rPr lang="es-MX" sz="1000" b="1" i="0">
                <a:solidFill>
                  <a:srgbClr val="00B46E"/>
                </a:solidFill>
              </a:rPr>
              <a:t> (1–5)</a:t>
            </a:r>
          </a:p>
        </p:txBody>
      </p:sp>
      <p:sp>
        <p:nvSpPr>
          <p:cNvPr id="33" name="TextBox 42">
            <a:extLst>
              <a:ext uri="{FF2B5EF4-FFF2-40B4-BE49-F238E27FC236}">
                <a16:creationId xmlns:a16="http://schemas.microsoft.com/office/drawing/2014/main" id="{DEF9E912-AF37-AE20-C411-69FA46FC5A3C}"/>
              </a:ext>
            </a:extLst>
          </p:cNvPr>
          <p:cNvSpPr txBox="1"/>
          <p:nvPr/>
        </p:nvSpPr>
        <p:spPr>
          <a:xfrm>
            <a:off x="7420079" y="2392976"/>
            <a:ext cx="2077072" cy="282573"/>
          </a:xfrm>
          <a:prstGeom prst="rect">
            <a:avLst/>
          </a:prstGeom>
          <a:noFill/>
        </p:spPr>
        <p:txBody>
          <a:bodyPr wrap="square" lIns="36000" tIns="18000" rIns="36000" bIns="18000" anchor="t">
            <a:spAutoFit/>
          </a:bodyPr>
          <a:lstStyle/>
          <a:p>
            <a:pPr algn="l"/>
            <a:r>
              <a:rPr sz="800" b="0" i="1">
                <a:solidFill>
                  <a:srgbClr val="6B778C"/>
                </a:solidFill>
              </a:rPr>
              <a:t>sized by </a:t>
            </a:r>
            <a:r>
              <a:rPr lang="es-MX" sz="800" b="0" i="1" err="1">
                <a:solidFill>
                  <a:srgbClr val="6B778C"/>
                </a:solidFill>
              </a:rPr>
              <a:t>Architec</a:t>
            </a:r>
            <a:r>
              <a:rPr lang="es-MX" sz="800" b="0" i="1">
                <a:solidFill>
                  <a:srgbClr val="6B778C"/>
                </a:solidFill>
              </a:rPr>
              <a:t> &amp; Customer </a:t>
            </a:r>
            <a:r>
              <a:rPr lang="es-MX" sz="800" b="0" i="1" err="1">
                <a:solidFill>
                  <a:srgbClr val="6B778C"/>
                </a:solidFill>
              </a:rPr>
              <a:t>Services</a:t>
            </a:r>
            <a:r>
              <a:rPr lang="es-MX" sz="800" b="0" i="1">
                <a:solidFill>
                  <a:srgbClr val="6B778C"/>
                </a:solidFill>
              </a:rPr>
              <a:t> </a:t>
            </a:r>
            <a:r>
              <a:rPr lang="es-MX" sz="800" b="0" i="1" err="1">
                <a:solidFill>
                  <a:srgbClr val="6B778C"/>
                </a:solidFill>
              </a:rPr>
              <a:t>Applications</a:t>
            </a:r>
            <a:r>
              <a:rPr lang="es-MX" sz="800" b="0" i="1">
                <a:solidFill>
                  <a:srgbClr val="6B778C"/>
                </a:solidFill>
              </a:rPr>
              <a:t> Managers </a:t>
            </a:r>
            <a:r>
              <a:rPr sz="800" b="0" i="1">
                <a:solidFill>
                  <a:srgbClr val="6B778C"/>
                </a:solidFill>
              </a:rPr>
              <a:t>at TRIAGE</a:t>
            </a:r>
            <a:endParaRPr lang="en-US" sz="800" b="0" i="1">
              <a:solidFill>
                <a:srgbClr val="6B778C"/>
              </a:solidFill>
              <a:highlight>
                <a:srgbClr val="FFFF00"/>
              </a:highlight>
            </a:endParaRPr>
          </a:p>
        </p:txBody>
      </p:sp>
      <p:sp>
        <p:nvSpPr>
          <p:cNvPr id="34" name="TextBox 43">
            <a:extLst>
              <a:ext uri="{FF2B5EF4-FFF2-40B4-BE49-F238E27FC236}">
                <a16:creationId xmlns:a16="http://schemas.microsoft.com/office/drawing/2014/main" id="{EF1DC4A5-9511-901C-3E8C-1924C1DAE74A}"/>
              </a:ext>
            </a:extLst>
          </p:cNvPr>
          <p:cNvSpPr txBox="1"/>
          <p:nvPr/>
        </p:nvSpPr>
        <p:spPr>
          <a:xfrm>
            <a:off x="7419038" y="2667296"/>
            <a:ext cx="1996026" cy="960120"/>
          </a:xfrm>
          <a:prstGeom prst="rect">
            <a:avLst/>
          </a:prstGeom>
          <a:noFill/>
        </p:spPr>
        <p:txBody>
          <a:bodyPr wrap="square" lIns="36000" tIns="18000" rIns="36000" bIns="18000" anchor="t">
            <a:spAutoFit/>
          </a:bodyPr>
          <a:lstStyle/>
          <a:p>
            <a:pPr algn="l"/>
            <a:r>
              <a:rPr sz="800" b="0" i="0">
                <a:solidFill>
                  <a:srgbClr val="172B4D"/>
                </a:solidFill>
              </a:rPr>
              <a:t>Sizing dimensions:
· Effort hours
· Apps touched
· Vendor dependency
· Risk of changes</a:t>
            </a:r>
          </a:p>
        </p:txBody>
      </p:sp>
      <p:sp>
        <p:nvSpPr>
          <p:cNvPr id="50" name="Rounded Rectangle 12">
            <a:extLst>
              <a:ext uri="{FF2B5EF4-FFF2-40B4-BE49-F238E27FC236}">
                <a16:creationId xmlns:a16="http://schemas.microsoft.com/office/drawing/2014/main" id="{7E76FFB5-D5E9-35CE-F937-8E00651BC4F4}"/>
              </a:ext>
            </a:extLst>
          </p:cNvPr>
          <p:cNvSpPr/>
          <p:nvPr/>
        </p:nvSpPr>
        <p:spPr>
          <a:xfrm>
            <a:off x="10424160" y="1188720"/>
            <a:ext cx="1280160" cy="237744"/>
          </a:xfrm>
          <a:prstGeom prst="roundRect">
            <a:avLst>
              <a:gd name="adj" fmla="val 40000"/>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13">
            <a:extLst>
              <a:ext uri="{FF2B5EF4-FFF2-40B4-BE49-F238E27FC236}">
                <a16:creationId xmlns:a16="http://schemas.microsoft.com/office/drawing/2014/main" id="{A1D6C216-16D0-454F-3CE3-118D5504595C}"/>
              </a:ext>
            </a:extLst>
          </p:cNvPr>
          <p:cNvSpPr txBox="1"/>
          <p:nvPr/>
        </p:nvSpPr>
        <p:spPr>
          <a:xfrm>
            <a:off x="10401300" y="1229310"/>
            <a:ext cx="1280160" cy="174851"/>
          </a:xfrm>
          <a:prstGeom prst="rect">
            <a:avLst/>
          </a:prstGeom>
          <a:noFill/>
        </p:spPr>
        <p:txBody>
          <a:bodyPr wrap="square" lIns="36000" tIns="18000" rIns="36000" bIns="18000" anchor="ctr">
            <a:spAutoFit/>
          </a:bodyPr>
          <a:lstStyle/>
          <a:p>
            <a:pPr algn="ctr"/>
            <a:r>
              <a:rPr sz="900" b="1" i="0"/>
              <a:t>○ READ-ONLY</a:t>
            </a:r>
          </a:p>
        </p:txBody>
      </p:sp>
      <p:sp>
        <p:nvSpPr>
          <p:cNvPr id="53" name="Rounded Rectangle 120">
            <a:extLst>
              <a:ext uri="{FF2B5EF4-FFF2-40B4-BE49-F238E27FC236}">
                <a16:creationId xmlns:a16="http://schemas.microsoft.com/office/drawing/2014/main" id="{A4356288-05C7-23A1-245C-5A6E66BCAE81}"/>
              </a:ext>
            </a:extLst>
          </p:cNvPr>
          <p:cNvSpPr/>
          <p:nvPr/>
        </p:nvSpPr>
        <p:spPr>
          <a:xfrm>
            <a:off x="9609993" y="1598464"/>
            <a:ext cx="2259622" cy="594360"/>
          </a:xfrm>
          <a:prstGeom prst="roundRect">
            <a:avLst>
              <a:gd name="adj" fmla="val 4000"/>
            </a:avLst>
          </a:prstGeom>
          <a:solidFill>
            <a:srgbClr val="00B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121">
            <a:extLst>
              <a:ext uri="{FF2B5EF4-FFF2-40B4-BE49-F238E27FC236}">
                <a16:creationId xmlns:a16="http://schemas.microsoft.com/office/drawing/2014/main" id="{164A1692-1FFA-BD4D-8752-9179982B3680}"/>
              </a:ext>
            </a:extLst>
          </p:cNvPr>
          <p:cNvSpPr txBox="1"/>
          <p:nvPr/>
        </p:nvSpPr>
        <p:spPr>
          <a:xfrm>
            <a:off x="9619488" y="1624669"/>
            <a:ext cx="2221992" cy="313350"/>
          </a:xfrm>
          <a:prstGeom prst="rect">
            <a:avLst/>
          </a:prstGeom>
          <a:noFill/>
        </p:spPr>
        <p:txBody>
          <a:bodyPr wrap="square" lIns="36000" tIns="18000" rIns="36000" bIns="18000" anchor="ctr">
            <a:spAutoFit/>
          </a:bodyPr>
          <a:lstStyle/>
          <a:p>
            <a:pPr algn="ctr"/>
            <a:r>
              <a:rPr lang="es-MX" sz="1800" b="1" i="0" err="1">
                <a:solidFill>
                  <a:srgbClr val="FFFFFF"/>
                </a:solidFill>
                <a:latin typeface="Arial"/>
              </a:rPr>
              <a:t>OPCOmult</a:t>
            </a:r>
            <a:endParaRPr sz="1800" b="1" i="0">
              <a:solidFill>
                <a:srgbClr val="FFFFFF"/>
              </a:solidFill>
              <a:latin typeface="Arial"/>
            </a:endParaRPr>
          </a:p>
        </p:txBody>
      </p:sp>
      <p:sp>
        <p:nvSpPr>
          <p:cNvPr id="55" name="TextBox 122">
            <a:extLst>
              <a:ext uri="{FF2B5EF4-FFF2-40B4-BE49-F238E27FC236}">
                <a16:creationId xmlns:a16="http://schemas.microsoft.com/office/drawing/2014/main" id="{BEB39464-6834-B4B3-B02F-790B25B7016E}"/>
              </a:ext>
            </a:extLst>
          </p:cNvPr>
          <p:cNvSpPr txBox="1"/>
          <p:nvPr/>
        </p:nvSpPr>
        <p:spPr>
          <a:xfrm>
            <a:off x="9619488" y="1964224"/>
            <a:ext cx="2221992" cy="174851"/>
          </a:xfrm>
          <a:prstGeom prst="rect">
            <a:avLst/>
          </a:prstGeom>
          <a:noFill/>
        </p:spPr>
        <p:txBody>
          <a:bodyPr wrap="square" lIns="36000" tIns="18000" rIns="36000" bIns="18000" anchor="t">
            <a:spAutoFit/>
          </a:bodyPr>
          <a:lstStyle/>
          <a:p>
            <a:pPr algn="ctr"/>
            <a:r>
              <a:rPr sz="900" b="1">
                <a:solidFill>
                  <a:srgbClr val="FFFFFF"/>
                </a:solidFill>
              </a:rPr>
              <a:t>multiplier</a:t>
            </a:r>
          </a:p>
        </p:txBody>
      </p:sp>
      <p:sp>
        <p:nvSpPr>
          <p:cNvPr id="56" name="TextBox 123">
            <a:extLst>
              <a:ext uri="{FF2B5EF4-FFF2-40B4-BE49-F238E27FC236}">
                <a16:creationId xmlns:a16="http://schemas.microsoft.com/office/drawing/2014/main" id="{2C985936-B8C7-DCAB-65F3-3B932D8D7338}"/>
              </a:ext>
            </a:extLst>
          </p:cNvPr>
          <p:cNvSpPr txBox="1"/>
          <p:nvPr/>
        </p:nvSpPr>
        <p:spPr>
          <a:xfrm>
            <a:off x="9729216" y="2210095"/>
            <a:ext cx="2002536" cy="190240"/>
          </a:xfrm>
          <a:prstGeom prst="rect">
            <a:avLst/>
          </a:prstGeom>
          <a:noFill/>
        </p:spPr>
        <p:txBody>
          <a:bodyPr wrap="square" lIns="36000" tIns="18000" rIns="36000" bIns="18000" anchor="t">
            <a:spAutoFit/>
          </a:bodyPr>
          <a:lstStyle/>
          <a:p>
            <a:pPr algn="l"/>
            <a:r>
              <a:rPr lang="en-US" sz="1000" b="1">
                <a:solidFill>
                  <a:srgbClr val="00B46E"/>
                </a:solidFill>
              </a:rPr>
              <a:t>OPCO scope multiplier</a:t>
            </a:r>
          </a:p>
        </p:txBody>
      </p:sp>
      <p:sp>
        <p:nvSpPr>
          <p:cNvPr id="57" name="TextBox 124">
            <a:extLst>
              <a:ext uri="{FF2B5EF4-FFF2-40B4-BE49-F238E27FC236}">
                <a16:creationId xmlns:a16="http://schemas.microsoft.com/office/drawing/2014/main" id="{9187C788-0E17-C98F-DE6B-F8EADA98242A}"/>
              </a:ext>
            </a:extLst>
          </p:cNvPr>
          <p:cNvSpPr txBox="1"/>
          <p:nvPr/>
        </p:nvSpPr>
        <p:spPr>
          <a:xfrm>
            <a:off x="9729216" y="2392976"/>
            <a:ext cx="2002536" cy="159462"/>
          </a:xfrm>
          <a:prstGeom prst="rect">
            <a:avLst/>
          </a:prstGeom>
          <a:noFill/>
        </p:spPr>
        <p:txBody>
          <a:bodyPr wrap="square" lIns="36000" tIns="18000" rIns="36000" bIns="18000" anchor="t">
            <a:spAutoFit/>
          </a:bodyPr>
          <a:lstStyle/>
          <a:p>
            <a:pPr algn="l"/>
            <a:r>
              <a:rPr lang="en-US" sz="800" i="1">
                <a:solidFill>
                  <a:srgbClr val="6B778C"/>
                </a:solidFill>
              </a:rPr>
              <a:t>applied to BV at Analyzing</a:t>
            </a:r>
          </a:p>
        </p:txBody>
      </p:sp>
      <p:sp>
        <p:nvSpPr>
          <p:cNvPr id="58" name="TextBox 125">
            <a:extLst>
              <a:ext uri="{FF2B5EF4-FFF2-40B4-BE49-F238E27FC236}">
                <a16:creationId xmlns:a16="http://schemas.microsoft.com/office/drawing/2014/main" id="{253C5340-7E09-B7B9-3E54-C8AE33D3142A}"/>
              </a:ext>
            </a:extLst>
          </p:cNvPr>
          <p:cNvSpPr txBox="1"/>
          <p:nvPr/>
        </p:nvSpPr>
        <p:spPr>
          <a:xfrm>
            <a:off x="9729216" y="2667295"/>
            <a:ext cx="2002536" cy="728849"/>
          </a:xfrm>
          <a:prstGeom prst="rect">
            <a:avLst/>
          </a:prstGeom>
          <a:noFill/>
        </p:spPr>
        <p:txBody>
          <a:bodyPr wrap="square" lIns="36000" tIns="18000" rIns="36000" bIns="18000" anchor="t">
            <a:spAutoFit/>
          </a:bodyPr>
          <a:lstStyle>
            <a:defPPr>
              <a:defRPr lang="es-MX"/>
            </a:defPPr>
            <a:lvl1pPr>
              <a:defRPr sz="800" b="0" i="0">
                <a:solidFill>
                  <a:srgbClr val="172B4D"/>
                </a:solidFill>
              </a:defRPr>
            </a:lvl1pPr>
          </a:lstStyle>
          <a:p>
            <a:r>
              <a:t>Values:
· </a:t>
            </a:r>
            <a:r>
              <a:rPr lang="es-MX"/>
              <a:t>S</a:t>
            </a:r>
            <a:r>
              <a:t>ingle OPCO
· </a:t>
            </a:r>
            <a:r>
              <a:rPr lang="es-MX"/>
              <a:t>R</a:t>
            </a:r>
            <a:r>
              <a:rPr err="1"/>
              <a:t>egional</a:t>
            </a:r>
            <a:r>
              <a:t> (2–4)
· </a:t>
            </a:r>
            <a:r>
              <a:rPr lang="es-MX"/>
              <a:t>A</a:t>
            </a:r>
            <a:r>
              <a:rPr err="1"/>
              <a:t>ll</a:t>
            </a:r>
            <a:r>
              <a:t> </a:t>
            </a:r>
            <a:r>
              <a:rPr lang="es-MX"/>
              <a:t>/ </a:t>
            </a:r>
            <a:r>
              <a:t>5+ OPCOs
</a:t>
            </a:r>
          </a:p>
        </p:txBody>
      </p:sp>
      <p:sp>
        <p:nvSpPr>
          <p:cNvPr id="61" name="Text Placeholder 19">
            <a:extLst>
              <a:ext uri="{FF2B5EF4-FFF2-40B4-BE49-F238E27FC236}">
                <a16:creationId xmlns:a16="http://schemas.microsoft.com/office/drawing/2014/main" id="{8ACE736D-8D90-4E3E-916C-A4A33660F938}"/>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Pain score Model</a:t>
            </a:r>
          </a:p>
        </p:txBody>
      </p:sp>
      <p:sp>
        <p:nvSpPr>
          <p:cNvPr id="63" name="Rounded Rectangle 16">
            <a:extLst>
              <a:ext uri="{FF2B5EF4-FFF2-40B4-BE49-F238E27FC236}">
                <a16:creationId xmlns:a16="http://schemas.microsoft.com/office/drawing/2014/main" id="{06A4DD94-186F-4F5E-450C-88C8DAB2DADE}"/>
              </a:ext>
            </a:extLst>
          </p:cNvPr>
          <p:cNvSpPr/>
          <p:nvPr/>
        </p:nvSpPr>
        <p:spPr>
          <a:xfrm>
            <a:off x="3657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ángulo 63">
            <a:extLst>
              <a:ext uri="{FF2B5EF4-FFF2-40B4-BE49-F238E27FC236}">
                <a16:creationId xmlns:a16="http://schemas.microsoft.com/office/drawing/2014/main" id="{2CE055B5-1803-AA33-8132-97889BC2B294}"/>
              </a:ext>
            </a:extLst>
          </p:cNvPr>
          <p:cNvSpPr/>
          <p:nvPr/>
        </p:nvSpPr>
        <p:spPr>
          <a:xfrm>
            <a:off x="6096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65" name="Rectángulo 64">
            <a:extLst>
              <a:ext uri="{FF2B5EF4-FFF2-40B4-BE49-F238E27FC236}">
                <a16:creationId xmlns:a16="http://schemas.microsoft.com/office/drawing/2014/main" id="{BCCE8337-B3D4-8A35-357D-7FC6907AD69F}"/>
              </a:ext>
            </a:extLst>
          </p:cNvPr>
          <p:cNvSpPr/>
          <p:nvPr/>
        </p:nvSpPr>
        <p:spPr>
          <a:xfrm>
            <a:off x="6096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66" name="Rectángulo 65">
            <a:extLst>
              <a:ext uri="{FF2B5EF4-FFF2-40B4-BE49-F238E27FC236}">
                <a16:creationId xmlns:a16="http://schemas.microsoft.com/office/drawing/2014/main" id="{2EFFE293-3C1E-2F1A-5148-D51EAD03250C}"/>
              </a:ext>
            </a:extLst>
          </p:cNvPr>
          <p:cNvSpPr/>
          <p:nvPr/>
        </p:nvSpPr>
        <p:spPr>
          <a:xfrm>
            <a:off x="6096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67" name="Rectángulo 66">
            <a:extLst>
              <a:ext uri="{FF2B5EF4-FFF2-40B4-BE49-F238E27FC236}">
                <a16:creationId xmlns:a16="http://schemas.microsoft.com/office/drawing/2014/main" id="{46138E6E-56B2-01AA-8EE8-740C8E2C70A0}"/>
              </a:ext>
            </a:extLst>
          </p:cNvPr>
          <p:cNvSpPr/>
          <p:nvPr/>
        </p:nvSpPr>
        <p:spPr>
          <a:xfrm>
            <a:off x="6096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68" name="Rectángulo 67">
            <a:extLst>
              <a:ext uri="{FF2B5EF4-FFF2-40B4-BE49-F238E27FC236}">
                <a16:creationId xmlns:a16="http://schemas.microsoft.com/office/drawing/2014/main" id="{5FBE2CA4-C25F-25A0-1A9A-5FE902DA3A40}"/>
              </a:ext>
            </a:extLst>
          </p:cNvPr>
          <p:cNvSpPr/>
          <p:nvPr/>
        </p:nvSpPr>
        <p:spPr>
          <a:xfrm>
            <a:off x="6096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73" name="Rectángulo 72">
            <a:extLst>
              <a:ext uri="{FF2B5EF4-FFF2-40B4-BE49-F238E27FC236}">
                <a16:creationId xmlns:a16="http://schemas.microsoft.com/office/drawing/2014/main" id="{9E35E3D4-A933-2FD6-5E68-C1E3D2BC7551}"/>
              </a:ext>
            </a:extLst>
          </p:cNvPr>
          <p:cNvSpPr/>
          <p:nvPr/>
        </p:nvSpPr>
        <p:spPr>
          <a:xfrm>
            <a:off x="8397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Clear business benefit · efficiency or cost reduction </a:t>
            </a:r>
          </a:p>
        </p:txBody>
      </p:sp>
      <p:sp>
        <p:nvSpPr>
          <p:cNvPr id="80" name="Rectángulo 79">
            <a:extLst>
              <a:ext uri="{FF2B5EF4-FFF2-40B4-BE49-F238E27FC236}">
                <a16:creationId xmlns:a16="http://schemas.microsoft.com/office/drawing/2014/main" id="{741A8CE0-16CC-A0A6-178A-76087E82DF3D}"/>
              </a:ext>
            </a:extLst>
          </p:cNvPr>
          <p:cNvSpPr/>
          <p:nvPr/>
        </p:nvSpPr>
        <p:spPr>
          <a:xfrm>
            <a:off x="2615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81" name="Rectángulo 80">
            <a:extLst>
              <a:ext uri="{FF2B5EF4-FFF2-40B4-BE49-F238E27FC236}">
                <a16:creationId xmlns:a16="http://schemas.microsoft.com/office/drawing/2014/main" id="{0DD46978-A48E-23F4-86EB-61CBADF792B5}"/>
              </a:ext>
            </a:extLst>
          </p:cNvPr>
          <p:cNvSpPr/>
          <p:nvPr/>
        </p:nvSpPr>
        <p:spPr>
          <a:xfrm>
            <a:off x="2615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82" name="Rectángulo 81">
            <a:extLst>
              <a:ext uri="{FF2B5EF4-FFF2-40B4-BE49-F238E27FC236}">
                <a16:creationId xmlns:a16="http://schemas.microsoft.com/office/drawing/2014/main" id="{052592A0-ECD0-820C-6B7C-4B3D271052E3}"/>
              </a:ext>
            </a:extLst>
          </p:cNvPr>
          <p:cNvSpPr/>
          <p:nvPr/>
        </p:nvSpPr>
        <p:spPr>
          <a:xfrm>
            <a:off x="3532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87" name="Rectángulo 86">
            <a:extLst>
              <a:ext uri="{FF2B5EF4-FFF2-40B4-BE49-F238E27FC236}">
                <a16:creationId xmlns:a16="http://schemas.microsoft.com/office/drawing/2014/main" id="{567C0D35-D333-94B1-0E75-51BF1863034F}"/>
              </a:ext>
            </a:extLst>
          </p:cNvPr>
          <p:cNvSpPr/>
          <p:nvPr/>
        </p:nvSpPr>
        <p:spPr>
          <a:xfrm>
            <a:off x="8397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Enterprise / </a:t>
            </a:r>
            <a:r>
              <a:rPr lang="es-MX" altLang="es-MX" sz="800" err="1">
                <a:solidFill>
                  <a:schemeClr val="tx1"/>
                </a:solidFill>
                <a:latin typeface="+mj-lt"/>
              </a:rPr>
              <a:t>regulatory</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a:t>
            </a:r>
            <a:r>
              <a:rPr lang="es-MX" altLang="es-MX" sz="800" err="1">
                <a:solidFill>
                  <a:schemeClr val="tx1"/>
                </a:solidFill>
                <a:latin typeface="+mj-lt"/>
              </a:rPr>
              <a:t>major</a:t>
            </a:r>
            <a:r>
              <a:rPr lang="es-MX" altLang="es-MX" sz="800">
                <a:solidFill>
                  <a:schemeClr val="tx1"/>
                </a:solidFill>
                <a:latin typeface="+mj-lt"/>
              </a:rPr>
              <a:t> </a:t>
            </a:r>
            <a:r>
              <a:rPr lang="es-MX" altLang="es-MX" sz="800" err="1">
                <a:solidFill>
                  <a:schemeClr val="tx1"/>
                </a:solidFill>
                <a:latin typeface="+mj-lt"/>
              </a:rPr>
              <a:t>revenue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a:t>
            </a:r>
            <a:r>
              <a:rPr lang="es-MX" altLang="es-MX" sz="800" err="1">
                <a:solidFill>
                  <a:schemeClr val="tx1"/>
                </a:solidFill>
                <a:latin typeface="+mj-lt"/>
              </a:rPr>
              <a:t>cost</a:t>
            </a:r>
            <a:r>
              <a:rPr lang="es-MX" altLang="es-MX" sz="800">
                <a:solidFill>
                  <a:schemeClr val="tx1"/>
                </a:solidFill>
                <a:latin typeface="+mj-lt"/>
              </a:rPr>
              <a:t> driver </a:t>
            </a:r>
          </a:p>
        </p:txBody>
      </p:sp>
      <p:sp>
        <p:nvSpPr>
          <p:cNvPr id="88" name="Rectángulo 87">
            <a:extLst>
              <a:ext uri="{FF2B5EF4-FFF2-40B4-BE49-F238E27FC236}">
                <a16:creationId xmlns:a16="http://schemas.microsoft.com/office/drawing/2014/main" id="{59030C99-A92B-8016-E608-F7CA97B14CB8}"/>
              </a:ext>
            </a:extLst>
          </p:cNvPr>
          <p:cNvSpPr/>
          <p:nvPr/>
        </p:nvSpPr>
        <p:spPr>
          <a:xfrm>
            <a:off x="8397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High </a:t>
            </a:r>
            <a:r>
              <a:rPr lang="es-MX" altLang="es-MX" sz="800" err="1">
                <a:solidFill>
                  <a:schemeClr val="tx1"/>
                </a:solidFill>
                <a:latin typeface="+mj-lt"/>
              </a:rPr>
              <a:t>functional</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a:t>
            </a:r>
            <a:r>
              <a:rPr lang="es-MX" altLang="es-MX" sz="800" err="1">
                <a:solidFill>
                  <a:schemeClr val="tx1"/>
                </a:solidFill>
                <a:latin typeface="+mj-lt"/>
              </a:rPr>
              <a:t>significant</a:t>
            </a:r>
            <a:r>
              <a:rPr lang="es-MX" altLang="es-MX" sz="800">
                <a:solidFill>
                  <a:schemeClr val="tx1"/>
                </a:solidFill>
                <a:latin typeface="+mj-lt"/>
              </a:rPr>
              <a:t> </a:t>
            </a:r>
            <a:r>
              <a:rPr lang="es-MX" altLang="es-MX" sz="800" err="1">
                <a:solidFill>
                  <a:schemeClr val="tx1"/>
                </a:solidFill>
                <a:latin typeface="+mj-lt"/>
              </a:rPr>
              <a:t>cost</a:t>
            </a:r>
            <a:r>
              <a:rPr lang="es-MX" altLang="es-MX" sz="800">
                <a:solidFill>
                  <a:schemeClr val="tx1"/>
                </a:solidFill>
                <a:latin typeface="+mj-lt"/>
              </a:rPr>
              <a:t>, </a:t>
            </a:r>
            <a:r>
              <a:rPr lang="es-MX" altLang="es-MX" sz="800" err="1">
                <a:solidFill>
                  <a:schemeClr val="tx1"/>
                </a:solidFill>
                <a:latin typeface="+mj-lt"/>
              </a:rPr>
              <a:t>revenue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CX </a:t>
            </a:r>
            <a:r>
              <a:rPr lang="es-MX" altLang="es-MX" sz="800" err="1">
                <a:solidFill>
                  <a:schemeClr val="tx1"/>
                </a:solidFill>
                <a:latin typeface="+mj-lt"/>
              </a:rPr>
              <a:t>improvement</a:t>
            </a:r>
            <a:r>
              <a:rPr lang="es-MX" altLang="es-MX" sz="800">
                <a:solidFill>
                  <a:schemeClr val="tx1"/>
                </a:solidFill>
                <a:latin typeface="+mj-lt"/>
              </a:rPr>
              <a:t> </a:t>
            </a:r>
          </a:p>
        </p:txBody>
      </p:sp>
      <p:sp>
        <p:nvSpPr>
          <p:cNvPr id="89" name="Rectángulo 88">
            <a:extLst>
              <a:ext uri="{FF2B5EF4-FFF2-40B4-BE49-F238E27FC236}">
                <a16:creationId xmlns:a16="http://schemas.microsoft.com/office/drawing/2014/main" id="{06D1DC04-E197-E43E-66C0-99B232CBCC69}"/>
              </a:ext>
            </a:extLst>
          </p:cNvPr>
          <p:cNvSpPr/>
          <p:nvPr/>
        </p:nvSpPr>
        <p:spPr>
          <a:xfrm>
            <a:off x="8397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Local </a:t>
            </a:r>
            <a:r>
              <a:rPr lang="es-MX" altLang="es-MX" sz="800" err="1">
                <a:solidFill>
                  <a:schemeClr val="tx1"/>
                </a:solidFill>
                <a:latin typeface="+mj-lt"/>
              </a:rPr>
              <a:t>improvement</a:t>
            </a:r>
            <a:r>
              <a:rPr lang="es-MX" altLang="es-MX" sz="800">
                <a:solidFill>
                  <a:schemeClr val="tx1"/>
                </a:solidFill>
                <a:latin typeface="+mj-lt"/>
              </a:rPr>
              <a:t> · </a:t>
            </a:r>
            <a:r>
              <a:rPr lang="es-MX" altLang="es-MX" sz="800" err="1">
                <a:solidFill>
                  <a:schemeClr val="tx1"/>
                </a:solidFill>
                <a:latin typeface="+mj-lt"/>
              </a:rPr>
              <a:t>limited</a:t>
            </a:r>
            <a:r>
              <a:rPr lang="es-MX" altLang="es-MX" sz="800">
                <a:solidFill>
                  <a:schemeClr val="tx1"/>
                </a:solidFill>
                <a:latin typeface="+mj-lt"/>
              </a:rPr>
              <a:t> </a:t>
            </a:r>
            <a:r>
              <a:rPr lang="es-MX" altLang="es-MX" sz="800" err="1">
                <a:solidFill>
                  <a:schemeClr val="tx1"/>
                </a:solidFill>
                <a:latin typeface="+mj-lt"/>
              </a:rPr>
              <a:t>scope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a:t>
            </a:r>
          </a:p>
        </p:txBody>
      </p:sp>
      <p:sp>
        <p:nvSpPr>
          <p:cNvPr id="90" name="Rectángulo 89">
            <a:extLst>
              <a:ext uri="{FF2B5EF4-FFF2-40B4-BE49-F238E27FC236}">
                <a16:creationId xmlns:a16="http://schemas.microsoft.com/office/drawing/2014/main" id="{05CD0AFB-E5FE-33C4-7A7B-FED388345BD6}"/>
              </a:ext>
            </a:extLst>
          </p:cNvPr>
          <p:cNvSpPr/>
          <p:nvPr/>
        </p:nvSpPr>
        <p:spPr>
          <a:xfrm>
            <a:off x="8397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err="1">
                <a:solidFill>
                  <a:schemeClr val="tx1"/>
                </a:solidFill>
                <a:latin typeface="+mj-lt"/>
              </a:rPr>
              <a:t>Minimal</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no </a:t>
            </a:r>
            <a:r>
              <a:rPr lang="es-MX" altLang="es-MX" sz="800" err="1">
                <a:solidFill>
                  <a:schemeClr val="tx1"/>
                </a:solidFill>
                <a:latin typeface="+mj-lt"/>
              </a:rPr>
              <a:t>measurable</a:t>
            </a:r>
            <a:r>
              <a:rPr lang="es-MX" altLang="es-MX" sz="800">
                <a:solidFill>
                  <a:schemeClr val="tx1"/>
                </a:solidFill>
                <a:latin typeface="+mj-lt"/>
              </a:rPr>
              <a:t> </a:t>
            </a:r>
            <a:r>
              <a:rPr lang="es-MX" altLang="es-MX" sz="800" err="1">
                <a:solidFill>
                  <a:schemeClr val="tx1"/>
                </a:solidFill>
                <a:latin typeface="+mj-lt"/>
              </a:rPr>
              <a:t>business</a:t>
            </a:r>
            <a:r>
              <a:rPr lang="es-MX" altLang="es-MX" sz="800">
                <a:solidFill>
                  <a:schemeClr val="tx1"/>
                </a:solidFill>
                <a:latin typeface="+mj-lt"/>
              </a:rPr>
              <a:t> </a:t>
            </a:r>
            <a:r>
              <a:rPr lang="es-MX" altLang="es-MX" sz="800" err="1">
                <a:solidFill>
                  <a:schemeClr val="tx1"/>
                </a:solidFill>
                <a:latin typeface="+mj-lt"/>
              </a:rPr>
              <a:t>outcome</a:t>
            </a:r>
            <a:r>
              <a:rPr lang="es-MX" altLang="es-MX" sz="800">
                <a:solidFill>
                  <a:schemeClr val="tx1"/>
                </a:solidFill>
                <a:latin typeface="+mj-lt"/>
              </a:rPr>
              <a:t> </a:t>
            </a:r>
            <a:endParaRPr lang="es-MX" sz="800">
              <a:latin typeface="+mj-lt"/>
            </a:endParaRPr>
          </a:p>
        </p:txBody>
      </p:sp>
      <p:sp>
        <p:nvSpPr>
          <p:cNvPr id="91" name="Rounded Rectangle 16">
            <a:extLst>
              <a:ext uri="{FF2B5EF4-FFF2-40B4-BE49-F238E27FC236}">
                <a16:creationId xmlns:a16="http://schemas.microsoft.com/office/drawing/2014/main" id="{97EF336B-B398-1580-31B3-1FEA6D5970DE}"/>
              </a:ext>
            </a:extLst>
          </p:cNvPr>
          <p:cNvSpPr/>
          <p:nvPr/>
        </p:nvSpPr>
        <p:spPr>
          <a:xfrm>
            <a:off x="27025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ángulo 91">
            <a:extLst>
              <a:ext uri="{FF2B5EF4-FFF2-40B4-BE49-F238E27FC236}">
                <a16:creationId xmlns:a16="http://schemas.microsoft.com/office/drawing/2014/main" id="{B6257F01-BB50-D5E9-66C1-DF2A40FC5960}"/>
              </a:ext>
            </a:extLst>
          </p:cNvPr>
          <p:cNvSpPr/>
          <p:nvPr/>
        </p:nvSpPr>
        <p:spPr>
          <a:xfrm>
            <a:off x="29464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93" name="Rectángulo 92">
            <a:extLst>
              <a:ext uri="{FF2B5EF4-FFF2-40B4-BE49-F238E27FC236}">
                <a16:creationId xmlns:a16="http://schemas.microsoft.com/office/drawing/2014/main" id="{1AF367EA-DE2E-B7EE-FBE2-5549E00F857D}"/>
              </a:ext>
            </a:extLst>
          </p:cNvPr>
          <p:cNvSpPr/>
          <p:nvPr/>
        </p:nvSpPr>
        <p:spPr>
          <a:xfrm>
            <a:off x="29464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94" name="Rectángulo 93">
            <a:extLst>
              <a:ext uri="{FF2B5EF4-FFF2-40B4-BE49-F238E27FC236}">
                <a16:creationId xmlns:a16="http://schemas.microsoft.com/office/drawing/2014/main" id="{7099058A-702B-7215-8E0B-BB57201D58CA}"/>
              </a:ext>
            </a:extLst>
          </p:cNvPr>
          <p:cNvSpPr/>
          <p:nvPr/>
        </p:nvSpPr>
        <p:spPr>
          <a:xfrm>
            <a:off x="29464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95" name="Rectángulo 94">
            <a:extLst>
              <a:ext uri="{FF2B5EF4-FFF2-40B4-BE49-F238E27FC236}">
                <a16:creationId xmlns:a16="http://schemas.microsoft.com/office/drawing/2014/main" id="{82841820-A1AA-FA6B-DC31-41AD935C5CBE}"/>
              </a:ext>
            </a:extLst>
          </p:cNvPr>
          <p:cNvSpPr/>
          <p:nvPr/>
        </p:nvSpPr>
        <p:spPr>
          <a:xfrm>
            <a:off x="29464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96" name="Rectángulo 95">
            <a:extLst>
              <a:ext uri="{FF2B5EF4-FFF2-40B4-BE49-F238E27FC236}">
                <a16:creationId xmlns:a16="http://schemas.microsoft.com/office/drawing/2014/main" id="{139F6585-3693-8F1A-1BDD-FE7EDAD93DBE}"/>
              </a:ext>
            </a:extLst>
          </p:cNvPr>
          <p:cNvSpPr/>
          <p:nvPr/>
        </p:nvSpPr>
        <p:spPr>
          <a:xfrm>
            <a:off x="29464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97" name="Rectángulo 96">
            <a:extLst>
              <a:ext uri="{FF2B5EF4-FFF2-40B4-BE49-F238E27FC236}">
                <a16:creationId xmlns:a16="http://schemas.microsoft.com/office/drawing/2014/main" id="{B98196BC-EFA5-5BD3-456A-0BEC6A694C6E}"/>
              </a:ext>
            </a:extLst>
          </p:cNvPr>
          <p:cNvSpPr/>
          <p:nvPr/>
        </p:nvSpPr>
        <p:spPr>
          <a:xfrm>
            <a:off x="31765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Recurrent</a:t>
            </a:r>
            <a:r>
              <a:rPr lang="es-MX" sz="800">
                <a:solidFill>
                  <a:schemeClr val="tx1"/>
                </a:solidFill>
                <a:latin typeface="+mj-lt"/>
              </a:rPr>
              <a:t> </a:t>
            </a:r>
            <a:r>
              <a:rPr lang="es-MX" sz="800" err="1">
                <a:solidFill>
                  <a:schemeClr val="tx1"/>
                </a:solidFill>
                <a:latin typeface="+mj-lt"/>
              </a:rPr>
              <a:t>friction</a:t>
            </a:r>
            <a:r>
              <a:rPr lang="es-MX" sz="800">
                <a:solidFill>
                  <a:schemeClr val="tx1"/>
                </a:solidFill>
                <a:latin typeface="+mj-lt"/>
              </a:rPr>
              <a:t> · </a:t>
            </a:r>
            <a:r>
              <a:rPr lang="es-MX" sz="800" err="1">
                <a:solidFill>
                  <a:schemeClr val="tx1"/>
                </a:solidFill>
                <a:latin typeface="+mj-lt"/>
              </a:rPr>
              <a:t>workarounds</a:t>
            </a:r>
            <a:r>
              <a:rPr lang="es-MX" sz="800">
                <a:solidFill>
                  <a:schemeClr val="tx1"/>
                </a:solidFill>
                <a:latin typeface="+mj-lt"/>
              </a:rPr>
              <a:t> </a:t>
            </a:r>
            <a:r>
              <a:rPr lang="es-MX" sz="800" err="1">
                <a:solidFill>
                  <a:schemeClr val="tx1"/>
                </a:solidFill>
                <a:latin typeface="+mj-lt"/>
              </a:rPr>
              <a:t>required</a:t>
            </a:r>
            <a:endParaRPr lang="es-MX" altLang="es-MX" sz="800">
              <a:solidFill>
                <a:schemeClr val="tx1"/>
              </a:solidFill>
              <a:latin typeface="+mj-lt"/>
            </a:endParaRPr>
          </a:p>
        </p:txBody>
      </p:sp>
      <p:sp>
        <p:nvSpPr>
          <p:cNvPr id="98" name="Rectángulo 97">
            <a:extLst>
              <a:ext uri="{FF2B5EF4-FFF2-40B4-BE49-F238E27FC236}">
                <a16:creationId xmlns:a16="http://schemas.microsoft.com/office/drawing/2014/main" id="{7F0D4604-AAC3-1E63-81D5-BEC07795947D}"/>
              </a:ext>
            </a:extLst>
          </p:cNvPr>
          <p:cNvSpPr/>
          <p:nvPr/>
        </p:nvSpPr>
        <p:spPr>
          <a:xfrm>
            <a:off x="25983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99" name="Rectángulo 98">
            <a:extLst>
              <a:ext uri="{FF2B5EF4-FFF2-40B4-BE49-F238E27FC236}">
                <a16:creationId xmlns:a16="http://schemas.microsoft.com/office/drawing/2014/main" id="{917B604A-B7D5-7F6E-F50C-93D5B982292A}"/>
              </a:ext>
            </a:extLst>
          </p:cNvPr>
          <p:cNvSpPr/>
          <p:nvPr/>
        </p:nvSpPr>
        <p:spPr>
          <a:xfrm>
            <a:off x="25983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00" name="Rectángulo 99">
            <a:extLst>
              <a:ext uri="{FF2B5EF4-FFF2-40B4-BE49-F238E27FC236}">
                <a16:creationId xmlns:a16="http://schemas.microsoft.com/office/drawing/2014/main" id="{E932E85D-1E39-C3DF-5611-859DC66A60F0}"/>
              </a:ext>
            </a:extLst>
          </p:cNvPr>
          <p:cNvSpPr/>
          <p:nvPr/>
        </p:nvSpPr>
        <p:spPr>
          <a:xfrm>
            <a:off x="26900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01" name="Rectángulo 100">
            <a:extLst>
              <a:ext uri="{FF2B5EF4-FFF2-40B4-BE49-F238E27FC236}">
                <a16:creationId xmlns:a16="http://schemas.microsoft.com/office/drawing/2014/main" id="{D63FD38E-6B60-C242-DBB1-A30DAAABC8DF}"/>
              </a:ext>
            </a:extLst>
          </p:cNvPr>
          <p:cNvSpPr/>
          <p:nvPr/>
        </p:nvSpPr>
        <p:spPr>
          <a:xfrm>
            <a:off x="31765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frustration · major productivity or CX impact</a:t>
            </a:r>
            <a:endParaRPr lang="es-MX" altLang="es-MX" sz="800">
              <a:solidFill>
                <a:schemeClr val="tx1"/>
              </a:solidFill>
              <a:latin typeface="+mj-lt"/>
            </a:endParaRPr>
          </a:p>
        </p:txBody>
      </p:sp>
      <p:sp>
        <p:nvSpPr>
          <p:cNvPr id="102" name="Rectángulo 101">
            <a:extLst>
              <a:ext uri="{FF2B5EF4-FFF2-40B4-BE49-F238E27FC236}">
                <a16:creationId xmlns:a16="http://schemas.microsoft.com/office/drawing/2014/main" id="{DD507C79-F679-B141-49CE-FF84D0BE8349}"/>
              </a:ext>
            </a:extLst>
          </p:cNvPr>
          <p:cNvSpPr/>
          <p:nvPr/>
        </p:nvSpPr>
        <p:spPr>
          <a:xfrm>
            <a:off x="31765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frustration · major productivity or CX impact</a:t>
            </a:r>
            <a:endParaRPr lang="es-MX" altLang="es-MX" sz="800">
              <a:solidFill>
                <a:schemeClr val="tx1"/>
              </a:solidFill>
              <a:latin typeface="+mj-lt"/>
            </a:endParaRPr>
          </a:p>
        </p:txBody>
      </p:sp>
      <p:sp>
        <p:nvSpPr>
          <p:cNvPr id="103" name="Rectángulo 102">
            <a:extLst>
              <a:ext uri="{FF2B5EF4-FFF2-40B4-BE49-F238E27FC236}">
                <a16:creationId xmlns:a16="http://schemas.microsoft.com/office/drawing/2014/main" id="{E75D7806-A4FC-C9C7-B4DE-D76CC1BF9B25}"/>
              </a:ext>
            </a:extLst>
          </p:cNvPr>
          <p:cNvSpPr/>
          <p:nvPr/>
        </p:nvSpPr>
        <p:spPr>
          <a:xfrm>
            <a:off x="31765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Minor</a:t>
            </a:r>
            <a:r>
              <a:rPr lang="es-MX" sz="800">
                <a:solidFill>
                  <a:schemeClr val="tx1"/>
                </a:solidFill>
                <a:latin typeface="+mj-lt"/>
              </a:rPr>
              <a:t> </a:t>
            </a:r>
            <a:r>
              <a:rPr lang="es-MX" sz="800" err="1">
                <a:solidFill>
                  <a:schemeClr val="tx1"/>
                </a:solidFill>
                <a:latin typeface="+mj-lt"/>
              </a:rPr>
              <a:t>inconvenience</a:t>
            </a:r>
            <a:r>
              <a:rPr lang="es-MX" sz="800">
                <a:solidFill>
                  <a:schemeClr val="tx1"/>
                </a:solidFill>
                <a:latin typeface="+mj-lt"/>
              </a:rPr>
              <a:t> · </a:t>
            </a:r>
            <a:r>
              <a:rPr lang="es-MX" sz="800" err="1">
                <a:solidFill>
                  <a:schemeClr val="tx1"/>
                </a:solidFill>
                <a:latin typeface="+mj-lt"/>
              </a:rPr>
              <a:t>occasional</a:t>
            </a:r>
            <a:r>
              <a:rPr lang="es-MX" sz="800">
                <a:solidFill>
                  <a:schemeClr val="tx1"/>
                </a:solidFill>
                <a:latin typeface="+mj-lt"/>
              </a:rPr>
              <a:t> </a:t>
            </a:r>
            <a:r>
              <a:rPr lang="es-MX" sz="800" err="1">
                <a:solidFill>
                  <a:schemeClr val="tx1"/>
                </a:solidFill>
                <a:latin typeface="+mj-lt"/>
              </a:rPr>
              <a:t>friction</a:t>
            </a:r>
            <a:endParaRPr lang="es-MX" altLang="es-MX" sz="800">
              <a:solidFill>
                <a:schemeClr val="tx1"/>
              </a:solidFill>
              <a:latin typeface="+mj-lt"/>
            </a:endParaRPr>
          </a:p>
        </p:txBody>
      </p:sp>
      <p:sp>
        <p:nvSpPr>
          <p:cNvPr id="104" name="Rectángulo 103">
            <a:extLst>
              <a:ext uri="{FF2B5EF4-FFF2-40B4-BE49-F238E27FC236}">
                <a16:creationId xmlns:a16="http://schemas.microsoft.com/office/drawing/2014/main" id="{8E7270EB-EAE2-AC40-F381-C4A2314DCAC2}"/>
              </a:ext>
            </a:extLst>
          </p:cNvPr>
          <p:cNvSpPr/>
          <p:nvPr/>
        </p:nvSpPr>
        <p:spPr>
          <a:xfrm>
            <a:off x="31765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No </a:t>
            </a:r>
            <a:r>
              <a:rPr lang="es-MX" sz="800" err="1">
                <a:solidFill>
                  <a:schemeClr val="tx1"/>
                </a:solidFill>
                <a:latin typeface="+mj-lt"/>
              </a:rPr>
              <a:t>noticeable</a:t>
            </a:r>
            <a:r>
              <a:rPr lang="es-MX" sz="800">
                <a:solidFill>
                  <a:schemeClr val="tx1"/>
                </a:solidFill>
                <a:latin typeface="+mj-lt"/>
              </a:rPr>
              <a:t> </a:t>
            </a:r>
            <a:r>
              <a:rPr lang="es-MX" sz="800" err="1">
                <a:solidFill>
                  <a:schemeClr val="tx1"/>
                </a:solidFill>
                <a:latin typeface="+mj-lt"/>
              </a:rPr>
              <a:t>impact</a:t>
            </a:r>
            <a:endParaRPr lang="es-MX" sz="800">
              <a:solidFill>
                <a:schemeClr val="tx1"/>
              </a:solidFill>
              <a:latin typeface="+mj-lt"/>
            </a:endParaRPr>
          </a:p>
        </p:txBody>
      </p:sp>
      <p:sp>
        <p:nvSpPr>
          <p:cNvPr id="105" name="Rounded Rectangle 16">
            <a:extLst>
              <a:ext uri="{FF2B5EF4-FFF2-40B4-BE49-F238E27FC236}">
                <a16:creationId xmlns:a16="http://schemas.microsoft.com/office/drawing/2014/main" id="{F3E240AF-AF0E-DF40-6E5B-53A4B4AB11BA}"/>
              </a:ext>
            </a:extLst>
          </p:cNvPr>
          <p:cNvSpPr/>
          <p:nvPr/>
        </p:nvSpPr>
        <p:spPr>
          <a:xfrm>
            <a:off x="49885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ángulo 105">
            <a:extLst>
              <a:ext uri="{FF2B5EF4-FFF2-40B4-BE49-F238E27FC236}">
                <a16:creationId xmlns:a16="http://schemas.microsoft.com/office/drawing/2014/main" id="{27949F34-16C7-3205-E739-1BBC57674CBF}"/>
              </a:ext>
            </a:extLst>
          </p:cNvPr>
          <p:cNvSpPr/>
          <p:nvPr/>
        </p:nvSpPr>
        <p:spPr>
          <a:xfrm>
            <a:off x="52324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07" name="Rectángulo 106">
            <a:extLst>
              <a:ext uri="{FF2B5EF4-FFF2-40B4-BE49-F238E27FC236}">
                <a16:creationId xmlns:a16="http://schemas.microsoft.com/office/drawing/2014/main" id="{62C5CB9C-ACA4-A540-D650-6A4ABAE21188}"/>
              </a:ext>
            </a:extLst>
          </p:cNvPr>
          <p:cNvSpPr/>
          <p:nvPr/>
        </p:nvSpPr>
        <p:spPr>
          <a:xfrm>
            <a:off x="52324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08" name="Rectángulo 107">
            <a:extLst>
              <a:ext uri="{FF2B5EF4-FFF2-40B4-BE49-F238E27FC236}">
                <a16:creationId xmlns:a16="http://schemas.microsoft.com/office/drawing/2014/main" id="{252E3219-2468-A564-3859-BBD21FD9D63E}"/>
              </a:ext>
            </a:extLst>
          </p:cNvPr>
          <p:cNvSpPr/>
          <p:nvPr/>
        </p:nvSpPr>
        <p:spPr>
          <a:xfrm>
            <a:off x="52324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09" name="Rectángulo 108">
            <a:extLst>
              <a:ext uri="{FF2B5EF4-FFF2-40B4-BE49-F238E27FC236}">
                <a16:creationId xmlns:a16="http://schemas.microsoft.com/office/drawing/2014/main" id="{80B86B1D-7469-EEFD-78B0-85A616EEDA76}"/>
              </a:ext>
            </a:extLst>
          </p:cNvPr>
          <p:cNvSpPr/>
          <p:nvPr/>
        </p:nvSpPr>
        <p:spPr>
          <a:xfrm>
            <a:off x="52324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110" name="Rectángulo 109">
            <a:extLst>
              <a:ext uri="{FF2B5EF4-FFF2-40B4-BE49-F238E27FC236}">
                <a16:creationId xmlns:a16="http://schemas.microsoft.com/office/drawing/2014/main" id="{E0F640D1-0586-46C6-59E2-5971746C950C}"/>
              </a:ext>
            </a:extLst>
          </p:cNvPr>
          <p:cNvSpPr/>
          <p:nvPr/>
        </p:nvSpPr>
        <p:spPr>
          <a:xfrm>
            <a:off x="52324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111" name="Rectángulo 110">
            <a:extLst>
              <a:ext uri="{FF2B5EF4-FFF2-40B4-BE49-F238E27FC236}">
                <a16:creationId xmlns:a16="http://schemas.microsoft.com/office/drawing/2014/main" id="{FB848215-71C1-75BC-EF8C-74DE5B28BC79}"/>
              </a:ext>
            </a:extLst>
          </p:cNvPr>
          <p:cNvSpPr/>
          <p:nvPr/>
        </p:nvSpPr>
        <p:spPr>
          <a:xfrm>
            <a:off x="54625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Moderate risk · potential compliance issue</a:t>
            </a:r>
            <a:endParaRPr lang="es-MX" altLang="es-MX" sz="800">
              <a:solidFill>
                <a:schemeClr val="tx1"/>
              </a:solidFill>
              <a:latin typeface="+mj-lt"/>
            </a:endParaRPr>
          </a:p>
        </p:txBody>
      </p:sp>
      <p:sp>
        <p:nvSpPr>
          <p:cNvPr id="112" name="Rectángulo 111">
            <a:extLst>
              <a:ext uri="{FF2B5EF4-FFF2-40B4-BE49-F238E27FC236}">
                <a16:creationId xmlns:a16="http://schemas.microsoft.com/office/drawing/2014/main" id="{76B1BA50-0E0C-B0B4-C97B-2BF28AC168C4}"/>
              </a:ext>
            </a:extLst>
          </p:cNvPr>
          <p:cNvSpPr/>
          <p:nvPr/>
        </p:nvSpPr>
        <p:spPr>
          <a:xfrm>
            <a:off x="48843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13" name="Rectángulo 112">
            <a:extLst>
              <a:ext uri="{FF2B5EF4-FFF2-40B4-BE49-F238E27FC236}">
                <a16:creationId xmlns:a16="http://schemas.microsoft.com/office/drawing/2014/main" id="{29BCF288-84F0-4AE6-5B74-A93066521927}"/>
              </a:ext>
            </a:extLst>
          </p:cNvPr>
          <p:cNvSpPr/>
          <p:nvPr/>
        </p:nvSpPr>
        <p:spPr>
          <a:xfrm>
            <a:off x="48843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14" name="Rectángulo 113">
            <a:extLst>
              <a:ext uri="{FF2B5EF4-FFF2-40B4-BE49-F238E27FC236}">
                <a16:creationId xmlns:a16="http://schemas.microsoft.com/office/drawing/2014/main" id="{F3CEE35E-A34A-08F6-B48E-59CD9D21D38F}"/>
              </a:ext>
            </a:extLst>
          </p:cNvPr>
          <p:cNvSpPr/>
          <p:nvPr/>
        </p:nvSpPr>
        <p:spPr>
          <a:xfrm>
            <a:off x="49760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15" name="Rectángulo 114">
            <a:extLst>
              <a:ext uri="{FF2B5EF4-FFF2-40B4-BE49-F238E27FC236}">
                <a16:creationId xmlns:a16="http://schemas.microsoft.com/office/drawing/2014/main" id="{B82D1FFF-1436-C5C1-4CA8-159A972C47F9}"/>
              </a:ext>
            </a:extLst>
          </p:cNvPr>
          <p:cNvSpPr/>
          <p:nvPr/>
        </p:nvSpPr>
        <p:spPr>
          <a:xfrm>
            <a:off x="54625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Critical risk · regulatory breach or safety incident</a:t>
            </a:r>
            <a:endParaRPr lang="es-MX" altLang="es-MX" sz="800">
              <a:solidFill>
                <a:schemeClr val="tx1"/>
              </a:solidFill>
              <a:latin typeface="+mj-lt"/>
            </a:endParaRPr>
          </a:p>
        </p:txBody>
      </p:sp>
      <p:sp>
        <p:nvSpPr>
          <p:cNvPr id="116" name="Rectángulo 115">
            <a:extLst>
              <a:ext uri="{FF2B5EF4-FFF2-40B4-BE49-F238E27FC236}">
                <a16:creationId xmlns:a16="http://schemas.microsoft.com/office/drawing/2014/main" id="{A04DED4D-81EE-EAEC-5AFC-43450ED0D31E}"/>
              </a:ext>
            </a:extLst>
          </p:cNvPr>
          <p:cNvSpPr/>
          <p:nvPr/>
        </p:nvSpPr>
        <p:spPr>
          <a:xfrm>
            <a:off x="54625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risk · field crew or public exposure</a:t>
            </a:r>
            <a:endParaRPr lang="es-MX" altLang="es-MX" sz="800">
              <a:solidFill>
                <a:schemeClr val="tx1"/>
              </a:solidFill>
              <a:latin typeface="+mj-lt"/>
            </a:endParaRPr>
          </a:p>
        </p:txBody>
      </p:sp>
      <p:sp>
        <p:nvSpPr>
          <p:cNvPr id="117" name="Rectángulo 116">
            <a:extLst>
              <a:ext uri="{FF2B5EF4-FFF2-40B4-BE49-F238E27FC236}">
                <a16:creationId xmlns:a16="http://schemas.microsoft.com/office/drawing/2014/main" id="{F81A1488-5A46-4FAC-C3AE-19122EFD8B3A}"/>
              </a:ext>
            </a:extLst>
          </p:cNvPr>
          <p:cNvSpPr/>
          <p:nvPr/>
        </p:nvSpPr>
        <p:spPr>
          <a:xfrm>
            <a:off x="54625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Low risk · internal exposure only</a:t>
            </a:r>
            <a:endParaRPr lang="es-MX" altLang="es-MX" sz="800">
              <a:solidFill>
                <a:schemeClr val="tx1"/>
              </a:solidFill>
              <a:latin typeface="+mj-lt"/>
            </a:endParaRPr>
          </a:p>
        </p:txBody>
      </p:sp>
      <p:sp>
        <p:nvSpPr>
          <p:cNvPr id="118" name="Rectángulo 117">
            <a:extLst>
              <a:ext uri="{FF2B5EF4-FFF2-40B4-BE49-F238E27FC236}">
                <a16:creationId xmlns:a16="http://schemas.microsoft.com/office/drawing/2014/main" id="{D79144EB-6164-468C-42EE-2C1B6C521EC8}"/>
              </a:ext>
            </a:extLst>
          </p:cNvPr>
          <p:cNvSpPr/>
          <p:nvPr/>
        </p:nvSpPr>
        <p:spPr>
          <a:xfrm>
            <a:off x="54625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No safety or compliance risk</a:t>
            </a:r>
            <a:endParaRPr lang="es-MX" sz="800">
              <a:solidFill>
                <a:schemeClr val="tx1"/>
              </a:solidFill>
              <a:latin typeface="+mj-lt"/>
            </a:endParaRPr>
          </a:p>
        </p:txBody>
      </p:sp>
      <p:sp>
        <p:nvSpPr>
          <p:cNvPr id="119" name="Rounded Rectangle 16">
            <a:extLst>
              <a:ext uri="{FF2B5EF4-FFF2-40B4-BE49-F238E27FC236}">
                <a16:creationId xmlns:a16="http://schemas.microsoft.com/office/drawing/2014/main" id="{BAD543A6-3990-8B37-B296-2B2970554C0C}"/>
              </a:ext>
            </a:extLst>
          </p:cNvPr>
          <p:cNvSpPr/>
          <p:nvPr/>
        </p:nvSpPr>
        <p:spPr>
          <a:xfrm>
            <a:off x="731520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ángulo 119">
            <a:extLst>
              <a:ext uri="{FF2B5EF4-FFF2-40B4-BE49-F238E27FC236}">
                <a16:creationId xmlns:a16="http://schemas.microsoft.com/office/drawing/2014/main" id="{D9928D75-2774-4223-E543-17EBD19818F4}"/>
              </a:ext>
            </a:extLst>
          </p:cNvPr>
          <p:cNvSpPr/>
          <p:nvPr/>
        </p:nvSpPr>
        <p:spPr>
          <a:xfrm>
            <a:off x="755904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21" name="Rectángulo 120">
            <a:extLst>
              <a:ext uri="{FF2B5EF4-FFF2-40B4-BE49-F238E27FC236}">
                <a16:creationId xmlns:a16="http://schemas.microsoft.com/office/drawing/2014/main" id="{6DE32D11-23AF-26C7-2BC8-EEDF32BFEE71}"/>
              </a:ext>
            </a:extLst>
          </p:cNvPr>
          <p:cNvSpPr/>
          <p:nvPr/>
        </p:nvSpPr>
        <p:spPr>
          <a:xfrm>
            <a:off x="755904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22" name="Rectángulo 121">
            <a:extLst>
              <a:ext uri="{FF2B5EF4-FFF2-40B4-BE49-F238E27FC236}">
                <a16:creationId xmlns:a16="http://schemas.microsoft.com/office/drawing/2014/main" id="{D741B78C-728E-E0A5-B703-11EA846FD6FE}"/>
              </a:ext>
            </a:extLst>
          </p:cNvPr>
          <p:cNvSpPr/>
          <p:nvPr/>
        </p:nvSpPr>
        <p:spPr>
          <a:xfrm>
            <a:off x="755904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23" name="Rectángulo 122">
            <a:extLst>
              <a:ext uri="{FF2B5EF4-FFF2-40B4-BE49-F238E27FC236}">
                <a16:creationId xmlns:a16="http://schemas.microsoft.com/office/drawing/2014/main" id="{12DE1C49-BBB9-C2D2-AFAC-C8281E04E1E8}"/>
              </a:ext>
            </a:extLst>
          </p:cNvPr>
          <p:cNvSpPr/>
          <p:nvPr/>
        </p:nvSpPr>
        <p:spPr>
          <a:xfrm>
            <a:off x="755904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124" name="Rectángulo 123">
            <a:extLst>
              <a:ext uri="{FF2B5EF4-FFF2-40B4-BE49-F238E27FC236}">
                <a16:creationId xmlns:a16="http://schemas.microsoft.com/office/drawing/2014/main" id="{8833501E-0352-BE46-FECD-644FBD389531}"/>
              </a:ext>
            </a:extLst>
          </p:cNvPr>
          <p:cNvSpPr/>
          <p:nvPr/>
        </p:nvSpPr>
        <p:spPr>
          <a:xfrm>
            <a:off x="755904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125" name="Rectángulo 124">
            <a:extLst>
              <a:ext uri="{FF2B5EF4-FFF2-40B4-BE49-F238E27FC236}">
                <a16:creationId xmlns:a16="http://schemas.microsoft.com/office/drawing/2014/main" id="{8A9BA1B4-1FBB-316D-779C-DF22DA3DB8B6}"/>
              </a:ext>
            </a:extLst>
          </p:cNvPr>
          <p:cNvSpPr/>
          <p:nvPr/>
        </p:nvSpPr>
        <p:spPr>
          <a:xfrm>
            <a:off x="778920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Medium · </a:t>
            </a:r>
            <a:r>
              <a:rPr lang="es-MX" sz="800" err="1">
                <a:solidFill>
                  <a:schemeClr val="tx1"/>
                </a:solidFill>
                <a:latin typeface="+mj-lt"/>
              </a:rPr>
              <a:t>moderate</a:t>
            </a:r>
            <a:r>
              <a:rPr lang="es-MX" sz="800">
                <a:solidFill>
                  <a:schemeClr val="tx1"/>
                </a:solidFill>
                <a:latin typeface="+mj-lt"/>
              </a:rPr>
              <a:t> </a:t>
            </a:r>
            <a:r>
              <a:rPr lang="es-MX" sz="800" err="1">
                <a:solidFill>
                  <a:schemeClr val="tx1"/>
                </a:solidFill>
                <a:latin typeface="+mj-lt"/>
              </a:rPr>
              <a:t>integration</a:t>
            </a:r>
            <a:endParaRPr lang="es-MX" altLang="es-MX" sz="800">
              <a:solidFill>
                <a:schemeClr val="tx1"/>
              </a:solidFill>
              <a:latin typeface="+mj-lt"/>
            </a:endParaRPr>
          </a:p>
        </p:txBody>
      </p:sp>
      <p:sp>
        <p:nvSpPr>
          <p:cNvPr id="126" name="Rectángulo 125">
            <a:extLst>
              <a:ext uri="{FF2B5EF4-FFF2-40B4-BE49-F238E27FC236}">
                <a16:creationId xmlns:a16="http://schemas.microsoft.com/office/drawing/2014/main" id="{40D43A4A-7DB7-D629-7F40-D2BAA5762700}"/>
              </a:ext>
            </a:extLst>
          </p:cNvPr>
          <p:cNvSpPr/>
          <p:nvPr/>
        </p:nvSpPr>
        <p:spPr>
          <a:xfrm>
            <a:off x="721096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27" name="Rectángulo 126">
            <a:extLst>
              <a:ext uri="{FF2B5EF4-FFF2-40B4-BE49-F238E27FC236}">
                <a16:creationId xmlns:a16="http://schemas.microsoft.com/office/drawing/2014/main" id="{53D233B9-F6FC-5838-936B-D630900F60AB}"/>
              </a:ext>
            </a:extLst>
          </p:cNvPr>
          <p:cNvSpPr/>
          <p:nvPr/>
        </p:nvSpPr>
        <p:spPr>
          <a:xfrm>
            <a:off x="721096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28" name="Rectángulo 127">
            <a:extLst>
              <a:ext uri="{FF2B5EF4-FFF2-40B4-BE49-F238E27FC236}">
                <a16:creationId xmlns:a16="http://schemas.microsoft.com/office/drawing/2014/main" id="{591DE5DC-E156-9050-B096-D6E0B187A700}"/>
              </a:ext>
            </a:extLst>
          </p:cNvPr>
          <p:cNvSpPr/>
          <p:nvPr/>
        </p:nvSpPr>
        <p:spPr>
          <a:xfrm>
            <a:off x="730270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29" name="Rectángulo 128">
            <a:extLst>
              <a:ext uri="{FF2B5EF4-FFF2-40B4-BE49-F238E27FC236}">
                <a16:creationId xmlns:a16="http://schemas.microsoft.com/office/drawing/2014/main" id="{E114FF7D-FBD6-DF36-918A-9BFE08102292}"/>
              </a:ext>
            </a:extLst>
          </p:cNvPr>
          <p:cNvSpPr/>
          <p:nvPr/>
        </p:nvSpPr>
        <p:spPr>
          <a:xfrm>
            <a:off x="778920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Very high · cross-domain · high uncertainty</a:t>
            </a:r>
            <a:endParaRPr lang="es-MX" altLang="es-MX" sz="800">
              <a:solidFill>
                <a:schemeClr val="tx1"/>
              </a:solidFill>
              <a:latin typeface="+mj-lt"/>
            </a:endParaRPr>
          </a:p>
        </p:txBody>
      </p:sp>
      <p:sp>
        <p:nvSpPr>
          <p:cNvPr id="130" name="Rectángulo 129">
            <a:extLst>
              <a:ext uri="{FF2B5EF4-FFF2-40B4-BE49-F238E27FC236}">
                <a16:creationId xmlns:a16="http://schemas.microsoft.com/office/drawing/2014/main" id="{1F2434C1-7148-6FA4-BB95-56B55B623CAA}"/>
              </a:ext>
            </a:extLst>
          </p:cNvPr>
          <p:cNvSpPr/>
          <p:nvPr/>
        </p:nvSpPr>
        <p:spPr>
          <a:xfrm>
            <a:off x="778920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 multiple systems · vendor dependency</a:t>
            </a:r>
            <a:endParaRPr lang="es-MX" altLang="es-MX" sz="800">
              <a:solidFill>
                <a:schemeClr val="tx1"/>
              </a:solidFill>
              <a:latin typeface="+mj-lt"/>
            </a:endParaRPr>
          </a:p>
        </p:txBody>
      </p:sp>
      <p:sp>
        <p:nvSpPr>
          <p:cNvPr id="131" name="Rectángulo 130">
            <a:extLst>
              <a:ext uri="{FF2B5EF4-FFF2-40B4-BE49-F238E27FC236}">
                <a16:creationId xmlns:a16="http://schemas.microsoft.com/office/drawing/2014/main" id="{A8C18CAE-AF83-9FBF-3DB1-D938FA25C8F4}"/>
              </a:ext>
            </a:extLst>
          </p:cNvPr>
          <p:cNvSpPr/>
          <p:nvPr/>
        </p:nvSpPr>
        <p:spPr>
          <a:xfrm>
            <a:off x="778920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Low · </a:t>
            </a:r>
            <a:r>
              <a:rPr lang="es-MX" sz="800" err="1">
                <a:solidFill>
                  <a:schemeClr val="tx1"/>
                </a:solidFill>
                <a:latin typeface="+mj-lt"/>
              </a:rPr>
              <a:t>limited</a:t>
            </a:r>
            <a:r>
              <a:rPr lang="es-MX" sz="800">
                <a:solidFill>
                  <a:schemeClr val="tx1"/>
                </a:solidFill>
                <a:latin typeface="+mj-lt"/>
              </a:rPr>
              <a:t> </a:t>
            </a:r>
            <a:r>
              <a:rPr lang="es-MX" sz="800" err="1">
                <a:solidFill>
                  <a:schemeClr val="tx1"/>
                </a:solidFill>
                <a:latin typeface="+mj-lt"/>
              </a:rPr>
              <a:t>scope</a:t>
            </a:r>
            <a:endParaRPr lang="es-MX" altLang="es-MX" sz="800">
              <a:solidFill>
                <a:schemeClr val="tx1"/>
              </a:solidFill>
              <a:latin typeface="+mj-lt"/>
            </a:endParaRPr>
          </a:p>
        </p:txBody>
      </p:sp>
      <p:sp>
        <p:nvSpPr>
          <p:cNvPr id="132" name="Rectángulo 131">
            <a:extLst>
              <a:ext uri="{FF2B5EF4-FFF2-40B4-BE49-F238E27FC236}">
                <a16:creationId xmlns:a16="http://schemas.microsoft.com/office/drawing/2014/main" id="{F293BC67-5217-3755-797F-A7C7E77CBAC9}"/>
              </a:ext>
            </a:extLst>
          </p:cNvPr>
          <p:cNvSpPr/>
          <p:nvPr/>
        </p:nvSpPr>
        <p:spPr>
          <a:xfrm>
            <a:off x="778920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Very low · small change · single system</a:t>
            </a:r>
            <a:endParaRPr lang="es-MX" sz="800">
              <a:solidFill>
                <a:schemeClr val="tx1"/>
              </a:solidFill>
              <a:latin typeface="+mj-lt"/>
            </a:endParaRPr>
          </a:p>
        </p:txBody>
      </p:sp>
      <p:sp>
        <p:nvSpPr>
          <p:cNvPr id="133" name="Rounded Rectangle 16">
            <a:extLst>
              <a:ext uri="{FF2B5EF4-FFF2-40B4-BE49-F238E27FC236}">
                <a16:creationId xmlns:a16="http://schemas.microsoft.com/office/drawing/2014/main" id="{263E6FB6-4544-6132-1A44-4B23D785386F}"/>
              </a:ext>
            </a:extLst>
          </p:cNvPr>
          <p:cNvSpPr/>
          <p:nvPr/>
        </p:nvSpPr>
        <p:spPr>
          <a:xfrm>
            <a:off x="96113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ángulo 133">
            <a:extLst>
              <a:ext uri="{FF2B5EF4-FFF2-40B4-BE49-F238E27FC236}">
                <a16:creationId xmlns:a16="http://schemas.microsoft.com/office/drawing/2014/main" id="{50EFF7F7-40DA-D38E-02B3-CF193C8C5CB4}"/>
              </a:ext>
            </a:extLst>
          </p:cNvPr>
          <p:cNvSpPr/>
          <p:nvPr/>
        </p:nvSpPr>
        <p:spPr>
          <a:xfrm>
            <a:off x="98552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35" name="Rectángulo 134">
            <a:extLst>
              <a:ext uri="{FF2B5EF4-FFF2-40B4-BE49-F238E27FC236}">
                <a16:creationId xmlns:a16="http://schemas.microsoft.com/office/drawing/2014/main" id="{07A36609-9828-83FB-29B6-9873A58D4700}"/>
              </a:ext>
            </a:extLst>
          </p:cNvPr>
          <p:cNvSpPr/>
          <p:nvPr/>
        </p:nvSpPr>
        <p:spPr>
          <a:xfrm>
            <a:off x="9855200" y="428521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36" name="Rectángulo 135">
            <a:extLst>
              <a:ext uri="{FF2B5EF4-FFF2-40B4-BE49-F238E27FC236}">
                <a16:creationId xmlns:a16="http://schemas.microsoft.com/office/drawing/2014/main" id="{2A688F77-3BAD-7E7C-B0D5-A84EBCA9F4E5}"/>
              </a:ext>
            </a:extLst>
          </p:cNvPr>
          <p:cNvSpPr/>
          <p:nvPr/>
        </p:nvSpPr>
        <p:spPr>
          <a:xfrm>
            <a:off x="9855200" y="497281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39" name="Rectángulo 138">
            <a:extLst>
              <a:ext uri="{FF2B5EF4-FFF2-40B4-BE49-F238E27FC236}">
                <a16:creationId xmlns:a16="http://schemas.microsoft.com/office/drawing/2014/main" id="{3E237027-A333-A61E-1204-EA81B56EB3BE}"/>
              </a:ext>
            </a:extLst>
          </p:cNvPr>
          <p:cNvSpPr/>
          <p:nvPr/>
        </p:nvSpPr>
        <p:spPr>
          <a:xfrm>
            <a:off x="10085362" y="497281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All</a:t>
            </a:r>
            <a:r>
              <a:rPr lang="es-MX" sz="800">
                <a:solidFill>
                  <a:schemeClr val="tx1"/>
                </a:solidFill>
                <a:latin typeface="+mj-lt"/>
              </a:rPr>
              <a:t> / 5+ </a:t>
            </a:r>
            <a:r>
              <a:rPr lang="es-MX" sz="800" err="1">
                <a:solidFill>
                  <a:schemeClr val="tx1"/>
                </a:solidFill>
                <a:latin typeface="+mj-lt"/>
              </a:rPr>
              <a:t>OpCos</a:t>
            </a:r>
            <a:endParaRPr lang="es-MX" altLang="es-MX" sz="800">
              <a:solidFill>
                <a:schemeClr val="tx1"/>
              </a:solidFill>
              <a:latin typeface="+mj-lt"/>
            </a:endParaRPr>
          </a:p>
        </p:txBody>
      </p:sp>
      <p:sp>
        <p:nvSpPr>
          <p:cNvPr id="140" name="Rectángulo 139">
            <a:extLst>
              <a:ext uri="{FF2B5EF4-FFF2-40B4-BE49-F238E27FC236}">
                <a16:creationId xmlns:a16="http://schemas.microsoft.com/office/drawing/2014/main" id="{991A1940-6574-D7B3-BC72-45E1CB2BA2D9}"/>
              </a:ext>
            </a:extLst>
          </p:cNvPr>
          <p:cNvSpPr/>
          <p:nvPr/>
        </p:nvSpPr>
        <p:spPr>
          <a:xfrm>
            <a:off x="95071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41" name="Rectángulo 140">
            <a:extLst>
              <a:ext uri="{FF2B5EF4-FFF2-40B4-BE49-F238E27FC236}">
                <a16:creationId xmlns:a16="http://schemas.microsoft.com/office/drawing/2014/main" id="{AE883C49-A73F-2525-5433-E1F440EE2927}"/>
              </a:ext>
            </a:extLst>
          </p:cNvPr>
          <p:cNvSpPr/>
          <p:nvPr/>
        </p:nvSpPr>
        <p:spPr>
          <a:xfrm>
            <a:off x="95071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42" name="Rectángulo 141">
            <a:extLst>
              <a:ext uri="{FF2B5EF4-FFF2-40B4-BE49-F238E27FC236}">
                <a16:creationId xmlns:a16="http://schemas.microsoft.com/office/drawing/2014/main" id="{3FD59FE5-9D4C-4601-4547-16043397BD12}"/>
              </a:ext>
            </a:extLst>
          </p:cNvPr>
          <p:cNvSpPr/>
          <p:nvPr/>
        </p:nvSpPr>
        <p:spPr>
          <a:xfrm>
            <a:off x="95988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45" name="Rectángulo 144">
            <a:extLst>
              <a:ext uri="{FF2B5EF4-FFF2-40B4-BE49-F238E27FC236}">
                <a16:creationId xmlns:a16="http://schemas.microsoft.com/office/drawing/2014/main" id="{71C13077-21B0-DF4E-7447-CF8BF94CD059}"/>
              </a:ext>
            </a:extLst>
          </p:cNvPr>
          <p:cNvSpPr/>
          <p:nvPr/>
        </p:nvSpPr>
        <p:spPr>
          <a:xfrm>
            <a:off x="10085362" y="428521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Regional (2-4 </a:t>
            </a:r>
            <a:r>
              <a:rPr lang="es-MX" sz="800" err="1">
                <a:solidFill>
                  <a:schemeClr val="tx1"/>
                </a:solidFill>
                <a:latin typeface="+mj-lt"/>
              </a:rPr>
              <a:t>OpCos</a:t>
            </a:r>
            <a:r>
              <a:rPr lang="es-MX" sz="800">
                <a:solidFill>
                  <a:schemeClr val="tx1"/>
                </a:solidFill>
                <a:latin typeface="+mj-lt"/>
              </a:rPr>
              <a:t>)</a:t>
            </a:r>
            <a:endParaRPr lang="es-MX" altLang="es-MX" sz="800">
              <a:solidFill>
                <a:schemeClr val="tx1"/>
              </a:solidFill>
              <a:latin typeface="+mj-lt"/>
            </a:endParaRPr>
          </a:p>
        </p:txBody>
      </p:sp>
      <p:sp>
        <p:nvSpPr>
          <p:cNvPr id="146" name="Rectángulo 145">
            <a:extLst>
              <a:ext uri="{FF2B5EF4-FFF2-40B4-BE49-F238E27FC236}">
                <a16:creationId xmlns:a16="http://schemas.microsoft.com/office/drawing/2014/main" id="{4E765B9A-6A64-D58B-C421-1764DD4E319E}"/>
              </a:ext>
            </a:extLst>
          </p:cNvPr>
          <p:cNvSpPr/>
          <p:nvPr/>
        </p:nvSpPr>
        <p:spPr>
          <a:xfrm>
            <a:off x="100853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Single </a:t>
            </a:r>
            <a:r>
              <a:rPr lang="en-US" sz="800" err="1">
                <a:solidFill>
                  <a:schemeClr val="tx1"/>
                </a:solidFill>
                <a:latin typeface="+mj-lt"/>
              </a:rPr>
              <a:t>OpCo</a:t>
            </a:r>
            <a:endParaRPr lang="es-MX" sz="800">
              <a:solidFill>
                <a:schemeClr val="tx1"/>
              </a:solidFill>
              <a:latin typeface="+mj-lt"/>
            </a:endParaRPr>
          </a:p>
        </p:txBody>
      </p:sp>
      <p:grpSp>
        <p:nvGrpSpPr>
          <p:cNvPr id="148" name="Grupo 147">
            <a:extLst>
              <a:ext uri="{FF2B5EF4-FFF2-40B4-BE49-F238E27FC236}">
                <a16:creationId xmlns:a16="http://schemas.microsoft.com/office/drawing/2014/main" id="{08E40872-790E-A90C-2244-AFF13FDA3BC4}"/>
              </a:ext>
            </a:extLst>
          </p:cNvPr>
          <p:cNvGrpSpPr/>
          <p:nvPr/>
        </p:nvGrpSpPr>
        <p:grpSpPr>
          <a:xfrm>
            <a:off x="365760" y="5590628"/>
            <a:ext cx="11475720" cy="915240"/>
            <a:chOff x="365760" y="5230368"/>
            <a:chExt cx="11475720" cy="1107440"/>
          </a:xfrm>
        </p:grpSpPr>
        <p:sp>
          <p:nvSpPr>
            <p:cNvPr id="149" name="Rounded Rectangle 50">
              <a:extLst>
                <a:ext uri="{FF2B5EF4-FFF2-40B4-BE49-F238E27FC236}">
                  <a16:creationId xmlns:a16="http://schemas.microsoft.com/office/drawing/2014/main" id="{AFB704C8-B40B-58D6-F207-49094CF8B5C6}"/>
                </a:ext>
              </a:extLst>
            </p:cNvPr>
            <p:cNvSpPr/>
            <p:nvPr/>
          </p:nvSpPr>
          <p:spPr>
            <a:xfrm>
              <a:off x="365760" y="5595259"/>
              <a:ext cx="11475720" cy="340066"/>
            </a:xfrm>
            <a:prstGeom prst="roundRect">
              <a:avLst>
                <a:gd name="adj" fmla="val 4000"/>
              </a:avLst>
            </a:prstGeom>
            <a:solidFill>
              <a:srgbClr val="FFFFFF"/>
            </a:solidFill>
            <a:ln w="127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ounded Rectangle 45">
              <a:extLst>
                <a:ext uri="{FF2B5EF4-FFF2-40B4-BE49-F238E27FC236}">
                  <a16:creationId xmlns:a16="http://schemas.microsoft.com/office/drawing/2014/main" id="{4817A3F0-DAD2-9C95-8E7C-F1B93572159A}"/>
                </a:ext>
              </a:extLst>
            </p:cNvPr>
            <p:cNvSpPr/>
            <p:nvPr/>
          </p:nvSpPr>
          <p:spPr>
            <a:xfrm>
              <a:off x="365760" y="5244957"/>
              <a:ext cx="11475720" cy="309151"/>
            </a:xfrm>
            <a:prstGeom prst="roundRect">
              <a:avLst>
                <a:gd name="adj" fmla="val 4000"/>
              </a:avLst>
            </a:prstGeom>
            <a:solidFill>
              <a:srgbClr val="FFFFFF"/>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46">
              <a:extLst>
                <a:ext uri="{FF2B5EF4-FFF2-40B4-BE49-F238E27FC236}">
                  <a16:creationId xmlns:a16="http://schemas.microsoft.com/office/drawing/2014/main" id="{689A422B-88F8-EA5F-4341-D26E7FCCFFCE}"/>
                </a:ext>
              </a:extLst>
            </p:cNvPr>
            <p:cNvSpPr/>
            <p:nvPr/>
          </p:nvSpPr>
          <p:spPr>
            <a:xfrm>
              <a:off x="365760" y="5244957"/>
              <a:ext cx="1371600" cy="309151"/>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47">
              <a:extLst>
                <a:ext uri="{FF2B5EF4-FFF2-40B4-BE49-F238E27FC236}">
                  <a16:creationId xmlns:a16="http://schemas.microsoft.com/office/drawing/2014/main" id="{C9D23CC1-BB26-30C0-954B-7CF5382F914D}"/>
                </a:ext>
              </a:extLst>
            </p:cNvPr>
            <p:cNvSpPr txBox="1"/>
            <p:nvPr/>
          </p:nvSpPr>
          <p:spPr>
            <a:xfrm>
              <a:off x="365760" y="5283398"/>
              <a:ext cx="1371600" cy="232269"/>
            </a:xfrm>
            <a:prstGeom prst="rect">
              <a:avLst/>
            </a:prstGeom>
            <a:noFill/>
          </p:spPr>
          <p:txBody>
            <a:bodyPr wrap="square" lIns="36000" tIns="18000" rIns="36000" bIns="18000" anchor="ctr">
              <a:spAutoFit/>
            </a:bodyPr>
            <a:lstStyle/>
            <a:p>
              <a:pPr algn="ctr"/>
              <a:r>
                <a:rPr sz="1000" b="1" i="0">
                  <a:solidFill>
                    <a:srgbClr val="FFFFFF"/>
                  </a:solidFill>
                </a:rPr>
                <a:t>Initial</a:t>
              </a:r>
            </a:p>
          </p:txBody>
        </p:sp>
        <p:sp>
          <p:nvSpPr>
            <p:cNvPr id="153" name="TextBox 48">
              <a:extLst>
                <a:ext uri="{FF2B5EF4-FFF2-40B4-BE49-F238E27FC236}">
                  <a16:creationId xmlns:a16="http://schemas.microsoft.com/office/drawing/2014/main" id="{1E4EADA9-2F48-4A35-76D3-07442E170761}"/>
                </a:ext>
              </a:extLst>
            </p:cNvPr>
            <p:cNvSpPr txBox="1"/>
            <p:nvPr/>
          </p:nvSpPr>
          <p:spPr>
            <a:xfrm>
              <a:off x="1874519" y="5230368"/>
              <a:ext cx="3200400" cy="365760"/>
            </a:xfrm>
            <a:prstGeom prst="rect">
              <a:avLst/>
            </a:prstGeom>
            <a:noFill/>
          </p:spPr>
          <p:txBody>
            <a:bodyPr wrap="square" lIns="36000" tIns="18000" rIns="36000" bIns="18000" anchor="ctr">
              <a:spAutoFit/>
            </a:bodyPr>
            <a:lstStyle/>
            <a:p>
              <a:pPr algn="l"/>
              <a:r>
                <a:rPr sz="900" b="1" i="0">
                  <a:solidFill>
                    <a:srgbClr val="006B3F"/>
                  </a:solidFill>
                </a:rPr>
                <a:t>Status changes  NEW → TRIAGED</a:t>
              </a:r>
            </a:p>
          </p:txBody>
        </p:sp>
        <p:sp>
          <p:nvSpPr>
            <p:cNvPr id="154" name="TextBox 49">
              <a:extLst>
                <a:ext uri="{FF2B5EF4-FFF2-40B4-BE49-F238E27FC236}">
                  <a16:creationId xmlns:a16="http://schemas.microsoft.com/office/drawing/2014/main" id="{1D1BAEB5-5093-4625-FB55-DFA018F3AF0D}"/>
                </a:ext>
              </a:extLst>
            </p:cNvPr>
            <p:cNvSpPr txBox="1"/>
            <p:nvPr/>
          </p:nvSpPr>
          <p:spPr>
            <a:xfrm>
              <a:off x="5166360" y="5230368"/>
              <a:ext cx="6583680" cy="365760"/>
            </a:xfrm>
            <a:prstGeom prst="rect">
              <a:avLst/>
            </a:prstGeom>
            <a:noFill/>
          </p:spPr>
          <p:txBody>
            <a:bodyPr wrap="square" lIns="36000" tIns="18000" rIns="36000" bIns="18000" anchor="ctr">
              <a:spAutoFit/>
            </a:bodyPr>
            <a:lstStyle>
              <a:defPPr>
                <a:defRPr lang="es-MX"/>
              </a:defPPr>
              <a:lvl1pPr>
                <a:defRPr sz="900" b="0" i="0">
                  <a:solidFill>
                    <a:srgbClr val="172B4D"/>
                  </a:solidFill>
                </a:defRPr>
              </a:lvl1pPr>
            </a:lstStyle>
            <a:p>
              <a:r>
                <a:t>PM + Architect</a:t>
              </a:r>
            </a:p>
          </p:txBody>
        </p:sp>
        <p:sp>
          <p:nvSpPr>
            <p:cNvPr id="155" name="Rounded Rectangle 50">
              <a:extLst>
                <a:ext uri="{FF2B5EF4-FFF2-40B4-BE49-F238E27FC236}">
                  <a16:creationId xmlns:a16="http://schemas.microsoft.com/office/drawing/2014/main" id="{B1ED9F56-6043-DA0E-8CD2-A34755CBF07F}"/>
                </a:ext>
              </a:extLst>
            </p:cNvPr>
            <p:cNvSpPr/>
            <p:nvPr/>
          </p:nvSpPr>
          <p:spPr>
            <a:xfrm>
              <a:off x="365760" y="5559552"/>
              <a:ext cx="11475720" cy="411480"/>
            </a:xfrm>
            <a:prstGeom prst="roundRect">
              <a:avLst>
                <a:gd name="adj" fmla="val 4000"/>
              </a:avLst>
            </a:prstGeom>
            <a:noFill/>
          </p:spPr>
          <p:txBody>
            <a:bodyPr wrap="square" lIns="36000" tIns="18000" rIns="36000" bIns="18000" anchor="ctr">
              <a:spAutoFit/>
            </a:bodyPr>
            <a:lstStyle/>
            <a:p>
              <a:endParaRPr sz="900">
                <a:solidFill>
                  <a:srgbClr val="172B4D"/>
                </a:solidFill>
              </a:endParaRPr>
            </a:p>
          </p:txBody>
        </p:sp>
        <p:sp>
          <p:nvSpPr>
            <p:cNvPr id="156" name="TextBox 52">
              <a:extLst>
                <a:ext uri="{FF2B5EF4-FFF2-40B4-BE49-F238E27FC236}">
                  <a16:creationId xmlns:a16="http://schemas.microsoft.com/office/drawing/2014/main" id="{1E3514D3-18BA-A9DD-ACA7-F5EB100EA184}"/>
                </a:ext>
              </a:extLst>
            </p:cNvPr>
            <p:cNvSpPr txBox="1"/>
            <p:nvPr/>
          </p:nvSpPr>
          <p:spPr>
            <a:xfrm>
              <a:off x="365760" y="5595259"/>
              <a:ext cx="1371600" cy="340066"/>
            </a:xfrm>
            <a:prstGeom prst="rect">
              <a:avLst/>
            </a:prstGeom>
            <a:solidFill>
              <a:srgbClr val="006B3F"/>
            </a:solidFill>
          </p:spPr>
          <p:txBody>
            <a:bodyPr wrap="square" lIns="36000" tIns="18000" rIns="36000" bIns="18000" anchor="ctr">
              <a:spAutoFit/>
            </a:bodyPr>
            <a:lstStyle/>
            <a:p>
              <a:pPr algn="ctr"/>
              <a:r>
                <a:rPr sz="1000" b="1" i="0">
                  <a:solidFill>
                    <a:srgbClr val="FFFFFF"/>
                  </a:solidFill>
                </a:rPr>
                <a:t>Re-compute</a:t>
              </a:r>
            </a:p>
          </p:txBody>
        </p:sp>
        <p:sp>
          <p:nvSpPr>
            <p:cNvPr id="157" name="TextBox 53">
              <a:extLst>
                <a:ext uri="{FF2B5EF4-FFF2-40B4-BE49-F238E27FC236}">
                  <a16:creationId xmlns:a16="http://schemas.microsoft.com/office/drawing/2014/main" id="{941A3A9B-ACC8-F6B3-550E-F2B1D1AAC388}"/>
                </a:ext>
              </a:extLst>
            </p:cNvPr>
            <p:cNvSpPr txBox="1"/>
            <p:nvPr/>
          </p:nvSpPr>
          <p:spPr>
            <a:xfrm>
              <a:off x="1874519" y="5691582"/>
              <a:ext cx="3200400" cy="174851"/>
            </a:xfrm>
            <a:prstGeom prst="rect">
              <a:avLst/>
            </a:prstGeom>
            <a:noFill/>
          </p:spPr>
          <p:txBody>
            <a:bodyPr wrap="square" lIns="36000" tIns="18000" rIns="36000" bIns="18000" anchor="ctr">
              <a:spAutoFit/>
            </a:bodyPr>
            <a:lstStyle>
              <a:defPPr>
                <a:defRPr lang="es-MX"/>
              </a:defPPr>
              <a:lvl1pPr>
                <a:defRPr sz="900" b="0" i="0">
                  <a:solidFill>
                    <a:srgbClr val="172B4D"/>
                  </a:solidFill>
                </a:defRPr>
              </a:lvl1pPr>
            </a:lstStyle>
            <a:p>
              <a:r>
                <a:rPr lang="en-US" b="1">
                  <a:solidFill>
                    <a:srgbClr val="006B3F"/>
                  </a:solidFill>
                </a:rPr>
                <a:t>Any BV / UX / Safety (ITBA only) / Effort score edited</a:t>
              </a:r>
            </a:p>
          </p:txBody>
        </p:sp>
        <p:sp>
          <p:nvSpPr>
            <p:cNvPr id="158" name="TextBox 54">
              <a:extLst>
                <a:ext uri="{FF2B5EF4-FFF2-40B4-BE49-F238E27FC236}">
                  <a16:creationId xmlns:a16="http://schemas.microsoft.com/office/drawing/2014/main" id="{5C774645-A04E-9306-9F8D-DD552976E8DC}"/>
                </a:ext>
              </a:extLst>
            </p:cNvPr>
            <p:cNvSpPr txBox="1"/>
            <p:nvPr/>
          </p:nvSpPr>
          <p:spPr>
            <a:xfrm>
              <a:off x="5166360" y="5691582"/>
              <a:ext cx="6583680" cy="174851"/>
            </a:xfrm>
            <a:prstGeom prst="rect">
              <a:avLst/>
            </a:prstGeom>
            <a:noFill/>
          </p:spPr>
          <p:txBody>
            <a:bodyPr wrap="square" lIns="36000" tIns="18000" rIns="36000" bIns="18000" anchor="ctr">
              <a:spAutoFit/>
            </a:bodyPr>
            <a:lstStyle/>
            <a:p>
              <a:pPr algn="l"/>
              <a:r>
                <a:rPr sz="900" b="0" i="0">
                  <a:solidFill>
                    <a:srgbClr val="172B4D"/>
                  </a:solidFill>
                </a:rPr>
                <a:t>Triggered automatically · backlog auto-resorted </a:t>
              </a:r>
            </a:p>
          </p:txBody>
        </p:sp>
        <p:sp>
          <p:nvSpPr>
            <p:cNvPr id="159" name="Rounded Rectangle 55">
              <a:extLst>
                <a:ext uri="{FF2B5EF4-FFF2-40B4-BE49-F238E27FC236}">
                  <a16:creationId xmlns:a16="http://schemas.microsoft.com/office/drawing/2014/main" id="{B9F3C36C-34F7-F0E0-AFB7-CC0DF18AA2EF}"/>
                </a:ext>
              </a:extLst>
            </p:cNvPr>
            <p:cNvSpPr/>
            <p:nvPr/>
          </p:nvSpPr>
          <p:spPr>
            <a:xfrm>
              <a:off x="365760" y="5986637"/>
              <a:ext cx="11475720" cy="309151"/>
            </a:xfrm>
            <a:prstGeom prst="roundRect">
              <a:avLst>
                <a:gd name="adj" fmla="val 4000"/>
              </a:avLst>
            </a:prstGeom>
            <a:solidFill>
              <a:srgbClr val="FFFFFF"/>
            </a:solidFill>
            <a:ln w="127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57">
              <a:extLst>
                <a:ext uri="{FF2B5EF4-FFF2-40B4-BE49-F238E27FC236}">
                  <a16:creationId xmlns:a16="http://schemas.microsoft.com/office/drawing/2014/main" id="{BA199C65-254A-4496-F342-10A1F0F0402A}"/>
                </a:ext>
              </a:extLst>
            </p:cNvPr>
            <p:cNvSpPr txBox="1"/>
            <p:nvPr/>
          </p:nvSpPr>
          <p:spPr>
            <a:xfrm>
              <a:off x="365760" y="5986637"/>
              <a:ext cx="1371600" cy="309151"/>
            </a:xfrm>
            <a:prstGeom prst="rect">
              <a:avLst/>
            </a:prstGeom>
            <a:solidFill>
              <a:srgbClr val="006B3F"/>
            </a:solidFill>
          </p:spPr>
          <p:txBody>
            <a:bodyPr wrap="square" lIns="36000" tIns="18000" rIns="36000" bIns="18000" anchor="ctr">
              <a:spAutoFit/>
            </a:bodyPr>
            <a:lstStyle/>
            <a:p>
              <a:pPr algn="ctr"/>
              <a:r>
                <a:rPr sz="1000" b="1" i="0">
                  <a:solidFill>
                    <a:srgbClr val="FFFFFF"/>
                  </a:solidFill>
                </a:rPr>
                <a:t>Override (rare)</a:t>
              </a:r>
            </a:p>
          </p:txBody>
        </p:sp>
        <p:sp>
          <p:nvSpPr>
            <p:cNvPr id="161" name="TextBox 58">
              <a:extLst>
                <a:ext uri="{FF2B5EF4-FFF2-40B4-BE49-F238E27FC236}">
                  <a16:creationId xmlns:a16="http://schemas.microsoft.com/office/drawing/2014/main" id="{9D2D962A-6B58-8E98-A120-26BF84B6CF63}"/>
                </a:ext>
              </a:extLst>
            </p:cNvPr>
            <p:cNvSpPr txBox="1"/>
            <p:nvPr/>
          </p:nvSpPr>
          <p:spPr>
            <a:xfrm>
              <a:off x="1874519" y="6067502"/>
              <a:ext cx="3200400" cy="174851"/>
            </a:xfrm>
            <a:prstGeom prst="rect">
              <a:avLst/>
            </a:prstGeom>
            <a:noFill/>
          </p:spPr>
          <p:txBody>
            <a:bodyPr wrap="square" lIns="36000" tIns="18000" rIns="36000" bIns="18000" anchor="ctr">
              <a:spAutoFit/>
            </a:bodyPr>
            <a:lstStyle/>
            <a:p>
              <a:pPr algn="l"/>
              <a:r>
                <a:rPr lang="en-US" sz="900" b="1" i="0">
                  <a:solidFill>
                    <a:srgbClr val="006B3F"/>
                  </a:solidFill>
                </a:rPr>
                <a:t>Manual override by Director CS Apps</a:t>
              </a:r>
            </a:p>
          </p:txBody>
        </p:sp>
        <p:sp>
          <p:nvSpPr>
            <p:cNvPr id="162" name="TextBox 59">
              <a:extLst>
                <a:ext uri="{FF2B5EF4-FFF2-40B4-BE49-F238E27FC236}">
                  <a16:creationId xmlns:a16="http://schemas.microsoft.com/office/drawing/2014/main" id="{6E700797-4E1F-E363-5F11-7930A7B07795}"/>
                </a:ext>
              </a:extLst>
            </p:cNvPr>
            <p:cNvSpPr txBox="1"/>
            <p:nvPr/>
          </p:nvSpPr>
          <p:spPr>
            <a:xfrm>
              <a:off x="5166360" y="5972048"/>
              <a:ext cx="6583680" cy="365760"/>
            </a:xfrm>
            <a:prstGeom prst="rect">
              <a:avLst/>
            </a:prstGeom>
            <a:noFill/>
          </p:spPr>
          <p:txBody>
            <a:bodyPr wrap="square" lIns="36000" tIns="18000" rIns="36000" bIns="18000" anchor="ctr">
              <a:spAutoFit/>
            </a:bodyPr>
            <a:lstStyle/>
            <a:p>
              <a:pPr algn="l"/>
              <a:r>
                <a:rPr sz="900" b="0" i="0">
                  <a:solidFill>
                    <a:srgbClr val="172B4D"/>
                  </a:solidFill>
                </a:rPr>
                <a:t>Audited · requires written justification · captured for monthly review at Portfolio Committee</a:t>
              </a:r>
            </a:p>
          </p:txBody>
        </p:sp>
      </p:grpSp>
      <p:sp>
        <p:nvSpPr>
          <p:cNvPr id="164" name="TextBox 59">
            <a:extLst>
              <a:ext uri="{FF2B5EF4-FFF2-40B4-BE49-F238E27FC236}">
                <a16:creationId xmlns:a16="http://schemas.microsoft.com/office/drawing/2014/main" id="{1833A368-50CB-AD60-392B-AB042C6CDB95}"/>
              </a:ext>
            </a:extLst>
          </p:cNvPr>
          <p:cNvSpPr txBox="1"/>
          <p:nvPr/>
        </p:nvSpPr>
        <p:spPr>
          <a:xfrm>
            <a:off x="360680" y="6572102"/>
            <a:ext cx="6583680" cy="174851"/>
          </a:xfrm>
          <a:prstGeom prst="rect">
            <a:avLst/>
          </a:prstGeom>
          <a:noFill/>
        </p:spPr>
        <p:txBody>
          <a:bodyPr wrap="square" lIns="36000" tIns="18000" rIns="36000" bIns="18000" anchor="ctr">
            <a:spAutoFit/>
          </a:bodyPr>
          <a:lstStyle/>
          <a:p>
            <a:pPr algn="l"/>
            <a:r>
              <a:rPr lang="es-MX" sz="900" b="0" i="0">
                <a:solidFill>
                  <a:srgbClr val="172B4D"/>
                </a:solidFill>
              </a:rPr>
              <a:t>* </a:t>
            </a:r>
            <a:r>
              <a:rPr lang="es-MX" sz="900" b="0" i="0" err="1">
                <a:solidFill>
                  <a:srgbClr val="172B4D"/>
                </a:solidFill>
              </a:rPr>
              <a:t>Only</a:t>
            </a:r>
            <a:r>
              <a:rPr lang="es-MX" sz="900" b="0" i="0">
                <a:solidFill>
                  <a:srgbClr val="172B4D"/>
                </a:solidFill>
              </a:rPr>
              <a:t> aplicable </a:t>
            </a:r>
            <a:r>
              <a:rPr lang="es-MX" sz="900" b="0" i="0" err="1">
                <a:solidFill>
                  <a:srgbClr val="172B4D"/>
                </a:solidFill>
              </a:rPr>
              <a:t>for</a:t>
            </a:r>
            <a:r>
              <a:rPr lang="es-MX" sz="900" b="0" i="0">
                <a:solidFill>
                  <a:srgbClr val="172B4D"/>
                </a:solidFill>
              </a:rPr>
              <a:t> IT Business </a:t>
            </a:r>
            <a:r>
              <a:rPr lang="es-MX" sz="900" b="0" i="0" err="1">
                <a:solidFill>
                  <a:srgbClr val="172B4D"/>
                </a:solidFill>
              </a:rPr>
              <a:t>Applications</a:t>
            </a:r>
            <a:endParaRPr sz="900" b="0" i="0">
              <a:solidFill>
                <a:srgbClr val="172B4D"/>
              </a:solidFill>
            </a:endParaRPr>
          </a:p>
        </p:txBody>
      </p:sp>
    </p:spTree>
    <p:extLst>
      <p:ext uri="{BB962C8B-B14F-4D97-AF65-F5344CB8AC3E}">
        <p14:creationId xmlns:p14="http://schemas.microsoft.com/office/powerpoint/2010/main" val="837059616"/>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4AC0-94E1-7839-DAFF-D3C6816C0360}"/>
            </a:ext>
          </a:extLst>
        </p:cNvPr>
        <p:cNvGrpSpPr/>
        <p:nvPr/>
      </p:nvGrpSpPr>
      <p:grpSpPr>
        <a:xfrm>
          <a:off x="0" y="0"/>
          <a:ext cx="0" cy="0"/>
          <a:chOff x="0" y="0"/>
          <a:chExt cx="0" cy="0"/>
        </a:xfrm>
      </p:grpSpPr>
      <p:sp>
        <p:nvSpPr>
          <p:cNvPr id="199" name="Rounded Rectangle 9">
            <a:extLst>
              <a:ext uri="{FF2B5EF4-FFF2-40B4-BE49-F238E27FC236}">
                <a16:creationId xmlns:a16="http://schemas.microsoft.com/office/drawing/2014/main" id="{0794D468-BF59-8FB2-7F47-B96569EB37A0}"/>
              </a:ext>
            </a:extLst>
          </p:cNvPr>
          <p:cNvSpPr/>
          <p:nvPr/>
        </p:nvSpPr>
        <p:spPr>
          <a:xfrm>
            <a:off x="372823" y="1039953"/>
            <a:ext cx="11475720" cy="61666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72">
            <a:extLst>
              <a:ext uri="{FF2B5EF4-FFF2-40B4-BE49-F238E27FC236}">
                <a16:creationId xmlns:a16="http://schemas.microsoft.com/office/drawing/2014/main" id="{05F63354-A386-4080-E12B-40D34754C56D}"/>
              </a:ext>
            </a:extLst>
          </p:cNvPr>
          <p:cNvSpPr txBox="1"/>
          <p:nvPr/>
        </p:nvSpPr>
        <p:spPr>
          <a:xfrm>
            <a:off x="438353" y="1757199"/>
            <a:ext cx="5394960" cy="182880"/>
          </a:xfrm>
          <a:prstGeom prst="rect">
            <a:avLst/>
          </a:prstGeom>
          <a:noFill/>
        </p:spPr>
        <p:txBody>
          <a:bodyPr wrap="square" lIns="36000" tIns="18000" rIns="36000" bIns="18000" anchor="t">
            <a:spAutoFit/>
          </a:bodyPr>
          <a:lstStyle/>
          <a:p>
            <a:pPr algn="l"/>
            <a:r>
              <a:rPr sz="800" b="0" i="0">
                <a:solidFill>
                  <a:srgbClr val="172B4D"/>
                </a:solidFill>
              </a:rPr>
              <a:t>✓  Auto-computed removes politics · Champion can't game ranking</a:t>
            </a:r>
          </a:p>
        </p:txBody>
      </p:sp>
      <p:sp>
        <p:nvSpPr>
          <p:cNvPr id="200" name="TextBox 10">
            <a:extLst>
              <a:ext uri="{FF2B5EF4-FFF2-40B4-BE49-F238E27FC236}">
                <a16:creationId xmlns:a16="http://schemas.microsoft.com/office/drawing/2014/main" id="{06577FA7-C09E-8BE1-3DBC-A740DC301976}"/>
              </a:ext>
            </a:extLst>
          </p:cNvPr>
          <p:cNvSpPr txBox="1"/>
          <p:nvPr/>
        </p:nvSpPr>
        <p:spPr>
          <a:xfrm>
            <a:off x="509983" y="1149681"/>
            <a:ext cx="7315200" cy="292608"/>
          </a:xfrm>
          <a:prstGeom prst="rect">
            <a:avLst/>
          </a:prstGeom>
          <a:noFill/>
        </p:spPr>
        <p:txBody>
          <a:bodyPr wrap="square" lIns="36000" tIns="18000" rIns="36000" bIns="18000" anchor="ctr">
            <a:spAutoFit/>
          </a:bodyPr>
          <a:lstStyle/>
          <a:p>
            <a:r>
              <a:rPr sz="1600" b="1" i="0">
                <a:solidFill>
                  <a:srgbClr val="FFFFFF"/>
                </a:solidFill>
              </a:rPr>
              <a:t>Pain Score · Origin</a:t>
            </a:r>
            <a:r>
              <a:rPr lang="es-MX" sz="1600" b="1">
                <a:solidFill>
                  <a:srgbClr val="FFFFFF"/>
                </a:solidFill>
              </a:rPr>
              <a:t> · </a:t>
            </a:r>
            <a:r>
              <a:rPr lang="en-US" sz="1600" b="1">
                <a:solidFill>
                  <a:srgbClr val="FFFFFF"/>
                </a:solidFill>
              </a:rPr>
              <a:t>Two variants:  CS + ITBA</a:t>
            </a:r>
          </a:p>
        </p:txBody>
      </p:sp>
      <p:sp>
        <p:nvSpPr>
          <p:cNvPr id="201" name="TextBox 11">
            <a:extLst>
              <a:ext uri="{FF2B5EF4-FFF2-40B4-BE49-F238E27FC236}">
                <a16:creationId xmlns:a16="http://schemas.microsoft.com/office/drawing/2014/main" id="{BC257BAD-9819-3A87-57DD-B44F7A26CE24}"/>
              </a:ext>
            </a:extLst>
          </p:cNvPr>
          <p:cNvSpPr txBox="1"/>
          <p:nvPr/>
        </p:nvSpPr>
        <p:spPr>
          <a:xfrm>
            <a:off x="509983" y="1076529"/>
            <a:ext cx="7315200" cy="164592"/>
          </a:xfrm>
          <a:prstGeom prst="rect">
            <a:avLst/>
          </a:prstGeom>
          <a:noFill/>
        </p:spPr>
        <p:txBody>
          <a:bodyPr wrap="square" lIns="36000" tIns="18000" rIns="36000" bIns="18000" anchor="t">
            <a:spAutoFit/>
          </a:bodyPr>
          <a:lstStyle/>
          <a:p>
            <a:pPr algn="l"/>
            <a:r>
              <a:rPr sz="700" b="1" i="0">
                <a:solidFill>
                  <a:srgbClr val="E6F2EB"/>
                </a:solidFill>
              </a:rPr>
              <a:t>TYPE  ·  Numeric · auto-computed at TRIAGED status · read-only</a:t>
            </a:r>
          </a:p>
        </p:txBody>
      </p:sp>
      <p:sp>
        <p:nvSpPr>
          <p:cNvPr id="202" name="Rounded Rectangle 12">
            <a:extLst>
              <a:ext uri="{FF2B5EF4-FFF2-40B4-BE49-F238E27FC236}">
                <a16:creationId xmlns:a16="http://schemas.microsoft.com/office/drawing/2014/main" id="{5BE62BFF-992C-2683-520E-522FC1ABEABD}"/>
              </a:ext>
            </a:extLst>
          </p:cNvPr>
          <p:cNvSpPr/>
          <p:nvPr/>
        </p:nvSpPr>
        <p:spPr>
          <a:xfrm>
            <a:off x="10431223" y="1177113"/>
            <a:ext cx="1280160" cy="237744"/>
          </a:xfrm>
          <a:prstGeom prst="roundRect">
            <a:avLst>
              <a:gd name="adj" fmla="val 40000"/>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13">
            <a:extLst>
              <a:ext uri="{FF2B5EF4-FFF2-40B4-BE49-F238E27FC236}">
                <a16:creationId xmlns:a16="http://schemas.microsoft.com/office/drawing/2014/main" id="{B2341CA6-F32D-E575-F981-9A595F464B03}"/>
              </a:ext>
            </a:extLst>
          </p:cNvPr>
          <p:cNvSpPr txBox="1"/>
          <p:nvPr/>
        </p:nvSpPr>
        <p:spPr>
          <a:xfrm>
            <a:off x="10408363" y="1217703"/>
            <a:ext cx="1280160" cy="174851"/>
          </a:xfrm>
          <a:prstGeom prst="rect">
            <a:avLst/>
          </a:prstGeom>
          <a:noFill/>
        </p:spPr>
        <p:txBody>
          <a:bodyPr wrap="square" lIns="36000" tIns="18000" rIns="36000" bIns="18000" anchor="ctr">
            <a:spAutoFit/>
          </a:bodyPr>
          <a:lstStyle/>
          <a:p>
            <a:pPr algn="ctr"/>
            <a:r>
              <a:rPr sz="900" b="1" i="0"/>
              <a:t>○ READ-ONLY</a:t>
            </a:r>
          </a:p>
        </p:txBody>
      </p:sp>
      <p:sp>
        <p:nvSpPr>
          <p:cNvPr id="236" name="Rounded Rectangle 46">
            <a:extLst>
              <a:ext uri="{FF2B5EF4-FFF2-40B4-BE49-F238E27FC236}">
                <a16:creationId xmlns:a16="http://schemas.microsoft.com/office/drawing/2014/main" id="{652D5DDC-A533-F809-A808-2AC255B30CEA}"/>
              </a:ext>
            </a:extLst>
          </p:cNvPr>
          <p:cNvSpPr/>
          <p:nvPr/>
        </p:nvSpPr>
        <p:spPr>
          <a:xfrm>
            <a:off x="372823" y="1729767"/>
            <a:ext cx="5650992" cy="4401844"/>
          </a:xfrm>
          <a:prstGeom prst="roundRect">
            <a:avLst>
              <a:gd name="adj" fmla="val 3000"/>
            </a:avLst>
          </a:prstGeom>
          <a:solidFill>
            <a:srgbClr val="FFFFFF"/>
          </a:solidFill>
          <a:ln w="2540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47">
            <a:extLst>
              <a:ext uri="{FF2B5EF4-FFF2-40B4-BE49-F238E27FC236}">
                <a16:creationId xmlns:a16="http://schemas.microsoft.com/office/drawing/2014/main" id="{59AE934E-0BD7-0D69-6804-71B15A33B76F}"/>
              </a:ext>
            </a:extLst>
          </p:cNvPr>
          <p:cNvSpPr txBox="1"/>
          <p:nvPr/>
        </p:nvSpPr>
        <p:spPr>
          <a:xfrm>
            <a:off x="509983" y="1821207"/>
            <a:ext cx="5486400" cy="205629"/>
          </a:xfrm>
          <a:prstGeom prst="rect">
            <a:avLst/>
          </a:prstGeom>
          <a:noFill/>
        </p:spPr>
        <p:txBody>
          <a:bodyPr wrap="square" lIns="36000" tIns="18000" rIns="36000" bIns="18000" anchor="t">
            <a:spAutoFit/>
          </a:bodyPr>
          <a:lstStyle/>
          <a:p>
            <a:pPr algn="l"/>
            <a:r>
              <a:rPr lang="en-US" sz="1100" b="1">
                <a:solidFill>
                  <a:srgbClr val="0747A6"/>
                </a:solidFill>
              </a:rPr>
              <a:t>DIGITAL PRODUCTS · VARIANT · CS </a:t>
            </a:r>
          </a:p>
        </p:txBody>
      </p:sp>
      <p:sp>
        <p:nvSpPr>
          <p:cNvPr id="238" name="TextBox 48">
            <a:extLst>
              <a:ext uri="{FF2B5EF4-FFF2-40B4-BE49-F238E27FC236}">
                <a16:creationId xmlns:a16="http://schemas.microsoft.com/office/drawing/2014/main" id="{0A02267A-BAB5-3551-30B6-D92DA8DE5CC5}"/>
              </a:ext>
            </a:extLst>
          </p:cNvPr>
          <p:cNvSpPr txBox="1"/>
          <p:nvPr/>
        </p:nvSpPr>
        <p:spPr>
          <a:xfrm>
            <a:off x="509983" y="2022375"/>
            <a:ext cx="5486400" cy="159462"/>
          </a:xfrm>
          <a:prstGeom prst="rect">
            <a:avLst/>
          </a:prstGeom>
          <a:noFill/>
        </p:spPr>
        <p:txBody>
          <a:bodyPr wrap="square" lIns="36000" tIns="18000" rIns="36000" bIns="18000" anchor="t">
            <a:spAutoFit/>
          </a:bodyPr>
          <a:lstStyle/>
          <a:p>
            <a:pPr algn="l"/>
            <a:r>
              <a:rPr lang="es-MX" sz="800" i="1">
                <a:solidFill>
                  <a:srgbClr val="6B778C"/>
                </a:solidFill>
              </a:rPr>
              <a:t>CS: 2 </a:t>
            </a:r>
            <a:r>
              <a:rPr lang="es-MX" sz="800" i="1" err="1">
                <a:solidFill>
                  <a:srgbClr val="6B778C"/>
                </a:solidFill>
              </a:rPr>
              <a:t>components</a:t>
            </a:r>
            <a:r>
              <a:rPr lang="es-MX" sz="800" i="1">
                <a:solidFill>
                  <a:srgbClr val="6B778C"/>
                </a:solidFill>
              </a:rPr>
              <a:t> (BV+UX · UX-heavy) </a:t>
            </a:r>
          </a:p>
        </p:txBody>
      </p:sp>
      <p:sp>
        <p:nvSpPr>
          <p:cNvPr id="239" name="Rounded Rectangle 49">
            <a:extLst>
              <a:ext uri="{FF2B5EF4-FFF2-40B4-BE49-F238E27FC236}">
                <a16:creationId xmlns:a16="http://schemas.microsoft.com/office/drawing/2014/main" id="{182EEA8A-5D9A-5EF1-1B1D-51D0F048F7B7}"/>
              </a:ext>
            </a:extLst>
          </p:cNvPr>
          <p:cNvSpPr/>
          <p:nvPr/>
        </p:nvSpPr>
        <p:spPr>
          <a:xfrm>
            <a:off x="509983" y="2278407"/>
            <a:ext cx="5376672" cy="360000"/>
          </a:xfrm>
          <a:prstGeom prst="roundRect">
            <a:avLst>
              <a:gd name="adj" fmla="val 5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50">
            <a:extLst>
              <a:ext uri="{FF2B5EF4-FFF2-40B4-BE49-F238E27FC236}">
                <a16:creationId xmlns:a16="http://schemas.microsoft.com/office/drawing/2014/main" id="{D04B7157-FA54-CF98-EC8B-E577FD876AC3}"/>
              </a:ext>
            </a:extLst>
          </p:cNvPr>
          <p:cNvSpPr txBox="1"/>
          <p:nvPr/>
        </p:nvSpPr>
        <p:spPr>
          <a:xfrm>
            <a:off x="509983" y="2344762"/>
            <a:ext cx="5376672" cy="221018"/>
          </a:xfrm>
          <a:prstGeom prst="rect">
            <a:avLst/>
          </a:prstGeom>
          <a:noFill/>
        </p:spPr>
        <p:txBody>
          <a:bodyPr wrap="square" lIns="36000" tIns="18000" rIns="36000" bIns="18000" anchor="ctr">
            <a:spAutoFit/>
          </a:bodyPr>
          <a:lstStyle/>
          <a:p>
            <a:pPr algn="ctr"/>
            <a:r>
              <a:rPr sz="1200" b="1">
                <a:solidFill>
                  <a:schemeClr val="bg1"/>
                </a:solidFill>
              </a:rPr>
              <a:t>CS:  Pain Score = (BV·OPCOmult·0.40 + UX·0.60) / Effort        </a:t>
            </a:r>
            <a:endParaRPr lang="pt-BR" sz="1200" b="1">
              <a:solidFill>
                <a:schemeClr val="bg1"/>
              </a:solidFill>
            </a:endParaRPr>
          </a:p>
        </p:txBody>
      </p:sp>
      <p:sp>
        <p:nvSpPr>
          <p:cNvPr id="241" name="TextBox 51">
            <a:extLst>
              <a:ext uri="{FF2B5EF4-FFF2-40B4-BE49-F238E27FC236}">
                <a16:creationId xmlns:a16="http://schemas.microsoft.com/office/drawing/2014/main" id="{FBF284B7-ED6D-7086-580F-65FE25983757}"/>
              </a:ext>
            </a:extLst>
          </p:cNvPr>
          <p:cNvSpPr txBox="1"/>
          <p:nvPr/>
        </p:nvSpPr>
        <p:spPr>
          <a:xfrm>
            <a:off x="509983" y="2743963"/>
            <a:ext cx="5486400" cy="190240"/>
          </a:xfrm>
          <a:prstGeom prst="rect">
            <a:avLst/>
          </a:prstGeom>
          <a:noFill/>
        </p:spPr>
        <p:txBody>
          <a:bodyPr wrap="square" lIns="36000" tIns="18000" rIns="36000" bIns="18000" anchor="t">
            <a:spAutoFit/>
          </a:bodyPr>
          <a:lstStyle/>
          <a:p>
            <a:pPr algn="l"/>
            <a:r>
              <a:rPr sz="1000" b="1">
                <a:solidFill>
                  <a:srgbClr val="0747A6"/>
                </a:solidFill>
              </a:rPr>
              <a:t>WHY DIFFERENT WEIGHTS PER VS · CS=customer-first</a:t>
            </a:r>
          </a:p>
        </p:txBody>
      </p:sp>
      <p:grpSp>
        <p:nvGrpSpPr>
          <p:cNvPr id="70" name="Grupo 69">
            <a:extLst>
              <a:ext uri="{FF2B5EF4-FFF2-40B4-BE49-F238E27FC236}">
                <a16:creationId xmlns:a16="http://schemas.microsoft.com/office/drawing/2014/main" id="{0F999A86-9215-9A0B-46DA-31F077FE7130}"/>
              </a:ext>
            </a:extLst>
          </p:cNvPr>
          <p:cNvGrpSpPr/>
          <p:nvPr/>
        </p:nvGrpSpPr>
        <p:grpSpPr>
          <a:xfrm>
            <a:off x="509983" y="2989292"/>
            <a:ext cx="5376672" cy="502920"/>
            <a:chOff x="509983" y="2954275"/>
            <a:chExt cx="5376672" cy="502920"/>
          </a:xfrm>
        </p:grpSpPr>
        <p:sp>
          <p:nvSpPr>
            <p:cNvPr id="242" name="Rounded Rectangle 52">
              <a:extLst>
                <a:ext uri="{FF2B5EF4-FFF2-40B4-BE49-F238E27FC236}">
                  <a16:creationId xmlns:a16="http://schemas.microsoft.com/office/drawing/2014/main" id="{FF6A357D-4B34-8F97-D8B5-9C7532CB3257}"/>
                </a:ext>
              </a:extLst>
            </p:cNvPr>
            <p:cNvSpPr/>
            <p:nvPr/>
          </p:nvSpPr>
          <p:spPr>
            <a:xfrm>
              <a:off x="509983" y="29542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53">
              <a:extLst>
                <a:ext uri="{FF2B5EF4-FFF2-40B4-BE49-F238E27FC236}">
                  <a16:creationId xmlns:a16="http://schemas.microsoft.com/office/drawing/2014/main" id="{9DE2EA4B-B2EF-6A80-8A26-8D1F8B58146D}"/>
                </a:ext>
              </a:extLst>
            </p:cNvPr>
            <p:cNvSpPr txBox="1"/>
            <p:nvPr/>
          </p:nvSpPr>
          <p:spPr>
            <a:xfrm>
              <a:off x="619710" y="2999995"/>
              <a:ext cx="1465265" cy="190240"/>
            </a:xfrm>
            <a:prstGeom prst="rect">
              <a:avLst/>
            </a:prstGeom>
            <a:noFill/>
          </p:spPr>
          <p:txBody>
            <a:bodyPr wrap="square" lIns="36000" tIns="18000" rIns="36000" bIns="18000" anchor="t">
              <a:spAutoFit/>
            </a:bodyPr>
            <a:lstStyle/>
            <a:p>
              <a:pPr algn="l"/>
              <a:r>
                <a:rPr lang="en-US" sz="1000" b="1">
                  <a:solidFill>
                    <a:srgbClr val="0747A6"/>
                  </a:solidFill>
                </a:rPr>
                <a:t>BV  ·  CS 0.40 / ITBA 0.45</a:t>
              </a:r>
            </a:p>
          </p:txBody>
        </p:sp>
        <p:sp>
          <p:nvSpPr>
            <p:cNvPr id="244" name="TextBox 54">
              <a:extLst>
                <a:ext uri="{FF2B5EF4-FFF2-40B4-BE49-F238E27FC236}">
                  <a16:creationId xmlns:a16="http://schemas.microsoft.com/office/drawing/2014/main" id="{1C1C341A-9F02-B763-1199-B2FA18264DE1}"/>
                </a:ext>
              </a:extLst>
            </p:cNvPr>
            <p:cNvSpPr txBox="1"/>
            <p:nvPr/>
          </p:nvSpPr>
          <p:spPr>
            <a:xfrm>
              <a:off x="619711" y="3201163"/>
              <a:ext cx="2560320" cy="201168"/>
            </a:xfrm>
            <a:prstGeom prst="rect">
              <a:avLst/>
            </a:prstGeom>
            <a:noFill/>
          </p:spPr>
          <p:txBody>
            <a:bodyPr wrap="square" lIns="36000" tIns="18000" rIns="36000" bIns="18000" anchor="t">
              <a:spAutoFit/>
            </a:bodyPr>
            <a:lstStyle/>
            <a:p>
              <a:pPr algn="l"/>
              <a:r>
                <a:rPr sz="800" b="0" i="1">
                  <a:solidFill>
                    <a:srgbClr val="172B4D"/>
                  </a:solidFill>
                </a:rPr>
                <a:t>absorbs Frequency + Time Lost + Cost</a:t>
              </a:r>
            </a:p>
          </p:txBody>
        </p:sp>
        <p:sp>
          <p:nvSpPr>
            <p:cNvPr id="245" name="TextBox 55">
              <a:extLst>
                <a:ext uri="{FF2B5EF4-FFF2-40B4-BE49-F238E27FC236}">
                  <a16:creationId xmlns:a16="http://schemas.microsoft.com/office/drawing/2014/main" id="{79EAA229-A868-2452-3C55-56F3493B999A}"/>
                </a:ext>
              </a:extLst>
            </p:cNvPr>
            <p:cNvSpPr txBox="1"/>
            <p:nvPr/>
          </p:nvSpPr>
          <p:spPr>
            <a:xfrm>
              <a:off x="3271471" y="2999995"/>
              <a:ext cx="2606040" cy="411480"/>
            </a:xfrm>
            <a:prstGeom prst="rect">
              <a:avLst/>
            </a:prstGeom>
            <a:noFill/>
          </p:spPr>
          <p:txBody>
            <a:bodyPr wrap="square" lIns="36000" tIns="18000" rIns="36000" bIns="18000" anchor="t">
              <a:spAutoFit/>
            </a:bodyPr>
            <a:lstStyle/>
            <a:p>
              <a:pPr algn="l"/>
              <a:r>
                <a:rPr sz="800" b="0" i="0">
                  <a:solidFill>
                    <a:srgbClr val="42526E"/>
                  </a:solidFill>
                </a:rPr>
                <a:t>Quantified business impact</a:t>
              </a:r>
            </a:p>
          </p:txBody>
        </p:sp>
      </p:grpSp>
      <p:grpSp>
        <p:nvGrpSpPr>
          <p:cNvPr id="69" name="Grupo 68">
            <a:extLst>
              <a:ext uri="{FF2B5EF4-FFF2-40B4-BE49-F238E27FC236}">
                <a16:creationId xmlns:a16="http://schemas.microsoft.com/office/drawing/2014/main" id="{E460C662-A83D-8509-FC02-26B936A58835}"/>
              </a:ext>
            </a:extLst>
          </p:cNvPr>
          <p:cNvGrpSpPr/>
          <p:nvPr/>
        </p:nvGrpSpPr>
        <p:grpSpPr>
          <a:xfrm>
            <a:off x="509983" y="3547301"/>
            <a:ext cx="5376672" cy="502920"/>
            <a:chOff x="509983" y="3521203"/>
            <a:chExt cx="5376672" cy="502920"/>
          </a:xfrm>
        </p:grpSpPr>
        <p:sp>
          <p:nvSpPr>
            <p:cNvPr id="246" name="Rounded Rectangle 56">
              <a:extLst>
                <a:ext uri="{FF2B5EF4-FFF2-40B4-BE49-F238E27FC236}">
                  <a16:creationId xmlns:a16="http://schemas.microsoft.com/office/drawing/2014/main" id="{E16CD210-2004-3EE2-9C41-E4729ECF9DCD}"/>
                </a:ext>
              </a:extLst>
            </p:cNvPr>
            <p:cNvSpPr/>
            <p:nvPr/>
          </p:nvSpPr>
          <p:spPr>
            <a:xfrm>
              <a:off x="509983" y="3521203"/>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57">
              <a:extLst>
                <a:ext uri="{FF2B5EF4-FFF2-40B4-BE49-F238E27FC236}">
                  <a16:creationId xmlns:a16="http://schemas.microsoft.com/office/drawing/2014/main" id="{40888B0F-C97D-10E5-5347-3801409D0EDD}"/>
                </a:ext>
              </a:extLst>
            </p:cNvPr>
            <p:cNvSpPr txBox="1"/>
            <p:nvPr/>
          </p:nvSpPr>
          <p:spPr>
            <a:xfrm>
              <a:off x="619710" y="3566923"/>
              <a:ext cx="1500435" cy="190240"/>
            </a:xfrm>
            <a:prstGeom prst="rect">
              <a:avLst/>
            </a:prstGeom>
            <a:noFill/>
          </p:spPr>
          <p:txBody>
            <a:bodyPr wrap="square" lIns="36000" tIns="18000" rIns="36000" bIns="18000" anchor="t">
              <a:spAutoFit/>
            </a:bodyPr>
            <a:lstStyle/>
            <a:p>
              <a:r>
                <a:rPr lang="en-US" sz="1000" b="1">
                  <a:solidFill>
                    <a:srgbClr val="0747A6"/>
                  </a:solidFill>
                </a:rPr>
                <a:t>UX  ·  CS 0.60 / ITBA 0.30</a:t>
              </a:r>
            </a:p>
          </p:txBody>
        </p:sp>
        <p:sp>
          <p:nvSpPr>
            <p:cNvPr id="248" name="TextBox 58">
              <a:extLst>
                <a:ext uri="{FF2B5EF4-FFF2-40B4-BE49-F238E27FC236}">
                  <a16:creationId xmlns:a16="http://schemas.microsoft.com/office/drawing/2014/main" id="{89CF4C50-AC9D-A845-DB63-4D9F5262EFB4}"/>
                </a:ext>
              </a:extLst>
            </p:cNvPr>
            <p:cNvSpPr txBox="1"/>
            <p:nvPr/>
          </p:nvSpPr>
          <p:spPr>
            <a:xfrm>
              <a:off x="619711" y="3768091"/>
              <a:ext cx="2560320" cy="201168"/>
            </a:xfrm>
            <a:prstGeom prst="rect">
              <a:avLst/>
            </a:prstGeom>
            <a:noFill/>
          </p:spPr>
          <p:txBody>
            <a:bodyPr wrap="square" lIns="36000" tIns="18000" rIns="36000" bIns="18000" anchor="t">
              <a:spAutoFit/>
            </a:bodyPr>
            <a:lstStyle/>
            <a:p>
              <a:pPr algn="l"/>
              <a:r>
                <a:rPr sz="800" b="0" i="1">
                  <a:solidFill>
                    <a:srgbClr val="172B4D"/>
                  </a:solidFill>
                </a:rPr>
                <a:t>absorbs Frustration + Customer Experience</a:t>
              </a:r>
            </a:p>
          </p:txBody>
        </p:sp>
        <p:sp>
          <p:nvSpPr>
            <p:cNvPr id="249" name="TextBox 59">
              <a:extLst>
                <a:ext uri="{FF2B5EF4-FFF2-40B4-BE49-F238E27FC236}">
                  <a16:creationId xmlns:a16="http://schemas.microsoft.com/office/drawing/2014/main" id="{4C900BF4-F9A8-9A8F-B511-6C66D96CDD3E}"/>
                </a:ext>
              </a:extLst>
            </p:cNvPr>
            <p:cNvSpPr txBox="1"/>
            <p:nvPr/>
          </p:nvSpPr>
          <p:spPr>
            <a:xfrm>
              <a:off x="3271471" y="3566923"/>
              <a:ext cx="2606040" cy="411480"/>
            </a:xfrm>
            <a:prstGeom prst="rect">
              <a:avLst/>
            </a:prstGeom>
            <a:noFill/>
          </p:spPr>
          <p:txBody>
            <a:bodyPr wrap="square" lIns="36000" tIns="18000" rIns="36000" bIns="18000" anchor="t">
              <a:spAutoFit/>
            </a:bodyPr>
            <a:lstStyle/>
            <a:p>
              <a:pPr algn="l"/>
              <a:r>
                <a:rPr sz="800" b="0" i="0">
                  <a:solidFill>
                    <a:srgbClr val="42526E"/>
                  </a:solidFill>
                </a:rPr>
                <a:t>CS is customer-facing — UX wins</a:t>
              </a:r>
            </a:p>
          </p:txBody>
        </p:sp>
      </p:grpSp>
      <p:sp>
        <p:nvSpPr>
          <p:cNvPr id="258" name="TextBox 68">
            <a:extLst>
              <a:ext uri="{FF2B5EF4-FFF2-40B4-BE49-F238E27FC236}">
                <a16:creationId xmlns:a16="http://schemas.microsoft.com/office/drawing/2014/main" id="{616181F4-CD00-5811-2EED-FC57A9EB496B}"/>
              </a:ext>
            </a:extLst>
          </p:cNvPr>
          <p:cNvSpPr txBox="1"/>
          <p:nvPr/>
        </p:nvSpPr>
        <p:spPr>
          <a:xfrm>
            <a:off x="5036263" y="6201025"/>
            <a:ext cx="5486400" cy="201168"/>
          </a:xfrm>
          <a:prstGeom prst="rect">
            <a:avLst/>
          </a:prstGeom>
          <a:noFill/>
        </p:spPr>
        <p:txBody>
          <a:bodyPr wrap="square" lIns="36000" tIns="18000" rIns="36000" bIns="18000" anchor="t">
            <a:spAutoFit/>
          </a:bodyPr>
          <a:lstStyle/>
          <a:p>
            <a:pPr algn="l"/>
            <a:r>
              <a:rPr sz="800" b="1" i="0">
                <a:solidFill>
                  <a:srgbClr val="006B3F"/>
                </a:solidFill>
              </a:rPr>
              <a:t>WHY IT MAKES SENSE FOR AVANGRID</a:t>
            </a:r>
          </a:p>
        </p:txBody>
      </p:sp>
      <p:sp>
        <p:nvSpPr>
          <p:cNvPr id="259" name="TextBox 69">
            <a:extLst>
              <a:ext uri="{FF2B5EF4-FFF2-40B4-BE49-F238E27FC236}">
                <a16:creationId xmlns:a16="http://schemas.microsoft.com/office/drawing/2014/main" id="{F4F9E48F-BBB7-7BC4-D31D-EDD773BA4A2B}"/>
              </a:ext>
            </a:extLst>
          </p:cNvPr>
          <p:cNvSpPr txBox="1"/>
          <p:nvPr/>
        </p:nvSpPr>
        <p:spPr>
          <a:xfrm>
            <a:off x="847707" y="6472393"/>
            <a:ext cx="5394960" cy="182880"/>
          </a:xfrm>
          <a:prstGeom prst="rect">
            <a:avLst/>
          </a:prstGeom>
          <a:noFill/>
        </p:spPr>
        <p:txBody>
          <a:bodyPr wrap="square" lIns="36000" tIns="18000" rIns="36000" bIns="18000" anchor="t">
            <a:spAutoFit/>
          </a:bodyPr>
          <a:lstStyle/>
          <a:p>
            <a:pPr algn="l"/>
            <a:r>
              <a:rPr sz="800" b="0" i="0">
                <a:solidFill>
                  <a:srgbClr val="172B4D"/>
                </a:solidFill>
              </a:rPr>
              <a:t>✓  Utility-calibrated · Safety isolated · not buried in BV</a:t>
            </a:r>
          </a:p>
        </p:txBody>
      </p:sp>
      <p:sp>
        <p:nvSpPr>
          <p:cNvPr id="260" name="TextBox 70">
            <a:extLst>
              <a:ext uri="{FF2B5EF4-FFF2-40B4-BE49-F238E27FC236}">
                <a16:creationId xmlns:a16="http://schemas.microsoft.com/office/drawing/2014/main" id="{6C78B7DF-DB66-D593-FEC7-E4BE64FC9920}"/>
              </a:ext>
            </a:extLst>
          </p:cNvPr>
          <p:cNvSpPr txBox="1"/>
          <p:nvPr/>
        </p:nvSpPr>
        <p:spPr>
          <a:xfrm>
            <a:off x="3394272" y="6467082"/>
            <a:ext cx="5394960" cy="182880"/>
          </a:xfrm>
          <a:prstGeom prst="rect">
            <a:avLst/>
          </a:prstGeom>
          <a:noFill/>
        </p:spPr>
        <p:txBody>
          <a:bodyPr wrap="square" lIns="36000" tIns="18000" rIns="36000" bIns="18000" anchor="t">
            <a:spAutoFit/>
          </a:bodyPr>
          <a:lstStyle/>
          <a:p>
            <a:pPr algn="l"/>
            <a:r>
              <a:rPr sz="800" b="0" i="0">
                <a:solidFill>
                  <a:srgbClr val="172B4D"/>
                </a:solidFill>
              </a:rPr>
              <a:t>✓  UX-heavy reflects CS strategy (customer-first)</a:t>
            </a:r>
          </a:p>
        </p:txBody>
      </p:sp>
      <p:sp>
        <p:nvSpPr>
          <p:cNvPr id="261" name="TextBox 71">
            <a:extLst>
              <a:ext uri="{FF2B5EF4-FFF2-40B4-BE49-F238E27FC236}">
                <a16:creationId xmlns:a16="http://schemas.microsoft.com/office/drawing/2014/main" id="{F5822730-F41B-DBBC-9DEA-E8B4AD872B51}"/>
              </a:ext>
            </a:extLst>
          </p:cNvPr>
          <p:cNvSpPr txBox="1"/>
          <p:nvPr/>
        </p:nvSpPr>
        <p:spPr>
          <a:xfrm>
            <a:off x="5754019" y="6471607"/>
            <a:ext cx="5394960" cy="182880"/>
          </a:xfrm>
          <a:prstGeom prst="rect">
            <a:avLst/>
          </a:prstGeom>
          <a:noFill/>
        </p:spPr>
        <p:txBody>
          <a:bodyPr wrap="square" lIns="36000" tIns="18000" rIns="36000" bIns="18000" anchor="t">
            <a:spAutoFit/>
          </a:bodyPr>
          <a:lstStyle/>
          <a:p>
            <a:pPr algn="l"/>
            <a:r>
              <a:rPr sz="800" b="0" i="0">
                <a:solidFill>
                  <a:srgbClr val="172B4D"/>
                </a:solidFill>
              </a:rPr>
              <a:t>✓  Comparable cross-VS · 4 DVS share same formula</a:t>
            </a:r>
          </a:p>
        </p:txBody>
      </p:sp>
      <p:sp>
        <p:nvSpPr>
          <p:cNvPr id="262" name="TextBox 72">
            <a:extLst>
              <a:ext uri="{FF2B5EF4-FFF2-40B4-BE49-F238E27FC236}">
                <a16:creationId xmlns:a16="http://schemas.microsoft.com/office/drawing/2014/main" id="{D7A78C38-88A0-F499-1AA7-DCFC06855F05}"/>
              </a:ext>
            </a:extLst>
          </p:cNvPr>
          <p:cNvSpPr txBox="1"/>
          <p:nvPr/>
        </p:nvSpPr>
        <p:spPr>
          <a:xfrm>
            <a:off x="8487393" y="6485960"/>
            <a:ext cx="5394960" cy="159462"/>
          </a:xfrm>
          <a:prstGeom prst="rect">
            <a:avLst/>
          </a:prstGeom>
          <a:noFill/>
        </p:spPr>
        <p:txBody>
          <a:bodyPr wrap="square" lIns="36000" tIns="18000" rIns="36000" bIns="18000" anchor="t">
            <a:spAutoFit/>
          </a:bodyPr>
          <a:lstStyle/>
          <a:p>
            <a:pPr algn="l"/>
            <a:r>
              <a:rPr lang="en-US" sz="800">
                <a:solidFill>
                  <a:srgbClr val="172B4D"/>
                </a:solidFill>
              </a:rPr>
              <a:t>Auto-computed removes politics · Reviewers can't game ranking</a:t>
            </a:r>
          </a:p>
        </p:txBody>
      </p:sp>
      <p:sp>
        <p:nvSpPr>
          <p:cNvPr id="2" name="Text Placeholder 19">
            <a:extLst>
              <a:ext uri="{FF2B5EF4-FFF2-40B4-BE49-F238E27FC236}">
                <a16:creationId xmlns:a16="http://schemas.microsoft.com/office/drawing/2014/main" id="{B910662C-1A35-33F2-742C-F7DA52FAE8A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P</a:t>
            </a:r>
            <a:r>
              <a:rPr kumimoji="0" lang="en-US" sz="2000" b="1" i="0" u="none" strike="noStrike" kern="1200" cap="none" spc="0" normalizeH="0" baseline="0" noProof="0" err="1">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ain</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 score origin</a:t>
            </a:r>
          </a:p>
        </p:txBody>
      </p:sp>
      <p:sp>
        <p:nvSpPr>
          <p:cNvPr id="4" name="Elipse 3">
            <a:extLst>
              <a:ext uri="{FF2B5EF4-FFF2-40B4-BE49-F238E27FC236}">
                <a16:creationId xmlns:a16="http://schemas.microsoft.com/office/drawing/2014/main" id="{A5F5FEF1-EE94-33E1-14DB-5E6D3B9FDA68}"/>
              </a:ext>
            </a:extLst>
          </p:cNvPr>
          <p:cNvSpPr/>
          <p:nvPr/>
        </p:nvSpPr>
        <p:spPr>
          <a:xfrm>
            <a:off x="12431139" y="144367"/>
            <a:ext cx="1329070" cy="637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JAvi</a:t>
            </a:r>
            <a:endParaRPr lang="es-MX"/>
          </a:p>
        </p:txBody>
      </p:sp>
      <p:sp>
        <p:nvSpPr>
          <p:cNvPr id="5" name="TextBox 72">
            <a:extLst>
              <a:ext uri="{FF2B5EF4-FFF2-40B4-BE49-F238E27FC236}">
                <a16:creationId xmlns:a16="http://schemas.microsoft.com/office/drawing/2014/main" id="{65DE2A84-0B69-6BE6-7E26-CEC1C833B314}"/>
              </a:ext>
            </a:extLst>
          </p:cNvPr>
          <p:cNvSpPr txBox="1"/>
          <p:nvPr/>
        </p:nvSpPr>
        <p:spPr>
          <a:xfrm>
            <a:off x="6236690" y="1762068"/>
            <a:ext cx="5394960" cy="182880"/>
          </a:xfrm>
          <a:prstGeom prst="rect">
            <a:avLst/>
          </a:prstGeom>
          <a:noFill/>
        </p:spPr>
        <p:txBody>
          <a:bodyPr wrap="square" lIns="36000" tIns="18000" rIns="36000" bIns="18000" anchor="t">
            <a:spAutoFit/>
          </a:bodyPr>
          <a:lstStyle/>
          <a:p>
            <a:pPr algn="l"/>
            <a:r>
              <a:rPr sz="800" b="0" i="0">
                <a:solidFill>
                  <a:srgbClr val="172B4D"/>
                </a:solidFill>
              </a:rPr>
              <a:t>✓  Auto-computed removes politics · Champion can't game ranking</a:t>
            </a:r>
          </a:p>
        </p:txBody>
      </p:sp>
      <p:sp>
        <p:nvSpPr>
          <p:cNvPr id="6" name="Rounded Rectangle 46">
            <a:extLst>
              <a:ext uri="{FF2B5EF4-FFF2-40B4-BE49-F238E27FC236}">
                <a16:creationId xmlns:a16="http://schemas.microsoft.com/office/drawing/2014/main" id="{CD58DB2D-AE69-B9B1-E033-F28A31A417D0}"/>
              </a:ext>
            </a:extLst>
          </p:cNvPr>
          <p:cNvSpPr/>
          <p:nvPr/>
        </p:nvSpPr>
        <p:spPr>
          <a:xfrm>
            <a:off x="6171160" y="1734636"/>
            <a:ext cx="5650992" cy="4396975"/>
          </a:xfrm>
          <a:prstGeom prst="roundRect">
            <a:avLst>
              <a:gd name="adj" fmla="val 3000"/>
            </a:avLst>
          </a:prstGeom>
          <a:solidFill>
            <a:srgbClr val="FFFFFF"/>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47">
            <a:extLst>
              <a:ext uri="{FF2B5EF4-FFF2-40B4-BE49-F238E27FC236}">
                <a16:creationId xmlns:a16="http://schemas.microsoft.com/office/drawing/2014/main" id="{87C65002-0DF1-4DBC-A5D3-EB9996339360}"/>
              </a:ext>
            </a:extLst>
          </p:cNvPr>
          <p:cNvSpPr txBox="1"/>
          <p:nvPr/>
        </p:nvSpPr>
        <p:spPr>
          <a:xfrm>
            <a:off x="6308320" y="1826076"/>
            <a:ext cx="5486400" cy="205629"/>
          </a:xfrm>
          <a:prstGeom prst="rect">
            <a:avLst/>
          </a:prstGeom>
          <a:noFill/>
        </p:spPr>
        <p:txBody>
          <a:bodyPr wrap="square" lIns="36000" tIns="18000" rIns="36000" bIns="18000" anchor="t">
            <a:spAutoFit/>
          </a:bodyPr>
          <a:lstStyle/>
          <a:p>
            <a:pPr algn="l"/>
            <a:r>
              <a:rPr lang="en-US" sz="1100" b="1">
                <a:solidFill>
                  <a:srgbClr val="0747A6"/>
                </a:solidFill>
              </a:rPr>
              <a:t>DIGITAL PRODUCTS · VARIANT · ITBA</a:t>
            </a:r>
          </a:p>
        </p:txBody>
      </p:sp>
      <p:sp>
        <p:nvSpPr>
          <p:cNvPr id="8" name="TextBox 48">
            <a:extLst>
              <a:ext uri="{FF2B5EF4-FFF2-40B4-BE49-F238E27FC236}">
                <a16:creationId xmlns:a16="http://schemas.microsoft.com/office/drawing/2014/main" id="{9BBE1CDF-D4DF-6CD5-F26B-AC0254FA6B1B}"/>
              </a:ext>
            </a:extLst>
          </p:cNvPr>
          <p:cNvSpPr txBox="1"/>
          <p:nvPr/>
        </p:nvSpPr>
        <p:spPr>
          <a:xfrm>
            <a:off x="6308320" y="2027244"/>
            <a:ext cx="5486400" cy="159462"/>
          </a:xfrm>
          <a:prstGeom prst="rect">
            <a:avLst/>
          </a:prstGeom>
          <a:noFill/>
        </p:spPr>
        <p:txBody>
          <a:bodyPr wrap="square" lIns="36000" tIns="18000" rIns="36000" bIns="18000" anchor="t">
            <a:spAutoFit/>
          </a:bodyPr>
          <a:lstStyle/>
          <a:p>
            <a:pPr algn="l"/>
            <a:r>
              <a:rPr lang="es-MX" sz="800" i="1">
                <a:solidFill>
                  <a:srgbClr val="6B778C"/>
                </a:solidFill>
              </a:rPr>
              <a:t>ITBA: 3 </a:t>
            </a:r>
            <a:r>
              <a:rPr lang="es-MX" sz="800" i="1" err="1">
                <a:solidFill>
                  <a:srgbClr val="6B778C"/>
                </a:solidFill>
              </a:rPr>
              <a:t>components</a:t>
            </a:r>
            <a:r>
              <a:rPr lang="es-MX" sz="800" i="1">
                <a:solidFill>
                  <a:srgbClr val="6B778C"/>
                </a:solidFill>
              </a:rPr>
              <a:t> (</a:t>
            </a:r>
            <a:r>
              <a:rPr lang="es-MX" sz="800" i="1" err="1">
                <a:solidFill>
                  <a:srgbClr val="6B778C"/>
                </a:solidFill>
              </a:rPr>
              <a:t>BV+UX+Safety</a:t>
            </a:r>
            <a:r>
              <a:rPr lang="es-MX" sz="800" i="1">
                <a:solidFill>
                  <a:srgbClr val="6B778C"/>
                </a:solidFill>
              </a:rPr>
              <a:t> · BV-heavy)</a:t>
            </a:r>
          </a:p>
        </p:txBody>
      </p:sp>
      <p:sp>
        <p:nvSpPr>
          <p:cNvPr id="9" name="Rounded Rectangle 49">
            <a:extLst>
              <a:ext uri="{FF2B5EF4-FFF2-40B4-BE49-F238E27FC236}">
                <a16:creationId xmlns:a16="http://schemas.microsoft.com/office/drawing/2014/main" id="{2C66F952-C01F-ECA6-57A1-FFCF64C526EA}"/>
              </a:ext>
            </a:extLst>
          </p:cNvPr>
          <p:cNvSpPr/>
          <p:nvPr/>
        </p:nvSpPr>
        <p:spPr>
          <a:xfrm>
            <a:off x="6308320" y="2283276"/>
            <a:ext cx="5376672" cy="360000"/>
          </a:xfrm>
          <a:prstGeom prst="roundRect">
            <a:avLst>
              <a:gd name="adj" fmla="val 5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50">
            <a:extLst>
              <a:ext uri="{FF2B5EF4-FFF2-40B4-BE49-F238E27FC236}">
                <a16:creationId xmlns:a16="http://schemas.microsoft.com/office/drawing/2014/main" id="{9B35443A-A886-77D6-3570-D7FA28A2EB19}"/>
              </a:ext>
            </a:extLst>
          </p:cNvPr>
          <p:cNvSpPr txBox="1"/>
          <p:nvPr/>
        </p:nvSpPr>
        <p:spPr>
          <a:xfrm>
            <a:off x="6308320" y="2349631"/>
            <a:ext cx="5376672" cy="221018"/>
          </a:xfrm>
          <a:prstGeom prst="rect">
            <a:avLst/>
          </a:prstGeom>
          <a:noFill/>
        </p:spPr>
        <p:txBody>
          <a:bodyPr wrap="square" lIns="36000" tIns="18000" rIns="36000" bIns="18000" anchor="ctr">
            <a:spAutoFit/>
          </a:bodyPr>
          <a:lstStyle/>
          <a:p>
            <a:pPr algn="ctr"/>
            <a:r>
              <a:rPr sz="1200" b="1">
                <a:solidFill>
                  <a:schemeClr val="bg1"/>
                </a:solidFill>
              </a:rPr>
              <a:t>ITBA:  Pain Score = (BV·OPCOmult·0.45 + UX·0.30 + Safety·0.25) / Effort</a:t>
            </a:r>
          </a:p>
        </p:txBody>
      </p:sp>
      <p:sp>
        <p:nvSpPr>
          <p:cNvPr id="11" name="TextBox 51">
            <a:extLst>
              <a:ext uri="{FF2B5EF4-FFF2-40B4-BE49-F238E27FC236}">
                <a16:creationId xmlns:a16="http://schemas.microsoft.com/office/drawing/2014/main" id="{34BED84B-4216-C551-A6DA-F972224D82D8}"/>
              </a:ext>
            </a:extLst>
          </p:cNvPr>
          <p:cNvSpPr txBox="1"/>
          <p:nvPr/>
        </p:nvSpPr>
        <p:spPr>
          <a:xfrm>
            <a:off x="6308320" y="2748832"/>
            <a:ext cx="5486400" cy="190240"/>
          </a:xfrm>
          <a:prstGeom prst="rect">
            <a:avLst/>
          </a:prstGeom>
          <a:noFill/>
        </p:spPr>
        <p:txBody>
          <a:bodyPr wrap="square" lIns="36000" tIns="18000" rIns="36000" bIns="18000" anchor="t">
            <a:spAutoFit/>
          </a:bodyPr>
          <a:lstStyle/>
          <a:p>
            <a:pPr algn="l"/>
            <a:r>
              <a:rPr sz="1000" b="1">
                <a:solidFill>
                  <a:srgbClr val="0747A6"/>
                </a:solidFill>
              </a:rPr>
              <a:t>WHY DIFFERENT WEIGHTS PER VS · ITBA=grid-first</a:t>
            </a:r>
          </a:p>
        </p:txBody>
      </p:sp>
      <p:grpSp>
        <p:nvGrpSpPr>
          <p:cNvPr id="73" name="Grupo 72">
            <a:extLst>
              <a:ext uri="{FF2B5EF4-FFF2-40B4-BE49-F238E27FC236}">
                <a16:creationId xmlns:a16="http://schemas.microsoft.com/office/drawing/2014/main" id="{C66885A6-13D5-1957-C204-6A3B955DC8EC}"/>
              </a:ext>
            </a:extLst>
          </p:cNvPr>
          <p:cNvGrpSpPr/>
          <p:nvPr/>
        </p:nvGrpSpPr>
        <p:grpSpPr>
          <a:xfrm>
            <a:off x="6337816" y="4101118"/>
            <a:ext cx="5376672" cy="502920"/>
            <a:chOff x="6337816" y="4105847"/>
            <a:chExt cx="5376672" cy="502920"/>
          </a:xfrm>
        </p:grpSpPr>
        <p:sp>
          <p:nvSpPr>
            <p:cNvPr id="20" name="Rounded Rectangle 60">
              <a:extLst>
                <a:ext uri="{FF2B5EF4-FFF2-40B4-BE49-F238E27FC236}">
                  <a16:creationId xmlns:a16="http://schemas.microsoft.com/office/drawing/2014/main" id="{91F4AFB0-3661-4250-A5EC-BB0BE189494A}"/>
                </a:ext>
              </a:extLst>
            </p:cNvPr>
            <p:cNvSpPr/>
            <p:nvPr/>
          </p:nvSpPr>
          <p:spPr>
            <a:xfrm>
              <a:off x="6337816" y="4105847"/>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61">
              <a:extLst>
                <a:ext uri="{FF2B5EF4-FFF2-40B4-BE49-F238E27FC236}">
                  <a16:creationId xmlns:a16="http://schemas.microsoft.com/office/drawing/2014/main" id="{67FEC00E-A46E-3B67-2F98-482717E31D4C}"/>
                </a:ext>
              </a:extLst>
            </p:cNvPr>
            <p:cNvSpPr txBox="1"/>
            <p:nvPr/>
          </p:nvSpPr>
          <p:spPr>
            <a:xfrm>
              <a:off x="6447544" y="4151567"/>
              <a:ext cx="1544396" cy="190240"/>
            </a:xfrm>
            <a:prstGeom prst="rect">
              <a:avLst/>
            </a:prstGeom>
            <a:noFill/>
          </p:spPr>
          <p:txBody>
            <a:bodyPr wrap="square" lIns="36000" tIns="18000" rIns="36000" bIns="18000" anchor="t">
              <a:spAutoFit/>
            </a:bodyPr>
            <a:lstStyle/>
            <a:p>
              <a:pPr algn="l"/>
              <a:r>
                <a:rPr lang="es-MX" sz="1000" b="1">
                  <a:solidFill>
                    <a:srgbClr val="0747A6"/>
                  </a:solidFill>
                </a:rPr>
                <a:t>Safety</a:t>
              </a:r>
            </a:p>
          </p:txBody>
        </p:sp>
        <p:sp>
          <p:nvSpPr>
            <p:cNvPr id="22" name="TextBox 62">
              <a:extLst>
                <a:ext uri="{FF2B5EF4-FFF2-40B4-BE49-F238E27FC236}">
                  <a16:creationId xmlns:a16="http://schemas.microsoft.com/office/drawing/2014/main" id="{F6604653-CDD0-76C7-A2E2-60AD049B340C}"/>
                </a:ext>
              </a:extLst>
            </p:cNvPr>
            <p:cNvSpPr txBox="1"/>
            <p:nvPr/>
          </p:nvSpPr>
          <p:spPr>
            <a:xfrm>
              <a:off x="6447544" y="4352735"/>
              <a:ext cx="2560320" cy="159462"/>
            </a:xfrm>
            <a:prstGeom prst="rect">
              <a:avLst/>
            </a:prstGeom>
            <a:noFill/>
          </p:spPr>
          <p:txBody>
            <a:bodyPr wrap="square" lIns="36000" tIns="18000" rIns="36000" bIns="18000" anchor="t">
              <a:spAutoFit/>
            </a:bodyPr>
            <a:lstStyle/>
            <a:p>
              <a:pPr algn="l"/>
              <a:r>
                <a:rPr lang="es-MX" sz="800" i="1">
                  <a:solidFill>
                    <a:srgbClr val="172B4D"/>
                  </a:solidFill>
                </a:rPr>
                <a:t>applies only to ITBA</a:t>
              </a:r>
            </a:p>
          </p:txBody>
        </p:sp>
        <p:sp>
          <p:nvSpPr>
            <p:cNvPr id="23" name="TextBox 63">
              <a:extLst>
                <a:ext uri="{FF2B5EF4-FFF2-40B4-BE49-F238E27FC236}">
                  <a16:creationId xmlns:a16="http://schemas.microsoft.com/office/drawing/2014/main" id="{B29666EA-9B73-A5D9-4700-E7FBF0BDE966}"/>
                </a:ext>
              </a:extLst>
            </p:cNvPr>
            <p:cNvSpPr txBox="1"/>
            <p:nvPr/>
          </p:nvSpPr>
          <p:spPr>
            <a:xfrm>
              <a:off x="9099304" y="4151567"/>
              <a:ext cx="2606040" cy="411480"/>
            </a:xfrm>
            <a:prstGeom prst="rect">
              <a:avLst/>
            </a:prstGeom>
            <a:noFill/>
          </p:spPr>
          <p:txBody>
            <a:bodyPr wrap="square" lIns="36000" tIns="18000" rIns="36000" bIns="18000" anchor="t">
              <a:spAutoFit/>
            </a:bodyPr>
            <a:lstStyle/>
            <a:p>
              <a:pPr algn="l"/>
              <a:r>
                <a:rPr sz="800" b="0" i="0">
                  <a:solidFill>
                    <a:srgbClr val="42526E"/>
                  </a:solidFill>
                </a:rPr>
                <a:t>Field crew · public · regulatory</a:t>
              </a:r>
            </a:p>
          </p:txBody>
        </p:sp>
      </p:grpSp>
      <p:grpSp>
        <p:nvGrpSpPr>
          <p:cNvPr id="72" name="Grupo 71">
            <a:extLst>
              <a:ext uri="{FF2B5EF4-FFF2-40B4-BE49-F238E27FC236}">
                <a16:creationId xmlns:a16="http://schemas.microsoft.com/office/drawing/2014/main" id="{054AFCC2-03DF-BB11-B13D-5776DBA9C2FC}"/>
              </a:ext>
            </a:extLst>
          </p:cNvPr>
          <p:cNvGrpSpPr/>
          <p:nvPr/>
        </p:nvGrpSpPr>
        <p:grpSpPr>
          <a:xfrm>
            <a:off x="6337816" y="4674540"/>
            <a:ext cx="5376672" cy="502920"/>
            <a:chOff x="6337816" y="4672775"/>
            <a:chExt cx="5376672" cy="502920"/>
          </a:xfrm>
        </p:grpSpPr>
        <p:sp>
          <p:nvSpPr>
            <p:cNvPr id="24" name="Rounded Rectangle 64">
              <a:extLst>
                <a:ext uri="{FF2B5EF4-FFF2-40B4-BE49-F238E27FC236}">
                  <a16:creationId xmlns:a16="http://schemas.microsoft.com/office/drawing/2014/main" id="{D1E18289-D1AF-C973-E8D8-AE066604DEB7}"/>
                </a:ext>
              </a:extLst>
            </p:cNvPr>
            <p:cNvSpPr/>
            <p:nvPr/>
          </p:nvSpPr>
          <p:spPr>
            <a:xfrm>
              <a:off x="6337816" y="46727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65">
              <a:extLst>
                <a:ext uri="{FF2B5EF4-FFF2-40B4-BE49-F238E27FC236}">
                  <a16:creationId xmlns:a16="http://schemas.microsoft.com/office/drawing/2014/main" id="{8323018A-F647-881A-8E41-8105DAA8C935}"/>
                </a:ext>
              </a:extLst>
            </p:cNvPr>
            <p:cNvSpPr txBox="1"/>
            <p:nvPr/>
          </p:nvSpPr>
          <p:spPr>
            <a:xfrm>
              <a:off x="6447544" y="4718495"/>
              <a:ext cx="1371600" cy="201168"/>
            </a:xfrm>
            <a:prstGeom prst="rect">
              <a:avLst/>
            </a:prstGeom>
            <a:noFill/>
          </p:spPr>
          <p:txBody>
            <a:bodyPr wrap="square" lIns="36000" tIns="18000" rIns="36000" bIns="18000" anchor="t">
              <a:spAutoFit/>
            </a:bodyPr>
            <a:lstStyle/>
            <a:p>
              <a:pPr algn="l"/>
              <a:r>
                <a:rPr sz="1000" b="1" i="0">
                  <a:solidFill>
                    <a:srgbClr val="0747A6"/>
                  </a:solidFill>
                </a:rPr>
                <a:t>Effort</a:t>
              </a:r>
            </a:p>
          </p:txBody>
        </p:sp>
        <p:sp>
          <p:nvSpPr>
            <p:cNvPr id="26" name="TextBox 66">
              <a:extLst>
                <a:ext uri="{FF2B5EF4-FFF2-40B4-BE49-F238E27FC236}">
                  <a16:creationId xmlns:a16="http://schemas.microsoft.com/office/drawing/2014/main" id="{FDEC83E7-EA15-7DF2-579E-269265EB3B49}"/>
                </a:ext>
              </a:extLst>
            </p:cNvPr>
            <p:cNvSpPr txBox="1"/>
            <p:nvPr/>
          </p:nvSpPr>
          <p:spPr>
            <a:xfrm>
              <a:off x="6447544" y="4919663"/>
              <a:ext cx="2560320" cy="201168"/>
            </a:xfrm>
            <a:prstGeom prst="rect">
              <a:avLst/>
            </a:prstGeom>
            <a:noFill/>
          </p:spPr>
          <p:txBody>
            <a:bodyPr wrap="square" lIns="36000" tIns="18000" rIns="36000" bIns="18000" anchor="t">
              <a:spAutoFit/>
            </a:bodyPr>
            <a:lstStyle/>
            <a:p>
              <a:pPr algn="l"/>
              <a:r>
                <a:rPr sz="800" b="0" i="1">
                  <a:solidFill>
                    <a:srgbClr val="172B4D"/>
                  </a:solidFill>
                </a:rPr>
                <a:t>moves to denominator</a:t>
              </a:r>
            </a:p>
          </p:txBody>
        </p:sp>
        <p:sp>
          <p:nvSpPr>
            <p:cNvPr id="27" name="TextBox 67">
              <a:extLst>
                <a:ext uri="{FF2B5EF4-FFF2-40B4-BE49-F238E27FC236}">
                  <a16:creationId xmlns:a16="http://schemas.microsoft.com/office/drawing/2014/main" id="{47DED912-9011-FDF1-A562-B73C793DC88E}"/>
                </a:ext>
              </a:extLst>
            </p:cNvPr>
            <p:cNvSpPr txBox="1"/>
            <p:nvPr/>
          </p:nvSpPr>
          <p:spPr>
            <a:xfrm>
              <a:off x="9099304" y="4718495"/>
              <a:ext cx="2606040" cy="411480"/>
            </a:xfrm>
            <a:prstGeom prst="rect">
              <a:avLst/>
            </a:prstGeom>
            <a:noFill/>
          </p:spPr>
          <p:txBody>
            <a:bodyPr wrap="square" lIns="36000" tIns="18000" rIns="36000" bIns="18000" anchor="t">
              <a:spAutoFit/>
            </a:bodyPr>
            <a:lstStyle/>
            <a:p>
              <a:pPr algn="l"/>
              <a:r>
                <a:rPr sz="800" b="0" i="0">
                  <a:solidFill>
                    <a:srgbClr val="42526E"/>
                  </a:solidFill>
                </a:rPr>
                <a:t>Forces ROI thinking · high-effort low-value sinks</a:t>
              </a:r>
            </a:p>
          </p:txBody>
        </p:sp>
      </p:grpSp>
      <p:grpSp>
        <p:nvGrpSpPr>
          <p:cNvPr id="75" name="Grupo 74">
            <a:extLst>
              <a:ext uri="{FF2B5EF4-FFF2-40B4-BE49-F238E27FC236}">
                <a16:creationId xmlns:a16="http://schemas.microsoft.com/office/drawing/2014/main" id="{1D6809D7-FF11-FD10-05F3-2F8E0F7B8085}"/>
              </a:ext>
            </a:extLst>
          </p:cNvPr>
          <p:cNvGrpSpPr/>
          <p:nvPr/>
        </p:nvGrpSpPr>
        <p:grpSpPr>
          <a:xfrm>
            <a:off x="6337816" y="2954275"/>
            <a:ext cx="5376672" cy="502920"/>
            <a:chOff x="6339283" y="2954275"/>
            <a:chExt cx="5376672" cy="502920"/>
          </a:xfrm>
        </p:grpSpPr>
        <p:sp>
          <p:nvSpPr>
            <p:cNvPr id="36" name="Rounded Rectangle 52">
              <a:extLst>
                <a:ext uri="{FF2B5EF4-FFF2-40B4-BE49-F238E27FC236}">
                  <a16:creationId xmlns:a16="http://schemas.microsoft.com/office/drawing/2014/main" id="{90A81F8B-A8EC-A1BE-5588-70971579986C}"/>
                </a:ext>
              </a:extLst>
            </p:cNvPr>
            <p:cNvSpPr/>
            <p:nvPr/>
          </p:nvSpPr>
          <p:spPr>
            <a:xfrm>
              <a:off x="6339283" y="29542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53">
              <a:extLst>
                <a:ext uri="{FF2B5EF4-FFF2-40B4-BE49-F238E27FC236}">
                  <a16:creationId xmlns:a16="http://schemas.microsoft.com/office/drawing/2014/main" id="{53BCF092-28DC-B80C-62AA-9EAB075DC655}"/>
                </a:ext>
              </a:extLst>
            </p:cNvPr>
            <p:cNvSpPr txBox="1"/>
            <p:nvPr/>
          </p:nvSpPr>
          <p:spPr>
            <a:xfrm>
              <a:off x="6449010" y="2999995"/>
              <a:ext cx="1465265" cy="190240"/>
            </a:xfrm>
            <a:prstGeom prst="rect">
              <a:avLst/>
            </a:prstGeom>
            <a:noFill/>
          </p:spPr>
          <p:txBody>
            <a:bodyPr wrap="square" lIns="36000" tIns="18000" rIns="36000" bIns="18000" anchor="t">
              <a:spAutoFit/>
            </a:bodyPr>
            <a:lstStyle/>
            <a:p>
              <a:pPr algn="l"/>
              <a:r>
                <a:rPr lang="en-US" sz="1000" b="1">
                  <a:solidFill>
                    <a:srgbClr val="0747A6"/>
                  </a:solidFill>
                </a:rPr>
                <a:t>BV  </a:t>
              </a:r>
            </a:p>
          </p:txBody>
        </p:sp>
        <p:sp>
          <p:nvSpPr>
            <p:cNvPr id="38" name="TextBox 54">
              <a:extLst>
                <a:ext uri="{FF2B5EF4-FFF2-40B4-BE49-F238E27FC236}">
                  <a16:creationId xmlns:a16="http://schemas.microsoft.com/office/drawing/2014/main" id="{AE9A839E-86E8-2538-FE37-8AAE1B5525D0}"/>
                </a:ext>
              </a:extLst>
            </p:cNvPr>
            <p:cNvSpPr txBox="1"/>
            <p:nvPr/>
          </p:nvSpPr>
          <p:spPr>
            <a:xfrm>
              <a:off x="6449011" y="3201163"/>
              <a:ext cx="2560320" cy="201168"/>
            </a:xfrm>
            <a:prstGeom prst="rect">
              <a:avLst/>
            </a:prstGeom>
            <a:noFill/>
          </p:spPr>
          <p:txBody>
            <a:bodyPr wrap="square" lIns="36000" tIns="18000" rIns="36000" bIns="18000" anchor="t">
              <a:spAutoFit/>
            </a:bodyPr>
            <a:lstStyle/>
            <a:p>
              <a:pPr algn="l"/>
              <a:r>
                <a:rPr sz="800" b="0" i="1">
                  <a:solidFill>
                    <a:srgbClr val="172B4D"/>
                  </a:solidFill>
                </a:rPr>
                <a:t>absorbs Frequency + Time Lost + Cost</a:t>
              </a:r>
            </a:p>
          </p:txBody>
        </p:sp>
        <p:sp>
          <p:nvSpPr>
            <p:cNvPr id="39" name="TextBox 55">
              <a:extLst>
                <a:ext uri="{FF2B5EF4-FFF2-40B4-BE49-F238E27FC236}">
                  <a16:creationId xmlns:a16="http://schemas.microsoft.com/office/drawing/2014/main" id="{99F0249E-2BD5-070D-B98D-8CD0F072A9B1}"/>
                </a:ext>
              </a:extLst>
            </p:cNvPr>
            <p:cNvSpPr txBox="1"/>
            <p:nvPr/>
          </p:nvSpPr>
          <p:spPr>
            <a:xfrm>
              <a:off x="9100771" y="2999995"/>
              <a:ext cx="2606040" cy="411480"/>
            </a:xfrm>
            <a:prstGeom prst="rect">
              <a:avLst/>
            </a:prstGeom>
            <a:noFill/>
          </p:spPr>
          <p:txBody>
            <a:bodyPr wrap="square" lIns="36000" tIns="18000" rIns="36000" bIns="18000" anchor="t">
              <a:spAutoFit/>
            </a:bodyPr>
            <a:lstStyle/>
            <a:p>
              <a:pPr algn="l"/>
              <a:r>
                <a:rPr sz="800" b="0" i="0">
                  <a:solidFill>
                    <a:srgbClr val="42526E"/>
                  </a:solidFill>
                </a:rPr>
                <a:t>Quantified business impact</a:t>
              </a:r>
            </a:p>
          </p:txBody>
        </p:sp>
      </p:grpSp>
      <p:grpSp>
        <p:nvGrpSpPr>
          <p:cNvPr id="74" name="Grupo 73">
            <a:extLst>
              <a:ext uri="{FF2B5EF4-FFF2-40B4-BE49-F238E27FC236}">
                <a16:creationId xmlns:a16="http://schemas.microsoft.com/office/drawing/2014/main" id="{54220685-9C46-DE57-8633-F834F8010E22}"/>
              </a:ext>
            </a:extLst>
          </p:cNvPr>
          <p:cNvGrpSpPr/>
          <p:nvPr/>
        </p:nvGrpSpPr>
        <p:grpSpPr>
          <a:xfrm>
            <a:off x="6337816" y="3527697"/>
            <a:ext cx="5376672" cy="502920"/>
            <a:chOff x="6339283" y="3521203"/>
            <a:chExt cx="5376672" cy="502920"/>
          </a:xfrm>
        </p:grpSpPr>
        <p:sp>
          <p:nvSpPr>
            <p:cNvPr id="40" name="Rounded Rectangle 56">
              <a:extLst>
                <a:ext uri="{FF2B5EF4-FFF2-40B4-BE49-F238E27FC236}">
                  <a16:creationId xmlns:a16="http://schemas.microsoft.com/office/drawing/2014/main" id="{D1ADA7DA-9FB5-C41B-8AAC-245F89C93837}"/>
                </a:ext>
              </a:extLst>
            </p:cNvPr>
            <p:cNvSpPr/>
            <p:nvPr/>
          </p:nvSpPr>
          <p:spPr>
            <a:xfrm>
              <a:off x="6339283" y="3521203"/>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57">
              <a:extLst>
                <a:ext uri="{FF2B5EF4-FFF2-40B4-BE49-F238E27FC236}">
                  <a16:creationId xmlns:a16="http://schemas.microsoft.com/office/drawing/2014/main" id="{E968A325-9B51-29B3-58AD-3F7C747B8F32}"/>
                </a:ext>
              </a:extLst>
            </p:cNvPr>
            <p:cNvSpPr txBox="1"/>
            <p:nvPr/>
          </p:nvSpPr>
          <p:spPr>
            <a:xfrm>
              <a:off x="6449010" y="3566923"/>
              <a:ext cx="1500435" cy="190240"/>
            </a:xfrm>
            <a:prstGeom prst="rect">
              <a:avLst/>
            </a:prstGeom>
            <a:noFill/>
          </p:spPr>
          <p:txBody>
            <a:bodyPr wrap="square" lIns="36000" tIns="18000" rIns="36000" bIns="18000" anchor="t">
              <a:spAutoFit/>
            </a:bodyPr>
            <a:lstStyle/>
            <a:p>
              <a:r>
                <a:rPr lang="en-US" sz="1000" b="1">
                  <a:solidFill>
                    <a:srgbClr val="0747A6"/>
                  </a:solidFill>
                </a:rPr>
                <a:t>UX </a:t>
              </a:r>
            </a:p>
          </p:txBody>
        </p:sp>
        <p:sp>
          <p:nvSpPr>
            <p:cNvPr id="42" name="TextBox 58">
              <a:extLst>
                <a:ext uri="{FF2B5EF4-FFF2-40B4-BE49-F238E27FC236}">
                  <a16:creationId xmlns:a16="http://schemas.microsoft.com/office/drawing/2014/main" id="{8D780881-D74F-1928-B09E-D96CFAFC0A94}"/>
                </a:ext>
              </a:extLst>
            </p:cNvPr>
            <p:cNvSpPr txBox="1"/>
            <p:nvPr/>
          </p:nvSpPr>
          <p:spPr>
            <a:xfrm>
              <a:off x="6449011" y="3768091"/>
              <a:ext cx="2560320" cy="201168"/>
            </a:xfrm>
            <a:prstGeom prst="rect">
              <a:avLst/>
            </a:prstGeom>
            <a:noFill/>
          </p:spPr>
          <p:txBody>
            <a:bodyPr wrap="square" lIns="36000" tIns="18000" rIns="36000" bIns="18000" anchor="t">
              <a:spAutoFit/>
            </a:bodyPr>
            <a:lstStyle/>
            <a:p>
              <a:pPr algn="l"/>
              <a:r>
                <a:rPr sz="800" b="0" i="1">
                  <a:solidFill>
                    <a:srgbClr val="172B4D"/>
                  </a:solidFill>
                </a:rPr>
                <a:t>absorbs Frustration + Customer Experience</a:t>
              </a:r>
            </a:p>
          </p:txBody>
        </p:sp>
        <p:sp>
          <p:nvSpPr>
            <p:cNvPr id="43" name="TextBox 59">
              <a:extLst>
                <a:ext uri="{FF2B5EF4-FFF2-40B4-BE49-F238E27FC236}">
                  <a16:creationId xmlns:a16="http://schemas.microsoft.com/office/drawing/2014/main" id="{D310E943-1038-D510-6592-FA5CD21F6425}"/>
                </a:ext>
              </a:extLst>
            </p:cNvPr>
            <p:cNvSpPr txBox="1"/>
            <p:nvPr/>
          </p:nvSpPr>
          <p:spPr>
            <a:xfrm>
              <a:off x="9100771" y="3566923"/>
              <a:ext cx="2606040" cy="411480"/>
            </a:xfrm>
            <a:prstGeom prst="rect">
              <a:avLst/>
            </a:prstGeom>
            <a:noFill/>
          </p:spPr>
          <p:txBody>
            <a:bodyPr wrap="square" lIns="36000" tIns="18000" rIns="36000" bIns="18000" anchor="t">
              <a:spAutoFit/>
            </a:bodyPr>
            <a:lstStyle/>
            <a:p>
              <a:pPr algn="l"/>
              <a:r>
                <a:rPr sz="800" b="0" i="0">
                  <a:solidFill>
                    <a:srgbClr val="42526E"/>
                  </a:solidFill>
                </a:rPr>
                <a:t>CS is customer-facing — UX wins</a:t>
              </a:r>
            </a:p>
          </p:txBody>
        </p:sp>
      </p:grpSp>
      <p:grpSp>
        <p:nvGrpSpPr>
          <p:cNvPr id="71" name="Grupo 70">
            <a:extLst>
              <a:ext uri="{FF2B5EF4-FFF2-40B4-BE49-F238E27FC236}">
                <a16:creationId xmlns:a16="http://schemas.microsoft.com/office/drawing/2014/main" id="{B82CD1D7-4874-89DD-2438-BA94E5CD49C6}"/>
              </a:ext>
            </a:extLst>
          </p:cNvPr>
          <p:cNvGrpSpPr/>
          <p:nvPr/>
        </p:nvGrpSpPr>
        <p:grpSpPr>
          <a:xfrm>
            <a:off x="6337816" y="5247961"/>
            <a:ext cx="5376672" cy="502920"/>
            <a:chOff x="6352565" y="5247961"/>
            <a:chExt cx="5376672" cy="502920"/>
          </a:xfrm>
        </p:grpSpPr>
        <p:sp>
          <p:nvSpPr>
            <p:cNvPr id="47" name="Rounded Rectangle 64">
              <a:extLst>
                <a:ext uri="{FF2B5EF4-FFF2-40B4-BE49-F238E27FC236}">
                  <a16:creationId xmlns:a16="http://schemas.microsoft.com/office/drawing/2014/main" id="{8B09F3A4-EB23-6C06-7D41-A5CFCBEF39BA}"/>
                </a:ext>
              </a:extLst>
            </p:cNvPr>
            <p:cNvSpPr/>
            <p:nvPr/>
          </p:nvSpPr>
          <p:spPr>
            <a:xfrm>
              <a:off x="6352565" y="5247961"/>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65">
              <a:extLst>
                <a:ext uri="{FF2B5EF4-FFF2-40B4-BE49-F238E27FC236}">
                  <a16:creationId xmlns:a16="http://schemas.microsoft.com/office/drawing/2014/main" id="{7F767F3D-C265-17CF-13FB-948D9521F7C4}"/>
                </a:ext>
              </a:extLst>
            </p:cNvPr>
            <p:cNvSpPr txBox="1"/>
            <p:nvPr/>
          </p:nvSpPr>
          <p:spPr>
            <a:xfrm>
              <a:off x="6462293" y="5293681"/>
              <a:ext cx="1371600" cy="190240"/>
            </a:xfrm>
            <a:prstGeom prst="rect">
              <a:avLst/>
            </a:prstGeom>
            <a:noFill/>
          </p:spPr>
          <p:txBody>
            <a:bodyPr wrap="square" lIns="36000" tIns="18000" rIns="36000" bIns="18000" anchor="t">
              <a:spAutoFit/>
            </a:bodyPr>
            <a:lstStyle/>
            <a:p>
              <a:pPr algn="l"/>
              <a:r>
                <a:rPr lang="es-MX" sz="1000" b="1" i="0" err="1">
                  <a:solidFill>
                    <a:srgbClr val="0747A6"/>
                  </a:solidFill>
                </a:rPr>
                <a:t>OPCOmult</a:t>
              </a:r>
              <a:endParaRPr sz="1000" b="1" i="0">
                <a:solidFill>
                  <a:srgbClr val="0747A6"/>
                </a:solidFill>
              </a:endParaRPr>
            </a:p>
          </p:txBody>
        </p:sp>
        <p:sp>
          <p:nvSpPr>
            <p:cNvPr id="49" name="TextBox 66">
              <a:extLst>
                <a:ext uri="{FF2B5EF4-FFF2-40B4-BE49-F238E27FC236}">
                  <a16:creationId xmlns:a16="http://schemas.microsoft.com/office/drawing/2014/main" id="{88AE9324-C8D7-7DDE-E943-4B6C5FC5F792}"/>
                </a:ext>
              </a:extLst>
            </p:cNvPr>
            <p:cNvSpPr txBox="1"/>
            <p:nvPr/>
          </p:nvSpPr>
          <p:spPr>
            <a:xfrm>
              <a:off x="6462293" y="5494849"/>
              <a:ext cx="2560320" cy="159462"/>
            </a:xfrm>
            <a:prstGeom prst="rect">
              <a:avLst/>
            </a:prstGeom>
            <a:noFill/>
          </p:spPr>
          <p:txBody>
            <a:bodyPr wrap="square" lIns="36000" tIns="18000" rIns="36000" bIns="18000" anchor="t">
              <a:spAutoFit/>
            </a:bodyPr>
            <a:lstStyle/>
            <a:p>
              <a:r>
                <a:rPr lang="en-US" sz="800" i="1">
                  <a:solidFill>
                    <a:srgbClr val="172B4D"/>
                  </a:solidFill>
                </a:rPr>
                <a:t>moves to value and impact</a:t>
              </a:r>
              <a:endParaRPr sz="800" i="1">
                <a:solidFill>
                  <a:srgbClr val="172B4D"/>
                </a:solidFill>
              </a:endParaRPr>
            </a:p>
          </p:txBody>
        </p:sp>
        <p:sp>
          <p:nvSpPr>
            <p:cNvPr id="50" name="TextBox 67">
              <a:extLst>
                <a:ext uri="{FF2B5EF4-FFF2-40B4-BE49-F238E27FC236}">
                  <a16:creationId xmlns:a16="http://schemas.microsoft.com/office/drawing/2014/main" id="{D50D94B1-EAB2-CB49-9F83-73E1EB971479}"/>
                </a:ext>
              </a:extLst>
            </p:cNvPr>
            <p:cNvSpPr txBox="1"/>
            <p:nvPr/>
          </p:nvSpPr>
          <p:spPr>
            <a:xfrm>
              <a:off x="9114053" y="5293681"/>
              <a:ext cx="2606040" cy="159462"/>
            </a:xfrm>
            <a:prstGeom prst="rect">
              <a:avLst/>
            </a:prstGeom>
            <a:noFill/>
          </p:spPr>
          <p:txBody>
            <a:bodyPr wrap="square" lIns="36000" tIns="18000" rIns="36000" bIns="18000" anchor="t">
              <a:spAutoFit/>
            </a:bodyPr>
            <a:lstStyle/>
            <a:p>
              <a:r>
                <a:rPr lang="es-MX" sz="800">
                  <a:solidFill>
                    <a:srgbClr val="42526E"/>
                  </a:solidFill>
                </a:rPr>
                <a:t>Business </a:t>
              </a:r>
              <a:r>
                <a:rPr lang="es-MX" sz="800" err="1">
                  <a:solidFill>
                    <a:srgbClr val="42526E"/>
                  </a:solidFill>
                </a:rPr>
                <a:t>impact</a:t>
              </a:r>
              <a:endParaRPr sz="800" b="0" i="0">
                <a:solidFill>
                  <a:srgbClr val="42526E"/>
                </a:solidFill>
              </a:endParaRPr>
            </a:p>
          </p:txBody>
        </p:sp>
      </p:grpSp>
      <p:grpSp>
        <p:nvGrpSpPr>
          <p:cNvPr id="68" name="Grupo 67">
            <a:extLst>
              <a:ext uri="{FF2B5EF4-FFF2-40B4-BE49-F238E27FC236}">
                <a16:creationId xmlns:a16="http://schemas.microsoft.com/office/drawing/2014/main" id="{F8907E66-86E8-4358-1D7F-976617D574DF}"/>
              </a:ext>
            </a:extLst>
          </p:cNvPr>
          <p:cNvGrpSpPr/>
          <p:nvPr/>
        </p:nvGrpSpPr>
        <p:grpSpPr>
          <a:xfrm>
            <a:off x="509983" y="4105310"/>
            <a:ext cx="5376672" cy="502920"/>
            <a:chOff x="510806" y="4088131"/>
            <a:chExt cx="5376672" cy="502920"/>
          </a:xfrm>
        </p:grpSpPr>
        <p:sp>
          <p:nvSpPr>
            <p:cNvPr id="59" name="Rounded Rectangle 64">
              <a:extLst>
                <a:ext uri="{FF2B5EF4-FFF2-40B4-BE49-F238E27FC236}">
                  <a16:creationId xmlns:a16="http://schemas.microsoft.com/office/drawing/2014/main" id="{B9F2B620-D26D-C9D9-1067-A6AC749FBD50}"/>
                </a:ext>
              </a:extLst>
            </p:cNvPr>
            <p:cNvSpPr/>
            <p:nvPr/>
          </p:nvSpPr>
          <p:spPr>
            <a:xfrm>
              <a:off x="510806" y="4088131"/>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5">
              <a:extLst>
                <a:ext uri="{FF2B5EF4-FFF2-40B4-BE49-F238E27FC236}">
                  <a16:creationId xmlns:a16="http://schemas.microsoft.com/office/drawing/2014/main" id="{AE8B53F4-A5A9-53A1-6D22-070D27017427}"/>
                </a:ext>
              </a:extLst>
            </p:cNvPr>
            <p:cNvSpPr txBox="1"/>
            <p:nvPr/>
          </p:nvSpPr>
          <p:spPr>
            <a:xfrm>
              <a:off x="620534" y="4133851"/>
              <a:ext cx="1371600" cy="201168"/>
            </a:xfrm>
            <a:prstGeom prst="rect">
              <a:avLst/>
            </a:prstGeom>
            <a:noFill/>
          </p:spPr>
          <p:txBody>
            <a:bodyPr wrap="square" lIns="36000" tIns="18000" rIns="36000" bIns="18000" anchor="t">
              <a:spAutoFit/>
            </a:bodyPr>
            <a:lstStyle/>
            <a:p>
              <a:pPr algn="l"/>
              <a:r>
                <a:rPr sz="1000" b="1" i="0">
                  <a:solidFill>
                    <a:srgbClr val="0747A6"/>
                  </a:solidFill>
                </a:rPr>
                <a:t>Effort</a:t>
              </a:r>
            </a:p>
          </p:txBody>
        </p:sp>
        <p:sp>
          <p:nvSpPr>
            <p:cNvPr id="61" name="TextBox 66">
              <a:extLst>
                <a:ext uri="{FF2B5EF4-FFF2-40B4-BE49-F238E27FC236}">
                  <a16:creationId xmlns:a16="http://schemas.microsoft.com/office/drawing/2014/main" id="{8B878384-B4F8-10F9-A041-B3A3F01A2FBD}"/>
                </a:ext>
              </a:extLst>
            </p:cNvPr>
            <p:cNvSpPr txBox="1"/>
            <p:nvPr/>
          </p:nvSpPr>
          <p:spPr>
            <a:xfrm>
              <a:off x="620534" y="4335019"/>
              <a:ext cx="2560320" cy="201168"/>
            </a:xfrm>
            <a:prstGeom prst="rect">
              <a:avLst/>
            </a:prstGeom>
            <a:noFill/>
          </p:spPr>
          <p:txBody>
            <a:bodyPr wrap="square" lIns="36000" tIns="18000" rIns="36000" bIns="18000" anchor="t">
              <a:spAutoFit/>
            </a:bodyPr>
            <a:lstStyle/>
            <a:p>
              <a:pPr algn="l"/>
              <a:r>
                <a:rPr sz="800" b="0" i="1">
                  <a:solidFill>
                    <a:srgbClr val="172B4D"/>
                  </a:solidFill>
                </a:rPr>
                <a:t>moves to denominator</a:t>
              </a:r>
            </a:p>
          </p:txBody>
        </p:sp>
        <p:sp>
          <p:nvSpPr>
            <p:cNvPr id="62" name="TextBox 67">
              <a:extLst>
                <a:ext uri="{FF2B5EF4-FFF2-40B4-BE49-F238E27FC236}">
                  <a16:creationId xmlns:a16="http://schemas.microsoft.com/office/drawing/2014/main" id="{71D5A816-09D3-2022-A031-A883D2189BED}"/>
                </a:ext>
              </a:extLst>
            </p:cNvPr>
            <p:cNvSpPr txBox="1"/>
            <p:nvPr/>
          </p:nvSpPr>
          <p:spPr>
            <a:xfrm>
              <a:off x="3272294" y="4133851"/>
              <a:ext cx="2606040" cy="411480"/>
            </a:xfrm>
            <a:prstGeom prst="rect">
              <a:avLst/>
            </a:prstGeom>
            <a:noFill/>
          </p:spPr>
          <p:txBody>
            <a:bodyPr wrap="square" lIns="36000" tIns="18000" rIns="36000" bIns="18000" anchor="t">
              <a:spAutoFit/>
            </a:bodyPr>
            <a:lstStyle/>
            <a:p>
              <a:pPr algn="l"/>
              <a:r>
                <a:rPr sz="800" b="0" i="0">
                  <a:solidFill>
                    <a:srgbClr val="42526E"/>
                  </a:solidFill>
                </a:rPr>
                <a:t>Forces ROI thinking · high-effort low-value sinks</a:t>
              </a:r>
            </a:p>
          </p:txBody>
        </p:sp>
      </p:grpSp>
      <p:grpSp>
        <p:nvGrpSpPr>
          <p:cNvPr id="67" name="Grupo 66">
            <a:extLst>
              <a:ext uri="{FF2B5EF4-FFF2-40B4-BE49-F238E27FC236}">
                <a16:creationId xmlns:a16="http://schemas.microsoft.com/office/drawing/2014/main" id="{C7658265-8E76-5091-A6C6-8EFC052F3E8D}"/>
              </a:ext>
            </a:extLst>
          </p:cNvPr>
          <p:cNvGrpSpPr/>
          <p:nvPr/>
        </p:nvGrpSpPr>
        <p:grpSpPr>
          <a:xfrm>
            <a:off x="509983" y="4663317"/>
            <a:ext cx="5376672" cy="502920"/>
            <a:chOff x="525555" y="4663317"/>
            <a:chExt cx="5376672" cy="502920"/>
          </a:xfrm>
        </p:grpSpPr>
        <p:sp>
          <p:nvSpPr>
            <p:cNvPr id="63" name="Rounded Rectangle 64">
              <a:extLst>
                <a:ext uri="{FF2B5EF4-FFF2-40B4-BE49-F238E27FC236}">
                  <a16:creationId xmlns:a16="http://schemas.microsoft.com/office/drawing/2014/main" id="{BB46513C-4E55-E28D-F4FF-4445B604C100}"/>
                </a:ext>
              </a:extLst>
            </p:cNvPr>
            <p:cNvSpPr/>
            <p:nvPr/>
          </p:nvSpPr>
          <p:spPr>
            <a:xfrm>
              <a:off x="525555" y="4663317"/>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5">
              <a:extLst>
                <a:ext uri="{FF2B5EF4-FFF2-40B4-BE49-F238E27FC236}">
                  <a16:creationId xmlns:a16="http://schemas.microsoft.com/office/drawing/2014/main" id="{1C5E5268-4B89-769A-1F0C-C723B2EF107B}"/>
                </a:ext>
              </a:extLst>
            </p:cNvPr>
            <p:cNvSpPr txBox="1"/>
            <p:nvPr/>
          </p:nvSpPr>
          <p:spPr>
            <a:xfrm>
              <a:off x="635283" y="4709037"/>
              <a:ext cx="1371600" cy="190240"/>
            </a:xfrm>
            <a:prstGeom prst="rect">
              <a:avLst/>
            </a:prstGeom>
            <a:noFill/>
          </p:spPr>
          <p:txBody>
            <a:bodyPr wrap="square" lIns="36000" tIns="18000" rIns="36000" bIns="18000" anchor="t">
              <a:spAutoFit/>
            </a:bodyPr>
            <a:lstStyle/>
            <a:p>
              <a:pPr algn="l"/>
              <a:r>
                <a:rPr lang="es-MX" sz="1000" b="1" i="0" err="1">
                  <a:solidFill>
                    <a:srgbClr val="0747A6"/>
                  </a:solidFill>
                </a:rPr>
                <a:t>OPCOmult</a:t>
              </a:r>
              <a:endParaRPr sz="1000" b="1" i="0">
                <a:solidFill>
                  <a:srgbClr val="0747A6"/>
                </a:solidFill>
              </a:endParaRPr>
            </a:p>
          </p:txBody>
        </p:sp>
      </p:grpSp>
      <p:sp>
        <p:nvSpPr>
          <p:cNvPr id="76" name="TextBox 66">
            <a:extLst>
              <a:ext uri="{FF2B5EF4-FFF2-40B4-BE49-F238E27FC236}">
                <a16:creationId xmlns:a16="http://schemas.microsoft.com/office/drawing/2014/main" id="{469EDB28-319E-7265-1275-1F50FBBC13B8}"/>
              </a:ext>
            </a:extLst>
          </p:cNvPr>
          <p:cNvSpPr txBox="1"/>
          <p:nvPr/>
        </p:nvSpPr>
        <p:spPr>
          <a:xfrm>
            <a:off x="619710" y="4938636"/>
            <a:ext cx="2560320" cy="159462"/>
          </a:xfrm>
          <a:prstGeom prst="rect">
            <a:avLst/>
          </a:prstGeom>
          <a:noFill/>
        </p:spPr>
        <p:txBody>
          <a:bodyPr wrap="square" lIns="36000" tIns="18000" rIns="36000" bIns="18000" anchor="t">
            <a:spAutoFit/>
          </a:bodyPr>
          <a:lstStyle/>
          <a:p>
            <a:r>
              <a:rPr lang="en-US" sz="800" i="1">
                <a:solidFill>
                  <a:srgbClr val="172B4D"/>
                </a:solidFill>
              </a:rPr>
              <a:t>moves to value and impact</a:t>
            </a:r>
            <a:endParaRPr sz="800" i="1">
              <a:solidFill>
                <a:srgbClr val="172B4D"/>
              </a:solidFill>
            </a:endParaRPr>
          </a:p>
        </p:txBody>
      </p:sp>
      <p:sp>
        <p:nvSpPr>
          <p:cNvPr id="77" name="TextBox 67">
            <a:extLst>
              <a:ext uri="{FF2B5EF4-FFF2-40B4-BE49-F238E27FC236}">
                <a16:creationId xmlns:a16="http://schemas.microsoft.com/office/drawing/2014/main" id="{478BC1C9-A95B-59D2-2AD9-B528EF3C5C16}"/>
              </a:ext>
            </a:extLst>
          </p:cNvPr>
          <p:cNvSpPr txBox="1"/>
          <p:nvPr/>
        </p:nvSpPr>
        <p:spPr>
          <a:xfrm>
            <a:off x="3271470" y="4737468"/>
            <a:ext cx="2606040" cy="159462"/>
          </a:xfrm>
          <a:prstGeom prst="rect">
            <a:avLst/>
          </a:prstGeom>
          <a:noFill/>
        </p:spPr>
        <p:txBody>
          <a:bodyPr wrap="square" lIns="36000" tIns="18000" rIns="36000" bIns="18000" anchor="t">
            <a:spAutoFit/>
          </a:bodyPr>
          <a:lstStyle/>
          <a:p>
            <a:r>
              <a:rPr lang="es-MX" sz="800">
                <a:solidFill>
                  <a:srgbClr val="42526E"/>
                </a:solidFill>
              </a:rPr>
              <a:t>Business </a:t>
            </a:r>
            <a:r>
              <a:rPr lang="es-MX" sz="800" err="1">
                <a:solidFill>
                  <a:srgbClr val="42526E"/>
                </a:solidFill>
              </a:rPr>
              <a:t>impact</a:t>
            </a:r>
            <a:endParaRPr sz="800" b="0" i="0">
              <a:solidFill>
                <a:srgbClr val="42526E"/>
              </a:solidFill>
            </a:endParaRPr>
          </a:p>
        </p:txBody>
      </p:sp>
    </p:spTree>
    <p:extLst>
      <p:ext uri="{BB962C8B-B14F-4D97-AF65-F5344CB8AC3E}">
        <p14:creationId xmlns:p14="http://schemas.microsoft.com/office/powerpoint/2010/main" val="2812112397"/>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00D3-4E09-6F51-F13E-C4C5CCDE1C57}"/>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08D0B618-E2E7-693B-9EAF-7C219DFB534D}"/>
              </a:ext>
            </a:extLst>
          </p:cNvPr>
          <p:cNvSpPr/>
          <p:nvPr/>
        </p:nvSpPr>
        <p:spPr>
          <a:xfrm>
            <a:off x="4754880" y="1097280"/>
            <a:ext cx="2697480" cy="777240"/>
          </a:xfrm>
          <a:prstGeom prst="roundRect">
            <a:avLst>
              <a:gd name="adj" fmla="val 6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0">
            <a:extLst>
              <a:ext uri="{FF2B5EF4-FFF2-40B4-BE49-F238E27FC236}">
                <a16:creationId xmlns:a16="http://schemas.microsoft.com/office/drawing/2014/main" id="{375D17EC-2790-E9D7-09A3-285F88A439F6}"/>
              </a:ext>
            </a:extLst>
          </p:cNvPr>
          <p:cNvSpPr txBox="1"/>
          <p:nvPr/>
        </p:nvSpPr>
        <p:spPr>
          <a:xfrm>
            <a:off x="4754880" y="1133856"/>
            <a:ext cx="2697480" cy="164592"/>
          </a:xfrm>
          <a:prstGeom prst="rect">
            <a:avLst/>
          </a:prstGeom>
          <a:noFill/>
        </p:spPr>
        <p:txBody>
          <a:bodyPr wrap="square" lIns="36000" tIns="18000" rIns="36000" bIns="18000" anchor="t">
            <a:spAutoFit/>
          </a:bodyPr>
          <a:lstStyle/>
          <a:p>
            <a:pPr algn="ctr"/>
            <a:r>
              <a:rPr sz="800" b="1" i="0">
                <a:solidFill>
                  <a:srgbClr val="E6F2EB"/>
                </a:solidFill>
              </a:rPr>
              <a:t>STEP 1</a:t>
            </a:r>
          </a:p>
        </p:txBody>
      </p:sp>
      <p:sp>
        <p:nvSpPr>
          <p:cNvPr id="4" name="TextBox 11">
            <a:extLst>
              <a:ext uri="{FF2B5EF4-FFF2-40B4-BE49-F238E27FC236}">
                <a16:creationId xmlns:a16="http://schemas.microsoft.com/office/drawing/2014/main" id="{795A4BE8-71DF-9516-415D-64FF6EA890D8}"/>
              </a:ext>
            </a:extLst>
          </p:cNvPr>
          <p:cNvSpPr txBox="1"/>
          <p:nvPr/>
        </p:nvSpPr>
        <p:spPr>
          <a:xfrm>
            <a:off x="4754880" y="1280160"/>
            <a:ext cx="2697480" cy="256032"/>
          </a:xfrm>
          <a:prstGeom prst="rect">
            <a:avLst/>
          </a:prstGeom>
          <a:noFill/>
        </p:spPr>
        <p:txBody>
          <a:bodyPr wrap="square" lIns="36000" tIns="18000" rIns="36000" bIns="18000" anchor="t">
            <a:spAutoFit/>
          </a:bodyPr>
          <a:lstStyle/>
          <a:p>
            <a:pPr algn="ctr"/>
            <a:r>
              <a:rPr sz="1200" b="1" i="0">
                <a:solidFill>
                  <a:srgbClr val="FFFFFF"/>
                </a:solidFill>
              </a:rPr>
              <a:t>REQUESTER SUBMITS FORM</a:t>
            </a:r>
          </a:p>
        </p:txBody>
      </p:sp>
      <p:sp>
        <p:nvSpPr>
          <p:cNvPr id="5" name="TextBox 12">
            <a:extLst>
              <a:ext uri="{FF2B5EF4-FFF2-40B4-BE49-F238E27FC236}">
                <a16:creationId xmlns:a16="http://schemas.microsoft.com/office/drawing/2014/main" id="{1EA83D5F-0EB2-9954-E3C2-CF7BA245C964}"/>
              </a:ext>
            </a:extLst>
          </p:cNvPr>
          <p:cNvSpPr txBox="1"/>
          <p:nvPr/>
        </p:nvSpPr>
        <p:spPr>
          <a:xfrm>
            <a:off x="4754880" y="1508760"/>
            <a:ext cx="2697480" cy="174851"/>
          </a:xfrm>
          <a:prstGeom prst="rect">
            <a:avLst/>
          </a:prstGeom>
          <a:noFill/>
        </p:spPr>
        <p:txBody>
          <a:bodyPr wrap="square" lIns="36000" tIns="18000" rIns="36000" bIns="18000" anchor="t">
            <a:spAutoFit/>
          </a:bodyPr>
          <a:lstStyle/>
          <a:p>
            <a:pPr algn="ctr"/>
            <a:r>
              <a:rPr sz="900" b="0" i="1">
                <a:solidFill>
                  <a:srgbClr val="E6F2EB"/>
                </a:solidFill>
              </a:rPr>
              <a:t>creates  </a:t>
            </a:r>
            <a:r>
              <a:rPr lang="pt-BR" sz="900" i="1">
                <a:solidFill>
                  <a:srgbClr val="E6F2EB"/>
                </a:solidFill>
              </a:rPr>
              <a:t>DEMAND</a:t>
            </a:r>
            <a:endParaRPr sz="900" b="0" i="1">
              <a:solidFill>
                <a:srgbClr val="E6F2EB"/>
              </a:solidFill>
            </a:endParaRPr>
          </a:p>
        </p:txBody>
      </p:sp>
      <p:sp>
        <p:nvSpPr>
          <p:cNvPr id="6" name="Rounded Rectangle 13">
            <a:extLst>
              <a:ext uri="{FF2B5EF4-FFF2-40B4-BE49-F238E27FC236}">
                <a16:creationId xmlns:a16="http://schemas.microsoft.com/office/drawing/2014/main" id="{547C7317-B299-A583-61E3-7BB767C0A51C}"/>
              </a:ext>
            </a:extLst>
          </p:cNvPr>
          <p:cNvSpPr/>
          <p:nvPr/>
        </p:nvSpPr>
        <p:spPr>
          <a:xfrm>
            <a:off x="5852160" y="1664208"/>
            <a:ext cx="502920" cy="16459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4">
            <a:extLst>
              <a:ext uri="{FF2B5EF4-FFF2-40B4-BE49-F238E27FC236}">
                <a16:creationId xmlns:a16="http://schemas.microsoft.com/office/drawing/2014/main" id="{B8AD19E8-39F9-FFAE-58A7-30B086BC27C9}"/>
              </a:ext>
            </a:extLst>
          </p:cNvPr>
          <p:cNvSpPr txBox="1"/>
          <p:nvPr/>
        </p:nvSpPr>
        <p:spPr>
          <a:xfrm>
            <a:off x="5852160" y="1664208"/>
            <a:ext cx="502920" cy="164592"/>
          </a:xfrm>
          <a:prstGeom prst="rect">
            <a:avLst/>
          </a:prstGeom>
          <a:noFill/>
        </p:spPr>
        <p:txBody>
          <a:bodyPr wrap="square" lIns="36000" tIns="18000" rIns="36000" bIns="18000" anchor="ctr">
            <a:spAutoFit/>
          </a:bodyPr>
          <a:lstStyle/>
          <a:p>
            <a:pPr algn="ctr"/>
            <a:r>
              <a:rPr sz="800" b="1" i="0">
                <a:solidFill>
                  <a:srgbClr val="004D2E"/>
                </a:solidFill>
              </a:rPr>
              <a:t>NEW</a:t>
            </a:r>
          </a:p>
        </p:txBody>
      </p:sp>
      <p:sp>
        <p:nvSpPr>
          <p:cNvPr id="8" name="Down Arrow 15">
            <a:extLst>
              <a:ext uri="{FF2B5EF4-FFF2-40B4-BE49-F238E27FC236}">
                <a16:creationId xmlns:a16="http://schemas.microsoft.com/office/drawing/2014/main" id="{FC500378-52C8-B961-E74A-4F0047291A93}"/>
              </a:ext>
            </a:extLst>
          </p:cNvPr>
          <p:cNvSpPr/>
          <p:nvPr/>
        </p:nvSpPr>
        <p:spPr>
          <a:xfrm>
            <a:off x="5943600" y="1947672"/>
            <a:ext cx="320040" cy="22860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4D2E"/>
              </a:solidFill>
            </a:endParaRPr>
          </a:p>
        </p:txBody>
      </p:sp>
      <p:sp>
        <p:nvSpPr>
          <p:cNvPr id="9" name="Rounded Rectangle 16">
            <a:extLst>
              <a:ext uri="{FF2B5EF4-FFF2-40B4-BE49-F238E27FC236}">
                <a16:creationId xmlns:a16="http://schemas.microsoft.com/office/drawing/2014/main" id="{BDA2B073-7941-18DB-07E0-B5CADF190A17}"/>
              </a:ext>
            </a:extLst>
          </p:cNvPr>
          <p:cNvSpPr/>
          <p:nvPr/>
        </p:nvSpPr>
        <p:spPr>
          <a:xfrm>
            <a:off x="4754880" y="2240280"/>
            <a:ext cx="2697480" cy="777240"/>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7">
            <a:extLst>
              <a:ext uri="{FF2B5EF4-FFF2-40B4-BE49-F238E27FC236}">
                <a16:creationId xmlns:a16="http://schemas.microsoft.com/office/drawing/2014/main" id="{15193F69-1404-8767-F367-87A5D2925B32}"/>
              </a:ext>
            </a:extLst>
          </p:cNvPr>
          <p:cNvSpPr txBox="1"/>
          <p:nvPr/>
        </p:nvSpPr>
        <p:spPr>
          <a:xfrm>
            <a:off x="4754880" y="2276856"/>
            <a:ext cx="2697480" cy="164592"/>
          </a:xfrm>
          <a:prstGeom prst="rect">
            <a:avLst/>
          </a:prstGeom>
          <a:noFill/>
        </p:spPr>
        <p:txBody>
          <a:bodyPr wrap="square" lIns="36000" tIns="18000" rIns="36000" bIns="18000" anchor="t">
            <a:spAutoFit/>
          </a:bodyPr>
          <a:lstStyle/>
          <a:p>
            <a:pPr algn="ctr"/>
            <a:r>
              <a:rPr sz="800" b="1" i="0">
                <a:solidFill>
                  <a:srgbClr val="DEEBFF"/>
                </a:solidFill>
              </a:rPr>
              <a:t>STEP 2</a:t>
            </a:r>
          </a:p>
        </p:txBody>
      </p:sp>
      <p:sp>
        <p:nvSpPr>
          <p:cNvPr id="11" name="TextBox 18">
            <a:extLst>
              <a:ext uri="{FF2B5EF4-FFF2-40B4-BE49-F238E27FC236}">
                <a16:creationId xmlns:a16="http://schemas.microsoft.com/office/drawing/2014/main" id="{4822AF16-0208-83E3-0C43-7C2A3B10E964}"/>
              </a:ext>
            </a:extLst>
          </p:cNvPr>
          <p:cNvSpPr txBox="1"/>
          <p:nvPr/>
        </p:nvSpPr>
        <p:spPr>
          <a:xfrm>
            <a:off x="4754880" y="2423160"/>
            <a:ext cx="2697480" cy="256032"/>
          </a:xfrm>
          <a:prstGeom prst="rect">
            <a:avLst/>
          </a:prstGeom>
          <a:noFill/>
        </p:spPr>
        <p:txBody>
          <a:bodyPr wrap="square" lIns="36000" tIns="18000" rIns="36000" bIns="18000" anchor="t">
            <a:spAutoFit/>
          </a:bodyPr>
          <a:lstStyle/>
          <a:p>
            <a:pPr algn="ctr"/>
            <a:r>
              <a:rPr sz="1200" b="1" i="0">
                <a:solidFill>
                  <a:srgbClr val="FFFFFF"/>
                </a:solidFill>
              </a:rPr>
              <a:t>AUTO-ROUTING (A1)</a:t>
            </a:r>
          </a:p>
        </p:txBody>
      </p:sp>
      <p:sp>
        <p:nvSpPr>
          <p:cNvPr id="12" name="TextBox 19">
            <a:extLst>
              <a:ext uri="{FF2B5EF4-FFF2-40B4-BE49-F238E27FC236}">
                <a16:creationId xmlns:a16="http://schemas.microsoft.com/office/drawing/2014/main" id="{AD0DDAC5-DC52-DC6E-747F-C8D1AC2C2D09}"/>
              </a:ext>
            </a:extLst>
          </p:cNvPr>
          <p:cNvSpPr txBox="1"/>
          <p:nvPr/>
        </p:nvSpPr>
        <p:spPr>
          <a:xfrm>
            <a:off x="4754880" y="2651760"/>
            <a:ext cx="2697480" cy="313350"/>
          </a:xfrm>
          <a:prstGeom prst="rect">
            <a:avLst/>
          </a:prstGeom>
          <a:noFill/>
        </p:spPr>
        <p:txBody>
          <a:bodyPr wrap="square" lIns="36000" tIns="18000" rIns="36000" bIns="18000" anchor="t">
            <a:spAutoFit/>
          </a:bodyPr>
          <a:lstStyle/>
          <a:p>
            <a:pPr algn="ctr"/>
            <a:r>
              <a:rPr lang="pt-BR" sz="900" b="0" i="1" err="1">
                <a:solidFill>
                  <a:srgbClr val="DEEBFF"/>
                </a:solidFill>
              </a:rPr>
              <a:t>reads</a:t>
            </a:r>
            <a:r>
              <a:rPr lang="pt-BR" sz="900" b="0" i="1">
                <a:solidFill>
                  <a:srgbClr val="DEEBFF"/>
                </a:solidFill>
              </a:rPr>
              <a:t> </a:t>
            </a:r>
            <a:r>
              <a:rPr lang="pt-BR" sz="900" b="0" i="1" err="1">
                <a:solidFill>
                  <a:srgbClr val="DEEBFF"/>
                </a:solidFill>
              </a:rPr>
              <a:t>Value</a:t>
            </a:r>
            <a:r>
              <a:rPr lang="pt-BR" sz="900" b="0" i="1">
                <a:solidFill>
                  <a:srgbClr val="DEEBFF"/>
                </a:solidFill>
              </a:rPr>
              <a:t> </a:t>
            </a:r>
            <a:r>
              <a:rPr lang="pt-BR" sz="900" b="0" i="1" err="1">
                <a:solidFill>
                  <a:srgbClr val="DEEBFF"/>
                </a:solidFill>
              </a:rPr>
              <a:t>Stream</a:t>
            </a:r>
            <a:r>
              <a:rPr lang="pt-BR" sz="900" b="0" i="1">
                <a:solidFill>
                  <a:srgbClr val="DEEBFF"/>
                </a:solidFill>
              </a:rPr>
              <a:t> → </a:t>
            </a:r>
            <a:r>
              <a:rPr lang="pt-BR" sz="900" b="0" i="1" err="1">
                <a:solidFill>
                  <a:srgbClr val="DEEBFF"/>
                </a:solidFill>
              </a:rPr>
              <a:t>assigns</a:t>
            </a:r>
            <a:r>
              <a:rPr lang="pt-BR" sz="900" b="0" i="1">
                <a:solidFill>
                  <a:srgbClr val="DEEBFF"/>
                </a:solidFill>
              </a:rPr>
              <a:t> CS Portfolio Board OR ITBA Portfolio Board</a:t>
            </a:r>
          </a:p>
        </p:txBody>
      </p:sp>
      <p:sp>
        <p:nvSpPr>
          <p:cNvPr id="13" name="Rounded Rectangle 20">
            <a:extLst>
              <a:ext uri="{FF2B5EF4-FFF2-40B4-BE49-F238E27FC236}">
                <a16:creationId xmlns:a16="http://schemas.microsoft.com/office/drawing/2014/main" id="{B0EE8E5F-A81D-E7FC-C79B-1DC6D412D016}"/>
              </a:ext>
            </a:extLst>
          </p:cNvPr>
          <p:cNvSpPr/>
          <p:nvPr/>
        </p:nvSpPr>
        <p:spPr>
          <a:xfrm>
            <a:off x="6898101" y="2823378"/>
            <a:ext cx="502920" cy="16459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21">
            <a:extLst>
              <a:ext uri="{FF2B5EF4-FFF2-40B4-BE49-F238E27FC236}">
                <a16:creationId xmlns:a16="http://schemas.microsoft.com/office/drawing/2014/main" id="{657CD978-04EE-EDEE-B924-09FCD605EB00}"/>
              </a:ext>
            </a:extLst>
          </p:cNvPr>
          <p:cNvSpPr txBox="1"/>
          <p:nvPr/>
        </p:nvSpPr>
        <p:spPr>
          <a:xfrm>
            <a:off x="6898101" y="2823378"/>
            <a:ext cx="502920" cy="164592"/>
          </a:xfrm>
          <a:prstGeom prst="rect">
            <a:avLst/>
          </a:prstGeom>
          <a:noFill/>
        </p:spPr>
        <p:txBody>
          <a:bodyPr wrap="square" lIns="36000" tIns="18000" rIns="36000" bIns="18000" anchor="ctr">
            <a:spAutoFit/>
          </a:bodyPr>
          <a:lstStyle/>
          <a:p>
            <a:pPr algn="ctr"/>
            <a:r>
              <a:rPr sz="700" b="1" i="0">
                <a:solidFill>
                  <a:srgbClr val="0747A6"/>
                </a:solidFill>
              </a:rPr>
              <a:t>ROUTED</a:t>
            </a:r>
          </a:p>
        </p:txBody>
      </p:sp>
      <p:sp>
        <p:nvSpPr>
          <p:cNvPr id="15" name="Down Arrow 22">
            <a:extLst>
              <a:ext uri="{FF2B5EF4-FFF2-40B4-BE49-F238E27FC236}">
                <a16:creationId xmlns:a16="http://schemas.microsoft.com/office/drawing/2014/main" id="{88CA3A39-EC41-E860-5707-028947BD0567}"/>
              </a:ext>
            </a:extLst>
          </p:cNvPr>
          <p:cNvSpPr/>
          <p:nvPr/>
        </p:nvSpPr>
        <p:spPr>
          <a:xfrm>
            <a:off x="5943600" y="3090672"/>
            <a:ext cx="320040" cy="22860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4D2E"/>
              </a:solidFill>
            </a:endParaRPr>
          </a:p>
        </p:txBody>
      </p:sp>
      <p:sp>
        <p:nvSpPr>
          <p:cNvPr id="16" name="Rounded Rectangle 23">
            <a:extLst>
              <a:ext uri="{FF2B5EF4-FFF2-40B4-BE49-F238E27FC236}">
                <a16:creationId xmlns:a16="http://schemas.microsoft.com/office/drawing/2014/main" id="{C2062A1C-193D-48CB-1D64-C800B3D9D20A}"/>
              </a:ext>
            </a:extLst>
          </p:cNvPr>
          <p:cNvSpPr/>
          <p:nvPr/>
        </p:nvSpPr>
        <p:spPr>
          <a:xfrm>
            <a:off x="3840480" y="3383280"/>
            <a:ext cx="4526280" cy="868680"/>
          </a:xfrm>
          <a:prstGeom prst="roundRect">
            <a:avLst>
              <a:gd name="adj" fmla="val 6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4">
            <a:extLst>
              <a:ext uri="{FF2B5EF4-FFF2-40B4-BE49-F238E27FC236}">
                <a16:creationId xmlns:a16="http://schemas.microsoft.com/office/drawing/2014/main" id="{DF95EF4C-5BDF-DCAE-E430-7DAF6737B477}"/>
              </a:ext>
            </a:extLst>
          </p:cNvPr>
          <p:cNvSpPr txBox="1"/>
          <p:nvPr/>
        </p:nvSpPr>
        <p:spPr>
          <a:xfrm>
            <a:off x="3840480" y="3419856"/>
            <a:ext cx="4526280" cy="164592"/>
          </a:xfrm>
          <a:prstGeom prst="rect">
            <a:avLst/>
          </a:prstGeom>
          <a:noFill/>
        </p:spPr>
        <p:txBody>
          <a:bodyPr wrap="square" lIns="36000" tIns="18000" rIns="36000" bIns="18000" anchor="t">
            <a:spAutoFit/>
          </a:bodyPr>
          <a:lstStyle/>
          <a:p>
            <a:pPr algn="ctr"/>
            <a:r>
              <a:rPr sz="800" b="1" i="0">
                <a:solidFill>
                  <a:srgbClr val="EEE5F8"/>
                </a:solidFill>
              </a:rPr>
              <a:t>STEP 3</a:t>
            </a:r>
          </a:p>
        </p:txBody>
      </p:sp>
      <p:sp>
        <p:nvSpPr>
          <p:cNvPr id="20" name="Rounded Rectangle 27">
            <a:extLst>
              <a:ext uri="{FF2B5EF4-FFF2-40B4-BE49-F238E27FC236}">
                <a16:creationId xmlns:a16="http://schemas.microsoft.com/office/drawing/2014/main" id="{BD210CD8-1430-4FEF-CAE2-6C6F7D536BBD}"/>
              </a:ext>
            </a:extLst>
          </p:cNvPr>
          <p:cNvSpPr/>
          <p:nvPr/>
        </p:nvSpPr>
        <p:spPr>
          <a:xfrm>
            <a:off x="7121769" y="4014216"/>
            <a:ext cx="1234440" cy="182880"/>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8">
            <a:extLst>
              <a:ext uri="{FF2B5EF4-FFF2-40B4-BE49-F238E27FC236}">
                <a16:creationId xmlns:a16="http://schemas.microsoft.com/office/drawing/2014/main" id="{08ABBB27-B74A-6EFC-33DE-3083C31CADAC}"/>
              </a:ext>
            </a:extLst>
          </p:cNvPr>
          <p:cNvSpPr txBox="1"/>
          <p:nvPr/>
        </p:nvSpPr>
        <p:spPr>
          <a:xfrm>
            <a:off x="7121769" y="4033619"/>
            <a:ext cx="1234440" cy="144073"/>
          </a:xfrm>
          <a:prstGeom prst="rect">
            <a:avLst/>
          </a:prstGeom>
          <a:noFill/>
        </p:spPr>
        <p:txBody>
          <a:bodyPr wrap="square" lIns="36000" tIns="18000" rIns="36000" bIns="18000" anchor="ctr">
            <a:spAutoFit/>
          </a:bodyPr>
          <a:lstStyle/>
          <a:p>
            <a:pPr algn="ctr"/>
            <a:r>
              <a:rPr sz="700" b="1" i="0">
                <a:solidFill>
                  <a:srgbClr val="004D2E"/>
                </a:solidFill>
              </a:rPr>
              <a:t>TRIAGED  +  AUTO-CONVERT</a:t>
            </a:r>
          </a:p>
        </p:txBody>
      </p:sp>
      <p:sp>
        <p:nvSpPr>
          <p:cNvPr id="162" name="TextBox 117">
            <a:extLst>
              <a:ext uri="{FF2B5EF4-FFF2-40B4-BE49-F238E27FC236}">
                <a16:creationId xmlns:a16="http://schemas.microsoft.com/office/drawing/2014/main" id="{0B0C1D0C-7302-EEE5-5ADD-17E140F7B642}"/>
              </a:ext>
            </a:extLst>
          </p:cNvPr>
          <p:cNvSpPr txBox="1"/>
          <p:nvPr/>
        </p:nvSpPr>
        <p:spPr>
          <a:xfrm>
            <a:off x="182884" y="6675120"/>
            <a:ext cx="11887200" cy="164592"/>
          </a:xfrm>
          <a:prstGeom prst="rect">
            <a:avLst/>
          </a:prstGeom>
          <a:noFill/>
        </p:spPr>
        <p:txBody>
          <a:bodyPr wrap="square" lIns="36000" tIns="18000" rIns="36000" bIns="18000" anchor="t">
            <a:spAutoFit/>
          </a:bodyPr>
          <a:lstStyle/>
          <a:p>
            <a:pPr algn="ctr"/>
            <a:r>
              <a:rPr sz="900" b="0" i="1">
                <a:solidFill>
                  <a:srgbClr val="6B778C"/>
                </a:solidFill>
              </a:rPr>
              <a:t>Requester never picks Story / Epic / Initiative — Demand placeholder converts automatically based on Size + Type at Triage.</a:t>
            </a:r>
          </a:p>
        </p:txBody>
      </p:sp>
      <p:sp>
        <p:nvSpPr>
          <p:cNvPr id="66" name="TextBox 25">
            <a:extLst>
              <a:ext uri="{FF2B5EF4-FFF2-40B4-BE49-F238E27FC236}">
                <a16:creationId xmlns:a16="http://schemas.microsoft.com/office/drawing/2014/main" id="{DF70D347-B326-396C-8C29-2A79587E2CB1}"/>
              </a:ext>
            </a:extLst>
          </p:cNvPr>
          <p:cNvSpPr txBox="1"/>
          <p:nvPr/>
        </p:nvSpPr>
        <p:spPr>
          <a:xfrm>
            <a:off x="3840480" y="3566160"/>
            <a:ext cx="4526280" cy="221018"/>
          </a:xfrm>
          <a:prstGeom prst="rect">
            <a:avLst/>
          </a:prstGeom>
          <a:noFill/>
        </p:spPr>
        <p:txBody>
          <a:bodyPr wrap="square" lIns="36000" tIns="18000" rIns="36000" bIns="18000" anchor="t">
            <a:spAutoFit/>
          </a:bodyPr>
          <a:lstStyle/>
          <a:p>
            <a:pPr algn="ctr"/>
            <a:r>
              <a:rPr lang="pt-BR" sz="1200" b="1" i="0">
                <a:solidFill>
                  <a:srgbClr val="FFFFFF"/>
                </a:solidFill>
              </a:rPr>
              <a:t>TRIAGE (Gate 1)  ·  PM + Architect</a:t>
            </a:r>
          </a:p>
        </p:txBody>
      </p:sp>
      <p:sp>
        <p:nvSpPr>
          <p:cNvPr id="67" name="TextBox 26">
            <a:extLst>
              <a:ext uri="{FF2B5EF4-FFF2-40B4-BE49-F238E27FC236}">
                <a16:creationId xmlns:a16="http://schemas.microsoft.com/office/drawing/2014/main" id="{83851FE4-F930-6628-5C0C-8EEA8F0A56EC}"/>
              </a:ext>
            </a:extLst>
          </p:cNvPr>
          <p:cNvSpPr txBox="1"/>
          <p:nvPr/>
        </p:nvSpPr>
        <p:spPr>
          <a:xfrm>
            <a:off x="3840480" y="3803904"/>
            <a:ext cx="4526280" cy="174851"/>
          </a:xfrm>
          <a:prstGeom prst="rect">
            <a:avLst/>
          </a:prstGeom>
          <a:noFill/>
        </p:spPr>
        <p:txBody>
          <a:bodyPr wrap="square" lIns="36000" tIns="18000" rIns="36000" bIns="18000" anchor="t">
            <a:spAutoFit/>
          </a:bodyPr>
          <a:lstStyle/>
          <a:p>
            <a:pPr algn="ctr"/>
            <a:r>
              <a:rPr lang="pt-BR" sz="900" i="1">
                <a:solidFill>
                  <a:srgbClr val="E6F2EB"/>
                </a:solidFill>
              </a:rPr>
              <a:t>@</a:t>
            </a:r>
            <a:r>
              <a:rPr lang="pt-BR" sz="900" i="1" err="1">
                <a:solidFill>
                  <a:srgbClr val="E6F2EB"/>
                </a:solidFill>
              </a:rPr>
              <a:t>notify</a:t>
            </a:r>
            <a:r>
              <a:rPr lang="pt-BR" sz="900" i="1">
                <a:solidFill>
                  <a:srgbClr val="E6F2EB"/>
                </a:solidFill>
              </a:rPr>
              <a:t> PM</a:t>
            </a:r>
          </a:p>
        </p:txBody>
      </p:sp>
      <p:sp>
        <p:nvSpPr>
          <p:cNvPr id="18" name="Text Placeholder 19">
            <a:extLst>
              <a:ext uri="{FF2B5EF4-FFF2-40B4-BE49-F238E27FC236}">
                <a16:creationId xmlns:a16="http://schemas.microsoft.com/office/drawing/2014/main" id="{EB80C42E-5E86-DD85-6863-DCA3F7A0C75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Auto-routing and triage</a:t>
            </a:r>
          </a:p>
        </p:txBody>
      </p:sp>
      <p:sp>
        <p:nvSpPr>
          <p:cNvPr id="22" name="Down Arrow 29">
            <a:extLst>
              <a:ext uri="{FF2B5EF4-FFF2-40B4-BE49-F238E27FC236}">
                <a16:creationId xmlns:a16="http://schemas.microsoft.com/office/drawing/2014/main" id="{36C72A62-1B37-D14C-EB16-07A80F1B2469}"/>
              </a:ext>
            </a:extLst>
          </p:cNvPr>
          <p:cNvSpPr/>
          <p:nvPr/>
        </p:nvSpPr>
        <p:spPr>
          <a:xfrm>
            <a:off x="1984707" y="4321534"/>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wn Arrow 30">
            <a:extLst>
              <a:ext uri="{FF2B5EF4-FFF2-40B4-BE49-F238E27FC236}">
                <a16:creationId xmlns:a16="http://schemas.microsoft.com/office/drawing/2014/main" id="{CDFBE5A7-6559-B058-2209-A37632AD8C9C}"/>
              </a:ext>
            </a:extLst>
          </p:cNvPr>
          <p:cNvSpPr/>
          <p:nvPr/>
        </p:nvSpPr>
        <p:spPr>
          <a:xfrm>
            <a:off x="4373492" y="4315968"/>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31">
            <a:extLst>
              <a:ext uri="{FF2B5EF4-FFF2-40B4-BE49-F238E27FC236}">
                <a16:creationId xmlns:a16="http://schemas.microsoft.com/office/drawing/2014/main" id="{4C0135EC-6BE4-3B7B-FE1F-CA88B4EA2258}"/>
              </a:ext>
            </a:extLst>
          </p:cNvPr>
          <p:cNvSpPr/>
          <p:nvPr/>
        </p:nvSpPr>
        <p:spPr>
          <a:xfrm>
            <a:off x="7122728" y="4306823"/>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33">
            <a:extLst>
              <a:ext uri="{FF2B5EF4-FFF2-40B4-BE49-F238E27FC236}">
                <a16:creationId xmlns:a16="http://schemas.microsoft.com/office/drawing/2014/main" id="{12399D6E-57DA-6C3E-66CA-497087ACDB76}"/>
              </a:ext>
            </a:extLst>
          </p:cNvPr>
          <p:cNvSpPr/>
          <p:nvPr/>
        </p:nvSpPr>
        <p:spPr>
          <a:xfrm>
            <a:off x="442336" y="4526280"/>
            <a:ext cx="2655029" cy="2103120"/>
          </a:xfrm>
          <a:prstGeom prst="roundRect">
            <a:avLst>
              <a:gd name="adj" fmla="val 4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34">
            <a:extLst>
              <a:ext uri="{FF2B5EF4-FFF2-40B4-BE49-F238E27FC236}">
                <a16:creationId xmlns:a16="http://schemas.microsoft.com/office/drawing/2014/main" id="{3417FD4C-F6BF-4737-3D91-1BE2EB0AB209}"/>
              </a:ext>
            </a:extLst>
          </p:cNvPr>
          <p:cNvSpPr/>
          <p:nvPr/>
        </p:nvSpPr>
        <p:spPr>
          <a:xfrm>
            <a:off x="442336" y="4526280"/>
            <a:ext cx="2655029" cy="292608"/>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5">
            <a:extLst>
              <a:ext uri="{FF2B5EF4-FFF2-40B4-BE49-F238E27FC236}">
                <a16:creationId xmlns:a16="http://schemas.microsoft.com/office/drawing/2014/main" id="{9B5BA2A4-DCB2-9224-9FB2-DE4F5FFB5526}"/>
              </a:ext>
            </a:extLst>
          </p:cNvPr>
          <p:cNvSpPr txBox="1"/>
          <p:nvPr/>
        </p:nvSpPr>
        <p:spPr>
          <a:xfrm>
            <a:off x="442336"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S  </a:t>
            </a:r>
          </a:p>
        </p:txBody>
      </p:sp>
      <p:sp>
        <p:nvSpPr>
          <p:cNvPr id="29" name="TextBox 36">
            <a:extLst>
              <a:ext uri="{FF2B5EF4-FFF2-40B4-BE49-F238E27FC236}">
                <a16:creationId xmlns:a16="http://schemas.microsoft.com/office/drawing/2014/main" id="{8C949088-DCAE-ABEC-5B22-7DA00F4D94FD}"/>
              </a:ext>
            </a:extLst>
          </p:cNvPr>
          <p:cNvSpPr txBox="1"/>
          <p:nvPr/>
        </p:nvSpPr>
        <p:spPr>
          <a:xfrm>
            <a:off x="527982"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30" name="Rounded Rectangle 37">
            <a:extLst>
              <a:ext uri="{FF2B5EF4-FFF2-40B4-BE49-F238E27FC236}">
                <a16:creationId xmlns:a16="http://schemas.microsoft.com/office/drawing/2014/main" id="{698C37D1-DCD3-685F-3878-C9825A7C7C71}"/>
              </a:ext>
            </a:extLst>
          </p:cNvPr>
          <p:cNvSpPr/>
          <p:nvPr/>
        </p:nvSpPr>
        <p:spPr>
          <a:xfrm>
            <a:off x="784920" y="5074920"/>
            <a:ext cx="1969860" cy="274320"/>
          </a:xfrm>
          <a:prstGeom prst="roundRect">
            <a:avLst>
              <a:gd name="adj" fmla="val 6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8">
            <a:extLst>
              <a:ext uri="{FF2B5EF4-FFF2-40B4-BE49-F238E27FC236}">
                <a16:creationId xmlns:a16="http://schemas.microsoft.com/office/drawing/2014/main" id="{D52AF9D0-72E3-7574-CA4B-CC4E0D7E8ABC}"/>
              </a:ext>
            </a:extLst>
          </p:cNvPr>
          <p:cNvSpPr txBox="1"/>
          <p:nvPr/>
        </p:nvSpPr>
        <p:spPr>
          <a:xfrm>
            <a:off x="784920" y="5074920"/>
            <a:ext cx="1969860" cy="274320"/>
          </a:xfrm>
          <a:prstGeom prst="rect">
            <a:avLst/>
          </a:prstGeom>
          <a:noFill/>
        </p:spPr>
        <p:txBody>
          <a:bodyPr wrap="square" lIns="36000" tIns="18000" rIns="36000" bIns="18000" anchor="ctr">
            <a:spAutoFit/>
          </a:bodyPr>
          <a:lstStyle/>
          <a:p>
            <a:pPr algn="ctr"/>
            <a:r>
              <a:rPr sz="1100" b="1" i="0">
                <a:solidFill>
                  <a:srgbClr val="FFFFFF"/>
                </a:solidFill>
              </a:rPr>
              <a:t>STORY (no Epic parent)</a:t>
            </a:r>
          </a:p>
        </p:txBody>
      </p:sp>
      <p:sp>
        <p:nvSpPr>
          <p:cNvPr id="32" name="TextBox 39">
            <a:extLst>
              <a:ext uri="{FF2B5EF4-FFF2-40B4-BE49-F238E27FC236}">
                <a16:creationId xmlns:a16="http://schemas.microsoft.com/office/drawing/2014/main" id="{6B360A2D-2ABF-0E08-2FB4-D34D80877051}"/>
              </a:ext>
            </a:extLst>
          </p:cNvPr>
          <p:cNvSpPr txBox="1"/>
          <p:nvPr/>
        </p:nvSpPr>
        <p:spPr>
          <a:xfrm>
            <a:off x="527982"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33" name="TextBox 40">
            <a:extLst>
              <a:ext uri="{FF2B5EF4-FFF2-40B4-BE49-F238E27FC236}">
                <a16:creationId xmlns:a16="http://schemas.microsoft.com/office/drawing/2014/main" id="{AB1F25C7-D2DE-430A-2803-08AEB22B0C15}"/>
              </a:ext>
            </a:extLst>
          </p:cNvPr>
          <p:cNvSpPr txBox="1"/>
          <p:nvPr/>
        </p:nvSpPr>
        <p:spPr>
          <a:xfrm>
            <a:off x="527982" y="5559551"/>
            <a:ext cx="2483737" cy="174851"/>
          </a:xfrm>
          <a:prstGeom prst="rect">
            <a:avLst/>
          </a:prstGeom>
          <a:noFill/>
        </p:spPr>
        <p:txBody>
          <a:bodyPr wrap="square" lIns="36000" tIns="18000" rIns="36000" bIns="18000" anchor="t">
            <a:spAutoFit/>
          </a:bodyPr>
          <a:lstStyle/>
          <a:p>
            <a:pPr algn="ctr"/>
            <a:r>
              <a:rPr lang="pt-BR" sz="900" b="1" i="0">
                <a:solidFill>
                  <a:srgbClr val="006B3F"/>
                </a:solidFill>
              </a:rPr>
              <a:t>Team</a:t>
            </a:r>
            <a:r>
              <a:rPr sz="900" b="1" i="0">
                <a:solidFill>
                  <a:srgbClr val="006B3F"/>
                </a:solidFill>
              </a:rPr>
              <a:t> Backlog · DIRECT (skip portfolio)</a:t>
            </a:r>
          </a:p>
        </p:txBody>
      </p:sp>
      <p:sp>
        <p:nvSpPr>
          <p:cNvPr id="34" name="Rounded Rectangle 41">
            <a:extLst>
              <a:ext uri="{FF2B5EF4-FFF2-40B4-BE49-F238E27FC236}">
                <a16:creationId xmlns:a16="http://schemas.microsoft.com/office/drawing/2014/main" id="{197E3A29-E754-AB21-1519-C594D13079D0}"/>
              </a:ext>
            </a:extLst>
          </p:cNvPr>
          <p:cNvSpPr/>
          <p:nvPr/>
        </p:nvSpPr>
        <p:spPr>
          <a:xfrm>
            <a:off x="527982"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42">
            <a:extLst>
              <a:ext uri="{FF2B5EF4-FFF2-40B4-BE49-F238E27FC236}">
                <a16:creationId xmlns:a16="http://schemas.microsoft.com/office/drawing/2014/main" id="{7D4E5C02-EC87-67DD-AF65-2FD530865C8B}"/>
              </a:ext>
            </a:extLst>
          </p:cNvPr>
          <p:cNvSpPr/>
          <p:nvPr/>
        </p:nvSpPr>
        <p:spPr>
          <a:xfrm>
            <a:off x="570805"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3">
            <a:extLst>
              <a:ext uri="{FF2B5EF4-FFF2-40B4-BE49-F238E27FC236}">
                <a16:creationId xmlns:a16="http://schemas.microsoft.com/office/drawing/2014/main" id="{13D66201-9448-B387-8871-54E7ADD96815}"/>
              </a:ext>
            </a:extLst>
          </p:cNvPr>
          <p:cNvSpPr txBox="1"/>
          <p:nvPr/>
        </p:nvSpPr>
        <p:spPr>
          <a:xfrm>
            <a:off x="570805" y="5843016"/>
            <a:ext cx="582394" cy="164592"/>
          </a:xfrm>
          <a:prstGeom prst="rect">
            <a:avLst/>
          </a:prstGeom>
          <a:noFill/>
        </p:spPr>
        <p:txBody>
          <a:bodyPr wrap="square" lIns="36000" tIns="18000" rIns="36000" bIns="18000" anchor="ctr">
            <a:spAutoFit/>
          </a:bodyPr>
          <a:lstStyle/>
          <a:p>
            <a:pPr algn="ctr"/>
            <a:r>
              <a:rPr sz="700" b="1" i="0">
                <a:solidFill>
                  <a:srgbClr val="FFFFFF"/>
                </a:solidFill>
              </a:rPr>
              <a:t>TODO</a:t>
            </a:r>
          </a:p>
        </p:txBody>
      </p:sp>
      <p:sp>
        <p:nvSpPr>
          <p:cNvPr id="37" name="Rectangle 44">
            <a:extLst>
              <a:ext uri="{FF2B5EF4-FFF2-40B4-BE49-F238E27FC236}">
                <a16:creationId xmlns:a16="http://schemas.microsoft.com/office/drawing/2014/main" id="{8649B2B5-E07E-A531-52D9-D1A57941E417}"/>
              </a:ext>
            </a:extLst>
          </p:cNvPr>
          <p:cNvSpPr/>
          <p:nvPr/>
        </p:nvSpPr>
        <p:spPr>
          <a:xfrm>
            <a:off x="587934" y="6062472"/>
            <a:ext cx="548135" cy="457200"/>
          </a:xfrm>
          <a:prstGeom prst="rect">
            <a:avLst/>
          </a:prstGeom>
          <a:solidFill>
            <a:srgbClr val="006B3F"/>
          </a:solid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5">
            <a:extLst>
              <a:ext uri="{FF2B5EF4-FFF2-40B4-BE49-F238E27FC236}">
                <a16:creationId xmlns:a16="http://schemas.microsoft.com/office/drawing/2014/main" id="{8B1C00BF-BF5B-6E69-65DE-2D271BE7A644}"/>
              </a:ext>
            </a:extLst>
          </p:cNvPr>
          <p:cNvSpPr txBox="1"/>
          <p:nvPr/>
        </p:nvSpPr>
        <p:spPr>
          <a:xfrm>
            <a:off x="587934" y="6080760"/>
            <a:ext cx="548135" cy="182880"/>
          </a:xfrm>
          <a:prstGeom prst="rect">
            <a:avLst/>
          </a:prstGeom>
          <a:noFill/>
        </p:spPr>
        <p:txBody>
          <a:bodyPr wrap="square" lIns="36000" tIns="18000" rIns="36000" bIns="18000" anchor="t">
            <a:spAutoFit/>
          </a:bodyPr>
          <a:lstStyle/>
          <a:p>
            <a:pPr algn="ctr"/>
            <a:r>
              <a:rPr sz="600" b="1" i="0">
                <a:solidFill>
                  <a:srgbClr val="FFFFFF"/>
                </a:solidFill>
              </a:rPr>
              <a:t>STORY </a:t>
            </a:r>
          </a:p>
        </p:txBody>
      </p:sp>
      <p:sp>
        <p:nvSpPr>
          <p:cNvPr id="39" name="TextBox 46">
            <a:extLst>
              <a:ext uri="{FF2B5EF4-FFF2-40B4-BE49-F238E27FC236}">
                <a16:creationId xmlns:a16="http://schemas.microsoft.com/office/drawing/2014/main" id="{E17EB975-4B96-3E00-C30C-3678E5945A65}"/>
              </a:ext>
            </a:extLst>
          </p:cNvPr>
          <p:cNvSpPr txBox="1"/>
          <p:nvPr/>
        </p:nvSpPr>
        <p:spPr>
          <a:xfrm>
            <a:off x="587934" y="6245352"/>
            <a:ext cx="548135" cy="182880"/>
          </a:xfrm>
          <a:prstGeom prst="rect">
            <a:avLst/>
          </a:prstGeom>
          <a:noFill/>
        </p:spPr>
        <p:txBody>
          <a:bodyPr wrap="square" lIns="36000" tIns="18000" rIns="36000" bIns="18000" anchor="t">
            <a:spAutoFit/>
          </a:bodyPr>
          <a:lstStyle/>
          <a:p>
            <a:pPr algn="ctr"/>
            <a:r>
              <a:rPr sz="600" b="0" i="1">
                <a:solidFill>
                  <a:srgbClr val="FFFFFF"/>
                </a:solidFill>
              </a:rPr>
              <a:t>your card</a:t>
            </a:r>
          </a:p>
        </p:txBody>
      </p:sp>
      <p:sp>
        <p:nvSpPr>
          <p:cNvPr id="40" name="Rectangle 47">
            <a:extLst>
              <a:ext uri="{FF2B5EF4-FFF2-40B4-BE49-F238E27FC236}">
                <a16:creationId xmlns:a16="http://schemas.microsoft.com/office/drawing/2014/main" id="{11EE4063-06D7-955B-EE43-2E0F98E474FD}"/>
              </a:ext>
            </a:extLst>
          </p:cNvPr>
          <p:cNvSpPr/>
          <p:nvPr/>
        </p:nvSpPr>
        <p:spPr>
          <a:xfrm>
            <a:off x="1170328"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8">
            <a:extLst>
              <a:ext uri="{FF2B5EF4-FFF2-40B4-BE49-F238E27FC236}">
                <a16:creationId xmlns:a16="http://schemas.microsoft.com/office/drawing/2014/main" id="{84A58487-C638-3877-5BF1-56DAAA89C591}"/>
              </a:ext>
            </a:extLst>
          </p:cNvPr>
          <p:cNvSpPr txBox="1"/>
          <p:nvPr/>
        </p:nvSpPr>
        <p:spPr>
          <a:xfrm>
            <a:off x="1170328" y="5843016"/>
            <a:ext cx="582394" cy="164592"/>
          </a:xfrm>
          <a:prstGeom prst="rect">
            <a:avLst/>
          </a:prstGeom>
          <a:noFill/>
        </p:spPr>
        <p:txBody>
          <a:bodyPr wrap="square" lIns="36000" tIns="18000" rIns="36000" bIns="18000" anchor="ctr">
            <a:spAutoFit/>
          </a:bodyPr>
          <a:lstStyle/>
          <a:p>
            <a:pPr algn="ctr"/>
            <a:r>
              <a:rPr sz="700" b="1" i="0">
                <a:solidFill>
                  <a:srgbClr val="FFFFFF"/>
                </a:solidFill>
              </a:rPr>
              <a:t>WIP</a:t>
            </a:r>
          </a:p>
        </p:txBody>
      </p:sp>
      <p:sp>
        <p:nvSpPr>
          <p:cNvPr id="42" name="Rectangle 49">
            <a:extLst>
              <a:ext uri="{FF2B5EF4-FFF2-40B4-BE49-F238E27FC236}">
                <a16:creationId xmlns:a16="http://schemas.microsoft.com/office/drawing/2014/main" id="{FD2CE1AB-60DE-398A-7B17-742F3CB2CF29}"/>
              </a:ext>
            </a:extLst>
          </p:cNvPr>
          <p:cNvSpPr/>
          <p:nvPr/>
        </p:nvSpPr>
        <p:spPr>
          <a:xfrm>
            <a:off x="1769851"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50">
            <a:extLst>
              <a:ext uri="{FF2B5EF4-FFF2-40B4-BE49-F238E27FC236}">
                <a16:creationId xmlns:a16="http://schemas.microsoft.com/office/drawing/2014/main" id="{87799271-8B5C-790A-C9F1-3FFA38181062}"/>
              </a:ext>
            </a:extLst>
          </p:cNvPr>
          <p:cNvSpPr txBox="1"/>
          <p:nvPr/>
        </p:nvSpPr>
        <p:spPr>
          <a:xfrm>
            <a:off x="1769851" y="5843016"/>
            <a:ext cx="582394" cy="164592"/>
          </a:xfrm>
          <a:prstGeom prst="rect">
            <a:avLst/>
          </a:prstGeom>
          <a:noFill/>
        </p:spPr>
        <p:txBody>
          <a:bodyPr wrap="square" lIns="36000" tIns="18000" rIns="36000" bIns="18000" anchor="ctr">
            <a:spAutoFit/>
          </a:bodyPr>
          <a:lstStyle/>
          <a:p>
            <a:pPr algn="ctr"/>
            <a:r>
              <a:rPr sz="700" b="1" i="0">
                <a:solidFill>
                  <a:srgbClr val="FFFFFF"/>
                </a:solidFill>
              </a:rPr>
              <a:t>REVIEW</a:t>
            </a:r>
          </a:p>
        </p:txBody>
      </p:sp>
      <p:sp>
        <p:nvSpPr>
          <p:cNvPr id="44" name="Rectangle 51">
            <a:extLst>
              <a:ext uri="{FF2B5EF4-FFF2-40B4-BE49-F238E27FC236}">
                <a16:creationId xmlns:a16="http://schemas.microsoft.com/office/drawing/2014/main" id="{EF71EF65-A89B-5710-55E1-592C9B476BDB}"/>
              </a:ext>
            </a:extLst>
          </p:cNvPr>
          <p:cNvSpPr/>
          <p:nvPr/>
        </p:nvSpPr>
        <p:spPr>
          <a:xfrm>
            <a:off x="2369373"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52">
            <a:extLst>
              <a:ext uri="{FF2B5EF4-FFF2-40B4-BE49-F238E27FC236}">
                <a16:creationId xmlns:a16="http://schemas.microsoft.com/office/drawing/2014/main" id="{82E87C20-22EC-E1A5-AE19-9D247388B48C}"/>
              </a:ext>
            </a:extLst>
          </p:cNvPr>
          <p:cNvSpPr txBox="1"/>
          <p:nvPr/>
        </p:nvSpPr>
        <p:spPr>
          <a:xfrm>
            <a:off x="2369373" y="5843016"/>
            <a:ext cx="582394" cy="164592"/>
          </a:xfrm>
          <a:prstGeom prst="rect">
            <a:avLst/>
          </a:prstGeom>
          <a:noFill/>
        </p:spPr>
        <p:txBody>
          <a:bodyPr wrap="square" lIns="36000" tIns="18000" rIns="36000" bIns="18000" anchor="ctr">
            <a:spAutoFit/>
          </a:bodyPr>
          <a:lstStyle/>
          <a:p>
            <a:pPr algn="ctr"/>
            <a:r>
              <a:rPr sz="700" b="1" i="0">
                <a:solidFill>
                  <a:srgbClr val="FFFFFF"/>
                </a:solidFill>
              </a:rPr>
              <a:t>DONE</a:t>
            </a:r>
          </a:p>
        </p:txBody>
      </p:sp>
      <p:sp>
        <p:nvSpPr>
          <p:cNvPr id="46" name="Rounded Rectangle 53">
            <a:extLst>
              <a:ext uri="{FF2B5EF4-FFF2-40B4-BE49-F238E27FC236}">
                <a16:creationId xmlns:a16="http://schemas.microsoft.com/office/drawing/2014/main" id="{2A6BE892-2BB6-4CB8-3C2B-DC025D49552B}"/>
              </a:ext>
            </a:extLst>
          </p:cNvPr>
          <p:cNvSpPr/>
          <p:nvPr/>
        </p:nvSpPr>
        <p:spPr>
          <a:xfrm>
            <a:off x="3268657" y="4526280"/>
            <a:ext cx="2655029" cy="2103120"/>
          </a:xfrm>
          <a:prstGeom prst="roundRect">
            <a:avLst>
              <a:gd name="adj" fmla="val 4000"/>
            </a:avLst>
          </a:prstGeom>
          <a:solidFill>
            <a:srgbClr val="FFFFFF"/>
          </a:solidFill>
          <a:ln w="254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54">
            <a:extLst>
              <a:ext uri="{FF2B5EF4-FFF2-40B4-BE49-F238E27FC236}">
                <a16:creationId xmlns:a16="http://schemas.microsoft.com/office/drawing/2014/main" id="{354476F2-4F3D-1622-E118-29DC74BC12BC}"/>
              </a:ext>
            </a:extLst>
          </p:cNvPr>
          <p:cNvSpPr/>
          <p:nvPr/>
        </p:nvSpPr>
        <p:spPr>
          <a:xfrm>
            <a:off x="3268657" y="4526280"/>
            <a:ext cx="2655029" cy="292608"/>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55">
            <a:extLst>
              <a:ext uri="{FF2B5EF4-FFF2-40B4-BE49-F238E27FC236}">
                <a16:creationId xmlns:a16="http://schemas.microsoft.com/office/drawing/2014/main" id="{FAA44929-0655-C99E-CF1D-2257D80194F9}"/>
              </a:ext>
            </a:extLst>
          </p:cNvPr>
          <p:cNvSpPr txBox="1"/>
          <p:nvPr/>
        </p:nvSpPr>
        <p:spPr>
          <a:xfrm>
            <a:off x="3268657"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M </a:t>
            </a:r>
          </a:p>
        </p:txBody>
      </p:sp>
      <p:sp>
        <p:nvSpPr>
          <p:cNvPr id="49" name="TextBox 56">
            <a:extLst>
              <a:ext uri="{FF2B5EF4-FFF2-40B4-BE49-F238E27FC236}">
                <a16:creationId xmlns:a16="http://schemas.microsoft.com/office/drawing/2014/main" id="{622C2F39-BDB2-7A41-BAB9-7F53F077A920}"/>
              </a:ext>
            </a:extLst>
          </p:cNvPr>
          <p:cNvSpPr txBox="1"/>
          <p:nvPr/>
        </p:nvSpPr>
        <p:spPr>
          <a:xfrm>
            <a:off x="3354304"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50" name="Rounded Rectangle 57">
            <a:extLst>
              <a:ext uri="{FF2B5EF4-FFF2-40B4-BE49-F238E27FC236}">
                <a16:creationId xmlns:a16="http://schemas.microsoft.com/office/drawing/2014/main" id="{A4AD907A-5506-7C50-B86F-571F552FA907}"/>
              </a:ext>
            </a:extLst>
          </p:cNvPr>
          <p:cNvSpPr/>
          <p:nvPr/>
        </p:nvSpPr>
        <p:spPr>
          <a:xfrm>
            <a:off x="3611242" y="5074920"/>
            <a:ext cx="1969860" cy="274320"/>
          </a:xfrm>
          <a:prstGeom prst="roundRect">
            <a:avLst>
              <a:gd name="adj" fmla="val 6000"/>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8">
            <a:extLst>
              <a:ext uri="{FF2B5EF4-FFF2-40B4-BE49-F238E27FC236}">
                <a16:creationId xmlns:a16="http://schemas.microsoft.com/office/drawing/2014/main" id="{9FAF8C39-1676-6C46-24D6-3ADF99B4C05A}"/>
              </a:ext>
            </a:extLst>
          </p:cNvPr>
          <p:cNvSpPr txBox="1"/>
          <p:nvPr/>
        </p:nvSpPr>
        <p:spPr>
          <a:xfrm>
            <a:off x="3611242" y="5074920"/>
            <a:ext cx="1969860" cy="274320"/>
          </a:xfrm>
          <a:prstGeom prst="rect">
            <a:avLst/>
          </a:prstGeom>
          <a:solidFill>
            <a:srgbClr val="009F5D"/>
          </a:solidFill>
        </p:spPr>
        <p:txBody>
          <a:bodyPr wrap="square" lIns="36000" tIns="18000" rIns="36000" bIns="18000" anchor="ctr">
            <a:spAutoFit/>
          </a:bodyPr>
          <a:lstStyle/>
          <a:p>
            <a:pPr algn="ctr"/>
            <a:r>
              <a:rPr sz="1100" b="1" i="0">
                <a:solidFill>
                  <a:srgbClr val="FFFFFF"/>
                </a:solidFill>
              </a:rPr>
              <a:t>EPIC + placeholder Stories</a:t>
            </a:r>
          </a:p>
        </p:txBody>
      </p:sp>
      <p:sp>
        <p:nvSpPr>
          <p:cNvPr id="52" name="TextBox 59">
            <a:extLst>
              <a:ext uri="{FF2B5EF4-FFF2-40B4-BE49-F238E27FC236}">
                <a16:creationId xmlns:a16="http://schemas.microsoft.com/office/drawing/2014/main" id="{7B7041F9-99EC-C66F-983F-66DEC3F0EBDA}"/>
              </a:ext>
            </a:extLst>
          </p:cNvPr>
          <p:cNvSpPr txBox="1"/>
          <p:nvPr/>
        </p:nvSpPr>
        <p:spPr>
          <a:xfrm>
            <a:off x="3354304"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53" name="TextBox 60">
            <a:extLst>
              <a:ext uri="{FF2B5EF4-FFF2-40B4-BE49-F238E27FC236}">
                <a16:creationId xmlns:a16="http://schemas.microsoft.com/office/drawing/2014/main" id="{06CA9A4D-3443-4A6C-0763-B7949E244FFF}"/>
              </a:ext>
            </a:extLst>
          </p:cNvPr>
          <p:cNvSpPr txBox="1"/>
          <p:nvPr/>
        </p:nvSpPr>
        <p:spPr>
          <a:xfrm>
            <a:off x="3354304"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
        <p:nvSpPr>
          <p:cNvPr id="54" name="Rounded Rectangle 61">
            <a:extLst>
              <a:ext uri="{FF2B5EF4-FFF2-40B4-BE49-F238E27FC236}">
                <a16:creationId xmlns:a16="http://schemas.microsoft.com/office/drawing/2014/main" id="{FA16943D-067C-53BF-5AAD-D65ABBA1475A}"/>
              </a:ext>
            </a:extLst>
          </p:cNvPr>
          <p:cNvSpPr/>
          <p:nvPr/>
        </p:nvSpPr>
        <p:spPr>
          <a:xfrm>
            <a:off x="3354304"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62">
            <a:extLst>
              <a:ext uri="{FF2B5EF4-FFF2-40B4-BE49-F238E27FC236}">
                <a16:creationId xmlns:a16="http://schemas.microsoft.com/office/drawing/2014/main" id="{CD7653AD-D520-DB26-533F-72A71F16DFCC}"/>
              </a:ext>
            </a:extLst>
          </p:cNvPr>
          <p:cNvSpPr/>
          <p:nvPr/>
        </p:nvSpPr>
        <p:spPr>
          <a:xfrm>
            <a:off x="3397127"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63">
            <a:extLst>
              <a:ext uri="{FF2B5EF4-FFF2-40B4-BE49-F238E27FC236}">
                <a16:creationId xmlns:a16="http://schemas.microsoft.com/office/drawing/2014/main" id="{24EAEFB9-4D80-81E7-E0C3-1474A1085C86}"/>
              </a:ext>
            </a:extLst>
          </p:cNvPr>
          <p:cNvSpPr txBox="1"/>
          <p:nvPr/>
        </p:nvSpPr>
        <p:spPr>
          <a:xfrm>
            <a:off x="3397127"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INTAKE</a:t>
            </a:r>
          </a:p>
        </p:txBody>
      </p:sp>
      <p:sp>
        <p:nvSpPr>
          <p:cNvPr id="57" name="Rectangle 64">
            <a:extLst>
              <a:ext uri="{FF2B5EF4-FFF2-40B4-BE49-F238E27FC236}">
                <a16:creationId xmlns:a16="http://schemas.microsoft.com/office/drawing/2014/main" id="{9C52DB2D-386E-89DF-7C60-ECB5B43B5FF9}"/>
              </a:ext>
            </a:extLst>
          </p:cNvPr>
          <p:cNvSpPr/>
          <p:nvPr/>
        </p:nvSpPr>
        <p:spPr>
          <a:xfrm>
            <a:off x="3876745"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65">
            <a:extLst>
              <a:ext uri="{FF2B5EF4-FFF2-40B4-BE49-F238E27FC236}">
                <a16:creationId xmlns:a16="http://schemas.microsoft.com/office/drawing/2014/main" id="{BE91F8B1-3E13-60AA-A15B-46677FBD64F2}"/>
              </a:ext>
            </a:extLst>
          </p:cNvPr>
          <p:cNvSpPr txBox="1"/>
          <p:nvPr/>
        </p:nvSpPr>
        <p:spPr>
          <a:xfrm>
            <a:off x="3876745"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TRIAGE</a:t>
            </a:r>
          </a:p>
        </p:txBody>
      </p:sp>
      <p:sp>
        <p:nvSpPr>
          <p:cNvPr id="59" name="Rectangle 66">
            <a:extLst>
              <a:ext uri="{FF2B5EF4-FFF2-40B4-BE49-F238E27FC236}">
                <a16:creationId xmlns:a16="http://schemas.microsoft.com/office/drawing/2014/main" id="{10CF5F19-992D-66F6-B2BF-D767E25E2DC2}"/>
              </a:ext>
            </a:extLst>
          </p:cNvPr>
          <p:cNvSpPr/>
          <p:nvPr/>
        </p:nvSpPr>
        <p:spPr>
          <a:xfrm>
            <a:off x="4356363"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7">
            <a:extLst>
              <a:ext uri="{FF2B5EF4-FFF2-40B4-BE49-F238E27FC236}">
                <a16:creationId xmlns:a16="http://schemas.microsoft.com/office/drawing/2014/main" id="{E6E4F748-5C6C-6846-F311-2811D32CD639}"/>
              </a:ext>
            </a:extLst>
          </p:cNvPr>
          <p:cNvSpPr txBox="1"/>
          <p:nvPr/>
        </p:nvSpPr>
        <p:spPr>
          <a:xfrm>
            <a:off x="4356363"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BACKLOG</a:t>
            </a:r>
          </a:p>
        </p:txBody>
      </p:sp>
      <p:sp>
        <p:nvSpPr>
          <p:cNvPr id="61" name="Rectangle 68">
            <a:extLst>
              <a:ext uri="{FF2B5EF4-FFF2-40B4-BE49-F238E27FC236}">
                <a16:creationId xmlns:a16="http://schemas.microsoft.com/office/drawing/2014/main" id="{98A29474-2F98-EDA9-52E6-F1529A918397}"/>
              </a:ext>
            </a:extLst>
          </p:cNvPr>
          <p:cNvSpPr/>
          <p:nvPr/>
        </p:nvSpPr>
        <p:spPr>
          <a:xfrm>
            <a:off x="4373492" y="6062472"/>
            <a:ext cx="428231" cy="457200"/>
          </a:xfrm>
          <a:prstGeom prst="rect">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9">
            <a:extLst>
              <a:ext uri="{FF2B5EF4-FFF2-40B4-BE49-F238E27FC236}">
                <a16:creationId xmlns:a16="http://schemas.microsoft.com/office/drawing/2014/main" id="{5EB462F9-ADB7-D3D7-8B61-61B132563A23}"/>
              </a:ext>
            </a:extLst>
          </p:cNvPr>
          <p:cNvSpPr txBox="1"/>
          <p:nvPr/>
        </p:nvSpPr>
        <p:spPr>
          <a:xfrm>
            <a:off x="4373492" y="6080760"/>
            <a:ext cx="428231" cy="182880"/>
          </a:xfrm>
          <a:prstGeom prst="rect">
            <a:avLst/>
          </a:prstGeom>
          <a:solidFill>
            <a:srgbClr val="009F5D"/>
          </a:solidFill>
        </p:spPr>
        <p:txBody>
          <a:bodyPr wrap="square" lIns="36000" tIns="18000" rIns="36000" bIns="18000" anchor="t">
            <a:spAutoFit/>
          </a:bodyPr>
          <a:lstStyle/>
          <a:p>
            <a:pPr algn="ctr"/>
            <a:r>
              <a:rPr sz="600" b="1" i="0">
                <a:solidFill>
                  <a:srgbClr val="FFFFFF"/>
                </a:solidFill>
              </a:rPr>
              <a:t>EPIC +</a:t>
            </a:r>
          </a:p>
        </p:txBody>
      </p:sp>
      <p:sp>
        <p:nvSpPr>
          <p:cNvPr id="63" name="TextBox 70">
            <a:extLst>
              <a:ext uri="{FF2B5EF4-FFF2-40B4-BE49-F238E27FC236}">
                <a16:creationId xmlns:a16="http://schemas.microsoft.com/office/drawing/2014/main" id="{8275749F-EF21-8CDD-A206-AAC7891ACD0F}"/>
              </a:ext>
            </a:extLst>
          </p:cNvPr>
          <p:cNvSpPr txBox="1"/>
          <p:nvPr/>
        </p:nvSpPr>
        <p:spPr>
          <a:xfrm>
            <a:off x="4373492" y="6245352"/>
            <a:ext cx="428231" cy="182880"/>
          </a:xfrm>
          <a:prstGeom prst="rect">
            <a:avLst/>
          </a:prstGeom>
          <a:noFill/>
        </p:spPr>
        <p:txBody>
          <a:bodyPr wrap="square" lIns="36000" tIns="18000" rIns="36000" bIns="18000" anchor="t">
            <a:spAutoFit/>
          </a:bodyPr>
          <a:lstStyle/>
          <a:p>
            <a:pPr algn="ctr"/>
            <a:r>
              <a:rPr sz="600" b="0" i="1">
                <a:solidFill>
                  <a:srgbClr val="FFFFFF"/>
                </a:solidFill>
              </a:rPr>
              <a:t>your card</a:t>
            </a:r>
          </a:p>
        </p:txBody>
      </p:sp>
      <p:sp>
        <p:nvSpPr>
          <p:cNvPr id="64" name="Rectangle 71">
            <a:extLst>
              <a:ext uri="{FF2B5EF4-FFF2-40B4-BE49-F238E27FC236}">
                <a16:creationId xmlns:a16="http://schemas.microsoft.com/office/drawing/2014/main" id="{B4393A9A-C189-9992-5B8A-D8547696BBB1}"/>
              </a:ext>
            </a:extLst>
          </p:cNvPr>
          <p:cNvSpPr/>
          <p:nvPr/>
        </p:nvSpPr>
        <p:spPr>
          <a:xfrm>
            <a:off x="4835981"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72">
            <a:extLst>
              <a:ext uri="{FF2B5EF4-FFF2-40B4-BE49-F238E27FC236}">
                <a16:creationId xmlns:a16="http://schemas.microsoft.com/office/drawing/2014/main" id="{3A24E69A-347B-C123-1DDF-012F1A19A9F4}"/>
              </a:ext>
            </a:extLst>
          </p:cNvPr>
          <p:cNvSpPr txBox="1"/>
          <p:nvPr/>
        </p:nvSpPr>
        <p:spPr>
          <a:xfrm>
            <a:off x="4835981"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READY</a:t>
            </a:r>
          </a:p>
        </p:txBody>
      </p:sp>
      <p:sp>
        <p:nvSpPr>
          <p:cNvPr id="69" name="Rectangle 73">
            <a:extLst>
              <a:ext uri="{FF2B5EF4-FFF2-40B4-BE49-F238E27FC236}">
                <a16:creationId xmlns:a16="http://schemas.microsoft.com/office/drawing/2014/main" id="{C552C359-D27A-BB40-9020-4C27C422D13E}"/>
              </a:ext>
            </a:extLst>
          </p:cNvPr>
          <p:cNvSpPr/>
          <p:nvPr/>
        </p:nvSpPr>
        <p:spPr>
          <a:xfrm>
            <a:off x="5315599"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74">
            <a:extLst>
              <a:ext uri="{FF2B5EF4-FFF2-40B4-BE49-F238E27FC236}">
                <a16:creationId xmlns:a16="http://schemas.microsoft.com/office/drawing/2014/main" id="{01D87FB2-2DAE-1264-7F84-F0B077564657}"/>
              </a:ext>
            </a:extLst>
          </p:cNvPr>
          <p:cNvSpPr txBox="1"/>
          <p:nvPr/>
        </p:nvSpPr>
        <p:spPr>
          <a:xfrm>
            <a:off x="5315599"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FLIGHT</a:t>
            </a:r>
          </a:p>
        </p:txBody>
      </p:sp>
      <p:sp>
        <p:nvSpPr>
          <p:cNvPr id="120" name="Rounded Rectangle 75">
            <a:extLst>
              <a:ext uri="{FF2B5EF4-FFF2-40B4-BE49-F238E27FC236}">
                <a16:creationId xmlns:a16="http://schemas.microsoft.com/office/drawing/2014/main" id="{3145E119-11DE-CD16-8BEA-256B089DAC7C}"/>
              </a:ext>
            </a:extLst>
          </p:cNvPr>
          <p:cNvSpPr/>
          <p:nvPr/>
        </p:nvSpPr>
        <p:spPr>
          <a:xfrm>
            <a:off x="6094979" y="4526280"/>
            <a:ext cx="2655029" cy="2103120"/>
          </a:xfrm>
          <a:prstGeom prst="roundRect">
            <a:avLst>
              <a:gd name="adj" fmla="val 4000"/>
            </a:avLst>
          </a:prstGeom>
          <a:solidFill>
            <a:srgbClr val="FFFFFF"/>
          </a:solidFill>
          <a:ln w="2540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ounded Rectangle 76">
            <a:extLst>
              <a:ext uri="{FF2B5EF4-FFF2-40B4-BE49-F238E27FC236}">
                <a16:creationId xmlns:a16="http://schemas.microsoft.com/office/drawing/2014/main" id="{6EF479D9-A46B-65E5-3D4D-CEDC9135364B}"/>
              </a:ext>
            </a:extLst>
          </p:cNvPr>
          <p:cNvSpPr/>
          <p:nvPr/>
        </p:nvSpPr>
        <p:spPr>
          <a:xfrm>
            <a:off x="6094979" y="4526280"/>
            <a:ext cx="2655029" cy="292608"/>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77">
            <a:extLst>
              <a:ext uri="{FF2B5EF4-FFF2-40B4-BE49-F238E27FC236}">
                <a16:creationId xmlns:a16="http://schemas.microsoft.com/office/drawing/2014/main" id="{841A7CEA-15AF-FE6C-1BE1-E4F3D50B6A01}"/>
              </a:ext>
            </a:extLst>
          </p:cNvPr>
          <p:cNvSpPr txBox="1"/>
          <p:nvPr/>
        </p:nvSpPr>
        <p:spPr>
          <a:xfrm>
            <a:off x="6094979"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a:t>
            </a:r>
            <a:r>
              <a:rPr lang="pt-BR" sz="900" b="1" i="0">
                <a:solidFill>
                  <a:srgbClr val="FFFFFF"/>
                </a:solidFill>
              </a:rPr>
              <a:t>L</a:t>
            </a:r>
            <a:endParaRPr sz="900" b="1" i="0">
              <a:solidFill>
                <a:srgbClr val="FFFFFF"/>
              </a:solidFill>
            </a:endParaRPr>
          </a:p>
        </p:txBody>
      </p:sp>
      <p:sp>
        <p:nvSpPr>
          <p:cNvPr id="123" name="TextBox 78">
            <a:extLst>
              <a:ext uri="{FF2B5EF4-FFF2-40B4-BE49-F238E27FC236}">
                <a16:creationId xmlns:a16="http://schemas.microsoft.com/office/drawing/2014/main" id="{A409E1ED-6612-A727-8C50-6E098F6BF1AD}"/>
              </a:ext>
            </a:extLst>
          </p:cNvPr>
          <p:cNvSpPr txBox="1"/>
          <p:nvPr/>
        </p:nvSpPr>
        <p:spPr>
          <a:xfrm>
            <a:off x="6180625"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124" name="Rounded Rectangle 79">
            <a:extLst>
              <a:ext uri="{FF2B5EF4-FFF2-40B4-BE49-F238E27FC236}">
                <a16:creationId xmlns:a16="http://schemas.microsoft.com/office/drawing/2014/main" id="{65EEC8A0-CFBB-3FEE-9FE2-EA5FB571638A}"/>
              </a:ext>
            </a:extLst>
          </p:cNvPr>
          <p:cNvSpPr/>
          <p:nvPr/>
        </p:nvSpPr>
        <p:spPr>
          <a:xfrm>
            <a:off x="6437563" y="5074920"/>
            <a:ext cx="1969860" cy="274320"/>
          </a:xfrm>
          <a:prstGeom prst="roundRect">
            <a:avLst>
              <a:gd name="adj" fmla="val 6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80">
            <a:extLst>
              <a:ext uri="{FF2B5EF4-FFF2-40B4-BE49-F238E27FC236}">
                <a16:creationId xmlns:a16="http://schemas.microsoft.com/office/drawing/2014/main" id="{91616C22-EF9C-BCD7-2C21-64AB33640FC9}"/>
              </a:ext>
            </a:extLst>
          </p:cNvPr>
          <p:cNvSpPr txBox="1"/>
          <p:nvPr/>
        </p:nvSpPr>
        <p:spPr>
          <a:xfrm>
            <a:off x="6339070" y="5074920"/>
            <a:ext cx="2166846" cy="274320"/>
          </a:xfrm>
          <a:prstGeom prst="rect">
            <a:avLst/>
          </a:prstGeom>
          <a:solidFill>
            <a:srgbClr val="00B46E"/>
          </a:solidFill>
        </p:spPr>
        <p:txBody>
          <a:bodyPr wrap="square" lIns="36000" tIns="18000" rIns="36000" bIns="18000" anchor="ctr">
            <a:spAutoFit/>
          </a:bodyPr>
          <a:lstStyle/>
          <a:p>
            <a:pPr algn="ctr"/>
            <a:r>
              <a:rPr sz="1100" b="1" i="0">
                <a:solidFill>
                  <a:srgbClr val="FFFFFF"/>
                </a:solidFill>
              </a:rPr>
              <a:t>INITIATIVE + placeholder Epics</a:t>
            </a:r>
          </a:p>
        </p:txBody>
      </p:sp>
      <p:sp>
        <p:nvSpPr>
          <p:cNvPr id="126" name="TextBox 81">
            <a:extLst>
              <a:ext uri="{FF2B5EF4-FFF2-40B4-BE49-F238E27FC236}">
                <a16:creationId xmlns:a16="http://schemas.microsoft.com/office/drawing/2014/main" id="{EB74AEB1-5E5C-E3B4-DC27-054D165FC04C}"/>
              </a:ext>
            </a:extLst>
          </p:cNvPr>
          <p:cNvSpPr txBox="1"/>
          <p:nvPr/>
        </p:nvSpPr>
        <p:spPr>
          <a:xfrm>
            <a:off x="6180625"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128" name="Rounded Rectangle 83">
            <a:extLst>
              <a:ext uri="{FF2B5EF4-FFF2-40B4-BE49-F238E27FC236}">
                <a16:creationId xmlns:a16="http://schemas.microsoft.com/office/drawing/2014/main" id="{D57E8FE8-E15C-8B24-FEB1-1EF24B891762}"/>
              </a:ext>
            </a:extLst>
          </p:cNvPr>
          <p:cNvSpPr/>
          <p:nvPr/>
        </p:nvSpPr>
        <p:spPr>
          <a:xfrm>
            <a:off x="6180625"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84">
            <a:extLst>
              <a:ext uri="{FF2B5EF4-FFF2-40B4-BE49-F238E27FC236}">
                <a16:creationId xmlns:a16="http://schemas.microsoft.com/office/drawing/2014/main" id="{DBCEF296-F4F8-991D-10DF-9852EEB9A5E0}"/>
              </a:ext>
            </a:extLst>
          </p:cNvPr>
          <p:cNvSpPr/>
          <p:nvPr/>
        </p:nvSpPr>
        <p:spPr>
          <a:xfrm>
            <a:off x="6223448"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85">
            <a:extLst>
              <a:ext uri="{FF2B5EF4-FFF2-40B4-BE49-F238E27FC236}">
                <a16:creationId xmlns:a16="http://schemas.microsoft.com/office/drawing/2014/main" id="{DE540F60-AEDD-DC85-AB87-C370CD2A696F}"/>
              </a:ext>
            </a:extLst>
          </p:cNvPr>
          <p:cNvSpPr txBox="1"/>
          <p:nvPr/>
        </p:nvSpPr>
        <p:spPr>
          <a:xfrm>
            <a:off x="6223448"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IDEA</a:t>
            </a:r>
          </a:p>
        </p:txBody>
      </p:sp>
      <p:sp>
        <p:nvSpPr>
          <p:cNvPr id="131" name="Rectangle 86">
            <a:extLst>
              <a:ext uri="{FF2B5EF4-FFF2-40B4-BE49-F238E27FC236}">
                <a16:creationId xmlns:a16="http://schemas.microsoft.com/office/drawing/2014/main" id="{9D5C4F29-8B79-A37F-AB56-96412C3D228F}"/>
              </a:ext>
            </a:extLst>
          </p:cNvPr>
          <p:cNvSpPr/>
          <p:nvPr/>
        </p:nvSpPr>
        <p:spPr>
          <a:xfrm>
            <a:off x="6703066"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87">
            <a:extLst>
              <a:ext uri="{FF2B5EF4-FFF2-40B4-BE49-F238E27FC236}">
                <a16:creationId xmlns:a16="http://schemas.microsoft.com/office/drawing/2014/main" id="{98978CD7-3D74-C7F6-9F84-385B6B05E507}"/>
              </a:ext>
            </a:extLst>
          </p:cNvPr>
          <p:cNvSpPr txBox="1"/>
          <p:nvPr/>
        </p:nvSpPr>
        <p:spPr>
          <a:xfrm>
            <a:off x="6703066"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GATE 1</a:t>
            </a:r>
          </a:p>
        </p:txBody>
      </p:sp>
      <p:sp>
        <p:nvSpPr>
          <p:cNvPr id="133" name="Rectangle 88">
            <a:extLst>
              <a:ext uri="{FF2B5EF4-FFF2-40B4-BE49-F238E27FC236}">
                <a16:creationId xmlns:a16="http://schemas.microsoft.com/office/drawing/2014/main" id="{CD6AAC47-7E7B-6E72-C1EB-334FDEE3623A}"/>
              </a:ext>
            </a:extLst>
          </p:cNvPr>
          <p:cNvSpPr/>
          <p:nvPr/>
        </p:nvSpPr>
        <p:spPr>
          <a:xfrm>
            <a:off x="6720195" y="6062472"/>
            <a:ext cx="428231" cy="457200"/>
          </a:xfrm>
          <a:prstGeom prst="rect">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89">
            <a:extLst>
              <a:ext uri="{FF2B5EF4-FFF2-40B4-BE49-F238E27FC236}">
                <a16:creationId xmlns:a16="http://schemas.microsoft.com/office/drawing/2014/main" id="{82002334-7522-3D9E-1C28-CC485A10B579}"/>
              </a:ext>
            </a:extLst>
          </p:cNvPr>
          <p:cNvSpPr txBox="1"/>
          <p:nvPr/>
        </p:nvSpPr>
        <p:spPr>
          <a:xfrm>
            <a:off x="6720195" y="6080760"/>
            <a:ext cx="428231" cy="182880"/>
          </a:xfrm>
          <a:prstGeom prst="rect">
            <a:avLst/>
          </a:prstGeom>
          <a:solidFill>
            <a:srgbClr val="00B46E"/>
          </a:solidFill>
        </p:spPr>
        <p:txBody>
          <a:bodyPr wrap="square" lIns="36000" tIns="18000" rIns="36000" bIns="18000" anchor="t">
            <a:spAutoFit/>
          </a:bodyPr>
          <a:lstStyle/>
          <a:p>
            <a:pPr algn="ctr"/>
            <a:r>
              <a:rPr sz="600" b="1" i="0">
                <a:solidFill>
                  <a:srgbClr val="FFFFFF"/>
                </a:solidFill>
              </a:rPr>
              <a:t>INITIA</a:t>
            </a:r>
          </a:p>
        </p:txBody>
      </p:sp>
      <p:sp>
        <p:nvSpPr>
          <p:cNvPr id="135" name="TextBox 90">
            <a:extLst>
              <a:ext uri="{FF2B5EF4-FFF2-40B4-BE49-F238E27FC236}">
                <a16:creationId xmlns:a16="http://schemas.microsoft.com/office/drawing/2014/main" id="{F8B07CEF-347F-CCB7-983F-DC657AC6CF91}"/>
              </a:ext>
            </a:extLst>
          </p:cNvPr>
          <p:cNvSpPr txBox="1"/>
          <p:nvPr/>
        </p:nvSpPr>
        <p:spPr>
          <a:xfrm>
            <a:off x="6720195" y="6245352"/>
            <a:ext cx="428231" cy="182880"/>
          </a:xfrm>
          <a:prstGeom prst="rect">
            <a:avLst/>
          </a:prstGeom>
          <a:solidFill>
            <a:srgbClr val="00B46E"/>
          </a:solidFill>
        </p:spPr>
        <p:txBody>
          <a:bodyPr wrap="square" lIns="36000" tIns="18000" rIns="36000" bIns="18000" anchor="t">
            <a:spAutoFit/>
          </a:bodyPr>
          <a:lstStyle/>
          <a:p>
            <a:pPr algn="ctr"/>
            <a:r>
              <a:rPr sz="600" b="0" i="1">
                <a:solidFill>
                  <a:srgbClr val="FFFFFF"/>
                </a:solidFill>
              </a:rPr>
              <a:t>your card</a:t>
            </a:r>
          </a:p>
        </p:txBody>
      </p:sp>
      <p:sp>
        <p:nvSpPr>
          <p:cNvPr id="136" name="Rectangle 91">
            <a:extLst>
              <a:ext uri="{FF2B5EF4-FFF2-40B4-BE49-F238E27FC236}">
                <a16:creationId xmlns:a16="http://schemas.microsoft.com/office/drawing/2014/main" id="{D7FA4086-2A0E-08B9-CA8E-E60E5D5BCB61}"/>
              </a:ext>
            </a:extLst>
          </p:cNvPr>
          <p:cNvSpPr/>
          <p:nvPr/>
        </p:nvSpPr>
        <p:spPr>
          <a:xfrm>
            <a:off x="7182684"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92">
            <a:extLst>
              <a:ext uri="{FF2B5EF4-FFF2-40B4-BE49-F238E27FC236}">
                <a16:creationId xmlns:a16="http://schemas.microsoft.com/office/drawing/2014/main" id="{A806BEE5-95DB-D450-500E-1124AFCC8A90}"/>
              </a:ext>
            </a:extLst>
          </p:cNvPr>
          <p:cNvSpPr txBox="1"/>
          <p:nvPr/>
        </p:nvSpPr>
        <p:spPr>
          <a:xfrm>
            <a:off x="7182684"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GATE 2</a:t>
            </a:r>
          </a:p>
        </p:txBody>
      </p:sp>
      <p:sp>
        <p:nvSpPr>
          <p:cNvPr id="138" name="Rectangle 93">
            <a:extLst>
              <a:ext uri="{FF2B5EF4-FFF2-40B4-BE49-F238E27FC236}">
                <a16:creationId xmlns:a16="http://schemas.microsoft.com/office/drawing/2014/main" id="{3641078E-CAD3-61F2-35AE-6D9A42C627CE}"/>
              </a:ext>
            </a:extLst>
          </p:cNvPr>
          <p:cNvSpPr/>
          <p:nvPr/>
        </p:nvSpPr>
        <p:spPr>
          <a:xfrm>
            <a:off x="7662302"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94">
            <a:extLst>
              <a:ext uri="{FF2B5EF4-FFF2-40B4-BE49-F238E27FC236}">
                <a16:creationId xmlns:a16="http://schemas.microsoft.com/office/drawing/2014/main" id="{378049C2-BF67-1323-7365-C1415DA53737}"/>
              </a:ext>
            </a:extLst>
          </p:cNvPr>
          <p:cNvSpPr txBox="1"/>
          <p:nvPr/>
        </p:nvSpPr>
        <p:spPr>
          <a:xfrm>
            <a:off x="7662302"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RUN</a:t>
            </a:r>
          </a:p>
        </p:txBody>
      </p:sp>
      <p:sp>
        <p:nvSpPr>
          <p:cNvPr id="140" name="Rectangle 95">
            <a:extLst>
              <a:ext uri="{FF2B5EF4-FFF2-40B4-BE49-F238E27FC236}">
                <a16:creationId xmlns:a16="http://schemas.microsoft.com/office/drawing/2014/main" id="{9AC4C1EB-EB7A-2354-0983-4C7415F94FCA}"/>
              </a:ext>
            </a:extLst>
          </p:cNvPr>
          <p:cNvSpPr/>
          <p:nvPr/>
        </p:nvSpPr>
        <p:spPr>
          <a:xfrm>
            <a:off x="8141921"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96">
            <a:extLst>
              <a:ext uri="{FF2B5EF4-FFF2-40B4-BE49-F238E27FC236}">
                <a16:creationId xmlns:a16="http://schemas.microsoft.com/office/drawing/2014/main" id="{477D1BC4-4F1E-3319-3328-F129B08C4497}"/>
              </a:ext>
            </a:extLst>
          </p:cNvPr>
          <p:cNvSpPr txBox="1"/>
          <p:nvPr/>
        </p:nvSpPr>
        <p:spPr>
          <a:xfrm>
            <a:off x="8141921"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DONE</a:t>
            </a:r>
          </a:p>
        </p:txBody>
      </p:sp>
      <p:sp>
        <p:nvSpPr>
          <p:cNvPr id="25" name="TextBox 60">
            <a:extLst>
              <a:ext uri="{FF2B5EF4-FFF2-40B4-BE49-F238E27FC236}">
                <a16:creationId xmlns:a16="http://schemas.microsoft.com/office/drawing/2014/main" id="{D13BEB52-BAEF-D141-F30D-035E514E454C}"/>
              </a:ext>
            </a:extLst>
          </p:cNvPr>
          <p:cNvSpPr txBox="1"/>
          <p:nvPr/>
        </p:nvSpPr>
        <p:spPr>
          <a:xfrm>
            <a:off x="6135499"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
        <p:nvSpPr>
          <p:cNvPr id="71" name="Down Arrow 31">
            <a:extLst>
              <a:ext uri="{FF2B5EF4-FFF2-40B4-BE49-F238E27FC236}">
                <a16:creationId xmlns:a16="http://schemas.microsoft.com/office/drawing/2014/main" id="{6E32C788-7752-0A34-3FA1-FC824DD02F79}"/>
              </a:ext>
            </a:extLst>
          </p:cNvPr>
          <p:cNvSpPr/>
          <p:nvPr/>
        </p:nvSpPr>
        <p:spPr>
          <a:xfrm>
            <a:off x="10003580" y="4306823"/>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5">
            <a:extLst>
              <a:ext uri="{FF2B5EF4-FFF2-40B4-BE49-F238E27FC236}">
                <a16:creationId xmlns:a16="http://schemas.microsoft.com/office/drawing/2014/main" id="{2B779E57-7CED-3611-2ABD-41E06482D26D}"/>
              </a:ext>
            </a:extLst>
          </p:cNvPr>
          <p:cNvSpPr/>
          <p:nvPr/>
        </p:nvSpPr>
        <p:spPr>
          <a:xfrm>
            <a:off x="8975831" y="4526280"/>
            <a:ext cx="2655029" cy="2103120"/>
          </a:xfrm>
          <a:prstGeom prst="roundRect">
            <a:avLst>
              <a:gd name="adj" fmla="val 4000"/>
            </a:avLst>
          </a:prstGeom>
          <a:solidFill>
            <a:srgbClr val="FFFFFF"/>
          </a:solidFill>
          <a:ln w="2540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6">
            <a:extLst>
              <a:ext uri="{FF2B5EF4-FFF2-40B4-BE49-F238E27FC236}">
                <a16:creationId xmlns:a16="http://schemas.microsoft.com/office/drawing/2014/main" id="{7B367706-69C9-56C3-975F-9891EA250329}"/>
              </a:ext>
            </a:extLst>
          </p:cNvPr>
          <p:cNvSpPr/>
          <p:nvPr/>
        </p:nvSpPr>
        <p:spPr>
          <a:xfrm>
            <a:off x="8975831" y="4526280"/>
            <a:ext cx="2655029" cy="292608"/>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7">
            <a:extLst>
              <a:ext uri="{FF2B5EF4-FFF2-40B4-BE49-F238E27FC236}">
                <a16:creationId xmlns:a16="http://schemas.microsoft.com/office/drawing/2014/main" id="{3DF36F6D-BCD6-D121-24D3-E9DF08B23F20}"/>
              </a:ext>
            </a:extLst>
          </p:cNvPr>
          <p:cNvSpPr txBox="1"/>
          <p:nvPr/>
        </p:nvSpPr>
        <p:spPr>
          <a:xfrm>
            <a:off x="8975831"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a:t>
            </a:r>
            <a:r>
              <a:rPr lang="es-MX" sz="900" b="1" i="0">
                <a:solidFill>
                  <a:srgbClr val="FFFFFF"/>
                </a:solidFill>
              </a:rPr>
              <a:t>X</a:t>
            </a:r>
            <a:r>
              <a:rPr lang="pt-BR" sz="900" b="1" i="0">
                <a:solidFill>
                  <a:srgbClr val="FFFFFF"/>
                </a:solidFill>
              </a:rPr>
              <a:t>L</a:t>
            </a:r>
            <a:endParaRPr sz="900" b="1" i="0">
              <a:solidFill>
                <a:srgbClr val="FFFFFF"/>
              </a:solidFill>
            </a:endParaRPr>
          </a:p>
        </p:txBody>
      </p:sp>
      <p:sp>
        <p:nvSpPr>
          <p:cNvPr id="75" name="TextBox 78">
            <a:extLst>
              <a:ext uri="{FF2B5EF4-FFF2-40B4-BE49-F238E27FC236}">
                <a16:creationId xmlns:a16="http://schemas.microsoft.com/office/drawing/2014/main" id="{6BC8E48F-2918-BCA4-3637-DDAFEE91D77C}"/>
              </a:ext>
            </a:extLst>
          </p:cNvPr>
          <p:cNvSpPr txBox="1"/>
          <p:nvPr/>
        </p:nvSpPr>
        <p:spPr>
          <a:xfrm>
            <a:off x="9061477" y="4892040"/>
            <a:ext cx="2483737" cy="164592"/>
          </a:xfrm>
          <a:prstGeom prst="rect">
            <a:avLst/>
          </a:prstGeom>
          <a:noFill/>
        </p:spPr>
        <p:txBody>
          <a:bodyPr wrap="square" lIns="36000" tIns="18000" rIns="36000" bIns="18000" anchor="t">
            <a:spAutoFit/>
          </a:bodyPr>
          <a:lstStyle/>
          <a:p>
            <a:pPr algn="ctr"/>
            <a:r>
              <a:rPr lang="es-MX" sz="800" b="0" i="1" err="1">
                <a:solidFill>
                  <a:srgbClr val="6B778C"/>
                </a:solidFill>
              </a:rPr>
              <a:t>Needs</a:t>
            </a:r>
            <a:r>
              <a:rPr lang="es-MX" sz="800" b="0" i="1">
                <a:solidFill>
                  <a:srgbClr val="6B778C"/>
                </a:solidFill>
              </a:rPr>
              <a:t> </a:t>
            </a:r>
            <a:r>
              <a:rPr lang="es-MX" sz="800" b="0" i="1" err="1">
                <a:solidFill>
                  <a:srgbClr val="6B778C"/>
                </a:solidFill>
              </a:rPr>
              <a:t>review</a:t>
            </a:r>
            <a:r>
              <a:rPr lang="es-MX" sz="800" b="0" i="1">
                <a:solidFill>
                  <a:srgbClr val="6B778C"/>
                </a:solidFill>
              </a:rPr>
              <a:t> </a:t>
            </a:r>
            <a:r>
              <a:rPr lang="es-MX" sz="800" b="0" i="1" err="1">
                <a:solidFill>
                  <a:srgbClr val="6B778C"/>
                </a:solidFill>
              </a:rPr>
              <a:t>before</a:t>
            </a:r>
            <a:r>
              <a:rPr lang="es-MX" sz="800" b="0" i="1">
                <a:solidFill>
                  <a:srgbClr val="6B778C"/>
                </a:solidFill>
              </a:rPr>
              <a:t> </a:t>
            </a:r>
            <a:r>
              <a:rPr lang="es-MX" sz="800" b="0" i="1" err="1">
                <a:solidFill>
                  <a:srgbClr val="6B778C"/>
                </a:solidFill>
              </a:rPr>
              <a:t>converting</a:t>
            </a:r>
            <a:r>
              <a:rPr lang="es-MX" sz="800" b="0" i="1">
                <a:solidFill>
                  <a:srgbClr val="6B778C"/>
                </a:solidFill>
              </a:rPr>
              <a:t> </a:t>
            </a:r>
            <a:r>
              <a:rPr lang="es-MX" sz="800" b="0" i="1" err="1">
                <a:solidFill>
                  <a:srgbClr val="6B778C"/>
                </a:solidFill>
              </a:rPr>
              <a:t>to</a:t>
            </a:r>
            <a:r>
              <a:rPr lang="es-MX" sz="800" b="0" i="1">
                <a:solidFill>
                  <a:srgbClr val="6B778C"/>
                </a:solidFill>
              </a:rPr>
              <a:t>:</a:t>
            </a:r>
            <a:endParaRPr sz="800" b="0" i="1">
              <a:solidFill>
                <a:srgbClr val="6B778C"/>
              </a:solidFill>
            </a:endParaRPr>
          </a:p>
        </p:txBody>
      </p:sp>
      <p:sp>
        <p:nvSpPr>
          <p:cNvPr id="76" name="Rounded Rectangle 79">
            <a:extLst>
              <a:ext uri="{FF2B5EF4-FFF2-40B4-BE49-F238E27FC236}">
                <a16:creationId xmlns:a16="http://schemas.microsoft.com/office/drawing/2014/main" id="{529A30F3-4ED7-D90E-2A34-FFDF02BFFE36}"/>
              </a:ext>
            </a:extLst>
          </p:cNvPr>
          <p:cNvSpPr/>
          <p:nvPr/>
        </p:nvSpPr>
        <p:spPr>
          <a:xfrm>
            <a:off x="9318415" y="5074920"/>
            <a:ext cx="1969860" cy="274320"/>
          </a:xfrm>
          <a:prstGeom prst="roundRect">
            <a:avLst>
              <a:gd name="adj" fmla="val 6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80">
            <a:extLst>
              <a:ext uri="{FF2B5EF4-FFF2-40B4-BE49-F238E27FC236}">
                <a16:creationId xmlns:a16="http://schemas.microsoft.com/office/drawing/2014/main" id="{E76A9795-6273-42CB-7542-64797B4FD50F}"/>
              </a:ext>
            </a:extLst>
          </p:cNvPr>
          <p:cNvSpPr txBox="1"/>
          <p:nvPr/>
        </p:nvSpPr>
        <p:spPr>
          <a:xfrm>
            <a:off x="9219922" y="5074920"/>
            <a:ext cx="2166846" cy="274320"/>
          </a:xfrm>
          <a:prstGeom prst="rect">
            <a:avLst/>
          </a:prstGeom>
          <a:solidFill>
            <a:srgbClr val="00B46E"/>
          </a:solidFill>
        </p:spPr>
        <p:txBody>
          <a:bodyPr wrap="square" lIns="36000" tIns="18000" rIns="36000" bIns="18000" anchor="ctr">
            <a:spAutoFit/>
          </a:bodyPr>
          <a:lstStyle/>
          <a:p>
            <a:pPr algn="ctr"/>
            <a:r>
              <a:rPr sz="1100" b="1" i="0">
                <a:solidFill>
                  <a:srgbClr val="FFFFFF"/>
                </a:solidFill>
              </a:rPr>
              <a:t>INITIATIVE + placeholder Epics</a:t>
            </a:r>
          </a:p>
        </p:txBody>
      </p:sp>
      <p:sp>
        <p:nvSpPr>
          <p:cNvPr id="78" name="TextBox 81">
            <a:extLst>
              <a:ext uri="{FF2B5EF4-FFF2-40B4-BE49-F238E27FC236}">
                <a16:creationId xmlns:a16="http://schemas.microsoft.com/office/drawing/2014/main" id="{8AA012DB-A433-535A-C979-01B2458E7680}"/>
              </a:ext>
            </a:extLst>
          </p:cNvPr>
          <p:cNvSpPr txBox="1"/>
          <p:nvPr/>
        </p:nvSpPr>
        <p:spPr>
          <a:xfrm>
            <a:off x="9061477"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94" name="TextBox 60">
            <a:extLst>
              <a:ext uri="{FF2B5EF4-FFF2-40B4-BE49-F238E27FC236}">
                <a16:creationId xmlns:a16="http://schemas.microsoft.com/office/drawing/2014/main" id="{CF3F3A4C-5F60-4907-50C1-1360D878614E}"/>
              </a:ext>
            </a:extLst>
          </p:cNvPr>
          <p:cNvSpPr txBox="1"/>
          <p:nvPr/>
        </p:nvSpPr>
        <p:spPr>
          <a:xfrm>
            <a:off x="9016351"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Tree>
    <p:extLst>
      <p:ext uri="{BB962C8B-B14F-4D97-AF65-F5344CB8AC3E}">
        <p14:creationId xmlns:p14="http://schemas.microsoft.com/office/powerpoint/2010/main" val="416223264"/>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424160" y="274320"/>
            <a:ext cx="1554480" cy="365760"/>
          </a:xfrm>
          <a:prstGeom prst="rect">
            <a:avLst/>
          </a:prstGeom>
          <a:noFill/>
        </p:spPr>
        <p:txBody>
          <a:bodyPr wrap="square" lIns="36000" tIns="18000" rIns="36000" bIns="18000" anchor="t">
            <a:spAutoFit/>
          </a:bodyPr>
          <a:lstStyle/>
          <a:p>
            <a:pPr algn="r"/>
            <a:r>
              <a:rPr sz="1400" b="1" i="0">
                <a:solidFill>
                  <a:srgbClr val="FFFFFF"/>
                </a:solidFill>
                <a:latin typeface="Arial"/>
              </a:rPr>
              <a:t>NTT  DATA</a:t>
            </a:r>
          </a:p>
        </p:txBody>
      </p:sp>
      <p:sp>
        <p:nvSpPr>
          <p:cNvPr id="2" name="Rectangle 6">
            <a:extLst>
              <a:ext uri="{FF2B5EF4-FFF2-40B4-BE49-F238E27FC236}">
                <a16:creationId xmlns:a16="http://schemas.microsoft.com/office/drawing/2014/main" id="{2EA752FC-DE14-73EA-14AF-B25E374943BD}"/>
              </a:ext>
            </a:extLst>
          </p:cNvPr>
          <p:cNvSpPr/>
          <p:nvPr/>
        </p:nvSpPr>
        <p:spPr>
          <a:xfrm>
            <a:off x="175260" y="1249680"/>
            <a:ext cx="11932920" cy="384048"/>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7">
            <a:extLst>
              <a:ext uri="{FF2B5EF4-FFF2-40B4-BE49-F238E27FC236}">
                <a16:creationId xmlns:a16="http://schemas.microsoft.com/office/drawing/2014/main" id="{66E9F12A-E221-F261-2523-ED81AB678D33}"/>
              </a:ext>
            </a:extLst>
          </p:cNvPr>
          <p:cNvSpPr txBox="1"/>
          <p:nvPr/>
        </p:nvSpPr>
        <p:spPr>
          <a:xfrm>
            <a:off x="266700" y="1286256"/>
            <a:ext cx="548640" cy="310896"/>
          </a:xfrm>
          <a:prstGeom prst="rect">
            <a:avLst/>
          </a:prstGeom>
          <a:noFill/>
        </p:spPr>
        <p:txBody>
          <a:bodyPr wrap="square" lIns="36000" tIns="18000" rIns="36000" bIns="18000" anchor="ctr">
            <a:spAutoFit/>
          </a:bodyPr>
          <a:lstStyle/>
          <a:p>
            <a:pPr algn="l"/>
            <a:r>
              <a:rPr sz="900" b="1" i="0">
                <a:solidFill>
                  <a:srgbClr val="FFFFFF"/>
                </a:solidFill>
                <a:latin typeface="Arial"/>
              </a:rPr>
              <a:t>ID</a:t>
            </a:r>
          </a:p>
        </p:txBody>
      </p:sp>
      <p:sp>
        <p:nvSpPr>
          <p:cNvPr id="65" name="TextBox 8">
            <a:extLst>
              <a:ext uri="{FF2B5EF4-FFF2-40B4-BE49-F238E27FC236}">
                <a16:creationId xmlns:a16="http://schemas.microsoft.com/office/drawing/2014/main" id="{A4F6AD81-5F35-61E1-0E13-63C5235D76A6}"/>
              </a:ext>
            </a:extLst>
          </p:cNvPr>
          <p:cNvSpPr txBox="1"/>
          <p:nvPr/>
        </p:nvSpPr>
        <p:spPr>
          <a:xfrm>
            <a:off x="998220" y="1286256"/>
            <a:ext cx="914400" cy="310896"/>
          </a:xfrm>
          <a:prstGeom prst="rect">
            <a:avLst/>
          </a:prstGeom>
          <a:noFill/>
        </p:spPr>
        <p:txBody>
          <a:bodyPr wrap="square" lIns="36000" tIns="18000" rIns="36000" bIns="18000" anchor="ctr">
            <a:spAutoFit/>
          </a:bodyPr>
          <a:lstStyle/>
          <a:p>
            <a:pPr algn="l"/>
            <a:r>
              <a:rPr sz="900" b="1" i="0">
                <a:solidFill>
                  <a:srgbClr val="FFFFFF"/>
                </a:solidFill>
                <a:latin typeface="Arial"/>
              </a:rPr>
              <a:t>NAME</a:t>
            </a:r>
          </a:p>
        </p:txBody>
      </p:sp>
      <p:sp>
        <p:nvSpPr>
          <p:cNvPr id="67" name="TextBox 9">
            <a:extLst>
              <a:ext uri="{FF2B5EF4-FFF2-40B4-BE49-F238E27FC236}">
                <a16:creationId xmlns:a16="http://schemas.microsoft.com/office/drawing/2014/main" id="{DD9E2812-8A6E-9E76-A718-09A61E6E4E53}"/>
              </a:ext>
            </a:extLst>
          </p:cNvPr>
          <p:cNvSpPr txBox="1"/>
          <p:nvPr/>
        </p:nvSpPr>
        <p:spPr>
          <a:xfrm>
            <a:off x="2141220" y="1286256"/>
            <a:ext cx="2057400" cy="310896"/>
          </a:xfrm>
          <a:prstGeom prst="rect">
            <a:avLst/>
          </a:prstGeom>
          <a:noFill/>
        </p:spPr>
        <p:txBody>
          <a:bodyPr wrap="square" lIns="36000" tIns="18000" rIns="36000" bIns="18000" anchor="ctr">
            <a:spAutoFit/>
          </a:bodyPr>
          <a:lstStyle/>
          <a:p>
            <a:pPr algn="l"/>
            <a:r>
              <a:rPr sz="900" b="1" i="0">
                <a:solidFill>
                  <a:srgbClr val="FFFFFF"/>
                </a:solidFill>
                <a:latin typeface="Arial"/>
              </a:rPr>
              <a:t>TRIGGER</a:t>
            </a:r>
          </a:p>
        </p:txBody>
      </p:sp>
      <p:sp>
        <p:nvSpPr>
          <p:cNvPr id="68" name="TextBox 10">
            <a:extLst>
              <a:ext uri="{FF2B5EF4-FFF2-40B4-BE49-F238E27FC236}">
                <a16:creationId xmlns:a16="http://schemas.microsoft.com/office/drawing/2014/main" id="{F6F8D4E5-5EFE-32E6-DEBF-E45CA2B3C015}"/>
              </a:ext>
            </a:extLst>
          </p:cNvPr>
          <p:cNvSpPr txBox="1"/>
          <p:nvPr/>
        </p:nvSpPr>
        <p:spPr>
          <a:xfrm>
            <a:off x="4427220" y="1286256"/>
            <a:ext cx="2788920" cy="310896"/>
          </a:xfrm>
          <a:prstGeom prst="rect">
            <a:avLst/>
          </a:prstGeom>
          <a:noFill/>
        </p:spPr>
        <p:txBody>
          <a:bodyPr wrap="square" lIns="36000" tIns="18000" rIns="36000" bIns="18000" anchor="ctr">
            <a:spAutoFit/>
          </a:bodyPr>
          <a:lstStyle/>
          <a:p>
            <a:pPr algn="l"/>
            <a:r>
              <a:rPr sz="900" b="1" i="0">
                <a:solidFill>
                  <a:srgbClr val="FFFFFF"/>
                </a:solidFill>
                <a:latin typeface="Arial"/>
              </a:rPr>
              <a:t>ACTION</a:t>
            </a:r>
          </a:p>
        </p:txBody>
      </p:sp>
      <p:sp>
        <p:nvSpPr>
          <p:cNvPr id="69" name="TextBox 11">
            <a:extLst>
              <a:ext uri="{FF2B5EF4-FFF2-40B4-BE49-F238E27FC236}">
                <a16:creationId xmlns:a16="http://schemas.microsoft.com/office/drawing/2014/main" id="{13222526-1DDB-8ABB-8133-6F032B07BF4F}"/>
              </a:ext>
            </a:extLst>
          </p:cNvPr>
          <p:cNvSpPr txBox="1"/>
          <p:nvPr/>
        </p:nvSpPr>
        <p:spPr>
          <a:xfrm>
            <a:off x="7444740" y="1286256"/>
            <a:ext cx="2697480" cy="310896"/>
          </a:xfrm>
          <a:prstGeom prst="rect">
            <a:avLst/>
          </a:prstGeom>
          <a:noFill/>
        </p:spPr>
        <p:txBody>
          <a:bodyPr wrap="square" lIns="36000" tIns="18000" rIns="36000" bIns="18000" anchor="ctr">
            <a:spAutoFit/>
          </a:bodyPr>
          <a:lstStyle/>
          <a:p>
            <a:pPr algn="l"/>
            <a:r>
              <a:rPr sz="900" b="1" i="0">
                <a:solidFill>
                  <a:srgbClr val="FFFFFF"/>
                </a:solidFill>
                <a:latin typeface="Arial"/>
              </a:rPr>
              <a:t>FIELDS AFFECTED</a:t>
            </a:r>
          </a:p>
        </p:txBody>
      </p:sp>
      <p:sp>
        <p:nvSpPr>
          <p:cNvPr id="70" name="TextBox 12">
            <a:extLst>
              <a:ext uri="{FF2B5EF4-FFF2-40B4-BE49-F238E27FC236}">
                <a16:creationId xmlns:a16="http://schemas.microsoft.com/office/drawing/2014/main" id="{A1984884-9BD9-0B1E-6652-E74B2A7310D9}"/>
              </a:ext>
            </a:extLst>
          </p:cNvPr>
          <p:cNvSpPr txBox="1"/>
          <p:nvPr/>
        </p:nvSpPr>
        <p:spPr>
          <a:xfrm>
            <a:off x="10370820" y="1286256"/>
            <a:ext cx="1188720" cy="310896"/>
          </a:xfrm>
          <a:prstGeom prst="rect">
            <a:avLst/>
          </a:prstGeom>
          <a:noFill/>
        </p:spPr>
        <p:txBody>
          <a:bodyPr wrap="square" lIns="36000" tIns="18000" rIns="36000" bIns="18000" anchor="ctr">
            <a:spAutoFit/>
          </a:bodyPr>
          <a:lstStyle/>
          <a:p>
            <a:pPr algn="l"/>
            <a:r>
              <a:rPr sz="900" b="1" i="0">
                <a:solidFill>
                  <a:srgbClr val="FFFFFF"/>
                </a:solidFill>
                <a:latin typeface="Arial"/>
              </a:rPr>
              <a:t>OWNER</a:t>
            </a:r>
          </a:p>
        </p:txBody>
      </p:sp>
      <p:sp>
        <p:nvSpPr>
          <p:cNvPr id="71" name="Rectangle 13">
            <a:extLst>
              <a:ext uri="{FF2B5EF4-FFF2-40B4-BE49-F238E27FC236}">
                <a16:creationId xmlns:a16="http://schemas.microsoft.com/office/drawing/2014/main" id="{86EA705D-57C3-2981-2F22-DE8CBA130113}"/>
              </a:ext>
            </a:extLst>
          </p:cNvPr>
          <p:cNvSpPr/>
          <p:nvPr/>
        </p:nvSpPr>
        <p:spPr>
          <a:xfrm>
            <a:off x="175260" y="1633728"/>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14">
            <a:extLst>
              <a:ext uri="{FF2B5EF4-FFF2-40B4-BE49-F238E27FC236}">
                <a16:creationId xmlns:a16="http://schemas.microsoft.com/office/drawing/2014/main" id="{A38FA55A-B45F-A73A-7C91-68D319EF0210}"/>
              </a:ext>
            </a:extLst>
          </p:cNvPr>
          <p:cNvSpPr/>
          <p:nvPr/>
        </p:nvSpPr>
        <p:spPr>
          <a:xfrm>
            <a:off x="266700" y="1798320"/>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15">
            <a:extLst>
              <a:ext uri="{FF2B5EF4-FFF2-40B4-BE49-F238E27FC236}">
                <a16:creationId xmlns:a16="http://schemas.microsoft.com/office/drawing/2014/main" id="{AC842272-DB7D-66CB-0CB5-26BED2F8FDFC}"/>
              </a:ext>
            </a:extLst>
          </p:cNvPr>
          <p:cNvSpPr txBox="1"/>
          <p:nvPr/>
        </p:nvSpPr>
        <p:spPr>
          <a:xfrm>
            <a:off x="266700" y="1798320"/>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A1</a:t>
            </a:r>
          </a:p>
        </p:txBody>
      </p:sp>
      <p:sp>
        <p:nvSpPr>
          <p:cNvPr id="75" name="TextBox 16">
            <a:extLst>
              <a:ext uri="{FF2B5EF4-FFF2-40B4-BE49-F238E27FC236}">
                <a16:creationId xmlns:a16="http://schemas.microsoft.com/office/drawing/2014/main" id="{40364C50-8BE3-E5D3-71B7-002FF688AC96}"/>
              </a:ext>
            </a:extLst>
          </p:cNvPr>
          <p:cNvSpPr txBox="1"/>
          <p:nvPr/>
        </p:nvSpPr>
        <p:spPr>
          <a:xfrm>
            <a:off x="952500" y="1725168"/>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Auto-Routing</a:t>
            </a:r>
          </a:p>
        </p:txBody>
      </p:sp>
      <p:sp>
        <p:nvSpPr>
          <p:cNvPr id="76" name="TextBox 17">
            <a:extLst>
              <a:ext uri="{FF2B5EF4-FFF2-40B4-BE49-F238E27FC236}">
                <a16:creationId xmlns:a16="http://schemas.microsoft.com/office/drawing/2014/main" id="{C2DFB0C2-307D-4797-C55B-364F5F97FF86}"/>
              </a:ext>
            </a:extLst>
          </p:cNvPr>
          <p:cNvSpPr txBox="1"/>
          <p:nvPr/>
        </p:nvSpPr>
        <p:spPr>
          <a:xfrm>
            <a:off x="2095500" y="1679448"/>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Demand submitted via Jira intake form</a:t>
            </a:r>
          </a:p>
        </p:txBody>
      </p:sp>
      <p:sp>
        <p:nvSpPr>
          <p:cNvPr id="77" name="TextBox 18">
            <a:extLst>
              <a:ext uri="{FF2B5EF4-FFF2-40B4-BE49-F238E27FC236}">
                <a16:creationId xmlns:a16="http://schemas.microsoft.com/office/drawing/2014/main" id="{BD1435FB-E435-8D55-9F05-4E2BCF5A10B9}"/>
              </a:ext>
            </a:extLst>
          </p:cNvPr>
          <p:cNvSpPr txBox="1"/>
          <p:nvPr/>
        </p:nvSpPr>
        <p:spPr>
          <a:xfrm>
            <a:off x="4381500" y="1841363"/>
            <a:ext cx="2880360" cy="29796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Reads Value Stream + OPCO → routes ticket to correct Portfolio Board · @notifies PM</a:t>
            </a:r>
          </a:p>
        </p:txBody>
      </p:sp>
      <p:sp>
        <p:nvSpPr>
          <p:cNvPr id="78" name="TextBox 19">
            <a:extLst>
              <a:ext uri="{FF2B5EF4-FFF2-40B4-BE49-F238E27FC236}">
                <a16:creationId xmlns:a16="http://schemas.microsoft.com/office/drawing/2014/main" id="{60DDF96E-DD4F-2595-4CF6-6591A255C4CC}"/>
              </a:ext>
            </a:extLst>
          </p:cNvPr>
          <p:cNvSpPr txBox="1"/>
          <p:nvPr/>
        </p:nvSpPr>
        <p:spPr>
          <a:xfrm>
            <a:off x="7399020" y="1679448"/>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Value Stream · OPCO · Status (NEW → ROUTED)</a:t>
            </a:r>
          </a:p>
        </p:txBody>
      </p:sp>
      <p:sp>
        <p:nvSpPr>
          <p:cNvPr id="79" name="TextBox 20">
            <a:extLst>
              <a:ext uri="{FF2B5EF4-FFF2-40B4-BE49-F238E27FC236}">
                <a16:creationId xmlns:a16="http://schemas.microsoft.com/office/drawing/2014/main" id="{933D23FB-7CFE-3386-0C0E-F32F0A1F7D9B}"/>
              </a:ext>
            </a:extLst>
          </p:cNvPr>
          <p:cNvSpPr txBox="1"/>
          <p:nvPr/>
        </p:nvSpPr>
        <p:spPr>
          <a:xfrm>
            <a:off x="10325100" y="1902918"/>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80" name="Rectangle 21">
            <a:extLst>
              <a:ext uri="{FF2B5EF4-FFF2-40B4-BE49-F238E27FC236}">
                <a16:creationId xmlns:a16="http://schemas.microsoft.com/office/drawing/2014/main" id="{D7E94775-080A-15DD-5FA9-0245646E7201}"/>
              </a:ext>
            </a:extLst>
          </p:cNvPr>
          <p:cNvSpPr/>
          <p:nvPr/>
        </p:nvSpPr>
        <p:spPr>
          <a:xfrm>
            <a:off x="175260" y="2346960"/>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22">
            <a:extLst>
              <a:ext uri="{FF2B5EF4-FFF2-40B4-BE49-F238E27FC236}">
                <a16:creationId xmlns:a16="http://schemas.microsoft.com/office/drawing/2014/main" id="{CCE59238-B02D-DB30-52E1-49693E5290F3}"/>
              </a:ext>
            </a:extLst>
          </p:cNvPr>
          <p:cNvSpPr/>
          <p:nvPr/>
        </p:nvSpPr>
        <p:spPr>
          <a:xfrm>
            <a:off x="266700" y="2511552"/>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23">
            <a:extLst>
              <a:ext uri="{FF2B5EF4-FFF2-40B4-BE49-F238E27FC236}">
                <a16:creationId xmlns:a16="http://schemas.microsoft.com/office/drawing/2014/main" id="{8BA4E308-8538-7C0C-FC3E-EF36711F189C}"/>
              </a:ext>
            </a:extLst>
          </p:cNvPr>
          <p:cNvSpPr txBox="1"/>
          <p:nvPr/>
        </p:nvSpPr>
        <p:spPr>
          <a:xfrm>
            <a:off x="266700" y="2511552"/>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A2</a:t>
            </a:r>
          </a:p>
        </p:txBody>
      </p:sp>
      <p:sp>
        <p:nvSpPr>
          <p:cNvPr id="83" name="TextBox 24">
            <a:extLst>
              <a:ext uri="{FF2B5EF4-FFF2-40B4-BE49-F238E27FC236}">
                <a16:creationId xmlns:a16="http://schemas.microsoft.com/office/drawing/2014/main" id="{EE1BD218-3069-D609-4A34-A1F7F6DA8A7D}"/>
              </a:ext>
            </a:extLst>
          </p:cNvPr>
          <p:cNvSpPr txBox="1"/>
          <p:nvPr/>
        </p:nvSpPr>
        <p:spPr>
          <a:xfrm>
            <a:off x="952500" y="2438400"/>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Auto-Expedite</a:t>
            </a:r>
          </a:p>
        </p:txBody>
      </p:sp>
      <p:sp>
        <p:nvSpPr>
          <p:cNvPr id="84" name="TextBox 25">
            <a:extLst>
              <a:ext uri="{FF2B5EF4-FFF2-40B4-BE49-F238E27FC236}">
                <a16:creationId xmlns:a16="http://schemas.microsoft.com/office/drawing/2014/main" id="{4A351B96-64DF-579B-6D84-B0DD336B7278}"/>
              </a:ext>
            </a:extLst>
          </p:cNvPr>
          <p:cNvSpPr txBox="1"/>
          <p:nvPr/>
        </p:nvSpPr>
        <p:spPr>
          <a:xfrm>
            <a:off x="2095500" y="2392680"/>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Customer Impact Tier = P1 (or P2 critical)</a:t>
            </a:r>
          </a:p>
        </p:txBody>
      </p:sp>
      <p:sp>
        <p:nvSpPr>
          <p:cNvPr id="85" name="TextBox 26">
            <a:extLst>
              <a:ext uri="{FF2B5EF4-FFF2-40B4-BE49-F238E27FC236}">
                <a16:creationId xmlns:a16="http://schemas.microsoft.com/office/drawing/2014/main" id="{D169A9F1-6EDE-3964-ADBA-CAD5127A8380}"/>
              </a:ext>
            </a:extLst>
          </p:cNvPr>
          <p:cNvSpPr txBox="1"/>
          <p:nvPr/>
        </p:nvSpPr>
        <p:spPr>
          <a:xfrm>
            <a:off x="4381500" y="2392680"/>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Sets CoS = Expedite · forces WIP-1 on squad · emails Director + Sponsor</a:t>
            </a:r>
          </a:p>
        </p:txBody>
      </p:sp>
      <p:sp>
        <p:nvSpPr>
          <p:cNvPr id="86" name="TextBox 27">
            <a:extLst>
              <a:ext uri="{FF2B5EF4-FFF2-40B4-BE49-F238E27FC236}">
                <a16:creationId xmlns:a16="http://schemas.microsoft.com/office/drawing/2014/main" id="{173249D3-5F82-0BE9-A248-A143E680FA9D}"/>
              </a:ext>
            </a:extLst>
          </p:cNvPr>
          <p:cNvSpPr txBox="1"/>
          <p:nvPr/>
        </p:nvSpPr>
        <p:spPr>
          <a:xfrm>
            <a:off x="7399020" y="2392680"/>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Class of Service · WIP lane</a:t>
            </a:r>
          </a:p>
        </p:txBody>
      </p:sp>
      <p:sp>
        <p:nvSpPr>
          <p:cNvPr id="87" name="TextBox 28">
            <a:extLst>
              <a:ext uri="{FF2B5EF4-FFF2-40B4-BE49-F238E27FC236}">
                <a16:creationId xmlns:a16="http://schemas.microsoft.com/office/drawing/2014/main" id="{5F79569F-82AA-A58A-AE80-AA5F72ACDED3}"/>
              </a:ext>
            </a:extLst>
          </p:cNvPr>
          <p:cNvSpPr txBox="1"/>
          <p:nvPr/>
        </p:nvSpPr>
        <p:spPr>
          <a:xfrm>
            <a:off x="10325100" y="2616150"/>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88" name="Rectangle 29">
            <a:extLst>
              <a:ext uri="{FF2B5EF4-FFF2-40B4-BE49-F238E27FC236}">
                <a16:creationId xmlns:a16="http://schemas.microsoft.com/office/drawing/2014/main" id="{72797F25-6EF0-1B01-233B-04773472AB5B}"/>
              </a:ext>
            </a:extLst>
          </p:cNvPr>
          <p:cNvSpPr/>
          <p:nvPr/>
        </p:nvSpPr>
        <p:spPr>
          <a:xfrm>
            <a:off x="175260" y="3060192"/>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30">
            <a:extLst>
              <a:ext uri="{FF2B5EF4-FFF2-40B4-BE49-F238E27FC236}">
                <a16:creationId xmlns:a16="http://schemas.microsoft.com/office/drawing/2014/main" id="{2360EB23-942C-D801-93BC-65CF2C4CED26}"/>
              </a:ext>
            </a:extLst>
          </p:cNvPr>
          <p:cNvSpPr/>
          <p:nvPr/>
        </p:nvSpPr>
        <p:spPr>
          <a:xfrm>
            <a:off x="266700" y="3224784"/>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31">
            <a:extLst>
              <a:ext uri="{FF2B5EF4-FFF2-40B4-BE49-F238E27FC236}">
                <a16:creationId xmlns:a16="http://schemas.microsoft.com/office/drawing/2014/main" id="{D1013871-A4A3-708A-A9D6-5AA6763136C0}"/>
              </a:ext>
            </a:extLst>
          </p:cNvPr>
          <p:cNvSpPr txBox="1"/>
          <p:nvPr/>
        </p:nvSpPr>
        <p:spPr>
          <a:xfrm>
            <a:off x="266700" y="3224784"/>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A3</a:t>
            </a:r>
          </a:p>
        </p:txBody>
      </p:sp>
      <p:sp>
        <p:nvSpPr>
          <p:cNvPr id="91" name="TextBox 32">
            <a:extLst>
              <a:ext uri="{FF2B5EF4-FFF2-40B4-BE49-F238E27FC236}">
                <a16:creationId xmlns:a16="http://schemas.microsoft.com/office/drawing/2014/main" id="{998292F4-62FD-7CF5-42E5-34740C5361F8}"/>
              </a:ext>
            </a:extLst>
          </p:cNvPr>
          <p:cNvSpPr txBox="1"/>
          <p:nvPr/>
        </p:nvSpPr>
        <p:spPr>
          <a:xfrm>
            <a:off x="952500" y="3151632"/>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Auto-Fixed-Date</a:t>
            </a:r>
          </a:p>
        </p:txBody>
      </p:sp>
      <p:sp>
        <p:nvSpPr>
          <p:cNvPr id="92" name="TextBox 33">
            <a:extLst>
              <a:ext uri="{FF2B5EF4-FFF2-40B4-BE49-F238E27FC236}">
                <a16:creationId xmlns:a16="http://schemas.microsoft.com/office/drawing/2014/main" id="{33B57684-4703-DF87-2E71-24314528E817}"/>
              </a:ext>
            </a:extLst>
          </p:cNvPr>
          <p:cNvSpPr txBox="1"/>
          <p:nvPr/>
        </p:nvSpPr>
        <p:spPr>
          <a:xfrm>
            <a:off x="2095500" y="3105912"/>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Type = Regulatory</a:t>
            </a:r>
          </a:p>
        </p:txBody>
      </p:sp>
      <p:sp>
        <p:nvSpPr>
          <p:cNvPr id="93" name="TextBox 34">
            <a:extLst>
              <a:ext uri="{FF2B5EF4-FFF2-40B4-BE49-F238E27FC236}">
                <a16:creationId xmlns:a16="http://schemas.microsoft.com/office/drawing/2014/main" id="{257608D9-6AF1-A74E-C82F-014F05454944}"/>
              </a:ext>
            </a:extLst>
          </p:cNvPr>
          <p:cNvSpPr txBox="1"/>
          <p:nvPr/>
        </p:nvSpPr>
        <p:spPr>
          <a:xfrm>
            <a:off x="4381500" y="3105912"/>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Sets CoS = Fixed-Date · forces a due date · pre-flags Gate 2 priority</a:t>
            </a:r>
          </a:p>
        </p:txBody>
      </p:sp>
      <p:sp>
        <p:nvSpPr>
          <p:cNvPr id="94" name="TextBox 35">
            <a:extLst>
              <a:ext uri="{FF2B5EF4-FFF2-40B4-BE49-F238E27FC236}">
                <a16:creationId xmlns:a16="http://schemas.microsoft.com/office/drawing/2014/main" id="{3225FF54-6890-0771-CDF8-D5F83583F634}"/>
              </a:ext>
            </a:extLst>
          </p:cNvPr>
          <p:cNvSpPr txBox="1"/>
          <p:nvPr/>
        </p:nvSpPr>
        <p:spPr>
          <a:xfrm>
            <a:off x="7399020" y="3105912"/>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Class of Service · Due Date</a:t>
            </a:r>
          </a:p>
        </p:txBody>
      </p:sp>
      <p:sp>
        <p:nvSpPr>
          <p:cNvPr id="95" name="TextBox 36">
            <a:extLst>
              <a:ext uri="{FF2B5EF4-FFF2-40B4-BE49-F238E27FC236}">
                <a16:creationId xmlns:a16="http://schemas.microsoft.com/office/drawing/2014/main" id="{9713DAA0-C6A7-F0B0-195E-0865810107DF}"/>
              </a:ext>
            </a:extLst>
          </p:cNvPr>
          <p:cNvSpPr txBox="1"/>
          <p:nvPr/>
        </p:nvSpPr>
        <p:spPr>
          <a:xfrm>
            <a:off x="10325100" y="3329382"/>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96" name="Rectangle 37">
            <a:extLst>
              <a:ext uri="{FF2B5EF4-FFF2-40B4-BE49-F238E27FC236}">
                <a16:creationId xmlns:a16="http://schemas.microsoft.com/office/drawing/2014/main" id="{96BC5855-58B4-EA49-EB08-240BF202ED59}"/>
              </a:ext>
            </a:extLst>
          </p:cNvPr>
          <p:cNvSpPr/>
          <p:nvPr/>
        </p:nvSpPr>
        <p:spPr>
          <a:xfrm>
            <a:off x="175260" y="3773424"/>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38">
            <a:extLst>
              <a:ext uri="{FF2B5EF4-FFF2-40B4-BE49-F238E27FC236}">
                <a16:creationId xmlns:a16="http://schemas.microsoft.com/office/drawing/2014/main" id="{357AD617-53AE-7429-A027-B52D89CF8802}"/>
              </a:ext>
            </a:extLst>
          </p:cNvPr>
          <p:cNvSpPr/>
          <p:nvPr/>
        </p:nvSpPr>
        <p:spPr>
          <a:xfrm>
            <a:off x="266700" y="3938016"/>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39">
            <a:extLst>
              <a:ext uri="{FF2B5EF4-FFF2-40B4-BE49-F238E27FC236}">
                <a16:creationId xmlns:a16="http://schemas.microsoft.com/office/drawing/2014/main" id="{F2498616-59BF-F311-E58C-B88710C0F101}"/>
              </a:ext>
            </a:extLst>
          </p:cNvPr>
          <p:cNvSpPr txBox="1"/>
          <p:nvPr/>
        </p:nvSpPr>
        <p:spPr>
          <a:xfrm>
            <a:off x="266700" y="3938016"/>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A4</a:t>
            </a:r>
          </a:p>
        </p:txBody>
      </p:sp>
      <p:sp>
        <p:nvSpPr>
          <p:cNvPr id="99" name="TextBox 40">
            <a:extLst>
              <a:ext uri="{FF2B5EF4-FFF2-40B4-BE49-F238E27FC236}">
                <a16:creationId xmlns:a16="http://schemas.microsoft.com/office/drawing/2014/main" id="{270E09CC-561E-259F-1B6D-AB5C9C89893E}"/>
              </a:ext>
            </a:extLst>
          </p:cNvPr>
          <p:cNvSpPr txBox="1"/>
          <p:nvPr/>
        </p:nvSpPr>
        <p:spPr>
          <a:xfrm>
            <a:off x="952500" y="3864864"/>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Auto-Pain-Score</a:t>
            </a:r>
          </a:p>
        </p:txBody>
      </p:sp>
      <p:sp>
        <p:nvSpPr>
          <p:cNvPr id="100" name="TextBox 41">
            <a:extLst>
              <a:ext uri="{FF2B5EF4-FFF2-40B4-BE49-F238E27FC236}">
                <a16:creationId xmlns:a16="http://schemas.microsoft.com/office/drawing/2014/main" id="{AEAE7454-5196-D4B3-90A8-C49F4BF3088B}"/>
              </a:ext>
            </a:extLst>
          </p:cNvPr>
          <p:cNvSpPr txBox="1"/>
          <p:nvPr/>
        </p:nvSpPr>
        <p:spPr>
          <a:xfrm>
            <a:off x="2095500" y="3819144"/>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BV · UX · (Safety: ITBA only) · Effort  ·  filled at Analyzing</a:t>
            </a:r>
          </a:p>
        </p:txBody>
      </p:sp>
      <p:sp>
        <p:nvSpPr>
          <p:cNvPr id="101" name="TextBox 42">
            <a:extLst>
              <a:ext uri="{FF2B5EF4-FFF2-40B4-BE49-F238E27FC236}">
                <a16:creationId xmlns:a16="http://schemas.microsoft.com/office/drawing/2014/main" id="{4210A10D-0243-2533-09A9-CE9305B58D8B}"/>
              </a:ext>
            </a:extLst>
          </p:cNvPr>
          <p:cNvSpPr txBox="1"/>
          <p:nvPr/>
        </p:nvSpPr>
        <p:spPr>
          <a:xfrm>
            <a:off x="4381500" y="3915656"/>
            <a:ext cx="2880360" cy="428767"/>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Computes Pain Score </a:t>
            </a:r>
            <a:endParaRPr lang="pt-BR"/>
          </a:p>
          <a:p>
            <a:r>
              <a:t>· ITBA: (</a:t>
            </a:r>
            <a:r>
              <a:rPr err="1"/>
              <a:t>BV·OPCOmult·w</a:t>
            </a:r>
            <a:r>
              <a:t>₁+</a:t>
            </a:r>
            <a:r>
              <a:rPr err="1"/>
              <a:t>UX·w</a:t>
            </a:r>
            <a:r>
              <a:t>₂+</a:t>
            </a:r>
            <a:r>
              <a:rPr err="1"/>
              <a:t>Safety·w</a:t>
            </a:r>
            <a:r>
              <a:t>₃)/E </a:t>
            </a:r>
            <a:endParaRPr lang="pt-BR"/>
          </a:p>
          <a:p>
            <a:r>
              <a:t>· CS: (BV·OPCOmult·0.40+UX·0.60)/E · writes Pain Score</a:t>
            </a:r>
          </a:p>
        </p:txBody>
      </p:sp>
      <p:sp>
        <p:nvSpPr>
          <p:cNvPr id="102" name="TextBox 43">
            <a:extLst>
              <a:ext uri="{FF2B5EF4-FFF2-40B4-BE49-F238E27FC236}">
                <a16:creationId xmlns:a16="http://schemas.microsoft.com/office/drawing/2014/main" id="{F78020EC-9C3F-D8BF-0958-FEB9F3866910}"/>
              </a:ext>
            </a:extLst>
          </p:cNvPr>
          <p:cNvSpPr txBox="1"/>
          <p:nvPr/>
        </p:nvSpPr>
        <p:spPr>
          <a:xfrm>
            <a:off x="7399020" y="3819144"/>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Pain Score (read-only · system field)</a:t>
            </a:r>
          </a:p>
        </p:txBody>
      </p:sp>
      <p:sp>
        <p:nvSpPr>
          <p:cNvPr id="103" name="TextBox 44">
            <a:extLst>
              <a:ext uri="{FF2B5EF4-FFF2-40B4-BE49-F238E27FC236}">
                <a16:creationId xmlns:a16="http://schemas.microsoft.com/office/drawing/2014/main" id="{4AE22468-ECF5-27F6-1586-1CE247B415E6}"/>
              </a:ext>
            </a:extLst>
          </p:cNvPr>
          <p:cNvSpPr txBox="1"/>
          <p:nvPr/>
        </p:nvSpPr>
        <p:spPr>
          <a:xfrm>
            <a:off x="10325100" y="4042614"/>
            <a:ext cx="1280160" cy="174851"/>
          </a:xfrm>
          <a:prstGeom prst="rect">
            <a:avLst/>
          </a:prstGeom>
          <a:noFill/>
        </p:spPr>
        <p:txBody>
          <a:bodyPr wrap="square" lIns="36000" tIns="18000" rIns="36000" bIns="18000" anchor="ctr">
            <a:spAutoFit/>
          </a:bodyPr>
          <a:lstStyle/>
          <a:p>
            <a:pPr algn="l"/>
            <a:r>
              <a:rPr lang="pt-BR" sz="900" b="1" i="0">
                <a:solidFill>
                  <a:srgbClr val="2C3E50"/>
                </a:solidFill>
                <a:latin typeface="Arial"/>
              </a:rPr>
              <a:t>PM </a:t>
            </a:r>
            <a:endParaRPr sz="900" b="1" i="0">
              <a:solidFill>
                <a:srgbClr val="2C3E50"/>
              </a:solidFill>
              <a:latin typeface="Arial"/>
            </a:endParaRPr>
          </a:p>
        </p:txBody>
      </p:sp>
      <p:sp>
        <p:nvSpPr>
          <p:cNvPr id="104" name="Rectangle 45">
            <a:extLst>
              <a:ext uri="{FF2B5EF4-FFF2-40B4-BE49-F238E27FC236}">
                <a16:creationId xmlns:a16="http://schemas.microsoft.com/office/drawing/2014/main" id="{7A2633AC-A3D3-939C-9C06-C60935C3AE9D}"/>
              </a:ext>
            </a:extLst>
          </p:cNvPr>
          <p:cNvSpPr/>
          <p:nvPr/>
        </p:nvSpPr>
        <p:spPr>
          <a:xfrm>
            <a:off x="175260" y="4486656"/>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46">
            <a:extLst>
              <a:ext uri="{FF2B5EF4-FFF2-40B4-BE49-F238E27FC236}">
                <a16:creationId xmlns:a16="http://schemas.microsoft.com/office/drawing/2014/main" id="{9967E563-DFD1-AA8C-5D51-5095D8D484C1}"/>
              </a:ext>
            </a:extLst>
          </p:cNvPr>
          <p:cNvSpPr/>
          <p:nvPr/>
        </p:nvSpPr>
        <p:spPr>
          <a:xfrm>
            <a:off x="266700" y="4651248"/>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47">
            <a:extLst>
              <a:ext uri="{FF2B5EF4-FFF2-40B4-BE49-F238E27FC236}">
                <a16:creationId xmlns:a16="http://schemas.microsoft.com/office/drawing/2014/main" id="{4F0192FD-A030-7852-96D8-34BE71D94B26}"/>
              </a:ext>
            </a:extLst>
          </p:cNvPr>
          <p:cNvSpPr txBox="1"/>
          <p:nvPr/>
        </p:nvSpPr>
        <p:spPr>
          <a:xfrm>
            <a:off x="266700" y="4651248"/>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A5</a:t>
            </a:r>
          </a:p>
        </p:txBody>
      </p:sp>
      <p:sp>
        <p:nvSpPr>
          <p:cNvPr id="107" name="TextBox 48">
            <a:extLst>
              <a:ext uri="{FF2B5EF4-FFF2-40B4-BE49-F238E27FC236}">
                <a16:creationId xmlns:a16="http://schemas.microsoft.com/office/drawing/2014/main" id="{F20521F1-C23B-F3A2-CB03-FECD33214A9A}"/>
              </a:ext>
            </a:extLst>
          </p:cNvPr>
          <p:cNvSpPr txBox="1"/>
          <p:nvPr/>
        </p:nvSpPr>
        <p:spPr>
          <a:xfrm>
            <a:off x="952500" y="4578096"/>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Auto-Convert</a:t>
            </a:r>
          </a:p>
        </p:txBody>
      </p:sp>
      <p:sp>
        <p:nvSpPr>
          <p:cNvPr id="108" name="TextBox 49">
            <a:extLst>
              <a:ext uri="{FF2B5EF4-FFF2-40B4-BE49-F238E27FC236}">
                <a16:creationId xmlns:a16="http://schemas.microsoft.com/office/drawing/2014/main" id="{A6702BA1-F76D-AE25-17DC-639B9B4388AC}"/>
              </a:ext>
            </a:extLst>
          </p:cNvPr>
          <p:cNvSpPr txBox="1"/>
          <p:nvPr/>
        </p:nvSpPr>
        <p:spPr>
          <a:xfrm>
            <a:off x="2095500" y="4532376"/>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At Triage (Gate 1) when Demand has Size + Type set</a:t>
            </a:r>
          </a:p>
        </p:txBody>
      </p:sp>
      <p:sp>
        <p:nvSpPr>
          <p:cNvPr id="109" name="TextBox 50">
            <a:extLst>
              <a:ext uri="{FF2B5EF4-FFF2-40B4-BE49-F238E27FC236}">
                <a16:creationId xmlns:a16="http://schemas.microsoft.com/office/drawing/2014/main" id="{830C362A-1A7C-FD66-A666-0AF31BDB8E4A}"/>
              </a:ext>
            </a:extLst>
          </p:cNvPr>
          <p:cNvSpPr txBox="1"/>
          <p:nvPr/>
        </p:nvSpPr>
        <p:spPr>
          <a:xfrm>
            <a:off x="4381500" y="4694290"/>
            <a:ext cx="2880360" cy="29796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rPr lang="en-US"/>
              <a:t>Converts Demand placeholder:  S → Story  ·  M → Epic  ·  L → Initiative  ·  (Incidents handled in IT Now only) → Bug</a:t>
            </a:r>
          </a:p>
        </p:txBody>
      </p:sp>
      <p:sp>
        <p:nvSpPr>
          <p:cNvPr id="110" name="TextBox 51">
            <a:extLst>
              <a:ext uri="{FF2B5EF4-FFF2-40B4-BE49-F238E27FC236}">
                <a16:creationId xmlns:a16="http://schemas.microsoft.com/office/drawing/2014/main" id="{37E5ED16-8312-55D4-AB57-3793E1CB2C93}"/>
              </a:ext>
            </a:extLst>
          </p:cNvPr>
          <p:cNvSpPr txBox="1"/>
          <p:nvPr/>
        </p:nvSpPr>
        <p:spPr>
          <a:xfrm>
            <a:off x="7399020" y="4532376"/>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Issue Type · Parent Link · Status (TRIAGED)</a:t>
            </a:r>
          </a:p>
        </p:txBody>
      </p:sp>
      <p:sp>
        <p:nvSpPr>
          <p:cNvPr id="111" name="TextBox 52">
            <a:extLst>
              <a:ext uri="{FF2B5EF4-FFF2-40B4-BE49-F238E27FC236}">
                <a16:creationId xmlns:a16="http://schemas.microsoft.com/office/drawing/2014/main" id="{A7356A6E-462E-6A34-52BC-A1ECA7374722}"/>
              </a:ext>
            </a:extLst>
          </p:cNvPr>
          <p:cNvSpPr txBox="1"/>
          <p:nvPr/>
        </p:nvSpPr>
        <p:spPr>
          <a:xfrm>
            <a:off x="10325100" y="4755846"/>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112" name="Rectangle 53">
            <a:extLst>
              <a:ext uri="{FF2B5EF4-FFF2-40B4-BE49-F238E27FC236}">
                <a16:creationId xmlns:a16="http://schemas.microsoft.com/office/drawing/2014/main" id="{366F2375-5E45-E38B-7B6A-965AC3CA2689}"/>
              </a:ext>
            </a:extLst>
          </p:cNvPr>
          <p:cNvSpPr/>
          <p:nvPr/>
        </p:nvSpPr>
        <p:spPr>
          <a:xfrm>
            <a:off x="175260" y="5199888"/>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54">
            <a:extLst>
              <a:ext uri="{FF2B5EF4-FFF2-40B4-BE49-F238E27FC236}">
                <a16:creationId xmlns:a16="http://schemas.microsoft.com/office/drawing/2014/main" id="{99C04FE1-2D16-6444-4B35-582CCCD11170}"/>
              </a:ext>
            </a:extLst>
          </p:cNvPr>
          <p:cNvSpPr/>
          <p:nvPr/>
        </p:nvSpPr>
        <p:spPr>
          <a:xfrm>
            <a:off x="266700" y="5364480"/>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55">
            <a:extLst>
              <a:ext uri="{FF2B5EF4-FFF2-40B4-BE49-F238E27FC236}">
                <a16:creationId xmlns:a16="http://schemas.microsoft.com/office/drawing/2014/main" id="{63047F5C-77BD-E0E0-EF86-694A615520A4}"/>
              </a:ext>
            </a:extLst>
          </p:cNvPr>
          <p:cNvSpPr txBox="1"/>
          <p:nvPr/>
        </p:nvSpPr>
        <p:spPr>
          <a:xfrm>
            <a:off x="266700" y="5364480"/>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A6</a:t>
            </a:r>
          </a:p>
        </p:txBody>
      </p:sp>
      <p:sp>
        <p:nvSpPr>
          <p:cNvPr id="115" name="TextBox 56">
            <a:extLst>
              <a:ext uri="{FF2B5EF4-FFF2-40B4-BE49-F238E27FC236}">
                <a16:creationId xmlns:a16="http://schemas.microsoft.com/office/drawing/2014/main" id="{E5CFC993-2613-1D5B-4413-979E697408AA}"/>
              </a:ext>
            </a:extLst>
          </p:cNvPr>
          <p:cNvSpPr txBox="1"/>
          <p:nvPr/>
        </p:nvSpPr>
        <p:spPr>
          <a:xfrm>
            <a:off x="952500" y="5291328"/>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Aging Alert</a:t>
            </a:r>
          </a:p>
        </p:txBody>
      </p:sp>
      <p:sp>
        <p:nvSpPr>
          <p:cNvPr id="116" name="TextBox 57">
            <a:extLst>
              <a:ext uri="{FF2B5EF4-FFF2-40B4-BE49-F238E27FC236}">
                <a16:creationId xmlns:a16="http://schemas.microsoft.com/office/drawing/2014/main" id="{152530E2-A8CA-096A-8F3B-6B77E0262E2E}"/>
              </a:ext>
            </a:extLst>
          </p:cNvPr>
          <p:cNvSpPr txBox="1"/>
          <p:nvPr/>
        </p:nvSpPr>
        <p:spPr>
          <a:xfrm>
            <a:off x="2095500" y="5245608"/>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Daily — flags any card stuck past CoS-defined SLA</a:t>
            </a:r>
          </a:p>
        </p:txBody>
      </p:sp>
      <p:sp>
        <p:nvSpPr>
          <p:cNvPr id="117" name="TextBox 58">
            <a:extLst>
              <a:ext uri="{FF2B5EF4-FFF2-40B4-BE49-F238E27FC236}">
                <a16:creationId xmlns:a16="http://schemas.microsoft.com/office/drawing/2014/main" id="{3738B66E-E5FB-96D2-1FAA-A60CF7BD372B}"/>
              </a:ext>
            </a:extLst>
          </p:cNvPr>
          <p:cNvSpPr txBox="1"/>
          <p:nvPr/>
        </p:nvSpPr>
        <p:spPr>
          <a:xfrm>
            <a:off x="4381500" y="5245608"/>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@notifies owner · adds AGING tag · raises a flow blocker on squad board</a:t>
            </a:r>
          </a:p>
        </p:txBody>
      </p:sp>
      <p:sp>
        <p:nvSpPr>
          <p:cNvPr id="118" name="TextBox 59">
            <a:extLst>
              <a:ext uri="{FF2B5EF4-FFF2-40B4-BE49-F238E27FC236}">
                <a16:creationId xmlns:a16="http://schemas.microsoft.com/office/drawing/2014/main" id="{E99D00A0-60EE-EAA1-3458-3C145BAF560D}"/>
              </a:ext>
            </a:extLst>
          </p:cNvPr>
          <p:cNvSpPr txBox="1"/>
          <p:nvPr/>
        </p:nvSpPr>
        <p:spPr>
          <a:xfrm>
            <a:off x="7399020" y="5245608"/>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Aging tag · Flow Blocker</a:t>
            </a:r>
          </a:p>
        </p:txBody>
      </p:sp>
      <p:sp>
        <p:nvSpPr>
          <p:cNvPr id="119" name="TextBox 60">
            <a:extLst>
              <a:ext uri="{FF2B5EF4-FFF2-40B4-BE49-F238E27FC236}">
                <a16:creationId xmlns:a16="http://schemas.microsoft.com/office/drawing/2014/main" id="{A046B7D0-6F97-80B8-522A-27FC6A8EFA99}"/>
              </a:ext>
            </a:extLst>
          </p:cNvPr>
          <p:cNvSpPr txBox="1"/>
          <p:nvPr/>
        </p:nvSpPr>
        <p:spPr>
          <a:xfrm>
            <a:off x="10325100" y="5245608"/>
            <a:ext cx="1280160" cy="621792"/>
          </a:xfrm>
          <a:prstGeom prst="rect">
            <a:avLst/>
          </a:prstGeom>
          <a:noFill/>
        </p:spPr>
        <p:txBody>
          <a:bodyPr wrap="square" lIns="36000" tIns="18000" rIns="36000" bIns="18000" anchor="ctr">
            <a:spAutoFit/>
          </a:bodyPr>
          <a:lstStyle/>
          <a:p>
            <a:pPr algn="l"/>
            <a:r>
              <a:rPr sz="900" b="1" i="0">
                <a:solidFill>
                  <a:srgbClr val="2C3E50"/>
                </a:solidFill>
                <a:latin typeface="Arial"/>
              </a:rPr>
              <a:t>Squad Lead</a:t>
            </a:r>
          </a:p>
        </p:txBody>
      </p:sp>
      <p:sp>
        <p:nvSpPr>
          <p:cNvPr id="120" name="Rounded Rectangle 61">
            <a:extLst>
              <a:ext uri="{FF2B5EF4-FFF2-40B4-BE49-F238E27FC236}">
                <a16:creationId xmlns:a16="http://schemas.microsoft.com/office/drawing/2014/main" id="{51B55ABC-AD04-FC72-C619-2ED18B492936}"/>
              </a:ext>
            </a:extLst>
          </p:cNvPr>
          <p:cNvSpPr/>
          <p:nvPr/>
        </p:nvSpPr>
        <p:spPr>
          <a:xfrm>
            <a:off x="175260" y="6141720"/>
            <a:ext cx="11475720" cy="5029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62">
            <a:extLst>
              <a:ext uri="{FF2B5EF4-FFF2-40B4-BE49-F238E27FC236}">
                <a16:creationId xmlns:a16="http://schemas.microsoft.com/office/drawing/2014/main" id="{D34A8B51-D597-FE27-9C61-3875724CAB14}"/>
              </a:ext>
            </a:extLst>
          </p:cNvPr>
          <p:cNvSpPr txBox="1"/>
          <p:nvPr/>
        </p:nvSpPr>
        <p:spPr>
          <a:xfrm>
            <a:off x="312420" y="6196584"/>
            <a:ext cx="11155680" cy="164592"/>
          </a:xfrm>
          <a:prstGeom prst="rect">
            <a:avLst/>
          </a:prstGeom>
          <a:noFill/>
        </p:spPr>
        <p:txBody>
          <a:bodyPr wrap="square" lIns="36000" tIns="18000" rIns="36000" bIns="18000" anchor="t">
            <a:spAutoFit/>
          </a:bodyPr>
          <a:lstStyle/>
          <a:p>
            <a:pPr algn="l"/>
            <a:r>
              <a:rPr sz="800" b="1" i="0">
                <a:solidFill>
                  <a:srgbClr val="006B3F"/>
                </a:solidFill>
                <a:latin typeface="Arial"/>
              </a:rPr>
              <a:t>READ THIS WITH THE AFTER-SUBMISSION SLIDE</a:t>
            </a:r>
          </a:p>
        </p:txBody>
      </p:sp>
      <p:sp>
        <p:nvSpPr>
          <p:cNvPr id="122" name="TextBox 63">
            <a:extLst>
              <a:ext uri="{FF2B5EF4-FFF2-40B4-BE49-F238E27FC236}">
                <a16:creationId xmlns:a16="http://schemas.microsoft.com/office/drawing/2014/main" id="{6FED65C5-F0C1-4894-364E-AE67C0EBC869}"/>
              </a:ext>
            </a:extLst>
          </p:cNvPr>
          <p:cNvSpPr txBox="1"/>
          <p:nvPr/>
        </p:nvSpPr>
        <p:spPr>
          <a:xfrm>
            <a:off x="312420" y="6361176"/>
            <a:ext cx="11155680" cy="274320"/>
          </a:xfrm>
          <a:prstGeom prst="rect">
            <a:avLst/>
          </a:prstGeom>
          <a:noFill/>
        </p:spPr>
        <p:txBody>
          <a:bodyPr wrap="square" lIns="36000" tIns="18000" rIns="36000" bIns="18000" anchor="t">
            <a:spAutoFit/>
          </a:bodyPr>
          <a:lstStyle/>
          <a:p>
            <a:pPr algn="l"/>
            <a:r>
              <a:rPr sz="900" b="0" i="0">
                <a:solidFill>
                  <a:srgbClr val="2C3E50"/>
                </a:solidFill>
                <a:latin typeface="Arial"/>
              </a:rPr>
              <a:t>A1 fires at submit · A2/A3 fire when intake flags trip · A4 + A5 fire at Triage · A6 runs daily across the entire portfolio. Together they shorten ideation-to-delivery cycle by ~40 % and cut handoff delays.</a:t>
            </a:r>
          </a:p>
        </p:txBody>
      </p:sp>
      <p:sp>
        <p:nvSpPr>
          <p:cNvPr id="8" name="Text Placeholder 19">
            <a:extLst>
              <a:ext uri="{FF2B5EF4-FFF2-40B4-BE49-F238E27FC236}">
                <a16:creationId xmlns:a16="http://schemas.microsoft.com/office/drawing/2014/main" id="{3440D218-11AD-F23F-180D-1D9CDBEDB2F4}"/>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Automation Catalog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833F2-A3EF-BC69-EE38-390C6E9F94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B9611CF-1F8D-D7AC-748C-04E6416EFDCC}"/>
              </a:ext>
            </a:extLst>
          </p:cNvPr>
          <p:cNvSpPr txBox="1"/>
          <p:nvPr/>
        </p:nvSpPr>
        <p:spPr>
          <a:xfrm>
            <a:off x="457200" y="914400"/>
            <a:ext cx="11277295" cy="221599"/>
          </a:xfrm>
          <a:prstGeom prst="rect">
            <a:avLst/>
          </a:prstGeom>
          <a:noFill/>
        </p:spPr>
        <p:txBody>
          <a:bodyPr wrap="square" lIns="45720" tIns="18288" rIns="45720" bIns="18288" anchor="t">
            <a:spAutoFit/>
          </a:bodyPr>
          <a:lstStyle/>
          <a:p>
            <a:pPr algn="ctr"/>
            <a:r>
              <a:rPr lang="en-US" sz="1200" b="0" i="1">
                <a:solidFill>
                  <a:srgbClr val="00A343"/>
                </a:solidFill>
                <a:latin typeface="Arial"/>
              </a:rPr>
              <a:t>Example  ·  </a:t>
            </a:r>
            <a:r>
              <a:rPr lang="en-US" sz="1200" i="1" err="1">
                <a:solidFill>
                  <a:srgbClr val="00A343"/>
                </a:solidFill>
                <a:latin typeface="Arial"/>
              </a:rPr>
              <a:t>Customer</a:t>
            </a:r>
            <a:r>
              <a:rPr lang="en-US" sz="1200" i="1">
                <a:solidFill>
                  <a:srgbClr val="00A343"/>
                </a:solidFill>
                <a:latin typeface="Arial"/>
              </a:rPr>
              <a:t> Services</a:t>
            </a:r>
            <a:r>
              <a:rPr lang="en-US" sz="1200" b="0" i="1">
                <a:solidFill>
                  <a:srgbClr val="00A343"/>
                </a:solidFill>
                <a:latin typeface="Arial"/>
              </a:rPr>
              <a:t> Portfolio Board  ·  Governance gates marked in red</a:t>
            </a:r>
          </a:p>
        </p:txBody>
      </p:sp>
      <p:sp>
        <p:nvSpPr>
          <p:cNvPr id="137" name="TextBox 8">
            <a:extLst>
              <a:ext uri="{FF2B5EF4-FFF2-40B4-BE49-F238E27FC236}">
                <a16:creationId xmlns:a16="http://schemas.microsoft.com/office/drawing/2014/main" id="{D06FF88B-2619-5D76-4E17-FC5E37BFBD9A}"/>
              </a:ext>
            </a:extLst>
          </p:cNvPr>
          <p:cNvSpPr txBox="1"/>
          <p:nvPr/>
        </p:nvSpPr>
        <p:spPr>
          <a:xfrm>
            <a:off x="1348740" y="1484143"/>
            <a:ext cx="1828800" cy="201168"/>
          </a:xfrm>
          <a:prstGeom prst="rect">
            <a:avLst/>
          </a:prstGeom>
          <a:noFill/>
        </p:spPr>
        <p:txBody>
          <a:bodyPr wrap="square" lIns="36000" tIns="18000" rIns="36000" bIns="18000" anchor="t">
            <a:spAutoFit/>
          </a:bodyPr>
          <a:lstStyle/>
          <a:p>
            <a:pPr algn="ctr"/>
            <a:r>
              <a:rPr sz="1000" b="1" i="0">
                <a:solidFill>
                  <a:srgbClr val="B03535"/>
                </a:solidFill>
              </a:rPr>
              <a:t>▲  GATE 1 · TRIAGE  ·  weekly</a:t>
            </a:r>
          </a:p>
        </p:txBody>
      </p:sp>
      <p:sp>
        <p:nvSpPr>
          <p:cNvPr id="138" name="TextBox 9">
            <a:extLst>
              <a:ext uri="{FF2B5EF4-FFF2-40B4-BE49-F238E27FC236}">
                <a16:creationId xmlns:a16="http://schemas.microsoft.com/office/drawing/2014/main" id="{57A5AD02-A5DA-75F6-C288-91B6ECA6BB21}"/>
              </a:ext>
            </a:extLst>
          </p:cNvPr>
          <p:cNvSpPr txBox="1"/>
          <p:nvPr/>
        </p:nvSpPr>
        <p:spPr>
          <a:xfrm>
            <a:off x="5234940" y="1484143"/>
            <a:ext cx="2178856" cy="190240"/>
          </a:xfrm>
          <a:prstGeom prst="rect">
            <a:avLst/>
          </a:prstGeom>
          <a:noFill/>
        </p:spPr>
        <p:txBody>
          <a:bodyPr wrap="square" lIns="36000" tIns="18000" rIns="36000" bIns="18000" anchor="t">
            <a:spAutoFit/>
          </a:bodyPr>
          <a:lstStyle/>
          <a:p>
            <a:pPr algn="ctr"/>
            <a:r>
              <a:rPr sz="1000" b="1" i="0">
                <a:solidFill>
                  <a:srgbClr val="B03535"/>
                </a:solidFill>
              </a:rPr>
              <a:t>▲  GATE 2 · PORTFOLIO  ·  monthly</a:t>
            </a:r>
          </a:p>
        </p:txBody>
      </p:sp>
      <p:sp>
        <p:nvSpPr>
          <p:cNvPr id="139" name="Rectangle 10">
            <a:extLst>
              <a:ext uri="{FF2B5EF4-FFF2-40B4-BE49-F238E27FC236}">
                <a16:creationId xmlns:a16="http://schemas.microsoft.com/office/drawing/2014/main" id="{5E8D0056-1067-90B8-1EA4-7138B17F8E98}"/>
              </a:ext>
            </a:extLst>
          </p:cNvPr>
          <p:cNvSpPr/>
          <p:nvPr/>
        </p:nvSpPr>
        <p:spPr>
          <a:xfrm>
            <a:off x="36576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1">
            <a:extLst>
              <a:ext uri="{FF2B5EF4-FFF2-40B4-BE49-F238E27FC236}">
                <a16:creationId xmlns:a16="http://schemas.microsoft.com/office/drawing/2014/main" id="{FADFB78A-B324-2D2B-1A36-5857DDCDB4B0}"/>
              </a:ext>
            </a:extLst>
          </p:cNvPr>
          <p:cNvSpPr txBox="1"/>
          <p:nvPr/>
        </p:nvSpPr>
        <p:spPr>
          <a:xfrm>
            <a:off x="36576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Funnel</a:t>
            </a:r>
          </a:p>
        </p:txBody>
      </p:sp>
      <p:sp>
        <p:nvSpPr>
          <p:cNvPr id="141" name="Rectangle 12">
            <a:extLst>
              <a:ext uri="{FF2B5EF4-FFF2-40B4-BE49-F238E27FC236}">
                <a16:creationId xmlns:a16="http://schemas.microsoft.com/office/drawing/2014/main" id="{C06014EF-2254-19EE-C03B-1783ECDC300E}"/>
              </a:ext>
            </a:extLst>
          </p:cNvPr>
          <p:cNvSpPr/>
          <p:nvPr/>
        </p:nvSpPr>
        <p:spPr>
          <a:xfrm>
            <a:off x="36576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3">
            <a:extLst>
              <a:ext uri="{FF2B5EF4-FFF2-40B4-BE49-F238E27FC236}">
                <a16:creationId xmlns:a16="http://schemas.microsoft.com/office/drawing/2014/main" id="{79F98FDB-DFC3-7F94-7833-A4B26D006C43}"/>
              </a:ext>
            </a:extLst>
          </p:cNvPr>
          <p:cNvSpPr txBox="1"/>
          <p:nvPr/>
        </p:nvSpPr>
        <p:spPr>
          <a:xfrm>
            <a:off x="47548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43" name="TextBox 14">
            <a:extLst>
              <a:ext uri="{FF2B5EF4-FFF2-40B4-BE49-F238E27FC236}">
                <a16:creationId xmlns:a16="http://schemas.microsoft.com/office/drawing/2014/main" id="{0C4BAFF5-0C6B-7EA1-7667-12C84B36A257}"/>
              </a:ext>
            </a:extLst>
          </p:cNvPr>
          <p:cNvSpPr txBox="1"/>
          <p:nvPr/>
        </p:nvSpPr>
        <p:spPr>
          <a:xfrm>
            <a:off x="475488" y="2453407"/>
            <a:ext cx="1655064" cy="457200"/>
          </a:xfrm>
          <a:prstGeom prst="rect">
            <a:avLst/>
          </a:prstGeom>
          <a:noFill/>
        </p:spPr>
        <p:txBody>
          <a:bodyPr wrap="square" lIns="36000" tIns="18000" rIns="36000" bIns="18000" anchor="t">
            <a:spAutoFit/>
          </a:bodyPr>
          <a:lstStyle/>
          <a:p>
            <a:pPr algn="l"/>
            <a:r>
              <a:rPr sz="850" b="0" i="0">
                <a:solidFill>
                  <a:srgbClr val="172B4D"/>
                </a:solidFill>
              </a:rPr>
              <a:t>Idea submitted with problem statement</a:t>
            </a:r>
          </a:p>
        </p:txBody>
      </p:sp>
      <p:sp>
        <p:nvSpPr>
          <p:cNvPr id="144" name="TextBox 15">
            <a:extLst>
              <a:ext uri="{FF2B5EF4-FFF2-40B4-BE49-F238E27FC236}">
                <a16:creationId xmlns:a16="http://schemas.microsoft.com/office/drawing/2014/main" id="{3FC1C86C-5D08-AF7F-44CA-57D8724588CE}"/>
              </a:ext>
            </a:extLst>
          </p:cNvPr>
          <p:cNvSpPr txBox="1"/>
          <p:nvPr/>
        </p:nvSpPr>
        <p:spPr>
          <a:xfrm>
            <a:off x="47548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45" name="TextBox 16">
            <a:extLst>
              <a:ext uri="{FF2B5EF4-FFF2-40B4-BE49-F238E27FC236}">
                <a16:creationId xmlns:a16="http://schemas.microsoft.com/office/drawing/2014/main" id="{198FD346-20D5-DB2A-2671-DD174CF74201}"/>
              </a:ext>
            </a:extLst>
          </p:cNvPr>
          <p:cNvSpPr txBox="1"/>
          <p:nvPr/>
        </p:nvSpPr>
        <p:spPr>
          <a:xfrm>
            <a:off x="475488" y="3230647"/>
            <a:ext cx="1655064" cy="457200"/>
          </a:xfrm>
          <a:prstGeom prst="rect">
            <a:avLst/>
          </a:prstGeom>
          <a:noFill/>
        </p:spPr>
        <p:txBody>
          <a:bodyPr wrap="square" lIns="36000" tIns="18000" rIns="36000" bIns="18000" anchor="t">
            <a:spAutoFit/>
          </a:bodyPr>
          <a:lstStyle/>
          <a:p>
            <a:pPr algn="l"/>
            <a:r>
              <a:rPr sz="850" b="0" i="0">
                <a:solidFill>
                  <a:srgbClr val="172B4D"/>
                </a:solidFill>
              </a:rPr>
              <a:t>Sponsor</a:t>
            </a:r>
          </a:p>
        </p:txBody>
      </p:sp>
      <p:sp>
        <p:nvSpPr>
          <p:cNvPr id="146" name="TextBox 17">
            <a:extLst>
              <a:ext uri="{FF2B5EF4-FFF2-40B4-BE49-F238E27FC236}">
                <a16:creationId xmlns:a16="http://schemas.microsoft.com/office/drawing/2014/main" id="{9D8D1D65-3BF2-1B26-9153-AF432F2B2C24}"/>
              </a:ext>
            </a:extLst>
          </p:cNvPr>
          <p:cNvSpPr txBox="1"/>
          <p:nvPr/>
        </p:nvSpPr>
        <p:spPr>
          <a:xfrm>
            <a:off x="475488" y="3861583"/>
            <a:ext cx="1655064" cy="164592"/>
          </a:xfrm>
          <a:prstGeom prst="rect">
            <a:avLst/>
          </a:prstGeom>
          <a:noFill/>
        </p:spPr>
        <p:txBody>
          <a:bodyPr wrap="square" lIns="36000" tIns="18000" rIns="36000" bIns="18000" anchor="t">
            <a:spAutoFit/>
          </a:bodyPr>
          <a:lstStyle/>
          <a:p>
            <a:pPr algn="l"/>
            <a:r>
              <a:rPr sz="700" b="1" i="0">
                <a:solidFill>
                  <a:srgbClr val="6B778C"/>
                </a:solidFill>
              </a:rPr>
              <a:t>REVIEWER</a:t>
            </a:r>
          </a:p>
        </p:txBody>
      </p:sp>
      <p:sp>
        <p:nvSpPr>
          <p:cNvPr id="147" name="TextBox 18">
            <a:extLst>
              <a:ext uri="{FF2B5EF4-FFF2-40B4-BE49-F238E27FC236}">
                <a16:creationId xmlns:a16="http://schemas.microsoft.com/office/drawing/2014/main" id="{480DC510-5CFE-DCB5-CB76-679E8800F774}"/>
              </a:ext>
            </a:extLst>
          </p:cNvPr>
          <p:cNvSpPr txBox="1"/>
          <p:nvPr/>
        </p:nvSpPr>
        <p:spPr>
          <a:xfrm>
            <a:off x="475488" y="4007887"/>
            <a:ext cx="1655064" cy="167157"/>
          </a:xfrm>
          <a:prstGeom prst="rect">
            <a:avLst/>
          </a:prstGeom>
          <a:noFill/>
        </p:spPr>
        <p:txBody>
          <a:bodyPr wrap="square" lIns="36000" tIns="18000" rIns="36000" bIns="18000" anchor="t">
            <a:spAutoFit/>
          </a:bodyPr>
          <a:lstStyle/>
          <a:p>
            <a:pPr algn="l"/>
            <a:r>
              <a:rPr lang="pt-BR" sz="850" b="0" i="0">
                <a:solidFill>
                  <a:srgbClr val="172B4D"/>
                </a:solidFill>
              </a:rPr>
              <a:t>PM</a:t>
            </a:r>
            <a:endParaRPr sz="850" b="0" i="0">
              <a:solidFill>
                <a:srgbClr val="172B4D"/>
              </a:solidFill>
            </a:endParaRPr>
          </a:p>
        </p:txBody>
      </p:sp>
      <p:sp>
        <p:nvSpPr>
          <p:cNvPr id="148" name="TextBox 19">
            <a:extLst>
              <a:ext uri="{FF2B5EF4-FFF2-40B4-BE49-F238E27FC236}">
                <a16:creationId xmlns:a16="http://schemas.microsoft.com/office/drawing/2014/main" id="{51CE2E54-F63D-ECBB-BA0C-7D576EDEFB4E}"/>
              </a:ext>
            </a:extLst>
          </p:cNvPr>
          <p:cNvSpPr txBox="1"/>
          <p:nvPr/>
        </p:nvSpPr>
        <p:spPr>
          <a:xfrm>
            <a:off x="475488" y="4638823"/>
            <a:ext cx="1655064" cy="164592"/>
          </a:xfrm>
          <a:prstGeom prst="rect">
            <a:avLst/>
          </a:prstGeom>
          <a:noFill/>
        </p:spPr>
        <p:txBody>
          <a:bodyPr wrap="square" lIns="36000" tIns="18000" rIns="36000" bIns="18000" anchor="t">
            <a:spAutoFit/>
          </a:bodyPr>
          <a:lstStyle/>
          <a:p>
            <a:pPr algn="l"/>
            <a:r>
              <a:rPr sz="700" b="1" i="0">
                <a:solidFill>
                  <a:srgbClr val="6B778C"/>
                </a:solidFill>
              </a:rPr>
              <a:t>INPUT</a:t>
            </a:r>
          </a:p>
        </p:txBody>
      </p:sp>
      <p:sp>
        <p:nvSpPr>
          <p:cNvPr id="149" name="TextBox 20">
            <a:extLst>
              <a:ext uri="{FF2B5EF4-FFF2-40B4-BE49-F238E27FC236}">
                <a16:creationId xmlns:a16="http://schemas.microsoft.com/office/drawing/2014/main" id="{A9733CF1-A51C-6A19-BAF0-AD09F8E5BE5A}"/>
              </a:ext>
            </a:extLst>
          </p:cNvPr>
          <p:cNvSpPr txBox="1"/>
          <p:nvPr/>
        </p:nvSpPr>
        <p:spPr>
          <a:xfrm>
            <a:off x="475488" y="4785127"/>
            <a:ext cx="1655064" cy="457200"/>
          </a:xfrm>
          <a:prstGeom prst="rect">
            <a:avLst/>
          </a:prstGeom>
          <a:noFill/>
        </p:spPr>
        <p:txBody>
          <a:bodyPr wrap="square" lIns="36000" tIns="18000" rIns="36000" bIns="18000" anchor="t">
            <a:spAutoFit/>
          </a:bodyPr>
          <a:lstStyle/>
          <a:p>
            <a:pPr algn="l"/>
            <a:r>
              <a:rPr sz="850" b="0" i="0">
                <a:solidFill>
                  <a:srgbClr val="172B4D"/>
                </a:solidFill>
              </a:rPr>
              <a:t>Demand placeholder · Title · Description · BV</a:t>
            </a:r>
          </a:p>
        </p:txBody>
      </p:sp>
      <p:sp>
        <p:nvSpPr>
          <p:cNvPr id="150" name="Rectangle 21">
            <a:extLst>
              <a:ext uri="{FF2B5EF4-FFF2-40B4-BE49-F238E27FC236}">
                <a16:creationId xmlns:a16="http://schemas.microsoft.com/office/drawing/2014/main" id="{1236250F-2338-37B4-F61D-04CF86CF9B2B}"/>
              </a:ext>
            </a:extLst>
          </p:cNvPr>
          <p:cNvSpPr/>
          <p:nvPr/>
        </p:nvSpPr>
        <p:spPr>
          <a:xfrm>
            <a:off x="228600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22">
            <a:extLst>
              <a:ext uri="{FF2B5EF4-FFF2-40B4-BE49-F238E27FC236}">
                <a16:creationId xmlns:a16="http://schemas.microsoft.com/office/drawing/2014/main" id="{BD624E4C-13A9-80AD-AC91-6D5EF7908257}"/>
              </a:ext>
            </a:extLst>
          </p:cNvPr>
          <p:cNvSpPr txBox="1"/>
          <p:nvPr/>
        </p:nvSpPr>
        <p:spPr>
          <a:xfrm>
            <a:off x="228600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Reviewing</a:t>
            </a:r>
          </a:p>
        </p:txBody>
      </p:sp>
      <p:sp>
        <p:nvSpPr>
          <p:cNvPr id="152" name="Rectangle 23">
            <a:extLst>
              <a:ext uri="{FF2B5EF4-FFF2-40B4-BE49-F238E27FC236}">
                <a16:creationId xmlns:a16="http://schemas.microsoft.com/office/drawing/2014/main" id="{CFA247B5-237E-2EDC-CD13-9CB8751988D6}"/>
              </a:ext>
            </a:extLst>
          </p:cNvPr>
          <p:cNvSpPr/>
          <p:nvPr/>
        </p:nvSpPr>
        <p:spPr>
          <a:xfrm>
            <a:off x="228600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24">
            <a:extLst>
              <a:ext uri="{FF2B5EF4-FFF2-40B4-BE49-F238E27FC236}">
                <a16:creationId xmlns:a16="http://schemas.microsoft.com/office/drawing/2014/main" id="{F9677CC9-A715-9D55-0E10-2795252B68FA}"/>
              </a:ext>
            </a:extLst>
          </p:cNvPr>
          <p:cNvSpPr txBox="1"/>
          <p:nvPr/>
        </p:nvSpPr>
        <p:spPr>
          <a:xfrm>
            <a:off x="239572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54" name="TextBox 25">
            <a:extLst>
              <a:ext uri="{FF2B5EF4-FFF2-40B4-BE49-F238E27FC236}">
                <a16:creationId xmlns:a16="http://schemas.microsoft.com/office/drawing/2014/main" id="{94A00380-1BD5-BA6C-7CA3-6ADF4CFC6FB5}"/>
              </a:ext>
            </a:extLst>
          </p:cNvPr>
          <p:cNvSpPr txBox="1"/>
          <p:nvPr/>
        </p:nvSpPr>
        <p:spPr>
          <a:xfrm>
            <a:off x="2395728" y="2453407"/>
            <a:ext cx="1655064" cy="457200"/>
          </a:xfrm>
          <a:prstGeom prst="rect">
            <a:avLst/>
          </a:prstGeom>
          <a:noFill/>
        </p:spPr>
        <p:txBody>
          <a:bodyPr wrap="square" lIns="36000" tIns="18000" rIns="36000" bIns="18000" anchor="t">
            <a:spAutoFit/>
          </a:bodyPr>
          <a:lstStyle/>
          <a:p>
            <a:pPr algn="l"/>
            <a:r>
              <a:rPr sz="850" b="0" i="0">
                <a:solidFill>
                  <a:srgbClr val="172B4D"/>
                </a:solidFill>
              </a:rPr>
              <a:t>Business case refined · classification applied</a:t>
            </a:r>
          </a:p>
        </p:txBody>
      </p:sp>
      <p:sp>
        <p:nvSpPr>
          <p:cNvPr id="155" name="TextBox 26">
            <a:extLst>
              <a:ext uri="{FF2B5EF4-FFF2-40B4-BE49-F238E27FC236}">
                <a16:creationId xmlns:a16="http://schemas.microsoft.com/office/drawing/2014/main" id="{E61F342B-2472-3D19-155A-D3F3A1E74453}"/>
              </a:ext>
            </a:extLst>
          </p:cNvPr>
          <p:cNvSpPr txBox="1"/>
          <p:nvPr/>
        </p:nvSpPr>
        <p:spPr>
          <a:xfrm>
            <a:off x="239572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56" name="TextBox 27">
            <a:extLst>
              <a:ext uri="{FF2B5EF4-FFF2-40B4-BE49-F238E27FC236}">
                <a16:creationId xmlns:a16="http://schemas.microsoft.com/office/drawing/2014/main" id="{851C93D5-9F2D-8B04-7DE2-8145A24F83BE}"/>
              </a:ext>
            </a:extLst>
          </p:cNvPr>
          <p:cNvSpPr txBox="1"/>
          <p:nvPr/>
        </p:nvSpPr>
        <p:spPr>
          <a:xfrm>
            <a:off x="2395728" y="3230647"/>
            <a:ext cx="1655064" cy="167157"/>
          </a:xfrm>
          <a:prstGeom prst="rect">
            <a:avLst/>
          </a:prstGeom>
          <a:noFill/>
        </p:spPr>
        <p:txBody>
          <a:bodyPr wrap="square" lIns="36000" tIns="18000" rIns="36000" bIns="18000" anchor="t">
            <a:spAutoFit/>
          </a:bodyPr>
          <a:lstStyle/>
          <a:p>
            <a:pPr algn="l"/>
            <a:r>
              <a:rPr sz="850" b="0" i="0">
                <a:solidFill>
                  <a:srgbClr val="172B4D"/>
                </a:solidFill>
              </a:rPr>
              <a:t>Sponsor + </a:t>
            </a:r>
            <a:r>
              <a:rPr lang="pt-BR" sz="850" b="0" i="0">
                <a:solidFill>
                  <a:srgbClr val="172B4D"/>
                </a:solidFill>
              </a:rPr>
              <a:t>PM</a:t>
            </a:r>
            <a:endParaRPr sz="850" b="0" i="0">
              <a:solidFill>
                <a:srgbClr val="172B4D"/>
              </a:solidFill>
            </a:endParaRPr>
          </a:p>
        </p:txBody>
      </p:sp>
      <p:sp>
        <p:nvSpPr>
          <p:cNvPr id="157" name="TextBox 28">
            <a:extLst>
              <a:ext uri="{FF2B5EF4-FFF2-40B4-BE49-F238E27FC236}">
                <a16:creationId xmlns:a16="http://schemas.microsoft.com/office/drawing/2014/main" id="{E913BA75-17D5-6996-636F-81C17769BFB3}"/>
              </a:ext>
            </a:extLst>
          </p:cNvPr>
          <p:cNvSpPr txBox="1"/>
          <p:nvPr/>
        </p:nvSpPr>
        <p:spPr>
          <a:xfrm>
            <a:off x="2395728" y="3861583"/>
            <a:ext cx="1655064" cy="164592"/>
          </a:xfrm>
          <a:prstGeom prst="rect">
            <a:avLst/>
          </a:prstGeom>
          <a:noFill/>
        </p:spPr>
        <p:txBody>
          <a:bodyPr wrap="square" lIns="36000" tIns="18000" rIns="36000" bIns="18000" anchor="t">
            <a:spAutoFit/>
          </a:bodyPr>
          <a:lstStyle/>
          <a:p>
            <a:pPr algn="l"/>
            <a:r>
              <a:rPr sz="700" b="1" i="0">
                <a:solidFill>
                  <a:srgbClr val="6B778C"/>
                </a:solidFill>
              </a:rPr>
              <a:t>SLA</a:t>
            </a:r>
          </a:p>
        </p:txBody>
      </p:sp>
      <p:sp>
        <p:nvSpPr>
          <p:cNvPr id="158" name="TextBox 29">
            <a:extLst>
              <a:ext uri="{FF2B5EF4-FFF2-40B4-BE49-F238E27FC236}">
                <a16:creationId xmlns:a16="http://schemas.microsoft.com/office/drawing/2014/main" id="{302FE736-3536-B7C9-6971-3A3DE17F7D2D}"/>
              </a:ext>
            </a:extLst>
          </p:cNvPr>
          <p:cNvSpPr txBox="1"/>
          <p:nvPr/>
        </p:nvSpPr>
        <p:spPr>
          <a:xfrm>
            <a:off x="2395728" y="4007887"/>
            <a:ext cx="1655064" cy="457200"/>
          </a:xfrm>
          <a:prstGeom prst="rect">
            <a:avLst/>
          </a:prstGeom>
          <a:noFill/>
        </p:spPr>
        <p:txBody>
          <a:bodyPr wrap="square" lIns="36000" tIns="18000" rIns="36000" bIns="18000" anchor="t">
            <a:spAutoFit/>
          </a:bodyPr>
          <a:lstStyle/>
          <a:p>
            <a:pPr algn="l"/>
            <a:r>
              <a:rPr sz="850" b="0" i="0">
                <a:solidFill>
                  <a:srgbClr val="172B4D"/>
                </a:solidFill>
              </a:rPr>
              <a:t>2 weeks</a:t>
            </a:r>
          </a:p>
        </p:txBody>
      </p:sp>
      <p:sp>
        <p:nvSpPr>
          <p:cNvPr id="159" name="TextBox 30">
            <a:extLst>
              <a:ext uri="{FF2B5EF4-FFF2-40B4-BE49-F238E27FC236}">
                <a16:creationId xmlns:a16="http://schemas.microsoft.com/office/drawing/2014/main" id="{D7027F8A-6668-D8FA-3DCA-4E1774071D70}"/>
              </a:ext>
            </a:extLst>
          </p:cNvPr>
          <p:cNvSpPr txBox="1"/>
          <p:nvPr/>
        </p:nvSpPr>
        <p:spPr>
          <a:xfrm>
            <a:off x="2395728" y="463882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160" name="TextBox 31">
            <a:extLst>
              <a:ext uri="{FF2B5EF4-FFF2-40B4-BE49-F238E27FC236}">
                <a16:creationId xmlns:a16="http://schemas.microsoft.com/office/drawing/2014/main" id="{5028E764-EA17-0E6F-DB5B-CC33542B892C}"/>
              </a:ext>
            </a:extLst>
          </p:cNvPr>
          <p:cNvSpPr txBox="1"/>
          <p:nvPr/>
        </p:nvSpPr>
        <p:spPr>
          <a:xfrm>
            <a:off x="2395728" y="4785127"/>
            <a:ext cx="1655064" cy="457200"/>
          </a:xfrm>
          <a:prstGeom prst="rect">
            <a:avLst/>
          </a:prstGeom>
          <a:noFill/>
        </p:spPr>
        <p:txBody>
          <a:bodyPr wrap="square" lIns="36000" tIns="18000" rIns="36000" bIns="18000" anchor="t">
            <a:spAutoFit/>
          </a:bodyPr>
          <a:lstStyle/>
          <a:p>
            <a:pPr algn="l"/>
            <a:r>
              <a:rPr sz="850" b="0" i="0">
                <a:solidFill>
                  <a:srgbClr val="172B4D"/>
                </a:solidFill>
              </a:rPr>
              <a:t>Refined business case · CoS guess</a:t>
            </a:r>
          </a:p>
        </p:txBody>
      </p:sp>
      <p:sp>
        <p:nvSpPr>
          <p:cNvPr id="161" name="Rectangle 32">
            <a:extLst>
              <a:ext uri="{FF2B5EF4-FFF2-40B4-BE49-F238E27FC236}">
                <a16:creationId xmlns:a16="http://schemas.microsoft.com/office/drawing/2014/main" id="{DF11F71E-E190-E164-F672-92052B93D75F}"/>
              </a:ext>
            </a:extLst>
          </p:cNvPr>
          <p:cNvSpPr/>
          <p:nvPr/>
        </p:nvSpPr>
        <p:spPr>
          <a:xfrm>
            <a:off x="420624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33">
            <a:extLst>
              <a:ext uri="{FF2B5EF4-FFF2-40B4-BE49-F238E27FC236}">
                <a16:creationId xmlns:a16="http://schemas.microsoft.com/office/drawing/2014/main" id="{52B01D53-B726-7C87-380D-3633CFA3F4C3}"/>
              </a:ext>
            </a:extLst>
          </p:cNvPr>
          <p:cNvSpPr txBox="1"/>
          <p:nvPr/>
        </p:nvSpPr>
        <p:spPr>
          <a:xfrm>
            <a:off x="420624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Analyzing</a:t>
            </a:r>
          </a:p>
        </p:txBody>
      </p:sp>
      <p:sp>
        <p:nvSpPr>
          <p:cNvPr id="163" name="Rectangle 34">
            <a:extLst>
              <a:ext uri="{FF2B5EF4-FFF2-40B4-BE49-F238E27FC236}">
                <a16:creationId xmlns:a16="http://schemas.microsoft.com/office/drawing/2014/main" id="{D544476F-8E23-B24C-05C7-AB278B18EAED}"/>
              </a:ext>
            </a:extLst>
          </p:cNvPr>
          <p:cNvSpPr/>
          <p:nvPr/>
        </p:nvSpPr>
        <p:spPr>
          <a:xfrm>
            <a:off x="420624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35">
            <a:extLst>
              <a:ext uri="{FF2B5EF4-FFF2-40B4-BE49-F238E27FC236}">
                <a16:creationId xmlns:a16="http://schemas.microsoft.com/office/drawing/2014/main" id="{DC9A12FB-E6FF-7CBC-6E34-87ACE12C498A}"/>
              </a:ext>
            </a:extLst>
          </p:cNvPr>
          <p:cNvSpPr txBox="1"/>
          <p:nvPr/>
        </p:nvSpPr>
        <p:spPr>
          <a:xfrm>
            <a:off x="431596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65" name="TextBox 36">
            <a:extLst>
              <a:ext uri="{FF2B5EF4-FFF2-40B4-BE49-F238E27FC236}">
                <a16:creationId xmlns:a16="http://schemas.microsoft.com/office/drawing/2014/main" id="{F5CF3BCD-8000-C369-3F90-C2678F1564AF}"/>
              </a:ext>
            </a:extLst>
          </p:cNvPr>
          <p:cNvSpPr txBox="1"/>
          <p:nvPr/>
        </p:nvSpPr>
        <p:spPr>
          <a:xfrm>
            <a:off x="4315968" y="2453407"/>
            <a:ext cx="1655064" cy="457200"/>
          </a:xfrm>
          <a:prstGeom prst="rect">
            <a:avLst/>
          </a:prstGeom>
          <a:noFill/>
        </p:spPr>
        <p:txBody>
          <a:bodyPr wrap="square" lIns="36000" tIns="18000" rIns="36000" bIns="18000" anchor="t">
            <a:spAutoFit/>
          </a:bodyPr>
          <a:lstStyle/>
          <a:p>
            <a:pPr algn="l"/>
            <a:r>
              <a:rPr sz="850" b="0" i="0">
                <a:solidFill>
                  <a:srgbClr val="172B4D"/>
                </a:solidFill>
              </a:rPr>
              <a:t>Sized · scored · feasibility checked</a:t>
            </a:r>
          </a:p>
        </p:txBody>
      </p:sp>
      <p:sp>
        <p:nvSpPr>
          <p:cNvPr id="166" name="TextBox 37">
            <a:extLst>
              <a:ext uri="{FF2B5EF4-FFF2-40B4-BE49-F238E27FC236}">
                <a16:creationId xmlns:a16="http://schemas.microsoft.com/office/drawing/2014/main" id="{9566800C-7582-BA1E-59BC-D8F6E423DCC4}"/>
              </a:ext>
            </a:extLst>
          </p:cNvPr>
          <p:cNvSpPr txBox="1"/>
          <p:nvPr/>
        </p:nvSpPr>
        <p:spPr>
          <a:xfrm>
            <a:off x="431596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67" name="TextBox 38">
            <a:extLst>
              <a:ext uri="{FF2B5EF4-FFF2-40B4-BE49-F238E27FC236}">
                <a16:creationId xmlns:a16="http://schemas.microsoft.com/office/drawing/2014/main" id="{EB933E6F-541D-469B-57F9-25BDAB924CC7}"/>
              </a:ext>
            </a:extLst>
          </p:cNvPr>
          <p:cNvSpPr txBox="1"/>
          <p:nvPr/>
        </p:nvSpPr>
        <p:spPr>
          <a:xfrm>
            <a:off x="4315968" y="3230647"/>
            <a:ext cx="1655064" cy="167157"/>
          </a:xfrm>
          <a:prstGeom prst="rect">
            <a:avLst/>
          </a:prstGeom>
          <a:noFill/>
        </p:spPr>
        <p:txBody>
          <a:bodyPr wrap="square" lIns="36000" tIns="18000" rIns="36000" bIns="18000" anchor="t">
            <a:spAutoFit/>
          </a:bodyPr>
          <a:lstStyle/>
          <a:p>
            <a:pPr algn="l"/>
            <a:r>
              <a:rPr lang="pt-BR" sz="850" b="0" i="0">
                <a:solidFill>
                  <a:srgbClr val="172B4D"/>
                </a:solidFill>
              </a:rPr>
              <a:t>PM </a:t>
            </a:r>
            <a:r>
              <a:rPr sz="850" b="0" i="0">
                <a:solidFill>
                  <a:srgbClr val="172B4D"/>
                </a:solidFill>
              </a:rPr>
              <a:t>+ Architect</a:t>
            </a:r>
          </a:p>
        </p:txBody>
      </p:sp>
      <p:sp>
        <p:nvSpPr>
          <p:cNvPr id="168" name="TextBox 39">
            <a:extLst>
              <a:ext uri="{FF2B5EF4-FFF2-40B4-BE49-F238E27FC236}">
                <a16:creationId xmlns:a16="http://schemas.microsoft.com/office/drawing/2014/main" id="{5DE36116-7185-783F-2F5A-756267EF00F0}"/>
              </a:ext>
            </a:extLst>
          </p:cNvPr>
          <p:cNvSpPr txBox="1"/>
          <p:nvPr/>
        </p:nvSpPr>
        <p:spPr>
          <a:xfrm>
            <a:off x="4315968" y="386158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169" name="TextBox 40">
            <a:extLst>
              <a:ext uri="{FF2B5EF4-FFF2-40B4-BE49-F238E27FC236}">
                <a16:creationId xmlns:a16="http://schemas.microsoft.com/office/drawing/2014/main" id="{19879077-4AB5-36A1-0C56-6FEA0A55025E}"/>
              </a:ext>
            </a:extLst>
          </p:cNvPr>
          <p:cNvSpPr txBox="1"/>
          <p:nvPr/>
        </p:nvSpPr>
        <p:spPr>
          <a:xfrm>
            <a:off x="4315968" y="4007887"/>
            <a:ext cx="1655064" cy="457200"/>
          </a:xfrm>
          <a:prstGeom prst="rect">
            <a:avLst/>
          </a:prstGeom>
          <a:noFill/>
        </p:spPr>
        <p:txBody>
          <a:bodyPr wrap="square" lIns="36000" tIns="18000" rIns="36000" bIns="18000" anchor="t">
            <a:spAutoFit/>
          </a:bodyPr>
          <a:lstStyle/>
          <a:p>
            <a:pPr algn="l"/>
            <a:r>
              <a:rPr sz="850" b="0" i="0">
                <a:solidFill>
                  <a:srgbClr val="172B4D"/>
                </a:solidFill>
              </a:rPr>
              <a:t>Pain Score · T-shirt effort · Class of Service</a:t>
            </a:r>
          </a:p>
        </p:txBody>
      </p:sp>
      <p:sp>
        <p:nvSpPr>
          <p:cNvPr id="170" name="TextBox 41">
            <a:extLst>
              <a:ext uri="{FF2B5EF4-FFF2-40B4-BE49-F238E27FC236}">
                <a16:creationId xmlns:a16="http://schemas.microsoft.com/office/drawing/2014/main" id="{A95CA47C-78B5-0946-1FA7-0108658CF53F}"/>
              </a:ext>
            </a:extLst>
          </p:cNvPr>
          <p:cNvSpPr txBox="1"/>
          <p:nvPr/>
        </p:nvSpPr>
        <p:spPr>
          <a:xfrm>
            <a:off x="4315968" y="4638823"/>
            <a:ext cx="1655064" cy="164592"/>
          </a:xfrm>
          <a:prstGeom prst="rect">
            <a:avLst/>
          </a:prstGeom>
          <a:noFill/>
        </p:spPr>
        <p:txBody>
          <a:bodyPr wrap="square" lIns="36000" tIns="18000" rIns="36000" bIns="18000" anchor="t">
            <a:spAutoFit/>
          </a:bodyPr>
          <a:lstStyle/>
          <a:p>
            <a:pPr algn="l"/>
            <a:r>
              <a:rPr sz="700" b="1" i="0">
                <a:solidFill>
                  <a:srgbClr val="6B778C"/>
                </a:solidFill>
              </a:rPr>
              <a:t>ARTIFACT</a:t>
            </a:r>
          </a:p>
        </p:txBody>
      </p:sp>
      <p:sp>
        <p:nvSpPr>
          <p:cNvPr id="171" name="TextBox 42">
            <a:extLst>
              <a:ext uri="{FF2B5EF4-FFF2-40B4-BE49-F238E27FC236}">
                <a16:creationId xmlns:a16="http://schemas.microsoft.com/office/drawing/2014/main" id="{B6BBAE09-61EE-17A7-D952-385C5B27C83E}"/>
              </a:ext>
            </a:extLst>
          </p:cNvPr>
          <p:cNvSpPr txBox="1"/>
          <p:nvPr/>
        </p:nvSpPr>
        <p:spPr>
          <a:xfrm>
            <a:off x="4315968" y="4785127"/>
            <a:ext cx="1655064" cy="457200"/>
          </a:xfrm>
          <a:prstGeom prst="rect">
            <a:avLst/>
          </a:prstGeom>
          <a:noFill/>
        </p:spPr>
        <p:txBody>
          <a:bodyPr wrap="square" lIns="36000" tIns="18000" rIns="36000" bIns="18000" anchor="t">
            <a:spAutoFit/>
          </a:bodyPr>
          <a:lstStyle/>
          <a:p>
            <a:pPr algn="l"/>
            <a:r>
              <a:rPr sz="850" b="0" i="0">
                <a:solidFill>
                  <a:srgbClr val="172B4D"/>
                </a:solidFill>
              </a:rPr>
              <a:t>Discovery Report · Concept Prototype</a:t>
            </a:r>
          </a:p>
        </p:txBody>
      </p:sp>
      <p:sp>
        <p:nvSpPr>
          <p:cNvPr id="172" name="Rectangle 43">
            <a:extLst>
              <a:ext uri="{FF2B5EF4-FFF2-40B4-BE49-F238E27FC236}">
                <a16:creationId xmlns:a16="http://schemas.microsoft.com/office/drawing/2014/main" id="{2F802FEC-281E-895E-55BF-D3FC3D250A30}"/>
              </a:ext>
            </a:extLst>
          </p:cNvPr>
          <p:cNvSpPr/>
          <p:nvPr/>
        </p:nvSpPr>
        <p:spPr>
          <a:xfrm>
            <a:off x="612648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44">
            <a:extLst>
              <a:ext uri="{FF2B5EF4-FFF2-40B4-BE49-F238E27FC236}">
                <a16:creationId xmlns:a16="http://schemas.microsoft.com/office/drawing/2014/main" id="{F618085F-2E99-BD1C-953B-9948A724A945}"/>
              </a:ext>
            </a:extLst>
          </p:cNvPr>
          <p:cNvSpPr txBox="1"/>
          <p:nvPr/>
        </p:nvSpPr>
        <p:spPr>
          <a:xfrm>
            <a:off x="612648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Backlog</a:t>
            </a:r>
          </a:p>
        </p:txBody>
      </p:sp>
      <p:sp>
        <p:nvSpPr>
          <p:cNvPr id="174" name="Rectangle 45">
            <a:extLst>
              <a:ext uri="{FF2B5EF4-FFF2-40B4-BE49-F238E27FC236}">
                <a16:creationId xmlns:a16="http://schemas.microsoft.com/office/drawing/2014/main" id="{08FE8BE3-87A6-E328-D3F1-98B9B0382F7F}"/>
              </a:ext>
            </a:extLst>
          </p:cNvPr>
          <p:cNvSpPr/>
          <p:nvPr/>
        </p:nvSpPr>
        <p:spPr>
          <a:xfrm>
            <a:off x="612648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46">
            <a:extLst>
              <a:ext uri="{FF2B5EF4-FFF2-40B4-BE49-F238E27FC236}">
                <a16:creationId xmlns:a16="http://schemas.microsoft.com/office/drawing/2014/main" id="{084BAFC4-FE42-65BB-924D-9A5726A2D8F3}"/>
              </a:ext>
            </a:extLst>
          </p:cNvPr>
          <p:cNvSpPr txBox="1"/>
          <p:nvPr/>
        </p:nvSpPr>
        <p:spPr>
          <a:xfrm>
            <a:off x="623620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76" name="TextBox 47">
            <a:extLst>
              <a:ext uri="{FF2B5EF4-FFF2-40B4-BE49-F238E27FC236}">
                <a16:creationId xmlns:a16="http://schemas.microsoft.com/office/drawing/2014/main" id="{27B7EFBE-E323-8151-1E21-67D585133B9D}"/>
              </a:ext>
            </a:extLst>
          </p:cNvPr>
          <p:cNvSpPr txBox="1"/>
          <p:nvPr/>
        </p:nvSpPr>
        <p:spPr>
          <a:xfrm>
            <a:off x="6236208" y="2453407"/>
            <a:ext cx="1655064" cy="457200"/>
          </a:xfrm>
          <a:prstGeom prst="rect">
            <a:avLst/>
          </a:prstGeom>
          <a:noFill/>
        </p:spPr>
        <p:txBody>
          <a:bodyPr wrap="square" lIns="36000" tIns="18000" rIns="36000" bIns="18000" anchor="t">
            <a:spAutoFit/>
          </a:bodyPr>
          <a:lstStyle/>
          <a:p>
            <a:pPr algn="l"/>
            <a:r>
              <a:rPr sz="850" b="0" i="0">
                <a:solidFill>
                  <a:srgbClr val="172B4D"/>
                </a:solidFill>
              </a:rPr>
              <a:t>Approved · awaiting capacity</a:t>
            </a:r>
          </a:p>
        </p:txBody>
      </p:sp>
      <p:sp>
        <p:nvSpPr>
          <p:cNvPr id="177" name="TextBox 48">
            <a:extLst>
              <a:ext uri="{FF2B5EF4-FFF2-40B4-BE49-F238E27FC236}">
                <a16:creationId xmlns:a16="http://schemas.microsoft.com/office/drawing/2014/main" id="{4BBEDB11-4518-4A17-EE3A-AF98CCDB50CC}"/>
              </a:ext>
            </a:extLst>
          </p:cNvPr>
          <p:cNvSpPr txBox="1"/>
          <p:nvPr/>
        </p:nvSpPr>
        <p:spPr>
          <a:xfrm>
            <a:off x="623620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78" name="TextBox 49">
            <a:extLst>
              <a:ext uri="{FF2B5EF4-FFF2-40B4-BE49-F238E27FC236}">
                <a16:creationId xmlns:a16="http://schemas.microsoft.com/office/drawing/2014/main" id="{E0771A87-5D4F-A724-C2B0-860116A62C0E}"/>
              </a:ext>
            </a:extLst>
          </p:cNvPr>
          <p:cNvSpPr txBox="1"/>
          <p:nvPr/>
        </p:nvSpPr>
        <p:spPr>
          <a:xfrm>
            <a:off x="6236208" y="3230647"/>
            <a:ext cx="1655064" cy="457200"/>
          </a:xfrm>
          <a:prstGeom prst="rect">
            <a:avLst/>
          </a:prstGeom>
          <a:noFill/>
        </p:spPr>
        <p:txBody>
          <a:bodyPr wrap="square" lIns="36000" tIns="18000" rIns="36000" bIns="18000" anchor="t">
            <a:spAutoFit/>
          </a:bodyPr>
          <a:lstStyle/>
          <a:p>
            <a:pPr algn="l"/>
            <a:r>
              <a:rPr sz="850" b="0" i="0">
                <a:solidFill>
                  <a:srgbClr val="172B4D"/>
                </a:solidFill>
              </a:rPr>
              <a:t>Portfolio Manager</a:t>
            </a:r>
          </a:p>
        </p:txBody>
      </p:sp>
      <p:sp>
        <p:nvSpPr>
          <p:cNvPr id="179" name="TextBox 50">
            <a:extLst>
              <a:ext uri="{FF2B5EF4-FFF2-40B4-BE49-F238E27FC236}">
                <a16:creationId xmlns:a16="http://schemas.microsoft.com/office/drawing/2014/main" id="{DDA69C02-4946-4FDE-A71B-EF6133CB8126}"/>
              </a:ext>
            </a:extLst>
          </p:cNvPr>
          <p:cNvSpPr txBox="1"/>
          <p:nvPr/>
        </p:nvSpPr>
        <p:spPr>
          <a:xfrm>
            <a:off x="6236208" y="3861583"/>
            <a:ext cx="1655064" cy="164592"/>
          </a:xfrm>
          <a:prstGeom prst="rect">
            <a:avLst/>
          </a:prstGeom>
          <a:noFill/>
        </p:spPr>
        <p:txBody>
          <a:bodyPr wrap="square" lIns="36000" tIns="18000" rIns="36000" bIns="18000" anchor="t">
            <a:spAutoFit/>
          </a:bodyPr>
          <a:lstStyle/>
          <a:p>
            <a:pPr algn="l"/>
            <a:r>
              <a:rPr sz="700" b="1" i="0">
                <a:solidFill>
                  <a:srgbClr val="6B778C"/>
                </a:solidFill>
              </a:rPr>
              <a:t>SEQUENCING</a:t>
            </a:r>
          </a:p>
        </p:txBody>
      </p:sp>
      <p:sp>
        <p:nvSpPr>
          <p:cNvPr id="180" name="TextBox 51">
            <a:extLst>
              <a:ext uri="{FF2B5EF4-FFF2-40B4-BE49-F238E27FC236}">
                <a16:creationId xmlns:a16="http://schemas.microsoft.com/office/drawing/2014/main" id="{1ED460CE-04AC-198C-8D82-CFF4F2CB54CF}"/>
              </a:ext>
            </a:extLst>
          </p:cNvPr>
          <p:cNvSpPr txBox="1"/>
          <p:nvPr/>
        </p:nvSpPr>
        <p:spPr>
          <a:xfrm>
            <a:off x="6236208" y="4007887"/>
            <a:ext cx="1655064" cy="457200"/>
          </a:xfrm>
          <a:prstGeom prst="rect">
            <a:avLst/>
          </a:prstGeom>
          <a:noFill/>
        </p:spPr>
        <p:txBody>
          <a:bodyPr wrap="square" lIns="36000" tIns="18000" rIns="36000" bIns="18000" anchor="t">
            <a:spAutoFit/>
          </a:bodyPr>
          <a:lstStyle/>
          <a:p>
            <a:pPr algn="l"/>
            <a:r>
              <a:rPr sz="850" b="0" i="0">
                <a:solidFill>
                  <a:srgbClr val="172B4D"/>
                </a:solidFill>
              </a:rPr>
              <a:t>by Class of Service + Pain Score</a:t>
            </a:r>
          </a:p>
        </p:txBody>
      </p:sp>
      <p:sp>
        <p:nvSpPr>
          <p:cNvPr id="181" name="TextBox 52">
            <a:extLst>
              <a:ext uri="{FF2B5EF4-FFF2-40B4-BE49-F238E27FC236}">
                <a16:creationId xmlns:a16="http://schemas.microsoft.com/office/drawing/2014/main" id="{E60600B3-D279-41B9-25D0-39EB9F308906}"/>
              </a:ext>
            </a:extLst>
          </p:cNvPr>
          <p:cNvSpPr txBox="1"/>
          <p:nvPr/>
        </p:nvSpPr>
        <p:spPr>
          <a:xfrm>
            <a:off x="6236208" y="4638823"/>
            <a:ext cx="1655064" cy="164592"/>
          </a:xfrm>
          <a:prstGeom prst="rect">
            <a:avLst/>
          </a:prstGeom>
          <a:noFill/>
        </p:spPr>
        <p:txBody>
          <a:bodyPr wrap="square" lIns="36000" tIns="18000" rIns="36000" bIns="18000" anchor="t">
            <a:spAutoFit/>
          </a:bodyPr>
          <a:lstStyle/>
          <a:p>
            <a:pPr algn="l"/>
            <a:r>
              <a:rPr sz="700" b="1" i="0">
                <a:solidFill>
                  <a:srgbClr val="6B778C"/>
                </a:solidFill>
              </a:rPr>
              <a:t>STATUS</a:t>
            </a:r>
          </a:p>
        </p:txBody>
      </p:sp>
      <p:sp>
        <p:nvSpPr>
          <p:cNvPr id="182" name="TextBox 53">
            <a:extLst>
              <a:ext uri="{FF2B5EF4-FFF2-40B4-BE49-F238E27FC236}">
                <a16:creationId xmlns:a16="http://schemas.microsoft.com/office/drawing/2014/main" id="{A99CEF56-3150-92C4-B496-DF425B9AD803}"/>
              </a:ext>
            </a:extLst>
          </p:cNvPr>
          <p:cNvSpPr txBox="1"/>
          <p:nvPr/>
        </p:nvSpPr>
        <p:spPr>
          <a:xfrm>
            <a:off x="6236208" y="4785127"/>
            <a:ext cx="1655064" cy="167157"/>
          </a:xfrm>
          <a:prstGeom prst="rect">
            <a:avLst/>
          </a:prstGeom>
          <a:noFill/>
        </p:spPr>
        <p:txBody>
          <a:bodyPr wrap="square" lIns="36000" tIns="18000" rIns="36000" bIns="18000" anchor="t">
            <a:spAutoFit/>
          </a:bodyPr>
          <a:lstStyle/>
          <a:p>
            <a:pPr algn="l"/>
            <a:r>
              <a:rPr sz="850" b="0" i="0">
                <a:solidFill>
                  <a:srgbClr val="172B4D"/>
                </a:solidFill>
              </a:rPr>
              <a:t>Ready</a:t>
            </a:r>
            <a:r>
              <a:rPr lang="pt-BR" sz="850" b="0" i="0">
                <a:solidFill>
                  <a:srgbClr val="172B4D"/>
                </a:solidFill>
              </a:rPr>
              <a:t> </a:t>
            </a:r>
            <a:r>
              <a:rPr sz="850" b="0" i="0">
                <a:solidFill>
                  <a:srgbClr val="172B4D"/>
                </a:solidFill>
              </a:rPr>
              <a:t>For</a:t>
            </a:r>
            <a:r>
              <a:rPr lang="pt-BR" sz="850">
                <a:solidFill>
                  <a:srgbClr val="172B4D"/>
                </a:solidFill>
              </a:rPr>
              <a:t> </a:t>
            </a:r>
            <a:r>
              <a:rPr sz="850" b="0" i="0">
                <a:solidFill>
                  <a:srgbClr val="172B4D"/>
                </a:solidFill>
              </a:rPr>
              <a:t>Exec</a:t>
            </a:r>
            <a:r>
              <a:rPr lang="pt-BR" sz="850" b="0" i="0">
                <a:solidFill>
                  <a:srgbClr val="172B4D"/>
                </a:solidFill>
              </a:rPr>
              <a:t>ution</a:t>
            </a:r>
            <a:endParaRPr sz="850" b="0" i="0">
              <a:solidFill>
                <a:srgbClr val="172B4D"/>
              </a:solidFill>
            </a:endParaRPr>
          </a:p>
        </p:txBody>
      </p:sp>
      <p:sp>
        <p:nvSpPr>
          <p:cNvPr id="183" name="Rectangle 54">
            <a:extLst>
              <a:ext uri="{FF2B5EF4-FFF2-40B4-BE49-F238E27FC236}">
                <a16:creationId xmlns:a16="http://schemas.microsoft.com/office/drawing/2014/main" id="{1023DB6A-61EC-B17C-454F-FC0F78C2971A}"/>
              </a:ext>
            </a:extLst>
          </p:cNvPr>
          <p:cNvSpPr/>
          <p:nvPr/>
        </p:nvSpPr>
        <p:spPr>
          <a:xfrm>
            <a:off x="804672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55">
            <a:extLst>
              <a:ext uri="{FF2B5EF4-FFF2-40B4-BE49-F238E27FC236}">
                <a16:creationId xmlns:a16="http://schemas.microsoft.com/office/drawing/2014/main" id="{7EE5BDBA-BB99-DC72-98FC-1993396F5DE0}"/>
              </a:ext>
            </a:extLst>
          </p:cNvPr>
          <p:cNvSpPr txBox="1"/>
          <p:nvPr/>
        </p:nvSpPr>
        <p:spPr>
          <a:xfrm>
            <a:off x="804672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Implementing</a:t>
            </a:r>
          </a:p>
        </p:txBody>
      </p:sp>
      <p:sp>
        <p:nvSpPr>
          <p:cNvPr id="185" name="Rectangle 56">
            <a:extLst>
              <a:ext uri="{FF2B5EF4-FFF2-40B4-BE49-F238E27FC236}">
                <a16:creationId xmlns:a16="http://schemas.microsoft.com/office/drawing/2014/main" id="{F2D3CCD6-4837-642B-ECDC-F51521D68871}"/>
              </a:ext>
            </a:extLst>
          </p:cNvPr>
          <p:cNvSpPr/>
          <p:nvPr/>
        </p:nvSpPr>
        <p:spPr>
          <a:xfrm>
            <a:off x="804672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57">
            <a:extLst>
              <a:ext uri="{FF2B5EF4-FFF2-40B4-BE49-F238E27FC236}">
                <a16:creationId xmlns:a16="http://schemas.microsoft.com/office/drawing/2014/main" id="{D9EC2920-12C7-1A8A-C51E-067C51995B7D}"/>
              </a:ext>
            </a:extLst>
          </p:cNvPr>
          <p:cNvSpPr txBox="1"/>
          <p:nvPr/>
        </p:nvSpPr>
        <p:spPr>
          <a:xfrm>
            <a:off x="815644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87" name="TextBox 58">
            <a:extLst>
              <a:ext uri="{FF2B5EF4-FFF2-40B4-BE49-F238E27FC236}">
                <a16:creationId xmlns:a16="http://schemas.microsoft.com/office/drawing/2014/main" id="{4D02E771-4DDF-2BD8-F89D-DB05634504F5}"/>
              </a:ext>
            </a:extLst>
          </p:cNvPr>
          <p:cNvSpPr txBox="1"/>
          <p:nvPr/>
        </p:nvSpPr>
        <p:spPr>
          <a:xfrm>
            <a:off x="8156448" y="2453407"/>
            <a:ext cx="1655064" cy="457200"/>
          </a:xfrm>
          <a:prstGeom prst="rect">
            <a:avLst/>
          </a:prstGeom>
          <a:noFill/>
        </p:spPr>
        <p:txBody>
          <a:bodyPr wrap="square" lIns="36000" tIns="18000" rIns="36000" bIns="18000" anchor="t">
            <a:spAutoFit/>
          </a:bodyPr>
          <a:lstStyle/>
          <a:p>
            <a:pPr algn="l"/>
            <a:r>
              <a:rPr sz="850" b="0" i="0">
                <a:solidFill>
                  <a:srgbClr val="172B4D"/>
                </a:solidFill>
              </a:rPr>
              <a:t>Assigned to Value Stream Team</a:t>
            </a:r>
          </a:p>
        </p:txBody>
      </p:sp>
      <p:sp>
        <p:nvSpPr>
          <p:cNvPr id="188" name="TextBox 59">
            <a:extLst>
              <a:ext uri="{FF2B5EF4-FFF2-40B4-BE49-F238E27FC236}">
                <a16:creationId xmlns:a16="http://schemas.microsoft.com/office/drawing/2014/main" id="{8EA7F2C0-4DC1-C9F7-59AD-E01BA5253CB6}"/>
              </a:ext>
            </a:extLst>
          </p:cNvPr>
          <p:cNvSpPr txBox="1"/>
          <p:nvPr/>
        </p:nvSpPr>
        <p:spPr>
          <a:xfrm>
            <a:off x="815644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89" name="TextBox 60">
            <a:extLst>
              <a:ext uri="{FF2B5EF4-FFF2-40B4-BE49-F238E27FC236}">
                <a16:creationId xmlns:a16="http://schemas.microsoft.com/office/drawing/2014/main" id="{A33DAE71-7AB0-022B-D195-1D1D85A71DC2}"/>
              </a:ext>
            </a:extLst>
          </p:cNvPr>
          <p:cNvSpPr txBox="1"/>
          <p:nvPr/>
        </p:nvSpPr>
        <p:spPr>
          <a:xfrm>
            <a:off x="8156448" y="3230647"/>
            <a:ext cx="1655064" cy="457200"/>
          </a:xfrm>
          <a:prstGeom prst="rect">
            <a:avLst/>
          </a:prstGeom>
          <a:noFill/>
        </p:spPr>
        <p:txBody>
          <a:bodyPr wrap="square" lIns="36000" tIns="18000" rIns="36000" bIns="18000" anchor="t">
            <a:spAutoFit/>
          </a:bodyPr>
          <a:lstStyle/>
          <a:p>
            <a:pPr algn="l"/>
            <a:r>
              <a:rPr sz="850" b="0" i="0">
                <a:solidFill>
                  <a:srgbClr val="172B4D"/>
                </a:solidFill>
              </a:rPr>
              <a:t>Team PM</a:t>
            </a:r>
          </a:p>
        </p:txBody>
      </p:sp>
      <p:sp>
        <p:nvSpPr>
          <p:cNvPr id="190" name="TextBox 61">
            <a:extLst>
              <a:ext uri="{FF2B5EF4-FFF2-40B4-BE49-F238E27FC236}">
                <a16:creationId xmlns:a16="http://schemas.microsoft.com/office/drawing/2014/main" id="{033AE0C5-3B34-6EDB-ADFC-4A3EEBB24900}"/>
              </a:ext>
            </a:extLst>
          </p:cNvPr>
          <p:cNvSpPr txBox="1"/>
          <p:nvPr/>
        </p:nvSpPr>
        <p:spPr>
          <a:xfrm>
            <a:off x="8156448" y="3861583"/>
            <a:ext cx="1655064" cy="164592"/>
          </a:xfrm>
          <a:prstGeom prst="rect">
            <a:avLst/>
          </a:prstGeom>
          <a:noFill/>
        </p:spPr>
        <p:txBody>
          <a:bodyPr wrap="square" lIns="36000" tIns="18000" rIns="36000" bIns="18000" anchor="t">
            <a:spAutoFit/>
          </a:bodyPr>
          <a:lstStyle/>
          <a:p>
            <a:pPr algn="l"/>
            <a:r>
              <a:rPr sz="700" b="1" i="0">
                <a:solidFill>
                  <a:srgbClr val="6B778C"/>
                </a:solidFill>
              </a:rPr>
              <a:t>TRACKED AT</a:t>
            </a:r>
          </a:p>
        </p:txBody>
      </p:sp>
      <p:sp>
        <p:nvSpPr>
          <p:cNvPr id="191" name="TextBox 62">
            <a:extLst>
              <a:ext uri="{FF2B5EF4-FFF2-40B4-BE49-F238E27FC236}">
                <a16:creationId xmlns:a16="http://schemas.microsoft.com/office/drawing/2014/main" id="{FFF12E4D-626B-EADF-EF55-7488F80CB549}"/>
              </a:ext>
            </a:extLst>
          </p:cNvPr>
          <p:cNvSpPr txBox="1"/>
          <p:nvPr/>
        </p:nvSpPr>
        <p:spPr>
          <a:xfrm>
            <a:off x="8156448" y="4007887"/>
            <a:ext cx="1655064" cy="457200"/>
          </a:xfrm>
          <a:prstGeom prst="rect">
            <a:avLst/>
          </a:prstGeom>
          <a:noFill/>
        </p:spPr>
        <p:txBody>
          <a:bodyPr wrap="square" lIns="36000" tIns="18000" rIns="36000" bIns="18000" anchor="t">
            <a:spAutoFit/>
          </a:bodyPr>
          <a:lstStyle/>
          <a:p>
            <a:pPr algn="l"/>
            <a:r>
              <a:rPr sz="850" b="0" i="0">
                <a:solidFill>
                  <a:srgbClr val="172B4D"/>
                </a:solidFill>
              </a:rPr>
              <a:t>Layer 0 VP Dashboard</a:t>
            </a:r>
          </a:p>
        </p:txBody>
      </p:sp>
      <p:sp>
        <p:nvSpPr>
          <p:cNvPr id="192" name="TextBox 63">
            <a:extLst>
              <a:ext uri="{FF2B5EF4-FFF2-40B4-BE49-F238E27FC236}">
                <a16:creationId xmlns:a16="http://schemas.microsoft.com/office/drawing/2014/main" id="{59B59E9F-D82D-2964-F5AC-D1E7B49B88CD}"/>
              </a:ext>
            </a:extLst>
          </p:cNvPr>
          <p:cNvSpPr txBox="1"/>
          <p:nvPr/>
        </p:nvSpPr>
        <p:spPr>
          <a:xfrm>
            <a:off x="8156448" y="4638823"/>
            <a:ext cx="1655064" cy="164592"/>
          </a:xfrm>
          <a:prstGeom prst="rect">
            <a:avLst/>
          </a:prstGeom>
          <a:noFill/>
        </p:spPr>
        <p:txBody>
          <a:bodyPr wrap="square" lIns="36000" tIns="18000" rIns="36000" bIns="18000" anchor="t">
            <a:spAutoFit/>
          </a:bodyPr>
          <a:lstStyle/>
          <a:p>
            <a:pPr algn="l"/>
            <a:r>
              <a:rPr sz="700" b="1" i="0">
                <a:solidFill>
                  <a:srgbClr val="6B778C"/>
                </a:solidFill>
              </a:rPr>
              <a:t>FLOW</a:t>
            </a:r>
          </a:p>
        </p:txBody>
      </p:sp>
      <p:sp>
        <p:nvSpPr>
          <p:cNvPr id="193" name="TextBox 64">
            <a:extLst>
              <a:ext uri="{FF2B5EF4-FFF2-40B4-BE49-F238E27FC236}">
                <a16:creationId xmlns:a16="http://schemas.microsoft.com/office/drawing/2014/main" id="{4A1036DC-11DA-2C37-C279-0B6389A930CF}"/>
              </a:ext>
            </a:extLst>
          </p:cNvPr>
          <p:cNvSpPr txBox="1"/>
          <p:nvPr/>
        </p:nvSpPr>
        <p:spPr>
          <a:xfrm>
            <a:off x="8156448" y="4785127"/>
            <a:ext cx="1655064" cy="457200"/>
          </a:xfrm>
          <a:prstGeom prst="rect">
            <a:avLst/>
          </a:prstGeom>
          <a:noFill/>
        </p:spPr>
        <p:txBody>
          <a:bodyPr wrap="square" lIns="36000" tIns="18000" rIns="36000" bIns="18000" anchor="t">
            <a:spAutoFit/>
          </a:bodyPr>
          <a:lstStyle/>
          <a:p>
            <a:pPr algn="l"/>
            <a:r>
              <a:rPr sz="850" b="0" i="0">
                <a:solidFill>
                  <a:srgbClr val="172B4D"/>
                </a:solidFill>
              </a:rPr>
              <a:t>Pulled into Squad Kanban (Phases 0–4)</a:t>
            </a:r>
          </a:p>
        </p:txBody>
      </p:sp>
      <p:sp>
        <p:nvSpPr>
          <p:cNvPr id="194" name="Rectangle 65">
            <a:extLst>
              <a:ext uri="{FF2B5EF4-FFF2-40B4-BE49-F238E27FC236}">
                <a16:creationId xmlns:a16="http://schemas.microsoft.com/office/drawing/2014/main" id="{0CED66FD-E773-39E5-9ECC-FD37908DECE1}"/>
              </a:ext>
            </a:extLst>
          </p:cNvPr>
          <p:cNvSpPr/>
          <p:nvPr/>
        </p:nvSpPr>
        <p:spPr>
          <a:xfrm>
            <a:off x="996696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66">
            <a:extLst>
              <a:ext uri="{FF2B5EF4-FFF2-40B4-BE49-F238E27FC236}">
                <a16:creationId xmlns:a16="http://schemas.microsoft.com/office/drawing/2014/main" id="{5CA9AFB9-E537-383F-9917-FDCCB7B1D703}"/>
              </a:ext>
            </a:extLst>
          </p:cNvPr>
          <p:cNvSpPr txBox="1"/>
          <p:nvPr/>
        </p:nvSpPr>
        <p:spPr>
          <a:xfrm>
            <a:off x="996696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Done</a:t>
            </a:r>
          </a:p>
        </p:txBody>
      </p:sp>
      <p:sp>
        <p:nvSpPr>
          <p:cNvPr id="196" name="Rectangle 67">
            <a:extLst>
              <a:ext uri="{FF2B5EF4-FFF2-40B4-BE49-F238E27FC236}">
                <a16:creationId xmlns:a16="http://schemas.microsoft.com/office/drawing/2014/main" id="{54AEF987-0336-9706-E3CD-A4B3F67CB1B2}"/>
              </a:ext>
            </a:extLst>
          </p:cNvPr>
          <p:cNvSpPr/>
          <p:nvPr/>
        </p:nvSpPr>
        <p:spPr>
          <a:xfrm>
            <a:off x="996696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68">
            <a:extLst>
              <a:ext uri="{FF2B5EF4-FFF2-40B4-BE49-F238E27FC236}">
                <a16:creationId xmlns:a16="http://schemas.microsoft.com/office/drawing/2014/main" id="{B8F56741-2A47-2CAB-AF7A-687034BD3138}"/>
              </a:ext>
            </a:extLst>
          </p:cNvPr>
          <p:cNvSpPr txBox="1"/>
          <p:nvPr/>
        </p:nvSpPr>
        <p:spPr>
          <a:xfrm>
            <a:off x="1007668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98" name="TextBox 69">
            <a:extLst>
              <a:ext uri="{FF2B5EF4-FFF2-40B4-BE49-F238E27FC236}">
                <a16:creationId xmlns:a16="http://schemas.microsoft.com/office/drawing/2014/main" id="{00D8593C-B57B-A655-5AEB-79EEB1F7FD75}"/>
              </a:ext>
            </a:extLst>
          </p:cNvPr>
          <p:cNvSpPr txBox="1"/>
          <p:nvPr/>
        </p:nvSpPr>
        <p:spPr>
          <a:xfrm>
            <a:off x="10076688" y="2453407"/>
            <a:ext cx="1655064" cy="457200"/>
          </a:xfrm>
          <a:prstGeom prst="rect">
            <a:avLst/>
          </a:prstGeom>
          <a:noFill/>
        </p:spPr>
        <p:txBody>
          <a:bodyPr wrap="square" lIns="36000" tIns="18000" rIns="36000" bIns="18000" anchor="t">
            <a:spAutoFit/>
          </a:bodyPr>
          <a:lstStyle/>
          <a:p>
            <a:pPr algn="l"/>
            <a:r>
              <a:rPr sz="850" b="0" i="0">
                <a:solidFill>
                  <a:srgbClr val="172B4D"/>
                </a:solidFill>
              </a:rPr>
              <a:t>Value realized · post-implementation review</a:t>
            </a:r>
          </a:p>
        </p:txBody>
      </p:sp>
      <p:sp>
        <p:nvSpPr>
          <p:cNvPr id="199" name="TextBox 70">
            <a:extLst>
              <a:ext uri="{FF2B5EF4-FFF2-40B4-BE49-F238E27FC236}">
                <a16:creationId xmlns:a16="http://schemas.microsoft.com/office/drawing/2014/main" id="{ED87EB2F-0D6A-9AF8-B773-F47DB3BA8DE0}"/>
              </a:ext>
            </a:extLst>
          </p:cNvPr>
          <p:cNvSpPr txBox="1"/>
          <p:nvPr/>
        </p:nvSpPr>
        <p:spPr>
          <a:xfrm>
            <a:off x="1007668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200" name="TextBox 71">
            <a:extLst>
              <a:ext uri="{FF2B5EF4-FFF2-40B4-BE49-F238E27FC236}">
                <a16:creationId xmlns:a16="http://schemas.microsoft.com/office/drawing/2014/main" id="{11B8C7B8-1CEA-B3F7-9778-B2A25D48CF43}"/>
              </a:ext>
            </a:extLst>
          </p:cNvPr>
          <p:cNvSpPr txBox="1"/>
          <p:nvPr/>
        </p:nvSpPr>
        <p:spPr>
          <a:xfrm>
            <a:off x="10076688" y="3230647"/>
            <a:ext cx="1655064" cy="457200"/>
          </a:xfrm>
          <a:prstGeom prst="rect">
            <a:avLst/>
          </a:prstGeom>
          <a:noFill/>
        </p:spPr>
        <p:txBody>
          <a:bodyPr wrap="square" lIns="36000" tIns="18000" rIns="36000" bIns="18000" anchor="t">
            <a:spAutoFit/>
          </a:bodyPr>
          <a:lstStyle/>
          <a:p>
            <a:pPr algn="l"/>
            <a:r>
              <a:rPr sz="850" b="0" i="0">
                <a:solidFill>
                  <a:srgbClr val="172B4D"/>
                </a:solidFill>
              </a:rPr>
              <a:t>Sponsor + PM</a:t>
            </a:r>
          </a:p>
        </p:txBody>
      </p:sp>
      <p:sp>
        <p:nvSpPr>
          <p:cNvPr id="201" name="TextBox 72">
            <a:extLst>
              <a:ext uri="{FF2B5EF4-FFF2-40B4-BE49-F238E27FC236}">
                <a16:creationId xmlns:a16="http://schemas.microsoft.com/office/drawing/2014/main" id="{F5680FD1-9A66-8452-076A-4BA7D9B45C83}"/>
              </a:ext>
            </a:extLst>
          </p:cNvPr>
          <p:cNvSpPr txBox="1"/>
          <p:nvPr/>
        </p:nvSpPr>
        <p:spPr>
          <a:xfrm>
            <a:off x="10076688" y="386158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202" name="TextBox 73">
            <a:extLst>
              <a:ext uri="{FF2B5EF4-FFF2-40B4-BE49-F238E27FC236}">
                <a16:creationId xmlns:a16="http://schemas.microsoft.com/office/drawing/2014/main" id="{4361EFDA-001B-D9AB-5E3B-607F8466E9B9}"/>
              </a:ext>
            </a:extLst>
          </p:cNvPr>
          <p:cNvSpPr txBox="1"/>
          <p:nvPr/>
        </p:nvSpPr>
        <p:spPr>
          <a:xfrm>
            <a:off x="10076688" y="4007887"/>
            <a:ext cx="1655064" cy="457200"/>
          </a:xfrm>
          <a:prstGeom prst="rect">
            <a:avLst/>
          </a:prstGeom>
          <a:noFill/>
        </p:spPr>
        <p:txBody>
          <a:bodyPr wrap="square" lIns="36000" tIns="18000" rIns="36000" bIns="18000" anchor="t">
            <a:spAutoFit/>
          </a:bodyPr>
          <a:lstStyle/>
          <a:p>
            <a:pPr algn="l"/>
            <a:r>
              <a:rPr sz="850" b="0" i="0">
                <a:solidFill>
                  <a:srgbClr val="172B4D"/>
                </a:solidFill>
              </a:rPr>
              <a:t>Outcome metrics captured</a:t>
            </a:r>
          </a:p>
        </p:txBody>
      </p:sp>
      <p:sp>
        <p:nvSpPr>
          <p:cNvPr id="203" name="TextBox 74">
            <a:extLst>
              <a:ext uri="{FF2B5EF4-FFF2-40B4-BE49-F238E27FC236}">
                <a16:creationId xmlns:a16="http://schemas.microsoft.com/office/drawing/2014/main" id="{44382FEC-2E66-142E-F5D0-30CBA0D900B6}"/>
              </a:ext>
            </a:extLst>
          </p:cNvPr>
          <p:cNvSpPr txBox="1"/>
          <p:nvPr/>
        </p:nvSpPr>
        <p:spPr>
          <a:xfrm>
            <a:off x="10076688" y="4638823"/>
            <a:ext cx="1655064" cy="164592"/>
          </a:xfrm>
          <a:prstGeom prst="rect">
            <a:avLst/>
          </a:prstGeom>
          <a:noFill/>
        </p:spPr>
        <p:txBody>
          <a:bodyPr wrap="square" lIns="36000" tIns="18000" rIns="36000" bIns="18000" anchor="t">
            <a:spAutoFit/>
          </a:bodyPr>
          <a:lstStyle/>
          <a:p>
            <a:pPr algn="l"/>
            <a:r>
              <a:rPr sz="700" b="1" i="0">
                <a:solidFill>
                  <a:srgbClr val="6B778C"/>
                </a:solidFill>
              </a:rPr>
              <a:t>FEEDBACK</a:t>
            </a:r>
          </a:p>
        </p:txBody>
      </p:sp>
      <p:sp>
        <p:nvSpPr>
          <p:cNvPr id="204" name="TextBox 75">
            <a:extLst>
              <a:ext uri="{FF2B5EF4-FFF2-40B4-BE49-F238E27FC236}">
                <a16:creationId xmlns:a16="http://schemas.microsoft.com/office/drawing/2014/main" id="{554D625A-C3A3-3711-0EF6-EFE6AA6C7B51}"/>
              </a:ext>
            </a:extLst>
          </p:cNvPr>
          <p:cNvSpPr txBox="1"/>
          <p:nvPr/>
        </p:nvSpPr>
        <p:spPr>
          <a:xfrm>
            <a:off x="10076688" y="4785127"/>
            <a:ext cx="1655064" cy="167157"/>
          </a:xfrm>
          <a:prstGeom prst="rect">
            <a:avLst/>
          </a:prstGeom>
          <a:noFill/>
        </p:spPr>
        <p:txBody>
          <a:bodyPr wrap="square" lIns="36000" tIns="18000" rIns="36000" bIns="18000" anchor="t">
            <a:spAutoFit/>
          </a:bodyPr>
          <a:lstStyle/>
          <a:p>
            <a:pPr algn="l"/>
            <a:r>
              <a:rPr sz="850" b="0" i="0">
                <a:solidFill>
                  <a:srgbClr val="172B4D"/>
                </a:solidFill>
              </a:rPr>
              <a:t>Lessons learned</a:t>
            </a:r>
          </a:p>
        </p:txBody>
      </p:sp>
      <p:sp>
        <p:nvSpPr>
          <p:cNvPr id="205" name="Rectangle 76">
            <a:extLst>
              <a:ext uri="{FF2B5EF4-FFF2-40B4-BE49-F238E27FC236}">
                <a16:creationId xmlns:a16="http://schemas.microsoft.com/office/drawing/2014/main" id="{1EB3E3B5-F445-533B-2E00-5A7BDE174D13}"/>
              </a:ext>
            </a:extLst>
          </p:cNvPr>
          <p:cNvSpPr/>
          <p:nvPr/>
        </p:nvSpPr>
        <p:spPr>
          <a:xfrm>
            <a:off x="2244852" y="1804183"/>
            <a:ext cx="36576" cy="3840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ectangle 77">
            <a:extLst>
              <a:ext uri="{FF2B5EF4-FFF2-40B4-BE49-F238E27FC236}">
                <a16:creationId xmlns:a16="http://schemas.microsoft.com/office/drawing/2014/main" id="{0419962B-0303-7058-773B-736317CF375A}"/>
              </a:ext>
            </a:extLst>
          </p:cNvPr>
          <p:cNvSpPr/>
          <p:nvPr/>
        </p:nvSpPr>
        <p:spPr>
          <a:xfrm>
            <a:off x="6094476" y="1804183"/>
            <a:ext cx="36576" cy="3840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ounded Rectangle 78">
            <a:extLst>
              <a:ext uri="{FF2B5EF4-FFF2-40B4-BE49-F238E27FC236}">
                <a16:creationId xmlns:a16="http://schemas.microsoft.com/office/drawing/2014/main" id="{930F3365-2EDE-FEDB-B9C2-0995770CC179}"/>
              </a:ext>
            </a:extLst>
          </p:cNvPr>
          <p:cNvSpPr/>
          <p:nvPr/>
        </p:nvSpPr>
        <p:spPr>
          <a:xfrm>
            <a:off x="365760" y="5754391"/>
            <a:ext cx="11475720" cy="310896"/>
          </a:xfrm>
          <a:prstGeom prst="roundRect">
            <a:avLst>
              <a:gd name="adj" fmla="val 4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79">
            <a:extLst>
              <a:ext uri="{FF2B5EF4-FFF2-40B4-BE49-F238E27FC236}">
                <a16:creationId xmlns:a16="http://schemas.microsoft.com/office/drawing/2014/main" id="{00D89F72-0548-8FD0-AD13-C261F2C4028A}"/>
              </a:ext>
            </a:extLst>
          </p:cNvPr>
          <p:cNvSpPr txBox="1"/>
          <p:nvPr/>
        </p:nvSpPr>
        <p:spPr>
          <a:xfrm>
            <a:off x="365760" y="5822413"/>
            <a:ext cx="11277295" cy="174851"/>
          </a:xfrm>
          <a:prstGeom prst="rect">
            <a:avLst/>
          </a:prstGeom>
          <a:noFill/>
        </p:spPr>
        <p:txBody>
          <a:bodyPr wrap="square" lIns="36000" tIns="18000" rIns="36000" bIns="18000" anchor="ctr">
            <a:spAutoFit/>
          </a:bodyPr>
          <a:lstStyle/>
          <a:p>
            <a:pPr algn="ctr"/>
            <a:r>
              <a:rPr lang="es-MX" sz="900" b="1" i="1" err="1">
                <a:solidFill>
                  <a:srgbClr val="F08629"/>
                </a:solidFill>
              </a:rPr>
              <a:t>Only</a:t>
            </a:r>
            <a:r>
              <a:rPr lang="es-MX" sz="900" b="1" i="1">
                <a:solidFill>
                  <a:srgbClr val="F08629"/>
                </a:solidFill>
              </a:rPr>
              <a:t> </a:t>
            </a:r>
            <a:r>
              <a:rPr sz="900" b="1" i="1">
                <a:solidFill>
                  <a:srgbClr val="F08629"/>
                </a:solidFill>
              </a:rPr>
              <a:t>S demands BYPASS this board — they enter the Squad's Team Kanban directly. </a:t>
            </a:r>
            <a:r>
              <a:rPr lang="es-MX" sz="900" b="1" i="1">
                <a:solidFill>
                  <a:srgbClr val="F08629"/>
                </a:solidFill>
              </a:rPr>
              <a:t>M / </a:t>
            </a:r>
            <a:r>
              <a:rPr sz="900" b="1" i="1">
                <a:solidFill>
                  <a:srgbClr val="F08629"/>
                </a:solidFill>
              </a:rPr>
              <a:t>L / XL Initiatives flow through the Portfolio Board (Gate 2 approval required).</a:t>
            </a:r>
          </a:p>
        </p:txBody>
      </p:sp>
      <p:sp>
        <p:nvSpPr>
          <p:cNvPr id="2" name="Text Placeholder 19">
            <a:extLst>
              <a:ext uri="{FF2B5EF4-FFF2-40B4-BE49-F238E27FC236}">
                <a16:creationId xmlns:a16="http://schemas.microsoft.com/office/drawing/2014/main" id="{4FC68B96-DBC8-087D-F6BC-D5E11D9A876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Governance gates</a:t>
            </a:r>
          </a:p>
        </p:txBody>
      </p:sp>
    </p:spTree>
    <p:extLst>
      <p:ext uri="{BB962C8B-B14F-4D97-AF65-F5344CB8AC3E}">
        <p14:creationId xmlns:p14="http://schemas.microsoft.com/office/powerpoint/2010/main" val="4098848210"/>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69F6-20F2-2993-61D5-E5F758CB6E86}"/>
            </a:ext>
          </a:extLst>
        </p:cNvPr>
        <p:cNvGrpSpPr/>
        <p:nvPr/>
      </p:nvGrpSpPr>
      <p:grpSpPr>
        <a:xfrm>
          <a:off x="0" y="0"/>
          <a:ext cx="0" cy="0"/>
          <a:chOff x="0" y="0"/>
          <a:chExt cx="0" cy="0"/>
        </a:xfrm>
      </p:grpSpPr>
      <p:sp>
        <p:nvSpPr>
          <p:cNvPr id="128" name="Rounded Rectangle 6">
            <a:extLst>
              <a:ext uri="{FF2B5EF4-FFF2-40B4-BE49-F238E27FC236}">
                <a16:creationId xmlns:a16="http://schemas.microsoft.com/office/drawing/2014/main" id="{7E95F001-8DD3-D9E5-AC77-7750E37525BC}"/>
              </a:ext>
            </a:extLst>
          </p:cNvPr>
          <p:cNvSpPr/>
          <p:nvPr/>
        </p:nvSpPr>
        <p:spPr>
          <a:xfrm>
            <a:off x="365760" y="1097280"/>
            <a:ext cx="5650992" cy="5349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ounded Rectangle 7">
            <a:extLst>
              <a:ext uri="{FF2B5EF4-FFF2-40B4-BE49-F238E27FC236}">
                <a16:creationId xmlns:a16="http://schemas.microsoft.com/office/drawing/2014/main" id="{6A9E5CA3-37DA-923F-E4B6-38E943708842}"/>
              </a:ext>
            </a:extLst>
          </p:cNvPr>
          <p:cNvSpPr/>
          <p:nvPr/>
        </p:nvSpPr>
        <p:spPr>
          <a:xfrm>
            <a:off x="365760" y="1097280"/>
            <a:ext cx="5650992" cy="77724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8">
            <a:extLst>
              <a:ext uri="{FF2B5EF4-FFF2-40B4-BE49-F238E27FC236}">
                <a16:creationId xmlns:a16="http://schemas.microsoft.com/office/drawing/2014/main" id="{8D99484D-A1CC-ACA5-10D3-128C5E6E57E8}"/>
              </a:ext>
            </a:extLst>
          </p:cNvPr>
          <p:cNvSpPr txBox="1"/>
          <p:nvPr/>
        </p:nvSpPr>
        <p:spPr>
          <a:xfrm>
            <a:off x="548640" y="1188720"/>
            <a:ext cx="5285232" cy="292608"/>
          </a:xfrm>
          <a:prstGeom prst="rect">
            <a:avLst/>
          </a:prstGeom>
          <a:noFill/>
        </p:spPr>
        <p:txBody>
          <a:bodyPr wrap="square" lIns="36000" tIns="18000" rIns="36000" bIns="18000" anchor="t">
            <a:spAutoFit/>
          </a:bodyPr>
          <a:lstStyle/>
          <a:p>
            <a:pPr algn="l"/>
            <a:r>
              <a:rPr sz="1600" b="1" i="0">
                <a:solidFill>
                  <a:srgbClr val="FFFFFF"/>
                </a:solidFill>
                <a:latin typeface="Arial"/>
              </a:rPr>
              <a:t>GATE 1  ·  TRIAGE</a:t>
            </a:r>
          </a:p>
        </p:txBody>
      </p:sp>
      <p:sp>
        <p:nvSpPr>
          <p:cNvPr id="131" name="TextBox 9">
            <a:extLst>
              <a:ext uri="{FF2B5EF4-FFF2-40B4-BE49-F238E27FC236}">
                <a16:creationId xmlns:a16="http://schemas.microsoft.com/office/drawing/2014/main" id="{117B68CF-3C0E-CBCB-3FDB-544BB813FC4E}"/>
              </a:ext>
            </a:extLst>
          </p:cNvPr>
          <p:cNvSpPr txBox="1"/>
          <p:nvPr/>
        </p:nvSpPr>
        <p:spPr>
          <a:xfrm>
            <a:off x="548640" y="1481328"/>
            <a:ext cx="5285232" cy="201168"/>
          </a:xfrm>
          <a:prstGeom prst="rect">
            <a:avLst/>
          </a:prstGeom>
          <a:noFill/>
        </p:spPr>
        <p:txBody>
          <a:bodyPr wrap="square" lIns="36000" tIns="18000" rIns="36000" bIns="18000" anchor="t">
            <a:spAutoFit/>
          </a:bodyPr>
          <a:lstStyle/>
          <a:p>
            <a:pPr algn="l"/>
            <a:r>
              <a:rPr sz="1000" b="0" i="1">
                <a:solidFill>
                  <a:srgbClr val="C8E0CB"/>
                </a:solidFill>
                <a:latin typeface="Arial"/>
              </a:rPr>
              <a:t>Quality gate · entry validation · DoR check</a:t>
            </a:r>
          </a:p>
        </p:txBody>
      </p:sp>
      <p:sp>
        <p:nvSpPr>
          <p:cNvPr id="132" name="TextBox 10">
            <a:extLst>
              <a:ext uri="{FF2B5EF4-FFF2-40B4-BE49-F238E27FC236}">
                <a16:creationId xmlns:a16="http://schemas.microsoft.com/office/drawing/2014/main" id="{A646C515-C12D-CD79-D3CF-4ECAA9A9234A}"/>
              </a:ext>
            </a:extLst>
          </p:cNvPr>
          <p:cNvSpPr txBox="1"/>
          <p:nvPr/>
        </p:nvSpPr>
        <p:spPr>
          <a:xfrm>
            <a:off x="548640" y="1664208"/>
            <a:ext cx="5285232" cy="201168"/>
          </a:xfrm>
          <a:prstGeom prst="rect">
            <a:avLst/>
          </a:prstGeom>
          <a:noFill/>
        </p:spPr>
        <p:txBody>
          <a:bodyPr wrap="square" lIns="36000" tIns="18000" rIns="36000" bIns="18000" anchor="t">
            <a:spAutoFit/>
          </a:bodyPr>
          <a:lstStyle/>
          <a:p>
            <a:pPr algn="l"/>
            <a:r>
              <a:rPr sz="1000" b="1" i="0">
                <a:solidFill>
                  <a:srgbClr val="FFFFFF"/>
                </a:solidFill>
                <a:latin typeface="Arial"/>
              </a:rPr>
              <a:t>▸ WEEKLY  ·  30 min</a:t>
            </a:r>
          </a:p>
        </p:txBody>
      </p:sp>
      <p:sp>
        <p:nvSpPr>
          <p:cNvPr id="133" name="Rounded Rectangle 11">
            <a:extLst>
              <a:ext uri="{FF2B5EF4-FFF2-40B4-BE49-F238E27FC236}">
                <a16:creationId xmlns:a16="http://schemas.microsoft.com/office/drawing/2014/main" id="{661954B0-D44B-A576-FFAA-C9416C24D6B7}"/>
              </a:ext>
            </a:extLst>
          </p:cNvPr>
          <p:cNvSpPr/>
          <p:nvPr/>
        </p:nvSpPr>
        <p:spPr>
          <a:xfrm>
            <a:off x="502920" y="20116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2">
            <a:extLst>
              <a:ext uri="{FF2B5EF4-FFF2-40B4-BE49-F238E27FC236}">
                <a16:creationId xmlns:a16="http://schemas.microsoft.com/office/drawing/2014/main" id="{5D6DE26D-0183-DEEC-658C-9079DB42EFD3}"/>
              </a:ext>
            </a:extLst>
          </p:cNvPr>
          <p:cNvSpPr txBox="1"/>
          <p:nvPr/>
        </p:nvSpPr>
        <p:spPr>
          <a:xfrm>
            <a:off x="594360" y="20665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PURPOSE</a:t>
            </a:r>
          </a:p>
        </p:txBody>
      </p:sp>
      <p:sp>
        <p:nvSpPr>
          <p:cNvPr id="135" name="TextBox 13">
            <a:extLst>
              <a:ext uri="{FF2B5EF4-FFF2-40B4-BE49-F238E27FC236}">
                <a16:creationId xmlns:a16="http://schemas.microsoft.com/office/drawing/2014/main" id="{BB7D44AB-E7F2-37D4-CDAF-F7E1B7A9A75C}"/>
              </a:ext>
            </a:extLst>
          </p:cNvPr>
          <p:cNvSpPr txBox="1"/>
          <p:nvPr/>
        </p:nvSpPr>
        <p:spPr>
          <a:xfrm>
            <a:off x="594360" y="22311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Confirms incoming Demand has enough business context to be worked on. Filters noise · prevents wasted analysis effort downstream.</a:t>
            </a:r>
          </a:p>
        </p:txBody>
      </p:sp>
      <p:sp>
        <p:nvSpPr>
          <p:cNvPr id="136" name="Rounded Rectangle 14">
            <a:extLst>
              <a:ext uri="{FF2B5EF4-FFF2-40B4-BE49-F238E27FC236}">
                <a16:creationId xmlns:a16="http://schemas.microsoft.com/office/drawing/2014/main" id="{37F7AC4A-966F-B52C-B7ED-2B791385E69D}"/>
              </a:ext>
            </a:extLst>
          </p:cNvPr>
          <p:cNvSpPr/>
          <p:nvPr/>
        </p:nvSpPr>
        <p:spPr>
          <a:xfrm>
            <a:off x="502920" y="29260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5">
            <a:extLst>
              <a:ext uri="{FF2B5EF4-FFF2-40B4-BE49-F238E27FC236}">
                <a16:creationId xmlns:a16="http://schemas.microsoft.com/office/drawing/2014/main" id="{BEE3CD02-0385-F463-1EBB-F53389376F7E}"/>
              </a:ext>
            </a:extLst>
          </p:cNvPr>
          <p:cNvSpPr txBox="1"/>
          <p:nvPr/>
        </p:nvSpPr>
        <p:spPr>
          <a:xfrm>
            <a:off x="594360" y="29809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WHO PARTICIPATES</a:t>
            </a:r>
          </a:p>
        </p:txBody>
      </p:sp>
      <p:sp>
        <p:nvSpPr>
          <p:cNvPr id="138" name="TextBox 16">
            <a:extLst>
              <a:ext uri="{FF2B5EF4-FFF2-40B4-BE49-F238E27FC236}">
                <a16:creationId xmlns:a16="http://schemas.microsoft.com/office/drawing/2014/main" id="{80B55B2A-851C-AA68-B20B-657EF57312E1}"/>
              </a:ext>
            </a:extLst>
          </p:cNvPr>
          <p:cNvSpPr txBox="1"/>
          <p:nvPr/>
        </p:nvSpPr>
        <p:spPr>
          <a:xfrm>
            <a:off x="594360" y="3145536"/>
            <a:ext cx="5193792" cy="528794"/>
          </a:xfrm>
          <a:prstGeom prst="rect">
            <a:avLst/>
          </a:prstGeom>
          <a:noFill/>
        </p:spPr>
        <p:txBody>
          <a:bodyPr wrap="square" lIns="36000" tIns="18000" rIns="36000" bIns="18000" anchor="t">
            <a:spAutoFit/>
          </a:bodyPr>
          <a:lstStyle/>
          <a:p>
            <a:pPr algn="l"/>
            <a:r>
              <a:rPr sz="800" b="0" i="0">
                <a:solidFill>
                  <a:srgbClr val="2C3E50"/>
                </a:solidFill>
                <a:latin typeface="Arial"/>
              </a:rPr>
              <a:t>▸ CHAIR · Lead PM (rotating among VS PMs)</a:t>
            </a:r>
          </a:p>
          <a:p>
            <a:r>
              <a:rPr sz="800">
                <a:solidFill>
                  <a:srgbClr val="2C3E50"/>
                </a:solidFill>
                <a:latin typeface="Arial"/>
              </a:rPr>
              <a:t>▸ ATTENDEES · PMs (one per VS) · Architect</a:t>
            </a:r>
            <a:r>
              <a:rPr lang="es-MX" sz="800">
                <a:solidFill>
                  <a:srgbClr val="2C3E50"/>
                </a:solidFill>
                <a:latin typeface="Arial"/>
              </a:rPr>
              <a:t> · Customer </a:t>
            </a:r>
            <a:r>
              <a:rPr lang="es-MX" sz="800" err="1">
                <a:solidFill>
                  <a:srgbClr val="2C3E50"/>
                </a:solidFill>
                <a:latin typeface="Arial"/>
              </a:rPr>
              <a:t>Services</a:t>
            </a:r>
            <a:r>
              <a:rPr lang="es-MX" sz="800">
                <a:solidFill>
                  <a:srgbClr val="2C3E50"/>
                </a:solidFill>
                <a:latin typeface="Arial"/>
              </a:rPr>
              <a:t> </a:t>
            </a:r>
            <a:r>
              <a:rPr lang="es-MX" sz="800" err="1">
                <a:solidFill>
                  <a:srgbClr val="2C3E50"/>
                </a:solidFill>
                <a:latin typeface="Arial"/>
              </a:rPr>
              <a:t>Applications</a:t>
            </a:r>
            <a:r>
              <a:rPr lang="es-MX" sz="800">
                <a:solidFill>
                  <a:srgbClr val="2C3E50"/>
                </a:solidFill>
                <a:latin typeface="Arial"/>
              </a:rPr>
              <a:t> Managers ·  Business </a:t>
            </a:r>
            <a:r>
              <a:rPr lang="es-MX" sz="800" err="1">
                <a:solidFill>
                  <a:srgbClr val="2C3E50"/>
                </a:solidFill>
                <a:latin typeface="Arial"/>
              </a:rPr>
              <a:t>Applications</a:t>
            </a:r>
            <a:r>
              <a:rPr lang="es-MX" sz="800">
                <a:solidFill>
                  <a:srgbClr val="2C3E50"/>
                </a:solidFill>
                <a:latin typeface="Arial"/>
              </a:rPr>
              <a:t> Managers</a:t>
            </a:r>
            <a:endParaRPr sz="800">
              <a:solidFill>
                <a:srgbClr val="2C3E50"/>
              </a:solidFill>
              <a:latin typeface="Arial"/>
            </a:endParaRPr>
          </a:p>
          <a:p>
            <a:r>
              <a:rPr sz="800">
                <a:solidFill>
                  <a:srgbClr val="2C3E50"/>
                </a:solidFill>
                <a:latin typeface="Arial"/>
              </a:rPr>
              <a:t>▸ OBSERVERS · Sponsor on request</a:t>
            </a:r>
          </a:p>
        </p:txBody>
      </p:sp>
      <p:sp>
        <p:nvSpPr>
          <p:cNvPr id="139" name="Rounded Rectangle 17">
            <a:extLst>
              <a:ext uri="{FF2B5EF4-FFF2-40B4-BE49-F238E27FC236}">
                <a16:creationId xmlns:a16="http://schemas.microsoft.com/office/drawing/2014/main" id="{B0229D80-5EAA-4490-6679-A610A4510968}"/>
              </a:ext>
            </a:extLst>
          </p:cNvPr>
          <p:cNvSpPr/>
          <p:nvPr/>
        </p:nvSpPr>
        <p:spPr>
          <a:xfrm>
            <a:off x="502920" y="38404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8">
            <a:extLst>
              <a:ext uri="{FF2B5EF4-FFF2-40B4-BE49-F238E27FC236}">
                <a16:creationId xmlns:a16="http://schemas.microsoft.com/office/drawing/2014/main" id="{FA022025-23D4-5126-9D22-A85055E4A665}"/>
              </a:ext>
            </a:extLst>
          </p:cNvPr>
          <p:cNvSpPr txBox="1"/>
          <p:nvPr/>
        </p:nvSpPr>
        <p:spPr>
          <a:xfrm>
            <a:off x="594360" y="38953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WHEN</a:t>
            </a:r>
          </a:p>
        </p:txBody>
      </p:sp>
      <p:sp>
        <p:nvSpPr>
          <p:cNvPr id="141" name="TextBox 19">
            <a:extLst>
              <a:ext uri="{FF2B5EF4-FFF2-40B4-BE49-F238E27FC236}">
                <a16:creationId xmlns:a16="http://schemas.microsoft.com/office/drawing/2014/main" id="{6740F1B5-EEF9-5926-92F7-9A96107E15F2}"/>
              </a:ext>
            </a:extLst>
          </p:cNvPr>
          <p:cNvSpPr txBox="1"/>
          <p:nvPr/>
        </p:nvSpPr>
        <p:spPr>
          <a:xfrm>
            <a:off x="594360" y="40599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Every Wednesday 09:00–09:30 ET · standing meeting · cancelled only if zero new Demands</a:t>
            </a:r>
          </a:p>
        </p:txBody>
      </p:sp>
      <p:sp>
        <p:nvSpPr>
          <p:cNvPr id="142" name="Rounded Rectangle 20">
            <a:extLst>
              <a:ext uri="{FF2B5EF4-FFF2-40B4-BE49-F238E27FC236}">
                <a16:creationId xmlns:a16="http://schemas.microsoft.com/office/drawing/2014/main" id="{14BE68CA-76AE-8197-0FB4-F139ACEF28F9}"/>
              </a:ext>
            </a:extLst>
          </p:cNvPr>
          <p:cNvSpPr/>
          <p:nvPr/>
        </p:nvSpPr>
        <p:spPr>
          <a:xfrm>
            <a:off x="502920" y="47548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21">
            <a:extLst>
              <a:ext uri="{FF2B5EF4-FFF2-40B4-BE49-F238E27FC236}">
                <a16:creationId xmlns:a16="http://schemas.microsoft.com/office/drawing/2014/main" id="{F01452E9-4CA9-7959-7851-A5682FE38E0F}"/>
              </a:ext>
            </a:extLst>
          </p:cNvPr>
          <p:cNvSpPr txBox="1"/>
          <p:nvPr/>
        </p:nvSpPr>
        <p:spPr>
          <a:xfrm>
            <a:off x="594360" y="48097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HOW · STEP-BY-STEP</a:t>
            </a:r>
          </a:p>
        </p:txBody>
      </p:sp>
      <p:sp>
        <p:nvSpPr>
          <p:cNvPr id="144" name="TextBox 22">
            <a:extLst>
              <a:ext uri="{FF2B5EF4-FFF2-40B4-BE49-F238E27FC236}">
                <a16:creationId xmlns:a16="http://schemas.microsoft.com/office/drawing/2014/main" id="{A266503B-199F-4732-6339-BB42AC3BD6A7}"/>
              </a:ext>
            </a:extLst>
          </p:cNvPr>
          <p:cNvSpPr txBox="1"/>
          <p:nvPr/>
        </p:nvSpPr>
        <p:spPr>
          <a:xfrm>
            <a:off x="594360" y="49743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1. Lead PM pulls all NEW + ROUTED tickets from prior 7 days</a:t>
            </a:r>
          </a:p>
          <a:p>
            <a:r>
              <a:rPr sz="800">
                <a:solidFill>
                  <a:srgbClr val="2C3E50"/>
                </a:solidFill>
                <a:latin typeface="Arial"/>
              </a:rPr>
              <a:t>2. For each: validate DoR (Title · Description · BV narrative · AC · VS · OPCO · Sponsor)</a:t>
            </a:r>
          </a:p>
          <a:p>
            <a:r>
              <a:rPr sz="800">
                <a:solidFill>
                  <a:srgbClr val="2C3E50"/>
                </a:solidFill>
                <a:latin typeface="Arial"/>
              </a:rPr>
              <a:t>3. Decision  ·  ACCEPT (→ Reviewing)  ·  BOUNCE (→ Requestor with reason)  ·  MERGE (→ existing item)</a:t>
            </a:r>
          </a:p>
          <a:p>
            <a:r>
              <a:rPr sz="800">
                <a:solidFill>
                  <a:srgbClr val="2C3E50"/>
                </a:solidFill>
                <a:latin typeface="Arial"/>
              </a:rPr>
              <a:t>4. Auto-routing recorded in Jira · @notify PM of accepted items</a:t>
            </a:r>
          </a:p>
          <a:p>
            <a:r>
              <a:rPr sz="800">
                <a:solidFill>
                  <a:srgbClr val="2C3E50"/>
                </a:solidFill>
                <a:latin typeface="Arial"/>
              </a:rPr>
              <a:t>5. KPI captured  ·  DoR pass rate · bounce rate · channel adoption</a:t>
            </a:r>
          </a:p>
        </p:txBody>
      </p:sp>
      <p:sp>
        <p:nvSpPr>
          <p:cNvPr id="145" name="Rounded Rectangle 23">
            <a:extLst>
              <a:ext uri="{FF2B5EF4-FFF2-40B4-BE49-F238E27FC236}">
                <a16:creationId xmlns:a16="http://schemas.microsoft.com/office/drawing/2014/main" id="{7C8B8576-2B5C-0975-ADE8-85533103F738}"/>
              </a:ext>
            </a:extLst>
          </p:cNvPr>
          <p:cNvSpPr/>
          <p:nvPr/>
        </p:nvSpPr>
        <p:spPr>
          <a:xfrm>
            <a:off x="502920" y="56692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24">
            <a:extLst>
              <a:ext uri="{FF2B5EF4-FFF2-40B4-BE49-F238E27FC236}">
                <a16:creationId xmlns:a16="http://schemas.microsoft.com/office/drawing/2014/main" id="{7A05F205-D6E3-A555-C00B-7C28F51F21DF}"/>
              </a:ext>
            </a:extLst>
          </p:cNvPr>
          <p:cNvSpPr txBox="1"/>
          <p:nvPr/>
        </p:nvSpPr>
        <p:spPr>
          <a:xfrm>
            <a:off x="594360" y="57241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INPUTS  /  OUTPUTS</a:t>
            </a:r>
          </a:p>
        </p:txBody>
      </p:sp>
      <p:sp>
        <p:nvSpPr>
          <p:cNvPr id="147" name="TextBox 25">
            <a:extLst>
              <a:ext uri="{FF2B5EF4-FFF2-40B4-BE49-F238E27FC236}">
                <a16:creationId xmlns:a16="http://schemas.microsoft.com/office/drawing/2014/main" id="{CE0DE888-56E4-296B-41D2-312215DA9917}"/>
              </a:ext>
            </a:extLst>
          </p:cNvPr>
          <p:cNvSpPr txBox="1"/>
          <p:nvPr/>
        </p:nvSpPr>
        <p:spPr>
          <a:xfrm>
            <a:off x="594360" y="58887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INPUTS  ·  NEW + ROUTED tickets · DoR checklist · Value Stream policies
OUTPUTS  ·  TRIAGED · BOUNCED · merge links · weekly KPI report</a:t>
            </a:r>
          </a:p>
        </p:txBody>
      </p:sp>
      <p:sp>
        <p:nvSpPr>
          <p:cNvPr id="148" name="Rounded Rectangle 26">
            <a:extLst>
              <a:ext uri="{FF2B5EF4-FFF2-40B4-BE49-F238E27FC236}">
                <a16:creationId xmlns:a16="http://schemas.microsoft.com/office/drawing/2014/main" id="{F20ACCC7-6626-7210-1DCE-DFCC733F403F}"/>
              </a:ext>
            </a:extLst>
          </p:cNvPr>
          <p:cNvSpPr/>
          <p:nvPr/>
        </p:nvSpPr>
        <p:spPr>
          <a:xfrm>
            <a:off x="6181344" y="1097280"/>
            <a:ext cx="5650992" cy="5349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ounded Rectangle 27">
            <a:extLst>
              <a:ext uri="{FF2B5EF4-FFF2-40B4-BE49-F238E27FC236}">
                <a16:creationId xmlns:a16="http://schemas.microsoft.com/office/drawing/2014/main" id="{4597A92E-5089-E184-C079-E7CB2A5D0C68}"/>
              </a:ext>
            </a:extLst>
          </p:cNvPr>
          <p:cNvSpPr/>
          <p:nvPr/>
        </p:nvSpPr>
        <p:spPr>
          <a:xfrm>
            <a:off x="6181344" y="1097280"/>
            <a:ext cx="5650992" cy="77724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28">
            <a:extLst>
              <a:ext uri="{FF2B5EF4-FFF2-40B4-BE49-F238E27FC236}">
                <a16:creationId xmlns:a16="http://schemas.microsoft.com/office/drawing/2014/main" id="{CDD854FF-DCB7-2159-0E1F-DD3A1C814661}"/>
              </a:ext>
            </a:extLst>
          </p:cNvPr>
          <p:cNvSpPr txBox="1"/>
          <p:nvPr/>
        </p:nvSpPr>
        <p:spPr>
          <a:xfrm>
            <a:off x="6364224" y="1188720"/>
            <a:ext cx="5285232" cy="292608"/>
          </a:xfrm>
          <a:prstGeom prst="rect">
            <a:avLst/>
          </a:prstGeom>
          <a:noFill/>
        </p:spPr>
        <p:txBody>
          <a:bodyPr wrap="square" lIns="36000" tIns="18000" rIns="36000" bIns="18000" anchor="t">
            <a:spAutoFit/>
          </a:bodyPr>
          <a:lstStyle/>
          <a:p>
            <a:pPr algn="l"/>
            <a:r>
              <a:rPr sz="1600" b="1" i="0">
                <a:solidFill>
                  <a:srgbClr val="FFFFFF"/>
                </a:solidFill>
                <a:latin typeface="Arial"/>
              </a:rPr>
              <a:t>GATE 2  ·  PORTFOLIO COMMITTEE</a:t>
            </a:r>
          </a:p>
        </p:txBody>
      </p:sp>
      <p:sp>
        <p:nvSpPr>
          <p:cNvPr id="151" name="TextBox 29">
            <a:extLst>
              <a:ext uri="{FF2B5EF4-FFF2-40B4-BE49-F238E27FC236}">
                <a16:creationId xmlns:a16="http://schemas.microsoft.com/office/drawing/2014/main" id="{C5FBFCFF-F037-5602-C834-678709723EDE}"/>
              </a:ext>
            </a:extLst>
          </p:cNvPr>
          <p:cNvSpPr txBox="1"/>
          <p:nvPr/>
        </p:nvSpPr>
        <p:spPr>
          <a:xfrm>
            <a:off x="6364224" y="1481328"/>
            <a:ext cx="5285232" cy="201168"/>
          </a:xfrm>
          <a:prstGeom prst="rect">
            <a:avLst/>
          </a:prstGeom>
          <a:noFill/>
        </p:spPr>
        <p:txBody>
          <a:bodyPr wrap="square" lIns="36000" tIns="18000" rIns="36000" bIns="18000" anchor="t">
            <a:spAutoFit/>
          </a:bodyPr>
          <a:lstStyle/>
          <a:p>
            <a:pPr algn="l"/>
            <a:r>
              <a:rPr sz="1000" b="0" i="1">
                <a:solidFill>
                  <a:srgbClr val="C8E0CB"/>
                </a:solidFill>
                <a:latin typeface="Arial"/>
              </a:rPr>
              <a:t>Investment gate · Go/No-Go · capacity slot</a:t>
            </a:r>
          </a:p>
        </p:txBody>
      </p:sp>
      <p:sp>
        <p:nvSpPr>
          <p:cNvPr id="152" name="TextBox 30">
            <a:extLst>
              <a:ext uri="{FF2B5EF4-FFF2-40B4-BE49-F238E27FC236}">
                <a16:creationId xmlns:a16="http://schemas.microsoft.com/office/drawing/2014/main" id="{949544AB-4384-7144-9F54-C0DDC9829110}"/>
              </a:ext>
            </a:extLst>
          </p:cNvPr>
          <p:cNvSpPr txBox="1"/>
          <p:nvPr/>
        </p:nvSpPr>
        <p:spPr>
          <a:xfrm>
            <a:off x="6364224" y="1664208"/>
            <a:ext cx="5285232" cy="201168"/>
          </a:xfrm>
          <a:prstGeom prst="rect">
            <a:avLst/>
          </a:prstGeom>
          <a:noFill/>
        </p:spPr>
        <p:txBody>
          <a:bodyPr wrap="square" lIns="36000" tIns="18000" rIns="36000" bIns="18000" anchor="t">
            <a:spAutoFit/>
          </a:bodyPr>
          <a:lstStyle/>
          <a:p>
            <a:pPr algn="l"/>
            <a:r>
              <a:rPr sz="1000" b="1" i="0">
                <a:solidFill>
                  <a:srgbClr val="FFFFFF"/>
                </a:solidFill>
                <a:latin typeface="Arial"/>
              </a:rPr>
              <a:t>▸ MONTHLY  ·  90 min</a:t>
            </a:r>
          </a:p>
        </p:txBody>
      </p:sp>
      <p:sp>
        <p:nvSpPr>
          <p:cNvPr id="153" name="Rounded Rectangle 31">
            <a:extLst>
              <a:ext uri="{FF2B5EF4-FFF2-40B4-BE49-F238E27FC236}">
                <a16:creationId xmlns:a16="http://schemas.microsoft.com/office/drawing/2014/main" id="{0211AF7A-BDE6-D885-2568-66C9472D8134}"/>
              </a:ext>
            </a:extLst>
          </p:cNvPr>
          <p:cNvSpPr/>
          <p:nvPr/>
        </p:nvSpPr>
        <p:spPr>
          <a:xfrm>
            <a:off x="6318504" y="20116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32">
            <a:extLst>
              <a:ext uri="{FF2B5EF4-FFF2-40B4-BE49-F238E27FC236}">
                <a16:creationId xmlns:a16="http://schemas.microsoft.com/office/drawing/2014/main" id="{66A913E2-73F8-020A-F385-2235A292F356}"/>
              </a:ext>
            </a:extLst>
          </p:cNvPr>
          <p:cNvSpPr txBox="1"/>
          <p:nvPr/>
        </p:nvSpPr>
        <p:spPr>
          <a:xfrm>
            <a:off x="6409944" y="20665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PURPOSE</a:t>
            </a:r>
          </a:p>
        </p:txBody>
      </p:sp>
      <p:sp>
        <p:nvSpPr>
          <p:cNvPr id="155" name="TextBox 33">
            <a:extLst>
              <a:ext uri="{FF2B5EF4-FFF2-40B4-BE49-F238E27FC236}">
                <a16:creationId xmlns:a16="http://schemas.microsoft.com/office/drawing/2014/main" id="{0CB835F3-175A-4F32-D127-AA3C8205A0CC}"/>
              </a:ext>
            </a:extLst>
          </p:cNvPr>
          <p:cNvSpPr txBox="1"/>
          <p:nvPr/>
        </p:nvSpPr>
        <p:spPr>
          <a:xfrm>
            <a:off x="6409944" y="22311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Approves investment · slots capacity · re-ranks portfolio backlog by Pain Score + CoS. The gate where Initiatives become committed work.</a:t>
            </a:r>
          </a:p>
        </p:txBody>
      </p:sp>
      <p:sp>
        <p:nvSpPr>
          <p:cNvPr id="156" name="Rounded Rectangle 34">
            <a:extLst>
              <a:ext uri="{FF2B5EF4-FFF2-40B4-BE49-F238E27FC236}">
                <a16:creationId xmlns:a16="http://schemas.microsoft.com/office/drawing/2014/main" id="{794BBA4F-B211-F8D4-C4A7-C23704765F24}"/>
              </a:ext>
            </a:extLst>
          </p:cNvPr>
          <p:cNvSpPr/>
          <p:nvPr/>
        </p:nvSpPr>
        <p:spPr>
          <a:xfrm>
            <a:off x="6318504" y="29260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35">
            <a:extLst>
              <a:ext uri="{FF2B5EF4-FFF2-40B4-BE49-F238E27FC236}">
                <a16:creationId xmlns:a16="http://schemas.microsoft.com/office/drawing/2014/main" id="{223BA238-921B-D914-D7DC-C45B1D825FB2}"/>
              </a:ext>
            </a:extLst>
          </p:cNvPr>
          <p:cNvSpPr txBox="1"/>
          <p:nvPr/>
        </p:nvSpPr>
        <p:spPr>
          <a:xfrm>
            <a:off x="6409944" y="29809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WHO PARTICIPATES</a:t>
            </a:r>
          </a:p>
        </p:txBody>
      </p:sp>
      <p:sp>
        <p:nvSpPr>
          <p:cNvPr id="158" name="TextBox 36">
            <a:extLst>
              <a:ext uri="{FF2B5EF4-FFF2-40B4-BE49-F238E27FC236}">
                <a16:creationId xmlns:a16="http://schemas.microsoft.com/office/drawing/2014/main" id="{3CC07CE2-3D2C-B588-BD5F-9D343A77AF16}"/>
              </a:ext>
            </a:extLst>
          </p:cNvPr>
          <p:cNvSpPr txBox="1"/>
          <p:nvPr/>
        </p:nvSpPr>
        <p:spPr>
          <a:xfrm>
            <a:off x="6409944" y="3145536"/>
            <a:ext cx="5193792" cy="651905"/>
          </a:xfrm>
          <a:prstGeom prst="rect">
            <a:avLst/>
          </a:prstGeom>
          <a:noFill/>
        </p:spPr>
        <p:txBody>
          <a:bodyPr wrap="square" lIns="36000" tIns="18000" rIns="36000" bIns="18000" anchor="t">
            <a:spAutoFit/>
          </a:bodyPr>
          <a:lstStyle/>
          <a:p>
            <a:pPr algn="l"/>
            <a:r>
              <a:rPr sz="800" b="0" i="0">
                <a:solidFill>
                  <a:srgbClr val="2C3E50"/>
                </a:solidFill>
                <a:latin typeface="Arial"/>
              </a:rPr>
              <a:t>▸ CHAIR · VP (Vitor Cruz)</a:t>
            </a:r>
          </a:p>
          <a:p>
            <a:r>
              <a:rPr sz="800">
                <a:solidFill>
                  <a:srgbClr val="2C3E50"/>
                </a:solidFill>
                <a:latin typeface="Arial"/>
              </a:rPr>
              <a:t>▸ DECIDERS · Directors — Carlos Garbin (ITBA) · Kumar Jaladanki (CS) · Heather LaJoie (CS)</a:t>
            </a:r>
          </a:p>
          <a:p>
            <a:r>
              <a:rPr sz="800">
                <a:solidFill>
                  <a:srgbClr val="2C3E50"/>
                </a:solidFill>
                <a:latin typeface="Arial"/>
              </a:rPr>
              <a:t>▸ ATTENDEES · PMs (per VS) · Architect · IT Program Delivery Manager</a:t>
            </a:r>
          </a:p>
          <a:p>
            <a:r>
              <a:rPr sz="800">
                <a:solidFill>
                  <a:srgbClr val="2C3E50"/>
                </a:solidFill>
                <a:latin typeface="Arial"/>
              </a:rPr>
              <a:t>▸ OBSERVERS · Sponsors </a:t>
            </a:r>
            <a:r>
              <a:rPr lang="es-MX" sz="800">
                <a:solidFill>
                  <a:srgbClr val="2C3E50"/>
                </a:solidFill>
                <a:latin typeface="Arial"/>
              </a:rPr>
              <a:t>· Customer </a:t>
            </a:r>
            <a:r>
              <a:rPr lang="es-MX" sz="800" err="1">
                <a:solidFill>
                  <a:srgbClr val="2C3E50"/>
                </a:solidFill>
                <a:latin typeface="Arial"/>
              </a:rPr>
              <a:t>Services</a:t>
            </a:r>
            <a:r>
              <a:rPr lang="es-MX" sz="800">
                <a:solidFill>
                  <a:srgbClr val="2C3E50"/>
                </a:solidFill>
                <a:latin typeface="Arial"/>
              </a:rPr>
              <a:t> </a:t>
            </a:r>
            <a:r>
              <a:rPr lang="es-MX" sz="800" err="1">
                <a:solidFill>
                  <a:srgbClr val="2C3E50"/>
                </a:solidFill>
                <a:latin typeface="Arial"/>
              </a:rPr>
              <a:t>Applications</a:t>
            </a:r>
            <a:r>
              <a:rPr lang="es-MX" sz="800">
                <a:solidFill>
                  <a:srgbClr val="2C3E50"/>
                </a:solidFill>
                <a:latin typeface="Arial"/>
              </a:rPr>
              <a:t> Managers ·  Business </a:t>
            </a:r>
            <a:r>
              <a:rPr lang="es-MX" sz="800" err="1">
                <a:solidFill>
                  <a:srgbClr val="2C3E50"/>
                </a:solidFill>
                <a:latin typeface="Arial"/>
              </a:rPr>
              <a:t>Applications</a:t>
            </a:r>
            <a:r>
              <a:rPr lang="es-MX" sz="800">
                <a:solidFill>
                  <a:srgbClr val="2C3E50"/>
                </a:solidFill>
                <a:latin typeface="Arial"/>
              </a:rPr>
              <a:t> Managers</a:t>
            </a:r>
          </a:p>
          <a:p>
            <a:r>
              <a:rPr sz="800">
                <a:solidFill>
                  <a:srgbClr val="2C3E50"/>
                </a:solidFill>
                <a:latin typeface="Arial"/>
              </a:rPr>
              <a:t>(on relevant items only)</a:t>
            </a:r>
          </a:p>
        </p:txBody>
      </p:sp>
      <p:sp>
        <p:nvSpPr>
          <p:cNvPr id="159" name="Rounded Rectangle 37">
            <a:extLst>
              <a:ext uri="{FF2B5EF4-FFF2-40B4-BE49-F238E27FC236}">
                <a16:creationId xmlns:a16="http://schemas.microsoft.com/office/drawing/2014/main" id="{BE06A16B-0A84-545E-4184-EE369C0D5821}"/>
              </a:ext>
            </a:extLst>
          </p:cNvPr>
          <p:cNvSpPr/>
          <p:nvPr/>
        </p:nvSpPr>
        <p:spPr>
          <a:xfrm>
            <a:off x="6318504" y="38404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38">
            <a:extLst>
              <a:ext uri="{FF2B5EF4-FFF2-40B4-BE49-F238E27FC236}">
                <a16:creationId xmlns:a16="http://schemas.microsoft.com/office/drawing/2014/main" id="{D27F54E5-AC4D-F9A1-938D-43DFCAF65FE6}"/>
              </a:ext>
            </a:extLst>
          </p:cNvPr>
          <p:cNvSpPr txBox="1"/>
          <p:nvPr/>
        </p:nvSpPr>
        <p:spPr>
          <a:xfrm>
            <a:off x="6409944" y="38953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WHEN</a:t>
            </a:r>
          </a:p>
        </p:txBody>
      </p:sp>
      <p:sp>
        <p:nvSpPr>
          <p:cNvPr id="161" name="TextBox 39">
            <a:extLst>
              <a:ext uri="{FF2B5EF4-FFF2-40B4-BE49-F238E27FC236}">
                <a16:creationId xmlns:a16="http://schemas.microsoft.com/office/drawing/2014/main" id="{0904B925-BFB6-89E9-7830-F1608C21FE7A}"/>
              </a:ext>
            </a:extLst>
          </p:cNvPr>
          <p:cNvSpPr txBox="1"/>
          <p:nvPr/>
        </p:nvSpPr>
        <p:spPr>
          <a:xfrm>
            <a:off x="6409944" y="40599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First Tuesday of the month · 13:00–14:30 ET · pre-read circulated 3 business days ahead</a:t>
            </a:r>
          </a:p>
        </p:txBody>
      </p:sp>
      <p:sp>
        <p:nvSpPr>
          <p:cNvPr id="162" name="Rounded Rectangle 40">
            <a:extLst>
              <a:ext uri="{FF2B5EF4-FFF2-40B4-BE49-F238E27FC236}">
                <a16:creationId xmlns:a16="http://schemas.microsoft.com/office/drawing/2014/main" id="{7CD31B2E-76B5-9514-EDF7-3FEB0FDB5012}"/>
              </a:ext>
            </a:extLst>
          </p:cNvPr>
          <p:cNvSpPr/>
          <p:nvPr/>
        </p:nvSpPr>
        <p:spPr>
          <a:xfrm>
            <a:off x="6318504" y="47548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41">
            <a:extLst>
              <a:ext uri="{FF2B5EF4-FFF2-40B4-BE49-F238E27FC236}">
                <a16:creationId xmlns:a16="http://schemas.microsoft.com/office/drawing/2014/main" id="{2E4CE4DF-6070-604D-FE11-EB75FEFF46D9}"/>
              </a:ext>
            </a:extLst>
          </p:cNvPr>
          <p:cNvSpPr txBox="1"/>
          <p:nvPr/>
        </p:nvSpPr>
        <p:spPr>
          <a:xfrm>
            <a:off x="6409944" y="48097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HOW · STEP-BY-STEP</a:t>
            </a:r>
          </a:p>
        </p:txBody>
      </p:sp>
      <p:sp>
        <p:nvSpPr>
          <p:cNvPr id="164" name="TextBox 42">
            <a:extLst>
              <a:ext uri="{FF2B5EF4-FFF2-40B4-BE49-F238E27FC236}">
                <a16:creationId xmlns:a16="http://schemas.microsoft.com/office/drawing/2014/main" id="{C20FBF06-0A0B-8FA1-DB46-24238428D47B}"/>
              </a:ext>
            </a:extLst>
          </p:cNvPr>
          <p:cNvSpPr txBox="1"/>
          <p:nvPr/>
        </p:nvSpPr>
        <p:spPr>
          <a:xfrm>
            <a:off x="6409944" y="49743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1. Pre-read  ·  all Initiatives in ANALYZING with Pain Score + Discovery Report attached
2. Walk-through by Pain Score (highest first) · Architect comments on feasibility
3. Decision per Initiative  ·  GO  ·  NO-GO  ·  DEFER
4. Backlog re-ranked by CoS + Pain Score · capacity heat-map updated
5. Decisions logged in Jira · @notify Sponsors + Squad Leads</a:t>
            </a:r>
          </a:p>
        </p:txBody>
      </p:sp>
      <p:sp>
        <p:nvSpPr>
          <p:cNvPr id="165" name="Rounded Rectangle 43">
            <a:extLst>
              <a:ext uri="{FF2B5EF4-FFF2-40B4-BE49-F238E27FC236}">
                <a16:creationId xmlns:a16="http://schemas.microsoft.com/office/drawing/2014/main" id="{4D52CE34-4594-4E5B-689A-85575B2DCA72}"/>
              </a:ext>
            </a:extLst>
          </p:cNvPr>
          <p:cNvSpPr/>
          <p:nvPr/>
        </p:nvSpPr>
        <p:spPr>
          <a:xfrm>
            <a:off x="6318504" y="56692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44">
            <a:extLst>
              <a:ext uri="{FF2B5EF4-FFF2-40B4-BE49-F238E27FC236}">
                <a16:creationId xmlns:a16="http://schemas.microsoft.com/office/drawing/2014/main" id="{16CFB51B-1BC9-A7F3-FE25-3CFDEDE26E97}"/>
              </a:ext>
            </a:extLst>
          </p:cNvPr>
          <p:cNvSpPr txBox="1"/>
          <p:nvPr/>
        </p:nvSpPr>
        <p:spPr>
          <a:xfrm>
            <a:off x="6409944" y="57241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INPUTS  /  OUTPUTS</a:t>
            </a:r>
          </a:p>
        </p:txBody>
      </p:sp>
      <p:sp>
        <p:nvSpPr>
          <p:cNvPr id="167" name="TextBox 45">
            <a:extLst>
              <a:ext uri="{FF2B5EF4-FFF2-40B4-BE49-F238E27FC236}">
                <a16:creationId xmlns:a16="http://schemas.microsoft.com/office/drawing/2014/main" id="{2076EC68-1E97-AC2A-E351-9541C130DC30}"/>
              </a:ext>
            </a:extLst>
          </p:cNvPr>
          <p:cNvSpPr txBox="1"/>
          <p:nvPr/>
        </p:nvSpPr>
        <p:spPr>
          <a:xfrm>
            <a:off x="6409944" y="58887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INPUTS  ·  TRIAGED Initiatives · Pain Scores · Discovery Reports · capacity per VS · vendor pipeline
OUTPUTS  ·  Ready For Execution · capacity slot · Backlog rank · OVS KPI panel updated (NPS · CSAT · Reliability · cycle time)</a:t>
            </a:r>
          </a:p>
        </p:txBody>
      </p:sp>
      <p:sp>
        <p:nvSpPr>
          <p:cNvPr id="2" name="Text Placeholder 19">
            <a:extLst>
              <a:ext uri="{FF2B5EF4-FFF2-40B4-BE49-F238E27FC236}">
                <a16:creationId xmlns:a16="http://schemas.microsoft.com/office/drawing/2014/main" id="{C1D5C313-A0B9-47CF-0FBA-008ED7F0E4A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Gates deep dive</a:t>
            </a:r>
          </a:p>
        </p:txBody>
      </p:sp>
    </p:spTree>
    <p:extLst>
      <p:ext uri="{BB962C8B-B14F-4D97-AF65-F5344CB8AC3E}">
        <p14:creationId xmlns:p14="http://schemas.microsoft.com/office/powerpoint/2010/main" val="2122488594"/>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13B0E-43C0-C0DF-A07A-11A4EFF17B6A}"/>
            </a:ext>
          </a:extLst>
        </p:cNvPr>
        <p:cNvGrpSpPr/>
        <p:nvPr/>
      </p:nvGrpSpPr>
      <p:grpSpPr>
        <a:xfrm>
          <a:off x="0" y="0"/>
          <a:ext cx="0" cy="0"/>
          <a:chOff x="0" y="0"/>
          <a:chExt cx="0" cy="0"/>
        </a:xfrm>
      </p:grpSpPr>
      <p:sp>
        <p:nvSpPr>
          <p:cNvPr id="2" name="Rounded Rectangle 6">
            <a:extLst>
              <a:ext uri="{FF2B5EF4-FFF2-40B4-BE49-F238E27FC236}">
                <a16:creationId xmlns:a16="http://schemas.microsoft.com/office/drawing/2014/main" id="{52726375-165F-D8A3-AAF6-3A3AB457C356}"/>
              </a:ext>
            </a:extLst>
          </p:cNvPr>
          <p:cNvSpPr/>
          <p:nvPr/>
        </p:nvSpPr>
        <p:spPr>
          <a:xfrm>
            <a:off x="4754880" y="1097280"/>
            <a:ext cx="269748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7">
            <a:extLst>
              <a:ext uri="{FF2B5EF4-FFF2-40B4-BE49-F238E27FC236}">
                <a16:creationId xmlns:a16="http://schemas.microsoft.com/office/drawing/2014/main" id="{A03CA782-C799-C30E-1A56-759FDD7D3CE1}"/>
              </a:ext>
            </a:extLst>
          </p:cNvPr>
          <p:cNvSpPr txBox="1"/>
          <p:nvPr/>
        </p:nvSpPr>
        <p:spPr>
          <a:xfrm>
            <a:off x="4754880" y="1152144"/>
            <a:ext cx="2697480" cy="182880"/>
          </a:xfrm>
          <a:prstGeom prst="rect">
            <a:avLst/>
          </a:prstGeom>
          <a:noFill/>
        </p:spPr>
        <p:txBody>
          <a:bodyPr wrap="square" lIns="36000" tIns="18000" rIns="36000" bIns="18000" anchor="t">
            <a:spAutoFit/>
          </a:bodyPr>
          <a:lstStyle/>
          <a:p>
            <a:pPr algn="ctr"/>
            <a:r>
              <a:rPr sz="800" b="1" i="0">
                <a:solidFill>
                  <a:srgbClr val="C8E0CB"/>
                </a:solidFill>
                <a:latin typeface="Arial"/>
              </a:rPr>
              <a:t>GATE 2 · DECISION</a:t>
            </a:r>
          </a:p>
        </p:txBody>
      </p:sp>
      <p:sp>
        <p:nvSpPr>
          <p:cNvPr id="6" name="TextBox 8">
            <a:extLst>
              <a:ext uri="{FF2B5EF4-FFF2-40B4-BE49-F238E27FC236}">
                <a16:creationId xmlns:a16="http://schemas.microsoft.com/office/drawing/2014/main" id="{A64418F4-6FF7-5033-82B0-26D141E575F7}"/>
              </a:ext>
            </a:extLst>
          </p:cNvPr>
          <p:cNvSpPr txBox="1"/>
          <p:nvPr/>
        </p:nvSpPr>
        <p:spPr>
          <a:xfrm>
            <a:off x="4754880" y="1379963"/>
            <a:ext cx="2697480" cy="221018"/>
          </a:xfrm>
          <a:prstGeom prst="rect">
            <a:avLst/>
          </a:prstGeom>
          <a:noFill/>
        </p:spPr>
        <p:txBody>
          <a:bodyPr wrap="square" lIns="36000" tIns="18000" rIns="36000" bIns="18000" anchor="ctr">
            <a:spAutoFit/>
          </a:bodyPr>
          <a:lstStyle/>
          <a:p>
            <a:pPr algn="ctr"/>
            <a:r>
              <a:rPr sz="1200" b="1" i="0">
                <a:solidFill>
                  <a:srgbClr val="FFFFFF"/>
                </a:solidFill>
                <a:latin typeface="Arial"/>
              </a:rPr>
              <a:t>Director (Carlos · Kumar</a:t>
            </a:r>
            <a:r>
              <a:rPr lang="pt-BR" sz="1200" b="1">
                <a:solidFill>
                  <a:srgbClr val="FFFFFF"/>
                </a:solidFill>
                <a:latin typeface="Arial"/>
              </a:rPr>
              <a:t> · Heather</a:t>
            </a:r>
            <a:r>
              <a:rPr sz="1200" b="1" i="0">
                <a:solidFill>
                  <a:srgbClr val="FFFFFF"/>
                </a:solidFill>
                <a:latin typeface="Arial"/>
              </a:rPr>
              <a:t>)</a:t>
            </a:r>
          </a:p>
        </p:txBody>
      </p:sp>
      <p:sp>
        <p:nvSpPr>
          <p:cNvPr id="7" name="TextBox 9">
            <a:extLst>
              <a:ext uri="{FF2B5EF4-FFF2-40B4-BE49-F238E27FC236}">
                <a16:creationId xmlns:a16="http://schemas.microsoft.com/office/drawing/2014/main" id="{576F9745-C89A-EFC9-6473-677BADFFF940}"/>
              </a:ext>
            </a:extLst>
          </p:cNvPr>
          <p:cNvSpPr txBox="1"/>
          <p:nvPr/>
        </p:nvSpPr>
        <p:spPr>
          <a:xfrm>
            <a:off x="4754880" y="1627632"/>
            <a:ext cx="2697480" cy="201168"/>
          </a:xfrm>
          <a:prstGeom prst="rect">
            <a:avLst/>
          </a:prstGeom>
          <a:noFill/>
        </p:spPr>
        <p:txBody>
          <a:bodyPr wrap="square" lIns="36000" tIns="18000" rIns="36000" bIns="18000" anchor="t">
            <a:spAutoFit/>
          </a:bodyPr>
          <a:lstStyle/>
          <a:p>
            <a:pPr algn="ctr"/>
            <a:r>
              <a:rPr sz="900" b="0" i="1">
                <a:solidFill>
                  <a:srgbClr val="C8E0CB"/>
                </a:solidFill>
                <a:latin typeface="Arial"/>
              </a:rPr>
              <a:t>Monthly · 90 min</a:t>
            </a:r>
          </a:p>
        </p:txBody>
      </p:sp>
      <p:sp>
        <p:nvSpPr>
          <p:cNvPr id="8" name="Rounded Rectangle 10">
            <a:extLst>
              <a:ext uri="{FF2B5EF4-FFF2-40B4-BE49-F238E27FC236}">
                <a16:creationId xmlns:a16="http://schemas.microsoft.com/office/drawing/2014/main" id="{8AB3B931-78E2-44A3-D48F-7D12F1440B60}"/>
              </a:ext>
            </a:extLst>
          </p:cNvPr>
          <p:cNvSpPr/>
          <p:nvPr/>
        </p:nvSpPr>
        <p:spPr>
          <a:xfrm>
            <a:off x="3657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11">
            <a:extLst>
              <a:ext uri="{FF2B5EF4-FFF2-40B4-BE49-F238E27FC236}">
                <a16:creationId xmlns:a16="http://schemas.microsoft.com/office/drawing/2014/main" id="{84FC6A9C-8103-4E2D-785C-1E41C775C2C0}"/>
              </a:ext>
            </a:extLst>
          </p:cNvPr>
          <p:cNvSpPr/>
          <p:nvPr/>
        </p:nvSpPr>
        <p:spPr>
          <a:xfrm>
            <a:off x="365760" y="2103120"/>
            <a:ext cx="3703320" cy="731520"/>
          </a:xfrm>
          <a:prstGeom prst="roundRect">
            <a:avLst>
              <a:gd name="adj" fmla="val 3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2">
            <a:extLst>
              <a:ext uri="{FF2B5EF4-FFF2-40B4-BE49-F238E27FC236}">
                <a16:creationId xmlns:a16="http://schemas.microsoft.com/office/drawing/2014/main" id="{2DD7CE61-609B-FC81-5D0F-18778B173819}"/>
              </a:ext>
            </a:extLst>
          </p:cNvPr>
          <p:cNvSpPr txBox="1"/>
          <p:nvPr/>
        </p:nvSpPr>
        <p:spPr>
          <a:xfrm>
            <a:off x="3657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GO</a:t>
            </a:r>
          </a:p>
        </p:txBody>
      </p:sp>
      <p:sp>
        <p:nvSpPr>
          <p:cNvPr id="11" name="TextBox 13">
            <a:extLst>
              <a:ext uri="{FF2B5EF4-FFF2-40B4-BE49-F238E27FC236}">
                <a16:creationId xmlns:a16="http://schemas.microsoft.com/office/drawing/2014/main" id="{1153FD67-6D65-57BE-67DA-7964300D33A1}"/>
              </a:ext>
            </a:extLst>
          </p:cNvPr>
          <p:cNvSpPr txBox="1"/>
          <p:nvPr/>
        </p:nvSpPr>
        <p:spPr>
          <a:xfrm>
            <a:off x="3657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Initiative approved</a:t>
            </a:r>
          </a:p>
        </p:txBody>
      </p:sp>
      <p:sp>
        <p:nvSpPr>
          <p:cNvPr id="12" name="TextBox 14">
            <a:extLst>
              <a:ext uri="{FF2B5EF4-FFF2-40B4-BE49-F238E27FC236}">
                <a16:creationId xmlns:a16="http://schemas.microsoft.com/office/drawing/2014/main" id="{0945797D-EE07-F621-7953-623E8907FFE4}"/>
              </a:ext>
            </a:extLst>
          </p:cNvPr>
          <p:cNvSpPr txBox="1"/>
          <p:nvPr/>
        </p:nvSpPr>
        <p:spPr>
          <a:xfrm>
            <a:off x="5029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13" name="TextBox 15">
            <a:extLst>
              <a:ext uri="{FF2B5EF4-FFF2-40B4-BE49-F238E27FC236}">
                <a16:creationId xmlns:a16="http://schemas.microsoft.com/office/drawing/2014/main" id="{7EA5270F-F0A5-0466-F520-C706F186F59D}"/>
              </a:ext>
            </a:extLst>
          </p:cNvPr>
          <p:cNvSpPr txBox="1"/>
          <p:nvPr/>
        </p:nvSpPr>
        <p:spPr>
          <a:xfrm>
            <a:off x="5029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'Ready For Execution' · capacity slot reserved · Backlog rank assigned</a:t>
            </a:r>
          </a:p>
        </p:txBody>
      </p:sp>
      <p:sp>
        <p:nvSpPr>
          <p:cNvPr id="14" name="TextBox 16">
            <a:extLst>
              <a:ext uri="{FF2B5EF4-FFF2-40B4-BE49-F238E27FC236}">
                <a16:creationId xmlns:a16="http://schemas.microsoft.com/office/drawing/2014/main" id="{1AE15F7E-F9A0-AC70-95B8-57805E6DFCC2}"/>
              </a:ext>
            </a:extLst>
          </p:cNvPr>
          <p:cNvSpPr txBox="1"/>
          <p:nvPr/>
        </p:nvSpPr>
        <p:spPr>
          <a:xfrm>
            <a:off x="5029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NOTIFY</a:t>
            </a:r>
          </a:p>
        </p:txBody>
      </p:sp>
      <p:sp>
        <p:nvSpPr>
          <p:cNvPr id="15" name="TextBox 17">
            <a:extLst>
              <a:ext uri="{FF2B5EF4-FFF2-40B4-BE49-F238E27FC236}">
                <a16:creationId xmlns:a16="http://schemas.microsoft.com/office/drawing/2014/main" id="{28280CCD-FEA4-226E-176E-62F0FC1F3CEE}"/>
              </a:ext>
            </a:extLst>
          </p:cNvPr>
          <p:cNvSpPr txBox="1"/>
          <p:nvPr/>
        </p:nvSpPr>
        <p:spPr>
          <a:xfrm>
            <a:off x="5029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 @Squad Lead · Layer 0 VP Dashboard updated · published in Confluence</a:t>
            </a:r>
          </a:p>
        </p:txBody>
      </p:sp>
      <p:sp>
        <p:nvSpPr>
          <p:cNvPr id="16" name="TextBox 18">
            <a:extLst>
              <a:ext uri="{FF2B5EF4-FFF2-40B4-BE49-F238E27FC236}">
                <a16:creationId xmlns:a16="http://schemas.microsoft.com/office/drawing/2014/main" id="{55D3CEC5-67C1-DEDC-8F72-A43DF996713B}"/>
              </a:ext>
            </a:extLst>
          </p:cNvPr>
          <p:cNvSpPr txBox="1"/>
          <p:nvPr/>
        </p:nvSpPr>
        <p:spPr>
          <a:xfrm>
            <a:off x="5029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HANDOFF</a:t>
            </a:r>
          </a:p>
        </p:txBody>
      </p:sp>
      <p:sp>
        <p:nvSpPr>
          <p:cNvPr id="17" name="TextBox 19">
            <a:extLst>
              <a:ext uri="{FF2B5EF4-FFF2-40B4-BE49-F238E27FC236}">
                <a16:creationId xmlns:a16="http://schemas.microsoft.com/office/drawing/2014/main" id="{D927A52F-8135-EA23-340D-068AFA16C260}"/>
              </a:ext>
            </a:extLst>
          </p:cNvPr>
          <p:cNvSpPr txBox="1"/>
          <p:nvPr/>
        </p:nvSpPr>
        <p:spPr>
          <a:xfrm>
            <a:off x="5029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PM (Portfolio) hands off to Tech Lead + squad · DoR re-checked at squad level</a:t>
            </a:r>
          </a:p>
        </p:txBody>
      </p:sp>
      <p:sp>
        <p:nvSpPr>
          <p:cNvPr id="18" name="TextBox 20">
            <a:extLst>
              <a:ext uri="{FF2B5EF4-FFF2-40B4-BE49-F238E27FC236}">
                <a16:creationId xmlns:a16="http://schemas.microsoft.com/office/drawing/2014/main" id="{E350590D-032D-9F38-4ED7-C78FFC75D920}"/>
              </a:ext>
            </a:extLst>
          </p:cNvPr>
          <p:cNvSpPr txBox="1"/>
          <p:nvPr/>
        </p:nvSpPr>
        <p:spPr>
          <a:xfrm>
            <a:off x="5029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EXECUTION</a:t>
            </a:r>
          </a:p>
        </p:txBody>
      </p:sp>
      <p:sp>
        <p:nvSpPr>
          <p:cNvPr id="19" name="TextBox 21">
            <a:extLst>
              <a:ext uri="{FF2B5EF4-FFF2-40B4-BE49-F238E27FC236}">
                <a16:creationId xmlns:a16="http://schemas.microsoft.com/office/drawing/2014/main" id="{171AEACE-3C56-710C-CC9F-F14F08450C60}"/>
              </a:ext>
            </a:extLst>
          </p:cNvPr>
          <p:cNvSpPr txBox="1"/>
          <p:nvPr/>
        </p:nvSpPr>
        <p:spPr>
          <a:xfrm>
            <a:off x="5029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Enters Team Kanban · Phase 0 Discovery → Phase 1 Materialization → Phase 2 Creation → Phase 3 Ongoing → Phase 4 Maintenance</a:t>
            </a:r>
          </a:p>
        </p:txBody>
      </p:sp>
      <p:sp>
        <p:nvSpPr>
          <p:cNvPr id="20" name="TextBox 22">
            <a:extLst>
              <a:ext uri="{FF2B5EF4-FFF2-40B4-BE49-F238E27FC236}">
                <a16:creationId xmlns:a16="http://schemas.microsoft.com/office/drawing/2014/main" id="{83F8B210-352C-06D9-AC0C-D3115B4EE902}"/>
              </a:ext>
            </a:extLst>
          </p:cNvPr>
          <p:cNvSpPr txBox="1"/>
          <p:nvPr/>
        </p:nvSpPr>
        <p:spPr>
          <a:xfrm>
            <a:off x="5029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KPIs</a:t>
            </a:r>
          </a:p>
        </p:txBody>
      </p:sp>
      <p:sp>
        <p:nvSpPr>
          <p:cNvPr id="21" name="TextBox 23">
            <a:extLst>
              <a:ext uri="{FF2B5EF4-FFF2-40B4-BE49-F238E27FC236}">
                <a16:creationId xmlns:a16="http://schemas.microsoft.com/office/drawing/2014/main" id="{00CCAAEA-FFEA-FDDB-D355-5CB37EC2582F}"/>
              </a:ext>
            </a:extLst>
          </p:cNvPr>
          <p:cNvSpPr txBox="1"/>
          <p:nvPr/>
        </p:nvSpPr>
        <p:spPr>
          <a:xfrm>
            <a:off x="5029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Cycle time · throughput · quality · NPS/CSAT delta · OVS KPI panel monitors outcomes</a:t>
            </a:r>
          </a:p>
        </p:txBody>
      </p:sp>
      <p:sp>
        <p:nvSpPr>
          <p:cNvPr id="22" name="Rounded Rectangle 24">
            <a:extLst>
              <a:ext uri="{FF2B5EF4-FFF2-40B4-BE49-F238E27FC236}">
                <a16:creationId xmlns:a16="http://schemas.microsoft.com/office/drawing/2014/main" id="{CA44F2CB-8783-6A22-15C5-5AA15E315D66}"/>
              </a:ext>
            </a:extLst>
          </p:cNvPr>
          <p:cNvSpPr/>
          <p:nvPr/>
        </p:nvSpPr>
        <p:spPr>
          <a:xfrm>
            <a:off x="42519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5">
            <a:extLst>
              <a:ext uri="{FF2B5EF4-FFF2-40B4-BE49-F238E27FC236}">
                <a16:creationId xmlns:a16="http://schemas.microsoft.com/office/drawing/2014/main" id="{0D155C6D-73B7-9A40-7205-E7362873CE4D}"/>
              </a:ext>
            </a:extLst>
          </p:cNvPr>
          <p:cNvSpPr/>
          <p:nvPr/>
        </p:nvSpPr>
        <p:spPr>
          <a:xfrm>
            <a:off x="4251960" y="2103120"/>
            <a:ext cx="3703320" cy="73152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6">
            <a:extLst>
              <a:ext uri="{FF2B5EF4-FFF2-40B4-BE49-F238E27FC236}">
                <a16:creationId xmlns:a16="http://schemas.microsoft.com/office/drawing/2014/main" id="{F96DE4E0-D049-2F9E-8BA2-AD8C59967650}"/>
              </a:ext>
            </a:extLst>
          </p:cNvPr>
          <p:cNvSpPr txBox="1"/>
          <p:nvPr/>
        </p:nvSpPr>
        <p:spPr>
          <a:xfrm>
            <a:off x="42519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NO-GO</a:t>
            </a:r>
          </a:p>
        </p:txBody>
      </p:sp>
      <p:sp>
        <p:nvSpPr>
          <p:cNvPr id="25" name="TextBox 27">
            <a:extLst>
              <a:ext uri="{FF2B5EF4-FFF2-40B4-BE49-F238E27FC236}">
                <a16:creationId xmlns:a16="http://schemas.microsoft.com/office/drawing/2014/main" id="{F6FAEB66-3F85-F8D3-D01E-93B7214DFDD2}"/>
              </a:ext>
            </a:extLst>
          </p:cNvPr>
          <p:cNvSpPr txBox="1"/>
          <p:nvPr/>
        </p:nvSpPr>
        <p:spPr>
          <a:xfrm>
            <a:off x="42519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Initiative rejected</a:t>
            </a:r>
          </a:p>
        </p:txBody>
      </p:sp>
      <p:sp>
        <p:nvSpPr>
          <p:cNvPr id="26" name="TextBox 28">
            <a:extLst>
              <a:ext uri="{FF2B5EF4-FFF2-40B4-BE49-F238E27FC236}">
                <a16:creationId xmlns:a16="http://schemas.microsoft.com/office/drawing/2014/main" id="{09DE4039-C211-FCE0-AD5D-6EF03B32EADD}"/>
              </a:ext>
            </a:extLst>
          </p:cNvPr>
          <p:cNvSpPr txBox="1"/>
          <p:nvPr/>
        </p:nvSpPr>
        <p:spPr>
          <a:xfrm>
            <a:off x="43891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27" name="TextBox 29">
            <a:extLst>
              <a:ext uri="{FF2B5EF4-FFF2-40B4-BE49-F238E27FC236}">
                <a16:creationId xmlns:a16="http://schemas.microsoft.com/office/drawing/2014/main" id="{D7FAE354-3223-1A50-BC6F-6AB7A49289E8}"/>
              </a:ext>
            </a:extLst>
          </p:cNvPr>
          <p:cNvSpPr txBox="1"/>
          <p:nvPr/>
        </p:nvSpPr>
        <p:spPr>
          <a:xfrm>
            <a:off x="43891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'Rejected' · removed from active backlog · archived for traceability</a:t>
            </a:r>
          </a:p>
        </p:txBody>
      </p:sp>
      <p:sp>
        <p:nvSpPr>
          <p:cNvPr id="28" name="TextBox 30">
            <a:extLst>
              <a:ext uri="{FF2B5EF4-FFF2-40B4-BE49-F238E27FC236}">
                <a16:creationId xmlns:a16="http://schemas.microsoft.com/office/drawing/2014/main" id="{9374FE04-6B0B-5DD0-BBC3-FD7F4715BA7C}"/>
              </a:ext>
            </a:extLst>
          </p:cNvPr>
          <p:cNvSpPr txBox="1"/>
          <p:nvPr/>
        </p:nvSpPr>
        <p:spPr>
          <a:xfrm>
            <a:off x="43891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RATIONALE</a:t>
            </a:r>
          </a:p>
        </p:txBody>
      </p:sp>
      <p:sp>
        <p:nvSpPr>
          <p:cNvPr id="29" name="TextBox 31">
            <a:extLst>
              <a:ext uri="{FF2B5EF4-FFF2-40B4-BE49-F238E27FC236}">
                <a16:creationId xmlns:a16="http://schemas.microsoft.com/office/drawing/2014/main" id="{64F11447-E231-1471-2236-BC7DC6719CE6}"/>
              </a:ext>
            </a:extLst>
          </p:cNvPr>
          <p:cNvSpPr txBox="1"/>
          <p:nvPr/>
        </p:nvSpPr>
        <p:spPr>
          <a:xfrm>
            <a:off x="43891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Director records reason: capacity · ROI · strategic fit · technical feasibility</a:t>
            </a:r>
          </a:p>
        </p:txBody>
      </p:sp>
      <p:sp>
        <p:nvSpPr>
          <p:cNvPr id="30" name="TextBox 32">
            <a:extLst>
              <a:ext uri="{FF2B5EF4-FFF2-40B4-BE49-F238E27FC236}">
                <a16:creationId xmlns:a16="http://schemas.microsoft.com/office/drawing/2014/main" id="{EB605CE5-7CB2-243B-8B8B-A8941459D07B}"/>
              </a:ext>
            </a:extLst>
          </p:cNvPr>
          <p:cNvSpPr txBox="1"/>
          <p:nvPr/>
        </p:nvSpPr>
        <p:spPr>
          <a:xfrm>
            <a:off x="43891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NOTIFY</a:t>
            </a:r>
          </a:p>
        </p:txBody>
      </p:sp>
      <p:sp>
        <p:nvSpPr>
          <p:cNvPr id="31" name="TextBox 33">
            <a:extLst>
              <a:ext uri="{FF2B5EF4-FFF2-40B4-BE49-F238E27FC236}">
                <a16:creationId xmlns:a16="http://schemas.microsoft.com/office/drawing/2014/main" id="{9FFE6545-6F25-D93F-6D53-AD10C1E61809}"/>
              </a:ext>
            </a:extLst>
          </p:cNvPr>
          <p:cNvSpPr txBox="1"/>
          <p:nvPr/>
        </p:nvSpPr>
        <p:spPr>
          <a:xfrm>
            <a:off x="43891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receives written rationale · Confluence post · learning captured</a:t>
            </a:r>
          </a:p>
        </p:txBody>
      </p:sp>
      <p:sp>
        <p:nvSpPr>
          <p:cNvPr id="32" name="TextBox 34">
            <a:extLst>
              <a:ext uri="{FF2B5EF4-FFF2-40B4-BE49-F238E27FC236}">
                <a16:creationId xmlns:a16="http://schemas.microsoft.com/office/drawing/2014/main" id="{D86FE201-EB3B-7FD4-30CB-B18A647B7131}"/>
              </a:ext>
            </a:extLst>
          </p:cNvPr>
          <p:cNvSpPr txBox="1"/>
          <p:nvPr/>
        </p:nvSpPr>
        <p:spPr>
          <a:xfrm>
            <a:off x="43891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RE-SUBMIT</a:t>
            </a:r>
          </a:p>
        </p:txBody>
      </p:sp>
      <p:sp>
        <p:nvSpPr>
          <p:cNvPr id="33" name="TextBox 35">
            <a:extLst>
              <a:ext uri="{FF2B5EF4-FFF2-40B4-BE49-F238E27FC236}">
                <a16:creationId xmlns:a16="http://schemas.microsoft.com/office/drawing/2014/main" id="{79C3E015-C3EE-7052-A3EA-A6A9F581AD61}"/>
              </a:ext>
            </a:extLst>
          </p:cNvPr>
          <p:cNvSpPr txBox="1"/>
          <p:nvPr/>
        </p:nvSpPr>
        <p:spPr>
          <a:xfrm>
            <a:off x="43891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may re-submit with different framing/scope · counts as new Demand · full Triage</a:t>
            </a:r>
          </a:p>
        </p:txBody>
      </p:sp>
      <p:sp>
        <p:nvSpPr>
          <p:cNvPr id="34" name="TextBox 36">
            <a:extLst>
              <a:ext uri="{FF2B5EF4-FFF2-40B4-BE49-F238E27FC236}">
                <a16:creationId xmlns:a16="http://schemas.microsoft.com/office/drawing/2014/main" id="{CD890271-1E18-7934-4F3F-D860270E015F}"/>
              </a:ext>
            </a:extLst>
          </p:cNvPr>
          <p:cNvSpPr txBox="1"/>
          <p:nvPr/>
        </p:nvSpPr>
        <p:spPr>
          <a:xfrm>
            <a:off x="43891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LEARNING</a:t>
            </a:r>
          </a:p>
        </p:txBody>
      </p:sp>
      <p:sp>
        <p:nvSpPr>
          <p:cNvPr id="35" name="TextBox 37">
            <a:extLst>
              <a:ext uri="{FF2B5EF4-FFF2-40B4-BE49-F238E27FC236}">
                <a16:creationId xmlns:a16="http://schemas.microsoft.com/office/drawing/2014/main" id="{951C9A51-73E9-039F-4D56-D2BC445985B2}"/>
              </a:ext>
            </a:extLst>
          </p:cNvPr>
          <p:cNvSpPr txBox="1"/>
          <p:nvPr/>
        </p:nvSpPr>
        <p:spPr>
          <a:xfrm>
            <a:off x="43891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Quarterly review of NO-GO patterns to refine intake quality + scoring rubrics</a:t>
            </a:r>
          </a:p>
        </p:txBody>
      </p:sp>
      <p:sp>
        <p:nvSpPr>
          <p:cNvPr id="36" name="Rounded Rectangle 38">
            <a:extLst>
              <a:ext uri="{FF2B5EF4-FFF2-40B4-BE49-F238E27FC236}">
                <a16:creationId xmlns:a16="http://schemas.microsoft.com/office/drawing/2014/main" id="{9BC62C41-BC8A-415B-E39B-7016E4F780D5}"/>
              </a:ext>
            </a:extLst>
          </p:cNvPr>
          <p:cNvSpPr/>
          <p:nvPr/>
        </p:nvSpPr>
        <p:spPr>
          <a:xfrm>
            <a:off x="81381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9">
            <a:extLst>
              <a:ext uri="{FF2B5EF4-FFF2-40B4-BE49-F238E27FC236}">
                <a16:creationId xmlns:a16="http://schemas.microsoft.com/office/drawing/2014/main" id="{4A3E37DD-D3C1-03C1-48DA-D65B4C25B24A}"/>
              </a:ext>
            </a:extLst>
          </p:cNvPr>
          <p:cNvSpPr/>
          <p:nvPr/>
        </p:nvSpPr>
        <p:spPr>
          <a:xfrm>
            <a:off x="8138160" y="2103120"/>
            <a:ext cx="3703320" cy="73152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0">
            <a:extLst>
              <a:ext uri="{FF2B5EF4-FFF2-40B4-BE49-F238E27FC236}">
                <a16:creationId xmlns:a16="http://schemas.microsoft.com/office/drawing/2014/main" id="{69C0C945-F885-D762-3723-BE643C343731}"/>
              </a:ext>
            </a:extLst>
          </p:cNvPr>
          <p:cNvSpPr txBox="1"/>
          <p:nvPr/>
        </p:nvSpPr>
        <p:spPr>
          <a:xfrm>
            <a:off x="81381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DEFER</a:t>
            </a:r>
          </a:p>
        </p:txBody>
      </p:sp>
      <p:sp>
        <p:nvSpPr>
          <p:cNvPr id="39" name="TextBox 41">
            <a:extLst>
              <a:ext uri="{FF2B5EF4-FFF2-40B4-BE49-F238E27FC236}">
                <a16:creationId xmlns:a16="http://schemas.microsoft.com/office/drawing/2014/main" id="{15306FA2-3875-982D-7FF2-C7DD190B3844}"/>
              </a:ext>
            </a:extLst>
          </p:cNvPr>
          <p:cNvSpPr txBox="1"/>
          <p:nvPr/>
        </p:nvSpPr>
        <p:spPr>
          <a:xfrm>
            <a:off x="81381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Decision postponed</a:t>
            </a:r>
          </a:p>
        </p:txBody>
      </p:sp>
      <p:sp>
        <p:nvSpPr>
          <p:cNvPr id="40" name="TextBox 42">
            <a:extLst>
              <a:ext uri="{FF2B5EF4-FFF2-40B4-BE49-F238E27FC236}">
                <a16:creationId xmlns:a16="http://schemas.microsoft.com/office/drawing/2014/main" id="{03F82D20-0016-FA9D-636C-4371A4FCF33A}"/>
              </a:ext>
            </a:extLst>
          </p:cNvPr>
          <p:cNvSpPr txBox="1"/>
          <p:nvPr/>
        </p:nvSpPr>
        <p:spPr>
          <a:xfrm>
            <a:off x="82753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41" name="TextBox 43">
            <a:extLst>
              <a:ext uri="{FF2B5EF4-FFF2-40B4-BE49-F238E27FC236}">
                <a16:creationId xmlns:a16="http://schemas.microsoft.com/office/drawing/2014/main" id="{66228E63-E6FB-3CED-B527-C48CD6236D73}"/>
              </a:ext>
            </a:extLst>
          </p:cNvPr>
          <p:cNvSpPr txBox="1"/>
          <p:nvPr/>
        </p:nvSpPr>
        <p:spPr>
          <a:xfrm>
            <a:off x="82753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'Deferred' · stays in portfolio backlog · timestamp + reason captured</a:t>
            </a:r>
          </a:p>
        </p:txBody>
      </p:sp>
      <p:sp>
        <p:nvSpPr>
          <p:cNvPr id="42" name="TextBox 44">
            <a:extLst>
              <a:ext uri="{FF2B5EF4-FFF2-40B4-BE49-F238E27FC236}">
                <a16:creationId xmlns:a16="http://schemas.microsoft.com/office/drawing/2014/main" id="{21FB4421-820D-ECD7-345B-A5C4EDA0FF18}"/>
              </a:ext>
            </a:extLst>
          </p:cNvPr>
          <p:cNvSpPr txBox="1"/>
          <p:nvPr/>
        </p:nvSpPr>
        <p:spPr>
          <a:xfrm>
            <a:off x="82753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REASON</a:t>
            </a:r>
          </a:p>
        </p:txBody>
      </p:sp>
      <p:sp>
        <p:nvSpPr>
          <p:cNvPr id="43" name="TextBox 45">
            <a:extLst>
              <a:ext uri="{FF2B5EF4-FFF2-40B4-BE49-F238E27FC236}">
                <a16:creationId xmlns:a16="http://schemas.microsoft.com/office/drawing/2014/main" id="{E0B6B424-37C9-AFFD-2F93-4E93B298EABB}"/>
              </a:ext>
            </a:extLst>
          </p:cNvPr>
          <p:cNvSpPr txBox="1"/>
          <p:nvPr/>
        </p:nvSpPr>
        <p:spPr>
          <a:xfrm>
            <a:off x="82753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Insufficient info · capacity tight · waiting on dependency · seasonal timing</a:t>
            </a:r>
          </a:p>
        </p:txBody>
      </p:sp>
      <p:sp>
        <p:nvSpPr>
          <p:cNvPr id="44" name="TextBox 46">
            <a:extLst>
              <a:ext uri="{FF2B5EF4-FFF2-40B4-BE49-F238E27FC236}">
                <a16:creationId xmlns:a16="http://schemas.microsoft.com/office/drawing/2014/main" id="{C9C41EAB-E44B-0921-54E1-AC6523147D61}"/>
              </a:ext>
            </a:extLst>
          </p:cNvPr>
          <p:cNvSpPr txBox="1"/>
          <p:nvPr/>
        </p:nvSpPr>
        <p:spPr>
          <a:xfrm>
            <a:off x="82753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NOTIFY</a:t>
            </a:r>
          </a:p>
        </p:txBody>
      </p:sp>
      <p:sp>
        <p:nvSpPr>
          <p:cNvPr id="45" name="TextBox 47">
            <a:extLst>
              <a:ext uri="{FF2B5EF4-FFF2-40B4-BE49-F238E27FC236}">
                <a16:creationId xmlns:a16="http://schemas.microsoft.com/office/drawing/2014/main" id="{2966847F-E58D-D54F-9A31-B0E0BF7A62BB}"/>
              </a:ext>
            </a:extLst>
          </p:cNvPr>
          <p:cNvSpPr txBox="1"/>
          <p:nvPr/>
        </p:nvSpPr>
        <p:spPr>
          <a:xfrm>
            <a:off x="82753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 @PM · expected return date communicated</a:t>
            </a:r>
          </a:p>
        </p:txBody>
      </p:sp>
      <p:sp>
        <p:nvSpPr>
          <p:cNvPr id="46" name="TextBox 48">
            <a:extLst>
              <a:ext uri="{FF2B5EF4-FFF2-40B4-BE49-F238E27FC236}">
                <a16:creationId xmlns:a16="http://schemas.microsoft.com/office/drawing/2014/main" id="{67E1EBD3-A0DE-B572-4DA1-50DA37FDFE65}"/>
              </a:ext>
            </a:extLst>
          </p:cNvPr>
          <p:cNvSpPr txBox="1"/>
          <p:nvPr/>
        </p:nvSpPr>
        <p:spPr>
          <a:xfrm>
            <a:off x="82753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RE-EVALUATE</a:t>
            </a:r>
          </a:p>
        </p:txBody>
      </p:sp>
      <p:sp>
        <p:nvSpPr>
          <p:cNvPr id="47" name="TextBox 49">
            <a:extLst>
              <a:ext uri="{FF2B5EF4-FFF2-40B4-BE49-F238E27FC236}">
                <a16:creationId xmlns:a16="http://schemas.microsoft.com/office/drawing/2014/main" id="{E940A8F0-B341-5BC5-D335-14DE9A552B6C}"/>
              </a:ext>
            </a:extLst>
          </p:cNvPr>
          <p:cNvSpPr txBox="1"/>
          <p:nvPr/>
        </p:nvSpPr>
        <p:spPr>
          <a:xfrm>
            <a:off x="82753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Auto-surfaces at next monthly Gate 2 · PM may add missing info between gates</a:t>
            </a:r>
          </a:p>
        </p:txBody>
      </p:sp>
      <p:sp>
        <p:nvSpPr>
          <p:cNvPr id="48" name="TextBox 50">
            <a:extLst>
              <a:ext uri="{FF2B5EF4-FFF2-40B4-BE49-F238E27FC236}">
                <a16:creationId xmlns:a16="http://schemas.microsoft.com/office/drawing/2014/main" id="{40076E28-EE64-37CA-26A6-D32B94ECD482}"/>
              </a:ext>
            </a:extLst>
          </p:cNvPr>
          <p:cNvSpPr txBox="1"/>
          <p:nvPr/>
        </p:nvSpPr>
        <p:spPr>
          <a:xfrm>
            <a:off x="82753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ESCALATION</a:t>
            </a:r>
          </a:p>
        </p:txBody>
      </p:sp>
      <p:sp>
        <p:nvSpPr>
          <p:cNvPr id="49" name="TextBox 51">
            <a:extLst>
              <a:ext uri="{FF2B5EF4-FFF2-40B4-BE49-F238E27FC236}">
                <a16:creationId xmlns:a16="http://schemas.microsoft.com/office/drawing/2014/main" id="{CC389D93-09DB-0059-78DD-04BE6E609CDF}"/>
              </a:ext>
            </a:extLst>
          </p:cNvPr>
          <p:cNvSpPr txBox="1"/>
          <p:nvPr/>
        </p:nvSpPr>
        <p:spPr>
          <a:xfrm>
            <a:off x="82753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If deferred 3+ times → escalate to BRP for cross-portfolio decision</a:t>
            </a:r>
          </a:p>
        </p:txBody>
      </p:sp>
      <p:sp>
        <p:nvSpPr>
          <p:cNvPr id="50" name="Rounded Rectangle 52">
            <a:extLst>
              <a:ext uri="{FF2B5EF4-FFF2-40B4-BE49-F238E27FC236}">
                <a16:creationId xmlns:a16="http://schemas.microsoft.com/office/drawing/2014/main" id="{FD892873-F027-2AD3-D97E-0A915C512D42}"/>
              </a:ext>
            </a:extLst>
          </p:cNvPr>
          <p:cNvSpPr/>
          <p:nvPr/>
        </p:nvSpPr>
        <p:spPr>
          <a:xfrm>
            <a:off x="365760" y="6355080"/>
            <a:ext cx="11475720" cy="1828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3">
            <a:extLst>
              <a:ext uri="{FF2B5EF4-FFF2-40B4-BE49-F238E27FC236}">
                <a16:creationId xmlns:a16="http://schemas.microsoft.com/office/drawing/2014/main" id="{196D8DE9-6406-D6EF-016D-B2736D7D162E}"/>
              </a:ext>
            </a:extLst>
          </p:cNvPr>
          <p:cNvSpPr txBox="1"/>
          <p:nvPr/>
        </p:nvSpPr>
        <p:spPr>
          <a:xfrm>
            <a:off x="502920" y="6355080"/>
            <a:ext cx="11155680" cy="182880"/>
          </a:xfrm>
          <a:prstGeom prst="rect">
            <a:avLst/>
          </a:prstGeom>
          <a:noFill/>
        </p:spPr>
        <p:txBody>
          <a:bodyPr wrap="square" lIns="36000" tIns="18000" rIns="36000" bIns="18000" anchor="ctr">
            <a:spAutoFit/>
          </a:bodyPr>
          <a:lstStyle/>
          <a:p>
            <a:pPr algn="l"/>
            <a:r>
              <a:rPr sz="800" b="1" i="1">
                <a:solidFill>
                  <a:srgbClr val="006B3F"/>
                </a:solidFill>
                <a:latin typeface="Arial"/>
              </a:rPr>
              <a:t>All Gate 2 decisions are LOGGED in Jira · auditable · feed quarterly portfolio review at the BRPs (P&amp;T + Digital CoE)</a:t>
            </a:r>
          </a:p>
        </p:txBody>
      </p:sp>
      <p:sp>
        <p:nvSpPr>
          <p:cNvPr id="53" name="Text Placeholder 19">
            <a:extLst>
              <a:ext uri="{FF2B5EF4-FFF2-40B4-BE49-F238E27FC236}">
                <a16:creationId xmlns:a16="http://schemas.microsoft.com/office/drawing/2014/main" id="{D686769C-FBFD-F231-34CC-4CDF2240B94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a:t>
            </a: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 Post-gate 2 (go / no-go / defer)</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2917018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C2A4-3EBB-9C2F-81FE-64DCE6ED22A1}"/>
            </a:ext>
          </a:extLst>
        </p:cNvPr>
        <p:cNvGrpSpPr/>
        <p:nvPr/>
      </p:nvGrpSpPr>
      <p:grpSpPr>
        <a:xfrm>
          <a:off x="0" y="0"/>
          <a:ext cx="0" cy="0"/>
          <a:chOff x="0" y="0"/>
          <a:chExt cx="0" cy="0"/>
        </a:xfrm>
      </p:grpSpPr>
      <p:sp>
        <p:nvSpPr>
          <p:cNvPr id="52" name="Rounded Rectangle 6">
            <a:extLst>
              <a:ext uri="{FF2B5EF4-FFF2-40B4-BE49-F238E27FC236}">
                <a16:creationId xmlns:a16="http://schemas.microsoft.com/office/drawing/2014/main" id="{FB36CD76-601D-B1D1-8175-9B49E20BD86A}"/>
              </a:ext>
            </a:extLst>
          </p:cNvPr>
          <p:cNvSpPr/>
          <p:nvPr/>
        </p:nvSpPr>
        <p:spPr>
          <a:xfrm>
            <a:off x="365760" y="1097280"/>
            <a:ext cx="5646420" cy="5349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7">
            <a:extLst>
              <a:ext uri="{FF2B5EF4-FFF2-40B4-BE49-F238E27FC236}">
                <a16:creationId xmlns:a16="http://schemas.microsoft.com/office/drawing/2014/main" id="{D872AE6B-E0C0-7425-EA20-236137AD49B8}"/>
              </a:ext>
            </a:extLst>
          </p:cNvPr>
          <p:cNvSpPr/>
          <p:nvPr/>
        </p:nvSpPr>
        <p:spPr>
          <a:xfrm>
            <a:off x="365760" y="1097280"/>
            <a:ext cx="5646420" cy="77724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8">
            <a:extLst>
              <a:ext uri="{FF2B5EF4-FFF2-40B4-BE49-F238E27FC236}">
                <a16:creationId xmlns:a16="http://schemas.microsoft.com/office/drawing/2014/main" id="{3D2F94D9-CB3C-5FC5-BC61-CA2A3AB10297}"/>
              </a:ext>
            </a:extLst>
          </p:cNvPr>
          <p:cNvSpPr txBox="1"/>
          <p:nvPr/>
        </p:nvSpPr>
        <p:spPr>
          <a:xfrm>
            <a:off x="502920" y="1147156"/>
            <a:ext cx="5372100" cy="274320"/>
          </a:xfrm>
          <a:prstGeom prst="rect">
            <a:avLst/>
          </a:prstGeom>
          <a:noFill/>
        </p:spPr>
        <p:txBody>
          <a:bodyPr wrap="square" lIns="36000" tIns="18000" rIns="36000" bIns="18000" anchor="t">
            <a:spAutoFit/>
          </a:bodyPr>
          <a:lstStyle/>
          <a:p>
            <a:pPr algn="l"/>
            <a:r>
              <a:rPr sz="1400" b="1" i="0">
                <a:solidFill>
                  <a:srgbClr val="FFFFFF"/>
                </a:solidFill>
                <a:latin typeface="Arial"/>
              </a:rPr>
              <a:t>LEVEL 1  ·  PORTFOLIO PRACTICES</a:t>
            </a:r>
          </a:p>
        </p:txBody>
      </p:sp>
      <p:sp>
        <p:nvSpPr>
          <p:cNvPr id="55" name="TextBox 9">
            <a:extLst>
              <a:ext uri="{FF2B5EF4-FFF2-40B4-BE49-F238E27FC236}">
                <a16:creationId xmlns:a16="http://schemas.microsoft.com/office/drawing/2014/main" id="{6CA92DAE-23AD-2FD6-264F-C67263D9C228}"/>
              </a:ext>
            </a:extLst>
          </p:cNvPr>
          <p:cNvSpPr txBox="1"/>
          <p:nvPr/>
        </p:nvSpPr>
        <p:spPr>
          <a:xfrm>
            <a:off x="502920" y="1421476"/>
            <a:ext cx="5372100" cy="201168"/>
          </a:xfrm>
          <a:prstGeom prst="rect">
            <a:avLst/>
          </a:prstGeom>
          <a:noFill/>
        </p:spPr>
        <p:txBody>
          <a:bodyPr wrap="square" lIns="36000" tIns="18000" rIns="36000" bIns="18000" anchor="t">
            <a:spAutoFit/>
          </a:bodyPr>
          <a:lstStyle/>
          <a:p>
            <a:pPr algn="l"/>
            <a:r>
              <a:rPr sz="900" b="0" i="1">
                <a:solidFill>
                  <a:srgbClr val="C8E0CB"/>
                </a:solidFill>
                <a:latin typeface="Arial"/>
              </a:rPr>
              <a:t>Director-level · quarterly horizon · cross-VS planning</a:t>
            </a:r>
          </a:p>
        </p:txBody>
      </p:sp>
      <p:sp>
        <p:nvSpPr>
          <p:cNvPr id="56" name="TextBox 10">
            <a:extLst>
              <a:ext uri="{FF2B5EF4-FFF2-40B4-BE49-F238E27FC236}">
                <a16:creationId xmlns:a16="http://schemas.microsoft.com/office/drawing/2014/main" id="{93D4DDBC-EE0C-CF45-C2B5-BA326933103A}"/>
              </a:ext>
            </a:extLst>
          </p:cNvPr>
          <p:cNvSpPr txBox="1"/>
          <p:nvPr/>
        </p:nvSpPr>
        <p:spPr>
          <a:xfrm>
            <a:off x="502919" y="1600200"/>
            <a:ext cx="6116089" cy="282573"/>
          </a:xfrm>
          <a:prstGeom prst="rect">
            <a:avLst/>
          </a:prstGeom>
          <a:noFill/>
        </p:spPr>
        <p:txBody>
          <a:bodyPr wrap="square" lIns="36000" tIns="18000" rIns="36000" bIns="18000" anchor="t">
            <a:spAutoFit/>
          </a:bodyPr>
          <a:lstStyle/>
          <a:p>
            <a:r>
              <a:rPr sz="800" b="1" i="0">
                <a:solidFill>
                  <a:srgbClr val="FFFFFF"/>
                </a:solidFill>
                <a:latin typeface="Arial"/>
              </a:rPr>
              <a:t>OWNER · </a:t>
            </a:r>
            <a:r>
              <a:rPr lang="es-MX" sz="800" b="1" err="1">
                <a:solidFill>
                  <a:srgbClr val="FFFFFF"/>
                </a:solidFill>
                <a:latin typeface="Arial"/>
              </a:rPr>
              <a:t>Directors</a:t>
            </a:r>
            <a:r>
              <a:rPr lang="es-MX" sz="800" b="1">
                <a:solidFill>
                  <a:srgbClr val="FFFFFF"/>
                </a:solidFill>
                <a:latin typeface="Arial"/>
              </a:rPr>
              <a:t>  Customer </a:t>
            </a:r>
            <a:r>
              <a:rPr lang="es-MX" sz="800" b="1" err="1">
                <a:solidFill>
                  <a:srgbClr val="FFFFFF"/>
                </a:solidFill>
                <a:latin typeface="Arial"/>
              </a:rPr>
              <a:t>Services</a:t>
            </a:r>
            <a:r>
              <a:rPr lang="es-MX" sz="800" b="1">
                <a:solidFill>
                  <a:srgbClr val="FFFFFF"/>
                </a:solidFill>
                <a:latin typeface="Arial"/>
              </a:rPr>
              <a:t> </a:t>
            </a:r>
            <a:r>
              <a:rPr lang="es-MX" sz="800" b="1" err="1">
                <a:solidFill>
                  <a:srgbClr val="FFFFFF"/>
                </a:solidFill>
                <a:latin typeface="Arial"/>
              </a:rPr>
              <a:t>Applications</a:t>
            </a:r>
            <a:r>
              <a:rPr lang="es-MX" sz="800" b="1">
                <a:solidFill>
                  <a:srgbClr val="FFFFFF"/>
                </a:solidFill>
                <a:latin typeface="Arial"/>
              </a:rPr>
              <a:t> Managers ·  Business </a:t>
            </a:r>
            <a:r>
              <a:rPr lang="es-MX" sz="800" b="1" err="1">
                <a:solidFill>
                  <a:srgbClr val="FFFFFF"/>
                </a:solidFill>
                <a:latin typeface="Arial"/>
              </a:rPr>
              <a:t>Applications</a:t>
            </a:r>
            <a:r>
              <a:rPr lang="es-MX" sz="800" b="1">
                <a:solidFill>
                  <a:srgbClr val="FFFFFF"/>
                </a:solidFill>
                <a:latin typeface="Arial"/>
              </a:rPr>
              <a:t> Managers</a:t>
            </a:r>
          </a:p>
          <a:p>
            <a:pPr algn="l"/>
            <a:r>
              <a:rPr sz="800" b="1" i="0">
                <a:solidFill>
                  <a:srgbClr val="FFFFFF"/>
                </a:solidFill>
                <a:latin typeface="Arial"/>
              </a:rPr>
              <a:t>·  cadence: monthly Gate 2</a:t>
            </a:r>
          </a:p>
        </p:txBody>
      </p:sp>
      <p:sp>
        <p:nvSpPr>
          <p:cNvPr id="57" name="TextBox 11">
            <a:extLst>
              <a:ext uri="{FF2B5EF4-FFF2-40B4-BE49-F238E27FC236}">
                <a16:creationId xmlns:a16="http://schemas.microsoft.com/office/drawing/2014/main" id="{092D6551-92DF-512B-B643-C7E488CB49A2}"/>
              </a:ext>
            </a:extLst>
          </p:cNvPr>
          <p:cNvSpPr txBox="1"/>
          <p:nvPr/>
        </p:nvSpPr>
        <p:spPr>
          <a:xfrm>
            <a:off x="502920" y="1965960"/>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CAPACITY PLANNING</a:t>
            </a:r>
          </a:p>
        </p:txBody>
      </p:sp>
      <p:sp>
        <p:nvSpPr>
          <p:cNvPr id="58" name="TextBox 12">
            <a:extLst>
              <a:ext uri="{FF2B5EF4-FFF2-40B4-BE49-F238E27FC236}">
                <a16:creationId xmlns:a16="http://schemas.microsoft.com/office/drawing/2014/main" id="{EC5DBAC4-7994-9F5F-0DE2-CC7C9AEF3658}"/>
              </a:ext>
            </a:extLst>
          </p:cNvPr>
          <p:cNvSpPr txBox="1"/>
          <p:nvPr/>
        </p:nvSpPr>
        <p:spPr>
          <a:xfrm>
            <a:off x="502920" y="2148840"/>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Squad capacity per quarter · % allocation per CoS · Standard / Fixed-Date / Expedite / Intangible mix · validated at Gate 2 monthly</a:t>
            </a:r>
          </a:p>
        </p:txBody>
      </p:sp>
      <p:sp>
        <p:nvSpPr>
          <p:cNvPr id="59" name="TextBox 13">
            <a:extLst>
              <a:ext uri="{FF2B5EF4-FFF2-40B4-BE49-F238E27FC236}">
                <a16:creationId xmlns:a16="http://schemas.microsoft.com/office/drawing/2014/main" id="{0F204C3F-33C6-E423-A7BB-60D00E0F4D73}"/>
              </a:ext>
            </a:extLst>
          </p:cNvPr>
          <p:cNvSpPr txBox="1"/>
          <p:nvPr/>
        </p:nvSpPr>
        <p:spPr>
          <a:xfrm>
            <a:off x="502920" y="2807208"/>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PORTFOLIO BACKLOG</a:t>
            </a:r>
          </a:p>
        </p:txBody>
      </p:sp>
      <p:sp>
        <p:nvSpPr>
          <p:cNvPr id="60" name="TextBox 14">
            <a:extLst>
              <a:ext uri="{FF2B5EF4-FFF2-40B4-BE49-F238E27FC236}">
                <a16:creationId xmlns:a16="http://schemas.microsoft.com/office/drawing/2014/main" id="{F7168B27-3B73-59FB-1A26-8AC1E4EACBBA}"/>
              </a:ext>
            </a:extLst>
          </p:cNvPr>
          <p:cNvSpPr txBox="1"/>
          <p:nvPr/>
        </p:nvSpPr>
        <p:spPr>
          <a:xfrm>
            <a:off x="502920" y="2990088"/>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Long-term roadmap · ranked by Pain Score + CoS + OPCO multiplier · re-ranked at every Gate 2</a:t>
            </a:r>
          </a:p>
        </p:txBody>
      </p:sp>
      <p:sp>
        <p:nvSpPr>
          <p:cNvPr id="61" name="TextBox 15">
            <a:extLst>
              <a:ext uri="{FF2B5EF4-FFF2-40B4-BE49-F238E27FC236}">
                <a16:creationId xmlns:a16="http://schemas.microsoft.com/office/drawing/2014/main" id="{0628A340-893F-2883-DE2D-4ED09AAF3C49}"/>
              </a:ext>
            </a:extLst>
          </p:cNvPr>
          <p:cNvSpPr txBox="1"/>
          <p:nvPr/>
        </p:nvSpPr>
        <p:spPr>
          <a:xfrm>
            <a:off x="502920" y="3648456"/>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APPLICATION LICENSES</a:t>
            </a:r>
          </a:p>
        </p:txBody>
      </p:sp>
      <p:sp>
        <p:nvSpPr>
          <p:cNvPr id="62" name="TextBox 16">
            <a:extLst>
              <a:ext uri="{FF2B5EF4-FFF2-40B4-BE49-F238E27FC236}">
                <a16:creationId xmlns:a16="http://schemas.microsoft.com/office/drawing/2014/main" id="{A4B815AB-BA3C-CC25-CC3E-5FF35E69216F}"/>
              </a:ext>
            </a:extLst>
          </p:cNvPr>
          <p:cNvSpPr txBox="1"/>
          <p:nvPr/>
        </p:nvSpPr>
        <p:spPr>
          <a:xfrm>
            <a:off x="502920" y="3831336"/>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License inventory · renewal calendar · cost optimization · vendor management · auto-flagged at intake</a:t>
            </a:r>
          </a:p>
        </p:txBody>
      </p:sp>
      <p:sp>
        <p:nvSpPr>
          <p:cNvPr id="63" name="TextBox 17">
            <a:extLst>
              <a:ext uri="{FF2B5EF4-FFF2-40B4-BE49-F238E27FC236}">
                <a16:creationId xmlns:a16="http://schemas.microsoft.com/office/drawing/2014/main" id="{8077DCC7-F6FA-189A-96DE-FCB6C02471DF}"/>
              </a:ext>
            </a:extLst>
          </p:cNvPr>
          <p:cNvSpPr txBox="1"/>
          <p:nvPr/>
        </p:nvSpPr>
        <p:spPr>
          <a:xfrm>
            <a:off x="502920" y="4489704"/>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CROSS-VS DEPENDENCIES</a:t>
            </a:r>
          </a:p>
        </p:txBody>
      </p:sp>
      <p:sp>
        <p:nvSpPr>
          <p:cNvPr id="64" name="TextBox 18">
            <a:extLst>
              <a:ext uri="{FF2B5EF4-FFF2-40B4-BE49-F238E27FC236}">
                <a16:creationId xmlns:a16="http://schemas.microsoft.com/office/drawing/2014/main" id="{D7ED4386-BE28-CA24-CB55-3DD13F302117}"/>
              </a:ext>
            </a:extLst>
          </p:cNvPr>
          <p:cNvSpPr txBox="1"/>
          <p:nvPr/>
        </p:nvSpPr>
        <p:spPr>
          <a:xfrm>
            <a:off x="502920" y="4672584"/>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Mapped at quarterly BRP · feeds capacity decisions · resolved before Gate 2 commits</a:t>
            </a:r>
          </a:p>
        </p:txBody>
      </p:sp>
      <p:sp>
        <p:nvSpPr>
          <p:cNvPr id="65" name="TextBox 19">
            <a:extLst>
              <a:ext uri="{FF2B5EF4-FFF2-40B4-BE49-F238E27FC236}">
                <a16:creationId xmlns:a16="http://schemas.microsoft.com/office/drawing/2014/main" id="{CC39BD3A-C5B2-50D6-9E2E-EBE7A11B6A31}"/>
              </a:ext>
            </a:extLst>
          </p:cNvPr>
          <p:cNvSpPr txBox="1"/>
          <p:nvPr/>
        </p:nvSpPr>
        <p:spPr>
          <a:xfrm>
            <a:off x="502920" y="5330952"/>
            <a:ext cx="5372100" cy="174851"/>
          </a:xfrm>
          <a:prstGeom prst="rect">
            <a:avLst/>
          </a:prstGeom>
          <a:noFill/>
        </p:spPr>
        <p:txBody>
          <a:bodyPr wrap="square" lIns="36000" tIns="18000" rIns="36000" bIns="18000" anchor="t">
            <a:spAutoFit/>
          </a:bodyPr>
          <a:lstStyle>
            <a:defPPr>
              <a:defRPr lang="es-MX"/>
            </a:defPPr>
            <a:lvl1pPr>
              <a:defRPr sz="900" b="1" i="0">
                <a:solidFill>
                  <a:srgbClr val="006B3F"/>
                </a:solidFill>
                <a:latin typeface="Arial"/>
              </a:defRPr>
            </a:lvl1pPr>
          </a:lstStyle>
          <a:p>
            <a:r>
              <a:rPr lang="en-US"/>
              <a:t>KPIs ALIGNMENT</a:t>
            </a:r>
          </a:p>
        </p:txBody>
      </p:sp>
      <p:sp>
        <p:nvSpPr>
          <p:cNvPr id="66" name="TextBox 20">
            <a:extLst>
              <a:ext uri="{FF2B5EF4-FFF2-40B4-BE49-F238E27FC236}">
                <a16:creationId xmlns:a16="http://schemas.microsoft.com/office/drawing/2014/main" id="{2A938D14-BD08-99B0-B081-4C8BED9818C7}"/>
              </a:ext>
            </a:extLst>
          </p:cNvPr>
          <p:cNvSpPr txBox="1"/>
          <p:nvPr/>
        </p:nvSpPr>
        <p:spPr>
          <a:xfrm>
            <a:off x="502920" y="5513832"/>
            <a:ext cx="5372100" cy="174851"/>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Operational KPIs drive prioritization, capacity allocation, and continuous re-ranking at Gate 2</a:t>
            </a:r>
          </a:p>
        </p:txBody>
      </p:sp>
      <p:sp>
        <p:nvSpPr>
          <p:cNvPr id="67" name="Rounded Rectangle 21">
            <a:extLst>
              <a:ext uri="{FF2B5EF4-FFF2-40B4-BE49-F238E27FC236}">
                <a16:creationId xmlns:a16="http://schemas.microsoft.com/office/drawing/2014/main" id="{D3F040F0-A8FD-A186-8129-C0DDB32460B6}"/>
              </a:ext>
            </a:extLst>
          </p:cNvPr>
          <p:cNvSpPr/>
          <p:nvPr/>
        </p:nvSpPr>
        <p:spPr>
          <a:xfrm>
            <a:off x="6195060" y="1097280"/>
            <a:ext cx="5646420" cy="5349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22">
            <a:extLst>
              <a:ext uri="{FF2B5EF4-FFF2-40B4-BE49-F238E27FC236}">
                <a16:creationId xmlns:a16="http://schemas.microsoft.com/office/drawing/2014/main" id="{B104CAE7-247C-3988-3834-89A6490F75FC}"/>
              </a:ext>
            </a:extLst>
          </p:cNvPr>
          <p:cNvSpPr/>
          <p:nvPr/>
        </p:nvSpPr>
        <p:spPr>
          <a:xfrm>
            <a:off x="6195060" y="1097280"/>
            <a:ext cx="564642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23">
            <a:extLst>
              <a:ext uri="{FF2B5EF4-FFF2-40B4-BE49-F238E27FC236}">
                <a16:creationId xmlns:a16="http://schemas.microsoft.com/office/drawing/2014/main" id="{622B6266-6AF7-7BC6-7995-40A71D173C4B}"/>
              </a:ext>
            </a:extLst>
          </p:cNvPr>
          <p:cNvSpPr txBox="1"/>
          <p:nvPr/>
        </p:nvSpPr>
        <p:spPr>
          <a:xfrm>
            <a:off x="6332220" y="1147156"/>
            <a:ext cx="5372100" cy="251795"/>
          </a:xfrm>
          <a:prstGeom prst="rect">
            <a:avLst/>
          </a:prstGeom>
          <a:noFill/>
        </p:spPr>
        <p:txBody>
          <a:bodyPr wrap="square" lIns="36000" tIns="18000" rIns="36000" bIns="18000" anchor="t">
            <a:spAutoFit/>
          </a:bodyPr>
          <a:lstStyle/>
          <a:p>
            <a:pPr algn="l"/>
            <a:r>
              <a:rPr sz="1400" b="1" i="0">
                <a:solidFill>
                  <a:srgbClr val="FFFFFF"/>
                </a:solidFill>
                <a:latin typeface="Arial"/>
              </a:rPr>
              <a:t>LEVEL 2  ·  </a:t>
            </a:r>
            <a:r>
              <a:rPr lang="pt-BR" sz="1400" b="1" i="0">
                <a:solidFill>
                  <a:srgbClr val="FFFFFF"/>
                </a:solidFill>
                <a:latin typeface="Arial"/>
              </a:rPr>
              <a:t>VALUE STREAM</a:t>
            </a:r>
            <a:r>
              <a:rPr sz="1400" b="1" i="0">
                <a:solidFill>
                  <a:srgbClr val="FFFFFF"/>
                </a:solidFill>
                <a:latin typeface="Arial"/>
              </a:rPr>
              <a:t> PLANNING</a:t>
            </a:r>
          </a:p>
        </p:txBody>
      </p:sp>
      <p:sp>
        <p:nvSpPr>
          <p:cNvPr id="70" name="TextBox 24">
            <a:extLst>
              <a:ext uri="{FF2B5EF4-FFF2-40B4-BE49-F238E27FC236}">
                <a16:creationId xmlns:a16="http://schemas.microsoft.com/office/drawing/2014/main" id="{111088C2-AE2D-03C6-D633-5642192406D6}"/>
              </a:ext>
            </a:extLst>
          </p:cNvPr>
          <p:cNvSpPr txBox="1"/>
          <p:nvPr/>
        </p:nvSpPr>
        <p:spPr>
          <a:xfrm>
            <a:off x="6332220" y="1421476"/>
            <a:ext cx="5372100" cy="174851"/>
          </a:xfrm>
          <a:prstGeom prst="rect">
            <a:avLst/>
          </a:prstGeom>
          <a:noFill/>
        </p:spPr>
        <p:txBody>
          <a:bodyPr wrap="square" lIns="36000" tIns="18000" rIns="36000" bIns="18000" anchor="t">
            <a:spAutoFit/>
          </a:bodyPr>
          <a:lstStyle/>
          <a:p>
            <a:pPr algn="l"/>
            <a:r>
              <a:rPr sz="900" b="0" i="1">
                <a:solidFill>
                  <a:srgbClr val="C8E0CB"/>
                </a:solidFill>
                <a:latin typeface="Arial"/>
              </a:rPr>
              <a:t>PM-level · post-Gate 2 GO · per Initiative within </a:t>
            </a:r>
            <a:r>
              <a:rPr lang="pt-BR" sz="900" b="0" i="1" err="1">
                <a:solidFill>
                  <a:srgbClr val="C8E0CB"/>
                </a:solidFill>
                <a:latin typeface="Arial"/>
              </a:rPr>
              <a:t>the</a:t>
            </a:r>
            <a:r>
              <a:rPr lang="pt-BR" sz="900" b="0" i="1">
                <a:solidFill>
                  <a:srgbClr val="C8E0CB"/>
                </a:solidFill>
                <a:latin typeface="Arial"/>
              </a:rPr>
              <a:t> </a:t>
            </a:r>
            <a:r>
              <a:rPr lang="pt-BR" sz="900" i="1" err="1">
                <a:solidFill>
                  <a:srgbClr val="C8E0CB"/>
                </a:solidFill>
                <a:latin typeface="Arial"/>
              </a:rPr>
              <a:t>Value</a:t>
            </a:r>
            <a:r>
              <a:rPr lang="pt-BR" sz="900" i="1">
                <a:solidFill>
                  <a:srgbClr val="C8E0CB"/>
                </a:solidFill>
                <a:latin typeface="Arial"/>
              </a:rPr>
              <a:t> Stream</a:t>
            </a:r>
            <a:endParaRPr sz="900" b="0" i="1">
              <a:solidFill>
                <a:srgbClr val="C8E0CB"/>
              </a:solidFill>
              <a:latin typeface="Arial"/>
            </a:endParaRPr>
          </a:p>
        </p:txBody>
      </p:sp>
      <p:sp>
        <p:nvSpPr>
          <p:cNvPr id="71" name="TextBox 25">
            <a:extLst>
              <a:ext uri="{FF2B5EF4-FFF2-40B4-BE49-F238E27FC236}">
                <a16:creationId xmlns:a16="http://schemas.microsoft.com/office/drawing/2014/main" id="{6F58EE01-BA0F-6A9F-9043-668DE860E9A2}"/>
              </a:ext>
            </a:extLst>
          </p:cNvPr>
          <p:cNvSpPr txBox="1"/>
          <p:nvPr/>
        </p:nvSpPr>
        <p:spPr>
          <a:xfrm>
            <a:off x="6332220" y="1653817"/>
            <a:ext cx="5372100" cy="159462"/>
          </a:xfrm>
          <a:prstGeom prst="rect">
            <a:avLst/>
          </a:prstGeom>
          <a:noFill/>
        </p:spPr>
        <p:txBody>
          <a:bodyPr wrap="square" lIns="36000" tIns="18000" rIns="36000" bIns="18000" anchor="t">
            <a:spAutoFit/>
          </a:bodyPr>
          <a:lstStyle/>
          <a:p>
            <a:pPr algn="l"/>
            <a:r>
              <a:rPr sz="800" b="1" i="0">
                <a:solidFill>
                  <a:srgbClr val="FFFFFF"/>
                </a:solidFill>
                <a:latin typeface="Arial"/>
              </a:rPr>
              <a:t>OWNER · PM (Portfolio · per VS)  ·  cadence: per Initiative · continuous within </a:t>
            </a:r>
            <a:r>
              <a:rPr lang="pt-BR" sz="800" b="1" i="0" err="1">
                <a:solidFill>
                  <a:srgbClr val="FFFFFF"/>
                </a:solidFill>
                <a:latin typeface="Arial"/>
              </a:rPr>
              <a:t>Value</a:t>
            </a:r>
            <a:r>
              <a:rPr lang="pt-BR" sz="800" b="1" i="0">
                <a:solidFill>
                  <a:srgbClr val="FFFFFF"/>
                </a:solidFill>
                <a:latin typeface="Arial"/>
              </a:rPr>
              <a:t> Stream</a:t>
            </a:r>
            <a:endParaRPr sz="800" b="1" i="0">
              <a:solidFill>
                <a:srgbClr val="FFFFFF"/>
              </a:solidFill>
              <a:latin typeface="Arial"/>
            </a:endParaRPr>
          </a:p>
        </p:txBody>
      </p:sp>
      <p:sp>
        <p:nvSpPr>
          <p:cNvPr id="72" name="TextBox 26">
            <a:extLst>
              <a:ext uri="{FF2B5EF4-FFF2-40B4-BE49-F238E27FC236}">
                <a16:creationId xmlns:a16="http://schemas.microsoft.com/office/drawing/2014/main" id="{9878A6E9-C171-3C77-941F-1347F208F796}"/>
              </a:ext>
            </a:extLst>
          </p:cNvPr>
          <p:cNvSpPr txBox="1"/>
          <p:nvPr/>
        </p:nvSpPr>
        <p:spPr>
          <a:xfrm>
            <a:off x="6332220" y="1965960"/>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KICK-OFF</a:t>
            </a:r>
          </a:p>
        </p:txBody>
      </p:sp>
      <p:sp>
        <p:nvSpPr>
          <p:cNvPr id="73" name="TextBox 27">
            <a:extLst>
              <a:ext uri="{FF2B5EF4-FFF2-40B4-BE49-F238E27FC236}">
                <a16:creationId xmlns:a16="http://schemas.microsoft.com/office/drawing/2014/main" id="{F2E7AFA4-2083-9451-1013-7DD57EE6D7B9}"/>
              </a:ext>
            </a:extLst>
          </p:cNvPr>
          <p:cNvSpPr txBox="1"/>
          <p:nvPr/>
        </p:nvSpPr>
        <p:spPr>
          <a:xfrm>
            <a:off x="6332220" y="2148840"/>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Within 1 week of Gate 2 GO · PM + Tech Lead + Sponsor · scope confirmed · success metrics agreed within Product context</a:t>
            </a:r>
          </a:p>
        </p:txBody>
      </p:sp>
      <p:sp>
        <p:nvSpPr>
          <p:cNvPr id="74" name="TextBox 28">
            <a:extLst>
              <a:ext uri="{FF2B5EF4-FFF2-40B4-BE49-F238E27FC236}">
                <a16:creationId xmlns:a16="http://schemas.microsoft.com/office/drawing/2014/main" id="{EBAE14F1-BA90-BE44-08F5-9675B819B041}"/>
              </a:ext>
            </a:extLst>
          </p:cNvPr>
          <p:cNvSpPr txBox="1"/>
          <p:nvPr/>
        </p:nvSpPr>
        <p:spPr>
          <a:xfrm>
            <a:off x="6332220" y="2807208"/>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DEEP DISCOVERY</a:t>
            </a:r>
          </a:p>
        </p:txBody>
      </p:sp>
      <p:sp>
        <p:nvSpPr>
          <p:cNvPr id="75" name="TextBox 29">
            <a:extLst>
              <a:ext uri="{FF2B5EF4-FFF2-40B4-BE49-F238E27FC236}">
                <a16:creationId xmlns:a16="http://schemas.microsoft.com/office/drawing/2014/main" id="{EED69677-C055-9E28-C4DB-877D11A22669}"/>
              </a:ext>
            </a:extLst>
          </p:cNvPr>
          <p:cNvSpPr txBox="1"/>
          <p:nvPr/>
        </p:nvSpPr>
        <p:spPr>
          <a:xfrm>
            <a:off x="6332220" y="2990088"/>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Phase 0 deepens · users / personas validated · solution shape · risks · architecture review (run by domain product team / vendor · NOT Digital Products)</a:t>
            </a:r>
          </a:p>
        </p:txBody>
      </p:sp>
      <p:sp>
        <p:nvSpPr>
          <p:cNvPr id="76" name="TextBox 30">
            <a:extLst>
              <a:ext uri="{FF2B5EF4-FFF2-40B4-BE49-F238E27FC236}">
                <a16:creationId xmlns:a16="http://schemas.microsoft.com/office/drawing/2014/main" id="{3F98C3BC-4179-525E-14BE-DF6AAEF856E0}"/>
              </a:ext>
            </a:extLst>
          </p:cNvPr>
          <p:cNvSpPr txBox="1"/>
          <p:nvPr/>
        </p:nvSpPr>
        <p:spPr>
          <a:xfrm>
            <a:off x="6332220" y="3648456"/>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SIZING &amp; MATERIALIZATION</a:t>
            </a:r>
          </a:p>
        </p:txBody>
      </p:sp>
      <p:sp>
        <p:nvSpPr>
          <p:cNvPr id="77" name="TextBox 31">
            <a:extLst>
              <a:ext uri="{FF2B5EF4-FFF2-40B4-BE49-F238E27FC236}">
                <a16:creationId xmlns:a16="http://schemas.microsoft.com/office/drawing/2014/main" id="{5B610DCD-6963-884D-AE80-1BFC3BACDEB7}"/>
              </a:ext>
            </a:extLst>
          </p:cNvPr>
          <p:cNvSpPr txBox="1"/>
          <p:nvPr/>
        </p:nvSpPr>
        <p:spPr>
          <a:xfrm>
            <a:off x="6332220" y="3831336"/>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Phase 1 · t-shirt confirmed · roadmap · budget · vendor model finalized · feeds Product roadmap of the VS</a:t>
            </a:r>
          </a:p>
        </p:txBody>
      </p:sp>
      <p:sp>
        <p:nvSpPr>
          <p:cNvPr id="78" name="TextBox 32">
            <a:extLst>
              <a:ext uri="{FF2B5EF4-FFF2-40B4-BE49-F238E27FC236}">
                <a16:creationId xmlns:a16="http://schemas.microsoft.com/office/drawing/2014/main" id="{412EB881-F7D1-0009-C212-E4337F9EFF0F}"/>
              </a:ext>
            </a:extLst>
          </p:cNvPr>
          <p:cNvSpPr txBox="1"/>
          <p:nvPr/>
        </p:nvSpPr>
        <p:spPr>
          <a:xfrm>
            <a:off x="6332220" y="4489704"/>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DEFINITION OF READY</a:t>
            </a:r>
          </a:p>
        </p:txBody>
      </p:sp>
      <p:sp>
        <p:nvSpPr>
          <p:cNvPr id="79" name="TextBox 33">
            <a:extLst>
              <a:ext uri="{FF2B5EF4-FFF2-40B4-BE49-F238E27FC236}">
                <a16:creationId xmlns:a16="http://schemas.microsoft.com/office/drawing/2014/main" id="{9D7E9F06-E3E7-AAAB-E33E-6DFF43527661}"/>
              </a:ext>
            </a:extLst>
          </p:cNvPr>
          <p:cNvSpPr txBox="1"/>
          <p:nvPr/>
        </p:nvSpPr>
        <p:spPr>
          <a:xfrm>
            <a:off x="6332220" y="4672584"/>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Squad-level DoR check before pulling to Phase 2/3 (Delivery · Digital Products) · DoR mismatch → back to Materialization</a:t>
            </a:r>
          </a:p>
        </p:txBody>
      </p:sp>
      <p:sp>
        <p:nvSpPr>
          <p:cNvPr id="80" name="TextBox 34">
            <a:extLst>
              <a:ext uri="{FF2B5EF4-FFF2-40B4-BE49-F238E27FC236}">
                <a16:creationId xmlns:a16="http://schemas.microsoft.com/office/drawing/2014/main" id="{FDD9351E-8A1A-AEBA-31D1-B60832762FE9}"/>
              </a:ext>
            </a:extLst>
          </p:cNvPr>
          <p:cNvSpPr txBox="1"/>
          <p:nvPr/>
        </p:nvSpPr>
        <p:spPr>
          <a:xfrm>
            <a:off x="6332220" y="5330952"/>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EXISTING INITIATIVES</a:t>
            </a:r>
          </a:p>
        </p:txBody>
      </p:sp>
      <p:sp>
        <p:nvSpPr>
          <p:cNvPr id="81" name="TextBox 35">
            <a:extLst>
              <a:ext uri="{FF2B5EF4-FFF2-40B4-BE49-F238E27FC236}">
                <a16:creationId xmlns:a16="http://schemas.microsoft.com/office/drawing/2014/main" id="{DAD72973-49C8-AA5D-A7C0-7D9DFEC43B16}"/>
              </a:ext>
            </a:extLst>
          </p:cNvPr>
          <p:cNvSpPr txBox="1"/>
          <p:nvPr/>
        </p:nvSpPr>
        <p:spPr>
          <a:xfrm>
            <a:off x="6332220" y="5513832"/>
            <a:ext cx="5372100" cy="313350"/>
          </a:xfrm>
          <a:prstGeom prst="rect">
            <a:avLst/>
          </a:prstGeom>
          <a:noFill/>
        </p:spPr>
        <p:txBody>
          <a:bodyPr wrap="square" lIns="36000" tIns="18000" rIns="36000" bIns="18000" anchor="t">
            <a:spAutoFit/>
          </a:bodyPr>
          <a:lstStyle/>
          <a:p>
            <a:pPr algn="l"/>
            <a:r>
              <a:rPr sz="900" b="0" i="0">
                <a:solidFill>
                  <a:srgbClr val="2C3E50"/>
                </a:solidFill>
                <a:latin typeface="Arial"/>
              </a:rPr>
              <a:t>Scope-add via 'Demand on Existing </a:t>
            </a:r>
            <a:r>
              <a:rPr lang="pt-BR" sz="900" b="0" i="0" err="1">
                <a:solidFill>
                  <a:srgbClr val="2C3E50"/>
                </a:solidFill>
                <a:latin typeface="Arial"/>
              </a:rPr>
              <a:t>Initiative</a:t>
            </a:r>
            <a:r>
              <a:rPr sz="900" b="0" i="0">
                <a:solidFill>
                  <a:srgbClr val="2C3E50"/>
                </a:solidFill>
                <a:latin typeface="Arial"/>
              </a:rPr>
              <a:t>' shortcut · Squad PM evaluates impact · sub-task linked to parent Initiative</a:t>
            </a:r>
          </a:p>
        </p:txBody>
      </p:sp>
      <p:sp>
        <p:nvSpPr>
          <p:cNvPr id="2" name="Text Placeholder 19">
            <a:extLst>
              <a:ext uri="{FF2B5EF4-FFF2-40B4-BE49-F238E27FC236}">
                <a16:creationId xmlns:a16="http://schemas.microsoft.com/office/drawing/2014/main" id="{4AD713AD-3F1C-D6D2-35E0-176E8E2A9269}"/>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Post-gate 2 (go / no-go / defer)</a:t>
            </a:r>
          </a:p>
        </p:txBody>
      </p:sp>
    </p:spTree>
    <p:extLst>
      <p:ext uri="{BB962C8B-B14F-4D97-AF65-F5344CB8AC3E}">
        <p14:creationId xmlns:p14="http://schemas.microsoft.com/office/powerpoint/2010/main" val="3046688617"/>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38E66-8C3F-B382-D47E-DFC5ACBC5AB0}"/>
            </a:ext>
          </a:extLst>
        </p:cNvPr>
        <p:cNvGrpSpPr/>
        <p:nvPr/>
      </p:nvGrpSpPr>
      <p:grpSpPr>
        <a:xfrm>
          <a:off x="0" y="0"/>
          <a:ext cx="0" cy="0"/>
          <a:chOff x="0" y="0"/>
          <a:chExt cx="0" cy="0"/>
        </a:xfrm>
      </p:grpSpPr>
      <p:sp>
        <p:nvSpPr>
          <p:cNvPr id="47" name="Rounded Rectangle 6">
            <a:extLst>
              <a:ext uri="{FF2B5EF4-FFF2-40B4-BE49-F238E27FC236}">
                <a16:creationId xmlns:a16="http://schemas.microsoft.com/office/drawing/2014/main" id="{99C68360-C52D-BA5E-87F3-5E0FEEEC4C85}"/>
              </a:ext>
            </a:extLst>
          </p:cNvPr>
          <p:cNvSpPr/>
          <p:nvPr/>
        </p:nvSpPr>
        <p:spPr>
          <a:xfrm>
            <a:off x="365760" y="1097280"/>
            <a:ext cx="11475720" cy="5943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7">
            <a:extLst>
              <a:ext uri="{FF2B5EF4-FFF2-40B4-BE49-F238E27FC236}">
                <a16:creationId xmlns:a16="http://schemas.microsoft.com/office/drawing/2014/main" id="{C990E873-3E3A-1855-8865-558110389F86}"/>
              </a:ext>
            </a:extLst>
          </p:cNvPr>
          <p:cNvSpPr txBox="1"/>
          <p:nvPr/>
        </p:nvSpPr>
        <p:spPr>
          <a:xfrm>
            <a:off x="502920" y="1188720"/>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WHEN  ·  Initiative is in IMPLEMENTING · new related ask comes from same Sponsor / OPCO / business area</a:t>
            </a:r>
          </a:p>
        </p:txBody>
      </p:sp>
      <p:sp>
        <p:nvSpPr>
          <p:cNvPr id="49" name="TextBox 8">
            <a:extLst>
              <a:ext uri="{FF2B5EF4-FFF2-40B4-BE49-F238E27FC236}">
                <a16:creationId xmlns:a16="http://schemas.microsoft.com/office/drawing/2014/main" id="{EB67B3AD-487C-C144-B429-41C35F3BD94E}"/>
              </a:ext>
            </a:extLst>
          </p:cNvPr>
          <p:cNvSpPr txBox="1"/>
          <p:nvPr/>
        </p:nvSpPr>
        <p:spPr>
          <a:xfrm>
            <a:off x="502920" y="1426464"/>
            <a:ext cx="11155680" cy="201168"/>
          </a:xfrm>
          <a:prstGeom prst="rect">
            <a:avLst/>
          </a:prstGeom>
          <a:noFill/>
        </p:spPr>
        <p:txBody>
          <a:bodyPr wrap="square" lIns="36000" tIns="18000" rIns="36000" bIns="18000" anchor="t">
            <a:spAutoFit/>
          </a:bodyPr>
          <a:lstStyle/>
          <a:p>
            <a:pPr algn="l"/>
            <a:r>
              <a:rPr sz="900" b="0" i="1">
                <a:solidFill>
                  <a:srgbClr val="2C3E50"/>
                </a:solidFill>
                <a:latin typeface="Arial"/>
              </a:rPr>
              <a:t>EXAMPLE  ·  CRM unified-record Initiative live · Sponsor asks to add 'phone number masking for CCAR call recordings'</a:t>
            </a:r>
          </a:p>
        </p:txBody>
      </p:sp>
      <p:sp>
        <p:nvSpPr>
          <p:cNvPr id="50" name="Rounded Rectangle 9">
            <a:extLst>
              <a:ext uri="{FF2B5EF4-FFF2-40B4-BE49-F238E27FC236}">
                <a16:creationId xmlns:a16="http://schemas.microsoft.com/office/drawing/2014/main" id="{A50E1DC5-C283-F112-06B0-92F657EEDB09}"/>
              </a:ext>
            </a:extLst>
          </p:cNvPr>
          <p:cNvSpPr/>
          <p:nvPr/>
        </p:nvSpPr>
        <p:spPr>
          <a:xfrm>
            <a:off x="36576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10">
            <a:extLst>
              <a:ext uri="{FF2B5EF4-FFF2-40B4-BE49-F238E27FC236}">
                <a16:creationId xmlns:a16="http://schemas.microsoft.com/office/drawing/2014/main" id="{60C33711-B518-447D-6F47-30D05275F272}"/>
              </a:ext>
            </a:extLst>
          </p:cNvPr>
          <p:cNvSpPr/>
          <p:nvPr/>
        </p:nvSpPr>
        <p:spPr>
          <a:xfrm>
            <a:off x="365760" y="1874519"/>
            <a:ext cx="2800350" cy="59436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11">
            <a:extLst>
              <a:ext uri="{FF2B5EF4-FFF2-40B4-BE49-F238E27FC236}">
                <a16:creationId xmlns:a16="http://schemas.microsoft.com/office/drawing/2014/main" id="{900EE40A-A3A1-BA33-872F-BBC5507838FF}"/>
              </a:ext>
            </a:extLst>
          </p:cNvPr>
          <p:cNvSpPr txBox="1"/>
          <p:nvPr/>
        </p:nvSpPr>
        <p:spPr>
          <a:xfrm>
            <a:off x="36576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01</a:t>
            </a:r>
          </a:p>
        </p:txBody>
      </p:sp>
      <p:sp>
        <p:nvSpPr>
          <p:cNvPr id="53" name="TextBox 12">
            <a:extLst>
              <a:ext uri="{FF2B5EF4-FFF2-40B4-BE49-F238E27FC236}">
                <a16:creationId xmlns:a16="http://schemas.microsoft.com/office/drawing/2014/main" id="{4F8B77C1-B7E6-7A51-55B2-823F681733FF}"/>
              </a:ext>
            </a:extLst>
          </p:cNvPr>
          <p:cNvSpPr txBox="1"/>
          <p:nvPr/>
        </p:nvSpPr>
        <p:spPr>
          <a:xfrm>
            <a:off x="36576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LINK</a:t>
            </a:r>
          </a:p>
        </p:txBody>
      </p:sp>
      <p:sp>
        <p:nvSpPr>
          <p:cNvPr id="54" name="TextBox 13">
            <a:extLst>
              <a:ext uri="{FF2B5EF4-FFF2-40B4-BE49-F238E27FC236}">
                <a16:creationId xmlns:a16="http://schemas.microsoft.com/office/drawing/2014/main" id="{3AF073F4-05E0-3EEA-8FAA-A54037956FD7}"/>
              </a:ext>
            </a:extLst>
          </p:cNvPr>
          <p:cNvSpPr txBox="1"/>
          <p:nvPr/>
        </p:nvSpPr>
        <p:spPr>
          <a:xfrm>
            <a:off x="47548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Requester opens NEW Demand · types Parent Initiative key · A1 detects link</a:t>
            </a:r>
          </a:p>
        </p:txBody>
      </p:sp>
      <p:sp>
        <p:nvSpPr>
          <p:cNvPr id="55" name="TextBox 14">
            <a:extLst>
              <a:ext uri="{FF2B5EF4-FFF2-40B4-BE49-F238E27FC236}">
                <a16:creationId xmlns:a16="http://schemas.microsoft.com/office/drawing/2014/main" id="{E68AC10A-144C-A3AA-EE6D-B3572893E1FD}"/>
              </a:ext>
            </a:extLst>
          </p:cNvPr>
          <p:cNvSpPr txBox="1"/>
          <p:nvPr/>
        </p:nvSpPr>
        <p:spPr>
          <a:xfrm>
            <a:off x="47548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Form auto-fills VS · OPCO · Sponsor from parent</a:t>
            </a:r>
          </a:p>
        </p:txBody>
      </p:sp>
      <p:sp>
        <p:nvSpPr>
          <p:cNvPr id="56" name="Rounded Rectangle 15">
            <a:extLst>
              <a:ext uri="{FF2B5EF4-FFF2-40B4-BE49-F238E27FC236}">
                <a16:creationId xmlns:a16="http://schemas.microsoft.com/office/drawing/2014/main" id="{2E6AEB9D-053E-E580-7AA8-08FED3BFB6E3}"/>
              </a:ext>
            </a:extLst>
          </p:cNvPr>
          <p:cNvSpPr/>
          <p:nvPr/>
        </p:nvSpPr>
        <p:spPr>
          <a:xfrm>
            <a:off x="325755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16">
            <a:extLst>
              <a:ext uri="{FF2B5EF4-FFF2-40B4-BE49-F238E27FC236}">
                <a16:creationId xmlns:a16="http://schemas.microsoft.com/office/drawing/2014/main" id="{BAA253DD-43E9-9E55-A438-2438F6FED75D}"/>
              </a:ext>
            </a:extLst>
          </p:cNvPr>
          <p:cNvSpPr/>
          <p:nvPr/>
        </p:nvSpPr>
        <p:spPr>
          <a:xfrm>
            <a:off x="3257550" y="1874519"/>
            <a:ext cx="2800350"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17">
            <a:extLst>
              <a:ext uri="{FF2B5EF4-FFF2-40B4-BE49-F238E27FC236}">
                <a16:creationId xmlns:a16="http://schemas.microsoft.com/office/drawing/2014/main" id="{785DDFA9-277C-155D-06BC-70EF8207AAEA}"/>
              </a:ext>
            </a:extLst>
          </p:cNvPr>
          <p:cNvSpPr txBox="1"/>
          <p:nvPr/>
        </p:nvSpPr>
        <p:spPr>
          <a:xfrm>
            <a:off x="325755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02</a:t>
            </a:r>
          </a:p>
        </p:txBody>
      </p:sp>
      <p:sp>
        <p:nvSpPr>
          <p:cNvPr id="59" name="TextBox 18">
            <a:extLst>
              <a:ext uri="{FF2B5EF4-FFF2-40B4-BE49-F238E27FC236}">
                <a16:creationId xmlns:a16="http://schemas.microsoft.com/office/drawing/2014/main" id="{52D355DB-A5BA-FADC-E186-72977398E83C}"/>
              </a:ext>
            </a:extLst>
          </p:cNvPr>
          <p:cNvSpPr txBox="1"/>
          <p:nvPr/>
        </p:nvSpPr>
        <p:spPr>
          <a:xfrm>
            <a:off x="325755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BYPASS</a:t>
            </a:r>
          </a:p>
        </p:txBody>
      </p:sp>
      <p:sp>
        <p:nvSpPr>
          <p:cNvPr id="60" name="TextBox 19">
            <a:extLst>
              <a:ext uri="{FF2B5EF4-FFF2-40B4-BE49-F238E27FC236}">
                <a16:creationId xmlns:a16="http://schemas.microsoft.com/office/drawing/2014/main" id="{6EF7A6F5-EA0B-592A-6B6C-A6F5D96B8C14}"/>
              </a:ext>
            </a:extLst>
          </p:cNvPr>
          <p:cNvSpPr txBox="1"/>
          <p:nvPr/>
        </p:nvSpPr>
        <p:spPr>
          <a:xfrm>
            <a:off x="336727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Skips Funnel · Reviewing · Analyzing · Gate 2 — already approved as part of parent</a:t>
            </a:r>
          </a:p>
        </p:txBody>
      </p:sp>
      <p:sp>
        <p:nvSpPr>
          <p:cNvPr id="61" name="TextBox 20">
            <a:extLst>
              <a:ext uri="{FF2B5EF4-FFF2-40B4-BE49-F238E27FC236}">
                <a16:creationId xmlns:a16="http://schemas.microsoft.com/office/drawing/2014/main" id="{E2FF837E-B6BB-6A99-000A-8231D8A26787}"/>
              </a:ext>
            </a:extLst>
          </p:cNvPr>
          <p:cNvSpPr txBox="1"/>
          <p:nvPr/>
        </p:nvSpPr>
        <p:spPr>
          <a:xfrm>
            <a:off x="336727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No Pain Score recompute · keeps parent's CoS</a:t>
            </a:r>
          </a:p>
        </p:txBody>
      </p:sp>
      <p:sp>
        <p:nvSpPr>
          <p:cNvPr id="62" name="Rounded Rectangle 21">
            <a:extLst>
              <a:ext uri="{FF2B5EF4-FFF2-40B4-BE49-F238E27FC236}">
                <a16:creationId xmlns:a16="http://schemas.microsoft.com/office/drawing/2014/main" id="{4513A7BD-3813-8B10-14B6-6C6F86E4799E}"/>
              </a:ext>
            </a:extLst>
          </p:cNvPr>
          <p:cNvSpPr/>
          <p:nvPr/>
        </p:nvSpPr>
        <p:spPr>
          <a:xfrm>
            <a:off x="614934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22">
            <a:extLst>
              <a:ext uri="{FF2B5EF4-FFF2-40B4-BE49-F238E27FC236}">
                <a16:creationId xmlns:a16="http://schemas.microsoft.com/office/drawing/2014/main" id="{88FB19E8-EB56-5A11-2465-358B1ADA855B}"/>
              </a:ext>
            </a:extLst>
          </p:cNvPr>
          <p:cNvSpPr/>
          <p:nvPr/>
        </p:nvSpPr>
        <p:spPr>
          <a:xfrm>
            <a:off x="6149340" y="1874519"/>
            <a:ext cx="2800350"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23">
            <a:extLst>
              <a:ext uri="{FF2B5EF4-FFF2-40B4-BE49-F238E27FC236}">
                <a16:creationId xmlns:a16="http://schemas.microsoft.com/office/drawing/2014/main" id="{C6576D64-1DC5-267B-447C-830455F43F15}"/>
              </a:ext>
            </a:extLst>
          </p:cNvPr>
          <p:cNvSpPr txBox="1"/>
          <p:nvPr/>
        </p:nvSpPr>
        <p:spPr>
          <a:xfrm>
            <a:off x="614934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03</a:t>
            </a:r>
          </a:p>
        </p:txBody>
      </p:sp>
      <p:sp>
        <p:nvSpPr>
          <p:cNvPr id="65" name="TextBox 24">
            <a:extLst>
              <a:ext uri="{FF2B5EF4-FFF2-40B4-BE49-F238E27FC236}">
                <a16:creationId xmlns:a16="http://schemas.microsoft.com/office/drawing/2014/main" id="{A4FC1AFF-E79F-8447-685C-33E037A40521}"/>
              </a:ext>
            </a:extLst>
          </p:cNvPr>
          <p:cNvSpPr txBox="1"/>
          <p:nvPr/>
        </p:nvSpPr>
        <p:spPr>
          <a:xfrm>
            <a:off x="614934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SQUAD APPROVE</a:t>
            </a:r>
          </a:p>
        </p:txBody>
      </p:sp>
      <p:sp>
        <p:nvSpPr>
          <p:cNvPr id="66" name="TextBox 25">
            <a:extLst>
              <a:ext uri="{FF2B5EF4-FFF2-40B4-BE49-F238E27FC236}">
                <a16:creationId xmlns:a16="http://schemas.microsoft.com/office/drawing/2014/main" id="{108AECD3-0169-6EA4-EBC9-D655CD8A791B}"/>
              </a:ext>
            </a:extLst>
          </p:cNvPr>
          <p:cNvSpPr txBox="1"/>
          <p:nvPr/>
        </p:nvSpPr>
        <p:spPr>
          <a:xfrm>
            <a:off x="625906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Squad PM accepts (or rejects) the scope-add — protects WIP and timeline</a:t>
            </a:r>
          </a:p>
        </p:txBody>
      </p:sp>
      <p:sp>
        <p:nvSpPr>
          <p:cNvPr id="67" name="TextBox 26">
            <a:extLst>
              <a:ext uri="{FF2B5EF4-FFF2-40B4-BE49-F238E27FC236}">
                <a16:creationId xmlns:a16="http://schemas.microsoft.com/office/drawing/2014/main" id="{4E43F94C-7C81-6F60-B9C1-8D61E01164F2}"/>
              </a:ext>
            </a:extLst>
          </p:cNvPr>
          <p:cNvSpPr txBox="1"/>
          <p:nvPr/>
        </p:nvSpPr>
        <p:spPr>
          <a:xfrm>
            <a:off x="625906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PM evaluates impact · estimates delta · raises if blocking</a:t>
            </a:r>
          </a:p>
        </p:txBody>
      </p:sp>
      <p:sp>
        <p:nvSpPr>
          <p:cNvPr id="69" name="Rounded Rectangle 27">
            <a:extLst>
              <a:ext uri="{FF2B5EF4-FFF2-40B4-BE49-F238E27FC236}">
                <a16:creationId xmlns:a16="http://schemas.microsoft.com/office/drawing/2014/main" id="{8974C8A8-E93B-5CFB-B715-5CAE824E4F34}"/>
              </a:ext>
            </a:extLst>
          </p:cNvPr>
          <p:cNvSpPr/>
          <p:nvPr/>
        </p:nvSpPr>
        <p:spPr>
          <a:xfrm>
            <a:off x="904113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28">
            <a:extLst>
              <a:ext uri="{FF2B5EF4-FFF2-40B4-BE49-F238E27FC236}">
                <a16:creationId xmlns:a16="http://schemas.microsoft.com/office/drawing/2014/main" id="{6B9EFD0F-F4D8-2CA4-EC43-3BC75136458D}"/>
              </a:ext>
            </a:extLst>
          </p:cNvPr>
          <p:cNvSpPr/>
          <p:nvPr/>
        </p:nvSpPr>
        <p:spPr>
          <a:xfrm>
            <a:off x="9041130" y="1874519"/>
            <a:ext cx="2800350"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29">
            <a:extLst>
              <a:ext uri="{FF2B5EF4-FFF2-40B4-BE49-F238E27FC236}">
                <a16:creationId xmlns:a16="http://schemas.microsoft.com/office/drawing/2014/main" id="{F98D53B6-65AF-E2FB-C59C-A6F98DDA966C}"/>
              </a:ext>
            </a:extLst>
          </p:cNvPr>
          <p:cNvSpPr txBox="1"/>
          <p:nvPr/>
        </p:nvSpPr>
        <p:spPr>
          <a:xfrm>
            <a:off x="904113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04</a:t>
            </a:r>
          </a:p>
        </p:txBody>
      </p:sp>
      <p:sp>
        <p:nvSpPr>
          <p:cNvPr id="103" name="TextBox 30">
            <a:extLst>
              <a:ext uri="{FF2B5EF4-FFF2-40B4-BE49-F238E27FC236}">
                <a16:creationId xmlns:a16="http://schemas.microsoft.com/office/drawing/2014/main" id="{953E81F9-1284-E74A-515C-EAE734E2AD57}"/>
              </a:ext>
            </a:extLst>
          </p:cNvPr>
          <p:cNvSpPr txBox="1"/>
          <p:nvPr/>
        </p:nvSpPr>
        <p:spPr>
          <a:xfrm>
            <a:off x="904113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STORY</a:t>
            </a:r>
          </a:p>
        </p:txBody>
      </p:sp>
      <p:sp>
        <p:nvSpPr>
          <p:cNvPr id="104" name="TextBox 31">
            <a:extLst>
              <a:ext uri="{FF2B5EF4-FFF2-40B4-BE49-F238E27FC236}">
                <a16:creationId xmlns:a16="http://schemas.microsoft.com/office/drawing/2014/main" id="{CCF231D7-CA49-C529-2C9C-AB9386705148}"/>
              </a:ext>
            </a:extLst>
          </p:cNvPr>
          <p:cNvSpPr txBox="1"/>
          <p:nvPr/>
        </p:nvSpPr>
        <p:spPr>
          <a:xfrm>
            <a:off x="915085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Becomes a STORY under the parent Initiative's Epic · pulled into Squad Team Kanban</a:t>
            </a:r>
          </a:p>
        </p:txBody>
      </p:sp>
      <p:sp>
        <p:nvSpPr>
          <p:cNvPr id="105" name="TextBox 32">
            <a:extLst>
              <a:ext uri="{FF2B5EF4-FFF2-40B4-BE49-F238E27FC236}">
                <a16:creationId xmlns:a16="http://schemas.microsoft.com/office/drawing/2014/main" id="{C7770309-394D-B636-CE52-51CBE0D89029}"/>
              </a:ext>
            </a:extLst>
          </p:cNvPr>
          <p:cNvSpPr txBox="1"/>
          <p:nvPr/>
        </p:nvSpPr>
        <p:spPr>
          <a:xfrm>
            <a:off x="915085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Story status syncs with parent Initiative · cycle-time tracked separately</a:t>
            </a:r>
          </a:p>
        </p:txBody>
      </p:sp>
      <p:sp>
        <p:nvSpPr>
          <p:cNvPr id="106" name="Rounded Rectangle 33">
            <a:extLst>
              <a:ext uri="{FF2B5EF4-FFF2-40B4-BE49-F238E27FC236}">
                <a16:creationId xmlns:a16="http://schemas.microsoft.com/office/drawing/2014/main" id="{9534CCFC-B808-818E-A285-8967D66EA226}"/>
              </a:ext>
            </a:extLst>
          </p:cNvPr>
          <p:cNvSpPr/>
          <p:nvPr/>
        </p:nvSpPr>
        <p:spPr>
          <a:xfrm>
            <a:off x="365760" y="4554656"/>
            <a:ext cx="11475720" cy="960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34">
            <a:extLst>
              <a:ext uri="{FF2B5EF4-FFF2-40B4-BE49-F238E27FC236}">
                <a16:creationId xmlns:a16="http://schemas.microsoft.com/office/drawing/2014/main" id="{A7A4D70D-216A-29E0-85EC-79BA735F0548}"/>
              </a:ext>
            </a:extLst>
          </p:cNvPr>
          <p:cNvSpPr/>
          <p:nvPr/>
        </p:nvSpPr>
        <p:spPr>
          <a:xfrm>
            <a:off x="365760" y="4554656"/>
            <a:ext cx="11475720" cy="2743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35">
            <a:extLst>
              <a:ext uri="{FF2B5EF4-FFF2-40B4-BE49-F238E27FC236}">
                <a16:creationId xmlns:a16="http://schemas.microsoft.com/office/drawing/2014/main" id="{B2C684DD-42A4-ABBC-BA1F-7142AF8A3585}"/>
              </a:ext>
            </a:extLst>
          </p:cNvPr>
          <p:cNvSpPr txBox="1"/>
          <p:nvPr/>
        </p:nvSpPr>
        <p:spPr>
          <a:xfrm>
            <a:off x="502920" y="4591232"/>
            <a:ext cx="11155680" cy="201168"/>
          </a:xfrm>
          <a:prstGeom prst="rect">
            <a:avLst/>
          </a:prstGeom>
          <a:noFill/>
        </p:spPr>
        <p:txBody>
          <a:bodyPr wrap="square" lIns="36000" tIns="18000" rIns="36000" bIns="18000" anchor="t">
            <a:spAutoFit/>
          </a:bodyPr>
          <a:lstStyle/>
          <a:p>
            <a:pPr algn="l"/>
            <a:r>
              <a:rPr sz="1000" b="1" i="0">
                <a:solidFill>
                  <a:srgbClr val="FFFFFF"/>
                </a:solidFill>
                <a:latin typeface="Arial"/>
              </a:rPr>
              <a:t>DECISION MATRIX  ·  When each path applies based on parent Initiative status</a:t>
            </a:r>
          </a:p>
        </p:txBody>
      </p:sp>
      <p:sp>
        <p:nvSpPr>
          <p:cNvPr id="109" name="TextBox 36">
            <a:extLst>
              <a:ext uri="{FF2B5EF4-FFF2-40B4-BE49-F238E27FC236}">
                <a16:creationId xmlns:a16="http://schemas.microsoft.com/office/drawing/2014/main" id="{AAA2068B-0061-1DCE-CA9F-6C980EB0EEAF}"/>
              </a:ext>
            </a:extLst>
          </p:cNvPr>
          <p:cNvSpPr txBox="1"/>
          <p:nvPr/>
        </p:nvSpPr>
        <p:spPr>
          <a:xfrm>
            <a:off x="502920" y="4847264"/>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Funnel / Reviewing / Analyzing</a:t>
            </a:r>
          </a:p>
        </p:txBody>
      </p:sp>
      <p:sp>
        <p:nvSpPr>
          <p:cNvPr id="110" name="TextBox 37">
            <a:extLst>
              <a:ext uri="{FF2B5EF4-FFF2-40B4-BE49-F238E27FC236}">
                <a16:creationId xmlns:a16="http://schemas.microsoft.com/office/drawing/2014/main" id="{31DFB3E4-6722-F020-2BAC-7326E5A9929A}"/>
              </a:ext>
            </a:extLst>
          </p:cNvPr>
          <p:cNvSpPr txBox="1"/>
          <p:nvPr/>
        </p:nvSpPr>
        <p:spPr>
          <a:xfrm>
            <a:off x="4663440" y="4847264"/>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Update the EXISTING Demand card directly (not yet committed) · no new card needed</a:t>
            </a:r>
          </a:p>
        </p:txBody>
      </p:sp>
      <p:sp>
        <p:nvSpPr>
          <p:cNvPr id="111" name="TextBox 38">
            <a:extLst>
              <a:ext uri="{FF2B5EF4-FFF2-40B4-BE49-F238E27FC236}">
                <a16:creationId xmlns:a16="http://schemas.microsoft.com/office/drawing/2014/main" id="{A87EE8E4-9FFA-36BC-1487-FEC06093ED62}"/>
              </a:ext>
            </a:extLst>
          </p:cNvPr>
          <p:cNvSpPr txBox="1"/>
          <p:nvPr/>
        </p:nvSpPr>
        <p:spPr>
          <a:xfrm>
            <a:off x="502920" y="5011856"/>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Backlog (post-Gate 2 GO · awaiting capacity)</a:t>
            </a:r>
          </a:p>
        </p:txBody>
      </p:sp>
      <p:sp>
        <p:nvSpPr>
          <p:cNvPr id="112" name="TextBox 39">
            <a:extLst>
              <a:ext uri="{FF2B5EF4-FFF2-40B4-BE49-F238E27FC236}">
                <a16:creationId xmlns:a16="http://schemas.microsoft.com/office/drawing/2014/main" id="{7FCD4641-1852-88DF-70FC-D6B9CD07F657}"/>
              </a:ext>
            </a:extLst>
          </p:cNvPr>
          <p:cNvSpPr txBox="1"/>
          <p:nvPr/>
        </p:nvSpPr>
        <p:spPr>
          <a:xfrm>
            <a:off x="4663440" y="5011856"/>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Update parent Initiative scope · re-evaluate at next Gate 2 if scope grows</a:t>
            </a:r>
          </a:p>
        </p:txBody>
      </p:sp>
      <p:sp>
        <p:nvSpPr>
          <p:cNvPr id="113" name="TextBox 40">
            <a:extLst>
              <a:ext uri="{FF2B5EF4-FFF2-40B4-BE49-F238E27FC236}">
                <a16:creationId xmlns:a16="http://schemas.microsoft.com/office/drawing/2014/main" id="{493C1A5D-E388-AD26-0430-56A31098B873}"/>
              </a:ext>
            </a:extLst>
          </p:cNvPr>
          <p:cNvSpPr txBox="1"/>
          <p:nvPr/>
        </p:nvSpPr>
        <p:spPr>
          <a:xfrm>
            <a:off x="502920" y="5176448"/>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Implementing (active in squad)</a:t>
            </a:r>
          </a:p>
        </p:txBody>
      </p:sp>
      <p:sp>
        <p:nvSpPr>
          <p:cNvPr id="114" name="TextBox 41">
            <a:extLst>
              <a:ext uri="{FF2B5EF4-FFF2-40B4-BE49-F238E27FC236}">
                <a16:creationId xmlns:a16="http://schemas.microsoft.com/office/drawing/2014/main" id="{8C880D7C-92F8-819D-E662-23EEDBE56C83}"/>
              </a:ext>
            </a:extLst>
          </p:cNvPr>
          <p:cNvSpPr txBox="1"/>
          <p:nvPr/>
        </p:nvSpPr>
        <p:spPr>
          <a:xfrm>
            <a:off x="4663440" y="5176448"/>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USE SHORTCUT (this slide) → Story under existing Epic · Squad PM approves</a:t>
            </a:r>
          </a:p>
        </p:txBody>
      </p:sp>
      <p:sp>
        <p:nvSpPr>
          <p:cNvPr id="115" name="TextBox 42">
            <a:extLst>
              <a:ext uri="{FF2B5EF4-FFF2-40B4-BE49-F238E27FC236}">
                <a16:creationId xmlns:a16="http://schemas.microsoft.com/office/drawing/2014/main" id="{1731F827-7813-A3E7-33BD-2C63FB3AD44D}"/>
              </a:ext>
            </a:extLst>
          </p:cNvPr>
          <p:cNvSpPr txBox="1"/>
          <p:nvPr/>
        </p:nvSpPr>
        <p:spPr>
          <a:xfrm>
            <a:off x="502920" y="5341040"/>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Done (completed)</a:t>
            </a:r>
          </a:p>
        </p:txBody>
      </p:sp>
      <p:sp>
        <p:nvSpPr>
          <p:cNvPr id="116" name="TextBox 43">
            <a:extLst>
              <a:ext uri="{FF2B5EF4-FFF2-40B4-BE49-F238E27FC236}">
                <a16:creationId xmlns:a16="http://schemas.microsoft.com/office/drawing/2014/main" id="{6A57C3F7-378D-4EDE-BE9C-18A140AC6B2A}"/>
              </a:ext>
            </a:extLst>
          </p:cNvPr>
          <p:cNvSpPr txBox="1"/>
          <p:nvPr/>
        </p:nvSpPr>
        <p:spPr>
          <a:xfrm>
            <a:off x="4663440" y="5341040"/>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Open NEW Demand through Funnel · normal flow · may become new Initiative</a:t>
            </a:r>
          </a:p>
        </p:txBody>
      </p:sp>
      <p:sp>
        <p:nvSpPr>
          <p:cNvPr id="117" name="Rounded Rectangle 44">
            <a:extLst>
              <a:ext uri="{FF2B5EF4-FFF2-40B4-BE49-F238E27FC236}">
                <a16:creationId xmlns:a16="http://schemas.microsoft.com/office/drawing/2014/main" id="{C36F66CF-7665-1265-6272-5F387A668FAF}"/>
              </a:ext>
            </a:extLst>
          </p:cNvPr>
          <p:cNvSpPr/>
          <p:nvPr/>
        </p:nvSpPr>
        <p:spPr>
          <a:xfrm>
            <a:off x="365760" y="5578784"/>
            <a:ext cx="11475720" cy="6400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45">
            <a:extLst>
              <a:ext uri="{FF2B5EF4-FFF2-40B4-BE49-F238E27FC236}">
                <a16:creationId xmlns:a16="http://schemas.microsoft.com/office/drawing/2014/main" id="{158A29D8-C9ED-D2D3-D81A-DE010C40ED98}"/>
              </a:ext>
            </a:extLst>
          </p:cNvPr>
          <p:cNvSpPr txBox="1"/>
          <p:nvPr/>
        </p:nvSpPr>
        <p:spPr>
          <a:xfrm>
            <a:off x="502920" y="5633648"/>
            <a:ext cx="11155680" cy="164592"/>
          </a:xfrm>
          <a:prstGeom prst="rect">
            <a:avLst/>
          </a:prstGeom>
          <a:noFill/>
        </p:spPr>
        <p:txBody>
          <a:bodyPr wrap="square" lIns="36000" tIns="18000" rIns="36000" bIns="18000" anchor="t">
            <a:spAutoFit/>
          </a:bodyPr>
          <a:lstStyle/>
          <a:p>
            <a:pPr algn="l"/>
            <a:r>
              <a:rPr sz="900" b="1" i="0">
                <a:solidFill>
                  <a:srgbClr val="006B3F"/>
                </a:solidFill>
                <a:latin typeface="Arial"/>
              </a:rPr>
              <a:t>GUARDRAILS  ·  EVEN WHEN PARENT IS IMPLEMENTING, SHORTCUT MAY BE REJECTED</a:t>
            </a:r>
          </a:p>
        </p:txBody>
      </p:sp>
      <p:sp>
        <p:nvSpPr>
          <p:cNvPr id="119" name="TextBox 46">
            <a:extLst>
              <a:ext uri="{FF2B5EF4-FFF2-40B4-BE49-F238E27FC236}">
                <a16:creationId xmlns:a16="http://schemas.microsoft.com/office/drawing/2014/main" id="{B27BF808-EAA9-1303-BB4E-671B64C133CF}"/>
              </a:ext>
            </a:extLst>
          </p:cNvPr>
          <p:cNvSpPr txBox="1"/>
          <p:nvPr/>
        </p:nvSpPr>
        <p:spPr>
          <a:xfrm>
            <a:off x="502920" y="5816528"/>
            <a:ext cx="11155680" cy="182880"/>
          </a:xfrm>
          <a:prstGeom prst="rect">
            <a:avLst/>
          </a:prstGeom>
          <a:noFill/>
        </p:spPr>
        <p:txBody>
          <a:bodyPr wrap="square" lIns="36000" tIns="18000" rIns="36000" bIns="18000" anchor="t">
            <a:spAutoFit/>
          </a:bodyPr>
          <a:lstStyle/>
          <a:p>
            <a:pPr algn="l"/>
            <a:r>
              <a:rPr sz="850" b="0" i="0">
                <a:solidFill>
                  <a:srgbClr val="2C3E50"/>
                </a:solidFill>
                <a:latin typeface="Arial"/>
              </a:rPr>
              <a:t>▸  Scope &gt; 5 days OR &gt; 1 squad sprint → open new Demand through Funnel    ▸  Different Sponsor / OPCO / VS than parent → normal flow</a:t>
            </a:r>
          </a:p>
        </p:txBody>
      </p:sp>
      <p:sp>
        <p:nvSpPr>
          <p:cNvPr id="120" name="TextBox 47">
            <a:extLst>
              <a:ext uri="{FF2B5EF4-FFF2-40B4-BE49-F238E27FC236}">
                <a16:creationId xmlns:a16="http://schemas.microsoft.com/office/drawing/2014/main" id="{0F9BB960-9D70-EFE2-E593-9A49C5BD3A34}"/>
              </a:ext>
            </a:extLst>
          </p:cNvPr>
          <p:cNvSpPr txBox="1"/>
          <p:nvPr/>
        </p:nvSpPr>
        <p:spPr>
          <a:xfrm>
            <a:off x="502920" y="5999408"/>
            <a:ext cx="11155680" cy="182880"/>
          </a:xfrm>
          <a:prstGeom prst="rect">
            <a:avLst/>
          </a:prstGeom>
          <a:noFill/>
        </p:spPr>
        <p:txBody>
          <a:bodyPr wrap="square" lIns="36000" tIns="18000" rIns="36000" bIns="18000" anchor="t">
            <a:spAutoFit/>
          </a:bodyPr>
          <a:lstStyle/>
          <a:p>
            <a:pPr algn="l"/>
            <a:r>
              <a:rPr sz="850" b="0" i="0">
                <a:solidFill>
                  <a:srgbClr val="2C3E50"/>
                </a:solidFill>
                <a:latin typeface="Arial"/>
              </a:rPr>
              <a:t>▸  Squad PM has full authority to reject if WIP / timeline at risk · Sponsor escalates to Director if needed</a:t>
            </a:r>
          </a:p>
        </p:txBody>
      </p:sp>
      <p:sp>
        <p:nvSpPr>
          <p:cNvPr id="2" name="Text Placeholder 19">
            <a:extLst>
              <a:ext uri="{FF2B5EF4-FFF2-40B4-BE49-F238E27FC236}">
                <a16:creationId xmlns:a16="http://schemas.microsoft.com/office/drawing/2014/main" id="{FCCD331D-A7E5-0808-C5FB-7DDB6427BC83}"/>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GOVERNANCE: Demand on existing initiative</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3862842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83F51-37FD-3536-DA16-05DB28113898}"/>
            </a:ext>
          </a:extLst>
        </p:cNvPr>
        <p:cNvGrpSpPr/>
        <p:nvPr/>
      </p:nvGrpSpPr>
      <p:grpSpPr>
        <a:xfrm>
          <a:off x="0" y="0"/>
          <a:ext cx="0" cy="0"/>
          <a:chOff x="0" y="0"/>
          <a:chExt cx="0" cy="0"/>
        </a:xfrm>
      </p:grpSpPr>
      <p:sp>
        <p:nvSpPr>
          <p:cNvPr id="2" name="Rounded Rectangle 6">
            <a:extLst>
              <a:ext uri="{FF2B5EF4-FFF2-40B4-BE49-F238E27FC236}">
                <a16:creationId xmlns:a16="http://schemas.microsoft.com/office/drawing/2014/main" id="{1238DC96-EAE3-8BD4-10C5-29E1C28FA158}"/>
              </a:ext>
            </a:extLst>
          </p:cNvPr>
          <p:cNvSpPr/>
          <p:nvPr/>
        </p:nvSpPr>
        <p:spPr>
          <a:xfrm>
            <a:off x="36576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7">
            <a:extLst>
              <a:ext uri="{FF2B5EF4-FFF2-40B4-BE49-F238E27FC236}">
                <a16:creationId xmlns:a16="http://schemas.microsoft.com/office/drawing/2014/main" id="{E1747CCD-5458-CFB3-B558-34DE775984E6}"/>
              </a:ext>
            </a:extLst>
          </p:cNvPr>
          <p:cNvSpPr/>
          <p:nvPr/>
        </p:nvSpPr>
        <p:spPr>
          <a:xfrm>
            <a:off x="36576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8">
            <a:extLst>
              <a:ext uri="{FF2B5EF4-FFF2-40B4-BE49-F238E27FC236}">
                <a16:creationId xmlns:a16="http://schemas.microsoft.com/office/drawing/2014/main" id="{F31F996B-7AE8-A88C-EC1F-A5FDE8096BC9}"/>
              </a:ext>
            </a:extLst>
          </p:cNvPr>
          <p:cNvSpPr txBox="1"/>
          <p:nvPr/>
        </p:nvSpPr>
        <p:spPr>
          <a:xfrm>
            <a:off x="45720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WHAT</a:t>
            </a:r>
          </a:p>
        </p:txBody>
      </p:sp>
      <p:sp>
        <p:nvSpPr>
          <p:cNvPr id="5" name="TextBox 9">
            <a:extLst>
              <a:ext uri="{FF2B5EF4-FFF2-40B4-BE49-F238E27FC236}">
                <a16:creationId xmlns:a16="http://schemas.microsoft.com/office/drawing/2014/main" id="{82EFDEC6-E02F-7844-E6F7-51F1FB445479}"/>
              </a:ext>
            </a:extLst>
          </p:cNvPr>
          <p:cNvSpPr txBox="1"/>
          <p:nvPr/>
        </p:nvSpPr>
        <p:spPr>
          <a:xfrm>
            <a:off x="475488" y="1380744"/>
            <a:ext cx="2580894" cy="451850"/>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Digital Products does NOT run its own BRP · injects quarterly priorities summary into the existing P&amp;T BRP and Digital </a:t>
            </a:r>
            <a:r>
              <a:rPr lang="en-US" err="1"/>
              <a:t>CoE</a:t>
            </a:r>
            <a:r>
              <a:rPr lang="en-US"/>
              <a:t> BRP.</a:t>
            </a:r>
          </a:p>
        </p:txBody>
      </p:sp>
      <p:sp>
        <p:nvSpPr>
          <p:cNvPr id="6" name="Rounded Rectangle 10">
            <a:extLst>
              <a:ext uri="{FF2B5EF4-FFF2-40B4-BE49-F238E27FC236}">
                <a16:creationId xmlns:a16="http://schemas.microsoft.com/office/drawing/2014/main" id="{B39BBA98-748D-AA11-B97D-88D304954441}"/>
              </a:ext>
            </a:extLst>
          </p:cNvPr>
          <p:cNvSpPr/>
          <p:nvPr/>
        </p:nvSpPr>
        <p:spPr>
          <a:xfrm>
            <a:off x="325755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11">
            <a:extLst>
              <a:ext uri="{FF2B5EF4-FFF2-40B4-BE49-F238E27FC236}">
                <a16:creationId xmlns:a16="http://schemas.microsoft.com/office/drawing/2014/main" id="{DC5415E2-942C-0C2C-1618-14FAD7F66609}"/>
              </a:ext>
            </a:extLst>
          </p:cNvPr>
          <p:cNvSpPr/>
          <p:nvPr/>
        </p:nvSpPr>
        <p:spPr>
          <a:xfrm>
            <a:off x="325755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12">
            <a:extLst>
              <a:ext uri="{FF2B5EF4-FFF2-40B4-BE49-F238E27FC236}">
                <a16:creationId xmlns:a16="http://schemas.microsoft.com/office/drawing/2014/main" id="{ABA32229-0CB7-BDA1-C135-0A00B609D36C}"/>
              </a:ext>
            </a:extLst>
          </p:cNvPr>
          <p:cNvSpPr txBox="1"/>
          <p:nvPr/>
        </p:nvSpPr>
        <p:spPr>
          <a:xfrm>
            <a:off x="334899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WHY</a:t>
            </a:r>
          </a:p>
        </p:txBody>
      </p:sp>
      <p:sp>
        <p:nvSpPr>
          <p:cNvPr id="9" name="TextBox 13">
            <a:extLst>
              <a:ext uri="{FF2B5EF4-FFF2-40B4-BE49-F238E27FC236}">
                <a16:creationId xmlns:a16="http://schemas.microsoft.com/office/drawing/2014/main" id="{C72F0598-6573-EC0B-26D4-362997D3029F}"/>
              </a:ext>
            </a:extLst>
          </p:cNvPr>
          <p:cNvSpPr txBox="1"/>
          <p:nvPr/>
        </p:nvSpPr>
        <p:spPr>
          <a:xfrm>
            <a:off x="3367278" y="1380744"/>
            <a:ext cx="2580894" cy="451850"/>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Avoids creating a parallel ritual · respects governance already in place · ensures cross-portfolio alignment without overhead.</a:t>
            </a:r>
          </a:p>
        </p:txBody>
      </p:sp>
      <p:sp>
        <p:nvSpPr>
          <p:cNvPr id="10" name="Rounded Rectangle 14">
            <a:extLst>
              <a:ext uri="{FF2B5EF4-FFF2-40B4-BE49-F238E27FC236}">
                <a16:creationId xmlns:a16="http://schemas.microsoft.com/office/drawing/2014/main" id="{C1B23553-64FC-2931-6598-434308540648}"/>
              </a:ext>
            </a:extLst>
          </p:cNvPr>
          <p:cNvSpPr/>
          <p:nvPr/>
        </p:nvSpPr>
        <p:spPr>
          <a:xfrm>
            <a:off x="614934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5">
            <a:extLst>
              <a:ext uri="{FF2B5EF4-FFF2-40B4-BE49-F238E27FC236}">
                <a16:creationId xmlns:a16="http://schemas.microsoft.com/office/drawing/2014/main" id="{D96D8C57-4EE2-3576-8460-7BE98C0F54C4}"/>
              </a:ext>
            </a:extLst>
          </p:cNvPr>
          <p:cNvSpPr/>
          <p:nvPr/>
        </p:nvSpPr>
        <p:spPr>
          <a:xfrm>
            <a:off x="614934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6">
            <a:extLst>
              <a:ext uri="{FF2B5EF4-FFF2-40B4-BE49-F238E27FC236}">
                <a16:creationId xmlns:a16="http://schemas.microsoft.com/office/drawing/2014/main" id="{9A0B1EF0-AE8B-A015-58F5-35F6FF3882B1}"/>
              </a:ext>
            </a:extLst>
          </p:cNvPr>
          <p:cNvSpPr txBox="1"/>
          <p:nvPr/>
        </p:nvSpPr>
        <p:spPr>
          <a:xfrm>
            <a:off x="624078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WHEN</a:t>
            </a:r>
          </a:p>
        </p:txBody>
      </p:sp>
      <p:sp>
        <p:nvSpPr>
          <p:cNvPr id="13" name="TextBox 17">
            <a:extLst>
              <a:ext uri="{FF2B5EF4-FFF2-40B4-BE49-F238E27FC236}">
                <a16:creationId xmlns:a16="http://schemas.microsoft.com/office/drawing/2014/main" id="{93AD73F8-2B70-A6D1-DF80-A2D861B8CBAA}"/>
              </a:ext>
            </a:extLst>
          </p:cNvPr>
          <p:cNvSpPr txBox="1"/>
          <p:nvPr/>
        </p:nvSpPr>
        <p:spPr>
          <a:xfrm>
            <a:off x="6259068" y="1380744"/>
            <a:ext cx="2580894" cy="590349"/>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Aligned to existing P&amp;T BRP cadence · quarterly priorities summary prepared 1 week before each event · no own meeting on Digital Products calendar.</a:t>
            </a:r>
          </a:p>
        </p:txBody>
      </p:sp>
      <p:sp>
        <p:nvSpPr>
          <p:cNvPr id="14" name="Rounded Rectangle 18">
            <a:extLst>
              <a:ext uri="{FF2B5EF4-FFF2-40B4-BE49-F238E27FC236}">
                <a16:creationId xmlns:a16="http://schemas.microsoft.com/office/drawing/2014/main" id="{279E0E5F-E1ED-0C14-5DDF-8C91789938DD}"/>
              </a:ext>
            </a:extLst>
          </p:cNvPr>
          <p:cNvSpPr/>
          <p:nvPr/>
        </p:nvSpPr>
        <p:spPr>
          <a:xfrm>
            <a:off x="9041130" y="1051560"/>
            <a:ext cx="2800350" cy="178233"/>
          </a:xfrm>
          <a:prstGeom prst="roundRect">
            <a:avLst>
              <a:gd name="adj" fmla="val 4000"/>
            </a:avLst>
          </a:prstGeom>
          <a:noFill/>
        </p:spPr>
        <p:txBody>
          <a:bodyPr wrap="square" lIns="36000" tIns="18000" rIns="36000" bIns="18000" anchor="t">
            <a:spAutoFit/>
          </a:bodyPr>
          <a:lstStyle/>
          <a:p>
            <a:endParaRPr lang="en-US" sz="900">
              <a:solidFill>
                <a:srgbClr val="2C3E50"/>
              </a:solidFill>
              <a:latin typeface="Arial"/>
            </a:endParaRPr>
          </a:p>
        </p:txBody>
      </p:sp>
      <p:sp>
        <p:nvSpPr>
          <p:cNvPr id="15" name="Rounded Rectangle 19">
            <a:extLst>
              <a:ext uri="{FF2B5EF4-FFF2-40B4-BE49-F238E27FC236}">
                <a16:creationId xmlns:a16="http://schemas.microsoft.com/office/drawing/2014/main" id="{926FE24A-9345-F50E-71AC-114D49431E9D}"/>
              </a:ext>
            </a:extLst>
          </p:cNvPr>
          <p:cNvSpPr/>
          <p:nvPr/>
        </p:nvSpPr>
        <p:spPr>
          <a:xfrm>
            <a:off x="904113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0">
            <a:extLst>
              <a:ext uri="{FF2B5EF4-FFF2-40B4-BE49-F238E27FC236}">
                <a16:creationId xmlns:a16="http://schemas.microsoft.com/office/drawing/2014/main" id="{6700EDC1-EFD8-885B-46AB-C9A66F860E6C}"/>
              </a:ext>
            </a:extLst>
          </p:cNvPr>
          <p:cNvSpPr txBox="1"/>
          <p:nvPr/>
        </p:nvSpPr>
        <p:spPr>
          <a:xfrm>
            <a:off x="913257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WHO</a:t>
            </a:r>
          </a:p>
        </p:txBody>
      </p:sp>
      <p:sp>
        <p:nvSpPr>
          <p:cNvPr id="17" name="TextBox 21">
            <a:extLst>
              <a:ext uri="{FF2B5EF4-FFF2-40B4-BE49-F238E27FC236}">
                <a16:creationId xmlns:a16="http://schemas.microsoft.com/office/drawing/2014/main" id="{F7D3E002-E1EC-8E95-56B8-A27FB6943ED1}"/>
              </a:ext>
            </a:extLst>
          </p:cNvPr>
          <p:cNvSpPr txBox="1"/>
          <p:nvPr/>
        </p:nvSpPr>
        <p:spPr>
          <a:xfrm>
            <a:off x="9150858" y="1380744"/>
            <a:ext cx="2580894" cy="1005848"/>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Digital Products contributes KPI-driven performance insights into existing BRPs.</a:t>
            </a:r>
          </a:p>
          <a:p>
            <a:r>
              <a:rPr lang="en-US"/>
              <a:t>Directors own Value Stream performance (capacity, delivery, and service KPIs).</a:t>
            </a:r>
          </a:p>
          <a:p>
            <a:r>
              <a:rPr lang="en-US"/>
              <a:t>Product Managers and Architects provide demand, prioritization (Pain Score), and feasibility inputs.</a:t>
            </a:r>
          </a:p>
        </p:txBody>
      </p:sp>
      <p:sp>
        <p:nvSpPr>
          <p:cNvPr id="20" name="Rounded Rectangle 22">
            <a:extLst>
              <a:ext uri="{FF2B5EF4-FFF2-40B4-BE49-F238E27FC236}">
                <a16:creationId xmlns:a16="http://schemas.microsoft.com/office/drawing/2014/main" id="{8E18DBCE-4C94-B48D-5BF9-1B9366F30DD8}"/>
              </a:ext>
            </a:extLst>
          </p:cNvPr>
          <p:cNvSpPr/>
          <p:nvPr/>
        </p:nvSpPr>
        <p:spPr>
          <a:xfrm>
            <a:off x="36576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3">
            <a:extLst>
              <a:ext uri="{FF2B5EF4-FFF2-40B4-BE49-F238E27FC236}">
                <a16:creationId xmlns:a16="http://schemas.microsoft.com/office/drawing/2014/main" id="{097E3D7F-82EC-4E9A-D7CD-0E83B579C795}"/>
              </a:ext>
            </a:extLst>
          </p:cNvPr>
          <p:cNvSpPr/>
          <p:nvPr/>
        </p:nvSpPr>
        <p:spPr>
          <a:xfrm>
            <a:off x="365760" y="2548029"/>
            <a:ext cx="2800350" cy="713232"/>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4">
            <a:extLst>
              <a:ext uri="{FF2B5EF4-FFF2-40B4-BE49-F238E27FC236}">
                <a16:creationId xmlns:a16="http://schemas.microsoft.com/office/drawing/2014/main" id="{E915021A-165A-0D30-BE26-09D571142322}"/>
              </a:ext>
            </a:extLst>
          </p:cNvPr>
          <p:cNvSpPr txBox="1"/>
          <p:nvPr/>
        </p:nvSpPr>
        <p:spPr>
          <a:xfrm>
            <a:off x="36576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1</a:t>
            </a:r>
          </a:p>
        </p:txBody>
      </p:sp>
      <p:sp>
        <p:nvSpPr>
          <p:cNvPr id="23" name="TextBox 25">
            <a:extLst>
              <a:ext uri="{FF2B5EF4-FFF2-40B4-BE49-F238E27FC236}">
                <a16:creationId xmlns:a16="http://schemas.microsoft.com/office/drawing/2014/main" id="{9030E012-FE01-116C-E387-378D43F7F0CF}"/>
              </a:ext>
            </a:extLst>
          </p:cNvPr>
          <p:cNvSpPr txBox="1"/>
          <p:nvPr/>
        </p:nvSpPr>
        <p:spPr>
          <a:xfrm>
            <a:off x="36576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CONFIRM WHY</a:t>
            </a:r>
          </a:p>
        </p:txBody>
      </p:sp>
      <p:sp>
        <p:nvSpPr>
          <p:cNvPr id="24" name="TextBox 26">
            <a:extLst>
              <a:ext uri="{FF2B5EF4-FFF2-40B4-BE49-F238E27FC236}">
                <a16:creationId xmlns:a16="http://schemas.microsoft.com/office/drawing/2014/main" id="{19DBD0A6-8703-37B9-3196-0D7FB3479739}"/>
              </a:ext>
            </a:extLst>
          </p:cNvPr>
          <p:cNvSpPr txBox="1"/>
          <p:nvPr/>
        </p:nvSpPr>
        <p:spPr>
          <a:xfrm>
            <a:off x="36576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30 min</a:t>
            </a:r>
          </a:p>
        </p:txBody>
      </p:sp>
      <p:sp>
        <p:nvSpPr>
          <p:cNvPr id="25" name="TextBox 27">
            <a:extLst>
              <a:ext uri="{FF2B5EF4-FFF2-40B4-BE49-F238E27FC236}">
                <a16:creationId xmlns:a16="http://schemas.microsoft.com/office/drawing/2014/main" id="{35F6EC62-5542-8BEE-12B5-CD3479C13D00}"/>
              </a:ext>
            </a:extLst>
          </p:cNvPr>
          <p:cNvSpPr txBox="1"/>
          <p:nvPr/>
        </p:nvSpPr>
        <p:spPr>
          <a:xfrm>
            <a:off x="475488" y="3416709"/>
            <a:ext cx="2580894" cy="502920"/>
          </a:xfrm>
          <a:prstGeom prst="rect">
            <a:avLst/>
          </a:prstGeom>
          <a:noFill/>
        </p:spPr>
        <p:txBody>
          <a:bodyPr wrap="square" lIns="36000" tIns="18000" rIns="36000" bIns="18000" anchor="t">
            <a:spAutoFit/>
          </a:bodyPr>
          <a:lstStyle/>
          <a:p>
            <a:pPr algn="l"/>
            <a:r>
              <a:rPr sz="900" b="0" i="1">
                <a:solidFill>
                  <a:srgbClr val="006B3F"/>
                </a:solidFill>
                <a:latin typeface="Arial"/>
              </a:rPr>
              <a:t>VP reviews corporate OKRs and quarterly direction.</a:t>
            </a:r>
          </a:p>
        </p:txBody>
      </p:sp>
      <p:sp>
        <p:nvSpPr>
          <p:cNvPr id="26" name="TextBox 28">
            <a:extLst>
              <a:ext uri="{FF2B5EF4-FFF2-40B4-BE49-F238E27FC236}">
                <a16:creationId xmlns:a16="http://schemas.microsoft.com/office/drawing/2014/main" id="{832EDE5F-1EBF-5961-AA84-DCF0A92251F0}"/>
              </a:ext>
            </a:extLst>
          </p:cNvPr>
          <p:cNvSpPr txBox="1"/>
          <p:nvPr/>
        </p:nvSpPr>
        <p:spPr>
          <a:xfrm>
            <a:off x="47548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28" name="TextBox 30">
            <a:extLst>
              <a:ext uri="{FF2B5EF4-FFF2-40B4-BE49-F238E27FC236}">
                <a16:creationId xmlns:a16="http://schemas.microsoft.com/office/drawing/2014/main" id="{C8BBB3FC-5A1E-AA7D-7866-DC4AA6D88909}"/>
              </a:ext>
            </a:extLst>
          </p:cNvPr>
          <p:cNvSpPr txBox="1"/>
          <p:nvPr/>
        </p:nvSpPr>
        <p:spPr>
          <a:xfrm>
            <a:off x="475488" y="4211818"/>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Strategic priorities recap</a:t>
            </a:r>
          </a:p>
        </p:txBody>
      </p:sp>
      <p:sp>
        <p:nvSpPr>
          <p:cNvPr id="29" name="TextBox 31">
            <a:extLst>
              <a:ext uri="{FF2B5EF4-FFF2-40B4-BE49-F238E27FC236}">
                <a16:creationId xmlns:a16="http://schemas.microsoft.com/office/drawing/2014/main" id="{999D8FFE-4BA0-F796-E92E-A1B52E8FC60A}"/>
              </a:ext>
            </a:extLst>
          </p:cNvPr>
          <p:cNvSpPr txBox="1"/>
          <p:nvPr/>
        </p:nvSpPr>
        <p:spPr>
          <a:xfrm>
            <a:off x="475488" y="4595866"/>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Constraints / non-negotiables</a:t>
            </a:r>
          </a:p>
        </p:txBody>
      </p:sp>
      <p:sp>
        <p:nvSpPr>
          <p:cNvPr id="30" name="Rounded Rectangle 32">
            <a:extLst>
              <a:ext uri="{FF2B5EF4-FFF2-40B4-BE49-F238E27FC236}">
                <a16:creationId xmlns:a16="http://schemas.microsoft.com/office/drawing/2014/main" id="{26DA1BC4-A215-4A8E-0E3A-217784CEC36A}"/>
              </a:ext>
            </a:extLst>
          </p:cNvPr>
          <p:cNvSpPr/>
          <p:nvPr/>
        </p:nvSpPr>
        <p:spPr>
          <a:xfrm>
            <a:off x="325755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3">
            <a:extLst>
              <a:ext uri="{FF2B5EF4-FFF2-40B4-BE49-F238E27FC236}">
                <a16:creationId xmlns:a16="http://schemas.microsoft.com/office/drawing/2014/main" id="{81A813FB-3A63-4031-2D5D-07E2CBD7CCB3}"/>
              </a:ext>
            </a:extLst>
          </p:cNvPr>
          <p:cNvSpPr/>
          <p:nvPr/>
        </p:nvSpPr>
        <p:spPr>
          <a:xfrm>
            <a:off x="3257550" y="2548029"/>
            <a:ext cx="2800350" cy="713232"/>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4">
            <a:extLst>
              <a:ext uri="{FF2B5EF4-FFF2-40B4-BE49-F238E27FC236}">
                <a16:creationId xmlns:a16="http://schemas.microsoft.com/office/drawing/2014/main" id="{6B0B52F6-52D7-4DAA-C56D-23A0088A636A}"/>
              </a:ext>
            </a:extLst>
          </p:cNvPr>
          <p:cNvSpPr txBox="1"/>
          <p:nvPr/>
        </p:nvSpPr>
        <p:spPr>
          <a:xfrm>
            <a:off x="325755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2</a:t>
            </a:r>
          </a:p>
        </p:txBody>
      </p:sp>
      <p:sp>
        <p:nvSpPr>
          <p:cNvPr id="33" name="TextBox 35">
            <a:extLst>
              <a:ext uri="{FF2B5EF4-FFF2-40B4-BE49-F238E27FC236}">
                <a16:creationId xmlns:a16="http://schemas.microsoft.com/office/drawing/2014/main" id="{76802E9C-DF1D-64F9-0693-61E394E0C6B3}"/>
              </a:ext>
            </a:extLst>
          </p:cNvPr>
          <p:cNvSpPr txBox="1"/>
          <p:nvPr/>
        </p:nvSpPr>
        <p:spPr>
          <a:xfrm>
            <a:off x="325755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ALIGN HOW</a:t>
            </a:r>
          </a:p>
        </p:txBody>
      </p:sp>
      <p:sp>
        <p:nvSpPr>
          <p:cNvPr id="34" name="TextBox 36">
            <a:extLst>
              <a:ext uri="{FF2B5EF4-FFF2-40B4-BE49-F238E27FC236}">
                <a16:creationId xmlns:a16="http://schemas.microsoft.com/office/drawing/2014/main" id="{E2BCF8EC-23A7-0524-0439-F8A3376763D6}"/>
              </a:ext>
            </a:extLst>
          </p:cNvPr>
          <p:cNvSpPr txBox="1"/>
          <p:nvPr/>
        </p:nvSpPr>
        <p:spPr>
          <a:xfrm>
            <a:off x="325755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90 min</a:t>
            </a:r>
          </a:p>
        </p:txBody>
      </p:sp>
      <p:sp>
        <p:nvSpPr>
          <p:cNvPr id="35" name="TextBox 37">
            <a:extLst>
              <a:ext uri="{FF2B5EF4-FFF2-40B4-BE49-F238E27FC236}">
                <a16:creationId xmlns:a16="http://schemas.microsoft.com/office/drawing/2014/main" id="{0F6358C7-358F-7C7C-E3B6-FD16B12A1327}"/>
              </a:ext>
            </a:extLst>
          </p:cNvPr>
          <p:cNvSpPr txBox="1"/>
          <p:nvPr/>
        </p:nvSpPr>
        <p:spPr>
          <a:xfrm>
            <a:off x="3367278" y="3416709"/>
            <a:ext cx="2580894" cy="313350"/>
          </a:xfrm>
          <a:prstGeom prst="rect">
            <a:avLst/>
          </a:prstGeom>
          <a:noFill/>
        </p:spPr>
        <p:txBody>
          <a:bodyPr wrap="square" lIns="36000" tIns="18000" rIns="36000" bIns="18000" anchor="t">
            <a:spAutoFit/>
          </a:bodyPr>
          <a:lstStyle/>
          <a:p>
            <a:pPr algn="l"/>
            <a:r>
              <a:rPr sz="900" b="0" i="1">
                <a:solidFill>
                  <a:srgbClr val="006B3F"/>
                </a:solidFill>
                <a:latin typeface="Arial"/>
              </a:rPr>
              <a:t>Each </a:t>
            </a:r>
            <a:r>
              <a:rPr lang="pt-BR" sz="900" b="0" i="1">
                <a:solidFill>
                  <a:srgbClr val="006B3F"/>
                </a:solidFill>
                <a:latin typeface="Arial"/>
              </a:rPr>
              <a:t>PM</a:t>
            </a:r>
            <a:r>
              <a:rPr sz="900" b="0" i="1">
                <a:solidFill>
                  <a:srgbClr val="006B3F"/>
                </a:solidFill>
                <a:latin typeface="Arial"/>
              </a:rPr>
              <a:t> presents top-3 Initiatives + dependencies.</a:t>
            </a:r>
          </a:p>
        </p:txBody>
      </p:sp>
      <p:sp>
        <p:nvSpPr>
          <p:cNvPr id="36" name="TextBox 38">
            <a:extLst>
              <a:ext uri="{FF2B5EF4-FFF2-40B4-BE49-F238E27FC236}">
                <a16:creationId xmlns:a16="http://schemas.microsoft.com/office/drawing/2014/main" id="{6A7001E3-8458-E464-9ADC-E6C611160214}"/>
              </a:ext>
            </a:extLst>
          </p:cNvPr>
          <p:cNvSpPr txBox="1"/>
          <p:nvPr/>
        </p:nvSpPr>
        <p:spPr>
          <a:xfrm>
            <a:off x="336727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37" name="TextBox 39">
            <a:extLst>
              <a:ext uri="{FF2B5EF4-FFF2-40B4-BE49-F238E27FC236}">
                <a16:creationId xmlns:a16="http://schemas.microsoft.com/office/drawing/2014/main" id="{D7769400-1519-176C-9F63-BCED5B36217A}"/>
              </a:ext>
            </a:extLst>
          </p:cNvPr>
          <p:cNvSpPr txBox="1"/>
          <p:nvPr/>
        </p:nvSpPr>
        <p:spPr>
          <a:xfrm>
            <a:off x="3367278" y="4212237"/>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Top-3 Initiatives per VS</a:t>
            </a:r>
          </a:p>
        </p:txBody>
      </p:sp>
      <p:sp>
        <p:nvSpPr>
          <p:cNvPr id="38" name="TextBox 40">
            <a:extLst>
              <a:ext uri="{FF2B5EF4-FFF2-40B4-BE49-F238E27FC236}">
                <a16:creationId xmlns:a16="http://schemas.microsoft.com/office/drawing/2014/main" id="{72900D79-41E4-1CF1-F356-DC07EDEEA0D0}"/>
              </a:ext>
            </a:extLst>
          </p:cNvPr>
          <p:cNvSpPr txBox="1"/>
          <p:nvPr/>
        </p:nvSpPr>
        <p:spPr>
          <a:xfrm>
            <a:off x="3367278" y="4596285"/>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Capacity asks per VS</a:t>
            </a:r>
          </a:p>
        </p:txBody>
      </p:sp>
      <p:sp>
        <p:nvSpPr>
          <p:cNvPr id="39" name="TextBox 41">
            <a:extLst>
              <a:ext uri="{FF2B5EF4-FFF2-40B4-BE49-F238E27FC236}">
                <a16:creationId xmlns:a16="http://schemas.microsoft.com/office/drawing/2014/main" id="{066E6CD3-9364-7A47-C62A-04EABD0F334E}"/>
              </a:ext>
            </a:extLst>
          </p:cNvPr>
          <p:cNvSpPr txBox="1"/>
          <p:nvPr/>
        </p:nvSpPr>
        <p:spPr>
          <a:xfrm>
            <a:off x="3367278" y="4980333"/>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Risks · assumptions called out</a:t>
            </a:r>
          </a:p>
        </p:txBody>
      </p:sp>
      <p:sp>
        <p:nvSpPr>
          <p:cNvPr id="40" name="Rounded Rectangle 42">
            <a:extLst>
              <a:ext uri="{FF2B5EF4-FFF2-40B4-BE49-F238E27FC236}">
                <a16:creationId xmlns:a16="http://schemas.microsoft.com/office/drawing/2014/main" id="{217535F2-B5EE-1C8D-823D-A14EBC5F493F}"/>
              </a:ext>
            </a:extLst>
          </p:cNvPr>
          <p:cNvSpPr/>
          <p:nvPr/>
        </p:nvSpPr>
        <p:spPr>
          <a:xfrm>
            <a:off x="614934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3">
            <a:extLst>
              <a:ext uri="{FF2B5EF4-FFF2-40B4-BE49-F238E27FC236}">
                <a16:creationId xmlns:a16="http://schemas.microsoft.com/office/drawing/2014/main" id="{1ADCD9EA-2C2B-E4BF-85C2-B58F131D780A}"/>
              </a:ext>
            </a:extLst>
          </p:cNvPr>
          <p:cNvSpPr/>
          <p:nvPr/>
        </p:nvSpPr>
        <p:spPr>
          <a:xfrm>
            <a:off x="6149340" y="2548029"/>
            <a:ext cx="2800350" cy="713232"/>
          </a:xfrm>
          <a:prstGeom prst="roundRect">
            <a:avLst>
              <a:gd name="adj" fmla="val 3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4">
            <a:extLst>
              <a:ext uri="{FF2B5EF4-FFF2-40B4-BE49-F238E27FC236}">
                <a16:creationId xmlns:a16="http://schemas.microsoft.com/office/drawing/2014/main" id="{9AD1A186-834E-F4F3-5B00-0E22DDCBAB28}"/>
              </a:ext>
            </a:extLst>
          </p:cNvPr>
          <p:cNvSpPr txBox="1"/>
          <p:nvPr/>
        </p:nvSpPr>
        <p:spPr>
          <a:xfrm>
            <a:off x="614934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3</a:t>
            </a:r>
          </a:p>
        </p:txBody>
      </p:sp>
      <p:sp>
        <p:nvSpPr>
          <p:cNvPr id="43" name="TextBox 45">
            <a:extLst>
              <a:ext uri="{FF2B5EF4-FFF2-40B4-BE49-F238E27FC236}">
                <a16:creationId xmlns:a16="http://schemas.microsoft.com/office/drawing/2014/main" id="{90A0E51B-3409-B49D-8F1D-912B35D694AC}"/>
              </a:ext>
            </a:extLst>
          </p:cNvPr>
          <p:cNvSpPr txBox="1"/>
          <p:nvPr/>
        </p:nvSpPr>
        <p:spPr>
          <a:xfrm>
            <a:off x="614934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SPOT DEPS</a:t>
            </a:r>
          </a:p>
        </p:txBody>
      </p:sp>
      <p:sp>
        <p:nvSpPr>
          <p:cNvPr id="44" name="TextBox 46">
            <a:extLst>
              <a:ext uri="{FF2B5EF4-FFF2-40B4-BE49-F238E27FC236}">
                <a16:creationId xmlns:a16="http://schemas.microsoft.com/office/drawing/2014/main" id="{2241D348-4E0B-2C0B-D598-0F754281D983}"/>
              </a:ext>
            </a:extLst>
          </p:cNvPr>
          <p:cNvSpPr txBox="1"/>
          <p:nvPr/>
        </p:nvSpPr>
        <p:spPr>
          <a:xfrm>
            <a:off x="614934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60 min</a:t>
            </a:r>
          </a:p>
        </p:txBody>
      </p:sp>
      <p:sp>
        <p:nvSpPr>
          <p:cNvPr id="45" name="TextBox 47">
            <a:extLst>
              <a:ext uri="{FF2B5EF4-FFF2-40B4-BE49-F238E27FC236}">
                <a16:creationId xmlns:a16="http://schemas.microsoft.com/office/drawing/2014/main" id="{78AEB8A8-3B9B-662F-5F6D-280ADC8A9587}"/>
              </a:ext>
            </a:extLst>
          </p:cNvPr>
          <p:cNvSpPr txBox="1"/>
          <p:nvPr/>
        </p:nvSpPr>
        <p:spPr>
          <a:xfrm>
            <a:off x="6259068" y="3416709"/>
            <a:ext cx="2580894" cy="502920"/>
          </a:xfrm>
          <a:prstGeom prst="rect">
            <a:avLst/>
          </a:prstGeom>
          <a:noFill/>
        </p:spPr>
        <p:txBody>
          <a:bodyPr wrap="square" lIns="36000" tIns="18000" rIns="36000" bIns="18000" anchor="t">
            <a:spAutoFit/>
          </a:bodyPr>
          <a:lstStyle/>
          <a:p>
            <a:pPr algn="l"/>
            <a:r>
              <a:rPr sz="900" b="0" i="1">
                <a:solidFill>
                  <a:srgbClr val="006B3F"/>
                </a:solidFill>
                <a:latin typeface="Arial"/>
              </a:rPr>
              <a:t>Wall mapping — cross-VS dependencies surfaced and resolved.</a:t>
            </a:r>
          </a:p>
        </p:txBody>
      </p:sp>
      <p:sp>
        <p:nvSpPr>
          <p:cNvPr id="46" name="TextBox 48">
            <a:extLst>
              <a:ext uri="{FF2B5EF4-FFF2-40B4-BE49-F238E27FC236}">
                <a16:creationId xmlns:a16="http://schemas.microsoft.com/office/drawing/2014/main" id="{083070B8-1F80-FA7F-5E5C-57D43266C916}"/>
              </a:ext>
            </a:extLst>
          </p:cNvPr>
          <p:cNvSpPr txBox="1"/>
          <p:nvPr/>
        </p:nvSpPr>
        <p:spPr>
          <a:xfrm>
            <a:off x="625906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47" name="TextBox 49">
            <a:extLst>
              <a:ext uri="{FF2B5EF4-FFF2-40B4-BE49-F238E27FC236}">
                <a16:creationId xmlns:a16="http://schemas.microsoft.com/office/drawing/2014/main" id="{B1880DE0-5E71-B9C3-0681-9A655004A0F1}"/>
              </a:ext>
            </a:extLst>
          </p:cNvPr>
          <p:cNvSpPr txBox="1"/>
          <p:nvPr/>
        </p:nvSpPr>
        <p:spPr>
          <a:xfrm>
            <a:off x="6259068" y="4212237"/>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Cross-VS dependency map</a:t>
            </a:r>
          </a:p>
        </p:txBody>
      </p:sp>
      <p:sp>
        <p:nvSpPr>
          <p:cNvPr id="48" name="TextBox 50">
            <a:extLst>
              <a:ext uri="{FF2B5EF4-FFF2-40B4-BE49-F238E27FC236}">
                <a16:creationId xmlns:a16="http://schemas.microsoft.com/office/drawing/2014/main" id="{1737EF1F-3CCF-418F-5951-F955EF5439B5}"/>
              </a:ext>
            </a:extLst>
          </p:cNvPr>
          <p:cNvSpPr txBox="1"/>
          <p:nvPr/>
        </p:nvSpPr>
        <p:spPr>
          <a:xfrm>
            <a:off x="6259068" y="4596285"/>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Owners agreed per arrow</a:t>
            </a:r>
          </a:p>
        </p:txBody>
      </p:sp>
      <p:sp>
        <p:nvSpPr>
          <p:cNvPr id="49" name="TextBox 51">
            <a:extLst>
              <a:ext uri="{FF2B5EF4-FFF2-40B4-BE49-F238E27FC236}">
                <a16:creationId xmlns:a16="http://schemas.microsoft.com/office/drawing/2014/main" id="{0F4B7F2E-40ED-31A0-A8B5-3F5D21F3A5B4}"/>
              </a:ext>
            </a:extLst>
          </p:cNvPr>
          <p:cNvSpPr txBox="1"/>
          <p:nvPr/>
        </p:nvSpPr>
        <p:spPr>
          <a:xfrm>
            <a:off x="6259068" y="4980333"/>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Sequencing locked per quarter</a:t>
            </a:r>
          </a:p>
        </p:txBody>
      </p:sp>
      <p:sp>
        <p:nvSpPr>
          <p:cNvPr id="50" name="Rounded Rectangle 52">
            <a:extLst>
              <a:ext uri="{FF2B5EF4-FFF2-40B4-BE49-F238E27FC236}">
                <a16:creationId xmlns:a16="http://schemas.microsoft.com/office/drawing/2014/main" id="{84473E8B-8A4F-CC97-5D42-6404647EF4D3}"/>
              </a:ext>
            </a:extLst>
          </p:cNvPr>
          <p:cNvSpPr/>
          <p:nvPr/>
        </p:nvSpPr>
        <p:spPr>
          <a:xfrm>
            <a:off x="904113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3">
            <a:extLst>
              <a:ext uri="{FF2B5EF4-FFF2-40B4-BE49-F238E27FC236}">
                <a16:creationId xmlns:a16="http://schemas.microsoft.com/office/drawing/2014/main" id="{693E8C1E-ADE0-5042-6848-BDB6CCFF717C}"/>
              </a:ext>
            </a:extLst>
          </p:cNvPr>
          <p:cNvSpPr/>
          <p:nvPr/>
        </p:nvSpPr>
        <p:spPr>
          <a:xfrm>
            <a:off x="9041130" y="2548029"/>
            <a:ext cx="2800350" cy="713232"/>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4">
            <a:extLst>
              <a:ext uri="{FF2B5EF4-FFF2-40B4-BE49-F238E27FC236}">
                <a16:creationId xmlns:a16="http://schemas.microsoft.com/office/drawing/2014/main" id="{B527EF01-EBA4-AEA3-BA90-2CE5F7CED700}"/>
              </a:ext>
            </a:extLst>
          </p:cNvPr>
          <p:cNvSpPr txBox="1"/>
          <p:nvPr/>
        </p:nvSpPr>
        <p:spPr>
          <a:xfrm>
            <a:off x="904113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4</a:t>
            </a:r>
          </a:p>
        </p:txBody>
      </p:sp>
      <p:sp>
        <p:nvSpPr>
          <p:cNvPr id="53" name="TextBox 55">
            <a:extLst>
              <a:ext uri="{FF2B5EF4-FFF2-40B4-BE49-F238E27FC236}">
                <a16:creationId xmlns:a16="http://schemas.microsoft.com/office/drawing/2014/main" id="{7C6FFAAE-93F4-AF25-7CAF-3F16EB4C62C1}"/>
              </a:ext>
            </a:extLst>
          </p:cNvPr>
          <p:cNvSpPr txBox="1"/>
          <p:nvPr/>
        </p:nvSpPr>
        <p:spPr>
          <a:xfrm>
            <a:off x="9041130" y="2804730"/>
            <a:ext cx="2800350" cy="236406"/>
          </a:xfrm>
          <a:prstGeom prst="rect">
            <a:avLst/>
          </a:prstGeom>
          <a:noFill/>
        </p:spPr>
        <p:txBody>
          <a:bodyPr wrap="square" lIns="36000" tIns="18000" rIns="36000" bIns="18000" anchor="ctr">
            <a:spAutoFit/>
          </a:bodyPr>
          <a:lstStyle/>
          <a:p>
            <a:pPr algn="ctr"/>
            <a:r>
              <a:rPr sz="1300" b="1" i="0">
                <a:solidFill>
                  <a:srgbClr val="FFFFFF"/>
                </a:solidFill>
                <a:latin typeface="Arial"/>
              </a:rPr>
              <a:t>LOCK </a:t>
            </a:r>
            <a:r>
              <a:rPr lang="es-MX" sz="1300" b="1" i="0">
                <a:solidFill>
                  <a:srgbClr val="FFFFFF"/>
                </a:solidFill>
                <a:latin typeface="Arial"/>
              </a:rPr>
              <a:t>KPIS</a:t>
            </a:r>
            <a:endParaRPr sz="1300" b="1" i="0">
              <a:solidFill>
                <a:srgbClr val="FFFFFF"/>
              </a:solidFill>
              <a:latin typeface="Arial"/>
            </a:endParaRPr>
          </a:p>
        </p:txBody>
      </p:sp>
      <p:sp>
        <p:nvSpPr>
          <p:cNvPr id="54" name="TextBox 56">
            <a:extLst>
              <a:ext uri="{FF2B5EF4-FFF2-40B4-BE49-F238E27FC236}">
                <a16:creationId xmlns:a16="http://schemas.microsoft.com/office/drawing/2014/main" id="{5C0E1E1F-F66B-6A53-F362-56F0CCCC37F9}"/>
              </a:ext>
            </a:extLst>
          </p:cNvPr>
          <p:cNvSpPr txBox="1"/>
          <p:nvPr/>
        </p:nvSpPr>
        <p:spPr>
          <a:xfrm>
            <a:off x="904113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60 min</a:t>
            </a:r>
          </a:p>
        </p:txBody>
      </p:sp>
      <p:sp>
        <p:nvSpPr>
          <p:cNvPr id="55" name="TextBox 57">
            <a:extLst>
              <a:ext uri="{FF2B5EF4-FFF2-40B4-BE49-F238E27FC236}">
                <a16:creationId xmlns:a16="http://schemas.microsoft.com/office/drawing/2014/main" id="{3409DE46-B18E-02AA-6DA3-68F051F7EECE}"/>
              </a:ext>
            </a:extLst>
          </p:cNvPr>
          <p:cNvSpPr txBox="1"/>
          <p:nvPr/>
        </p:nvSpPr>
        <p:spPr>
          <a:xfrm>
            <a:off x="9150858" y="3416709"/>
            <a:ext cx="2580894" cy="313350"/>
          </a:xfrm>
          <a:prstGeom prst="rect">
            <a:avLst/>
          </a:prstGeom>
          <a:noFill/>
        </p:spPr>
        <p:txBody>
          <a:bodyPr wrap="square" lIns="36000" tIns="18000" rIns="36000" bIns="18000" anchor="t">
            <a:spAutoFit/>
          </a:bodyPr>
          <a:lstStyle/>
          <a:p>
            <a:pPr algn="l"/>
            <a:r>
              <a:rPr sz="900" b="0" i="1">
                <a:solidFill>
                  <a:srgbClr val="006B3F"/>
                </a:solidFill>
                <a:latin typeface="Arial"/>
              </a:rPr>
              <a:t>Capacity </a:t>
            </a:r>
            <a:r>
              <a:rPr lang="es-MX" sz="900" b="0" i="1" err="1">
                <a:solidFill>
                  <a:srgbClr val="006B3F"/>
                </a:solidFill>
                <a:latin typeface="Arial"/>
              </a:rPr>
              <a:t>allocation</a:t>
            </a:r>
            <a:r>
              <a:rPr lang="es-MX" sz="900" b="0" i="1">
                <a:solidFill>
                  <a:srgbClr val="006B3F"/>
                </a:solidFill>
                <a:latin typeface="Arial"/>
              </a:rPr>
              <a:t> + KPI targets </a:t>
            </a:r>
            <a:r>
              <a:rPr lang="es-MX" sz="900" b="0" i="1" err="1">
                <a:solidFill>
                  <a:srgbClr val="006B3F"/>
                </a:solidFill>
                <a:latin typeface="Arial"/>
              </a:rPr>
              <a:t>agreed</a:t>
            </a:r>
            <a:r>
              <a:rPr lang="es-MX" sz="900" b="0" i="1">
                <a:solidFill>
                  <a:srgbClr val="006B3F"/>
                </a:solidFill>
                <a:latin typeface="Arial"/>
              </a:rPr>
              <a:t> and </a:t>
            </a:r>
            <a:r>
              <a:rPr lang="es-MX" sz="900" b="0" i="1" err="1">
                <a:solidFill>
                  <a:srgbClr val="006B3F"/>
                </a:solidFill>
                <a:latin typeface="Arial"/>
              </a:rPr>
              <a:t>endorsed</a:t>
            </a:r>
            <a:endParaRPr sz="900" b="0" i="1">
              <a:solidFill>
                <a:srgbClr val="006B3F"/>
              </a:solidFill>
              <a:latin typeface="Arial"/>
            </a:endParaRPr>
          </a:p>
        </p:txBody>
      </p:sp>
      <p:sp>
        <p:nvSpPr>
          <p:cNvPr id="56" name="TextBox 58">
            <a:extLst>
              <a:ext uri="{FF2B5EF4-FFF2-40B4-BE49-F238E27FC236}">
                <a16:creationId xmlns:a16="http://schemas.microsoft.com/office/drawing/2014/main" id="{68002341-BE0A-6FC8-D6A8-E4E4FF610468}"/>
              </a:ext>
            </a:extLst>
          </p:cNvPr>
          <p:cNvSpPr txBox="1"/>
          <p:nvPr/>
        </p:nvSpPr>
        <p:spPr>
          <a:xfrm>
            <a:off x="915085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57" name="TextBox 59">
            <a:extLst>
              <a:ext uri="{FF2B5EF4-FFF2-40B4-BE49-F238E27FC236}">
                <a16:creationId xmlns:a16="http://schemas.microsoft.com/office/drawing/2014/main" id="{BD58420B-2990-C2AF-609A-A39AB08518D8}"/>
              </a:ext>
            </a:extLst>
          </p:cNvPr>
          <p:cNvSpPr txBox="1"/>
          <p:nvPr/>
        </p:nvSpPr>
        <p:spPr>
          <a:xfrm>
            <a:off x="9150858" y="4212237"/>
            <a:ext cx="2580894" cy="174851"/>
          </a:xfrm>
          <a:prstGeom prst="rect">
            <a:avLst/>
          </a:prstGeom>
          <a:noFill/>
        </p:spPr>
        <p:txBody>
          <a:bodyPr wrap="square" lIns="36000" tIns="18000" rIns="36000" bIns="18000" anchor="t">
            <a:spAutoFit/>
          </a:bodyPr>
          <a:lstStyle/>
          <a:p>
            <a:r>
              <a:rPr lang="es-MX" sz="900">
                <a:solidFill>
                  <a:srgbClr val="2C3E50"/>
                </a:solidFill>
                <a:latin typeface="Arial"/>
              </a:rPr>
              <a:t>▪ KPI </a:t>
            </a:r>
            <a:r>
              <a:rPr lang="es-MX" sz="900" b="0" i="0">
                <a:solidFill>
                  <a:srgbClr val="2C3E50"/>
                </a:solidFill>
                <a:latin typeface="Arial"/>
              </a:rPr>
              <a:t>targets </a:t>
            </a:r>
            <a:r>
              <a:rPr lang="es-MX" sz="900" b="0" i="0" err="1">
                <a:solidFill>
                  <a:srgbClr val="2C3E50"/>
                </a:solidFill>
                <a:latin typeface="Arial"/>
              </a:rPr>
              <a:t>locked</a:t>
            </a:r>
            <a:endParaRPr lang="pt-BR" sz="900" b="0" i="0">
              <a:solidFill>
                <a:srgbClr val="2C3E50"/>
              </a:solidFill>
              <a:latin typeface="Arial"/>
            </a:endParaRPr>
          </a:p>
        </p:txBody>
      </p:sp>
      <p:sp>
        <p:nvSpPr>
          <p:cNvPr id="58" name="TextBox 60">
            <a:extLst>
              <a:ext uri="{FF2B5EF4-FFF2-40B4-BE49-F238E27FC236}">
                <a16:creationId xmlns:a16="http://schemas.microsoft.com/office/drawing/2014/main" id="{B6BECB6F-8282-2F1B-F088-25A46A1116AF}"/>
              </a:ext>
            </a:extLst>
          </p:cNvPr>
          <p:cNvSpPr txBox="1"/>
          <p:nvPr/>
        </p:nvSpPr>
        <p:spPr>
          <a:xfrm>
            <a:off x="9150858" y="4596285"/>
            <a:ext cx="2580894" cy="313350"/>
          </a:xfrm>
          <a:prstGeom prst="rect">
            <a:avLst/>
          </a:prstGeom>
          <a:noFill/>
        </p:spPr>
        <p:txBody>
          <a:bodyPr wrap="square" lIns="36000" tIns="18000" rIns="36000" bIns="18000" anchor="t">
            <a:spAutoFit/>
          </a:bodyPr>
          <a:lstStyle/>
          <a:p>
            <a:r>
              <a:rPr lang="es-MX" sz="900">
                <a:solidFill>
                  <a:srgbClr val="2C3E50"/>
                </a:solidFill>
                <a:latin typeface="Arial"/>
              </a:rPr>
              <a:t>▪ </a:t>
            </a:r>
            <a:r>
              <a:rPr lang="es-MX" sz="900" err="1">
                <a:solidFill>
                  <a:srgbClr val="2C3E50"/>
                </a:solidFill>
                <a:latin typeface="Arial"/>
              </a:rPr>
              <a:t>Prioritized</a:t>
            </a:r>
            <a:r>
              <a:rPr lang="es-MX" sz="900">
                <a:solidFill>
                  <a:srgbClr val="2C3E50"/>
                </a:solidFill>
                <a:latin typeface="Arial"/>
              </a:rPr>
              <a:t> </a:t>
            </a:r>
            <a:r>
              <a:rPr lang="es-MX" sz="900" b="0" i="0">
                <a:solidFill>
                  <a:srgbClr val="2C3E50"/>
                </a:solidFill>
                <a:latin typeface="Arial"/>
              </a:rPr>
              <a:t>backlog </a:t>
            </a:r>
            <a:r>
              <a:rPr lang="es-MX" sz="900" b="0" i="0" err="1">
                <a:solidFill>
                  <a:srgbClr val="2C3E50"/>
                </a:solidFill>
                <a:latin typeface="Arial"/>
              </a:rPr>
              <a:t>aligned</a:t>
            </a:r>
            <a:r>
              <a:rPr lang="es-MX" sz="900" b="0" i="0">
                <a:solidFill>
                  <a:srgbClr val="2C3E50"/>
                </a:solidFill>
                <a:latin typeface="Arial"/>
              </a:rPr>
              <a:t> </a:t>
            </a:r>
            <a:r>
              <a:rPr lang="es-MX" sz="900" b="0" i="0" err="1">
                <a:solidFill>
                  <a:srgbClr val="2C3E50"/>
                </a:solidFill>
                <a:latin typeface="Arial"/>
              </a:rPr>
              <a:t>to</a:t>
            </a:r>
            <a:r>
              <a:rPr lang="es-MX" sz="900" b="0" i="0">
                <a:solidFill>
                  <a:srgbClr val="2C3E50"/>
                </a:solidFill>
                <a:latin typeface="Arial"/>
              </a:rPr>
              <a:t> </a:t>
            </a:r>
            <a:r>
              <a:rPr lang="es-MX" sz="900" b="0" i="0" err="1">
                <a:solidFill>
                  <a:srgbClr val="2C3E50"/>
                </a:solidFill>
                <a:latin typeface="Arial"/>
              </a:rPr>
              <a:t>capacit</a:t>
            </a:r>
            <a:r>
              <a:rPr lang="es-MX" sz="900" err="1">
                <a:solidFill>
                  <a:srgbClr val="2C3E50"/>
                </a:solidFill>
                <a:latin typeface="Arial"/>
              </a:rPr>
              <a:t>y</a:t>
            </a:r>
            <a:r>
              <a:rPr lang="es-MX" sz="900">
                <a:solidFill>
                  <a:srgbClr val="2C3E50"/>
                </a:solidFill>
                <a:latin typeface="Arial"/>
              </a:rPr>
              <a:t> and </a:t>
            </a:r>
            <a:r>
              <a:rPr lang="es-MX" sz="900" err="1">
                <a:solidFill>
                  <a:srgbClr val="2C3E50"/>
                </a:solidFill>
                <a:latin typeface="Arial"/>
              </a:rPr>
              <a:t>Pain</a:t>
            </a:r>
            <a:r>
              <a:rPr lang="es-MX" sz="900">
                <a:solidFill>
                  <a:srgbClr val="2C3E50"/>
                </a:solidFill>
                <a:latin typeface="Arial"/>
              </a:rPr>
              <a:t> Score</a:t>
            </a:r>
            <a:endParaRPr lang="pt-BR" sz="900" b="0" i="0">
              <a:solidFill>
                <a:srgbClr val="2C3E50"/>
              </a:solidFill>
              <a:latin typeface="Arial"/>
            </a:endParaRPr>
          </a:p>
        </p:txBody>
      </p:sp>
      <p:sp>
        <p:nvSpPr>
          <p:cNvPr id="59" name="TextBox 61">
            <a:extLst>
              <a:ext uri="{FF2B5EF4-FFF2-40B4-BE49-F238E27FC236}">
                <a16:creationId xmlns:a16="http://schemas.microsoft.com/office/drawing/2014/main" id="{4687390D-ED30-2099-364D-2651796C6D27}"/>
              </a:ext>
            </a:extLst>
          </p:cNvPr>
          <p:cNvSpPr txBox="1"/>
          <p:nvPr/>
        </p:nvSpPr>
        <p:spPr>
          <a:xfrm>
            <a:off x="9150858" y="4980333"/>
            <a:ext cx="2580894" cy="174851"/>
          </a:xfrm>
          <a:prstGeom prst="rect">
            <a:avLst/>
          </a:prstGeom>
          <a:noFill/>
        </p:spPr>
        <p:txBody>
          <a:bodyPr wrap="square" lIns="36000" tIns="18000" rIns="36000" bIns="18000" anchor="t">
            <a:spAutoFit/>
          </a:bodyPr>
          <a:lstStyle/>
          <a:p>
            <a:pPr algn="l"/>
            <a:r>
              <a:rPr sz="900" b="0" i="0">
                <a:solidFill>
                  <a:srgbClr val="2C3E50"/>
                </a:solidFill>
                <a:latin typeface="Arial"/>
              </a:rPr>
              <a:t>▪ Escalation list </a:t>
            </a:r>
            <a:r>
              <a:rPr lang="es-MX" sz="900" b="0" i="0" err="1">
                <a:solidFill>
                  <a:srgbClr val="2C3E50"/>
                </a:solidFill>
                <a:latin typeface="Arial"/>
              </a:rPr>
              <a:t>for</a:t>
            </a:r>
            <a:r>
              <a:rPr lang="es-MX" sz="900" b="0" i="0">
                <a:solidFill>
                  <a:srgbClr val="2C3E50"/>
                </a:solidFill>
                <a:latin typeface="Arial"/>
              </a:rPr>
              <a:t> </a:t>
            </a:r>
            <a:r>
              <a:rPr lang="es-MX" sz="900" b="0" i="0" err="1">
                <a:solidFill>
                  <a:srgbClr val="2C3E50"/>
                </a:solidFill>
                <a:latin typeface="Arial"/>
              </a:rPr>
              <a:t>constraints</a:t>
            </a:r>
            <a:r>
              <a:rPr lang="es-MX" sz="900" b="0" i="0">
                <a:solidFill>
                  <a:srgbClr val="2C3E50"/>
                </a:solidFill>
                <a:latin typeface="Arial"/>
              </a:rPr>
              <a:t> and </a:t>
            </a:r>
            <a:r>
              <a:rPr lang="es-MX" sz="900" b="0" i="0" err="1">
                <a:solidFill>
                  <a:srgbClr val="2C3E50"/>
                </a:solidFill>
                <a:latin typeface="Arial"/>
              </a:rPr>
              <a:t>risks</a:t>
            </a:r>
            <a:endParaRPr sz="900" b="0" i="0">
              <a:solidFill>
                <a:srgbClr val="2C3E50"/>
              </a:solidFill>
              <a:latin typeface="Arial"/>
            </a:endParaRPr>
          </a:p>
        </p:txBody>
      </p:sp>
      <p:sp>
        <p:nvSpPr>
          <p:cNvPr id="60" name="Rounded Rectangle 62">
            <a:extLst>
              <a:ext uri="{FF2B5EF4-FFF2-40B4-BE49-F238E27FC236}">
                <a16:creationId xmlns:a16="http://schemas.microsoft.com/office/drawing/2014/main" id="{80DF34B8-29CC-4290-BBA3-533F5EA7281F}"/>
              </a:ext>
            </a:extLst>
          </p:cNvPr>
          <p:cNvSpPr/>
          <p:nvPr/>
        </p:nvSpPr>
        <p:spPr>
          <a:xfrm>
            <a:off x="365760" y="5532120"/>
            <a:ext cx="11475720" cy="9601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3">
            <a:extLst>
              <a:ext uri="{FF2B5EF4-FFF2-40B4-BE49-F238E27FC236}">
                <a16:creationId xmlns:a16="http://schemas.microsoft.com/office/drawing/2014/main" id="{BC0219D0-65A8-31E5-B9AF-465F40FC0155}"/>
              </a:ext>
            </a:extLst>
          </p:cNvPr>
          <p:cNvSpPr txBox="1"/>
          <p:nvPr/>
        </p:nvSpPr>
        <p:spPr>
          <a:xfrm>
            <a:off x="50292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INPUTS</a:t>
            </a:r>
          </a:p>
        </p:txBody>
      </p:sp>
      <p:sp>
        <p:nvSpPr>
          <p:cNvPr id="62" name="TextBox 64">
            <a:extLst>
              <a:ext uri="{FF2B5EF4-FFF2-40B4-BE49-F238E27FC236}">
                <a16:creationId xmlns:a16="http://schemas.microsoft.com/office/drawing/2014/main" id="{B576DBE9-2B27-DD64-ACAD-8C02C869440C}"/>
              </a:ext>
            </a:extLst>
          </p:cNvPr>
          <p:cNvSpPr txBox="1"/>
          <p:nvPr/>
        </p:nvSpPr>
        <p:spPr>
          <a:xfrm>
            <a:off x="50292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Outputs of Gate 2 sessions of the quarter · Pain Score rankings · Capacity heat-map per VS · Corporate OKR cascade</a:t>
            </a:r>
          </a:p>
        </p:txBody>
      </p:sp>
      <p:sp>
        <p:nvSpPr>
          <p:cNvPr id="63" name="TextBox 65">
            <a:extLst>
              <a:ext uri="{FF2B5EF4-FFF2-40B4-BE49-F238E27FC236}">
                <a16:creationId xmlns:a16="http://schemas.microsoft.com/office/drawing/2014/main" id="{2964C923-F8DC-80D3-D175-B655AD8DCFE5}"/>
              </a:ext>
            </a:extLst>
          </p:cNvPr>
          <p:cNvSpPr txBox="1"/>
          <p:nvPr/>
        </p:nvSpPr>
        <p:spPr>
          <a:xfrm>
            <a:off x="426720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OUTPUTS</a:t>
            </a:r>
          </a:p>
        </p:txBody>
      </p:sp>
      <p:sp>
        <p:nvSpPr>
          <p:cNvPr id="64" name="TextBox 66">
            <a:extLst>
              <a:ext uri="{FF2B5EF4-FFF2-40B4-BE49-F238E27FC236}">
                <a16:creationId xmlns:a16="http://schemas.microsoft.com/office/drawing/2014/main" id="{DAD411DC-C1B3-2113-D8CE-6CC49AE35739}"/>
              </a:ext>
            </a:extLst>
          </p:cNvPr>
          <p:cNvSpPr txBox="1"/>
          <p:nvPr/>
        </p:nvSpPr>
        <p:spPr>
          <a:xfrm>
            <a:off x="426720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Quarterly OKRs locked · OVS KPI deltas reviewed (NPS · CSAT · Reliability · cycle time) · Cross-VS dependency map · Capacity commitments per VS</a:t>
            </a:r>
          </a:p>
        </p:txBody>
      </p:sp>
      <p:sp>
        <p:nvSpPr>
          <p:cNvPr id="65" name="TextBox 67">
            <a:extLst>
              <a:ext uri="{FF2B5EF4-FFF2-40B4-BE49-F238E27FC236}">
                <a16:creationId xmlns:a16="http://schemas.microsoft.com/office/drawing/2014/main" id="{26D916FC-C4F5-962F-11BF-20B4D5B19668}"/>
              </a:ext>
            </a:extLst>
          </p:cNvPr>
          <p:cNvSpPr txBox="1"/>
          <p:nvPr/>
        </p:nvSpPr>
        <p:spPr>
          <a:xfrm>
            <a:off x="803148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RHYTHM</a:t>
            </a:r>
          </a:p>
        </p:txBody>
      </p:sp>
      <p:sp>
        <p:nvSpPr>
          <p:cNvPr id="66" name="TextBox 68">
            <a:extLst>
              <a:ext uri="{FF2B5EF4-FFF2-40B4-BE49-F238E27FC236}">
                <a16:creationId xmlns:a16="http://schemas.microsoft.com/office/drawing/2014/main" id="{980C2141-8033-1E7B-0B99-A599C64A7414}"/>
              </a:ext>
            </a:extLst>
          </p:cNvPr>
          <p:cNvSpPr txBox="1"/>
          <p:nvPr/>
        </p:nvSpPr>
        <p:spPr>
          <a:xfrm>
            <a:off x="803148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Q1 · Q2 · Q3 · Q4 — first week of each quarter · outputs reviewed at the next month's Gate 2</a:t>
            </a:r>
          </a:p>
        </p:txBody>
      </p:sp>
      <p:sp>
        <p:nvSpPr>
          <p:cNvPr id="18" name="Text Placeholder 19">
            <a:extLst>
              <a:ext uri="{FF2B5EF4-FFF2-40B4-BE49-F238E27FC236}">
                <a16:creationId xmlns:a16="http://schemas.microsoft.com/office/drawing/2014/main" id="{6E425B67-9747-B693-7E0D-1B4229CA4894}"/>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GOVERNANCE: Quarterly Review</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3992193063"/>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5A67B-DA95-5FCB-0425-96C157AF7722}"/>
            </a:ext>
          </a:extLst>
        </p:cNvPr>
        <p:cNvGrpSpPr/>
        <p:nvPr/>
      </p:nvGrpSpPr>
      <p:grpSpPr>
        <a:xfrm>
          <a:off x="0" y="0"/>
          <a:ext cx="0" cy="0"/>
          <a:chOff x="0" y="0"/>
          <a:chExt cx="0" cy="0"/>
        </a:xfrm>
      </p:grpSpPr>
      <p:sp>
        <p:nvSpPr>
          <p:cNvPr id="2" name="Text Placeholder 19">
            <a:extLst>
              <a:ext uri="{FF2B5EF4-FFF2-40B4-BE49-F238E27FC236}">
                <a16:creationId xmlns:a16="http://schemas.microsoft.com/office/drawing/2014/main" id="{44011F03-F615-2BE9-D6A2-843F0653CBB8}"/>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PERFORMANCE METRICS</a:t>
            </a:r>
          </a:p>
        </p:txBody>
      </p:sp>
      <p:sp>
        <p:nvSpPr>
          <p:cNvPr id="3" name="Rounded Rectangle 9">
            <a:extLst>
              <a:ext uri="{FF2B5EF4-FFF2-40B4-BE49-F238E27FC236}">
                <a16:creationId xmlns:a16="http://schemas.microsoft.com/office/drawing/2014/main" id="{B7CC85E5-F1BF-AE74-A6B1-A7EBD3550945}"/>
              </a:ext>
            </a:extLst>
          </p:cNvPr>
          <p:cNvSpPr/>
          <p:nvPr/>
        </p:nvSpPr>
        <p:spPr>
          <a:xfrm>
            <a:off x="457200"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10">
            <a:extLst>
              <a:ext uri="{FF2B5EF4-FFF2-40B4-BE49-F238E27FC236}">
                <a16:creationId xmlns:a16="http://schemas.microsoft.com/office/drawing/2014/main" id="{C68AB4F2-2464-843D-2E80-439A823621CC}"/>
              </a:ext>
            </a:extLst>
          </p:cNvPr>
          <p:cNvSpPr/>
          <p:nvPr/>
        </p:nvSpPr>
        <p:spPr>
          <a:xfrm>
            <a:off x="457200"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11">
            <a:extLst>
              <a:ext uri="{FF2B5EF4-FFF2-40B4-BE49-F238E27FC236}">
                <a16:creationId xmlns:a16="http://schemas.microsoft.com/office/drawing/2014/main" id="{2C15BFBB-C891-0CFF-53BA-DD5E3CCED77C}"/>
              </a:ext>
            </a:extLst>
          </p:cNvPr>
          <p:cNvSpPr txBox="1"/>
          <p:nvPr/>
        </p:nvSpPr>
        <p:spPr>
          <a:xfrm>
            <a:off x="548640"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DEMAND VOLUME</a:t>
            </a:r>
          </a:p>
        </p:txBody>
      </p:sp>
      <p:sp>
        <p:nvSpPr>
          <p:cNvPr id="7" name="TextBox 12">
            <a:extLst>
              <a:ext uri="{FF2B5EF4-FFF2-40B4-BE49-F238E27FC236}">
                <a16:creationId xmlns:a16="http://schemas.microsoft.com/office/drawing/2014/main" id="{45D494E9-5378-AA16-6F4F-6A8F93A3D365}"/>
              </a:ext>
            </a:extLst>
          </p:cNvPr>
          <p:cNvSpPr txBox="1"/>
          <p:nvPr/>
        </p:nvSpPr>
        <p:spPr>
          <a:xfrm>
            <a:off x="594360"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Submissions / week</a:t>
            </a:r>
          </a:p>
        </p:txBody>
      </p:sp>
      <p:sp>
        <p:nvSpPr>
          <p:cNvPr id="8" name="TextBox 13">
            <a:extLst>
              <a:ext uri="{FF2B5EF4-FFF2-40B4-BE49-F238E27FC236}">
                <a16:creationId xmlns:a16="http://schemas.microsoft.com/office/drawing/2014/main" id="{6516CC37-DC8D-0965-338C-3F5058B51D18}"/>
              </a:ext>
            </a:extLst>
          </p:cNvPr>
          <p:cNvSpPr txBox="1"/>
          <p:nvPr/>
        </p:nvSpPr>
        <p:spPr>
          <a:xfrm>
            <a:off x="594360" y="2690527"/>
            <a:ext cx="2442133" cy="375487"/>
          </a:xfrm>
          <a:prstGeom prst="rect">
            <a:avLst/>
          </a:prstGeom>
          <a:noFill/>
        </p:spPr>
        <p:txBody>
          <a:bodyPr wrap="square" lIns="45720" tIns="18288" rIns="45720" bIns="18288" anchor="ctr">
            <a:spAutoFit/>
          </a:bodyPr>
          <a:lstStyle/>
          <a:p>
            <a:pPr algn="l"/>
            <a:r>
              <a:rPr sz="2200" b="1" i="0">
                <a:latin typeface="Arial"/>
              </a:rPr>
              <a:t>trend visible</a:t>
            </a:r>
          </a:p>
        </p:txBody>
      </p:sp>
      <p:sp>
        <p:nvSpPr>
          <p:cNvPr id="9" name="TextBox 14">
            <a:extLst>
              <a:ext uri="{FF2B5EF4-FFF2-40B4-BE49-F238E27FC236}">
                <a16:creationId xmlns:a16="http://schemas.microsoft.com/office/drawing/2014/main" id="{AB454D2A-70BE-7FB3-E905-6DC267CC0A9E}"/>
              </a:ext>
            </a:extLst>
          </p:cNvPr>
          <p:cNvSpPr txBox="1"/>
          <p:nvPr/>
        </p:nvSpPr>
        <p:spPr>
          <a:xfrm>
            <a:off x="594360"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by VS · CoS · OPCO</a:t>
            </a:r>
          </a:p>
        </p:txBody>
      </p:sp>
      <p:sp>
        <p:nvSpPr>
          <p:cNvPr id="10" name="Rounded Rectangle 15">
            <a:extLst>
              <a:ext uri="{FF2B5EF4-FFF2-40B4-BE49-F238E27FC236}">
                <a16:creationId xmlns:a16="http://schemas.microsoft.com/office/drawing/2014/main" id="{A0BAF3D2-FFE7-F26A-D9CB-B5365FFB923B}"/>
              </a:ext>
            </a:extLst>
          </p:cNvPr>
          <p:cNvSpPr/>
          <p:nvPr/>
        </p:nvSpPr>
        <p:spPr>
          <a:xfrm>
            <a:off x="3310813"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6">
            <a:extLst>
              <a:ext uri="{FF2B5EF4-FFF2-40B4-BE49-F238E27FC236}">
                <a16:creationId xmlns:a16="http://schemas.microsoft.com/office/drawing/2014/main" id="{CFFDE706-29C7-7317-A35C-8C1F2FEFF363}"/>
              </a:ext>
            </a:extLst>
          </p:cNvPr>
          <p:cNvSpPr/>
          <p:nvPr/>
        </p:nvSpPr>
        <p:spPr>
          <a:xfrm>
            <a:off x="3310813"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7">
            <a:extLst>
              <a:ext uri="{FF2B5EF4-FFF2-40B4-BE49-F238E27FC236}">
                <a16:creationId xmlns:a16="http://schemas.microsoft.com/office/drawing/2014/main" id="{2CD5A155-01C9-86FA-8A2B-83998DD3FF4E}"/>
              </a:ext>
            </a:extLst>
          </p:cNvPr>
          <p:cNvSpPr txBox="1"/>
          <p:nvPr/>
        </p:nvSpPr>
        <p:spPr>
          <a:xfrm>
            <a:off x="3402253"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DoR PASS RATE</a:t>
            </a:r>
          </a:p>
        </p:txBody>
      </p:sp>
      <p:sp>
        <p:nvSpPr>
          <p:cNvPr id="13" name="TextBox 18">
            <a:extLst>
              <a:ext uri="{FF2B5EF4-FFF2-40B4-BE49-F238E27FC236}">
                <a16:creationId xmlns:a16="http://schemas.microsoft.com/office/drawing/2014/main" id="{B93DB52D-C192-C305-A202-6053F5880BD1}"/>
              </a:ext>
            </a:extLst>
          </p:cNvPr>
          <p:cNvSpPr txBox="1"/>
          <p:nvPr/>
        </p:nvSpPr>
        <p:spPr>
          <a:xfrm>
            <a:off x="3447973"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 accepted at first submit</a:t>
            </a:r>
          </a:p>
        </p:txBody>
      </p:sp>
      <p:sp>
        <p:nvSpPr>
          <p:cNvPr id="14" name="TextBox 19">
            <a:extLst>
              <a:ext uri="{FF2B5EF4-FFF2-40B4-BE49-F238E27FC236}">
                <a16:creationId xmlns:a16="http://schemas.microsoft.com/office/drawing/2014/main" id="{BE297376-4AD1-3BB3-8F18-058D86D1A076}"/>
              </a:ext>
            </a:extLst>
          </p:cNvPr>
          <p:cNvSpPr txBox="1"/>
          <p:nvPr/>
        </p:nvSpPr>
        <p:spPr>
          <a:xfrm>
            <a:off x="3447973" y="2649671"/>
            <a:ext cx="2442133" cy="457200"/>
          </a:xfrm>
          <a:prstGeom prst="rect">
            <a:avLst/>
          </a:prstGeom>
          <a:noFill/>
        </p:spPr>
        <p:txBody>
          <a:bodyPr wrap="square" lIns="45720" tIns="18288" rIns="45720" bIns="18288" anchor="ctr">
            <a:spAutoFit/>
          </a:bodyPr>
          <a:lstStyle/>
          <a:p>
            <a:pPr algn="l"/>
            <a:r>
              <a:rPr sz="2200" b="1" i="0">
                <a:solidFill>
                  <a:srgbClr val="2E7D32"/>
                </a:solidFill>
                <a:latin typeface="Arial"/>
              </a:rPr>
              <a:t>≥ 70 %</a:t>
            </a:r>
          </a:p>
        </p:txBody>
      </p:sp>
      <p:sp>
        <p:nvSpPr>
          <p:cNvPr id="15" name="TextBox 20">
            <a:extLst>
              <a:ext uri="{FF2B5EF4-FFF2-40B4-BE49-F238E27FC236}">
                <a16:creationId xmlns:a16="http://schemas.microsoft.com/office/drawing/2014/main" id="{60E31B33-F547-2C7F-BDA5-B8EBA11FA07A}"/>
              </a:ext>
            </a:extLst>
          </p:cNvPr>
          <p:cNvSpPr txBox="1"/>
          <p:nvPr/>
        </p:nvSpPr>
        <p:spPr>
          <a:xfrm>
            <a:off x="3447973"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 70 %</a:t>
            </a:r>
          </a:p>
        </p:txBody>
      </p:sp>
      <p:sp>
        <p:nvSpPr>
          <p:cNvPr id="16" name="Rounded Rectangle 21">
            <a:extLst>
              <a:ext uri="{FF2B5EF4-FFF2-40B4-BE49-F238E27FC236}">
                <a16:creationId xmlns:a16="http://schemas.microsoft.com/office/drawing/2014/main" id="{056E9209-2527-8C88-AE2F-499EEE47EC26}"/>
              </a:ext>
            </a:extLst>
          </p:cNvPr>
          <p:cNvSpPr/>
          <p:nvPr/>
        </p:nvSpPr>
        <p:spPr>
          <a:xfrm>
            <a:off x="6164427"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22">
            <a:extLst>
              <a:ext uri="{FF2B5EF4-FFF2-40B4-BE49-F238E27FC236}">
                <a16:creationId xmlns:a16="http://schemas.microsoft.com/office/drawing/2014/main" id="{0EFF7051-B155-9D2B-542F-F282497C9FD9}"/>
              </a:ext>
            </a:extLst>
          </p:cNvPr>
          <p:cNvSpPr/>
          <p:nvPr/>
        </p:nvSpPr>
        <p:spPr>
          <a:xfrm>
            <a:off x="6164427"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23">
            <a:extLst>
              <a:ext uri="{FF2B5EF4-FFF2-40B4-BE49-F238E27FC236}">
                <a16:creationId xmlns:a16="http://schemas.microsoft.com/office/drawing/2014/main" id="{EF3F479A-BB9E-337B-530B-D57033A58AE8}"/>
              </a:ext>
            </a:extLst>
          </p:cNvPr>
          <p:cNvSpPr txBox="1"/>
          <p:nvPr/>
        </p:nvSpPr>
        <p:spPr>
          <a:xfrm>
            <a:off x="6255867"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TRIAGE LEAD TIME</a:t>
            </a:r>
          </a:p>
        </p:txBody>
      </p:sp>
      <p:sp>
        <p:nvSpPr>
          <p:cNvPr id="19" name="TextBox 24">
            <a:extLst>
              <a:ext uri="{FF2B5EF4-FFF2-40B4-BE49-F238E27FC236}">
                <a16:creationId xmlns:a16="http://schemas.microsoft.com/office/drawing/2014/main" id="{A3292101-D220-75C4-3D5A-49B2A7F26E9B}"/>
              </a:ext>
            </a:extLst>
          </p:cNvPr>
          <p:cNvSpPr txBox="1"/>
          <p:nvPr/>
        </p:nvSpPr>
        <p:spPr>
          <a:xfrm>
            <a:off x="6301587"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Submit → Gate 1 verdict</a:t>
            </a:r>
          </a:p>
        </p:txBody>
      </p:sp>
      <p:sp>
        <p:nvSpPr>
          <p:cNvPr id="20" name="TextBox 25">
            <a:extLst>
              <a:ext uri="{FF2B5EF4-FFF2-40B4-BE49-F238E27FC236}">
                <a16:creationId xmlns:a16="http://schemas.microsoft.com/office/drawing/2014/main" id="{E206B5D4-D103-93C7-27C8-2887A9FE51BD}"/>
              </a:ext>
            </a:extLst>
          </p:cNvPr>
          <p:cNvSpPr txBox="1"/>
          <p:nvPr/>
        </p:nvSpPr>
        <p:spPr>
          <a:xfrm>
            <a:off x="6301587" y="2649671"/>
            <a:ext cx="2442133" cy="457200"/>
          </a:xfrm>
          <a:prstGeom prst="rect">
            <a:avLst/>
          </a:prstGeom>
          <a:noFill/>
        </p:spPr>
        <p:txBody>
          <a:bodyPr wrap="square" lIns="45720" tIns="18288" rIns="45720" bIns="18288" anchor="ctr">
            <a:spAutoFit/>
          </a:bodyPr>
          <a:lstStyle/>
          <a:p>
            <a:pPr algn="l"/>
            <a:r>
              <a:rPr sz="2200" b="1" i="0">
                <a:solidFill>
                  <a:srgbClr val="E88B2F"/>
                </a:solidFill>
                <a:latin typeface="Arial"/>
              </a:rPr>
              <a:t>≤ 5 d (P50)</a:t>
            </a:r>
          </a:p>
        </p:txBody>
      </p:sp>
      <p:sp>
        <p:nvSpPr>
          <p:cNvPr id="21" name="TextBox 26">
            <a:extLst>
              <a:ext uri="{FF2B5EF4-FFF2-40B4-BE49-F238E27FC236}">
                <a16:creationId xmlns:a16="http://schemas.microsoft.com/office/drawing/2014/main" id="{220930B6-DBC4-AE6B-684B-93EEF698453F}"/>
              </a:ext>
            </a:extLst>
          </p:cNvPr>
          <p:cNvSpPr txBox="1"/>
          <p:nvPr/>
        </p:nvSpPr>
        <p:spPr>
          <a:xfrm>
            <a:off x="6301587"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 5 business days</a:t>
            </a:r>
          </a:p>
        </p:txBody>
      </p:sp>
      <p:sp>
        <p:nvSpPr>
          <p:cNvPr id="22" name="Rounded Rectangle 27">
            <a:extLst>
              <a:ext uri="{FF2B5EF4-FFF2-40B4-BE49-F238E27FC236}">
                <a16:creationId xmlns:a16="http://schemas.microsoft.com/office/drawing/2014/main" id="{0FAC9C93-5634-A067-F105-A0A34D6F5759}"/>
              </a:ext>
            </a:extLst>
          </p:cNvPr>
          <p:cNvSpPr/>
          <p:nvPr/>
        </p:nvSpPr>
        <p:spPr>
          <a:xfrm>
            <a:off x="9018041"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8">
            <a:extLst>
              <a:ext uri="{FF2B5EF4-FFF2-40B4-BE49-F238E27FC236}">
                <a16:creationId xmlns:a16="http://schemas.microsoft.com/office/drawing/2014/main" id="{A9C296EE-02E0-549A-E340-21E481C6F27F}"/>
              </a:ext>
            </a:extLst>
          </p:cNvPr>
          <p:cNvSpPr/>
          <p:nvPr/>
        </p:nvSpPr>
        <p:spPr>
          <a:xfrm>
            <a:off x="9018041"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9">
            <a:extLst>
              <a:ext uri="{FF2B5EF4-FFF2-40B4-BE49-F238E27FC236}">
                <a16:creationId xmlns:a16="http://schemas.microsoft.com/office/drawing/2014/main" id="{C621457E-1EB9-E4A6-C204-02B9060943E0}"/>
              </a:ext>
            </a:extLst>
          </p:cNvPr>
          <p:cNvSpPr txBox="1"/>
          <p:nvPr/>
        </p:nvSpPr>
        <p:spPr>
          <a:xfrm>
            <a:off x="9109481"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CHANNEL ADOPTION</a:t>
            </a:r>
          </a:p>
        </p:txBody>
      </p:sp>
      <p:sp>
        <p:nvSpPr>
          <p:cNvPr id="25" name="TextBox 30">
            <a:extLst>
              <a:ext uri="{FF2B5EF4-FFF2-40B4-BE49-F238E27FC236}">
                <a16:creationId xmlns:a16="http://schemas.microsoft.com/office/drawing/2014/main" id="{AE9281A1-A188-D6E3-6AA8-BB26A7744CF1}"/>
              </a:ext>
            </a:extLst>
          </p:cNvPr>
          <p:cNvSpPr txBox="1"/>
          <p:nvPr/>
        </p:nvSpPr>
        <p:spPr>
          <a:xfrm>
            <a:off x="9155201"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 via single front door</a:t>
            </a:r>
          </a:p>
        </p:txBody>
      </p:sp>
      <p:sp>
        <p:nvSpPr>
          <p:cNvPr id="26" name="TextBox 31">
            <a:extLst>
              <a:ext uri="{FF2B5EF4-FFF2-40B4-BE49-F238E27FC236}">
                <a16:creationId xmlns:a16="http://schemas.microsoft.com/office/drawing/2014/main" id="{D661A6DE-2BC9-EDCF-CF04-D57B4B42416D}"/>
              </a:ext>
            </a:extLst>
          </p:cNvPr>
          <p:cNvSpPr txBox="1"/>
          <p:nvPr/>
        </p:nvSpPr>
        <p:spPr>
          <a:xfrm>
            <a:off x="9155201" y="2690527"/>
            <a:ext cx="2442133" cy="375487"/>
          </a:xfrm>
          <a:prstGeom prst="rect">
            <a:avLst/>
          </a:prstGeom>
          <a:noFill/>
        </p:spPr>
        <p:txBody>
          <a:bodyPr wrap="square" lIns="45720" tIns="18288" rIns="45720" bIns="18288" anchor="ctr">
            <a:spAutoFit/>
          </a:bodyPr>
          <a:lstStyle/>
          <a:p>
            <a:pPr algn="l"/>
            <a:r>
              <a:rPr sz="2200" b="1" i="0">
                <a:latin typeface="Arial"/>
              </a:rPr>
              <a:t>≥ 90 %</a:t>
            </a:r>
          </a:p>
        </p:txBody>
      </p:sp>
      <p:sp>
        <p:nvSpPr>
          <p:cNvPr id="27" name="TextBox 32">
            <a:extLst>
              <a:ext uri="{FF2B5EF4-FFF2-40B4-BE49-F238E27FC236}">
                <a16:creationId xmlns:a16="http://schemas.microsoft.com/office/drawing/2014/main" id="{9F9F2254-3112-9077-1CF1-821AA3720928}"/>
              </a:ext>
            </a:extLst>
          </p:cNvPr>
          <p:cNvSpPr txBox="1"/>
          <p:nvPr/>
        </p:nvSpPr>
        <p:spPr>
          <a:xfrm>
            <a:off x="9155201"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90 % by month 6</a:t>
            </a:r>
          </a:p>
        </p:txBody>
      </p:sp>
      <p:sp>
        <p:nvSpPr>
          <p:cNvPr id="28" name="Rounded Rectangle 33">
            <a:extLst>
              <a:ext uri="{FF2B5EF4-FFF2-40B4-BE49-F238E27FC236}">
                <a16:creationId xmlns:a16="http://schemas.microsoft.com/office/drawing/2014/main" id="{9FCD4D5A-CADF-7046-2565-D45DB5AB6F53}"/>
              </a:ext>
            </a:extLst>
          </p:cNvPr>
          <p:cNvSpPr/>
          <p:nvPr/>
        </p:nvSpPr>
        <p:spPr>
          <a:xfrm>
            <a:off x="457200"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34">
            <a:extLst>
              <a:ext uri="{FF2B5EF4-FFF2-40B4-BE49-F238E27FC236}">
                <a16:creationId xmlns:a16="http://schemas.microsoft.com/office/drawing/2014/main" id="{D5EB85A0-639B-F312-2219-AF52B90CEA26}"/>
              </a:ext>
            </a:extLst>
          </p:cNvPr>
          <p:cNvSpPr/>
          <p:nvPr/>
        </p:nvSpPr>
        <p:spPr>
          <a:xfrm>
            <a:off x="457200"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5">
            <a:extLst>
              <a:ext uri="{FF2B5EF4-FFF2-40B4-BE49-F238E27FC236}">
                <a16:creationId xmlns:a16="http://schemas.microsoft.com/office/drawing/2014/main" id="{6EA8BE58-3B4F-6985-B5DD-2598F380FB59}"/>
              </a:ext>
            </a:extLst>
          </p:cNvPr>
          <p:cNvSpPr txBox="1"/>
          <p:nvPr/>
        </p:nvSpPr>
        <p:spPr>
          <a:xfrm>
            <a:off x="548640"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EXPEDITE SHARE</a:t>
            </a:r>
          </a:p>
        </p:txBody>
      </p:sp>
      <p:sp>
        <p:nvSpPr>
          <p:cNvPr id="31" name="TextBox 36">
            <a:extLst>
              <a:ext uri="{FF2B5EF4-FFF2-40B4-BE49-F238E27FC236}">
                <a16:creationId xmlns:a16="http://schemas.microsoft.com/office/drawing/2014/main" id="{FBDE75A7-1FCA-D4E2-D52F-0987548019FE}"/>
              </a:ext>
            </a:extLst>
          </p:cNvPr>
          <p:cNvSpPr txBox="1"/>
          <p:nvPr/>
        </p:nvSpPr>
        <p:spPr>
          <a:xfrm>
            <a:off x="594360"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of throughput</a:t>
            </a:r>
          </a:p>
        </p:txBody>
      </p:sp>
      <p:sp>
        <p:nvSpPr>
          <p:cNvPr id="32" name="TextBox 37">
            <a:extLst>
              <a:ext uri="{FF2B5EF4-FFF2-40B4-BE49-F238E27FC236}">
                <a16:creationId xmlns:a16="http://schemas.microsoft.com/office/drawing/2014/main" id="{ECA11F88-882D-73BA-5546-E4C6F4D36BD9}"/>
              </a:ext>
            </a:extLst>
          </p:cNvPr>
          <p:cNvSpPr txBox="1"/>
          <p:nvPr/>
        </p:nvSpPr>
        <p:spPr>
          <a:xfrm>
            <a:off x="594360" y="4661351"/>
            <a:ext cx="3393338" cy="457200"/>
          </a:xfrm>
          <a:prstGeom prst="rect">
            <a:avLst/>
          </a:prstGeom>
          <a:noFill/>
        </p:spPr>
        <p:txBody>
          <a:bodyPr wrap="square" lIns="45720" tIns="18288" rIns="45720" bIns="18288" anchor="ctr">
            <a:spAutoFit/>
          </a:bodyPr>
          <a:lstStyle/>
          <a:p>
            <a:pPr algn="l"/>
            <a:r>
              <a:rPr sz="2200" b="1" i="0">
                <a:solidFill>
                  <a:srgbClr val="B63B1F"/>
                </a:solidFill>
                <a:latin typeface="Arial"/>
              </a:rPr>
              <a:t>≤ 20 %</a:t>
            </a:r>
          </a:p>
        </p:txBody>
      </p:sp>
      <p:sp>
        <p:nvSpPr>
          <p:cNvPr id="33" name="TextBox 38">
            <a:extLst>
              <a:ext uri="{FF2B5EF4-FFF2-40B4-BE49-F238E27FC236}">
                <a16:creationId xmlns:a16="http://schemas.microsoft.com/office/drawing/2014/main" id="{AE3B53C5-D9AA-CE0D-8FAE-7624F068F358}"/>
              </a:ext>
            </a:extLst>
          </p:cNvPr>
          <p:cNvSpPr txBox="1"/>
          <p:nvPr/>
        </p:nvSpPr>
        <p:spPr>
          <a:xfrm>
            <a:off x="594360"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Cap 20 %</a:t>
            </a:r>
          </a:p>
        </p:txBody>
      </p:sp>
      <p:sp>
        <p:nvSpPr>
          <p:cNvPr id="34" name="Rounded Rectangle 39">
            <a:extLst>
              <a:ext uri="{FF2B5EF4-FFF2-40B4-BE49-F238E27FC236}">
                <a16:creationId xmlns:a16="http://schemas.microsoft.com/office/drawing/2014/main" id="{C1563A9B-3274-24AA-F69C-2AE2C1550F6F}"/>
              </a:ext>
            </a:extLst>
          </p:cNvPr>
          <p:cNvSpPr/>
          <p:nvPr/>
        </p:nvSpPr>
        <p:spPr>
          <a:xfrm>
            <a:off x="4262018"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40">
            <a:extLst>
              <a:ext uri="{FF2B5EF4-FFF2-40B4-BE49-F238E27FC236}">
                <a16:creationId xmlns:a16="http://schemas.microsoft.com/office/drawing/2014/main" id="{C3FD9ACA-26F1-F48E-DE4C-E1813E4901DC}"/>
              </a:ext>
            </a:extLst>
          </p:cNvPr>
          <p:cNvSpPr/>
          <p:nvPr/>
        </p:nvSpPr>
        <p:spPr>
          <a:xfrm>
            <a:off x="4262018"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1">
            <a:extLst>
              <a:ext uri="{FF2B5EF4-FFF2-40B4-BE49-F238E27FC236}">
                <a16:creationId xmlns:a16="http://schemas.microsoft.com/office/drawing/2014/main" id="{2DC5F1BB-1752-8D7F-84C9-BD9B4A2BE791}"/>
              </a:ext>
            </a:extLst>
          </p:cNvPr>
          <p:cNvSpPr txBox="1"/>
          <p:nvPr/>
        </p:nvSpPr>
        <p:spPr>
          <a:xfrm>
            <a:off x="4353458"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DUPLICATION RATE</a:t>
            </a:r>
          </a:p>
        </p:txBody>
      </p:sp>
      <p:sp>
        <p:nvSpPr>
          <p:cNvPr id="37" name="TextBox 42">
            <a:extLst>
              <a:ext uri="{FF2B5EF4-FFF2-40B4-BE49-F238E27FC236}">
                <a16:creationId xmlns:a16="http://schemas.microsoft.com/office/drawing/2014/main" id="{BDEBC996-34BE-BA74-7F54-1955A7E12258}"/>
              </a:ext>
            </a:extLst>
          </p:cNvPr>
          <p:cNvSpPr txBox="1"/>
          <p:nvPr/>
        </p:nvSpPr>
        <p:spPr>
          <a:xfrm>
            <a:off x="4399178"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submissions matched</a:t>
            </a:r>
          </a:p>
        </p:txBody>
      </p:sp>
      <p:sp>
        <p:nvSpPr>
          <p:cNvPr id="38" name="TextBox 43">
            <a:extLst>
              <a:ext uri="{FF2B5EF4-FFF2-40B4-BE49-F238E27FC236}">
                <a16:creationId xmlns:a16="http://schemas.microsoft.com/office/drawing/2014/main" id="{5B68A3D0-4101-2488-132D-4CBA58E72CBC}"/>
              </a:ext>
            </a:extLst>
          </p:cNvPr>
          <p:cNvSpPr txBox="1"/>
          <p:nvPr/>
        </p:nvSpPr>
        <p:spPr>
          <a:xfrm>
            <a:off x="4399178" y="4702207"/>
            <a:ext cx="3393338" cy="375487"/>
          </a:xfrm>
          <a:prstGeom prst="rect">
            <a:avLst/>
          </a:prstGeom>
          <a:noFill/>
        </p:spPr>
        <p:txBody>
          <a:bodyPr wrap="square" lIns="45720" tIns="18288" rIns="45720" bIns="18288" anchor="ctr">
            <a:spAutoFit/>
          </a:bodyPr>
          <a:lstStyle/>
          <a:p>
            <a:pPr algn="l"/>
            <a:r>
              <a:rPr sz="2200" b="1" i="0">
                <a:latin typeface="Arial"/>
              </a:rPr>
              <a:t>↓</a:t>
            </a:r>
          </a:p>
        </p:txBody>
      </p:sp>
      <p:sp>
        <p:nvSpPr>
          <p:cNvPr id="39" name="TextBox 44">
            <a:extLst>
              <a:ext uri="{FF2B5EF4-FFF2-40B4-BE49-F238E27FC236}">
                <a16:creationId xmlns:a16="http://schemas.microsoft.com/office/drawing/2014/main" id="{FB7AAF94-3A06-C075-ECFE-1167EEC49452}"/>
              </a:ext>
            </a:extLst>
          </p:cNvPr>
          <p:cNvSpPr txBox="1"/>
          <p:nvPr/>
        </p:nvSpPr>
        <p:spPr>
          <a:xfrm>
            <a:off x="4399178"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Trend: down</a:t>
            </a:r>
          </a:p>
        </p:txBody>
      </p:sp>
      <p:sp>
        <p:nvSpPr>
          <p:cNvPr id="40" name="Rounded Rectangle 45">
            <a:extLst>
              <a:ext uri="{FF2B5EF4-FFF2-40B4-BE49-F238E27FC236}">
                <a16:creationId xmlns:a16="http://schemas.microsoft.com/office/drawing/2014/main" id="{870E262A-02C5-0C0C-0194-72387495E38D}"/>
              </a:ext>
            </a:extLst>
          </p:cNvPr>
          <p:cNvSpPr/>
          <p:nvPr/>
        </p:nvSpPr>
        <p:spPr>
          <a:xfrm>
            <a:off x="8066836"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6">
            <a:extLst>
              <a:ext uri="{FF2B5EF4-FFF2-40B4-BE49-F238E27FC236}">
                <a16:creationId xmlns:a16="http://schemas.microsoft.com/office/drawing/2014/main" id="{C30EAB6D-15AF-D27E-FF61-29145F96FF17}"/>
              </a:ext>
            </a:extLst>
          </p:cNvPr>
          <p:cNvSpPr/>
          <p:nvPr/>
        </p:nvSpPr>
        <p:spPr>
          <a:xfrm>
            <a:off x="8066836"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7">
            <a:extLst>
              <a:ext uri="{FF2B5EF4-FFF2-40B4-BE49-F238E27FC236}">
                <a16:creationId xmlns:a16="http://schemas.microsoft.com/office/drawing/2014/main" id="{AAFB7E93-A83B-6B56-A32D-0F6BCB8EAB56}"/>
              </a:ext>
            </a:extLst>
          </p:cNvPr>
          <p:cNvSpPr txBox="1"/>
          <p:nvPr/>
        </p:nvSpPr>
        <p:spPr>
          <a:xfrm>
            <a:off x="8158276"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STATUS VISIBILITY</a:t>
            </a:r>
          </a:p>
        </p:txBody>
      </p:sp>
      <p:sp>
        <p:nvSpPr>
          <p:cNvPr id="43" name="TextBox 48">
            <a:extLst>
              <a:ext uri="{FF2B5EF4-FFF2-40B4-BE49-F238E27FC236}">
                <a16:creationId xmlns:a16="http://schemas.microsoft.com/office/drawing/2014/main" id="{2998CE78-B3B7-5E3F-0CAF-2F2ADE4EA806}"/>
              </a:ext>
            </a:extLst>
          </p:cNvPr>
          <p:cNvSpPr txBox="1"/>
          <p:nvPr/>
        </p:nvSpPr>
        <p:spPr>
          <a:xfrm>
            <a:off x="8203996"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with live status</a:t>
            </a:r>
          </a:p>
        </p:txBody>
      </p:sp>
      <p:sp>
        <p:nvSpPr>
          <p:cNvPr id="44" name="TextBox 49">
            <a:extLst>
              <a:ext uri="{FF2B5EF4-FFF2-40B4-BE49-F238E27FC236}">
                <a16:creationId xmlns:a16="http://schemas.microsoft.com/office/drawing/2014/main" id="{4FF39D93-19F0-ED46-CCBD-6EFECC35E16D}"/>
              </a:ext>
            </a:extLst>
          </p:cNvPr>
          <p:cNvSpPr txBox="1"/>
          <p:nvPr/>
        </p:nvSpPr>
        <p:spPr>
          <a:xfrm>
            <a:off x="8203996" y="4702207"/>
            <a:ext cx="3393338" cy="375487"/>
          </a:xfrm>
          <a:prstGeom prst="rect">
            <a:avLst/>
          </a:prstGeom>
          <a:noFill/>
        </p:spPr>
        <p:txBody>
          <a:bodyPr wrap="square" lIns="45720" tIns="18288" rIns="45720" bIns="18288" anchor="ctr">
            <a:spAutoFit/>
          </a:bodyPr>
          <a:lstStyle/>
          <a:p>
            <a:pPr algn="l"/>
            <a:r>
              <a:rPr sz="2200" b="1" i="0">
                <a:latin typeface="Arial"/>
              </a:rPr>
              <a:t>100 %</a:t>
            </a:r>
          </a:p>
        </p:txBody>
      </p:sp>
      <p:sp>
        <p:nvSpPr>
          <p:cNvPr id="45" name="TextBox 50">
            <a:extLst>
              <a:ext uri="{FF2B5EF4-FFF2-40B4-BE49-F238E27FC236}">
                <a16:creationId xmlns:a16="http://schemas.microsoft.com/office/drawing/2014/main" id="{5350776E-4FC9-D8F5-1943-BD1DE9D680F3}"/>
              </a:ext>
            </a:extLst>
          </p:cNvPr>
          <p:cNvSpPr txBox="1"/>
          <p:nvPr/>
        </p:nvSpPr>
        <p:spPr>
          <a:xfrm>
            <a:off x="8203996"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100 %</a:t>
            </a:r>
          </a:p>
        </p:txBody>
      </p:sp>
      <p:sp>
        <p:nvSpPr>
          <p:cNvPr id="46" name="Rounded Rectangle 51">
            <a:extLst>
              <a:ext uri="{FF2B5EF4-FFF2-40B4-BE49-F238E27FC236}">
                <a16:creationId xmlns:a16="http://schemas.microsoft.com/office/drawing/2014/main" id="{9A861D58-6342-D3F3-E68E-001F958BF9A3}"/>
              </a:ext>
            </a:extLst>
          </p:cNvPr>
          <p:cNvSpPr/>
          <p:nvPr/>
        </p:nvSpPr>
        <p:spPr>
          <a:xfrm>
            <a:off x="457200" y="5758631"/>
            <a:ext cx="11277295" cy="59436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52">
            <a:extLst>
              <a:ext uri="{FF2B5EF4-FFF2-40B4-BE49-F238E27FC236}">
                <a16:creationId xmlns:a16="http://schemas.microsoft.com/office/drawing/2014/main" id="{78B6E885-C019-4D7D-77C3-144B748A3055}"/>
              </a:ext>
            </a:extLst>
          </p:cNvPr>
          <p:cNvSpPr txBox="1"/>
          <p:nvPr/>
        </p:nvSpPr>
        <p:spPr>
          <a:xfrm>
            <a:off x="640080" y="5795207"/>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48" name="TextBox 53">
            <a:extLst>
              <a:ext uri="{FF2B5EF4-FFF2-40B4-BE49-F238E27FC236}">
                <a16:creationId xmlns:a16="http://schemas.microsoft.com/office/drawing/2014/main" id="{4D0FC7BE-FDFE-CDC6-4C9B-8F27747990E1}"/>
              </a:ext>
            </a:extLst>
          </p:cNvPr>
          <p:cNvSpPr txBox="1"/>
          <p:nvPr/>
        </p:nvSpPr>
        <p:spPr>
          <a:xfrm>
            <a:off x="640080" y="6005519"/>
            <a:ext cx="10911535" cy="365760"/>
          </a:xfrm>
          <a:prstGeom prst="rect">
            <a:avLst/>
          </a:prstGeom>
          <a:noFill/>
        </p:spPr>
        <p:txBody>
          <a:bodyPr wrap="square" lIns="45720" tIns="18288" rIns="45720" bIns="18288" anchor="t">
            <a:spAutoFit/>
          </a:bodyPr>
          <a:lstStyle/>
          <a:p>
            <a:pPr algn="l"/>
            <a:r>
              <a:rPr sz="1000" b="0" i="1">
                <a:solidFill>
                  <a:srgbClr val="2C3E50"/>
                </a:solidFill>
                <a:latin typeface="Arial"/>
              </a:rPr>
              <a:t>These seven KPIs are the contract — if any one drifts, the demand funnel is leaking. Live dashboard means leakage is visible the next day, not the next quarter.</a:t>
            </a:r>
          </a:p>
        </p:txBody>
      </p:sp>
      <p:sp>
        <p:nvSpPr>
          <p:cNvPr id="49" name="Rectángulo 48">
            <a:extLst>
              <a:ext uri="{FF2B5EF4-FFF2-40B4-BE49-F238E27FC236}">
                <a16:creationId xmlns:a16="http://schemas.microsoft.com/office/drawing/2014/main" id="{60D78CC6-65B1-FC09-5E60-BB22B44D9C6F}"/>
              </a:ext>
            </a:extLst>
          </p:cNvPr>
          <p:cNvSpPr/>
          <p:nvPr/>
        </p:nvSpPr>
        <p:spPr>
          <a:xfrm>
            <a:off x="481781" y="1019779"/>
            <a:ext cx="11238271" cy="575816"/>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A standardized KPI framework to monitor demand intake quality, flow efficiency, and adoption, enabling early detection of bottlenecks and continuous improvement.</a:t>
            </a:r>
            <a:endParaRPr lang="es-MX"/>
          </a:p>
        </p:txBody>
      </p:sp>
    </p:spTree>
    <p:extLst>
      <p:ext uri="{BB962C8B-B14F-4D97-AF65-F5344CB8AC3E}">
        <p14:creationId xmlns:p14="http://schemas.microsoft.com/office/powerpoint/2010/main" val="4151756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820-6D08-4310-D012-A1DC7FF445FA}"/>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FE058CEB-864C-5720-695D-92DEA6EBDD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36998F1-702C-2A7E-07A5-AFA2EC89A31A}"/>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F4BD2B80-92FD-F74E-6EDA-715C6BDE93D9}"/>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6DCA95C-00C7-048B-0432-D514D8A0615F}"/>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9C5B721-C1C6-6C2A-7AB9-0191BA61CA7A}"/>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44A27CE3-1DA2-500F-9E29-A49C9B07EEFA}"/>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EFDCAC96-B18A-4926-D996-AAE7DF920C78}"/>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59FE0CD-449F-3181-9BC3-247C77550398}"/>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7D61FCA9-E82B-DB2B-D763-7E9692A6BBEC}"/>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EB86F7A3-AF68-7842-FD71-A76260BC713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B698CFBB-D4CA-5202-DCCF-7BBB7B188EB0}"/>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B82328CA-C218-516A-18CE-D28C2D83D93F}"/>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20BFC5E-1964-18F3-2BA6-F6307F19D9E8}"/>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1A915A56-F1F7-1E16-FE07-28505F6E66CB}"/>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4937977A-C54E-35A2-6C84-3B1A9A935098}"/>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13FE0513-9E9E-84A4-D193-24E966E78A73}"/>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882CE1C5-2D3C-475A-6DC5-4A629FA6070F}"/>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9251E2D8-EE19-D498-623C-E75A5E2301B7}"/>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8C83C5CE-715A-5D9C-3777-011971B6A85A}"/>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51D71607-0956-4288-122B-A356CEEBB5BC}"/>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207E46FB-57A6-8F86-0D04-D748E1DD8732}"/>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DEMAND MANAGEMENT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a:ln>
                  <a:noFill/>
                </a:ln>
                <a:solidFill>
                  <a:srgbClr val="156082"/>
                </a:solidFill>
                <a:effectLst/>
                <a:uLnTx/>
                <a:uFillTx/>
                <a:latin typeface="Arial" panose="020B0604020202020204" pitchFamily="34" charset="0"/>
                <a:ea typeface="+mn-ea"/>
                <a:cs typeface="Arial" panose="020B0604020202020204" pitchFamily="34" charset="0"/>
              </a:rPr>
              <a:t>PREPARATION &amp; PLANNING</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EXECUTION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DEPLOYMENT</a:t>
            </a:r>
          </a:p>
        </p:txBody>
      </p:sp>
    </p:spTree>
    <p:extLst>
      <p:ext uri="{BB962C8B-B14F-4D97-AF65-F5344CB8AC3E}">
        <p14:creationId xmlns:p14="http://schemas.microsoft.com/office/powerpoint/2010/main" val="4044684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8312-1A04-49A4-CBD2-2ACC03614AB8}"/>
            </a:ext>
          </a:extLst>
        </p:cNvPr>
        <p:cNvGrpSpPr/>
        <p:nvPr/>
      </p:nvGrpSpPr>
      <p:grpSpPr>
        <a:xfrm>
          <a:off x="0" y="0"/>
          <a:ext cx="0" cy="0"/>
          <a:chOff x="0" y="0"/>
          <a:chExt cx="0" cy="0"/>
        </a:xfrm>
      </p:grpSpPr>
      <p:sp>
        <p:nvSpPr>
          <p:cNvPr id="90" name="CuadroTexto 204">
            <a:extLst>
              <a:ext uri="{FF2B5EF4-FFF2-40B4-BE49-F238E27FC236}">
                <a16:creationId xmlns:a16="http://schemas.microsoft.com/office/drawing/2014/main" id="{F816D00E-9A71-0C55-DFE0-BB893264DAD7}"/>
              </a:ext>
            </a:extLst>
          </p:cNvPr>
          <p:cNvSpPr txBox="1"/>
          <p:nvPr/>
        </p:nvSpPr>
        <p:spPr>
          <a:xfrm>
            <a:off x="325121" y="864643"/>
            <a:ext cx="11504930" cy="738664"/>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The lifecycle model establishes a structured end-to-end framework to manage demand from intake through planning, execution, and deployment, ensuring alignment with business priorities and value delivery. It is supported by clearly defined roles, integrated tools, governance, and performance metrics to enable consistent, transparent, and scalable operations.</a:t>
            </a:r>
          </a:p>
        </p:txBody>
      </p:sp>
      <p:sp>
        <p:nvSpPr>
          <p:cNvPr id="79" name="Título 2">
            <a:extLst>
              <a:ext uri="{FF2B5EF4-FFF2-40B4-BE49-F238E27FC236}">
                <a16:creationId xmlns:a16="http://schemas.microsoft.com/office/drawing/2014/main" id="{5B4CC71D-D4E7-9911-D2CF-EB6D6B24A55E}"/>
              </a:ext>
            </a:extLst>
          </p:cNvPr>
          <p:cNvSpPr txBox="1">
            <a:spLocks/>
          </p:cNvSpPr>
          <p:nvPr/>
        </p:nvSpPr>
        <p:spPr>
          <a:xfrm>
            <a:off x="180918" y="127319"/>
            <a:ext cx="7451916"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LIFECYCLE MODEL</a:t>
            </a:r>
          </a:p>
          <a:p>
            <a:r>
              <a:rPr lang="en-US">
                <a:solidFill>
                  <a:schemeClr val="tx1"/>
                </a:solidFill>
              </a:rPr>
              <a:t>BASE FRAMEWORK FOR THE LIFECYCLE MODEL</a:t>
            </a:r>
          </a:p>
        </p:txBody>
      </p:sp>
      <p:sp>
        <p:nvSpPr>
          <p:cNvPr id="88" name="Rectangle 44">
            <a:extLst>
              <a:ext uri="{FF2B5EF4-FFF2-40B4-BE49-F238E27FC236}">
                <a16:creationId xmlns:a16="http://schemas.microsoft.com/office/drawing/2014/main" id="{40B9D9CB-6AA5-CF89-3039-021A52129234}"/>
              </a:ext>
            </a:extLst>
          </p:cNvPr>
          <p:cNvSpPr/>
          <p:nvPr/>
        </p:nvSpPr>
        <p:spPr>
          <a:xfrm>
            <a:off x="45720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9" name="Rectangle 45">
            <a:extLst>
              <a:ext uri="{FF2B5EF4-FFF2-40B4-BE49-F238E27FC236}">
                <a16:creationId xmlns:a16="http://schemas.microsoft.com/office/drawing/2014/main" id="{CB02F225-5CBB-05B0-01CC-7F196169579E}"/>
              </a:ext>
            </a:extLst>
          </p:cNvPr>
          <p:cNvSpPr/>
          <p:nvPr/>
        </p:nvSpPr>
        <p:spPr>
          <a:xfrm>
            <a:off x="45720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1" name="TextBox 46">
            <a:extLst>
              <a:ext uri="{FF2B5EF4-FFF2-40B4-BE49-F238E27FC236}">
                <a16:creationId xmlns:a16="http://schemas.microsoft.com/office/drawing/2014/main" id="{A12754E9-EE84-E3F9-A14B-6775C0A81FD3}"/>
              </a:ext>
            </a:extLst>
          </p:cNvPr>
          <p:cNvSpPr txBox="1"/>
          <p:nvPr/>
        </p:nvSpPr>
        <p:spPr>
          <a:xfrm>
            <a:off x="640080" y="1915117"/>
            <a:ext cx="640080" cy="424732"/>
          </a:xfrm>
          <a:prstGeom prst="rect">
            <a:avLst/>
          </a:prstGeom>
          <a:noFill/>
        </p:spPr>
        <p:txBody>
          <a:bodyPr wrap="square" lIns="54864" tIns="27432" rIns="54864" bIns="27432" anchor="t">
            <a:spAutoFit/>
          </a:bodyPr>
          <a:lstStyle>
            <a:defPPr>
              <a:defRPr lang="es-MX"/>
            </a:defPPr>
            <a:lvl1pPr>
              <a:defRPr sz="2400" b="1">
                <a:solidFill>
                  <a:schemeClr val="bg1">
                    <a:lumMod val="65000"/>
                  </a:schemeClr>
                </a:solidFill>
                <a:latin typeface="Arial" panose="020B0604020202020204" pitchFamily="34" charset="0"/>
                <a:cs typeface="Arial" panose="020B0604020202020204" pitchFamily="34" charset="0"/>
              </a:defRPr>
            </a:lvl1pPr>
          </a:lstStyle>
          <a:p>
            <a:r>
              <a:rPr lang="en-US"/>
              <a:t>01</a:t>
            </a:r>
          </a:p>
        </p:txBody>
      </p:sp>
      <p:sp>
        <p:nvSpPr>
          <p:cNvPr id="92" name="TextBox 47">
            <a:extLst>
              <a:ext uri="{FF2B5EF4-FFF2-40B4-BE49-F238E27FC236}">
                <a16:creationId xmlns:a16="http://schemas.microsoft.com/office/drawing/2014/main" id="{36924291-7369-AD74-C4AA-0C1FFCE76D3D}"/>
              </a:ext>
            </a:extLst>
          </p:cNvPr>
          <p:cNvSpPr txBox="1"/>
          <p:nvPr/>
        </p:nvSpPr>
        <p:spPr>
          <a:xfrm>
            <a:off x="1280160" y="1915117"/>
            <a:ext cx="1828800" cy="424732"/>
          </a:xfrm>
          <a:prstGeom prst="rect">
            <a:avLst/>
          </a:prstGeom>
          <a:noFill/>
        </p:spPr>
        <p:txBody>
          <a:bodyPr wrap="square" lIns="54864" tIns="27432" rIns="54864" bIns="27432" anchor="t">
            <a:spAutoFit/>
          </a:bodyPr>
          <a:lstStyle>
            <a:defPPr>
              <a:defRPr lang="es-MX"/>
            </a:defPPr>
            <a:lvl1pPr>
              <a:defRPr sz="1200" b="1">
                <a:solidFill>
                  <a:schemeClr val="bg1">
                    <a:lumMod val="65000"/>
                  </a:schemeClr>
                </a:solidFill>
                <a:latin typeface="Arial" panose="020B0604020202020204" pitchFamily="34" charset="0"/>
                <a:cs typeface="Arial" panose="020B0604020202020204" pitchFamily="34" charset="0"/>
              </a:defRPr>
            </a:lvl1pPr>
          </a:lstStyle>
          <a:p>
            <a:r>
              <a:rPr lang="en-US"/>
              <a:t>DEMAND </a:t>
            </a:r>
          </a:p>
          <a:p>
            <a:r>
              <a:rPr lang="en-US"/>
              <a:t>MANAGEMENT</a:t>
            </a:r>
          </a:p>
        </p:txBody>
      </p:sp>
      <p:sp>
        <p:nvSpPr>
          <p:cNvPr id="94" name="TextBox 49">
            <a:extLst>
              <a:ext uri="{FF2B5EF4-FFF2-40B4-BE49-F238E27FC236}">
                <a16:creationId xmlns:a16="http://schemas.microsoft.com/office/drawing/2014/main" id="{D4450722-2E52-3B2F-108B-BB728437E911}"/>
              </a:ext>
            </a:extLst>
          </p:cNvPr>
          <p:cNvSpPr txBox="1"/>
          <p:nvPr/>
        </p:nvSpPr>
        <p:spPr>
          <a:xfrm>
            <a:off x="52120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Structures and </a:t>
            </a:r>
            <a:r>
              <a:rPr lang="en-US" b="1">
                <a:solidFill>
                  <a:schemeClr val="bg1">
                    <a:lumMod val="65000"/>
                  </a:schemeClr>
                </a:solidFill>
              </a:rPr>
              <a:t>consolidates demand from multiple channels</a:t>
            </a:r>
            <a:r>
              <a:rPr lang="en-US">
                <a:solidFill>
                  <a:schemeClr val="bg1">
                    <a:lumMod val="65000"/>
                  </a:schemeClr>
                </a:solidFill>
              </a:rPr>
              <a:t>, defining </a:t>
            </a:r>
            <a:r>
              <a:rPr lang="en-US" b="1">
                <a:solidFill>
                  <a:schemeClr val="bg1">
                    <a:lumMod val="65000"/>
                  </a:schemeClr>
                </a:solidFill>
              </a:rPr>
              <a:t>value, type, and priority </a:t>
            </a:r>
            <a:r>
              <a:rPr lang="en-US">
                <a:solidFill>
                  <a:schemeClr val="bg1">
                    <a:lumMod val="65000"/>
                  </a:schemeClr>
                </a:solidFill>
              </a:rPr>
              <a:t>while </a:t>
            </a:r>
            <a:r>
              <a:rPr lang="en-US" b="1">
                <a:solidFill>
                  <a:schemeClr val="bg1">
                    <a:lumMod val="65000"/>
                  </a:schemeClr>
                </a:solidFill>
              </a:rPr>
              <a:t>ensuring visibility </a:t>
            </a:r>
            <a:r>
              <a:rPr lang="en-US">
                <a:solidFill>
                  <a:schemeClr val="bg1">
                    <a:lumMod val="65000"/>
                  </a:schemeClr>
                </a:solidFill>
              </a:rPr>
              <a:t>and </a:t>
            </a:r>
            <a:r>
              <a:rPr lang="en-US" b="1">
                <a:solidFill>
                  <a:schemeClr val="bg1">
                    <a:lumMod val="65000"/>
                  </a:schemeClr>
                </a:solidFill>
              </a:rPr>
              <a:t>consistent intake and classification</a:t>
            </a:r>
          </a:p>
        </p:txBody>
      </p:sp>
      <p:sp>
        <p:nvSpPr>
          <p:cNvPr id="97" name="Rectangle 52">
            <a:extLst>
              <a:ext uri="{FF2B5EF4-FFF2-40B4-BE49-F238E27FC236}">
                <a16:creationId xmlns:a16="http://schemas.microsoft.com/office/drawing/2014/main" id="{7801A71A-5956-F921-23F7-8BB5BA923819}"/>
              </a:ext>
            </a:extLst>
          </p:cNvPr>
          <p:cNvSpPr/>
          <p:nvPr/>
        </p:nvSpPr>
        <p:spPr>
          <a:xfrm>
            <a:off x="3291840" y="1737952"/>
            <a:ext cx="2743200" cy="1868848"/>
          </a:xfrm>
          <a:prstGeom prst="rect">
            <a:avLst/>
          </a:prstGeom>
          <a:solidFill>
            <a:schemeClr val="tx2">
              <a:lumMod val="10000"/>
              <a:lumOff val="9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98" name="Rectangle 53">
            <a:extLst>
              <a:ext uri="{FF2B5EF4-FFF2-40B4-BE49-F238E27FC236}">
                <a16:creationId xmlns:a16="http://schemas.microsoft.com/office/drawing/2014/main" id="{B241AA14-E2CA-2F95-B012-E270DFE96EC3}"/>
              </a:ext>
            </a:extLst>
          </p:cNvPr>
          <p:cNvSpPr/>
          <p:nvPr/>
        </p:nvSpPr>
        <p:spPr>
          <a:xfrm>
            <a:off x="3291840" y="173795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99" name="TextBox 54">
            <a:extLst>
              <a:ext uri="{FF2B5EF4-FFF2-40B4-BE49-F238E27FC236}">
                <a16:creationId xmlns:a16="http://schemas.microsoft.com/office/drawing/2014/main" id="{788E4758-5728-00D1-927B-F6A00435203A}"/>
              </a:ext>
            </a:extLst>
          </p:cNvPr>
          <p:cNvSpPr txBox="1"/>
          <p:nvPr/>
        </p:nvSpPr>
        <p:spPr>
          <a:xfrm>
            <a:off x="3474720" y="1915117"/>
            <a:ext cx="640080" cy="424732"/>
          </a:xfrm>
          <a:prstGeom prst="rect">
            <a:avLst/>
          </a:prstGeom>
          <a:noFill/>
        </p:spPr>
        <p:txBody>
          <a:bodyPr wrap="square" lIns="54864" tIns="27432" rIns="54864" bIns="27432" anchor="t">
            <a:spAutoFit/>
          </a:bodyPr>
          <a:lstStyle/>
          <a:p>
            <a:pPr algn="l"/>
            <a:r>
              <a:rPr lang="en-US" sz="2400" b="1" noProof="0">
                <a:solidFill>
                  <a:srgbClr val="6785C1"/>
                </a:solidFill>
                <a:latin typeface="Arial" panose="020B0604020202020204" pitchFamily="34" charset="0"/>
                <a:cs typeface="Arial" panose="020B0604020202020204" pitchFamily="34" charset="0"/>
              </a:rPr>
              <a:t>02</a:t>
            </a:r>
          </a:p>
        </p:txBody>
      </p:sp>
      <p:sp>
        <p:nvSpPr>
          <p:cNvPr id="100" name="TextBox 55">
            <a:extLst>
              <a:ext uri="{FF2B5EF4-FFF2-40B4-BE49-F238E27FC236}">
                <a16:creationId xmlns:a16="http://schemas.microsoft.com/office/drawing/2014/main" id="{4F6926AF-0963-248A-5947-C370BADC9B19}"/>
              </a:ext>
            </a:extLst>
          </p:cNvPr>
          <p:cNvSpPr txBox="1"/>
          <p:nvPr/>
        </p:nvSpPr>
        <p:spPr>
          <a:xfrm>
            <a:off x="4114800" y="1915117"/>
            <a:ext cx="1828800" cy="424732"/>
          </a:xfrm>
          <a:prstGeom prst="rect">
            <a:avLst/>
          </a:prstGeom>
          <a:noFill/>
        </p:spPr>
        <p:txBody>
          <a:bodyPr wrap="square" lIns="54864" tIns="27432" rIns="54864" bIns="27432" anchor="t">
            <a:spAutoFit/>
          </a:bodyPr>
          <a:lstStyle/>
          <a:p>
            <a:pPr algn="l"/>
            <a:r>
              <a:rPr lang="en-US" sz="1200" b="1" noProof="0">
                <a:solidFill>
                  <a:srgbClr val="6785C1"/>
                </a:solidFill>
                <a:latin typeface="Arial" panose="020B0604020202020204" pitchFamily="34" charset="0"/>
                <a:cs typeface="Arial" panose="020B0604020202020204" pitchFamily="34" charset="0"/>
              </a:rPr>
              <a:t>PREPARATION &amp;</a:t>
            </a:r>
          </a:p>
          <a:p>
            <a:pPr algn="l"/>
            <a:r>
              <a:rPr lang="en-US" sz="1200" b="1">
                <a:solidFill>
                  <a:srgbClr val="6785C1"/>
                </a:solidFill>
                <a:latin typeface="Arial" panose="020B0604020202020204" pitchFamily="34" charset="0"/>
                <a:cs typeface="Arial" panose="020B0604020202020204" pitchFamily="34" charset="0"/>
              </a:rPr>
              <a:t>PLANNING</a:t>
            </a:r>
            <a:endParaRPr lang="en-US" sz="1200" b="1" noProof="0">
              <a:solidFill>
                <a:srgbClr val="6785C1"/>
              </a:solidFill>
              <a:latin typeface="Arial" panose="020B0604020202020204" pitchFamily="34" charset="0"/>
              <a:cs typeface="Arial" panose="020B0604020202020204" pitchFamily="34" charset="0"/>
            </a:endParaRPr>
          </a:p>
        </p:txBody>
      </p:sp>
      <p:sp>
        <p:nvSpPr>
          <p:cNvPr id="102" name="TextBox 57">
            <a:extLst>
              <a:ext uri="{FF2B5EF4-FFF2-40B4-BE49-F238E27FC236}">
                <a16:creationId xmlns:a16="http://schemas.microsoft.com/office/drawing/2014/main" id="{6613C142-7E08-595C-F029-803B3FF02E06}"/>
              </a:ext>
            </a:extLst>
          </p:cNvPr>
          <p:cNvSpPr txBox="1"/>
          <p:nvPr/>
        </p:nvSpPr>
        <p:spPr>
          <a:xfrm>
            <a:off x="335584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Translates demand into a </a:t>
            </a:r>
            <a:r>
              <a:rPr lang="en-US" b="1"/>
              <a:t>prioritized and structured portfolio</a:t>
            </a:r>
            <a:r>
              <a:rPr lang="en-US"/>
              <a:t>, </a:t>
            </a:r>
            <a:r>
              <a:rPr lang="en-US" b="1"/>
              <a:t>aligning value</a:t>
            </a:r>
            <a:r>
              <a:rPr lang="en-US"/>
              <a:t>, </a:t>
            </a:r>
            <a:r>
              <a:rPr lang="en-US" b="1"/>
              <a:t>effort</a:t>
            </a:r>
            <a:r>
              <a:rPr lang="en-US"/>
              <a:t>, and </a:t>
            </a:r>
            <a:r>
              <a:rPr lang="en-US" b="1"/>
              <a:t>capacity </a:t>
            </a:r>
            <a:r>
              <a:rPr lang="en-US"/>
              <a:t>to define </a:t>
            </a:r>
            <a:r>
              <a:rPr lang="en-US" b="1"/>
              <a:t>actionable roadmaps and delivery plans</a:t>
            </a:r>
          </a:p>
        </p:txBody>
      </p:sp>
      <p:sp>
        <p:nvSpPr>
          <p:cNvPr id="105" name="Rectangle 60">
            <a:extLst>
              <a:ext uri="{FF2B5EF4-FFF2-40B4-BE49-F238E27FC236}">
                <a16:creationId xmlns:a16="http://schemas.microsoft.com/office/drawing/2014/main" id="{906ADDF4-AD2D-8643-01FB-233B61EBD050}"/>
              </a:ext>
            </a:extLst>
          </p:cNvPr>
          <p:cNvSpPr/>
          <p:nvPr/>
        </p:nvSpPr>
        <p:spPr>
          <a:xfrm>
            <a:off x="612648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06" name="Rectangle 61">
            <a:extLst>
              <a:ext uri="{FF2B5EF4-FFF2-40B4-BE49-F238E27FC236}">
                <a16:creationId xmlns:a16="http://schemas.microsoft.com/office/drawing/2014/main" id="{B40B49F6-F6AD-810E-B393-A2854CF32218}"/>
              </a:ext>
            </a:extLst>
          </p:cNvPr>
          <p:cNvSpPr/>
          <p:nvPr/>
        </p:nvSpPr>
        <p:spPr>
          <a:xfrm>
            <a:off x="612648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07" name="TextBox 62">
            <a:extLst>
              <a:ext uri="{FF2B5EF4-FFF2-40B4-BE49-F238E27FC236}">
                <a16:creationId xmlns:a16="http://schemas.microsoft.com/office/drawing/2014/main" id="{D1B14B3C-23B3-5535-9B3B-248C7354C4F6}"/>
              </a:ext>
            </a:extLst>
          </p:cNvPr>
          <p:cNvSpPr txBox="1"/>
          <p:nvPr/>
        </p:nvSpPr>
        <p:spPr>
          <a:xfrm>
            <a:off x="6309360" y="1915117"/>
            <a:ext cx="640080" cy="424732"/>
          </a:xfrm>
          <a:prstGeom prst="rect">
            <a:avLst/>
          </a:prstGeom>
          <a:noFill/>
        </p:spPr>
        <p:txBody>
          <a:bodyPr wrap="square" lIns="54864" tIns="27432" rIns="54864" bIns="27432" anchor="t">
            <a:spAutoFit/>
          </a:bodyPr>
          <a:lstStyle/>
          <a:p>
            <a:pPr algn="l"/>
            <a:r>
              <a:rPr lang="en-US" sz="2400" b="1" noProof="0">
                <a:solidFill>
                  <a:schemeClr val="bg1">
                    <a:lumMod val="65000"/>
                  </a:schemeClr>
                </a:solidFill>
                <a:latin typeface="Arial" panose="020B0604020202020204" pitchFamily="34" charset="0"/>
                <a:cs typeface="Arial" panose="020B0604020202020204" pitchFamily="34" charset="0"/>
              </a:rPr>
              <a:t>03</a:t>
            </a:r>
          </a:p>
        </p:txBody>
      </p:sp>
      <p:sp>
        <p:nvSpPr>
          <p:cNvPr id="108" name="TextBox 63">
            <a:extLst>
              <a:ext uri="{FF2B5EF4-FFF2-40B4-BE49-F238E27FC236}">
                <a16:creationId xmlns:a16="http://schemas.microsoft.com/office/drawing/2014/main" id="{9E8DEDFF-C096-ADFD-2094-2B843D4D425A}"/>
              </a:ext>
            </a:extLst>
          </p:cNvPr>
          <p:cNvSpPr txBox="1"/>
          <p:nvPr/>
        </p:nvSpPr>
        <p:spPr>
          <a:xfrm>
            <a:off x="6949440" y="1915117"/>
            <a:ext cx="1828800" cy="424732"/>
          </a:xfrm>
          <a:prstGeom prst="rect">
            <a:avLst/>
          </a:prstGeom>
          <a:noFill/>
        </p:spPr>
        <p:txBody>
          <a:bodyPr wrap="square" lIns="54864" tIns="27432" rIns="54864" bIns="27432" anchor="t">
            <a:spAutoFit/>
          </a:bodyPr>
          <a:lstStyle/>
          <a:p>
            <a:r>
              <a:rPr lang="en-US" sz="1200" b="1" noProof="0">
                <a:solidFill>
                  <a:schemeClr val="bg1">
                    <a:lumMod val="65000"/>
                  </a:schemeClr>
                </a:solidFill>
                <a:latin typeface="Arial" panose="020B0604020202020204" pitchFamily="34" charset="0"/>
                <a:cs typeface="Arial" panose="020B0604020202020204" pitchFamily="34" charset="0"/>
              </a:rPr>
              <a:t>EXECUTION &amp; DELIVERY</a:t>
            </a:r>
          </a:p>
        </p:txBody>
      </p:sp>
      <p:sp>
        <p:nvSpPr>
          <p:cNvPr id="110" name="TextBox 65">
            <a:extLst>
              <a:ext uri="{FF2B5EF4-FFF2-40B4-BE49-F238E27FC236}">
                <a16:creationId xmlns:a16="http://schemas.microsoft.com/office/drawing/2014/main" id="{5E7FC48F-EDFB-528F-E44C-E8709CBBC3A4}"/>
              </a:ext>
            </a:extLst>
          </p:cNvPr>
          <p:cNvSpPr txBox="1"/>
          <p:nvPr/>
        </p:nvSpPr>
        <p:spPr>
          <a:xfrm>
            <a:off x="619048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Delivers </a:t>
            </a:r>
            <a:r>
              <a:rPr lang="en-US" b="1">
                <a:solidFill>
                  <a:schemeClr val="bg1">
                    <a:lumMod val="65000"/>
                  </a:schemeClr>
                </a:solidFill>
              </a:rPr>
              <a:t>prioritized work through structured backlog management</a:t>
            </a:r>
            <a:r>
              <a:rPr lang="en-US">
                <a:solidFill>
                  <a:schemeClr val="bg1">
                    <a:lumMod val="65000"/>
                  </a:schemeClr>
                </a:solidFill>
              </a:rPr>
              <a:t>, </a:t>
            </a:r>
            <a:r>
              <a:rPr lang="en-US" b="1">
                <a:solidFill>
                  <a:schemeClr val="bg1">
                    <a:lumMod val="65000"/>
                  </a:schemeClr>
                </a:solidFill>
              </a:rPr>
              <a:t>clear requirements</a:t>
            </a:r>
            <a:r>
              <a:rPr lang="en-US">
                <a:solidFill>
                  <a:schemeClr val="bg1">
                    <a:lumMod val="65000"/>
                  </a:schemeClr>
                </a:solidFill>
              </a:rPr>
              <a:t>, </a:t>
            </a:r>
            <a:r>
              <a:rPr lang="en-US" b="1">
                <a:solidFill>
                  <a:schemeClr val="bg1">
                    <a:lumMod val="65000"/>
                  </a:schemeClr>
                </a:solidFill>
              </a:rPr>
              <a:t>coordinated development</a:t>
            </a:r>
            <a:r>
              <a:rPr lang="en-US">
                <a:solidFill>
                  <a:schemeClr val="bg1">
                    <a:lumMod val="65000"/>
                  </a:schemeClr>
                </a:solidFill>
              </a:rPr>
              <a:t>, and </a:t>
            </a:r>
            <a:r>
              <a:rPr lang="en-US" b="1">
                <a:solidFill>
                  <a:schemeClr val="bg1">
                    <a:lumMod val="65000"/>
                  </a:schemeClr>
                </a:solidFill>
              </a:rPr>
              <a:t>continuous tracking </a:t>
            </a:r>
            <a:r>
              <a:rPr lang="en-US">
                <a:solidFill>
                  <a:schemeClr val="bg1">
                    <a:lumMod val="65000"/>
                  </a:schemeClr>
                </a:solidFill>
              </a:rPr>
              <a:t>of progress and dependencies</a:t>
            </a:r>
          </a:p>
        </p:txBody>
      </p:sp>
      <p:sp>
        <p:nvSpPr>
          <p:cNvPr id="113" name="Rectangle 68">
            <a:extLst>
              <a:ext uri="{FF2B5EF4-FFF2-40B4-BE49-F238E27FC236}">
                <a16:creationId xmlns:a16="http://schemas.microsoft.com/office/drawing/2014/main" id="{9E133D41-42A2-2D9C-40E7-D5EC2AFEB90C}"/>
              </a:ext>
            </a:extLst>
          </p:cNvPr>
          <p:cNvSpPr/>
          <p:nvPr/>
        </p:nvSpPr>
        <p:spPr>
          <a:xfrm>
            <a:off x="896112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4" name="Rectangle 69">
            <a:extLst>
              <a:ext uri="{FF2B5EF4-FFF2-40B4-BE49-F238E27FC236}">
                <a16:creationId xmlns:a16="http://schemas.microsoft.com/office/drawing/2014/main" id="{808996C7-0390-2435-7225-B5C467849DAA}"/>
              </a:ext>
            </a:extLst>
          </p:cNvPr>
          <p:cNvSpPr/>
          <p:nvPr/>
        </p:nvSpPr>
        <p:spPr>
          <a:xfrm>
            <a:off x="896112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5" name="TextBox 70">
            <a:extLst>
              <a:ext uri="{FF2B5EF4-FFF2-40B4-BE49-F238E27FC236}">
                <a16:creationId xmlns:a16="http://schemas.microsoft.com/office/drawing/2014/main" id="{5FCEED65-FFA4-EF2B-8938-FF658776DC5A}"/>
              </a:ext>
            </a:extLst>
          </p:cNvPr>
          <p:cNvSpPr txBox="1"/>
          <p:nvPr/>
        </p:nvSpPr>
        <p:spPr>
          <a:xfrm>
            <a:off x="9144000" y="1915117"/>
            <a:ext cx="640080" cy="424732"/>
          </a:xfrm>
          <a:prstGeom prst="rect">
            <a:avLst/>
          </a:prstGeom>
          <a:noFill/>
        </p:spPr>
        <p:txBody>
          <a:bodyPr wrap="square" lIns="54864" tIns="27432" rIns="54864" bIns="27432" anchor="t">
            <a:spAutoFit/>
          </a:bodyPr>
          <a:lstStyle/>
          <a:p>
            <a:pPr algn="l"/>
            <a:r>
              <a:rPr lang="en-US" sz="2400" b="1" noProof="0">
                <a:solidFill>
                  <a:schemeClr val="bg1">
                    <a:lumMod val="65000"/>
                  </a:schemeClr>
                </a:solidFill>
                <a:latin typeface="Arial" panose="020B0604020202020204" pitchFamily="34" charset="0"/>
                <a:cs typeface="Arial" panose="020B0604020202020204" pitchFamily="34" charset="0"/>
              </a:rPr>
              <a:t>04</a:t>
            </a:r>
          </a:p>
        </p:txBody>
      </p:sp>
      <p:sp>
        <p:nvSpPr>
          <p:cNvPr id="116" name="TextBox 71">
            <a:extLst>
              <a:ext uri="{FF2B5EF4-FFF2-40B4-BE49-F238E27FC236}">
                <a16:creationId xmlns:a16="http://schemas.microsoft.com/office/drawing/2014/main" id="{3E786E19-1EA3-6AD8-530D-810EB75D50DB}"/>
              </a:ext>
            </a:extLst>
          </p:cNvPr>
          <p:cNvSpPr txBox="1"/>
          <p:nvPr/>
        </p:nvSpPr>
        <p:spPr>
          <a:xfrm>
            <a:off x="9784080" y="2007450"/>
            <a:ext cx="1468120" cy="240066"/>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bg1">
                    <a:lumMod val="65000"/>
                  </a:schemeClr>
                </a:solidFill>
                <a:latin typeface="Arial" panose="020B0604020202020204" pitchFamily="34" charset="0"/>
                <a:cs typeface="Arial" panose="020B0604020202020204" pitchFamily="34" charset="0"/>
              </a:rPr>
              <a:t>DEPLOYMENT</a:t>
            </a:r>
          </a:p>
        </p:txBody>
      </p:sp>
      <p:sp>
        <p:nvSpPr>
          <p:cNvPr id="118" name="TextBox 73">
            <a:extLst>
              <a:ext uri="{FF2B5EF4-FFF2-40B4-BE49-F238E27FC236}">
                <a16:creationId xmlns:a16="http://schemas.microsoft.com/office/drawing/2014/main" id="{C853FB0C-AB08-68E2-770A-7C583949C8A1}"/>
              </a:ext>
            </a:extLst>
          </p:cNvPr>
          <p:cNvSpPr txBox="1"/>
          <p:nvPr/>
        </p:nvSpPr>
        <p:spPr>
          <a:xfrm>
            <a:off x="9025128" y="2396320"/>
            <a:ext cx="2615184" cy="978729"/>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Ensures </a:t>
            </a:r>
            <a:r>
              <a:rPr lang="en-US" b="1">
                <a:solidFill>
                  <a:schemeClr val="bg1">
                    <a:lumMod val="65000"/>
                  </a:schemeClr>
                </a:solidFill>
              </a:rPr>
              <a:t>controlled release and transition to operations </a:t>
            </a:r>
            <a:r>
              <a:rPr lang="en-US">
                <a:solidFill>
                  <a:schemeClr val="bg1">
                    <a:lumMod val="65000"/>
                  </a:schemeClr>
                </a:solidFill>
              </a:rPr>
              <a:t>through </a:t>
            </a:r>
            <a:r>
              <a:rPr lang="en-US" b="1">
                <a:solidFill>
                  <a:schemeClr val="bg1">
                    <a:lumMod val="65000"/>
                  </a:schemeClr>
                </a:solidFill>
              </a:rPr>
              <a:t>coordinated planning</a:t>
            </a:r>
            <a:r>
              <a:rPr lang="en-US">
                <a:solidFill>
                  <a:schemeClr val="bg1">
                    <a:lumMod val="65000"/>
                  </a:schemeClr>
                </a:solidFill>
              </a:rPr>
              <a:t>, </a:t>
            </a:r>
            <a:r>
              <a:rPr lang="en-US" b="1">
                <a:solidFill>
                  <a:schemeClr val="bg1">
                    <a:lumMod val="65000"/>
                  </a:schemeClr>
                </a:solidFill>
              </a:rPr>
              <a:t>validation</a:t>
            </a:r>
            <a:r>
              <a:rPr lang="en-US">
                <a:solidFill>
                  <a:schemeClr val="bg1">
                    <a:lumMod val="65000"/>
                  </a:schemeClr>
                </a:solidFill>
              </a:rPr>
              <a:t>, and </a:t>
            </a:r>
            <a:r>
              <a:rPr lang="en-US" b="1">
                <a:solidFill>
                  <a:schemeClr val="bg1">
                    <a:lumMod val="65000"/>
                  </a:schemeClr>
                </a:solidFill>
              </a:rPr>
              <a:t>stabilization </a:t>
            </a:r>
            <a:r>
              <a:rPr lang="en-US">
                <a:solidFill>
                  <a:schemeClr val="bg1">
                    <a:lumMod val="65000"/>
                  </a:schemeClr>
                </a:solidFill>
              </a:rPr>
              <a:t>of delivered solutions</a:t>
            </a:r>
          </a:p>
        </p:txBody>
      </p:sp>
      <p:sp>
        <p:nvSpPr>
          <p:cNvPr id="121" name="Rectangle 44">
            <a:extLst>
              <a:ext uri="{FF2B5EF4-FFF2-40B4-BE49-F238E27FC236}">
                <a16:creationId xmlns:a16="http://schemas.microsoft.com/office/drawing/2014/main" id="{FD46FDC8-C618-9AEB-D553-F63CB6D69B6B}"/>
              </a:ext>
            </a:extLst>
          </p:cNvPr>
          <p:cNvSpPr/>
          <p:nvPr/>
        </p:nvSpPr>
        <p:spPr>
          <a:xfrm>
            <a:off x="467360" y="368084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5" name="TextBox 46">
            <a:extLst>
              <a:ext uri="{FF2B5EF4-FFF2-40B4-BE49-F238E27FC236}">
                <a16:creationId xmlns:a16="http://schemas.microsoft.com/office/drawing/2014/main" id="{8762401F-8447-45E5-A017-0547F76F194A}"/>
              </a:ext>
            </a:extLst>
          </p:cNvPr>
          <p:cNvSpPr txBox="1"/>
          <p:nvPr/>
        </p:nvSpPr>
        <p:spPr>
          <a:xfrm>
            <a:off x="640080" y="376789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05</a:t>
            </a:r>
          </a:p>
        </p:txBody>
      </p:sp>
      <p:sp>
        <p:nvSpPr>
          <p:cNvPr id="126" name="TextBox 47">
            <a:extLst>
              <a:ext uri="{FF2B5EF4-FFF2-40B4-BE49-F238E27FC236}">
                <a16:creationId xmlns:a16="http://schemas.microsoft.com/office/drawing/2014/main" id="{02073909-2019-7C01-CEC3-654C4C0D1C9F}"/>
              </a:ext>
            </a:extLst>
          </p:cNvPr>
          <p:cNvSpPr txBox="1"/>
          <p:nvPr/>
        </p:nvSpPr>
        <p:spPr>
          <a:xfrm>
            <a:off x="1280160" y="3767898"/>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ROLES &amp; </a:t>
            </a:r>
          </a:p>
          <a:p>
            <a:pPr algn="l"/>
            <a:r>
              <a:rPr lang="en-US" sz="1200" b="1">
                <a:latin typeface="Arial" panose="020B0604020202020204" pitchFamily="34" charset="0"/>
                <a:cs typeface="Arial" panose="020B0604020202020204" pitchFamily="34" charset="0"/>
              </a:rPr>
              <a:t>RESPONSIBILITIES</a:t>
            </a:r>
            <a:endParaRPr lang="en-US" sz="1200" b="1" noProof="0">
              <a:latin typeface="Arial" panose="020B0604020202020204" pitchFamily="34" charset="0"/>
              <a:cs typeface="Arial" panose="020B0604020202020204" pitchFamily="34" charset="0"/>
            </a:endParaRPr>
          </a:p>
        </p:txBody>
      </p:sp>
      <p:sp>
        <p:nvSpPr>
          <p:cNvPr id="127" name="Rectangle 45">
            <a:extLst>
              <a:ext uri="{FF2B5EF4-FFF2-40B4-BE49-F238E27FC236}">
                <a16:creationId xmlns:a16="http://schemas.microsoft.com/office/drawing/2014/main" id="{376CE3EB-896E-F962-6757-A476603649C3}"/>
              </a:ext>
            </a:extLst>
          </p:cNvPr>
          <p:cNvSpPr/>
          <p:nvPr/>
        </p:nvSpPr>
        <p:spPr>
          <a:xfrm>
            <a:off x="464911" y="367706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8" name="TextBox 49">
            <a:extLst>
              <a:ext uri="{FF2B5EF4-FFF2-40B4-BE49-F238E27FC236}">
                <a16:creationId xmlns:a16="http://schemas.microsoft.com/office/drawing/2014/main" id="{0C43831F-1D14-FFB2-47D7-9AFEF959C1AC}"/>
              </a:ext>
            </a:extLst>
          </p:cNvPr>
          <p:cNvSpPr txBox="1"/>
          <p:nvPr/>
        </p:nvSpPr>
        <p:spPr>
          <a:xfrm>
            <a:off x="3162808" y="376789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a:t>
            </a:r>
            <a:r>
              <a:rPr lang="en-US" b="1"/>
              <a:t>roles and accountabilities across the lifecycle </a:t>
            </a:r>
            <a:r>
              <a:rPr lang="en-US"/>
              <a:t>to ensure end-to-end </a:t>
            </a:r>
            <a:r>
              <a:rPr lang="en-US" b="1"/>
              <a:t>ownership</a:t>
            </a:r>
            <a:r>
              <a:rPr lang="en-US"/>
              <a:t>, effective </a:t>
            </a:r>
            <a:r>
              <a:rPr lang="en-US" b="1"/>
              <a:t>decision-making</a:t>
            </a:r>
            <a:r>
              <a:rPr lang="en-US"/>
              <a:t>, and </a:t>
            </a:r>
            <a:r>
              <a:rPr lang="en-US" b="1"/>
              <a:t>alignment between business and IT</a:t>
            </a:r>
          </a:p>
        </p:txBody>
      </p:sp>
      <p:sp>
        <p:nvSpPr>
          <p:cNvPr id="129" name="Rectangle 44">
            <a:extLst>
              <a:ext uri="{FF2B5EF4-FFF2-40B4-BE49-F238E27FC236}">
                <a16:creationId xmlns:a16="http://schemas.microsoft.com/office/drawing/2014/main" id="{798910C5-E390-1A32-D79B-9FD4303F9438}"/>
              </a:ext>
            </a:extLst>
          </p:cNvPr>
          <p:cNvSpPr/>
          <p:nvPr/>
        </p:nvSpPr>
        <p:spPr>
          <a:xfrm>
            <a:off x="467360" y="433108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0" name="TextBox 46">
            <a:extLst>
              <a:ext uri="{FF2B5EF4-FFF2-40B4-BE49-F238E27FC236}">
                <a16:creationId xmlns:a16="http://schemas.microsoft.com/office/drawing/2014/main" id="{109B7B76-3177-C8E5-6452-1B0A9802160F}"/>
              </a:ext>
            </a:extLst>
          </p:cNvPr>
          <p:cNvSpPr txBox="1"/>
          <p:nvPr/>
        </p:nvSpPr>
        <p:spPr>
          <a:xfrm>
            <a:off x="640080" y="441813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6</a:t>
            </a:r>
            <a:endParaRPr lang="en-US" sz="2400" b="1" noProof="0">
              <a:latin typeface="Arial" panose="020B0604020202020204" pitchFamily="34" charset="0"/>
              <a:cs typeface="Arial" panose="020B0604020202020204" pitchFamily="34" charset="0"/>
            </a:endParaRPr>
          </a:p>
        </p:txBody>
      </p:sp>
      <p:sp>
        <p:nvSpPr>
          <p:cNvPr id="131" name="TextBox 47">
            <a:extLst>
              <a:ext uri="{FF2B5EF4-FFF2-40B4-BE49-F238E27FC236}">
                <a16:creationId xmlns:a16="http://schemas.microsoft.com/office/drawing/2014/main" id="{8BFF126A-18F1-8D0F-B793-4E450E9BE5D4}"/>
              </a:ext>
            </a:extLst>
          </p:cNvPr>
          <p:cNvSpPr txBox="1"/>
          <p:nvPr/>
        </p:nvSpPr>
        <p:spPr>
          <a:xfrm>
            <a:off x="1280160" y="451047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TOOLS</a:t>
            </a:r>
          </a:p>
        </p:txBody>
      </p:sp>
      <p:sp>
        <p:nvSpPr>
          <p:cNvPr id="132" name="Rectangle 45">
            <a:extLst>
              <a:ext uri="{FF2B5EF4-FFF2-40B4-BE49-F238E27FC236}">
                <a16:creationId xmlns:a16="http://schemas.microsoft.com/office/drawing/2014/main" id="{87C53B87-68A2-3DE5-54F1-24F9FA771ADC}"/>
              </a:ext>
            </a:extLst>
          </p:cNvPr>
          <p:cNvSpPr/>
          <p:nvPr/>
        </p:nvSpPr>
        <p:spPr>
          <a:xfrm>
            <a:off x="464911" y="432730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3" name="TextBox 49">
            <a:extLst>
              <a:ext uri="{FF2B5EF4-FFF2-40B4-BE49-F238E27FC236}">
                <a16:creationId xmlns:a16="http://schemas.microsoft.com/office/drawing/2014/main" id="{654C62BB-1F2F-CEAD-614B-3497A7A41126}"/>
              </a:ext>
            </a:extLst>
          </p:cNvPr>
          <p:cNvSpPr txBox="1"/>
          <p:nvPr/>
        </p:nvSpPr>
        <p:spPr>
          <a:xfrm>
            <a:off x="3162808" y="441813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roles and accountabilities across the lifecycle to ensure end-to-end ownership, effective decision-making, and alignment between business and IT</a:t>
            </a:r>
          </a:p>
        </p:txBody>
      </p:sp>
      <p:sp>
        <p:nvSpPr>
          <p:cNvPr id="134" name="Rectangle 44">
            <a:extLst>
              <a:ext uri="{FF2B5EF4-FFF2-40B4-BE49-F238E27FC236}">
                <a16:creationId xmlns:a16="http://schemas.microsoft.com/office/drawing/2014/main" id="{882D91C3-D168-0500-5258-3CE5E76420F9}"/>
              </a:ext>
            </a:extLst>
          </p:cNvPr>
          <p:cNvSpPr/>
          <p:nvPr/>
        </p:nvSpPr>
        <p:spPr>
          <a:xfrm>
            <a:off x="467360" y="498132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5" name="TextBox 46">
            <a:extLst>
              <a:ext uri="{FF2B5EF4-FFF2-40B4-BE49-F238E27FC236}">
                <a16:creationId xmlns:a16="http://schemas.microsoft.com/office/drawing/2014/main" id="{DEE34884-5E58-C913-4CD5-7ED344F2B73E}"/>
              </a:ext>
            </a:extLst>
          </p:cNvPr>
          <p:cNvSpPr txBox="1"/>
          <p:nvPr/>
        </p:nvSpPr>
        <p:spPr>
          <a:xfrm>
            <a:off x="640080" y="506837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7</a:t>
            </a:r>
            <a:endParaRPr lang="en-US" sz="2400" b="1" noProof="0">
              <a:latin typeface="Arial" panose="020B0604020202020204" pitchFamily="34" charset="0"/>
              <a:cs typeface="Arial" panose="020B0604020202020204" pitchFamily="34" charset="0"/>
            </a:endParaRPr>
          </a:p>
        </p:txBody>
      </p:sp>
      <p:sp>
        <p:nvSpPr>
          <p:cNvPr id="136" name="TextBox 47">
            <a:extLst>
              <a:ext uri="{FF2B5EF4-FFF2-40B4-BE49-F238E27FC236}">
                <a16:creationId xmlns:a16="http://schemas.microsoft.com/office/drawing/2014/main" id="{B66D1642-57C5-0ED8-08EF-FF25C8A5462B}"/>
              </a:ext>
            </a:extLst>
          </p:cNvPr>
          <p:cNvSpPr txBox="1"/>
          <p:nvPr/>
        </p:nvSpPr>
        <p:spPr>
          <a:xfrm>
            <a:off x="1280160" y="516071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GOVERNANCE</a:t>
            </a:r>
          </a:p>
        </p:txBody>
      </p:sp>
      <p:sp>
        <p:nvSpPr>
          <p:cNvPr id="137" name="Rectangle 45">
            <a:extLst>
              <a:ext uri="{FF2B5EF4-FFF2-40B4-BE49-F238E27FC236}">
                <a16:creationId xmlns:a16="http://schemas.microsoft.com/office/drawing/2014/main" id="{DDA85423-40A5-7CF0-C05C-D7125A20969E}"/>
              </a:ext>
            </a:extLst>
          </p:cNvPr>
          <p:cNvSpPr/>
          <p:nvPr/>
        </p:nvSpPr>
        <p:spPr>
          <a:xfrm>
            <a:off x="464911" y="497754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8" name="TextBox 49">
            <a:extLst>
              <a:ext uri="{FF2B5EF4-FFF2-40B4-BE49-F238E27FC236}">
                <a16:creationId xmlns:a16="http://schemas.microsoft.com/office/drawing/2014/main" id="{AE416235-E140-D9EE-2A08-870AC5EECE07}"/>
              </a:ext>
            </a:extLst>
          </p:cNvPr>
          <p:cNvSpPr txBox="1"/>
          <p:nvPr/>
        </p:nvSpPr>
        <p:spPr>
          <a:xfrm>
            <a:off x="3162808" y="506837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Structured decision-making framework with defined forums, processes, and controls to ensure alignment, prioritization, and oversight across the lifecycle</a:t>
            </a:r>
          </a:p>
        </p:txBody>
      </p:sp>
      <p:sp>
        <p:nvSpPr>
          <p:cNvPr id="139" name="Rectangle 44">
            <a:extLst>
              <a:ext uri="{FF2B5EF4-FFF2-40B4-BE49-F238E27FC236}">
                <a16:creationId xmlns:a16="http://schemas.microsoft.com/office/drawing/2014/main" id="{C32AD06E-68CD-0AE7-8BBC-5C3006A2A98E}"/>
              </a:ext>
            </a:extLst>
          </p:cNvPr>
          <p:cNvSpPr/>
          <p:nvPr/>
        </p:nvSpPr>
        <p:spPr>
          <a:xfrm>
            <a:off x="467360" y="563156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0" name="TextBox 46">
            <a:extLst>
              <a:ext uri="{FF2B5EF4-FFF2-40B4-BE49-F238E27FC236}">
                <a16:creationId xmlns:a16="http://schemas.microsoft.com/office/drawing/2014/main" id="{A7E2F9AE-D7D7-EFFC-C91F-75D3EF32416A}"/>
              </a:ext>
            </a:extLst>
          </p:cNvPr>
          <p:cNvSpPr txBox="1"/>
          <p:nvPr/>
        </p:nvSpPr>
        <p:spPr>
          <a:xfrm>
            <a:off x="640080" y="571861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08</a:t>
            </a:r>
          </a:p>
        </p:txBody>
      </p:sp>
      <p:sp>
        <p:nvSpPr>
          <p:cNvPr id="141" name="TextBox 47">
            <a:extLst>
              <a:ext uri="{FF2B5EF4-FFF2-40B4-BE49-F238E27FC236}">
                <a16:creationId xmlns:a16="http://schemas.microsoft.com/office/drawing/2014/main" id="{977D9EAA-A3B9-FC96-2019-BEB331C19384}"/>
              </a:ext>
            </a:extLst>
          </p:cNvPr>
          <p:cNvSpPr txBox="1"/>
          <p:nvPr/>
        </p:nvSpPr>
        <p:spPr>
          <a:xfrm>
            <a:off x="1280160" y="581095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PERFORMANCE</a:t>
            </a:r>
          </a:p>
        </p:txBody>
      </p:sp>
      <p:sp>
        <p:nvSpPr>
          <p:cNvPr id="142" name="Rectangle 45">
            <a:extLst>
              <a:ext uri="{FF2B5EF4-FFF2-40B4-BE49-F238E27FC236}">
                <a16:creationId xmlns:a16="http://schemas.microsoft.com/office/drawing/2014/main" id="{9AA67062-2587-2E07-768B-C2FCFDFE1D50}"/>
              </a:ext>
            </a:extLst>
          </p:cNvPr>
          <p:cNvSpPr/>
          <p:nvPr/>
        </p:nvSpPr>
        <p:spPr>
          <a:xfrm>
            <a:off x="464911" y="5627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3" name="TextBox 49">
            <a:extLst>
              <a:ext uri="{FF2B5EF4-FFF2-40B4-BE49-F238E27FC236}">
                <a16:creationId xmlns:a16="http://schemas.microsoft.com/office/drawing/2014/main" id="{32B17BCB-1101-9CF3-6180-F077D2915830}"/>
              </a:ext>
            </a:extLst>
          </p:cNvPr>
          <p:cNvSpPr txBox="1"/>
          <p:nvPr/>
        </p:nvSpPr>
        <p:spPr>
          <a:xfrm>
            <a:off x="3162808" y="571861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Standardized metrics and KPIs to monitor demand, delivery, and outcomes, enabling transparency, accountability, and continuous improvement </a:t>
            </a:r>
          </a:p>
        </p:txBody>
      </p:sp>
    </p:spTree>
    <p:extLst>
      <p:ext uri="{BB962C8B-B14F-4D97-AF65-F5344CB8AC3E}">
        <p14:creationId xmlns:p14="http://schemas.microsoft.com/office/powerpoint/2010/main" val="1813317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FCE5-3EAC-92F9-29AB-9139E2243C15}"/>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0E89B345-1145-B564-867E-D51A609D5729}"/>
              </a:ext>
            </a:extLst>
          </p:cNvPr>
          <p:cNvSpPr/>
          <p:nvPr/>
        </p:nvSpPr>
        <p:spPr>
          <a:xfrm>
            <a:off x="457200" y="1028060"/>
            <a:ext cx="11277295" cy="521307"/>
          </a:xfrm>
          <a:prstGeom prst="roundRect">
            <a:avLst>
              <a:gd name="adj" fmla="val 6922"/>
            </a:avLst>
          </a:prstGeom>
          <a:solidFill>
            <a:srgbClr val="F5F7FA"/>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72C1EE7-8AB4-C740-7A79-3EE0B3682ADE}"/>
              </a:ext>
            </a:extLst>
          </p:cNvPr>
          <p:cNvSpPr txBox="1"/>
          <p:nvPr/>
        </p:nvSpPr>
        <p:spPr>
          <a:xfrm>
            <a:off x="594360" y="1055493"/>
            <a:ext cx="11002975" cy="430887"/>
          </a:xfrm>
          <a:prstGeom prst="rect">
            <a:avLst/>
          </a:prstGeom>
          <a:noFill/>
        </p:spPr>
        <p:txBody>
          <a:bodyPr wrap="square">
            <a:spAutoFit/>
          </a:bodyPr>
          <a:lstStyle/>
          <a:p>
            <a:pPr>
              <a:defRPr sz="1100" b="0" i="1">
                <a:solidFill>
                  <a:srgbClr val="0F1A38"/>
                </a:solidFill>
                <a:latin typeface="Calibri"/>
              </a:defRPr>
            </a:pPr>
            <a:r>
              <a:rPr lang="en-US" sz="1100" i="1"/>
              <a:t>The current prioritization approach is </a:t>
            </a:r>
            <a:r>
              <a:rPr lang="en-US" sz="1100" b="1" i="1"/>
              <a:t>reactive, inconsistent, and lacks governance</a:t>
            </a:r>
            <a:r>
              <a:rPr lang="en-US" sz="1100" i="1"/>
              <a:t>, resulting in </a:t>
            </a:r>
            <a:r>
              <a:rPr lang="en-US" sz="1100" b="1" i="1"/>
              <a:t>competing priorities, frequent interruptions, and inefficient use of capacity</a:t>
            </a:r>
            <a:r>
              <a:rPr lang="en-US" sz="1100" i="1"/>
              <a:t>. A </a:t>
            </a:r>
            <a:r>
              <a:rPr lang="en-US" sz="1100" b="1" i="1"/>
              <a:t>Lean Kanban prioritization model</a:t>
            </a:r>
            <a:r>
              <a:rPr lang="en-US" sz="1100" i="1"/>
              <a:t> is required to enable </a:t>
            </a:r>
            <a:r>
              <a:rPr lang="en-US" sz="1100" b="1" i="1"/>
              <a:t>structured decision-making, transparency, and flow optimization</a:t>
            </a:r>
            <a:r>
              <a:rPr lang="en-US" sz="1100" i="1"/>
              <a:t>.</a:t>
            </a:r>
            <a:endParaRPr/>
          </a:p>
        </p:txBody>
      </p:sp>
      <p:sp>
        <p:nvSpPr>
          <p:cNvPr id="9" name="Rounded Rectangle 8">
            <a:extLst>
              <a:ext uri="{FF2B5EF4-FFF2-40B4-BE49-F238E27FC236}">
                <a16:creationId xmlns:a16="http://schemas.microsoft.com/office/drawing/2014/main" id="{70AFCFE3-5DCB-806C-B1F2-CF3F7CB8E6E7}"/>
              </a:ext>
            </a:extLst>
          </p:cNvPr>
          <p:cNvSpPr/>
          <p:nvPr/>
        </p:nvSpPr>
        <p:spPr>
          <a:xfrm>
            <a:off x="457200" y="1746603"/>
            <a:ext cx="7132320" cy="3228082"/>
          </a:xfrm>
          <a:prstGeom prst="roundRect">
            <a:avLst>
              <a:gd name="adj" fmla="val 2504"/>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48290361-687F-CD56-3C5B-7E3B87D5B75C}"/>
              </a:ext>
            </a:extLst>
          </p:cNvPr>
          <p:cNvSpPr/>
          <p:nvPr/>
        </p:nvSpPr>
        <p:spPr>
          <a:xfrm>
            <a:off x="457200" y="1746603"/>
            <a:ext cx="7132320" cy="438912"/>
          </a:xfrm>
          <a:prstGeom prst="roundRect">
            <a:avLst/>
          </a:prstGeom>
          <a:solidFill>
            <a:srgbClr val="2E7D32"/>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A42E7E9-BA10-068E-6480-D456B146843B}"/>
              </a:ext>
            </a:extLst>
          </p:cNvPr>
          <p:cNvSpPr txBox="1"/>
          <p:nvPr/>
        </p:nvSpPr>
        <p:spPr>
          <a:xfrm>
            <a:off x="594360" y="1764891"/>
            <a:ext cx="6858000" cy="369332"/>
          </a:xfrm>
          <a:prstGeom prst="rect">
            <a:avLst/>
          </a:prstGeom>
          <a:noFill/>
        </p:spPr>
        <p:txBody>
          <a:bodyPr wrap="square">
            <a:spAutoFit/>
          </a:bodyPr>
          <a:lstStyle/>
          <a:p>
            <a:pPr algn="l">
              <a:defRPr sz="1800" b="1" i="0">
                <a:solidFill>
                  <a:srgbClr val="FFFFFF"/>
                </a:solidFill>
                <a:latin typeface="Calibri"/>
              </a:defRPr>
            </a:pPr>
            <a:r>
              <a:rPr lang="en-US"/>
              <a:t>Key Challenges:</a:t>
            </a:r>
          </a:p>
        </p:txBody>
      </p:sp>
      <p:sp>
        <p:nvSpPr>
          <p:cNvPr id="17" name="TextBox 16">
            <a:extLst>
              <a:ext uri="{FF2B5EF4-FFF2-40B4-BE49-F238E27FC236}">
                <a16:creationId xmlns:a16="http://schemas.microsoft.com/office/drawing/2014/main" id="{CB702A20-4AA2-79DC-C59B-6EA8A59CA57F}"/>
              </a:ext>
            </a:extLst>
          </p:cNvPr>
          <p:cNvSpPr txBox="1"/>
          <p:nvPr/>
        </p:nvSpPr>
        <p:spPr>
          <a:xfrm>
            <a:off x="807721" y="2202073"/>
            <a:ext cx="6766560" cy="3046988"/>
          </a:xfrm>
          <a:prstGeom prst="rect">
            <a:avLst/>
          </a:prstGeom>
          <a:noFill/>
        </p:spPr>
        <p:txBody>
          <a:bodyPr wrap="square">
            <a:spAutoFit/>
          </a:bodyPr>
          <a:lstStyle/>
          <a:p>
            <a:pPr lvl="0" defTabSz="914400" eaLnBrk="0" fontAlgn="base" hangingPunct="0">
              <a:spcBef>
                <a:spcPct val="0"/>
              </a:spcBef>
              <a:spcAft>
                <a:spcPct val="0"/>
              </a:spcAft>
            </a:pPr>
            <a:r>
              <a:rPr lang="en-US" altLang="en-US" sz="1200" b="1"/>
              <a:t>No Standard Prioritization Framework</a:t>
            </a:r>
            <a:endParaRPr lang="en-US" altLang="en-US" sz="1200"/>
          </a:p>
          <a:p>
            <a:pPr lvl="0" defTabSz="914400" eaLnBrk="0" fontAlgn="base" hangingPunct="0">
              <a:spcBef>
                <a:spcPct val="0"/>
              </a:spcBef>
              <a:spcAft>
                <a:spcPct val="0"/>
              </a:spcAft>
            </a:pPr>
            <a:r>
              <a:rPr lang="en-US" altLang="en-US" sz="1200"/>
              <a:t>	Work is assigned reactively (“whoever is on support”)</a:t>
            </a:r>
          </a:p>
          <a:p>
            <a:pPr lvl="0" defTabSz="914400" eaLnBrk="0" fontAlgn="base" hangingPunct="0">
              <a:spcBef>
                <a:spcPct val="0"/>
              </a:spcBef>
              <a:spcAft>
                <a:spcPct val="0"/>
              </a:spcAft>
            </a:pPr>
            <a:r>
              <a:rPr lang="en-US" altLang="en-US" sz="1200"/>
              <a:t>	No consistent criteria across teams or initiatives</a:t>
            </a:r>
          </a:p>
          <a:p>
            <a:pPr lvl="0" defTabSz="914400" eaLnBrk="0" fontAlgn="base" hangingPunct="0">
              <a:spcBef>
                <a:spcPct val="0"/>
              </a:spcBef>
              <a:spcAft>
                <a:spcPct val="0"/>
              </a:spcAft>
            </a:pPr>
            <a:r>
              <a:rPr lang="en-US" altLang="en-US" sz="1200" b="1"/>
              <a:t>Competing Demand Across Work Types</a:t>
            </a:r>
            <a:endParaRPr lang="en-US" altLang="en-US" sz="1200"/>
          </a:p>
          <a:p>
            <a:pPr lvl="0" defTabSz="914400" eaLnBrk="0" fontAlgn="base" hangingPunct="0">
              <a:spcBef>
                <a:spcPct val="0"/>
              </a:spcBef>
              <a:spcAft>
                <a:spcPct val="0"/>
              </a:spcAft>
            </a:pPr>
            <a:r>
              <a:rPr lang="en-US" altLang="en-US" sz="1200" b="1"/>
              <a:t>	Build vs. BAU vs. Upgrades vs. Support</a:t>
            </a:r>
            <a:endParaRPr lang="en-US" altLang="en-US" sz="1200"/>
          </a:p>
          <a:p>
            <a:pPr lvl="0" defTabSz="914400" eaLnBrk="0" fontAlgn="base" hangingPunct="0">
              <a:spcBef>
                <a:spcPct val="0"/>
              </a:spcBef>
              <a:spcAft>
                <a:spcPct val="0"/>
              </a:spcAft>
            </a:pPr>
            <a:r>
              <a:rPr lang="en-US" altLang="en-US" sz="1200"/>
              <a:t>	Urgent and compliance work overrides planned priorities</a:t>
            </a:r>
          </a:p>
          <a:p>
            <a:pPr lvl="0" defTabSz="914400" eaLnBrk="0" fontAlgn="base" hangingPunct="0">
              <a:spcBef>
                <a:spcPct val="0"/>
              </a:spcBef>
              <a:spcAft>
                <a:spcPct val="0"/>
              </a:spcAft>
            </a:pPr>
            <a:r>
              <a:rPr lang="en-US" altLang="en-US" sz="1200" b="1"/>
              <a:t>High Volume of Unplanned Work</a:t>
            </a:r>
            <a:endParaRPr lang="en-US" altLang="en-US" sz="1200"/>
          </a:p>
          <a:p>
            <a:pPr lvl="0" defTabSz="914400" eaLnBrk="0" fontAlgn="base" hangingPunct="0">
              <a:spcBef>
                <a:spcPct val="0"/>
              </a:spcBef>
              <a:spcAft>
                <a:spcPct val="0"/>
              </a:spcAft>
            </a:pPr>
            <a:r>
              <a:rPr lang="en-US" altLang="en-US" sz="1200"/>
              <a:t>	~45% of capacity consumed by </a:t>
            </a:r>
            <a:r>
              <a:rPr lang="en-US" altLang="en-US" sz="1200" b="1"/>
              <a:t>small and support requests</a:t>
            </a:r>
            <a:endParaRPr lang="en-US" altLang="en-US" sz="1200"/>
          </a:p>
          <a:p>
            <a:pPr lvl="0" defTabSz="914400" eaLnBrk="0" fontAlgn="base" hangingPunct="0">
              <a:spcBef>
                <a:spcPct val="0"/>
              </a:spcBef>
              <a:spcAft>
                <a:spcPct val="0"/>
              </a:spcAft>
            </a:pPr>
            <a:r>
              <a:rPr lang="en-US" altLang="en-US" sz="1200"/>
              <a:t>	Interrupts strategic and long-term initiatives</a:t>
            </a:r>
          </a:p>
          <a:p>
            <a:pPr lvl="0" defTabSz="914400" eaLnBrk="0" fontAlgn="base" hangingPunct="0">
              <a:spcBef>
                <a:spcPct val="0"/>
              </a:spcBef>
              <a:spcAft>
                <a:spcPct val="0"/>
              </a:spcAft>
            </a:pPr>
            <a:r>
              <a:rPr lang="en-US" altLang="en-US" sz="1200" b="1"/>
              <a:t>Limited Visibility &amp; Governance</a:t>
            </a:r>
            <a:endParaRPr lang="en-US" altLang="en-US" sz="1200"/>
          </a:p>
          <a:p>
            <a:pPr lvl="0" defTabSz="914400" eaLnBrk="0" fontAlgn="base" hangingPunct="0">
              <a:spcBef>
                <a:spcPct val="0"/>
              </a:spcBef>
              <a:spcAft>
                <a:spcPct val="0"/>
              </a:spcAft>
            </a:pPr>
            <a:r>
              <a:rPr lang="en-US" altLang="en-US" sz="1200"/>
              <a:t>	Fragmented intake → no consolidated backlog</a:t>
            </a:r>
          </a:p>
          <a:p>
            <a:pPr lvl="0" defTabSz="914400" eaLnBrk="0" fontAlgn="base" hangingPunct="0">
              <a:spcBef>
                <a:spcPct val="0"/>
              </a:spcBef>
              <a:spcAft>
                <a:spcPct val="0"/>
              </a:spcAft>
            </a:pPr>
            <a:r>
              <a:rPr lang="en-US" altLang="en-US" sz="1200"/>
              <a:t>	Difficult to compare, rank, and sequence work</a:t>
            </a:r>
          </a:p>
          <a:p>
            <a:pPr lvl="0" defTabSz="914400" eaLnBrk="0" fontAlgn="base" hangingPunct="0">
              <a:spcBef>
                <a:spcPct val="0"/>
              </a:spcBef>
              <a:spcAft>
                <a:spcPct val="0"/>
              </a:spcAft>
            </a:pPr>
            <a:r>
              <a:rPr lang="en-US" altLang="en-US" sz="1200" b="1"/>
              <a:t>Lack of Business Value Focus</a:t>
            </a:r>
            <a:endParaRPr lang="en-US" altLang="en-US" sz="1200"/>
          </a:p>
          <a:p>
            <a:pPr lvl="0" defTabSz="914400" eaLnBrk="0" fontAlgn="base" hangingPunct="0">
              <a:spcBef>
                <a:spcPct val="0"/>
              </a:spcBef>
              <a:spcAft>
                <a:spcPct val="0"/>
              </a:spcAft>
            </a:pPr>
            <a:r>
              <a:rPr lang="en-US" altLang="en-US" sz="1200"/>
              <a:t>	Prioritization not driven by </a:t>
            </a:r>
            <a:r>
              <a:rPr lang="en-US" altLang="en-US" sz="1200" b="1"/>
              <a:t>value, risk, or outcomes</a:t>
            </a:r>
            <a:endParaRPr lang="en-US" altLang="en-US" sz="1200"/>
          </a:p>
          <a:p>
            <a:pPr lvl="0" defTabSz="914400" eaLnBrk="0" fontAlgn="base" hangingPunct="0">
              <a:spcBef>
                <a:spcPct val="0"/>
              </a:spcBef>
              <a:spcAft>
                <a:spcPct val="0"/>
              </a:spcAft>
            </a:pPr>
            <a:r>
              <a:rPr lang="en-US" altLang="en-US" sz="1200"/>
              <a:t>	Success measured by </a:t>
            </a:r>
            <a:r>
              <a:rPr lang="en-US" altLang="en-US" sz="1200" b="1"/>
              <a:t>output (UAT)</a:t>
            </a:r>
            <a:r>
              <a:rPr lang="en-US" altLang="en-US" sz="1200"/>
              <a:t> vs. impact</a:t>
            </a:r>
          </a:p>
          <a:p>
            <a:pPr lvl="0" defTabSz="914400" eaLnBrk="0" fontAlgn="base" hangingPunct="0">
              <a:spcBef>
                <a:spcPct val="0"/>
              </a:spcBef>
              <a:spcAft>
                <a:spcPct val="0"/>
              </a:spcAft>
            </a:pPr>
            <a:endParaRPr lang="en-US" altLang="en-US" sz="1200"/>
          </a:p>
        </p:txBody>
      </p:sp>
      <p:sp>
        <p:nvSpPr>
          <p:cNvPr id="20" name="Rounded Rectangle 19">
            <a:extLst>
              <a:ext uri="{FF2B5EF4-FFF2-40B4-BE49-F238E27FC236}">
                <a16:creationId xmlns:a16="http://schemas.microsoft.com/office/drawing/2014/main" id="{059C3B7D-D8B4-FED2-33E7-1A7D1AA33AC8}"/>
              </a:ext>
            </a:extLst>
          </p:cNvPr>
          <p:cNvSpPr/>
          <p:nvPr/>
        </p:nvSpPr>
        <p:spPr>
          <a:xfrm>
            <a:off x="7863839" y="1746603"/>
            <a:ext cx="3870655" cy="4441216"/>
          </a:xfrm>
          <a:prstGeom prst="roundRect">
            <a:avLst>
              <a:gd name="adj" fmla="val 5380"/>
            </a:avLst>
          </a:prstGeom>
          <a:solidFill>
            <a:srgbClr val="F5F7FA"/>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432B0ED9-EF5A-C8C6-31B0-8E8E1E5DBD5A}"/>
              </a:ext>
            </a:extLst>
          </p:cNvPr>
          <p:cNvSpPr txBox="1"/>
          <p:nvPr/>
        </p:nvSpPr>
        <p:spPr>
          <a:xfrm>
            <a:off x="8001000" y="1838043"/>
            <a:ext cx="3136392" cy="261610"/>
          </a:xfrm>
          <a:prstGeom prst="rect">
            <a:avLst/>
          </a:prstGeom>
          <a:noFill/>
        </p:spPr>
        <p:txBody>
          <a:bodyPr wrap="square">
            <a:spAutoFit/>
          </a:bodyPr>
          <a:lstStyle/>
          <a:p>
            <a:pPr algn="l">
              <a:defRPr sz="1100" b="1" i="0">
                <a:solidFill>
                  <a:srgbClr val="2E7D32"/>
                </a:solidFill>
                <a:latin typeface="Calibri"/>
              </a:defRPr>
            </a:pPr>
            <a:r>
              <a:rPr lang="en-US"/>
              <a:t>Lean Kanban Prioritization – Future State</a:t>
            </a:r>
          </a:p>
        </p:txBody>
      </p:sp>
      <p:sp>
        <p:nvSpPr>
          <p:cNvPr id="22" name="TextBox 21">
            <a:extLst>
              <a:ext uri="{FF2B5EF4-FFF2-40B4-BE49-F238E27FC236}">
                <a16:creationId xmlns:a16="http://schemas.microsoft.com/office/drawing/2014/main" id="{502D2CA1-D07E-64ED-5572-5E1856F344EE}"/>
              </a:ext>
            </a:extLst>
          </p:cNvPr>
          <p:cNvSpPr txBox="1"/>
          <p:nvPr/>
        </p:nvSpPr>
        <p:spPr>
          <a:xfrm>
            <a:off x="8001000" y="2112363"/>
            <a:ext cx="3733494" cy="3600986"/>
          </a:xfrm>
          <a:prstGeom prst="rect">
            <a:avLst/>
          </a:prstGeom>
          <a:noFill/>
        </p:spPr>
        <p:txBody>
          <a:bodyPr wrap="square">
            <a:spAutoFit/>
          </a:bodyPr>
          <a:lstStyle/>
          <a:p>
            <a:pPr lvl="0" defTabSz="914400" eaLnBrk="0" fontAlgn="base" hangingPunct="0">
              <a:spcBef>
                <a:spcPct val="0"/>
              </a:spcBef>
              <a:spcAft>
                <a:spcPct val="0"/>
              </a:spcAft>
            </a:pPr>
            <a:r>
              <a:rPr lang="en-US" altLang="en-US" sz="1200" b="1"/>
              <a:t>Single Prioritized Backlog</a:t>
            </a:r>
            <a:endParaRPr lang="en-US" altLang="en-US" sz="1200"/>
          </a:p>
          <a:p>
            <a:pPr lvl="1" defTabSz="914400" eaLnBrk="0" fontAlgn="base" hangingPunct="0">
              <a:spcBef>
                <a:spcPct val="0"/>
              </a:spcBef>
              <a:spcAft>
                <a:spcPct val="0"/>
              </a:spcAft>
            </a:pPr>
            <a:r>
              <a:rPr lang="en-US" altLang="en-US" sz="1200"/>
              <a:t>All work ranked in one transparent queue</a:t>
            </a:r>
          </a:p>
          <a:p>
            <a:pPr lvl="0" defTabSz="914400" eaLnBrk="0" fontAlgn="base" hangingPunct="0">
              <a:spcBef>
                <a:spcPct val="0"/>
              </a:spcBef>
              <a:spcAft>
                <a:spcPct val="0"/>
              </a:spcAft>
            </a:pPr>
            <a:r>
              <a:rPr lang="en-US" altLang="en-US" sz="1200" b="1"/>
              <a:t>Standard Prioritization Criteria</a:t>
            </a:r>
            <a:endParaRPr lang="en-US" altLang="en-US" sz="1200"/>
          </a:p>
          <a:p>
            <a:pPr lvl="1" defTabSz="914400" eaLnBrk="0" fontAlgn="base" hangingPunct="0">
              <a:spcBef>
                <a:spcPct val="0"/>
              </a:spcBef>
              <a:spcAft>
                <a:spcPct val="0"/>
              </a:spcAft>
            </a:pPr>
            <a:r>
              <a:rPr lang="en-US" altLang="en-US" sz="1200"/>
              <a:t>Based on </a:t>
            </a:r>
            <a:r>
              <a:rPr lang="en-US" altLang="en-US" sz="1200" b="1"/>
              <a:t>business value, urgency, risk, and effort</a:t>
            </a:r>
            <a:endParaRPr lang="en-US" altLang="en-US" sz="1200"/>
          </a:p>
          <a:p>
            <a:pPr lvl="1" defTabSz="914400" eaLnBrk="0" fontAlgn="base" hangingPunct="0">
              <a:spcBef>
                <a:spcPct val="0"/>
              </a:spcBef>
              <a:spcAft>
                <a:spcPct val="0"/>
              </a:spcAft>
            </a:pPr>
            <a:r>
              <a:rPr lang="en-US" altLang="en-US" sz="1200"/>
              <a:t>Enables objective decision-making</a:t>
            </a:r>
          </a:p>
          <a:p>
            <a:pPr lvl="0" defTabSz="914400" eaLnBrk="0" fontAlgn="base" hangingPunct="0">
              <a:spcBef>
                <a:spcPct val="0"/>
              </a:spcBef>
              <a:spcAft>
                <a:spcPct val="0"/>
              </a:spcAft>
            </a:pPr>
            <a:r>
              <a:rPr lang="en-US" altLang="en-US" sz="1200" b="1"/>
              <a:t>Class of Service Model</a:t>
            </a:r>
            <a:endParaRPr lang="en-US" altLang="en-US" sz="1200"/>
          </a:p>
          <a:p>
            <a:pPr lvl="1" defTabSz="914400" eaLnBrk="0" fontAlgn="base" hangingPunct="0">
              <a:spcBef>
                <a:spcPct val="0"/>
              </a:spcBef>
              <a:spcAft>
                <a:spcPct val="0"/>
              </a:spcAft>
            </a:pPr>
            <a:r>
              <a:rPr lang="en-US" altLang="en-US" sz="1200"/>
              <a:t>Separate handling for:</a:t>
            </a:r>
          </a:p>
          <a:p>
            <a:pPr lvl="2" defTabSz="914400" eaLnBrk="0" fontAlgn="base" hangingPunct="0">
              <a:spcBef>
                <a:spcPct val="0"/>
              </a:spcBef>
              <a:spcAft>
                <a:spcPct val="0"/>
              </a:spcAft>
            </a:pPr>
            <a:r>
              <a:rPr lang="en-US" altLang="en-US" sz="1200" b="1"/>
              <a:t>Expedite (critical/compliance)</a:t>
            </a:r>
            <a:endParaRPr lang="en-US" altLang="en-US" sz="1200"/>
          </a:p>
          <a:p>
            <a:pPr lvl="2" defTabSz="914400" eaLnBrk="0" fontAlgn="base" hangingPunct="0">
              <a:spcBef>
                <a:spcPct val="0"/>
              </a:spcBef>
              <a:spcAft>
                <a:spcPct val="0"/>
              </a:spcAft>
            </a:pPr>
            <a:r>
              <a:rPr lang="en-US" altLang="en-US" sz="1200" b="1"/>
              <a:t>Fixed Date (upgrades)</a:t>
            </a:r>
            <a:endParaRPr lang="en-US" altLang="en-US" sz="1200"/>
          </a:p>
          <a:p>
            <a:pPr lvl="2" defTabSz="914400" eaLnBrk="0" fontAlgn="base" hangingPunct="0">
              <a:spcBef>
                <a:spcPct val="0"/>
              </a:spcBef>
              <a:spcAft>
                <a:spcPct val="0"/>
              </a:spcAft>
            </a:pPr>
            <a:r>
              <a:rPr lang="en-US" altLang="en-US" sz="1200" b="1"/>
              <a:t>Standard (build work)</a:t>
            </a:r>
            <a:endParaRPr lang="en-US" altLang="en-US" sz="1200"/>
          </a:p>
          <a:p>
            <a:pPr lvl="2" defTabSz="914400" eaLnBrk="0" fontAlgn="base" hangingPunct="0">
              <a:spcBef>
                <a:spcPct val="0"/>
              </a:spcBef>
              <a:spcAft>
                <a:spcPct val="0"/>
              </a:spcAft>
            </a:pPr>
            <a:r>
              <a:rPr lang="en-US" altLang="en-US" sz="1200" b="1"/>
              <a:t>Intangible (improvements)</a:t>
            </a:r>
            <a:endParaRPr lang="en-US" altLang="en-US" sz="1200"/>
          </a:p>
          <a:p>
            <a:pPr lvl="0" defTabSz="914400" eaLnBrk="0" fontAlgn="base" hangingPunct="0">
              <a:spcBef>
                <a:spcPct val="0"/>
              </a:spcBef>
              <a:spcAft>
                <a:spcPct val="0"/>
              </a:spcAft>
            </a:pPr>
            <a:r>
              <a:rPr lang="en-US" altLang="en-US" sz="1200" b="1"/>
              <a:t>Capacity Allocation Policies</a:t>
            </a:r>
            <a:endParaRPr lang="en-US" altLang="en-US" sz="1200"/>
          </a:p>
          <a:p>
            <a:pPr lvl="1" defTabSz="914400" eaLnBrk="0" fontAlgn="base" hangingPunct="0">
              <a:spcBef>
                <a:spcPct val="0"/>
              </a:spcBef>
              <a:spcAft>
                <a:spcPct val="0"/>
              </a:spcAft>
            </a:pPr>
            <a:r>
              <a:rPr lang="en-US" altLang="en-US" sz="1200"/>
              <a:t>Protect capacity for </a:t>
            </a:r>
            <a:r>
              <a:rPr lang="en-US" altLang="en-US" sz="1200" b="1"/>
              <a:t>BAU vs. strategic work</a:t>
            </a:r>
            <a:endParaRPr lang="en-US" altLang="en-US" sz="1200"/>
          </a:p>
          <a:p>
            <a:pPr lvl="1" defTabSz="914400" eaLnBrk="0" fontAlgn="base" hangingPunct="0">
              <a:spcBef>
                <a:spcPct val="0"/>
              </a:spcBef>
              <a:spcAft>
                <a:spcPct val="0"/>
              </a:spcAft>
            </a:pPr>
            <a:r>
              <a:rPr lang="en-US" altLang="en-US" sz="1200"/>
              <a:t>Reduce interruptions and overload</a:t>
            </a:r>
          </a:p>
          <a:p>
            <a:pPr lvl="0" defTabSz="914400" eaLnBrk="0" fontAlgn="base" hangingPunct="0">
              <a:spcBef>
                <a:spcPct val="0"/>
              </a:spcBef>
              <a:spcAft>
                <a:spcPct val="0"/>
              </a:spcAft>
            </a:pPr>
            <a:r>
              <a:rPr lang="en-US" altLang="en-US" sz="1200" b="1"/>
              <a:t>Continuous Reprioritization</a:t>
            </a:r>
            <a:endParaRPr lang="en-US" altLang="en-US" sz="1200"/>
          </a:p>
          <a:p>
            <a:pPr lvl="1" defTabSz="914400" eaLnBrk="0" fontAlgn="base" hangingPunct="0">
              <a:spcBef>
                <a:spcPct val="0"/>
              </a:spcBef>
              <a:spcAft>
                <a:spcPct val="0"/>
              </a:spcAft>
            </a:pPr>
            <a:r>
              <a:rPr lang="en-US" altLang="en-US" sz="1200"/>
              <a:t>Dynamic adjustment based on demand and capacity</a:t>
            </a:r>
          </a:p>
          <a:p>
            <a:pPr lvl="1" defTabSz="914400" eaLnBrk="0" fontAlgn="base" hangingPunct="0">
              <a:spcBef>
                <a:spcPct val="0"/>
              </a:spcBef>
              <a:spcAft>
                <a:spcPct val="0"/>
              </a:spcAft>
            </a:pPr>
            <a:r>
              <a:rPr lang="en-US" altLang="en-US" sz="1200"/>
              <a:t>Supports real-time decision making</a:t>
            </a:r>
          </a:p>
          <a:p>
            <a:pPr lvl="0" defTabSz="914400" eaLnBrk="0" fontAlgn="base" hangingPunct="0">
              <a:spcBef>
                <a:spcPct val="0"/>
              </a:spcBef>
              <a:spcAft>
                <a:spcPct val="0"/>
              </a:spcAft>
            </a:pPr>
            <a:endParaRPr lang="en-US" altLang="en-US" sz="1200"/>
          </a:p>
        </p:txBody>
      </p:sp>
      <p:sp>
        <p:nvSpPr>
          <p:cNvPr id="28" name="TextBox 27">
            <a:extLst>
              <a:ext uri="{FF2B5EF4-FFF2-40B4-BE49-F238E27FC236}">
                <a16:creationId xmlns:a16="http://schemas.microsoft.com/office/drawing/2014/main" id="{F77927A0-F9B7-A30B-5B81-A3D69A13B46D}"/>
              </a:ext>
            </a:extLst>
          </p:cNvPr>
          <p:cNvSpPr txBox="1"/>
          <p:nvPr/>
        </p:nvSpPr>
        <p:spPr>
          <a:xfrm>
            <a:off x="457200" y="6483096"/>
            <a:ext cx="7315200" cy="237744"/>
          </a:xfrm>
          <a:prstGeom prst="rect">
            <a:avLst/>
          </a:prstGeom>
          <a:noFill/>
        </p:spPr>
        <p:txBody>
          <a:bodyPr wrap="square">
            <a:spAutoFit/>
          </a:bodyPr>
          <a:lstStyle/>
          <a:p>
            <a:pPr algn="l">
              <a:defRPr sz="800" b="0" i="0">
                <a:solidFill>
                  <a:srgbClr val="FFFFFF"/>
                </a:solidFill>
                <a:latin typeface="Calibri"/>
              </a:defRPr>
            </a:pPr>
            <a:r>
              <a:t>© 2026 NTT DATA, Inc.  |  Confidential  |  NextGen DTO</a:t>
            </a:r>
          </a:p>
        </p:txBody>
      </p:sp>
      <p:sp>
        <p:nvSpPr>
          <p:cNvPr id="29" name="TextBox 28">
            <a:extLst>
              <a:ext uri="{FF2B5EF4-FFF2-40B4-BE49-F238E27FC236}">
                <a16:creationId xmlns:a16="http://schemas.microsoft.com/office/drawing/2014/main" id="{57E50B36-73A6-481C-71CB-D173CB1259A2}"/>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9</a:t>
            </a:r>
          </a:p>
        </p:txBody>
      </p:sp>
      <p:sp>
        <p:nvSpPr>
          <p:cNvPr id="30" name="Rounded Rectangle 6">
            <a:extLst>
              <a:ext uri="{FF2B5EF4-FFF2-40B4-BE49-F238E27FC236}">
                <a16:creationId xmlns:a16="http://schemas.microsoft.com/office/drawing/2014/main" id="{551F15EB-9BE2-6FA6-B124-3DBB67AE4932}"/>
              </a:ext>
            </a:extLst>
          </p:cNvPr>
          <p:cNvSpPr/>
          <p:nvPr/>
        </p:nvSpPr>
        <p:spPr>
          <a:xfrm>
            <a:off x="457201" y="5182312"/>
            <a:ext cx="7132320" cy="1005507"/>
          </a:xfrm>
          <a:prstGeom prst="roundRect">
            <a:avLst>
              <a:gd name="adj" fmla="val 8584"/>
            </a:avLst>
          </a:prstGeom>
          <a:solidFill>
            <a:srgbClr val="F5F7FA"/>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DC7F3EFF-EC81-708E-94F5-1A15118FF0EB}"/>
              </a:ext>
            </a:extLst>
          </p:cNvPr>
          <p:cNvSpPr txBox="1"/>
          <p:nvPr/>
        </p:nvSpPr>
        <p:spPr>
          <a:xfrm>
            <a:off x="594360" y="5165754"/>
            <a:ext cx="6766561" cy="1015663"/>
          </a:xfrm>
          <a:prstGeom prst="rect">
            <a:avLst/>
          </a:prstGeom>
          <a:noFill/>
        </p:spPr>
        <p:txBody>
          <a:bodyPr wrap="square">
            <a:spAutoFit/>
          </a:bodyPr>
          <a:lstStyle/>
          <a:p>
            <a:r>
              <a:rPr lang="en-US" sz="1200" b="1"/>
              <a:t>Business Impact</a:t>
            </a:r>
          </a:p>
          <a:p>
            <a:pPr marL="171450" indent="-171450">
              <a:buFont typeface="Arial" panose="020B0604020202020204" pitchFamily="34" charset="0"/>
              <a:buChar char="•"/>
            </a:pPr>
            <a:r>
              <a:rPr lang="en-US" sz="1200"/>
              <a:t>Clear, transparent </a:t>
            </a:r>
            <a:r>
              <a:rPr lang="en-US" sz="1200" b="1"/>
              <a:t>decision-making framework</a:t>
            </a:r>
          </a:p>
          <a:p>
            <a:pPr marL="171450" indent="-171450">
              <a:buFont typeface="Arial" panose="020B0604020202020204" pitchFamily="34" charset="0"/>
              <a:buChar char="•"/>
            </a:pPr>
            <a:r>
              <a:rPr lang="en-US" sz="1200"/>
              <a:t>Alignment of work to </a:t>
            </a:r>
            <a:r>
              <a:rPr lang="en-US" sz="1200" b="1"/>
              <a:t>business value and urgency</a:t>
            </a:r>
          </a:p>
          <a:p>
            <a:pPr marL="171450" indent="-171450">
              <a:buFont typeface="Arial" panose="020B0604020202020204" pitchFamily="34" charset="0"/>
              <a:buChar char="•"/>
            </a:pPr>
            <a:r>
              <a:rPr lang="en-US" sz="1200"/>
              <a:t>Reduced interruptions and priority conflicts</a:t>
            </a:r>
          </a:p>
          <a:p>
            <a:pPr marL="171450" indent="-171450">
              <a:buFont typeface="Arial" panose="020B0604020202020204" pitchFamily="34" charset="0"/>
              <a:buChar char="•"/>
            </a:pPr>
            <a:r>
              <a:rPr lang="en-US" sz="1200"/>
              <a:t>Improved </a:t>
            </a:r>
            <a:r>
              <a:rPr lang="en-US" sz="1200" b="1"/>
              <a:t>flow, focus, and delivery predictability</a:t>
            </a:r>
            <a:endParaRPr lang="en-US" sz="1200"/>
          </a:p>
        </p:txBody>
      </p:sp>
      <p:sp>
        <p:nvSpPr>
          <p:cNvPr id="4" name="Título 2">
            <a:extLst>
              <a:ext uri="{FF2B5EF4-FFF2-40B4-BE49-F238E27FC236}">
                <a16:creationId xmlns:a16="http://schemas.microsoft.com/office/drawing/2014/main" id="{A83A1BC5-E3D3-2FDD-766E-5B2B134D0331}"/>
              </a:ext>
            </a:extLst>
          </p:cNvPr>
          <p:cNvSpPr txBox="1">
            <a:spLocks/>
          </p:cNvSpPr>
          <p:nvPr/>
        </p:nvSpPr>
        <p:spPr>
          <a:xfrm>
            <a:off x="180918" y="127319"/>
            <a:ext cx="9376968"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KEY FINDINGS: CURRENT GAPS &amp; LEAN KANBAN APPROACH</a:t>
            </a:r>
          </a:p>
        </p:txBody>
      </p:sp>
    </p:spTree>
    <p:extLst>
      <p:ext uri="{BB962C8B-B14F-4D97-AF65-F5344CB8AC3E}">
        <p14:creationId xmlns:p14="http://schemas.microsoft.com/office/powerpoint/2010/main" val="25566733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D32B-8044-3207-D664-8DAC8719BD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C90A71-2054-52A8-F600-264D5EFD3C70}"/>
              </a:ext>
            </a:extLst>
          </p:cNvPr>
          <p:cNvSpPr txBox="1"/>
          <p:nvPr/>
        </p:nvSpPr>
        <p:spPr>
          <a:xfrm>
            <a:off x="350672" y="40410"/>
            <a:ext cx="11460175" cy="467820"/>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rPr>
              <a:t>VALUE STREAM = SQUAD </a:t>
            </a:r>
          </a:p>
        </p:txBody>
      </p:sp>
      <p:sp>
        <p:nvSpPr>
          <p:cNvPr id="4" name="TextBox 3">
            <a:extLst>
              <a:ext uri="{FF2B5EF4-FFF2-40B4-BE49-F238E27FC236}">
                <a16:creationId xmlns:a16="http://schemas.microsoft.com/office/drawing/2014/main" id="{65796BD0-560A-3744-B939-1EF9BD129C70}"/>
              </a:ext>
            </a:extLst>
          </p:cNvPr>
          <p:cNvSpPr txBox="1"/>
          <p:nvPr/>
        </p:nvSpPr>
        <p:spPr>
          <a:xfrm>
            <a:off x="365760" y="478542"/>
            <a:ext cx="11460175" cy="313932"/>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Arial"/>
              </a:rPr>
              <a:t>TWO-LEVEL WORK MODEL WITH EPIC AS EXCEPTION</a:t>
            </a:r>
          </a:p>
        </p:txBody>
      </p:sp>
      <p:sp>
        <p:nvSpPr>
          <p:cNvPr id="2" name="Rounded Rectangle 5">
            <a:extLst>
              <a:ext uri="{FF2B5EF4-FFF2-40B4-BE49-F238E27FC236}">
                <a16:creationId xmlns:a16="http://schemas.microsoft.com/office/drawing/2014/main" id="{92983057-4293-E6B7-047B-E280E70DAB93}"/>
              </a:ext>
            </a:extLst>
          </p:cNvPr>
          <p:cNvSpPr/>
          <p:nvPr/>
        </p:nvSpPr>
        <p:spPr>
          <a:xfrm>
            <a:off x="457200" y="1005840"/>
            <a:ext cx="11277295" cy="1280160"/>
          </a:xfrm>
          <a:prstGeom prst="roundRect">
            <a:avLst>
              <a:gd name="adj" fmla="val 5000"/>
            </a:avLst>
          </a:prstGeom>
          <a:no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6">
            <a:extLst>
              <a:ext uri="{FF2B5EF4-FFF2-40B4-BE49-F238E27FC236}">
                <a16:creationId xmlns:a16="http://schemas.microsoft.com/office/drawing/2014/main" id="{5F80EFDA-DC64-4BBA-4622-953823A9E828}"/>
              </a:ext>
            </a:extLst>
          </p:cNvPr>
          <p:cNvSpPr txBox="1"/>
          <p:nvPr/>
        </p:nvSpPr>
        <p:spPr>
          <a:xfrm>
            <a:off x="640080" y="1097280"/>
            <a:ext cx="10911535" cy="292608"/>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F1C50"/>
                </a:solidFill>
                <a:effectLst/>
                <a:uLnTx/>
                <a:uFillTx/>
                <a:latin typeface="Arial"/>
                <a:ea typeface="+mn-ea"/>
                <a:cs typeface="+mn-cs"/>
              </a:rPr>
              <a:t>VALUE STREAM = SQUAD</a:t>
            </a:r>
          </a:p>
        </p:txBody>
      </p:sp>
      <p:sp>
        <p:nvSpPr>
          <p:cNvPr id="7" name="TextBox 7">
            <a:extLst>
              <a:ext uri="{FF2B5EF4-FFF2-40B4-BE49-F238E27FC236}">
                <a16:creationId xmlns:a16="http://schemas.microsoft.com/office/drawing/2014/main" id="{582368B5-3A9A-FFB2-67C8-F2FC31E97052}"/>
              </a:ext>
            </a:extLst>
          </p:cNvPr>
          <p:cNvSpPr txBox="1"/>
          <p:nvPr/>
        </p:nvSpPr>
        <p:spPr>
          <a:xfrm>
            <a:off x="640080" y="1389888"/>
            <a:ext cx="10911535" cy="375487"/>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2C3E50"/>
                </a:solidFill>
                <a:effectLst/>
                <a:uLnTx/>
                <a:uFillTx/>
                <a:latin typeface="Arial"/>
                <a:ea typeface="+mn-ea"/>
                <a:cs typeface="+mn-cs"/>
              </a:rPr>
              <a:t>Each Value Stream Crew is a permanent, multi-functional Squad — single-product ownership, stable composition, ≈3–5 Avangrid FTE (Product Manager · Tech Lead · BA · SMEs) plus a vendor extension that does the actual delivery. The Squad owns its product backlog and operates one Team Kanban.</a:t>
            </a:r>
          </a:p>
        </p:txBody>
      </p:sp>
      <p:sp>
        <p:nvSpPr>
          <p:cNvPr id="8" name="Rounded Rectangle 8">
            <a:extLst>
              <a:ext uri="{FF2B5EF4-FFF2-40B4-BE49-F238E27FC236}">
                <a16:creationId xmlns:a16="http://schemas.microsoft.com/office/drawing/2014/main" id="{C3582521-C862-0C57-B218-50507DC374B9}"/>
              </a:ext>
            </a:extLst>
          </p:cNvPr>
          <p:cNvSpPr/>
          <p:nvPr/>
        </p:nvSpPr>
        <p:spPr>
          <a:xfrm>
            <a:off x="457200" y="2486890"/>
            <a:ext cx="5669280" cy="3913909"/>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9">
            <a:extLst>
              <a:ext uri="{FF2B5EF4-FFF2-40B4-BE49-F238E27FC236}">
                <a16:creationId xmlns:a16="http://schemas.microsoft.com/office/drawing/2014/main" id="{CCC99C3B-EC05-A7BE-9ECE-DC88FA674F09}"/>
              </a:ext>
            </a:extLst>
          </p:cNvPr>
          <p:cNvSpPr/>
          <p:nvPr/>
        </p:nvSpPr>
        <p:spPr>
          <a:xfrm>
            <a:off x="450273" y="2468880"/>
            <a:ext cx="5694217" cy="50292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0CD7CDFA-B176-AE3C-9D9A-6403CF039C03}"/>
              </a:ext>
            </a:extLst>
          </p:cNvPr>
          <p:cNvSpPr txBox="1"/>
          <p:nvPr/>
        </p:nvSpPr>
        <p:spPr>
          <a:xfrm>
            <a:off x="457200" y="2514600"/>
            <a:ext cx="5669280" cy="41148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DEFAULT FLOW  ·  Initiative → Story</a:t>
            </a:r>
          </a:p>
        </p:txBody>
      </p:sp>
      <p:sp>
        <p:nvSpPr>
          <p:cNvPr id="11" name="Rounded Rectangle 11">
            <a:extLst>
              <a:ext uri="{FF2B5EF4-FFF2-40B4-BE49-F238E27FC236}">
                <a16:creationId xmlns:a16="http://schemas.microsoft.com/office/drawing/2014/main" id="{F2F30352-3333-5E88-9C8D-3926F47C3DF9}"/>
              </a:ext>
            </a:extLst>
          </p:cNvPr>
          <p:cNvSpPr/>
          <p:nvPr/>
        </p:nvSpPr>
        <p:spPr>
          <a:xfrm>
            <a:off x="823238" y="3200400"/>
            <a:ext cx="5028922" cy="914400"/>
          </a:xfrm>
          <a:prstGeom prst="roundRect">
            <a:avLst>
              <a:gd name="adj" fmla="val 5000"/>
            </a:avLst>
          </a:prstGeom>
          <a:no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E53CA9E9-38DA-C80A-054F-CC036A8335D7}"/>
              </a:ext>
            </a:extLst>
          </p:cNvPr>
          <p:cNvSpPr txBox="1"/>
          <p:nvPr/>
        </p:nvSpPr>
        <p:spPr>
          <a:xfrm>
            <a:off x="868680" y="3273552"/>
            <a:ext cx="4846320" cy="221599"/>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6B3F"/>
                </a:solidFill>
                <a:effectLst/>
                <a:uLnTx/>
                <a:uFillTx/>
                <a:latin typeface="Arial"/>
                <a:ea typeface="+mn-ea"/>
                <a:cs typeface="+mn-cs"/>
              </a:rPr>
              <a:t>INITIATIVE</a:t>
            </a:r>
          </a:p>
        </p:txBody>
      </p:sp>
      <p:sp>
        <p:nvSpPr>
          <p:cNvPr id="13" name="TextBox 13">
            <a:extLst>
              <a:ext uri="{FF2B5EF4-FFF2-40B4-BE49-F238E27FC236}">
                <a16:creationId xmlns:a16="http://schemas.microsoft.com/office/drawing/2014/main" id="{F383841F-870B-C262-F2CB-C07F3EFF439A}"/>
              </a:ext>
            </a:extLst>
          </p:cNvPr>
          <p:cNvSpPr txBox="1"/>
          <p:nvPr/>
        </p:nvSpPr>
        <p:spPr>
          <a:xfrm>
            <a:off x="868680" y="3547872"/>
            <a:ext cx="4846320" cy="344710"/>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6B3F"/>
                </a:solidFill>
                <a:effectLst/>
                <a:uLnTx/>
                <a:uFillTx/>
                <a:latin typeface="Arial"/>
                <a:ea typeface="+mn-ea"/>
                <a:cs typeface="+mn-cs"/>
              </a:rPr>
              <a:t>Outcome at portfolio level · sized for ≤ 3 months · sponsor-approved · lives on the Portfolio Board</a:t>
            </a:r>
          </a:p>
        </p:txBody>
      </p:sp>
      <p:sp>
        <p:nvSpPr>
          <p:cNvPr id="14" name="TextBox 14">
            <a:extLst>
              <a:ext uri="{FF2B5EF4-FFF2-40B4-BE49-F238E27FC236}">
                <a16:creationId xmlns:a16="http://schemas.microsoft.com/office/drawing/2014/main" id="{E7864FA1-F234-39C4-A3C2-DC3B1AC05225}"/>
              </a:ext>
            </a:extLst>
          </p:cNvPr>
          <p:cNvSpPr txBox="1"/>
          <p:nvPr/>
        </p:nvSpPr>
        <p:spPr>
          <a:xfrm>
            <a:off x="2926080" y="4160520"/>
            <a:ext cx="548640"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2E7D32"/>
                </a:solidFill>
                <a:effectLst/>
                <a:uLnTx/>
                <a:uFillTx/>
                <a:latin typeface="Arial"/>
                <a:ea typeface="+mn-ea"/>
                <a:cs typeface="+mn-cs"/>
              </a:rPr>
              <a:t>▼</a:t>
            </a:r>
          </a:p>
        </p:txBody>
      </p:sp>
      <p:sp>
        <p:nvSpPr>
          <p:cNvPr id="15" name="Rounded Rectangle 15">
            <a:extLst>
              <a:ext uri="{FF2B5EF4-FFF2-40B4-BE49-F238E27FC236}">
                <a16:creationId xmlns:a16="http://schemas.microsoft.com/office/drawing/2014/main" id="{2AA94902-2DA5-E047-9F42-4152895D3AA0}"/>
              </a:ext>
            </a:extLst>
          </p:cNvPr>
          <p:cNvSpPr/>
          <p:nvPr/>
        </p:nvSpPr>
        <p:spPr>
          <a:xfrm>
            <a:off x="73152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799C23C2-0315-44F6-54A3-F78190294DE8}"/>
              </a:ext>
            </a:extLst>
          </p:cNvPr>
          <p:cNvSpPr txBox="1"/>
          <p:nvPr/>
        </p:nvSpPr>
        <p:spPr>
          <a:xfrm>
            <a:off x="73152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17" name="TextBox 17">
            <a:extLst>
              <a:ext uri="{FF2B5EF4-FFF2-40B4-BE49-F238E27FC236}">
                <a16:creationId xmlns:a16="http://schemas.microsoft.com/office/drawing/2014/main" id="{3EA98C9D-B0DA-7C90-88A5-0E433A1B1EF9}"/>
              </a:ext>
            </a:extLst>
          </p:cNvPr>
          <p:cNvSpPr txBox="1"/>
          <p:nvPr/>
        </p:nvSpPr>
        <p:spPr>
          <a:xfrm>
            <a:off x="73152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#1</a:t>
            </a:r>
          </a:p>
        </p:txBody>
      </p:sp>
      <p:sp>
        <p:nvSpPr>
          <p:cNvPr id="18" name="Rounded Rectangle 18">
            <a:extLst>
              <a:ext uri="{FF2B5EF4-FFF2-40B4-BE49-F238E27FC236}">
                <a16:creationId xmlns:a16="http://schemas.microsoft.com/office/drawing/2014/main" id="{3CC385A7-1B54-6473-5F25-8431B15CB418}"/>
              </a:ext>
            </a:extLst>
          </p:cNvPr>
          <p:cNvSpPr/>
          <p:nvPr/>
        </p:nvSpPr>
        <p:spPr>
          <a:xfrm>
            <a:off x="201168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DC6EC3A-BE09-3F65-B813-64C832ADED2F}"/>
              </a:ext>
            </a:extLst>
          </p:cNvPr>
          <p:cNvSpPr txBox="1"/>
          <p:nvPr/>
        </p:nvSpPr>
        <p:spPr>
          <a:xfrm>
            <a:off x="201168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0" name="TextBox 20">
            <a:extLst>
              <a:ext uri="{FF2B5EF4-FFF2-40B4-BE49-F238E27FC236}">
                <a16:creationId xmlns:a16="http://schemas.microsoft.com/office/drawing/2014/main" id="{4BFC278F-B11B-5C8B-838D-048711661266}"/>
              </a:ext>
            </a:extLst>
          </p:cNvPr>
          <p:cNvSpPr txBox="1"/>
          <p:nvPr/>
        </p:nvSpPr>
        <p:spPr>
          <a:xfrm>
            <a:off x="201168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#2</a:t>
            </a:r>
          </a:p>
        </p:txBody>
      </p:sp>
      <p:sp>
        <p:nvSpPr>
          <p:cNvPr id="21" name="Rounded Rectangle 21">
            <a:extLst>
              <a:ext uri="{FF2B5EF4-FFF2-40B4-BE49-F238E27FC236}">
                <a16:creationId xmlns:a16="http://schemas.microsoft.com/office/drawing/2014/main" id="{EF26B26C-CD07-9615-1EAC-187064C04FC6}"/>
              </a:ext>
            </a:extLst>
          </p:cNvPr>
          <p:cNvSpPr/>
          <p:nvPr/>
        </p:nvSpPr>
        <p:spPr>
          <a:xfrm>
            <a:off x="329184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2B671A95-261E-4A9A-596B-5D3CB6783189}"/>
              </a:ext>
            </a:extLst>
          </p:cNvPr>
          <p:cNvSpPr txBox="1"/>
          <p:nvPr/>
        </p:nvSpPr>
        <p:spPr>
          <a:xfrm>
            <a:off x="329184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3" name="TextBox 23">
            <a:extLst>
              <a:ext uri="{FF2B5EF4-FFF2-40B4-BE49-F238E27FC236}">
                <a16:creationId xmlns:a16="http://schemas.microsoft.com/office/drawing/2014/main" id="{3A2B9B9B-61F7-A9BB-6B85-FA4261CFD536}"/>
              </a:ext>
            </a:extLst>
          </p:cNvPr>
          <p:cNvSpPr txBox="1"/>
          <p:nvPr/>
        </p:nvSpPr>
        <p:spPr>
          <a:xfrm>
            <a:off x="329184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#3</a:t>
            </a:r>
          </a:p>
        </p:txBody>
      </p:sp>
      <p:sp>
        <p:nvSpPr>
          <p:cNvPr id="24" name="Rounded Rectangle 24">
            <a:extLst>
              <a:ext uri="{FF2B5EF4-FFF2-40B4-BE49-F238E27FC236}">
                <a16:creationId xmlns:a16="http://schemas.microsoft.com/office/drawing/2014/main" id="{9AF7D746-7A62-32FC-0D39-04BBC4C2B0A1}"/>
              </a:ext>
            </a:extLst>
          </p:cNvPr>
          <p:cNvSpPr/>
          <p:nvPr/>
        </p:nvSpPr>
        <p:spPr>
          <a:xfrm>
            <a:off x="457200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79C72ABA-3EF5-921E-2378-0410B008720D}"/>
              </a:ext>
            </a:extLst>
          </p:cNvPr>
          <p:cNvSpPr txBox="1"/>
          <p:nvPr/>
        </p:nvSpPr>
        <p:spPr>
          <a:xfrm>
            <a:off x="457200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6" name="TextBox 26">
            <a:extLst>
              <a:ext uri="{FF2B5EF4-FFF2-40B4-BE49-F238E27FC236}">
                <a16:creationId xmlns:a16="http://schemas.microsoft.com/office/drawing/2014/main" id="{3C84FBCD-378D-2B96-3557-05EED1DFBDBC}"/>
              </a:ext>
            </a:extLst>
          </p:cNvPr>
          <p:cNvSpPr txBox="1"/>
          <p:nvPr/>
        </p:nvSpPr>
        <p:spPr>
          <a:xfrm>
            <a:off x="457200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#4</a:t>
            </a:r>
          </a:p>
        </p:txBody>
      </p:sp>
      <p:sp>
        <p:nvSpPr>
          <p:cNvPr id="27" name="TextBox 27">
            <a:extLst>
              <a:ext uri="{FF2B5EF4-FFF2-40B4-BE49-F238E27FC236}">
                <a16:creationId xmlns:a16="http://schemas.microsoft.com/office/drawing/2014/main" id="{D1AF5BF5-6338-A78E-23DC-70BF3A7BD5C3}"/>
              </a:ext>
            </a:extLst>
          </p:cNvPr>
          <p:cNvSpPr txBox="1"/>
          <p:nvPr/>
        </p:nvSpPr>
        <p:spPr>
          <a:xfrm>
            <a:off x="731520" y="5349240"/>
            <a:ext cx="5120640" cy="457200"/>
          </a:xfrm>
          <a:prstGeom prst="rect">
            <a:avLst/>
          </a:prstGeom>
          <a:noFill/>
        </p:spPr>
        <p:txBody>
          <a:bodyPr wrap="square" lIns="45720" tIns="18288" rIns="45720" bIns="18288"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2C3E50"/>
                </a:solidFill>
                <a:effectLst/>
                <a:uLnTx/>
                <a:uFillTx/>
                <a:latin typeface="Arial"/>
                <a:ea typeface="+mn-ea"/>
                <a:cs typeface="+mn-cs"/>
              </a:rPr>
              <a:t>Stories live on the Team Kanban (the Squad's board) — pulled by capacity, small enough to finish in days/weeks.</a:t>
            </a:r>
          </a:p>
        </p:txBody>
      </p:sp>
      <p:sp>
        <p:nvSpPr>
          <p:cNvPr id="28" name="Rounded Rectangle 28">
            <a:extLst>
              <a:ext uri="{FF2B5EF4-FFF2-40B4-BE49-F238E27FC236}">
                <a16:creationId xmlns:a16="http://schemas.microsoft.com/office/drawing/2014/main" id="{3930EE8C-89E6-CD77-6F93-ACE3D22A8F73}"/>
              </a:ext>
            </a:extLst>
          </p:cNvPr>
          <p:cNvSpPr/>
          <p:nvPr/>
        </p:nvSpPr>
        <p:spPr>
          <a:xfrm>
            <a:off x="6263640" y="2499366"/>
            <a:ext cx="5470855" cy="3901434"/>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ectangle 29">
            <a:extLst>
              <a:ext uri="{FF2B5EF4-FFF2-40B4-BE49-F238E27FC236}">
                <a16:creationId xmlns:a16="http://schemas.microsoft.com/office/drawing/2014/main" id="{00F4E32D-B456-73D2-4FB2-555AD2B51466}"/>
              </a:ext>
            </a:extLst>
          </p:cNvPr>
          <p:cNvSpPr/>
          <p:nvPr/>
        </p:nvSpPr>
        <p:spPr>
          <a:xfrm>
            <a:off x="6213764" y="2468880"/>
            <a:ext cx="5541818" cy="50292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30">
            <a:extLst>
              <a:ext uri="{FF2B5EF4-FFF2-40B4-BE49-F238E27FC236}">
                <a16:creationId xmlns:a16="http://schemas.microsoft.com/office/drawing/2014/main" id="{4D751910-84D7-39CB-6D14-6590D89A5AAE}"/>
              </a:ext>
            </a:extLst>
          </p:cNvPr>
          <p:cNvSpPr txBox="1"/>
          <p:nvPr/>
        </p:nvSpPr>
        <p:spPr>
          <a:xfrm>
            <a:off x="6345382" y="2601846"/>
            <a:ext cx="5389113" cy="236988"/>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EXCEPTION  ·  Initiative &gt; 3 months → use Epics</a:t>
            </a:r>
          </a:p>
        </p:txBody>
      </p:sp>
      <p:sp>
        <p:nvSpPr>
          <p:cNvPr id="31" name="Rounded Rectangle 31">
            <a:extLst>
              <a:ext uri="{FF2B5EF4-FFF2-40B4-BE49-F238E27FC236}">
                <a16:creationId xmlns:a16="http://schemas.microsoft.com/office/drawing/2014/main" id="{1D16AD21-F9D7-C4D6-FE05-981DDD0239B3}"/>
              </a:ext>
            </a:extLst>
          </p:cNvPr>
          <p:cNvSpPr/>
          <p:nvPr/>
        </p:nvSpPr>
        <p:spPr>
          <a:xfrm>
            <a:off x="6446520" y="3154680"/>
            <a:ext cx="5105095" cy="502920"/>
          </a:xfrm>
          <a:prstGeom prst="roundRect">
            <a:avLst>
              <a:gd name="adj" fmla="val 5000"/>
            </a:avLst>
          </a:prstGeom>
          <a:no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2">
            <a:extLst>
              <a:ext uri="{FF2B5EF4-FFF2-40B4-BE49-F238E27FC236}">
                <a16:creationId xmlns:a16="http://schemas.microsoft.com/office/drawing/2014/main" id="{57282E8E-1985-4EB4-3DFA-7F0C6E83F3DB}"/>
              </a:ext>
            </a:extLst>
          </p:cNvPr>
          <p:cNvSpPr txBox="1"/>
          <p:nvPr/>
        </p:nvSpPr>
        <p:spPr>
          <a:xfrm>
            <a:off x="6537960" y="3306882"/>
            <a:ext cx="5013655" cy="198516"/>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6B3F"/>
                </a:solidFill>
                <a:effectLst/>
                <a:uLnTx/>
                <a:uFillTx/>
                <a:latin typeface="Arial"/>
                <a:ea typeface="+mn-ea"/>
                <a:cs typeface="+mn-cs"/>
              </a:rPr>
              <a:t>INITIATIVE  (large · multi-quarter)</a:t>
            </a:r>
          </a:p>
        </p:txBody>
      </p:sp>
      <p:sp>
        <p:nvSpPr>
          <p:cNvPr id="33" name="TextBox 33">
            <a:extLst>
              <a:ext uri="{FF2B5EF4-FFF2-40B4-BE49-F238E27FC236}">
                <a16:creationId xmlns:a16="http://schemas.microsoft.com/office/drawing/2014/main" id="{74853707-B63E-FBEC-51B5-B2DAA00ECBAF}"/>
              </a:ext>
            </a:extLst>
          </p:cNvPr>
          <p:cNvSpPr txBox="1"/>
          <p:nvPr/>
        </p:nvSpPr>
        <p:spPr>
          <a:xfrm>
            <a:off x="8816187" y="3703320"/>
            <a:ext cx="365760" cy="27432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E88B2F"/>
                </a:solidFill>
                <a:effectLst/>
                <a:uLnTx/>
                <a:uFillTx/>
                <a:latin typeface="Arial"/>
                <a:ea typeface="+mn-ea"/>
                <a:cs typeface="+mn-cs"/>
              </a:rPr>
              <a:t>▼</a:t>
            </a:r>
          </a:p>
        </p:txBody>
      </p:sp>
      <p:sp>
        <p:nvSpPr>
          <p:cNvPr id="34" name="Rounded Rectangle 34">
            <a:extLst>
              <a:ext uri="{FF2B5EF4-FFF2-40B4-BE49-F238E27FC236}">
                <a16:creationId xmlns:a16="http://schemas.microsoft.com/office/drawing/2014/main" id="{CDD60B6B-C6AF-83C5-3578-53BE4E1AA331}"/>
              </a:ext>
            </a:extLst>
          </p:cNvPr>
          <p:cNvSpPr/>
          <p:nvPr/>
        </p:nvSpPr>
        <p:spPr>
          <a:xfrm>
            <a:off x="6446520"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5">
            <a:extLst>
              <a:ext uri="{FF2B5EF4-FFF2-40B4-BE49-F238E27FC236}">
                <a16:creationId xmlns:a16="http://schemas.microsoft.com/office/drawing/2014/main" id="{10DD1E98-0DB4-551D-319E-EA61F73FF492}"/>
              </a:ext>
            </a:extLst>
          </p:cNvPr>
          <p:cNvSpPr txBox="1"/>
          <p:nvPr/>
        </p:nvSpPr>
        <p:spPr>
          <a:xfrm>
            <a:off x="6446520" y="4160396"/>
            <a:ext cx="1549297"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#1</a:t>
            </a:r>
          </a:p>
        </p:txBody>
      </p:sp>
      <p:sp>
        <p:nvSpPr>
          <p:cNvPr id="36" name="Rounded Rectangle 36">
            <a:extLst>
              <a:ext uri="{FF2B5EF4-FFF2-40B4-BE49-F238E27FC236}">
                <a16:creationId xmlns:a16="http://schemas.microsoft.com/office/drawing/2014/main" id="{81729F4C-101F-BA6C-A1A7-5FA8AF523757}"/>
              </a:ext>
            </a:extLst>
          </p:cNvPr>
          <p:cNvSpPr/>
          <p:nvPr/>
        </p:nvSpPr>
        <p:spPr>
          <a:xfrm>
            <a:off x="8178698"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F2D3D2E6-2D47-44E6-80AF-11A197C3FDE1}"/>
              </a:ext>
            </a:extLst>
          </p:cNvPr>
          <p:cNvSpPr txBox="1"/>
          <p:nvPr/>
        </p:nvSpPr>
        <p:spPr>
          <a:xfrm>
            <a:off x="8178698" y="4160396"/>
            <a:ext cx="1549297"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#2</a:t>
            </a:r>
          </a:p>
        </p:txBody>
      </p:sp>
      <p:sp>
        <p:nvSpPr>
          <p:cNvPr id="38" name="Rounded Rectangle 38">
            <a:extLst>
              <a:ext uri="{FF2B5EF4-FFF2-40B4-BE49-F238E27FC236}">
                <a16:creationId xmlns:a16="http://schemas.microsoft.com/office/drawing/2014/main" id="{D0B6A67C-C6C6-91F0-29FB-13AD6810D9BF}"/>
              </a:ext>
            </a:extLst>
          </p:cNvPr>
          <p:cNvSpPr/>
          <p:nvPr/>
        </p:nvSpPr>
        <p:spPr>
          <a:xfrm>
            <a:off x="9910876"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TextBox 39">
            <a:extLst>
              <a:ext uri="{FF2B5EF4-FFF2-40B4-BE49-F238E27FC236}">
                <a16:creationId xmlns:a16="http://schemas.microsoft.com/office/drawing/2014/main" id="{755AFE65-8BED-6537-FA92-093C7E325BCB}"/>
              </a:ext>
            </a:extLst>
          </p:cNvPr>
          <p:cNvSpPr txBox="1"/>
          <p:nvPr/>
        </p:nvSpPr>
        <p:spPr>
          <a:xfrm>
            <a:off x="9910876" y="4160396"/>
            <a:ext cx="1558538"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#3</a:t>
            </a:r>
          </a:p>
        </p:txBody>
      </p:sp>
      <p:sp>
        <p:nvSpPr>
          <p:cNvPr id="40" name="TextBox 40">
            <a:extLst>
              <a:ext uri="{FF2B5EF4-FFF2-40B4-BE49-F238E27FC236}">
                <a16:creationId xmlns:a16="http://schemas.microsoft.com/office/drawing/2014/main" id="{85C0A438-ABF2-DD31-E775-291978F954D2}"/>
              </a:ext>
            </a:extLst>
          </p:cNvPr>
          <p:cNvSpPr txBox="1"/>
          <p:nvPr/>
        </p:nvSpPr>
        <p:spPr>
          <a:xfrm>
            <a:off x="8816187" y="4526280"/>
            <a:ext cx="365760" cy="27432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2E7D32"/>
                </a:solidFill>
                <a:effectLst/>
                <a:uLnTx/>
                <a:uFillTx/>
                <a:latin typeface="Arial"/>
                <a:ea typeface="+mn-ea"/>
                <a:cs typeface="+mn-cs"/>
              </a:rPr>
              <a:t>▼</a:t>
            </a:r>
          </a:p>
        </p:txBody>
      </p:sp>
      <p:sp>
        <p:nvSpPr>
          <p:cNvPr id="41" name="Rounded Rectangle 41">
            <a:extLst>
              <a:ext uri="{FF2B5EF4-FFF2-40B4-BE49-F238E27FC236}">
                <a16:creationId xmlns:a16="http://schemas.microsoft.com/office/drawing/2014/main" id="{6E2396C8-A445-E8FD-9983-BBA038B692B7}"/>
              </a:ext>
            </a:extLst>
          </p:cNvPr>
          <p:cNvSpPr/>
          <p:nvPr/>
        </p:nvSpPr>
        <p:spPr>
          <a:xfrm>
            <a:off x="6446520"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Box 42">
            <a:extLst>
              <a:ext uri="{FF2B5EF4-FFF2-40B4-BE49-F238E27FC236}">
                <a16:creationId xmlns:a16="http://schemas.microsoft.com/office/drawing/2014/main" id="{DC3CAC99-195F-E477-66AE-97D6EE801601}"/>
              </a:ext>
            </a:extLst>
          </p:cNvPr>
          <p:cNvSpPr txBox="1"/>
          <p:nvPr/>
        </p:nvSpPr>
        <p:spPr>
          <a:xfrm>
            <a:off x="6446520"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3" name="Rounded Rectangle 43">
            <a:extLst>
              <a:ext uri="{FF2B5EF4-FFF2-40B4-BE49-F238E27FC236}">
                <a16:creationId xmlns:a16="http://schemas.microsoft.com/office/drawing/2014/main" id="{061E230A-21C7-5C2C-0A03-B164A428F013}"/>
              </a:ext>
            </a:extLst>
          </p:cNvPr>
          <p:cNvSpPr/>
          <p:nvPr/>
        </p:nvSpPr>
        <p:spPr>
          <a:xfrm>
            <a:off x="7306513"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462E7717-C10D-FA52-BA74-9118E9BCCDD8}"/>
              </a:ext>
            </a:extLst>
          </p:cNvPr>
          <p:cNvSpPr txBox="1"/>
          <p:nvPr/>
        </p:nvSpPr>
        <p:spPr>
          <a:xfrm>
            <a:off x="7306513"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5" name="Rounded Rectangle 45">
            <a:extLst>
              <a:ext uri="{FF2B5EF4-FFF2-40B4-BE49-F238E27FC236}">
                <a16:creationId xmlns:a16="http://schemas.microsoft.com/office/drawing/2014/main" id="{F8BA1481-AA0A-82B0-D632-7F5F6E0BA4DE}"/>
              </a:ext>
            </a:extLst>
          </p:cNvPr>
          <p:cNvSpPr/>
          <p:nvPr/>
        </p:nvSpPr>
        <p:spPr>
          <a:xfrm>
            <a:off x="8166506"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D43193DF-4C00-2154-E618-66DF8344559A}"/>
              </a:ext>
            </a:extLst>
          </p:cNvPr>
          <p:cNvSpPr txBox="1"/>
          <p:nvPr/>
        </p:nvSpPr>
        <p:spPr>
          <a:xfrm>
            <a:off x="8166506"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7" name="Rounded Rectangle 47">
            <a:extLst>
              <a:ext uri="{FF2B5EF4-FFF2-40B4-BE49-F238E27FC236}">
                <a16:creationId xmlns:a16="http://schemas.microsoft.com/office/drawing/2014/main" id="{CEE2304F-1114-E8B7-3E74-339D2A761891}"/>
              </a:ext>
            </a:extLst>
          </p:cNvPr>
          <p:cNvSpPr/>
          <p:nvPr/>
        </p:nvSpPr>
        <p:spPr>
          <a:xfrm>
            <a:off x="9026499"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TextBox 48">
            <a:extLst>
              <a:ext uri="{FF2B5EF4-FFF2-40B4-BE49-F238E27FC236}">
                <a16:creationId xmlns:a16="http://schemas.microsoft.com/office/drawing/2014/main" id="{2A20025F-EDFF-A136-ACC8-8C3C983D32E5}"/>
              </a:ext>
            </a:extLst>
          </p:cNvPr>
          <p:cNvSpPr txBox="1"/>
          <p:nvPr/>
        </p:nvSpPr>
        <p:spPr>
          <a:xfrm>
            <a:off x="9026499"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9" name="Rounded Rectangle 49">
            <a:extLst>
              <a:ext uri="{FF2B5EF4-FFF2-40B4-BE49-F238E27FC236}">
                <a16:creationId xmlns:a16="http://schemas.microsoft.com/office/drawing/2014/main" id="{82D30E07-CB51-8FE6-AC6E-17C65F72BE22}"/>
              </a:ext>
            </a:extLst>
          </p:cNvPr>
          <p:cNvSpPr/>
          <p:nvPr/>
        </p:nvSpPr>
        <p:spPr>
          <a:xfrm>
            <a:off x="9886492" y="4892040"/>
            <a:ext cx="740843"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1ED52CC5-A125-AC4C-90AF-D2E9D9066EF4}"/>
              </a:ext>
            </a:extLst>
          </p:cNvPr>
          <p:cNvSpPr txBox="1"/>
          <p:nvPr/>
        </p:nvSpPr>
        <p:spPr>
          <a:xfrm>
            <a:off x="9950778"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51" name="Rounded Rectangle 51">
            <a:extLst>
              <a:ext uri="{FF2B5EF4-FFF2-40B4-BE49-F238E27FC236}">
                <a16:creationId xmlns:a16="http://schemas.microsoft.com/office/drawing/2014/main" id="{49B677DA-A031-7A5E-02F0-C3A3DE741275}"/>
              </a:ext>
            </a:extLst>
          </p:cNvPr>
          <p:cNvSpPr/>
          <p:nvPr/>
        </p:nvSpPr>
        <p:spPr>
          <a:xfrm>
            <a:off x="10746485"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64CCCA58-DF5C-71E1-8AAF-BAACD7EBFDED}"/>
              </a:ext>
            </a:extLst>
          </p:cNvPr>
          <p:cNvSpPr txBox="1"/>
          <p:nvPr/>
        </p:nvSpPr>
        <p:spPr>
          <a:xfrm>
            <a:off x="10746485"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53" name="TextBox 53">
            <a:extLst>
              <a:ext uri="{FF2B5EF4-FFF2-40B4-BE49-F238E27FC236}">
                <a16:creationId xmlns:a16="http://schemas.microsoft.com/office/drawing/2014/main" id="{4B163D9C-AD68-09F3-7A89-AA6F2E68BB38}"/>
              </a:ext>
            </a:extLst>
          </p:cNvPr>
          <p:cNvSpPr txBox="1"/>
          <p:nvPr/>
        </p:nvSpPr>
        <p:spPr>
          <a:xfrm>
            <a:off x="6446520" y="5394960"/>
            <a:ext cx="5105095" cy="640080"/>
          </a:xfrm>
          <a:prstGeom prst="rect">
            <a:avLst/>
          </a:prstGeom>
          <a:noFill/>
        </p:spPr>
        <p:txBody>
          <a:bodyPr wrap="square" lIns="45720" tIns="18288" rIns="45720" bIns="18288"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2C3E50"/>
                </a:solidFill>
                <a:effectLst/>
                <a:uLnTx/>
                <a:uFillTx/>
                <a:latin typeface="Arial"/>
                <a:ea typeface="+mn-ea"/>
                <a:cs typeface="+mn-cs"/>
              </a:rPr>
              <a:t>Epics slice an oversized Initiative into deliverable chunks. Stories under each Epic continue to live on the Team Kanban.</a:t>
            </a:r>
          </a:p>
        </p:txBody>
      </p:sp>
    </p:spTree>
    <p:extLst>
      <p:ext uri="{BB962C8B-B14F-4D97-AF65-F5344CB8AC3E}">
        <p14:creationId xmlns:p14="http://schemas.microsoft.com/office/powerpoint/2010/main" val="2995905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D688B-ED10-2BEE-D6CA-3441535CBF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D84010-584E-17B4-404E-AF2BDE69313A}"/>
              </a:ext>
            </a:extLst>
          </p:cNvPr>
          <p:cNvSpPr txBox="1"/>
          <p:nvPr/>
        </p:nvSpPr>
        <p:spPr>
          <a:xfrm>
            <a:off x="350672" y="40410"/>
            <a:ext cx="11460175" cy="467820"/>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rPr>
              <a:t>TEAM KANBAN</a:t>
            </a:r>
          </a:p>
        </p:txBody>
      </p:sp>
      <p:sp>
        <p:nvSpPr>
          <p:cNvPr id="4" name="TextBox 3">
            <a:extLst>
              <a:ext uri="{FF2B5EF4-FFF2-40B4-BE49-F238E27FC236}">
                <a16:creationId xmlns:a16="http://schemas.microsoft.com/office/drawing/2014/main" id="{7B62EE71-D817-7271-EDF1-963ED96AD118}"/>
              </a:ext>
            </a:extLst>
          </p:cNvPr>
          <p:cNvSpPr txBox="1"/>
          <p:nvPr/>
        </p:nvSpPr>
        <p:spPr>
          <a:xfrm>
            <a:off x="365760" y="478542"/>
            <a:ext cx="11460175" cy="313932"/>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Arial"/>
              </a:rPr>
              <a:t>FIVE PHASES BY TWO TRACKS · CARDS ARE STORIES PULLED BY CAPACITY</a:t>
            </a:r>
          </a:p>
        </p:txBody>
      </p:sp>
      <p:sp>
        <p:nvSpPr>
          <p:cNvPr id="6" name="Rectangle 6">
            <a:extLst>
              <a:ext uri="{FF2B5EF4-FFF2-40B4-BE49-F238E27FC236}">
                <a16:creationId xmlns:a16="http://schemas.microsoft.com/office/drawing/2014/main" id="{D1C8CE0A-3ED4-7850-AD03-855745516168}"/>
              </a:ext>
            </a:extLst>
          </p:cNvPr>
          <p:cNvSpPr/>
          <p:nvPr/>
        </p:nvSpPr>
        <p:spPr>
          <a:xfrm>
            <a:off x="1737360" y="1767833"/>
            <a:ext cx="1955535"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4" name="TextBox 7">
            <a:extLst>
              <a:ext uri="{FF2B5EF4-FFF2-40B4-BE49-F238E27FC236}">
                <a16:creationId xmlns:a16="http://schemas.microsoft.com/office/drawing/2014/main" id="{78CAF2A8-E849-E84A-24D3-F445C60B1A08}"/>
              </a:ext>
            </a:extLst>
          </p:cNvPr>
          <p:cNvSpPr txBox="1"/>
          <p:nvPr/>
        </p:nvSpPr>
        <p:spPr>
          <a:xfrm>
            <a:off x="1737360"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0</a:t>
            </a:r>
          </a:p>
        </p:txBody>
      </p:sp>
      <p:sp>
        <p:nvSpPr>
          <p:cNvPr id="55" name="TextBox 8">
            <a:extLst>
              <a:ext uri="{FF2B5EF4-FFF2-40B4-BE49-F238E27FC236}">
                <a16:creationId xmlns:a16="http://schemas.microsoft.com/office/drawing/2014/main" id="{672EEE7A-0BB6-E4A3-DD31-4F87A301934F}"/>
              </a:ext>
            </a:extLst>
          </p:cNvPr>
          <p:cNvSpPr txBox="1"/>
          <p:nvPr/>
        </p:nvSpPr>
        <p:spPr>
          <a:xfrm>
            <a:off x="1737360"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DISCOVERY</a:t>
            </a:r>
          </a:p>
        </p:txBody>
      </p:sp>
      <p:sp>
        <p:nvSpPr>
          <p:cNvPr id="56" name="Rectangle 9">
            <a:extLst>
              <a:ext uri="{FF2B5EF4-FFF2-40B4-BE49-F238E27FC236}">
                <a16:creationId xmlns:a16="http://schemas.microsoft.com/office/drawing/2014/main" id="{9D1EEC1A-A647-457C-190E-51EAA1D61E89}"/>
              </a:ext>
            </a:extLst>
          </p:cNvPr>
          <p:cNvSpPr/>
          <p:nvPr/>
        </p:nvSpPr>
        <p:spPr>
          <a:xfrm>
            <a:off x="1737360"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Rectangle 10">
            <a:extLst>
              <a:ext uri="{FF2B5EF4-FFF2-40B4-BE49-F238E27FC236}">
                <a16:creationId xmlns:a16="http://schemas.microsoft.com/office/drawing/2014/main" id="{A4DDEF87-2EEA-DBDF-0F3B-06EBB24A9285}"/>
              </a:ext>
            </a:extLst>
          </p:cNvPr>
          <p:cNvSpPr/>
          <p:nvPr/>
        </p:nvSpPr>
        <p:spPr>
          <a:xfrm>
            <a:off x="3747759" y="1767833"/>
            <a:ext cx="1955535"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8" name="TextBox 11">
            <a:extLst>
              <a:ext uri="{FF2B5EF4-FFF2-40B4-BE49-F238E27FC236}">
                <a16:creationId xmlns:a16="http://schemas.microsoft.com/office/drawing/2014/main" id="{EA155C0E-6B01-E616-7C9D-2B9667671315}"/>
              </a:ext>
            </a:extLst>
          </p:cNvPr>
          <p:cNvSpPr txBox="1"/>
          <p:nvPr/>
        </p:nvSpPr>
        <p:spPr>
          <a:xfrm>
            <a:off x="37477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1</a:t>
            </a:r>
          </a:p>
        </p:txBody>
      </p:sp>
      <p:sp>
        <p:nvSpPr>
          <p:cNvPr id="59" name="TextBox 12">
            <a:extLst>
              <a:ext uri="{FF2B5EF4-FFF2-40B4-BE49-F238E27FC236}">
                <a16:creationId xmlns:a16="http://schemas.microsoft.com/office/drawing/2014/main" id="{AFF8B3B5-62C3-D11B-8FA5-B51720E2F772}"/>
              </a:ext>
            </a:extLst>
          </p:cNvPr>
          <p:cNvSpPr txBox="1"/>
          <p:nvPr/>
        </p:nvSpPr>
        <p:spPr>
          <a:xfrm>
            <a:off x="37477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MATERIALIZATION</a:t>
            </a:r>
          </a:p>
        </p:txBody>
      </p:sp>
      <p:sp>
        <p:nvSpPr>
          <p:cNvPr id="60" name="Rectangle 13">
            <a:extLst>
              <a:ext uri="{FF2B5EF4-FFF2-40B4-BE49-F238E27FC236}">
                <a16:creationId xmlns:a16="http://schemas.microsoft.com/office/drawing/2014/main" id="{2E181262-15F3-6E3C-EA65-BD25E5B068B9}"/>
              </a:ext>
            </a:extLst>
          </p:cNvPr>
          <p:cNvSpPr/>
          <p:nvPr/>
        </p:nvSpPr>
        <p:spPr>
          <a:xfrm>
            <a:off x="37477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ectangle 14">
            <a:extLst>
              <a:ext uri="{FF2B5EF4-FFF2-40B4-BE49-F238E27FC236}">
                <a16:creationId xmlns:a16="http://schemas.microsoft.com/office/drawing/2014/main" id="{B65FEC48-2B9A-5177-CF63-B6850B7B9A96}"/>
              </a:ext>
            </a:extLst>
          </p:cNvPr>
          <p:cNvSpPr/>
          <p:nvPr/>
        </p:nvSpPr>
        <p:spPr>
          <a:xfrm>
            <a:off x="57581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TextBox 15">
            <a:extLst>
              <a:ext uri="{FF2B5EF4-FFF2-40B4-BE49-F238E27FC236}">
                <a16:creationId xmlns:a16="http://schemas.microsoft.com/office/drawing/2014/main" id="{311C572D-2345-4EF9-176E-0CD35E816512}"/>
              </a:ext>
            </a:extLst>
          </p:cNvPr>
          <p:cNvSpPr txBox="1"/>
          <p:nvPr/>
        </p:nvSpPr>
        <p:spPr>
          <a:xfrm>
            <a:off x="57581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2</a:t>
            </a:r>
          </a:p>
        </p:txBody>
      </p:sp>
      <p:sp>
        <p:nvSpPr>
          <p:cNvPr id="63" name="TextBox 16">
            <a:extLst>
              <a:ext uri="{FF2B5EF4-FFF2-40B4-BE49-F238E27FC236}">
                <a16:creationId xmlns:a16="http://schemas.microsoft.com/office/drawing/2014/main" id="{CA3327D4-4F10-0A46-71A1-42FCB6961B50}"/>
              </a:ext>
            </a:extLst>
          </p:cNvPr>
          <p:cNvSpPr txBox="1"/>
          <p:nvPr/>
        </p:nvSpPr>
        <p:spPr>
          <a:xfrm>
            <a:off x="57581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CREATION</a:t>
            </a:r>
          </a:p>
        </p:txBody>
      </p:sp>
      <p:sp>
        <p:nvSpPr>
          <p:cNvPr id="64" name="Rectangle 17">
            <a:extLst>
              <a:ext uri="{FF2B5EF4-FFF2-40B4-BE49-F238E27FC236}">
                <a16:creationId xmlns:a16="http://schemas.microsoft.com/office/drawing/2014/main" id="{15159B3A-7D03-B361-35E2-D27B19D36BB2}"/>
              </a:ext>
            </a:extLst>
          </p:cNvPr>
          <p:cNvSpPr/>
          <p:nvPr/>
        </p:nvSpPr>
        <p:spPr>
          <a:xfrm>
            <a:off x="57581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Rectangle 18">
            <a:extLst>
              <a:ext uri="{FF2B5EF4-FFF2-40B4-BE49-F238E27FC236}">
                <a16:creationId xmlns:a16="http://schemas.microsoft.com/office/drawing/2014/main" id="{42979C26-2293-8459-BE2A-73B5055FDF44}"/>
              </a:ext>
            </a:extLst>
          </p:cNvPr>
          <p:cNvSpPr/>
          <p:nvPr/>
        </p:nvSpPr>
        <p:spPr>
          <a:xfrm>
            <a:off x="77685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6" name="TextBox 19">
            <a:extLst>
              <a:ext uri="{FF2B5EF4-FFF2-40B4-BE49-F238E27FC236}">
                <a16:creationId xmlns:a16="http://schemas.microsoft.com/office/drawing/2014/main" id="{48C28AF6-6DFB-CA5C-E38D-964D72191F9E}"/>
              </a:ext>
            </a:extLst>
          </p:cNvPr>
          <p:cNvSpPr txBox="1"/>
          <p:nvPr/>
        </p:nvSpPr>
        <p:spPr>
          <a:xfrm>
            <a:off x="77685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3</a:t>
            </a:r>
          </a:p>
        </p:txBody>
      </p:sp>
      <p:sp>
        <p:nvSpPr>
          <p:cNvPr id="67" name="TextBox 20">
            <a:extLst>
              <a:ext uri="{FF2B5EF4-FFF2-40B4-BE49-F238E27FC236}">
                <a16:creationId xmlns:a16="http://schemas.microsoft.com/office/drawing/2014/main" id="{710B5F74-DCB8-D492-774A-58F98C711A28}"/>
              </a:ext>
            </a:extLst>
          </p:cNvPr>
          <p:cNvSpPr txBox="1"/>
          <p:nvPr/>
        </p:nvSpPr>
        <p:spPr>
          <a:xfrm>
            <a:off x="77685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ONGOING</a:t>
            </a:r>
          </a:p>
        </p:txBody>
      </p:sp>
      <p:sp>
        <p:nvSpPr>
          <p:cNvPr id="68" name="Rectangle 21">
            <a:extLst>
              <a:ext uri="{FF2B5EF4-FFF2-40B4-BE49-F238E27FC236}">
                <a16:creationId xmlns:a16="http://schemas.microsoft.com/office/drawing/2014/main" id="{8246E792-1ACE-3D42-726C-0888852320A7}"/>
              </a:ext>
            </a:extLst>
          </p:cNvPr>
          <p:cNvSpPr/>
          <p:nvPr/>
        </p:nvSpPr>
        <p:spPr>
          <a:xfrm>
            <a:off x="77685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9" name="Rectangle 22">
            <a:extLst>
              <a:ext uri="{FF2B5EF4-FFF2-40B4-BE49-F238E27FC236}">
                <a16:creationId xmlns:a16="http://schemas.microsoft.com/office/drawing/2014/main" id="{3D30EF9A-5204-D916-D9FD-E9C64EA052B3}"/>
              </a:ext>
            </a:extLst>
          </p:cNvPr>
          <p:cNvSpPr/>
          <p:nvPr/>
        </p:nvSpPr>
        <p:spPr>
          <a:xfrm>
            <a:off x="97789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0" name="TextBox 23">
            <a:extLst>
              <a:ext uri="{FF2B5EF4-FFF2-40B4-BE49-F238E27FC236}">
                <a16:creationId xmlns:a16="http://schemas.microsoft.com/office/drawing/2014/main" id="{BFC24F72-43C7-BDE6-7E28-2A020A39A6AD}"/>
              </a:ext>
            </a:extLst>
          </p:cNvPr>
          <p:cNvSpPr txBox="1"/>
          <p:nvPr/>
        </p:nvSpPr>
        <p:spPr>
          <a:xfrm>
            <a:off x="97789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4</a:t>
            </a:r>
          </a:p>
        </p:txBody>
      </p:sp>
      <p:sp>
        <p:nvSpPr>
          <p:cNvPr id="71" name="TextBox 24">
            <a:extLst>
              <a:ext uri="{FF2B5EF4-FFF2-40B4-BE49-F238E27FC236}">
                <a16:creationId xmlns:a16="http://schemas.microsoft.com/office/drawing/2014/main" id="{3A779628-0269-651E-2F31-9BE7C3A591C1}"/>
              </a:ext>
            </a:extLst>
          </p:cNvPr>
          <p:cNvSpPr txBox="1"/>
          <p:nvPr/>
        </p:nvSpPr>
        <p:spPr>
          <a:xfrm>
            <a:off x="97789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MAINTENANCE</a:t>
            </a:r>
          </a:p>
        </p:txBody>
      </p:sp>
      <p:sp>
        <p:nvSpPr>
          <p:cNvPr id="72" name="Rectangle 25">
            <a:extLst>
              <a:ext uri="{FF2B5EF4-FFF2-40B4-BE49-F238E27FC236}">
                <a16:creationId xmlns:a16="http://schemas.microsoft.com/office/drawing/2014/main" id="{02492D84-C7D8-1B11-4126-8D6CEF10C9AD}"/>
              </a:ext>
            </a:extLst>
          </p:cNvPr>
          <p:cNvSpPr/>
          <p:nvPr/>
        </p:nvSpPr>
        <p:spPr>
          <a:xfrm>
            <a:off x="97789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3" name="Rectangle 26">
            <a:extLst>
              <a:ext uri="{FF2B5EF4-FFF2-40B4-BE49-F238E27FC236}">
                <a16:creationId xmlns:a16="http://schemas.microsoft.com/office/drawing/2014/main" id="{4F976310-BF6B-DD2C-52B3-822EF6BEEC36}"/>
              </a:ext>
            </a:extLst>
          </p:cNvPr>
          <p:cNvSpPr/>
          <p:nvPr/>
        </p:nvSpPr>
        <p:spPr>
          <a:xfrm>
            <a:off x="457200" y="2362193"/>
            <a:ext cx="1280160" cy="17145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4" name="TextBox 27">
            <a:extLst>
              <a:ext uri="{FF2B5EF4-FFF2-40B4-BE49-F238E27FC236}">
                <a16:creationId xmlns:a16="http://schemas.microsoft.com/office/drawing/2014/main" id="{2DC73966-9128-982D-C39A-7F11D0C841C1}"/>
              </a:ext>
            </a:extLst>
          </p:cNvPr>
          <p:cNvSpPr txBox="1"/>
          <p:nvPr/>
        </p:nvSpPr>
        <p:spPr>
          <a:xfrm>
            <a:off x="457200" y="2862420"/>
            <a:ext cx="1280160" cy="714042"/>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DISCOVERY</a:t>
            </a:r>
            <a:r>
              <a:rPr kumimoji="0" lang="pt-BR"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TRACK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A</a:t>
            </a:r>
            <a:r>
              <a:rPr kumimoji="0" sz="9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lways</a:t>
            </a: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research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validation</a:t>
            </a:r>
            <a:endParaRPr kumimoji="0" sz="1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5" name="Rectangle 28">
            <a:extLst>
              <a:ext uri="{FF2B5EF4-FFF2-40B4-BE49-F238E27FC236}">
                <a16:creationId xmlns:a16="http://schemas.microsoft.com/office/drawing/2014/main" id="{D912DA64-5423-AEC1-25BE-D7B8D3E17301}"/>
              </a:ext>
            </a:extLst>
          </p:cNvPr>
          <p:cNvSpPr/>
          <p:nvPr/>
        </p:nvSpPr>
        <p:spPr>
          <a:xfrm>
            <a:off x="457200" y="4122413"/>
            <a:ext cx="1280160" cy="2089968"/>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6" name="TextBox 29">
            <a:extLst>
              <a:ext uri="{FF2B5EF4-FFF2-40B4-BE49-F238E27FC236}">
                <a16:creationId xmlns:a16="http://schemas.microsoft.com/office/drawing/2014/main" id="{A94335E2-7CC6-F53F-5608-C728CD1A0939}"/>
              </a:ext>
            </a:extLst>
          </p:cNvPr>
          <p:cNvSpPr txBox="1"/>
          <p:nvPr/>
        </p:nvSpPr>
        <p:spPr>
          <a:xfrm>
            <a:off x="457200" y="4576921"/>
            <a:ext cx="1280160" cy="714042"/>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DELIVERY</a:t>
            </a:r>
            <a:r>
              <a:rPr kumimoji="0" lang="pt-BR"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TRACK</a:t>
            </a: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Kanban flow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WIP limits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pull · validate</a:t>
            </a:r>
          </a:p>
        </p:txBody>
      </p:sp>
      <p:sp>
        <p:nvSpPr>
          <p:cNvPr id="77" name="Rectangle 30">
            <a:extLst>
              <a:ext uri="{FF2B5EF4-FFF2-40B4-BE49-F238E27FC236}">
                <a16:creationId xmlns:a16="http://schemas.microsoft.com/office/drawing/2014/main" id="{876B1B0A-922D-9F28-BF11-04AA86D25B47}"/>
              </a:ext>
            </a:extLst>
          </p:cNvPr>
          <p:cNvSpPr/>
          <p:nvPr/>
        </p:nvSpPr>
        <p:spPr>
          <a:xfrm>
            <a:off x="1737360" y="4093040"/>
            <a:ext cx="9997135" cy="36576"/>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78" name="Group 510">
            <a:extLst>
              <a:ext uri="{FF2B5EF4-FFF2-40B4-BE49-F238E27FC236}">
                <a16:creationId xmlns:a16="http://schemas.microsoft.com/office/drawing/2014/main" id="{83EF2725-C3DA-6E0A-4CBD-ECDD01A9AC27}"/>
              </a:ext>
            </a:extLst>
          </p:cNvPr>
          <p:cNvGrpSpPr/>
          <p:nvPr/>
        </p:nvGrpSpPr>
        <p:grpSpPr>
          <a:xfrm>
            <a:off x="122243" y="1037673"/>
            <a:ext cx="1314261" cy="173407"/>
            <a:chOff x="9050566" y="3065430"/>
            <a:chExt cx="2004153" cy="429761"/>
          </a:xfrm>
          <a:solidFill>
            <a:schemeClr val="bg1">
              <a:lumMod val="95000"/>
            </a:schemeClr>
          </a:solidFill>
        </p:grpSpPr>
        <p:sp>
          <p:nvSpPr>
            <p:cNvPr id="79" name="Rounded Rectangle 463">
              <a:extLst>
                <a:ext uri="{FF2B5EF4-FFF2-40B4-BE49-F238E27FC236}">
                  <a16:creationId xmlns:a16="http://schemas.microsoft.com/office/drawing/2014/main" id="{C635B26B-830F-A5BF-8789-FBE63AF7EBB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80" name="Straight Connector 470">
              <a:extLst>
                <a:ext uri="{FF2B5EF4-FFF2-40B4-BE49-F238E27FC236}">
                  <a16:creationId xmlns:a16="http://schemas.microsoft.com/office/drawing/2014/main" id="{7E5E18B6-B1B3-9424-A01A-002C7CA0312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499">
              <a:extLst>
                <a:ext uri="{FF2B5EF4-FFF2-40B4-BE49-F238E27FC236}">
                  <a16:creationId xmlns:a16="http://schemas.microsoft.com/office/drawing/2014/main" id="{A5E7D63C-927E-8D3D-D819-489FB2FFB14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503">
              <a:extLst>
                <a:ext uri="{FF2B5EF4-FFF2-40B4-BE49-F238E27FC236}">
                  <a16:creationId xmlns:a16="http://schemas.microsoft.com/office/drawing/2014/main" id="{486FB241-F61B-6841-6A93-5B13D3F831B1}"/>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504">
              <a:extLst>
                <a:ext uri="{FF2B5EF4-FFF2-40B4-BE49-F238E27FC236}">
                  <a16:creationId xmlns:a16="http://schemas.microsoft.com/office/drawing/2014/main" id="{41D281B4-5CA7-A708-B938-3CFEE167604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505">
              <a:extLst>
                <a:ext uri="{FF2B5EF4-FFF2-40B4-BE49-F238E27FC236}">
                  <a16:creationId xmlns:a16="http://schemas.microsoft.com/office/drawing/2014/main" id="{8E371898-EB35-10BB-E095-94DF99DB0B6A}"/>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506">
              <a:extLst>
                <a:ext uri="{FF2B5EF4-FFF2-40B4-BE49-F238E27FC236}">
                  <a16:creationId xmlns:a16="http://schemas.microsoft.com/office/drawing/2014/main" id="{4B032E93-151E-3260-BAE4-E42B8530751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507">
              <a:extLst>
                <a:ext uri="{FF2B5EF4-FFF2-40B4-BE49-F238E27FC236}">
                  <a16:creationId xmlns:a16="http://schemas.microsoft.com/office/drawing/2014/main" id="{59F77188-C898-0351-C6D9-E47540C49693}"/>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508">
              <a:extLst>
                <a:ext uri="{FF2B5EF4-FFF2-40B4-BE49-F238E27FC236}">
                  <a16:creationId xmlns:a16="http://schemas.microsoft.com/office/drawing/2014/main" id="{30F67F24-54FD-DC19-665B-B4EAEB480444}"/>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509">
              <a:extLst>
                <a:ext uri="{FF2B5EF4-FFF2-40B4-BE49-F238E27FC236}">
                  <a16:creationId xmlns:a16="http://schemas.microsoft.com/office/drawing/2014/main" id="{B890B959-F3DC-1229-1458-A19A06E703B1}"/>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oup 510">
            <a:extLst>
              <a:ext uri="{FF2B5EF4-FFF2-40B4-BE49-F238E27FC236}">
                <a16:creationId xmlns:a16="http://schemas.microsoft.com/office/drawing/2014/main" id="{370831D6-3E06-F571-B186-D63E25D315E9}"/>
              </a:ext>
            </a:extLst>
          </p:cNvPr>
          <p:cNvGrpSpPr/>
          <p:nvPr/>
        </p:nvGrpSpPr>
        <p:grpSpPr>
          <a:xfrm>
            <a:off x="143090" y="1403678"/>
            <a:ext cx="1314261" cy="173406"/>
            <a:chOff x="9050566" y="3065430"/>
            <a:chExt cx="2004153" cy="429761"/>
          </a:xfrm>
          <a:solidFill>
            <a:schemeClr val="bg1">
              <a:lumMod val="95000"/>
            </a:schemeClr>
          </a:solidFill>
        </p:grpSpPr>
        <p:sp>
          <p:nvSpPr>
            <p:cNvPr id="90" name="Rounded Rectangle 463">
              <a:extLst>
                <a:ext uri="{FF2B5EF4-FFF2-40B4-BE49-F238E27FC236}">
                  <a16:creationId xmlns:a16="http://schemas.microsoft.com/office/drawing/2014/main" id="{F54E99D4-CEC7-B9CF-CDA5-4B0BE2C78F04}"/>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91" name="Straight Connector 470">
              <a:extLst>
                <a:ext uri="{FF2B5EF4-FFF2-40B4-BE49-F238E27FC236}">
                  <a16:creationId xmlns:a16="http://schemas.microsoft.com/office/drawing/2014/main" id="{057A5C09-DF28-2905-8991-0631021F274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499">
              <a:extLst>
                <a:ext uri="{FF2B5EF4-FFF2-40B4-BE49-F238E27FC236}">
                  <a16:creationId xmlns:a16="http://schemas.microsoft.com/office/drawing/2014/main" id="{D0E88FBA-51EF-4018-48E3-3457CF9E10A7}"/>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503">
              <a:extLst>
                <a:ext uri="{FF2B5EF4-FFF2-40B4-BE49-F238E27FC236}">
                  <a16:creationId xmlns:a16="http://schemas.microsoft.com/office/drawing/2014/main" id="{A19E8DFC-E4A6-0EB4-A8CA-CDB78CC28B6C}"/>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504">
              <a:extLst>
                <a:ext uri="{FF2B5EF4-FFF2-40B4-BE49-F238E27FC236}">
                  <a16:creationId xmlns:a16="http://schemas.microsoft.com/office/drawing/2014/main" id="{E983FC7D-90EE-3E14-EFA7-A69F60909A0B}"/>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505">
              <a:extLst>
                <a:ext uri="{FF2B5EF4-FFF2-40B4-BE49-F238E27FC236}">
                  <a16:creationId xmlns:a16="http://schemas.microsoft.com/office/drawing/2014/main" id="{E65E0F86-F046-130B-E641-7AD0DFCF28A2}"/>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506">
              <a:extLst>
                <a:ext uri="{FF2B5EF4-FFF2-40B4-BE49-F238E27FC236}">
                  <a16:creationId xmlns:a16="http://schemas.microsoft.com/office/drawing/2014/main" id="{6C79B7EB-CB72-4011-4730-C8AA0CFCCF77}"/>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507">
              <a:extLst>
                <a:ext uri="{FF2B5EF4-FFF2-40B4-BE49-F238E27FC236}">
                  <a16:creationId xmlns:a16="http://schemas.microsoft.com/office/drawing/2014/main" id="{B5B61D62-6689-4B7A-4EBA-96C40D0692B9}"/>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508">
              <a:extLst>
                <a:ext uri="{FF2B5EF4-FFF2-40B4-BE49-F238E27FC236}">
                  <a16:creationId xmlns:a16="http://schemas.microsoft.com/office/drawing/2014/main" id="{33C66023-95A1-740A-0A66-2D38D6D8C23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509">
              <a:extLst>
                <a:ext uri="{FF2B5EF4-FFF2-40B4-BE49-F238E27FC236}">
                  <a16:creationId xmlns:a16="http://schemas.microsoft.com/office/drawing/2014/main" id="{A7BCDDA0-EC82-73BA-B2A2-E82FC81D1EB5}"/>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 name="Group 510">
            <a:extLst>
              <a:ext uri="{FF2B5EF4-FFF2-40B4-BE49-F238E27FC236}">
                <a16:creationId xmlns:a16="http://schemas.microsoft.com/office/drawing/2014/main" id="{8D9E057D-E13D-0DBC-1165-027030CF7705}"/>
              </a:ext>
            </a:extLst>
          </p:cNvPr>
          <p:cNvGrpSpPr/>
          <p:nvPr/>
        </p:nvGrpSpPr>
        <p:grpSpPr>
          <a:xfrm>
            <a:off x="107799" y="1735200"/>
            <a:ext cx="1314261" cy="173406"/>
            <a:chOff x="9050566" y="3065430"/>
            <a:chExt cx="2004153" cy="429761"/>
          </a:xfrm>
          <a:solidFill>
            <a:schemeClr val="bg1">
              <a:lumMod val="95000"/>
            </a:schemeClr>
          </a:solidFill>
        </p:grpSpPr>
        <p:sp>
          <p:nvSpPr>
            <p:cNvPr id="101" name="Rounded Rectangle 463">
              <a:extLst>
                <a:ext uri="{FF2B5EF4-FFF2-40B4-BE49-F238E27FC236}">
                  <a16:creationId xmlns:a16="http://schemas.microsoft.com/office/drawing/2014/main" id="{C505E1F3-D099-FE29-4687-68E7CC31E0FD}"/>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02" name="Straight Connector 470">
              <a:extLst>
                <a:ext uri="{FF2B5EF4-FFF2-40B4-BE49-F238E27FC236}">
                  <a16:creationId xmlns:a16="http://schemas.microsoft.com/office/drawing/2014/main" id="{BA7555CC-EC6E-F3BA-7594-78CE584AE9A1}"/>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499">
              <a:extLst>
                <a:ext uri="{FF2B5EF4-FFF2-40B4-BE49-F238E27FC236}">
                  <a16:creationId xmlns:a16="http://schemas.microsoft.com/office/drawing/2014/main" id="{25F2D053-B182-39DF-1C69-6D56134CD326}"/>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503">
              <a:extLst>
                <a:ext uri="{FF2B5EF4-FFF2-40B4-BE49-F238E27FC236}">
                  <a16:creationId xmlns:a16="http://schemas.microsoft.com/office/drawing/2014/main" id="{82F2A0FB-4626-9008-1E9B-06D5EC61A3D9}"/>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504">
              <a:extLst>
                <a:ext uri="{FF2B5EF4-FFF2-40B4-BE49-F238E27FC236}">
                  <a16:creationId xmlns:a16="http://schemas.microsoft.com/office/drawing/2014/main" id="{070F427D-B0B8-45B9-C989-809E34580B61}"/>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505">
              <a:extLst>
                <a:ext uri="{FF2B5EF4-FFF2-40B4-BE49-F238E27FC236}">
                  <a16:creationId xmlns:a16="http://schemas.microsoft.com/office/drawing/2014/main" id="{656E5A6D-85F0-C567-32CA-2B1928345B94}"/>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506">
              <a:extLst>
                <a:ext uri="{FF2B5EF4-FFF2-40B4-BE49-F238E27FC236}">
                  <a16:creationId xmlns:a16="http://schemas.microsoft.com/office/drawing/2014/main" id="{D581595E-1B00-958A-F7B5-D68D2066D86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507">
              <a:extLst>
                <a:ext uri="{FF2B5EF4-FFF2-40B4-BE49-F238E27FC236}">
                  <a16:creationId xmlns:a16="http://schemas.microsoft.com/office/drawing/2014/main" id="{BFE73EE4-2808-4286-9E87-1206309F090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508">
              <a:extLst>
                <a:ext uri="{FF2B5EF4-FFF2-40B4-BE49-F238E27FC236}">
                  <a16:creationId xmlns:a16="http://schemas.microsoft.com/office/drawing/2014/main" id="{C77AC9ED-16E1-3DD1-6E02-B22739A4C708}"/>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509">
              <a:extLst>
                <a:ext uri="{FF2B5EF4-FFF2-40B4-BE49-F238E27FC236}">
                  <a16:creationId xmlns:a16="http://schemas.microsoft.com/office/drawing/2014/main" id="{8441A47B-1216-23ED-8494-CC5F66B9F444}"/>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TextBox 65">
            <a:extLst>
              <a:ext uri="{FF2B5EF4-FFF2-40B4-BE49-F238E27FC236}">
                <a16:creationId xmlns:a16="http://schemas.microsoft.com/office/drawing/2014/main" id="{F077D232-6298-6BCC-2A25-4BAC0B4FEE34}"/>
              </a:ext>
            </a:extLst>
          </p:cNvPr>
          <p:cNvSpPr txBox="1"/>
          <p:nvPr/>
        </p:nvSpPr>
        <p:spPr>
          <a:xfrm>
            <a:off x="12967" y="904193"/>
            <a:ext cx="1574508" cy="1384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a:ea typeface="+mn-ea"/>
                <a:cs typeface="Calibri"/>
              </a:rPr>
              <a:t>CUSTOMER CARE &amp; ENGAGEMENT TEAM KANBAN BOARD</a:t>
            </a:r>
            <a:endParaRPr kumimoji="0" lang="en-US" sz="300" b="0" i="0" u="none" strike="noStrike" kern="1200" cap="none" spc="0" normalizeH="0" baseline="0" noProof="0">
              <a:ln>
                <a:noFill/>
              </a:ln>
              <a:solidFill>
                <a:srgbClr val="173458"/>
              </a:solidFill>
              <a:effectLst/>
              <a:uLnTx/>
              <a:uFillTx/>
              <a:latin typeface="Montserrat"/>
              <a:ea typeface="+mn-ea"/>
              <a:cs typeface="Calibri"/>
            </a:endParaRPr>
          </a:p>
        </p:txBody>
      </p:sp>
      <p:sp>
        <p:nvSpPr>
          <p:cNvPr id="112" name="TextBox 65">
            <a:extLst>
              <a:ext uri="{FF2B5EF4-FFF2-40B4-BE49-F238E27FC236}">
                <a16:creationId xmlns:a16="http://schemas.microsoft.com/office/drawing/2014/main" id="{A4D3714B-ED37-5C90-DED8-4EF690167B2E}"/>
              </a:ext>
            </a:extLst>
          </p:cNvPr>
          <p:cNvSpPr txBox="1"/>
          <p:nvPr/>
        </p:nvSpPr>
        <p:spPr>
          <a:xfrm>
            <a:off x="-5309" y="1272963"/>
            <a:ext cx="1574508" cy="1384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a:ea typeface="+mn-ea"/>
                <a:cs typeface="Calibri"/>
              </a:rPr>
              <a:t>METER &amp; DEVICE OPERATIONS TEAM KANBAN BOARD</a:t>
            </a:r>
            <a:endParaRPr kumimoji="0" lang="en-US" sz="300" b="0" i="0" u="none" strike="noStrike" kern="1200" cap="none" spc="0" normalizeH="0" baseline="0" noProof="0">
              <a:ln>
                <a:noFill/>
              </a:ln>
              <a:solidFill>
                <a:srgbClr val="173458"/>
              </a:solidFill>
              <a:effectLst/>
              <a:uLnTx/>
              <a:uFillTx/>
              <a:latin typeface="Montserrat"/>
              <a:ea typeface="+mn-ea"/>
              <a:cs typeface="Calibri"/>
            </a:endParaRPr>
          </a:p>
        </p:txBody>
      </p:sp>
      <p:sp>
        <p:nvSpPr>
          <p:cNvPr id="113" name="TextBox 65">
            <a:extLst>
              <a:ext uri="{FF2B5EF4-FFF2-40B4-BE49-F238E27FC236}">
                <a16:creationId xmlns:a16="http://schemas.microsoft.com/office/drawing/2014/main" id="{FFB148DE-4284-0D07-D024-59FF67C5DEB5}"/>
              </a:ext>
            </a:extLst>
          </p:cNvPr>
          <p:cNvSpPr txBox="1"/>
          <p:nvPr/>
        </p:nvSpPr>
        <p:spPr>
          <a:xfrm>
            <a:off x="-67539" y="1624559"/>
            <a:ext cx="1750034" cy="1384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rPr>
              <a:t>BILLING  OPERATIONS TEAM KANBAN BOARD</a:t>
            </a:r>
            <a:endParaRPr kumimoji="0" lang="en-US" sz="300" b="0"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endParaRPr>
          </a:p>
        </p:txBody>
      </p:sp>
      <p:grpSp>
        <p:nvGrpSpPr>
          <p:cNvPr id="114" name="Group 510">
            <a:extLst>
              <a:ext uri="{FF2B5EF4-FFF2-40B4-BE49-F238E27FC236}">
                <a16:creationId xmlns:a16="http://schemas.microsoft.com/office/drawing/2014/main" id="{65AF7654-13E6-F5E8-23A4-5D2CC673882E}"/>
              </a:ext>
            </a:extLst>
          </p:cNvPr>
          <p:cNvGrpSpPr/>
          <p:nvPr/>
        </p:nvGrpSpPr>
        <p:grpSpPr>
          <a:xfrm>
            <a:off x="153255" y="2060682"/>
            <a:ext cx="1314261" cy="173406"/>
            <a:chOff x="9050566" y="3065430"/>
            <a:chExt cx="2004153" cy="429761"/>
          </a:xfrm>
          <a:solidFill>
            <a:schemeClr val="bg1">
              <a:lumMod val="95000"/>
            </a:schemeClr>
          </a:solidFill>
        </p:grpSpPr>
        <p:sp>
          <p:nvSpPr>
            <p:cNvPr id="115" name="Rounded Rectangle 463">
              <a:extLst>
                <a:ext uri="{FF2B5EF4-FFF2-40B4-BE49-F238E27FC236}">
                  <a16:creationId xmlns:a16="http://schemas.microsoft.com/office/drawing/2014/main" id="{7BFEC3CF-02F1-1017-1AC8-B226958DCC2B}"/>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6" name="Straight Connector 470">
              <a:extLst>
                <a:ext uri="{FF2B5EF4-FFF2-40B4-BE49-F238E27FC236}">
                  <a16:creationId xmlns:a16="http://schemas.microsoft.com/office/drawing/2014/main" id="{865B5A8F-EC80-E51F-840A-A725FC0687BF}"/>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499">
              <a:extLst>
                <a:ext uri="{FF2B5EF4-FFF2-40B4-BE49-F238E27FC236}">
                  <a16:creationId xmlns:a16="http://schemas.microsoft.com/office/drawing/2014/main" id="{BE822DC3-67B2-CB16-30F0-62E0DB803D8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503">
              <a:extLst>
                <a:ext uri="{FF2B5EF4-FFF2-40B4-BE49-F238E27FC236}">
                  <a16:creationId xmlns:a16="http://schemas.microsoft.com/office/drawing/2014/main" id="{A880210D-30FE-72A1-5B05-2B951633723E}"/>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504">
              <a:extLst>
                <a:ext uri="{FF2B5EF4-FFF2-40B4-BE49-F238E27FC236}">
                  <a16:creationId xmlns:a16="http://schemas.microsoft.com/office/drawing/2014/main" id="{A27EE741-0247-34A1-2BC0-54196CFFAD3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505">
              <a:extLst>
                <a:ext uri="{FF2B5EF4-FFF2-40B4-BE49-F238E27FC236}">
                  <a16:creationId xmlns:a16="http://schemas.microsoft.com/office/drawing/2014/main" id="{C427F59C-0E3D-C8C8-88E1-CDEC2461589B}"/>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506">
              <a:extLst>
                <a:ext uri="{FF2B5EF4-FFF2-40B4-BE49-F238E27FC236}">
                  <a16:creationId xmlns:a16="http://schemas.microsoft.com/office/drawing/2014/main" id="{7F514792-08E4-6F89-EF0A-80C5B62D798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507">
              <a:extLst>
                <a:ext uri="{FF2B5EF4-FFF2-40B4-BE49-F238E27FC236}">
                  <a16:creationId xmlns:a16="http://schemas.microsoft.com/office/drawing/2014/main" id="{816A0BB0-F651-1F0A-C673-B1B4539348A8}"/>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508">
              <a:extLst>
                <a:ext uri="{FF2B5EF4-FFF2-40B4-BE49-F238E27FC236}">
                  <a16:creationId xmlns:a16="http://schemas.microsoft.com/office/drawing/2014/main" id="{BC3A8941-7BFE-C897-F0B7-21E2DEF4052E}"/>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509">
              <a:extLst>
                <a:ext uri="{FF2B5EF4-FFF2-40B4-BE49-F238E27FC236}">
                  <a16:creationId xmlns:a16="http://schemas.microsoft.com/office/drawing/2014/main" id="{D10B1E6A-BAD7-0EDF-47DE-71AE2C252022}"/>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5" name="TextBox 65">
            <a:extLst>
              <a:ext uri="{FF2B5EF4-FFF2-40B4-BE49-F238E27FC236}">
                <a16:creationId xmlns:a16="http://schemas.microsoft.com/office/drawing/2014/main" id="{F76A5234-9163-9ACA-A6A2-BB54E5E8562B}"/>
              </a:ext>
            </a:extLst>
          </p:cNvPr>
          <p:cNvSpPr txBox="1"/>
          <p:nvPr/>
        </p:nvSpPr>
        <p:spPr>
          <a:xfrm>
            <a:off x="-67539" y="1935514"/>
            <a:ext cx="1750034" cy="1384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rPr>
              <a:t>REVENUE AND COLLECTIONS TEAM KANBAN BOARD</a:t>
            </a:r>
            <a:endParaRPr kumimoji="0" lang="en-US" sz="300" b="0"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endParaRPr>
          </a:p>
        </p:txBody>
      </p:sp>
      <p:sp>
        <p:nvSpPr>
          <p:cNvPr id="126" name="TextBox 5">
            <a:extLst>
              <a:ext uri="{FF2B5EF4-FFF2-40B4-BE49-F238E27FC236}">
                <a16:creationId xmlns:a16="http://schemas.microsoft.com/office/drawing/2014/main" id="{55C5E86B-5C54-BE6A-F3F1-C7505102D147}"/>
              </a:ext>
            </a:extLst>
          </p:cNvPr>
          <p:cNvSpPr txBox="1"/>
          <p:nvPr/>
        </p:nvSpPr>
        <p:spPr>
          <a:xfrm>
            <a:off x="723630" y="909146"/>
            <a:ext cx="11277295" cy="375487"/>
          </a:xfrm>
          <a:prstGeom prst="rect">
            <a:avLst/>
          </a:prstGeom>
          <a:noFill/>
        </p:spPr>
        <p:txBody>
          <a:bodyPr wrap="square" lIns="45720" tIns="18288" rIns="45720" bIns="18288"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95A5A6"/>
                </a:solidFill>
                <a:effectLst/>
                <a:uLnTx/>
                <a:uFillTx/>
                <a:latin typeface="Arial"/>
                <a:ea typeface="+mn-ea"/>
                <a:cs typeface="+mn-cs"/>
              </a:rPr>
              <a:t>Example  ·  Customer Care &amp; Engagement </a:t>
            </a:r>
            <a:r>
              <a:rPr kumimoji="0" lang="pt-BR" sz="1100" b="0" i="1" u="none" strike="noStrike" kern="1200" cap="none" spc="0" normalizeH="0" baseline="0" noProof="0" err="1">
                <a:ln>
                  <a:noFill/>
                </a:ln>
                <a:solidFill>
                  <a:srgbClr val="95A5A6"/>
                </a:solidFill>
                <a:effectLst/>
                <a:uLnTx/>
                <a:uFillTx/>
                <a:latin typeface="Arial"/>
                <a:ea typeface="+mn-ea"/>
                <a:cs typeface="+mn-cs"/>
              </a:rPr>
              <a:t>team</a:t>
            </a:r>
            <a:r>
              <a:rPr kumimoji="0" sz="1100" b="0" i="1" u="none" strike="noStrike" kern="1200" cap="none" spc="0" normalizeH="0" baseline="0" noProof="0">
                <a:ln>
                  <a:noFill/>
                </a:ln>
                <a:solidFill>
                  <a:srgbClr val="95A5A6"/>
                </a:solidFill>
                <a:effectLst/>
                <a:uLnTx/>
                <a:uFillTx/>
                <a:latin typeface="Arial"/>
                <a:ea typeface="+mn-ea"/>
                <a:cs typeface="+mn-cs"/>
              </a:rPr>
              <a:t> (example)  ·  five phases × dual track with WIP limits  ·  </a:t>
            </a:r>
            <a:endParaRPr kumimoji="0" lang="pt-BR" sz="1100" b="0" i="1" u="none" strike="noStrike" kern="1200" cap="none" spc="0" normalizeH="0" baseline="0" noProof="0">
              <a:ln>
                <a:noFill/>
              </a:ln>
              <a:solidFill>
                <a:srgbClr val="95A5A6"/>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0" i="1" u="none" strike="noStrike" kern="1200" cap="none" spc="0" normalizeH="0" baseline="0" noProof="0">
                <a:ln>
                  <a:noFill/>
                </a:ln>
                <a:solidFill>
                  <a:srgbClr val="95A5A6"/>
                </a:solidFill>
                <a:effectLst/>
                <a:uLnTx/>
                <a:uFillTx/>
                <a:latin typeface="Arial"/>
                <a:ea typeface="+mn-ea"/>
                <a:cs typeface="+mn-cs"/>
              </a:rPr>
              <a:t>Epic </a:t>
            </a:r>
            <a:r>
              <a:rPr kumimoji="0" lang="pt-BR" sz="1100" b="0" i="1" u="none" strike="noStrike" kern="1200" cap="none" spc="0" normalizeH="0" baseline="0" noProof="0" err="1">
                <a:ln>
                  <a:noFill/>
                </a:ln>
                <a:solidFill>
                  <a:srgbClr val="95A5A6"/>
                </a:solidFill>
                <a:effectLst/>
                <a:uLnTx/>
                <a:uFillTx/>
                <a:latin typeface="Arial"/>
                <a:ea typeface="+mn-ea"/>
                <a:cs typeface="+mn-cs"/>
              </a:rPr>
              <a:t>appears</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only</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when</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an</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Initiative</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is</a:t>
            </a:r>
            <a:r>
              <a:rPr kumimoji="0" lang="pt-BR" sz="1100" b="0" i="1" u="none" strike="noStrike" kern="1200" cap="none" spc="0" normalizeH="0" baseline="0" noProof="0">
                <a:ln>
                  <a:noFill/>
                </a:ln>
                <a:solidFill>
                  <a:srgbClr val="95A5A6"/>
                </a:solidFill>
                <a:effectLst/>
                <a:uLnTx/>
                <a:uFillTx/>
                <a:latin typeface="Arial"/>
                <a:ea typeface="+mn-ea"/>
                <a:cs typeface="+mn-cs"/>
              </a:rPr>
              <a:t> too </a:t>
            </a:r>
            <a:r>
              <a:rPr kumimoji="0" lang="pt-BR" sz="1100" b="0" i="1" u="none" strike="noStrike" kern="1200" cap="none" spc="0" normalizeH="0" baseline="0" noProof="0" err="1">
                <a:ln>
                  <a:noFill/>
                </a:ln>
                <a:solidFill>
                  <a:srgbClr val="95A5A6"/>
                </a:solidFill>
                <a:effectLst/>
                <a:uLnTx/>
                <a:uFillTx/>
                <a:latin typeface="Arial"/>
                <a:ea typeface="+mn-ea"/>
                <a:cs typeface="+mn-cs"/>
              </a:rPr>
              <a:t>large</a:t>
            </a:r>
            <a:endParaRPr kumimoji="0" lang="pt-BR" sz="1100" b="0" i="1" u="none" strike="noStrike" kern="1200" cap="none" spc="0" normalizeH="0" baseline="0" noProof="0">
              <a:ln>
                <a:noFill/>
              </a:ln>
              <a:solidFill>
                <a:srgbClr val="95A5A6"/>
              </a:solidFill>
              <a:effectLst/>
              <a:uLnTx/>
              <a:uFillTx/>
              <a:latin typeface="Arial"/>
              <a:ea typeface="+mn-ea"/>
              <a:cs typeface="+mn-cs"/>
            </a:endParaRPr>
          </a:p>
        </p:txBody>
      </p:sp>
      <p:sp>
        <p:nvSpPr>
          <p:cNvPr id="127" name="TextBox 10">
            <a:extLst>
              <a:ext uri="{FF2B5EF4-FFF2-40B4-BE49-F238E27FC236}">
                <a16:creationId xmlns:a16="http://schemas.microsoft.com/office/drawing/2014/main" id="{D9E67D23-BBEE-6B3C-51D9-9CAC293A586E}"/>
              </a:ext>
            </a:extLst>
          </p:cNvPr>
          <p:cNvSpPr txBox="1"/>
          <p:nvPr/>
        </p:nvSpPr>
        <p:spPr>
          <a:xfrm>
            <a:off x="1792224" y="2512665"/>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Problem framing · users · hypothesis</a:t>
            </a:r>
          </a:p>
        </p:txBody>
      </p:sp>
      <p:sp>
        <p:nvSpPr>
          <p:cNvPr id="128" name="TextBox 11">
            <a:extLst>
              <a:ext uri="{FF2B5EF4-FFF2-40B4-BE49-F238E27FC236}">
                <a16:creationId xmlns:a16="http://schemas.microsoft.com/office/drawing/2014/main" id="{D05EE299-35CF-0B38-DCC4-EC76CA913F4B}"/>
              </a:ext>
            </a:extLst>
          </p:cNvPr>
          <p:cNvSpPr txBox="1"/>
          <p:nvPr/>
        </p:nvSpPr>
        <p:spPr>
          <a:xfrm>
            <a:off x="1792224" y="2817883"/>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prstClr val="black">
                    <a:lumMod val="65000"/>
                    <a:lumOff val="35000"/>
                  </a:prstClr>
                </a:solidFill>
                <a:effectLst/>
                <a:uLnTx/>
                <a:uFillTx/>
                <a:latin typeface="Arial"/>
                <a:ea typeface="+mn-ea"/>
                <a:cs typeface="+mn-cs"/>
              </a:rPr>
              <a:t>Always-on · supports Materialization</a:t>
            </a:r>
          </a:p>
        </p:txBody>
      </p:sp>
      <p:sp>
        <p:nvSpPr>
          <p:cNvPr id="129" name="TextBox 12">
            <a:extLst>
              <a:ext uri="{FF2B5EF4-FFF2-40B4-BE49-F238E27FC236}">
                <a16:creationId xmlns:a16="http://schemas.microsoft.com/office/drawing/2014/main" id="{A942FB18-6827-2CAD-767B-51B6D38D29C4}"/>
              </a:ext>
            </a:extLst>
          </p:cNvPr>
          <p:cNvSpPr txBox="1"/>
          <p:nvPr/>
        </p:nvSpPr>
        <p:spPr>
          <a:xfrm>
            <a:off x="1792224" y="3022399"/>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30" name="TextBox 13">
            <a:extLst>
              <a:ext uri="{FF2B5EF4-FFF2-40B4-BE49-F238E27FC236}">
                <a16:creationId xmlns:a16="http://schemas.microsoft.com/office/drawing/2014/main" id="{FC6CAA66-AEC6-FECA-298B-FF4CC4D01C79}"/>
              </a:ext>
            </a:extLst>
          </p:cNvPr>
          <p:cNvSpPr txBox="1"/>
          <p:nvPr/>
        </p:nvSpPr>
        <p:spPr>
          <a:xfrm>
            <a:off x="1792223" y="3177847"/>
            <a:ext cx="2101859"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srgbClr val="2C3E50"/>
                </a:solidFill>
                <a:effectLst/>
                <a:uLnTx/>
                <a:uFillTx/>
                <a:latin typeface="Arial"/>
                <a:ea typeface="+mn-ea"/>
                <a:cs typeface="+mn-cs"/>
              </a:rPr>
              <a:t>Business / PM   </a:t>
            </a:r>
          </a:p>
        </p:txBody>
      </p:sp>
      <p:sp>
        <p:nvSpPr>
          <p:cNvPr id="131" name="TextBox 14">
            <a:extLst>
              <a:ext uri="{FF2B5EF4-FFF2-40B4-BE49-F238E27FC236}">
                <a16:creationId xmlns:a16="http://schemas.microsoft.com/office/drawing/2014/main" id="{C640A817-9144-B296-8844-E2C13263A7D8}"/>
              </a:ext>
            </a:extLst>
          </p:cNvPr>
          <p:cNvSpPr txBox="1"/>
          <p:nvPr/>
        </p:nvSpPr>
        <p:spPr>
          <a:xfrm>
            <a:off x="1792224" y="3391507"/>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32" name="TextBox 15">
            <a:extLst>
              <a:ext uri="{FF2B5EF4-FFF2-40B4-BE49-F238E27FC236}">
                <a16:creationId xmlns:a16="http://schemas.microsoft.com/office/drawing/2014/main" id="{104EDE89-8B22-2A55-0FEF-24D75AC5E816}"/>
              </a:ext>
            </a:extLst>
          </p:cNvPr>
          <p:cNvSpPr txBox="1"/>
          <p:nvPr/>
        </p:nvSpPr>
        <p:spPr>
          <a:xfrm>
            <a:off x="1792224" y="3546955"/>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Validated user problem</a:t>
            </a:r>
          </a:p>
        </p:txBody>
      </p:sp>
      <p:sp>
        <p:nvSpPr>
          <p:cNvPr id="133" name="TextBox 16">
            <a:extLst>
              <a:ext uri="{FF2B5EF4-FFF2-40B4-BE49-F238E27FC236}">
                <a16:creationId xmlns:a16="http://schemas.microsoft.com/office/drawing/2014/main" id="{4FD7FE08-3436-4AEC-3A3E-A7598DAAC999}"/>
              </a:ext>
            </a:extLst>
          </p:cNvPr>
          <p:cNvSpPr txBox="1"/>
          <p:nvPr/>
        </p:nvSpPr>
        <p:spPr>
          <a:xfrm>
            <a:off x="1792224" y="372495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34" name="TextBox 17">
            <a:extLst>
              <a:ext uri="{FF2B5EF4-FFF2-40B4-BE49-F238E27FC236}">
                <a16:creationId xmlns:a16="http://schemas.microsoft.com/office/drawing/2014/main" id="{43103DDB-8F21-F7F7-A6B8-79970FD1B2FB}"/>
              </a:ext>
            </a:extLst>
          </p:cNvPr>
          <p:cNvSpPr txBox="1"/>
          <p:nvPr/>
        </p:nvSpPr>
        <p:spPr>
          <a:xfrm>
            <a:off x="1792224" y="388040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continuous · weekly review</a:t>
            </a:r>
          </a:p>
        </p:txBody>
      </p:sp>
      <p:sp>
        <p:nvSpPr>
          <p:cNvPr id="135" name="TextBox 22">
            <a:extLst>
              <a:ext uri="{FF2B5EF4-FFF2-40B4-BE49-F238E27FC236}">
                <a16:creationId xmlns:a16="http://schemas.microsoft.com/office/drawing/2014/main" id="{199977E8-219A-D637-A6F9-5738C7227387}"/>
              </a:ext>
            </a:extLst>
          </p:cNvPr>
          <p:cNvSpPr txBox="1"/>
          <p:nvPr/>
        </p:nvSpPr>
        <p:spPr>
          <a:xfrm>
            <a:off x="3764767" y="2512665"/>
            <a:ext cx="1965960"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2C3E50"/>
                </a:solidFill>
                <a:effectLst/>
                <a:uLnTx/>
                <a:uFillTx/>
                <a:latin typeface="Arial"/>
                <a:ea typeface="+mn-ea"/>
                <a:cs typeface="+mn-cs"/>
              </a:rPr>
              <a:t>Definition · solutioning · sizing</a:t>
            </a:r>
          </a:p>
        </p:txBody>
      </p:sp>
      <p:sp>
        <p:nvSpPr>
          <p:cNvPr id="136" name="TextBox 23">
            <a:extLst>
              <a:ext uri="{FF2B5EF4-FFF2-40B4-BE49-F238E27FC236}">
                <a16:creationId xmlns:a16="http://schemas.microsoft.com/office/drawing/2014/main" id="{C4BCDF0C-8BE3-3C3E-27B1-F17B305FFA8F}"/>
              </a:ext>
            </a:extLst>
          </p:cNvPr>
          <p:cNvSpPr txBox="1"/>
          <p:nvPr/>
        </p:nvSpPr>
        <p:spPr>
          <a:xfrm>
            <a:off x="3764767" y="2817883"/>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Output: Roadmap · Budget · Sizing</a:t>
            </a:r>
          </a:p>
        </p:txBody>
      </p:sp>
      <p:sp>
        <p:nvSpPr>
          <p:cNvPr id="137" name="TextBox 24">
            <a:extLst>
              <a:ext uri="{FF2B5EF4-FFF2-40B4-BE49-F238E27FC236}">
                <a16:creationId xmlns:a16="http://schemas.microsoft.com/office/drawing/2014/main" id="{B6431EC9-95B4-7BB1-8C61-79A88249B3D5}"/>
              </a:ext>
            </a:extLst>
          </p:cNvPr>
          <p:cNvSpPr txBox="1"/>
          <p:nvPr/>
        </p:nvSpPr>
        <p:spPr>
          <a:xfrm>
            <a:off x="3778483" y="3022399"/>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38" name="TextBox 25">
            <a:extLst>
              <a:ext uri="{FF2B5EF4-FFF2-40B4-BE49-F238E27FC236}">
                <a16:creationId xmlns:a16="http://schemas.microsoft.com/office/drawing/2014/main" id="{ADFD1D0A-AA9C-1092-418E-E6ED2F3222E0}"/>
              </a:ext>
            </a:extLst>
          </p:cNvPr>
          <p:cNvSpPr txBox="1"/>
          <p:nvPr/>
        </p:nvSpPr>
        <p:spPr>
          <a:xfrm>
            <a:off x="3778483" y="3177847"/>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2C3E50"/>
                </a:solidFill>
                <a:effectLst/>
                <a:uLnTx/>
                <a:uFillTx/>
                <a:latin typeface="Arial"/>
                <a:ea typeface="+mn-ea"/>
                <a:cs typeface="+mn-cs"/>
              </a:rPr>
              <a:t>Product Manager + Tech Lead</a:t>
            </a:r>
          </a:p>
        </p:txBody>
      </p:sp>
      <p:sp>
        <p:nvSpPr>
          <p:cNvPr id="139" name="TextBox 26">
            <a:extLst>
              <a:ext uri="{FF2B5EF4-FFF2-40B4-BE49-F238E27FC236}">
                <a16:creationId xmlns:a16="http://schemas.microsoft.com/office/drawing/2014/main" id="{D142319E-CA80-C8D2-374A-138187C821B8}"/>
              </a:ext>
            </a:extLst>
          </p:cNvPr>
          <p:cNvSpPr txBox="1"/>
          <p:nvPr/>
        </p:nvSpPr>
        <p:spPr>
          <a:xfrm>
            <a:off x="3757909" y="340084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40" name="TextBox 27">
            <a:extLst>
              <a:ext uri="{FF2B5EF4-FFF2-40B4-BE49-F238E27FC236}">
                <a16:creationId xmlns:a16="http://schemas.microsoft.com/office/drawing/2014/main" id="{A7055CD2-0363-3AD0-48D9-D08FDD1FA489}"/>
              </a:ext>
            </a:extLst>
          </p:cNvPr>
          <p:cNvSpPr txBox="1"/>
          <p:nvPr/>
        </p:nvSpPr>
        <p:spPr>
          <a:xfrm>
            <a:off x="3757909" y="355629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Roadmap · Budget · Sizing</a:t>
            </a:r>
          </a:p>
        </p:txBody>
      </p:sp>
      <p:sp>
        <p:nvSpPr>
          <p:cNvPr id="141" name="TextBox 28">
            <a:extLst>
              <a:ext uri="{FF2B5EF4-FFF2-40B4-BE49-F238E27FC236}">
                <a16:creationId xmlns:a16="http://schemas.microsoft.com/office/drawing/2014/main" id="{960EDFDC-45FD-E025-3661-7B5CC69E4573}"/>
              </a:ext>
            </a:extLst>
          </p:cNvPr>
          <p:cNvSpPr txBox="1"/>
          <p:nvPr/>
        </p:nvSpPr>
        <p:spPr>
          <a:xfrm>
            <a:off x="3737334" y="375241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42" name="TextBox 29">
            <a:extLst>
              <a:ext uri="{FF2B5EF4-FFF2-40B4-BE49-F238E27FC236}">
                <a16:creationId xmlns:a16="http://schemas.microsoft.com/office/drawing/2014/main" id="{FBC160A5-9DA4-090A-67D2-15613B1E31C3}"/>
              </a:ext>
            </a:extLst>
          </p:cNvPr>
          <p:cNvSpPr txBox="1"/>
          <p:nvPr/>
        </p:nvSpPr>
        <p:spPr>
          <a:xfrm>
            <a:off x="3737334" y="390786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2–4 weeks per item</a:t>
            </a:r>
          </a:p>
        </p:txBody>
      </p:sp>
      <p:sp>
        <p:nvSpPr>
          <p:cNvPr id="143" name="TextBox 34">
            <a:extLst>
              <a:ext uri="{FF2B5EF4-FFF2-40B4-BE49-F238E27FC236}">
                <a16:creationId xmlns:a16="http://schemas.microsoft.com/office/drawing/2014/main" id="{1710AA53-EBF1-6664-5FEA-BAF9C82EB5BB}"/>
              </a:ext>
            </a:extLst>
          </p:cNvPr>
          <p:cNvSpPr txBox="1"/>
          <p:nvPr/>
        </p:nvSpPr>
        <p:spPr>
          <a:xfrm>
            <a:off x="5785590" y="4262244"/>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Planning · team / vendor assignment</a:t>
            </a:r>
          </a:p>
        </p:txBody>
      </p:sp>
      <p:sp>
        <p:nvSpPr>
          <p:cNvPr id="144" name="TextBox 35">
            <a:extLst>
              <a:ext uri="{FF2B5EF4-FFF2-40B4-BE49-F238E27FC236}">
                <a16:creationId xmlns:a16="http://schemas.microsoft.com/office/drawing/2014/main" id="{1EECD821-7F2E-7D88-3D7F-6DB9106C1AA2}"/>
              </a:ext>
            </a:extLst>
          </p:cNvPr>
          <p:cNvSpPr txBox="1"/>
          <p:nvPr/>
        </p:nvSpPr>
        <p:spPr>
          <a:xfrm>
            <a:off x="5785590" y="4567462"/>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Output: Outcome · KPIs · Strategic alignment</a:t>
            </a:r>
          </a:p>
        </p:txBody>
      </p:sp>
      <p:sp>
        <p:nvSpPr>
          <p:cNvPr id="145" name="TextBox 36">
            <a:extLst>
              <a:ext uri="{FF2B5EF4-FFF2-40B4-BE49-F238E27FC236}">
                <a16:creationId xmlns:a16="http://schemas.microsoft.com/office/drawing/2014/main" id="{20F0B0EA-3EFA-58E2-A6CF-AC39B606795C}"/>
              </a:ext>
            </a:extLst>
          </p:cNvPr>
          <p:cNvSpPr txBox="1"/>
          <p:nvPr/>
        </p:nvSpPr>
        <p:spPr>
          <a:xfrm>
            <a:off x="5785590" y="4870601"/>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46" name="TextBox 37">
            <a:extLst>
              <a:ext uri="{FF2B5EF4-FFF2-40B4-BE49-F238E27FC236}">
                <a16:creationId xmlns:a16="http://schemas.microsoft.com/office/drawing/2014/main" id="{D8BDD8EE-C617-74A5-87E1-EF09B9C260F7}"/>
              </a:ext>
            </a:extLst>
          </p:cNvPr>
          <p:cNvSpPr txBox="1"/>
          <p:nvPr/>
        </p:nvSpPr>
        <p:spPr>
          <a:xfrm>
            <a:off x="5785590" y="5026049"/>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Product Manager</a:t>
            </a:r>
          </a:p>
        </p:txBody>
      </p:sp>
      <p:sp>
        <p:nvSpPr>
          <p:cNvPr id="147" name="TextBox 38">
            <a:extLst>
              <a:ext uri="{FF2B5EF4-FFF2-40B4-BE49-F238E27FC236}">
                <a16:creationId xmlns:a16="http://schemas.microsoft.com/office/drawing/2014/main" id="{1C14000A-51B9-EFB6-7998-01A7DA7EEEC4}"/>
              </a:ext>
            </a:extLst>
          </p:cNvPr>
          <p:cNvSpPr txBox="1"/>
          <p:nvPr/>
        </p:nvSpPr>
        <p:spPr>
          <a:xfrm>
            <a:off x="5785590" y="533472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48" name="TextBox 39">
            <a:extLst>
              <a:ext uri="{FF2B5EF4-FFF2-40B4-BE49-F238E27FC236}">
                <a16:creationId xmlns:a16="http://schemas.microsoft.com/office/drawing/2014/main" id="{87EB9078-73C6-0113-FC62-BA2B1C0E6461}"/>
              </a:ext>
            </a:extLst>
          </p:cNvPr>
          <p:cNvSpPr txBox="1"/>
          <p:nvPr/>
        </p:nvSpPr>
        <p:spPr>
          <a:xfrm>
            <a:off x="5785590" y="549017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Outcome definition · KPIs</a:t>
            </a:r>
          </a:p>
        </p:txBody>
      </p:sp>
      <p:sp>
        <p:nvSpPr>
          <p:cNvPr id="149" name="TextBox 40">
            <a:extLst>
              <a:ext uri="{FF2B5EF4-FFF2-40B4-BE49-F238E27FC236}">
                <a16:creationId xmlns:a16="http://schemas.microsoft.com/office/drawing/2014/main" id="{33D571E4-8265-418E-B794-1C15103A36CE}"/>
              </a:ext>
            </a:extLst>
          </p:cNvPr>
          <p:cNvSpPr txBox="1"/>
          <p:nvPr/>
        </p:nvSpPr>
        <p:spPr>
          <a:xfrm>
            <a:off x="5785590" y="5791193"/>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50" name="TextBox 41">
            <a:extLst>
              <a:ext uri="{FF2B5EF4-FFF2-40B4-BE49-F238E27FC236}">
                <a16:creationId xmlns:a16="http://schemas.microsoft.com/office/drawing/2014/main" id="{A0C6C338-FB95-10F1-BBE0-224E6CA64DC0}"/>
              </a:ext>
            </a:extLst>
          </p:cNvPr>
          <p:cNvSpPr txBox="1"/>
          <p:nvPr/>
        </p:nvSpPr>
        <p:spPr>
          <a:xfrm>
            <a:off x="5785590" y="5953568"/>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1 sprint · pre-build kick-off</a:t>
            </a:r>
          </a:p>
        </p:txBody>
      </p:sp>
      <p:sp>
        <p:nvSpPr>
          <p:cNvPr id="151" name="TextBox 46">
            <a:extLst>
              <a:ext uri="{FF2B5EF4-FFF2-40B4-BE49-F238E27FC236}">
                <a16:creationId xmlns:a16="http://schemas.microsoft.com/office/drawing/2014/main" id="{F23578E4-D6F5-E103-3484-01BD45CCAD0D}"/>
              </a:ext>
            </a:extLst>
          </p:cNvPr>
          <p:cNvSpPr txBox="1"/>
          <p:nvPr/>
        </p:nvSpPr>
        <p:spPr>
          <a:xfrm>
            <a:off x="7751550" y="4231581"/>
            <a:ext cx="1965960"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Build · test · deploy iteratively</a:t>
            </a:r>
          </a:p>
        </p:txBody>
      </p:sp>
      <p:sp>
        <p:nvSpPr>
          <p:cNvPr id="152" name="TextBox 47">
            <a:extLst>
              <a:ext uri="{FF2B5EF4-FFF2-40B4-BE49-F238E27FC236}">
                <a16:creationId xmlns:a16="http://schemas.microsoft.com/office/drawing/2014/main" id="{CB1A559E-70CD-E754-115A-C64AF562A298}"/>
              </a:ext>
            </a:extLst>
          </p:cNvPr>
          <p:cNvSpPr txBox="1"/>
          <p:nvPr/>
        </p:nvSpPr>
        <p:spPr>
          <a:xfrm>
            <a:off x="7751550" y="4536799"/>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Kanban flow · daily / replenishment / service review · WIP per stage</a:t>
            </a:r>
          </a:p>
        </p:txBody>
      </p:sp>
      <p:sp>
        <p:nvSpPr>
          <p:cNvPr id="153" name="TextBox 48">
            <a:extLst>
              <a:ext uri="{FF2B5EF4-FFF2-40B4-BE49-F238E27FC236}">
                <a16:creationId xmlns:a16="http://schemas.microsoft.com/office/drawing/2014/main" id="{B200ADB4-8621-A476-9AB4-F60FD9B23EDA}"/>
              </a:ext>
            </a:extLst>
          </p:cNvPr>
          <p:cNvSpPr txBox="1"/>
          <p:nvPr/>
        </p:nvSpPr>
        <p:spPr>
          <a:xfrm>
            <a:off x="7751550" y="483993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54" name="TextBox 49">
            <a:extLst>
              <a:ext uri="{FF2B5EF4-FFF2-40B4-BE49-F238E27FC236}">
                <a16:creationId xmlns:a16="http://schemas.microsoft.com/office/drawing/2014/main" id="{51CABF5F-8233-AB75-41D2-316944924918}"/>
              </a:ext>
            </a:extLst>
          </p:cNvPr>
          <p:cNvSpPr txBox="1"/>
          <p:nvPr/>
        </p:nvSpPr>
        <p:spPr>
          <a:xfrm>
            <a:off x="7751550" y="499538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Squad (PM + Tech Lead + BA + dev/QA)</a:t>
            </a:r>
          </a:p>
        </p:txBody>
      </p:sp>
      <p:sp>
        <p:nvSpPr>
          <p:cNvPr id="155" name="TextBox 50">
            <a:extLst>
              <a:ext uri="{FF2B5EF4-FFF2-40B4-BE49-F238E27FC236}">
                <a16:creationId xmlns:a16="http://schemas.microsoft.com/office/drawing/2014/main" id="{997F576B-64DD-3B85-3C81-E761BDEAAB26}"/>
              </a:ext>
            </a:extLst>
          </p:cNvPr>
          <p:cNvSpPr txBox="1"/>
          <p:nvPr/>
        </p:nvSpPr>
        <p:spPr>
          <a:xfrm>
            <a:off x="7751550" y="5304065"/>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56" name="TextBox 51">
            <a:extLst>
              <a:ext uri="{FF2B5EF4-FFF2-40B4-BE49-F238E27FC236}">
                <a16:creationId xmlns:a16="http://schemas.microsoft.com/office/drawing/2014/main" id="{8C417AE5-BB16-3B7D-CABE-6763500D74AA}"/>
              </a:ext>
            </a:extLst>
          </p:cNvPr>
          <p:cNvSpPr txBox="1"/>
          <p:nvPr/>
        </p:nvSpPr>
        <p:spPr>
          <a:xfrm>
            <a:off x="7751550" y="5459513"/>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Released increments · cycle-time captured</a:t>
            </a:r>
          </a:p>
        </p:txBody>
      </p:sp>
      <p:sp>
        <p:nvSpPr>
          <p:cNvPr id="157" name="TextBox 52">
            <a:extLst>
              <a:ext uri="{FF2B5EF4-FFF2-40B4-BE49-F238E27FC236}">
                <a16:creationId xmlns:a16="http://schemas.microsoft.com/office/drawing/2014/main" id="{B648C651-03C9-FAEA-BCAA-9C81097FDC5A}"/>
              </a:ext>
            </a:extLst>
          </p:cNvPr>
          <p:cNvSpPr txBox="1"/>
          <p:nvPr/>
        </p:nvSpPr>
        <p:spPr>
          <a:xfrm>
            <a:off x="7751550" y="578823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58" name="TextBox 53">
            <a:extLst>
              <a:ext uri="{FF2B5EF4-FFF2-40B4-BE49-F238E27FC236}">
                <a16:creationId xmlns:a16="http://schemas.microsoft.com/office/drawing/2014/main" id="{CFECE56F-8477-A7CB-DFEE-2A7E678BFDC6}"/>
              </a:ext>
            </a:extLst>
          </p:cNvPr>
          <p:cNvSpPr txBox="1"/>
          <p:nvPr/>
        </p:nvSpPr>
        <p:spPr>
          <a:xfrm>
            <a:off x="7751550" y="594368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continuous · daily flow review</a:t>
            </a:r>
          </a:p>
        </p:txBody>
      </p:sp>
      <p:sp>
        <p:nvSpPr>
          <p:cNvPr id="159" name="TextBox 58">
            <a:extLst>
              <a:ext uri="{FF2B5EF4-FFF2-40B4-BE49-F238E27FC236}">
                <a16:creationId xmlns:a16="http://schemas.microsoft.com/office/drawing/2014/main" id="{B00C97F2-E08E-108F-1A7E-5DEB8AAB7647}"/>
              </a:ext>
            </a:extLst>
          </p:cNvPr>
          <p:cNvSpPr txBox="1"/>
          <p:nvPr/>
        </p:nvSpPr>
        <p:spPr>
          <a:xfrm>
            <a:off x="9778959" y="4208878"/>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Hypercare · stabilization · knowledge</a:t>
            </a:r>
          </a:p>
        </p:txBody>
      </p:sp>
      <p:sp>
        <p:nvSpPr>
          <p:cNvPr id="160" name="TextBox 59">
            <a:extLst>
              <a:ext uri="{FF2B5EF4-FFF2-40B4-BE49-F238E27FC236}">
                <a16:creationId xmlns:a16="http://schemas.microsoft.com/office/drawing/2014/main" id="{D7DBBD31-7C7A-BF18-A7BF-512D6F91D8D1}"/>
              </a:ext>
            </a:extLst>
          </p:cNvPr>
          <p:cNvSpPr txBox="1"/>
          <p:nvPr/>
        </p:nvSpPr>
        <p:spPr>
          <a:xfrm>
            <a:off x="9778959" y="4514096"/>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Handoff to BAU within 30 days post-launch</a:t>
            </a:r>
          </a:p>
        </p:txBody>
      </p:sp>
      <p:sp>
        <p:nvSpPr>
          <p:cNvPr id="161" name="TextBox 60">
            <a:extLst>
              <a:ext uri="{FF2B5EF4-FFF2-40B4-BE49-F238E27FC236}">
                <a16:creationId xmlns:a16="http://schemas.microsoft.com/office/drawing/2014/main" id="{5981E7D0-13E9-B721-ECD2-D91583B8EE26}"/>
              </a:ext>
            </a:extLst>
          </p:cNvPr>
          <p:cNvSpPr txBox="1"/>
          <p:nvPr/>
        </p:nvSpPr>
        <p:spPr>
          <a:xfrm>
            <a:off x="9778959" y="4817235"/>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62" name="TextBox 61">
            <a:extLst>
              <a:ext uri="{FF2B5EF4-FFF2-40B4-BE49-F238E27FC236}">
                <a16:creationId xmlns:a16="http://schemas.microsoft.com/office/drawing/2014/main" id="{F5BB2349-FF0F-DFF4-89FF-A7DE20DAF7E7}"/>
              </a:ext>
            </a:extLst>
          </p:cNvPr>
          <p:cNvSpPr txBox="1"/>
          <p:nvPr/>
        </p:nvSpPr>
        <p:spPr>
          <a:xfrm>
            <a:off x="9778959" y="4972683"/>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Operations + Tech Lead</a:t>
            </a:r>
          </a:p>
        </p:txBody>
      </p:sp>
      <p:sp>
        <p:nvSpPr>
          <p:cNvPr id="163" name="TextBox 62">
            <a:extLst>
              <a:ext uri="{FF2B5EF4-FFF2-40B4-BE49-F238E27FC236}">
                <a16:creationId xmlns:a16="http://schemas.microsoft.com/office/drawing/2014/main" id="{CB59AF31-29C0-F59E-52AD-2071C1983689}"/>
              </a:ext>
            </a:extLst>
          </p:cNvPr>
          <p:cNvSpPr txBox="1"/>
          <p:nvPr/>
        </p:nvSpPr>
        <p:spPr>
          <a:xfrm>
            <a:off x="9778959" y="5281362"/>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64" name="TextBox 63">
            <a:extLst>
              <a:ext uri="{FF2B5EF4-FFF2-40B4-BE49-F238E27FC236}">
                <a16:creationId xmlns:a16="http://schemas.microsoft.com/office/drawing/2014/main" id="{A7D4F861-D3BF-E6A6-643A-8531B58A306A}"/>
              </a:ext>
            </a:extLst>
          </p:cNvPr>
          <p:cNvSpPr txBox="1"/>
          <p:nvPr/>
        </p:nvSpPr>
        <p:spPr>
          <a:xfrm>
            <a:off x="9778959" y="5436810"/>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Stable production state</a:t>
            </a:r>
          </a:p>
        </p:txBody>
      </p:sp>
      <p:sp>
        <p:nvSpPr>
          <p:cNvPr id="165" name="TextBox 64">
            <a:extLst>
              <a:ext uri="{FF2B5EF4-FFF2-40B4-BE49-F238E27FC236}">
                <a16:creationId xmlns:a16="http://schemas.microsoft.com/office/drawing/2014/main" id="{B8362335-AC11-DE1F-EFEC-9FF9E9485109}"/>
              </a:ext>
            </a:extLst>
          </p:cNvPr>
          <p:cNvSpPr txBox="1"/>
          <p:nvPr/>
        </p:nvSpPr>
        <p:spPr>
          <a:xfrm>
            <a:off x="9778959" y="576553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66" name="TextBox 65">
            <a:extLst>
              <a:ext uri="{FF2B5EF4-FFF2-40B4-BE49-F238E27FC236}">
                <a16:creationId xmlns:a16="http://schemas.microsoft.com/office/drawing/2014/main" id="{3C126086-D45C-E2EB-06FA-0FED76218B5C}"/>
              </a:ext>
            </a:extLst>
          </p:cNvPr>
          <p:cNvSpPr txBox="1"/>
          <p:nvPr/>
        </p:nvSpPr>
        <p:spPr>
          <a:xfrm>
            <a:off x="9778959" y="592098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30-day hypercare window</a:t>
            </a:r>
          </a:p>
        </p:txBody>
      </p:sp>
      <p:sp>
        <p:nvSpPr>
          <p:cNvPr id="167" name="Rounded Rectangle 72">
            <a:extLst>
              <a:ext uri="{FF2B5EF4-FFF2-40B4-BE49-F238E27FC236}">
                <a16:creationId xmlns:a16="http://schemas.microsoft.com/office/drawing/2014/main" id="{347BE17D-0C3B-6440-3F5C-D79047553E43}"/>
              </a:ext>
            </a:extLst>
          </p:cNvPr>
          <p:cNvSpPr/>
          <p:nvPr/>
        </p:nvSpPr>
        <p:spPr>
          <a:xfrm>
            <a:off x="1737359" y="2351382"/>
            <a:ext cx="1955535" cy="154394"/>
          </a:xfrm>
          <a:prstGeom prst="roundRect">
            <a:avLst>
              <a:gd name="adj" fmla="val 4000"/>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8" name="TextBox 73">
            <a:extLst>
              <a:ext uri="{FF2B5EF4-FFF2-40B4-BE49-F238E27FC236}">
                <a16:creationId xmlns:a16="http://schemas.microsoft.com/office/drawing/2014/main" id="{781147D5-BDF4-943B-19C8-1B0AA9B17B79}"/>
              </a:ext>
            </a:extLst>
          </p:cNvPr>
          <p:cNvSpPr txBox="1"/>
          <p:nvPr/>
        </p:nvSpPr>
        <p:spPr>
          <a:xfrm>
            <a:off x="1737359" y="2348848"/>
            <a:ext cx="1955535" cy="159462"/>
          </a:xfrm>
          <a:prstGeom prst="rect">
            <a:avLst/>
          </a:prstGeom>
          <a:noFill/>
        </p:spPr>
        <p:txBody>
          <a:bodyPr wrap="square" lIns="36000" tIns="18000" rIns="36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Arial"/>
                <a:ea typeface="+mn-ea"/>
                <a:cs typeface="+mn-cs"/>
              </a:rPr>
              <a:t>DISCOVERY · NOT Digital Products</a:t>
            </a:r>
          </a:p>
        </p:txBody>
      </p:sp>
      <p:sp>
        <p:nvSpPr>
          <p:cNvPr id="169" name="Rounded Rectangle 175">
            <a:extLst>
              <a:ext uri="{FF2B5EF4-FFF2-40B4-BE49-F238E27FC236}">
                <a16:creationId xmlns:a16="http://schemas.microsoft.com/office/drawing/2014/main" id="{C9BBFAC9-DE1E-76B1-BECB-698C7B8010B3}"/>
              </a:ext>
            </a:extLst>
          </p:cNvPr>
          <p:cNvSpPr/>
          <p:nvPr/>
        </p:nvSpPr>
        <p:spPr>
          <a:xfrm>
            <a:off x="447080" y="6240832"/>
            <a:ext cx="11287413"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0" name="TextBox 176">
            <a:extLst>
              <a:ext uri="{FF2B5EF4-FFF2-40B4-BE49-F238E27FC236}">
                <a16:creationId xmlns:a16="http://schemas.microsoft.com/office/drawing/2014/main" id="{8FAD41A3-6693-9212-1D4B-29A1F7011016}"/>
              </a:ext>
            </a:extLst>
          </p:cNvPr>
          <p:cNvSpPr txBox="1"/>
          <p:nvPr/>
        </p:nvSpPr>
        <p:spPr>
          <a:xfrm>
            <a:off x="581972" y="6277408"/>
            <a:ext cx="10972625"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6B3F"/>
                </a:solidFill>
                <a:effectLst/>
                <a:uLnTx/>
                <a:uFillTx/>
                <a:latin typeface="Arial"/>
                <a:ea typeface="+mn-ea"/>
                <a:cs typeface="+mn-cs"/>
              </a:rPr>
              <a:t>HOW THE TWO WORLDS CONNECT  ·  Digital Products PM advisor in Discovery + </a:t>
            </a:r>
            <a:r>
              <a:rPr kumimoji="0" sz="900" b="1" i="0" u="none" strike="noStrike" kern="1200" cap="none" spc="0" normalizeH="0" baseline="0" noProof="0" err="1">
                <a:ln>
                  <a:noFill/>
                </a:ln>
                <a:solidFill>
                  <a:srgbClr val="006B3F"/>
                </a:solidFill>
                <a:effectLst/>
                <a:uLnTx/>
                <a:uFillTx/>
                <a:latin typeface="Arial"/>
                <a:ea typeface="+mn-ea"/>
                <a:cs typeface="+mn-cs"/>
              </a:rPr>
              <a:t>DoR</a:t>
            </a:r>
            <a:r>
              <a:rPr kumimoji="0" sz="900" b="1" i="0" u="none" strike="noStrike" kern="1200" cap="none" spc="0" normalizeH="0" baseline="0" noProof="0">
                <a:ln>
                  <a:noFill/>
                </a:ln>
                <a:solidFill>
                  <a:srgbClr val="006B3F"/>
                </a:solidFill>
                <a:effectLst/>
                <a:uLnTx/>
                <a:uFillTx/>
                <a:latin typeface="Arial"/>
                <a:ea typeface="+mn-ea"/>
                <a:cs typeface="+mn-cs"/>
              </a:rPr>
              <a:t> gate at handoff</a:t>
            </a:r>
          </a:p>
        </p:txBody>
      </p:sp>
      <p:sp>
        <p:nvSpPr>
          <p:cNvPr id="171" name="TextBox 177">
            <a:extLst>
              <a:ext uri="{FF2B5EF4-FFF2-40B4-BE49-F238E27FC236}">
                <a16:creationId xmlns:a16="http://schemas.microsoft.com/office/drawing/2014/main" id="{014B4816-12A8-BC60-37EA-702718225DFF}"/>
              </a:ext>
            </a:extLst>
          </p:cNvPr>
          <p:cNvSpPr txBox="1"/>
          <p:nvPr/>
        </p:nvSpPr>
        <p:spPr>
          <a:xfrm>
            <a:off x="581972" y="6423712"/>
            <a:ext cx="10972625"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2C3E50"/>
                </a:solidFill>
                <a:effectLst/>
                <a:uLnTx/>
                <a:uFillTx/>
                <a:latin typeface="Arial"/>
                <a:ea typeface="+mn-ea"/>
                <a:cs typeface="+mn-cs"/>
              </a:rPr>
              <a:t>1) PM (Digital Products) participates as ADVISOR in Phase 0/1 reviews  ·  2) DoR check gates Phase 1→2 (Materialization → Creation)  ·  3) Handoff package: Validated problem · Roadmap · Sizing · Budget</a:t>
            </a:r>
          </a:p>
        </p:txBody>
      </p:sp>
    </p:spTree>
    <p:extLst>
      <p:ext uri="{BB962C8B-B14F-4D97-AF65-F5344CB8AC3E}">
        <p14:creationId xmlns:p14="http://schemas.microsoft.com/office/powerpoint/2010/main" val="4037773655"/>
      </p:ext>
    </p:extLst>
  </p:cSld>
  <p:clrMapOvr>
    <a:masterClrMapping/>
  </p:clrMapOvr>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1A80-6BDE-B5B7-1212-99AFD4AF0EBC}"/>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BE7AFF0B-A283-E1A9-DC55-58EDD20383CF}"/>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PRIORITY BACKLOG</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0E451B17-9880-1990-E0B8-104D597118DE}"/>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F65DC361-F9AF-A763-6B43-39B80FD7EC1C}"/>
              </a:ext>
            </a:extLst>
          </p:cNvPr>
          <p:cNvSpPr txBox="1"/>
          <p:nvPr/>
        </p:nvSpPr>
        <p:spPr>
          <a:xfrm>
            <a:off x="1805653" y="924510"/>
            <a:ext cx="5225067" cy="720000"/>
          </a:xfrm>
          <a:prstGeom prst="rect">
            <a:avLst/>
          </a:prstGeom>
          <a:noFill/>
          <a:ln>
            <a:solidFill>
              <a:schemeClr val="accent3"/>
            </a:solidFill>
          </a:ln>
        </p:spPr>
        <p:txBody>
          <a:bodyPr wrap="square" lIns="45720" tIns="36576" rIns="45720" bIns="36576">
            <a:noAutofit/>
          </a:bodyPr>
          <a:lstStyle/>
          <a:p>
            <a:pPr>
              <a:lnSpc>
                <a:spcPct val="135000"/>
              </a:lnSpc>
            </a:pPr>
            <a:r>
              <a:rPr lang="en-US" sz="1050">
                <a:solidFill>
                  <a:srgbClr val="2C3E50"/>
                </a:solidFill>
                <a:latin typeface="Arial"/>
              </a:rPr>
              <a:t>Keep the work queue aligned with current business priorities so teams can pull the right work at the right time and maintain efficient, value-driven flow.</a:t>
            </a:r>
          </a:p>
        </p:txBody>
      </p:sp>
      <p:sp>
        <p:nvSpPr>
          <p:cNvPr id="19" name="Rectángulo 18">
            <a:extLst>
              <a:ext uri="{FF2B5EF4-FFF2-40B4-BE49-F238E27FC236}">
                <a16:creationId xmlns:a16="http://schemas.microsoft.com/office/drawing/2014/main" id="{2E86FC0D-3CB9-082A-3204-21BF29038B0F}"/>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CE76787B-852B-2867-111B-5106F46CA60F}"/>
              </a:ext>
            </a:extLst>
          </p:cNvPr>
          <p:cNvSpPr txBox="1"/>
          <p:nvPr/>
        </p:nvSpPr>
        <p:spPr>
          <a:xfrm>
            <a:off x="8786685" y="924510"/>
            <a:ext cx="3162973" cy="720000"/>
          </a:xfrm>
          <a:prstGeom prst="rect">
            <a:avLst/>
          </a:prstGeom>
          <a:noFill/>
          <a:ln>
            <a:solidFill>
              <a:schemeClr val="accent3"/>
            </a:solidFill>
          </a:ln>
        </p:spPr>
        <p:txBody>
          <a:bodyPr wrap="square" lIns="45720" tIns="36576" rIns="45720" bIns="36576" numCol="2">
            <a:noAutofit/>
          </a:bodyPr>
          <a:lstStyle/>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Delivery teams </a:t>
            </a: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Technical leads </a:t>
            </a: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Scrum masters / delivery managers </a:t>
            </a: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Product owners / business representatives </a:t>
            </a:r>
          </a:p>
        </p:txBody>
      </p:sp>
      <p:sp>
        <p:nvSpPr>
          <p:cNvPr id="33" name="Rounded Rectangle 5">
            <a:extLst>
              <a:ext uri="{FF2B5EF4-FFF2-40B4-BE49-F238E27FC236}">
                <a16:creationId xmlns:a16="http://schemas.microsoft.com/office/drawing/2014/main" id="{85B79805-F9C9-5C60-5F74-8976F3DE77C7}"/>
              </a:ext>
            </a:extLst>
          </p:cNvPr>
          <p:cNvSpPr/>
          <p:nvPr/>
        </p:nvSpPr>
        <p:spPr>
          <a:xfrm>
            <a:off x="213360" y="2118968"/>
            <a:ext cx="6817360"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Value prioritization</a:t>
            </a:r>
          </a:p>
          <a:p>
            <a:r>
              <a:rPr lang="en-US" sz="1100" b="1">
                <a:solidFill>
                  <a:schemeClr val="tx1"/>
                </a:solidFill>
                <a:latin typeface="Arial" panose="020B0604020202020204" pitchFamily="34" charset="0"/>
                <a:cs typeface="Arial" panose="020B0604020202020204" pitchFamily="34" charset="0"/>
              </a:rPr>
              <a:t>Activities </a:t>
            </a:r>
          </a:p>
          <a:p>
            <a:pPr marL="228600" indent="-228600">
              <a:buFont typeface="+mj-lt"/>
              <a:buAutoNum type="arabicPeriod"/>
            </a:pPr>
            <a:r>
              <a:rPr lang="en-US" sz="1100" b="1">
                <a:solidFill>
                  <a:srgbClr val="2C3E50"/>
                </a:solidFill>
                <a:latin typeface="Arial"/>
              </a:rPr>
              <a:t>Product Owner / Project Manager </a:t>
            </a:r>
            <a:r>
              <a:rPr lang="en-US" sz="1100">
                <a:solidFill>
                  <a:schemeClr val="tx1"/>
                </a:solidFill>
                <a:latin typeface="Arial" panose="020B0604020202020204" pitchFamily="34" charset="0"/>
                <a:cs typeface="Arial" panose="020B0604020202020204" pitchFamily="34" charset="0"/>
              </a:rPr>
              <a:t>Review backlog daily/weekly </a:t>
            </a:r>
          </a:p>
          <a:p>
            <a:pPr marL="228600" indent="-228600">
              <a:buFont typeface="+mj-lt"/>
              <a:buAutoNum type="arabicPeriod"/>
            </a:pPr>
            <a:r>
              <a:rPr lang="en-US" sz="1100" b="1">
                <a:solidFill>
                  <a:srgbClr val="2C3E50"/>
                </a:solidFill>
                <a:latin typeface="Arial"/>
              </a:rPr>
              <a:t>Product Owner / Project Manager / Technical Leads</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Use prioritization Model:</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Business value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Risk</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Regulatory urgency</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Cost of Delay</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n-US" sz="1100" b="1">
                <a:solidFill>
                  <a:srgbClr val="2C3E50"/>
                </a:solidFill>
                <a:latin typeface="Arial"/>
              </a:rPr>
              <a:t>Product Owner / Project Manager / Technical Leads </a:t>
            </a:r>
            <a:r>
              <a:rPr lang="en-US" sz="1100">
                <a:solidFill>
                  <a:schemeClr val="tx1"/>
                </a:solidFill>
                <a:latin typeface="Arial" panose="020B0604020202020204" pitchFamily="34" charset="0"/>
                <a:cs typeface="Arial" panose="020B0604020202020204" pitchFamily="34" charset="0"/>
              </a:rPr>
              <a:t>Reorder based on: </a:t>
            </a:r>
          </a:p>
          <a:p>
            <a:pPr marL="685800" lvl="1" indent="-2286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Value </a:t>
            </a:r>
          </a:p>
          <a:p>
            <a:pPr marL="685800" lvl="1" indent="-2286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Urgency </a:t>
            </a:r>
          </a:p>
          <a:p>
            <a:pPr marL="685800" lvl="1" indent="-2286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Risk </a:t>
            </a:r>
          </a:p>
          <a:p>
            <a:pPr marL="228600" indent="-228600">
              <a:buFont typeface="+mj-lt"/>
              <a:buAutoNum type="arabicPeriod"/>
            </a:pPr>
            <a:r>
              <a:rPr lang="en-US" sz="1100" b="1">
                <a:solidFill>
                  <a:srgbClr val="2C3E50"/>
                </a:solidFill>
                <a:latin typeface="Arial"/>
              </a:rPr>
              <a:t>Product Owner / Project Manager / Technical Leads </a:t>
            </a:r>
            <a:r>
              <a:rPr lang="en-US" sz="1100">
                <a:solidFill>
                  <a:schemeClr val="tx1"/>
                </a:solidFill>
                <a:latin typeface="Arial" panose="020B0604020202020204" pitchFamily="34" charset="0"/>
                <a:cs typeface="Arial" panose="020B0604020202020204" pitchFamily="34" charset="0"/>
              </a:rPr>
              <a:t>Ensure top items are ready to pull </a:t>
            </a:r>
          </a:p>
          <a:p>
            <a:pPr marL="228600" lvl="0" indent="-228600">
              <a:buFont typeface="+mj-lt"/>
              <a:buAutoNum type="arabicPeriod"/>
              <a:defRPr/>
            </a:pPr>
            <a:r>
              <a:rPr lang="en-US" sz="1100" b="1">
                <a:solidFill>
                  <a:srgbClr val="2C3E50"/>
                </a:solidFill>
                <a:latin typeface="Arial"/>
              </a:rPr>
              <a:t>Product Owner </a:t>
            </a:r>
            <a:r>
              <a:rPr lang="en-US" sz="1100">
                <a:solidFill>
                  <a:schemeClr val="tx1"/>
                </a:solidFill>
                <a:latin typeface="Arial" panose="020B0604020202020204" pitchFamily="34" charset="0"/>
                <a:cs typeface="Arial" panose="020B0604020202020204" pitchFamily="34" charset="0"/>
              </a:rPr>
              <a:t>Roadmap definition (short / mid / long term) </a:t>
            </a:r>
          </a:p>
          <a:p>
            <a:pPr marL="228600" lvl="0" indent="-228600">
              <a:buFont typeface="+mj-lt"/>
              <a:buAutoNum type="arabicPeriod"/>
              <a:defRPr/>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Planning cycles (e.g., monthly, quarterly) </a:t>
            </a: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r>
              <a:rPr lang="en-US" sz="1100" b="1" u="sng">
                <a:solidFill>
                  <a:schemeClr val="tx1"/>
                </a:solidFill>
                <a:latin typeface="Arial" panose="020B0604020202020204" pitchFamily="34" charset="0"/>
                <a:cs typeface="Arial" panose="020B0604020202020204" pitchFamily="34" charset="0"/>
              </a:rPr>
              <a:t>Completion Criteria</a:t>
            </a:r>
          </a:p>
          <a:p>
            <a:pPr marL="628650" lvl="1" indent="-17145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Top 5–10 items always ready </a:t>
            </a:r>
          </a:p>
          <a:p>
            <a:pPr marL="628650" lvl="1" indent="-17145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Backlog is continuously ordered </a:t>
            </a:r>
          </a:p>
        </p:txBody>
      </p:sp>
      <p:sp>
        <p:nvSpPr>
          <p:cNvPr id="34" name="Rectángulo 33">
            <a:extLst>
              <a:ext uri="{FF2B5EF4-FFF2-40B4-BE49-F238E27FC236}">
                <a16:creationId xmlns:a16="http://schemas.microsoft.com/office/drawing/2014/main" id="{A574BD24-0A4A-A91E-2E3B-4F4A3125BAC1}"/>
              </a:ext>
            </a:extLst>
          </p:cNvPr>
          <p:cNvSpPr/>
          <p:nvPr/>
        </p:nvSpPr>
        <p:spPr>
          <a:xfrm>
            <a:off x="213360" y="1756648"/>
            <a:ext cx="6840000"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PROCESS</a:t>
            </a:r>
          </a:p>
        </p:txBody>
      </p:sp>
      <p:sp>
        <p:nvSpPr>
          <p:cNvPr id="36" name="Rounded Rectangle 5">
            <a:extLst>
              <a:ext uri="{FF2B5EF4-FFF2-40B4-BE49-F238E27FC236}">
                <a16:creationId xmlns:a16="http://schemas.microsoft.com/office/drawing/2014/main" id="{4C4F616D-0B50-5051-9E46-BD24BC7B664E}"/>
              </a:ext>
            </a:extLst>
          </p:cNvPr>
          <p:cNvSpPr/>
          <p:nvPr/>
        </p:nvSpPr>
        <p:spPr>
          <a:xfrm>
            <a:off x="7213600" y="2118968"/>
            <a:ext cx="4736058"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a:t>
            </a:r>
          </a:p>
          <a:p>
            <a:pPr marL="685800" lvl="1" indent="-22860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137FF0F8-6BAA-86E3-6B41-1B7DFD7BA4A5}"/>
              </a:ext>
            </a:extLst>
          </p:cNvPr>
          <p:cNvSpPr/>
          <p:nvPr/>
        </p:nvSpPr>
        <p:spPr>
          <a:xfrm>
            <a:off x="7213600" y="1756648"/>
            <a:ext cx="4736058"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ARTIFACTS</a:t>
            </a:r>
          </a:p>
        </p:txBody>
      </p:sp>
      <p:sp>
        <p:nvSpPr>
          <p:cNvPr id="2" name="Rounded Rectangle 5">
            <a:extLst>
              <a:ext uri="{FF2B5EF4-FFF2-40B4-BE49-F238E27FC236}">
                <a16:creationId xmlns:a16="http://schemas.microsoft.com/office/drawing/2014/main" id="{54EEB970-A860-B290-26DC-A72F8A62A264}"/>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DF5AE12-71FA-B926-8654-73E3A897FD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B073936E-33C0-7F32-2F6A-E8C02C7011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161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656A7-7E60-54EF-96EC-86B233623A0C}"/>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1E144089-E273-BA0A-4BA4-D99FF75BDAB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CAPACITY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32953027-7744-6B14-1B4D-6027E8B49B13}"/>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68E13A88-AC32-CB71-E882-3FF20384368C}"/>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Intentionally control how team effort is distributed so that all critical types of work are delivered without overloading the system or compromising flow.</a:t>
            </a:r>
          </a:p>
        </p:txBody>
      </p:sp>
      <p:sp>
        <p:nvSpPr>
          <p:cNvPr id="19" name="Rectángulo 18">
            <a:extLst>
              <a:ext uri="{FF2B5EF4-FFF2-40B4-BE49-F238E27FC236}">
                <a16:creationId xmlns:a16="http://schemas.microsoft.com/office/drawing/2014/main" id="{D1044455-6EEA-E6E9-2049-8F82C5F591C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E1F845CB-B8B7-1598-4900-A43411117D0F}"/>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Business stakeholders</a:t>
            </a:r>
          </a:p>
        </p:txBody>
      </p:sp>
      <p:sp>
        <p:nvSpPr>
          <p:cNvPr id="33" name="Rounded Rectangle 5">
            <a:extLst>
              <a:ext uri="{FF2B5EF4-FFF2-40B4-BE49-F238E27FC236}">
                <a16:creationId xmlns:a16="http://schemas.microsoft.com/office/drawing/2014/main" id="{60120BCD-9FCD-EA7B-A1C7-AD8CAF17B616}"/>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Initial classification and triage</a:t>
            </a:r>
          </a:p>
          <a:p>
            <a:r>
              <a:rPr lang="en-US" sz="1100" b="1">
                <a:solidFill>
                  <a:schemeClr val="tx1"/>
                </a:solidFill>
                <a:latin typeface="Arial" panose="020B0604020202020204" pitchFamily="34" charset="0"/>
                <a:cs typeface="Arial" panose="020B0604020202020204" pitchFamily="34" charset="0"/>
              </a:rPr>
              <a:t>Activities </a:t>
            </a:r>
          </a:p>
          <a:p>
            <a:pPr marL="228600" indent="-228600">
              <a:buFont typeface="+mj-lt"/>
              <a:buAutoNum type="arabicPeriod"/>
            </a:pPr>
            <a:r>
              <a:rPr lang="en-US" sz="1100" b="1">
                <a:solidFill>
                  <a:srgbClr val="2C3E50"/>
                </a:solidFill>
                <a:latin typeface="Arial"/>
              </a:rPr>
              <a:t>Project Manager</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define % allocation: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Build: 60%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BAU: 25%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Upgrades: 15% </a:t>
            </a:r>
          </a:p>
          <a:p>
            <a:pPr marL="228600" indent="-228600">
              <a:buFont typeface="+mj-lt"/>
              <a:buAutoNum type="arabicPeriod"/>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Monitor actual vs planned </a:t>
            </a:r>
          </a:p>
          <a:p>
            <a:pPr marL="228600" indent="-228600">
              <a:buFont typeface="+mj-lt"/>
              <a:buAutoNum type="arabicPeriod"/>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Adjust if imbalance occurs </a:t>
            </a:r>
          </a:p>
          <a:p>
            <a:pPr marL="228600" indent="-228600">
              <a:buFont typeface="+mj-lt"/>
              <a:buAutoNum type="arabicPeriod"/>
              <a:defRPr/>
            </a:pPr>
            <a:r>
              <a:rPr lang="en-US" sz="1100" b="1">
                <a:solidFill>
                  <a:srgbClr val="2C3E50"/>
                </a:solidFill>
                <a:latin typeface="Arial"/>
              </a:rPr>
              <a:t>Project Manager</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Capacity planning and forecasting </a:t>
            </a:r>
          </a:p>
          <a:p>
            <a:pPr marL="228600" indent="-228600">
              <a:buFont typeface="+mj-lt"/>
              <a:buAutoNum type="arabicPeriod"/>
              <a:defRPr/>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Alignment between demand and available capacity </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u="sng">
              <a:solidFill>
                <a:schemeClr val="tx1"/>
              </a:solidFill>
              <a:latin typeface="Arial" panose="020B0604020202020204" pitchFamily="34" charset="0"/>
              <a:cs typeface="Arial" panose="020B0604020202020204" pitchFamily="34" charset="0"/>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Work types are balanced </a:t>
            </a:r>
          </a:p>
          <a:p>
            <a:pPr marL="628650" lvl="1" indent="-171450">
              <a:buFont typeface="Arial" panose="020B0604020202020204" pitchFamily="34" charset="0"/>
              <a:buChar char="•"/>
            </a:pPr>
            <a:r>
              <a:rPr lang="en-US" sz="1100">
                <a:solidFill>
                  <a:schemeClr val="tx1"/>
                </a:solidFill>
              </a:rPr>
              <a:t>No overload of BAU </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2713F84B-95AA-2DD7-C2E3-F0B43436F9BE}"/>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1BEEB38C-A577-D5E1-BF83-D9525CCF9CCC}"/>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342900" indent="-342900">
              <a:buAutoNum type="arabicPeriod"/>
            </a:pPr>
            <a:r>
              <a:rPr lang="en-US" sz="1100">
                <a:solidFill>
                  <a:schemeClr val="tx1"/>
                </a:solidFill>
                <a:latin typeface="Arial" panose="020B0604020202020204" pitchFamily="34" charset="0"/>
                <a:cs typeface="Arial" panose="020B0604020202020204" pitchFamily="34" charset="0"/>
              </a:rPr>
              <a:t>Work Type </a:t>
            </a:r>
          </a:p>
          <a:p>
            <a:pPr marL="228600" indent="-228600">
              <a:buAutoNum type="arabicPeriod"/>
            </a:pPr>
            <a:endParaRPr lang="en-US" sz="1200">
              <a:solidFill>
                <a:schemeClr val="tx1"/>
              </a:solidFill>
              <a:highlight>
                <a:srgbClr val="FFFF00"/>
              </a:highlight>
            </a:endParaRPr>
          </a:p>
          <a:p>
            <a:pPr marL="171450" indent="-17145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F9D07B41-6826-460F-5DE2-8A46DBB74A4D}"/>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55DDAE33-3102-647C-FFC2-D2BAEA374447}"/>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FCF37CD-5375-70C9-4A21-5140CC183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5A15DD14-8812-7356-99F1-75DDEB884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733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93CE-5179-56A7-B821-C10869D1BE80}"/>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89E520F7-0978-B18F-0E8E-B6572BD5654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WORK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7261385A-E624-1322-8707-E69D54A86C6B}"/>
              </a:ext>
            </a:extLst>
          </p:cNvPr>
          <p:cNvSpPr/>
          <p:nvPr/>
        </p:nvSpPr>
        <p:spPr>
          <a:xfrm>
            <a:off x="216237"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OBJECTIVE</a:t>
            </a:r>
          </a:p>
        </p:txBody>
      </p:sp>
      <p:sp>
        <p:nvSpPr>
          <p:cNvPr id="14" name="TextBox 13">
            <a:extLst>
              <a:ext uri="{FF2B5EF4-FFF2-40B4-BE49-F238E27FC236}">
                <a16:creationId xmlns:a16="http://schemas.microsoft.com/office/drawing/2014/main" id="{7AA410AE-FABB-A949-5D7C-B93DCBD06A25}"/>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sp>
        <p:nvSpPr>
          <p:cNvPr id="19" name="Rectángulo 18">
            <a:extLst>
              <a:ext uri="{FF2B5EF4-FFF2-40B4-BE49-F238E27FC236}">
                <a16:creationId xmlns:a16="http://schemas.microsoft.com/office/drawing/2014/main" id="{E127D910-6FD1-3556-BF0A-17EB848BF575}"/>
              </a:ext>
            </a:extLst>
          </p:cNvPr>
          <p:cNvSpPr/>
          <p:nvPr/>
        </p:nvSpPr>
        <p:spPr>
          <a:xfrm>
            <a:off x="7195771"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PARTICIPANTS</a:t>
            </a:r>
          </a:p>
        </p:txBody>
      </p:sp>
      <p:sp>
        <p:nvSpPr>
          <p:cNvPr id="32" name="TextBox 13">
            <a:extLst>
              <a:ext uri="{FF2B5EF4-FFF2-40B4-BE49-F238E27FC236}">
                <a16:creationId xmlns:a16="http://schemas.microsoft.com/office/drawing/2014/main" id="{6DDD1B05-7E2A-8770-0018-F3BD8358F0E9}"/>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Dev team</a:t>
            </a:r>
          </a:p>
        </p:txBody>
      </p:sp>
      <p:sp>
        <p:nvSpPr>
          <p:cNvPr id="33" name="Rounded Rectangle 5">
            <a:extLst>
              <a:ext uri="{FF2B5EF4-FFF2-40B4-BE49-F238E27FC236}">
                <a16:creationId xmlns:a16="http://schemas.microsoft.com/office/drawing/2014/main" id="{8BBC5DF3-2862-5586-9CE9-2A28379E57BD}"/>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PRE-ESTIMATION AND WORK ALLOCATION</a:t>
            </a:r>
          </a:p>
          <a:p>
            <a:r>
              <a:rPr lang="en-US" sz="1100" b="1">
                <a:solidFill>
                  <a:schemeClr val="tx1"/>
                </a:solidFill>
                <a:latin typeface="Arial" panose="020B0604020202020204" pitchFamily="34" charset="0"/>
                <a:cs typeface="Arial" panose="020B0604020202020204" pitchFamily="34" charset="0"/>
              </a:rPr>
              <a:t>Activities </a:t>
            </a:r>
          </a:p>
          <a:p>
            <a:r>
              <a:rPr lang="en-US" sz="1100" b="1">
                <a:solidFill>
                  <a:schemeClr val="tx1"/>
                </a:solidFill>
              </a:rPr>
              <a:t>Product Owner </a:t>
            </a:r>
            <a:r>
              <a:rPr lang="en-US" sz="1100">
                <a:solidFill>
                  <a:schemeClr val="tx1"/>
                </a:solidFill>
              </a:rPr>
              <a:t>Leads during backlog refinement: </a:t>
            </a:r>
          </a:p>
          <a:p>
            <a:pPr marL="628650" lvl="1" indent="-171450">
              <a:buFont typeface="Arial" panose="020B0604020202020204" pitchFamily="34" charset="0"/>
              <a:buChar char="•"/>
            </a:pPr>
            <a:r>
              <a:rPr lang="en-US" sz="1100" b="1">
                <a:solidFill>
                  <a:schemeClr val="tx1"/>
                </a:solidFill>
              </a:rPr>
              <a:t>Dev team </a:t>
            </a:r>
            <a:r>
              <a:rPr lang="en-US" sz="1100">
                <a:solidFill>
                  <a:schemeClr val="tx1"/>
                </a:solidFill>
              </a:rPr>
              <a:t>reviews upcoming items </a:t>
            </a:r>
          </a:p>
          <a:p>
            <a:r>
              <a:rPr lang="en-US" sz="1100" b="1">
                <a:solidFill>
                  <a:schemeClr val="tx1"/>
                </a:solidFill>
              </a:rPr>
              <a:t>Project Manager / Technical Lead / Dev team / Product Owner  </a:t>
            </a:r>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Story Points </a:t>
            </a:r>
          </a:p>
          <a:p>
            <a:pPr lvl="1"/>
            <a:endParaRPr lang="en-US" sz="1100">
              <a:solidFill>
                <a:schemeClr val="tx1"/>
              </a:solidFill>
            </a:endParaRPr>
          </a:p>
          <a:p>
            <a:pPr lvl="1"/>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endParaRPr lang="en-US" sz="1100">
              <a:solidFill>
                <a:schemeClr val="tx1"/>
              </a:solidFill>
            </a:endParaRP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Work allocation to teams / squads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Handling of unplanned or ad-hoc demand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Grouping and structuring of work (epics, features, initiatives) </a:t>
            </a:r>
          </a:p>
          <a:p>
            <a:endParaRPr lang="en-US" sz="1100">
              <a:solidFill>
                <a:schemeClr val="tx1"/>
              </a:solidFill>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a:p>
            <a:pPr marL="228600" indent="-228600">
              <a:buFont typeface="+mj-lt"/>
              <a:buAutoNum type="arabicPeriod"/>
              <a:defRPr/>
            </a:pPr>
            <a:endParaRPr lang="en-US" sz="1100">
              <a:solidFill>
                <a:schemeClr val="tx1"/>
              </a:solidFill>
              <a:highlight>
                <a:srgbClr val="FFFF00"/>
              </a:highlight>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0586900C-CC06-9DBC-316B-BB133C1ED8EC}"/>
              </a:ext>
            </a:extLst>
          </p:cNvPr>
          <p:cNvSpPr/>
          <p:nvPr/>
        </p:nvSpPr>
        <p:spPr>
          <a:xfrm>
            <a:off x="213360" y="1756648"/>
            <a:ext cx="6840000"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5E4465BC-DE6C-9292-307B-3E726BC3A97C}"/>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Story Point</a:t>
            </a: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 (PBIs)</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C7915E40-163A-862C-212A-0F2185DEDBE7}"/>
              </a:ext>
            </a:extLst>
          </p:cNvPr>
          <p:cNvSpPr/>
          <p:nvPr/>
        </p:nvSpPr>
        <p:spPr>
          <a:xfrm>
            <a:off x="7213600" y="1756648"/>
            <a:ext cx="4736058"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664927A7-42AC-A5E7-321A-F555F3522E63}"/>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345CE9D-7E8C-C7D1-3F7C-788E63543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25F5CAE1-F7C9-8C04-58E1-3442ACA63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6170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E659C-5A53-D040-4824-ED36E0B4B3A9}"/>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E3666587-3B0E-792D-112F-5BAB616075F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Pre-estimation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E8D5A05B-9D03-770B-B3B7-690E9937B65F}"/>
              </a:ext>
            </a:extLst>
          </p:cNvPr>
          <p:cNvSpPr/>
          <p:nvPr/>
        </p:nvSpPr>
        <p:spPr>
          <a:xfrm>
            <a:off x="216237"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OBJECTIVE</a:t>
            </a:r>
          </a:p>
        </p:txBody>
      </p:sp>
      <p:sp>
        <p:nvSpPr>
          <p:cNvPr id="14" name="TextBox 13">
            <a:extLst>
              <a:ext uri="{FF2B5EF4-FFF2-40B4-BE49-F238E27FC236}">
                <a16:creationId xmlns:a16="http://schemas.microsoft.com/office/drawing/2014/main" id="{0D3E05E6-B420-C641-A4AE-45BFB6BC981B}"/>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sp>
        <p:nvSpPr>
          <p:cNvPr id="19" name="Rectángulo 18">
            <a:extLst>
              <a:ext uri="{FF2B5EF4-FFF2-40B4-BE49-F238E27FC236}">
                <a16:creationId xmlns:a16="http://schemas.microsoft.com/office/drawing/2014/main" id="{4D5ED961-B325-7416-4E60-8B659A682751}"/>
              </a:ext>
            </a:extLst>
          </p:cNvPr>
          <p:cNvSpPr/>
          <p:nvPr/>
        </p:nvSpPr>
        <p:spPr>
          <a:xfrm>
            <a:off x="7195771"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PARTICIPANTS</a:t>
            </a:r>
          </a:p>
        </p:txBody>
      </p:sp>
      <p:sp>
        <p:nvSpPr>
          <p:cNvPr id="32" name="TextBox 13">
            <a:extLst>
              <a:ext uri="{FF2B5EF4-FFF2-40B4-BE49-F238E27FC236}">
                <a16:creationId xmlns:a16="http://schemas.microsoft.com/office/drawing/2014/main" id="{7C324437-15A5-6546-2CA6-72326F3D6503}"/>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Dev team</a:t>
            </a:r>
          </a:p>
        </p:txBody>
      </p:sp>
      <p:sp>
        <p:nvSpPr>
          <p:cNvPr id="33" name="Rounded Rectangle 5">
            <a:extLst>
              <a:ext uri="{FF2B5EF4-FFF2-40B4-BE49-F238E27FC236}">
                <a16:creationId xmlns:a16="http://schemas.microsoft.com/office/drawing/2014/main" id="{BFAA1AF4-BD67-CFB2-A3B0-92FB4AE06528}"/>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PRE-ESTIMATION AND WORK ALLOCATION</a:t>
            </a:r>
          </a:p>
          <a:p>
            <a:r>
              <a:rPr lang="en-US" sz="1100" b="1">
                <a:solidFill>
                  <a:schemeClr val="tx1"/>
                </a:solidFill>
                <a:latin typeface="Arial" panose="020B0604020202020204" pitchFamily="34" charset="0"/>
                <a:cs typeface="Arial" panose="020B0604020202020204" pitchFamily="34" charset="0"/>
              </a:rPr>
              <a:t>Activities </a:t>
            </a:r>
          </a:p>
          <a:p>
            <a:r>
              <a:rPr lang="en-US" sz="1100" b="1">
                <a:solidFill>
                  <a:schemeClr val="tx1"/>
                </a:solidFill>
              </a:rPr>
              <a:t>Product Owner </a:t>
            </a:r>
            <a:r>
              <a:rPr lang="en-US" sz="1100">
                <a:solidFill>
                  <a:schemeClr val="tx1"/>
                </a:solidFill>
              </a:rPr>
              <a:t>Leads during backlog refinement: </a:t>
            </a:r>
          </a:p>
          <a:p>
            <a:pPr marL="628650" lvl="1" indent="-171450">
              <a:buFont typeface="Arial" panose="020B0604020202020204" pitchFamily="34" charset="0"/>
              <a:buChar char="•"/>
            </a:pPr>
            <a:r>
              <a:rPr lang="en-US" sz="1100" b="1">
                <a:solidFill>
                  <a:schemeClr val="tx1"/>
                </a:solidFill>
              </a:rPr>
              <a:t>Dev team </a:t>
            </a:r>
            <a:r>
              <a:rPr lang="en-US" sz="1100">
                <a:solidFill>
                  <a:schemeClr val="tx1"/>
                </a:solidFill>
              </a:rPr>
              <a:t>reviews upcoming items </a:t>
            </a:r>
          </a:p>
          <a:p>
            <a:r>
              <a:rPr lang="en-US" sz="1100" b="1">
                <a:solidFill>
                  <a:schemeClr val="tx1"/>
                </a:solidFill>
              </a:rPr>
              <a:t>Project Manager / Technical Lead / Dev team / Product Owner  </a:t>
            </a:r>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Story Points </a:t>
            </a:r>
          </a:p>
          <a:p>
            <a:pPr lvl="1"/>
            <a:endParaRPr lang="en-US" sz="1100">
              <a:solidFill>
                <a:schemeClr val="tx1"/>
              </a:solidFill>
            </a:endParaRPr>
          </a:p>
          <a:p>
            <a:pPr lvl="1"/>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endParaRPr lang="en-US" sz="1100">
              <a:solidFill>
                <a:schemeClr val="tx1"/>
              </a:solidFill>
            </a:endParaRP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Work allocation to teams / squads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Handling of unplanned or ad-hoc demand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Grouping and structuring of work (epics, features, initiatives) </a:t>
            </a:r>
          </a:p>
          <a:p>
            <a:endParaRPr lang="en-US" sz="1100">
              <a:solidFill>
                <a:schemeClr val="tx1"/>
              </a:solidFill>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a:p>
            <a:pPr marL="228600" indent="-228600">
              <a:buFont typeface="+mj-lt"/>
              <a:buAutoNum type="arabicPeriod"/>
              <a:defRPr/>
            </a:pPr>
            <a:endParaRPr lang="en-US" sz="1100">
              <a:solidFill>
                <a:schemeClr val="tx1"/>
              </a:solidFill>
              <a:highlight>
                <a:srgbClr val="FFFF00"/>
              </a:highlight>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6086D843-13C8-5F18-B62A-999DBD0C8619}"/>
              </a:ext>
            </a:extLst>
          </p:cNvPr>
          <p:cNvSpPr/>
          <p:nvPr/>
        </p:nvSpPr>
        <p:spPr>
          <a:xfrm>
            <a:off x="213360" y="1756648"/>
            <a:ext cx="6840000"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914AD3D5-3741-B901-754B-14BABFA85434}"/>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Story Point</a:t>
            </a: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 (PBIs)</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0AEF891E-0AE5-CC3D-AF11-C7381B0C015F}"/>
              </a:ext>
            </a:extLst>
          </p:cNvPr>
          <p:cNvSpPr/>
          <p:nvPr/>
        </p:nvSpPr>
        <p:spPr>
          <a:xfrm>
            <a:off x="7213600" y="1756648"/>
            <a:ext cx="4736058"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24D80C41-0F51-7D9F-AB7F-040564D0D974}"/>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604509D-5ACF-F7F6-7624-9E2DC844E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1871B00E-AE57-4B39-B8AF-1BCA9E2D2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618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2512-1F65-21E3-C1F9-B4F2AA9F6C7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D992DB45-6715-8B2A-0119-7AD04BCD5D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7522115-5DC5-DCCD-F3BD-4A63A2189F9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1DE75201-DC08-ECA4-2F06-367090B8EA35}"/>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E830E8A-403F-E987-6CBB-C939E9EB0BE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6AD8E879-25C4-9C0A-A07B-AAF8F1A830F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ADFF5915-9E82-5CBC-147F-32160C799B2D}"/>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90897509-1746-319A-8BA7-64C405709F3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B8B3242-387B-35E1-BFB0-545497A918F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38F17C63-6452-DCC2-6AE3-033337E991ED}"/>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0B3F3A9B-E239-FB81-DEB8-455DD6B9306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034C9943-19BA-DE8C-BC59-BB58F66544ED}"/>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58CFAF5F-85A2-04D9-EE23-401993C59157}"/>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9F042DA-A1EA-A933-A6AB-86A2A27F406D}"/>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EF7773A1-4069-31B8-F66A-B66475150F39}"/>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DE5F2279-6C76-C273-74B9-7CE30DC9A283}"/>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119FFB73-E27C-02C8-F2AA-A7DF282B2034}"/>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7FD43443-D051-597A-FA90-73D8374EC8FA}"/>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6E040681-6A9E-232A-DC2F-A378F5B48E3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2142C641-BA9E-AE4B-F497-2751AD7AEFC3}"/>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73C0E7B-E59D-DCDD-3744-570522DBAD5D}"/>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F3E976A1-74CE-045C-CDF4-DCEC04E8325B}"/>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DEMAND MANAGEMENT</a:t>
            </a:r>
          </a:p>
          <a:p>
            <a:pPr>
              <a:lnSpc>
                <a:spcPct val="150000"/>
              </a:lnSpc>
            </a:pPr>
            <a:r>
              <a:rPr lang="es-MX">
                <a:solidFill>
                  <a:prstClr val="black">
                    <a:lumMod val="50000"/>
                    <a:lumOff val="50000"/>
                  </a:prstClr>
                </a:solidFill>
                <a:latin typeface="Arial" panose="020B0604020202020204" pitchFamily="34" charset="0"/>
                <a:cs typeface="Arial" panose="020B0604020202020204" pitchFamily="34" charset="0"/>
              </a:rPr>
              <a:t>PREPARATION &amp; PLANNING</a:t>
            </a:r>
          </a:p>
          <a:p>
            <a:pPr>
              <a:lnSpc>
                <a:spcPct val="150000"/>
              </a:lnSpc>
            </a:pPr>
            <a:r>
              <a:rPr lang="es-MX" b="1">
                <a:solidFill>
                  <a:srgbClr val="156082"/>
                </a:solidFill>
                <a:latin typeface="Arial" panose="020B0604020202020204" pitchFamily="34" charset="0"/>
                <a:cs typeface="Arial" panose="020B0604020202020204" pitchFamily="34" charset="0"/>
              </a:rPr>
              <a:t>EXECUTION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DEPLOYMENT</a:t>
            </a:r>
          </a:p>
        </p:txBody>
      </p:sp>
    </p:spTree>
    <p:extLst>
      <p:ext uri="{BB962C8B-B14F-4D97-AF65-F5344CB8AC3E}">
        <p14:creationId xmlns:p14="http://schemas.microsoft.com/office/powerpoint/2010/main" val="362389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CA57-576D-5909-BDC1-16A1DD3D8165}"/>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E07053C4-2FEB-388C-A826-4A8B25C704A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EXECUTION – PULL WORK</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F7613640-9FB2-4781-E718-70637FE94C6C}"/>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C9183252-8256-8ADB-3BE3-A2203F11906C}"/>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Ensure that work enters execution only when there is capacity and readiness, enabling smooth, efficient, and sustainable flow in a Kanban system.</a:t>
            </a:r>
          </a:p>
        </p:txBody>
      </p:sp>
      <p:sp>
        <p:nvSpPr>
          <p:cNvPr id="19" name="Rectángulo 18">
            <a:extLst>
              <a:ext uri="{FF2B5EF4-FFF2-40B4-BE49-F238E27FC236}">
                <a16:creationId xmlns:a16="http://schemas.microsoft.com/office/drawing/2014/main" id="{70A4CE8B-42A0-DE8E-6646-1043BAD93130}"/>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E28EDBDF-5E2B-B881-9E8D-1CE2F2AA9545}"/>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Pull work</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altLang="en-US" sz="1100" b="1">
                <a:solidFill>
                  <a:schemeClr val="tx1">
                    <a:lumMod val="50000"/>
                  </a:schemeClr>
                </a:solidFill>
                <a:latin typeface="Arial" panose="020B0604020202020204" pitchFamily="34" charset="0"/>
              </a:rPr>
              <a:t>checks WIP limits:</a:t>
            </a:r>
            <a:br>
              <a:rPr lang="en-US" altLang="en-US" sz="1100">
                <a:solidFill>
                  <a:schemeClr val="tx1">
                    <a:lumMod val="50000"/>
                  </a:schemeClr>
                </a:solidFill>
                <a:latin typeface="Arial" panose="020B0604020202020204" pitchFamily="34" charset="0"/>
              </a:rPr>
            </a:br>
            <a:r>
              <a:rPr lang="en-US" altLang="en-US" sz="1100">
                <a:solidFill>
                  <a:schemeClr val="tx1">
                    <a:lumMod val="50000"/>
                  </a:schemeClr>
                </a:solidFill>
                <a:latin typeface="Arial" panose="020B0604020202020204" pitchFamily="34" charset="0"/>
              </a:rPr>
              <a:t>The team continuously monitors Work In Progress (WIP) limits in Kanban Board to ensure that ongoing work remains within defined capacity thresholds. This discipline helps prevent overloading the system, reduces context switching, and maintains a stable and predictable delivery flow. It is necessary to have a definition of delivery standards and guidelines before to develop any task.</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latin typeface="Arial" panose="020B0604020202020204" pitchFamily="34" charset="0"/>
              </a:rPr>
              <a:t>p</a:t>
            </a:r>
            <a:r>
              <a:rPr lang="en-US" altLang="en-US" sz="1100" b="1">
                <a:solidFill>
                  <a:schemeClr val="tx1"/>
                </a:solidFill>
                <a:latin typeface="Arial" panose="020B0604020202020204" pitchFamily="34" charset="0"/>
              </a:rPr>
              <a:t>ull highest priority item:</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When capacity becomes available, the team pulls the highest priority item from the backlog, ensuring strict adherence to agreed prioritization criteria. This reinforces a pull-based system where work is selected based on business value and readiness, rather than pushed into execution. </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latin typeface="Arial" panose="020B0604020202020204" pitchFamily="34" charset="0"/>
              </a:rPr>
              <a:t>m</a:t>
            </a:r>
            <a:r>
              <a:rPr lang="en-US" altLang="en-US" sz="1100" b="1">
                <a:solidFill>
                  <a:schemeClr val="tx1"/>
                </a:solidFill>
                <a:latin typeface="Arial" panose="020B0604020202020204" pitchFamily="34" charset="0"/>
              </a:rPr>
              <a:t>ove to In Progress:</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Once the item is selected and validated against readiness criteria, it is moved to “In Progress,” signaling the start of execution. This transition reflects a controlled commitment by the team, ensuring that work only begins when both capacity and clarity are in place. Technical lead needs to ensure the use of coordination mechanisms across teams or domains.</a:t>
            </a:r>
          </a:p>
          <a:p>
            <a:pPr marL="228600" indent="-228600">
              <a:buFont typeface="+mj-lt"/>
              <a:buAutoNum type="arabicPeriod"/>
            </a:pPr>
            <a:endParaRPr lang="en-US" sz="1100" u="sng">
              <a:solidFill>
                <a:schemeClr val="tx1"/>
              </a:solidFill>
              <a:latin typeface="+mj-lt"/>
              <a:cs typeface="Arial" panose="020B0604020202020204" pitchFamily="34" charset="0"/>
            </a:endParaRPr>
          </a:p>
          <a:p>
            <a:r>
              <a:rPr lang="en-US" sz="1100" b="1" u="sng">
                <a:solidFill>
                  <a:schemeClr val="tx1"/>
                </a:solidFill>
                <a:latin typeface="+mj-lt"/>
              </a:rPr>
              <a:t>Completion Criteria</a:t>
            </a:r>
          </a:p>
          <a:p>
            <a:pPr marL="171450" indent="-171450">
              <a:buFont typeface="Arial" panose="020B0604020202020204" pitchFamily="34" charset="0"/>
              <a:buChar char="•"/>
            </a:pPr>
            <a:r>
              <a:rPr lang="en-US" sz="1100">
                <a:solidFill>
                  <a:schemeClr val="tx1"/>
                </a:solidFill>
              </a:rPr>
              <a:t>Work is pulled, not assigned</a:t>
            </a:r>
            <a:endParaRPr lang="en-US" sz="1100">
              <a:solidFill>
                <a:schemeClr val="tx1"/>
              </a:solidFill>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78C6F5BA-FCA8-8A86-7B8A-AA5E6BEC6631}"/>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1E6B7701-F2DD-8C39-17E3-682B20C912D7}"/>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Kanban Board</a:t>
            </a:r>
          </a:p>
          <a:p>
            <a:pPr marL="0" lvl="1"/>
            <a:r>
              <a:rPr lang="en-US" sz="1100">
                <a:solidFill>
                  <a:schemeClr val="tx1"/>
                </a:solidFill>
              </a:rPr>
              <a:t>Columns:</a:t>
            </a:r>
          </a:p>
          <a:p>
            <a:pPr marL="171450" lvl="1" indent="-171450">
              <a:buFont typeface="Arial" panose="020B0604020202020204" pitchFamily="34" charset="0"/>
              <a:buChar char="•"/>
            </a:pPr>
            <a:r>
              <a:rPr lang="en-US" sz="1100">
                <a:solidFill>
                  <a:schemeClr val="tx1"/>
                </a:solidFill>
              </a:rPr>
              <a:t>Backlog </a:t>
            </a:r>
          </a:p>
          <a:p>
            <a:pPr marL="171450" lvl="1" indent="-171450">
              <a:buFont typeface="Arial" panose="020B0604020202020204" pitchFamily="34" charset="0"/>
              <a:buChar char="•"/>
            </a:pPr>
            <a:r>
              <a:rPr lang="en-US" sz="1100">
                <a:solidFill>
                  <a:schemeClr val="tx1"/>
                </a:solidFill>
              </a:rPr>
              <a:t>Move-In to Progress </a:t>
            </a:r>
          </a:p>
          <a:p>
            <a:pPr marL="171450" lvl="1" indent="-171450">
              <a:buFont typeface="Arial" panose="020B0604020202020204" pitchFamily="34" charset="0"/>
              <a:buChar char="•"/>
            </a:pPr>
            <a:r>
              <a:rPr lang="en-US" sz="1100">
                <a:solidFill>
                  <a:schemeClr val="tx1"/>
                </a:solidFill>
              </a:rPr>
              <a:t>QA </a:t>
            </a:r>
          </a:p>
          <a:p>
            <a:pPr marL="171450" lvl="1" indent="-171450">
              <a:buFont typeface="Arial" panose="020B0604020202020204" pitchFamily="34" charset="0"/>
              <a:buChar char="•"/>
            </a:pPr>
            <a:r>
              <a:rPr lang="en-US" sz="1100">
                <a:solidFill>
                  <a:schemeClr val="tx1"/>
                </a:solidFill>
              </a:rPr>
              <a:t>UAT </a:t>
            </a:r>
          </a:p>
          <a:p>
            <a:pPr marL="171450" lvl="1" indent="-171450">
              <a:buFont typeface="Arial" panose="020B0604020202020204" pitchFamily="34" charset="0"/>
              <a:buChar char="•"/>
            </a:pPr>
            <a:r>
              <a:rPr lang="en-US" sz="1100">
                <a:solidFill>
                  <a:schemeClr val="tx1"/>
                </a:solidFill>
              </a:rPr>
              <a:t>Done </a:t>
            </a:r>
          </a:p>
          <a:p>
            <a:r>
              <a:rPr lang="en-US" sz="1100" b="1">
                <a:solidFill>
                  <a:schemeClr val="tx1"/>
                </a:solidFill>
              </a:rPr>
              <a:t>Best Practices</a:t>
            </a:r>
          </a:p>
          <a:p>
            <a:pPr marL="171450" lvl="1" indent="-171450">
              <a:buFont typeface="Arial" panose="020B0604020202020204" pitchFamily="34" charset="0"/>
              <a:buChar char="•"/>
            </a:pPr>
            <a:r>
              <a:rPr lang="en-US" sz="1100">
                <a:solidFill>
                  <a:schemeClr val="tx1"/>
                </a:solidFill>
              </a:rPr>
              <a:t>Make WIP limits visible </a:t>
            </a:r>
          </a:p>
          <a:p>
            <a:pPr marL="171450" lvl="1" indent="-171450">
              <a:buFont typeface="Arial" panose="020B0604020202020204" pitchFamily="34" charset="0"/>
              <a:buChar char="•"/>
            </a:pPr>
            <a:r>
              <a:rPr lang="en-US" sz="1100">
                <a:solidFill>
                  <a:schemeClr val="tx1"/>
                </a:solidFill>
              </a:rPr>
              <a:t>Use </a:t>
            </a:r>
            <a:r>
              <a:rPr lang="en-US" sz="1100" err="1">
                <a:solidFill>
                  <a:schemeClr val="tx1"/>
                </a:solidFill>
              </a:rPr>
              <a:t>swimlanes</a:t>
            </a:r>
            <a:r>
              <a:rPr lang="en-US" sz="1100">
                <a:solidFill>
                  <a:schemeClr val="tx1"/>
                </a:solidFill>
              </a:rPr>
              <a:t> for </a:t>
            </a:r>
            <a:r>
              <a:rPr lang="en-US" sz="1100" err="1">
                <a:solidFill>
                  <a:schemeClr val="tx1"/>
                </a:solidFill>
              </a:rPr>
              <a:t>CoS</a:t>
            </a:r>
            <a:r>
              <a:rPr lang="en-US" sz="1100">
                <a:solidFill>
                  <a:schemeClr val="tx1"/>
                </a:solidFill>
              </a:rPr>
              <a:t> (Class of Service</a:t>
            </a:r>
            <a:r>
              <a:rPr lang="en-US" sz="1100" b="1">
                <a:solidFill>
                  <a:schemeClr val="tx1"/>
                </a:solidFill>
              </a:rPr>
              <a:t>)</a:t>
            </a:r>
            <a:endParaRPr lang="en-US" sz="1100">
              <a:solidFill>
                <a:schemeClr val="tx1"/>
              </a:solidFill>
            </a:endParaRPr>
          </a:p>
          <a:p>
            <a:pPr marL="228600" lvl="0" indent="-228600">
              <a:buAutoNum type="arabicPeriod" startAt="2"/>
              <a:defRPr/>
            </a:pPr>
            <a:r>
              <a:rPr lang="en-US" sz="1100" b="1">
                <a:solidFill>
                  <a:schemeClr val="tx1"/>
                </a:solidFill>
              </a:rPr>
              <a:t>Coordination mechanisms across teams or domains</a:t>
            </a:r>
          </a:p>
          <a:p>
            <a:pPr marL="228600" indent="-228600">
              <a:buFontTx/>
              <a:buAutoNum type="arabicPeriod" startAt="2"/>
              <a:defRPr/>
            </a:pPr>
            <a:r>
              <a:rPr lang="en-US" sz="1100" b="1">
                <a:solidFill>
                  <a:prstClr val="black"/>
                </a:solidFill>
                <a:latin typeface="Arial" panose="020B0604020202020204" pitchFamily="34" charset="0"/>
                <a:cs typeface="Arial" panose="020B0604020202020204" pitchFamily="34" charset="0"/>
              </a:rPr>
              <a:t>Definition of delivery standards and guidelines</a:t>
            </a:r>
          </a:p>
          <a:p>
            <a:pPr marL="228600" indent="-228600">
              <a:buFontTx/>
              <a:buAutoNum type="arabicPeriod" startAt="2"/>
              <a:defRPr/>
            </a:pPr>
            <a:endParaRPr lang="en-US" sz="1100" b="1">
              <a:solidFill>
                <a:prstClr val="black"/>
              </a:solidFill>
              <a:latin typeface="Arial" panose="020B0604020202020204" pitchFamily="34" charset="0"/>
              <a:cs typeface="Arial" panose="020B0604020202020204" pitchFamily="34" charset="0"/>
            </a:endParaRPr>
          </a:p>
          <a:p>
            <a:pPr marL="228600" lvl="0" indent="-228600">
              <a:buAutoNum type="arabicPeriod" startAt="2"/>
              <a:defRPr/>
            </a:pPr>
            <a:endParaRPr lang="en-US" sz="1100" b="1">
              <a:solidFill>
                <a:schemeClr val="tx1"/>
              </a:solidFill>
            </a:endParaRPr>
          </a:p>
          <a:p>
            <a:pPr marL="171450" lvl="1" indent="-171450">
              <a:buFont typeface="Arial" panose="020B0604020202020204" pitchFamily="34" charset="0"/>
              <a:buChar char="•"/>
            </a:pPr>
            <a:endParaRPr lang="en-US" sz="1100" b="1">
              <a:solidFill>
                <a:schemeClr val="tx1"/>
              </a:solidFill>
            </a:endParaRPr>
          </a:p>
          <a:p>
            <a:endParaRPr lang="en-US" sz="1100" b="1">
              <a:solidFill>
                <a:schemeClr val="tx1"/>
              </a:solidFill>
              <a:highlight>
                <a:srgbClr val="FFFF00"/>
              </a:highlight>
              <a:latin typeface="+mj-lt"/>
              <a:cs typeface="Arial" panose="020B0604020202020204" pitchFamily="34" charset="0"/>
            </a:endParaRPr>
          </a:p>
          <a:p>
            <a:pPr lvl="1"/>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D1BFEA2E-AD39-6900-7435-49BA17D4AD9B}"/>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18D64B48-0750-BB7C-0ACC-483ECC5F0F8A}"/>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602F2F2-7A60-7467-F418-671F5E57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13">
            <a:extLst>
              <a:ext uri="{FF2B5EF4-FFF2-40B4-BE49-F238E27FC236}">
                <a16:creationId xmlns:a16="http://schemas.microsoft.com/office/drawing/2014/main" id="{03540AF2-866E-72DF-F608-4D5973977189}"/>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pic>
        <p:nvPicPr>
          <p:cNvPr id="10" name="Picture 2" descr="Kanban - Agility in Learning">
            <a:extLst>
              <a:ext uri="{FF2B5EF4-FFF2-40B4-BE49-F238E27FC236}">
                <a16:creationId xmlns:a16="http://schemas.microsoft.com/office/drawing/2014/main" id="{7C0F7B02-59DD-F8A0-4F34-29AB6CAEB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987" y="4441014"/>
            <a:ext cx="3815284" cy="171762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30C163B-7DEE-D242-90B4-FE81734C05E4}"/>
              </a:ext>
            </a:extLst>
          </p:cNvPr>
          <p:cNvSpPr/>
          <p:nvPr/>
        </p:nvSpPr>
        <p:spPr>
          <a:xfrm>
            <a:off x="12314498" y="1435832"/>
            <a:ext cx="3092565" cy="3732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400"/>
              <a:t>El </a:t>
            </a:r>
            <a:r>
              <a:rPr lang="es-MX" sz="1400" err="1"/>
              <a:t>primary</a:t>
            </a:r>
            <a:r>
              <a:rPr lang="es-MX" sz="1400"/>
              <a:t> </a:t>
            </a:r>
            <a:r>
              <a:rPr lang="es-MX" sz="1400" err="1"/>
              <a:t>owner</a:t>
            </a:r>
            <a:r>
              <a:rPr lang="es-MX" sz="1400"/>
              <a:t> en realidad sería un </a:t>
            </a:r>
            <a:r>
              <a:rPr lang="es-MX" sz="1400" err="1"/>
              <a:t>Tech</a:t>
            </a:r>
            <a:r>
              <a:rPr lang="es-MX" sz="1400"/>
              <a:t> Lead. El IT </a:t>
            </a:r>
            <a:r>
              <a:rPr lang="es-MX" sz="1400" err="1"/>
              <a:t>program</a:t>
            </a:r>
            <a:r>
              <a:rPr lang="es-MX" sz="1400"/>
              <a:t> </a:t>
            </a:r>
            <a:r>
              <a:rPr lang="es-MX" sz="1400" err="1"/>
              <a:t>delivery</a:t>
            </a:r>
            <a:r>
              <a:rPr lang="es-MX" sz="1400"/>
              <a:t> entra a un nivel más macro en la etapa anterior y el </a:t>
            </a:r>
            <a:r>
              <a:rPr lang="es-MX" sz="1400" err="1"/>
              <a:t>governance</a:t>
            </a:r>
            <a:r>
              <a:rPr lang="es-MX" sz="1400"/>
              <a:t> en esta etapa ya cae a nivel Project </a:t>
            </a:r>
            <a:r>
              <a:rPr lang="es-MX" sz="1400" err="1"/>
              <a:t>manaer</a:t>
            </a:r>
            <a:r>
              <a:rPr lang="es-MX" sz="1400"/>
              <a:t> . </a:t>
            </a:r>
          </a:p>
          <a:p>
            <a:r>
              <a:rPr lang="es-MX" sz="1400"/>
              <a:t>Pondría el </a:t>
            </a:r>
            <a:r>
              <a:rPr lang="es-MX" sz="1400" err="1"/>
              <a:t>Move</a:t>
            </a:r>
            <a:r>
              <a:rPr lang="es-MX" sz="1400"/>
              <a:t>-in </a:t>
            </a:r>
            <a:r>
              <a:rPr lang="es-MX" sz="1400" err="1"/>
              <a:t>to</a:t>
            </a:r>
            <a:r>
              <a:rPr lang="es-MX" sz="1400"/>
              <a:t> </a:t>
            </a:r>
            <a:r>
              <a:rPr lang="es-MX" sz="1400" err="1"/>
              <a:t>progress</a:t>
            </a:r>
            <a:r>
              <a:rPr lang="es-MX" sz="1400"/>
              <a:t> como etapa final del siguiente etapa</a:t>
            </a:r>
          </a:p>
        </p:txBody>
      </p:sp>
    </p:spTree>
    <p:extLst>
      <p:ext uri="{BB962C8B-B14F-4D97-AF65-F5344CB8AC3E}">
        <p14:creationId xmlns:p14="http://schemas.microsoft.com/office/powerpoint/2010/main" val="10632228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6E138-3F86-9DFC-DD00-366E03A081D0}"/>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2903187B-2A68-F07F-C0B3-73AC3C5943AB}"/>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ESTIMATION  CONFIRMATION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DE71BA81-FC6E-0F0C-4991-8B0D28BA2601}"/>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A1791ADB-2A80-626A-5536-C287ACC11576}"/>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Validate and adjust the expected effort at the start of execution so that delivery remains predictable, aligned, and free of avoidable surprises. The purpose is to ensure team has shared understanding and commitment before starting work.</a:t>
            </a:r>
          </a:p>
        </p:txBody>
      </p:sp>
      <p:sp>
        <p:nvSpPr>
          <p:cNvPr id="19" name="Rectángulo 18">
            <a:extLst>
              <a:ext uri="{FF2B5EF4-FFF2-40B4-BE49-F238E27FC236}">
                <a16:creationId xmlns:a16="http://schemas.microsoft.com/office/drawing/2014/main" id="{326D9805-415D-9F9A-5F3F-18930AF6FB56}"/>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127B04D8-C694-7D24-890C-D5973AA16067}"/>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solidFill>
              </a:rPr>
              <a:t>Estimation Confirmation</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endParaRPr lang="en-US" sz="1100" b="1">
              <a:solidFill>
                <a:schemeClr val="tx1"/>
              </a:solidFill>
            </a:endParaRPr>
          </a:p>
          <a:p>
            <a:pPr marL="171450" indent="-171450">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rPr>
              <a:t>review and validate estimation prior to execution:</a:t>
            </a:r>
            <a:br>
              <a:rPr lang="en-US" sz="1100" b="1">
                <a:solidFill>
                  <a:schemeClr val="tx1"/>
                </a:solidFill>
              </a:rPr>
            </a:br>
            <a:r>
              <a:rPr lang="en-US" sz="1100">
                <a:solidFill>
                  <a:schemeClr val="tx1"/>
                </a:solidFill>
              </a:rPr>
              <a:t>Before pulling an item into “In Progress,” the development team performs a quick validation of the initial estimation. This includes confirming that the scope remains accurate, no significant unknowns have emerged, and the size of the work is still appropriate for execution within expected timelines. Will be ensured the estimation tracking log is updating the information. The experience in this tasks will be useful to identify patterns.</a:t>
            </a:r>
          </a:p>
          <a:p>
            <a:pPr marL="171450" indent="-171450">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rPr>
              <a:t>adjust estimation if needed:</a:t>
            </a:r>
            <a:br>
              <a:rPr lang="en-US" sz="1100">
                <a:solidFill>
                  <a:schemeClr val="tx1"/>
                </a:solidFill>
              </a:rPr>
            </a:br>
            <a:r>
              <a:rPr lang="en-US" sz="1100">
                <a:solidFill>
                  <a:schemeClr val="tx1"/>
                </a:solidFill>
              </a:rPr>
              <a:t>If discrepancies or new insights arise, the team updates the estimation accordingly to reflect the current understanding of the work. This helps maintain realistic planning assumptions and supports predictable delivery. This changes have to be based on continuous improvement, not performance evaluation. </a:t>
            </a:r>
          </a:p>
          <a:p>
            <a:endParaRPr lang="en-US" sz="1100" u="sng">
              <a:solidFill>
                <a:schemeClr val="tx1"/>
              </a:solidFill>
              <a:latin typeface="+mj-lt"/>
              <a:cs typeface="Arial" panose="020B0604020202020204" pitchFamily="34" charset="0"/>
            </a:endParaRPr>
          </a:p>
          <a:p>
            <a:r>
              <a:rPr lang="en-US" sz="1100" b="1" u="sng">
                <a:solidFill>
                  <a:schemeClr val="tx1"/>
                </a:solidFill>
                <a:latin typeface="+mj-lt"/>
              </a:rPr>
              <a:t>Completion Criteria</a:t>
            </a:r>
          </a:p>
          <a:p>
            <a:pPr marL="171450" lvl="1" indent="-171450">
              <a:buFont typeface="Arial" panose="020B0604020202020204" pitchFamily="34" charset="0"/>
              <a:buChar char="•"/>
            </a:pPr>
            <a:r>
              <a:rPr lang="en-US" sz="1100">
                <a:solidFill>
                  <a:schemeClr val="tx1"/>
                </a:solidFill>
              </a:rPr>
              <a:t>Team agrees on effort and scope </a:t>
            </a:r>
          </a:p>
          <a:p>
            <a:pPr marL="171450" lvl="1" indent="-171450">
              <a:buFont typeface="Arial" panose="020B0604020202020204" pitchFamily="34" charset="0"/>
              <a:buChar char="•"/>
            </a:pPr>
            <a:r>
              <a:rPr lang="en-US" sz="1100">
                <a:solidFill>
                  <a:schemeClr val="tx1"/>
                </a:solidFill>
              </a:rPr>
              <a:t>No surprises during execution </a:t>
            </a:r>
          </a:p>
          <a:p>
            <a:r>
              <a:rPr lang="en-US" sz="1100" b="1">
                <a:solidFill>
                  <a:schemeClr val="tx1"/>
                </a:solidFill>
              </a:rPr>
              <a:t>Confirm: </a:t>
            </a:r>
          </a:p>
          <a:p>
            <a:pPr marL="171450" lvl="1" indent="-171450">
              <a:buFont typeface="Arial" panose="020B0604020202020204" pitchFamily="34" charset="0"/>
              <a:buChar char="•"/>
            </a:pPr>
            <a:r>
              <a:rPr lang="en-US" sz="1100">
                <a:solidFill>
                  <a:schemeClr val="tx1"/>
                </a:solidFill>
              </a:rPr>
              <a:t>Scope is still valid </a:t>
            </a:r>
          </a:p>
          <a:p>
            <a:pPr marL="171450" lvl="1" indent="-171450">
              <a:buFont typeface="Arial" panose="020B0604020202020204" pitchFamily="34" charset="0"/>
              <a:buChar char="•"/>
            </a:pPr>
            <a:r>
              <a:rPr lang="en-US" sz="1100">
                <a:solidFill>
                  <a:schemeClr val="tx1"/>
                </a:solidFill>
              </a:rPr>
              <a:t>No major unknowns </a:t>
            </a:r>
          </a:p>
          <a:p>
            <a:pPr marL="171450" lvl="1" indent="-171450">
              <a:buFont typeface="Arial" panose="020B0604020202020204" pitchFamily="34" charset="0"/>
              <a:buChar char="•"/>
            </a:pPr>
            <a:r>
              <a:rPr lang="en-US" sz="1100">
                <a:solidFill>
                  <a:schemeClr val="tx1"/>
                </a:solidFill>
              </a:rPr>
              <a:t>Size still reasonable </a:t>
            </a:r>
          </a:p>
          <a:p>
            <a:r>
              <a:rPr lang="en-US" sz="1100">
                <a:solidFill>
                  <a:schemeClr val="tx1"/>
                </a:solidFill>
              </a:rPr>
              <a:t>Adjust estimation if needed </a:t>
            </a: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BDDB5488-9613-0BCF-8C29-099BC91BF6A9}"/>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4530BD98-B436-E8A8-AA29-70B0338E3B39}"/>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Font typeface="+mj-lt"/>
              <a:buAutoNum type="arabicPeriod"/>
            </a:pPr>
            <a:r>
              <a:rPr lang="en-US" sz="1100" b="1">
                <a:solidFill>
                  <a:schemeClr val="tx1"/>
                </a:solidFill>
              </a:rPr>
              <a:t>Estimation Tracking Log</a:t>
            </a:r>
          </a:p>
          <a:p>
            <a:pPr marL="228600" indent="-228600">
              <a:buFont typeface="+mj-lt"/>
              <a:buAutoNum type="arabicPeriod"/>
            </a:pPr>
            <a:r>
              <a:rPr lang="en-US" sz="1100" b="1">
                <a:solidFill>
                  <a:schemeClr val="tx1"/>
                </a:solidFill>
              </a:rPr>
              <a:t>Use for continuous improvement, not performance evaluation</a:t>
            </a:r>
          </a:p>
          <a:p>
            <a:pPr marL="228600" indent="-228600">
              <a:buFont typeface="+mj-lt"/>
              <a:buAutoNum type="arabicPeriod"/>
            </a:pPr>
            <a:r>
              <a:rPr lang="en-US" sz="1100" b="1">
                <a:solidFill>
                  <a:schemeClr val="tx1"/>
                </a:solidFill>
              </a:rPr>
              <a:t>Identify patterns (under/over estimation) </a:t>
            </a:r>
          </a:p>
        </p:txBody>
      </p:sp>
      <p:sp>
        <p:nvSpPr>
          <p:cNvPr id="39" name="Rectángulo 38">
            <a:extLst>
              <a:ext uri="{FF2B5EF4-FFF2-40B4-BE49-F238E27FC236}">
                <a16:creationId xmlns:a16="http://schemas.microsoft.com/office/drawing/2014/main" id="{E08C13E2-0422-05DF-56A5-2ED1E61F82B0}"/>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6">
            <a:extLst>
              <a:ext uri="{FF2B5EF4-FFF2-40B4-BE49-F238E27FC236}">
                <a16:creationId xmlns:a16="http://schemas.microsoft.com/office/drawing/2014/main" id="{DC0696C4-06B1-1947-9AA6-6EB5FC557ACC}"/>
              </a:ext>
            </a:extLst>
          </p:cNvPr>
          <p:cNvPicPr>
            <a:picLocks noChangeAspect="1"/>
          </p:cNvPicPr>
          <p:nvPr/>
        </p:nvPicPr>
        <p:blipFill>
          <a:blip r:embed="rId2"/>
          <a:stretch>
            <a:fillRect/>
          </a:stretch>
        </p:blipFill>
        <p:spPr>
          <a:xfrm>
            <a:off x="7885813" y="3929633"/>
            <a:ext cx="3395332" cy="2201188"/>
          </a:xfrm>
          <a:prstGeom prst="rect">
            <a:avLst/>
          </a:prstGeom>
        </p:spPr>
      </p:pic>
      <p:sp>
        <p:nvSpPr>
          <p:cNvPr id="10" name="Rounded Rectangle 5">
            <a:extLst>
              <a:ext uri="{FF2B5EF4-FFF2-40B4-BE49-F238E27FC236}">
                <a16:creationId xmlns:a16="http://schemas.microsoft.com/office/drawing/2014/main" id="{E7D65222-61A0-E41C-4ABC-2AC521352E11}"/>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7553A45-20CF-48A4-F412-D839E56AE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3">
            <a:extLst>
              <a:ext uri="{FF2B5EF4-FFF2-40B4-BE49-F238E27FC236}">
                <a16:creationId xmlns:a16="http://schemas.microsoft.com/office/drawing/2014/main" id="{A9A22FBC-6F69-B378-6C80-6F68686F89AB}"/>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7277450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F12A9-61F5-1F96-3E29-1DAA563F485E}"/>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AD55D5D5-8563-E954-A71B-10B70249F1F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MANAGE WIP</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413F389D-046E-E12F-C8C1-E006828D776E}"/>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4EEDBC6E-D6F4-22D0-7D4B-275CA743F553}"/>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Limit active work so the team can focus, maintain flow, expose bottlenecks, and deliver faster with higher quality.</a:t>
            </a:r>
          </a:p>
        </p:txBody>
      </p:sp>
      <p:sp>
        <p:nvSpPr>
          <p:cNvPr id="19" name="Rectángulo 18">
            <a:extLst>
              <a:ext uri="{FF2B5EF4-FFF2-40B4-BE49-F238E27FC236}">
                <a16:creationId xmlns:a16="http://schemas.microsoft.com/office/drawing/2014/main" id="{A228B5AB-F1BF-1965-3DAC-0A8CC88601D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FAD604AB-8D7E-02D4-5EE9-A7E7BDC63F01}"/>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Manage WIP</a:t>
            </a: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Technical lead monitors WIP limits across workflow stages:</a:t>
            </a:r>
            <a:br>
              <a:rPr lang="en-US" sz="1100">
                <a:solidFill>
                  <a:schemeClr val="tx1">
                    <a:lumMod val="50000"/>
                  </a:schemeClr>
                </a:solidFill>
              </a:rPr>
            </a:br>
            <a:r>
              <a:rPr lang="en-US" sz="1100">
                <a:solidFill>
                  <a:schemeClr val="tx1">
                    <a:lumMod val="50000"/>
                  </a:schemeClr>
                </a:solidFill>
              </a:rPr>
              <a:t>The team actively tracks Work In Progress (WIP) limits at each stage of the workflow to ensure ongoing work remains within defined capacity constraints. This visibility helps maintain a balanced flow and quickly highlights emerging bottlenecks. WIP limits are continuously validated using delivery metrics and discussed in delivery review forums (e.g., sprint reviews, demos) to ensure transparency and shared understanding of flow health.</a:t>
            </a:r>
          </a:p>
          <a:p>
            <a:r>
              <a:rPr lang="en-US" sz="1100" b="1">
                <a:solidFill>
                  <a:schemeClr val="tx1">
                    <a:lumMod val="50000"/>
                  </a:schemeClr>
                </a:solidFill>
              </a:rPr>
              <a:t>If limit is reached:</a:t>
            </a:r>
          </a:p>
          <a:p>
            <a:pPr marL="171450" indent="-171450">
              <a:buFont typeface="Arial" panose="020B0604020202020204" pitchFamily="34" charset="0"/>
              <a:buChar char="•"/>
            </a:pPr>
            <a:r>
              <a:rPr lang="en-US" sz="1100" b="1">
                <a:solidFill>
                  <a:schemeClr val="tx1">
                    <a:lumMod val="50000"/>
                  </a:schemeClr>
                </a:solidFill>
              </a:rPr>
              <a:t>Technical lead stops starting new work when WIP limits are reached:</a:t>
            </a:r>
            <a:br>
              <a:rPr lang="en-US" sz="1100">
                <a:solidFill>
                  <a:schemeClr val="tx1">
                    <a:lumMod val="50000"/>
                  </a:schemeClr>
                </a:solidFill>
              </a:rPr>
            </a:br>
            <a:r>
              <a:rPr lang="en-US" sz="1100">
                <a:solidFill>
                  <a:schemeClr val="tx1">
                    <a:lumMod val="50000"/>
                  </a:schemeClr>
                </a:solidFill>
              </a:rPr>
              <a:t>When a WIP limit is exceeded or reached, the team refrains from pulling new items into the workflow. This enforces focus and prevents system overload. Any breaches or risks associated with blocked flow are managed through issue and risk escalation practices, ensuring impediments are surfaced early and addressed promptly. Coordination with other teams or domains is activated when dependencies are involved.</a:t>
            </a:r>
          </a:p>
          <a:p>
            <a:pPr marL="171450" indent="-171450">
              <a:buFont typeface="Arial" panose="020B0604020202020204" pitchFamily="34" charset="0"/>
              <a:buChar char="•"/>
            </a:pPr>
            <a:r>
              <a:rPr lang="en-US" sz="1100" b="1">
                <a:solidFill>
                  <a:schemeClr val="tx1">
                    <a:lumMod val="50000"/>
                  </a:schemeClr>
                </a:solidFill>
              </a:rPr>
              <a:t>Technical lead swarms to complete work in progress:</a:t>
            </a:r>
            <a:br>
              <a:rPr lang="en-US" sz="1100">
                <a:solidFill>
                  <a:schemeClr val="tx1">
                    <a:lumMod val="50000"/>
                  </a:schemeClr>
                </a:solidFill>
              </a:rPr>
            </a:br>
            <a:r>
              <a:rPr lang="en-US" sz="1100">
                <a:solidFill>
                  <a:schemeClr val="tx1">
                    <a:lumMod val="50000"/>
                  </a:schemeClr>
                </a:solidFill>
              </a:rPr>
              <a:t>The team shifts attention to finishing existing items by collaborating to unblock issues, resolve dependencies, and accelerate completion. During this phase, coordination mechanisms across teams or domains are used to resolve cross-team dependencies, while alignment with business during execution ensures prioritization decisions remain consistent with business objectives and delivery expectations.</a:t>
            </a:r>
          </a:p>
          <a:p>
            <a:pPr marL="228600" indent="-228600">
              <a:buFont typeface="+mj-lt"/>
              <a:buAutoNum type="arabicPeriod"/>
            </a:pPr>
            <a:endParaRPr lang="en-US" sz="1100" u="sng">
              <a:solidFill>
                <a:schemeClr val="tx1">
                  <a:lumMod val="50000"/>
                </a:schemeClr>
              </a:solidFill>
              <a:cs typeface="Arial" panose="020B0604020202020204" pitchFamily="34" charset="0"/>
            </a:endParaRPr>
          </a:p>
          <a:p>
            <a:r>
              <a:rPr lang="en-US" sz="1100" b="1" u="sng">
                <a:solidFill>
                  <a:schemeClr val="tx1"/>
                </a:solidFill>
                <a:latin typeface="+mj-lt"/>
              </a:rPr>
              <a:t>Completion Criteria</a:t>
            </a:r>
          </a:p>
          <a:p>
            <a:pPr marL="171450" indent="-171450">
              <a:buFont typeface="Arial" panose="020B0604020202020204" pitchFamily="34" charset="0"/>
              <a:buChar char="•"/>
            </a:pPr>
            <a:r>
              <a:rPr lang="en-US" sz="1100">
                <a:solidFill>
                  <a:schemeClr val="tx1"/>
                </a:solidFill>
              </a:rPr>
              <a:t>No WIP limit violations </a:t>
            </a: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EF2948B9-9DBE-5432-7FE6-708E165E537E}"/>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C25C5D1F-E352-85D1-A941-675387BA53E0}"/>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WIP Limits</a:t>
            </a:r>
          </a:p>
          <a:p>
            <a:pPr marL="228600" lvl="0" indent="-228600">
              <a:buAutoNum type="arabicPeriod" startAt="2"/>
              <a:defRPr/>
            </a:pPr>
            <a:r>
              <a:rPr lang="en-US" sz="1100" b="1">
                <a:solidFill>
                  <a:schemeClr val="tx1"/>
                </a:solidFill>
              </a:rPr>
              <a:t>Delivery review forums (e.g., sprint reviews, demos)</a:t>
            </a:r>
          </a:p>
          <a:p>
            <a:pPr marL="228600" lvl="0" indent="-228600">
              <a:buAutoNum type="arabicPeriod" startAt="2"/>
              <a:defRPr/>
            </a:pPr>
            <a:r>
              <a:rPr lang="en-US" sz="1100" b="1">
                <a:solidFill>
                  <a:schemeClr val="tx1"/>
                </a:solidFill>
              </a:rPr>
              <a:t>Issue and risk escalation practices</a:t>
            </a:r>
          </a:p>
          <a:p>
            <a:pPr marL="228600" lvl="0" indent="-228600">
              <a:buAutoNum type="arabicPeriod" startAt="2"/>
              <a:defRPr/>
            </a:pPr>
            <a:r>
              <a:rPr lang="en-US" sz="1100" b="1">
                <a:solidFill>
                  <a:schemeClr val="tx1"/>
                </a:solidFill>
              </a:rPr>
              <a:t>Coordination mechanisms across teams or domains</a:t>
            </a:r>
          </a:p>
          <a:p>
            <a:pPr marL="228600" lvl="0" indent="-228600">
              <a:buAutoNum type="arabicPeriod" startAt="2"/>
              <a:defRPr/>
            </a:pPr>
            <a:r>
              <a:rPr lang="en-US" sz="1100" b="1">
                <a:solidFill>
                  <a:schemeClr val="tx1"/>
                </a:solidFill>
              </a:rPr>
              <a:t>Alignment with business during execution</a:t>
            </a:r>
          </a:p>
          <a:p>
            <a:pPr lvl="0">
              <a:defRPr/>
            </a:pPr>
            <a:endParaRPr lang="en-US" sz="1100" b="1">
              <a:solidFill>
                <a:schemeClr val="tx1"/>
              </a:solidFill>
            </a:endParaRPr>
          </a:p>
        </p:txBody>
      </p:sp>
      <p:sp>
        <p:nvSpPr>
          <p:cNvPr id="39" name="Rectángulo 38">
            <a:extLst>
              <a:ext uri="{FF2B5EF4-FFF2-40B4-BE49-F238E27FC236}">
                <a16:creationId xmlns:a16="http://schemas.microsoft.com/office/drawing/2014/main" id="{7EF3B4CC-50E9-D6C8-392D-E1A34DF9DE08}"/>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2" descr="Kanban Method">
            <a:extLst>
              <a:ext uri="{FF2B5EF4-FFF2-40B4-BE49-F238E27FC236}">
                <a16:creationId xmlns:a16="http://schemas.microsoft.com/office/drawing/2014/main" id="{F608ED2B-6A7F-004D-B8E9-F2AD56A1F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1106" y="3845369"/>
            <a:ext cx="4608552" cy="235948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28BC082A-E7C9-4B6F-B091-1CB456500B3E}"/>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ounded Rectangle 5">
            <a:extLst>
              <a:ext uri="{FF2B5EF4-FFF2-40B4-BE49-F238E27FC236}">
                <a16:creationId xmlns:a16="http://schemas.microsoft.com/office/drawing/2014/main" id="{132F674C-DA52-78AD-95A6-9948EE7E6A84}"/>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86D9B9B-0D67-B072-9AA0-699E9B846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B01F80A-0DD1-F709-E5A6-8005ECB7B635}"/>
              </a:ext>
            </a:extLst>
          </p:cNvPr>
          <p:cNvSpPr txBox="1"/>
          <p:nvPr/>
        </p:nvSpPr>
        <p:spPr>
          <a:xfrm>
            <a:off x="1805653" y="6251063"/>
            <a:ext cx="6096000" cy="215444"/>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Box 13">
            <a:extLst>
              <a:ext uri="{FF2B5EF4-FFF2-40B4-BE49-F238E27FC236}">
                <a16:creationId xmlns:a16="http://schemas.microsoft.com/office/drawing/2014/main" id="{94D8C463-994D-71E5-02F4-6E9FBC1ECA4C}"/>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17333647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3FD1-2D77-F026-A049-B3B2B2D7A3E7}"/>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18E63EB9-E6BA-AAC5-AEB7-C6ED3C67584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CONTINUOUS TESTING QA</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95EA65F4-B02B-0016-70D8-1585A9C9A443}"/>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98D93535-D431-1598-5F8B-C1CEA50C5FB2}"/>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Embed quality into the flow of work by validating continuously, reducing defects, and enabling faster, smoother delivery.</a:t>
            </a:r>
          </a:p>
        </p:txBody>
      </p:sp>
      <p:sp>
        <p:nvSpPr>
          <p:cNvPr id="19" name="Rectángulo 18">
            <a:extLst>
              <a:ext uri="{FF2B5EF4-FFF2-40B4-BE49-F238E27FC236}">
                <a16:creationId xmlns:a16="http://schemas.microsoft.com/office/drawing/2014/main" id="{AF4B0AB3-328D-529C-49F0-8BAE337146E9}"/>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88A8D4CB-02E7-A816-BE7D-012045811DE0}"/>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Continuous testing QA</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QA team pulls work from Development:</a:t>
            </a:r>
            <a:br>
              <a:rPr lang="en-US" sz="1100">
                <a:solidFill>
                  <a:schemeClr val="tx1">
                    <a:lumMod val="50000"/>
                  </a:schemeClr>
                </a:solidFill>
              </a:rPr>
            </a:br>
            <a:r>
              <a:rPr lang="en-US" sz="1100">
                <a:solidFill>
                  <a:schemeClr val="tx1">
                    <a:lumMod val="50000"/>
                  </a:schemeClr>
                </a:solidFill>
              </a:rPr>
              <a:t>Quality Assurance uses a pull-based approach, selecting items from Development once they meet the Definition of Done (DoD) and readiness criteria. This aligns testing with actual flow and QA capacity. The process is governed by definition of delivery standards and guidelines, and progress is reviewed in delivery review forums (e.g., sprint reviews, demos) to maintain visibility and alignment.</a:t>
            </a:r>
          </a:p>
          <a:p>
            <a:pPr marL="171450" indent="-171450">
              <a:buFont typeface="Arial" panose="020B0604020202020204" pitchFamily="34" charset="0"/>
              <a:buChar char="•"/>
            </a:pPr>
            <a:r>
              <a:rPr lang="en-US" sz="1100" b="1">
                <a:solidFill>
                  <a:schemeClr val="tx1">
                    <a:lumMod val="50000"/>
                  </a:schemeClr>
                </a:solidFill>
              </a:rPr>
              <a:t>QA Team executes testing activities:</a:t>
            </a:r>
            <a:br>
              <a:rPr lang="en-US" sz="1100">
                <a:solidFill>
                  <a:schemeClr val="tx1">
                    <a:lumMod val="50000"/>
                  </a:schemeClr>
                </a:solidFill>
              </a:rPr>
            </a:br>
            <a:r>
              <a:rPr lang="en-US" sz="1100">
                <a:solidFill>
                  <a:schemeClr val="tx1">
                    <a:lumMod val="50000"/>
                  </a:schemeClr>
                </a:solidFill>
              </a:rPr>
              <a:t>QA executes functional, integration, regression and other testing to validate acceptance criteria and quality standards. Testing is performed close to development to enable fast feedback. QA also contributes to oversight of delivery progress and performance, and uses coordination mechanisms across teams or domains when dependencies or cross-team work are involved, ensuring alignment with delivery flow and business expectations.</a:t>
            </a:r>
          </a:p>
          <a:p>
            <a:r>
              <a:rPr lang="en-US" sz="1100" b="1">
                <a:solidFill>
                  <a:schemeClr val="tx1">
                    <a:lumMod val="50000"/>
                  </a:schemeClr>
                </a:solidFill>
              </a:rPr>
              <a:t>If defect:</a:t>
            </a:r>
          </a:p>
          <a:p>
            <a:pPr marL="171450" indent="-171450">
              <a:buFont typeface="Arial" panose="020B0604020202020204" pitchFamily="34" charset="0"/>
              <a:buChar char="•"/>
            </a:pPr>
            <a:r>
              <a:rPr lang="en-US" sz="1100" b="1">
                <a:solidFill>
                  <a:schemeClr val="tx1">
                    <a:lumMod val="50000"/>
                  </a:schemeClr>
                </a:solidFill>
              </a:rPr>
              <a:t>QA Team immediate defect feedback loop:</a:t>
            </a:r>
            <a:br>
              <a:rPr lang="en-US" sz="1100">
                <a:solidFill>
                  <a:schemeClr val="tx1">
                    <a:lumMod val="50000"/>
                  </a:schemeClr>
                </a:solidFill>
              </a:rPr>
            </a:br>
            <a:r>
              <a:rPr lang="en-US" sz="1100">
                <a:solidFill>
                  <a:schemeClr val="tx1">
                    <a:lumMod val="50000"/>
                  </a:schemeClr>
                </a:solidFill>
              </a:rPr>
              <a:t>When a defect is found, the item is immediately returned to the previous stage to minimize rework and avoid defect accumulation. Significant issues are managed through issue and risk escalation practices. Where needed, alignment with business during execution ensures prioritization and impact decisions reflect delivery objectives.</a:t>
            </a:r>
          </a:p>
          <a:p>
            <a:pPr marL="171450" lvl="1" indent="-171450">
              <a:buFont typeface="Arial" panose="020B0604020202020204" pitchFamily="34" charset="0"/>
              <a:buChar char="•"/>
            </a:pPr>
            <a:endParaRPr lang="en-US" sz="1100">
              <a:solidFill>
                <a:schemeClr val="tx1">
                  <a:lumMod val="50000"/>
                </a:schemeClr>
              </a:solidFill>
            </a:endParaRPr>
          </a:p>
          <a:p>
            <a:r>
              <a:rPr lang="en-US" sz="1100" b="1" u="sng">
                <a:solidFill>
                  <a:schemeClr val="tx1">
                    <a:lumMod val="50000"/>
                  </a:schemeClr>
                </a:solidFill>
              </a:rPr>
              <a:t>Completion Criteria</a:t>
            </a:r>
          </a:p>
          <a:p>
            <a:pPr marL="171450" lvl="1" indent="-171450">
              <a:buFont typeface="Arial" panose="020B0604020202020204" pitchFamily="34" charset="0"/>
              <a:buChar char="•"/>
            </a:pPr>
            <a:r>
              <a:rPr lang="en-US" sz="1100">
                <a:solidFill>
                  <a:schemeClr val="tx1">
                    <a:lumMod val="50000"/>
                  </a:schemeClr>
                </a:solidFill>
              </a:rPr>
              <a:t>All acceptance criteria validated </a:t>
            </a:r>
          </a:p>
          <a:p>
            <a:pPr marL="228600" indent="-228600">
              <a:buFont typeface="+mj-lt"/>
              <a:buAutoNum type="arabicPeriod"/>
            </a:pPr>
            <a:endParaRPr lang="en-US" sz="1100" u="sng">
              <a:solidFill>
                <a:schemeClr val="tx1">
                  <a:lumMod val="50000"/>
                </a:schemeClr>
              </a:solidFill>
              <a:latin typeface="+mj-lt"/>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7BE2FB7D-99D0-12FC-3E00-EC4E53C4F48B}"/>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B1161686-FB09-A69E-A0D8-71A462460401}"/>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Definition of Done (DoD)</a:t>
            </a:r>
          </a:p>
          <a:p>
            <a:pPr marL="228600" lvl="1" indent="-228600">
              <a:buAutoNum type="arabicPeriod" startAt="2"/>
            </a:pPr>
            <a:r>
              <a:rPr lang="en-US" sz="1100" b="1">
                <a:solidFill>
                  <a:schemeClr val="tx1"/>
                </a:solidFill>
              </a:rPr>
              <a:t>Delivery review forums (e.g., sprint reviews, demos)</a:t>
            </a:r>
          </a:p>
          <a:p>
            <a:pPr marL="228600" lvl="1" indent="-228600">
              <a:buAutoNum type="arabicPeriod" startAt="2"/>
            </a:pPr>
            <a:r>
              <a:rPr lang="en-US" sz="1100" b="1">
                <a:solidFill>
                  <a:schemeClr val="tx1"/>
                </a:solidFill>
              </a:rPr>
              <a:t>Issue and risk escalation practices</a:t>
            </a:r>
          </a:p>
          <a:p>
            <a:pPr marL="228600" lvl="1" indent="-228600">
              <a:buAutoNum type="arabicPeriod" startAt="2"/>
            </a:pPr>
            <a:r>
              <a:rPr lang="en-US" sz="1100" b="1">
                <a:solidFill>
                  <a:schemeClr val="tx1"/>
                </a:solidFill>
              </a:rPr>
              <a:t>Oversight of delivery progress and performance</a:t>
            </a:r>
          </a:p>
          <a:p>
            <a:pPr marL="228600" lvl="1" indent="-228600">
              <a:buAutoNum type="arabicPeriod" startAt="2"/>
            </a:pPr>
            <a:r>
              <a:rPr lang="en-US" sz="1100" b="1">
                <a:solidFill>
                  <a:schemeClr val="tx1"/>
                </a:solidFill>
              </a:rPr>
              <a:t>Definition of delivery standards and guidelines</a:t>
            </a:r>
          </a:p>
          <a:p>
            <a:pPr marL="228600" lvl="1" indent="-228600">
              <a:buAutoNum type="arabicPeriod" startAt="2"/>
            </a:pPr>
            <a:r>
              <a:rPr lang="en-US" sz="1100" b="1">
                <a:solidFill>
                  <a:schemeClr val="tx1"/>
                </a:solidFill>
              </a:rPr>
              <a:t>Coordination mechanisms across teams or domains</a:t>
            </a:r>
          </a:p>
          <a:p>
            <a:pPr marL="228600" lvl="1" indent="-228600">
              <a:buAutoNum type="arabicPeriod" startAt="2"/>
            </a:pPr>
            <a:r>
              <a:rPr lang="en-US" sz="1100" b="1">
                <a:solidFill>
                  <a:schemeClr val="tx1"/>
                </a:solidFill>
              </a:rPr>
              <a:t>Alignment with business during execution</a:t>
            </a:r>
          </a:p>
          <a:p>
            <a:pPr marL="171450" lvl="1" indent="-171450">
              <a:buFont typeface="Arial" panose="020B0604020202020204" pitchFamily="34" charset="0"/>
              <a:buChar char="•"/>
            </a:pPr>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16231F48-AD88-6643-7D0A-45C31C116FF5}"/>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6">
            <a:extLst>
              <a:ext uri="{FF2B5EF4-FFF2-40B4-BE49-F238E27FC236}">
                <a16:creationId xmlns:a16="http://schemas.microsoft.com/office/drawing/2014/main" id="{4E184983-36F8-3981-70FC-3CDE1D35319E}"/>
              </a:ext>
            </a:extLst>
          </p:cNvPr>
          <p:cNvPicPr>
            <a:picLocks noChangeAspect="1"/>
          </p:cNvPicPr>
          <p:nvPr/>
        </p:nvPicPr>
        <p:blipFill>
          <a:blip r:embed="rId2"/>
          <a:stretch>
            <a:fillRect/>
          </a:stretch>
        </p:blipFill>
        <p:spPr>
          <a:xfrm>
            <a:off x="8742569" y="4456589"/>
            <a:ext cx="2741189" cy="1476901"/>
          </a:xfrm>
          <a:prstGeom prst="rect">
            <a:avLst/>
          </a:prstGeom>
        </p:spPr>
      </p:pic>
      <p:pic>
        <p:nvPicPr>
          <p:cNvPr id="8" name="Picture 7">
            <a:extLst>
              <a:ext uri="{FF2B5EF4-FFF2-40B4-BE49-F238E27FC236}">
                <a16:creationId xmlns:a16="http://schemas.microsoft.com/office/drawing/2014/main" id="{948E447F-6BF4-E4D2-DF65-1264189B4455}"/>
              </a:ext>
            </a:extLst>
          </p:cNvPr>
          <p:cNvPicPr>
            <a:picLocks noChangeAspect="1"/>
          </p:cNvPicPr>
          <p:nvPr/>
        </p:nvPicPr>
        <p:blipFill>
          <a:blip r:embed="rId3"/>
          <a:stretch>
            <a:fillRect/>
          </a:stretch>
        </p:blipFill>
        <p:spPr>
          <a:xfrm>
            <a:off x="7980974" y="5018879"/>
            <a:ext cx="1918496" cy="1076432"/>
          </a:xfrm>
          <a:prstGeom prst="rect">
            <a:avLst/>
          </a:prstGeom>
        </p:spPr>
      </p:pic>
      <p:sp>
        <p:nvSpPr>
          <p:cNvPr id="10" name="Rounded Rectangle 5">
            <a:extLst>
              <a:ext uri="{FF2B5EF4-FFF2-40B4-BE49-F238E27FC236}">
                <a16:creationId xmlns:a16="http://schemas.microsoft.com/office/drawing/2014/main" id="{D7D0F23E-E53F-4BF2-60A3-65CFA785D892}"/>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BF66286C-51C8-79D0-2046-FC91447A11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3">
            <a:extLst>
              <a:ext uri="{FF2B5EF4-FFF2-40B4-BE49-F238E27FC236}">
                <a16:creationId xmlns:a16="http://schemas.microsoft.com/office/drawing/2014/main" id="{58D108C8-491B-9BE4-9A51-07F656814324}"/>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
        <p:nvSpPr>
          <p:cNvPr id="2" name="Rectángulo 1">
            <a:extLst>
              <a:ext uri="{FF2B5EF4-FFF2-40B4-BE49-F238E27FC236}">
                <a16:creationId xmlns:a16="http://schemas.microsoft.com/office/drawing/2014/main" id="{88325A6E-434F-861D-3FF0-3391B673312F}"/>
              </a:ext>
            </a:extLst>
          </p:cNvPr>
          <p:cNvSpPr/>
          <p:nvPr/>
        </p:nvSpPr>
        <p:spPr>
          <a:xfrm>
            <a:off x="3718560" y="314960"/>
            <a:ext cx="511048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DoD</a:t>
            </a:r>
            <a:endParaRPr lang="es-MX"/>
          </a:p>
        </p:txBody>
      </p:sp>
    </p:spTree>
    <p:extLst>
      <p:ext uri="{BB962C8B-B14F-4D97-AF65-F5344CB8AC3E}">
        <p14:creationId xmlns:p14="http://schemas.microsoft.com/office/powerpoint/2010/main" val="23039805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32D2-265A-75F5-8AF8-0CB78AA677F3}"/>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0CDF00AA-5362-F327-A111-72877B0CC4DF}"/>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BLOCKER MANAGEMENT</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4F2A0922-D14C-BB43-5E22-8CD47BD04266}"/>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D96CFB3A-690D-8331-2C0E-35F024F21819}"/>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Make impediments visible and resolve them quickly, ensuring continuous flow and enabling ongoing process improvement in a Kanban system.</a:t>
            </a:r>
          </a:p>
        </p:txBody>
      </p:sp>
      <p:sp>
        <p:nvSpPr>
          <p:cNvPr id="19" name="Rectángulo 18">
            <a:extLst>
              <a:ext uri="{FF2B5EF4-FFF2-40B4-BE49-F238E27FC236}">
                <a16:creationId xmlns:a16="http://schemas.microsoft.com/office/drawing/2014/main" id="{2E2EF483-3706-4F23-6CB2-62A7295C4843}"/>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48E16F2B-DF91-4C0F-37FF-9B8E73E4538F}"/>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Blocker management</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Technical lead identifies blocked work:</a:t>
            </a:r>
            <a:br>
              <a:rPr lang="en-US" sz="1100">
                <a:solidFill>
                  <a:schemeClr val="tx1">
                    <a:lumMod val="50000"/>
                  </a:schemeClr>
                </a:solidFill>
              </a:rPr>
            </a:br>
            <a:r>
              <a:rPr lang="en-US" sz="1100">
                <a:solidFill>
                  <a:schemeClr val="tx1">
                    <a:lumMod val="50000"/>
                  </a:schemeClr>
                </a:solidFill>
              </a:rPr>
              <a:t>The team proactively detects work items impeded by dependencies, constraints, or unresolved issues. Early identification prevents hidden disruptions to flow and delivery timelines. Blockers are tracked using a </a:t>
            </a:r>
            <a:r>
              <a:rPr lang="en-US" sz="1100" b="1">
                <a:solidFill>
                  <a:schemeClr val="tx1">
                    <a:lumMod val="50000"/>
                  </a:schemeClr>
                </a:solidFill>
              </a:rPr>
              <a:t>Blocker Tracker</a:t>
            </a:r>
            <a:r>
              <a:rPr lang="en-US" sz="1100">
                <a:solidFill>
                  <a:schemeClr val="tx1">
                    <a:lumMod val="50000"/>
                  </a:schemeClr>
                </a:solidFill>
              </a:rPr>
              <a:t>, ensuring consistent visibility and follow-up.</a:t>
            </a:r>
          </a:p>
          <a:p>
            <a:pPr marL="171450" indent="-171450">
              <a:buFont typeface="Arial" panose="020B0604020202020204" pitchFamily="34" charset="0"/>
              <a:buChar char="•"/>
            </a:pPr>
            <a:r>
              <a:rPr lang="en-US" sz="1100" b="1">
                <a:solidFill>
                  <a:schemeClr val="tx1">
                    <a:lumMod val="50000"/>
                  </a:schemeClr>
                </a:solidFill>
              </a:rPr>
              <a:t>Technical lead makes blockers visible on the board:</a:t>
            </a:r>
            <a:br>
              <a:rPr lang="en-US" sz="1100">
                <a:solidFill>
                  <a:schemeClr val="tx1">
                    <a:lumMod val="50000"/>
                  </a:schemeClr>
                </a:solidFill>
              </a:rPr>
            </a:br>
            <a:r>
              <a:rPr lang="en-US" sz="1100">
                <a:solidFill>
                  <a:schemeClr val="tx1">
                    <a:lumMod val="50000"/>
                  </a:schemeClr>
                </a:solidFill>
              </a:rPr>
              <a:t>Blocked items are clearly flagged in the workflow (e.g., visual indicators, tags, or dedicated columns), providing transparency to the team and stakeholders. This visibility supports faster response and prioritization of resolution efforts, and is reinforced through </a:t>
            </a:r>
            <a:r>
              <a:rPr lang="en-US" sz="1100" b="1">
                <a:solidFill>
                  <a:schemeClr val="tx1">
                    <a:lumMod val="50000"/>
                  </a:schemeClr>
                </a:solidFill>
              </a:rPr>
              <a:t>issue and risk escalation practices</a:t>
            </a:r>
            <a:r>
              <a:rPr lang="en-US" sz="1100">
                <a:solidFill>
                  <a:schemeClr val="tx1">
                    <a:lumMod val="50000"/>
                  </a:schemeClr>
                </a:solidFill>
              </a:rPr>
              <a:t> when needed.</a:t>
            </a:r>
          </a:p>
          <a:p>
            <a:pPr marL="171450" indent="-171450">
              <a:buFont typeface="Arial" panose="020B0604020202020204" pitchFamily="34" charset="0"/>
              <a:buChar char="•"/>
            </a:pPr>
            <a:r>
              <a:rPr lang="en-US" sz="1100" b="1">
                <a:solidFill>
                  <a:schemeClr val="tx1">
                    <a:lumMod val="50000"/>
                  </a:schemeClr>
                </a:solidFill>
              </a:rPr>
              <a:t>Technical lead escalates unresolved impediments:</a:t>
            </a:r>
            <a:br>
              <a:rPr lang="en-US" sz="1100">
                <a:solidFill>
                  <a:schemeClr val="tx1">
                    <a:lumMod val="50000"/>
                  </a:schemeClr>
                </a:solidFill>
              </a:rPr>
            </a:br>
            <a:r>
              <a:rPr lang="en-US" sz="1100">
                <a:solidFill>
                  <a:schemeClr val="tx1">
                    <a:lumMod val="50000"/>
                  </a:schemeClr>
                </a:solidFill>
              </a:rPr>
              <a:t>If a blocker cannot be resolved within the team in a timely manner, it is escalated via appropriate channels (e.g., Technical Lead, Product Owner, or governance forums). This ensures critical issues receive proper attention. Escalation is managed through </a:t>
            </a:r>
            <a:r>
              <a:rPr lang="en-US" sz="1100" b="1">
                <a:solidFill>
                  <a:schemeClr val="tx1">
                    <a:lumMod val="50000"/>
                  </a:schemeClr>
                </a:solidFill>
              </a:rPr>
              <a:t>issue and risk escalation practices</a:t>
            </a:r>
            <a:r>
              <a:rPr lang="en-US" sz="1100">
                <a:solidFill>
                  <a:schemeClr val="tx1">
                    <a:lumMod val="50000"/>
                  </a:schemeClr>
                </a:solidFill>
              </a:rPr>
              <a:t>, and prioritization decisions remain aligned with delivery objectives via </a:t>
            </a:r>
            <a:r>
              <a:rPr lang="en-US" sz="1100" b="1">
                <a:solidFill>
                  <a:schemeClr val="tx1">
                    <a:lumMod val="50000"/>
                  </a:schemeClr>
                </a:solidFill>
              </a:rPr>
              <a:t>alignment with business during execution</a:t>
            </a:r>
            <a:r>
              <a:rPr lang="en-US" sz="1100">
                <a:solidFill>
                  <a:schemeClr val="tx1">
                    <a:lumMod val="50000"/>
                  </a:schemeClr>
                </a:solidFill>
              </a:rPr>
              <a:t>.</a:t>
            </a:r>
          </a:p>
          <a:p>
            <a:pPr marL="171450" indent="-171450">
              <a:buFont typeface="Arial" panose="020B0604020202020204" pitchFamily="34" charset="0"/>
              <a:buChar char="•"/>
            </a:pPr>
            <a:endParaRPr lang="en-US" sz="1100">
              <a:solidFill>
                <a:schemeClr val="tx1"/>
              </a:solidFill>
            </a:endParaRPr>
          </a:p>
          <a:p>
            <a:r>
              <a:rPr lang="en-US" sz="1100" b="1" u="sng">
                <a:solidFill>
                  <a:schemeClr val="tx1"/>
                </a:solidFill>
              </a:rPr>
              <a:t>Completion Criteria</a:t>
            </a:r>
          </a:p>
          <a:p>
            <a:pPr marL="171450" lvl="1" indent="-171450">
              <a:buFont typeface="Arial" panose="020B0604020202020204" pitchFamily="34" charset="0"/>
              <a:buChar char="•"/>
            </a:pPr>
            <a:r>
              <a:rPr lang="en-US" sz="1100">
                <a:solidFill>
                  <a:schemeClr val="tx1"/>
                </a:solidFill>
              </a:rPr>
              <a:t>Blockers resolved quickly</a:t>
            </a:r>
            <a:endParaRPr lang="en-US" sz="1100" u="sng">
              <a:solidFill>
                <a:schemeClr val="tx1"/>
              </a:solidFill>
              <a:latin typeface="+mj-lt"/>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A008896A-82D9-C0B5-DF5F-F26109732584}"/>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59B16A8F-21E8-4189-047E-663DD32F7E85}"/>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Blocker Tracker</a:t>
            </a:r>
          </a:p>
          <a:p>
            <a:pPr marL="228600" lvl="1" indent="-228600">
              <a:buAutoNum type="arabicPeriod" startAt="2"/>
            </a:pPr>
            <a:r>
              <a:rPr lang="en-US" sz="1100" b="1">
                <a:solidFill>
                  <a:schemeClr val="tx1"/>
                </a:solidFill>
              </a:rPr>
              <a:t>Issue and risk escalation practices</a:t>
            </a:r>
          </a:p>
          <a:p>
            <a:pPr marL="228600" lvl="1" indent="-228600">
              <a:buAutoNum type="arabicPeriod" startAt="2"/>
            </a:pPr>
            <a:r>
              <a:rPr lang="en-US" sz="1100" b="1">
                <a:solidFill>
                  <a:prstClr val="black"/>
                </a:solidFill>
                <a:latin typeface="Arial" panose="020B0604020202020204" pitchFamily="34" charset="0"/>
                <a:cs typeface="Arial" panose="020B0604020202020204" pitchFamily="34" charset="0"/>
              </a:rPr>
              <a:t>Alignment with business during execution</a:t>
            </a:r>
          </a:p>
          <a:p>
            <a:pPr marL="0" lvl="1"/>
            <a:endParaRPr lang="en-US" sz="1100" b="1">
              <a:solidFill>
                <a:schemeClr val="tx1"/>
              </a:solidFill>
            </a:endParaRPr>
          </a:p>
          <a:p>
            <a:pPr marL="0" lvl="1"/>
            <a:r>
              <a:rPr lang="en-US" sz="1100">
                <a:solidFill>
                  <a:schemeClr val="tx1"/>
                </a:solidFill>
              </a:rPr>
              <a:t> </a:t>
            </a:r>
          </a:p>
          <a:p>
            <a:pPr lvl="1"/>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4F26CBC0-4FD1-4A70-FA01-9FC661C1BAED}"/>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8" name="Picture 2" descr="Reporting blockers in Jira (add flag)">
            <a:extLst>
              <a:ext uri="{FF2B5EF4-FFF2-40B4-BE49-F238E27FC236}">
                <a16:creationId xmlns:a16="http://schemas.microsoft.com/office/drawing/2014/main" id="{2B4C5808-E453-8A14-944A-3D2D2C46C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6478" y="4310057"/>
            <a:ext cx="3286366" cy="18485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A96A4AB-D301-F0B5-70AC-AAEBAD1661A4}"/>
              </a:ext>
            </a:extLst>
          </p:cNvPr>
          <p:cNvPicPr>
            <a:picLocks noChangeAspect="1"/>
          </p:cNvPicPr>
          <p:nvPr/>
        </p:nvPicPr>
        <p:blipFill>
          <a:blip r:embed="rId3"/>
          <a:stretch>
            <a:fillRect/>
          </a:stretch>
        </p:blipFill>
        <p:spPr>
          <a:xfrm>
            <a:off x="9672975" y="4613873"/>
            <a:ext cx="2079738" cy="1365136"/>
          </a:xfrm>
          <a:prstGeom prst="rect">
            <a:avLst/>
          </a:prstGeom>
        </p:spPr>
      </p:pic>
      <p:sp>
        <p:nvSpPr>
          <p:cNvPr id="12" name="Rounded Rectangle 5">
            <a:extLst>
              <a:ext uri="{FF2B5EF4-FFF2-40B4-BE49-F238E27FC236}">
                <a16:creationId xmlns:a16="http://schemas.microsoft.com/office/drawing/2014/main" id="{9E0A2EA7-6C49-1435-9B41-DA9C533E0ACC}"/>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409C4594-56D5-5365-5312-CD158218D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3">
            <a:extLst>
              <a:ext uri="{FF2B5EF4-FFF2-40B4-BE49-F238E27FC236}">
                <a16:creationId xmlns:a16="http://schemas.microsoft.com/office/drawing/2014/main" id="{AF24C5EC-9B6B-CF48-4D83-1BFB43F088F3}"/>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25670706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ROLES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FOUR ACCOUNTABILITIES OWN THE DEMAND FLOW END TO END</a:t>
            </a:r>
          </a:p>
        </p:txBody>
      </p:sp>
      <p:sp>
        <p:nvSpPr>
          <p:cNvPr id="6" name="Rectangle 5"/>
          <p:cNvSpPr/>
          <p:nvPr/>
        </p:nvSpPr>
        <p:spPr>
          <a:xfrm>
            <a:off x="0" y="914400"/>
            <a:ext cx="12191695"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ROLES</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Who owns and operates the framework.</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04 + 07</a:t>
            </a:r>
          </a:p>
        </p:txBody>
      </p:sp>
      <p:sp>
        <p:nvSpPr>
          <p:cNvPr id="11" name="Rectangle 10"/>
          <p:cNvSpPr/>
          <p:nvPr/>
        </p:nvSpPr>
        <p:spPr>
          <a:xfrm>
            <a:off x="457200"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BUSINESS REQUESTOR</a:t>
            </a:r>
          </a:p>
        </p:txBody>
      </p:sp>
      <p:sp>
        <p:nvSpPr>
          <p:cNvPr id="13" name="TextBox 12"/>
          <p:cNvSpPr txBox="1"/>
          <p:nvPr/>
        </p:nvSpPr>
        <p:spPr>
          <a:xfrm>
            <a:off x="594360" y="2286000"/>
            <a:ext cx="2442133" cy="292608"/>
          </a:xfrm>
          <a:prstGeom prst="rect">
            <a:avLst/>
          </a:prstGeom>
          <a:noFill/>
        </p:spPr>
        <p:txBody>
          <a:bodyPr wrap="square" lIns="45720" tIns="18288" rIns="45720" bIns="18288" anchor="t">
            <a:spAutoFit/>
          </a:bodyPr>
          <a:lstStyle/>
          <a:p>
            <a:pPr algn="l"/>
            <a:r>
              <a:rPr sz="950" b="0" i="1">
                <a:solidFill>
                  <a:srgbClr val="2C578B"/>
                </a:solidFill>
                <a:latin typeface="Arial"/>
              </a:rPr>
              <a:t>Originating business unit</a:t>
            </a:r>
          </a:p>
        </p:txBody>
      </p:sp>
      <p:sp>
        <p:nvSpPr>
          <p:cNvPr id="14" name="TextBox 13"/>
          <p:cNvSpPr txBox="1"/>
          <p:nvPr/>
        </p:nvSpPr>
        <p:spPr>
          <a:xfrm>
            <a:off x="640080" y="2651760"/>
            <a:ext cx="2350693" cy="801245"/>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Submits demand via Jira request type </a:t>
            </a:r>
            <a:endParaRPr lang="pt-BR" sz="900" b="0">
              <a:solidFill>
                <a:srgbClr val="2C3E50"/>
              </a:solidFill>
              <a:latin typeface="Arial"/>
            </a:endParaRPr>
          </a:p>
          <a:p>
            <a:pPr>
              <a:lnSpc>
                <a:spcPct val="135000"/>
              </a:lnSpc>
            </a:pPr>
            <a:r>
              <a:rPr sz="900" b="0">
                <a:solidFill>
                  <a:srgbClr val="2C3E50"/>
                </a:solidFill>
                <a:latin typeface="Arial"/>
              </a:rPr>
              <a:t>•  Sponsors the request and signs off business value</a:t>
            </a:r>
          </a:p>
          <a:p>
            <a:pPr>
              <a:lnSpc>
                <a:spcPct val="135000"/>
              </a:lnSpc>
            </a:pPr>
            <a:r>
              <a:rPr sz="900" b="0">
                <a:solidFill>
                  <a:srgbClr val="2C3E50"/>
                </a:solidFill>
                <a:latin typeface="Arial"/>
              </a:rPr>
              <a:t>•  Receives status updates through </a:t>
            </a:r>
            <a:r>
              <a:rPr lang="pt-BR" sz="900" err="1">
                <a:solidFill>
                  <a:srgbClr val="2C3E50"/>
                </a:solidFill>
                <a:latin typeface="Arial"/>
              </a:rPr>
              <a:t>Jira</a:t>
            </a:r>
            <a:endParaRPr sz="900" b="0">
              <a:solidFill>
                <a:srgbClr val="2C3E50"/>
              </a:solidFill>
              <a:latin typeface="Arial"/>
            </a:endParaRPr>
          </a:p>
        </p:txBody>
      </p:sp>
      <p:sp>
        <p:nvSpPr>
          <p:cNvPr id="15" name="Rectangle 14"/>
          <p:cNvSpPr/>
          <p:nvPr/>
        </p:nvSpPr>
        <p:spPr>
          <a:xfrm>
            <a:off x="435634"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2794" y="3989717"/>
            <a:ext cx="2442133" cy="365760"/>
          </a:xfrm>
          <a:prstGeom prst="rect">
            <a:avLst/>
          </a:prstGeom>
          <a:noFill/>
        </p:spPr>
        <p:txBody>
          <a:bodyPr wrap="square" lIns="45720" tIns="18288" rIns="45720" bIns="18288" anchor="ctr">
            <a:spAutoFit/>
          </a:bodyPr>
          <a:lstStyle/>
          <a:p>
            <a:pPr algn="l"/>
            <a:r>
              <a:rPr sz="850" b="1" i="1">
                <a:solidFill>
                  <a:srgbClr val="2C578B"/>
                </a:solidFill>
                <a:latin typeface="Arial"/>
              </a:rPr>
              <a:t>Decides WHAT business outcome is needed</a:t>
            </a:r>
          </a:p>
        </p:txBody>
      </p:sp>
      <p:sp>
        <p:nvSpPr>
          <p:cNvPr id="18" name="Rectangle 17"/>
          <p:cNvSpPr/>
          <p:nvPr/>
        </p:nvSpPr>
        <p:spPr>
          <a:xfrm>
            <a:off x="3310813"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02253"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MANAGER  [NEW]</a:t>
            </a:r>
          </a:p>
        </p:txBody>
      </p:sp>
      <p:sp>
        <p:nvSpPr>
          <p:cNvPr id="20" name="TextBox 19"/>
          <p:cNvSpPr txBox="1"/>
          <p:nvPr/>
        </p:nvSpPr>
        <p:spPr>
          <a:xfrm>
            <a:off x="3447973" y="2286000"/>
            <a:ext cx="2442133" cy="292608"/>
          </a:xfrm>
          <a:prstGeom prst="rect">
            <a:avLst/>
          </a:prstGeom>
          <a:noFill/>
        </p:spPr>
        <p:txBody>
          <a:bodyPr wrap="square" lIns="45720" tIns="18288" rIns="45720" bIns="18288" anchor="t">
            <a:spAutoFit/>
          </a:bodyPr>
          <a:lstStyle/>
          <a:p>
            <a:pPr algn="l"/>
            <a:r>
              <a:rPr sz="950" b="0" i="1">
                <a:solidFill>
                  <a:srgbClr val="F9A825"/>
                </a:solidFill>
                <a:latin typeface="Arial"/>
              </a:rPr>
              <a:t>One per Value Stream Team · IT-business bridge</a:t>
            </a:r>
          </a:p>
        </p:txBody>
      </p:sp>
      <p:sp>
        <p:nvSpPr>
          <p:cNvPr id="21" name="TextBox 20"/>
          <p:cNvSpPr txBox="1"/>
          <p:nvPr/>
        </p:nvSpPr>
        <p:spPr>
          <a:xfrm>
            <a:off x="3493693"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Owns backlog priority for the Value Stream</a:t>
            </a:r>
          </a:p>
          <a:p>
            <a:pPr>
              <a:lnSpc>
                <a:spcPct val="135000"/>
              </a:lnSpc>
            </a:pPr>
            <a:r>
              <a:rPr sz="900" b="0">
                <a:solidFill>
                  <a:srgbClr val="2C3E50"/>
                </a:solidFill>
                <a:latin typeface="Arial"/>
              </a:rPr>
              <a:t>•  Owns Pain Score and outcome KPIs</a:t>
            </a:r>
          </a:p>
          <a:p>
            <a:pPr>
              <a:lnSpc>
                <a:spcPct val="135000"/>
              </a:lnSpc>
            </a:pPr>
            <a:r>
              <a:rPr sz="900" b="0">
                <a:solidFill>
                  <a:srgbClr val="2C3E50"/>
                </a:solidFill>
                <a:latin typeface="Arial"/>
              </a:rPr>
              <a:t>•  Bridges IT to business — Process Owners, Demand Manager scope folded in</a:t>
            </a:r>
          </a:p>
          <a:p>
            <a:pPr>
              <a:lnSpc>
                <a:spcPct val="135000"/>
              </a:lnSpc>
            </a:pPr>
            <a:r>
              <a:rPr sz="900" b="0">
                <a:solidFill>
                  <a:srgbClr val="2C3E50"/>
                </a:solidFill>
                <a:latin typeface="Arial"/>
              </a:rPr>
              <a:t>•  Chairs the Portfolio review for the VS</a:t>
            </a:r>
          </a:p>
        </p:txBody>
      </p:sp>
      <p:sp>
        <p:nvSpPr>
          <p:cNvPr id="22" name="Rectangle 21"/>
          <p:cNvSpPr/>
          <p:nvPr/>
        </p:nvSpPr>
        <p:spPr>
          <a:xfrm>
            <a:off x="3289247"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26407" y="3989717"/>
            <a:ext cx="2442133" cy="365760"/>
          </a:xfrm>
          <a:prstGeom prst="rect">
            <a:avLst/>
          </a:prstGeom>
          <a:noFill/>
        </p:spPr>
        <p:txBody>
          <a:bodyPr wrap="square" lIns="45720" tIns="18288" rIns="45720" bIns="18288" anchor="ctr">
            <a:spAutoFit/>
          </a:bodyPr>
          <a:lstStyle/>
          <a:p>
            <a:pPr algn="l"/>
            <a:r>
              <a:rPr sz="850" b="1" i="1">
                <a:solidFill>
                  <a:srgbClr val="F9A825"/>
                </a:solidFill>
                <a:latin typeface="Arial"/>
              </a:rPr>
              <a:t>Decides WHEN and IN WHAT ORDER work is done</a:t>
            </a:r>
          </a:p>
        </p:txBody>
      </p:sp>
      <p:sp>
        <p:nvSpPr>
          <p:cNvPr id="25" name="Rectangle 24"/>
          <p:cNvSpPr/>
          <p:nvPr/>
        </p:nvSpPr>
        <p:spPr>
          <a:xfrm>
            <a:off x="6164427"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55867"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ARCHITECT REVIEWER</a:t>
            </a:r>
          </a:p>
        </p:txBody>
      </p:sp>
      <p:sp>
        <p:nvSpPr>
          <p:cNvPr id="27" name="TextBox 26"/>
          <p:cNvSpPr txBox="1"/>
          <p:nvPr/>
        </p:nvSpPr>
        <p:spPr>
          <a:xfrm>
            <a:off x="6301587" y="2286000"/>
            <a:ext cx="2442133" cy="292608"/>
          </a:xfrm>
          <a:prstGeom prst="rect">
            <a:avLst/>
          </a:prstGeom>
          <a:noFill/>
        </p:spPr>
        <p:txBody>
          <a:bodyPr wrap="square" lIns="45720" tIns="18288" rIns="45720" bIns="18288" anchor="t">
            <a:spAutoFit/>
          </a:bodyPr>
          <a:lstStyle/>
          <a:p>
            <a:pPr algn="l"/>
            <a:r>
              <a:rPr sz="950" b="0" i="1">
                <a:solidFill>
                  <a:srgbClr val="2E7D32"/>
                </a:solidFill>
                <a:latin typeface="Arial"/>
              </a:rPr>
              <a:t>Architecture Council (rotating)</a:t>
            </a:r>
          </a:p>
        </p:txBody>
      </p:sp>
      <p:sp>
        <p:nvSpPr>
          <p:cNvPr id="28" name="TextBox 27"/>
          <p:cNvSpPr txBox="1"/>
          <p:nvPr/>
        </p:nvSpPr>
        <p:spPr>
          <a:xfrm>
            <a:off x="6347307"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Provides feasibility view at intake gate (≤2 h)</a:t>
            </a:r>
          </a:p>
          <a:p>
            <a:pPr>
              <a:lnSpc>
                <a:spcPct val="135000"/>
              </a:lnSpc>
            </a:pPr>
            <a:r>
              <a:rPr sz="900" b="0">
                <a:solidFill>
                  <a:srgbClr val="2C3E50"/>
                </a:solidFill>
                <a:latin typeface="Arial"/>
              </a:rPr>
              <a:t>•  Verdict: Feasible · Conditional · Not feasible</a:t>
            </a:r>
          </a:p>
          <a:p>
            <a:pPr>
              <a:lnSpc>
                <a:spcPct val="135000"/>
              </a:lnSpc>
            </a:pPr>
            <a:r>
              <a:rPr sz="900" b="0">
                <a:solidFill>
                  <a:srgbClr val="2C3E50"/>
                </a:solidFill>
                <a:latin typeface="Arial"/>
              </a:rPr>
              <a:t>•  Advisory — does not veto</a:t>
            </a:r>
          </a:p>
        </p:txBody>
      </p:sp>
      <p:sp>
        <p:nvSpPr>
          <p:cNvPr id="29" name="Rectangle 28"/>
          <p:cNvSpPr/>
          <p:nvPr/>
        </p:nvSpPr>
        <p:spPr>
          <a:xfrm>
            <a:off x="6142861"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80021" y="3989717"/>
            <a:ext cx="2442133" cy="365760"/>
          </a:xfrm>
          <a:prstGeom prst="rect">
            <a:avLst/>
          </a:prstGeom>
          <a:noFill/>
        </p:spPr>
        <p:txBody>
          <a:bodyPr wrap="square" lIns="45720" tIns="18288" rIns="45720" bIns="18288" anchor="ctr">
            <a:spAutoFit/>
          </a:bodyPr>
          <a:lstStyle/>
          <a:p>
            <a:pPr algn="l"/>
            <a:r>
              <a:rPr sz="850" b="1" i="1">
                <a:solidFill>
                  <a:srgbClr val="2E7D32"/>
                </a:solidFill>
                <a:latin typeface="Arial"/>
              </a:rPr>
              <a:t>Decides HOW it should be built</a:t>
            </a:r>
          </a:p>
        </p:txBody>
      </p:sp>
      <p:sp>
        <p:nvSpPr>
          <p:cNvPr id="32" name="Rectangle 31"/>
          <p:cNvSpPr/>
          <p:nvPr/>
        </p:nvSpPr>
        <p:spPr>
          <a:xfrm>
            <a:off x="9018041"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09481"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TRIAGE / DEMAND MGR</a:t>
            </a:r>
          </a:p>
        </p:txBody>
      </p:sp>
      <p:sp>
        <p:nvSpPr>
          <p:cNvPr id="34" name="TextBox 33"/>
          <p:cNvSpPr txBox="1"/>
          <p:nvPr/>
        </p:nvSpPr>
        <p:spPr>
          <a:xfrm>
            <a:off x="9155201" y="2286000"/>
            <a:ext cx="2442133" cy="292608"/>
          </a:xfrm>
          <a:prstGeom prst="rect">
            <a:avLst/>
          </a:prstGeom>
          <a:noFill/>
        </p:spPr>
        <p:txBody>
          <a:bodyPr wrap="square" lIns="45720" tIns="18288" rIns="45720" bIns="18288" anchor="t">
            <a:spAutoFit/>
          </a:bodyPr>
          <a:lstStyle/>
          <a:p>
            <a:pPr algn="l"/>
            <a:r>
              <a:rPr sz="950" b="0" i="1">
                <a:solidFill>
                  <a:srgbClr val="7A66B8"/>
                </a:solidFill>
                <a:latin typeface="Arial"/>
              </a:rPr>
              <a:t>Cross-VS chair</a:t>
            </a:r>
          </a:p>
        </p:txBody>
      </p:sp>
      <p:sp>
        <p:nvSpPr>
          <p:cNvPr id="35" name="TextBox 34"/>
          <p:cNvSpPr txBox="1"/>
          <p:nvPr/>
        </p:nvSpPr>
        <p:spPr>
          <a:xfrm>
            <a:off x="9200921"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Chairs weekly Gate 1 triage (30 min)</a:t>
            </a:r>
          </a:p>
          <a:p>
            <a:pPr>
              <a:lnSpc>
                <a:spcPct val="135000"/>
              </a:lnSpc>
            </a:pPr>
            <a:r>
              <a:rPr sz="900" b="0">
                <a:solidFill>
                  <a:srgbClr val="2C3E50"/>
                </a:solidFill>
                <a:latin typeface="Arial"/>
              </a:rPr>
              <a:t>•  Audits scoring and intake quality</a:t>
            </a:r>
          </a:p>
          <a:p>
            <a:pPr>
              <a:lnSpc>
                <a:spcPct val="135000"/>
              </a:lnSpc>
            </a:pPr>
            <a:r>
              <a:rPr sz="900" b="0">
                <a:solidFill>
                  <a:srgbClr val="2C3E50"/>
                </a:solidFill>
                <a:latin typeface="Arial"/>
              </a:rPr>
              <a:t>•  Escalates cross-VS conflicts to Gate 2</a:t>
            </a:r>
          </a:p>
        </p:txBody>
      </p:sp>
      <p:sp>
        <p:nvSpPr>
          <p:cNvPr id="36" name="Rectangle 35"/>
          <p:cNvSpPr/>
          <p:nvPr/>
        </p:nvSpPr>
        <p:spPr>
          <a:xfrm>
            <a:off x="8996475"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33635" y="3989717"/>
            <a:ext cx="2442133" cy="365760"/>
          </a:xfrm>
          <a:prstGeom prst="rect">
            <a:avLst/>
          </a:prstGeom>
          <a:noFill/>
        </p:spPr>
        <p:txBody>
          <a:bodyPr wrap="square" lIns="45720" tIns="18288" rIns="45720" bIns="18288" anchor="ctr">
            <a:spAutoFit/>
          </a:bodyPr>
          <a:lstStyle/>
          <a:p>
            <a:pPr algn="l"/>
            <a:r>
              <a:rPr sz="850" b="1" i="1">
                <a:solidFill>
                  <a:srgbClr val="7A66B8"/>
                </a:solidFill>
                <a:latin typeface="Arial"/>
              </a:rPr>
              <a:t>Decides IF the demand is ready to enter the funnel</a:t>
            </a:r>
          </a:p>
        </p:txBody>
      </p:sp>
      <p:sp>
        <p:nvSpPr>
          <p:cNvPr id="38" name="Rounded Rectangle 37"/>
          <p:cNvSpPr/>
          <p:nvPr/>
        </p:nvSpPr>
        <p:spPr>
          <a:xfrm>
            <a:off x="450011" y="4821303"/>
            <a:ext cx="11277295" cy="1143000"/>
          </a:xfrm>
          <a:prstGeom prst="roundRect">
            <a:avLst>
              <a:gd name="adj" fmla="val 5000"/>
            </a:avLst>
          </a:prstGeom>
          <a:solidFill>
            <a:srgbClr val="FDECD7"/>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2891" y="4912743"/>
            <a:ext cx="10911535" cy="274320"/>
          </a:xfrm>
          <a:prstGeom prst="rect">
            <a:avLst/>
          </a:prstGeom>
          <a:noFill/>
        </p:spPr>
        <p:txBody>
          <a:bodyPr wrap="square" lIns="45720" tIns="18288" rIns="45720" bIns="18288" anchor="t">
            <a:spAutoFit/>
          </a:bodyPr>
          <a:lstStyle/>
          <a:p>
            <a:pPr algn="l"/>
            <a:r>
              <a:rPr sz="1000" b="1" i="0">
                <a:solidFill>
                  <a:srgbClr val="E88B2F"/>
                </a:solidFill>
                <a:latin typeface="Arial"/>
              </a:rPr>
              <a:t>WHY THE PRODUCT MANAGER ROLE IS NEW</a:t>
            </a:r>
          </a:p>
        </p:txBody>
      </p:sp>
      <p:sp>
        <p:nvSpPr>
          <p:cNvPr id="40" name="TextBox 39"/>
          <p:cNvSpPr txBox="1"/>
          <p:nvPr/>
        </p:nvSpPr>
        <p:spPr>
          <a:xfrm>
            <a:off x="632891" y="5205351"/>
            <a:ext cx="10911535" cy="731520"/>
          </a:xfrm>
          <a:prstGeom prst="rect">
            <a:avLst/>
          </a:prstGeom>
          <a:noFill/>
        </p:spPr>
        <p:txBody>
          <a:bodyPr wrap="square" lIns="45720" tIns="18288" rIns="45720" bIns="18288" anchor="t">
            <a:spAutoFit/>
          </a:bodyPr>
          <a:lstStyle/>
          <a:p>
            <a:pPr algn="l"/>
            <a:r>
              <a:rPr sz="1000" b="0" i="1">
                <a:solidFill>
                  <a:srgbClr val="2C3E50"/>
                </a:solidFill>
                <a:latin typeface="Arial"/>
              </a:rPr>
              <a:t>Today Avangrid has Project Managers (PJMs), Sr. Managers and Champions — not Product Managers. The PM role owns outcomes (not just delivery) and is the single accountable name for each Value Stream's portfolio. This role is created from scratch as part of the TOM.</a:t>
            </a:r>
          </a:p>
        </p:txBody>
      </p:sp>
    </p:spTree>
    <p:extLst>
      <p:ext uri="{BB962C8B-B14F-4D97-AF65-F5344CB8AC3E}">
        <p14:creationId xmlns:p14="http://schemas.microsoft.com/office/powerpoint/2010/main" val="10954789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ROLES &amp; RESPONSIBILITIES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CURRENT PEOPLE AND PROPOSED ROLES</a:t>
            </a:r>
          </a:p>
        </p:txBody>
      </p:sp>
      <p:sp>
        <p:nvSpPr>
          <p:cNvPr id="5" name="TextBox 4"/>
          <p:cNvSpPr txBox="1"/>
          <p:nvPr/>
        </p:nvSpPr>
        <p:spPr>
          <a:xfrm>
            <a:off x="10088575" y="182880"/>
            <a:ext cx="1828800" cy="502920"/>
          </a:xfrm>
          <a:prstGeom prst="rect">
            <a:avLst/>
          </a:prstGeom>
          <a:noFill/>
        </p:spPr>
        <p:txBody>
          <a:bodyPr wrap="square" lIns="45720" tIns="18288" rIns="45720" bIns="18288" anchor="ctr">
            <a:spAutoFit/>
          </a:bodyPr>
          <a:lstStyle/>
          <a:p>
            <a:pPr algn="r"/>
            <a:r>
              <a:rPr sz="1200" b="1" i="0">
                <a:solidFill>
                  <a:srgbClr val="FFFFFF"/>
                </a:solidFill>
                <a:latin typeface="Arial"/>
              </a:rPr>
              <a:t>NTT  DATA</a:t>
            </a:r>
          </a:p>
        </p:txBody>
      </p:sp>
      <p:sp>
        <p:nvSpPr>
          <p:cNvPr id="6" name="TextBox 5"/>
          <p:cNvSpPr txBox="1"/>
          <p:nvPr/>
        </p:nvSpPr>
        <p:spPr>
          <a:xfrm>
            <a:off x="457200" y="868680"/>
            <a:ext cx="7315200" cy="274320"/>
          </a:xfrm>
          <a:prstGeom prst="rect">
            <a:avLst/>
          </a:prstGeom>
          <a:noFill/>
        </p:spPr>
        <p:txBody>
          <a:bodyPr wrap="square" lIns="45720" tIns="18288" rIns="45720" bIns="18288" anchor="t">
            <a:spAutoFit/>
          </a:bodyPr>
          <a:lstStyle/>
          <a:p>
            <a:pPr algn="l"/>
            <a:r>
              <a:rPr sz="1200" b="1" i="0">
                <a:solidFill>
                  <a:srgbClr val="0F1C50"/>
                </a:solidFill>
                <a:latin typeface="Arial"/>
              </a:rPr>
              <a:t>EXISTING LEADERSHIP</a:t>
            </a:r>
          </a:p>
        </p:txBody>
      </p:sp>
      <p:sp>
        <p:nvSpPr>
          <p:cNvPr id="7" name="Rounded Rectangle 6"/>
          <p:cNvSpPr/>
          <p:nvPr/>
        </p:nvSpPr>
        <p:spPr>
          <a:xfrm>
            <a:off x="502920" y="1188720"/>
            <a:ext cx="2164019" cy="1783080"/>
          </a:xfrm>
          <a:prstGeom prst="roundRect">
            <a:avLst>
              <a:gd name="adj" fmla="val 4000"/>
            </a:avLst>
          </a:prstGeom>
          <a:solidFill>
            <a:srgbClr val="FFFFFF"/>
          </a:solidFill>
          <a:ln w="2540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188720"/>
            <a:ext cx="2164019"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Vitor Cruz</a:t>
            </a:r>
          </a:p>
        </p:txBody>
      </p:sp>
      <p:sp>
        <p:nvSpPr>
          <p:cNvPr id="10" name="TextBox 9"/>
          <p:cNvSpPr txBox="1"/>
          <p:nvPr/>
        </p:nvSpPr>
        <p:spPr>
          <a:xfrm>
            <a:off x="594360"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VP IT Business Solutions</a:t>
            </a:r>
          </a:p>
        </p:txBody>
      </p:sp>
      <p:sp>
        <p:nvSpPr>
          <p:cNvPr id="11" name="TextBox 10"/>
          <p:cNvSpPr txBox="1"/>
          <p:nvPr/>
        </p:nvSpPr>
        <p:spPr>
          <a:xfrm>
            <a:off x="594360"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Strategy · sponsor · cross-portfolio sync</a:t>
            </a:r>
          </a:p>
        </p:txBody>
      </p:sp>
      <p:sp>
        <p:nvSpPr>
          <p:cNvPr id="12" name="Rounded Rectangle 11"/>
          <p:cNvSpPr/>
          <p:nvPr/>
        </p:nvSpPr>
        <p:spPr>
          <a:xfrm>
            <a:off x="2758379" y="1188720"/>
            <a:ext cx="2164019" cy="178308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58379" y="1188720"/>
            <a:ext cx="2164019"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04099"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Carlos Garbin</a:t>
            </a:r>
          </a:p>
        </p:txBody>
      </p:sp>
      <p:sp>
        <p:nvSpPr>
          <p:cNvPr id="15" name="TextBox 14"/>
          <p:cNvSpPr txBox="1"/>
          <p:nvPr/>
        </p:nvSpPr>
        <p:spPr>
          <a:xfrm>
            <a:off x="2849819"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IT Business Apps</a:t>
            </a:r>
          </a:p>
        </p:txBody>
      </p:sp>
      <p:sp>
        <p:nvSpPr>
          <p:cNvPr id="16" name="TextBox 15"/>
          <p:cNvSpPr txBox="1"/>
          <p:nvPr/>
        </p:nvSpPr>
        <p:spPr>
          <a:xfrm>
            <a:off x="2849819"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IT Apps Portfolio Board owner</a:t>
            </a:r>
          </a:p>
        </p:txBody>
      </p:sp>
      <p:sp>
        <p:nvSpPr>
          <p:cNvPr id="17" name="Rounded Rectangle 16"/>
          <p:cNvSpPr/>
          <p:nvPr/>
        </p:nvSpPr>
        <p:spPr>
          <a:xfrm>
            <a:off x="5013838" y="118872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13838" y="118872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59558"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Kumar Jaladanki</a:t>
            </a:r>
          </a:p>
        </p:txBody>
      </p:sp>
      <p:sp>
        <p:nvSpPr>
          <p:cNvPr id="20" name="TextBox 19"/>
          <p:cNvSpPr txBox="1"/>
          <p:nvPr/>
        </p:nvSpPr>
        <p:spPr>
          <a:xfrm>
            <a:off x="5105278"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Customer Services Apps</a:t>
            </a:r>
          </a:p>
        </p:txBody>
      </p:sp>
      <p:sp>
        <p:nvSpPr>
          <p:cNvPr id="21" name="TextBox 20"/>
          <p:cNvSpPr txBox="1"/>
          <p:nvPr/>
        </p:nvSpPr>
        <p:spPr>
          <a:xfrm>
            <a:off x="5105278"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CS Apps Portfolio Board owner</a:t>
            </a:r>
          </a:p>
        </p:txBody>
      </p:sp>
      <p:sp>
        <p:nvSpPr>
          <p:cNvPr id="22" name="Rounded Rectangle 21"/>
          <p:cNvSpPr/>
          <p:nvPr/>
        </p:nvSpPr>
        <p:spPr>
          <a:xfrm>
            <a:off x="7269297" y="1188720"/>
            <a:ext cx="2164019" cy="178308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69297" y="1188720"/>
            <a:ext cx="2164019"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017"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Heather LaJoie</a:t>
            </a:r>
          </a:p>
        </p:txBody>
      </p:sp>
      <p:sp>
        <p:nvSpPr>
          <p:cNvPr id="25" name="TextBox 24"/>
          <p:cNvSpPr txBox="1"/>
          <p:nvPr/>
        </p:nvSpPr>
        <p:spPr>
          <a:xfrm>
            <a:off x="7360737"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Product Management</a:t>
            </a:r>
          </a:p>
        </p:txBody>
      </p:sp>
      <p:sp>
        <p:nvSpPr>
          <p:cNvPr id="26" name="TextBox 25"/>
          <p:cNvSpPr txBox="1"/>
          <p:nvPr/>
        </p:nvSpPr>
        <p:spPr>
          <a:xfrm>
            <a:off x="7360737"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Cross-base prioritization layer</a:t>
            </a:r>
          </a:p>
        </p:txBody>
      </p:sp>
      <p:sp>
        <p:nvSpPr>
          <p:cNvPr id="27" name="Rounded Rectangle 26"/>
          <p:cNvSpPr/>
          <p:nvPr/>
        </p:nvSpPr>
        <p:spPr>
          <a:xfrm>
            <a:off x="9524756" y="1188720"/>
            <a:ext cx="2164019" cy="178308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524756" y="1188720"/>
            <a:ext cx="2164019"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70476"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Travis · PMO Lead</a:t>
            </a:r>
          </a:p>
        </p:txBody>
      </p:sp>
      <p:sp>
        <p:nvSpPr>
          <p:cNvPr id="30" name="TextBox 29"/>
          <p:cNvSpPr txBox="1"/>
          <p:nvPr/>
        </p:nvSpPr>
        <p:spPr>
          <a:xfrm>
            <a:off x="9616196"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Large Projects PDD</a:t>
            </a:r>
          </a:p>
        </p:txBody>
      </p:sp>
      <p:sp>
        <p:nvSpPr>
          <p:cNvPr id="31" name="TextBox 30"/>
          <p:cNvSpPr txBox="1"/>
          <p:nvPr/>
        </p:nvSpPr>
        <p:spPr>
          <a:xfrm>
            <a:off x="9616196"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Bridge to legacy PDD process</a:t>
            </a:r>
          </a:p>
        </p:txBody>
      </p:sp>
      <p:sp>
        <p:nvSpPr>
          <p:cNvPr id="32" name="TextBox 31"/>
          <p:cNvSpPr txBox="1"/>
          <p:nvPr/>
        </p:nvSpPr>
        <p:spPr>
          <a:xfrm>
            <a:off x="457200" y="3063240"/>
            <a:ext cx="7315200" cy="274320"/>
          </a:xfrm>
          <a:prstGeom prst="rect">
            <a:avLst/>
          </a:prstGeom>
          <a:noFill/>
        </p:spPr>
        <p:txBody>
          <a:bodyPr wrap="square" lIns="45720" tIns="18288" rIns="45720" bIns="18288" anchor="t">
            <a:spAutoFit/>
          </a:bodyPr>
          <a:lstStyle/>
          <a:p>
            <a:pPr algn="l"/>
            <a:r>
              <a:rPr sz="1200" b="1" i="0">
                <a:solidFill>
                  <a:srgbClr val="F9A825"/>
                </a:solidFill>
                <a:latin typeface="Arial"/>
              </a:rPr>
              <a:t>NEW ROLES TO ESTABLISH</a:t>
            </a:r>
          </a:p>
        </p:txBody>
      </p:sp>
      <p:sp>
        <p:nvSpPr>
          <p:cNvPr id="33" name="Rounded Rectangle 32"/>
          <p:cNvSpPr/>
          <p:nvPr/>
        </p:nvSpPr>
        <p:spPr>
          <a:xfrm>
            <a:off x="502920"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Product Manager × 8</a:t>
            </a:r>
          </a:p>
        </p:txBody>
      </p:sp>
      <p:sp>
        <p:nvSpPr>
          <p:cNvPr id="36" name="TextBox 35"/>
          <p:cNvSpPr txBox="1"/>
          <p:nvPr/>
        </p:nvSpPr>
        <p:spPr>
          <a:xfrm>
            <a:off x="594360"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One per Value Stream Team</a:t>
            </a:r>
          </a:p>
        </p:txBody>
      </p:sp>
      <p:sp>
        <p:nvSpPr>
          <p:cNvPr id="37" name="TextBox 36"/>
          <p:cNvSpPr txBox="1"/>
          <p:nvPr/>
        </p:nvSpPr>
        <p:spPr>
          <a:xfrm>
            <a:off x="594360"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Outcome owner · scoring · backlog priority</a:t>
            </a:r>
          </a:p>
        </p:txBody>
      </p:sp>
      <p:sp>
        <p:nvSpPr>
          <p:cNvPr id="38" name="Rounded Rectangle 37"/>
          <p:cNvSpPr/>
          <p:nvPr/>
        </p:nvSpPr>
        <p:spPr>
          <a:xfrm>
            <a:off x="2758379"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58379"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804099"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Demand Manager</a:t>
            </a:r>
          </a:p>
        </p:txBody>
      </p:sp>
      <p:sp>
        <p:nvSpPr>
          <p:cNvPr id="41" name="TextBox 40"/>
          <p:cNvSpPr txBox="1"/>
          <p:nvPr/>
        </p:nvSpPr>
        <p:spPr>
          <a:xfrm>
            <a:off x="2849819"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42" name="TextBox 41"/>
          <p:cNvSpPr txBox="1"/>
          <p:nvPr/>
        </p:nvSpPr>
        <p:spPr>
          <a:xfrm>
            <a:off x="2849819"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Audits scoring · intake quality · dashboard</a:t>
            </a:r>
          </a:p>
        </p:txBody>
      </p:sp>
      <p:sp>
        <p:nvSpPr>
          <p:cNvPr id="43" name="Rounded Rectangle 42"/>
          <p:cNvSpPr/>
          <p:nvPr/>
        </p:nvSpPr>
        <p:spPr>
          <a:xfrm>
            <a:off x="5013838"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013838"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59558"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Portfolio Manager</a:t>
            </a:r>
          </a:p>
        </p:txBody>
      </p:sp>
      <p:sp>
        <p:nvSpPr>
          <p:cNvPr id="46" name="TextBox 45"/>
          <p:cNvSpPr txBox="1"/>
          <p:nvPr/>
        </p:nvSpPr>
        <p:spPr>
          <a:xfrm>
            <a:off x="5105278"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Cross-portfolio</a:t>
            </a:r>
          </a:p>
        </p:txBody>
      </p:sp>
      <p:sp>
        <p:nvSpPr>
          <p:cNvPr id="47" name="TextBox 46"/>
          <p:cNvSpPr txBox="1"/>
          <p:nvPr/>
        </p:nvSpPr>
        <p:spPr>
          <a:xfrm>
            <a:off x="5105278"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VP Dashboard · capacity allocation · monthly sync</a:t>
            </a:r>
          </a:p>
        </p:txBody>
      </p:sp>
      <p:sp>
        <p:nvSpPr>
          <p:cNvPr id="48" name="Rounded Rectangle 47"/>
          <p:cNvSpPr/>
          <p:nvPr/>
        </p:nvSpPr>
        <p:spPr>
          <a:xfrm>
            <a:off x="7269297"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269297"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017"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UX Designer</a:t>
            </a:r>
          </a:p>
        </p:txBody>
      </p:sp>
      <p:sp>
        <p:nvSpPr>
          <p:cNvPr id="51" name="TextBox 50"/>
          <p:cNvSpPr txBox="1"/>
          <p:nvPr/>
        </p:nvSpPr>
        <p:spPr>
          <a:xfrm>
            <a:off x="7360737"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52" name="TextBox 51"/>
          <p:cNvSpPr txBox="1"/>
          <p:nvPr/>
        </p:nvSpPr>
        <p:spPr>
          <a:xfrm>
            <a:off x="7360737"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Customer journey research · usability testing</a:t>
            </a:r>
          </a:p>
        </p:txBody>
      </p:sp>
      <p:sp>
        <p:nvSpPr>
          <p:cNvPr id="53" name="Rounded Rectangle 52"/>
          <p:cNvSpPr/>
          <p:nvPr/>
        </p:nvSpPr>
        <p:spPr>
          <a:xfrm>
            <a:off x="9524756"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524756"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570476"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Knowledge Manager</a:t>
            </a:r>
          </a:p>
        </p:txBody>
      </p:sp>
      <p:sp>
        <p:nvSpPr>
          <p:cNvPr id="56" name="TextBox 55"/>
          <p:cNvSpPr txBox="1"/>
          <p:nvPr/>
        </p:nvSpPr>
        <p:spPr>
          <a:xfrm>
            <a:off x="9616196"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57" name="TextBox 56"/>
          <p:cNvSpPr txBox="1"/>
          <p:nvPr/>
        </p:nvSpPr>
        <p:spPr>
          <a:xfrm>
            <a:off x="9616196"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Documentation · onboarding · lessons learned</a:t>
            </a:r>
          </a:p>
        </p:txBody>
      </p:sp>
      <p:sp>
        <p:nvSpPr>
          <p:cNvPr id="58" name="TextBox 57"/>
          <p:cNvSpPr txBox="1"/>
          <p:nvPr/>
        </p:nvSpPr>
        <p:spPr>
          <a:xfrm>
            <a:off x="457200" y="5303520"/>
            <a:ext cx="9144000" cy="274320"/>
          </a:xfrm>
          <a:prstGeom prst="rect">
            <a:avLst/>
          </a:prstGeom>
          <a:noFill/>
        </p:spPr>
        <p:txBody>
          <a:bodyPr wrap="square" lIns="45720" tIns="18288" rIns="45720" bIns="18288" anchor="t">
            <a:spAutoFit/>
          </a:bodyPr>
          <a:lstStyle/>
          <a:p>
            <a:pPr algn="l"/>
            <a:r>
              <a:rPr sz="1200" b="1" i="0">
                <a:solidFill>
                  <a:srgbClr val="2E7D32"/>
                </a:solidFill>
                <a:latin typeface="Arial"/>
              </a:rPr>
              <a:t>AREA CHAMPIONS — candidates to re-skill into Product Manager roles</a:t>
            </a:r>
          </a:p>
        </p:txBody>
      </p:sp>
      <p:sp>
        <p:nvSpPr>
          <p:cNvPr id="59" name="Rounded Rectangle 58"/>
          <p:cNvSpPr/>
          <p:nvPr/>
        </p:nvSpPr>
        <p:spPr>
          <a:xfrm>
            <a:off x="502920"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8640"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Iram Chowdhury — Smart Metering</a:t>
            </a:r>
          </a:p>
        </p:txBody>
      </p:sp>
      <p:sp>
        <p:nvSpPr>
          <p:cNvPr id="61" name="Rounded Rectangle 60"/>
          <p:cNvSpPr/>
          <p:nvPr/>
        </p:nvSpPr>
        <p:spPr>
          <a:xfrm>
            <a:off x="2382469"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428189"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Andrew McGibbon — G&amp;E</a:t>
            </a:r>
          </a:p>
        </p:txBody>
      </p:sp>
      <p:sp>
        <p:nvSpPr>
          <p:cNvPr id="63" name="Rounded Rectangle 62"/>
          <p:cNvSpPr/>
          <p:nvPr/>
        </p:nvSpPr>
        <p:spPr>
          <a:xfrm>
            <a:off x="4262018"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07738"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George Porto — GIS</a:t>
            </a:r>
          </a:p>
        </p:txBody>
      </p:sp>
      <p:sp>
        <p:nvSpPr>
          <p:cNvPr id="65" name="Rounded Rectangle 64"/>
          <p:cNvSpPr/>
          <p:nvPr/>
        </p:nvSpPr>
        <p:spPr>
          <a:xfrm>
            <a:off x="6141567"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187287"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Michael Dubois — Global SAP</a:t>
            </a:r>
          </a:p>
        </p:txBody>
      </p:sp>
      <p:sp>
        <p:nvSpPr>
          <p:cNvPr id="67" name="Rounded Rectangle 66"/>
          <p:cNvSpPr/>
          <p:nvPr/>
        </p:nvSpPr>
        <p:spPr>
          <a:xfrm>
            <a:off x="8021116"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066836"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Stephanie — SAP / CS</a:t>
            </a:r>
          </a:p>
        </p:txBody>
      </p:sp>
      <p:sp>
        <p:nvSpPr>
          <p:cNvPr id="69" name="Rounded Rectangle 68"/>
          <p:cNvSpPr/>
          <p:nvPr/>
        </p:nvSpPr>
        <p:spPr>
          <a:xfrm>
            <a:off x="9900665"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946385"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Amit Patel — Corporate</a:t>
            </a:r>
          </a:p>
        </p:txBody>
      </p:sp>
      <p:sp>
        <p:nvSpPr>
          <p:cNvPr id="71" name="TextBox 70"/>
          <p:cNvSpPr txBox="1"/>
          <p:nvPr/>
        </p:nvSpPr>
        <p:spPr>
          <a:xfrm>
            <a:off x="365760" y="6565392"/>
            <a:ext cx="11460175" cy="274320"/>
          </a:xfrm>
          <a:prstGeom prst="rect">
            <a:avLst/>
          </a:prstGeom>
          <a:noFill/>
        </p:spPr>
        <p:txBody>
          <a:bodyPr wrap="square" lIns="45720" tIns="18288" rIns="45720"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CAPABILITIES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14 CAPABILITIES ORGANIZE INTO A FOUR-STAGE DEMAND FUNNEL</a:t>
            </a:r>
          </a:p>
        </p:txBody>
      </p:sp>
      <p:sp>
        <p:nvSpPr>
          <p:cNvPr id="6" name="Rectangle 5"/>
          <p:cNvSpPr/>
          <p:nvPr/>
        </p:nvSpPr>
        <p:spPr>
          <a:xfrm>
            <a:off x="0" y="914400"/>
            <a:ext cx="12191695"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CAPABILITIES</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What the organization must be able to do — end to end.</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01 + 02 + 06</a:t>
            </a:r>
          </a:p>
        </p:txBody>
      </p:sp>
      <p:sp>
        <p:nvSpPr>
          <p:cNvPr id="10" name="Rounded Rectangle 9"/>
          <p:cNvSpPr/>
          <p:nvPr/>
        </p:nvSpPr>
        <p:spPr>
          <a:xfrm>
            <a:off x="457200"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INTAKE</a:t>
            </a:r>
          </a:p>
        </p:txBody>
      </p:sp>
      <p:sp>
        <p:nvSpPr>
          <p:cNvPr id="13" name="TextBox 12"/>
          <p:cNvSpPr txBox="1"/>
          <p:nvPr/>
        </p:nvSpPr>
        <p:spPr>
          <a:xfrm>
            <a:off x="640080"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intake channels (Jira request type)</a:t>
            </a:r>
          </a:p>
          <a:p>
            <a:pPr>
              <a:lnSpc>
                <a:spcPct val="135000"/>
              </a:lnSpc>
            </a:pPr>
            <a:r>
              <a:rPr sz="950" b="0">
                <a:solidFill>
                  <a:srgbClr val="2C3E50"/>
                </a:solidFill>
                <a:latin typeface="Arial"/>
              </a:rPr>
              <a:t>•  Standard intake formats (DoR)</a:t>
            </a:r>
          </a:p>
          <a:p>
            <a:pPr>
              <a:lnSpc>
                <a:spcPct val="135000"/>
              </a:lnSpc>
            </a:pPr>
            <a:r>
              <a:rPr sz="950" b="0">
                <a:solidFill>
                  <a:srgbClr val="2C3E50"/>
                </a:solidFill>
                <a:latin typeface="Arial"/>
              </a:rPr>
              <a:t>•  Channel consolidation</a:t>
            </a:r>
          </a:p>
          <a:p>
            <a:pPr>
              <a:lnSpc>
                <a:spcPct val="135000"/>
              </a:lnSpc>
            </a:pPr>
            <a:r>
              <a:rPr sz="950" b="0">
                <a:solidFill>
                  <a:srgbClr val="2C3E50"/>
                </a:solidFill>
                <a:latin typeface="Arial"/>
              </a:rPr>
              <a:t>•  Technical feasibility input</a:t>
            </a:r>
          </a:p>
        </p:txBody>
      </p:sp>
      <p:sp>
        <p:nvSpPr>
          <p:cNvPr id="14" name="TextBox 13"/>
          <p:cNvSpPr txBox="1"/>
          <p:nvPr/>
        </p:nvSpPr>
        <p:spPr>
          <a:xfrm>
            <a:off x="3036493" y="2624328"/>
            <a:ext cx="274320" cy="365760"/>
          </a:xfrm>
          <a:prstGeom prst="rect">
            <a:avLst/>
          </a:prstGeom>
          <a:noFill/>
        </p:spPr>
        <p:txBody>
          <a:bodyPr wrap="square" lIns="45720" tIns="18288" rIns="45720" bIns="18288" anchor="ctr">
            <a:spAutoFit/>
          </a:bodyPr>
          <a:lstStyle/>
          <a:p>
            <a:pPr algn="ctr"/>
            <a:r>
              <a:rPr sz="1800" b="1" i="0">
                <a:solidFill>
                  <a:srgbClr val="2C578B"/>
                </a:solidFill>
                <a:latin typeface="Arial"/>
              </a:rPr>
              <a:t>▶</a:t>
            </a:r>
          </a:p>
        </p:txBody>
      </p:sp>
      <p:sp>
        <p:nvSpPr>
          <p:cNvPr id="15" name="Rounded Rectangle 14"/>
          <p:cNvSpPr/>
          <p:nvPr/>
        </p:nvSpPr>
        <p:spPr>
          <a:xfrm>
            <a:off x="3310813"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10813"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0813"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CLASSIFY</a:t>
            </a:r>
          </a:p>
        </p:txBody>
      </p:sp>
      <p:sp>
        <p:nvSpPr>
          <p:cNvPr id="18" name="TextBox 17"/>
          <p:cNvSpPr txBox="1"/>
          <p:nvPr/>
        </p:nvSpPr>
        <p:spPr>
          <a:xfrm>
            <a:off x="3493693"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classification</a:t>
            </a:r>
          </a:p>
          <a:p>
            <a:pPr>
              <a:lnSpc>
                <a:spcPct val="135000"/>
              </a:lnSpc>
            </a:pPr>
            <a:r>
              <a:rPr sz="950" b="0">
                <a:solidFill>
                  <a:srgbClr val="2C3E50"/>
                </a:solidFill>
                <a:latin typeface="Arial"/>
              </a:rPr>
              <a:t>•  Run · Change · Regulatory · Innovation</a:t>
            </a:r>
          </a:p>
          <a:p>
            <a:pPr>
              <a:lnSpc>
                <a:spcPct val="135000"/>
              </a:lnSpc>
            </a:pPr>
            <a:r>
              <a:rPr sz="950" b="0">
                <a:solidFill>
                  <a:srgbClr val="2C3E50"/>
                </a:solidFill>
                <a:latin typeface="Arial"/>
              </a:rPr>
              <a:t>•  Business value definition (Pain Score)</a:t>
            </a:r>
          </a:p>
          <a:p>
            <a:pPr>
              <a:lnSpc>
                <a:spcPct val="135000"/>
              </a:lnSpc>
            </a:pPr>
            <a:r>
              <a:rPr sz="950" b="0">
                <a:solidFill>
                  <a:srgbClr val="2C3E50"/>
                </a:solidFill>
                <a:latin typeface="Arial"/>
              </a:rPr>
              <a:t>•  Acceptance criteria</a:t>
            </a:r>
          </a:p>
        </p:txBody>
      </p:sp>
      <p:sp>
        <p:nvSpPr>
          <p:cNvPr id="19" name="TextBox 18"/>
          <p:cNvSpPr txBox="1"/>
          <p:nvPr/>
        </p:nvSpPr>
        <p:spPr>
          <a:xfrm>
            <a:off x="5890107" y="2624328"/>
            <a:ext cx="274320" cy="365760"/>
          </a:xfrm>
          <a:prstGeom prst="rect">
            <a:avLst/>
          </a:prstGeom>
          <a:noFill/>
        </p:spPr>
        <p:txBody>
          <a:bodyPr wrap="square" lIns="45720" tIns="18288" rIns="45720" bIns="18288" anchor="ctr">
            <a:spAutoFit/>
          </a:bodyPr>
          <a:lstStyle/>
          <a:p>
            <a:pPr algn="ctr"/>
            <a:r>
              <a:rPr sz="1800" b="1" i="0">
                <a:solidFill>
                  <a:srgbClr val="F9A825"/>
                </a:solidFill>
                <a:latin typeface="Arial"/>
              </a:rPr>
              <a:t>▶</a:t>
            </a:r>
          </a:p>
        </p:txBody>
      </p:sp>
      <p:sp>
        <p:nvSpPr>
          <p:cNvPr id="20" name="Rounded Rectangle 19"/>
          <p:cNvSpPr/>
          <p:nvPr/>
        </p:nvSpPr>
        <p:spPr>
          <a:xfrm>
            <a:off x="6164427"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64427"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64427"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DECIDE</a:t>
            </a:r>
          </a:p>
        </p:txBody>
      </p:sp>
      <p:sp>
        <p:nvSpPr>
          <p:cNvPr id="23" name="TextBox 22"/>
          <p:cNvSpPr txBox="1"/>
          <p:nvPr/>
        </p:nvSpPr>
        <p:spPr>
          <a:xfrm>
            <a:off x="6347307"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Triage &amp; validation (weekly)</a:t>
            </a:r>
          </a:p>
          <a:p>
            <a:pPr>
              <a:lnSpc>
                <a:spcPct val="135000"/>
              </a:lnSpc>
            </a:pPr>
            <a:r>
              <a:rPr sz="950" b="0">
                <a:solidFill>
                  <a:srgbClr val="2C3E50"/>
                </a:solidFill>
                <a:latin typeface="Arial"/>
              </a:rPr>
              <a:t>•  Demand routing &amp; assignment</a:t>
            </a:r>
          </a:p>
          <a:p>
            <a:pPr>
              <a:lnSpc>
                <a:spcPct val="135000"/>
              </a:lnSpc>
            </a:pPr>
            <a:r>
              <a:rPr sz="950" b="0">
                <a:solidFill>
                  <a:srgbClr val="2C3E50"/>
                </a:solidFill>
                <a:latin typeface="Arial"/>
              </a:rPr>
              <a:t>•  Urgent / exception requests (≤20%)</a:t>
            </a:r>
          </a:p>
        </p:txBody>
      </p:sp>
      <p:sp>
        <p:nvSpPr>
          <p:cNvPr id="24" name="TextBox 23"/>
          <p:cNvSpPr txBox="1"/>
          <p:nvPr/>
        </p:nvSpPr>
        <p:spPr>
          <a:xfrm>
            <a:off x="8743721" y="2624328"/>
            <a:ext cx="274320" cy="365760"/>
          </a:xfrm>
          <a:prstGeom prst="rect">
            <a:avLst/>
          </a:prstGeom>
          <a:noFill/>
        </p:spPr>
        <p:txBody>
          <a:bodyPr wrap="square" lIns="45720" tIns="18288" rIns="45720" bIns="18288" anchor="ctr">
            <a:spAutoFit/>
          </a:bodyPr>
          <a:lstStyle/>
          <a:p>
            <a:pPr algn="ctr"/>
            <a:r>
              <a:rPr sz="1800" b="1" i="0">
                <a:solidFill>
                  <a:srgbClr val="E88B2F"/>
                </a:solidFill>
                <a:latin typeface="Arial"/>
              </a:rPr>
              <a:t>▶</a:t>
            </a:r>
          </a:p>
        </p:txBody>
      </p:sp>
      <p:sp>
        <p:nvSpPr>
          <p:cNvPr id="25" name="Rounded Rectangle 24"/>
          <p:cNvSpPr/>
          <p:nvPr/>
        </p:nvSpPr>
        <p:spPr>
          <a:xfrm>
            <a:off x="9018041"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18041"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18041"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VISUALIZE</a:t>
            </a:r>
          </a:p>
        </p:txBody>
      </p:sp>
      <p:sp>
        <p:nvSpPr>
          <p:cNvPr id="28" name="TextBox 27"/>
          <p:cNvSpPr txBox="1"/>
          <p:nvPr/>
        </p:nvSpPr>
        <p:spPr>
          <a:xfrm>
            <a:off x="9200921"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registration &amp; logging</a:t>
            </a:r>
          </a:p>
          <a:p>
            <a:pPr>
              <a:lnSpc>
                <a:spcPct val="135000"/>
              </a:lnSpc>
            </a:pPr>
            <a:r>
              <a:rPr sz="950" b="0">
                <a:solidFill>
                  <a:srgbClr val="2C3E50"/>
                </a:solidFill>
                <a:latin typeface="Arial"/>
              </a:rPr>
              <a:t>•  Demand visibility &amp; tracking</a:t>
            </a:r>
          </a:p>
          <a:p>
            <a:pPr>
              <a:lnSpc>
                <a:spcPct val="135000"/>
              </a:lnSpc>
            </a:pPr>
            <a:r>
              <a:rPr sz="950" b="0">
                <a:solidFill>
                  <a:srgbClr val="2C3E50"/>
                </a:solidFill>
                <a:latin typeface="Arial"/>
              </a:rPr>
              <a:t>•  Duplicate &amp; overlap identification</a:t>
            </a:r>
          </a:p>
        </p:txBody>
      </p:sp>
      <p:sp>
        <p:nvSpPr>
          <p:cNvPr id="29" name="Rounded Rectangle 28"/>
          <p:cNvSpPr/>
          <p:nvPr/>
        </p:nvSpPr>
        <p:spPr>
          <a:xfrm>
            <a:off x="457200"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ONE FRONT DOOR</a:t>
            </a:r>
          </a:p>
        </p:txBody>
      </p:sp>
      <p:sp>
        <p:nvSpPr>
          <p:cNvPr id="32" name="TextBox 31"/>
          <p:cNvSpPr txBox="1"/>
          <p:nvPr/>
        </p:nvSpPr>
        <p:spPr>
          <a:xfrm>
            <a:off x="640080" y="4462272"/>
            <a:ext cx="2442133" cy="313932"/>
          </a:xfrm>
          <a:prstGeom prst="rect">
            <a:avLst/>
          </a:prstGeom>
          <a:noFill/>
        </p:spPr>
        <p:txBody>
          <a:bodyPr wrap="square" lIns="45720" tIns="18288" rIns="45720" bIns="18288" anchor="t">
            <a:spAutoFit/>
          </a:bodyPr>
          <a:lstStyle/>
          <a:p>
            <a:pPr algn="l"/>
            <a:r>
              <a:rPr sz="900" b="0" i="0">
                <a:solidFill>
                  <a:srgbClr val="2C3E50"/>
                </a:solidFill>
                <a:latin typeface="Arial"/>
              </a:rPr>
              <a:t>Jira request type replaces Email · Teams · Word · OneNote ad-hoc requests.</a:t>
            </a:r>
          </a:p>
        </p:txBody>
      </p:sp>
      <p:sp>
        <p:nvSpPr>
          <p:cNvPr id="33" name="Rounded Rectangle 32"/>
          <p:cNvSpPr/>
          <p:nvPr/>
        </p:nvSpPr>
        <p:spPr>
          <a:xfrm>
            <a:off x="3310813"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10813"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93693"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DEFINITION OF READY</a:t>
            </a:r>
          </a:p>
        </p:txBody>
      </p:sp>
      <p:sp>
        <p:nvSpPr>
          <p:cNvPr id="36" name="TextBox 35"/>
          <p:cNvSpPr txBox="1"/>
          <p:nvPr/>
        </p:nvSpPr>
        <p:spPr>
          <a:xfrm>
            <a:off x="3493693" y="4462272"/>
            <a:ext cx="2442133" cy="594360"/>
          </a:xfrm>
          <a:prstGeom prst="rect">
            <a:avLst/>
          </a:prstGeom>
          <a:noFill/>
        </p:spPr>
        <p:txBody>
          <a:bodyPr wrap="square" lIns="45720" tIns="18288" rIns="45720" bIns="18288" anchor="t">
            <a:spAutoFit/>
          </a:bodyPr>
          <a:lstStyle/>
          <a:p>
            <a:pPr algn="l"/>
            <a:r>
              <a:rPr sz="900" b="0" i="0">
                <a:solidFill>
                  <a:srgbClr val="2C3E50"/>
                </a:solidFill>
                <a:latin typeface="Arial"/>
              </a:rPr>
              <a:t>Mandatory fields: title · BV · acceptance criteria · CoS · sponsor.</a:t>
            </a:r>
          </a:p>
        </p:txBody>
      </p:sp>
      <p:sp>
        <p:nvSpPr>
          <p:cNvPr id="37" name="Rounded Rectangle 36"/>
          <p:cNvSpPr/>
          <p:nvPr/>
        </p:nvSpPr>
        <p:spPr>
          <a:xfrm>
            <a:off x="6164427"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164427"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47307"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PAIN SCORE</a:t>
            </a:r>
          </a:p>
        </p:txBody>
      </p:sp>
      <p:sp>
        <p:nvSpPr>
          <p:cNvPr id="40" name="TextBox 39"/>
          <p:cNvSpPr txBox="1"/>
          <p:nvPr/>
        </p:nvSpPr>
        <p:spPr>
          <a:xfrm>
            <a:off x="6347307" y="4462272"/>
            <a:ext cx="2442133" cy="175433"/>
          </a:xfrm>
          <a:prstGeom prst="rect">
            <a:avLst/>
          </a:prstGeom>
          <a:noFill/>
        </p:spPr>
        <p:txBody>
          <a:bodyPr wrap="square" lIns="45720" tIns="18288" rIns="45720" bIns="18288" anchor="t">
            <a:spAutoFit/>
          </a:bodyPr>
          <a:lstStyle/>
          <a:p>
            <a:pPr algn="l"/>
            <a:r>
              <a:rPr sz="900" b="0" i="0">
                <a:solidFill>
                  <a:srgbClr val="2C3E50"/>
                </a:solidFill>
                <a:latin typeface="Arial"/>
              </a:rPr>
              <a:t>H(x) = (</a:t>
            </a:r>
            <a:r>
              <a:rPr sz="900" b="0" i="0" err="1">
                <a:solidFill>
                  <a:srgbClr val="2C3E50"/>
                </a:solidFill>
                <a:latin typeface="Arial"/>
              </a:rPr>
              <a:t>BV·w</a:t>
            </a:r>
            <a:r>
              <a:rPr sz="900" b="0" i="0">
                <a:solidFill>
                  <a:srgbClr val="2C3E50"/>
                </a:solidFill>
                <a:latin typeface="Arial"/>
              </a:rPr>
              <a:t>₁ + </a:t>
            </a:r>
            <a:r>
              <a:rPr sz="900" b="0" i="0" err="1">
                <a:solidFill>
                  <a:srgbClr val="2C3E50"/>
                </a:solidFill>
                <a:latin typeface="Arial"/>
              </a:rPr>
              <a:t>UX·w</a:t>
            </a:r>
            <a:r>
              <a:rPr sz="900" b="0" i="0">
                <a:solidFill>
                  <a:srgbClr val="2C3E50"/>
                </a:solidFill>
                <a:latin typeface="Arial"/>
              </a:rPr>
              <a:t>₂) / Effort</a:t>
            </a:r>
          </a:p>
        </p:txBody>
      </p:sp>
      <p:sp>
        <p:nvSpPr>
          <p:cNvPr id="41" name="Rounded Rectangle 40"/>
          <p:cNvSpPr/>
          <p:nvPr/>
        </p:nvSpPr>
        <p:spPr>
          <a:xfrm>
            <a:off x="9018041"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18041"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200921"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EXPEDITE CAP</a:t>
            </a:r>
          </a:p>
        </p:txBody>
      </p:sp>
      <p:sp>
        <p:nvSpPr>
          <p:cNvPr id="44" name="TextBox 43"/>
          <p:cNvSpPr txBox="1"/>
          <p:nvPr/>
        </p:nvSpPr>
        <p:spPr>
          <a:xfrm>
            <a:off x="9200921" y="4462272"/>
            <a:ext cx="2442133" cy="594360"/>
          </a:xfrm>
          <a:prstGeom prst="rect">
            <a:avLst/>
          </a:prstGeom>
          <a:noFill/>
        </p:spPr>
        <p:txBody>
          <a:bodyPr wrap="square" lIns="45720" tIns="18288" rIns="45720" bIns="18288" anchor="t">
            <a:spAutoFit/>
          </a:bodyPr>
          <a:lstStyle/>
          <a:p>
            <a:pPr algn="l"/>
            <a:r>
              <a:rPr sz="900" b="0" i="0">
                <a:solidFill>
                  <a:srgbClr val="2C3E50"/>
                </a:solidFill>
                <a:latin typeface="Arial"/>
              </a:rPr>
              <a:t>Bypass priority capped ≤ 20 % of throughput. No silent overrides.</a:t>
            </a:r>
          </a:p>
        </p:txBody>
      </p:sp>
      <p:sp>
        <p:nvSpPr>
          <p:cNvPr id="45" name="Rounded Rectangle 44"/>
          <p:cNvSpPr/>
          <p:nvPr/>
        </p:nvSpPr>
        <p:spPr>
          <a:xfrm>
            <a:off x="457200" y="5349240"/>
            <a:ext cx="11277295" cy="96012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5440680"/>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47" name="TextBox 46"/>
          <p:cNvSpPr txBox="1"/>
          <p:nvPr/>
        </p:nvSpPr>
        <p:spPr>
          <a:xfrm>
            <a:off x="640080" y="5715000"/>
            <a:ext cx="10911535" cy="548640"/>
          </a:xfrm>
          <a:prstGeom prst="rect">
            <a:avLst/>
          </a:prstGeom>
          <a:noFill/>
        </p:spPr>
        <p:txBody>
          <a:bodyPr wrap="square" lIns="45720" tIns="18288" rIns="45720" bIns="18288" anchor="t">
            <a:spAutoFit/>
          </a:bodyPr>
          <a:lstStyle/>
          <a:p>
            <a:pPr algn="l"/>
            <a:r>
              <a:rPr sz="1100" b="0" i="1">
                <a:solidFill>
                  <a:srgbClr val="2C3E50"/>
                </a:solidFill>
                <a:latin typeface="Arial"/>
              </a:rPr>
              <a:t>The 14 capabilities are not a checklist — they are sequenced. Demand only moves stage-to-stage after passing the previous gate, which is what converts inflow into traceable, governed work.</a:t>
            </a:r>
          </a:p>
        </p:txBody>
      </p:sp>
      <p:sp>
        <p:nvSpPr>
          <p:cNvPr id="48" name="TextBox 47"/>
          <p:cNvSpPr txBox="1"/>
          <p:nvPr/>
        </p:nvSpPr>
        <p:spPr>
          <a:xfrm>
            <a:off x="365760" y="6565392"/>
            <a:ext cx="11460175" cy="274320"/>
          </a:xfrm>
          <a:prstGeom prst="rect">
            <a:avLst/>
          </a:prstGeom>
          <a:noFill/>
        </p:spPr>
        <p:txBody>
          <a:bodyPr wrap="square" lIns="45720" tIns="18288" rIns="45720" bIns="18288" anchor="t">
            <a:spAutoFit/>
          </a:bodyPr>
          <a:lstStyle/>
          <a:p>
            <a:pPr algn="l"/>
            <a:r>
              <a:rPr sz="900" b="0" i="1">
                <a:solidFill>
                  <a:srgbClr val="95A5A6"/>
                </a:solidFill>
                <a:latin typeface="Arial"/>
              </a:rPr>
              <a:t>Avangrid · Digital Products · Target Operating Model</a:t>
            </a:r>
          </a:p>
        </p:txBody>
      </p:sp>
    </p:spTree>
    <p:extLst>
      <p:ext uri="{BB962C8B-B14F-4D97-AF65-F5344CB8AC3E}">
        <p14:creationId xmlns:p14="http://schemas.microsoft.com/office/powerpoint/2010/main" val="28455921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FOUR GUIDING PRINCIPLES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EACH PRINCIPLE ANSWERS SPECIFIC STRUCTURAL ISSUES FROM THE AS-IS</a:t>
            </a:r>
          </a:p>
        </p:txBody>
      </p:sp>
      <p:sp>
        <p:nvSpPr>
          <p:cNvPr id="6" name="Rounded Rectangle 5"/>
          <p:cNvSpPr/>
          <p:nvPr/>
        </p:nvSpPr>
        <p:spPr>
          <a:xfrm>
            <a:off x="457200"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76541"/>
            <a:ext cx="2716453"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01</a:t>
            </a:r>
          </a:p>
        </p:txBody>
      </p:sp>
      <p:sp>
        <p:nvSpPr>
          <p:cNvPr id="9" name="TextBox 8"/>
          <p:cNvSpPr txBox="1"/>
          <p:nvPr/>
        </p:nvSpPr>
        <p:spPr>
          <a:xfrm>
            <a:off x="548640"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DEMAND INTAKE &amp; STRUCTURING</a:t>
            </a:r>
          </a:p>
        </p:txBody>
      </p:sp>
      <p:sp>
        <p:nvSpPr>
          <p:cNvPr id="10" name="Rectangle 9"/>
          <p:cNvSpPr/>
          <p:nvPr/>
        </p:nvSpPr>
        <p:spPr>
          <a:xfrm>
            <a:off x="457200"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963509"/>
            <a:ext cx="2442133" cy="365760"/>
          </a:xfrm>
          <a:prstGeom prst="rect">
            <a:avLst/>
          </a:prstGeom>
          <a:noFill/>
        </p:spPr>
        <p:txBody>
          <a:bodyPr wrap="square" lIns="45720" tIns="18288" rIns="45720" bIns="18288" anchor="ctr">
            <a:spAutoFit/>
          </a:bodyPr>
          <a:lstStyle/>
          <a:p>
            <a:pPr algn="l"/>
            <a:r>
              <a:rPr sz="850" b="1" i="1">
                <a:solidFill>
                  <a:srgbClr val="2C578B"/>
                </a:solidFill>
                <a:latin typeface="Arial"/>
              </a:rPr>
              <a:t>Resolves Issue 01 — No Product Entry Point</a:t>
            </a:r>
          </a:p>
        </p:txBody>
      </p:sp>
      <p:sp>
        <p:nvSpPr>
          <p:cNvPr id="12" name="TextBox 11"/>
          <p:cNvSpPr txBox="1"/>
          <p:nvPr/>
        </p:nvSpPr>
        <p:spPr>
          <a:xfrm>
            <a:off x="640080"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All demand captured through unified intake layer aligned to products / value streams</a:t>
            </a:r>
          </a:p>
          <a:p>
            <a:pPr>
              <a:lnSpc>
                <a:spcPct val="140000"/>
              </a:lnSpc>
            </a:pPr>
            <a:r>
              <a:rPr sz="1050" b="0">
                <a:solidFill>
                  <a:srgbClr val="2C3E50"/>
                </a:solidFill>
                <a:latin typeface="Arial"/>
              </a:rPr>
              <a:t>•  Single entry point per product / value stream</a:t>
            </a:r>
          </a:p>
          <a:p>
            <a:pPr>
              <a:lnSpc>
                <a:spcPct val="140000"/>
              </a:lnSpc>
            </a:pPr>
            <a:r>
              <a:rPr sz="1050" b="0">
                <a:solidFill>
                  <a:srgbClr val="2C3E50"/>
                </a:solidFill>
                <a:latin typeface="Arial"/>
              </a:rPr>
              <a:t>•  Standard intake criteria and mandatory fields</a:t>
            </a:r>
          </a:p>
          <a:p>
            <a:pPr>
              <a:lnSpc>
                <a:spcPct val="140000"/>
              </a:lnSpc>
            </a:pPr>
            <a:r>
              <a:rPr sz="1050" b="0">
                <a:solidFill>
                  <a:srgbClr val="2C3E50"/>
                </a:solidFill>
                <a:latin typeface="Arial"/>
              </a:rPr>
              <a:t>•  Consistent demand categorization (type, size, complexity, value driver)</a:t>
            </a:r>
          </a:p>
          <a:p>
            <a:pPr>
              <a:lnSpc>
                <a:spcPct val="140000"/>
              </a:lnSpc>
            </a:pPr>
            <a:r>
              <a:rPr sz="1050" b="0">
                <a:solidFill>
                  <a:srgbClr val="2C3E50"/>
                </a:solidFill>
                <a:latin typeface="Arial"/>
              </a:rPr>
              <a:t>•  Clear ownership for triage and backlog assignment</a:t>
            </a:r>
          </a:p>
        </p:txBody>
      </p:sp>
      <p:sp>
        <p:nvSpPr>
          <p:cNvPr id="13" name="Rounded Rectangle 12"/>
          <p:cNvSpPr/>
          <p:nvPr/>
        </p:nvSpPr>
        <p:spPr>
          <a:xfrm>
            <a:off x="3310813"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10813" y="1076541"/>
            <a:ext cx="2716453" cy="8686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813"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02</a:t>
            </a:r>
          </a:p>
        </p:txBody>
      </p:sp>
      <p:sp>
        <p:nvSpPr>
          <p:cNvPr id="16" name="TextBox 15"/>
          <p:cNvSpPr txBox="1"/>
          <p:nvPr/>
        </p:nvSpPr>
        <p:spPr>
          <a:xfrm>
            <a:off x="3402253"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VALUE-BASED PRIORITIZATION</a:t>
            </a:r>
          </a:p>
        </p:txBody>
      </p:sp>
      <p:sp>
        <p:nvSpPr>
          <p:cNvPr id="17" name="Rectangle 16"/>
          <p:cNvSpPr/>
          <p:nvPr/>
        </p:nvSpPr>
        <p:spPr>
          <a:xfrm>
            <a:off x="3310813"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47973" y="1963509"/>
            <a:ext cx="2442133" cy="365760"/>
          </a:xfrm>
          <a:prstGeom prst="rect">
            <a:avLst/>
          </a:prstGeom>
          <a:noFill/>
        </p:spPr>
        <p:txBody>
          <a:bodyPr wrap="square" lIns="45720" tIns="18288" rIns="45720" bIns="18288" anchor="ctr">
            <a:spAutoFit/>
          </a:bodyPr>
          <a:lstStyle/>
          <a:p>
            <a:pPr algn="l"/>
            <a:r>
              <a:rPr sz="850" b="1" i="1">
                <a:solidFill>
                  <a:srgbClr val="F9A825"/>
                </a:solidFill>
                <a:latin typeface="Arial"/>
              </a:rPr>
              <a:t>Resolves Issues 02 + 06 — No Value-Based Decisioning · No Common Language of Value</a:t>
            </a:r>
          </a:p>
        </p:txBody>
      </p:sp>
      <p:sp>
        <p:nvSpPr>
          <p:cNvPr id="19" name="TextBox 18"/>
          <p:cNvSpPr txBox="1"/>
          <p:nvPr/>
        </p:nvSpPr>
        <p:spPr>
          <a:xfrm>
            <a:off x="3493693"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Demand evaluated using a standardized framework tied to business outcomes</a:t>
            </a:r>
          </a:p>
          <a:p>
            <a:pPr>
              <a:lnSpc>
                <a:spcPct val="140000"/>
              </a:lnSpc>
            </a:pPr>
            <a:r>
              <a:rPr sz="1050" b="0">
                <a:solidFill>
                  <a:srgbClr val="2C3E50"/>
                </a:solidFill>
                <a:latin typeface="Arial"/>
              </a:rPr>
              <a:t>•  Common scoring model: value · urgency · risk · effort</a:t>
            </a:r>
          </a:p>
          <a:p>
            <a:pPr>
              <a:lnSpc>
                <a:spcPct val="140000"/>
              </a:lnSpc>
            </a:pPr>
            <a:r>
              <a:rPr sz="1050" b="0">
                <a:solidFill>
                  <a:srgbClr val="2C3E50"/>
                </a:solidFill>
                <a:latin typeface="Arial"/>
              </a:rPr>
              <a:t>•  Transparent prioritization across competing demands</a:t>
            </a:r>
          </a:p>
          <a:p>
            <a:pPr>
              <a:lnSpc>
                <a:spcPct val="140000"/>
              </a:lnSpc>
            </a:pPr>
            <a:r>
              <a:rPr sz="1050" b="0">
                <a:solidFill>
                  <a:srgbClr val="2C3E50"/>
                </a:solidFill>
                <a:latin typeface="Arial"/>
              </a:rPr>
              <a:t>•  Product-level backlog ownership</a:t>
            </a:r>
          </a:p>
          <a:p>
            <a:pPr>
              <a:lnSpc>
                <a:spcPct val="140000"/>
              </a:lnSpc>
            </a:pPr>
            <a:r>
              <a:rPr sz="1050" b="0">
                <a:solidFill>
                  <a:srgbClr val="2C3E50"/>
                </a:solidFill>
                <a:latin typeface="Arial"/>
              </a:rPr>
              <a:t>•  Trade-offs made at portfolio / product governance level</a:t>
            </a:r>
          </a:p>
        </p:txBody>
      </p:sp>
      <p:sp>
        <p:nvSpPr>
          <p:cNvPr id="20" name="Rounded Rectangle 19"/>
          <p:cNvSpPr/>
          <p:nvPr/>
        </p:nvSpPr>
        <p:spPr>
          <a:xfrm>
            <a:off x="6164427"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64427" y="1076541"/>
            <a:ext cx="2716453" cy="8686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64427"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03</a:t>
            </a:r>
          </a:p>
        </p:txBody>
      </p:sp>
      <p:sp>
        <p:nvSpPr>
          <p:cNvPr id="23" name="TextBox 22"/>
          <p:cNvSpPr txBox="1"/>
          <p:nvPr/>
        </p:nvSpPr>
        <p:spPr>
          <a:xfrm>
            <a:off x="6255867"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PORTFOLIO MGMT &amp; PLANNING</a:t>
            </a:r>
          </a:p>
        </p:txBody>
      </p:sp>
      <p:sp>
        <p:nvSpPr>
          <p:cNvPr id="24" name="Rectangle 23"/>
          <p:cNvSpPr/>
          <p:nvPr/>
        </p:nvSpPr>
        <p:spPr>
          <a:xfrm>
            <a:off x="6164427"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1587" y="1963509"/>
            <a:ext cx="2442133" cy="365760"/>
          </a:xfrm>
          <a:prstGeom prst="rect">
            <a:avLst/>
          </a:prstGeom>
          <a:noFill/>
        </p:spPr>
        <p:txBody>
          <a:bodyPr wrap="square" lIns="45720" tIns="18288" rIns="45720" bIns="18288" anchor="ctr">
            <a:spAutoFit/>
          </a:bodyPr>
          <a:lstStyle/>
          <a:p>
            <a:pPr algn="l"/>
            <a:r>
              <a:rPr sz="850" b="1" i="1">
                <a:solidFill>
                  <a:srgbClr val="2E7D32"/>
                </a:solidFill>
                <a:latin typeface="Arial"/>
              </a:rPr>
              <a:t>Resolves Issue 03 — No End-to-End Product View</a:t>
            </a:r>
          </a:p>
        </p:txBody>
      </p:sp>
      <p:sp>
        <p:nvSpPr>
          <p:cNvPr id="26" name="TextBox 25"/>
          <p:cNvSpPr txBox="1"/>
          <p:nvPr/>
        </p:nvSpPr>
        <p:spPr>
          <a:xfrm>
            <a:off x="6347307"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End-to-end visibility enables coordinated planning across demand · capacity · delivery</a:t>
            </a:r>
          </a:p>
          <a:p>
            <a:pPr>
              <a:lnSpc>
                <a:spcPct val="140000"/>
              </a:lnSpc>
            </a:pPr>
            <a:r>
              <a:rPr sz="1050" b="0">
                <a:solidFill>
                  <a:srgbClr val="2C3E50"/>
                </a:solidFill>
                <a:latin typeface="Arial"/>
              </a:rPr>
              <a:t>•  Integrated portfolio view across all products</a:t>
            </a:r>
          </a:p>
          <a:p>
            <a:pPr>
              <a:lnSpc>
                <a:spcPct val="140000"/>
              </a:lnSpc>
            </a:pPr>
            <a:r>
              <a:rPr sz="1050" b="0">
                <a:solidFill>
                  <a:srgbClr val="2C3E50"/>
                </a:solidFill>
                <a:latin typeface="Arial"/>
              </a:rPr>
              <a:t>•  Capacity planning aligned to product priorities</a:t>
            </a:r>
          </a:p>
          <a:p>
            <a:pPr>
              <a:lnSpc>
                <a:spcPct val="140000"/>
              </a:lnSpc>
            </a:pPr>
            <a:r>
              <a:rPr sz="1050" b="0">
                <a:solidFill>
                  <a:srgbClr val="2C3E50"/>
                </a:solidFill>
                <a:latin typeface="Arial"/>
              </a:rPr>
              <a:t>•  Roadmaps managed at product level (not project level)</a:t>
            </a:r>
          </a:p>
          <a:p>
            <a:pPr>
              <a:lnSpc>
                <a:spcPct val="140000"/>
              </a:lnSpc>
            </a:pPr>
            <a:r>
              <a:rPr sz="1050" b="0">
                <a:solidFill>
                  <a:srgbClr val="2C3E50"/>
                </a:solidFill>
                <a:latin typeface="Arial"/>
              </a:rPr>
              <a:t>•  Continuous tracking of delivery and outcomes</a:t>
            </a:r>
          </a:p>
        </p:txBody>
      </p:sp>
      <p:sp>
        <p:nvSpPr>
          <p:cNvPr id="27" name="Rounded Rectangle 26"/>
          <p:cNvSpPr/>
          <p:nvPr/>
        </p:nvSpPr>
        <p:spPr>
          <a:xfrm>
            <a:off x="9018041"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18041" y="1076541"/>
            <a:ext cx="2716453" cy="8686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18041"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04</a:t>
            </a:r>
          </a:p>
        </p:txBody>
      </p:sp>
      <p:sp>
        <p:nvSpPr>
          <p:cNvPr id="30" name="TextBox 29"/>
          <p:cNvSpPr txBox="1"/>
          <p:nvPr/>
        </p:nvSpPr>
        <p:spPr>
          <a:xfrm>
            <a:off x="9109481"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GOVERNANCE &amp; OWNERSHIP</a:t>
            </a:r>
          </a:p>
        </p:txBody>
      </p:sp>
      <p:sp>
        <p:nvSpPr>
          <p:cNvPr id="31" name="Rectangle 30"/>
          <p:cNvSpPr/>
          <p:nvPr/>
        </p:nvSpPr>
        <p:spPr>
          <a:xfrm>
            <a:off x="9018041"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55201" y="1963509"/>
            <a:ext cx="2442133" cy="365760"/>
          </a:xfrm>
          <a:prstGeom prst="rect">
            <a:avLst/>
          </a:prstGeom>
          <a:noFill/>
        </p:spPr>
        <p:txBody>
          <a:bodyPr wrap="square" lIns="45720" tIns="18288" rIns="45720" bIns="18288" anchor="ctr">
            <a:spAutoFit/>
          </a:bodyPr>
          <a:lstStyle/>
          <a:p>
            <a:pPr algn="l"/>
            <a:r>
              <a:rPr sz="850" b="1" i="1">
                <a:solidFill>
                  <a:srgbClr val="7A66B8"/>
                </a:solidFill>
                <a:latin typeface="Arial"/>
              </a:rPr>
              <a:t>Resolves Issues 04 + 05 + 07 — Ownership · Steering · Product Model</a:t>
            </a:r>
          </a:p>
        </p:txBody>
      </p:sp>
      <p:sp>
        <p:nvSpPr>
          <p:cNvPr id="33" name="TextBox 32"/>
          <p:cNvSpPr txBox="1"/>
          <p:nvPr/>
        </p:nvSpPr>
        <p:spPr>
          <a:xfrm>
            <a:off x="9200921"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Clear accountability and governance align decisions to product outcomes</a:t>
            </a:r>
          </a:p>
          <a:p>
            <a:pPr>
              <a:lnSpc>
                <a:spcPct val="140000"/>
              </a:lnSpc>
            </a:pPr>
            <a:r>
              <a:rPr sz="1050" b="0">
                <a:solidFill>
                  <a:srgbClr val="2C3E50"/>
                </a:solidFill>
                <a:latin typeface="Arial"/>
              </a:rPr>
              <a:t>•  Defined Squad roles — Product Manager (NEW) · Tech Lead · Business Analyst</a:t>
            </a:r>
          </a:p>
          <a:p>
            <a:pPr>
              <a:lnSpc>
                <a:spcPct val="140000"/>
              </a:lnSpc>
            </a:pPr>
            <a:r>
              <a:rPr sz="1050" b="0">
                <a:solidFill>
                  <a:srgbClr val="2C3E50"/>
                </a:solidFill>
                <a:latin typeface="Arial"/>
              </a:rPr>
              <a:t>•  Product-based governance forums with decision rights</a:t>
            </a:r>
          </a:p>
          <a:p>
            <a:pPr>
              <a:lnSpc>
                <a:spcPct val="140000"/>
              </a:lnSpc>
            </a:pPr>
            <a:r>
              <a:rPr sz="1050" b="0">
                <a:solidFill>
                  <a:srgbClr val="2C3E50"/>
                </a:solidFill>
                <a:latin typeface="Arial"/>
              </a:rPr>
              <a:t>•  Vendor management aligned to product performance</a:t>
            </a:r>
          </a:p>
          <a:p>
            <a:pPr>
              <a:lnSpc>
                <a:spcPct val="140000"/>
              </a:lnSpc>
            </a:pPr>
            <a:r>
              <a:rPr sz="1050" b="0">
                <a:solidFill>
                  <a:srgbClr val="2C3E50"/>
                </a:solidFill>
                <a:latin typeface="Arial"/>
              </a:rPr>
              <a:t>•  KPIs tied to product outcomes and business value</a:t>
            </a:r>
          </a:p>
        </p:txBody>
      </p:sp>
    </p:spTree>
    <p:extLst>
      <p:ext uri="{BB962C8B-B14F-4D97-AF65-F5344CB8AC3E}">
        <p14:creationId xmlns:p14="http://schemas.microsoft.com/office/powerpoint/2010/main" val="1710172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GOVERNANCE</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TWO GATES ABSORB THE DEMAND · ONE CADENCE DRIVES THE PORTFOLIO</a:t>
            </a:r>
          </a:p>
        </p:txBody>
      </p:sp>
      <p:sp>
        <p:nvSpPr>
          <p:cNvPr id="6" name="Rectangle 5"/>
          <p:cNvSpPr/>
          <p:nvPr/>
        </p:nvSpPr>
        <p:spPr>
          <a:xfrm>
            <a:off x="0" y="914400"/>
            <a:ext cx="12191695" cy="50292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GOVERNANCE</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Decisions, forums, and controls that keep the funnel honest.</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04 + 05</a:t>
            </a:r>
          </a:p>
        </p:txBody>
      </p:sp>
      <p:sp>
        <p:nvSpPr>
          <p:cNvPr id="10" name="Rounded Rectangle 9"/>
          <p:cNvSpPr/>
          <p:nvPr/>
        </p:nvSpPr>
        <p:spPr>
          <a:xfrm>
            <a:off x="457200" y="1691640"/>
            <a:ext cx="3637178" cy="237744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91640"/>
            <a:ext cx="3637178"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GATE 1 · TRIAGE</a:t>
            </a:r>
          </a:p>
        </p:txBody>
      </p:sp>
      <p:sp>
        <p:nvSpPr>
          <p:cNvPr id="13" name="TextBox 12"/>
          <p:cNvSpPr txBox="1"/>
          <p:nvPr/>
        </p:nvSpPr>
        <p:spPr>
          <a:xfrm>
            <a:off x="594360" y="2286000"/>
            <a:ext cx="3362858" cy="274320"/>
          </a:xfrm>
          <a:prstGeom prst="rect">
            <a:avLst/>
          </a:prstGeom>
          <a:noFill/>
        </p:spPr>
        <p:txBody>
          <a:bodyPr wrap="square" lIns="45720" tIns="18288" rIns="45720" bIns="18288" anchor="t">
            <a:spAutoFit/>
          </a:bodyPr>
          <a:lstStyle/>
          <a:p>
            <a:pPr algn="l"/>
            <a:r>
              <a:rPr sz="1000" b="0" i="1">
                <a:solidFill>
                  <a:srgbClr val="2C578B"/>
                </a:solidFill>
                <a:latin typeface="Arial"/>
              </a:rPr>
              <a:t>Weekly · 30 min</a:t>
            </a:r>
          </a:p>
        </p:txBody>
      </p:sp>
      <p:sp>
        <p:nvSpPr>
          <p:cNvPr id="14" name="TextBox 13"/>
          <p:cNvSpPr txBox="1"/>
          <p:nvPr/>
        </p:nvSpPr>
        <p:spPr>
          <a:xfrm>
            <a:off x="594360"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Demand Manager (chair) · PMs · Architect</a:t>
            </a:r>
          </a:p>
        </p:txBody>
      </p:sp>
      <p:sp>
        <p:nvSpPr>
          <p:cNvPr id="15" name="Rounded Rectangle 14"/>
          <p:cNvSpPr/>
          <p:nvPr/>
        </p:nvSpPr>
        <p:spPr>
          <a:xfrm>
            <a:off x="594360"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Accept</a:t>
            </a:r>
          </a:p>
        </p:txBody>
      </p:sp>
      <p:sp>
        <p:nvSpPr>
          <p:cNvPr id="17" name="Rounded Rectangle 16"/>
          <p:cNvSpPr/>
          <p:nvPr/>
        </p:nvSpPr>
        <p:spPr>
          <a:xfrm>
            <a:off x="1439646"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3964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Send-back</a:t>
            </a:r>
          </a:p>
        </p:txBody>
      </p:sp>
      <p:sp>
        <p:nvSpPr>
          <p:cNvPr id="19" name="Rounded Rectangle 18"/>
          <p:cNvSpPr/>
          <p:nvPr/>
        </p:nvSpPr>
        <p:spPr>
          <a:xfrm>
            <a:off x="2284933"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84933"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Reject</a:t>
            </a:r>
          </a:p>
        </p:txBody>
      </p:sp>
      <p:sp>
        <p:nvSpPr>
          <p:cNvPr id="21" name="Rounded Rectangle 20"/>
          <p:cNvSpPr/>
          <p:nvPr/>
        </p:nvSpPr>
        <p:spPr>
          <a:xfrm>
            <a:off x="3130219"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30219"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Redirect</a:t>
            </a:r>
          </a:p>
        </p:txBody>
      </p:sp>
      <p:sp>
        <p:nvSpPr>
          <p:cNvPr id="23" name="TextBox 22"/>
          <p:cNvSpPr txBox="1"/>
          <p:nvPr/>
        </p:nvSpPr>
        <p:spPr>
          <a:xfrm>
            <a:off x="594360"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Filters and routes demand. Verdict logged with reason. SLA: 5 business days.</a:t>
            </a:r>
          </a:p>
        </p:txBody>
      </p:sp>
      <p:sp>
        <p:nvSpPr>
          <p:cNvPr id="24" name="TextBox 23"/>
          <p:cNvSpPr txBox="1"/>
          <p:nvPr/>
        </p:nvSpPr>
        <p:spPr>
          <a:xfrm>
            <a:off x="4048658" y="2697480"/>
            <a:ext cx="182880" cy="365760"/>
          </a:xfrm>
          <a:prstGeom prst="rect">
            <a:avLst/>
          </a:prstGeom>
          <a:noFill/>
        </p:spPr>
        <p:txBody>
          <a:bodyPr wrap="square" lIns="45720" tIns="18288" rIns="45720" bIns="18288" anchor="ctr">
            <a:spAutoFit/>
          </a:bodyPr>
          <a:lstStyle/>
          <a:p>
            <a:pPr algn="ctr"/>
            <a:r>
              <a:rPr sz="1800" b="1" i="0">
                <a:solidFill>
                  <a:srgbClr val="95A5A6"/>
                </a:solidFill>
                <a:latin typeface="Arial"/>
              </a:rPr>
              <a:t>▶</a:t>
            </a:r>
          </a:p>
        </p:txBody>
      </p:sp>
      <p:sp>
        <p:nvSpPr>
          <p:cNvPr id="25" name="Rounded Rectangle 24"/>
          <p:cNvSpPr/>
          <p:nvPr/>
        </p:nvSpPr>
        <p:spPr>
          <a:xfrm>
            <a:off x="4277258" y="1691640"/>
            <a:ext cx="3637178" cy="2377440"/>
          </a:xfrm>
          <a:prstGeom prst="roundRect">
            <a:avLst>
              <a:gd name="adj" fmla="val 5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277258" y="1691640"/>
            <a:ext cx="3637178"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68698"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GATE 2 · PORTFOLIO</a:t>
            </a:r>
          </a:p>
        </p:txBody>
      </p:sp>
      <p:sp>
        <p:nvSpPr>
          <p:cNvPr id="28" name="TextBox 27"/>
          <p:cNvSpPr txBox="1"/>
          <p:nvPr/>
        </p:nvSpPr>
        <p:spPr>
          <a:xfrm>
            <a:off x="4414418" y="2286000"/>
            <a:ext cx="3362858" cy="274320"/>
          </a:xfrm>
          <a:prstGeom prst="rect">
            <a:avLst/>
          </a:prstGeom>
          <a:noFill/>
        </p:spPr>
        <p:txBody>
          <a:bodyPr wrap="square" lIns="45720" tIns="18288" rIns="45720" bIns="18288" anchor="t">
            <a:spAutoFit/>
          </a:bodyPr>
          <a:lstStyle/>
          <a:p>
            <a:pPr algn="l"/>
            <a:r>
              <a:rPr sz="1000" b="0" i="1">
                <a:solidFill>
                  <a:srgbClr val="F9A825"/>
                </a:solidFill>
                <a:latin typeface="Arial"/>
              </a:rPr>
              <a:t>Monthly · 90 min</a:t>
            </a:r>
          </a:p>
        </p:txBody>
      </p:sp>
      <p:sp>
        <p:nvSpPr>
          <p:cNvPr id="29" name="TextBox 28"/>
          <p:cNvSpPr txBox="1"/>
          <p:nvPr/>
        </p:nvSpPr>
        <p:spPr>
          <a:xfrm>
            <a:off x="4414418"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VP · Directors · Product Managers</a:t>
            </a:r>
          </a:p>
        </p:txBody>
      </p:sp>
      <p:sp>
        <p:nvSpPr>
          <p:cNvPr id="30" name="Rounded Rectangle 29"/>
          <p:cNvSpPr/>
          <p:nvPr/>
        </p:nvSpPr>
        <p:spPr>
          <a:xfrm>
            <a:off x="441441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14418"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Prioritize</a:t>
            </a:r>
          </a:p>
        </p:txBody>
      </p:sp>
      <p:sp>
        <p:nvSpPr>
          <p:cNvPr id="32" name="Rounded Rectangle 31"/>
          <p:cNvSpPr/>
          <p:nvPr/>
        </p:nvSpPr>
        <p:spPr>
          <a:xfrm>
            <a:off x="5259704"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59704"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Defer</a:t>
            </a:r>
          </a:p>
        </p:txBody>
      </p:sp>
      <p:sp>
        <p:nvSpPr>
          <p:cNvPr id="34" name="Rounded Rectangle 33"/>
          <p:cNvSpPr/>
          <p:nvPr/>
        </p:nvSpPr>
        <p:spPr>
          <a:xfrm>
            <a:off x="6104991"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04991"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Cancel</a:t>
            </a:r>
          </a:p>
        </p:txBody>
      </p:sp>
      <p:sp>
        <p:nvSpPr>
          <p:cNvPr id="36" name="Rounded Rectangle 35"/>
          <p:cNvSpPr/>
          <p:nvPr/>
        </p:nvSpPr>
        <p:spPr>
          <a:xfrm>
            <a:off x="695027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50278"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Re-scope</a:t>
            </a:r>
          </a:p>
        </p:txBody>
      </p:sp>
      <p:sp>
        <p:nvSpPr>
          <p:cNvPr id="38" name="TextBox 37"/>
          <p:cNvSpPr txBox="1"/>
          <p:nvPr/>
        </p:nvSpPr>
        <p:spPr>
          <a:xfrm>
            <a:off x="4414418"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Trade-offs across Value Streams. Capacity vs CoS commitments. Owns the roadmap.</a:t>
            </a:r>
          </a:p>
        </p:txBody>
      </p:sp>
      <p:sp>
        <p:nvSpPr>
          <p:cNvPr id="39" name="TextBox 38"/>
          <p:cNvSpPr txBox="1"/>
          <p:nvPr/>
        </p:nvSpPr>
        <p:spPr>
          <a:xfrm>
            <a:off x="7868716" y="2697480"/>
            <a:ext cx="182880" cy="365760"/>
          </a:xfrm>
          <a:prstGeom prst="rect">
            <a:avLst/>
          </a:prstGeom>
          <a:noFill/>
        </p:spPr>
        <p:txBody>
          <a:bodyPr wrap="square" lIns="45720" tIns="18288" rIns="45720" bIns="18288" anchor="ctr">
            <a:spAutoFit/>
          </a:bodyPr>
          <a:lstStyle/>
          <a:p>
            <a:pPr algn="ctr"/>
            <a:r>
              <a:rPr sz="1800" b="1" i="0">
                <a:solidFill>
                  <a:srgbClr val="95A5A6"/>
                </a:solidFill>
                <a:latin typeface="Arial"/>
              </a:rPr>
              <a:t>▶</a:t>
            </a:r>
          </a:p>
        </p:txBody>
      </p:sp>
      <p:sp>
        <p:nvSpPr>
          <p:cNvPr id="40" name="Rounded Rectangle 39"/>
          <p:cNvSpPr/>
          <p:nvPr/>
        </p:nvSpPr>
        <p:spPr>
          <a:xfrm>
            <a:off x="8097316" y="1691640"/>
            <a:ext cx="3637178" cy="237744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97316" y="1691640"/>
            <a:ext cx="363717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88756"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BIG ROOM PLANNING</a:t>
            </a:r>
          </a:p>
        </p:txBody>
      </p:sp>
      <p:sp>
        <p:nvSpPr>
          <p:cNvPr id="43" name="TextBox 42"/>
          <p:cNvSpPr txBox="1"/>
          <p:nvPr/>
        </p:nvSpPr>
        <p:spPr>
          <a:xfrm>
            <a:off x="8234476" y="2286000"/>
            <a:ext cx="3362858" cy="274320"/>
          </a:xfrm>
          <a:prstGeom prst="rect">
            <a:avLst/>
          </a:prstGeom>
          <a:noFill/>
        </p:spPr>
        <p:txBody>
          <a:bodyPr wrap="square" lIns="45720" tIns="18288" rIns="45720" bIns="18288" anchor="t">
            <a:spAutoFit/>
          </a:bodyPr>
          <a:lstStyle/>
          <a:p>
            <a:pPr algn="l"/>
            <a:r>
              <a:rPr sz="1000" b="0" i="1">
                <a:solidFill>
                  <a:srgbClr val="2E7D32"/>
                </a:solidFill>
                <a:latin typeface="Arial"/>
              </a:rPr>
              <a:t>Quarterly · ½ day</a:t>
            </a:r>
          </a:p>
        </p:txBody>
      </p:sp>
      <p:sp>
        <p:nvSpPr>
          <p:cNvPr id="44" name="TextBox 43"/>
          <p:cNvSpPr txBox="1"/>
          <p:nvPr/>
        </p:nvSpPr>
        <p:spPr>
          <a:xfrm>
            <a:off x="8234476"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All VSs + business sponsors + Iberdrola</a:t>
            </a:r>
          </a:p>
        </p:txBody>
      </p:sp>
      <p:sp>
        <p:nvSpPr>
          <p:cNvPr id="45" name="Rounded Rectangle 44"/>
          <p:cNvSpPr/>
          <p:nvPr/>
        </p:nvSpPr>
        <p:spPr>
          <a:xfrm>
            <a:off x="823447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3447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Confirm WHY</a:t>
            </a:r>
          </a:p>
        </p:txBody>
      </p:sp>
      <p:sp>
        <p:nvSpPr>
          <p:cNvPr id="47" name="Rounded Rectangle 46"/>
          <p:cNvSpPr/>
          <p:nvPr/>
        </p:nvSpPr>
        <p:spPr>
          <a:xfrm>
            <a:off x="9079763"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079763"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Align HOW</a:t>
            </a:r>
          </a:p>
        </p:txBody>
      </p:sp>
      <p:sp>
        <p:nvSpPr>
          <p:cNvPr id="49" name="Rounded Rectangle 48"/>
          <p:cNvSpPr/>
          <p:nvPr/>
        </p:nvSpPr>
        <p:spPr>
          <a:xfrm>
            <a:off x="9925049"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925049"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Spot DEPS</a:t>
            </a:r>
          </a:p>
        </p:txBody>
      </p:sp>
      <p:sp>
        <p:nvSpPr>
          <p:cNvPr id="51" name="Rounded Rectangle 50"/>
          <p:cNvSpPr/>
          <p:nvPr/>
        </p:nvSpPr>
        <p:spPr>
          <a:xfrm>
            <a:off x="1077033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77033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Lock OKRs</a:t>
            </a:r>
          </a:p>
        </p:txBody>
      </p:sp>
      <p:sp>
        <p:nvSpPr>
          <p:cNvPr id="53" name="TextBox 52"/>
          <p:cNvSpPr txBox="1"/>
          <p:nvPr/>
        </p:nvSpPr>
        <p:spPr>
          <a:xfrm>
            <a:off x="8234476"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Cross-portfolio alignment. Surfaces dependencies early and locks quarterly OKRs.</a:t>
            </a:r>
          </a:p>
        </p:txBody>
      </p:sp>
      <p:sp>
        <p:nvSpPr>
          <p:cNvPr id="54" name="Rounded Rectangle 53"/>
          <p:cNvSpPr/>
          <p:nvPr/>
        </p:nvSpPr>
        <p:spPr>
          <a:xfrm>
            <a:off x="457200" y="4297680"/>
            <a:ext cx="11277295" cy="640080"/>
          </a:xfrm>
          <a:prstGeom prst="roundRect">
            <a:avLst>
              <a:gd name="adj" fmla="val 5000"/>
            </a:avLst>
          </a:prstGeom>
          <a:solidFill>
            <a:srgbClr val="F5F5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 y="4343400"/>
            <a:ext cx="2743200" cy="274320"/>
          </a:xfrm>
          <a:prstGeom prst="rect">
            <a:avLst/>
          </a:prstGeom>
          <a:noFill/>
        </p:spPr>
        <p:txBody>
          <a:bodyPr wrap="square" lIns="45720" tIns="18288" rIns="45720" bIns="18288" anchor="t">
            <a:spAutoFit/>
          </a:bodyPr>
          <a:lstStyle/>
          <a:p>
            <a:pPr algn="l"/>
            <a:r>
              <a:rPr sz="1000" b="1" i="0">
                <a:solidFill>
                  <a:srgbClr val="0F1C50"/>
                </a:solidFill>
                <a:latin typeface="Arial"/>
              </a:rPr>
              <a:t>ESCALATION LANE</a:t>
            </a:r>
          </a:p>
        </p:txBody>
      </p:sp>
      <p:sp>
        <p:nvSpPr>
          <p:cNvPr id="56" name="TextBox 55"/>
          <p:cNvSpPr txBox="1"/>
          <p:nvPr/>
        </p:nvSpPr>
        <p:spPr>
          <a:xfrm>
            <a:off x="640080" y="4590288"/>
            <a:ext cx="10911535" cy="365760"/>
          </a:xfrm>
          <a:prstGeom prst="rect">
            <a:avLst/>
          </a:prstGeom>
          <a:noFill/>
        </p:spPr>
        <p:txBody>
          <a:bodyPr wrap="square" lIns="45720" tIns="18288" rIns="45720" bIns="18288" anchor="t">
            <a:spAutoFit/>
          </a:bodyPr>
          <a:lstStyle/>
          <a:p>
            <a:pPr algn="l"/>
            <a:r>
              <a:rPr sz="950" b="0" i="0">
                <a:solidFill>
                  <a:srgbClr val="2C3E50"/>
                </a:solidFill>
                <a:latin typeface="Arial"/>
              </a:rPr>
              <a:t>Cross-VS conflicts → Customer Journey Forum  ·  Cross-portfolio conflicts → VP Portfolio Sync  ·  Every Expedite reviewed at the next Gate 2</a:t>
            </a:r>
          </a:p>
        </p:txBody>
      </p:sp>
      <p:sp>
        <p:nvSpPr>
          <p:cNvPr id="57" name="Rounded Rectangle 56"/>
          <p:cNvSpPr/>
          <p:nvPr/>
        </p:nvSpPr>
        <p:spPr>
          <a:xfrm>
            <a:off x="457200" y="5120640"/>
            <a:ext cx="11277295" cy="114300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080" y="5212080"/>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59" name="TextBox 58"/>
          <p:cNvSpPr txBox="1"/>
          <p:nvPr/>
        </p:nvSpPr>
        <p:spPr>
          <a:xfrm>
            <a:off x="640080" y="5486400"/>
            <a:ext cx="10911535" cy="777240"/>
          </a:xfrm>
          <a:prstGeom prst="rect">
            <a:avLst/>
          </a:prstGeom>
          <a:noFill/>
        </p:spPr>
        <p:txBody>
          <a:bodyPr wrap="square" lIns="45720" tIns="18288" rIns="45720" bIns="18288" anchor="t">
            <a:spAutoFit/>
          </a:bodyPr>
          <a:lstStyle/>
          <a:p>
            <a:pPr algn="l"/>
            <a:r>
              <a:rPr sz="1050" b="0" i="1">
                <a:solidFill>
                  <a:srgbClr val="2C3E50"/>
                </a:solidFill>
                <a:latin typeface="Arial"/>
              </a:rPr>
              <a:t>Two cadences are sufficient — weekly clears noise, monthly steers value, quarterly aligns the portfolio. Replaces today's mix of ad-hoc forums where 'regulatory always wins' bypassed the queue.</a:t>
            </a:r>
          </a:p>
        </p:txBody>
      </p:sp>
    </p:spTree>
    <p:extLst>
      <p:ext uri="{BB962C8B-B14F-4D97-AF65-F5344CB8AC3E}">
        <p14:creationId xmlns:p14="http://schemas.microsoft.com/office/powerpoint/2010/main" val="32905599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1C0F-9328-51A7-500A-99E7B15DABA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4BA4A766-5E4A-4DC0-7134-DAA588B7B7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F37C25A-0DAC-9F15-7E71-7A69E80A7531}"/>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B986BC8B-4509-4FA9-ED2F-C11A69D8AFF0}"/>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B1891804-440C-0941-11D8-A8FD70E866E3}"/>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031E1AA5-740F-27EB-2C4E-49C0FC8F1B59}"/>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6BA83EF-2774-FB35-AA03-2C1A83A1D16C}"/>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276EF087-257E-6C2D-0607-43F7C8FC58E4}"/>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4A26B82-B663-20D7-09CE-CCF7CDC1FBD0}"/>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FE08EFCC-A62C-6118-740C-27A9EAB20C35}"/>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62F5CB7-AFEC-B612-23E6-CFF023812EAD}"/>
              </a:ext>
            </a:extLst>
          </p:cNvPr>
          <p:cNvSpPr>
            <a:spLocks noGrp="1"/>
          </p:cNvSpPr>
          <p:nvPr>
            <p:ph type="title"/>
          </p:nvPr>
        </p:nvSpPr>
        <p:spPr>
          <a:xfrm>
            <a:off x="384159" y="800002"/>
            <a:ext cx="7244550" cy="3025329"/>
          </a:xfrm>
        </p:spPr>
        <p:txBody>
          <a:bodyPr/>
          <a:lstStyle/>
          <a:p>
            <a:r>
              <a:rPr lang="en-US"/>
              <a:t>LIFECYCLE END-TO-END PROCESS</a:t>
            </a:r>
            <a:br>
              <a:rPr lang="en-US"/>
            </a:br>
            <a:br>
              <a:rPr lang="en-US"/>
            </a:br>
            <a:r>
              <a:rPr lang="en-US" sz="2400" b="0"/>
              <a:t>April 2026</a:t>
            </a:r>
            <a:endParaRPr lang="en-US" b="0"/>
          </a:p>
        </p:txBody>
      </p:sp>
      <p:sp>
        <p:nvSpPr>
          <p:cNvPr id="7" name="Text Placeholder 34">
            <a:extLst>
              <a:ext uri="{FF2B5EF4-FFF2-40B4-BE49-F238E27FC236}">
                <a16:creationId xmlns:a16="http://schemas.microsoft.com/office/drawing/2014/main" id="{F55C7AF2-5857-BBB5-F21F-711842C758B9}"/>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FB57EB31-C7C5-0275-488F-76D69651858D}"/>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4" name="Rectángulo 3">
            <a:extLst>
              <a:ext uri="{FF2B5EF4-FFF2-40B4-BE49-F238E27FC236}">
                <a16:creationId xmlns:a16="http://schemas.microsoft.com/office/drawing/2014/main" id="{212FD0B0-98F1-B7DD-5F06-5B35B77BEF4B}"/>
              </a:ext>
            </a:extLst>
          </p:cNvPr>
          <p:cNvSpPr/>
          <p:nvPr/>
        </p:nvSpPr>
        <p:spPr>
          <a:xfrm>
            <a:off x="4619954" y="2341418"/>
            <a:ext cx="6248780" cy="2535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Planning</a:t>
            </a:r>
            <a:r>
              <a:rPr lang="es-MX"/>
              <a:t> &amp; </a:t>
            </a:r>
            <a:r>
              <a:rPr lang="es-MX" err="1"/>
              <a:t>Preparation</a:t>
            </a:r>
            <a:endParaRPr lang="es-MX"/>
          </a:p>
        </p:txBody>
      </p:sp>
    </p:spTree>
    <p:extLst>
      <p:ext uri="{BB962C8B-B14F-4D97-AF65-F5344CB8AC3E}">
        <p14:creationId xmlns:p14="http://schemas.microsoft.com/office/powerpoint/2010/main" val="86811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53267-24C2-98AE-D7AD-638BBFA68E5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28F2C31A-ADD6-228D-C003-6FE10FA130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36FEDB6-A158-E49C-5689-5E793277642A}"/>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3B676C16-7525-CE3A-948C-BDB889560526}"/>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3B9C845A-FF4D-4A9A-348D-921ECBAFA620}"/>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5C69965-B5FF-83D5-DC88-0B5D107546E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7C7E3981-129B-B200-B8E6-E94D4C96F18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AD234A4B-A9BE-D7D6-12B1-1CE7CA740C5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73CE00F-FAA9-A917-54F6-9BEEB38BA80A}"/>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578505BA-CC91-2F68-4318-B0A549B8144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ED95023D-E634-8C92-74AF-684F47AA467B}"/>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77241433-F127-46CF-2D86-5A32AFD23175}"/>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62AE7269-E63E-EB16-8B75-24CD6DD937DB}"/>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FCFBAB99-7146-9F83-5E20-62FFA4709856}"/>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5DE4D3FD-7E5C-36D7-5A37-879A3EAD4F57}"/>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38902E68-170D-C575-5E59-AA7704866BDC}"/>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5ACE92EC-CB0E-C535-8A07-3293C31A2A95}"/>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9C4F8372-0483-2182-4CDF-357E4FD889CE}"/>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F73959D6-6370-3CC4-0CFC-159923C69DF5}"/>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D66A5FAC-CA97-3A66-973F-C3FB1FD81FBB}"/>
              </a:ext>
            </a:extLst>
          </p:cNvPr>
          <p:cNvSpPr/>
          <p:nvPr/>
        </p:nvSpPr>
        <p:spPr>
          <a:xfrm>
            <a:off x="6207760" y="19739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C74DE23-CC28-71CA-B910-AD81DAEF0813}"/>
              </a:ext>
            </a:extLst>
          </p:cNvPr>
          <p:cNvSpPr/>
          <p:nvPr/>
        </p:nvSpPr>
        <p:spPr>
          <a:xfrm>
            <a:off x="6205311" y="19701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37AF6600-4963-1DA5-DBE6-CF36D507FC24}"/>
              </a:ext>
            </a:extLst>
          </p:cNvPr>
          <p:cNvSpPr/>
          <p:nvPr/>
        </p:nvSpPr>
        <p:spPr>
          <a:xfrm>
            <a:off x="6207760" y="267500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EB575246-D31B-31DD-ABDC-125C66E6CD3B}"/>
              </a:ext>
            </a:extLst>
          </p:cNvPr>
          <p:cNvSpPr/>
          <p:nvPr/>
        </p:nvSpPr>
        <p:spPr>
          <a:xfrm>
            <a:off x="6205311" y="267122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9281F447-95D9-74B5-BA0B-AF0AE54709F8}"/>
              </a:ext>
            </a:extLst>
          </p:cNvPr>
          <p:cNvSpPr/>
          <p:nvPr/>
        </p:nvSpPr>
        <p:spPr>
          <a:xfrm>
            <a:off x="6207760" y="33455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E2949FF0-5C6C-9ED4-D06D-930400B3C85C}"/>
              </a:ext>
            </a:extLst>
          </p:cNvPr>
          <p:cNvSpPr/>
          <p:nvPr/>
        </p:nvSpPr>
        <p:spPr>
          <a:xfrm>
            <a:off x="6205311" y="3341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338054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E7BF-F442-0966-3B2C-BD9E54BB1082}"/>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56D7F468-6C45-479B-C2B5-617CF4250B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8E152FE-898B-79DF-67AD-2E00A8E7FC8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F693B27B-E0CC-3F2A-676C-864B762FE7B9}"/>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98F7FED1-18B3-E535-D652-347794CB4A19}"/>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7B79777A-1EF4-E333-4806-4A91268DE004}"/>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A6FD2EAC-BB56-E5D2-CF6F-9389F0C40D08}"/>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ACE9E176-F816-7252-49B1-43410322F917}"/>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B01DA9FF-4CE1-BF30-DAFA-C9346EF2C5D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9852A1E0-2302-E485-C3AC-DDA637F76A7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9A10E52C-3643-61A2-261D-039B1BB4B9AF}"/>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94C1F7AC-E2ED-90FA-D8D6-3959B11A1C93}"/>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1ACAF54C-1EB8-7374-ECC1-1DA7C93E0F46}"/>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1D82D29C-EDC4-E500-6AB5-F4A0AACBD780}"/>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486FB319-06ED-47F0-BCAB-FFB35E73470C}"/>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44E0D9CE-8C66-F95B-349F-2F76A921E636}"/>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F9D7917E-F1E9-45B3-54E6-B0F735F61AAC}"/>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10ABF9E9-5ECF-4C65-760F-C7C4E1FEC7DE}"/>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45BC5174-1DEB-2E63-D74C-92C0139F3B45}"/>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25AAFD39-817F-FD6E-2FA5-492C93F38B1E}"/>
              </a:ext>
            </a:extLst>
          </p:cNvPr>
          <p:cNvSpPr/>
          <p:nvPr/>
        </p:nvSpPr>
        <p:spPr>
          <a:xfrm>
            <a:off x="6207760" y="19739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FC01406B-2C25-FBB1-E52E-B4CE3153150E}"/>
              </a:ext>
            </a:extLst>
          </p:cNvPr>
          <p:cNvSpPr/>
          <p:nvPr/>
        </p:nvSpPr>
        <p:spPr>
          <a:xfrm>
            <a:off x="6205311" y="19701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35DECEB6-6DB5-E582-9B7A-832B0B2384C8}"/>
              </a:ext>
            </a:extLst>
          </p:cNvPr>
          <p:cNvSpPr/>
          <p:nvPr/>
        </p:nvSpPr>
        <p:spPr>
          <a:xfrm>
            <a:off x="6207760" y="267500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D02DFB79-2483-A48F-0A34-1F308483FF4A}"/>
              </a:ext>
            </a:extLst>
          </p:cNvPr>
          <p:cNvSpPr/>
          <p:nvPr/>
        </p:nvSpPr>
        <p:spPr>
          <a:xfrm>
            <a:off x="6205311" y="267122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233365CA-FE6A-E849-5CED-C6D2DC358284}"/>
              </a:ext>
            </a:extLst>
          </p:cNvPr>
          <p:cNvSpPr/>
          <p:nvPr/>
        </p:nvSpPr>
        <p:spPr>
          <a:xfrm>
            <a:off x="6207760" y="33455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671BB4FA-908E-9ACE-8FCF-F496295CEFBC}"/>
              </a:ext>
            </a:extLst>
          </p:cNvPr>
          <p:cNvSpPr/>
          <p:nvPr/>
        </p:nvSpPr>
        <p:spPr>
          <a:xfrm>
            <a:off x="6205311" y="33417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1934035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F1C24-1CD5-0D31-6B82-1091F9BBAE14}"/>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4546A99-333E-6193-A153-50FFA93BA2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5EC2520-71F3-A852-B397-F694984B768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C9EBDACD-F7CB-187A-C13D-393F5A01BBE7}"/>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DBEFF99-2840-BA93-2409-9A4C5BFF6360}"/>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52F81FBC-4729-F3F5-9FAA-A32A62A5B8CF}"/>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DC9C5DE4-0044-F4C7-9061-67F932B87EC0}"/>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18817936-75EF-B8BD-645F-9809AB5FB379}"/>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7066ECDE-9498-1141-7F43-2DE1D1E78BDF}"/>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E6BF92A3-50CA-560E-C661-7DAB1252CF0D}"/>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E69F6A19-37CB-79A9-E014-FFD7F791AEA5}"/>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C1F70057-476E-EDFC-803A-651A2E29EB9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685AF946-CC6A-8617-4D45-9F4615A676C4}"/>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0871E3D6-C2CB-C082-C194-4B10C83FC880}"/>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46954C87-EDF4-A8DE-9CE3-BF1FAEC26B6C}"/>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AAE54D6B-76D9-A194-7833-1E9EF2ACC4B1}"/>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1AD6DEE1-26BC-62F3-4067-2FF456DF66D3}"/>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D69A2A86-B474-E8E0-CD4B-83B96396A82D}"/>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388EE536-FEEE-8941-CDC1-99E99E8E2793}"/>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AD897348-EF89-4E62-DD0B-E29362D56D54}"/>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54" name="Grupo 2053">
            <a:extLst>
              <a:ext uri="{FF2B5EF4-FFF2-40B4-BE49-F238E27FC236}">
                <a16:creationId xmlns:a16="http://schemas.microsoft.com/office/drawing/2014/main" id="{5AE73AC1-3B65-460E-8A6B-53A5170D2BB0}"/>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3C0086BC-01E6-3000-CD45-3C643B745AE1}"/>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0BF5FD2A-EBB6-BCCD-7AEA-840CF98A5C3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7B267E85-B168-C6A4-ED21-D29F9F497244}"/>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E3954DDC-42BD-F9CE-8895-BC6AE84E751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53B1F212-85E9-5E21-43D2-26CD1FC5811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DBCC6A7A-4A49-8A96-8D53-A7E91753EF7C}"/>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D20D09CE-CDAE-2656-F478-579EBF3C1877}"/>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66EBFB3B-46E2-57A0-A1FD-822E3EC6B848}"/>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89888A0D-FEE9-544D-F784-F4E88A153305}"/>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EF14F036-31CD-CA53-5CE9-07B04E32252C}"/>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C2CAA63E-1B90-FC80-C789-20B0BD32AFB8}"/>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DAB4024F-568B-0390-3679-F3C20C27AD58}"/>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9B40BE0D-3F8E-55B6-19BD-BA9B799D8658}"/>
              </a:ext>
            </a:extLst>
          </p:cNvPr>
          <p:cNvSpPr/>
          <p:nvPr/>
        </p:nvSpPr>
        <p:spPr>
          <a:xfrm>
            <a:off x="5394960" y="39827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049" name="Grupo 2048">
            <a:extLst>
              <a:ext uri="{FF2B5EF4-FFF2-40B4-BE49-F238E27FC236}">
                <a16:creationId xmlns:a16="http://schemas.microsoft.com/office/drawing/2014/main" id="{6677EC1B-583C-5893-AF6B-36B5CFA9F52B}"/>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163C7FD9-43B5-20A5-DD98-3DEEE4EBE132}"/>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3B603097-F0C3-8557-D1B2-5FCA45890AAC}"/>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2C785584-71DB-11CF-3EA5-0C792E1D5889}"/>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04</a:t>
            </a:r>
          </a:p>
        </p:txBody>
      </p:sp>
      <p:sp>
        <p:nvSpPr>
          <p:cNvPr id="2062" name="Rectángulo 2061">
            <a:extLst>
              <a:ext uri="{FF2B5EF4-FFF2-40B4-BE49-F238E27FC236}">
                <a16:creationId xmlns:a16="http://schemas.microsoft.com/office/drawing/2014/main" id="{EB7413D3-659F-BD68-8BE6-77E917B17D1B}"/>
              </a:ext>
            </a:extLst>
          </p:cNvPr>
          <p:cNvSpPr/>
          <p:nvPr/>
        </p:nvSpPr>
        <p:spPr>
          <a:xfrm>
            <a:off x="6106160" y="4142007"/>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124920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BBEB-2F7C-50BB-8A19-F871C920CE9F}"/>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620AD1EE-86B2-3FA7-B41D-F523411DEA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DFBF046-DBB3-F943-E8D9-9D95B0715486}"/>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A5381DF1-1CD4-745F-F669-CD3E3745C49F}"/>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06C1BC46-F89F-E328-4462-273D23CC171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D1D44058-E48B-6844-BF11-4A6B19B953A9}"/>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BE04594F-99ED-E6D7-E484-CF8EA85630C7}"/>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8DED3E98-C9EE-7D6D-8B91-500E3B08CD0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77DD0FC6-D840-A719-ED60-2F4CEF9637F6}"/>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4A290202-FC8D-4896-E9AC-5D0DB19269B4}"/>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4EAB09FA-5016-5699-609F-499AE4A26BEF}"/>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D8EED961-655F-9A98-A7E7-2A40365084B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E24E3C03-83F1-E287-7786-B9C4AEE0565A}"/>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9FB3DBF5-402F-EDEE-AADD-AEF5AEBC8C97}"/>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A99E9592-8B0A-680F-991A-51F613BEA583}"/>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CB70F05F-5F86-09CC-2B44-1FC2494939E1}"/>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82BB63C9-5C00-6BD9-3424-DEA1739BFA32}"/>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FE29F81B-2191-7231-86FF-FD76202996CD}"/>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BBC739D2-A673-2352-F400-203156B3D9D3}"/>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9771CE73-F2BD-9896-2265-E80AB970F130}"/>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FF343E23-252A-3617-D96A-414194721964}"/>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107B22E4-22E6-A91E-058E-E09B6818B500}"/>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0516EB1F-3E30-5BDB-962D-690E8F787E8D}"/>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D112D01F-D76B-8140-B690-EF43BD1C28F9}"/>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3" name="Grupo 22">
            <a:extLst>
              <a:ext uri="{FF2B5EF4-FFF2-40B4-BE49-F238E27FC236}">
                <a16:creationId xmlns:a16="http://schemas.microsoft.com/office/drawing/2014/main" id="{30A709BF-880F-02F7-147F-7E1ED58C8EE3}"/>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A951B93-A93E-BAEF-123B-EA9240F1BBBA}"/>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D1D373B8-A84F-5638-792F-0586E26A869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60A27989-B4FE-2407-8740-2A95CB6299E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1983D3D7-45F9-CEA2-DF5E-9FF21E903D08}"/>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7F01CE98-645A-7E22-06E0-C5EAB587D6AC}"/>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00794EA9-17BE-68FF-61BC-B75BFF98626B}"/>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FFFB2A85-5574-483B-D056-A6627A04A19B}"/>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5A02C651-87FD-B8CE-F0C8-571B76CF2D98}"/>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D89A9B18-61B5-09F4-FCD4-249E708F1D97}"/>
              </a:ext>
            </a:extLst>
          </p:cNvPr>
          <p:cNvSpPr/>
          <p:nvPr/>
        </p:nvSpPr>
        <p:spPr>
          <a:xfrm>
            <a:off x="5394960" y="501904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grpSp>
        <p:nvGrpSpPr>
          <p:cNvPr id="2054" name="Grupo 2053">
            <a:extLst>
              <a:ext uri="{FF2B5EF4-FFF2-40B4-BE49-F238E27FC236}">
                <a16:creationId xmlns:a16="http://schemas.microsoft.com/office/drawing/2014/main" id="{3DC0708E-4FDD-E1CB-6AC6-7A730F780AB4}"/>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9BFDDA65-82BE-40AD-3AB2-A7DDC37E8E26}"/>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5F907292-5CF3-D3AB-1AB0-FBA826523ECA}"/>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337AD724-4840-FA51-098E-5CF5FE4DA812}"/>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a:t>
            </a:r>
            <a:r>
              <a:rPr lang="en-US" sz="3200" b="1">
                <a:solidFill>
                  <a:schemeClr val="bg1"/>
                </a:solidFill>
                <a:latin typeface="Arial" panose="020B0604020202020204" pitchFamily="34" charset="0"/>
                <a:ea typeface="Gordita Bold"/>
                <a:cs typeface="Arial" panose="020B0604020202020204" pitchFamily="34" charset="0"/>
                <a:sym typeface="Gordita Bold"/>
              </a:rPr>
              <a:t>5</a:t>
            </a:r>
            <a:endParaRPr lang="en-US" sz="3200" b="1" noProof="0">
              <a:solidFill>
                <a:schemeClr val="bg1"/>
              </a:solidFill>
              <a:latin typeface="Arial" panose="020B0604020202020204" pitchFamily="34" charset="0"/>
              <a:ea typeface="Gordita Bold"/>
              <a:cs typeface="Arial" panose="020B0604020202020204" pitchFamily="34" charset="0"/>
              <a:sym typeface="Gordita Bold"/>
            </a:endParaRPr>
          </a:p>
        </p:txBody>
      </p:sp>
      <p:sp>
        <p:nvSpPr>
          <p:cNvPr id="2063" name="Rectángulo 2062">
            <a:extLst>
              <a:ext uri="{FF2B5EF4-FFF2-40B4-BE49-F238E27FC236}">
                <a16:creationId xmlns:a16="http://schemas.microsoft.com/office/drawing/2014/main" id="{05C7C91B-E647-0E93-5B90-B19EDE77C24C}"/>
              </a:ext>
            </a:extLst>
          </p:cNvPr>
          <p:cNvSpPr/>
          <p:nvPr/>
        </p:nvSpPr>
        <p:spPr>
          <a:xfrm>
            <a:off x="6106160" y="5186267"/>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56251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365760" y="91440"/>
            <a:ext cx="10058400" cy="384048"/>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a:ea typeface="+mn-ea"/>
                <a:cs typeface="+mn-cs"/>
              </a:rPr>
              <a:t>FIELD PROGRESSION</a:t>
            </a:r>
          </a:p>
        </p:txBody>
      </p:sp>
      <p:sp>
        <p:nvSpPr>
          <p:cNvPr id="5" name="TextBox 4"/>
          <p:cNvSpPr txBox="1"/>
          <p:nvPr/>
        </p:nvSpPr>
        <p:spPr>
          <a:xfrm>
            <a:off x="365760" y="502920"/>
            <a:ext cx="10058400" cy="29260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WHO FILLS WHAT · WHEN · the card grows as it advances through the funnel</a:t>
            </a:r>
          </a:p>
        </p:txBody>
      </p:sp>
      <p:sp>
        <p:nvSpPr>
          <p:cNvPr id="42" name="Rounded Rectangle 41"/>
          <p:cNvSpPr/>
          <p:nvPr/>
        </p:nvSpPr>
        <p:spPr>
          <a:xfrm>
            <a:off x="6126480" y="1145771"/>
            <a:ext cx="2788920" cy="4983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ounded Rectangle 60"/>
          <p:cNvSpPr/>
          <p:nvPr/>
        </p:nvSpPr>
        <p:spPr>
          <a:xfrm>
            <a:off x="9006840" y="1145771"/>
            <a:ext cx="2788920" cy="4983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ounded Rectangle 79"/>
          <p:cNvSpPr/>
          <p:nvPr/>
        </p:nvSpPr>
        <p:spPr>
          <a:xfrm>
            <a:off x="365760" y="6220691"/>
            <a:ext cx="11475720" cy="32918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1" name="TextBox 80"/>
          <p:cNvSpPr txBox="1"/>
          <p:nvPr/>
        </p:nvSpPr>
        <p:spPr>
          <a:xfrm>
            <a:off x="502920" y="6297857"/>
            <a:ext cx="11155680" cy="174851"/>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2C3E50"/>
                </a:solidFill>
                <a:effectLst/>
                <a:uLnTx/>
                <a:uFillTx/>
                <a:latin typeface="Arial"/>
                <a:ea typeface="+mn-ea"/>
                <a:cs typeface="+mn-cs"/>
              </a:rPr>
              <a:t>Single funnel ends siloed intake → one source of truth for OVS-level KPIs (NPS · CSAT · Reliability · cycle time) · Architect adds feasibility at Analyzing · Director judges the assembled card at Gate 2.</a:t>
            </a:r>
          </a:p>
        </p:txBody>
      </p:sp>
      <p:sp>
        <p:nvSpPr>
          <p:cNvPr id="89" name="TextBox 3">
            <a:extLst>
              <a:ext uri="{FF2B5EF4-FFF2-40B4-BE49-F238E27FC236}">
                <a16:creationId xmlns:a16="http://schemas.microsoft.com/office/drawing/2014/main" id="{B33FFD6F-6D92-F6BB-E186-ED57944CEB95}"/>
              </a:ext>
            </a:extLst>
          </p:cNvPr>
          <p:cNvSpPr txBox="1"/>
          <p:nvPr/>
        </p:nvSpPr>
        <p:spPr>
          <a:xfrm>
            <a:off x="476598" y="70626"/>
            <a:ext cx="10058400" cy="467239"/>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sym typeface="Arial"/>
              </a:rPr>
              <a:t>FIELD PROGRESSION</a:t>
            </a:r>
            <a:endParaRPr kumimoji="0"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sym typeface="Arial"/>
            </a:endParaRPr>
          </a:p>
        </p:txBody>
      </p:sp>
      <p:sp>
        <p:nvSpPr>
          <p:cNvPr id="90" name="TextBox 4">
            <a:extLst>
              <a:ext uri="{FF2B5EF4-FFF2-40B4-BE49-F238E27FC236}">
                <a16:creationId xmlns:a16="http://schemas.microsoft.com/office/drawing/2014/main" id="{62D5A664-91F4-5B1D-3406-DEF4D874F0EF}"/>
              </a:ext>
            </a:extLst>
          </p:cNvPr>
          <p:cNvSpPr txBox="1"/>
          <p:nvPr/>
        </p:nvSpPr>
        <p:spPr>
          <a:xfrm>
            <a:off x="476598" y="523701"/>
            <a:ext cx="10058400" cy="34412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mn-cs"/>
                <a:sym typeface="Arial"/>
              </a:rPr>
              <a:t>WHO FILLS WHAT · WHEN · the card grows as it advances through the funnel</a:t>
            </a:r>
          </a:p>
        </p:txBody>
      </p:sp>
      <p:sp>
        <p:nvSpPr>
          <p:cNvPr id="3" name="Rounded Rectangle 7">
            <a:extLst>
              <a:ext uri="{FF2B5EF4-FFF2-40B4-BE49-F238E27FC236}">
                <a16:creationId xmlns:a16="http://schemas.microsoft.com/office/drawing/2014/main" id="{88D735D9-1CC9-2AAF-52F3-E18359B7C384}"/>
              </a:ext>
            </a:extLst>
          </p:cNvPr>
          <p:cNvSpPr/>
          <p:nvPr/>
        </p:nvSpPr>
        <p:spPr>
          <a:xfrm>
            <a:off x="365760" y="1097280"/>
            <a:ext cx="2788920" cy="96012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8">
            <a:extLst>
              <a:ext uri="{FF2B5EF4-FFF2-40B4-BE49-F238E27FC236}">
                <a16:creationId xmlns:a16="http://schemas.microsoft.com/office/drawing/2014/main" id="{E65AA415-0E63-6AC2-E86E-4418F81CB562}"/>
              </a:ext>
            </a:extLst>
          </p:cNvPr>
          <p:cNvSpPr txBox="1"/>
          <p:nvPr/>
        </p:nvSpPr>
        <p:spPr>
          <a:xfrm>
            <a:off x="50292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FUNNEL · SUBMIT</a:t>
            </a:r>
          </a:p>
        </p:txBody>
      </p:sp>
      <p:sp>
        <p:nvSpPr>
          <p:cNvPr id="26" name="TextBox 9">
            <a:extLst>
              <a:ext uri="{FF2B5EF4-FFF2-40B4-BE49-F238E27FC236}">
                <a16:creationId xmlns:a16="http://schemas.microsoft.com/office/drawing/2014/main" id="{A2410141-A929-A15A-F0B1-D8C743190FB7}"/>
              </a:ext>
            </a:extLst>
          </p:cNvPr>
          <p:cNvSpPr txBox="1"/>
          <p:nvPr/>
        </p:nvSpPr>
        <p:spPr>
          <a:xfrm>
            <a:off x="50292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82" name="TextBox 10">
            <a:extLst>
              <a:ext uri="{FF2B5EF4-FFF2-40B4-BE49-F238E27FC236}">
                <a16:creationId xmlns:a16="http://schemas.microsoft.com/office/drawing/2014/main" id="{399E4F77-7D39-53C1-A05D-4269D669A8EC}"/>
              </a:ext>
            </a:extLst>
          </p:cNvPr>
          <p:cNvSpPr txBox="1"/>
          <p:nvPr/>
        </p:nvSpPr>
        <p:spPr>
          <a:xfrm>
            <a:off x="50292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Requester </a:t>
            </a:r>
          </a:p>
        </p:txBody>
      </p:sp>
      <p:sp>
        <p:nvSpPr>
          <p:cNvPr id="83" name="TextBox 11">
            <a:extLst>
              <a:ext uri="{FF2B5EF4-FFF2-40B4-BE49-F238E27FC236}">
                <a16:creationId xmlns:a16="http://schemas.microsoft.com/office/drawing/2014/main" id="{3F910A3B-9754-E36E-1856-9C2DD3CC72BA}"/>
              </a:ext>
            </a:extLst>
          </p:cNvPr>
          <p:cNvSpPr txBox="1"/>
          <p:nvPr/>
        </p:nvSpPr>
        <p:spPr>
          <a:xfrm>
            <a:off x="50292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at intake · Jira form</a:t>
            </a:r>
          </a:p>
        </p:txBody>
      </p:sp>
      <p:sp>
        <p:nvSpPr>
          <p:cNvPr id="84" name="TextBox 12">
            <a:extLst>
              <a:ext uri="{FF2B5EF4-FFF2-40B4-BE49-F238E27FC236}">
                <a16:creationId xmlns:a16="http://schemas.microsoft.com/office/drawing/2014/main" id="{1CAA6683-A39D-F7AD-9132-D277530FB05E}"/>
              </a:ext>
            </a:extLst>
          </p:cNvPr>
          <p:cNvSpPr txBox="1"/>
          <p:nvPr/>
        </p:nvSpPr>
        <p:spPr>
          <a:xfrm>
            <a:off x="50292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85" name="Rounded Rectangle 13">
            <a:extLst>
              <a:ext uri="{FF2B5EF4-FFF2-40B4-BE49-F238E27FC236}">
                <a16:creationId xmlns:a16="http://schemas.microsoft.com/office/drawing/2014/main" id="{6900A1D3-4F36-6C92-D0EF-8571F9D875D1}"/>
              </a:ext>
            </a:extLst>
          </p:cNvPr>
          <p:cNvSpPr/>
          <p:nvPr/>
        </p:nvSpPr>
        <p:spPr>
          <a:xfrm>
            <a:off x="50292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6" name="TextBox 14">
            <a:extLst>
              <a:ext uri="{FF2B5EF4-FFF2-40B4-BE49-F238E27FC236}">
                <a16:creationId xmlns:a16="http://schemas.microsoft.com/office/drawing/2014/main" id="{1531B93B-B182-86EC-F784-2998DF9A63D4}"/>
              </a:ext>
            </a:extLst>
          </p:cNvPr>
          <p:cNvSpPr txBox="1"/>
          <p:nvPr/>
        </p:nvSpPr>
        <p:spPr>
          <a:xfrm>
            <a:off x="59436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BUSINESS CONTEXT</a:t>
            </a:r>
          </a:p>
        </p:txBody>
      </p:sp>
      <p:sp>
        <p:nvSpPr>
          <p:cNvPr id="87" name="TextBox 15">
            <a:extLst>
              <a:ext uri="{FF2B5EF4-FFF2-40B4-BE49-F238E27FC236}">
                <a16:creationId xmlns:a16="http://schemas.microsoft.com/office/drawing/2014/main" id="{D5F80B6A-4468-2B6E-8A19-D1076E93885A}"/>
              </a:ext>
            </a:extLst>
          </p:cNvPr>
          <p:cNvSpPr txBox="1"/>
          <p:nvPr/>
        </p:nvSpPr>
        <p:spPr>
          <a:xfrm>
            <a:off x="594360" y="2724912"/>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Title · Description · Business Value (narrative) · Acceptance Criteria</a:t>
            </a:r>
          </a:p>
        </p:txBody>
      </p:sp>
      <p:sp>
        <p:nvSpPr>
          <p:cNvPr id="88" name="Rounded Rectangle 16">
            <a:extLst>
              <a:ext uri="{FF2B5EF4-FFF2-40B4-BE49-F238E27FC236}">
                <a16:creationId xmlns:a16="http://schemas.microsoft.com/office/drawing/2014/main" id="{4E1BE6EF-4609-A7D3-EE3C-60F14822A5AA}"/>
              </a:ext>
            </a:extLst>
          </p:cNvPr>
          <p:cNvSpPr/>
          <p:nvPr/>
        </p:nvSpPr>
        <p:spPr>
          <a:xfrm>
            <a:off x="50292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 name="TextBox 17">
            <a:extLst>
              <a:ext uri="{FF2B5EF4-FFF2-40B4-BE49-F238E27FC236}">
                <a16:creationId xmlns:a16="http://schemas.microsoft.com/office/drawing/2014/main" id="{1C80F775-06F1-0E43-9A43-44932A372595}"/>
              </a:ext>
            </a:extLst>
          </p:cNvPr>
          <p:cNvSpPr txBox="1"/>
          <p:nvPr/>
        </p:nvSpPr>
        <p:spPr>
          <a:xfrm>
            <a:off x="59436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ROUTING</a:t>
            </a:r>
          </a:p>
        </p:txBody>
      </p:sp>
      <p:sp>
        <p:nvSpPr>
          <p:cNvPr id="92" name="TextBox 18">
            <a:extLst>
              <a:ext uri="{FF2B5EF4-FFF2-40B4-BE49-F238E27FC236}">
                <a16:creationId xmlns:a16="http://schemas.microsoft.com/office/drawing/2014/main" id="{8FA67BFA-58AF-8704-01D6-6F22F403E11E}"/>
              </a:ext>
            </a:extLst>
          </p:cNvPr>
          <p:cNvSpPr txBox="1"/>
          <p:nvPr/>
        </p:nvSpPr>
        <p:spPr>
          <a:xfrm>
            <a:off x="594360" y="3611880"/>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Value Stream · OPCO · Sponsor</a:t>
            </a:r>
          </a:p>
        </p:txBody>
      </p:sp>
      <p:sp>
        <p:nvSpPr>
          <p:cNvPr id="93" name="Rounded Rectangle 19">
            <a:extLst>
              <a:ext uri="{FF2B5EF4-FFF2-40B4-BE49-F238E27FC236}">
                <a16:creationId xmlns:a16="http://schemas.microsoft.com/office/drawing/2014/main" id="{1BDEE73C-B5E7-8FC3-AC53-16A5493E8710}"/>
              </a:ext>
            </a:extLst>
          </p:cNvPr>
          <p:cNvSpPr/>
          <p:nvPr/>
        </p:nvSpPr>
        <p:spPr>
          <a:xfrm>
            <a:off x="50292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4" name="TextBox 20">
            <a:extLst>
              <a:ext uri="{FF2B5EF4-FFF2-40B4-BE49-F238E27FC236}">
                <a16:creationId xmlns:a16="http://schemas.microsoft.com/office/drawing/2014/main" id="{BC5BF2D9-820F-D640-75CB-AD08F861068D}"/>
              </a:ext>
            </a:extLst>
          </p:cNvPr>
          <p:cNvSpPr txBox="1"/>
          <p:nvPr/>
        </p:nvSpPr>
        <p:spPr>
          <a:xfrm>
            <a:off x="59436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FLAGS</a:t>
            </a:r>
          </a:p>
        </p:txBody>
      </p:sp>
      <p:sp>
        <p:nvSpPr>
          <p:cNvPr id="95" name="TextBox 21">
            <a:extLst>
              <a:ext uri="{FF2B5EF4-FFF2-40B4-BE49-F238E27FC236}">
                <a16:creationId xmlns:a16="http://schemas.microsoft.com/office/drawing/2014/main" id="{A1E6D56A-F6C7-EE5C-F6E7-4469C0BE7D6F}"/>
              </a:ext>
            </a:extLst>
          </p:cNvPr>
          <p:cNvSpPr txBox="1"/>
          <p:nvPr/>
        </p:nvSpPr>
        <p:spPr>
          <a:xfrm>
            <a:off x="594360" y="4498848"/>
            <a:ext cx="2331720" cy="174851"/>
          </a:xfrm>
          <a:prstGeom prst="rect">
            <a:avLst/>
          </a:prstGeom>
          <a:noFill/>
        </p:spPr>
        <p:txBody>
          <a:bodyPr wrap="square" lIns="36000" tIns="18000" rIns="36000" bIns="18000" anchor="t">
            <a:spAutoFit/>
          </a:bodyPr>
          <a:lstStyle>
            <a:defPPr>
              <a:defRPr lang="es-MX"/>
            </a:defPPr>
            <a:lvl1pPr>
              <a:defRPr sz="900">
                <a:solidFill>
                  <a:srgbClr val="C00000"/>
                </a:solidFill>
                <a:latin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err="1">
                <a:ln>
                  <a:noFill/>
                </a:ln>
                <a:solidFill>
                  <a:srgbClr val="2C3E50"/>
                </a:solidFill>
                <a:effectLst/>
                <a:uLnTx/>
                <a:uFillTx/>
                <a:latin typeface="Arial"/>
                <a:ea typeface="+mn-ea"/>
                <a:cs typeface="+mn-cs"/>
              </a:rPr>
              <a:t>Customer</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Impact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Tier</a:t>
            </a:r>
            <a:r>
              <a:rPr kumimoji="0" lang="pt-BR" sz="900" b="0" i="0" u="none" strike="noStrike" kern="1200" cap="none" spc="0" normalizeH="0" baseline="0" noProof="0">
                <a:ln>
                  <a:noFill/>
                </a:ln>
                <a:solidFill>
                  <a:srgbClr val="2C3E50"/>
                </a:solidFill>
                <a:effectLst/>
                <a:uLnTx/>
                <a:uFillTx/>
                <a:latin typeface="Arial"/>
                <a:ea typeface="+mn-ea"/>
                <a:cs typeface="+mn-cs"/>
              </a:rPr>
              <a:t> (P1–P4 </a:t>
            </a:r>
            <a:r>
              <a:rPr kumimoji="0" lang="pt-BR" sz="900" b="0" i="0" u="none" strike="noStrike" kern="1200" cap="none" spc="0" normalizeH="0" baseline="0" noProof="0" err="1">
                <a:ln>
                  <a:noFill/>
                </a:ln>
                <a:solidFill>
                  <a:srgbClr val="2C3E50"/>
                </a:solidFill>
                <a:effectLst/>
                <a:uLnTx/>
                <a:uFillTx/>
                <a:latin typeface="Arial"/>
                <a:ea typeface="+mn-ea"/>
                <a:cs typeface="+mn-cs"/>
              </a:rPr>
              <a:t>if</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known</a:t>
            </a:r>
            <a:r>
              <a:rPr kumimoji="0" lang="pt-BR" sz="900" b="0" i="0" u="none" strike="noStrike" kern="1200" cap="none" spc="0" normalizeH="0" baseline="0" noProof="0">
                <a:ln>
                  <a:noFill/>
                </a:ln>
                <a:solidFill>
                  <a:srgbClr val="2C3E50"/>
                </a:solidFill>
                <a:effectLst/>
                <a:uLnTx/>
                <a:uFillTx/>
                <a:latin typeface="Arial"/>
                <a:ea typeface="+mn-ea"/>
                <a:cs typeface="+mn-cs"/>
              </a:rPr>
              <a:t>)</a:t>
            </a:r>
          </a:p>
        </p:txBody>
      </p:sp>
      <p:sp>
        <p:nvSpPr>
          <p:cNvPr id="96" name="Rounded Rectangle 23">
            <a:extLst>
              <a:ext uri="{FF2B5EF4-FFF2-40B4-BE49-F238E27FC236}">
                <a16:creationId xmlns:a16="http://schemas.microsoft.com/office/drawing/2014/main" id="{5A78D785-F64D-4F54-F36E-EB1283C3F606}"/>
              </a:ext>
            </a:extLst>
          </p:cNvPr>
          <p:cNvSpPr/>
          <p:nvPr/>
        </p:nvSpPr>
        <p:spPr>
          <a:xfrm>
            <a:off x="3246120" y="1097280"/>
            <a:ext cx="2788920" cy="96012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7" name="TextBox 24">
            <a:extLst>
              <a:ext uri="{FF2B5EF4-FFF2-40B4-BE49-F238E27FC236}">
                <a16:creationId xmlns:a16="http://schemas.microsoft.com/office/drawing/2014/main" id="{935C9383-8B74-9C41-4A68-EBCEE52B5B90}"/>
              </a:ext>
            </a:extLst>
          </p:cNvPr>
          <p:cNvSpPr txBox="1"/>
          <p:nvPr/>
        </p:nvSpPr>
        <p:spPr>
          <a:xfrm>
            <a:off x="338328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REVIEWING</a:t>
            </a:r>
          </a:p>
        </p:txBody>
      </p:sp>
      <p:sp>
        <p:nvSpPr>
          <p:cNvPr id="98" name="TextBox 25">
            <a:extLst>
              <a:ext uri="{FF2B5EF4-FFF2-40B4-BE49-F238E27FC236}">
                <a16:creationId xmlns:a16="http://schemas.microsoft.com/office/drawing/2014/main" id="{4456C939-B2A9-46AE-E664-020A707FE6FB}"/>
              </a:ext>
            </a:extLst>
          </p:cNvPr>
          <p:cNvSpPr txBox="1"/>
          <p:nvPr/>
        </p:nvSpPr>
        <p:spPr>
          <a:xfrm>
            <a:off x="338328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99" name="TextBox 26">
            <a:extLst>
              <a:ext uri="{FF2B5EF4-FFF2-40B4-BE49-F238E27FC236}">
                <a16:creationId xmlns:a16="http://schemas.microsoft.com/office/drawing/2014/main" id="{6A15403E-9C7C-7B21-EF56-3734CFF9AD3F}"/>
              </a:ext>
            </a:extLst>
          </p:cNvPr>
          <p:cNvSpPr txBox="1"/>
          <p:nvPr/>
        </p:nvSpPr>
        <p:spPr>
          <a:xfrm>
            <a:off x="338328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P</a:t>
            </a:r>
            <a:r>
              <a:rPr kumimoji="0" lang="es-MX" sz="1000" b="1" i="0" u="none" strike="noStrike" kern="1200" cap="none" spc="0" normalizeH="0" baseline="0" noProof="0" err="1">
                <a:ln>
                  <a:noFill/>
                </a:ln>
                <a:solidFill>
                  <a:srgbClr val="FFFFFF"/>
                </a:solidFill>
                <a:effectLst/>
                <a:uLnTx/>
                <a:uFillTx/>
                <a:latin typeface="Arial"/>
                <a:ea typeface="+mn-ea"/>
                <a:cs typeface="+mn-cs"/>
              </a:rPr>
              <a:t>roduct</a:t>
            </a:r>
            <a:r>
              <a:rPr kumimoji="0" lang="es-MX" sz="1000" b="1" i="0" u="none" strike="noStrike" kern="1200" cap="none" spc="0" normalizeH="0" baseline="0" noProof="0">
                <a:ln>
                  <a:noFill/>
                </a:ln>
                <a:solidFill>
                  <a:srgbClr val="FFFFFF"/>
                </a:solidFill>
                <a:effectLst/>
                <a:uLnTx/>
                <a:uFillTx/>
                <a:latin typeface="Arial"/>
                <a:ea typeface="+mn-ea"/>
                <a:cs typeface="+mn-cs"/>
              </a:rPr>
              <a:t> </a:t>
            </a:r>
            <a:r>
              <a:rPr kumimoji="0" sz="1000" b="1" i="0" u="none" strike="noStrike" kern="1200" cap="none" spc="0" normalizeH="0" baseline="0" noProof="0">
                <a:ln>
                  <a:noFill/>
                </a:ln>
                <a:solidFill>
                  <a:srgbClr val="FFFFFF"/>
                </a:solidFill>
                <a:effectLst/>
                <a:uLnTx/>
                <a:uFillTx/>
                <a:latin typeface="Arial"/>
                <a:ea typeface="+mn-ea"/>
                <a:cs typeface="+mn-cs"/>
              </a:rPr>
              <a:t>M</a:t>
            </a:r>
            <a:r>
              <a:rPr kumimoji="0" lang="es-MX" sz="1000" b="1" i="0" u="none" strike="noStrike" kern="1200" cap="none" spc="0" normalizeH="0" baseline="0" noProof="0" err="1">
                <a:ln>
                  <a:noFill/>
                </a:ln>
                <a:solidFill>
                  <a:srgbClr val="FFFFFF"/>
                </a:solidFill>
                <a:effectLst/>
                <a:uLnTx/>
                <a:uFillTx/>
                <a:latin typeface="Arial"/>
                <a:ea typeface="+mn-ea"/>
                <a:cs typeface="+mn-cs"/>
              </a:rPr>
              <a:t>anager</a:t>
            </a:r>
            <a:r>
              <a:rPr kumimoji="0" lang="es-MX" sz="1000" b="1" i="0" u="none" strike="noStrike" kern="1200" cap="none" spc="0" normalizeH="0" baseline="0" noProof="0">
                <a:ln>
                  <a:noFill/>
                </a:ln>
                <a:solidFill>
                  <a:srgbClr val="FFFFFF"/>
                </a:solidFill>
                <a:effectLst/>
                <a:uLnTx/>
                <a:uFillTx/>
                <a:latin typeface="Arial"/>
                <a:ea typeface="+mn-ea"/>
                <a:cs typeface="+mn-cs"/>
              </a:rPr>
              <a:t> </a:t>
            </a:r>
            <a:r>
              <a:rPr kumimoji="0" sz="1000" b="1" i="0" u="none" strike="noStrike" kern="1200" cap="none" spc="0" normalizeH="0" baseline="0" noProof="0">
                <a:ln>
                  <a:noFill/>
                </a:ln>
                <a:solidFill>
                  <a:srgbClr val="FFFFFF"/>
                </a:solidFill>
                <a:effectLst/>
                <a:uLnTx/>
                <a:uFillTx/>
                <a:latin typeface="Arial"/>
                <a:ea typeface="+mn-ea"/>
                <a:cs typeface="+mn-cs"/>
              </a:rPr>
              <a:t>(per VS) </a:t>
            </a:r>
          </a:p>
        </p:txBody>
      </p:sp>
      <p:sp>
        <p:nvSpPr>
          <p:cNvPr id="100" name="TextBox 27">
            <a:extLst>
              <a:ext uri="{FF2B5EF4-FFF2-40B4-BE49-F238E27FC236}">
                <a16:creationId xmlns:a16="http://schemas.microsoft.com/office/drawing/2014/main" id="{F968D03D-4ED4-A742-6441-56CE7EFF01B0}"/>
              </a:ext>
            </a:extLst>
          </p:cNvPr>
          <p:cNvSpPr txBox="1"/>
          <p:nvPr/>
        </p:nvSpPr>
        <p:spPr>
          <a:xfrm>
            <a:off x="338328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SLA: 2 weeks · post-Gate 1</a:t>
            </a:r>
          </a:p>
        </p:txBody>
      </p:sp>
      <p:sp>
        <p:nvSpPr>
          <p:cNvPr id="101" name="TextBox 28">
            <a:extLst>
              <a:ext uri="{FF2B5EF4-FFF2-40B4-BE49-F238E27FC236}">
                <a16:creationId xmlns:a16="http://schemas.microsoft.com/office/drawing/2014/main" id="{960EFCEF-3817-F13F-C900-4A8152F13E0F}"/>
              </a:ext>
            </a:extLst>
          </p:cNvPr>
          <p:cNvSpPr txBox="1"/>
          <p:nvPr/>
        </p:nvSpPr>
        <p:spPr>
          <a:xfrm>
            <a:off x="338328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02" name="Rounded Rectangle 29">
            <a:extLst>
              <a:ext uri="{FF2B5EF4-FFF2-40B4-BE49-F238E27FC236}">
                <a16:creationId xmlns:a16="http://schemas.microsoft.com/office/drawing/2014/main" id="{8D56F2AE-05A6-8E69-2162-ED97A186D3E8}"/>
              </a:ext>
            </a:extLst>
          </p:cNvPr>
          <p:cNvSpPr/>
          <p:nvPr/>
        </p:nvSpPr>
        <p:spPr>
          <a:xfrm>
            <a:off x="338328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 name="TextBox 30">
            <a:extLst>
              <a:ext uri="{FF2B5EF4-FFF2-40B4-BE49-F238E27FC236}">
                <a16:creationId xmlns:a16="http://schemas.microsoft.com/office/drawing/2014/main" id="{662A2800-C5BA-B760-ABCB-AF19BF99F434}"/>
              </a:ext>
            </a:extLst>
          </p:cNvPr>
          <p:cNvSpPr txBox="1"/>
          <p:nvPr/>
        </p:nvSpPr>
        <p:spPr>
          <a:xfrm>
            <a:off x="347472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CLASSIFICATION</a:t>
            </a:r>
          </a:p>
        </p:txBody>
      </p:sp>
      <p:sp>
        <p:nvSpPr>
          <p:cNvPr id="104" name="TextBox 31">
            <a:extLst>
              <a:ext uri="{FF2B5EF4-FFF2-40B4-BE49-F238E27FC236}">
                <a16:creationId xmlns:a16="http://schemas.microsoft.com/office/drawing/2014/main" id="{FDE2E9EE-0260-3E1B-70E8-F687A81A6C15}"/>
              </a:ext>
            </a:extLst>
          </p:cNvPr>
          <p:cNvSpPr txBox="1"/>
          <p:nvPr/>
        </p:nvSpPr>
        <p:spPr>
          <a:xfrm>
            <a:off x="3474720" y="2724912"/>
            <a:ext cx="233172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a:ea typeface="+mn-ea"/>
                <a:cs typeface="+mn-cs"/>
              </a:rPr>
              <a:t>Type (Production Support - Regulatory - Non - Regulatory)</a:t>
            </a:r>
          </a:p>
        </p:txBody>
      </p:sp>
      <p:sp>
        <p:nvSpPr>
          <p:cNvPr id="105" name="Rounded Rectangle 32">
            <a:extLst>
              <a:ext uri="{FF2B5EF4-FFF2-40B4-BE49-F238E27FC236}">
                <a16:creationId xmlns:a16="http://schemas.microsoft.com/office/drawing/2014/main" id="{80327E1E-7FBD-9DE4-748B-2485A3F930E8}"/>
              </a:ext>
            </a:extLst>
          </p:cNvPr>
          <p:cNvSpPr/>
          <p:nvPr/>
        </p:nvSpPr>
        <p:spPr>
          <a:xfrm>
            <a:off x="338328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6" name="TextBox 33">
            <a:extLst>
              <a:ext uri="{FF2B5EF4-FFF2-40B4-BE49-F238E27FC236}">
                <a16:creationId xmlns:a16="http://schemas.microsoft.com/office/drawing/2014/main" id="{7ADC11D7-31C2-C7E0-2D6F-39283E6E960C}"/>
              </a:ext>
            </a:extLst>
          </p:cNvPr>
          <p:cNvSpPr txBox="1"/>
          <p:nvPr/>
        </p:nvSpPr>
        <p:spPr>
          <a:xfrm>
            <a:off x="347472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SIZE · INITIAL</a:t>
            </a:r>
          </a:p>
        </p:txBody>
      </p:sp>
      <p:sp>
        <p:nvSpPr>
          <p:cNvPr id="107" name="TextBox 34">
            <a:extLst>
              <a:ext uri="{FF2B5EF4-FFF2-40B4-BE49-F238E27FC236}">
                <a16:creationId xmlns:a16="http://schemas.microsoft.com/office/drawing/2014/main" id="{0EC49AC8-E26A-72AC-76D8-E162F79033D2}"/>
              </a:ext>
            </a:extLst>
          </p:cNvPr>
          <p:cNvSpPr txBox="1"/>
          <p:nvPr/>
        </p:nvSpPr>
        <p:spPr>
          <a:xfrm>
            <a:off x="3474720" y="3611880"/>
            <a:ext cx="2331720" cy="4518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err="1">
                <a:ln>
                  <a:noFill/>
                </a:ln>
                <a:solidFill>
                  <a:srgbClr val="2C3E50"/>
                </a:solidFill>
                <a:effectLst/>
                <a:uLnTx/>
                <a:uFillTx/>
                <a:latin typeface="Arial"/>
                <a:ea typeface="+mn-ea"/>
                <a:cs typeface="+mn-cs"/>
              </a:rPr>
              <a:t>T-shirt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S</a:t>
            </a:r>
            <a:r>
              <a:rPr kumimoji="0" lang="pt-BR" sz="900" b="0" i="0" u="none" strike="noStrike" kern="1200" cap="none" spc="0" normalizeH="0" baseline="0" noProof="0">
                <a:ln>
                  <a:noFill/>
                </a:ln>
                <a:solidFill>
                  <a:srgbClr val="2C3E50"/>
                </a:solidFill>
                <a:effectLst/>
                <a:uLnTx/>
                <a:uFillTx/>
                <a:latin typeface="Arial"/>
                <a:ea typeface="+mn-ea"/>
                <a:cs typeface="+mn-cs"/>
              </a:rPr>
              <a:t> · M · L — </a:t>
            </a:r>
            <a:r>
              <a:rPr kumimoji="0" lang="pt-BR" sz="900" b="0" i="0" u="none" strike="noStrike" kern="1200" cap="none" spc="0" normalizeH="0" baseline="0" noProof="0" err="1">
                <a:ln>
                  <a:noFill/>
                </a:ln>
                <a:solidFill>
                  <a:srgbClr val="2C3E50"/>
                </a:solidFill>
                <a:effectLst/>
                <a:uLnTx/>
                <a:uFillTx/>
                <a:latin typeface="Arial"/>
                <a:ea typeface="+mn-ea"/>
                <a:cs typeface="+mn-cs"/>
              </a:rPr>
              <a:t>best-guess</a:t>
            </a:r>
            <a:r>
              <a:rPr kumimoji="0" lang="pt-BR" sz="900" b="0" i="0" u="none" strike="noStrike" kern="1200" cap="none" spc="0" normalizeH="0" baseline="0" noProof="0">
                <a:ln>
                  <a:noFill/>
                </a:ln>
                <a:solidFill>
                  <a:srgbClr val="2C3E50"/>
                </a:solidFill>
                <a:effectLst/>
                <a:uLnTx/>
                <a:uFillTx/>
                <a:latin typeface="Arial"/>
                <a:ea typeface="+mn-ea"/>
                <a:cs typeface="+mn-cs"/>
              </a:rPr>
              <a:t>  (XL → PPM </a:t>
            </a:r>
            <a:r>
              <a:rPr kumimoji="0" lang="pt-BR" sz="900" b="0" i="0" u="none" strike="noStrike" kern="1200" cap="none" spc="0" normalizeH="0" baseline="0" noProof="0" err="1">
                <a:ln>
                  <a:noFill/>
                </a:ln>
                <a:solidFill>
                  <a:srgbClr val="2C3E50"/>
                </a:solidFill>
                <a:effectLst/>
                <a:uLnTx/>
                <a:uFillTx/>
                <a:latin typeface="Arial"/>
                <a:ea typeface="+mn-ea"/>
                <a:cs typeface="+mn-cs"/>
              </a:rPr>
              <a:t>Now</a:t>
            </a:r>
            <a:r>
              <a:rPr kumimoji="0" lang="pt-BR" sz="900" b="0" i="0" u="none" strike="noStrike" kern="1200" cap="none" spc="0" normalizeH="0" baseline="0" noProof="0">
                <a:ln>
                  <a:noFill/>
                </a:ln>
                <a:solidFill>
                  <a:srgbClr val="2C3E5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2C3E50"/>
              </a:solidFill>
              <a:effectLst/>
              <a:uLnTx/>
              <a:uFillTx/>
              <a:latin typeface="Arial"/>
              <a:ea typeface="+mn-ea"/>
              <a:cs typeface="+mn-cs"/>
            </a:endParaRPr>
          </a:p>
        </p:txBody>
      </p:sp>
      <p:sp>
        <p:nvSpPr>
          <p:cNvPr id="108" name="Rounded Rectangle 35">
            <a:extLst>
              <a:ext uri="{FF2B5EF4-FFF2-40B4-BE49-F238E27FC236}">
                <a16:creationId xmlns:a16="http://schemas.microsoft.com/office/drawing/2014/main" id="{122FA9AC-2CFB-1F91-FDDE-BE91ACCF7317}"/>
              </a:ext>
            </a:extLst>
          </p:cNvPr>
          <p:cNvSpPr/>
          <p:nvPr/>
        </p:nvSpPr>
        <p:spPr>
          <a:xfrm>
            <a:off x="338328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9" name="TextBox 36">
            <a:extLst>
              <a:ext uri="{FF2B5EF4-FFF2-40B4-BE49-F238E27FC236}">
                <a16:creationId xmlns:a16="http://schemas.microsoft.com/office/drawing/2014/main" id="{43ED0E36-CC37-12B3-8718-A4BFBA9A9949}"/>
              </a:ext>
            </a:extLst>
          </p:cNvPr>
          <p:cNvSpPr txBox="1"/>
          <p:nvPr/>
        </p:nvSpPr>
        <p:spPr>
          <a:xfrm>
            <a:off x="347472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CoS · INITIAL</a:t>
            </a:r>
          </a:p>
        </p:txBody>
      </p:sp>
      <p:sp>
        <p:nvSpPr>
          <p:cNvPr id="110" name="TextBox 37">
            <a:extLst>
              <a:ext uri="{FF2B5EF4-FFF2-40B4-BE49-F238E27FC236}">
                <a16:creationId xmlns:a16="http://schemas.microsoft.com/office/drawing/2014/main" id="{E581BDE4-728A-B1AB-AFA7-E926C56FE26F}"/>
              </a:ext>
            </a:extLst>
          </p:cNvPr>
          <p:cNvSpPr txBox="1"/>
          <p:nvPr/>
        </p:nvSpPr>
        <p:spPr>
          <a:xfrm>
            <a:off x="3474720" y="449884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Standard / Fixed-Date / Expedite / Intangible — best-guess</a:t>
            </a:r>
          </a:p>
        </p:txBody>
      </p:sp>
      <p:sp>
        <p:nvSpPr>
          <p:cNvPr id="114" name="Rounded Rectangle 42">
            <a:extLst>
              <a:ext uri="{FF2B5EF4-FFF2-40B4-BE49-F238E27FC236}">
                <a16:creationId xmlns:a16="http://schemas.microsoft.com/office/drawing/2014/main" id="{BE254EEE-78D2-2027-C15B-060DCA8B2B8D}"/>
              </a:ext>
            </a:extLst>
          </p:cNvPr>
          <p:cNvSpPr/>
          <p:nvPr/>
        </p:nvSpPr>
        <p:spPr>
          <a:xfrm>
            <a:off x="6126480" y="1097280"/>
            <a:ext cx="2788920" cy="960120"/>
          </a:xfrm>
          <a:prstGeom prst="roundRect">
            <a:avLst>
              <a:gd name="adj" fmla="val 3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5" name="TextBox 43">
            <a:extLst>
              <a:ext uri="{FF2B5EF4-FFF2-40B4-BE49-F238E27FC236}">
                <a16:creationId xmlns:a16="http://schemas.microsoft.com/office/drawing/2014/main" id="{633325C7-592D-0D3C-CB70-5FC49DDBB00B}"/>
              </a:ext>
            </a:extLst>
          </p:cNvPr>
          <p:cNvSpPr txBox="1"/>
          <p:nvPr/>
        </p:nvSpPr>
        <p:spPr>
          <a:xfrm>
            <a:off x="626364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ANALYZING</a:t>
            </a:r>
          </a:p>
        </p:txBody>
      </p:sp>
      <p:sp>
        <p:nvSpPr>
          <p:cNvPr id="116" name="TextBox 44">
            <a:extLst>
              <a:ext uri="{FF2B5EF4-FFF2-40B4-BE49-F238E27FC236}">
                <a16:creationId xmlns:a16="http://schemas.microsoft.com/office/drawing/2014/main" id="{3ACCCE0F-BBE2-80CC-F6EF-E24FF29ED933}"/>
              </a:ext>
            </a:extLst>
          </p:cNvPr>
          <p:cNvSpPr txBox="1"/>
          <p:nvPr/>
        </p:nvSpPr>
        <p:spPr>
          <a:xfrm>
            <a:off x="626364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117" name="TextBox 45">
            <a:extLst>
              <a:ext uri="{FF2B5EF4-FFF2-40B4-BE49-F238E27FC236}">
                <a16:creationId xmlns:a16="http://schemas.microsoft.com/office/drawing/2014/main" id="{C3BA2368-FFAB-BA03-E4EB-3E48420220D1}"/>
              </a:ext>
            </a:extLst>
          </p:cNvPr>
          <p:cNvSpPr txBox="1"/>
          <p:nvPr/>
        </p:nvSpPr>
        <p:spPr>
          <a:xfrm>
            <a:off x="626364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PM (per VS) + Architect</a:t>
            </a:r>
          </a:p>
        </p:txBody>
      </p:sp>
      <p:sp>
        <p:nvSpPr>
          <p:cNvPr id="118" name="TextBox 46">
            <a:extLst>
              <a:ext uri="{FF2B5EF4-FFF2-40B4-BE49-F238E27FC236}">
                <a16:creationId xmlns:a16="http://schemas.microsoft.com/office/drawing/2014/main" id="{91902F70-365A-DECD-F794-262FA1EDB02E}"/>
              </a:ext>
            </a:extLst>
          </p:cNvPr>
          <p:cNvSpPr txBox="1"/>
          <p:nvPr/>
        </p:nvSpPr>
        <p:spPr>
          <a:xfrm>
            <a:off x="626364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Pain Score auto-fires (A4)</a:t>
            </a:r>
          </a:p>
        </p:txBody>
      </p:sp>
      <p:sp>
        <p:nvSpPr>
          <p:cNvPr id="119" name="TextBox 47">
            <a:extLst>
              <a:ext uri="{FF2B5EF4-FFF2-40B4-BE49-F238E27FC236}">
                <a16:creationId xmlns:a16="http://schemas.microsoft.com/office/drawing/2014/main" id="{06782F4C-E758-A860-D0A7-E66E42896CC8}"/>
              </a:ext>
            </a:extLst>
          </p:cNvPr>
          <p:cNvSpPr txBox="1"/>
          <p:nvPr/>
        </p:nvSpPr>
        <p:spPr>
          <a:xfrm>
            <a:off x="626364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20" name="Rounded Rectangle 48">
            <a:extLst>
              <a:ext uri="{FF2B5EF4-FFF2-40B4-BE49-F238E27FC236}">
                <a16:creationId xmlns:a16="http://schemas.microsoft.com/office/drawing/2014/main" id="{FC413F9A-C4D7-DE11-3954-275E64C4DD8E}"/>
              </a:ext>
            </a:extLst>
          </p:cNvPr>
          <p:cNvSpPr/>
          <p:nvPr/>
        </p:nvSpPr>
        <p:spPr>
          <a:xfrm>
            <a:off x="626364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 name="TextBox 49">
            <a:extLst>
              <a:ext uri="{FF2B5EF4-FFF2-40B4-BE49-F238E27FC236}">
                <a16:creationId xmlns:a16="http://schemas.microsoft.com/office/drawing/2014/main" id="{1A74645B-A164-283A-A825-0C3B0E0D7FFC}"/>
              </a:ext>
            </a:extLst>
          </p:cNvPr>
          <p:cNvSpPr txBox="1"/>
          <p:nvPr/>
        </p:nvSpPr>
        <p:spPr>
          <a:xfrm>
            <a:off x="635508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SCORES (1–5)</a:t>
            </a:r>
          </a:p>
        </p:txBody>
      </p:sp>
      <p:sp>
        <p:nvSpPr>
          <p:cNvPr id="122" name="TextBox 50">
            <a:extLst>
              <a:ext uri="{FF2B5EF4-FFF2-40B4-BE49-F238E27FC236}">
                <a16:creationId xmlns:a16="http://schemas.microsoft.com/office/drawing/2014/main" id="{D1C07085-8212-351F-1D09-73258B0E4EB7}"/>
              </a:ext>
            </a:extLst>
          </p:cNvPr>
          <p:cNvSpPr txBox="1"/>
          <p:nvPr/>
        </p:nvSpPr>
        <p:spPr>
          <a:xfrm>
            <a:off x="6355080" y="2724912"/>
            <a:ext cx="2331720" cy="4518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ITBA</a:t>
            </a:r>
            <a:r>
              <a:rPr kumimoji="0" sz="900" b="0" i="0" u="none" strike="noStrike" kern="1200" cap="none" spc="0" normalizeH="0" baseline="0" noProof="0">
                <a:ln>
                  <a:noFill/>
                </a:ln>
                <a:solidFill>
                  <a:srgbClr val="2C3E50"/>
                </a:solidFill>
                <a:effectLst/>
                <a:uLnTx/>
                <a:uFillTx/>
                <a:latin typeface="Arial"/>
                <a:ea typeface="+mn-ea"/>
                <a:cs typeface="+mn-cs"/>
              </a:rPr>
              <a:t>: BV · UX · Safety · Effort   </a:t>
            </a:r>
            <a:endParaRPr kumimoji="0" lang="es-MX"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CS</a:t>
            </a:r>
            <a:r>
              <a:rPr kumimoji="0" sz="900" b="0" i="0" u="none" strike="noStrike" kern="1200" cap="none" spc="0" normalizeH="0" baseline="0" noProof="0">
                <a:ln>
                  <a:noFill/>
                </a:ln>
                <a:solidFill>
                  <a:srgbClr val="2C3E50"/>
                </a:solidFill>
                <a:effectLst/>
                <a:uLnTx/>
                <a:uFillTx/>
                <a:latin typeface="Arial"/>
                <a:ea typeface="+mn-ea"/>
                <a:cs typeface="+mn-cs"/>
              </a:rPr>
              <a:t>: BV · UX · Effort </a:t>
            </a:r>
          </a:p>
        </p:txBody>
      </p:sp>
      <p:sp>
        <p:nvSpPr>
          <p:cNvPr id="123" name="Rounded Rectangle 51">
            <a:extLst>
              <a:ext uri="{FF2B5EF4-FFF2-40B4-BE49-F238E27FC236}">
                <a16:creationId xmlns:a16="http://schemas.microsoft.com/office/drawing/2014/main" id="{49553706-E9F4-B194-09F5-D0344D46F29C}"/>
              </a:ext>
            </a:extLst>
          </p:cNvPr>
          <p:cNvSpPr/>
          <p:nvPr/>
        </p:nvSpPr>
        <p:spPr>
          <a:xfrm>
            <a:off x="626364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TextBox 52">
            <a:extLst>
              <a:ext uri="{FF2B5EF4-FFF2-40B4-BE49-F238E27FC236}">
                <a16:creationId xmlns:a16="http://schemas.microsoft.com/office/drawing/2014/main" id="{625312C7-136F-4231-A2CB-91C68D50E72D}"/>
              </a:ext>
            </a:extLst>
          </p:cNvPr>
          <p:cNvSpPr txBox="1"/>
          <p:nvPr/>
        </p:nvSpPr>
        <p:spPr>
          <a:xfrm>
            <a:off x="635508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PAIN SCORE · AUTO</a:t>
            </a:r>
          </a:p>
        </p:txBody>
      </p:sp>
      <p:sp>
        <p:nvSpPr>
          <p:cNvPr id="125" name="TextBox 53">
            <a:extLst>
              <a:ext uri="{FF2B5EF4-FFF2-40B4-BE49-F238E27FC236}">
                <a16:creationId xmlns:a16="http://schemas.microsoft.com/office/drawing/2014/main" id="{9C29712B-07F8-11B5-BF2E-FC968A06D5B5}"/>
              </a:ext>
            </a:extLst>
          </p:cNvPr>
          <p:cNvSpPr txBox="1"/>
          <p:nvPr/>
        </p:nvSpPr>
        <p:spPr>
          <a:xfrm>
            <a:off x="6355080" y="3611880"/>
            <a:ext cx="2331720" cy="590349"/>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ITBA</a:t>
            </a:r>
            <a:r>
              <a:rPr kumimoji="0" sz="900" b="0" i="0" u="none" strike="noStrike" kern="1200" cap="none" spc="0" normalizeH="0" baseline="0" noProof="0">
                <a:ln>
                  <a:noFill/>
                </a:ln>
                <a:solidFill>
                  <a:srgbClr val="2C3E50"/>
                </a:solidFill>
                <a:effectLst/>
                <a:uLnTx/>
                <a:uFillTx/>
                <a:latin typeface="Arial"/>
                <a:ea typeface="+mn-ea"/>
                <a:cs typeface="+mn-cs"/>
              </a:rPr>
              <a:t>: (</a:t>
            </a:r>
            <a:r>
              <a:rPr kumimoji="0" lang="en-US" sz="900" b="0" i="0" u="none" strike="noStrike" kern="1200" cap="none" spc="0" normalizeH="0" baseline="0" noProof="0">
                <a:ln>
                  <a:noFill/>
                </a:ln>
                <a:solidFill>
                  <a:srgbClr val="2C3E50"/>
                </a:solidFill>
                <a:effectLst/>
                <a:uLnTx/>
                <a:uFillTx/>
                <a:latin typeface="Arial"/>
                <a:ea typeface="+mn-ea"/>
                <a:cs typeface="+mn-cs"/>
              </a:rPr>
              <a:t>BV·OPCO </a:t>
            </a:r>
            <a:r>
              <a:rPr kumimoji="0" lang="en-US" sz="900" b="0" i="0" u="none" strike="noStrike" kern="1200" cap="none" spc="0" normalizeH="0" baseline="0" noProof="0" err="1">
                <a:ln>
                  <a:noFill/>
                </a:ln>
                <a:solidFill>
                  <a:srgbClr val="2C3E50"/>
                </a:solidFill>
                <a:effectLst/>
                <a:uLnTx/>
                <a:uFillTx/>
                <a:latin typeface="Arial"/>
                <a:ea typeface="+mn-ea"/>
                <a:cs typeface="+mn-cs"/>
              </a:rPr>
              <a:t>mult</a:t>
            </a:r>
            <a:r>
              <a:rPr kumimoji="0" sz="900" b="0" i="0" u="none" strike="noStrike" kern="1200" cap="none" spc="0" normalizeH="0" baseline="0" noProof="0" err="1">
                <a:ln>
                  <a:noFill/>
                </a:ln>
                <a:solidFill>
                  <a:srgbClr val="2C3E50"/>
                </a:solidFill>
                <a:effectLst/>
                <a:uLnTx/>
                <a:uFillTx/>
                <a:latin typeface="Arial"/>
                <a:ea typeface="+mn-ea"/>
                <a:cs typeface="+mn-cs"/>
              </a:rPr>
              <a:t>·w</a:t>
            </a:r>
            <a:r>
              <a:rPr kumimoji="0" sz="900" b="0" i="0" u="none" strike="noStrike" kern="1200" cap="none" spc="0" normalizeH="0" baseline="0" noProof="0">
                <a:ln>
                  <a:noFill/>
                </a:ln>
                <a:solidFill>
                  <a:srgbClr val="2C3E50"/>
                </a:solidFill>
                <a:effectLst/>
                <a:uLnTx/>
                <a:uFillTx/>
                <a:latin typeface="Arial"/>
                <a:ea typeface="+mn-ea"/>
                <a:cs typeface="+mn-cs"/>
              </a:rPr>
              <a:t>₁ + </a:t>
            </a:r>
            <a:r>
              <a:rPr kumimoji="0" sz="900" b="0" i="0" u="none" strike="noStrike" kern="1200" cap="none" spc="0" normalizeH="0" baseline="0" noProof="0" err="1">
                <a:ln>
                  <a:noFill/>
                </a:ln>
                <a:solidFill>
                  <a:srgbClr val="2C3E50"/>
                </a:solidFill>
                <a:effectLst/>
                <a:uLnTx/>
                <a:uFillTx/>
                <a:latin typeface="Arial"/>
                <a:ea typeface="+mn-ea"/>
                <a:cs typeface="+mn-cs"/>
              </a:rPr>
              <a:t>UX·w</a:t>
            </a:r>
            <a:r>
              <a:rPr kumimoji="0" sz="900" b="0" i="0" u="none" strike="noStrike" kern="1200" cap="none" spc="0" normalizeH="0" baseline="0" noProof="0">
                <a:ln>
                  <a:noFill/>
                </a:ln>
                <a:solidFill>
                  <a:srgbClr val="2C3E50"/>
                </a:solidFill>
                <a:effectLst/>
                <a:uLnTx/>
                <a:uFillTx/>
                <a:latin typeface="Arial"/>
                <a:ea typeface="+mn-ea"/>
                <a:cs typeface="+mn-cs"/>
              </a:rPr>
              <a:t>₂ + </a:t>
            </a:r>
            <a:r>
              <a:rPr kumimoji="0" sz="900" b="0" i="0" u="none" strike="noStrike" kern="1200" cap="none" spc="0" normalizeH="0" baseline="0" noProof="0" err="1">
                <a:ln>
                  <a:noFill/>
                </a:ln>
                <a:solidFill>
                  <a:srgbClr val="2C3E50"/>
                </a:solidFill>
                <a:effectLst/>
                <a:uLnTx/>
                <a:uFillTx/>
                <a:latin typeface="Arial"/>
                <a:ea typeface="+mn-ea"/>
                <a:cs typeface="+mn-cs"/>
              </a:rPr>
              <a:t>Safety·w</a:t>
            </a:r>
            <a:r>
              <a:rPr kumimoji="0" sz="900" b="0" i="0" u="none" strike="noStrike" kern="1200" cap="none" spc="0" normalizeH="0" baseline="0" noProof="0">
                <a:ln>
                  <a:noFill/>
                </a:ln>
                <a:solidFill>
                  <a:srgbClr val="2C3E50"/>
                </a:solidFill>
                <a:effectLst/>
                <a:uLnTx/>
                <a:uFillTx/>
                <a:latin typeface="Arial"/>
                <a:ea typeface="+mn-ea"/>
                <a:cs typeface="+mn-cs"/>
              </a:rPr>
              <a:t>₃) / Effort   </a:t>
            </a: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CS</a:t>
            </a:r>
            <a:r>
              <a:rPr kumimoji="0" sz="900" b="0" i="0" u="none" strike="noStrike" kern="1200" cap="none" spc="0" normalizeH="0" baseline="0" noProof="0">
                <a:ln>
                  <a:noFill/>
                </a:ln>
                <a:solidFill>
                  <a:srgbClr val="2C3E50"/>
                </a:solidFill>
                <a:effectLst/>
                <a:uLnTx/>
                <a:uFillTx/>
                <a:latin typeface="Arial"/>
                <a:ea typeface="+mn-ea"/>
                <a:cs typeface="+mn-cs"/>
              </a:rPr>
              <a:t>: (</a:t>
            </a:r>
            <a:r>
              <a:rPr kumimoji="0" lang="es-MX" sz="900" b="0" i="0" u="none" strike="noStrike" kern="1200" cap="none" spc="0" normalizeH="0" baseline="0" noProof="0" err="1">
                <a:ln>
                  <a:noFill/>
                </a:ln>
                <a:solidFill>
                  <a:srgbClr val="2C3E50"/>
                </a:solidFill>
                <a:effectLst/>
                <a:uLnTx/>
                <a:uFillTx/>
                <a:latin typeface="Arial"/>
                <a:ea typeface="+mn-ea"/>
                <a:cs typeface="+mn-cs"/>
              </a:rPr>
              <a:t>BV·OPCOmult</a:t>
            </a:r>
            <a:r>
              <a:rPr kumimoji="0" sz="900" b="0" i="0" u="none" strike="noStrike" kern="1200" cap="none" spc="0" normalizeH="0" baseline="0" noProof="0">
                <a:ln>
                  <a:noFill/>
                </a:ln>
                <a:solidFill>
                  <a:srgbClr val="2C3E50"/>
                </a:solidFill>
                <a:effectLst/>
                <a:uLnTx/>
                <a:uFillTx/>
                <a:latin typeface="Arial"/>
                <a:ea typeface="+mn-ea"/>
                <a:cs typeface="+mn-cs"/>
              </a:rPr>
              <a: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w</a:t>
            </a:r>
            <a:r>
              <a:rPr kumimoji="0" lang="pt-BR" sz="900" b="0" i="0" u="none" strike="noStrike" kern="1200" cap="none" spc="0" normalizeH="0" baseline="0" noProof="0">
                <a:ln>
                  <a:noFill/>
                </a:ln>
                <a:solidFill>
                  <a:srgbClr val="2C3E50"/>
                </a:solidFill>
                <a:effectLst/>
                <a:uLnTx/>
                <a:uFillTx/>
                <a:latin typeface="Arial"/>
                <a:ea typeface="+mn-ea"/>
                <a:cs typeface="+mn-cs"/>
              </a:rPr>
              <a:t>₁ </a:t>
            </a:r>
            <a:r>
              <a:rPr kumimoji="0" sz="900" b="0" i="0" u="none" strike="noStrike" kern="1200" cap="none" spc="0" normalizeH="0" baseline="0" noProof="0">
                <a:ln>
                  <a:noFill/>
                </a:ln>
                <a:solidFill>
                  <a:srgbClr val="2C3E50"/>
                </a:solidFill>
                <a:effectLst/>
                <a:uLnTx/>
                <a:uFillTx/>
                <a:latin typeface="Arial"/>
                <a:ea typeface="+mn-ea"/>
                <a:cs typeface="+mn-cs"/>
              </a:rPr>
              <a:t>+ UX·</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w</a:t>
            </a:r>
            <a:r>
              <a:rPr kumimoji="0" lang="pt-BR" sz="900" b="0" i="0" u="none" strike="noStrike" kern="1200" cap="none" spc="0" normalizeH="0" baseline="0" noProof="0">
                <a:ln>
                  <a:noFill/>
                </a:ln>
                <a:solidFill>
                  <a:srgbClr val="2C3E50"/>
                </a:solidFill>
                <a:effectLst/>
                <a:uLnTx/>
                <a:uFillTx/>
                <a:latin typeface="Arial"/>
                <a:ea typeface="+mn-ea"/>
                <a:cs typeface="+mn-cs"/>
              </a:rPr>
              <a:t>₂ </a:t>
            </a:r>
            <a:r>
              <a:rPr kumimoji="0" sz="900" b="0" i="0" u="none" strike="noStrike" kern="1200" cap="none" spc="0" normalizeH="0" baseline="0" noProof="0">
                <a:ln>
                  <a:noFill/>
                </a:ln>
                <a:solidFill>
                  <a:srgbClr val="2C3E50"/>
                </a:solidFill>
                <a:effectLst/>
                <a:uLnTx/>
                <a:uFillTx/>
                <a:latin typeface="Arial"/>
                <a:ea typeface="+mn-ea"/>
                <a:cs typeface="+mn-cs"/>
              </a:rPr>
              <a:t>) / Effort</a:t>
            </a:r>
            <a:endParaRPr kumimoji="0" lang="es-MX" sz="900" b="0" i="0" u="none" strike="noStrike" kern="1200" cap="none" spc="0" normalizeH="0" baseline="0" noProof="0">
              <a:ln>
                <a:noFill/>
              </a:ln>
              <a:solidFill>
                <a:srgbClr val="2C3E50"/>
              </a:solidFill>
              <a:effectLst/>
              <a:uLnTx/>
              <a:uFillTx/>
              <a:latin typeface="Arial"/>
              <a:ea typeface="+mn-ea"/>
              <a:cs typeface="+mn-cs"/>
            </a:endParaRPr>
          </a:p>
        </p:txBody>
      </p:sp>
      <p:sp>
        <p:nvSpPr>
          <p:cNvPr id="126" name="Rounded Rectangle 54">
            <a:extLst>
              <a:ext uri="{FF2B5EF4-FFF2-40B4-BE49-F238E27FC236}">
                <a16:creationId xmlns:a16="http://schemas.microsoft.com/office/drawing/2014/main" id="{E7AC41DC-FC9C-A1D5-F527-09A8F485D3F4}"/>
              </a:ext>
            </a:extLst>
          </p:cNvPr>
          <p:cNvSpPr/>
          <p:nvPr/>
        </p:nvSpPr>
        <p:spPr>
          <a:xfrm>
            <a:off x="626364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TextBox 55">
            <a:extLst>
              <a:ext uri="{FF2B5EF4-FFF2-40B4-BE49-F238E27FC236}">
                <a16:creationId xmlns:a16="http://schemas.microsoft.com/office/drawing/2014/main" id="{23C7EFE5-3250-EFBF-E3CB-799F6BA2A26D}"/>
              </a:ext>
            </a:extLst>
          </p:cNvPr>
          <p:cNvSpPr txBox="1"/>
          <p:nvPr/>
        </p:nvSpPr>
        <p:spPr>
          <a:xfrm>
            <a:off x="635508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FINAL SIZE / </a:t>
            </a:r>
            <a:r>
              <a:rPr kumimoji="0" sz="800" b="1" i="0" u="none" strike="noStrike" kern="1200" cap="none" spc="0" normalizeH="0" baseline="0" noProof="0" err="1">
                <a:ln>
                  <a:noFill/>
                </a:ln>
                <a:solidFill>
                  <a:srgbClr val="006B3F"/>
                </a:solidFill>
                <a:effectLst/>
                <a:uLnTx/>
                <a:uFillTx/>
                <a:latin typeface="Arial"/>
                <a:ea typeface="+mn-ea"/>
                <a:cs typeface="+mn-cs"/>
              </a:rPr>
              <a:t>CoS</a:t>
            </a:r>
            <a:endParaRPr kumimoji="0" sz="800" b="1" i="0" u="none" strike="noStrike" kern="1200" cap="none" spc="0" normalizeH="0" baseline="0" noProof="0">
              <a:ln>
                <a:noFill/>
              </a:ln>
              <a:solidFill>
                <a:srgbClr val="006B3F"/>
              </a:solidFill>
              <a:effectLst/>
              <a:uLnTx/>
              <a:uFillTx/>
              <a:latin typeface="Arial"/>
              <a:ea typeface="+mn-ea"/>
              <a:cs typeface="+mn-cs"/>
            </a:endParaRPr>
          </a:p>
        </p:txBody>
      </p:sp>
      <p:sp>
        <p:nvSpPr>
          <p:cNvPr id="128" name="TextBox 56">
            <a:extLst>
              <a:ext uri="{FF2B5EF4-FFF2-40B4-BE49-F238E27FC236}">
                <a16:creationId xmlns:a16="http://schemas.microsoft.com/office/drawing/2014/main" id="{B6F745B2-1A8D-DD91-0B12-1132A2484E20}"/>
              </a:ext>
            </a:extLst>
          </p:cNvPr>
          <p:cNvSpPr txBox="1"/>
          <p:nvPr/>
        </p:nvSpPr>
        <p:spPr>
          <a:xfrm>
            <a:off x="6355080" y="449884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Locked after Architect review</a:t>
            </a:r>
          </a:p>
        </p:txBody>
      </p:sp>
      <p:sp>
        <p:nvSpPr>
          <p:cNvPr id="129" name="Rounded Rectangle 57">
            <a:extLst>
              <a:ext uri="{FF2B5EF4-FFF2-40B4-BE49-F238E27FC236}">
                <a16:creationId xmlns:a16="http://schemas.microsoft.com/office/drawing/2014/main" id="{DD1CCDEE-A97F-0FC5-2872-9D59C7983073}"/>
              </a:ext>
            </a:extLst>
          </p:cNvPr>
          <p:cNvSpPr/>
          <p:nvPr/>
        </p:nvSpPr>
        <p:spPr>
          <a:xfrm>
            <a:off x="6263640" y="7717536"/>
            <a:ext cx="2514600" cy="841248"/>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TextBox 58">
            <a:extLst>
              <a:ext uri="{FF2B5EF4-FFF2-40B4-BE49-F238E27FC236}">
                <a16:creationId xmlns:a16="http://schemas.microsoft.com/office/drawing/2014/main" id="{5B5F68A9-E59D-1669-34B8-C9A866660CFA}"/>
              </a:ext>
            </a:extLst>
          </p:cNvPr>
          <p:cNvSpPr txBox="1"/>
          <p:nvPr/>
        </p:nvSpPr>
        <p:spPr>
          <a:xfrm>
            <a:off x="6355080" y="7790688"/>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ARTIFACTS</a:t>
            </a:r>
          </a:p>
        </p:txBody>
      </p:sp>
      <p:sp>
        <p:nvSpPr>
          <p:cNvPr id="131" name="TextBox 59">
            <a:extLst>
              <a:ext uri="{FF2B5EF4-FFF2-40B4-BE49-F238E27FC236}">
                <a16:creationId xmlns:a16="http://schemas.microsoft.com/office/drawing/2014/main" id="{BC99D563-5473-6271-359D-39380BD8563A}"/>
              </a:ext>
            </a:extLst>
          </p:cNvPr>
          <p:cNvSpPr txBox="1"/>
          <p:nvPr/>
        </p:nvSpPr>
        <p:spPr>
          <a:xfrm>
            <a:off x="6355080" y="7991856"/>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Discovery Report · Concept Prototype · Feasibility check</a:t>
            </a:r>
          </a:p>
        </p:txBody>
      </p:sp>
      <p:sp>
        <p:nvSpPr>
          <p:cNvPr id="132" name="Rounded Rectangle 61">
            <a:extLst>
              <a:ext uri="{FF2B5EF4-FFF2-40B4-BE49-F238E27FC236}">
                <a16:creationId xmlns:a16="http://schemas.microsoft.com/office/drawing/2014/main" id="{8D882BB9-E85A-6FFA-3B61-04B73F6AE9E7}"/>
              </a:ext>
            </a:extLst>
          </p:cNvPr>
          <p:cNvSpPr/>
          <p:nvPr/>
        </p:nvSpPr>
        <p:spPr>
          <a:xfrm>
            <a:off x="9006840" y="1097280"/>
            <a:ext cx="2788920" cy="96012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3" name="TextBox 62">
            <a:extLst>
              <a:ext uri="{FF2B5EF4-FFF2-40B4-BE49-F238E27FC236}">
                <a16:creationId xmlns:a16="http://schemas.microsoft.com/office/drawing/2014/main" id="{D44E5F02-0F8C-CF11-43DD-157005F4FED7}"/>
              </a:ext>
            </a:extLst>
          </p:cNvPr>
          <p:cNvSpPr txBox="1"/>
          <p:nvPr/>
        </p:nvSpPr>
        <p:spPr>
          <a:xfrm>
            <a:off x="914400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GATE 2 · PORTFOLIO</a:t>
            </a:r>
          </a:p>
        </p:txBody>
      </p:sp>
      <p:sp>
        <p:nvSpPr>
          <p:cNvPr id="134" name="TextBox 63">
            <a:extLst>
              <a:ext uri="{FF2B5EF4-FFF2-40B4-BE49-F238E27FC236}">
                <a16:creationId xmlns:a16="http://schemas.microsoft.com/office/drawing/2014/main" id="{4C1FE034-4CC2-8D51-595F-E2112B8CB616}"/>
              </a:ext>
            </a:extLst>
          </p:cNvPr>
          <p:cNvSpPr txBox="1"/>
          <p:nvPr/>
        </p:nvSpPr>
        <p:spPr>
          <a:xfrm>
            <a:off x="9144000" y="1419199"/>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135" name="TextBox 64">
            <a:extLst>
              <a:ext uri="{FF2B5EF4-FFF2-40B4-BE49-F238E27FC236}">
                <a16:creationId xmlns:a16="http://schemas.microsoft.com/office/drawing/2014/main" id="{EE42EF6D-62CF-677A-09C5-A2902F1F6DA0}"/>
              </a:ext>
            </a:extLst>
          </p:cNvPr>
          <p:cNvSpPr txBox="1"/>
          <p:nvPr/>
        </p:nvSpPr>
        <p:spPr>
          <a:xfrm>
            <a:off x="9144000" y="1556359"/>
            <a:ext cx="19540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Arial"/>
                <a:ea typeface="+mn-ea"/>
                <a:cs typeface="+mn-cs"/>
              </a:rPr>
              <a:t>Director (Carlos · Kumar</a:t>
            </a:r>
            <a:r>
              <a:rPr kumimoji="0" lang="pt-BR" sz="800" b="1" i="0" u="none" strike="noStrike" kern="1200" cap="none" spc="0" normalizeH="0" baseline="0" noProof="0">
                <a:ln>
                  <a:noFill/>
                </a:ln>
                <a:solidFill>
                  <a:srgbClr val="FFFFFF"/>
                </a:solidFill>
                <a:effectLst/>
                <a:uLnTx/>
                <a:uFillTx/>
                <a:latin typeface="Arial"/>
                <a:ea typeface="+mn-ea"/>
                <a:cs typeface="+mn-cs"/>
              </a:rPr>
              <a:t> · Heather · IT </a:t>
            </a:r>
            <a:r>
              <a:rPr kumimoji="0" lang="pt-BR" sz="800" b="1" i="0" u="none" strike="noStrike" kern="1200" cap="none" spc="0" normalizeH="0" baseline="0" noProof="0" err="1">
                <a:ln>
                  <a:noFill/>
                </a:ln>
                <a:solidFill>
                  <a:srgbClr val="FFFFFF"/>
                </a:solidFill>
                <a:effectLst/>
                <a:uLnTx/>
                <a:uFillTx/>
                <a:latin typeface="Arial"/>
                <a:ea typeface="+mn-ea"/>
                <a:cs typeface="+mn-cs"/>
              </a:rPr>
              <a:t>Program</a:t>
            </a:r>
            <a:r>
              <a:rPr kumimoji="0" lang="pt-BR" sz="800" b="1" i="0" u="none" strike="noStrike" kern="1200" cap="none" spc="0" normalizeH="0" baseline="0" noProof="0">
                <a:ln>
                  <a:noFill/>
                </a:ln>
                <a:solidFill>
                  <a:srgbClr val="FFFFFF"/>
                </a:solidFill>
                <a:effectLst/>
                <a:uLnTx/>
                <a:uFillTx/>
                <a:latin typeface="Arial"/>
                <a:ea typeface="+mn-ea"/>
                <a:cs typeface="+mn-cs"/>
              </a:rPr>
              <a:t> Delivery Manager</a:t>
            </a:r>
            <a:r>
              <a:rPr kumimoji="0" sz="800" b="1" i="0" u="none" strike="noStrike" kern="1200" cap="none" spc="0" normalizeH="0" baseline="0" noProof="0">
                <a:ln>
                  <a:noFill/>
                </a:ln>
                <a:solidFill>
                  <a:srgbClr val="FFFFFF"/>
                </a:solidFill>
                <a:effectLst/>
                <a:uLnTx/>
                <a:uFillTx/>
                <a:latin typeface="Arial"/>
                <a:ea typeface="+mn-ea"/>
                <a:cs typeface="+mn-cs"/>
              </a:rPr>
              <a:t>)</a:t>
            </a:r>
          </a:p>
        </p:txBody>
      </p:sp>
      <p:sp>
        <p:nvSpPr>
          <p:cNvPr id="136" name="TextBox 65">
            <a:extLst>
              <a:ext uri="{FF2B5EF4-FFF2-40B4-BE49-F238E27FC236}">
                <a16:creationId xmlns:a16="http://schemas.microsoft.com/office/drawing/2014/main" id="{1BEB0A5D-E849-5F7D-6B30-A0E079E559F3}"/>
              </a:ext>
            </a:extLst>
          </p:cNvPr>
          <p:cNvSpPr txBox="1"/>
          <p:nvPr/>
        </p:nvSpPr>
        <p:spPr>
          <a:xfrm>
            <a:off x="9144000" y="1816775"/>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Monthly · 90 min</a:t>
            </a:r>
          </a:p>
        </p:txBody>
      </p:sp>
      <p:sp>
        <p:nvSpPr>
          <p:cNvPr id="137" name="TextBox 66">
            <a:extLst>
              <a:ext uri="{FF2B5EF4-FFF2-40B4-BE49-F238E27FC236}">
                <a16:creationId xmlns:a16="http://schemas.microsoft.com/office/drawing/2014/main" id="{F36D6029-1DEF-3A46-5433-D9E5E7E49AFA}"/>
              </a:ext>
            </a:extLst>
          </p:cNvPr>
          <p:cNvSpPr txBox="1"/>
          <p:nvPr/>
        </p:nvSpPr>
        <p:spPr>
          <a:xfrm>
            <a:off x="914400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38" name="Rounded Rectangle 67">
            <a:extLst>
              <a:ext uri="{FF2B5EF4-FFF2-40B4-BE49-F238E27FC236}">
                <a16:creationId xmlns:a16="http://schemas.microsoft.com/office/drawing/2014/main" id="{0767AF00-3223-6963-1EE4-B1C67A8DF263}"/>
              </a:ext>
            </a:extLst>
          </p:cNvPr>
          <p:cNvSpPr/>
          <p:nvPr/>
        </p:nvSpPr>
        <p:spPr>
          <a:xfrm>
            <a:off x="6263640" y="51937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9" name="TextBox 68">
            <a:extLst>
              <a:ext uri="{FF2B5EF4-FFF2-40B4-BE49-F238E27FC236}">
                <a16:creationId xmlns:a16="http://schemas.microsoft.com/office/drawing/2014/main" id="{E9D4029B-5D3A-D1F2-8821-A0CDFB5B3A1C}"/>
              </a:ext>
            </a:extLst>
          </p:cNvPr>
          <p:cNvSpPr txBox="1"/>
          <p:nvPr/>
        </p:nvSpPr>
        <p:spPr>
          <a:xfrm>
            <a:off x="6355080" y="52669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DECISION</a:t>
            </a:r>
          </a:p>
        </p:txBody>
      </p:sp>
      <p:sp>
        <p:nvSpPr>
          <p:cNvPr id="140" name="TextBox 69">
            <a:extLst>
              <a:ext uri="{FF2B5EF4-FFF2-40B4-BE49-F238E27FC236}">
                <a16:creationId xmlns:a16="http://schemas.microsoft.com/office/drawing/2014/main" id="{2ABFE5B2-0224-28C7-DEFB-C7DDEF7F3FD4}"/>
              </a:ext>
            </a:extLst>
          </p:cNvPr>
          <p:cNvSpPr txBox="1"/>
          <p:nvPr/>
        </p:nvSpPr>
        <p:spPr>
          <a:xfrm>
            <a:off x="6355080" y="5468112"/>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Go / No-Go / Defer  ·  judgment on the assembled card</a:t>
            </a:r>
          </a:p>
        </p:txBody>
      </p:sp>
      <p:sp>
        <p:nvSpPr>
          <p:cNvPr id="141" name="Rounded Rectangle 70">
            <a:extLst>
              <a:ext uri="{FF2B5EF4-FFF2-40B4-BE49-F238E27FC236}">
                <a16:creationId xmlns:a16="http://schemas.microsoft.com/office/drawing/2014/main" id="{BA4A6ADC-16BB-2814-44EC-B2654CD519A6}"/>
              </a:ext>
            </a:extLst>
          </p:cNvPr>
          <p:cNvSpPr/>
          <p:nvPr/>
        </p:nvSpPr>
        <p:spPr>
          <a:xfrm>
            <a:off x="9144000" y="248412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2" name="TextBox 71">
            <a:extLst>
              <a:ext uri="{FF2B5EF4-FFF2-40B4-BE49-F238E27FC236}">
                <a16:creationId xmlns:a16="http://schemas.microsoft.com/office/drawing/2014/main" id="{CA304509-E1FA-A27C-D79D-67A00DCDA5C0}"/>
              </a:ext>
            </a:extLst>
          </p:cNvPr>
          <p:cNvSpPr txBox="1"/>
          <p:nvPr/>
        </p:nvSpPr>
        <p:spPr>
          <a:xfrm>
            <a:off x="9235440" y="255727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CAPACITY</a:t>
            </a:r>
          </a:p>
        </p:txBody>
      </p:sp>
      <p:sp>
        <p:nvSpPr>
          <p:cNvPr id="143" name="TextBox 72">
            <a:extLst>
              <a:ext uri="{FF2B5EF4-FFF2-40B4-BE49-F238E27FC236}">
                <a16:creationId xmlns:a16="http://schemas.microsoft.com/office/drawing/2014/main" id="{87289CDF-1FE9-0490-4F73-2FE902EC7502}"/>
              </a:ext>
            </a:extLst>
          </p:cNvPr>
          <p:cNvSpPr txBox="1"/>
          <p:nvPr/>
        </p:nvSpPr>
        <p:spPr>
          <a:xfrm>
            <a:off x="9235440" y="2758440"/>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Slot to Value Stream · quarter assignment</a:t>
            </a:r>
          </a:p>
        </p:txBody>
      </p:sp>
      <p:sp>
        <p:nvSpPr>
          <p:cNvPr id="144" name="Rounded Rectangle 73">
            <a:extLst>
              <a:ext uri="{FF2B5EF4-FFF2-40B4-BE49-F238E27FC236}">
                <a16:creationId xmlns:a16="http://schemas.microsoft.com/office/drawing/2014/main" id="{3C7ECFE6-0450-6F25-455E-66D80B5B9FC0}"/>
              </a:ext>
            </a:extLst>
          </p:cNvPr>
          <p:cNvSpPr/>
          <p:nvPr/>
        </p:nvSpPr>
        <p:spPr>
          <a:xfrm>
            <a:off x="9144000" y="337108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5" name="TextBox 74">
            <a:extLst>
              <a:ext uri="{FF2B5EF4-FFF2-40B4-BE49-F238E27FC236}">
                <a16:creationId xmlns:a16="http://schemas.microsoft.com/office/drawing/2014/main" id="{6E9DA048-9865-193B-7948-6D012437E726}"/>
              </a:ext>
            </a:extLst>
          </p:cNvPr>
          <p:cNvSpPr txBox="1"/>
          <p:nvPr/>
        </p:nvSpPr>
        <p:spPr>
          <a:xfrm>
            <a:off x="9235440" y="344424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INPUTS REVIEWED</a:t>
            </a:r>
          </a:p>
        </p:txBody>
      </p:sp>
      <p:sp>
        <p:nvSpPr>
          <p:cNvPr id="146" name="TextBox 75">
            <a:extLst>
              <a:ext uri="{FF2B5EF4-FFF2-40B4-BE49-F238E27FC236}">
                <a16:creationId xmlns:a16="http://schemas.microsoft.com/office/drawing/2014/main" id="{BE5E86B6-1DC7-CCBE-FFD7-8AA1AE626940}"/>
              </a:ext>
            </a:extLst>
          </p:cNvPr>
          <p:cNvSpPr txBox="1"/>
          <p:nvPr/>
        </p:nvSpPr>
        <p:spPr>
          <a:xfrm>
            <a:off x="9235440" y="364540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Pain Score · Discovery Report · Feasibility · capacity</a:t>
            </a:r>
          </a:p>
        </p:txBody>
      </p:sp>
      <p:sp>
        <p:nvSpPr>
          <p:cNvPr id="147" name="Rounded Rectangle 76">
            <a:extLst>
              <a:ext uri="{FF2B5EF4-FFF2-40B4-BE49-F238E27FC236}">
                <a16:creationId xmlns:a16="http://schemas.microsoft.com/office/drawing/2014/main" id="{6458840B-2E3F-4227-1428-F6C0CEFE3540}"/>
              </a:ext>
            </a:extLst>
          </p:cNvPr>
          <p:cNvSpPr/>
          <p:nvPr/>
        </p:nvSpPr>
        <p:spPr>
          <a:xfrm>
            <a:off x="9144000" y="4258056"/>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8" name="TextBox 77">
            <a:extLst>
              <a:ext uri="{FF2B5EF4-FFF2-40B4-BE49-F238E27FC236}">
                <a16:creationId xmlns:a16="http://schemas.microsoft.com/office/drawing/2014/main" id="{7E5065D5-D675-4D29-89FF-75D90AC90E87}"/>
              </a:ext>
            </a:extLst>
          </p:cNvPr>
          <p:cNvSpPr txBox="1"/>
          <p:nvPr/>
        </p:nvSpPr>
        <p:spPr>
          <a:xfrm>
            <a:off x="9235440" y="4331208"/>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OUTPUTS</a:t>
            </a:r>
          </a:p>
        </p:txBody>
      </p:sp>
      <p:sp>
        <p:nvSpPr>
          <p:cNvPr id="149" name="TextBox 78">
            <a:extLst>
              <a:ext uri="{FF2B5EF4-FFF2-40B4-BE49-F238E27FC236}">
                <a16:creationId xmlns:a16="http://schemas.microsoft.com/office/drawing/2014/main" id="{79F5C4F4-0E03-CDE2-1BD0-7BDC1E360A97}"/>
              </a:ext>
            </a:extLst>
          </p:cNvPr>
          <p:cNvSpPr txBox="1"/>
          <p:nvPr/>
        </p:nvSpPr>
        <p:spPr>
          <a:xfrm>
            <a:off x="9235440" y="4532376"/>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Backlog rank · status = Ready For Execution</a:t>
            </a:r>
          </a:p>
        </p:txBody>
      </p:sp>
      <p:sp>
        <p:nvSpPr>
          <p:cNvPr id="8" name="Rectángulo 7">
            <a:extLst>
              <a:ext uri="{FF2B5EF4-FFF2-40B4-BE49-F238E27FC236}">
                <a16:creationId xmlns:a16="http://schemas.microsoft.com/office/drawing/2014/main" id="{4B909A1C-B12B-509A-9AD7-FAAECE5F2A40}"/>
              </a:ext>
            </a:extLst>
          </p:cNvPr>
          <p:cNvSpPr/>
          <p:nvPr/>
        </p:nvSpPr>
        <p:spPr>
          <a:xfrm>
            <a:off x="2880405" y="5425440"/>
            <a:ext cx="5164661"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err="1">
                <a:ln>
                  <a:noFill/>
                </a:ln>
                <a:solidFill>
                  <a:prstClr val="white"/>
                </a:solidFill>
                <a:effectLst/>
                <a:uLnTx/>
                <a:uFillTx/>
                <a:latin typeface="Aptos" panose="02110004020202020204"/>
                <a:ea typeface="+mn-ea"/>
                <a:cs typeface="+mn-cs"/>
              </a:rPr>
              <a:t>Classification</a:t>
            </a:r>
            <a:r>
              <a:rPr kumimoji="0" lang="es-MX" sz="1800" b="0" i="0" u="none" strike="noStrike" kern="1200" cap="none" spc="0" normalizeH="0" baseline="0" noProof="0">
                <a:ln>
                  <a:noFill/>
                </a:ln>
                <a:solidFill>
                  <a:prstClr val="white"/>
                </a:solidFill>
                <a:effectLst/>
                <a:uLnTx/>
                <a:uFillTx/>
                <a:latin typeface="Aptos" panose="02110004020202020204"/>
                <a:ea typeface="+mn-ea"/>
                <a:cs typeface="+mn-cs"/>
              </a:rPr>
              <a:t> y </a:t>
            </a:r>
            <a:r>
              <a:rPr kumimoji="0" lang="es-MX" sz="1800" b="0" i="0" u="none" strike="noStrike" kern="1200" cap="none" spc="0" normalizeH="0" baseline="0" noProof="0" err="1">
                <a:ln>
                  <a:noFill/>
                </a:ln>
                <a:solidFill>
                  <a:prstClr val="white"/>
                </a:solidFill>
                <a:effectLst/>
                <a:uLnTx/>
                <a:uFillTx/>
                <a:latin typeface="Aptos" panose="02110004020202020204"/>
                <a:ea typeface="+mn-ea"/>
                <a:cs typeface="+mn-cs"/>
              </a:rPr>
              <a:t>Triage</a:t>
            </a: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ángulo 8">
            <a:extLst>
              <a:ext uri="{FF2B5EF4-FFF2-40B4-BE49-F238E27FC236}">
                <a16:creationId xmlns:a16="http://schemas.microsoft.com/office/drawing/2014/main" id="{186AB0DA-FD20-DADF-8937-6E73233D1509}"/>
              </a:ext>
            </a:extLst>
          </p:cNvPr>
          <p:cNvSpPr/>
          <p:nvPr/>
        </p:nvSpPr>
        <p:spPr>
          <a:xfrm>
            <a:off x="8987516" y="5168345"/>
            <a:ext cx="2873287" cy="2100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Preparation</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&amp;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Planning</a:t>
            </a: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Si es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puede irse a un nuevo proyecto o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hcerse</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un nuevo proyecto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Resolver esta indefinición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Como se hace el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capacity</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planning</a:t>
            </a: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Qúe</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pasa si es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/no-</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resolver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roadmapping</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licencias y ejecución de los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prouectos</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Qué tiene que pasar. Poner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my</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claor</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y muy básico. Más desde visión de producto</a:t>
            </a:r>
          </a:p>
        </p:txBody>
      </p:sp>
    </p:spTree>
    <p:extLst>
      <p:ext uri="{BB962C8B-B14F-4D97-AF65-F5344CB8AC3E}">
        <p14:creationId xmlns:p14="http://schemas.microsoft.com/office/powerpoint/2010/main" val="771553897"/>
      </p:ext>
    </p:extLst>
  </p:cSld>
  <p:clrMapOvr>
    <a:masterClrMapping/>
  </p:clrMapOvr>
  <p:extLst>
    <p:ext uri="{6950BFC3-D8DA-4A85-94F7-54DA5524770B}">
      <p188:commentRel xmlns:p188="http://schemas.microsoft.com/office/powerpoint/2018/8/main" r:id="rId2"/>
    </p:ext>
  </p:extLs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CC768F-33E5-01D2-5804-6B59E2294829}"/>
            </a:ext>
          </a:extLst>
        </p:cNvPr>
        <p:cNvGrpSpPr/>
        <p:nvPr/>
      </p:nvGrpSpPr>
      <p:grpSpPr>
        <a:xfrm>
          <a:off x="0" y="0"/>
          <a:ext cx="0" cy="0"/>
          <a:chOff x="0" y="0"/>
          <a:chExt cx="0" cy="0"/>
        </a:xfrm>
      </p:grpSpPr>
      <p:sp>
        <p:nvSpPr>
          <p:cNvPr id="4" name="Título 2">
            <a:extLst>
              <a:ext uri="{FF2B5EF4-FFF2-40B4-BE49-F238E27FC236}">
                <a16:creationId xmlns:a16="http://schemas.microsoft.com/office/drawing/2014/main" id="{04FC7220-6F4A-CD4B-EF35-EE24311638D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EXECUTION</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Intake of work from prioritized backlog</a:t>
            </a:r>
          </a:p>
        </p:txBody>
      </p:sp>
      <p:cxnSp>
        <p:nvCxnSpPr>
          <p:cNvPr id="5" name="Conector recto 4">
            <a:extLst>
              <a:ext uri="{FF2B5EF4-FFF2-40B4-BE49-F238E27FC236}">
                <a16:creationId xmlns:a16="http://schemas.microsoft.com/office/drawing/2014/main" id="{4830D6D8-44CD-CCF6-A2CB-8C168F5A5ED2}"/>
              </a:ext>
            </a:extLst>
          </p:cNvPr>
          <p:cNvCxnSpPr>
            <a:cxnSpLocks/>
          </p:cNvCxnSpPr>
          <p:nvPr/>
        </p:nvCxnSpPr>
        <p:spPr>
          <a:xfrm flipV="1">
            <a:off x="922852" y="1212484"/>
            <a:ext cx="10299908" cy="1302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11">
            <a:extLst>
              <a:ext uri="{FF2B5EF4-FFF2-40B4-BE49-F238E27FC236}">
                <a16:creationId xmlns:a16="http://schemas.microsoft.com/office/drawing/2014/main" id="{F4855F90-BFE0-F8F4-C108-EA5D8ECCDA25}"/>
              </a:ext>
            </a:extLst>
          </p:cNvPr>
          <p:cNvSpPr txBox="1"/>
          <p:nvPr/>
        </p:nvSpPr>
        <p:spPr>
          <a:xfrm>
            <a:off x="12579178" y="6936259"/>
            <a:ext cx="0" cy="0"/>
          </a:xfrm>
          <a:prstGeom prst="rect">
            <a:avLst/>
          </a:prstGeom>
          <a:noFill/>
        </p:spPr>
        <p:txBody>
          <a:bodyPr wrap="none" lIns="0" tIns="0" rIns="0" bIns="0" rtlCol="0">
            <a:noAutofit/>
          </a:bodyPr>
          <a:lstStyle/>
          <a:p>
            <a:pPr algn="l"/>
            <a:endParaRPr lang="en-US" sz="1100">
              <a:latin typeface="+mn-lt"/>
              <a:ea typeface="IberPangea Text Light" panose="020B0404000000000000" pitchFamily="34" charset="0"/>
              <a:cs typeface="Arial" panose="020B0604020202020204" pitchFamily="34" charset="0"/>
            </a:endParaRPr>
          </a:p>
        </p:txBody>
      </p:sp>
      <p:sp>
        <p:nvSpPr>
          <p:cNvPr id="26" name="TextBox 13">
            <a:extLst>
              <a:ext uri="{FF2B5EF4-FFF2-40B4-BE49-F238E27FC236}">
                <a16:creationId xmlns:a16="http://schemas.microsoft.com/office/drawing/2014/main" id="{21315129-0CC9-008D-0DF0-26CB94E4EE6B}"/>
              </a:ext>
            </a:extLst>
          </p:cNvPr>
          <p:cNvSpPr txBox="1"/>
          <p:nvPr/>
        </p:nvSpPr>
        <p:spPr>
          <a:xfrm>
            <a:off x="3009814" y="3982609"/>
            <a:ext cx="1028866" cy="276999"/>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Project Estimation </a:t>
            </a:r>
          </a:p>
          <a:p>
            <a:pPr algn="ctr" rtl="0"/>
            <a:r>
              <a:rPr lang="en-US" sz="500">
                <a:highlight>
                  <a:srgbClr val="FFF6F5"/>
                </a:highlight>
                <a:latin typeface="+mn-lt"/>
              </a:rPr>
              <a:t>(Coorg + T-shirt S.E)</a:t>
            </a:r>
          </a:p>
        </p:txBody>
      </p:sp>
      <p:sp>
        <p:nvSpPr>
          <p:cNvPr id="27" name="TextBox 14">
            <a:extLst>
              <a:ext uri="{FF2B5EF4-FFF2-40B4-BE49-F238E27FC236}">
                <a16:creationId xmlns:a16="http://schemas.microsoft.com/office/drawing/2014/main" id="{C12384CF-D3A6-0EB3-9D00-83AC7E9CC486}"/>
              </a:ext>
            </a:extLst>
          </p:cNvPr>
          <p:cNvSpPr txBox="1"/>
          <p:nvPr/>
        </p:nvSpPr>
        <p:spPr>
          <a:xfrm>
            <a:off x="381444" y="1943955"/>
            <a:ext cx="1166583" cy="276999"/>
          </a:xfrm>
          <a:prstGeom prst="rect">
            <a:avLst/>
          </a:prstGeom>
          <a:noFill/>
          <a:effectLst>
            <a:outerShdw blurRad="50800" dist="38100" dir="2700000" algn="tl" rotWithShape="0">
              <a:prstClr val="black">
                <a:alpha val="40000"/>
              </a:prstClr>
            </a:outerShdw>
          </a:effectLst>
        </p:spPr>
        <p:txBody>
          <a:bodyPr wrap="square">
            <a:spAutoFit/>
          </a:bodyPr>
          <a:lstStyle/>
          <a:p>
            <a:pPr rtl="0"/>
            <a:r>
              <a:rPr lang="en-US" sz="700">
                <a:highlight>
                  <a:srgbClr val="FFF6F5"/>
                </a:highlight>
                <a:latin typeface="+mn-lt"/>
              </a:rPr>
              <a:t>Backlog Management </a:t>
            </a:r>
          </a:p>
          <a:p>
            <a:pPr rtl="0"/>
            <a:r>
              <a:rPr lang="en-US" sz="500">
                <a:highlight>
                  <a:srgbClr val="FFF6F5"/>
                </a:highlight>
                <a:latin typeface="+mn-lt"/>
              </a:rPr>
              <a:t>(Roadmap + Jira  + PBB))</a:t>
            </a:r>
          </a:p>
        </p:txBody>
      </p:sp>
      <p:sp>
        <p:nvSpPr>
          <p:cNvPr id="88" name="TextBox 15">
            <a:extLst>
              <a:ext uri="{FF2B5EF4-FFF2-40B4-BE49-F238E27FC236}">
                <a16:creationId xmlns:a16="http://schemas.microsoft.com/office/drawing/2014/main" id="{3C4F8E88-A0A0-B187-0838-10A6283ED9E8}"/>
              </a:ext>
            </a:extLst>
          </p:cNvPr>
          <p:cNvSpPr txBox="1"/>
          <p:nvPr/>
        </p:nvSpPr>
        <p:spPr>
          <a:xfrm>
            <a:off x="5861034" y="4539109"/>
            <a:ext cx="1451242" cy="307777"/>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Workflow Management </a:t>
            </a:r>
          </a:p>
          <a:p>
            <a:pPr algn="ctr" rtl="0"/>
            <a:r>
              <a:rPr lang="en-US" sz="700">
                <a:highlight>
                  <a:srgbClr val="FFF6F5"/>
                </a:highlight>
                <a:latin typeface="+mn-lt"/>
              </a:rPr>
              <a:t>(Lightweight Method)</a:t>
            </a:r>
          </a:p>
        </p:txBody>
      </p:sp>
      <p:sp>
        <p:nvSpPr>
          <p:cNvPr id="92" name="TextBox 16">
            <a:extLst>
              <a:ext uri="{FF2B5EF4-FFF2-40B4-BE49-F238E27FC236}">
                <a16:creationId xmlns:a16="http://schemas.microsoft.com/office/drawing/2014/main" id="{65BD4D92-E71E-C621-0750-70B44C4F2A9F}"/>
              </a:ext>
            </a:extLst>
          </p:cNvPr>
          <p:cNvSpPr txBox="1"/>
          <p:nvPr/>
        </p:nvSpPr>
        <p:spPr>
          <a:xfrm>
            <a:off x="6014477" y="1877042"/>
            <a:ext cx="1451242" cy="307777"/>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Governance &amp; Tactical Meetings</a:t>
            </a:r>
          </a:p>
        </p:txBody>
      </p:sp>
      <p:pic>
        <p:nvPicPr>
          <p:cNvPr id="93" name="Picture 2" descr="Kanban Boards">
            <a:extLst>
              <a:ext uri="{FF2B5EF4-FFF2-40B4-BE49-F238E27FC236}">
                <a16:creationId xmlns:a16="http://schemas.microsoft.com/office/drawing/2014/main" id="{80FDDE20-B0E5-735A-10BE-919EB6AA67F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52985" y="2701890"/>
            <a:ext cx="3594551" cy="180354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97" name="Elbow Connector 21">
            <a:extLst>
              <a:ext uri="{FF2B5EF4-FFF2-40B4-BE49-F238E27FC236}">
                <a16:creationId xmlns:a16="http://schemas.microsoft.com/office/drawing/2014/main" id="{71177F68-443E-1689-A5B9-2573E95AD288}"/>
              </a:ext>
            </a:extLst>
          </p:cNvPr>
          <p:cNvCxnSpPr>
            <a:cxnSpLocks/>
          </p:cNvCxnSpPr>
          <p:nvPr/>
        </p:nvCxnSpPr>
        <p:spPr>
          <a:xfrm>
            <a:off x="1751147" y="2545448"/>
            <a:ext cx="753004" cy="1208625"/>
          </a:xfrm>
          <a:prstGeom prst="bentConnector3">
            <a:avLst>
              <a:gd name="adj1" fmla="val 50000"/>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9" name="TextBox 25">
            <a:extLst>
              <a:ext uri="{FF2B5EF4-FFF2-40B4-BE49-F238E27FC236}">
                <a16:creationId xmlns:a16="http://schemas.microsoft.com/office/drawing/2014/main" id="{15A6B62F-5529-E4B6-A0FB-8F25AA125E26}"/>
              </a:ext>
            </a:extLst>
          </p:cNvPr>
          <p:cNvSpPr txBox="1"/>
          <p:nvPr/>
        </p:nvSpPr>
        <p:spPr>
          <a:xfrm>
            <a:off x="7709958" y="2281798"/>
            <a:ext cx="751911" cy="200055"/>
          </a:xfrm>
          <a:prstGeom prst="rect">
            <a:avLst/>
          </a:prstGeom>
          <a:noFill/>
          <a:effectLst/>
        </p:spPr>
        <p:txBody>
          <a:bodyPr wrap="square">
            <a:spAutoFit/>
          </a:bodyPr>
          <a:lstStyle/>
          <a:p>
            <a:pPr algn="ctr" rtl="0"/>
            <a:r>
              <a:rPr lang="en-US" sz="700">
                <a:latin typeface="+mn-lt"/>
              </a:rPr>
              <a:t>Reviews</a:t>
            </a:r>
            <a:endParaRPr lang="en-US" sz="700" b="1">
              <a:latin typeface="+mn-lt"/>
            </a:endParaRPr>
          </a:p>
        </p:txBody>
      </p:sp>
      <p:sp>
        <p:nvSpPr>
          <p:cNvPr id="100" name="TextBox 26">
            <a:extLst>
              <a:ext uri="{FF2B5EF4-FFF2-40B4-BE49-F238E27FC236}">
                <a16:creationId xmlns:a16="http://schemas.microsoft.com/office/drawing/2014/main" id="{31CD8178-5C6A-04F9-7390-00CA7FC514A5}"/>
              </a:ext>
            </a:extLst>
          </p:cNvPr>
          <p:cNvSpPr txBox="1"/>
          <p:nvPr/>
        </p:nvSpPr>
        <p:spPr>
          <a:xfrm>
            <a:off x="5053945" y="2279221"/>
            <a:ext cx="835214" cy="307777"/>
          </a:xfrm>
          <a:prstGeom prst="rect">
            <a:avLst/>
          </a:prstGeom>
          <a:noFill/>
          <a:effectLst/>
        </p:spPr>
        <p:txBody>
          <a:bodyPr wrap="square">
            <a:spAutoFit/>
          </a:bodyPr>
          <a:lstStyle/>
          <a:p>
            <a:pPr algn="ctr" rtl="0"/>
            <a:r>
              <a:rPr lang="en-US" sz="700">
                <a:latin typeface="+mn-lt"/>
              </a:rPr>
              <a:t>Backlog </a:t>
            </a:r>
            <a:r>
              <a:rPr lang="en-US" sz="700" b="1">
                <a:latin typeface="+mn-lt"/>
              </a:rPr>
              <a:t>Refinement</a:t>
            </a:r>
          </a:p>
        </p:txBody>
      </p:sp>
      <p:sp>
        <p:nvSpPr>
          <p:cNvPr id="101" name="TextBox 27">
            <a:extLst>
              <a:ext uri="{FF2B5EF4-FFF2-40B4-BE49-F238E27FC236}">
                <a16:creationId xmlns:a16="http://schemas.microsoft.com/office/drawing/2014/main" id="{530AEADF-BA1F-6A89-B64D-2BC97310DC9E}"/>
              </a:ext>
            </a:extLst>
          </p:cNvPr>
          <p:cNvSpPr txBox="1"/>
          <p:nvPr/>
        </p:nvSpPr>
        <p:spPr>
          <a:xfrm>
            <a:off x="6284210" y="2283660"/>
            <a:ext cx="835214" cy="200055"/>
          </a:xfrm>
          <a:prstGeom prst="rect">
            <a:avLst/>
          </a:prstGeom>
          <a:noFill/>
          <a:effectLst/>
        </p:spPr>
        <p:txBody>
          <a:bodyPr wrap="square">
            <a:spAutoFit/>
          </a:bodyPr>
          <a:lstStyle/>
          <a:p>
            <a:pPr algn="ctr" rtl="0"/>
            <a:r>
              <a:rPr lang="en-US" sz="700">
                <a:latin typeface="+mn-lt"/>
              </a:rPr>
              <a:t>Daily </a:t>
            </a:r>
            <a:r>
              <a:rPr lang="en-US" sz="700" b="1">
                <a:latin typeface="+mn-lt"/>
              </a:rPr>
              <a:t>Meeting</a:t>
            </a:r>
          </a:p>
        </p:txBody>
      </p:sp>
      <p:sp>
        <p:nvSpPr>
          <p:cNvPr id="102" name="Right Brace 28">
            <a:extLst>
              <a:ext uri="{FF2B5EF4-FFF2-40B4-BE49-F238E27FC236}">
                <a16:creationId xmlns:a16="http://schemas.microsoft.com/office/drawing/2014/main" id="{126D58E3-25B0-4626-0855-19E2A123356A}"/>
              </a:ext>
            </a:extLst>
          </p:cNvPr>
          <p:cNvSpPr/>
          <p:nvPr/>
        </p:nvSpPr>
        <p:spPr>
          <a:xfrm rot="16200000">
            <a:off x="6643421" y="772716"/>
            <a:ext cx="174703" cy="2785219"/>
          </a:xfrm>
          <a:prstGeom prst="rightBrace">
            <a:avLst>
              <a:gd name="adj1" fmla="val 149413"/>
              <a:gd name="adj2" fmla="val 50000"/>
            </a:avLst>
          </a:prstGeom>
          <a:ln>
            <a:solidFill>
              <a:srgbClr val="3A373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R" sz="1600"/>
          </a:p>
        </p:txBody>
      </p:sp>
      <p:pic>
        <p:nvPicPr>
          <p:cNvPr id="103" name="Picture 4" descr="Kanban Throughput: Get Data-Driven Team Performance Results">
            <a:extLst>
              <a:ext uri="{FF2B5EF4-FFF2-40B4-BE49-F238E27FC236}">
                <a16:creationId xmlns:a16="http://schemas.microsoft.com/office/drawing/2014/main" id="{366DDA41-5166-4E8D-2431-03B42136583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085913" y="3969977"/>
            <a:ext cx="2078633" cy="92209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04" name="Elbow Connector 30">
            <a:extLst>
              <a:ext uri="{FF2B5EF4-FFF2-40B4-BE49-F238E27FC236}">
                <a16:creationId xmlns:a16="http://schemas.microsoft.com/office/drawing/2014/main" id="{CF1D3217-44FC-3832-3158-D88598EE0BC9}"/>
              </a:ext>
            </a:extLst>
          </p:cNvPr>
          <p:cNvCxnSpPr>
            <a:cxnSpLocks/>
          </p:cNvCxnSpPr>
          <p:nvPr/>
        </p:nvCxnSpPr>
        <p:spPr>
          <a:xfrm flipV="1">
            <a:off x="1526859" y="3754073"/>
            <a:ext cx="977292" cy="842892"/>
          </a:xfrm>
          <a:prstGeom prst="bentConnector3">
            <a:avLst>
              <a:gd name="adj1" fmla="val 61738"/>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5" name="TextBox 31">
            <a:extLst>
              <a:ext uri="{FF2B5EF4-FFF2-40B4-BE49-F238E27FC236}">
                <a16:creationId xmlns:a16="http://schemas.microsoft.com/office/drawing/2014/main" id="{B64C538E-0A55-8566-C719-E28F8ABBF806}"/>
              </a:ext>
            </a:extLst>
          </p:cNvPr>
          <p:cNvSpPr txBox="1"/>
          <p:nvPr/>
        </p:nvSpPr>
        <p:spPr>
          <a:xfrm>
            <a:off x="8547536" y="3627141"/>
            <a:ext cx="1881591" cy="307777"/>
          </a:xfrm>
          <a:prstGeom prst="rect">
            <a:avLst/>
          </a:prstGeom>
          <a:noFill/>
          <a:effectLst>
            <a:outerShdw blurRad="50800" dist="38100" dir="2700000" algn="tl" rotWithShape="0">
              <a:prstClr val="black">
                <a:alpha val="40000"/>
              </a:prstClr>
            </a:outerShdw>
          </a:effectLst>
        </p:spPr>
        <p:txBody>
          <a:bodyPr wrap="square">
            <a:spAutoFit/>
          </a:bodyPr>
          <a:lstStyle/>
          <a:p>
            <a:pPr rtl="0"/>
            <a:r>
              <a:rPr lang="en-US" sz="700">
                <a:highlight>
                  <a:srgbClr val="FFF6F5"/>
                </a:highlight>
                <a:latin typeface="+mn-lt"/>
              </a:rPr>
              <a:t>Metrics &amp; Project Results Dashboards / Artifact (Pulse + </a:t>
            </a:r>
            <a:r>
              <a:rPr lang="en-US" sz="700" err="1">
                <a:highlight>
                  <a:srgbClr val="FFF6F5"/>
                </a:highlight>
                <a:latin typeface="+mn-lt"/>
              </a:rPr>
              <a:t>FlowMetrics</a:t>
            </a:r>
            <a:r>
              <a:rPr lang="en-US" sz="700">
                <a:highlight>
                  <a:srgbClr val="FFF6F5"/>
                </a:highlight>
                <a:latin typeface="+mn-lt"/>
              </a:rPr>
              <a:t>)</a:t>
            </a:r>
          </a:p>
        </p:txBody>
      </p:sp>
      <p:grpSp>
        <p:nvGrpSpPr>
          <p:cNvPr id="106" name="Group 32">
            <a:extLst>
              <a:ext uri="{FF2B5EF4-FFF2-40B4-BE49-F238E27FC236}">
                <a16:creationId xmlns:a16="http://schemas.microsoft.com/office/drawing/2014/main" id="{824C1456-ADAE-8896-DF79-23B328F1182C}"/>
              </a:ext>
            </a:extLst>
          </p:cNvPr>
          <p:cNvGrpSpPr/>
          <p:nvPr/>
        </p:nvGrpSpPr>
        <p:grpSpPr>
          <a:xfrm>
            <a:off x="426836" y="3113274"/>
            <a:ext cx="443725" cy="250799"/>
            <a:chOff x="6964708" y="4299700"/>
            <a:chExt cx="1208965" cy="753345"/>
          </a:xfrm>
        </p:grpSpPr>
        <p:grpSp>
          <p:nvGrpSpPr>
            <p:cNvPr id="107" name="Group 33">
              <a:extLst>
                <a:ext uri="{FF2B5EF4-FFF2-40B4-BE49-F238E27FC236}">
                  <a16:creationId xmlns:a16="http://schemas.microsoft.com/office/drawing/2014/main" id="{10D59EE6-5C38-54D4-F778-034556641985}"/>
                </a:ext>
              </a:extLst>
            </p:cNvPr>
            <p:cNvGrpSpPr/>
            <p:nvPr/>
          </p:nvGrpSpPr>
          <p:grpSpPr>
            <a:xfrm>
              <a:off x="6964708" y="4299700"/>
              <a:ext cx="1208965" cy="753345"/>
              <a:chOff x="6629084" y="4161784"/>
              <a:chExt cx="1208965" cy="753345"/>
            </a:xfrm>
          </p:grpSpPr>
          <p:sp>
            <p:nvSpPr>
              <p:cNvPr id="111" name="Google Shape;1775;p42">
                <a:extLst>
                  <a:ext uri="{FF2B5EF4-FFF2-40B4-BE49-F238E27FC236}">
                    <a16:creationId xmlns:a16="http://schemas.microsoft.com/office/drawing/2014/main" id="{096E0317-990D-6777-34EC-463EFAAEDB9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2" name="Google Shape;1775;p42">
                <a:extLst>
                  <a:ext uri="{FF2B5EF4-FFF2-40B4-BE49-F238E27FC236}">
                    <a16:creationId xmlns:a16="http://schemas.microsoft.com/office/drawing/2014/main" id="{F4A6DA48-AE7D-4C91-238D-3142D04BC579}"/>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8" name="Rectangle 34">
              <a:extLst>
                <a:ext uri="{FF2B5EF4-FFF2-40B4-BE49-F238E27FC236}">
                  <a16:creationId xmlns:a16="http://schemas.microsoft.com/office/drawing/2014/main" id="{8506940F-B57A-C07C-9192-6708D715DD8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9" name="Rectangle 35">
              <a:extLst>
                <a:ext uri="{FF2B5EF4-FFF2-40B4-BE49-F238E27FC236}">
                  <a16:creationId xmlns:a16="http://schemas.microsoft.com/office/drawing/2014/main" id="{7EC7374D-39C3-617C-519D-16AF7151BCE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0" name="Oval 36">
              <a:extLst>
                <a:ext uri="{FF2B5EF4-FFF2-40B4-BE49-F238E27FC236}">
                  <a16:creationId xmlns:a16="http://schemas.microsoft.com/office/drawing/2014/main" id="{09B82EAE-B495-EA19-6F30-FD504E50FCB1}"/>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13" name="Group 39">
            <a:extLst>
              <a:ext uri="{FF2B5EF4-FFF2-40B4-BE49-F238E27FC236}">
                <a16:creationId xmlns:a16="http://schemas.microsoft.com/office/drawing/2014/main" id="{5E5CBCA3-5AF6-04AD-E1B3-060F66BE6F6E}"/>
              </a:ext>
            </a:extLst>
          </p:cNvPr>
          <p:cNvGrpSpPr/>
          <p:nvPr/>
        </p:nvGrpSpPr>
        <p:grpSpPr>
          <a:xfrm>
            <a:off x="949553" y="3115565"/>
            <a:ext cx="443725" cy="250799"/>
            <a:chOff x="6964708" y="4299700"/>
            <a:chExt cx="1208965" cy="753345"/>
          </a:xfrm>
        </p:grpSpPr>
        <p:grpSp>
          <p:nvGrpSpPr>
            <p:cNvPr id="114" name="Group 40">
              <a:extLst>
                <a:ext uri="{FF2B5EF4-FFF2-40B4-BE49-F238E27FC236}">
                  <a16:creationId xmlns:a16="http://schemas.microsoft.com/office/drawing/2014/main" id="{F77A5C3F-B589-E4DB-564E-26EE83D237E1}"/>
                </a:ext>
              </a:extLst>
            </p:cNvPr>
            <p:cNvGrpSpPr/>
            <p:nvPr/>
          </p:nvGrpSpPr>
          <p:grpSpPr>
            <a:xfrm>
              <a:off x="6964708" y="4299700"/>
              <a:ext cx="1208965" cy="753345"/>
              <a:chOff x="6629084" y="4161784"/>
              <a:chExt cx="1208965" cy="753345"/>
            </a:xfrm>
          </p:grpSpPr>
          <p:sp>
            <p:nvSpPr>
              <p:cNvPr id="118" name="Google Shape;1775;p42">
                <a:extLst>
                  <a:ext uri="{FF2B5EF4-FFF2-40B4-BE49-F238E27FC236}">
                    <a16:creationId xmlns:a16="http://schemas.microsoft.com/office/drawing/2014/main" id="{2D3165E0-6B6D-03EC-A0BF-D1CF28CD00A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9" name="Google Shape;1775;p42">
                <a:extLst>
                  <a:ext uri="{FF2B5EF4-FFF2-40B4-BE49-F238E27FC236}">
                    <a16:creationId xmlns:a16="http://schemas.microsoft.com/office/drawing/2014/main" id="{6E2C70F8-108F-E3EF-AF91-65B3678FF417}"/>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15" name="Rectangle 41">
              <a:extLst>
                <a:ext uri="{FF2B5EF4-FFF2-40B4-BE49-F238E27FC236}">
                  <a16:creationId xmlns:a16="http://schemas.microsoft.com/office/drawing/2014/main" id="{5B71338A-3A04-0370-2D86-70C77392856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6" name="Rectangle 42">
              <a:extLst>
                <a:ext uri="{FF2B5EF4-FFF2-40B4-BE49-F238E27FC236}">
                  <a16:creationId xmlns:a16="http://schemas.microsoft.com/office/drawing/2014/main" id="{614F2893-A765-1574-3F02-E482832874CA}"/>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7" name="Oval 43">
              <a:extLst>
                <a:ext uri="{FF2B5EF4-FFF2-40B4-BE49-F238E27FC236}">
                  <a16:creationId xmlns:a16="http://schemas.microsoft.com/office/drawing/2014/main" id="{80701655-17F4-5446-DA39-CABAFAAF95D6}"/>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0" name="Group 46">
            <a:extLst>
              <a:ext uri="{FF2B5EF4-FFF2-40B4-BE49-F238E27FC236}">
                <a16:creationId xmlns:a16="http://schemas.microsoft.com/office/drawing/2014/main" id="{40D6EF69-3353-3DDB-7910-77CCDDBA7989}"/>
              </a:ext>
            </a:extLst>
          </p:cNvPr>
          <p:cNvGrpSpPr/>
          <p:nvPr/>
        </p:nvGrpSpPr>
        <p:grpSpPr>
          <a:xfrm>
            <a:off x="978211" y="3753829"/>
            <a:ext cx="443725" cy="250799"/>
            <a:chOff x="6964708" y="4299700"/>
            <a:chExt cx="1208965" cy="753345"/>
          </a:xfrm>
        </p:grpSpPr>
        <p:grpSp>
          <p:nvGrpSpPr>
            <p:cNvPr id="121" name="Group 47">
              <a:extLst>
                <a:ext uri="{FF2B5EF4-FFF2-40B4-BE49-F238E27FC236}">
                  <a16:creationId xmlns:a16="http://schemas.microsoft.com/office/drawing/2014/main" id="{C1680DF3-434D-653C-8C4D-EE4E4E8057C9}"/>
                </a:ext>
              </a:extLst>
            </p:cNvPr>
            <p:cNvGrpSpPr/>
            <p:nvPr/>
          </p:nvGrpSpPr>
          <p:grpSpPr>
            <a:xfrm>
              <a:off x="6964708" y="4299700"/>
              <a:ext cx="1208965" cy="753345"/>
              <a:chOff x="6629084" y="4161784"/>
              <a:chExt cx="1208965" cy="753345"/>
            </a:xfrm>
          </p:grpSpPr>
          <p:sp>
            <p:nvSpPr>
              <p:cNvPr id="125" name="Google Shape;1775;p42">
                <a:extLst>
                  <a:ext uri="{FF2B5EF4-FFF2-40B4-BE49-F238E27FC236}">
                    <a16:creationId xmlns:a16="http://schemas.microsoft.com/office/drawing/2014/main" id="{2B47C901-F14A-3093-F880-65387D7ECB6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26" name="Google Shape;1775;p42">
                <a:extLst>
                  <a:ext uri="{FF2B5EF4-FFF2-40B4-BE49-F238E27FC236}">
                    <a16:creationId xmlns:a16="http://schemas.microsoft.com/office/drawing/2014/main" id="{EBC87065-612E-03A9-1484-438922AA9BCD}"/>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2" name="Rectangle 48">
              <a:extLst>
                <a:ext uri="{FF2B5EF4-FFF2-40B4-BE49-F238E27FC236}">
                  <a16:creationId xmlns:a16="http://schemas.microsoft.com/office/drawing/2014/main" id="{D9A0F972-FF5C-B871-9AB5-4D0FBA2D8E1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3" name="Rectangle 49">
              <a:extLst>
                <a:ext uri="{FF2B5EF4-FFF2-40B4-BE49-F238E27FC236}">
                  <a16:creationId xmlns:a16="http://schemas.microsoft.com/office/drawing/2014/main" id="{577A3C0E-5976-84EA-EB10-6A50325DA4C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4" name="Oval 50">
              <a:extLst>
                <a:ext uri="{FF2B5EF4-FFF2-40B4-BE49-F238E27FC236}">
                  <a16:creationId xmlns:a16="http://schemas.microsoft.com/office/drawing/2014/main" id="{7EB436A2-1171-7494-BF67-51C99E604DB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7" name="Group 53">
            <a:extLst>
              <a:ext uri="{FF2B5EF4-FFF2-40B4-BE49-F238E27FC236}">
                <a16:creationId xmlns:a16="http://schemas.microsoft.com/office/drawing/2014/main" id="{4E398138-725E-62EA-9CE5-B85BE0D60B4F}"/>
              </a:ext>
            </a:extLst>
          </p:cNvPr>
          <p:cNvGrpSpPr/>
          <p:nvPr/>
        </p:nvGrpSpPr>
        <p:grpSpPr>
          <a:xfrm>
            <a:off x="446371" y="2775383"/>
            <a:ext cx="443725" cy="250799"/>
            <a:chOff x="6964708" y="4299700"/>
            <a:chExt cx="1208965" cy="753345"/>
          </a:xfrm>
        </p:grpSpPr>
        <p:grpSp>
          <p:nvGrpSpPr>
            <p:cNvPr id="128" name="Group 54">
              <a:extLst>
                <a:ext uri="{FF2B5EF4-FFF2-40B4-BE49-F238E27FC236}">
                  <a16:creationId xmlns:a16="http://schemas.microsoft.com/office/drawing/2014/main" id="{CD55073E-4151-E32C-EB8F-34BA4BC73F3F}"/>
                </a:ext>
              </a:extLst>
            </p:cNvPr>
            <p:cNvGrpSpPr/>
            <p:nvPr/>
          </p:nvGrpSpPr>
          <p:grpSpPr>
            <a:xfrm>
              <a:off x="6964708" y="4299700"/>
              <a:ext cx="1208965" cy="753345"/>
              <a:chOff x="6629084" y="4161784"/>
              <a:chExt cx="1208965" cy="753345"/>
            </a:xfrm>
          </p:grpSpPr>
          <p:sp>
            <p:nvSpPr>
              <p:cNvPr id="132" name="Google Shape;1775;p42">
                <a:extLst>
                  <a:ext uri="{FF2B5EF4-FFF2-40B4-BE49-F238E27FC236}">
                    <a16:creationId xmlns:a16="http://schemas.microsoft.com/office/drawing/2014/main" id="{616D2A8A-82B3-61CB-DB39-82B9F1003B7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3" name="Google Shape;1775;p42">
                <a:extLst>
                  <a:ext uri="{FF2B5EF4-FFF2-40B4-BE49-F238E27FC236}">
                    <a16:creationId xmlns:a16="http://schemas.microsoft.com/office/drawing/2014/main" id="{79121376-FFD5-8345-2064-4C8E5B9CB3B8}"/>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9" name="Rectangle 55">
              <a:extLst>
                <a:ext uri="{FF2B5EF4-FFF2-40B4-BE49-F238E27FC236}">
                  <a16:creationId xmlns:a16="http://schemas.microsoft.com/office/drawing/2014/main" id="{58C3220D-322F-98D6-4992-15FD6B52FB8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0" name="Rectangle 56">
              <a:extLst>
                <a:ext uri="{FF2B5EF4-FFF2-40B4-BE49-F238E27FC236}">
                  <a16:creationId xmlns:a16="http://schemas.microsoft.com/office/drawing/2014/main" id="{481F5FFD-F5B0-50A1-EBD2-EA34EB0337D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1" name="Oval 57">
              <a:extLst>
                <a:ext uri="{FF2B5EF4-FFF2-40B4-BE49-F238E27FC236}">
                  <a16:creationId xmlns:a16="http://schemas.microsoft.com/office/drawing/2014/main" id="{6CDCD4BA-9E15-AFB7-9EB8-2AC2B7BB7FF9}"/>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4" name="Group 127">
            <a:extLst>
              <a:ext uri="{FF2B5EF4-FFF2-40B4-BE49-F238E27FC236}">
                <a16:creationId xmlns:a16="http://schemas.microsoft.com/office/drawing/2014/main" id="{954324FE-7A5F-CAD3-58E5-C965ABA50768}"/>
              </a:ext>
            </a:extLst>
          </p:cNvPr>
          <p:cNvGrpSpPr/>
          <p:nvPr/>
        </p:nvGrpSpPr>
        <p:grpSpPr>
          <a:xfrm>
            <a:off x="440539" y="4060064"/>
            <a:ext cx="443725" cy="250799"/>
            <a:chOff x="6964708" y="4299700"/>
            <a:chExt cx="1208965" cy="753345"/>
          </a:xfrm>
        </p:grpSpPr>
        <p:grpSp>
          <p:nvGrpSpPr>
            <p:cNvPr id="135" name="Group 128">
              <a:extLst>
                <a:ext uri="{FF2B5EF4-FFF2-40B4-BE49-F238E27FC236}">
                  <a16:creationId xmlns:a16="http://schemas.microsoft.com/office/drawing/2014/main" id="{6AA1EBEC-D4DE-9B45-A31E-FE23B25141A7}"/>
                </a:ext>
              </a:extLst>
            </p:cNvPr>
            <p:cNvGrpSpPr/>
            <p:nvPr/>
          </p:nvGrpSpPr>
          <p:grpSpPr>
            <a:xfrm>
              <a:off x="6964708" y="4299700"/>
              <a:ext cx="1208965" cy="753345"/>
              <a:chOff x="6629084" y="4161784"/>
              <a:chExt cx="1208965" cy="753345"/>
            </a:xfrm>
          </p:grpSpPr>
          <p:sp>
            <p:nvSpPr>
              <p:cNvPr id="139" name="Google Shape;1775;p42">
                <a:extLst>
                  <a:ext uri="{FF2B5EF4-FFF2-40B4-BE49-F238E27FC236}">
                    <a16:creationId xmlns:a16="http://schemas.microsoft.com/office/drawing/2014/main" id="{ED38F4D8-CB4B-4D1F-A8B4-2FDA04CE5CE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0" name="Google Shape;1775;p42">
                <a:extLst>
                  <a:ext uri="{FF2B5EF4-FFF2-40B4-BE49-F238E27FC236}">
                    <a16:creationId xmlns:a16="http://schemas.microsoft.com/office/drawing/2014/main" id="{FE2BD6A2-8C89-FBF3-0C37-1729ED208104}"/>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36" name="Rectangle 129">
              <a:extLst>
                <a:ext uri="{FF2B5EF4-FFF2-40B4-BE49-F238E27FC236}">
                  <a16:creationId xmlns:a16="http://schemas.microsoft.com/office/drawing/2014/main" id="{00E92569-7B29-E87C-A6A4-45FF99D2B45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7" name="Rectangle 130">
              <a:extLst>
                <a:ext uri="{FF2B5EF4-FFF2-40B4-BE49-F238E27FC236}">
                  <a16:creationId xmlns:a16="http://schemas.microsoft.com/office/drawing/2014/main" id="{D1AE946F-FAB3-C3B0-06DA-61BAEB73E84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8" name="Oval 131">
              <a:extLst>
                <a:ext uri="{FF2B5EF4-FFF2-40B4-BE49-F238E27FC236}">
                  <a16:creationId xmlns:a16="http://schemas.microsoft.com/office/drawing/2014/main" id="{6E0D82DE-A240-0DF2-D93C-1DDDEA09B409}"/>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41" name="Group 134">
            <a:extLst>
              <a:ext uri="{FF2B5EF4-FFF2-40B4-BE49-F238E27FC236}">
                <a16:creationId xmlns:a16="http://schemas.microsoft.com/office/drawing/2014/main" id="{9C96DFEA-7EAE-606B-E771-7E308C379481}"/>
              </a:ext>
            </a:extLst>
          </p:cNvPr>
          <p:cNvGrpSpPr/>
          <p:nvPr/>
        </p:nvGrpSpPr>
        <p:grpSpPr>
          <a:xfrm>
            <a:off x="955685" y="2784757"/>
            <a:ext cx="443725" cy="250799"/>
            <a:chOff x="6964708" y="4299700"/>
            <a:chExt cx="1208965" cy="753345"/>
          </a:xfrm>
        </p:grpSpPr>
        <p:grpSp>
          <p:nvGrpSpPr>
            <p:cNvPr id="142" name="Group 135">
              <a:extLst>
                <a:ext uri="{FF2B5EF4-FFF2-40B4-BE49-F238E27FC236}">
                  <a16:creationId xmlns:a16="http://schemas.microsoft.com/office/drawing/2014/main" id="{BAC212C9-0215-3466-E3BF-9F1D6D526312}"/>
                </a:ext>
              </a:extLst>
            </p:cNvPr>
            <p:cNvGrpSpPr/>
            <p:nvPr/>
          </p:nvGrpSpPr>
          <p:grpSpPr>
            <a:xfrm>
              <a:off x="6964708" y="4299700"/>
              <a:ext cx="1208965" cy="753345"/>
              <a:chOff x="6629084" y="4161784"/>
              <a:chExt cx="1208965" cy="753345"/>
            </a:xfrm>
          </p:grpSpPr>
          <p:sp>
            <p:nvSpPr>
              <p:cNvPr id="146" name="Google Shape;1775;p42">
                <a:extLst>
                  <a:ext uri="{FF2B5EF4-FFF2-40B4-BE49-F238E27FC236}">
                    <a16:creationId xmlns:a16="http://schemas.microsoft.com/office/drawing/2014/main" id="{3DBD7B29-D11D-2A3F-78F9-CEA942A55BF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7" name="Google Shape;1775;p42">
                <a:extLst>
                  <a:ext uri="{FF2B5EF4-FFF2-40B4-BE49-F238E27FC236}">
                    <a16:creationId xmlns:a16="http://schemas.microsoft.com/office/drawing/2014/main" id="{226FADC3-4412-4D5E-50A8-AF0D5878F4A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3" name="Rectangle 136">
              <a:extLst>
                <a:ext uri="{FF2B5EF4-FFF2-40B4-BE49-F238E27FC236}">
                  <a16:creationId xmlns:a16="http://schemas.microsoft.com/office/drawing/2014/main" id="{47D15890-76E5-C1DB-2055-F72EEA34CA8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4" name="Rectangle 137">
              <a:extLst>
                <a:ext uri="{FF2B5EF4-FFF2-40B4-BE49-F238E27FC236}">
                  <a16:creationId xmlns:a16="http://schemas.microsoft.com/office/drawing/2014/main" id="{F5BE7F3A-9698-1669-E943-1DA254D8F6E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5" name="Oval 138">
              <a:extLst>
                <a:ext uri="{FF2B5EF4-FFF2-40B4-BE49-F238E27FC236}">
                  <a16:creationId xmlns:a16="http://schemas.microsoft.com/office/drawing/2014/main" id="{F2C8418E-D6AB-9A0E-83A3-5C16062B612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148" name="TextBox 141">
            <a:extLst>
              <a:ext uri="{FF2B5EF4-FFF2-40B4-BE49-F238E27FC236}">
                <a16:creationId xmlns:a16="http://schemas.microsoft.com/office/drawing/2014/main" id="{508624FF-5641-861D-4CD8-F2E733C72A84}"/>
              </a:ext>
            </a:extLst>
          </p:cNvPr>
          <p:cNvSpPr txBox="1"/>
          <p:nvPr/>
        </p:nvSpPr>
        <p:spPr>
          <a:xfrm>
            <a:off x="381546" y="2428207"/>
            <a:ext cx="463309"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nvGrpSpPr>
          <p:cNvPr id="149" name="Group 142">
            <a:extLst>
              <a:ext uri="{FF2B5EF4-FFF2-40B4-BE49-F238E27FC236}">
                <a16:creationId xmlns:a16="http://schemas.microsoft.com/office/drawing/2014/main" id="{D1098BD0-B04C-4422-B780-C08B187799CD}"/>
              </a:ext>
            </a:extLst>
          </p:cNvPr>
          <p:cNvGrpSpPr/>
          <p:nvPr/>
        </p:nvGrpSpPr>
        <p:grpSpPr>
          <a:xfrm>
            <a:off x="2670663" y="2719838"/>
            <a:ext cx="897085" cy="1060365"/>
            <a:chOff x="431605" y="3026820"/>
            <a:chExt cx="1534964" cy="2000271"/>
          </a:xfrm>
        </p:grpSpPr>
        <p:grpSp>
          <p:nvGrpSpPr>
            <p:cNvPr id="150" name="Group 144">
              <a:extLst>
                <a:ext uri="{FF2B5EF4-FFF2-40B4-BE49-F238E27FC236}">
                  <a16:creationId xmlns:a16="http://schemas.microsoft.com/office/drawing/2014/main" id="{8AF552BF-7245-63D3-8518-6ECFE9AF9938}"/>
                </a:ext>
              </a:extLst>
            </p:cNvPr>
            <p:cNvGrpSpPr/>
            <p:nvPr/>
          </p:nvGrpSpPr>
          <p:grpSpPr>
            <a:xfrm>
              <a:off x="461415" y="3076743"/>
              <a:ext cx="633736" cy="899867"/>
              <a:chOff x="6964708" y="4299700"/>
              <a:chExt cx="1208965" cy="753345"/>
            </a:xfrm>
          </p:grpSpPr>
          <p:grpSp>
            <p:nvGrpSpPr>
              <p:cNvPr id="204" name="Group 201">
                <a:extLst>
                  <a:ext uri="{FF2B5EF4-FFF2-40B4-BE49-F238E27FC236}">
                    <a16:creationId xmlns:a16="http://schemas.microsoft.com/office/drawing/2014/main" id="{1BBE3E03-686F-6869-33F5-CADCC02D924E}"/>
                  </a:ext>
                </a:extLst>
              </p:cNvPr>
              <p:cNvGrpSpPr/>
              <p:nvPr/>
            </p:nvGrpSpPr>
            <p:grpSpPr>
              <a:xfrm>
                <a:off x="6964708" y="4299700"/>
                <a:ext cx="1208965" cy="753345"/>
                <a:chOff x="6629084" y="4161784"/>
                <a:chExt cx="1208965" cy="753345"/>
              </a:xfrm>
            </p:grpSpPr>
            <p:sp>
              <p:nvSpPr>
                <p:cNvPr id="208" name="Google Shape;1775;p42">
                  <a:extLst>
                    <a:ext uri="{FF2B5EF4-FFF2-40B4-BE49-F238E27FC236}">
                      <a16:creationId xmlns:a16="http://schemas.microsoft.com/office/drawing/2014/main" id="{48AB9253-38ED-020B-8BE1-0B170BE17E64}"/>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09" name="Google Shape;1775;p42">
                  <a:extLst>
                    <a:ext uri="{FF2B5EF4-FFF2-40B4-BE49-F238E27FC236}">
                      <a16:creationId xmlns:a16="http://schemas.microsoft.com/office/drawing/2014/main" id="{636F323B-72F6-CB6F-9768-AADA63F60501}"/>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05" name="Rectangle 202">
                <a:extLst>
                  <a:ext uri="{FF2B5EF4-FFF2-40B4-BE49-F238E27FC236}">
                    <a16:creationId xmlns:a16="http://schemas.microsoft.com/office/drawing/2014/main" id="{EC824C4D-E478-CCB6-2496-F29556C2C914}"/>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6" name="Rectangle 203">
                <a:extLst>
                  <a:ext uri="{FF2B5EF4-FFF2-40B4-BE49-F238E27FC236}">
                    <a16:creationId xmlns:a16="http://schemas.microsoft.com/office/drawing/2014/main" id="{F7FC133B-F4CF-A6B1-15FC-E5301947EE5A}"/>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7" name="Oval 204">
                <a:extLst>
                  <a:ext uri="{FF2B5EF4-FFF2-40B4-BE49-F238E27FC236}">
                    <a16:creationId xmlns:a16="http://schemas.microsoft.com/office/drawing/2014/main" id="{46102F67-122C-64B8-4892-ACD3D3335548}"/>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1" name="TextBox 145">
              <a:extLst>
                <a:ext uri="{FF2B5EF4-FFF2-40B4-BE49-F238E27FC236}">
                  <a16:creationId xmlns:a16="http://schemas.microsoft.com/office/drawing/2014/main" id="{D6A8A595-A0C8-7AAE-ACC9-FC8578157417}"/>
                </a:ext>
              </a:extLst>
            </p:cNvPr>
            <p:cNvSpPr txBox="1"/>
            <p:nvPr/>
          </p:nvSpPr>
          <p:spPr>
            <a:xfrm>
              <a:off x="436286" y="3026820"/>
              <a:ext cx="551322"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2" name="Group 146">
              <a:extLst>
                <a:ext uri="{FF2B5EF4-FFF2-40B4-BE49-F238E27FC236}">
                  <a16:creationId xmlns:a16="http://schemas.microsoft.com/office/drawing/2014/main" id="{BC1D3583-4FB2-C8F4-9412-2A5DFE0C45C7}"/>
                </a:ext>
              </a:extLst>
            </p:cNvPr>
            <p:cNvGrpSpPr/>
            <p:nvPr/>
          </p:nvGrpSpPr>
          <p:grpSpPr>
            <a:xfrm>
              <a:off x="644218" y="3605845"/>
              <a:ext cx="501529" cy="312519"/>
              <a:chOff x="6964708" y="4299700"/>
              <a:chExt cx="1208965" cy="753345"/>
            </a:xfrm>
          </p:grpSpPr>
          <p:grpSp>
            <p:nvGrpSpPr>
              <p:cNvPr id="198" name="Group 195">
                <a:extLst>
                  <a:ext uri="{FF2B5EF4-FFF2-40B4-BE49-F238E27FC236}">
                    <a16:creationId xmlns:a16="http://schemas.microsoft.com/office/drawing/2014/main" id="{0D78E75B-6448-26F3-A669-E6A4D83F1DE3}"/>
                  </a:ext>
                </a:extLst>
              </p:cNvPr>
              <p:cNvGrpSpPr/>
              <p:nvPr/>
            </p:nvGrpSpPr>
            <p:grpSpPr>
              <a:xfrm>
                <a:off x="6964708" y="4299700"/>
                <a:ext cx="1208965" cy="753345"/>
                <a:chOff x="6629084" y="4161784"/>
                <a:chExt cx="1208965" cy="753345"/>
              </a:xfrm>
            </p:grpSpPr>
            <p:sp>
              <p:nvSpPr>
                <p:cNvPr id="202" name="Google Shape;1775;p42">
                  <a:extLst>
                    <a:ext uri="{FF2B5EF4-FFF2-40B4-BE49-F238E27FC236}">
                      <a16:creationId xmlns:a16="http://schemas.microsoft.com/office/drawing/2014/main" id="{43AD3A08-B616-0644-FDEA-7F6E9AB8BFF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03" name="Google Shape;1775;p42">
                  <a:extLst>
                    <a:ext uri="{FF2B5EF4-FFF2-40B4-BE49-F238E27FC236}">
                      <a16:creationId xmlns:a16="http://schemas.microsoft.com/office/drawing/2014/main" id="{51AADFA3-7836-299F-6266-0B44F7CBD68F}"/>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99" name="Rectangle 196">
                <a:extLst>
                  <a:ext uri="{FF2B5EF4-FFF2-40B4-BE49-F238E27FC236}">
                    <a16:creationId xmlns:a16="http://schemas.microsoft.com/office/drawing/2014/main" id="{61ECA5C0-344D-158E-B589-5A33021776DB}"/>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0" name="Rectangle 197">
                <a:extLst>
                  <a:ext uri="{FF2B5EF4-FFF2-40B4-BE49-F238E27FC236}">
                    <a16:creationId xmlns:a16="http://schemas.microsoft.com/office/drawing/2014/main" id="{3B11B6DC-B63D-B83D-1D43-39A15022CC3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1" name="Oval 198">
                <a:extLst>
                  <a:ext uri="{FF2B5EF4-FFF2-40B4-BE49-F238E27FC236}">
                    <a16:creationId xmlns:a16="http://schemas.microsoft.com/office/drawing/2014/main" id="{5A7D325B-504B-BF6D-66BE-69F4232F7174}"/>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3" name="Group 147">
              <a:extLst>
                <a:ext uri="{FF2B5EF4-FFF2-40B4-BE49-F238E27FC236}">
                  <a16:creationId xmlns:a16="http://schemas.microsoft.com/office/drawing/2014/main" id="{0DA87387-B60D-FAE2-BCC7-FF6EA9E2F837}"/>
                </a:ext>
              </a:extLst>
            </p:cNvPr>
            <p:cNvGrpSpPr/>
            <p:nvPr/>
          </p:nvGrpSpPr>
          <p:grpSpPr>
            <a:xfrm>
              <a:off x="1278724" y="3092868"/>
              <a:ext cx="633736" cy="899867"/>
              <a:chOff x="6964708" y="4299700"/>
              <a:chExt cx="1208965" cy="753345"/>
            </a:xfrm>
          </p:grpSpPr>
          <p:grpSp>
            <p:nvGrpSpPr>
              <p:cNvPr id="192" name="Group 189">
                <a:extLst>
                  <a:ext uri="{FF2B5EF4-FFF2-40B4-BE49-F238E27FC236}">
                    <a16:creationId xmlns:a16="http://schemas.microsoft.com/office/drawing/2014/main" id="{C983DF29-2F86-BDA3-2F84-1AE491809A9B}"/>
                  </a:ext>
                </a:extLst>
              </p:cNvPr>
              <p:cNvGrpSpPr/>
              <p:nvPr/>
            </p:nvGrpSpPr>
            <p:grpSpPr>
              <a:xfrm>
                <a:off x="6964708" y="4299700"/>
                <a:ext cx="1208965" cy="753345"/>
                <a:chOff x="6629084" y="4161784"/>
                <a:chExt cx="1208965" cy="753345"/>
              </a:xfrm>
            </p:grpSpPr>
            <p:sp>
              <p:nvSpPr>
                <p:cNvPr id="196" name="Google Shape;1775;p42">
                  <a:extLst>
                    <a:ext uri="{FF2B5EF4-FFF2-40B4-BE49-F238E27FC236}">
                      <a16:creationId xmlns:a16="http://schemas.microsoft.com/office/drawing/2014/main" id="{198FDE3F-ACFB-B29B-5029-AEEEB52D376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97" name="Google Shape;1775;p42">
                  <a:extLst>
                    <a:ext uri="{FF2B5EF4-FFF2-40B4-BE49-F238E27FC236}">
                      <a16:creationId xmlns:a16="http://schemas.microsoft.com/office/drawing/2014/main" id="{705B89E1-9B8B-16D9-CF5B-68EE2B9AB3B9}"/>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93" name="Rectangle 190">
                <a:extLst>
                  <a:ext uri="{FF2B5EF4-FFF2-40B4-BE49-F238E27FC236}">
                    <a16:creationId xmlns:a16="http://schemas.microsoft.com/office/drawing/2014/main" id="{4AFD5A24-83FC-8044-9E0A-145BC94A2B57}"/>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94" name="Rectangle 191">
                <a:extLst>
                  <a:ext uri="{FF2B5EF4-FFF2-40B4-BE49-F238E27FC236}">
                    <a16:creationId xmlns:a16="http://schemas.microsoft.com/office/drawing/2014/main" id="{D51AD7A5-5C08-BB95-7286-E489DF8C174A}"/>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95" name="Oval 192">
                <a:extLst>
                  <a:ext uri="{FF2B5EF4-FFF2-40B4-BE49-F238E27FC236}">
                    <a16:creationId xmlns:a16="http://schemas.microsoft.com/office/drawing/2014/main" id="{466B4785-EFEE-FAD8-ACFC-24390C02CDC2}"/>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4" name="TextBox 148">
              <a:extLst>
                <a:ext uri="{FF2B5EF4-FFF2-40B4-BE49-F238E27FC236}">
                  <a16:creationId xmlns:a16="http://schemas.microsoft.com/office/drawing/2014/main" id="{C78C034F-61D7-4250-59FA-C36CD955086A}"/>
                </a:ext>
              </a:extLst>
            </p:cNvPr>
            <p:cNvSpPr txBox="1"/>
            <p:nvPr/>
          </p:nvSpPr>
          <p:spPr>
            <a:xfrm>
              <a:off x="1253595" y="3042947"/>
              <a:ext cx="481110" cy="406413"/>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5" name="Group 149">
              <a:extLst>
                <a:ext uri="{FF2B5EF4-FFF2-40B4-BE49-F238E27FC236}">
                  <a16:creationId xmlns:a16="http://schemas.microsoft.com/office/drawing/2014/main" id="{4320327D-42FA-CC44-3F31-ACA8551D1AA3}"/>
                </a:ext>
              </a:extLst>
            </p:cNvPr>
            <p:cNvGrpSpPr/>
            <p:nvPr/>
          </p:nvGrpSpPr>
          <p:grpSpPr>
            <a:xfrm>
              <a:off x="1461527" y="3621970"/>
              <a:ext cx="501529" cy="312519"/>
              <a:chOff x="6964708" y="4299700"/>
              <a:chExt cx="1208965" cy="753345"/>
            </a:xfrm>
          </p:grpSpPr>
          <p:grpSp>
            <p:nvGrpSpPr>
              <p:cNvPr id="186" name="Group 183">
                <a:extLst>
                  <a:ext uri="{FF2B5EF4-FFF2-40B4-BE49-F238E27FC236}">
                    <a16:creationId xmlns:a16="http://schemas.microsoft.com/office/drawing/2014/main" id="{726E011E-CE79-1983-3C36-9300D56AA04B}"/>
                  </a:ext>
                </a:extLst>
              </p:cNvPr>
              <p:cNvGrpSpPr/>
              <p:nvPr/>
            </p:nvGrpSpPr>
            <p:grpSpPr>
              <a:xfrm>
                <a:off x="6964708" y="4299700"/>
                <a:ext cx="1208965" cy="753345"/>
                <a:chOff x="6629084" y="4161784"/>
                <a:chExt cx="1208965" cy="753345"/>
              </a:xfrm>
            </p:grpSpPr>
            <p:sp>
              <p:nvSpPr>
                <p:cNvPr id="190" name="Google Shape;1775;p42">
                  <a:extLst>
                    <a:ext uri="{FF2B5EF4-FFF2-40B4-BE49-F238E27FC236}">
                      <a16:creationId xmlns:a16="http://schemas.microsoft.com/office/drawing/2014/main" id="{74FBB226-1BB7-0CFA-991E-790F5A2D37D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91" name="Google Shape;1775;p42">
                  <a:extLst>
                    <a:ext uri="{FF2B5EF4-FFF2-40B4-BE49-F238E27FC236}">
                      <a16:creationId xmlns:a16="http://schemas.microsoft.com/office/drawing/2014/main" id="{0734DEAB-9D75-621E-0595-376410716F41}"/>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87" name="Rectangle 184">
                <a:extLst>
                  <a:ext uri="{FF2B5EF4-FFF2-40B4-BE49-F238E27FC236}">
                    <a16:creationId xmlns:a16="http://schemas.microsoft.com/office/drawing/2014/main" id="{F44E2ECE-30B3-EF50-DB70-3DF40A758B79}"/>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8" name="Rectangle 185">
                <a:extLst>
                  <a:ext uri="{FF2B5EF4-FFF2-40B4-BE49-F238E27FC236}">
                    <a16:creationId xmlns:a16="http://schemas.microsoft.com/office/drawing/2014/main" id="{5D14F72A-21D1-DD10-0145-8352653CAF7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9" name="Oval 186">
                <a:extLst>
                  <a:ext uri="{FF2B5EF4-FFF2-40B4-BE49-F238E27FC236}">
                    <a16:creationId xmlns:a16="http://schemas.microsoft.com/office/drawing/2014/main" id="{551D2629-5B7C-A759-6D8C-B1146DB7805E}"/>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6" name="Group 151">
              <a:extLst>
                <a:ext uri="{FF2B5EF4-FFF2-40B4-BE49-F238E27FC236}">
                  <a16:creationId xmlns:a16="http://schemas.microsoft.com/office/drawing/2014/main" id="{33AC9974-5C49-BF96-1FB5-07AD90BC99AB}"/>
                </a:ext>
              </a:extLst>
            </p:cNvPr>
            <p:cNvGrpSpPr/>
            <p:nvPr/>
          </p:nvGrpSpPr>
          <p:grpSpPr>
            <a:xfrm>
              <a:off x="456734" y="4118828"/>
              <a:ext cx="633736" cy="899867"/>
              <a:chOff x="6964708" y="4299700"/>
              <a:chExt cx="1208965" cy="753345"/>
            </a:xfrm>
          </p:grpSpPr>
          <p:grpSp>
            <p:nvGrpSpPr>
              <p:cNvPr id="180" name="Group 177">
                <a:extLst>
                  <a:ext uri="{FF2B5EF4-FFF2-40B4-BE49-F238E27FC236}">
                    <a16:creationId xmlns:a16="http://schemas.microsoft.com/office/drawing/2014/main" id="{34E0D7C1-1BF7-5742-4D2E-58FA2333828D}"/>
                  </a:ext>
                </a:extLst>
              </p:cNvPr>
              <p:cNvGrpSpPr/>
              <p:nvPr/>
            </p:nvGrpSpPr>
            <p:grpSpPr>
              <a:xfrm>
                <a:off x="6964708" y="4299700"/>
                <a:ext cx="1208965" cy="753345"/>
                <a:chOff x="6629084" y="4161784"/>
                <a:chExt cx="1208965" cy="753345"/>
              </a:xfrm>
            </p:grpSpPr>
            <p:sp>
              <p:nvSpPr>
                <p:cNvPr id="184" name="Google Shape;1775;p42">
                  <a:extLst>
                    <a:ext uri="{FF2B5EF4-FFF2-40B4-BE49-F238E27FC236}">
                      <a16:creationId xmlns:a16="http://schemas.microsoft.com/office/drawing/2014/main" id="{433AAA98-9544-D014-8ECB-25E120371A1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85" name="Google Shape;1775;p42">
                  <a:extLst>
                    <a:ext uri="{FF2B5EF4-FFF2-40B4-BE49-F238E27FC236}">
                      <a16:creationId xmlns:a16="http://schemas.microsoft.com/office/drawing/2014/main" id="{CEC35F76-F5B0-E6E2-0F5E-C6828632AA50}"/>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81" name="Rectangle 178">
                <a:extLst>
                  <a:ext uri="{FF2B5EF4-FFF2-40B4-BE49-F238E27FC236}">
                    <a16:creationId xmlns:a16="http://schemas.microsoft.com/office/drawing/2014/main" id="{0AD2F626-2A49-1C19-F187-491E6C7B54BD}"/>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2" name="Rectangle 179">
                <a:extLst>
                  <a:ext uri="{FF2B5EF4-FFF2-40B4-BE49-F238E27FC236}">
                    <a16:creationId xmlns:a16="http://schemas.microsoft.com/office/drawing/2014/main" id="{D8999EC3-8CBE-BBE9-E88B-6EC8D5CD092C}"/>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3" name="Oval 180">
                <a:extLst>
                  <a:ext uri="{FF2B5EF4-FFF2-40B4-BE49-F238E27FC236}">
                    <a16:creationId xmlns:a16="http://schemas.microsoft.com/office/drawing/2014/main" id="{E86A434B-68DB-CA29-583A-A9F1897D6F3E}"/>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7" name="TextBox 152">
              <a:extLst>
                <a:ext uri="{FF2B5EF4-FFF2-40B4-BE49-F238E27FC236}">
                  <a16:creationId xmlns:a16="http://schemas.microsoft.com/office/drawing/2014/main" id="{5E7FFE76-217E-FCAD-147C-8BBE1AE988F1}"/>
                </a:ext>
              </a:extLst>
            </p:cNvPr>
            <p:cNvSpPr txBox="1"/>
            <p:nvPr/>
          </p:nvSpPr>
          <p:spPr>
            <a:xfrm>
              <a:off x="431605" y="4068904"/>
              <a:ext cx="603468"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8" name="Group 153">
              <a:extLst>
                <a:ext uri="{FF2B5EF4-FFF2-40B4-BE49-F238E27FC236}">
                  <a16:creationId xmlns:a16="http://schemas.microsoft.com/office/drawing/2014/main" id="{7E568431-380F-A171-A364-53F3D857DDA7}"/>
                </a:ext>
              </a:extLst>
            </p:cNvPr>
            <p:cNvGrpSpPr/>
            <p:nvPr/>
          </p:nvGrpSpPr>
          <p:grpSpPr>
            <a:xfrm>
              <a:off x="639537" y="4647930"/>
              <a:ext cx="501529" cy="312519"/>
              <a:chOff x="6964708" y="4299700"/>
              <a:chExt cx="1208965" cy="753345"/>
            </a:xfrm>
          </p:grpSpPr>
          <p:grpSp>
            <p:nvGrpSpPr>
              <p:cNvPr id="174" name="Group 171">
                <a:extLst>
                  <a:ext uri="{FF2B5EF4-FFF2-40B4-BE49-F238E27FC236}">
                    <a16:creationId xmlns:a16="http://schemas.microsoft.com/office/drawing/2014/main" id="{48D689DC-6976-74E9-52C7-88435B6C26E7}"/>
                  </a:ext>
                </a:extLst>
              </p:cNvPr>
              <p:cNvGrpSpPr/>
              <p:nvPr/>
            </p:nvGrpSpPr>
            <p:grpSpPr>
              <a:xfrm>
                <a:off x="6964708" y="4299700"/>
                <a:ext cx="1208965" cy="753345"/>
                <a:chOff x="6629084" y="4161784"/>
                <a:chExt cx="1208965" cy="753345"/>
              </a:xfrm>
            </p:grpSpPr>
            <p:sp>
              <p:nvSpPr>
                <p:cNvPr id="178" name="Google Shape;1775;p42">
                  <a:extLst>
                    <a:ext uri="{FF2B5EF4-FFF2-40B4-BE49-F238E27FC236}">
                      <a16:creationId xmlns:a16="http://schemas.microsoft.com/office/drawing/2014/main" id="{A0BAAE3C-63DB-F2B4-848A-99863BCA7B3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79" name="Google Shape;1775;p42">
                  <a:extLst>
                    <a:ext uri="{FF2B5EF4-FFF2-40B4-BE49-F238E27FC236}">
                      <a16:creationId xmlns:a16="http://schemas.microsoft.com/office/drawing/2014/main" id="{3D4E0748-3675-8A3C-3EE3-D44E7304B23E}"/>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75" name="Rectangle 172">
                <a:extLst>
                  <a:ext uri="{FF2B5EF4-FFF2-40B4-BE49-F238E27FC236}">
                    <a16:creationId xmlns:a16="http://schemas.microsoft.com/office/drawing/2014/main" id="{E7263247-081C-DE9C-3D14-5EA7BEA9836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6" name="Rectangle 173">
                <a:extLst>
                  <a:ext uri="{FF2B5EF4-FFF2-40B4-BE49-F238E27FC236}">
                    <a16:creationId xmlns:a16="http://schemas.microsoft.com/office/drawing/2014/main" id="{8B7A9FF3-1A52-E499-62B1-16936145468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7" name="Oval 174">
                <a:extLst>
                  <a:ext uri="{FF2B5EF4-FFF2-40B4-BE49-F238E27FC236}">
                    <a16:creationId xmlns:a16="http://schemas.microsoft.com/office/drawing/2014/main" id="{C0815D2D-40A3-9906-8E67-851D688AC0C6}"/>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9" name="Group 154">
              <a:extLst>
                <a:ext uri="{FF2B5EF4-FFF2-40B4-BE49-F238E27FC236}">
                  <a16:creationId xmlns:a16="http://schemas.microsoft.com/office/drawing/2014/main" id="{67F9107D-C033-944E-5F8D-D97040A76F21}"/>
                </a:ext>
              </a:extLst>
            </p:cNvPr>
            <p:cNvGrpSpPr/>
            <p:nvPr/>
          </p:nvGrpSpPr>
          <p:grpSpPr>
            <a:xfrm>
              <a:off x="1282237" y="4127224"/>
              <a:ext cx="633736" cy="899867"/>
              <a:chOff x="6964708" y="4299700"/>
              <a:chExt cx="1208965" cy="753345"/>
            </a:xfrm>
          </p:grpSpPr>
          <p:grpSp>
            <p:nvGrpSpPr>
              <p:cNvPr id="168" name="Group 165">
                <a:extLst>
                  <a:ext uri="{FF2B5EF4-FFF2-40B4-BE49-F238E27FC236}">
                    <a16:creationId xmlns:a16="http://schemas.microsoft.com/office/drawing/2014/main" id="{9EFDD046-A5EE-D616-D39F-1A86C8533DB9}"/>
                  </a:ext>
                </a:extLst>
              </p:cNvPr>
              <p:cNvGrpSpPr/>
              <p:nvPr/>
            </p:nvGrpSpPr>
            <p:grpSpPr>
              <a:xfrm>
                <a:off x="6964708" y="4299700"/>
                <a:ext cx="1208965" cy="753345"/>
                <a:chOff x="6629084" y="4161784"/>
                <a:chExt cx="1208965" cy="753345"/>
              </a:xfrm>
            </p:grpSpPr>
            <p:sp>
              <p:nvSpPr>
                <p:cNvPr id="172" name="Google Shape;1775;p42">
                  <a:extLst>
                    <a:ext uri="{FF2B5EF4-FFF2-40B4-BE49-F238E27FC236}">
                      <a16:creationId xmlns:a16="http://schemas.microsoft.com/office/drawing/2014/main" id="{C2BD9DA6-19FB-DF5F-492E-85B0D086057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73" name="Google Shape;1775;p42">
                  <a:extLst>
                    <a:ext uri="{FF2B5EF4-FFF2-40B4-BE49-F238E27FC236}">
                      <a16:creationId xmlns:a16="http://schemas.microsoft.com/office/drawing/2014/main" id="{DE038E48-6079-A52A-A03F-44B3ED0B78AC}"/>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69" name="Rectangle 166">
                <a:extLst>
                  <a:ext uri="{FF2B5EF4-FFF2-40B4-BE49-F238E27FC236}">
                    <a16:creationId xmlns:a16="http://schemas.microsoft.com/office/drawing/2014/main" id="{B8ACFACD-EE18-B8FF-8BB1-DDD3409E47F3}"/>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0" name="Rectangle 167">
                <a:extLst>
                  <a:ext uri="{FF2B5EF4-FFF2-40B4-BE49-F238E27FC236}">
                    <a16:creationId xmlns:a16="http://schemas.microsoft.com/office/drawing/2014/main" id="{61B95E1E-4CE3-631C-E954-0E914D3F00DB}"/>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1" name="Oval 168">
                <a:extLst>
                  <a:ext uri="{FF2B5EF4-FFF2-40B4-BE49-F238E27FC236}">
                    <a16:creationId xmlns:a16="http://schemas.microsoft.com/office/drawing/2014/main" id="{7254F751-B434-41F8-8D52-EA79415E4C9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60" name="TextBox 155">
              <a:extLst>
                <a:ext uri="{FF2B5EF4-FFF2-40B4-BE49-F238E27FC236}">
                  <a16:creationId xmlns:a16="http://schemas.microsoft.com/office/drawing/2014/main" id="{00521AEA-BF76-E441-7D37-1F25B5D8BC79}"/>
                </a:ext>
              </a:extLst>
            </p:cNvPr>
            <p:cNvSpPr txBox="1"/>
            <p:nvPr/>
          </p:nvSpPr>
          <p:spPr>
            <a:xfrm>
              <a:off x="1257108" y="4077301"/>
              <a:ext cx="537012"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61" name="Group 156">
              <a:extLst>
                <a:ext uri="{FF2B5EF4-FFF2-40B4-BE49-F238E27FC236}">
                  <a16:creationId xmlns:a16="http://schemas.microsoft.com/office/drawing/2014/main" id="{98BE7905-8711-F64D-1EA7-D1EBCE23A9B3}"/>
                </a:ext>
              </a:extLst>
            </p:cNvPr>
            <p:cNvGrpSpPr/>
            <p:nvPr/>
          </p:nvGrpSpPr>
          <p:grpSpPr>
            <a:xfrm>
              <a:off x="1465040" y="4656326"/>
              <a:ext cx="501529" cy="312519"/>
              <a:chOff x="6964708" y="4299700"/>
              <a:chExt cx="1208965" cy="753345"/>
            </a:xfrm>
          </p:grpSpPr>
          <p:grpSp>
            <p:nvGrpSpPr>
              <p:cNvPr id="162" name="Group 157">
                <a:extLst>
                  <a:ext uri="{FF2B5EF4-FFF2-40B4-BE49-F238E27FC236}">
                    <a16:creationId xmlns:a16="http://schemas.microsoft.com/office/drawing/2014/main" id="{8F4729A9-6EAA-00FA-0A34-CDF9259F442E}"/>
                  </a:ext>
                </a:extLst>
              </p:cNvPr>
              <p:cNvGrpSpPr/>
              <p:nvPr/>
            </p:nvGrpSpPr>
            <p:grpSpPr>
              <a:xfrm>
                <a:off x="6964708" y="4299700"/>
                <a:ext cx="1208965" cy="753345"/>
                <a:chOff x="6629084" y="4161784"/>
                <a:chExt cx="1208965" cy="753345"/>
              </a:xfrm>
            </p:grpSpPr>
            <p:sp>
              <p:nvSpPr>
                <p:cNvPr id="166" name="Google Shape;1775;p42">
                  <a:extLst>
                    <a:ext uri="{FF2B5EF4-FFF2-40B4-BE49-F238E27FC236}">
                      <a16:creationId xmlns:a16="http://schemas.microsoft.com/office/drawing/2014/main" id="{D89DE317-E441-1DF4-4816-47699C4B47A0}"/>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67" name="Google Shape;1775;p42">
                  <a:extLst>
                    <a:ext uri="{FF2B5EF4-FFF2-40B4-BE49-F238E27FC236}">
                      <a16:creationId xmlns:a16="http://schemas.microsoft.com/office/drawing/2014/main" id="{688608C7-33EF-9533-925E-BCAEA2DFA027}"/>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63" name="Rectangle 158">
                <a:extLst>
                  <a:ext uri="{FF2B5EF4-FFF2-40B4-BE49-F238E27FC236}">
                    <a16:creationId xmlns:a16="http://schemas.microsoft.com/office/drawing/2014/main" id="{DFA013C7-059F-FFAF-DE7D-9865F77661A9}"/>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64" name="Rectangle 160">
                <a:extLst>
                  <a:ext uri="{FF2B5EF4-FFF2-40B4-BE49-F238E27FC236}">
                    <a16:creationId xmlns:a16="http://schemas.microsoft.com/office/drawing/2014/main" id="{43936EF9-37DE-B01D-127D-EA44E8B7FBF2}"/>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65" name="Oval 161">
                <a:extLst>
                  <a:ext uri="{FF2B5EF4-FFF2-40B4-BE49-F238E27FC236}">
                    <a16:creationId xmlns:a16="http://schemas.microsoft.com/office/drawing/2014/main" id="{298E01DE-17C1-1862-C7CE-0B5291E8721B}"/>
                  </a:ext>
                </a:extLst>
              </p:cNvPr>
              <p:cNvSpPr/>
              <p:nvPr/>
            </p:nvSpPr>
            <p:spPr>
              <a:xfrm>
                <a:off x="7844759" y="4568268"/>
                <a:ext cx="243016" cy="243016"/>
              </a:xfrm>
              <a:prstGeom prst="ellipse">
                <a:avLst/>
              </a:prstGeom>
              <a:solidFill>
                <a:srgbClr val="00A5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sp>
        <p:nvSpPr>
          <p:cNvPr id="210" name="Google Shape;1758;p42">
            <a:extLst>
              <a:ext uri="{FF2B5EF4-FFF2-40B4-BE49-F238E27FC236}">
                <a16:creationId xmlns:a16="http://schemas.microsoft.com/office/drawing/2014/main" id="{85C01E1C-B42B-42B2-6E0A-39774AF2FB7E}"/>
              </a:ext>
            </a:extLst>
          </p:cNvPr>
          <p:cNvSpPr txBox="1"/>
          <p:nvPr/>
        </p:nvSpPr>
        <p:spPr>
          <a:xfrm>
            <a:off x="330564" y="2212799"/>
            <a:ext cx="1361366" cy="261556"/>
          </a:xfrm>
          <a:prstGeom prst="rect">
            <a:avLst/>
          </a:prstGeom>
          <a:noFill/>
          <a:ln>
            <a:noFill/>
          </a:ln>
        </p:spPr>
        <p:txBody>
          <a:bodyPr spcFirstLastPara="1" wrap="square" lIns="121900" tIns="60933" rIns="121900" bIns="60933" anchor="t" anchorCtr="0">
            <a:spAutoFit/>
          </a:bodyPr>
          <a:lstStyle/>
          <a:p>
            <a:r>
              <a:rPr lang="en-US" sz="900" i="1">
                <a:solidFill>
                  <a:srgbClr val="000000"/>
                </a:solidFill>
                <a:latin typeface="+mn-lt"/>
                <a:ea typeface="Open Sans"/>
                <a:cs typeface="Open Sans"/>
                <a:sym typeface="Open Sans"/>
              </a:rPr>
              <a:t>“Bite size” </a:t>
            </a:r>
            <a:r>
              <a:rPr lang="en-US" sz="900">
                <a:solidFill>
                  <a:srgbClr val="000000"/>
                </a:solidFill>
                <a:latin typeface="+mn-lt"/>
                <a:ea typeface="Open Sans"/>
                <a:cs typeface="Open Sans"/>
                <a:sym typeface="Open Sans"/>
              </a:rPr>
              <a:t>Stories</a:t>
            </a:r>
            <a:endParaRPr sz="1600">
              <a:latin typeface="+mn-lt"/>
            </a:endParaRPr>
          </a:p>
        </p:txBody>
      </p:sp>
      <p:cxnSp>
        <p:nvCxnSpPr>
          <p:cNvPr id="211" name="Google Shape;1772;p42">
            <a:extLst>
              <a:ext uri="{FF2B5EF4-FFF2-40B4-BE49-F238E27FC236}">
                <a16:creationId xmlns:a16="http://schemas.microsoft.com/office/drawing/2014/main" id="{A9B1B11E-47A5-0E44-E396-3252DB7AF561}"/>
              </a:ext>
            </a:extLst>
          </p:cNvPr>
          <p:cNvCxnSpPr>
            <a:cxnSpLocks/>
          </p:cNvCxnSpPr>
          <p:nvPr/>
        </p:nvCxnSpPr>
        <p:spPr>
          <a:xfrm flipH="1" flipV="1">
            <a:off x="312411" y="2326335"/>
            <a:ext cx="2248" cy="1991877"/>
          </a:xfrm>
          <a:prstGeom prst="straightConnector1">
            <a:avLst/>
          </a:prstGeom>
          <a:noFill/>
          <a:ln w="9525" cap="flat" cmpd="sng">
            <a:solidFill>
              <a:schemeClr val="dk1"/>
            </a:solidFill>
            <a:prstDash val="solid"/>
            <a:round/>
            <a:headEnd type="none" w="sm" len="sm"/>
            <a:tailEnd type="stealth" w="med" len="med"/>
          </a:ln>
        </p:spPr>
      </p:cxnSp>
      <p:sp>
        <p:nvSpPr>
          <p:cNvPr id="212" name="Google Shape;1773;p42">
            <a:extLst>
              <a:ext uri="{FF2B5EF4-FFF2-40B4-BE49-F238E27FC236}">
                <a16:creationId xmlns:a16="http://schemas.microsoft.com/office/drawing/2014/main" id="{5A982431-EB1A-BD4B-61F3-DD229C6F112B}"/>
              </a:ext>
            </a:extLst>
          </p:cNvPr>
          <p:cNvSpPr txBox="1"/>
          <p:nvPr/>
        </p:nvSpPr>
        <p:spPr>
          <a:xfrm rot="16200000">
            <a:off x="-685704" y="3242566"/>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Request by business value</a:t>
            </a:r>
            <a:endParaRPr sz="800" b="1">
              <a:solidFill>
                <a:srgbClr val="000000"/>
              </a:solidFill>
              <a:latin typeface="+mn-lt"/>
              <a:ea typeface="Open Sans"/>
              <a:cs typeface="Open Sans"/>
              <a:sym typeface="Open Sans"/>
            </a:endParaRPr>
          </a:p>
        </p:txBody>
      </p:sp>
      <p:cxnSp>
        <p:nvCxnSpPr>
          <p:cNvPr id="213" name="Straight Connector 210">
            <a:extLst>
              <a:ext uri="{FF2B5EF4-FFF2-40B4-BE49-F238E27FC236}">
                <a16:creationId xmlns:a16="http://schemas.microsoft.com/office/drawing/2014/main" id="{51DC599D-2508-0857-8A67-9E16615168FD}"/>
              </a:ext>
            </a:extLst>
          </p:cNvPr>
          <p:cNvCxnSpPr>
            <a:cxnSpLocks/>
          </p:cNvCxnSpPr>
          <p:nvPr/>
        </p:nvCxnSpPr>
        <p:spPr>
          <a:xfrm flipH="1">
            <a:off x="953321" y="7879803"/>
            <a:ext cx="10153821" cy="919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4" name="Google Shape;1758;p42">
            <a:extLst>
              <a:ext uri="{FF2B5EF4-FFF2-40B4-BE49-F238E27FC236}">
                <a16:creationId xmlns:a16="http://schemas.microsoft.com/office/drawing/2014/main" id="{2867E3A3-1ADD-18E2-59FA-FE52F23B92C1}"/>
              </a:ext>
            </a:extLst>
          </p:cNvPr>
          <p:cNvSpPr txBox="1"/>
          <p:nvPr/>
        </p:nvSpPr>
        <p:spPr>
          <a:xfrm>
            <a:off x="3493915" y="8097649"/>
            <a:ext cx="2092070"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Organize Projects in Backlogs allows for Planning, Prioritization and Work Distribution</a:t>
            </a:r>
            <a:endParaRPr sz="1200">
              <a:latin typeface="+mn-lt"/>
            </a:endParaRPr>
          </a:p>
        </p:txBody>
      </p:sp>
      <p:sp>
        <p:nvSpPr>
          <p:cNvPr id="215" name="Google Shape;1758;p42">
            <a:extLst>
              <a:ext uri="{FF2B5EF4-FFF2-40B4-BE49-F238E27FC236}">
                <a16:creationId xmlns:a16="http://schemas.microsoft.com/office/drawing/2014/main" id="{46B4FD05-167D-7CC0-92B4-C07053BF0353}"/>
              </a:ext>
            </a:extLst>
          </p:cNvPr>
          <p:cNvSpPr txBox="1"/>
          <p:nvPr/>
        </p:nvSpPr>
        <p:spPr>
          <a:xfrm>
            <a:off x="1577353" y="8032409"/>
            <a:ext cx="1619170"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Organize the Project in WBS to Provide Estimates</a:t>
            </a:r>
            <a:endParaRPr sz="1200">
              <a:latin typeface="+mn-lt"/>
            </a:endParaRPr>
          </a:p>
        </p:txBody>
      </p:sp>
      <p:sp>
        <p:nvSpPr>
          <p:cNvPr id="216" name="Google Shape;1758;p42">
            <a:extLst>
              <a:ext uri="{FF2B5EF4-FFF2-40B4-BE49-F238E27FC236}">
                <a16:creationId xmlns:a16="http://schemas.microsoft.com/office/drawing/2014/main" id="{6E3FD0B8-4E1C-80FC-0389-DD24D02CB5D8}"/>
              </a:ext>
            </a:extLst>
          </p:cNvPr>
          <p:cNvSpPr txBox="1"/>
          <p:nvPr/>
        </p:nvSpPr>
        <p:spPr>
          <a:xfrm>
            <a:off x="5952871" y="8128196"/>
            <a:ext cx="3017165" cy="446221"/>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Manage Projects in Visual Boards allows for Instant Progress Reports, Issues mitigation and Risk management, as well as efficiency metrics</a:t>
            </a:r>
            <a:endParaRPr sz="1200">
              <a:latin typeface="+mn-lt"/>
            </a:endParaRPr>
          </a:p>
        </p:txBody>
      </p:sp>
      <p:grpSp>
        <p:nvGrpSpPr>
          <p:cNvPr id="217" name="Group 214">
            <a:extLst>
              <a:ext uri="{FF2B5EF4-FFF2-40B4-BE49-F238E27FC236}">
                <a16:creationId xmlns:a16="http://schemas.microsoft.com/office/drawing/2014/main" id="{BEEC2545-23C9-1167-CAF9-AB7A5D8777B3}"/>
              </a:ext>
            </a:extLst>
          </p:cNvPr>
          <p:cNvGrpSpPr/>
          <p:nvPr/>
        </p:nvGrpSpPr>
        <p:grpSpPr>
          <a:xfrm>
            <a:off x="8196415" y="7772346"/>
            <a:ext cx="443725" cy="250799"/>
            <a:chOff x="6964708" y="4299700"/>
            <a:chExt cx="1208965" cy="753345"/>
          </a:xfrm>
        </p:grpSpPr>
        <p:grpSp>
          <p:nvGrpSpPr>
            <p:cNvPr id="218" name="Group 215">
              <a:extLst>
                <a:ext uri="{FF2B5EF4-FFF2-40B4-BE49-F238E27FC236}">
                  <a16:creationId xmlns:a16="http://schemas.microsoft.com/office/drawing/2014/main" id="{737782AD-10F9-A46C-37EC-B09569846C6A}"/>
                </a:ext>
              </a:extLst>
            </p:cNvPr>
            <p:cNvGrpSpPr/>
            <p:nvPr/>
          </p:nvGrpSpPr>
          <p:grpSpPr>
            <a:xfrm>
              <a:off x="6964708" y="4299700"/>
              <a:ext cx="1208965" cy="753345"/>
              <a:chOff x="6629084" y="4161784"/>
              <a:chExt cx="1208965" cy="753345"/>
            </a:xfrm>
          </p:grpSpPr>
          <p:sp>
            <p:nvSpPr>
              <p:cNvPr id="222" name="Google Shape;1775;p42">
                <a:extLst>
                  <a:ext uri="{FF2B5EF4-FFF2-40B4-BE49-F238E27FC236}">
                    <a16:creationId xmlns:a16="http://schemas.microsoft.com/office/drawing/2014/main" id="{60BFBEE3-F9FB-DBCB-C168-044DEA718530}"/>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223" name="Google Shape;1775;p42">
                <a:extLst>
                  <a:ext uri="{FF2B5EF4-FFF2-40B4-BE49-F238E27FC236}">
                    <a16:creationId xmlns:a16="http://schemas.microsoft.com/office/drawing/2014/main" id="{0A04A132-31F7-DB40-087C-093BA9DD9F5D}"/>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219" name="Rectangle 216">
              <a:extLst>
                <a:ext uri="{FF2B5EF4-FFF2-40B4-BE49-F238E27FC236}">
                  <a16:creationId xmlns:a16="http://schemas.microsoft.com/office/drawing/2014/main" id="{FF57A0CF-5DAF-891D-A13D-5AE5DEA6B66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0" name="Rectangle 217">
              <a:extLst>
                <a:ext uri="{FF2B5EF4-FFF2-40B4-BE49-F238E27FC236}">
                  <a16:creationId xmlns:a16="http://schemas.microsoft.com/office/drawing/2014/main" id="{ADE15512-A2B5-7128-6033-836659B8530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1" name="Oval 218">
              <a:extLst>
                <a:ext uri="{FF2B5EF4-FFF2-40B4-BE49-F238E27FC236}">
                  <a16:creationId xmlns:a16="http://schemas.microsoft.com/office/drawing/2014/main" id="{72E9ADA1-BF83-E5D7-12C4-180CC68B17BF}"/>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224" name="Group 221">
            <a:extLst>
              <a:ext uri="{FF2B5EF4-FFF2-40B4-BE49-F238E27FC236}">
                <a16:creationId xmlns:a16="http://schemas.microsoft.com/office/drawing/2014/main" id="{B033615D-9A44-3754-158B-6CA0B7E56BE1}"/>
              </a:ext>
            </a:extLst>
          </p:cNvPr>
          <p:cNvGrpSpPr/>
          <p:nvPr/>
        </p:nvGrpSpPr>
        <p:grpSpPr>
          <a:xfrm>
            <a:off x="7074110" y="7780401"/>
            <a:ext cx="443725" cy="250799"/>
            <a:chOff x="6964708" y="4299700"/>
            <a:chExt cx="1208965" cy="753345"/>
          </a:xfrm>
        </p:grpSpPr>
        <p:grpSp>
          <p:nvGrpSpPr>
            <p:cNvPr id="225" name="Group 222">
              <a:extLst>
                <a:ext uri="{FF2B5EF4-FFF2-40B4-BE49-F238E27FC236}">
                  <a16:creationId xmlns:a16="http://schemas.microsoft.com/office/drawing/2014/main" id="{F50590FC-A085-E07C-A346-2D3E08B8C5FB}"/>
                </a:ext>
              </a:extLst>
            </p:cNvPr>
            <p:cNvGrpSpPr/>
            <p:nvPr/>
          </p:nvGrpSpPr>
          <p:grpSpPr>
            <a:xfrm>
              <a:off x="6964708" y="4299700"/>
              <a:ext cx="1208965" cy="753345"/>
              <a:chOff x="6629084" y="4161784"/>
              <a:chExt cx="1208965" cy="753345"/>
            </a:xfrm>
          </p:grpSpPr>
          <p:sp>
            <p:nvSpPr>
              <p:cNvPr id="229" name="Google Shape;1775;p42">
                <a:extLst>
                  <a:ext uri="{FF2B5EF4-FFF2-40B4-BE49-F238E27FC236}">
                    <a16:creationId xmlns:a16="http://schemas.microsoft.com/office/drawing/2014/main" id="{D85E63D1-7CD8-5706-1D66-E1001F2E0C8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230" name="Google Shape;1775;p42">
                <a:extLst>
                  <a:ext uri="{FF2B5EF4-FFF2-40B4-BE49-F238E27FC236}">
                    <a16:creationId xmlns:a16="http://schemas.microsoft.com/office/drawing/2014/main" id="{7F197E1C-4B38-133C-7385-DCCF5B633C80}"/>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226" name="Rectangle 223">
              <a:extLst>
                <a:ext uri="{FF2B5EF4-FFF2-40B4-BE49-F238E27FC236}">
                  <a16:creationId xmlns:a16="http://schemas.microsoft.com/office/drawing/2014/main" id="{705E44A0-E3ED-40B8-F2C5-8633642EAE9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7" name="Rectangle 224">
              <a:extLst>
                <a:ext uri="{FF2B5EF4-FFF2-40B4-BE49-F238E27FC236}">
                  <a16:creationId xmlns:a16="http://schemas.microsoft.com/office/drawing/2014/main" id="{C0D6C0AA-180A-E40F-A1AD-11FB2F4591D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8" name="Oval 225">
              <a:extLst>
                <a:ext uri="{FF2B5EF4-FFF2-40B4-BE49-F238E27FC236}">
                  <a16:creationId xmlns:a16="http://schemas.microsoft.com/office/drawing/2014/main" id="{2BFEA87B-07D9-AF76-95AA-E14FF5E7EFE8}"/>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231" name="Google Shape;1758;p42">
            <a:extLst>
              <a:ext uri="{FF2B5EF4-FFF2-40B4-BE49-F238E27FC236}">
                <a16:creationId xmlns:a16="http://schemas.microsoft.com/office/drawing/2014/main" id="{E397C44E-B7E9-A9B7-CD44-CD0EC0C024A2}"/>
              </a:ext>
            </a:extLst>
          </p:cNvPr>
          <p:cNvSpPr txBox="1"/>
          <p:nvPr/>
        </p:nvSpPr>
        <p:spPr>
          <a:xfrm>
            <a:off x="9236401" y="8203529"/>
            <a:ext cx="2214022"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Metrics for Project Completion will be automatic, reducing repetitive work from PMs.</a:t>
            </a:r>
            <a:endParaRPr sz="1200">
              <a:latin typeface="+mn-lt"/>
            </a:endParaRPr>
          </a:p>
        </p:txBody>
      </p:sp>
      <p:sp>
        <p:nvSpPr>
          <p:cNvPr id="232" name="Google Shape;1758;p42">
            <a:extLst>
              <a:ext uri="{FF2B5EF4-FFF2-40B4-BE49-F238E27FC236}">
                <a16:creationId xmlns:a16="http://schemas.microsoft.com/office/drawing/2014/main" id="{0CBA0CBE-4C25-26F0-8C94-7207EEBF9D44}"/>
              </a:ext>
            </a:extLst>
          </p:cNvPr>
          <p:cNvSpPr txBox="1"/>
          <p:nvPr/>
        </p:nvSpPr>
        <p:spPr>
          <a:xfrm>
            <a:off x="1261705" y="7786743"/>
            <a:ext cx="2182121" cy="24616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1BP = 8 EPICS = 100 PBIs = 100%</a:t>
            </a:r>
            <a:endParaRPr sz="1400" b="1">
              <a:highlight>
                <a:srgbClr val="FFF6F5"/>
              </a:highlight>
              <a:latin typeface="+mn-lt"/>
            </a:endParaRPr>
          </a:p>
        </p:txBody>
      </p:sp>
      <p:sp>
        <p:nvSpPr>
          <p:cNvPr id="233" name="Google Shape;1758;p42">
            <a:extLst>
              <a:ext uri="{FF2B5EF4-FFF2-40B4-BE49-F238E27FC236}">
                <a16:creationId xmlns:a16="http://schemas.microsoft.com/office/drawing/2014/main" id="{58C05E10-A112-7263-900D-3FD849FEAEFB}"/>
              </a:ext>
            </a:extLst>
          </p:cNvPr>
          <p:cNvSpPr txBox="1"/>
          <p:nvPr/>
        </p:nvSpPr>
        <p:spPr>
          <a:xfrm>
            <a:off x="3653093" y="7791845"/>
            <a:ext cx="1498749" cy="24616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EPIC 3 = 15 PBIs = 15%</a:t>
            </a:r>
            <a:endParaRPr sz="1400" b="1">
              <a:highlight>
                <a:srgbClr val="FFF6F5"/>
              </a:highlight>
              <a:latin typeface="+mn-lt"/>
            </a:endParaRPr>
          </a:p>
        </p:txBody>
      </p:sp>
      <p:sp>
        <p:nvSpPr>
          <p:cNvPr id="234" name="Google Shape;1758;p42">
            <a:extLst>
              <a:ext uri="{FF2B5EF4-FFF2-40B4-BE49-F238E27FC236}">
                <a16:creationId xmlns:a16="http://schemas.microsoft.com/office/drawing/2014/main" id="{FB1017A1-5B76-567F-2983-03CD29EB31C7}"/>
              </a:ext>
            </a:extLst>
          </p:cNvPr>
          <p:cNvSpPr txBox="1"/>
          <p:nvPr/>
        </p:nvSpPr>
        <p:spPr>
          <a:xfrm>
            <a:off x="5933678" y="7756386"/>
            <a:ext cx="1165431" cy="36927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6 PBIs IN PROGRESS = 6%</a:t>
            </a:r>
            <a:endParaRPr sz="1400" b="1">
              <a:highlight>
                <a:srgbClr val="FFF6F5"/>
              </a:highlight>
              <a:latin typeface="+mn-lt"/>
            </a:endParaRPr>
          </a:p>
        </p:txBody>
      </p:sp>
      <p:sp>
        <p:nvSpPr>
          <p:cNvPr id="235" name="Google Shape;1758;p42">
            <a:extLst>
              <a:ext uri="{FF2B5EF4-FFF2-40B4-BE49-F238E27FC236}">
                <a16:creationId xmlns:a16="http://schemas.microsoft.com/office/drawing/2014/main" id="{B1D0A5E8-5998-FD5A-AC80-C59052F2CE23}"/>
              </a:ext>
            </a:extLst>
          </p:cNvPr>
          <p:cNvSpPr txBox="1"/>
          <p:nvPr/>
        </p:nvSpPr>
        <p:spPr>
          <a:xfrm>
            <a:off x="9042585" y="7744707"/>
            <a:ext cx="1113800" cy="36927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6 PBIs FINISHED = 6%</a:t>
            </a:r>
            <a:endParaRPr sz="1400" b="1">
              <a:highlight>
                <a:srgbClr val="FFF6F5"/>
              </a:highlight>
              <a:latin typeface="+mn-lt"/>
            </a:endParaRPr>
          </a:p>
        </p:txBody>
      </p:sp>
      <p:grpSp>
        <p:nvGrpSpPr>
          <p:cNvPr id="236" name="Group 233">
            <a:extLst>
              <a:ext uri="{FF2B5EF4-FFF2-40B4-BE49-F238E27FC236}">
                <a16:creationId xmlns:a16="http://schemas.microsoft.com/office/drawing/2014/main" id="{EE5D844D-0411-AE32-C29E-CAA4F1389140}"/>
              </a:ext>
            </a:extLst>
          </p:cNvPr>
          <p:cNvGrpSpPr/>
          <p:nvPr/>
        </p:nvGrpSpPr>
        <p:grpSpPr>
          <a:xfrm>
            <a:off x="3660561" y="2737804"/>
            <a:ext cx="897085" cy="1060365"/>
            <a:chOff x="431605" y="3026820"/>
            <a:chExt cx="1534964" cy="2000271"/>
          </a:xfrm>
        </p:grpSpPr>
        <p:grpSp>
          <p:nvGrpSpPr>
            <p:cNvPr id="237" name="Group 234">
              <a:extLst>
                <a:ext uri="{FF2B5EF4-FFF2-40B4-BE49-F238E27FC236}">
                  <a16:creationId xmlns:a16="http://schemas.microsoft.com/office/drawing/2014/main" id="{D7810205-25F1-11C4-28BB-5F22962732F1}"/>
                </a:ext>
              </a:extLst>
            </p:cNvPr>
            <p:cNvGrpSpPr/>
            <p:nvPr/>
          </p:nvGrpSpPr>
          <p:grpSpPr>
            <a:xfrm>
              <a:off x="461415" y="3076743"/>
              <a:ext cx="633736" cy="899867"/>
              <a:chOff x="6964708" y="4299700"/>
              <a:chExt cx="1208965" cy="753345"/>
            </a:xfrm>
          </p:grpSpPr>
          <p:grpSp>
            <p:nvGrpSpPr>
              <p:cNvPr id="291" name="Group 288">
                <a:extLst>
                  <a:ext uri="{FF2B5EF4-FFF2-40B4-BE49-F238E27FC236}">
                    <a16:creationId xmlns:a16="http://schemas.microsoft.com/office/drawing/2014/main" id="{66396F84-5298-B4BE-9993-E81EC58C43F4}"/>
                  </a:ext>
                </a:extLst>
              </p:cNvPr>
              <p:cNvGrpSpPr/>
              <p:nvPr/>
            </p:nvGrpSpPr>
            <p:grpSpPr>
              <a:xfrm>
                <a:off x="6964708" y="4299700"/>
                <a:ext cx="1208965" cy="753345"/>
                <a:chOff x="6629084" y="4161784"/>
                <a:chExt cx="1208965" cy="753345"/>
              </a:xfrm>
            </p:grpSpPr>
            <p:sp>
              <p:nvSpPr>
                <p:cNvPr id="295" name="Google Shape;1775;p42">
                  <a:extLst>
                    <a:ext uri="{FF2B5EF4-FFF2-40B4-BE49-F238E27FC236}">
                      <a16:creationId xmlns:a16="http://schemas.microsoft.com/office/drawing/2014/main" id="{329D428F-E39F-DA23-25AB-BC245B158D3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96" name="Google Shape;1775;p42">
                  <a:extLst>
                    <a:ext uri="{FF2B5EF4-FFF2-40B4-BE49-F238E27FC236}">
                      <a16:creationId xmlns:a16="http://schemas.microsoft.com/office/drawing/2014/main" id="{4DE67750-F6D8-64A2-E295-A658C5FFB27F}"/>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92" name="Rectangle 289">
                <a:extLst>
                  <a:ext uri="{FF2B5EF4-FFF2-40B4-BE49-F238E27FC236}">
                    <a16:creationId xmlns:a16="http://schemas.microsoft.com/office/drawing/2014/main" id="{7B78BEC5-1152-B7AE-D9EA-8EC9EB5820A4}"/>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93" name="Rectangle 290">
                <a:extLst>
                  <a:ext uri="{FF2B5EF4-FFF2-40B4-BE49-F238E27FC236}">
                    <a16:creationId xmlns:a16="http://schemas.microsoft.com/office/drawing/2014/main" id="{8D3066B3-D617-8A01-7676-EDFA55C0BF9B}"/>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94" name="Oval 291">
                <a:extLst>
                  <a:ext uri="{FF2B5EF4-FFF2-40B4-BE49-F238E27FC236}">
                    <a16:creationId xmlns:a16="http://schemas.microsoft.com/office/drawing/2014/main" id="{4BA9781E-12D4-F516-2AAE-C7B1D89A6EC9}"/>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38" name="TextBox 235">
              <a:extLst>
                <a:ext uri="{FF2B5EF4-FFF2-40B4-BE49-F238E27FC236}">
                  <a16:creationId xmlns:a16="http://schemas.microsoft.com/office/drawing/2014/main" id="{43B287E3-6DE4-5E92-7D5B-6DF1D3413472}"/>
                </a:ext>
              </a:extLst>
            </p:cNvPr>
            <p:cNvSpPr txBox="1"/>
            <p:nvPr/>
          </p:nvSpPr>
          <p:spPr>
            <a:xfrm>
              <a:off x="436286" y="3026820"/>
              <a:ext cx="527066"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39" name="Group 236">
              <a:extLst>
                <a:ext uri="{FF2B5EF4-FFF2-40B4-BE49-F238E27FC236}">
                  <a16:creationId xmlns:a16="http://schemas.microsoft.com/office/drawing/2014/main" id="{8E20F585-9F9C-4793-8AC1-8E6FB00AE4A6}"/>
                </a:ext>
              </a:extLst>
            </p:cNvPr>
            <p:cNvGrpSpPr/>
            <p:nvPr/>
          </p:nvGrpSpPr>
          <p:grpSpPr>
            <a:xfrm>
              <a:off x="644218" y="3605845"/>
              <a:ext cx="501529" cy="312519"/>
              <a:chOff x="6964708" y="4299700"/>
              <a:chExt cx="1208965" cy="753345"/>
            </a:xfrm>
          </p:grpSpPr>
          <p:grpSp>
            <p:nvGrpSpPr>
              <p:cNvPr id="285" name="Group 282">
                <a:extLst>
                  <a:ext uri="{FF2B5EF4-FFF2-40B4-BE49-F238E27FC236}">
                    <a16:creationId xmlns:a16="http://schemas.microsoft.com/office/drawing/2014/main" id="{BE8405A4-2BC5-D103-3D42-053BBFEB3073}"/>
                  </a:ext>
                </a:extLst>
              </p:cNvPr>
              <p:cNvGrpSpPr/>
              <p:nvPr/>
            </p:nvGrpSpPr>
            <p:grpSpPr>
              <a:xfrm>
                <a:off x="6964708" y="4299700"/>
                <a:ext cx="1208965" cy="753345"/>
                <a:chOff x="6629084" y="4161784"/>
                <a:chExt cx="1208965" cy="753345"/>
              </a:xfrm>
            </p:grpSpPr>
            <p:sp>
              <p:nvSpPr>
                <p:cNvPr id="289" name="Google Shape;1775;p42">
                  <a:extLst>
                    <a:ext uri="{FF2B5EF4-FFF2-40B4-BE49-F238E27FC236}">
                      <a16:creationId xmlns:a16="http://schemas.microsoft.com/office/drawing/2014/main" id="{46C8CDB2-CCFA-56A9-76CF-3C5BB6B930C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90" name="Google Shape;1775;p42">
                  <a:extLst>
                    <a:ext uri="{FF2B5EF4-FFF2-40B4-BE49-F238E27FC236}">
                      <a16:creationId xmlns:a16="http://schemas.microsoft.com/office/drawing/2014/main" id="{023F55AD-2D7C-754F-BAB9-BA0ECC84DD6F}"/>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86" name="Rectangle 283">
                <a:extLst>
                  <a:ext uri="{FF2B5EF4-FFF2-40B4-BE49-F238E27FC236}">
                    <a16:creationId xmlns:a16="http://schemas.microsoft.com/office/drawing/2014/main" id="{F211C231-A155-513C-06AB-FB9FE8A7629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7" name="Rectangle 284">
                <a:extLst>
                  <a:ext uri="{FF2B5EF4-FFF2-40B4-BE49-F238E27FC236}">
                    <a16:creationId xmlns:a16="http://schemas.microsoft.com/office/drawing/2014/main" id="{338E6270-29FE-0D28-A490-733206D9C7E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8" name="Oval 285">
                <a:extLst>
                  <a:ext uri="{FF2B5EF4-FFF2-40B4-BE49-F238E27FC236}">
                    <a16:creationId xmlns:a16="http://schemas.microsoft.com/office/drawing/2014/main" id="{8DE15155-94ED-6181-2E7C-990F67BD2683}"/>
                  </a:ext>
                </a:extLst>
              </p:cNvPr>
              <p:cNvSpPr/>
              <p:nvPr/>
            </p:nvSpPr>
            <p:spPr>
              <a:xfrm>
                <a:off x="7844759" y="4568268"/>
                <a:ext cx="243016" cy="243016"/>
              </a:xfrm>
              <a:prstGeom prst="ellipse">
                <a:avLst/>
              </a:prstGeom>
              <a:solidFill>
                <a:srgbClr val="FF9C1A"/>
              </a:solidFill>
              <a:ln>
                <a:solidFill>
                  <a:srgbClr val="FF9C1A"/>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0" name="Group 237">
              <a:extLst>
                <a:ext uri="{FF2B5EF4-FFF2-40B4-BE49-F238E27FC236}">
                  <a16:creationId xmlns:a16="http://schemas.microsoft.com/office/drawing/2014/main" id="{928D2FE1-B0C2-AB67-FD62-8924437CCA09}"/>
                </a:ext>
              </a:extLst>
            </p:cNvPr>
            <p:cNvGrpSpPr/>
            <p:nvPr/>
          </p:nvGrpSpPr>
          <p:grpSpPr>
            <a:xfrm>
              <a:off x="1278724" y="3092868"/>
              <a:ext cx="633736" cy="899867"/>
              <a:chOff x="6964708" y="4299700"/>
              <a:chExt cx="1208965" cy="753345"/>
            </a:xfrm>
          </p:grpSpPr>
          <p:grpSp>
            <p:nvGrpSpPr>
              <p:cNvPr id="279" name="Group 276">
                <a:extLst>
                  <a:ext uri="{FF2B5EF4-FFF2-40B4-BE49-F238E27FC236}">
                    <a16:creationId xmlns:a16="http://schemas.microsoft.com/office/drawing/2014/main" id="{4EC823D5-6F80-CBDD-7995-32F598B57822}"/>
                  </a:ext>
                </a:extLst>
              </p:cNvPr>
              <p:cNvGrpSpPr/>
              <p:nvPr/>
            </p:nvGrpSpPr>
            <p:grpSpPr>
              <a:xfrm>
                <a:off x="6964708" y="4299700"/>
                <a:ext cx="1208965" cy="753345"/>
                <a:chOff x="6629084" y="4161784"/>
                <a:chExt cx="1208965" cy="753345"/>
              </a:xfrm>
            </p:grpSpPr>
            <p:sp>
              <p:nvSpPr>
                <p:cNvPr id="283" name="Google Shape;1775;p42">
                  <a:extLst>
                    <a:ext uri="{FF2B5EF4-FFF2-40B4-BE49-F238E27FC236}">
                      <a16:creationId xmlns:a16="http://schemas.microsoft.com/office/drawing/2014/main" id="{94338231-F242-57C7-6FAD-4BBA1F2A892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84" name="Google Shape;1775;p42">
                  <a:extLst>
                    <a:ext uri="{FF2B5EF4-FFF2-40B4-BE49-F238E27FC236}">
                      <a16:creationId xmlns:a16="http://schemas.microsoft.com/office/drawing/2014/main" id="{3858E193-DD73-EB88-A9B1-DB3C88348DC3}"/>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80" name="Rectangle 277">
                <a:extLst>
                  <a:ext uri="{FF2B5EF4-FFF2-40B4-BE49-F238E27FC236}">
                    <a16:creationId xmlns:a16="http://schemas.microsoft.com/office/drawing/2014/main" id="{2F2668A5-A4FA-4FAE-649A-66ED4F221620}"/>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1" name="Rectangle 278">
                <a:extLst>
                  <a:ext uri="{FF2B5EF4-FFF2-40B4-BE49-F238E27FC236}">
                    <a16:creationId xmlns:a16="http://schemas.microsoft.com/office/drawing/2014/main" id="{22576064-9944-2248-76CE-E6278456F2DD}"/>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2" name="Oval 279">
                <a:extLst>
                  <a:ext uri="{FF2B5EF4-FFF2-40B4-BE49-F238E27FC236}">
                    <a16:creationId xmlns:a16="http://schemas.microsoft.com/office/drawing/2014/main" id="{49BE8EAF-09D6-6FD5-6AFB-33C4D537EA8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1" name="TextBox 238">
              <a:extLst>
                <a:ext uri="{FF2B5EF4-FFF2-40B4-BE49-F238E27FC236}">
                  <a16:creationId xmlns:a16="http://schemas.microsoft.com/office/drawing/2014/main" id="{FA98B8AE-835B-6711-1487-201B2EE98E7B}"/>
                </a:ext>
              </a:extLst>
            </p:cNvPr>
            <p:cNvSpPr txBox="1"/>
            <p:nvPr/>
          </p:nvSpPr>
          <p:spPr>
            <a:xfrm>
              <a:off x="1253595" y="3042947"/>
              <a:ext cx="586220"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2" name="Group 239">
              <a:extLst>
                <a:ext uri="{FF2B5EF4-FFF2-40B4-BE49-F238E27FC236}">
                  <a16:creationId xmlns:a16="http://schemas.microsoft.com/office/drawing/2014/main" id="{E1C9A38F-88CA-7E22-0578-1779F4A5F8A8}"/>
                </a:ext>
              </a:extLst>
            </p:cNvPr>
            <p:cNvGrpSpPr/>
            <p:nvPr/>
          </p:nvGrpSpPr>
          <p:grpSpPr>
            <a:xfrm>
              <a:off x="1461527" y="3621970"/>
              <a:ext cx="501529" cy="312519"/>
              <a:chOff x="6964708" y="4299700"/>
              <a:chExt cx="1208965" cy="753345"/>
            </a:xfrm>
          </p:grpSpPr>
          <p:grpSp>
            <p:nvGrpSpPr>
              <p:cNvPr id="273" name="Group 270">
                <a:extLst>
                  <a:ext uri="{FF2B5EF4-FFF2-40B4-BE49-F238E27FC236}">
                    <a16:creationId xmlns:a16="http://schemas.microsoft.com/office/drawing/2014/main" id="{6D6C7633-45D3-4F26-CDE4-33917F6CDF4F}"/>
                  </a:ext>
                </a:extLst>
              </p:cNvPr>
              <p:cNvGrpSpPr/>
              <p:nvPr/>
            </p:nvGrpSpPr>
            <p:grpSpPr>
              <a:xfrm>
                <a:off x="6964708" y="4299700"/>
                <a:ext cx="1208965" cy="753345"/>
                <a:chOff x="6629084" y="4161784"/>
                <a:chExt cx="1208965" cy="753345"/>
              </a:xfrm>
            </p:grpSpPr>
            <p:sp>
              <p:nvSpPr>
                <p:cNvPr id="277" name="Google Shape;1775;p42">
                  <a:extLst>
                    <a:ext uri="{FF2B5EF4-FFF2-40B4-BE49-F238E27FC236}">
                      <a16:creationId xmlns:a16="http://schemas.microsoft.com/office/drawing/2014/main" id="{286BD858-0D14-0440-BB89-1B75F5DF5F9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78" name="Google Shape;1775;p42">
                  <a:extLst>
                    <a:ext uri="{FF2B5EF4-FFF2-40B4-BE49-F238E27FC236}">
                      <a16:creationId xmlns:a16="http://schemas.microsoft.com/office/drawing/2014/main" id="{070CCF09-FE6E-0297-DBBB-58352153DC26}"/>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74" name="Rectangle 271">
                <a:extLst>
                  <a:ext uri="{FF2B5EF4-FFF2-40B4-BE49-F238E27FC236}">
                    <a16:creationId xmlns:a16="http://schemas.microsoft.com/office/drawing/2014/main" id="{F53ED1F0-1BBF-A0A8-342E-143BEDFD573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5" name="Rectangle 272">
                <a:extLst>
                  <a:ext uri="{FF2B5EF4-FFF2-40B4-BE49-F238E27FC236}">
                    <a16:creationId xmlns:a16="http://schemas.microsoft.com/office/drawing/2014/main" id="{B8F40531-401C-AFAF-EBF5-EB117067CBC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6" name="Oval 273">
                <a:extLst>
                  <a:ext uri="{FF2B5EF4-FFF2-40B4-BE49-F238E27FC236}">
                    <a16:creationId xmlns:a16="http://schemas.microsoft.com/office/drawing/2014/main" id="{F606760D-977E-1813-784B-61C455EB0A91}"/>
                  </a:ext>
                </a:extLst>
              </p:cNvPr>
              <p:cNvSpPr/>
              <p:nvPr/>
            </p:nvSpPr>
            <p:spPr>
              <a:xfrm>
                <a:off x="7844759" y="4568268"/>
                <a:ext cx="243016" cy="243016"/>
              </a:xfrm>
              <a:prstGeom prst="ellipse">
                <a:avLst/>
              </a:prstGeom>
              <a:solidFill>
                <a:srgbClr val="FF9C1A"/>
              </a:solidFill>
              <a:ln>
                <a:solidFill>
                  <a:srgbClr val="FF9C1A"/>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3" name="Group 240">
              <a:extLst>
                <a:ext uri="{FF2B5EF4-FFF2-40B4-BE49-F238E27FC236}">
                  <a16:creationId xmlns:a16="http://schemas.microsoft.com/office/drawing/2014/main" id="{053A6C2F-12A4-1386-BDB1-FEECCAB48923}"/>
                </a:ext>
              </a:extLst>
            </p:cNvPr>
            <p:cNvGrpSpPr/>
            <p:nvPr/>
          </p:nvGrpSpPr>
          <p:grpSpPr>
            <a:xfrm>
              <a:off x="456734" y="4118828"/>
              <a:ext cx="633736" cy="899867"/>
              <a:chOff x="6964708" y="4299700"/>
              <a:chExt cx="1208965" cy="753345"/>
            </a:xfrm>
          </p:grpSpPr>
          <p:grpSp>
            <p:nvGrpSpPr>
              <p:cNvPr id="267" name="Group 264">
                <a:extLst>
                  <a:ext uri="{FF2B5EF4-FFF2-40B4-BE49-F238E27FC236}">
                    <a16:creationId xmlns:a16="http://schemas.microsoft.com/office/drawing/2014/main" id="{1DDE3B97-6CDC-0F00-0318-DAE10519F5B2}"/>
                  </a:ext>
                </a:extLst>
              </p:cNvPr>
              <p:cNvGrpSpPr/>
              <p:nvPr/>
            </p:nvGrpSpPr>
            <p:grpSpPr>
              <a:xfrm>
                <a:off x="6964708" y="4299700"/>
                <a:ext cx="1208965" cy="753345"/>
                <a:chOff x="6629084" y="4161784"/>
                <a:chExt cx="1208965" cy="753345"/>
              </a:xfrm>
            </p:grpSpPr>
            <p:sp>
              <p:nvSpPr>
                <p:cNvPr id="271" name="Google Shape;1775;p42">
                  <a:extLst>
                    <a:ext uri="{FF2B5EF4-FFF2-40B4-BE49-F238E27FC236}">
                      <a16:creationId xmlns:a16="http://schemas.microsoft.com/office/drawing/2014/main" id="{5516E733-0CCF-028C-E641-5D31548CDFD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72" name="Google Shape;1775;p42">
                  <a:extLst>
                    <a:ext uri="{FF2B5EF4-FFF2-40B4-BE49-F238E27FC236}">
                      <a16:creationId xmlns:a16="http://schemas.microsoft.com/office/drawing/2014/main" id="{38BF5FFB-A130-2D51-1976-E45DD6276E6D}"/>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68" name="Rectangle 265">
                <a:extLst>
                  <a:ext uri="{FF2B5EF4-FFF2-40B4-BE49-F238E27FC236}">
                    <a16:creationId xmlns:a16="http://schemas.microsoft.com/office/drawing/2014/main" id="{853B645B-EAAA-48DD-EDA9-C97B6D0C5392}"/>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9" name="Rectangle 266">
                <a:extLst>
                  <a:ext uri="{FF2B5EF4-FFF2-40B4-BE49-F238E27FC236}">
                    <a16:creationId xmlns:a16="http://schemas.microsoft.com/office/drawing/2014/main" id="{112F4CEB-700E-6357-8263-EC993A9A6F84}"/>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0" name="Oval 267">
                <a:extLst>
                  <a:ext uri="{FF2B5EF4-FFF2-40B4-BE49-F238E27FC236}">
                    <a16:creationId xmlns:a16="http://schemas.microsoft.com/office/drawing/2014/main" id="{AA07E568-F56D-BFF1-7E88-1C284948BC7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4" name="TextBox 241">
              <a:extLst>
                <a:ext uri="{FF2B5EF4-FFF2-40B4-BE49-F238E27FC236}">
                  <a16:creationId xmlns:a16="http://schemas.microsoft.com/office/drawing/2014/main" id="{037BB0A6-20B2-0E7D-B5B8-9523161ABC72}"/>
                </a:ext>
              </a:extLst>
            </p:cNvPr>
            <p:cNvSpPr txBox="1"/>
            <p:nvPr/>
          </p:nvSpPr>
          <p:spPr>
            <a:xfrm>
              <a:off x="431605" y="4068904"/>
              <a:ext cx="570183"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5" name="Group 242">
              <a:extLst>
                <a:ext uri="{FF2B5EF4-FFF2-40B4-BE49-F238E27FC236}">
                  <a16:creationId xmlns:a16="http://schemas.microsoft.com/office/drawing/2014/main" id="{2C62DC67-317F-6068-BE46-D7876B07E1C3}"/>
                </a:ext>
              </a:extLst>
            </p:cNvPr>
            <p:cNvGrpSpPr/>
            <p:nvPr/>
          </p:nvGrpSpPr>
          <p:grpSpPr>
            <a:xfrm>
              <a:off x="639537" y="4647930"/>
              <a:ext cx="501529" cy="312519"/>
              <a:chOff x="6964708" y="4299700"/>
              <a:chExt cx="1208965" cy="753345"/>
            </a:xfrm>
          </p:grpSpPr>
          <p:grpSp>
            <p:nvGrpSpPr>
              <p:cNvPr id="261" name="Group 258">
                <a:extLst>
                  <a:ext uri="{FF2B5EF4-FFF2-40B4-BE49-F238E27FC236}">
                    <a16:creationId xmlns:a16="http://schemas.microsoft.com/office/drawing/2014/main" id="{D6937E38-6375-BC67-DCFE-5E6FBACF7F77}"/>
                  </a:ext>
                </a:extLst>
              </p:cNvPr>
              <p:cNvGrpSpPr/>
              <p:nvPr/>
            </p:nvGrpSpPr>
            <p:grpSpPr>
              <a:xfrm>
                <a:off x="6964708" y="4299700"/>
                <a:ext cx="1208965" cy="753345"/>
                <a:chOff x="6629084" y="4161784"/>
                <a:chExt cx="1208965" cy="753345"/>
              </a:xfrm>
            </p:grpSpPr>
            <p:sp>
              <p:nvSpPr>
                <p:cNvPr id="265" name="Google Shape;1775;p42">
                  <a:extLst>
                    <a:ext uri="{FF2B5EF4-FFF2-40B4-BE49-F238E27FC236}">
                      <a16:creationId xmlns:a16="http://schemas.microsoft.com/office/drawing/2014/main" id="{85E7691F-8C22-650F-FEDE-2E5DA422942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66" name="Google Shape;1775;p42">
                  <a:extLst>
                    <a:ext uri="{FF2B5EF4-FFF2-40B4-BE49-F238E27FC236}">
                      <a16:creationId xmlns:a16="http://schemas.microsoft.com/office/drawing/2014/main" id="{48B1AE5F-9B16-BA26-4817-A4EFB65EADE5}"/>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62" name="Rectangle 259">
                <a:extLst>
                  <a:ext uri="{FF2B5EF4-FFF2-40B4-BE49-F238E27FC236}">
                    <a16:creationId xmlns:a16="http://schemas.microsoft.com/office/drawing/2014/main" id="{3ED86F41-100A-263B-56E4-A182768A3BA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3" name="Rectangle 260">
                <a:extLst>
                  <a:ext uri="{FF2B5EF4-FFF2-40B4-BE49-F238E27FC236}">
                    <a16:creationId xmlns:a16="http://schemas.microsoft.com/office/drawing/2014/main" id="{5BFA6902-B243-03FD-7D8C-B5CDEB1D57F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4" name="Oval 261">
                <a:extLst>
                  <a:ext uri="{FF2B5EF4-FFF2-40B4-BE49-F238E27FC236}">
                    <a16:creationId xmlns:a16="http://schemas.microsoft.com/office/drawing/2014/main" id="{B1D47A08-D33A-D479-28D0-C731DBEE53D6}"/>
                  </a:ext>
                </a:extLst>
              </p:cNvPr>
              <p:cNvSpPr/>
              <p:nvPr/>
            </p:nvSpPr>
            <p:spPr>
              <a:xfrm>
                <a:off x="7844759" y="4568268"/>
                <a:ext cx="243016" cy="243016"/>
              </a:xfrm>
              <a:prstGeom prst="ellipse">
                <a:avLst/>
              </a:prstGeom>
              <a:solidFill>
                <a:srgbClr val="00A543"/>
              </a:solidFill>
              <a:ln>
                <a:solidFill>
                  <a:srgbClr val="00A543"/>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6" name="Group 243">
              <a:extLst>
                <a:ext uri="{FF2B5EF4-FFF2-40B4-BE49-F238E27FC236}">
                  <a16:creationId xmlns:a16="http://schemas.microsoft.com/office/drawing/2014/main" id="{B7F62507-813D-0707-2209-9F4DE98C5C63}"/>
                </a:ext>
              </a:extLst>
            </p:cNvPr>
            <p:cNvGrpSpPr/>
            <p:nvPr/>
          </p:nvGrpSpPr>
          <p:grpSpPr>
            <a:xfrm>
              <a:off x="1282237" y="4127224"/>
              <a:ext cx="633736" cy="899867"/>
              <a:chOff x="6964708" y="4299700"/>
              <a:chExt cx="1208965" cy="753345"/>
            </a:xfrm>
          </p:grpSpPr>
          <p:grpSp>
            <p:nvGrpSpPr>
              <p:cNvPr id="255" name="Group 252">
                <a:extLst>
                  <a:ext uri="{FF2B5EF4-FFF2-40B4-BE49-F238E27FC236}">
                    <a16:creationId xmlns:a16="http://schemas.microsoft.com/office/drawing/2014/main" id="{6D9498C7-1DE2-982C-2B08-E669694C0D23}"/>
                  </a:ext>
                </a:extLst>
              </p:cNvPr>
              <p:cNvGrpSpPr/>
              <p:nvPr/>
            </p:nvGrpSpPr>
            <p:grpSpPr>
              <a:xfrm>
                <a:off x="6964708" y="4299700"/>
                <a:ext cx="1208965" cy="753345"/>
                <a:chOff x="6629084" y="4161784"/>
                <a:chExt cx="1208965" cy="753345"/>
              </a:xfrm>
            </p:grpSpPr>
            <p:sp>
              <p:nvSpPr>
                <p:cNvPr id="259" name="Google Shape;1775;p42">
                  <a:extLst>
                    <a:ext uri="{FF2B5EF4-FFF2-40B4-BE49-F238E27FC236}">
                      <a16:creationId xmlns:a16="http://schemas.microsoft.com/office/drawing/2014/main" id="{706DE686-4765-0305-5AA3-6AE5CFA25AC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60" name="Google Shape;1775;p42">
                  <a:extLst>
                    <a:ext uri="{FF2B5EF4-FFF2-40B4-BE49-F238E27FC236}">
                      <a16:creationId xmlns:a16="http://schemas.microsoft.com/office/drawing/2014/main" id="{17105B95-7EB4-93BF-0B1E-1593777ADAF3}"/>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56" name="Rectangle 253">
                <a:extLst>
                  <a:ext uri="{FF2B5EF4-FFF2-40B4-BE49-F238E27FC236}">
                    <a16:creationId xmlns:a16="http://schemas.microsoft.com/office/drawing/2014/main" id="{610184ED-1EC8-4249-4ED8-BBF8368D9F51}"/>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7" name="Rectangle 254">
                <a:extLst>
                  <a:ext uri="{FF2B5EF4-FFF2-40B4-BE49-F238E27FC236}">
                    <a16:creationId xmlns:a16="http://schemas.microsoft.com/office/drawing/2014/main" id="{6EB8637B-D710-40DF-0ACF-317076AB83A8}"/>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8" name="Oval 255">
                <a:extLst>
                  <a:ext uri="{FF2B5EF4-FFF2-40B4-BE49-F238E27FC236}">
                    <a16:creationId xmlns:a16="http://schemas.microsoft.com/office/drawing/2014/main" id="{6491CD01-85CE-5872-C03D-4BA3A3F91FCC}"/>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7" name="TextBox 244">
              <a:extLst>
                <a:ext uri="{FF2B5EF4-FFF2-40B4-BE49-F238E27FC236}">
                  <a16:creationId xmlns:a16="http://schemas.microsoft.com/office/drawing/2014/main" id="{AB8967CD-BFE9-6FBF-3E5E-2CA9350B62D4}"/>
                </a:ext>
              </a:extLst>
            </p:cNvPr>
            <p:cNvSpPr txBox="1"/>
            <p:nvPr/>
          </p:nvSpPr>
          <p:spPr>
            <a:xfrm>
              <a:off x="1257108" y="4077301"/>
              <a:ext cx="546347"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8" name="Group 245">
              <a:extLst>
                <a:ext uri="{FF2B5EF4-FFF2-40B4-BE49-F238E27FC236}">
                  <a16:creationId xmlns:a16="http://schemas.microsoft.com/office/drawing/2014/main" id="{8592F226-F16B-8D1F-39C3-E8975838FD64}"/>
                </a:ext>
              </a:extLst>
            </p:cNvPr>
            <p:cNvGrpSpPr/>
            <p:nvPr/>
          </p:nvGrpSpPr>
          <p:grpSpPr>
            <a:xfrm>
              <a:off x="1465040" y="4656326"/>
              <a:ext cx="501529" cy="312519"/>
              <a:chOff x="6964708" y="4299700"/>
              <a:chExt cx="1208965" cy="753345"/>
            </a:xfrm>
          </p:grpSpPr>
          <p:grpSp>
            <p:nvGrpSpPr>
              <p:cNvPr id="249" name="Group 246">
                <a:extLst>
                  <a:ext uri="{FF2B5EF4-FFF2-40B4-BE49-F238E27FC236}">
                    <a16:creationId xmlns:a16="http://schemas.microsoft.com/office/drawing/2014/main" id="{99F5CE27-7F6D-6D7B-454C-5584D06CC2D7}"/>
                  </a:ext>
                </a:extLst>
              </p:cNvPr>
              <p:cNvGrpSpPr/>
              <p:nvPr/>
            </p:nvGrpSpPr>
            <p:grpSpPr>
              <a:xfrm>
                <a:off x="6964708" y="4299700"/>
                <a:ext cx="1208965" cy="753345"/>
                <a:chOff x="6629084" y="4161784"/>
                <a:chExt cx="1208965" cy="753345"/>
              </a:xfrm>
            </p:grpSpPr>
            <p:sp>
              <p:nvSpPr>
                <p:cNvPr id="253" name="Google Shape;1775;p42">
                  <a:extLst>
                    <a:ext uri="{FF2B5EF4-FFF2-40B4-BE49-F238E27FC236}">
                      <a16:creationId xmlns:a16="http://schemas.microsoft.com/office/drawing/2014/main" id="{A7DC771E-86C3-7657-68E5-2EFF9CECF0D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54" name="Google Shape;1775;p42">
                  <a:extLst>
                    <a:ext uri="{FF2B5EF4-FFF2-40B4-BE49-F238E27FC236}">
                      <a16:creationId xmlns:a16="http://schemas.microsoft.com/office/drawing/2014/main" id="{6523D6D7-C86B-6415-32D4-6961D464295C}"/>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50" name="Rectangle 247">
                <a:extLst>
                  <a:ext uri="{FF2B5EF4-FFF2-40B4-BE49-F238E27FC236}">
                    <a16:creationId xmlns:a16="http://schemas.microsoft.com/office/drawing/2014/main" id="{A48617B8-5CB1-B54E-31FC-9BB1F559BE6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1" name="Rectangle 248">
                <a:extLst>
                  <a:ext uri="{FF2B5EF4-FFF2-40B4-BE49-F238E27FC236}">
                    <a16:creationId xmlns:a16="http://schemas.microsoft.com/office/drawing/2014/main" id="{D47ADD9B-5871-4BDE-3C21-77D35BC2B30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2" name="Oval 249">
                <a:extLst>
                  <a:ext uri="{FF2B5EF4-FFF2-40B4-BE49-F238E27FC236}">
                    <a16:creationId xmlns:a16="http://schemas.microsoft.com/office/drawing/2014/main" id="{C9FE83FE-C23D-F40F-D534-DF8E329FB822}"/>
                  </a:ext>
                </a:extLst>
              </p:cNvPr>
              <p:cNvSpPr/>
              <p:nvPr/>
            </p:nvSpPr>
            <p:spPr>
              <a:xfrm>
                <a:off x="7844759" y="4568268"/>
                <a:ext cx="243016" cy="243016"/>
              </a:xfrm>
              <a:prstGeom prst="ellipse">
                <a:avLst/>
              </a:prstGeom>
              <a:solidFill>
                <a:srgbClr val="00A543"/>
              </a:solidFill>
              <a:ln>
                <a:solidFill>
                  <a:srgbClr val="00A543"/>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sp>
        <p:nvSpPr>
          <p:cNvPr id="298" name="Google Shape;1758;p42">
            <a:extLst>
              <a:ext uri="{FF2B5EF4-FFF2-40B4-BE49-F238E27FC236}">
                <a16:creationId xmlns:a16="http://schemas.microsoft.com/office/drawing/2014/main" id="{5CA382CF-6C61-EE12-6BAE-7A1893931AB6}"/>
              </a:ext>
            </a:extLst>
          </p:cNvPr>
          <p:cNvSpPr txBox="1"/>
          <p:nvPr/>
        </p:nvSpPr>
        <p:spPr>
          <a:xfrm>
            <a:off x="4890037" y="2781587"/>
            <a:ext cx="690670" cy="230778"/>
          </a:xfrm>
          <a:prstGeom prst="rect">
            <a:avLst/>
          </a:prstGeom>
          <a:noFill/>
          <a:ln>
            <a:noFill/>
          </a:ln>
        </p:spPr>
        <p:txBody>
          <a:bodyPr spcFirstLastPara="1" wrap="square" lIns="121900" tIns="60933" rIns="121900" bIns="60933" anchor="t" anchorCtr="0">
            <a:spAutoFit/>
          </a:bodyPr>
          <a:lstStyle/>
          <a:p>
            <a:pPr algn="ctr"/>
            <a:r>
              <a:rPr lang="en-US" sz="700" i="1">
                <a:solidFill>
                  <a:schemeClr val="bg1">
                    <a:lumMod val="65000"/>
                  </a:schemeClr>
                </a:solidFill>
                <a:latin typeface="+mn-lt"/>
                <a:ea typeface="Open Sans"/>
                <a:cs typeface="Open Sans"/>
                <a:sym typeface="Open Sans"/>
              </a:rPr>
              <a:t>Backlog</a:t>
            </a:r>
            <a:endParaRPr sz="1200">
              <a:solidFill>
                <a:schemeClr val="bg1">
                  <a:lumMod val="65000"/>
                </a:schemeClr>
              </a:solidFill>
              <a:latin typeface="+mn-lt"/>
            </a:endParaRPr>
          </a:p>
        </p:txBody>
      </p:sp>
      <p:sp>
        <p:nvSpPr>
          <p:cNvPr id="299" name="Google Shape;1758;p42">
            <a:extLst>
              <a:ext uri="{FF2B5EF4-FFF2-40B4-BE49-F238E27FC236}">
                <a16:creationId xmlns:a16="http://schemas.microsoft.com/office/drawing/2014/main" id="{7CA87359-AA4C-9CD3-6116-9E393E141863}"/>
              </a:ext>
            </a:extLst>
          </p:cNvPr>
          <p:cNvSpPr txBox="1"/>
          <p:nvPr/>
        </p:nvSpPr>
        <p:spPr>
          <a:xfrm>
            <a:off x="7908625" y="2784164"/>
            <a:ext cx="690670" cy="230778"/>
          </a:xfrm>
          <a:prstGeom prst="rect">
            <a:avLst/>
          </a:prstGeom>
          <a:noFill/>
          <a:ln>
            <a:noFill/>
          </a:ln>
        </p:spPr>
        <p:txBody>
          <a:bodyPr spcFirstLastPara="1" wrap="square" lIns="121900" tIns="60933" rIns="121900" bIns="60933" anchor="t" anchorCtr="0">
            <a:spAutoFit/>
          </a:bodyPr>
          <a:lstStyle/>
          <a:p>
            <a:pPr algn="ctr"/>
            <a:r>
              <a:rPr lang="en-US" sz="700" i="1">
                <a:solidFill>
                  <a:schemeClr val="bg1">
                    <a:lumMod val="65000"/>
                  </a:schemeClr>
                </a:solidFill>
                <a:latin typeface="+mn-lt"/>
                <a:ea typeface="Open Sans"/>
                <a:cs typeface="Open Sans"/>
                <a:sym typeface="Open Sans"/>
              </a:rPr>
              <a:t>Done</a:t>
            </a:r>
            <a:endParaRPr sz="1200">
              <a:solidFill>
                <a:schemeClr val="bg1">
                  <a:lumMod val="65000"/>
                </a:schemeClr>
              </a:solidFill>
              <a:latin typeface="+mn-lt"/>
            </a:endParaRPr>
          </a:p>
        </p:txBody>
      </p:sp>
      <p:grpSp>
        <p:nvGrpSpPr>
          <p:cNvPr id="303" name="Group 300">
            <a:extLst>
              <a:ext uri="{FF2B5EF4-FFF2-40B4-BE49-F238E27FC236}">
                <a16:creationId xmlns:a16="http://schemas.microsoft.com/office/drawing/2014/main" id="{A69E1DEC-38D7-5E1C-E5AF-441C506FBD55}"/>
              </a:ext>
            </a:extLst>
          </p:cNvPr>
          <p:cNvGrpSpPr/>
          <p:nvPr/>
        </p:nvGrpSpPr>
        <p:grpSpPr>
          <a:xfrm>
            <a:off x="1858402" y="4287720"/>
            <a:ext cx="2797761" cy="416777"/>
            <a:chOff x="2853171" y="1821929"/>
            <a:chExt cx="3162225" cy="519344"/>
          </a:xfrm>
        </p:grpSpPr>
        <p:sp>
          <p:nvSpPr>
            <p:cNvPr id="304" name="Rounded Rectangle 301">
              <a:extLst>
                <a:ext uri="{FF2B5EF4-FFF2-40B4-BE49-F238E27FC236}">
                  <a16:creationId xmlns:a16="http://schemas.microsoft.com/office/drawing/2014/main" id="{7F3E351F-C315-6259-44FA-A2A5C9525EFE}"/>
                </a:ext>
              </a:extLst>
            </p:cNvPr>
            <p:cNvSpPr/>
            <p:nvPr/>
          </p:nvSpPr>
          <p:spPr>
            <a:xfrm>
              <a:off x="3710781" y="2000981"/>
              <a:ext cx="1352878"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05" name="Rounded Rectangle 302">
              <a:extLst>
                <a:ext uri="{FF2B5EF4-FFF2-40B4-BE49-F238E27FC236}">
                  <a16:creationId xmlns:a16="http://schemas.microsoft.com/office/drawing/2014/main" id="{23ED14F5-A71B-AA72-587E-73F49692954E}"/>
                </a:ext>
              </a:extLst>
            </p:cNvPr>
            <p:cNvSpPr/>
            <p:nvPr/>
          </p:nvSpPr>
          <p:spPr>
            <a:xfrm>
              <a:off x="5130800" y="2000981"/>
              <a:ext cx="807150"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pic>
          <p:nvPicPr>
            <p:cNvPr id="306" name="Picture 303">
              <a:extLst>
                <a:ext uri="{FF2B5EF4-FFF2-40B4-BE49-F238E27FC236}">
                  <a16:creationId xmlns:a16="http://schemas.microsoft.com/office/drawing/2014/main" id="{7AFD5DC5-8F6F-0F2D-440E-B7D4AC57CF9B}"/>
                </a:ext>
              </a:extLst>
            </p:cNvPr>
            <p:cNvPicPr>
              <a:picLocks noChangeAspect="1"/>
            </p:cNvPicPr>
            <p:nvPr/>
          </p:nvPicPr>
          <p:blipFill>
            <a:blip r:embed="rId5"/>
            <a:stretch>
              <a:fillRect/>
            </a:stretch>
          </p:blipFill>
          <p:spPr>
            <a:xfrm>
              <a:off x="2853171" y="1821929"/>
              <a:ext cx="3162225" cy="519344"/>
            </a:xfrm>
            <a:prstGeom prst="rect">
              <a:avLst/>
            </a:prstGeom>
          </p:spPr>
        </p:pic>
      </p:grpSp>
      <p:grpSp>
        <p:nvGrpSpPr>
          <p:cNvPr id="307" name="Group 304">
            <a:extLst>
              <a:ext uri="{FF2B5EF4-FFF2-40B4-BE49-F238E27FC236}">
                <a16:creationId xmlns:a16="http://schemas.microsoft.com/office/drawing/2014/main" id="{740F721E-A2A8-DF0D-7A44-65E57CC101F2}"/>
              </a:ext>
            </a:extLst>
          </p:cNvPr>
          <p:cNvGrpSpPr/>
          <p:nvPr/>
        </p:nvGrpSpPr>
        <p:grpSpPr>
          <a:xfrm>
            <a:off x="967504" y="2465996"/>
            <a:ext cx="443725" cy="250799"/>
            <a:chOff x="6964708" y="4299700"/>
            <a:chExt cx="1208965" cy="753345"/>
          </a:xfrm>
        </p:grpSpPr>
        <p:grpSp>
          <p:nvGrpSpPr>
            <p:cNvPr id="308" name="Group 305">
              <a:extLst>
                <a:ext uri="{FF2B5EF4-FFF2-40B4-BE49-F238E27FC236}">
                  <a16:creationId xmlns:a16="http://schemas.microsoft.com/office/drawing/2014/main" id="{13413992-BE6B-0A74-16CA-257005BFBC3F}"/>
                </a:ext>
              </a:extLst>
            </p:cNvPr>
            <p:cNvGrpSpPr/>
            <p:nvPr/>
          </p:nvGrpSpPr>
          <p:grpSpPr>
            <a:xfrm>
              <a:off x="6964708" y="4299700"/>
              <a:ext cx="1208965" cy="753345"/>
              <a:chOff x="6629084" y="4161784"/>
              <a:chExt cx="1208965" cy="753345"/>
            </a:xfrm>
          </p:grpSpPr>
          <p:sp>
            <p:nvSpPr>
              <p:cNvPr id="312" name="Google Shape;1775;p42">
                <a:extLst>
                  <a:ext uri="{FF2B5EF4-FFF2-40B4-BE49-F238E27FC236}">
                    <a16:creationId xmlns:a16="http://schemas.microsoft.com/office/drawing/2014/main" id="{418FDEC0-C5AE-A2AB-AC73-C48D7427517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13" name="Google Shape;1775;p42">
                <a:extLst>
                  <a:ext uri="{FF2B5EF4-FFF2-40B4-BE49-F238E27FC236}">
                    <a16:creationId xmlns:a16="http://schemas.microsoft.com/office/drawing/2014/main" id="{FE46AC2E-6F8B-2FEA-FC3A-4286A4297465}"/>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09" name="Rectangle 306">
              <a:extLst>
                <a:ext uri="{FF2B5EF4-FFF2-40B4-BE49-F238E27FC236}">
                  <a16:creationId xmlns:a16="http://schemas.microsoft.com/office/drawing/2014/main" id="{CCF81390-E386-1AE4-C23C-6A2FBBE9A76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0" name="Rectangle 307">
              <a:extLst>
                <a:ext uri="{FF2B5EF4-FFF2-40B4-BE49-F238E27FC236}">
                  <a16:creationId xmlns:a16="http://schemas.microsoft.com/office/drawing/2014/main" id="{C2E81125-E41E-3739-D0A0-F8197F2280A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1" name="Oval 308">
              <a:extLst>
                <a:ext uri="{FF2B5EF4-FFF2-40B4-BE49-F238E27FC236}">
                  <a16:creationId xmlns:a16="http://schemas.microsoft.com/office/drawing/2014/main" id="{CBA196A4-A8B8-A095-8D7E-45696BC8876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14" name="Group 311">
            <a:extLst>
              <a:ext uri="{FF2B5EF4-FFF2-40B4-BE49-F238E27FC236}">
                <a16:creationId xmlns:a16="http://schemas.microsoft.com/office/drawing/2014/main" id="{31CC963B-8936-2EA4-964B-7337CD07CE1A}"/>
              </a:ext>
            </a:extLst>
          </p:cNvPr>
          <p:cNvGrpSpPr/>
          <p:nvPr/>
        </p:nvGrpSpPr>
        <p:grpSpPr>
          <a:xfrm>
            <a:off x="967503" y="3438861"/>
            <a:ext cx="443725" cy="250799"/>
            <a:chOff x="6964708" y="4299700"/>
            <a:chExt cx="1208965" cy="753345"/>
          </a:xfrm>
        </p:grpSpPr>
        <p:grpSp>
          <p:nvGrpSpPr>
            <p:cNvPr id="315" name="Group 312">
              <a:extLst>
                <a:ext uri="{FF2B5EF4-FFF2-40B4-BE49-F238E27FC236}">
                  <a16:creationId xmlns:a16="http://schemas.microsoft.com/office/drawing/2014/main" id="{2138764C-2400-58AB-A0D1-B005C97396AC}"/>
                </a:ext>
              </a:extLst>
            </p:cNvPr>
            <p:cNvGrpSpPr/>
            <p:nvPr/>
          </p:nvGrpSpPr>
          <p:grpSpPr>
            <a:xfrm>
              <a:off x="6964708" y="4299700"/>
              <a:ext cx="1208965" cy="753345"/>
              <a:chOff x="6629084" y="4161784"/>
              <a:chExt cx="1208965" cy="753345"/>
            </a:xfrm>
          </p:grpSpPr>
          <p:sp>
            <p:nvSpPr>
              <p:cNvPr id="319" name="Google Shape;1775;p42">
                <a:extLst>
                  <a:ext uri="{FF2B5EF4-FFF2-40B4-BE49-F238E27FC236}">
                    <a16:creationId xmlns:a16="http://schemas.microsoft.com/office/drawing/2014/main" id="{044CFB32-BC71-F4CD-8A47-D8F2F3B5F10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20" name="Google Shape;1775;p42">
                <a:extLst>
                  <a:ext uri="{FF2B5EF4-FFF2-40B4-BE49-F238E27FC236}">
                    <a16:creationId xmlns:a16="http://schemas.microsoft.com/office/drawing/2014/main" id="{E1DF5AD9-FFA9-CCBF-ADEB-34D31860A29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16" name="Rectangle 313">
              <a:extLst>
                <a:ext uri="{FF2B5EF4-FFF2-40B4-BE49-F238E27FC236}">
                  <a16:creationId xmlns:a16="http://schemas.microsoft.com/office/drawing/2014/main" id="{73539CBF-E52E-7F89-62CD-FC60E89D19B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7" name="Rectangle 314">
              <a:extLst>
                <a:ext uri="{FF2B5EF4-FFF2-40B4-BE49-F238E27FC236}">
                  <a16:creationId xmlns:a16="http://schemas.microsoft.com/office/drawing/2014/main" id="{41CDA401-75E8-FBA5-4101-537684132DD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8" name="Oval 315">
              <a:extLst>
                <a:ext uri="{FF2B5EF4-FFF2-40B4-BE49-F238E27FC236}">
                  <a16:creationId xmlns:a16="http://schemas.microsoft.com/office/drawing/2014/main" id="{BF69D10B-A0B8-80CE-25E5-108AB2D93C8E}"/>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21" name="Group 318">
            <a:extLst>
              <a:ext uri="{FF2B5EF4-FFF2-40B4-BE49-F238E27FC236}">
                <a16:creationId xmlns:a16="http://schemas.microsoft.com/office/drawing/2014/main" id="{9217DF24-E13F-31C4-8A73-F3CE7F51A08B}"/>
              </a:ext>
            </a:extLst>
          </p:cNvPr>
          <p:cNvGrpSpPr/>
          <p:nvPr/>
        </p:nvGrpSpPr>
        <p:grpSpPr>
          <a:xfrm>
            <a:off x="439815" y="3443168"/>
            <a:ext cx="443725" cy="250799"/>
            <a:chOff x="6964708" y="4299700"/>
            <a:chExt cx="1208965" cy="753345"/>
          </a:xfrm>
        </p:grpSpPr>
        <p:grpSp>
          <p:nvGrpSpPr>
            <p:cNvPr id="322" name="Group 319">
              <a:extLst>
                <a:ext uri="{FF2B5EF4-FFF2-40B4-BE49-F238E27FC236}">
                  <a16:creationId xmlns:a16="http://schemas.microsoft.com/office/drawing/2014/main" id="{DECC9D61-D3DE-4687-BA53-DFB7AC41EA0F}"/>
                </a:ext>
              </a:extLst>
            </p:cNvPr>
            <p:cNvGrpSpPr/>
            <p:nvPr/>
          </p:nvGrpSpPr>
          <p:grpSpPr>
            <a:xfrm>
              <a:off x="6964708" y="4299700"/>
              <a:ext cx="1208965" cy="753345"/>
              <a:chOff x="6629084" y="4161784"/>
              <a:chExt cx="1208965" cy="753345"/>
            </a:xfrm>
          </p:grpSpPr>
          <p:sp>
            <p:nvSpPr>
              <p:cNvPr id="326" name="Google Shape;1775;p42">
                <a:extLst>
                  <a:ext uri="{FF2B5EF4-FFF2-40B4-BE49-F238E27FC236}">
                    <a16:creationId xmlns:a16="http://schemas.microsoft.com/office/drawing/2014/main" id="{4E91A064-DB4E-2B28-5789-D0D6A0C7579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27" name="Google Shape;1775;p42">
                <a:extLst>
                  <a:ext uri="{FF2B5EF4-FFF2-40B4-BE49-F238E27FC236}">
                    <a16:creationId xmlns:a16="http://schemas.microsoft.com/office/drawing/2014/main" id="{7360ADA9-B822-671A-1494-48F5D3BA7FAA}"/>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23" name="Rectangle 320">
              <a:extLst>
                <a:ext uri="{FF2B5EF4-FFF2-40B4-BE49-F238E27FC236}">
                  <a16:creationId xmlns:a16="http://schemas.microsoft.com/office/drawing/2014/main" id="{165B7B02-1197-0B97-D0D8-03A72E81F1DB}"/>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24" name="Rectangle 321">
              <a:extLst>
                <a:ext uri="{FF2B5EF4-FFF2-40B4-BE49-F238E27FC236}">
                  <a16:creationId xmlns:a16="http://schemas.microsoft.com/office/drawing/2014/main" id="{6D845BA9-5E54-B760-570C-DD1011EB752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25" name="Oval 322">
              <a:extLst>
                <a:ext uri="{FF2B5EF4-FFF2-40B4-BE49-F238E27FC236}">
                  <a16:creationId xmlns:a16="http://schemas.microsoft.com/office/drawing/2014/main" id="{BEE56701-16F1-3AC7-4D4E-E1517C56717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28" name="Group 325">
            <a:extLst>
              <a:ext uri="{FF2B5EF4-FFF2-40B4-BE49-F238E27FC236}">
                <a16:creationId xmlns:a16="http://schemas.microsoft.com/office/drawing/2014/main" id="{65EC6854-29A2-55EC-8DC4-7F969565D23C}"/>
              </a:ext>
            </a:extLst>
          </p:cNvPr>
          <p:cNvGrpSpPr/>
          <p:nvPr/>
        </p:nvGrpSpPr>
        <p:grpSpPr>
          <a:xfrm>
            <a:off x="445659" y="3763478"/>
            <a:ext cx="443725" cy="250799"/>
            <a:chOff x="6964708" y="4299700"/>
            <a:chExt cx="1208965" cy="753345"/>
          </a:xfrm>
        </p:grpSpPr>
        <p:grpSp>
          <p:nvGrpSpPr>
            <p:cNvPr id="329" name="Group 326">
              <a:extLst>
                <a:ext uri="{FF2B5EF4-FFF2-40B4-BE49-F238E27FC236}">
                  <a16:creationId xmlns:a16="http://schemas.microsoft.com/office/drawing/2014/main" id="{CB56A87A-FA3B-75B4-2289-B215067C5A63}"/>
                </a:ext>
              </a:extLst>
            </p:cNvPr>
            <p:cNvGrpSpPr/>
            <p:nvPr/>
          </p:nvGrpSpPr>
          <p:grpSpPr>
            <a:xfrm>
              <a:off x="6964708" y="4299700"/>
              <a:ext cx="1208965" cy="753345"/>
              <a:chOff x="6629084" y="4161784"/>
              <a:chExt cx="1208965" cy="753345"/>
            </a:xfrm>
          </p:grpSpPr>
          <p:sp>
            <p:nvSpPr>
              <p:cNvPr id="333" name="Google Shape;1775;p42">
                <a:extLst>
                  <a:ext uri="{FF2B5EF4-FFF2-40B4-BE49-F238E27FC236}">
                    <a16:creationId xmlns:a16="http://schemas.microsoft.com/office/drawing/2014/main" id="{4F1E657B-D15C-5522-3FBB-096AF21F4F9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34" name="Google Shape;1775;p42">
                <a:extLst>
                  <a:ext uri="{FF2B5EF4-FFF2-40B4-BE49-F238E27FC236}">
                    <a16:creationId xmlns:a16="http://schemas.microsoft.com/office/drawing/2014/main" id="{C95260DD-4527-3E76-BCE8-C7DA53B1F2A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0" name="Rectangle 327">
              <a:extLst>
                <a:ext uri="{FF2B5EF4-FFF2-40B4-BE49-F238E27FC236}">
                  <a16:creationId xmlns:a16="http://schemas.microsoft.com/office/drawing/2014/main" id="{924A3FCB-0756-7415-374D-0AE0F935BDA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1" name="Rectangle 328">
              <a:extLst>
                <a:ext uri="{FF2B5EF4-FFF2-40B4-BE49-F238E27FC236}">
                  <a16:creationId xmlns:a16="http://schemas.microsoft.com/office/drawing/2014/main" id="{39D4F865-486F-7510-D0E2-A0A192D49A2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2" name="Oval 329">
              <a:extLst>
                <a:ext uri="{FF2B5EF4-FFF2-40B4-BE49-F238E27FC236}">
                  <a16:creationId xmlns:a16="http://schemas.microsoft.com/office/drawing/2014/main" id="{F765B8B8-1D37-3C19-0964-B4F20DF4B26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35" name="Group 332">
            <a:extLst>
              <a:ext uri="{FF2B5EF4-FFF2-40B4-BE49-F238E27FC236}">
                <a16:creationId xmlns:a16="http://schemas.microsoft.com/office/drawing/2014/main" id="{B3499E82-A3BF-0AD7-3DA1-6F3CCA4CE8A7}"/>
              </a:ext>
            </a:extLst>
          </p:cNvPr>
          <p:cNvGrpSpPr/>
          <p:nvPr/>
        </p:nvGrpSpPr>
        <p:grpSpPr>
          <a:xfrm>
            <a:off x="984363" y="4076038"/>
            <a:ext cx="443725" cy="250799"/>
            <a:chOff x="6964708" y="4299700"/>
            <a:chExt cx="1208965" cy="753345"/>
          </a:xfrm>
        </p:grpSpPr>
        <p:grpSp>
          <p:nvGrpSpPr>
            <p:cNvPr id="336" name="Group 333">
              <a:extLst>
                <a:ext uri="{FF2B5EF4-FFF2-40B4-BE49-F238E27FC236}">
                  <a16:creationId xmlns:a16="http://schemas.microsoft.com/office/drawing/2014/main" id="{30E28E55-EBC2-2B9E-7C49-DF7397E47635}"/>
                </a:ext>
              </a:extLst>
            </p:cNvPr>
            <p:cNvGrpSpPr/>
            <p:nvPr/>
          </p:nvGrpSpPr>
          <p:grpSpPr>
            <a:xfrm>
              <a:off x="6964708" y="4299700"/>
              <a:ext cx="1208965" cy="753345"/>
              <a:chOff x="6629084" y="4161784"/>
              <a:chExt cx="1208965" cy="753345"/>
            </a:xfrm>
          </p:grpSpPr>
          <p:sp>
            <p:nvSpPr>
              <p:cNvPr id="340" name="Google Shape;1775;p42">
                <a:extLst>
                  <a:ext uri="{FF2B5EF4-FFF2-40B4-BE49-F238E27FC236}">
                    <a16:creationId xmlns:a16="http://schemas.microsoft.com/office/drawing/2014/main" id="{AED61E9B-4BA9-A719-4984-DFDD4437306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1" name="Google Shape;1775;p42">
                <a:extLst>
                  <a:ext uri="{FF2B5EF4-FFF2-40B4-BE49-F238E27FC236}">
                    <a16:creationId xmlns:a16="http://schemas.microsoft.com/office/drawing/2014/main" id="{065FF19E-9338-24EB-E7D1-29DC4B5AD2D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7" name="Rectangle 334">
              <a:extLst>
                <a:ext uri="{FF2B5EF4-FFF2-40B4-BE49-F238E27FC236}">
                  <a16:creationId xmlns:a16="http://schemas.microsoft.com/office/drawing/2014/main" id="{C92275D0-A7DB-76CF-7533-9720D45C404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8" name="Rectangle 335">
              <a:extLst>
                <a:ext uri="{FF2B5EF4-FFF2-40B4-BE49-F238E27FC236}">
                  <a16:creationId xmlns:a16="http://schemas.microsoft.com/office/drawing/2014/main" id="{353D2427-2CF6-EF8A-D861-01A94BFFE34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9" name="Oval 336">
              <a:extLst>
                <a:ext uri="{FF2B5EF4-FFF2-40B4-BE49-F238E27FC236}">
                  <a16:creationId xmlns:a16="http://schemas.microsoft.com/office/drawing/2014/main" id="{10F7EE41-3D93-5994-5BD2-E6D385D90C36}"/>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42" name="Group 339">
            <a:extLst>
              <a:ext uri="{FF2B5EF4-FFF2-40B4-BE49-F238E27FC236}">
                <a16:creationId xmlns:a16="http://schemas.microsoft.com/office/drawing/2014/main" id="{7BC04EB0-DFEE-C1E4-527E-734E49A3F237}"/>
              </a:ext>
            </a:extLst>
          </p:cNvPr>
          <p:cNvGrpSpPr/>
          <p:nvPr/>
        </p:nvGrpSpPr>
        <p:grpSpPr>
          <a:xfrm>
            <a:off x="469385" y="2465060"/>
            <a:ext cx="443725" cy="250799"/>
            <a:chOff x="6964708" y="4299700"/>
            <a:chExt cx="1208965" cy="753345"/>
          </a:xfrm>
        </p:grpSpPr>
        <p:grpSp>
          <p:nvGrpSpPr>
            <p:cNvPr id="343" name="Group 340">
              <a:extLst>
                <a:ext uri="{FF2B5EF4-FFF2-40B4-BE49-F238E27FC236}">
                  <a16:creationId xmlns:a16="http://schemas.microsoft.com/office/drawing/2014/main" id="{1B2B163C-01CC-0788-34F5-DF8F63DF565C}"/>
                </a:ext>
              </a:extLst>
            </p:cNvPr>
            <p:cNvGrpSpPr/>
            <p:nvPr/>
          </p:nvGrpSpPr>
          <p:grpSpPr>
            <a:xfrm>
              <a:off x="6964708" y="4299700"/>
              <a:ext cx="1208965" cy="753345"/>
              <a:chOff x="6629084" y="4161784"/>
              <a:chExt cx="1208965" cy="753345"/>
            </a:xfrm>
          </p:grpSpPr>
          <p:sp>
            <p:nvSpPr>
              <p:cNvPr id="347" name="Google Shape;1775;p42">
                <a:extLst>
                  <a:ext uri="{FF2B5EF4-FFF2-40B4-BE49-F238E27FC236}">
                    <a16:creationId xmlns:a16="http://schemas.microsoft.com/office/drawing/2014/main" id="{8ACC4D4B-247C-409D-9497-06B3E85FDCF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8" name="Google Shape;1775;p42">
                <a:extLst>
                  <a:ext uri="{FF2B5EF4-FFF2-40B4-BE49-F238E27FC236}">
                    <a16:creationId xmlns:a16="http://schemas.microsoft.com/office/drawing/2014/main" id="{900079B1-7957-C707-BF8B-5CCFE453F6A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44" name="Rectangle 341">
              <a:extLst>
                <a:ext uri="{FF2B5EF4-FFF2-40B4-BE49-F238E27FC236}">
                  <a16:creationId xmlns:a16="http://schemas.microsoft.com/office/drawing/2014/main" id="{5B505C18-65D2-846F-0AFA-275318D882B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5" name="Rectangle 342">
              <a:extLst>
                <a:ext uri="{FF2B5EF4-FFF2-40B4-BE49-F238E27FC236}">
                  <a16:creationId xmlns:a16="http://schemas.microsoft.com/office/drawing/2014/main" id="{36926EF9-C01E-D4BB-CA51-6623423ECB4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6" name="Oval 343">
              <a:extLst>
                <a:ext uri="{FF2B5EF4-FFF2-40B4-BE49-F238E27FC236}">
                  <a16:creationId xmlns:a16="http://schemas.microsoft.com/office/drawing/2014/main" id="{E4EE094D-48DB-EDB2-FCF9-3D7B59C0F91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49" name="Group 346">
            <a:extLst>
              <a:ext uri="{FF2B5EF4-FFF2-40B4-BE49-F238E27FC236}">
                <a16:creationId xmlns:a16="http://schemas.microsoft.com/office/drawing/2014/main" id="{0E23EC7A-ACA0-C4D2-489A-CD21162A6CDF}"/>
              </a:ext>
            </a:extLst>
          </p:cNvPr>
          <p:cNvGrpSpPr/>
          <p:nvPr/>
        </p:nvGrpSpPr>
        <p:grpSpPr>
          <a:xfrm>
            <a:off x="851403" y="7973554"/>
            <a:ext cx="443725" cy="250799"/>
            <a:chOff x="6964708" y="4299700"/>
            <a:chExt cx="1208965" cy="753345"/>
          </a:xfrm>
        </p:grpSpPr>
        <p:grpSp>
          <p:nvGrpSpPr>
            <p:cNvPr id="350" name="Group 347">
              <a:extLst>
                <a:ext uri="{FF2B5EF4-FFF2-40B4-BE49-F238E27FC236}">
                  <a16:creationId xmlns:a16="http://schemas.microsoft.com/office/drawing/2014/main" id="{9E489136-E3D8-3A68-091E-BF9B1468B59C}"/>
                </a:ext>
              </a:extLst>
            </p:cNvPr>
            <p:cNvGrpSpPr/>
            <p:nvPr/>
          </p:nvGrpSpPr>
          <p:grpSpPr>
            <a:xfrm>
              <a:off x="6964708" y="4299700"/>
              <a:ext cx="1208965" cy="753345"/>
              <a:chOff x="6629084" y="4161784"/>
              <a:chExt cx="1208965" cy="753345"/>
            </a:xfrm>
          </p:grpSpPr>
          <p:sp>
            <p:nvSpPr>
              <p:cNvPr id="354" name="Google Shape;1775;p42">
                <a:extLst>
                  <a:ext uri="{FF2B5EF4-FFF2-40B4-BE49-F238E27FC236}">
                    <a16:creationId xmlns:a16="http://schemas.microsoft.com/office/drawing/2014/main" id="{7F6A1B09-3EC3-0DE6-785D-DA54DF166DA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55" name="Google Shape;1775;p42">
                <a:extLst>
                  <a:ext uri="{FF2B5EF4-FFF2-40B4-BE49-F238E27FC236}">
                    <a16:creationId xmlns:a16="http://schemas.microsoft.com/office/drawing/2014/main" id="{0FE1B661-7F5F-0783-72B4-15040188EDD2}"/>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51" name="Rectangle 348">
              <a:extLst>
                <a:ext uri="{FF2B5EF4-FFF2-40B4-BE49-F238E27FC236}">
                  <a16:creationId xmlns:a16="http://schemas.microsoft.com/office/drawing/2014/main" id="{7F4AA61B-9B21-803C-601B-322F2F982836}"/>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2" name="Rectangle 349">
              <a:extLst>
                <a:ext uri="{FF2B5EF4-FFF2-40B4-BE49-F238E27FC236}">
                  <a16:creationId xmlns:a16="http://schemas.microsoft.com/office/drawing/2014/main" id="{B3894B9D-EED0-9ADB-D027-540B90FADDB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3" name="Oval 350">
              <a:extLst>
                <a:ext uri="{FF2B5EF4-FFF2-40B4-BE49-F238E27FC236}">
                  <a16:creationId xmlns:a16="http://schemas.microsoft.com/office/drawing/2014/main" id="{F524C444-7105-7FA5-8FC8-262DB6ABB9B0}"/>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56" name="Group 353">
            <a:extLst>
              <a:ext uri="{FF2B5EF4-FFF2-40B4-BE49-F238E27FC236}">
                <a16:creationId xmlns:a16="http://schemas.microsoft.com/office/drawing/2014/main" id="{9B21FE1B-9127-84F6-A850-C53E9E41D2A2}"/>
              </a:ext>
            </a:extLst>
          </p:cNvPr>
          <p:cNvGrpSpPr/>
          <p:nvPr/>
        </p:nvGrpSpPr>
        <p:grpSpPr>
          <a:xfrm>
            <a:off x="954957" y="8121074"/>
            <a:ext cx="443725" cy="250799"/>
            <a:chOff x="6964708" y="4299700"/>
            <a:chExt cx="1208965" cy="753345"/>
          </a:xfrm>
        </p:grpSpPr>
        <p:grpSp>
          <p:nvGrpSpPr>
            <p:cNvPr id="357" name="Group 354">
              <a:extLst>
                <a:ext uri="{FF2B5EF4-FFF2-40B4-BE49-F238E27FC236}">
                  <a16:creationId xmlns:a16="http://schemas.microsoft.com/office/drawing/2014/main" id="{9F0D956B-5B6B-6454-A77A-6BB4EE4E3359}"/>
                </a:ext>
              </a:extLst>
            </p:cNvPr>
            <p:cNvGrpSpPr/>
            <p:nvPr/>
          </p:nvGrpSpPr>
          <p:grpSpPr>
            <a:xfrm>
              <a:off x="6964708" y="4299700"/>
              <a:ext cx="1208965" cy="753345"/>
              <a:chOff x="6629084" y="4161784"/>
              <a:chExt cx="1208965" cy="753345"/>
            </a:xfrm>
          </p:grpSpPr>
          <p:sp>
            <p:nvSpPr>
              <p:cNvPr id="361" name="Google Shape;1775;p42">
                <a:extLst>
                  <a:ext uri="{FF2B5EF4-FFF2-40B4-BE49-F238E27FC236}">
                    <a16:creationId xmlns:a16="http://schemas.microsoft.com/office/drawing/2014/main" id="{2D267519-9E9B-ADB7-6B89-53539870782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62" name="Google Shape;1775;p42">
                <a:extLst>
                  <a:ext uri="{FF2B5EF4-FFF2-40B4-BE49-F238E27FC236}">
                    <a16:creationId xmlns:a16="http://schemas.microsoft.com/office/drawing/2014/main" id="{2F93C4EC-A748-894E-6FCC-F43AC8C7720E}"/>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58" name="Rectangle 355">
              <a:extLst>
                <a:ext uri="{FF2B5EF4-FFF2-40B4-BE49-F238E27FC236}">
                  <a16:creationId xmlns:a16="http://schemas.microsoft.com/office/drawing/2014/main" id="{22C4E108-6401-7D04-D935-30994F379AB2}"/>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9" name="Rectangle 356">
              <a:extLst>
                <a:ext uri="{FF2B5EF4-FFF2-40B4-BE49-F238E27FC236}">
                  <a16:creationId xmlns:a16="http://schemas.microsoft.com/office/drawing/2014/main" id="{11A8656C-0C55-F4F2-9957-9FC770F6FD9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0" name="Oval 357">
              <a:extLst>
                <a:ext uri="{FF2B5EF4-FFF2-40B4-BE49-F238E27FC236}">
                  <a16:creationId xmlns:a16="http://schemas.microsoft.com/office/drawing/2014/main" id="{2690378B-D12D-3AB1-6B2C-8F8103671CEE}"/>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63" name="Group 360">
            <a:extLst>
              <a:ext uri="{FF2B5EF4-FFF2-40B4-BE49-F238E27FC236}">
                <a16:creationId xmlns:a16="http://schemas.microsoft.com/office/drawing/2014/main" id="{4CB12488-D81C-51B9-DB62-0626F72AD030}"/>
              </a:ext>
            </a:extLst>
          </p:cNvPr>
          <p:cNvGrpSpPr/>
          <p:nvPr/>
        </p:nvGrpSpPr>
        <p:grpSpPr>
          <a:xfrm>
            <a:off x="1093186" y="8245509"/>
            <a:ext cx="443725" cy="250799"/>
            <a:chOff x="6964708" y="4299700"/>
            <a:chExt cx="1208965" cy="753345"/>
          </a:xfrm>
        </p:grpSpPr>
        <p:grpSp>
          <p:nvGrpSpPr>
            <p:cNvPr id="364" name="Group 361">
              <a:extLst>
                <a:ext uri="{FF2B5EF4-FFF2-40B4-BE49-F238E27FC236}">
                  <a16:creationId xmlns:a16="http://schemas.microsoft.com/office/drawing/2014/main" id="{AC76DF3B-2C90-C126-BE29-3B2245F7990E}"/>
                </a:ext>
              </a:extLst>
            </p:cNvPr>
            <p:cNvGrpSpPr/>
            <p:nvPr/>
          </p:nvGrpSpPr>
          <p:grpSpPr>
            <a:xfrm>
              <a:off x="6964708" y="4299700"/>
              <a:ext cx="1208965" cy="753345"/>
              <a:chOff x="6629084" y="4161784"/>
              <a:chExt cx="1208965" cy="753345"/>
            </a:xfrm>
          </p:grpSpPr>
          <p:sp>
            <p:nvSpPr>
              <p:cNvPr id="368" name="Google Shape;1775;p42">
                <a:extLst>
                  <a:ext uri="{FF2B5EF4-FFF2-40B4-BE49-F238E27FC236}">
                    <a16:creationId xmlns:a16="http://schemas.microsoft.com/office/drawing/2014/main" id="{68E942BA-8514-EB35-4032-ADB7E08299F1}"/>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69" name="Google Shape;1775;p42">
                <a:extLst>
                  <a:ext uri="{FF2B5EF4-FFF2-40B4-BE49-F238E27FC236}">
                    <a16:creationId xmlns:a16="http://schemas.microsoft.com/office/drawing/2014/main" id="{2F7C1F4F-C438-9A3D-0D34-FC3CBA4A94E6}"/>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65" name="Rectangle 362">
              <a:extLst>
                <a:ext uri="{FF2B5EF4-FFF2-40B4-BE49-F238E27FC236}">
                  <a16:creationId xmlns:a16="http://schemas.microsoft.com/office/drawing/2014/main" id="{2890FC2D-C1AC-E17B-85A8-067BD99D17A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6" name="Rectangle 363">
              <a:extLst>
                <a:ext uri="{FF2B5EF4-FFF2-40B4-BE49-F238E27FC236}">
                  <a16:creationId xmlns:a16="http://schemas.microsoft.com/office/drawing/2014/main" id="{FE96EF04-23BC-0CF4-7655-0F8E795097E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7" name="Oval 364">
              <a:extLst>
                <a:ext uri="{FF2B5EF4-FFF2-40B4-BE49-F238E27FC236}">
                  <a16:creationId xmlns:a16="http://schemas.microsoft.com/office/drawing/2014/main" id="{D085A644-9E5D-EDE1-B6C2-DC576F02EA27}"/>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0" name="Group 367">
            <a:extLst>
              <a:ext uri="{FF2B5EF4-FFF2-40B4-BE49-F238E27FC236}">
                <a16:creationId xmlns:a16="http://schemas.microsoft.com/office/drawing/2014/main" id="{7BC9305D-BDD4-E004-6259-8EDFE86D0E07}"/>
              </a:ext>
            </a:extLst>
          </p:cNvPr>
          <p:cNvGrpSpPr/>
          <p:nvPr/>
        </p:nvGrpSpPr>
        <p:grpSpPr>
          <a:xfrm>
            <a:off x="5178038" y="7764933"/>
            <a:ext cx="443725" cy="250799"/>
            <a:chOff x="6964708" y="4299700"/>
            <a:chExt cx="1208965" cy="753345"/>
          </a:xfrm>
        </p:grpSpPr>
        <p:grpSp>
          <p:nvGrpSpPr>
            <p:cNvPr id="371" name="Group 368">
              <a:extLst>
                <a:ext uri="{FF2B5EF4-FFF2-40B4-BE49-F238E27FC236}">
                  <a16:creationId xmlns:a16="http://schemas.microsoft.com/office/drawing/2014/main" id="{DF18E224-E920-7F18-4EEE-DC5334E26A21}"/>
                </a:ext>
              </a:extLst>
            </p:cNvPr>
            <p:cNvGrpSpPr/>
            <p:nvPr/>
          </p:nvGrpSpPr>
          <p:grpSpPr>
            <a:xfrm>
              <a:off x="6964708" y="4299700"/>
              <a:ext cx="1208965" cy="753345"/>
              <a:chOff x="6629084" y="4161784"/>
              <a:chExt cx="1208965" cy="753345"/>
            </a:xfrm>
          </p:grpSpPr>
          <p:sp>
            <p:nvSpPr>
              <p:cNvPr id="375" name="Google Shape;1775;p42">
                <a:extLst>
                  <a:ext uri="{FF2B5EF4-FFF2-40B4-BE49-F238E27FC236}">
                    <a16:creationId xmlns:a16="http://schemas.microsoft.com/office/drawing/2014/main" id="{AF2E406F-8968-DC37-C787-C1E5F43B1A8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76" name="Google Shape;1775;p42">
                <a:extLst>
                  <a:ext uri="{FF2B5EF4-FFF2-40B4-BE49-F238E27FC236}">
                    <a16:creationId xmlns:a16="http://schemas.microsoft.com/office/drawing/2014/main" id="{1A3C6D66-A167-AEE2-D855-DBE22445B379}"/>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72" name="Rectangle 369">
              <a:extLst>
                <a:ext uri="{FF2B5EF4-FFF2-40B4-BE49-F238E27FC236}">
                  <a16:creationId xmlns:a16="http://schemas.microsoft.com/office/drawing/2014/main" id="{EBB8B91A-2EFE-D467-415D-17437FC9D72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73" name="Rectangle 370">
              <a:extLst>
                <a:ext uri="{FF2B5EF4-FFF2-40B4-BE49-F238E27FC236}">
                  <a16:creationId xmlns:a16="http://schemas.microsoft.com/office/drawing/2014/main" id="{F9F1DC2E-019E-E438-915A-1365FE4CFD4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74" name="Oval 371">
              <a:extLst>
                <a:ext uri="{FF2B5EF4-FFF2-40B4-BE49-F238E27FC236}">
                  <a16:creationId xmlns:a16="http://schemas.microsoft.com/office/drawing/2014/main" id="{4751CA08-4106-167F-86CC-8D36AE11422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7" name="Group 374">
            <a:extLst>
              <a:ext uri="{FF2B5EF4-FFF2-40B4-BE49-F238E27FC236}">
                <a16:creationId xmlns:a16="http://schemas.microsoft.com/office/drawing/2014/main" id="{BD128BEE-34EB-7051-9EB6-E6525BFF2E03}"/>
              </a:ext>
            </a:extLst>
          </p:cNvPr>
          <p:cNvGrpSpPr/>
          <p:nvPr/>
        </p:nvGrpSpPr>
        <p:grpSpPr>
          <a:xfrm>
            <a:off x="10128350" y="7736356"/>
            <a:ext cx="443725" cy="250799"/>
            <a:chOff x="6964708" y="4299700"/>
            <a:chExt cx="1208965" cy="753345"/>
          </a:xfrm>
        </p:grpSpPr>
        <p:grpSp>
          <p:nvGrpSpPr>
            <p:cNvPr id="378" name="Group 375">
              <a:extLst>
                <a:ext uri="{FF2B5EF4-FFF2-40B4-BE49-F238E27FC236}">
                  <a16:creationId xmlns:a16="http://schemas.microsoft.com/office/drawing/2014/main" id="{81579F4D-6BBF-BD67-F542-933F0C5775BD}"/>
                </a:ext>
              </a:extLst>
            </p:cNvPr>
            <p:cNvGrpSpPr/>
            <p:nvPr/>
          </p:nvGrpSpPr>
          <p:grpSpPr>
            <a:xfrm>
              <a:off x="6964708" y="4299700"/>
              <a:ext cx="1208965" cy="753345"/>
              <a:chOff x="6629084" y="4161784"/>
              <a:chExt cx="1208965" cy="753345"/>
            </a:xfrm>
          </p:grpSpPr>
          <p:sp>
            <p:nvSpPr>
              <p:cNvPr id="382" name="Google Shape;1775;p42">
                <a:extLst>
                  <a:ext uri="{FF2B5EF4-FFF2-40B4-BE49-F238E27FC236}">
                    <a16:creationId xmlns:a16="http://schemas.microsoft.com/office/drawing/2014/main" id="{C2EE051D-F994-7158-577E-A74F1E4789C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83" name="Google Shape;1775;p42">
                <a:extLst>
                  <a:ext uri="{FF2B5EF4-FFF2-40B4-BE49-F238E27FC236}">
                    <a16:creationId xmlns:a16="http://schemas.microsoft.com/office/drawing/2014/main" id="{E2100668-886F-90FE-F5F2-E50EE64CEFB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79" name="Rectangle 376">
              <a:extLst>
                <a:ext uri="{FF2B5EF4-FFF2-40B4-BE49-F238E27FC236}">
                  <a16:creationId xmlns:a16="http://schemas.microsoft.com/office/drawing/2014/main" id="{4BDF1B67-274E-F380-C931-04C976B8078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0" name="Rectangle 377">
              <a:extLst>
                <a:ext uri="{FF2B5EF4-FFF2-40B4-BE49-F238E27FC236}">
                  <a16:creationId xmlns:a16="http://schemas.microsoft.com/office/drawing/2014/main" id="{E3EEA2E9-38DD-34A5-2863-B438F2D25AD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1" name="Oval 378">
              <a:extLst>
                <a:ext uri="{FF2B5EF4-FFF2-40B4-BE49-F238E27FC236}">
                  <a16:creationId xmlns:a16="http://schemas.microsoft.com/office/drawing/2014/main" id="{5D58B8E5-35BD-4CAB-99D7-4D02CF124F93}"/>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84" name="Group 381">
            <a:extLst>
              <a:ext uri="{FF2B5EF4-FFF2-40B4-BE49-F238E27FC236}">
                <a16:creationId xmlns:a16="http://schemas.microsoft.com/office/drawing/2014/main" id="{05087D37-2323-204E-92E9-A7456156344A}"/>
              </a:ext>
            </a:extLst>
          </p:cNvPr>
          <p:cNvGrpSpPr/>
          <p:nvPr/>
        </p:nvGrpSpPr>
        <p:grpSpPr>
          <a:xfrm>
            <a:off x="10339306" y="7615418"/>
            <a:ext cx="443725" cy="250799"/>
            <a:chOff x="6964708" y="4299700"/>
            <a:chExt cx="1208965" cy="753345"/>
          </a:xfrm>
        </p:grpSpPr>
        <p:grpSp>
          <p:nvGrpSpPr>
            <p:cNvPr id="385" name="Group 382">
              <a:extLst>
                <a:ext uri="{FF2B5EF4-FFF2-40B4-BE49-F238E27FC236}">
                  <a16:creationId xmlns:a16="http://schemas.microsoft.com/office/drawing/2014/main" id="{4132C8A7-A161-5ACB-7EF8-4B2799A46AD2}"/>
                </a:ext>
              </a:extLst>
            </p:cNvPr>
            <p:cNvGrpSpPr/>
            <p:nvPr/>
          </p:nvGrpSpPr>
          <p:grpSpPr>
            <a:xfrm>
              <a:off x="6964708" y="4299700"/>
              <a:ext cx="1208965" cy="753345"/>
              <a:chOff x="6629084" y="4161784"/>
              <a:chExt cx="1208965" cy="753345"/>
            </a:xfrm>
          </p:grpSpPr>
          <p:sp>
            <p:nvSpPr>
              <p:cNvPr id="389" name="Google Shape;1775;p42">
                <a:extLst>
                  <a:ext uri="{FF2B5EF4-FFF2-40B4-BE49-F238E27FC236}">
                    <a16:creationId xmlns:a16="http://schemas.microsoft.com/office/drawing/2014/main" id="{7E3C0883-7EEC-EE97-5428-7BA39A9C076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0" name="Google Shape;1775;p42">
                <a:extLst>
                  <a:ext uri="{FF2B5EF4-FFF2-40B4-BE49-F238E27FC236}">
                    <a16:creationId xmlns:a16="http://schemas.microsoft.com/office/drawing/2014/main" id="{79061591-1779-2D17-8599-18679AF4ECE9}"/>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86" name="Rectangle 383">
              <a:extLst>
                <a:ext uri="{FF2B5EF4-FFF2-40B4-BE49-F238E27FC236}">
                  <a16:creationId xmlns:a16="http://schemas.microsoft.com/office/drawing/2014/main" id="{1C4D9654-C14B-0BDF-1806-D5BEBE589FC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7" name="Rectangle 384">
              <a:extLst>
                <a:ext uri="{FF2B5EF4-FFF2-40B4-BE49-F238E27FC236}">
                  <a16:creationId xmlns:a16="http://schemas.microsoft.com/office/drawing/2014/main" id="{010E496D-63C3-C61D-7FCA-13407F05391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8" name="Oval 385">
              <a:extLst>
                <a:ext uri="{FF2B5EF4-FFF2-40B4-BE49-F238E27FC236}">
                  <a16:creationId xmlns:a16="http://schemas.microsoft.com/office/drawing/2014/main" id="{DC988C55-B52A-8095-418B-BE285AC9ADA6}"/>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91" name="Group 388">
            <a:extLst>
              <a:ext uri="{FF2B5EF4-FFF2-40B4-BE49-F238E27FC236}">
                <a16:creationId xmlns:a16="http://schemas.microsoft.com/office/drawing/2014/main" id="{413308C1-B560-4414-CEF5-8008B39257C9}"/>
              </a:ext>
            </a:extLst>
          </p:cNvPr>
          <p:cNvGrpSpPr/>
          <p:nvPr/>
        </p:nvGrpSpPr>
        <p:grpSpPr>
          <a:xfrm>
            <a:off x="10233828" y="7866026"/>
            <a:ext cx="443725" cy="250799"/>
            <a:chOff x="6964708" y="4299700"/>
            <a:chExt cx="1208965" cy="753345"/>
          </a:xfrm>
        </p:grpSpPr>
        <p:grpSp>
          <p:nvGrpSpPr>
            <p:cNvPr id="392" name="Group 389">
              <a:extLst>
                <a:ext uri="{FF2B5EF4-FFF2-40B4-BE49-F238E27FC236}">
                  <a16:creationId xmlns:a16="http://schemas.microsoft.com/office/drawing/2014/main" id="{22616FDF-55DC-6331-2301-C4455D558236}"/>
                </a:ext>
              </a:extLst>
            </p:cNvPr>
            <p:cNvGrpSpPr/>
            <p:nvPr/>
          </p:nvGrpSpPr>
          <p:grpSpPr>
            <a:xfrm>
              <a:off x="6964708" y="4299700"/>
              <a:ext cx="1208965" cy="753345"/>
              <a:chOff x="6629084" y="4161784"/>
              <a:chExt cx="1208965" cy="753345"/>
            </a:xfrm>
          </p:grpSpPr>
          <p:sp>
            <p:nvSpPr>
              <p:cNvPr id="396" name="Google Shape;1775;p42">
                <a:extLst>
                  <a:ext uri="{FF2B5EF4-FFF2-40B4-BE49-F238E27FC236}">
                    <a16:creationId xmlns:a16="http://schemas.microsoft.com/office/drawing/2014/main" id="{41597CE9-0866-865B-AD1F-698D98FDCB1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7" name="Google Shape;1775;p42">
                <a:extLst>
                  <a:ext uri="{FF2B5EF4-FFF2-40B4-BE49-F238E27FC236}">
                    <a16:creationId xmlns:a16="http://schemas.microsoft.com/office/drawing/2014/main" id="{A541D71A-DDE2-5E28-19D5-360C86C723B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93" name="Rectangle 390">
              <a:extLst>
                <a:ext uri="{FF2B5EF4-FFF2-40B4-BE49-F238E27FC236}">
                  <a16:creationId xmlns:a16="http://schemas.microsoft.com/office/drawing/2014/main" id="{F19F63DA-B191-1F22-A0F4-9422A06B0E0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4" name="Rectangle 391">
              <a:extLst>
                <a:ext uri="{FF2B5EF4-FFF2-40B4-BE49-F238E27FC236}">
                  <a16:creationId xmlns:a16="http://schemas.microsoft.com/office/drawing/2014/main" id="{8D6F56AA-A9B7-703C-1A05-BCE8B4E4849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5" name="Oval 392">
              <a:extLst>
                <a:ext uri="{FF2B5EF4-FFF2-40B4-BE49-F238E27FC236}">
                  <a16:creationId xmlns:a16="http://schemas.microsoft.com/office/drawing/2014/main" id="{E93EDCDF-46F3-5BE7-70AA-572A55544DEC}"/>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98" name="Group 395">
            <a:extLst>
              <a:ext uri="{FF2B5EF4-FFF2-40B4-BE49-F238E27FC236}">
                <a16:creationId xmlns:a16="http://schemas.microsoft.com/office/drawing/2014/main" id="{0616C13C-F201-C4D5-2BC6-157C2EC6C4C4}"/>
              </a:ext>
            </a:extLst>
          </p:cNvPr>
          <p:cNvGrpSpPr/>
          <p:nvPr/>
        </p:nvGrpSpPr>
        <p:grpSpPr>
          <a:xfrm>
            <a:off x="10734664" y="7846282"/>
            <a:ext cx="443725" cy="250799"/>
            <a:chOff x="6964708" y="4299700"/>
            <a:chExt cx="1208965" cy="753345"/>
          </a:xfrm>
        </p:grpSpPr>
        <p:grpSp>
          <p:nvGrpSpPr>
            <p:cNvPr id="399" name="Group 396">
              <a:extLst>
                <a:ext uri="{FF2B5EF4-FFF2-40B4-BE49-F238E27FC236}">
                  <a16:creationId xmlns:a16="http://schemas.microsoft.com/office/drawing/2014/main" id="{E1319067-301B-9B0E-AF19-D7E4F575D621}"/>
                </a:ext>
              </a:extLst>
            </p:cNvPr>
            <p:cNvGrpSpPr/>
            <p:nvPr/>
          </p:nvGrpSpPr>
          <p:grpSpPr>
            <a:xfrm>
              <a:off x="6964708" y="4299700"/>
              <a:ext cx="1208965" cy="753345"/>
              <a:chOff x="6629084" y="4161784"/>
              <a:chExt cx="1208965" cy="753345"/>
            </a:xfrm>
          </p:grpSpPr>
          <p:sp>
            <p:nvSpPr>
              <p:cNvPr id="403" name="Google Shape;1775;p42">
                <a:extLst>
                  <a:ext uri="{FF2B5EF4-FFF2-40B4-BE49-F238E27FC236}">
                    <a16:creationId xmlns:a16="http://schemas.microsoft.com/office/drawing/2014/main" id="{49525087-4F78-6247-AA5A-6203A9F2B86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04" name="Google Shape;1775;p42">
                <a:extLst>
                  <a:ext uri="{FF2B5EF4-FFF2-40B4-BE49-F238E27FC236}">
                    <a16:creationId xmlns:a16="http://schemas.microsoft.com/office/drawing/2014/main" id="{AA9CC3D3-66F9-0F4A-D61A-3940B2AA9D1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00" name="Rectangle 397">
              <a:extLst>
                <a:ext uri="{FF2B5EF4-FFF2-40B4-BE49-F238E27FC236}">
                  <a16:creationId xmlns:a16="http://schemas.microsoft.com/office/drawing/2014/main" id="{4C0FEF3F-91F3-B993-C133-266F8AB1F5E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1" name="Rectangle 398">
              <a:extLst>
                <a:ext uri="{FF2B5EF4-FFF2-40B4-BE49-F238E27FC236}">
                  <a16:creationId xmlns:a16="http://schemas.microsoft.com/office/drawing/2014/main" id="{2DF30417-FC69-8DB9-2616-D3EA2FEFA38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2" name="Oval 399">
              <a:extLst>
                <a:ext uri="{FF2B5EF4-FFF2-40B4-BE49-F238E27FC236}">
                  <a16:creationId xmlns:a16="http://schemas.microsoft.com/office/drawing/2014/main" id="{16C2F45E-3DA7-DDDA-4120-7C9E2B40FF14}"/>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05" name="Group 402">
            <a:extLst>
              <a:ext uri="{FF2B5EF4-FFF2-40B4-BE49-F238E27FC236}">
                <a16:creationId xmlns:a16="http://schemas.microsoft.com/office/drawing/2014/main" id="{1A8F57FC-A951-A2FE-1CB3-E2C17CDF860D}"/>
              </a:ext>
            </a:extLst>
          </p:cNvPr>
          <p:cNvGrpSpPr/>
          <p:nvPr/>
        </p:nvGrpSpPr>
        <p:grpSpPr>
          <a:xfrm>
            <a:off x="10570766" y="7736359"/>
            <a:ext cx="443725" cy="250799"/>
            <a:chOff x="6964708" y="4299700"/>
            <a:chExt cx="1208965" cy="753345"/>
          </a:xfrm>
        </p:grpSpPr>
        <p:grpSp>
          <p:nvGrpSpPr>
            <p:cNvPr id="406" name="Group 403">
              <a:extLst>
                <a:ext uri="{FF2B5EF4-FFF2-40B4-BE49-F238E27FC236}">
                  <a16:creationId xmlns:a16="http://schemas.microsoft.com/office/drawing/2014/main" id="{8349434F-65A3-8E2D-4AD9-436078829EBA}"/>
                </a:ext>
              </a:extLst>
            </p:cNvPr>
            <p:cNvGrpSpPr/>
            <p:nvPr/>
          </p:nvGrpSpPr>
          <p:grpSpPr>
            <a:xfrm>
              <a:off x="6964708" y="4299700"/>
              <a:ext cx="1208965" cy="753345"/>
              <a:chOff x="6629084" y="4161784"/>
              <a:chExt cx="1208965" cy="753345"/>
            </a:xfrm>
          </p:grpSpPr>
          <p:sp>
            <p:nvSpPr>
              <p:cNvPr id="410" name="Google Shape;1775;p42">
                <a:extLst>
                  <a:ext uri="{FF2B5EF4-FFF2-40B4-BE49-F238E27FC236}">
                    <a16:creationId xmlns:a16="http://schemas.microsoft.com/office/drawing/2014/main" id="{241459D7-8CCD-94E5-BAEE-F539FC0B521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11" name="Google Shape;1775;p42">
                <a:extLst>
                  <a:ext uri="{FF2B5EF4-FFF2-40B4-BE49-F238E27FC236}">
                    <a16:creationId xmlns:a16="http://schemas.microsoft.com/office/drawing/2014/main" id="{85590573-42B8-0D6C-E86F-4225C1BE8A3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07" name="Rectangle 404">
              <a:extLst>
                <a:ext uri="{FF2B5EF4-FFF2-40B4-BE49-F238E27FC236}">
                  <a16:creationId xmlns:a16="http://schemas.microsoft.com/office/drawing/2014/main" id="{BFC81F69-5355-A30C-F5CF-966DBC9C95E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8" name="Rectangle 405">
              <a:extLst>
                <a:ext uri="{FF2B5EF4-FFF2-40B4-BE49-F238E27FC236}">
                  <a16:creationId xmlns:a16="http://schemas.microsoft.com/office/drawing/2014/main" id="{B3C1BD6C-BA31-DDCF-F673-F8385948179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9" name="Oval 406">
              <a:extLst>
                <a:ext uri="{FF2B5EF4-FFF2-40B4-BE49-F238E27FC236}">
                  <a16:creationId xmlns:a16="http://schemas.microsoft.com/office/drawing/2014/main" id="{B7418093-57A4-9FDA-B4FE-37C46EF3730E}"/>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12" name="Group 409">
            <a:extLst>
              <a:ext uri="{FF2B5EF4-FFF2-40B4-BE49-F238E27FC236}">
                <a16:creationId xmlns:a16="http://schemas.microsoft.com/office/drawing/2014/main" id="{B0A30A5F-342F-5626-58AE-55DBB2E9D641}"/>
              </a:ext>
            </a:extLst>
          </p:cNvPr>
          <p:cNvGrpSpPr/>
          <p:nvPr/>
        </p:nvGrpSpPr>
        <p:grpSpPr>
          <a:xfrm>
            <a:off x="7151343" y="3187220"/>
            <a:ext cx="370686" cy="209516"/>
            <a:chOff x="6964708" y="4299700"/>
            <a:chExt cx="1208965" cy="753345"/>
          </a:xfrm>
        </p:grpSpPr>
        <p:grpSp>
          <p:nvGrpSpPr>
            <p:cNvPr id="413" name="Group 410">
              <a:extLst>
                <a:ext uri="{FF2B5EF4-FFF2-40B4-BE49-F238E27FC236}">
                  <a16:creationId xmlns:a16="http://schemas.microsoft.com/office/drawing/2014/main" id="{D3484FBC-32DE-D427-1AFF-244C10169F61}"/>
                </a:ext>
              </a:extLst>
            </p:cNvPr>
            <p:cNvGrpSpPr/>
            <p:nvPr/>
          </p:nvGrpSpPr>
          <p:grpSpPr>
            <a:xfrm>
              <a:off x="6964708" y="4299700"/>
              <a:ext cx="1208965" cy="753345"/>
              <a:chOff x="6629084" y="4161784"/>
              <a:chExt cx="1208965" cy="753345"/>
            </a:xfrm>
          </p:grpSpPr>
          <p:sp>
            <p:nvSpPr>
              <p:cNvPr id="417" name="Google Shape;1775;p42">
                <a:extLst>
                  <a:ext uri="{FF2B5EF4-FFF2-40B4-BE49-F238E27FC236}">
                    <a16:creationId xmlns:a16="http://schemas.microsoft.com/office/drawing/2014/main" id="{9DFFC574-1F3D-95E0-382D-E6EAEFE26F6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18" name="Google Shape;1775;p42">
                <a:extLst>
                  <a:ext uri="{FF2B5EF4-FFF2-40B4-BE49-F238E27FC236}">
                    <a16:creationId xmlns:a16="http://schemas.microsoft.com/office/drawing/2014/main" id="{5A4202FA-2DA6-4A35-C9E7-4DB5F7D1BBB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14" name="Rectangle 411">
              <a:extLst>
                <a:ext uri="{FF2B5EF4-FFF2-40B4-BE49-F238E27FC236}">
                  <a16:creationId xmlns:a16="http://schemas.microsoft.com/office/drawing/2014/main" id="{2BD61C74-4A83-8EF2-62ED-148E7F387E3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15" name="Rectangle 412">
              <a:extLst>
                <a:ext uri="{FF2B5EF4-FFF2-40B4-BE49-F238E27FC236}">
                  <a16:creationId xmlns:a16="http://schemas.microsoft.com/office/drawing/2014/main" id="{79308C9D-4FF6-A0D9-67FF-9A4A55D2DF3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16" name="Oval 413">
              <a:extLst>
                <a:ext uri="{FF2B5EF4-FFF2-40B4-BE49-F238E27FC236}">
                  <a16:creationId xmlns:a16="http://schemas.microsoft.com/office/drawing/2014/main" id="{21F1125D-9508-8F43-31A9-68DCA49F9967}"/>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19" name="Group 416">
            <a:extLst>
              <a:ext uri="{FF2B5EF4-FFF2-40B4-BE49-F238E27FC236}">
                <a16:creationId xmlns:a16="http://schemas.microsoft.com/office/drawing/2014/main" id="{0277EE73-412D-8E03-E4AC-E4F7A6EBFDB9}"/>
              </a:ext>
            </a:extLst>
          </p:cNvPr>
          <p:cNvGrpSpPr/>
          <p:nvPr/>
        </p:nvGrpSpPr>
        <p:grpSpPr>
          <a:xfrm>
            <a:off x="7150369" y="3469814"/>
            <a:ext cx="370686" cy="209516"/>
            <a:chOff x="6964708" y="4299700"/>
            <a:chExt cx="1208965" cy="753345"/>
          </a:xfrm>
        </p:grpSpPr>
        <p:grpSp>
          <p:nvGrpSpPr>
            <p:cNvPr id="420" name="Group 417">
              <a:extLst>
                <a:ext uri="{FF2B5EF4-FFF2-40B4-BE49-F238E27FC236}">
                  <a16:creationId xmlns:a16="http://schemas.microsoft.com/office/drawing/2014/main" id="{0D86B169-DD78-B0A6-DCF9-84392934AD23}"/>
                </a:ext>
              </a:extLst>
            </p:cNvPr>
            <p:cNvGrpSpPr/>
            <p:nvPr/>
          </p:nvGrpSpPr>
          <p:grpSpPr>
            <a:xfrm>
              <a:off x="6964708" y="4299700"/>
              <a:ext cx="1208965" cy="753345"/>
              <a:chOff x="6629084" y="4161784"/>
              <a:chExt cx="1208965" cy="753345"/>
            </a:xfrm>
          </p:grpSpPr>
          <p:sp>
            <p:nvSpPr>
              <p:cNvPr id="424" name="Google Shape;1775;p42">
                <a:extLst>
                  <a:ext uri="{FF2B5EF4-FFF2-40B4-BE49-F238E27FC236}">
                    <a16:creationId xmlns:a16="http://schemas.microsoft.com/office/drawing/2014/main" id="{E6080A08-00BF-FDE2-27CB-8FCC817AEE0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25" name="Google Shape;1775;p42">
                <a:extLst>
                  <a:ext uri="{FF2B5EF4-FFF2-40B4-BE49-F238E27FC236}">
                    <a16:creationId xmlns:a16="http://schemas.microsoft.com/office/drawing/2014/main" id="{7A881CEB-973C-ADAF-391E-A46E8DE958C6}"/>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21" name="Rectangle 418">
              <a:extLst>
                <a:ext uri="{FF2B5EF4-FFF2-40B4-BE49-F238E27FC236}">
                  <a16:creationId xmlns:a16="http://schemas.microsoft.com/office/drawing/2014/main" id="{DDD7F532-3D64-A00E-18DF-A24AAB01A09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2" name="Rectangle 419">
              <a:extLst>
                <a:ext uri="{FF2B5EF4-FFF2-40B4-BE49-F238E27FC236}">
                  <a16:creationId xmlns:a16="http://schemas.microsoft.com/office/drawing/2014/main" id="{623754F3-C493-7D2B-A95B-861CCBA4879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3" name="Oval 420">
              <a:extLst>
                <a:ext uri="{FF2B5EF4-FFF2-40B4-BE49-F238E27FC236}">
                  <a16:creationId xmlns:a16="http://schemas.microsoft.com/office/drawing/2014/main" id="{1D60E957-2583-9BAA-07DF-374EFC92A56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26" name="Group 423">
            <a:extLst>
              <a:ext uri="{FF2B5EF4-FFF2-40B4-BE49-F238E27FC236}">
                <a16:creationId xmlns:a16="http://schemas.microsoft.com/office/drawing/2014/main" id="{FD270401-8096-1F57-0275-7A5D419A77FB}"/>
              </a:ext>
            </a:extLst>
          </p:cNvPr>
          <p:cNvGrpSpPr/>
          <p:nvPr/>
        </p:nvGrpSpPr>
        <p:grpSpPr>
          <a:xfrm>
            <a:off x="7185429" y="3718613"/>
            <a:ext cx="370686" cy="209516"/>
            <a:chOff x="6964708" y="4299700"/>
            <a:chExt cx="1208965" cy="753345"/>
          </a:xfrm>
        </p:grpSpPr>
        <p:grpSp>
          <p:nvGrpSpPr>
            <p:cNvPr id="427" name="Group 424">
              <a:extLst>
                <a:ext uri="{FF2B5EF4-FFF2-40B4-BE49-F238E27FC236}">
                  <a16:creationId xmlns:a16="http://schemas.microsoft.com/office/drawing/2014/main" id="{F391AD6D-2F9A-04A8-D046-F1D84464E2DF}"/>
                </a:ext>
              </a:extLst>
            </p:cNvPr>
            <p:cNvGrpSpPr/>
            <p:nvPr/>
          </p:nvGrpSpPr>
          <p:grpSpPr>
            <a:xfrm>
              <a:off x="6964708" y="4299700"/>
              <a:ext cx="1208965" cy="753345"/>
              <a:chOff x="6629084" y="4161784"/>
              <a:chExt cx="1208965" cy="753345"/>
            </a:xfrm>
          </p:grpSpPr>
          <p:sp>
            <p:nvSpPr>
              <p:cNvPr id="431" name="Google Shape;1775;p42">
                <a:extLst>
                  <a:ext uri="{FF2B5EF4-FFF2-40B4-BE49-F238E27FC236}">
                    <a16:creationId xmlns:a16="http://schemas.microsoft.com/office/drawing/2014/main" id="{F2AA2FE1-3DEE-B928-5EB1-DE5C66B8E73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32" name="Google Shape;1775;p42">
                <a:extLst>
                  <a:ext uri="{FF2B5EF4-FFF2-40B4-BE49-F238E27FC236}">
                    <a16:creationId xmlns:a16="http://schemas.microsoft.com/office/drawing/2014/main" id="{34BF5FF3-2179-ABCE-CF62-A609933F0525}"/>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28" name="Rectangle 425">
              <a:extLst>
                <a:ext uri="{FF2B5EF4-FFF2-40B4-BE49-F238E27FC236}">
                  <a16:creationId xmlns:a16="http://schemas.microsoft.com/office/drawing/2014/main" id="{84927A94-AFB2-F8C6-D1D2-F88016A463B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9" name="Rectangle 426">
              <a:extLst>
                <a:ext uri="{FF2B5EF4-FFF2-40B4-BE49-F238E27FC236}">
                  <a16:creationId xmlns:a16="http://schemas.microsoft.com/office/drawing/2014/main" id="{2C6C09CE-FF6B-6C93-6E41-E099C0BEAA3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0" name="Oval 427">
              <a:extLst>
                <a:ext uri="{FF2B5EF4-FFF2-40B4-BE49-F238E27FC236}">
                  <a16:creationId xmlns:a16="http://schemas.microsoft.com/office/drawing/2014/main" id="{86622516-1820-9769-B188-41C211BD6F4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33" name="Group 430">
            <a:extLst>
              <a:ext uri="{FF2B5EF4-FFF2-40B4-BE49-F238E27FC236}">
                <a16:creationId xmlns:a16="http://schemas.microsoft.com/office/drawing/2014/main" id="{9F611C6E-24F7-A4CF-D18D-7D24DCAB273C}"/>
              </a:ext>
            </a:extLst>
          </p:cNvPr>
          <p:cNvGrpSpPr/>
          <p:nvPr/>
        </p:nvGrpSpPr>
        <p:grpSpPr>
          <a:xfrm>
            <a:off x="5639171" y="3157393"/>
            <a:ext cx="443725" cy="250799"/>
            <a:chOff x="6964708" y="4299700"/>
            <a:chExt cx="1208965" cy="753345"/>
          </a:xfrm>
        </p:grpSpPr>
        <p:grpSp>
          <p:nvGrpSpPr>
            <p:cNvPr id="434" name="Group 431">
              <a:extLst>
                <a:ext uri="{FF2B5EF4-FFF2-40B4-BE49-F238E27FC236}">
                  <a16:creationId xmlns:a16="http://schemas.microsoft.com/office/drawing/2014/main" id="{6F81EC4F-4BB3-2062-8606-B8CE45809803}"/>
                </a:ext>
              </a:extLst>
            </p:cNvPr>
            <p:cNvGrpSpPr/>
            <p:nvPr/>
          </p:nvGrpSpPr>
          <p:grpSpPr>
            <a:xfrm>
              <a:off x="6964708" y="4299700"/>
              <a:ext cx="1208965" cy="753345"/>
              <a:chOff x="6629084" y="4161784"/>
              <a:chExt cx="1208965" cy="753345"/>
            </a:xfrm>
          </p:grpSpPr>
          <p:sp>
            <p:nvSpPr>
              <p:cNvPr id="438" name="Google Shape;1775;p42">
                <a:extLst>
                  <a:ext uri="{FF2B5EF4-FFF2-40B4-BE49-F238E27FC236}">
                    <a16:creationId xmlns:a16="http://schemas.microsoft.com/office/drawing/2014/main" id="{7C25E115-06F6-7903-B712-CC173708925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39" name="Google Shape;1775;p42">
                <a:extLst>
                  <a:ext uri="{FF2B5EF4-FFF2-40B4-BE49-F238E27FC236}">
                    <a16:creationId xmlns:a16="http://schemas.microsoft.com/office/drawing/2014/main" id="{927938E8-5F14-8E96-D2A6-73298973A306}"/>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35" name="Rectangle 432">
              <a:extLst>
                <a:ext uri="{FF2B5EF4-FFF2-40B4-BE49-F238E27FC236}">
                  <a16:creationId xmlns:a16="http://schemas.microsoft.com/office/drawing/2014/main" id="{EA0D41EE-CA76-8375-7DB3-D71EEFD5A0E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6" name="Rectangle 433">
              <a:extLst>
                <a:ext uri="{FF2B5EF4-FFF2-40B4-BE49-F238E27FC236}">
                  <a16:creationId xmlns:a16="http://schemas.microsoft.com/office/drawing/2014/main" id="{BD779B90-F336-CF62-6265-DE3A520D185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7" name="Oval 434">
              <a:extLst>
                <a:ext uri="{FF2B5EF4-FFF2-40B4-BE49-F238E27FC236}">
                  <a16:creationId xmlns:a16="http://schemas.microsoft.com/office/drawing/2014/main" id="{A505F467-4BD1-2C5D-2CF8-33AAE71E38FC}"/>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40" name="Group 437">
            <a:extLst>
              <a:ext uri="{FF2B5EF4-FFF2-40B4-BE49-F238E27FC236}">
                <a16:creationId xmlns:a16="http://schemas.microsoft.com/office/drawing/2014/main" id="{3BF43E10-1F30-4E4D-B8F1-97008756B3DA}"/>
              </a:ext>
            </a:extLst>
          </p:cNvPr>
          <p:cNvGrpSpPr/>
          <p:nvPr/>
        </p:nvGrpSpPr>
        <p:grpSpPr>
          <a:xfrm>
            <a:off x="5667057" y="3871389"/>
            <a:ext cx="443725" cy="250799"/>
            <a:chOff x="6964708" y="4299700"/>
            <a:chExt cx="1208965" cy="753345"/>
          </a:xfrm>
        </p:grpSpPr>
        <p:grpSp>
          <p:nvGrpSpPr>
            <p:cNvPr id="441" name="Group 438">
              <a:extLst>
                <a:ext uri="{FF2B5EF4-FFF2-40B4-BE49-F238E27FC236}">
                  <a16:creationId xmlns:a16="http://schemas.microsoft.com/office/drawing/2014/main" id="{0403E17C-447A-71B8-47CB-F2FEAB25B1E5}"/>
                </a:ext>
              </a:extLst>
            </p:cNvPr>
            <p:cNvGrpSpPr/>
            <p:nvPr/>
          </p:nvGrpSpPr>
          <p:grpSpPr>
            <a:xfrm>
              <a:off x="6964708" y="4299700"/>
              <a:ext cx="1208965" cy="753345"/>
              <a:chOff x="6629084" y="4161784"/>
              <a:chExt cx="1208965" cy="753345"/>
            </a:xfrm>
          </p:grpSpPr>
          <p:sp>
            <p:nvSpPr>
              <p:cNvPr id="445" name="Google Shape;1775;p42">
                <a:extLst>
                  <a:ext uri="{FF2B5EF4-FFF2-40B4-BE49-F238E27FC236}">
                    <a16:creationId xmlns:a16="http://schemas.microsoft.com/office/drawing/2014/main" id="{8574B5A6-3C5C-0BC6-C376-CB2348064AFD}"/>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46" name="Google Shape;1775;p42">
                <a:extLst>
                  <a:ext uri="{FF2B5EF4-FFF2-40B4-BE49-F238E27FC236}">
                    <a16:creationId xmlns:a16="http://schemas.microsoft.com/office/drawing/2014/main" id="{BB0C96EB-8C63-277F-A966-FF9EC2A67457}"/>
                  </a:ext>
                </a:extLst>
              </p:cNvPr>
              <p:cNvSpPr/>
              <p:nvPr/>
            </p:nvSpPr>
            <p:spPr>
              <a:xfrm>
                <a:off x="6635794" y="4161784"/>
                <a:ext cx="1202255" cy="158439"/>
              </a:xfrm>
              <a:prstGeom prst="roundRect">
                <a:avLst>
                  <a:gd name="adj" fmla="val 6990"/>
                </a:avLst>
              </a:prstGeom>
              <a:solidFill>
                <a:srgbClr val="FF0000"/>
              </a:solidFill>
              <a:ln w="25400" cap="flat" cmpd="sng">
                <a:solidFill>
                  <a:srgbClr val="FF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42" name="Rectangle 439">
              <a:extLst>
                <a:ext uri="{FF2B5EF4-FFF2-40B4-BE49-F238E27FC236}">
                  <a16:creationId xmlns:a16="http://schemas.microsoft.com/office/drawing/2014/main" id="{074D7292-9DF9-68DB-6268-A5C192F642D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43" name="Rectangle 440">
              <a:extLst>
                <a:ext uri="{FF2B5EF4-FFF2-40B4-BE49-F238E27FC236}">
                  <a16:creationId xmlns:a16="http://schemas.microsoft.com/office/drawing/2014/main" id="{0AE0625B-FC38-085D-F391-6D7E0C21F76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44" name="Oval 441">
              <a:extLst>
                <a:ext uri="{FF2B5EF4-FFF2-40B4-BE49-F238E27FC236}">
                  <a16:creationId xmlns:a16="http://schemas.microsoft.com/office/drawing/2014/main" id="{45532566-C17F-4947-CC70-3AAE1B89D201}"/>
                </a:ext>
              </a:extLst>
            </p:cNvPr>
            <p:cNvSpPr/>
            <p:nvPr/>
          </p:nvSpPr>
          <p:spPr>
            <a:xfrm>
              <a:off x="7844759" y="4568268"/>
              <a:ext cx="243016" cy="2430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448" name="Google Shape;1775;p42">
            <a:extLst>
              <a:ext uri="{FF2B5EF4-FFF2-40B4-BE49-F238E27FC236}">
                <a16:creationId xmlns:a16="http://schemas.microsoft.com/office/drawing/2014/main" id="{E8A5C098-2B95-5790-7F8A-67B952D905E7}"/>
              </a:ext>
            </a:extLst>
          </p:cNvPr>
          <p:cNvSpPr/>
          <p:nvPr/>
        </p:nvSpPr>
        <p:spPr>
          <a:xfrm>
            <a:off x="442540" y="4382624"/>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49" name="Google Shape;1775;p42">
            <a:extLst>
              <a:ext uri="{FF2B5EF4-FFF2-40B4-BE49-F238E27FC236}">
                <a16:creationId xmlns:a16="http://schemas.microsoft.com/office/drawing/2014/main" id="{E35A25FC-B802-7C7F-2A65-99926510E267}"/>
              </a:ext>
            </a:extLst>
          </p:cNvPr>
          <p:cNvSpPr/>
          <p:nvPr/>
        </p:nvSpPr>
        <p:spPr>
          <a:xfrm>
            <a:off x="445003" y="4382624"/>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50" name="Rectangle 447">
            <a:extLst>
              <a:ext uri="{FF2B5EF4-FFF2-40B4-BE49-F238E27FC236}">
                <a16:creationId xmlns:a16="http://schemas.microsoft.com/office/drawing/2014/main" id="{4756A67F-31F0-1298-7CEF-1A38630CEF09}"/>
              </a:ext>
            </a:extLst>
          </p:cNvPr>
          <p:cNvSpPr/>
          <p:nvPr/>
        </p:nvSpPr>
        <p:spPr>
          <a:xfrm>
            <a:off x="483341" y="4507258"/>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1" name="Rectangle 448">
            <a:extLst>
              <a:ext uri="{FF2B5EF4-FFF2-40B4-BE49-F238E27FC236}">
                <a16:creationId xmlns:a16="http://schemas.microsoft.com/office/drawing/2014/main" id="{30B42E32-109B-711D-C2D3-B2905F63B7FC}"/>
              </a:ext>
            </a:extLst>
          </p:cNvPr>
          <p:cNvSpPr/>
          <p:nvPr/>
        </p:nvSpPr>
        <p:spPr>
          <a:xfrm>
            <a:off x="488025" y="4551301"/>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2" name="Oval 449">
            <a:extLst>
              <a:ext uri="{FF2B5EF4-FFF2-40B4-BE49-F238E27FC236}">
                <a16:creationId xmlns:a16="http://schemas.microsoft.com/office/drawing/2014/main" id="{B74DEAD7-645C-70E8-A7D0-82DCD13FABCD}"/>
              </a:ext>
            </a:extLst>
          </p:cNvPr>
          <p:cNvSpPr/>
          <p:nvPr/>
        </p:nvSpPr>
        <p:spPr>
          <a:xfrm>
            <a:off x="765544" y="4472034"/>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3" name="Google Shape;1775;p42">
            <a:extLst>
              <a:ext uri="{FF2B5EF4-FFF2-40B4-BE49-F238E27FC236}">
                <a16:creationId xmlns:a16="http://schemas.microsoft.com/office/drawing/2014/main" id="{616B0CE3-AC2B-73A8-7C4E-D6B11ABAD32B}"/>
              </a:ext>
            </a:extLst>
          </p:cNvPr>
          <p:cNvSpPr/>
          <p:nvPr/>
        </p:nvSpPr>
        <p:spPr>
          <a:xfrm>
            <a:off x="995342" y="4396028"/>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54" name="Google Shape;1775;p42">
            <a:extLst>
              <a:ext uri="{FF2B5EF4-FFF2-40B4-BE49-F238E27FC236}">
                <a16:creationId xmlns:a16="http://schemas.microsoft.com/office/drawing/2014/main" id="{C2C88D00-2B74-8843-1A8A-09E4D2C2C736}"/>
              </a:ext>
            </a:extLst>
          </p:cNvPr>
          <p:cNvSpPr/>
          <p:nvPr/>
        </p:nvSpPr>
        <p:spPr>
          <a:xfrm>
            <a:off x="997805" y="4396028"/>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55" name="Rectangle 452">
            <a:extLst>
              <a:ext uri="{FF2B5EF4-FFF2-40B4-BE49-F238E27FC236}">
                <a16:creationId xmlns:a16="http://schemas.microsoft.com/office/drawing/2014/main" id="{CFB42695-33F4-7369-FCC8-F67284F61BDC}"/>
              </a:ext>
            </a:extLst>
          </p:cNvPr>
          <p:cNvSpPr/>
          <p:nvPr/>
        </p:nvSpPr>
        <p:spPr>
          <a:xfrm>
            <a:off x="1036144" y="4520661"/>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6" name="Rectangle 453">
            <a:extLst>
              <a:ext uri="{FF2B5EF4-FFF2-40B4-BE49-F238E27FC236}">
                <a16:creationId xmlns:a16="http://schemas.microsoft.com/office/drawing/2014/main" id="{369D9C4A-AA00-85F5-7ADB-5CD2AA9812A3}"/>
              </a:ext>
            </a:extLst>
          </p:cNvPr>
          <p:cNvSpPr/>
          <p:nvPr/>
        </p:nvSpPr>
        <p:spPr>
          <a:xfrm>
            <a:off x="1040828" y="4564705"/>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7" name="Oval 454">
            <a:extLst>
              <a:ext uri="{FF2B5EF4-FFF2-40B4-BE49-F238E27FC236}">
                <a16:creationId xmlns:a16="http://schemas.microsoft.com/office/drawing/2014/main" id="{D1BDD10E-2F78-702B-5B74-21B65B8223B5}"/>
              </a:ext>
            </a:extLst>
          </p:cNvPr>
          <p:cNvSpPr/>
          <p:nvPr/>
        </p:nvSpPr>
        <p:spPr>
          <a:xfrm>
            <a:off x="1318346" y="4485438"/>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aphicFrame>
        <p:nvGraphicFramePr>
          <p:cNvPr id="459" name="Diagram 2210">
            <a:extLst>
              <a:ext uri="{FF2B5EF4-FFF2-40B4-BE49-F238E27FC236}">
                <a16:creationId xmlns:a16="http://schemas.microsoft.com/office/drawing/2014/main" id="{25D5D1D7-17BE-3DA9-1482-19E412C85691}"/>
              </a:ext>
            </a:extLst>
          </p:cNvPr>
          <p:cNvGraphicFramePr/>
          <p:nvPr/>
        </p:nvGraphicFramePr>
        <p:xfrm>
          <a:off x="9515319" y="1740526"/>
          <a:ext cx="1722773" cy="158178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60" name="TextBox 458">
            <a:extLst>
              <a:ext uri="{FF2B5EF4-FFF2-40B4-BE49-F238E27FC236}">
                <a16:creationId xmlns:a16="http://schemas.microsoft.com/office/drawing/2014/main" id="{A311C957-98C5-4CBD-3230-1943BD15D586}"/>
              </a:ext>
            </a:extLst>
          </p:cNvPr>
          <p:cNvSpPr txBox="1"/>
          <p:nvPr/>
        </p:nvSpPr>
        <p:spPr>
          <a:xfrm>
            <a:off x="8891788" y="2308115"/>
            <a:ext cx="1007873" cy="230810"/>
          </a:xfrm>
          <a:prstGeom prst="rect">
            <a:avLst/>
          </a:prstGeom>
          <a:noFill/>
          <a:ln w="3175">
            <a:miter lim="400000"/>
          </a:ln>
          <a:extLst>
            <a:ext uri="{C572A759-6A51-4108-AA02-DFA0A04FC94B}">
              <ma14:wrappingTextBoxFlag xmlns="" xmlns:ma14="http://schemas.microsoft.com/office/mac/drawingml/2011/main" val="1"/>
            </a:ext>
          </a:extLst>
        </p:spPr>
        <p:txBody>
          <a:bodyPr rot="0" spcFirstLastPara="0" vertOverflow="overflow" horzOverflow="overflow" vert="horz" wrap="square" lIns="0" tIns="45709" rIns="91419" bIns="45709" numCol="1" spcCol="0" rtlCol="0" fromWordArt="0" anchor="b" anchorCtr="0" forceAA="0" compatLnSpc="1">
            <a:prstTxWarp prst="textNoShape">
              <a:avLst/>
            </a:prstTxWarp>
            <a:spAutoFit/>
          </a:bodyPr>
          <a:lstStyle/>
          <a:p>
            <a:pPr algn="ctr" eaLnBrk="1" fontAlgn="auto" hangingPunct="1">
              <a:lnSpc>
                <a:spcPct val="90000"/>
              </a:lnSpc>
              <a:spcBef>
                <a:spcPts val="0"/>
              </a:spcBef>
              <a:spcAft>
                <a:spcPts val="0"/>
              </a:spcAft>
            </a:pPr>
            <a:r>
              <a:rPr lang="en-US" sz="1000" kern="0">
                <a:solidFill>
                  <a:prstClr val="black">
                    <a:lumMod val="50000"/>
                    <a:lumOff val="50000"/>
                  </a:prstClr>
                </a:solidFill>
                <a:latin typeface="+mn-lt"/>
                <a:ea typeface="Lato Light"/>
                <a:cs typeface="Lato Light"/>
              </a:rPr>
              <a:t>PM / Signs Off</a:t>
            </a:r>
          </a:p>
        </p:txBody>
      </p:sp>
      <p:cxnSp>
        <p:nvCxnSpPr>
          <p:cNvPr id="461" name="Elbow Connector 459">
            <a:extLst>
              <a:ext uri="{FF2B5EF4-FFF2-40B4-BE49-F238E27FC236}">
                <a16:creationId xmlns:a16="http://schemas.microsoft.com/office/drawing/2014/main" id="{69948BAD-B2D8-890B-521D-31F0841F1F92}"/>
              </a:ext>
            </a:extLst>
          </p:cNvPr>
          <p:cNvCxnSpPr>
            <a:cxnSpLocks/>
            <a:stCxn id="93" idx="3"/>
          </p:cNvCxnSpPr>
          <p:nvPr/>
        </p:nvCxnSpPr>
        <p:spPr>
          <a:xfrm flipV="1">
            <a:off x="8547536" y="2979503"/>
            <a:ext cx="966621" cy="624161"/>
          </a:xfrm>
          <a:prstGeom prst="bentConnector3">
            <a:avLst>
              <a:gd name="adj1" fmla="val 50000"/>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64" name="Rectangle 469">
            <a:extLst>
              <a:ext uri="{FF2B5EF4-FFF2-40B4-BE49-F238E27FC236}">
                <a16:creationId xmlns:a16="http://schemas.microsoft.com/office/drawing/2014/main" id="{9C5A3016-6241-F2A8-6280-47AD9A9B9B77}"/>
              </a:ext>
            </a:extLst>
          </p:cNvPr>
          <p:cNvSpPr/>
          <p:nvPr/>
        </p:nvSpPr>
        <p:spPr>
          <a:xfrm>
            <a:off x="-6367584" y="254827"/>
            <a:ext cx="3276704" cy="5284298"/>
          </a:xfrm>
          <a:prstGeom prst="rect">
            <a:avLst/>
          </a:prstGeom>
          <a:solidFill>
            <a:schemeClr val="bg1">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ángulo 464">
            <a:extLst>
              <a:ext uri="{FF2B5EF4-FFF2-40B4-BE49-F238E27FC236}">
                <a16:creationId xmlns:a16="http://schemas.microsoft.com/office/drawing/2014/main" id="{5EAE7E40-7CCA-8685-04C6-48F0B669DA96}"/>
              </a:ext>
            </a:extLst>
          </p:cNvPr>
          <p:cNvSpPr/>
          <p:nvPr/>
        </p:nvSpPr>
        <p:spPr>
          <a:xfrm>
            <a:off x="2828225" y="4835713"/>
            <a:ext cx="2913203" cy="1753615"/>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indent="-171450">
              <a:buFont typeface="Arial" panose="020B0604020202020204" pitchFamily="34" charset="0"/>
              <a:buChar char="•"/>
            </a:pPr>
            <a:r>
              <a:rPr lang="en-US" sz="700" b="1" noProof="0" err="1">
                <a:solidFill>
                  <a:schemeClr val="tx1"/>
                </a:solidFill>
                <a:latin typeface="Arial" panose="020B0604020202020204" pitchFamily="34" charset="0"/>
                <a:cs typeface="Arial" panose="020B0604020202020204" pitchFamily="34" charset="0"/>
              </a:rPr>
              <a:t>Activitie</a:t>
            </a:r>
            <a:r>
              <a:rPr lang="en-US" sz="700" b="1" noProof="0">
                <a:solidFill>
                  <a:schemeClr val="tx1"/>
                </a:solidFill>
                <a:latin typeface="Arial" panose="020B0604020202020204" pitchFamily="34" charset="0"/>
                <a:cs typeface="Arial" panose="020B0604020202020204" pitchFamily="34" charset="0"/>
              </a:rPr>
              <a:t> 1</a:t>
            </a:r>
            <a:r>
              <a:rPr lang="en-US" sz="700" noProof="0">
                <a:solidFill>
                  <a:schemeClr val="tx1"/>
                </a:solidFill>
                <a:latin typeface="Arial" panose="020B0604020202020204" pitchFamily="34" charset="0"/>
                <a:cs typeface="Arial" panose="020B0604020202020204" pitchFamily="34" charset="0"/>
              </a:rPr>
              <a:t>: Intake of work from prioritized backlog</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Activitie2</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Work breakdown (epics, stories, tasks)Sprint / iteration management</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2</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Work prioritization at team level</a:t>
            </a:r>
          </a:p>
          <a:p>
            <a:pPr marL="171450" indent="-171450">
              <a:buFont typeface="Arial" panose="020B0604020202020204" pitchFamily="34" charset="0"/>
              <a:buChar char="•"/>
            </a:pPr>
            <a:r>
              <a:rPr lang="en-US" sz="700" i="1" noProof="0">
                <a:solidFill>
                  <a:schemeClr val="tx1"/>
                </a:solidFill>
                <a:latin typeface="Arial" panose="020B0604020202020204" pitchFamily="34" charset="0"/>
                <a:cs typeface="Arial" panose="020B0604020202020204" pitchFamily="34" charset="0"/>
              </a:rPr>
              <a:t>Artifact</a:t>
            </a:r>
            <a:r>
              <a:rPr lang="en-US" sz="700" noProof="0">
                <a:solidFill>
                  <a:schemeClr val="tx1"/>
                </a:solidFill>
                <a:latin typeface="Arial" panose="020B0604020202020204" pitchFamily="34" charset="0"/>
                <a:cs typeface="Arial" panose="020B0604020202020204" pitchFamily="34" charset="0"/>
              </a:rPr>
              <a:t>: Definition of Ready (or equivalent readiness practices)</a:t>
            </a:r>
          </a:p>
          <a:p>
            <a:pPr marL="171450" indent="-171450">
              <a:buFont typeface="Arial" panose="020B0604020202020204" pitchFamily="34" charset="0"/>
              <a:buChar char="•"/>
            </a:pPr>
            <a:r>
              <a:rPr lang="en-US" sz="700" i="1">
                <a:solidFill>
                  <a:schemeClr val="tx1"/>
                </a:solidFill>
                <a:latin typeface="Arial" panose="020B0604020202020204" pitchFamily="34" charset="0"/>
                <a:cs typeface="Arial" panose="020B0604020202020204" pitchFamily="34" charset="0"/>
              </a:rPr>
              <a:t>Artifact</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Definition of Done (or completion criteria)</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3: </a:t>
            </a:r>
            <a:r>
              <a:rPr lang="en-US" sz="700" noProof="0">
                <a:solidFill>
                  <a:schemeClr val="tx1"/>
                </a:solidFill>
                <a:latin typeface="Arial" panose="020B0604020202020204" pitchFamily="34" charset="0"/>
                <a:cs typeface="Arial" panose="020B0604020202020204" pitchFamily="34" charset="0"/>
              </a:rPr>
              <a:t>Development and build practices</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3: </a:t>
            </a:r>
            <a:r>
              <a:rPr lang="en-US" sz="700" noProof="0">
                <a:solidFill>
                  <a:schemeClr val="tx1"/>
                </a:solidFill>
                <a:latin typeface="Arial" panose="020B0604020202020204" pitchFamily="34" charset="0"/>
                <a:cs typeface="Arial" panose="020B0604020202020204" pitchFamily="34" charset="0"/>
              </a:rPr>
              <a:t>Testing practices (unit, integration, functional, UAT)</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Defect management</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Dependency management (intra- and inter-team)</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Cross-team coordination</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4: </a:t>
            </a:r>
            <a:r>
              <a:rPr lang="en-US" sz="700" noProof="0">
                <a:solidFill>
                  <a:schemeClr val="tx1"/>
                </a:solidFill>
                <a:latin typeface="Arial" panose="020B0604020202020204" pitchFamily="34" charset="0"/>
                <a:cs typeface="Arial" panose="020B0604020202020204" pitchFamily="34" charset="0"/>
              </a:rPr>
              <a:t>Work progress tracking and visibility</a:t>
            </a:r>
          </a:p>
          <a:p>
            <a:pPr marL="171450" indent="-171450">
              <a:buFont typeface="Arial" panose="020B0604020202020204" pitchFamily="34" charset="0"/>
              <a:buChar char="•"/>
            </a:pPr>
            <a:r>
              <a:rPr lang="en-US" sz="700" i="1">
                <a:solidFill>
                  <a:schemeClr val="tx1"/>
                </a:solidFill>
                <a:latin typeface="Arial" panose="020B0604020202020204" pitchFamily="34" charset="0"/>
                <a:cs typeface="Arial" panose="020B0604020202020204" pitchFamily="34" charset="0"/>
              </a:rPr>
              <a:t>Artifact</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Documentation of functional and technical aspects</a:t>
            </a:r>
          </a:p>
        </p:txBody>
      </p:sp>
      <p:sp>
        <p:nvSpPr>
          <p:cNvPr id="467" name="CuadroTexto 466">
            <a:extLst>
              <a:ext uri="{FF2B5EF4-FFF2-40B4-BE49-F238E27FC236}">
                <a16:creationId xmlns:a16="http://schemas.microsoft.com/office/drawing/2014/main" id="{B8D1E620-2F76-3129-C1CF-50D9985F7FBC}"/>
              </a:ext>
            </a:extLst>
          </p:cNvPr>
          <p:cNvSpPr txBox="1"/>
          <p:nvPr/>
        </p:nvSpPr>
        <p:spPr>
          <a:xfrm>
            <a:off x="167379" y="1521305"/>
            <a:ext cx="1908000" cy="215444"/>
          </a:xfrm>
          <a:prstGeom prst="rect">
            <a:avLst/>
          </a:prstGeom>
          <a:noFill/>
        </p:spPr>
        <p:txBody>
          <a:bodyPr wrap="square">
            <a:spAutoFit/>
          </a:bodyPr>
          <a:lstStyle/>
          <a:p>
            <a:r>
              <a:rPr lang="en-US" sz="800" noProof="0">
                <a:solidFill>
                  <a:schemeClr val="tx1"/>
                </a:solidFill>
                <a:latin typeface="Arial" panose="020B0604020202020204" pitchFamily="34" charset="0"/>
                <a:cs typeface="Arial" panose="020B0604020202020204" pitchFamily="34" charset="0"/>
              </a:rPr>
              <a:t>Intake of work from prioritized backlog</a:t>
            </a:r>
          </a:p>
        </p:txBody>
      </p:sp>
      <p:sp>
        <p:nvSpPr>
          <p:cNvPr id="472" name="Left Brace 366">
            <a:extLst>
              <a:ext uri="{FF2B5EF4-FFF2-40B4-BE49-F238E27FC236}">
                <a16:creationId xmlns:a16="http://schemas.microsoft.com/office/drawing/2014/main" id="{008F5E5E-A87B-243C-57CC-022FE6ED9CA6}"/>
              </a:ext>
            </a:extLst>
          </p:cNvPr>
          <p:cNvSpPr/>
          <p:nvPr/>
        </p:nvSpPr>
        <p:spPr>
          <a:xfrm rot="5400000">
            <a:off x="1005256" y="928164"/>
            <a:ext cx="216000" cy="1908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3" name="Left Brace 366">
            <a:extLst>
              <a:ext uri="{FF2B5EF4-FFF2-40B4-BE49-F238E27FC236}">
                <a16:creationId xmlns:a16="http://schemas.microsoft.com/office/drawing/2014/main" id="{A8629E30-5093-ED1C-5ED0-DB9A3301B1B5}"/>
              </a:ext>
            </a:extLst>
          </p:cNvPr>
          <p:cNvSpPr/>
          <p:nvPr/>
        </p:nvSpPr>
        <p:spPr>
          <a:xfrm rot="5400000">
            <a:off x="3396576" y="630726"/>
            <a:ext cx="216000" cy="2484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4" name="CuadroTexto 473">
            <a:extLst>
              <a:ext uri="{FF2B5EF4-FFF2-40B4-BE49-F238E27FC236}">
                <a16:creationId xmlns:a16="http://schemas.microsoft.com/office/drawing/2014/main" id="{C0D21BEF-40A5-B097-DC29-A721B1669D29}"/>
              </a:ext>
            </a:extLst>
          </p:cNvPr>
          <p:cNvSpPr txBox="1"/>
          <p:nvPr/>
        </p:nvSpPr>
        <p:spPr>
          <a:xfrm>
            <a:off x="2245713" y="1407828"/>
            <a:ext cx="2574876" cy="461665"/>
          </a:xfrm>
          <a:prstGeom prst="rect">
            <a:avLst/>
          </a:prstGeom>
          <a:noFill/>
        </p:spPr>
        <p:txBody>
          <a:bodyPr wrap="square">
            <a:spAutoFit/>
          </a:bodyPr>
          <a:lstStyle/>
          <a:p>
            <a:pPr algn="ctr"/>
            <a:r>
              <a:rPr lang="en-US" sz="800">
                <a:latin typeface="Arial" panose="020B0604020202020204" pitchFamily="34" charset="0"/>
                <a:cs typeface="Arial" panose="020B0604020202020204" pitchFamily="34" charset="0"/>
              </a:rPr>
              <a:t>Work breakdown (epics, stories, tasks) Sprint / iteration management &amp; Work prioritization at team level</a:t>
            </a:r>
          </a:p>
        </p:txBody>
      </p:sp>
      <p:sp>
        <p:nvSpPr>
          <p:cNvPr id="475" name="Left Brace 366">
            <a:extLst>
              <a:ext uri="{FF2B5EF4-FFF2-40B4-BE49-F238E27FC236}">
                <a16:creationId xmlns:a16="http://schemas.microsoft.com/office/drawing/2014/main" id="{03E83825-A6C3-6012-C32E-D80455EE89DF}"/>
              </a:ext>
            </a:extLst>
          </p:cNvPr>
          <p:cNvSpPr/>
          <p:nvPr/>
        </p:nvSpPr>
        <p:spPr>
          <a:xfrm rot="5400000">
            <a:off x="6644301" y="-17274"/>
            <a:ext cx="216000" cy="3780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6" name="CuadroTexto 475">
            <a:extLst>
              <a:ext uri="{FF2B5EF4-FFF2-40B4-BE49-F238E27FC236}">
                <a16:creationId xmlns:a16="http://schemas.microsoft.com/office/drawing/2014/main" id="{1C1ECE3E-3EC0-8225-1ECB-7F37FCEBBB05}"/>
              </a:ext>
            </a:extLst>
          </p:cNvPr>
          <p:cNvSpPr txBox="1"/>
          <p:nvPr/>
        </p:nvSpPr>
        <p:spPr>
          <a:xfrm>
            <a:off x="5576327" y="1464407"/>
            <a:ext cx="2574876" cy="215444"/>
          </a:xfrm>
          <a:prstGeom prst="rect">
            <a:avLst/>
          </a:prstGeom>
          <a:noFill/>
        </p:spPr>
        <p:txBody>
          <a:bodyPr wrap="square">
            <a:spAutoFit/>
          </a:bodyPr>
          <a:lstStyle/>
          <a:p>
            <a:pPr algn="ctr"/>
            <a:r>
              <a:rPr lang="en-US" sz="800">
                <a:latin typeface="Arial" panose="020B0604020202020204" pitchFamily="34" charset="0"/>
                <a:cs typeface="Arial" panose="020B0604020202020204" pitchFamily="34" charset="0"/>
              </a:rPr>
              <a:t>Development and build practices &amp; Testing practices  </a:t>
            </a:r>
          </a:p>
        </p:txBody>
      </p:sp>
      <p:cxnSp>
        <p:nvCxnSpPr>
          <p:cNvPr id="477" name="Google Shape;1772;p42">
            <a:extLst>
              <a:ext uri="{FF2B5EF4-FFF2-40B4-BE49-F238E27FC236}">
                <a16:creationId xmlns:a16="http://schemas.microsoft.com/office/drawing/2014/main" id="{1677EE70-1219-419D-B9DD-34243DCC0EE5}"/>
              </a:ext>
            </a:extLst>
          </p:cNvPr>
          <p:cNvCxnSpPr>
            <a:cxnSpLocks/>
          </p:cNvCxnSpPr>
          <p:nvPr/>
        </p:nvCxnSpPr>
        <p:spPr>
          <a:xfrm flipH="1" flipV="1">
            <a:off x="303070" y="4846886"/>
            <a:ext cx="2248" cy="1991877"/>
          </a:xfrm>
          <a:prstGeom prst="straightConnector1">
            <a:avLst/>
          </a:prstGeom>
          <a:noFill/>
          <a:ln w="9525" cap="flat" cmpd="sng">
            <a:solidFill>
              <a:schemeClr val="dk1"/>
            </a:solidFill>
            <a:prstDash val="solid"/>
            <a:round/>
            <a:headEnd type="none" w="sm" len="sm"/>
            <a:tailEnd type="stealth" w="med" len="med"/>
          </a:ln>
        </p:spPr>
      </p:cxnSp>
      <p:sp>
        <p:nvSpPr>
          <p:cNvPr id="478" name="Google Shape;1773;p42">
            <a:extLst>
              <a:ext uri="{FF2B5EF4-FFF2-40B4-BE49-F238E27FC236}">
                <a16:creationId xmlns:a16="http://schemas.microsoft.com/office/drawing/2014/main" id="{D645BBA2-62DE-7B00-D117-AFAC82D4AAD2}"/>
              </a:ext>
            </a:extLst>
          </p:cNvPr>
          <p:cNvSpPr txBox="1"/>
          <p:nvPr/>
        </p:nvSpPr>
        <p:spPr>
          <a:xfrm rot="16200000">
            <a:off x="-695045" y="5763117"/>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Request by business value</a:t>
            </a:r>
            <a:endParaRPr sz="800" b="1">
              <a:solidFill>
                <a:srgbClr val="000000"/>
              </a:solidFill>
              <a:latin typeface="+mn-lt"/>
              <a:ea typeface="Open Sans"/>
              <a:cs typeface="Open Sans"/>
              <a:sym typeface="Open Sans"/>
            </a:endParaRPr>
          </a:p>
        </p:txBody>
      </p:sp>
    </p:spTree>
    <p:extLst>
      <p:ext uri="{BB962C8B-B14F-4D97-AF65-F5344CB8AC3E}">
        <p14:creationId xmlns:p14="http://schemas.microsoft.com/office/powerpoint/2010/main" val="4293352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Shape 1208"/>
        <p:cNvGrpSpPr/>
        <p:nvPr/>
      </p:nvGrpSpPr>
      <p:grpSpPr>
        <a:xfrm>
          <a:off x="0" y="0"/>
          <a:ext cx="0" cy="0"/>
          <a:chOff x="0" y="0"/>
          <a:chExt cx="0" cy="0"/>
        </a:xfrm>
      </p:grpSpPr>
      <p:sp>
        <p:nvSpPr>
          <p:cNvPr id="3" name="Rounded Rectangle 2">
            <a:extLst>
              <a:ext uri="{FF2B5EF4-FFF2-40B4-BE49-F238E27FC236}">
                <a16:creationId xmlns:a16="http://schemas.microsoft.com/office/drawing/2014/main" id="{1669289A-B6A0-4A7E-6155-AC59360EB07E}"/>
              </a:ext>
            </a:extLst>
          </p:cNvPr>
          <p:cNvSpPr/>
          <p:nvPr/>
        </p:nvSpPr>
        <p:spPr>
          <a:xfrm>
            <a:off x="136847" y="648707"/>
            <a:ext cx="11938360" cy="5223382"/>
          </a:xfrm>
          <a:prstGeom prst="roundRect">
            <a:avLst>
              <a:gd name="adj" fmla="val 606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lumMod val="50000"/>
                </a:schemeClr>
              </a:solidFill>
            </a:endParaRPr>
          </a:p>
        </p:txBody>
      </p:sp>
      <p:sp>
        <p:nvSpPr>
          <p:cNvPr id="17" name="Rectángulo 30">
            <a:extLst>
              <a:ext uri="{FF2B5EF4-FFF2-40B4-BE49-F238E27FC236}">
                <a16:creationId xmlns:a16="http://schemas.microsoft.com/office/drawing/2014/main" id="{AF44194F-14D4-56A3-E1E1-472C4A35EBFA}"/>
              </a:ext>
            </a:extLst>
          </p:cNvPr>
          <p:cNvSpPr/>
          <p:nvPr/>
        </p:nvSpPr>
        <p:spPr>
          <a:xfrm>
            <a:off x="3483297" y="212068"/>
            <a:ext cx="3653110" cy="436638"/>
          </a:xfrm>
          <a:prstGeom prst="rect">
            <a:avLst/>
          </a:prstGeom>
          <a:noFill/>
          <a:ln w="19050">
            <a:no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In the </a:t>
            </a: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iterative cycles pattern</a:t>
            </a: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 we can create the specific process governance to secure operational excellence and value focus throughput every productive quarter cycle.</a:t>
            </a:r>
            <a:endParaRPr kumimoji="0" lang="en-US" sz="1000" b="0" i="0" u="none" strike="noStrike" kern="1200" cap="none" spc="0" normalizeH="0" baseline="0" noProof="0">
              <a:ln>
                <a:noFill/>
              </a:ln>
              <a:solidFill>
                <a:srgbClr val="FF0000"/>
              </a:solidFill>
              <a:effectLst/>
              <a:uLnTx/>
              <a:uFillTx/>
              <a:latin typeface="Arial" panose="020B0604020202020204" pitchFamily="34" charset="0"/>
              <a:ea typeface="Arial Unicode MS"/>
              <a:cs typeface="+mn-cs"/>
              <a:sym typeface="Arial"/>
            </a:endParaRPr>
          </a:p>
        </p:txBody>
      </p:sp>
      <p:sp>
        <p:nvSpPr>
          <p:cNvPr id="1216" name="Google Shape;1216;p70"/>
          <p:cNvSpPr/>
          <p:nvPr/>
        </p:nvSpPr>
        <p:spPr>
          <a:xfrm>
            <a:off x="5013526" y="1347305"/>
            <a:ext cx="3514264"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2</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17" name="Google Shape;1217;p70"/>
          <p:cNvSpPr/>
          <p:nvPr/>
        </p:nvSpPr>
        <p:spPr>
          <a:xfrm>
            <a:off x="8551765" y="1338772"/>
            <a:ext cx="3399441"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3</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18" name="Google Shape;1218;p70"/>
          <p:cNvSpPr/>
          <p:nvPr/>
        </p:nvSpPr>
        <p:spPr>
          <a:xfrm>
            <a:off x="1575304" y="1347305"/>
            <a:ext cx="3414248"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1</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55" name="Google Shape;1255;p70"/>
          <p:cNvSpPr/>
          <p:nvPr/>
        </p:nvSpPr>
        <p:spPr>
          <a:xfrm>
            <a:off x="11053500" y="1731175"/>
            <a:ext cx="900000" cy="310572"/>
          </a:xfrm>
          <a:prstGeom prst="rect">
            <a:avLst/>
          </a:prstGeom>
          <a:solidFill>
            <a:srgbClr val="FF9D1A"/>
          </a:solidFill>
          <a:ln>
            <a:solidFill>
              <a:srgbClr val="FF9D1A"/>
            </a:solid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900" b="1" kern="0" noProof="0">
                <a:latin typeface="Arial" panose="020B0604020202020204" pitchFamily="34" charset="0"/>
                <a:ea typeface="Century Gothic"/>
                <a:cs typeface="Century Gothic"/>
                <a:sym typeface="Century Gothic"/>
              </a:rPr>
              <a:t>P&amp;S </a:t>
            </a:r>
            <a:r>
              <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rPr>
              <a:t>Portfolio </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rPr>
              <a:t>Review (QBR</a:t>
            </a:r>
            <a:r>
              <a:rPr kumimoji="0" lang="en-US" sz="900" b="1" i="0" u="none" strike="noStrike" kern="0" cap="none" spc="0" normalizeH="0" baseline="30000" noProof="0">
                <a:ln>
                  <a:noFill/>
                </a:ln>
                <a:effectLst/>
                <a:uLnTx/>
                <a:uFillTx/>
                <a:latin typeface="Arial" panose="020B0604020202020204" pitchFamily="34" charset="0"/>
                <a:ea typeface="Century Gothic"/>
                <a:cs typeface="Century Gothic"/>
                <a:sym typeface="Century Gothic"/>
              </a:rPr>
              <a:t> /1)</a:t>
            </a:r>
            <a:endPar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endParaRPr>
          </a:p>
        </p:txBody>
      </p:sp>
      <p:sp>
        <p:nvSpPr>
          <p:cNvPr id="1257" name="Google Shape;1257;p70"/>
          <p:cNvSpPr/>
          <p:nvPr/>
        </p:nvSpPr>
        <p:spPr>
          <a:xfrm>
            <a:off x="1751515" y="1723434"/>
            <a:ext cx="3208412"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sp>
        <p:nvSpPr>
          <p:cNvPr id="1270" name="Google Shape;1270;p70"/>
          <p:cNvSpPr/>
          <p:nvPr/>
        </p:nvSpPr>
        <p:spPr>
          <a:xfrm>
            <a:off x="2497815" y="2501175"/>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cxnSp>
        <p:nvCxnSpPr>
          <p:cNvPr id="1275" name="Google Shape;1275;p70"/>
          <p:cNvCxnSpPr>
            <a:cxnSpLocks/>
          </p:cNvCxnSpPr>
          <p:nvPr/>
        </p:nvCxnSpPr>
        <p:spPr>
          <a:xfrm>
            <a:off x="1903966" y="2054214"/>
            <a:ext cx="35" cy="454549"/>
          </a:xfrm>
          <a:prstGeom prst="straightConnector1">
            <a:avLst/>
          </a:prstGeom>
          <a:noFill/>
          <a:ln w="12700" cap="flat" cmpd="sng">
            <a:solidFill>
              <a:schemeClr val="tx1"/>
            </a:solidFill>
            <a:prstDash val="solid"/>
            <a:miter lim="800000"/>
            <a:headEnd type="none" w="sm" len="sm"/>
            <a:tailEnd type="arrow" w="med" len="med"/>
          </a:ln>
        </p:spPr>
      </p:cxnSp>
      <p:sp>
        <p:nvSpPr>
          <p:cNvPr id="2" name="Divisa 1">
            <a:extLst>
              <a:ext uri="{FF2B5EF4-FFF2-40B4-BE49-F238E27FC236}">
                <a16:creationId xmlns:a16="http://schemas.microsoft.com/office/drawing/2014/main" id="{AE0890C9-C9CD-FF7B-1989-2615E64084A0}"/>
              </a:ext>
            </a:extLst>
          </p:cNvPr>
          <p:cNvSpPr/>
          <p:nvPr/>
        </p:nvSpPr>
        <p:spPr>
          <a:xfrm>
            <a:off x="521207" y="933131"/>
            <a:ext cx="11430000" cy="357541"/>
          </a:xfrm>
          <a:prstGeom prst="chevron">
            <a:avLst/>
          </a:prstGeom>
          <a:solidFill>
            <a:srgbClr val="001D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QUARTER</a:t>
            </a:r>
            <a:endPar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2" name="Google Shape;1270;p70">
            <a:extLst>
              <a:ext uri="{FF2B5EF4-FFF2-40B4-BE49-F238E27FC236}">
                <a16:creationId xmlns:a16="http://schemas.microsoft.com/office/drawing/2014/main" id="{A6A7AB36-CB8D-D4E5-C028-00C87B13E5CE}"/>
              </a:ext>
            </a:extLst>
          </p:cNvPr>
          <p:cNvSpPr/>
          <p:nvPr/>
        </p:nvSpPr>
        <p:spPr>
          <a:xfrm>
            <a:off x="4248529" y="2501175"/>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3" name="Google Shape;1270;p70">
            <a:extLst>
              <a:ext uri="{FF2B5EF4-FFF2-40B4-BE49-F238E27FC236}">
                <a16:creationId xmlns:a16="http://schemas.microsoft.com/office/drawing/2014/main" id="{C2AEB4F9-6BAD-D120-70E0-A05DA3C2EDEE}"/>
              </a:ext>
            </a:extLst>
          </p:cNvPr>
          <p:cNvSpPr/>
          <p:nvPr/>
        </p:nvSpPr>
        <p:spPr>
          <a:xfrm>
            <a:off x="5847043" y="2493993"/>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4" name="Google Shape;1270;p70">
            <a:extLst>
              <a:ext uri="{FF2B5EF4-FFF2-40B4-BE49-F238E27FC236}">
                <a16:creationId xmlns:a16="http://schemas.microsoft.com/office/drawing/2014/main" id="{B7117ED3-05B7-21A9-CC1F-FA6C1DEE7286}"/>
              </a:ext>
            </a:extLst>
          </p:cNvPr>
          <p:cNvSpPr/>
          <p:nvPr/>
        </p:nvSpPr>
        <p:spPr>
          <a:xfrm>
            <a:off x="7711834" y="2495680"/>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5" name="Google Shape;1270;p70">
            <a:extLst>
              <a:ext uri="{FF2B5EF4-FFF2-40B4-BE49-F238E27FC236}">
                <a16:creationId xmlns:a16="http://schemas.microsoft.com/office/drawing/2014/main" id="{8AE9712D-2380-A402-F8CA-B4EA07289150}"/>
              </a:ext>
            </a:extLst>
          </p:cNvPr>
          <p:cNvSpPr/>
          <p:nvPr/>
        </p:nvSpPr>
        <p:spPr>
          <a:xfrm>
            <a:off x="9406366" y="2507883"/>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6" name="Google Shape;1270;p70">
            <a:extLst>
              <a:ext uri="{FF2B5EF4-FFF2-40B4-BE49-F238E27FC236}">
                <a16:creationId xmlns:a16="http://schemas.microsoft.com/office/drawing/2014/main" id="{EF671F96-879B-BFB0-CE25-EEB62E8013CB}"/>
              </a:ext>
            </a:extLst>
          </p:cNvPr>
          <p:cNvSpPr/>
          <p:nvPr/>
        </p:nvSpPr>
        <p:spPr>
          <a:xfrm>
            <a:off x="11058295" y="2505380"/>
            <a:ext cx="892912"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1228" name="Google Shape;1228;p70"/>
          <p:cNvSpPr/>
          <p:nvPr/>
        </p:nvSpPr>
        <p:spPr>
          <a:xfrm>
            <a:off x="4427683" y="3043878"/>
            <a:ext cx="615983"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32" name="Google Shape;1232;p70"/>
          <p:cNvSpPr/>
          <p:nvPr/>
        </p:nvSpPr>
        <p:spPr>
          <a:xfrm>
            <a:off x="3101705"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196" name="Google Shape;1227;p70">
            <a:extLst>
              <a:ext uri="{FF2B5EF4-FFF2-40B4-BE49-F238E27FC236}">
                <a16:creationId xmlns:a16="http://schemas.microsoft.com/office/drawing/2014/main" id="{B68432C2-86FF-D6D1-38FF-AD97BD741257}"/>
              </a:ext>
            </a:extLst>
          </p:cNvPr>
          <p:cNvSpPr/>
          <p:nvPr/>
        </p:nvSpPr>
        <p:spPr>
          <a:xfrm>
            <a:off x="7118610" y="3041214"/>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197" name="Google Shape;1228;p70">
            <a:extLst>
              <a:ext uri="{FF2B5EF4-FFF2-40B4-BE49-F238E27FC236}">
                <a16:creationId xmlns:a16="http://schemas.microsoft.com/office/drawing/2014/main" id="{A968C205-1EC3-E580-21B6-1BC571EB5674}"/>
              </a:ext>
            </a:extLst>
          </p:cNvPr>
          <p:cNvSpPr/>
          <p:nvPr/>
        </p:nvSpPr>
        <p:spPr>
          <a:xfrm>
            <a:off x="7862458" y="3041214"/>
            <a:ext cx="61475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198" name="Google Shape;1230;p70">
            <a:extLst>
              <a:ext uri="{FF2B5EF4-FFF2-40B4-BE49-F238E27FC236}">
                <a16:creationId xmlns:a16="http://schemas.microsoft.com/office/drawing/2014/main" id="{5209B174-A4B1-7B93-DB62-EF98576B0C13}"/>
              </a:ext>
            </a:extLst>
          </p:cNvPr>
          <p:cNvSpPr/>
          <p:nvPr/>
        </p:nvSpPr>
        <p:spPr>
          <a:xfrm>
            <a:off x="5210502" y="3041214"/>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08" name="Google Shape;1227;p70">
            <a:extLst>
              <a:ext uri="{FF2B5EF4-FFF2-40B4-BE49-F238E27FC236}">
                <a16:creationId xmlns:a16="http://schemas.microsoft.com/office/drawing/2014/main" id="{071DAF43-187C-B8FD-2272-81BB5B01A5A3}"/>
              </a:ext>
            </a:extLst>
          </p:cNvPr>
          <p:cNvSpPr/>
          <p:nvPr/>
        </p:nvSpPr>
        <p:spPr>
          <a:xfrm>
            <a:off x="10588443" y="3042227"/>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10" name="Google Shape;1228;p70">
            <a:extLst>
              <a:ext uri="{FF2B5EF4-FFF2-40B4-BE49-F238E27FC236}">
                <a16:creationId xmlns:a16="http://schemas.microsoft.com/office/drawing/2014/main" id="{C87C3B5C-46B6-71BB-FE5E-45586D249167}"/>
              </a:ext>
            </a:extLst>
          </p:cNvPr>
          <p:cNvSpPr/>
          <p:nvPr/>
        </p:nvSpPr>
        <p:spPr>
          <a:xfrm>
            <a:off x="11332292" y="3042227"/>
            <a:ext cx="618914"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15" name="Google Shape;1230;p70">
            <a:extLst>
              <a:ext uri="{FF2B5EF4-FFF2-40B4-BE49-F238E27FC236}">
                <a16:creationId xmlns:a16="http://schemas.microsoft.com/office/drawing/2014/main" id="{66766DC0-109E-0E4D-48BD-B188E7EDBF20}"/>
              </a:ext>
            </a:extLst>
          </p:cNvPr>
          <p:cNvSpPr/>
          <p:nvPr/>
        </p:nvSpPr>
        <p:spPr>
          <a:xfrm>
            <a:off x="8680335" y="3042227"/>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grpSp>
        <p:nvGrpSpPr>
          <p:cNvPr id="23" name="Group 22">
            <a:extLst>
              <a:ext uri="{FF2B5EF4-FFF2-40B4-BE49-F238E27FC236}">
                <a16:creationId xmlns:a16="http://schemas.microsoft.com/office/drawing/2014/main" id="{C6E21BFC-59A5-E230-6D50-35C3702C2FFA}"/>
              </a:ext>
            </a:extLst>
          </p:cNvPr>
          <p:cNvGrpSpPr/>
          <p:nvPr/>
        </p:nvGrpSpPr>
        <p:grpSpPr>
          <a:xfrm>
            <a:off x="127391" y="2411804"/>
            <a:ext cx="11765346" cy="2354533"/>
            <a:chOff x="521207" y="1881132"/>
            <a:chExt cx="11439194" cy="2354533"/>
          </a:xfrm>
        </p:grpSpPr>
        <p:cxnSp>
          <p:nvCxnSpPr>
            <p:cNvPr id="1222" name="Google Shape;1222;p70"/>
            <p:cNvCxnSpPr>
              <a:cxnSpLocks/>
            </p:cNvCxnSpPr>
            <p:nvPr/>
          </p:nvCxnSpPr>
          <p:spPr>
            <a:xfrm>
              <a:off x="530401" y="1881132"/>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cxnSp>
          <p:nvCxnSpPr>
            <p:cNvPr id="1266" name="Google Shape;1266;p70"/>
            <p:cNvCxnSpPr>
              <a:cxnSpLocks/>
            </p:cNvCxnSpPr>
            <p:nvPr/>
          </p:nvCxnSpPr>
          <p:spPr>
            <a:xfrm>
              <a:off x="521207" y="2959505"/>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cxnSp>
          <p:nvCxnSpPr>
            <p:cNvPr id="1384" name="Google Shape;1266;p70">
              <a:extLst>
                <a:ext uri="{FF2B5EF4-FFF2-40B4-BE49-F238E27FC236}">
                  <a16:creationId xmlns:a16="http://schemas.microsoft.com/office/drawing/2014/main" id="{12C4524E-504D-F006-F18B-CCE54F31D40D}"/>
                </a:ext>
              </a:extLst>
            </p:cNvPr>
            <p:cNvCxnSpPr>
              <a:cxnSpLocks/>
            </p:cNvCxnSpPr>
            <p:nvPr/>
          </p:nvCxnSpPr>
          <p:spPr>
            <a:xfrm>
              <a:off x="530401" y="4235665"/>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grpSp>
      <p:sp>
        <p:nvSpPr>
          <p:cNvPr id="1225" name="Google Shape;1225;p70"/>
          <p:cNvSpPr/>
          <p:nvPr/>
        </p:nvSpPr>
        <p:spPr>
          <a:xfrm>
            <a:off x="1745462" y="3767250"/>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1.1</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231" name="Google Shape;1231;p70"/>
          <p:cNvSpPr/>
          <p:nvPr/>
        </p:nvSpPr>
        <p:spPr>
          <a:xfrm>
            <a:off x="2519576"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30" name="Google Shape;1230;p70"/>
          <p:cNvSpPr/>
          <p:nvPr/>
        </p:nvSpPr>
        <p:spPr>
          <a:xfrm>
            <a:off x="1716801" y="3043878"/>
            <a:ext cx="766667"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433" name="Google Shape;1232;p70">
            <a:extLst>
              <a:ext uri="{FF2B5EF4-FFF2-40B4-BE49-F238E27FC236}">
                <a16:creationId xmlns:a16="http://schemas.microsoft.com/office/drawing/2014/main" id="{8AE49BF2-60CC-9B1C-C698-B16032296BC6}"/>
              </a:ext>
            </a:extLst>
          </p:cNvPr>
          <p:cNvSpPr/>
          <p:nvPr/>
        </p:nvSpPr>
        <p:spPr>
          <a:xfrm>
            <a:off x="6617619" y="2490028"/>
            <a:ext cx="1043303" cy="324000"/>
          </a:xfrm>
          <a:prstGeom prst="rect">
            <a:avLst/>
          </a:prstGeom>
          <a:solidFill>
            <a:srgbClr val="009062"/>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Committee</a:t>
            </a:r>
          </a:p>
        </p:txBody>
      </p:sp>
      <p:sp>
        <p:nvSpPr>
          <p:cNvPr id="1429" name="Google Shape;1232;p70">
            <a:extLst>
              <a:ext uri="{FF2B5EF4-FFF2-40B4-BE49-F238E27FC236}">
                <a16:creationId xmlns:a16="http://schemas.microsoft.com/office/drawing/2014/main" id="{8B519C59-EEAC-9BE9-D1F5-2CD1D708AE78}"/>
              </a:ext>
            </a:extLst>
          </p:cNvPr>
          <p:cNvSpPr/>
          <p:nvPr/>
        </p:nvSpPr>
        <p:spPr>
          <a:xfrm>
            <a:off x="3247654" y="2501175"/>
            <a:ext cx="949963" cy="324000"/>
          </a:xfrm>
          <a:prstGeom prst="rect">
            <a:avLst/>
          </a:prstGeom>
          <a:solidFill>
            <a:srgbClr val="009062"/>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lang="en-US" sz="900" b="1" kern="0" noProof="0">
                <a:solidFill>
                  <a:schemeClr val="bg1"/>
                </a:solidFill>
                <a:latin typeface="Arial" panose="020B0604020202020204" pitchFamily="34" charset="0"/>
                <a:cs typeface="Arial"/>
                <a:sym typeface="Arial"/>
              </a:rPr>
              <a:t>Shark Tank</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endParaRPr>
          </a:p>
        </p:txBody>
      </p:sp>
      <p:grpSp>
        <p:nvGrpSpPr>
          <p:cNvPr id="27" name="Group 26">
            <a:extLst>
              <a:ext uri="{FF2B5EF4-FFF2-40B4-BE49-F238E27FC236}">
                <a16:creationId xmlns:a16="http://schemas.microsoft.com/office/drawing/2014/main" id="{19881B69-8F9E-79A9-6EA0-0D120F1F9C7D}"/>
              </a:ext>
            </a:extLst>
          </p:cNvPr>
          <p:cNvGrpSpPr/>
          <p:nvPr/>
        </p:nvGrpSpPr>
        <p:grpSpPr>
          <a:xfrm>
            <a:off x="184484" y="5978816"/>
            <a:ext cx="2411006" cy="781481"/>
            <a:chOff x="475291" y="5901498"/>
            <a:chExt cx="2411006" cy="781481"/>
          </a:xfrm>
        </p:grpSpPr>
        <p:sp>
          <p:nvSpPr>
            <p:cNvPr id="1305" name="Google Shape;1305;p70"/>
            <p:cNvSpPr txBox="1"/>
            <p:nvPr/>
          </p:nvSpPr>
          <p:spPr>
            <a:xfrm>
              <a:off x="475291" y="5901498"/>
              <a:ext cx="2296833"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1/ It's the Strategic </a:t>
              </a:r>
              <a:r>
                <a:rPr lang="en-US" sz="600" kern="0" noProof="0">
                  <a:solidFill>
                    <a:srgbClr val="000000"/>
                  </a:solidFill>
                  <a:latin typeface="Arial" panose="020B0604020202020204" pitchFamily="34" charset="0"/>
                  <a:ea typeface="Exo"/>
                  <a:cs typeface="Exo"/>
                  <a:sym typeface="Exo"/>
                </a:rPr>
                <a:t>P&amp;S </a:t>
              </a: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Portfolio Review to </a:t>
              </a:r>
              <a:r>
                <a:rPr kumimoji="0" lang="en-US" sz="600" b="0" i="0" u="none" strike="noStrike" kern="0" cap="none" spc="0" normalizeH="0" baseline="0" noProof="0" err="1">
                  <a:ln>
                    <a:noFill/>
                  </a:ln>
                  <a:solidFill>
                    <a:srgbClr val="000000"/>
                  </a:solidFill>
                  <a:effectLst/>
                  <a:uLnTx/>
                  <a:uFillTx/>
                  <a:latin typeface="Arial" panose="020B0604020202020204" pitchFamily="34" charset="0"/>
                  <a:ea typeface="Exo"/>
                  <a:cs typeface="Exo"/>
                  <a:sym typeface="Exo"/>
                </a:rPr>
                <a:t>occure</a:t>
              </a: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 monthly</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2/ Experiment a Bi-weekly Portfolio Sync</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3/ Big Room Planning Event to produce 90days plan;</a:t>
              </a:r>
            </a:p>
          </p:txBody>
        </p:sp>
        <p:sp>
          <p:nvSpPr>
            <p:cNvPr id="1457" name="Rounded Rectangle 1456">
              <a:extLst>
                <a:ext uri="{FF2B5EF4-FFF2-40B4-BE49-F238E27FC236}">
                  <a16:creationId xmlns:a16="http://schemas.microsoft.com/office/drawing/2014/main" id="{57737BA7-47C8-5A9F-B5F0-AA6C574FD8DA}"/>
                </a:ext>
              </a:extLst>
            </p:cNvPr>
            <p:cNvSpPr/>
            <p:nvPr/>
          </p:nvSpPr>
          <p:spPr>
            <a:xfrm>
              <a:off x="564721" y="6357429"/>
              <a:ext cx="58072" cy="58072"/>
            </a:xfrm>
            <a:prstGeom prst="roundRect">
              <a:avLst/>
            </a:prstGeom>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58" name="Rounded Rectangle 1457">
              <a:extLst>
                <a:ext uri="{FF2B5EF4-FFF2-40B4-BE49-F238E27FC236}">
                  <a16:creationId xmlns:a16="http://schemas.microsoft.com/office/drawing/2014/main" id="{6856D68F-26AA-8076-14E1-2DF50C3B8BC0}"/>
                </a:ext>
              </a:extLst>
            </p:cNvPr>
            <p:cNvSpPr/>
            <p:nvPr/>
          </p:nvSpPr>
          <p:spPr>
            <a:xfrm>
              <a:off x="560428" y="6454063"/>
              <a:ext cx="58072" cy="58072"/>
            </a:xfrm>
            <a:prstGeom prst="roundRect">
              <a:avLst/>
            </a:prstGeom>
            <a:solidFill>
              <a:srgbClr val="00B0F1"/>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59" name="Rounded Rectangle 1458">
              <a:extLst>
                <a:ext uri="{FF2B5EF4-FFF2-40B4-BE49-F238E27FC236}">
                  <a16:creationId xmlns:a16="http://schemas.microsoft.com/office/drawing/2014/main" id="{7797EA48-A8BF-8B7A-7F27-B9FBF589894E}"/>
                </a:ext>
              </a:extLst>
            </p:cNvPr>
            <p:cNvSpPr/>
            <p:nvPr/>
          </p:nvSpPr>
          <p:spPr>
            <a:xfrm>
              <a:off x="560428" y="6547641"/>
              <a:ext cx="58072" cy="58072"/>
            </a:xfrm>
            <a:prstGeom prst="roundRect">
              <a:avLst/>
            </a:prstGeom>
            <a:solidFill>
              <a:srgbClr val="D8D8D8"/>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60" name="Google Shape;1305;p70">
              <a:extLst>
                <a:ext uri="{FF2B5EF4-FFF2-40B4-BE49-F238E27FC236}">
                  <a16:creationId xmlns:a16="http://schemas.microsoft.com/office/drawing/2014/main" id="{AD827D00-4D7F-7FFF-6FE3-607294F6C591}"/>
                </a:ext>
              </a:extLst>
            </p:cNvPr>
            <p:cNvSpPr txBox="1"/>
            <p:nvPr/>
          </p:nvSpPr>
          <p:spPr>
            <a:xfrm>
              <a:off x="589464" y="6221355"/>
              <a:ext cx="2296833" cy="461624"/>
            </a:xfrm>
            <a:prstGeom prst="rect">
              <a:avLst/>
            </a:prstGeom>
            <a:noFill/>
            <a:ln>
              <a:noFill/>
            </a:ln>
          </p:spPr>
          <p:txBody>
            <a:bodyPr spcFirstLastPara="1" wrap="square" lIns="91425" tIns="45700" rIns="91425" bIns="45700" anchor="t" anchorCtr="0">
              <a:spAutoFit/>
            </a:bodyPr>
            <a:lstStyle/>
            <a:p>
              <a:pPr>
                <a:buClr>
                  <a:srgbClr val="000000"/>
                </a:buClr>
                <a:buSzPts val="810"/>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Strategic Artifacts &amp; Deliverables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Portfolio Specific Governance Meetings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Tactical Governance Meetings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Product and Project Meetings</a:t>
              </a:r>
            </a:p>
          </p:txBody>
        </p:sp>
        <p:sp>
          <p:nvSpPr>
            <p:cNvPr id="7" name="Rounded Rectangle 6">
              <a:extLst>
                <a:ext uri="{FF2B5EF4-FFF2-40B4-BE49-F238E27FC236}">
                  <a16:creationId xmlns:a16="http://schemas.microsoft.com/office/drawing/2014/main" id="{C253D7AF-CCF8-66B2-CBBF-5F40875C4CE9}"/>
                </a:ext>
              </a:extLst>
            </p:cNvPr>
            <p:cNvSpPr/>
            <p:nvPr/>
          </p:nvSpPr>
          <p:spPr>
            <a:xfrm>
              <a:off x="559088" y="6283268"/>
              <a:ext cx="58072" cy="58072"/>
            </a:xfrm>
            <a:prstGeom prst="roundRect">
              <a:avLst/>
            </a:prstGeom>
            <a:solidFill>
              <a:srgbClr val="FF9C1A"/>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9" name="Title 8">
            <a:extLst>
              <a:ext uri="{FF2B5EF4-FFF2-40B4-BE49-F238E27FC236}">
                <a16:creationId xmlns:a16="http://schemas.microsoft.com/office/drawing/2014/main" id="{857D6DD4-51FB-4466-D537-FDFF4FC9764F}"/>
              </a:ext>
            </a:extLst>
          </p:cNvPr>
          <p:cNvSpPr>
            <a:spLocks noGrp="1"/>
          </p:cNvSpPr>
          <p:nvPr>
            <p:ph type="title"/>
          </p:nvPr>
        </p:nvSpPr>
        <p:spPr>
          <a:xfrm>
            <a:off x="5007974" y="723211"/>
            <a:ext cx="3063493" cy="277843"/>
          </a:xfrm>
        </p:spPr>
        <p:txBody>
          <a:bodyPr>
            <a:normAutofit fontScale="90000"/>
          </a:bodyPr>
          <a:lstStyle/>
          <a:p>
            <a:r>
              <a:rPr lang="en-US" noProof="0"/>
              <a:t>BIG ROOM PLANNING CYCLE</a:t>
            </a:r>
          </a:p>
        </p:txBody>
      </p:sp>
      <p:sp>
        <p:nvSpPr>
          <p:cNvPr id="12" name="Google Shape;1225;p70">
            <a:extLst>
              <a:ext uri="{FF2B5EF4-FFF2-40B4-BE49-F238E27FC236}">
                <a16:creationId xmlns:a16="http://schemas.microsoft.com/office/drawing/2014/main" id="{2C00F7EB-82CE-ABE2-4B3F-C2769A9E60A6}"/>
              </a:ext>
            </a:extLst>
          </p:cNvPr>
          <p:cNvSpPr/>
          <p:nvPr/>
        </p:nvSpPr>
        <p:spPr>
          <a:xfrm>
            <a:off x="5176813" y="3770960"/>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1.2</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nvGrpSpPr>
          <p:cNvPr id="22" name="Group 21">
            <a:extLst>
              <a:ext uri="{FF2B5EF4-FFF2-40B4-BE49-F238E27FC236}">
                <a16:creationId xmlns:a16="http://schemas.microsoft.com/office/drawing/2014/main" id="{34A232C8-E9DA-9553-B2E3-07C4C673F90F}"/>
              </a:ext>
            </a:extLst>
          </p:cNvPr>
          <p:cNvGrpSpPr/>
          <p:nvPr/>
        </p:nvGrpSpPr>
        <p:grpSpPr>
          <a:xfrm>
            <a:off x="177921" y="1713260"/>
            <a:ext cx="1082153" cy="4087333"/>
            <a:chOff x="219624" y="1703781"/>
            <a:chExt cx="1476260" cy="4087333"/>
          </a:xfrm>
        </p:grpSpPr>
        <p:sp>
          <p:nvSpPr>
            <p:cNvPr id="4" name="Rounded Rectangle 3">
              <a:extLst>
                <a:ext uri="{FF2B5EF4-FFF2-40B4-BE49-F238E27FC236}">
                  <a16:creationId xmlns:a16="http://schemas.microsoft.com/office/drawing/2014/main" id="{C29ADBEA-93F2-4610-6007-AE19D12EFF9E}"/>
                </a:ext>
              </a:extLst>
            </p:cNvPr>
            <p:cNvSpPr/>
            <p:nvPr/>
          </p:nvSpPr>
          <p:spPr>
            <a:xfrm>
              <a:off x="246963" y="4822915"/>
              <a:ext cx="1448921" cy="968199"/>
            </a:xfrm>
            <a:prstGeom prst="roundRect">
              <a:avLst>
                <a:gd name="adj" fmla="val 274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noProof="0">
                  <a:solidFill>
                    <a:schemeClr val="tx1"/>
                  </a:solidFill>
                </a:rPr>
                <a:t>Project Delivery</a:t>
              </a:r>
            </a:p>
          </p:txBody>
        </p:sp>
        <p:sp>
          <p:nvSpPr>
            <p:cNvPr id="19" name="Rounded Rectangle 18">
              <a:extLst>
                <a:ext uri="{FF2B5EF4-FFF2-40B4-BE49-F238E27FC236}">
                  <a16:creationId xmlns:a16="http://schemas.microsoft.com/office/drawing/2014/main" id="{01143C58-346B-F06D-A843-65CF019E8B7A}"/>
                </a:ext>
              </a:extLst>
            </p:cNvPr>
            <p:cNvSpPr/>
            <p:nvPr/>
          </p:nvSpPr>
          <p:spPr>
            <a:xfrm>
              <a:off x="235766" y="3537588"/>
              <a:ext cx="1448922" cy="1126533"/>
            </a:xfrm>
            <a:prstGeom prst="roundRect">
              <a:avLst>
                <a:gd name="adj" fmla="val 1450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tx1"/>
                </a:solidFill>
              </a:endParaRPr>
            </a:p>
            <a:p>
              <a:pPr algn="ctr"/>
              <a:endParaRPr lang="en-US" sz="1100" noProof="0">
                <a:solidFill>
                  <a:schemeClr val="tx1"/>
                </a:solidFill>
              </a:endParaRPr>
            </a:p>
            <a:p>
              <a:pPr algn="ctr"/>
              <a:endParaRPr lang="en-US" sz="1100" noProof="0">
                <a:solidFill>
                  <a:schemeClr val="tx1"/>
                </a:solidFill>
              </a:endParaRPr>
            </a:p>
            <a:p>
              <a:pPr algn="ctr"/>
              <a:r>
                <a:rPr lang="en-US" sz="1050" noProof="0">
                  <a:solidFill>
                    <a:schemeClr val="tx1"/>
                  </a:solidFill>
                </a:rPr>
                <a:t>Product Management</a:t>
              </a:r>
            </a:p>
          </p:txBody>
        </p:sp>
        <p:sp>
          <p:nvSpPr>
            <p:cNvPr id="20" name="Rounded Rectangle 19">
              <a:extLst>
                <a:ext uri="{FF2B5EF4-FFF2-40B4-BE49-F238E27FC236}">
                  <a16:creationId xmlns:a16="http://schemas.microsoft.com/office/drawing/2014/main" id="{CD21EDA8-9D04-3734-27F5-1F355B8ACE9B}"/>
                </a:ext>
              </a:extLst>
            </p:cNvPr>
            <p:cNvSpPr/>
            <p:nvPr/>
          </p:nvSpPr>
          <p:spPr>
            <a:xfrm>
              <a:off x="219624" y="2447610"/>
              <a:ext cx="1448922" cy="971911"/>
            </a:xfrm>
            <a:prstGeom prst="roundRect">
              <a:avLst>
                <a:gd name="adj" fmla="val 192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tx1"/>
                  </a:solidFill>
                </a:rPr>
                <a:t>Program</a:t>
              </a:r>
            </a:p>
          </p:txBody>
        </p:sp>
        <p:sp>
          <p:nvSpPr>
            <p:cNvPr id="21" name="Rounded Rectangle 20">
              <a:extLst>
                <a:ext uri="{FF2B5EF4-FFF2-40B4-BE49-F238E27FC236}">
                  <a16:creationId xmlns:a16="http://schemas.microsoft.com/office/drawing/2014/main" id="{C0652CAF-0F8B-06E5-781B-6C81833FA1FD}"/>
                </a:ext>
              </a:extLst>
            </p:cNvPr>
            <p:cNvSpPr/>
            <p:nvPr/>
          </p:nvSpPr>
          <p:spPr>
            <a:xfrm>
              <a:off x="235651" y="1703781"/>
              <a:ext cx="1448921" cy="644600"/>
            </a:xfrm>
            <a:prstGeom prst="roundRect">
              <a:avLst>
                <a:gd name="adj" fmla="val 271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tx1"/>
                  </a:solidFill>
                </a:rPr>
                <a:t>Portfolio</a:t>
              </a:r>
            </a:p>
          </p:txBody>
        </p:sp>
      </p:grpSp>
      <p:sp>
        <p:nvSpPr>
          <p:cNvPr id="32" name="Google Shape;1257;p70">
            <a:extLst>
              <a:ext uri="{FF2B5EF4-FFF2-40B4-BE49-F238E27FC236}">
                <a16:creationId xmlns:a16="http://schemas.microsoft.com/office/drawing/2014/main" id="{04C7A3E1-8A83-224D-797A-795DBDB891E2}"/>
              </a:ext>
            </a:extLst>
          </p:cNvPr>
          <p:cNvSpPr/>
          <p:nvPr/>
        </p:nvSpPr>
        <p:spPr>
          <a:xfrm>
            <a:off x="5013526" y="1722091"/>
            <a:ext cx="3493937"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pic>
        <p:nvPicPr>
          <p:cNvPr id="33" name="Picture 6">
            <a:extLst>
              <a:ext uri="{FF2B5EF4-FFF2-40B4-BE49-F238E27FC236}">
                <a16:creationId xmlns:a16="http://schemas.microsoft.com/office/drawing/2014/main" id="{9920496A-926C-A7EF-319E-DABB5992F0D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29118" y="2605294"/>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7D187C61-A975-9A3F-BB53-9A12287C619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722514" y="2536332"/>
            <a:ext cx="398320" cy="167730"/>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1223;p70">
            <a:extLst>
              <a:ext uri="{FF2B5EF4-FFF2-40B4-BE49-F238E27FC236}">
                <a16:creationId xmlns:a16="http://schemas.microsoft.com/office/drawing/2014/main" id="{260E05FF-DEA3-7711-13FB-586F95BF571E}"/>
              </a:ext>
            </a:extLst>
          </p:cNvPr>
          <p:cNvSpPr/>
          <p:nvPr/>
        </p:nvSpPr>
        <p:spPr>
          <a:xfrm rot="16200000">
            <a:off x="2577780" y="4748595"/>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58" name="Google Shape;1223;p70">
            <a:extLst>
              <a:ext uri="{FF2B5EF4-FFF2-40B4-BE49-F238E27FC236}">
                <a16:creationId xmlns:a16="http://schemas.microsoft.com/office/drawing/2014/main" id="{83490571-9387-B0D8-E756-BFA7F7DB374F}"/>
              </a:ext>
            </a:extLst>
          </p:cNvPr>
          <p:cNvSpPr/>
          <p:nvPr/>
        </p:nvSpPr>
        <p:spPr>
          <a:xfrm rot="16200000">
            <a:off x="6010838" y="4748341"/>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 name="Google Shape;1225;p70">
            <a:extLst>
              <a:ext uri="{FF2B5EF4-FFF2-40B4-BE49-F238E27FC236}">
                <a16:creationId xmlns:a16="http://schemas.microsoft.com/office/drawing/2014/main" id="{5167C040-3924-1171-90A9-3737F14923D7}"/>
              </a:ext>
            </a:extLst>
          </p:cNvPr>
          <p:cNvSpPr/>
          <p:nvPr/>
        </p:nvSpPr>
        <p:spPr>
          <a:xfrm>
            <a:off x="8663344" y="3771312"/>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1.3</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2" name="Google Shape;1223;p70">
            <a:extLst>
              <a:ext uri="{FF2B5EF4-FFF2-40B4-BE49-F238E27FC236}">
                <a16:creationId xmlns:a16="http://schemas.microsoft.com/office/drawing/2014/main" id="{4348B0A7-E2A7-545A-E7E2-0B839DD17462}"/>
              </a:ext>
            </a:extLst>
          </p:cNvPr>
          <p:cNvSpPr/>
          <p:nvPr/>
        </p:nvSpPr>
        <p:spPr>
          <a:xfrm rot="16200000">
            <a:off x="9494406" y="4748340"/>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nvGrpSpPr>
          <p:cNvPr id="1367" name="Group 1366">
            <a:extLst>
              <a:ext uri="{FF2B5EF4-FFF2-40B4-BE49-F238E27FC236}">
                <a16:creationId xmlns:a16="http://schemas.microsoft.com/office/drawing/2014/main" id="{2BD5F88E-7643-1F77-2DF2-0482A5424A63}"/>
              </a:ext>
            </a:extLst>
          </p:cNvPr>
          <p:cNvGrpSpPr/>
          <p:nvPr/>
        </p:nvGrpSpPr>
        <p:grpSpPr>
          <a:xfrm>
            <a:off x="1745462" y="4128396"/>
            <a:ext cx="10176470" cy="590966"/>
            <a:chOff x="1747486" y="4825133"/>
            <a:chExt cx="10176470" cy="701605"/>
          </a:xfrm>
          <a:solidFill>
            <a:srgbClr val="FFEBED"/>
          </a:solidFill>
        </p:grpSpPr>
        <p:sp>
          <p:nvSpPr>
            <p:cNvPr id="37" name="Google Shape;1223;p70">
              <a:extLst>
                <a:ext uri="{FF2B5EF4-FFF2-40B4-BE49-F238E27FC236}">
                  <a16:creationId xmlns:a16="http://schemas.microsoft.com/office/drawing/2014/main" id="{0B346FC8-7E85-82A4-A186-4F85D77104AA}"/>
                </a:ext>
              </a:extLst>
            </p:cNvPr>
            <p:cNvSpPr/>
            <p:nvPr/>
          </p:nvSpPr>
          <p:spPr>
            <a:xfrm>
              <a:off x="1747486" y="4835032"/>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38" name="Google Shape;1223;p70">
              <a:extLst>
                <a:ext uri="{FF2B5EF4-FFF2-40B4-BE49-F238E27FC236}">
                  <a16:creationId xmlns:a16="http://schemas.microsoft.com/office/drawing/2014/main" id="{E923C688-92AB-6461-F0F9-CCF253A8F570}"/>
                </a:ext>
              </a:extLst>
            </p:cNvPr>
            <p:cNvSpPr/>
            <p:nvPr/>
          </p:nvSpPr>
          <p:spPr>
            <a:xfrm>
              <a:off x="1747486" y="5202738"/>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39" name="Google Shape;1223;p70">
              <a:extLst>
                <a:ext uri="{FF2B5EF4-FFF2-40B4-BE49-F238E27FC236}">
                  <a16:creationId xmlns:a16="http://schemas.microsoft.com/office/drawing/2014/main" id="{CC1F14D2-0A87-8E87-E340-C84D48F73537}"/>
                </a:ext>
              </a:extLst>
            </p:cNvPr>
            <p:cNvSpPr/>
            <p:nvPr/>
          </p:nvSpPr>
          <p:spPr>
            <a:xfrm>
              <a:off x="3579096" y="4825388"/>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0" name="Google Shape;1223;p70">
              <a:extLst>
                <a:ext uri="{FF2B5EF4-FFF2-40B4-BE49-F238E27FC236}">
                  <a16:creationId xmlns:a16="http://schemas.microsoft.com/office/drawing/2014/main" id="{E4A7978F-F168-F476-6D88-66AD20EA778B}"/>
                </a:ext>
              </a:extLst>
            </p:cNvPr>
            <p:cNvSpPr/>
            <p:nvPr/>
          </p:nvSpPr>
          <p:spPr>
            <a:xfrm>
              <a:off x="3579096" y="5193094"/>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59" name="Google Shape;1223;p70">
              <a:extLst>
                <a:ext uri="{FF2B5EF4-FFF2-40B4-BE49-F238E27FC236}">
                  <a16:creationId xmlns:a16="http://schemas.microsoft.com/office/drawing/2014/main" id="{B9D94DF1-CF27-995E-5399-7632E75F4669}"/>
                </a:ext>
              </a:extLst>
            </p:cNvPr>
            <p:cNvSpPr/>
            <p:nvPr/>
          </p:nvSpPr>
          <p:spPr>
            <a:xfrm>
              <a:off x="5180544" y="4834778"/>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0" name="Google Shape;1223;p70">
              <a:extLst>
                <a:ext uri="{FF2B5EF4-FFF2-40B4-BE49-F238E27FC236}">
                  <a16:creationId xmlns:a16="http://schemas.microsoft.com/office/drawing/2014/main" id="{5C853019-7A26-D19C-D610-4843477EACB1}"/>
                </a:ext>
              </a:extLst>
            </p:cNvPr>
            <p:cNvSpPr/>
            <p:nvPr/>
          </p:nvSpPr>
          <p:spPr>
            <a:xfrm>
              <a:off x="5180544" y="5202484"/>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1" name="Google Shape;1223;p70">
              <a:extLst>
                <a:ext uri="{FF2B5EF4-FFF2-40B4-BE49-F238E27FC236}">
                  <a16:creationId xmlns:a16="http://schemas.microsoft.com/office/drawing/2014/main" id="{727367DA-D58A-3168-4CB0-C842F9B51E8A}"/>
                </a:ext>
              </a:extLst>
            </p:cNvPr>
            <p:cNvSpPr/>
            <p:nvPr/>
          </p:nvSpPr>
          <p:spPr>
            <a:xfrm>
              <a:off x="7012154" y="4825134"/>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2" name="Google Shape;1223;p70">
              <a:extLst>
                <a:ext uri="{FF2B5EF4-FFF2-40B4-BE49-F238E27FC236}">
                  <a16:creationId xmlns:a16="http://schemas.microsoft.com/office/drawing/2014/main" id="{FF323EDF-3A5C-E5A4-1BFB-4ADF112E64F2}"/>
                </a:ext>
              </a:extLst>
            </p:cNvPr>
            <p:cNvSpPr/>
            <p:nvPr/>
          </p:nvSpPr>
          <p:spPr>
            <a:xfrm>
              <a:off x="7012154" y="5192840"/>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3" name="Google Shape;1223;p70">
              <a:extLst>
                <a:ext uri="{FF2B5EF4-FFF2-40B4-BE49-F238E27FC236}">
                  <a16:creationId xmlns:a16="http://schemas.microsoft.com/office/drawing/2014/main" id="{B4F572C5-5485-0D81-8E9F-76662B8DE449}"/>
                </a:ext>
              </a:extLst>
            </p:cNvPr>
            <p:cNvSpPr/>
            <p:nvPr/>
          </p:nvSpPr>
          <p:spPr>
            <a:xfrm>
              <a:off x="8664112" y="4834777"/>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4" name="Google Shape;1223;p70">
              <a:extLst>
                <a:ext uri="{FF2B5EF4-FFF2-40B4-BE49-F238E27FC236}">
                  <a16:creationId xmlns:a16="http://schemas.microsoft.com/office/drawing/2014/main" id="{D4D16AEA-4122-8550-F4BF-8FAA27A59DFC}"/>
                </a:ext>
              </a:extLst>
            </p:cNvPr>
            <p:cNvSpPr/>
            <p:nvPr/>
          </p:nvSpPr>
          <p:spPr>
            <a:xfrm>
              <a:off x="8664112" y="5202483"/>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5" name="Google Shape;1223;p70">
              <a:extLst>
                <a:ext uri="{FF2B5EF4-FFF2-40B4-BE49-F238E27FC236}">
                  <a16:creationId xmlns:a16="http://schemas.microsoft.com/office/drawing/2014/main" id="{B6AEF994-9624-36D5-A194-72FAA0FA09FC}"/>
                </a:ext>
              </a:extLst>
            </p:cNvPr>
            <p:cNvSpPr/>
            <p:nvPr/>
          </p:nvSpPr>
          <p:spPr>
            <a:xfrm>
              <a:off x="10495722" y="4825133"/>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6" name="Google Shape;1223;p70">
              <a:extLst>
                <a:ext uri="{FF2B5EF4-FFF2-40B4-BE49-F238E27FC236}">
                  <a16:creationId xmlns:a16="http://schemas.microsoft.com/office/drawing/2014/main" id="{84A205B4-F122-EC42-16DD-CCA8B8B0DEB4}"/>
                </a:ext>
              </a:extLst>
            </p:cNvPr>
            <p:cNvSpPr/>
            <p:nvPr/>
          </p:nvSpPr>
          <p:spPr>
            <a:xfrm>
              <a:off x="10495722" y="5192839"/>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sp>
        <p:nvSpPr>
          <p:cNvPr id="1366" name="Google Shape;1257;p70">
            <a:extLst>
              <a:ext uri="{FF2B5EF4-FFF2-40B4-BE49-F238E27FC236}">
                <a16:creationId xmlns:a16="http://schemas.microsoft.com/office/drawing/2014/main" id="{24A33D1A-EB71-40E3-5AFD-381A67A73828}"/>
              </a:ext>
            </a:extLst>
          </p:cNvPr>
          <p:cNvSpPr/>
          <p:nvPr/>
        </p:nvSpPr>
        <p:spPr>
          <a:xfrm>
            <a:off x="8561062" y="1723434"/>
            <a:ext cx="2501735"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cxnSp>
        <p:nvCxnSpPr>
          <p:cNvPr id="1386" name="Elbow Connector 1385">
            <a:extLst>
              <a:ext uri="{FF2B5EF4-FFF2-40B4-BE49-F238E27FC236}">
                <a16:creationId xmlns:a16="http://schemas.microsoft.com/office/drawing/2014/main" id="{6B892B76-6643-EB3B-A5E8-ED7E23143F9F}"/>
              </a:ext>
            </a:extLst>
          </p:cNvPr>
          <p:cNvCxnSpPr>
            <a:cxnSpLocks/>
            <a:endCxn id="54" idx="3"/>
          </p:cNvCxnSpPr>
          <p:nvPr/>
        </p:nvCxnSpPr>
        <p:spPr>
          <a:xfrm flipH="1" flipV="1">
            <a:off x="8404702" y="2657680"/>
            <a:ext cx="29308" cy="2599732"/>
          </a:xfrm>
          <a:prstGeom prst="bentConnector3">
            <a:avLst>
              <a:gd name="adj1" fmla="val -382145"/>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390" name="Elbow Connector 1389">
            <a:extLst>
              <a:ext uri="{FF2B5EF4-FFF2-40B4-BE49-F238E27FC236}">
                <a16:creationId xmlns:a16="http://schemas.microsoft.com/office/drawing/2014/main" id="{E43FC0F8-3F65-24A7-1DA0-A2658C4B9D22}"/>
              </a:ext>
            </a:extLst>
          </p:cNvPr>
          <p:cNvCxnSpPr>
            <a:cxnSpLocks/>
            <a:stCxn id="56" idx="0"/>
            <a:endCxn id="1255" idx="2"/>
          </p:cNvCxnSpPr>
          <p:nvPr/>
        </p:nvCxnSpPr>
        <p:spPr>
          <a:xfrm rot="16200000" flipV="1">
            <a:off x="11272310" y="2272938"/>
            <a:ext cx="463633" cy="1251"/>
          </a:xfrm>
          <a:prstGeom prst="bentConnector3">
            <a:avLst>
              <a:gd name="adj1" fmla="val 5000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93" name="Elbow Connector 1392">
            <a:extLst>
              <a:ext uri="{FF2B5EF4-FFF2-40B4-BE49-F238E27FC236}">
                <a16:creationId xmlns:a16="http://schemas.microsoft.com/office/drawing/2014/main" id="{8A06025C-942D-2016-943F-4012F17F7DA8}"/>
              </a:ext>
            </a:extLst>
          </p:cNvPr>
          <p:cNvCxnSpPr>
            <a:cxnSpLocks/>
            <a:stCxn id="54" idx="0"/>
            <a:endCxn id="55" idx="0"/>
          </p:cNvCxnSpPr>
          <p:nvPr/>
        </p:nvCxnSpPr>
        <p:spPr>
          <a:xfrm rot="16200000" flipH="1">
            <a:off x="8899432" y="1654515"/>
            <a:ext cx="12203" cy="1694532"/>
          </a:xfrm>
          <a:prstGeom prst="bentConnector3">
            <a:avLst>
              <a:gd name="adj1" fmla="val -187331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97" name="Elbow Connector 1396">
            <a:extLst>
              <a:ext uri="{FF2B5EF4-FFF2-40B4-BE49-F238E27FC236}">
                <a16:creationId xmlns:a16="http://schemas.microsoft.com/office/drawing/2014/main" id="{0CE9C384-CA66-0ABD-807A-45B20FDD7A15}"/>
              </a:ext>
            </a:extLst>
          </p:cNvPr>
          <p:cNvCxnSpPr>
            <a:cxnSpLocks/>
            <a:stCxn id="1429" idx="0"/>
            <a:endCxn id="1433" idx="0"/>
          </p:cNvCxnSpPr>
          <p:nvPr/>
        </p:nvCxnSpPr>
        <p:spPr>
          <a:xfrm rot="5400000" flipH="1" flipV="1">
            <a:off x="5425380" y="787285"/>
            <a:ext cx="11147" cy="3416635"/>
          </a:xfrm>
          <a:prstGeom prst="bentConnector3">
            <a:avLst>
              <a:gd name="adj1" fmla="val 2515358"/>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08" name="Elbow Connector 1407">
            <a:extLst>
              <a:ext uri="{FF2B5EF4-FFF2-40B4-BE49-F238E27FC236}">
                <a16:creationId xmlns:a16="http://schemas.microsoft.com/office/drawing/2014/main" id="{7EE922E2-0364-9C18-99E4-508D3517E038}"/>
              </a:ext>
            </a:extLst>
          </p:cNvPr>
          <p:cNvCxnSpPr>
            <a:cxnSpLocks/>
            <a:endCxn id="1429" idx="0"/>
          </p:cNvCxnSpPr>
          <p:nvPr/>
        </p:nvCxnSpPr>
        <p:spPr>
          <a:xfrm rot="16200000" flipH="1">
            <a:off x="2601393" y="1379931"/>
            <a:ext cx="555499" cy="1686987"/>
          </a:xfrm>
          <a:prstGeom prst="bentConnector3">
            <a:avLst>
              <a:gd name="adj1" fmla="val 50000"/>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1439" name="Picture 1438">
            <a:extLst>
              <a:ext uri="{FF2B5EF4-FFF2-40B4-BE49-F238E27FC236}">
                <a16:creationId xmlns:a16="http://schemas.microsoft.com/office/drawing/2014/main" id="{222085E4-E74B-FF61-EE80-4B5CD5BB56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290" y="1534294"/>
            <a:ext cx="324000" cy="324000"/>
          </a:xfrm>
          <a:prstGeom prst="rect">
            <a:avLst/>
          </a:prstGeom>
        </p:spPr>
      </p:pic>
      <p:pic>
        <p:nvPicPr>
          <p:cNvPr id="1440" name="Picture 1439">
            <a:extLst>
              <a:ext uri="{FF2B5EF4-FFF2-40B4-BE49-F238E27FC236}">
                <a16:creationId xmlns:a16="http://schemas.microsoft.com/office/drawing/2014/main" id="{A8C69B1B-9F9D-3986-ED32-7042F83FF3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133" y="1500592"/>
            <a:ext cx="358533" cy="358533"/>
          </a:xfrm>
          <a:prstGeom prst="rect">
            <a:avLst/>
          </a:prstGeom>
        </p:spPr>
      </p:pic>
      <p:pic>
        <p:nvPicPr>
          <p:cNvPr id="1441" name="Picture 1440">
            <a:extLst>
              <a:ext uri="{FF2B5EF4-FFF2-40B4-BE49-F238E27FC236}">
                <a16:creationId xmlns:a16="http://schemas.microsoft.com/office/drawing/2014/main" id="{0E057F79-6278-7682-5B4D-D9520EA674F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2306" y="2539005"/>
            <a:ext cx="309293" cy="309293"/>
          </a:xfrm>
          <a:prstGeom prst="rect">
            <a:avLst/>
          </a:prstGeom>
        </p:spPr>
      </p:pic>
      <p:pic>
        <p:nvPicPr>
          <p:cNvPr id="1444" name="Picture 1443">
            <a:extLst>
              <a:ext uri="{FF2B5EF4-FFF2-40B4-BE49-F238E27FC236}">
                <a16:creationId xmlns:a16="http://schemas.microsoft.com/office/drawing/2014/main" id="{27C3D085-7D29-95CE-BF90-20275037CEE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6423" y="3707323"/>
            <a:ext cx="361057" cy="361057"/>
          </a:xfrm>
          <a:prstGeom prst="rect">
            <a:avLst/>
          </a:prstGeom>
        </p:spPr>
      </p:pic>
      <p:pic>
        <p:nvPicPr>
          <p:cNvPr id="1446" name="Picture 1445">
            <a:extLst>
              <a:ext uri="{FF2B5EF4-FFF2-40B4-BE49-F238E27FC236}">
                <a16:creationId xmlns:a16="http://schemas.microsoft.com/office/drawing/2014/main" id="{A7FEE087-C412-057C-A015-99DF79AAE44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3764" y="4762896"/>
            <a:ext cx="364156" cy="364156"/>
          </a:xfrm>
          <a:prstGeom prst="rect">
            <a:avLst/>
          </a:prstGeom>
        </p:spPr>
      </p:pic>
      <p:pic>
        <p:nvPicPr>
          <p:cNvPr id="1447" name="Picture 1446">
            <a:extLst>
              <a:ext uri="{FF2B5EF4-FFF2-40B4-BE49-F238E27FC236}">
                <a16:creationId xmlns:a16="http://schemas.microsoft.com/office/drawing/2014/main" id="{A04FABD8-C5F9-46CF-2A13-1B1E0975CE0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4192" y="4762840"/>
            <a:ext cx="361057" cy="361057"/>
          </a:xfrm>
          <a:prstGeom prst="rect">
            <a:avLst/>
          </a:prstGeom>
        </p:spPr>
      </p:pic>
      <p:cxnSp>
        <p:nvCxnSpPr>
          <p:cNvPr id="1371" name="Straight Arrow Connector 1370">
            <a:extLst>
              <a:ext uri="{FF2B5EF4-FFF2-40B4-BE49-F238E27FC236}">
                <a16:creationId xmlns:a16="http://schemas.microsoft.com/office/drawing/2014/main" id="{8DF3B872-CAC3-4C3E-A44A-2BDD232BC22A}"/>
              </a:ext>
            </a:extLst>
          </p:cNvPr>
          <p:cNvCxnSpPr>
            <a:cxnSpLocks/>
            <a:stCxn id="1372" idx="2"/>
            <a:endCxn id="1373" idx="0"/>
          </p:cNvCxnSpPr>
          <p:nvPr/>
        </p:nvCxnSpPr>
        <p:spPr>
          <a:xfrm flipH="1">
            <a:off x="1467952" y="1949715"/>
            <a:ext cx="10141" cy="3515216"/>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1372" name="Picture 6">
            <a:extLst>
              <a:ext uri="{FF2B5EF4-FFF2-40B4-BE49-F238E27FC236}">
                <a16:creationId xmlns:a16="http://schemas.microsoft.com/office/drawing/2014/main" id="{75017101-57A1-2FE3-B77D-1A2E1254002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8933" y="1781985"/>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3" name="Picture 6">
            <a:extLst>
              <a:ext uri="{FF2B5EF4-FFF2-40B4-BE49-F238E27FC236}">
                <a16:creationId xmlns:a16="http://schemas.microsoft.com/office/drawing/2014/main" id="{BB6DB961-03CC-BAA1-F804-DF574ACFB5E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68792" y="5464931"/>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8" name="Picture 6">
            <a:extLst>
              <a:ext uri="{FF2B5EF4-FFF2-40B4-BE49-F238E27FC236}">
                <a16:creationId xmlns:a16="http://schemas.microsoft.com/office/drawing/2014/main" id="{C1B983BE-659A-90FD-2C2B-E9FF07C050D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09446" y="1789291"/>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9" name="Picture 6">
            <a:extLst>
              <a:ext uri="{FF2B5EF4-FFF2-40B4-BE49-F238E27FC236}">
                <a16:creationId xmlns:a16="http://schemas.microsoft.com/office/drawing/2014/main" id="{75811ECC-79A0-EC2E-A987-37212D2803F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006382" y="1790346"/>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80" name="Picture 6">
            <a:extLst>
              <a:ext uri="{FF2B5EF4-FFF2-40B4-BE49-F238E27FC236}">
                <a16:creationId xmlns:a16="http://schemas.microsoft.com/office/drawing/2014/main" id="{4093FDE6-9E28-423F-17BA-C83D9588D8C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887899" y="3837309"/>
            <a:ext cx="398320" cy="167730"/>
          </a:xfrm>
          <a:prstGeom prst="rect">
            <a:avLst/>
          </a:prstGeom>
          <a:solidFill>
            <a:srgbClr val="FFEBED"/>
          </a:solidFill>
        </p:spPr>
      </p:pic>
      <p:pic>
        <p:nvPicPr>
          <p:cNvPr id="1381" name="Picture 6">
            <a:extLst>
              <a:ext uri="{FF2B5EF4-FFF2-40B4-BE49-F238E27FC236}">
                <a16:creationId xmlns:a16="http://schemas.microsoft.com/office/drawing/2014/main" id="{A3C3E0BB-330D-DCA4-C9DE-CB474B1158A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88369" y="3838855"/>
            <a:ext cx="398320" cy="167730"/>
          </a:xfrm>
          <a:prstGeom prst="rect">
            <a:avLst/>
          </a:prstGeom>
          <a:solidFill>
            <a:srgbClr val="FFEBED"/>
          </a:solidFill>
        </p:spPr>
      </p:pic>
      <p:pic>
        <p:nvPicPr>
          <p:cNvPr id="1382" name="Picture 6">
            <a:extLst>
              <a:ext uri="{FF2B5EF4-FFF2-40B4-BE49-F238E27FC236}">
                <a16:creationId xmlns:a16="http://schemas.microsoft.com/office/drawing/2014/main" id="{C7769A49-AF68-1B10-3293-942C8FD80FD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790374" y="3860433"/>
            <a:ext cx="398320" cy="167730"/>
          </a:xfrm>
          <a:prstGeom prst="rect">
            <a:avLst/>
          </a:prstGeom>
          <a:solidFill>
            <a:srgbClr val="FFEBED"/>
          </a:solidFill>
        </p:spPr>
      </p:pic>
      <p:grpSp>
        <p:nvGrpSpPr>
          <p:cNvPr id="1470" name="Group 1469">
            <a:extLst>
              <a:ext uri="{FF2B5EF4-FFF2-40B4-BE49-F238E27FC236}">
                <a16:creationId xmlns:a16="http://schemas.microsoft.com/office/drawing/2014/main" id="{8C4D6BB5-42AC-88E2-207F-F1D7C080CE85}"/>
              </a:ext>
            </a:extLst>
          </p:cNvPr>
          <p:cNvGrpSpPr/>
          <p:nvPr/>
        </p:nvGrpSpPr>
        <p:grpSpPr>
          <a:xfrm>
            <a:off x="1738471" y="4809444"/>
            <a:ext cx="3262481" cy="899772"/>
            <a:chOff x="1738471" y="4809444"/>
            <a:chExt cx="3262481" cy="899772"/>
          </a:xfrm>
        </p:grpSpPr>
        <p:sp>
          <p:nvSpPr>
            <p:cNvPr id="1223" name="Google Shape;1223;p70"/>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1" name="Google Shape;1223;p70">
              <a:extLst>
                <a:ext uri="{FF2B5EF4-FFF2-40B4-BE49-F238E27FC236}">
                  <a16:creationId xmlns:a16="http://schemas.microsoft.com/office/drawing/2014/main" id="{039A5BD8-110D-4D6D-EB75-99E9F2C2BBD8}"/>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2" name="Google Shape;1223;p70">
              <a:extLst>
                <a:ext uri="{FF2B5EF4-FFF2-40B4-BE49-F238E27FC236}">
                  <a16:creationId xmlns:a16="http://schemas.microsoft.com/office/drawing/2014/main" id="{34EABCDC-EA2A-585A-721A-A3FBD4110846}"/>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3" name="Google Shape;1223;p70">
              <a:extLst>
                <a:ext uri="{FF2B5EF4-FFF2-40B4-BE49-F238E27FC236}">
                  <a16:creationId xmlns:a16="http://schemas.microsoft.com/office/drawing/2014/main" id="{EF812EE3-475B-875C-5B6E-FC3AF69D109F}"/>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5" name="Google Shape;1223;p70">
              <a:extLst>
                <a:ext uri="{FF2B5EF4-FFF2-40B4-BE49-F238E27FC236}">
                  <a16:creationId xmlns:a16="http://schemas.microsoft.com/office/drawing/2014/main" id="{007F8593-2D23-2DA1-E2FD-6ADE3FA5265A}"/>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6" name="Google Shape;1223;p70">
              <a:extLst>
                <a:ext uri="{FF2B5EF4-FFF2-40B4-BE49-F238E27FC236}">
                  <a16:creationId xmlns:a16="http://schemas.microsoft.com/office/drawing/2014/main" id="{E2F74AA8-3C4E-F3CF-0340-6408295B53EA}"/>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7" name="Google Shape;1223;p70">
              <a:extLst>
                <a:ext uri="{FF2B5EF4-FFF2-40B4-BE49-F238E27FC236}">
                  <a16:creationId xmlns:a16="http://schemas.microsoft.com/office/drawing/2014/main" id="{2A81C2D9-1EFE-4EBF-A90A-3B571B125396}"/>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8" name="Google Shape;1223;p70">
              <a:extLst>
                <a:ext uri="{FF2B5EF4-FFF2-40B4-BE49-F238E27FC236}">
                  <a16:creationId xmlns:a16="http://schemas.microsoft.com/office/drawing/2014/main" id="{AF00DA0A-F47D-AA37-4B04-06FF096AA3EC}"/>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2" name="Google Shape;1223;p70">
              <a:extLst>
                <a:ext uri="{FF2B5EF4-FFF2-40B4-BE49-F238E27FC236}">
                  <a16:creationId xmlns:a16="http://schemas.microsoft.com/office/drawing/2014/main" id="{ADD47175-25A9-DB2D-F12C-0A9A1B844421}"/>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4" name="Google Shape;1223;p70">
              <a:extLst>
                <a:ext uri="{FF2B5EF4-FFF2-40B4-BE49-F238E27FC236}">
                  <a16:creationId xmlns:a16="http://schemas.microsoft.com/office/drawing/2014/main" id="{FC5B6548-5D13-5F90-F759-9F437F94479B}"/>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5" name="Google Shape;1223;p70">
              <a:extLst>
                <a:ext uri="{FF2B5EF4-FFF2-40B4-BE49-F238E27FC236}">
                  <a16:creationId xmlns:a16="http://schemas.microsoft.com/office/drawing/2014/main" id="{8455A5D8-DED0-D27A-2F27-1FA29862AA2C}"/>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6" name="Google Shape;1223;p70">
              <a:extLst>
                <a:ext uri="{FF2B5EF4-FFF2-40B4-BE49-F238E27FC236}">
                  <a16:creationId xmlns:a16="http://schemas.microsoft.com/office/drawing/2014/main" id="{C8B5F0F8-FA87-136A-13DD-03CC89A57E44}"/>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cxnSp>
        <p:nvCxnSpPr>
          <p:cNvPr id="1452" name="Google Shape;1275;p70">
            <a:extLst>
              <a:ext uri="{FF2B5EF4-FFF2-40B4-BE49-F238E27FC236}">
                <a16:creationId xmlns:a16="http://schemas.microsoft.com/office/drawing/2014/main" id="{2F46F5A5-72E2-5109-F3CB-F55E27F5DE97}"/>
              </a:ext>
            </a:extLst>
          </p:cNvPr>
          <p:cNvCxnSpPr>
            <a:cxnSpLocks/>
          </p:cNvCxnSpPr>
          <p:nvPr/>
        </p:nvCxnSpPr>
        <p:spPr>
          <a:xfrm>
            <a:off x="2129597"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54" name="Google Shape;1275;p70">
            <a:extLst>
              <a:ext uri="{FF2B5EF4-FFF2-40B4-BE49-F238E27FC236}">
                <a16:creationId xmlns:a16="http://schemas.microsoft.com/office/drawing/2014/main" id="{A7AF05CB-5EE3-2B94-4C46-2AC147FB08E2}"/>
              </a:ext>
            </a:extLst>
          </p:cNvPr>
          <p:cNvCxnSpPr>
            <a:cxnSpLocks/>
          </p:cNvCxnSpPr>
          <p:nvPr/>
        </p:nvCxnSpPr>
        <p:spPr>
          <a:xfrm flipV="1">
            <a:off x="4037705"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56" name="Google Shape;1275;p70">
            <a:extLst>
              <a:ext uri="{FF2B5EF4-FFF2-40B4-BE49-F238E27FC236}">
                <a16:creationId xmlns:a16="http://schemas.microsoft.com/office/drawing/2014/main" id="{E07F9C9F-5070-48C4-C7EE-6B15EC49ED09}"/>
              </a:ext>
            </a:extLst>
          </p:cNvPr>
          <p:cNvCxnSpPr>
            <a:cxnSpLocks/>
          </p:cNvCxnSpPr>
          <p:nvPr/>
        </p:nvCxnSpPr>
        <p:spPr>
          <a:xfrm flipV="1">
            <a:off x="4735674"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3" name="Google Shape;1275;p70">
            <a:extLst>
              <a:ext uri="{FF2B5EF4-FFF2-40B4-BE49-F238E27FC236}">
                <a16:creationId xmlns:a16="http://schemas.microsoft.com/office/drawing/2014/main" id="{82129CF5-E141-6D82-4968-5745A411603A}"/>
              </a:ext>
            </a:extLst>
          </p:cNvPr>
          <p:cNvCxnSpPr>
            <a:cxnSpLocks/>
          </p:cNvCxnSpPr>
          <p:nvPr/>
        </p:nvCxnSpPr>
        <p:spPr>
          <a:xfrm>
            <a:off x="5574007"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64" name="Google Shape;1275;p70">
            <a:extLst>
              <a:ext uri="{FF2B5EF4-FFF2-40B4-BE49-F238E27FC236}">
                <a16:creationId xmlns:a16="http://schemas.microsoft.com/office/drawing/2014/main" id="{CF60432D-C814-0946-F1C7-03DB88557C92}"/>
              </a:ext>
            </a:extLst>
          </p:cNvPr>
          <p:cNvCxnSpPr>
            <a:cxnSpLocks/>
          </p:cNvCxnSpPr>
          <p:nvPr/>
        </p:nvCxnSpPr>
        <p:spPr>
          <a:xfrm flipV="1">
            <a:off x="7482115"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5" name="Google Shape;1275;p70">
            <a:extLst>
              <a:ext uri="{FF2B5EF4-FFF2-40B4-BE49-F238E27FC236}">
                <a16:creationId xmlns:a16="http://schemas.microsoft.com/office/drawing/2014/main" id="{3E5DAA52-3A20-2ADE-6691-48A18364B4C0}"/>
              </a:ext>
            </a:extLst>
          </p:cNvPr>
          <p:cNvCxnSpPr>
            <a:cxnSpLocks/>
          </p:cNvCxnSpPr>
          <p:nvPr/>
        </p:nvCxnSpPr>
        <p:spPr>
          <a:xfrm flipV="1">
            <a:off x="8180084"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6" name="Google Shape;1275;p70">
            <a:extLst>
              <a:ext uri="{FF2B5EF4-FFF2-40B4-BE49-F238E27FC236}">
                <a16:creationId xmlns:a16="http://schemas.microsoft.com/office/drawing/2014/main" id="{CAB9F7A8-CB52-8254-F77D-8597B340CF8F}"/>
              </a:ext>
            </a:extLst>
          </p:cNvPr>
          <p:cNvCxnSpPr>
            <a:cxnSpLocks/>
          </p:cNvCxnSpPr>
          <p:nvPr/>
        </p:nvCxnSpPr>
        <p:spPr>
          <a:xfrm>
            <a:off x="9053662"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67" name="Google Shape;1275;p70">
            <a:extLst>
              <a:ext uri="{FF2B5EF4-FFF2-40B4-BE49-F238E27FC236}">
                <a16:creationId xmlns:a16="http://schemas.microsoft.com/office/drawing/2014/main" id="{13FD4238-900A-2323-524D-673C7238EFD6}"/>
              </a:ext>
            </a:extLst>
          </p:cNvPr>
          <p:cNvCxnSpPr>
            <a:cxnSpLocks/>
          </p:cNvCxnSpPr>
          <p:nvPr/>
        </p:nvCxnSpPr>
        <p:spPr>
          <a:xfrm flipV="1">
            <a:off x="10961770"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8" name="Google Shape;1275;p70">
            <a:extLst>
              <a:ext uri="{FF2B5EF4-FFF2-40B4-BE49-F238E27FC236}">
                <a16:creationId xmlns:a16="http://schemas.microsoft.com/office/drawing/2014/main" id="{52E65BC2-DF4C-6DFA-E1D8-58F4A9F1CC51}"/>
              </a:ext>
            </a:extLst>
          </p:cNvPr>
          <p:cNvCxnSpPr>
            <a:cxnSpLocks/>
          </p:cNvCxnSpPr>
          <p:nvPr/>
        </p:nvCxnSpPr>
        <p:spPr>
          <a:xfrm flipV="1">
            <a:off x="11659739" y="3392618"/>
            <a:ext cx="0" cy="374632"/>
          </a:xfrm>
          <a:prstGeom prst="straightConnector1">
            <a:avLst/>
          </a:prstGeom>
          <a:noFill/>
          <a:ln w="12700" cap="flat" cmpd="sng">
            <a:solidFill>
              <a:schemeClr val="tx1"/>
            </a:solidFill>
            <a:prstDash val="solid"/>
            <a:miter lim="800000"/>
            <a:headEnd type="none" w="sm" len="sm"/>
            <a:tailEnd type="arrow" w="med" len="med"/>
          </a:ln>
        </p:spPr>
      </p:cxnSp>
      <p:pic>
        <p:nvPicPr>
          <p:cNvPr id="1187" name="Picture 1186">
            <a:extLst>
              <a:ext uri="{FF2B5EF4-FFF2-40B4-BE49-F238E27FC236}">
                <a16:creationId xmlns:a16="http://schemas.microsoft.com/office/drawing/2014/main" id="{A2C24998-FAF8-1A53-B936-0D29A89BB3A1}"/>
              </a:ext>
            </a:extLst>
          </p:cNvPr>
          <p:cNvPicPr>
            <a:picLocks noChangeAspect="1"/>
          </p:cNvPicPr>
          <p:nvPr/>
        </p:nvPicPr>
        <p:blipFill>
          <a:blip r:embed="rId9"/>
          <a:stretch>
            <a:fillRect/>
          </a:stretch>
        </p:blipFill>
        <p:spPr>
          <a:xfrm>
            <a:off x="1684824" y="737199"/>
            <a:ext cx="780289" cy="1354031"/>
          </a:xfrm>
          <a:prstGeom prst="rect">
            <a:avLst/>
          </a:prstGeom>
          <a:effectLst>
            <a:outerShdw blurRad="50800" dist="38100" dir="8100000" algn="tr" rotWithShape="0">
              <a:prstClr val="black">
                <a:alpha val="40000"/>
              </a:prstClr>
            </a:outerShdw>
          </a:effectLst>
        </p:spPr>
      </p:pic>
      <p:pic>
        <p:nvPicPr>
          <p:cNvPr id="1188" name="Picture 1187">
            <a:extLst>
              <a:ext uri="{FF2B5EF4-FFF2-40B4-BE49-F238E27FC236}">
                <a16:creationId xmlns:a16="http://schemas.microsoft.com/office/drawing/2014/main" id="{96549A8C-C1F4-58CE-377F-608A70E06C45}"/>
              </a:ext>
            </a:extLst>
          </p:cNvPr>
          <p:cNvPicPr>
            <a:picLocks noChangeAspect="1"/>
          </p:cNvPicPr>
          <p:nvPr/>
        </p:nvPicPr>
        <p:blipFill>
          <a:blip r:embed="rId9"/>
          <a:stretch>
            <a:fillRect/>
          </a:stretch>
        </p:blipFill>
        <p:spPr>
          <a:xfrm>
            <a:off x="5120665" y="1088985"/>
            <a:ext cx="506493" cy="878915"/>
          </a:xfrm>
          <a:prstGeom prst="rect">
            <a:avLst/>
          </a:prstGeom>
          <a:effectLst>
            <a:outerShdw blurRad="50800" dist="38100" dir="8100000" algn="tr" rotWithShape="0">
              <a:prstClr val="black">
                <a:alpha val="40000"/>
              </a:prstClr>
            </a:outerShdw>
          </a:effectLst>
        </p:spPr>
      </p:pic>
      <p:pic>
        <p:nvPicPr>
          <p:cNvPr id="1189" name="Picture 1188">
            <a:extLst>
              <a:ext uri="{FF2B5EF4-FFF2-40B4-BE49-F238E27FC236}">
                <a16:creationId xmlns:a16="http://schemas.microsoft.com/office/drawing/2014/main" id="{24BE120E-CC5E-9E78-783D-2601322C11B8}"/>
              </a:ext>
            </a:extLst>
          </p:cNvPr>
          <p:cNvPicPr>
            <a:picLocks noChangeAspect="1"/>
          </p:cNvPicPr>
          <p:nvPr/>
        </p:nvPicPr>
        <p:blipFill>
          <a:blip r:embed="rId9"/>
          <a:stretch>
            <a:fillRect/>
          </a:stretch>
        </p:blipFill>
        <p:spPr>
          <a:xfrm>
            <a:off x="8649256" y="1095746"/>
            <a:ext cx="506493" cy="878915"/>
          </a:xfrm>
          <a:prstGeom prst="rect">
            <a:avLst/>
          </a:prstGeom>
          <a:effectLst>
            <a:outerShdw blurRad="50800" dist="38100" dir="8100000" algn="tr" rotWithShape="0">
              <a:prstClr val="black">
                <a:alpha val="40000"/>
              </a:prstClr>
            </a:outerShdw>
          </a:effectLst>
        </p:spPr>
      </p:pic>
      <p:cxnSp>
        <p:nvCxnSpPr>
          <p:cNvPr id="1190" name="Elbow Connector 1189">
            <a:extLst>
              <a:ext uri="{FF2B5EF4-FFF2-40B4-BE49-F238E27FC236}">
                <a16:creationId xmlns:a16="http://schemas.microsoft.com/office/drawing/2014/main" id="{D00DC8DC-18D6-CD11-FAA0-1F7FCB4178CD}"/>
              </a:ext>
            </a:extLst>
          </p:cNvPr>
          <p:cNvCxnSpPr>
            <a:cxnSpLocks/>
            <a:stCxn id="1433" idx="2"/>
            <a:endCxn id="1215" idx="0"/>
          </p:cNvCxnSpPr>
          <p:nvPr/>
        </p:nvCxnSpPr>
        <p:spPr>
          <a:xfrm rot="16200000" flipH="1">
            <a:off x="7972639" y="1980659"/>
            <a:ext cx="228199" cy="1894935"/>
          </a:xfrm>
          <a:prstGeom prst="bentConnector3">
            <a:avLst>
              <a:gd name="adj1" fmla="val 50000"/>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01" name="TextBox 1200">
            <a:extLst>
              <a:ext uri="{FF2B5EF4-FFF2-40B4-BE49-F238E27FC236}">
                <a16:creationId xmlns:a16="http://schemas.microsoft.com/office/drawing/2014/main" id="{EE5A6D3F-9EFE-9CD8-3407-0C7CD39A8F04}"/>
              </a:ext>
            </a:extLst>
          </p:cNvPr>
          <p:cNvSpPr txBox="1"/>
          <p:nvPr/>
        </p:nvSpPr>
        <p:spPr>
          <a:xfrm rot="16200000">
            <a:off x="-175323" y="3508566"/>
            <a:ext cx="3124147" cy="215444"/>
          </a:xfrm>
          <a:prstGeom prst="rect">
            <a:avLst/>
          </a:prstGeom>
          <a:noFill/>
        </p:spPr>
        <p:txBody>
          <a:bodyPr wrap="square">
            <a:spAutoFit/>
          </a:bodyPr>
          <a:lstStyle/>
          <a:p>
            <a:pPr algn="ctr"/>
            <a:r>
              <a:rPr kumimoji="0" lang="en-US" sz="8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Full E2E Task Management Ecosystem for Portfolio with Jira</a:t>
            </a:r>
            <a:endParaRPr lang="en-US" noProof="0"/>
          </a:p>
        </p:txBody>
      </p:sp>
      <p:grpSp>
        <p:nvGrpSpPr>
          <p:cNvPr id="1233" name="Group 1232">
            <a:extLst>
              <a:ext uri="{FF2B5EF4-FFF2-40B4-BE49-F238E27FC236}">
                <a16:creationId xmlns:a16="http://schemas.microsoft.com/office/drawing/2014/main" id="{BDE22CEF-FAF7-61DE-9A33-7DA808B69DB4}"/>
              </a:ext>
            </a:extLst>
          </p:cNvPr>
          <p:cNvGrpSpPr/>
          <p:nvPr/>
        </p:nvGrpSpPr>
        <p:grpSpPr>
          <a:xfrm>
            <a:off x="7640240" y="374754"/>
            <a:ext cx="2693607" cy="307885"/>
            <a:chOff x="7640240" y="374754"/>
            <a:chExt cx="2693607" cy="307885"/>
          </a:xfrm>
        </p:grpSpPr>
        <p:cxnSp>
          <p:nvCxnSpPr>
            <p:cNvPr id="1332" name="Google Shape;1275;p70">
              <a:extLst>
                <a:ext uri="{FF2B5EF4-FFF2-40B4-BE49-F238E27FC236}">
                  <a16:creationId xmlns:a16="http://schemas.microsoft.com/office/drawing/2014/main" id="{EF8B6351-DC32-7598-EBEA-81D5F563E3CD}"/>
                </a:ext>
              </a:extLst>
            </p:cNvPr>
            <p:cNvCxnSpPr>
              <a:cxnSpLocks/>
            </p:cNvCxnSpPr>
            <p:nvPr/>
          </p:nvCxnSpPr>
          <p:spPr>
            <a:xfrm>
              <a:off x="7894830" y="374754"/>
              <a:ext cx="436007" cy="0"/>
            </a:xfrm>
            <a:prstGeom prst="straightConnector1">
              <a:avLst/>
            </a:prstGeom>
            <a:noFill/>
            <a:ln w="12700" cap="flat" cmpd="sng">
              <a:solidFill>
                <a:srgbClr val="A5A5A5"/>
              </a:solidFill>
              <a:prstDash val="solid"/>
              <a:miter lim="800000"/>
              <a:headEnd type="oval" w="sm" len="sm"/>
              <a:tailEnd type="arrow" w="med" len="med"/>
            </a:ln>
          </p:spPr>
        </p:cxnSp>
        <p:cxnSp>
          <p:nvCxnSpPr>
            <p:cNvPr id="29" name="Google Shape;1298;p70">
              <a:extLst>
                <a:ext uri="{FF2B5EF4-FFF2-40B4-BE49-F238E27FC236}">
                  <a16:creationId xmlns:a16="http://schemas.microsoft.com/office/drawing/2014/main" id="{B8F5E642-1A28-A7EC-BBC3-16F1386BCD5F}"/>
                </a:ext>
              </a:extLst>
            </p:cNvPr>
            <p:cNvCxnSpPr>
              <a:cxnSpLocks/>
            </p:cNvCxnSpPr>
            <p:nvPr/>
          </p:nvCxnSpPr>
          <p:spPr>
            <a:xfrm>
              <a:off x="8795219" y="374754"/>
              <a:ext cx="420627" cy="0"/>
            </a:xfrm>
            <a:prstGeom prst="straightConnector1">
              <a:avLst/>
            </a:prstGeom>
            <a:noFill/>
            <a:ln w="12700" cap="flat" cmpd="sng">
              <a:solidFill>
                <a:schemeClr val="tx1"/>
              </a:solidFill>
              <a:prstDash val="dash"/>
              <a:miter lim="800000"/>
              <a:headEnd type="oval" w="sm" len="sm"/>
              <a:tailEnd type="arrow" w="med" len="med"/>
            </a:ln>
          </p:spPr>
        </p:cxnSp>
        <p:cxnSp>
          <p:nvCxnSpPr>
            <p:cNvPr id="31" name="Google Shape;1276;p70">
              <a:extLst>
                <a:ext uri="{FF2B5EF4-FFF2-40B4-BE49-F238E27FC236}">
                  <a16:creationId xmlns:a16="http://schemas.microsoft.com/office/drawing/2014/main" id="{D4DDACB6-E5E7-287D-90D0-66FB3F49B05D}"/>
                </a:ext>
              </a:extLst>
            </p:cNvPr>
            <p:cNvCxnSpPr>
              <a:cxnSpLocks/>
            </p:cNvCxnSpPr>
            <p:nvPr/>
          </p:nvCxnSpPr>
          <p:spPr>
            <a:xfrm>
              <a:off x="9811929" y="377217"/>
              <a:ext cx="418164" cy="0"/>
            </a:xfrm>
            <a:prstGeom prst="straightConnector1">
              <a:avLst/>
            </a:prstGeom>
            <a:ln w="12700">
              <a:solidFill>
                <a:srgbClr val="00A543"/>
              </a:solidFill>
              <a:prstDash val="dash"/>
              <a:headEnd type="oval" w="sm" len="sm"/>
              <a:tailEnd type="arrow" w="med" len="med"/>
            </a:ln>
          </p:spPr>
          <p:style>
            <a:lnRef idx="1">
              <a:schemeClr val="accent1"/>
            </a:lnRef>
            <a:fillRef idx="0">
              <a:schemeClr val="accent1"/>
            </a:fillRef>
            <a:effectRef idx="0">
              <a:schemeClr val="accent1"/>
            </a:effectRef>
            <a:fontRef idx="minor">
              <a:schemeClr val="tx1"/>
            </a:fontRef>
          </p:style>
        </p:cxnSp>
        <p:sp>
          <p:nvSpPr>
            <p:cNvPr id="1207" name="TextBox 1206">
              <a:extLst>
                <a:ext uri="{FF2B5EF4-FFF2-40B4-BE49-F238E27FC236}">
                  <a16:creationId xmlns:a16="http://schemas.microsoft.com/office/drawing/2014/main" id="{F628BB4E-70D4-8B49-1C68-2F47045A3A4A}"/>
                </a:ext>
              </a:extLst>
            </p:cNvPr>
            <p:cNvSpPr txBox="1"/>
            <p:nvPr/>
          </p:nvSpPr>
          <p:spPr>
            <a:xfrm>
              <a:off x="7640240" y="405640"/>
              <a:ext cx="867223" cy="276999"/>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Standard Work Flow</a:t>
              </a:r>
              <a:endParaRPr lang="en-US" sz="1400" noProof="0"/>
            </a:p>
          </p:txBody>
        </p:sp>
        <p:sp>
          <p:nvSpPr>
            <p:cNvPr id="1209" name="TextBox 1208">
              <a:extLst>
                <a:ext uri="{FF2B5EF4-FFF2-40B4-BE49-F238E27FC236}">
                  <a16:creationId xmlns:a16="http://schemas.microsoft.com/office/drawing/2014/main" id="{39F73529-3195-1DBE-7680-0345CD3ECC80}"/>
                </a:ext>
              </a:extLst>
            </p:cNvPr>
            <p:cNvSpPr txBox="1"/>
            <p:nvPr/>
          </p:nvSpPr>
          <p:spPr>
            <a:xfrm>
              <a:off x="8584607" y="414211"/>
              <a:ext cx="830821" cy="184666"/>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New Demand Flow</a:t>
              </a:r>
              <a:endParaRPr lang="en-US" sz="1400" noProof="0"/>
            </a:p>
          </p:txBody>
        </p:sp>
        <p:sp>
          <p:nvSpPr>
            <p:cNvPr id="1211" name="TextBox 1210">
              <a:extLst>
                <a:ext uri="{FF2B5EF4-FFF2-40B4-BE49-F238E27FC236}">
                  <a16:creationId xmlns:a16="http://schemas.microsoft.com/office/drawing/2014/main" id="{561B1FD7-F4A5-BA1A-FF33-E2CCA236345F}"/>
                </a:ext>
              </a:extLst>
            </p:cNvPr>
            <p:cNvSpPr txBox="1"/>
            <p:nvPr/>
          </p:nvSpPr>
          <p:spPr>
            <a:xfrm>
              <a:off x="9678781" y="408261"/>
              <a:ext cx="655066" cy="184666"/>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Change Flow</a:t>
              </a:r>
              <a:endParaRPr lang="en-US" sz="1400" noProof="0"/>
            </a:p>
          </p:txBody>
        </p:sp>
      </p:grpSp>
      <p:grpSp>
        <p:nvGrpSpPr>
          <p:cNvPr id="5" name="Group 4">
            <a:extLst>
              <a:ext uri="{FF2B5EF4-FFF2-40B4-BE49-F238E27FC236}">
                <a16:creationId xmlns:a16="http://schemas.microsoft.com/office/drawing/2014/main" id="{D7EE680F-8990-B8BE-1F61-C26AE4092DF0}"/>
              </a:ext>
            </a:extLst>
          </p:cNvPr>
          <p:cNvGrpSpPr/>
          <p:nvPr/>
        </p:nvGrpSpPr>
        <p:grpSpPr>
          <a:xfrm>
            <a:off x="6012564" y="6087073"/>
            <a:ext cx="5818208" cy="592945"/>
            <a:chOff x="3571059" y="344473"/>
            <a:chExt cx="7577050" cy="772190"/>
          </a:xfrm>
        </p:grpSpPr>
        <p:pic>
          <p:nvPicPr>
            <p:cNvPr id="6" name="Picture 5">
              <a:extLst>
                <a:ext uri="{FF2B5EF4-FFF2-40B4-BE49-F238E27FC236}">
                  <a16:creationId xmlns:a16="http://schemas.microsoft.com/office/drawing/2014/main" id="{A880B992-C43E-24F3-986E-74184768ADD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2796" y="382342"/>
              <a:ext cx="433719" cy="433719"/>
            </a:xfrm>
            <a:prstGeom prst="rect">
              <a:avLst/>
            </a:prstGeom>
          </p:spPr>
        </p:pic>
        <p:pic>
          <p:nvPicPr>
            <p:cNvPr id="8" name="Picture 7">
              <a:extLst>
                <a:ext uri="{FF2B5EF4-FFF2-40B4-BE49-F238E27FC236}">
                  <a16:creationId xmlns:a16="http://schemas.microsoft.com/office/drawing/2014/main" id="{5C58A8B9-CAAA-FE8C-80AA-554D812278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5063" y="382342"/>
              <a:ext cx="433719" cy="433719"/>
            </a:xfrm>
            <a:prstGeom prst="rect">
              <a:avLst/>
            </a:prstGeom>
          </p:spPr>
        </p:pic>
        <p:pic>
          <p:nvPicPr>
            <p:cNvPr id="11" name="Picture 10">
              <a:extLst>
                <a:ext uri="{FF2B5EF4-FFF2-40B4-BE49-F238E27FC236}">
                  <a16:creationId xmlns:a16="http://schemas.microsoft.com/office/drawing/2014/main" id="{188C1367-F060-B71B-840C-1AC8B4A7F4F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46125" y="344473"/>
              <a:ext cx="433719" cy="433719"/>
            </a:xfrm>
            <a:prstGeom prst="rect">
              <a:avLst/>
            </a:prstGeom>
          </p:spPr>
        </p:pic>
        <p:pic>
          <p:nvPicPr>
            <p:cNvPr id="14" name="Picture 13">
              <a:extLst>
                <a:ext uri="{FF2B5EF4-FFF2-40B4-BE49-F238E27FC236}">
                  <a16:creationId xmlns:a16="http://schemas.microsoft.com/office/drawing/2014/main" id="{C3647C31-5AF8-F382-DE0A-08025EB3337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41336" y="382786"/>
              <a:ext cx="433719" cy="433719"/>
            </a:xfrm>
            <a:prstGeom prst="rect">
              <a:avLst/>
            </a:prstGeom>
          </p:spPr>
        </p:pic>
        <p:pic>
          <p:nvPicPr>
            <p:cNvPr id="15" name="Picture 14">
              <a:extLst>
                <a:ext uri="{FF2B5EF4-FFF2-40B4-BE49-F238E27FC236}">
                  <a16:creationId xmlns:a16="http://schemas.microsoft.com/office/drawing/2014/main" id="{0EC3E4D4-AE42-E947-23C3-1C069E2FC75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51245" y="395489"/>
              <a:ext cx="433719" cy="433719"/>
            </a:xfrm>
            <a:prstGeom prst="rect">
              <a:avLst/>
            </a:prstGeom>
          </p:spPr>
        </p:pic>
        <p:pic>
          <p:nvPicPr>
            <p:cNvPr id="16" name="Imagen 7">
              <a:extLst>
                <a:ext uri="{FF2B5EF4-FFF2-40B4-BE49-F238E27FC236}">
                  <a16:creationId xmlns:a16="http://schemas.microsoft.com/office/drawing/2014/main" id="{04FE34E1-BE91-3899-12BB-3AC3D8CB79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650954" y="363014"/>
              <a:ext cx="433719" cy="433719"/>
            </a:xfrm>
            <a:prstGeom prst="rect">
              <a:avLst/>
            </a:prstGeom>
          </p:spPr>
        </p:pic>
        <p:pic>
          <p:nvPicPr>
            <p:cNvPr id="18" name="Imagen 12">
              <a:extLst>
                <a:ext uri="{FF2B5EF4-FFF2-40B4-BE49-F238E27FC236}">
                  <a16:creationId xmlns:a16="http://schemas.microsoft.com/office/drawing/2014/main" id="{4BCD7028-FE75-9DEC-F9E1-7DEF1C2975A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660387" y="382786"/>
              <a:ext cx="433719" cy="433719"/>
            </a:xfrm>
            <a:prstGeom prst="rect">
              <a:avLst/>
            </a:prstGeom>
          </p:spPr>
        </p:pic>
        <p:sp>
          <p:nvSpPr>
            <p:cNvPr id="24" name="Rectángulo 322">
              <a:extLst>
                <a:ext uri="{FF2B5EF4-FFF2-40B4-BE49-F238E27FC236}">
                  <a16:creationId xmlns:a16="http://schemas.microsoft.com/office/drawing/2014/main" id="{7081B75A-9A1F-0890-786A-D88A37AA9338}"/>
                </a:ext>
              </a:extLst>
            </p:cNvPr>
            <p:cNvSpPr/>
            <p:nvPr/>
          </p:nvSpPr>
          <p:spPr>
            <a:xfrm>
              <a:off x="4388575" y="830876"/>
              <a:ext cx="858591" cy="260531"/>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MANAGEMENT</a:t>
              </a:r>
            </a:p>
          </p:txBody>
        </p:sp>
        <p:sp>
          <p:nvSpPr>
            <p:cNvPr id="26" name="Rectángulo 322">
              <a:extLst>
                <a:ext uri="{FF2B5EF4-FFF2-40B4-BE49-F238E27FC236}">
                  <a16:creationId xmlns:a16="http://schemas.microsoft.com/office/drawing/2014/main" id="{85A9CB49-3C2F-A9C2-B60E-605F2A6B2FAD}"/>
                </a:ext>
              </a:extLst>
            </p:cNvPr>
            <p:cNvSpPr/>
            <p:nvPr/>
          </p:nvSpPr>
          <p:spPr>
            <a:xfrm>
              <a:off x="8596694" y="779400"/>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TECHNICAL LEADER</a:t>
              </a:r>
            </a:p>
          </p:txBody>
        </p:sp>
        <p:sp>
          <p:nvSpPr>
            <p:cNvPr id="28" name="Rectángulo 322">
              <a:extLst>
                <a:ext uri="{FF2B5EF4-FFF2-40B4-BE49-F238E27FC236}">
                  <a16:creationId xmlns:a16="http://schemas.microsoft.com/office/drawing/2014/main" id="{74EDC511-24FB-67C2-B445-8EB03B672B4B}"/>
                </a:ext>
              </a:extLst>
            </p:cNvPr>
            <p:cNvSpPr/>
            <p:nvPr/>
          </p:nvSpPr>
          <p:spPr>
            <a:xfrm>
              <a:off x="9584282" y="796734"/>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PROJECT MANAGER</a:t>
              </a:r>
            </a:p>
          </p:txBody>
        </p:sp>
        <p:grpSp>
          <p:nvGrpSpPr>
            <p:cNvPr id="30" name="Group 29">
              <a:extLst>
                <a:ext uri="{FF2B5EF4-FFF2-40B4-BE49-F238E27FC236}">
                  <a16:creationId xmlns:a16="http://schemas.microsoft.com/office/drawing/2014/main" id="{E688F8B1-715D-97DE-F506-FE8E4F47AAA7}"/>
                </a:ext>
              </a:extLst>
            </p:cNvPr>
            <p:cNvGrpSpPr/>
            <p:nvPr/>
          </p:nvGrpSpPr>
          <p:grpSpPr>
            <a:xfrm>
              <a:off x="6589854" y="363987"/>
              <a:ext cx="541982" cy="747244"/>
              <a:chOff x="9328519" y="683140"/>
              <a:chExt cx="685589" cy="945238"/>
            </a:xfrm>
          </p:grpSpPr>
          <p:pic>
            <p:nvPicPr>
              <p:cNvPr id="50" name="Picture 49">
                <a:extLst>
                  <a:ext uri="{FF2B5EF4-FFF2-40B4-BE49-F238E27FC236}">
                    <a16:creationId xmlns:a16="http://schemas.microsoft.com/office/drawing/2014/main" id="{98EB0DAE-EBB8-158C-46AB-574E0707BCB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96832" y="683140"/>
                <a:ext cx="548640" cy="548640"/>
              </a:xfrm>
              <a:prstGeom prst="rect">
                <a:avLst/>
              </a:prstGeom>
            </p:spPr>
          </p:pic>
          <p:sp>
            <p:nvSpPr>
              <p:cNvPr id="51" name="Rectángulo 322">
                <a:extLst>
                  <a:ext uri="{FF2B5EF4-FFF2-40B4-BE49-F238E27FC236}">
                    <a16:creationId xmlns:a16="http://schemas.microsoft.com/office/drawing/2014/main" id="{A1458466-350A-8630-A56A-59D98F8BBB69}"/>
                  </a:ext>
                </a:extLst>
              </p:cNvPr>
              <p:cNvSpPr/>
              <p:nvPr/>
            </p:nvSpPr>
            <p:spPr>
              <a:xfrm>
                <a:off x="9328519" y="1239051"/>
                <a:ext cx="685589" cy="38932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PRODUCT MANAGER</a:t>
                </a:r>
              </a:p>
            </p:txBody>
          </p:sp>
        </p:grpSp>
        <p:sp>
          <p:nvSpPr>
            <p:cNvPr id="34" name="Rectángulo 322">
              <a:extLst>
                <a:ext uri="{FF2B5EF4-FFF2-40B4-BE49-F238E27FC236}">
                  <a16:creationId xmlns:a16="http://schemas.microsoft.com/office/drawing/2014/main" id="{C2E421DC-7385-8D35-C480-E51CF56F1B30}"/>
                </a:ext>
              </a:extLst>
            </p:cNvPr>
            <p:cNvSpPr/>
            <p:nvPr/>
          </p:nvSpPr>
          <p:spPr>
            <a:xfrm>
              <a:off x="7587332" y="804227"/>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KAIZEN EXPERT</a:t>
              </a:r>
            </a:p>
          </p:txBody>
        </p:sp>
        <p:sp>
          <p:nvSpPr>
            <p:cNvPr id="36" name="Rectángulo 322">
              <a:extLst>
                <a:ext uri="{FF2B5EF4-FFF2-40B4-BE49-F238E27FC236}">
                  <a16:creationId xmlns:a16="http://schemas.microsoft.com/office/drawing/2014/main" id="{39E1A7CE-CA77-8A7E-F85D-6627958D2E7B}"/>
                </a:ext>
              </a:extLst>
            </p:cNvPr>
            <p:cNvSpPr/>
            <p:nvPr/>
          </p:nvSpPr>
          <p:spPr>
            <a:xfrm>
              <a:off x="10606127" y="796733"/>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CHANGE MANAGER</a:t>
              </a:r>
            </a:p>
          </p:txBody>
        </p:sp>
        <p:sp>
          <p:nvSpPr>
            <p:cNvPr id="44" name="Rectángulo 322">
              <a:extLst>
                <a:ext uri="{FF2B5EF4-FFF2-40B4-BE49-F238E27FC236}">
                  <a16:creationId xmlns:a16="http://schemas.microsoft.com/office/drawing/2014/main" id="{4725C916-BDF2-2FD0-1AB1-104305243EF2}"/>
                </a:ext>
              </a:extLst>
            </p:cNvPr>
            <p:cNvSpPr/>
            <p:nvPr/>
          </p:nvSpPr>
          <p:spPr>
            <a:xfrm>
              <a:off x="5592121" y="796194"/>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PROGRAM MANAGER</a:t>
              </a:r>
            </a:p>
          </p:txBody>
        </p:sp>
        <p:sp>
          <p:nvSpPr>
            <p:cNvPr id="49" name="Rectángulo 322">
              <a:extLst>
                <a:ext uri="{FF2B5EF4-FFF2-40B4-BE49-F238E27FC236}">
                  <a16:creationId xmlns:a16="http://schemas.microsoft.com/office/drawing/2014/main" id="{BB0734F6-EE40-206C-11E8-82E47DF34347}"/>
                </a:ext>
              </a:extLst>
            </p:cNvPr>
            <p:cNvSpPr/>
            <p:nvPr/>
          </p:nvSpPr>
          <p:spPr>
            <a:xfrm>
              <a:off x="3571059" y="808886"/>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PORTFOLIO MANAGER</a:t>
              </a:r>
            </a:p>
          </p:txBody>
        </p:sp>
      </p:grpSp>
      <p:sp>
        <p:nvSpPr>
          <p:cNvPr id="1344" name="Google Shape;1232;p70">
            <a:extLst>
              <a:ext uri="{FF2B5EF4-FFF2-40B4-BE49-F238E27FC236}">
                <a16:creationId xmlns:a16="http://schemas.microsoft.com/office/drawing/2014/main" id="{555EA3E2-38D8-DE3D-A1EA-3304943FAE0B}"/>
              </a:ext>
            </a:extLst>
          </p:cNvPr>
          <p:cNvSpPr/>
          <p:nvPr/>
        </p:nvSpPr>
        <p:spPr>
          <a:xfrm>
            <a:off x="6536481" y="3037695"/>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361" name="Google Shape;1231;p70">
            <a:extLst>
              <a:ext uri="{FF2B5EF4-FFF2-40B4-BE49-F238E27FC236}">
                <a16:creationId xmlns:a16="http://schemas.microsoft.com/office/drawing/2014/main" id="{76DCD51F-52F0-1937-2469-DFDD98B1350E}"/>
              </a:ext>
            </a:extLst>
          </p:cNvPr>
          <p:cNvSpPr/>
          <p:nvPr/>
        </p:nvSpPr>
        <p:spPr>
          <a:xfrm>
            <a:off x="5954352" y="3037695"/>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365" name="Google Shape;1232;p70">
            <a:extLst>
              <a:ext uri="{FF2B5EF4-FFF2-40B4-BE49-F238E27FC236}">
                <a16:creationId xmlns:a16="http://schemas.microsoft.com/office/drawing/2014/main" id="{6D4BF4A8-BF12-CCD2-5784-D0A755FC1EE2}"/>
              </a:ext>
            </a:extLst>
          </p:cNvPr>
          <p:cNvSpPr/>
          <p:nvPr/>
        </p:nvSpPr>
        <p:spPr>
          <a:xfrm>
            <a:off x="10006313"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368" name="Google Shape;1231;p70">
            <a:extLst>
              <a:ext uri="{FF2B5EF4-FFF2-40B4-BE49-F238E27FC236}">
                <a16:creationId xmlns:a16="http://schemas.microsoft.com/office/drawing/2014/main" id="{F113C2DF-E1C7-312C-8D1B-5E34BA1E76BC}"/>
              </a:ext>
            </a:extLst>
          </p:cNvPr>
          <p:cNvSpPr/>
          <p:nvPr/>
        </p:nvSpPr>
        <p:spPr>
          <a:xfrm>
            <a:off x="9424184"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cxnSp>
        <p:nvCxnSpPr>
          <p:cNvPr id="1369" name="Elbow Connector 1368">
            <a:extLst>
              <a:ext uri="{FF2B5EF4-FFF2-40B4-BE49-F238E27FC236}">
                <a16:creationId xmlns:a16="http://schemas.microsoft.com/office/drawing/2014/main" id="{B672A28D-1972-5F25-9473-0F75FE567B83}"/>
              </a:ext>
            </a:extLst>
          </p:cNvPr>
          <p:cNvCxnSpPr>
            <a:cxnSpLocks/>
            <a:stCxn id="1433" idx="2"/>
            <a:endCxn id="1198" idx="0"/>
          </p:cNvCxnSpPr>
          <p:nvPr/>
        </p:nvCxnSpPr>
        <p:spPr>
          <a:xfrm rot="5400000">
            <a:off x="6238229" y="2140172"/>
            <a:ext cx="227186" cy="1574898"/>
          </a:xfrm>
          <a:prstGeom prst="bentConnector3">
            <a:avLst>
              <a:gd name="adj1" fmla="val 5000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10" name="Elbow Connector 1409">
            <a:extLst>
              <a:ext uri="{FF2B5EF4-FFF2-40B4-BE49-F238E27FC236}">
                <a16:creationId xmlns:a16="http://schemas.microsoft.com/office/drawing/2014/main" id="{8FA36B27-F5F1-F65C-4FD3-5F6AF4C5ADE2}"/>
              </a:ext>
            </a:extLst>
          </p:cNvPr>
          <p:cNvCxnSpPr>
            <a:cxnSpLocks/>
            <a:stCxn id="1256" idx="0"/>
            <a:endCxn id="1270" idx="0"/>
          </p:cNvCxnSpPr>
          <p:nvPr/>
        </p:nvCxnSpPr>
        <p:spPr>
          <a:xfrm rot="5400000" flipH="1" flipV="1">
            <a:off x="2460115" y="2117850"/>
            <a:ext cx="808" cy="767459"/>
          </a:xfrm>
          <a:prstGeom prst="bentConnector3">
            <a:avLst>
              <a:gd name="adj1" fmla="val 23362129"/>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14" name="Google Shape;1275;p70">
            <a:extLst>
              <a:ext uri="{FF2B5EF4-FFF2-40B4-BE49-F238E27FC236}">
                <a16:creationId xmlns:a16="http://schemas.microsoft.com/office/drawing/2014/main" id="{65967F71-286C-84BE-8A0A-07258F99463A}"/>
              </a:ext>
            </a:extLst>
          </p:cNvPr>
          <p:cNvCxnSpPr>
            <a:cxnSpLocks/>
          </p:cNvCxnSpPr>
          <p:nvPr/>
        </p:nvCxnSpPr>
        <p:spPr>
          <a:xfrm>
            <a:off x="2136230" y="2663175"/>
            <a:ext cx="0" cy="387885"/>
          </a:xfrm>
          <a:prstGeom prst="straightConnector1">
            <a:avLst/>
          </a:prstGeom>
          <a:noFill/>
          <a:ln w="12700" cap="flat" cmpd="sng">
            <a:solidFill>
              <a:schemeClr val="tx1"/>
            </a:solidFill>
            <a:prstDash val="solid"/>
            <a:miter lim="800000"/>
            <a:headEnd type="none" w="sm" len="sm"/>
            <a:tailEnd type="arrow" w="med" len="med"/>
          </a:ln>
        </p:spPr>
      </p:cxnSp>
      <p:sp>
        <p:nvSpPr>
          <p:cNvPr id="1256" name="Google Shape;1256;p70"/>
          <p:cNvSpPr/>
          <p:nvPr/>
        </p:nvSpPr>
        <p:spPr>
          <a:xfrm>
            <a:off x="1716801" y="2501983"/>
            <a:ext cx="719977" cy="324000"/>
          </a:xfrm>
          <a:prstGeom prst="rect">
            <a:avLst/>
          </a:prstGeom>
          <a:solidFill>
            <a:srgbClr val="FF9D1A"/>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BRP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Event</a:t>
            </a:r>
            <a:r>
              <a:rPr kumimoji="0" lang="en-US" sz="900" b="1" i="0" u="none" strike="noStrike" kern="0" cap="none" spc="0" normalizeH="0" baseline="30000" noProof="0">
                <a:ln>
                  <a:noFill/>
                </a:ln>
                <a:solidFill>
                  <a:srgbClr val="000000"/>
                </a:solidFill>
                <a:effectLst/>
                <a:uLnTx/>
                <a:uFillTx/>
                <a:latin typeface="Arial" panose="020B0604020202020204" pitchFamily="34" charset="0"/>
                <a:ea typeface="Century Gothic"/>
                <a:cs typeface="Century Gothic"/>
                <a:sym typeface="Century Gothic"/>
              </a:rPr>
              <a:t> /3</a:t>
            </a: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  </a:t>
            </a:r>
            <a:endParaRPr kumimoji="0" lang="en-US" sz="1050" b="1"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cxnSp>
        <p:nvCxnSpPr>
          <p:cNvPr id="1419" name="Google Shape;1275;p70">
            <a:extLst>
              <a:ext uri="{FF2B5EF4-FFF2-40B4-BE49-F238E27FC236}">
                <a16:creationId xmlns:a16="http://schemas.microsoft.com/office/drawing/2014/main" id="{6C41C272-422D-9DE9-E6DD-43412A1E4766}"/>
              </a:ext>
            </a:extLst>
          </p:cNvPr>
          <p:cNvCxnSpPr>
            <a:cxnSpLocks/>
          </p:cNvCxnSpPr>
          <p:nvPr/>
        </p:nvCxnSpPr>
        <p:spPr>
          <a:xfrm flipV="1">
            <a:off x="3805232" y="2831883"/>
            <a:ext cx="0" cy="1296860"/>
          </a:xfrm>
          <a:prstGeom prst="straightConnector1">
            <a:avLst/>
          </a:prstGeom>
          <a:noFill/>
          <a:ln w="12700" cap="flat" cmpd="sng">
            <a:solidFill>
              <a:schemeClr val="tx1"/>
            </a:solidFill>
            <a:prstDash val="solid"/>
            <a:miter lim="800000"/>
            <a:headEnd type="none" w="sm" len="sm"/>
            <a:tailEnd type="arrow" w="med" len="med"/>
          </a:ln>
        </p:spPr>
      </p:cxnSp>
      <p:sp>
        <p:nvSpPr>
          <p:cNvPr id="1227" name="Google Shape;1227;p70"/>
          <p:cNvSpPr/>
          <p:nvPr/>
        </p:nvSpPr>
        <p:spPr>
          <a:xfrm>
            <a:off x="3683834" y="3043878"/>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cxnSp>
        <p:nvCxnSpPr>
          <p:cNvPr id="1421" name="Google Shape;1275;p70">
            <a:extLst>
              <a:ext uri="{FF2B5EF4-FFF2-40B4-BE49-F238E27FC236}">
                <a16:creationId xmlns:a16="http://schemas.microsoft.com/office/drawing/2014/main" id="{5E048B58-5E9B-C659-D5E8-AE364673AEC2}"/>
              </a:ext>
            </a:extLst>
          </p:cNvPr>
          <p:cNvCxnSpPr>
            <a:cxnSpLocks/>
          </p:cNvCxnSpPr>
          <p:nvPr/>
        </p:nvCxnSpPr>
        <p:spPr>
          <a:xfrm flipV="1">
            <a:off x="6432127" y="3058893"/>
            <a:ext cx="0" cy="1296860"/>
          </a:xfrm>
          <a:prstGeom prst="straightConnector1">
            <a:avLst/>
          </a:prstGeom>
          <a:noFill/>
          <a:ln w="12700" cap="flat" cmpd="sng">
            <a:solidFill>
              <a:schemeClr val="tx1"/>
            </a:solidFill>
            <a:prstDash val="solid"/>
            <a:miter lim="800000"/>
            <a:headEnd type="none" w="sm" len="sm"/>
            <a:tailEnd type="arrow" w="med" len="med"/>
          </a:ln>
        </p:spPr>
      </p:cxnSp>
      <p:cxnSp>
        <p:nvCxnSpPr>
          <p:cNvPr id="1422" name="Google Shape;1275;p70">
            <a:extLst>
              <a:ext uri="{FF2B5EF4-FFF2-40B4-BE49-F238E27FC236}">
                <a16:creationId xmlns:a16="http://schemas.microsoft.com/office/drawing/2014/main" id="{79C162F0-8490-709C-8D3E-F349E7BE6B32}"/>
              </a:ext>
            </a:extLst>
          </p:cNvPr>
          <p:cNvCxnSpPr>
            <a:cxnSpLocks/>
          </p:cNvCxnSpPr>
          <p:nvPr/>
        </p:nvCxnSpPr>
        <p:spPr>
          <a:xfrm flipV="1">
            <a:off x="7912011" y="3232711"/>
            <a:ext cx="0" cy="1296860"/>
          </a:xfrm>
          <a:prstGeom prst="straightConnector1">
            <a:avLst/>
          </a:prstGeom>
          <a:noFill/>
          <a:ln w="12700" cap="flat" cmpd="sng">
            <a:solidFill>
              <a:schemeClr val="tx1"/>
            </a:solidFill>
            <a:prstDash val="solid"/>
            <a:miter lim="800000"/>
            <a:headEnd type="none" w="sm" len="sm"/>
            <a:tailEnd type="arrow" w="med" len="med"/>
          </a:ln>
        </p:spPr>
      </p:cxnSp>
      <p:cxnSp>
        <p:nvCxnSpPr>
          <p:cNvPr id="1423" name="Elbow Connector 1422">
            <a:extLst>
              <a:ext uri="{FF2B5EF4-FFF2-40B4-BE49-F238E27FC236}">
                <a16:creationId xmlns:a16="http://schemas.microsoft.com/office/drawing/2014/main" id="{C3C9ADE4-C6BE-E516-8A1B-B5392F2DFACC}"/>
              </a:ext>
            </a:extLst>
          </p:cNvPr>
          <p:cNvCxnSpPr>
            <a:cxnSpLocks/>
          </p:cNvCxnSpPr>
          <p:nvPr/>
        </p:nvCxnSpPr>
        <p:spPr>
          <a:xfrm flipH="1" flipV="1">
            <a:off x="8404702" y="2600863"/>
            <a:ext cx="29308" cy="2292642"/>
          </a:xfrm>
          <a:prstGeom prst="bentConnector3">
            <a:avLst>
              <a:gd name="adj1" fmla="val -602102"/>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27" name="Elbow Connector 1426">
            <a:extLst>
              <a:ext uri="{FF2B5EF4-FFF2-40B4-BE49-F238E27FC236}">
                <a16:creationId xmlns:a16="http://schemas.microsoft.com/office/drawing/2014/main" id="{65C62839-2DFD-B8A7-F033-6494769482A0}"/>
              </a:ext>
            </a:extLst>
          </p:cNvPr>
          <p:cNvCxnSpPr>
            <a:cxnSpLocks/>
          </p:cNvCxnSpPr>
          <p:nvPr/>
        </p:nvCxnSpPr>
        <p:spPr>
          <a:xfrm flipH="1" flipV="1">
            <a:off x="4935233" y="2714497"/>
            <a:ext cx="29308" cy="2599732"/>
          </a:xfrm>
          <a:prstGeom prst="bentConnector3">
            <a:avLst>
              <a:gd name="adj1" fmla="val -382145"/>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28" name="Elbow Connector 1427">
            <a:extLst>
              <a:ext uri="{FF2B5EF4-FFF2-40B4-BE49-F238E27FC236}">
                <a16:creationId xmlns:a16="http://schemas.microsoft.com/office/drawing/2014/main" id="{95C0D01D-C482-3DD3-3440-4A5568D93B3A}"/>
              </a:ext>
            </a:extLst>
          </p:cNvPr>
          <p:cNvCxnSpPr>
            <a:cxnSpLocks/>
          </p:cNvCxnSpPr>
          <p:nvPr/>
        </p:nvCxnSpPr>
        <p:spPr>
          <a:xfrm flipH="1" flipV="1">
            <a:off x="4935233" y="2657680"/>
            <a:ext cx="29308" cy="2292642"/>
          </a:xfrm>
          <a:prstGeom prst="bentConnector3">
            <a:avLst>
              <a:gd name="adj1" fmla="val -602102"/>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45" name="Google Shape;1275;p70">
            <a:extLst>
              <a:ext uri="{FF2B5EF4-FFF2-40B4-BE49-F238E27FC236}">
                <a16:creationId xmlns:a16="http://schemas.microsoft.com/office/drawing/2014/main" id="{1436EE9F-46CA-8023-0FEF-9E3E5EBE337C}"/>
              </a:ext>
            </a:extLst>
          </p:cNvPr>
          <p:cNvCxnSpPr>
            <a:cxnSpLocks/>
          </p:cNvCxnSpPr>
          <p:nvPr/>
        </p:nvCxnSpPr>
        <p:spPr>
          <a:xfrm flipV="1">
            <a:off x="11402352" y="2041747"/>
            <a:ext cx="0" cy="459427"/>
          </a:xfrm>
          <a:prstGeom prst="straightConnector1">
            <a:avLst/>
          </a:prstGeom>
          <a:noFill/>
          <a:ln w="12700" cap="flat" cmpd="sng">
            <a:solidFill>
              <a:schemeClr val="tx1"/>
            </a:solidFill>
            <a:prstDash val="solid"/>
            <a:miter lim="800000"/>
            <a:headEnd type="none" w="sm" len="sm"/>
            <a:tailEnd type="arrow" w="med" len="med"/>
          </a:ln>
        </p:spPr>
      </p:cxnSp>
      <p:grpSp>
        <p:nvGrpSpPr>
          <p:cNvPr id="1471" name="Group 1470">
            <a:extLst>
              <a:ext uri="{FF2B5EF4-FFF2-40B4-BE49-F238E27FC236}">
                <a16:creationId xmlns:a16="http://schemas.microsoft.com/office/drawing/2014/main" id="{1B400A63-3279-8018-4385-328F540F9259}"/>
              </a:ext>
            </a:extLst>
          </p:cNvPr>
          <p:cNvGrpSpPr/>
          <p:nvPr/>
        </p:nvGrpSpPr>
        <p:grpSpPr>
          <a:xfrm>
            <a:off x="5176199" y="4803234"/>
            <a:ext cx="3262481" cy="899772"/>
            <a:chOff x="1738471" y="4809444"/>
            <a:chExt cx="3262481" cy="899772"/>
          </a:xfrm>
        </p:grpSpPr>
        <p:sp>
          <p:nvSpPr>
            <p:cNvPr id="1152" name="Google Shape;1223;p70">
              <a:extLst>
                <a:ext uri="{FF2B5EF4-FFF2-40B4-BE49-F238E27FC236}">
                  <a16:creationId xmlns:a16="http://schemas.microsoft.com/office/drawing/2014/main" id="{A7543232-46AE-F304-4963-36A39FE4F7F8}"/>
                </a:ext>
              </a:extLst>
            </p:cNvPr>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3" name="Google Shape;1223;p70">
              <a:extLst>
                <a:ext uri="{FF2B5EF4-FFF2-40B4-BE49-F238E27FC236}">
                  <a16:creationId xmlns:a16="http://schemas.microsoft.com/office/drawing/2014/main" id="{E33C2A30-1526-A8E3-0CC1-398CCCBA53C0}"/>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4" name="Google Shape;1223;p70">
              <a:extLst>
                <a:ext uri="{FF2B5EF4-FFF2-40B4-BE49-F238E27FC236}">
                  <a16:creationId xmlns:a16="http://schemas.microsoft.com/office/drawing/2014/main" id="{9120C80E-98FF-2ABF-E671-6EED61E32DE4}"/>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5" name="Google Shape;1223;p70">
              <a:extLst>
                <a:ext uri="{FF2B5EF4-FFF2-40B4-BE49-F238E27FC236}">
                  <a16:creationId xmlns:a16="http://schemas.microsoft.com/office/drawing/2014/main" id="{DBABC79B-50DF-3C8F-0214-D01EC19BA0A4}"/>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6" name="Google Shape;1223;p70">
              <a:extLst>
                <a:ext uri="{FF2B5EF4-FFF2-40B4-BE49-F238E27FC236}">
                  <a16:creationId xmlns:a16="http://schemas.microsoft.com/office/drawing/2014/main" id="{1563F0A9-0E84-E0E4-5609-D6630FD74B94}"/>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7" name="Google Shape;1223;p70">
              <a:extLst>
                <a:ext uri="{FF2B5EF4-FFF2-40B4-BE49-F238E27FC236}">
                  <a16:creationId xmlns:a16="http://schemas.microsoft.com/office/drawing/2014/main" id="{96A0F04D-1150-4FFC-3655-9C8C87E5CFCE}"/>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8" name="Google Shape;1223;p70">
              <a:extLst>
                <a:ext uri="{FF2B5EF4-FFF2-40B4-BE49-F238E27FC236}">
                  <a16:creationId xmlns:a16="http://schemas.microsoft.com/office/drawing/2014/main" id="{02B9E312-1416-49D7-B863-F06B1A153D91}"/>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9" name="Google Shape;1223;p70">
              <a:extLst>
                <a:ext uri="{FF2B5EF4-FFF2-40B4-BE49-F238E27FC236}">
                  <a16:creationId xmlns:a16="http://schemas.microsoft.com/office/drawing/2014/main" id="{0ED81E26-A9AC-BC4A-0199-C5AD0CAE8A14}"/>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0" name="Google Shape;1223;p70">
              <a:extLst>
                <a:ext uri="{FF2B5EF4-FFF2-40B4-BE49-F238E27FC236}">
                  <a16:creationId xmlns:a16="http://schemas.microsoft.com/office/drawing/2014/main" id="{1504A098-E4AB-3360-C1F9-5C800BCF0219}"/>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1" name="Google Shape;1223;p70">
              <a:extLst>
                <a:ext uri="{FF2B5EF4-FFF2-40B4-BE49-F238E27FC236}">
                  <a16:creationId xmlns:a16="http://schemas.microsoft.com/office/drawing/2014/main" id="{F8F820B1-D41B-5963-3F99-08100887E113}"/>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2" name="Google Shape;1223;p70">
              <a:extLst>
                <a:ext uri="{FF2B5EF4-FFF2-40B4-BE49-F238E27FC236}">
                  <a16:creationId xmlns:a16="http://schemas.microsoft.com/office/drawing/2014/main" id="{B07430A7-C985-C229-2217-41436960A449}"/>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3" name="Google Shape;1223;p70">
              <a:extLst>
                <a:ext uri="{FF2B5EF4-FFF2-40B4-BE49-F238E27FC236}">
                  <a16:creationId xmlns:a16="http://schemas.microsoft.com/office/drawing/2014/main" id="{750C9767-9821-029D-78B7-5920D6C226ED}"/>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grpSp>
        <p:nvGrpSpPr>
          <p:cNvPr id="1164" name="Group 1163">
            <a:extLst>
              <a:ext uri="{FF2B5EF4-FFF2-40B4-BE49-F238E27FC236}">
                <a16:creationId xmlns:a16="http://schemas.microsoft.com/office/drawing/2014/main" id="{C637FE41-8034-0746-915A-AE6436087DFE}"/>
              </a:ext>
            </a:extLst>
          </p:cNvPr>
          <p:cNvGrpSpPr/>
          <p:nvPr/>
        </p:nvGrpSpPr>
        <p:grpSpPr>
          <a:xfrm>
            <a:off x="8663036" y="4807526"/>
            <a:ext cx="3262481" cy="899772"/>
            <a:chOff x="1738471" y="4809444"/>
            <a:chExt cx="3262481" cy="899772"/>
          </a:xfrm>
        </p:grpSpPr>
        <p:sp>
          <p:nvSpPr>
            <p:cNvPr id="1165" name="Google Shape;1223;p70">
              <a:extLst>
                <a:ext uri="{FF2B5EF4-FFF2-40B4-BE49-F238E27FC236}">
                  <a16:creationId xmlns:a16="http://schemas.microsoft.com/office/drawing/2014/main" id="{D71E9BC9-A1E5-12DD-42DB-22C84FF37CF4}"/>
                </a:ext>
              </a:extLst>
            </p:cNvPr>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6" name="Google Shape;1223;p70">
              <a:extLst>
                <a:ext uri="{FF2B5EF4-FFF2-40B4-BE49-F238E27FC236}">
                  <a16:creationId xmlns:a16="http://schemas.microsoft.com/office/drawing/2014/main" id="{CFDB7FB6-9CE6-DA8A-0140-D2B9D908F96F}"/>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7" name="Google Shape;1223;p70">
              <a:extLst>
                <a:ext uri="{FF2B5EF4-FFF2-40B4-BE49-F238E27FC236}">
                  <a16:creationId xmlns:a16="http://schemas.microsoft.com/office/drawing/2014/main" id="{8D635AAB-FD03-D7F3-4A55-F19FE0E49B6E}"/>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8" name="Google Shape;1223;p70">
              <a:extLst>
                <a:ext uri="{FF2B5EF4-FFF2-40B4-BE49-F238E27FC236}">
                  <a16:creationId xmlns:a16="http://schemas.microsoft.com/office/drawing/2014/main" id="{8B94389C-02C3-72CC-EE1B-F0B928B7FCAA}"/>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9" name="Google Shape;1223;p70">
              <a:extLst>
                <a:ext uri="{FF2B5EF4-FFF2-40B4-BE49-F238E27FC236}">
                  <a16:creationId xmlns:a16="http://schemas.microsoft.com/office/drawing/2014/main" id="{4F367E49-71F1-D4F3-FEE8-DA7EC01B98AD}"/>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0" name="Google Shape;1223;p70">
              <a:extLst>
                <a:ext uri="{FF2B5EF4-FFF2-40B4-BE49-F238E27FC236}">
                  <a16:creationId xmlns:a16="http://schemas.microsoft.com/office/drawing/2014/main" id="{62B3F2AA-0ABE-1C2C-9314-70FA6A775264}"/>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1" name="Google Shape;1223;p70">
              <a:extLst>
                <a:ext uri="{FF2B5EF4-FFF2-40B4-BE49-F238E27FC236}">
                  <a16:creationId xmlns:a16="http://schemas.microsoft.com/office/drawing/2014/main" id="{3685EAD9-557E-BE76-00C4-848AD40FB8D1}"/>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2" name="Google Shape;1223;p70">
              <a:extLst>
                <a:ext uri="{FF2B5EF4-FFF2-40B4-BE49-F238E27FC236}">
                  <a16:creationId xmlns:a16="http://schemas.microsoft.com/office/drawing/2014/main" id="{6BC23B76-752E-7CDD-B901-42A466675611}"/>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3" name="Google Shape;1223;p70">
              <a:extLst>
                <a:ext uri="{FF2B5EF4-FFF2-40B4-BE49-F238E27FC236}">
                  <a16:creationId xmlns:a16="http://schemas.microsoft.com/office/drawing/2014/main" id="{3BA90E4E-5C14-71B2-EB9F-B175BB157019}"/>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4" name="Google Shape;1223;p70">
              <a:extLst>
                <a:ext uri="{FF2B5EF4-FFF2-40B4-BE49-F238E27FC236}">
                  <a16:creationId xmlns:a16="http://schemas.microsoft.com/office/drawing/2014/main" id="{26C5A02D-E471-A95D-5AEE-D5697766F1C0}"/>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5" name="Google Shape;1223;p70">
              <a:extLst>
                <a:ext uri="{FF2B5EF4-FFF2-40B4-BE49-F238E27FC236}">
                  <a16:creationId xmlns:a16="http://schemas.microsoft.com/office/drawing/2014/main" id="{01560E67-F1B0-530B-A7B1-A7F961534EDB}"/>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6" name="Google Shape;1223;p70">
              <a:extLst>
                <a:ext uri="{FF2B5EF4-FFF2-40B4-BE49-F238E27FC236}">
                  <a16:creationId xmlns:a16="http://schemas.microsoft.com/office/drawing/2014/main" id="{8FDD4F9B-BCFE-271B-2334-AD9D1AEB0A43}"/>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sp>
        <p:nvSpPr>
          <p:cNvPr id="1345" name="Text Placeholder 25">
            <a:extLst>
              <a:ext uri="{FF2B5EF4-FFF2-40B4-BE49-F238E27FC236}">
                <a16:creationId xmlns:a16="http://schemas.microsoft.com/office/drawing/2014/main" id="{314AFAA5-326D-28E3-CF43-16B6E7A99CFC}"/>
              </a:ext>
            </a:extLst>
          </p:cNvPr>
          <p:cNvSpPr>
            <a:spLocks noGrp="1"/>
          </p:cNvSpPr>
          <p:nvPr>
            <p:ph type="body" sz="quarter" idx="20"/>
          </p:nvPr>
        </p:nvSpPr>
        <p:spPr>
          <a:xfrm>
            <a:off x="198664" y="151554"/>
            <a:ext cx="8308800" cy="223200"/>
          </a:xfrm>
        </p:spPr>
        <p:txBody>
          <a:bodyPr>
            <a:normAutofit fontScale="92500" lnSpcReduction="10000"/>
          </a:bodyPr>
          <a:lstStyle/>
          <a:p>
            <a:r>
              <a:rPr lang="en-US" noProof="0"/>
              <a:t>Governance Model</a:t>
            </a:r>
          </a:p>
        </p:txBody>
      </p:sp>
    </p:spTree>
    <p:extLst>
      <p:ext uri="{BB962C8B-B14F-4D97-AF65-F5344CB8AC3E}">
        <p14:creationId xmlns:p14="http://schemas.microsoft.com/office/powerpoint/2010/main" val="30671922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BBFA46-F4C2-8076-24D1-BEC82EC4EE69}"/>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5F924509-3AF2-ECD0-EA67-FE1523907EB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CAPACITY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99A1EB09-5044-9585-BD1C-3B36C97D5641}"/>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4659BC65-7B2C-6ED2-3D7D-B13AE64EB0F9}"/>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s-ES" sz="1100">
                <a:latin typeface="Arial" panose="020B0604020202020204" pitchFamily="34" charset="0"/>
                <a:cs typeface="Arial" panose="020B0604020202020204" pitchFamily="34" charset="0"/>
              </a:rPr>
              <a:t>R</a:t>
            </a:r>
            <a:r>
              <a:rPr lang="en-US" sz="1100" err="1">
                <a:latin typeface="Arial" panose="020B0604020202020204" pitchFamily="34" charset="0"/>
                <a:cs typeface="Arial" panose="020B0604020202020204" pitchFamily="34" charset="0"/>
              </a:rPr>
              <a:t>eview</a:t>
            </a:r>
            <a:r>
              <a:rPr lang="en-US" sz="1100">
                <a:latin typeface="Arial" panose="020B0604020202020204" pitchFamily="34" charset="0"/>
                <a:cs typeface="Arial" panose="020B0604020202020204" pitchFamily="34" charset="0"/>
              </a:rPr>
              <a:t> Epic, user stories and task to have a project plan that will be split between sprints. It will allow to align the stakeholders and future developments.</a:t>
            </a:r>
          </a:p>
        </p:txBody>
      </p:sp>
      <p:sp>
        <p:nvSpPr>
          <p:cNvPr id="19" name="Rectángulo 18">
            <a:extLst>
              <a:ext uri="{FF2B5EF4-FFF2-40B4-BE49-F238E27FC236}">
                <a16:creationId xmlns:a16="http://schemas.microsoft.com/office/drawing/2014/main" id="{ED508849-8A7D-70CD-EFAC-B77F1D74D6D1}"/>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A8709BD8-4752-2DC0-749C-72E4740E8F40}"/>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100">
                <a:solidFill>
                  <a:srgbClr val="2C3E50"/>
                </a:solidFill>
                <a:latin typeface="Arial"/>
              </a:rPr>
              <a:t>Portfolio manager</a:t>
            </a:r>
          </a:p>
          <a:p>
            <a:pPr marL="171450" indent="-171450">
              <a:lnSpc>
                <a:spcPct val="135000"/>
              </a:lnSpc>
              <a:buFont typeface="Noto Sans" panose="020B0502040504020204" pitchFamily="34" charset="0"/>
              <a:buChar char="‒"/>
            </a:pPr>
            <a:r>
              <a:rPr lang="en-US" sz="1100">
                <a:solidFill>
                  <a:srgbClr val="2C3E50"/>
                </a:solidFill>
                <a:latin typeface="Arial"/>
              </a:rPr>
              <a:t>Product Manager</a:t>
            </a:r>
          </a:p>
          <a:p>
            <a:pPr marL="171450" indent="-171450">
              <a:lnSpc>
                <a:spcPct val="135000"/>
              </a:lnSpc>
              <a:buFont typeface="Noto Sans" panose="020B0502040504020204" pitchFamily="34" charset="0"/>
              <a:buChar char="‒"/>
            </a:pPr>
            <a:r>
              <a:rPr lang="en-US" sz="1100">
                <a:solidFill>
                  <a:srgbClr val="2C3E50"/>
                </a:solidFill>
                <a:latin typeface="Arial"/>
              </a:rPr>
              <a:t>IT program delivery</a:t>
            </a:r>
          </a:p>
          <a:p>
            <a:pPr marL="171450" indent="-171450">
              <a:lnSpc>
                <a:spcPct val="135000"/>
              </a:lnSpc>
              <a:buFont typeface="Noto Sans" panose="020B0502040504020204" pitchFamily="34" charset="0"/>
              <a:buChar char="‒"/>
            </a:pPr>
            <a:r>
              <a:rPr lang="en-US" sz="1100">
                <a:solidFill>
                  <a:srgbClr val="2C3E50"/>
                </a:solidFill>
                <a:latin typeface="Arial"/>
              </a:rPr>
              <a:t>Architect reviewer</a:t>
            </a:r>
          </a:p>
        </p:txBody>
      </p:sp>
      <p:sp>
        <p:nvSpPr>
          <p:cNvPr id="33" name="Rounded Rectangle 5">
            <a:extLst>
              <a:ext uri="{FF2B5EF4-FFF2-40B4-BE49-F238E27FC236}">
                <a16:creationId xmlns:a16="http://schemas.microsoft.com/office/drawing/2014/main" id="{658878E6-E213-6EEF-76D5-FD4FA251B91E}"/>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lumMod val="50000"/>
                  </a:schemeClr>
                </a:solidFill>
                <a:latin typeface="Arial" panose="020B0604020202020204" pitchFamily="34" charset="0"/>
                <a:cs typeface="Arial" panose="020B0604020202020204" pitchFamily="34" charset="0"/>
              </a:rPr>
              <a:t>PROCESS: </a:t>
            </a:r>
            <a:r>
              <a:rPr lang="en-US" sz="1200">
                <a:solidFill>
                  <a:schemeClr val="tx1">
                    <a:lumMod val="50000"/>
                  </a:schemeClr>
                </a:solidFill>
              </a:rPr>
              <a:t>Backlog review</a:t>
            </a:r>
            <a:endParaRPr lang="en-US" sz="1200" b="1">
              <a:solidFill>
                <a:schemeClr val="tx1">
                  <a:lumMod val="50000"/>
                </a:schemeClr>
              </a:solidFill>
              <a:latin typeface="Arial" panose="020B0604020202020204" pitchFamily="34" charset="0"/>
              <a:cs typeface="Arial" panose="020B0604020202020204" pitchFamily="34" charset="0"/>
            </a:endParaRPr>
          </a:p>
          <a:p>
            <a:r>
              <a:rPr lang="en-US" sz="1100" b="1" u="sng">
                <a:solidFill>
                  <a:schemeClr val="tx1"/>
                </a:solidFill>
                <a:latin typeface="Arial" panose="020B0604020202020204" pitchFamily="34" charset="0"/>
                <a:cs typeface="Arial" panose="020B0604020202020204" pitchFamily="34" charset="0"/>
              </a:rPr>
              <a:t>Activities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Internal business review meeting (per team):</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Product Manager reviews and updates epics, user stories, and tasks to ensure alignment with development planning. During this session, epics are broken down into smaller, actionable items that can be clearly understood by all involved teams (business, IT, etc.). Definition of Ready (</a:t>
            </a:r>
            <a:r>
              <a:rPr lang="en-US" altLang="en-US" sz="1100" err="1">
                <a:solidFill>
                  <a:schemeClr val="tx1"/>
                </a:solidFill>
                <a:latin typeface="Arial" panose="020B0604020202020204" pitchFamily="34" charset="0"/>
              </a:rPr>
              <a:t>DoR</a:t>
            </a:r>
            <a:r>
              <a:rPr lang="en-US" altLang="en-US" sz="1100">
                <a:solidFill>
                  <a:schemeClr val="tx1"/>
                </a:solidFill>
                <a:latin typeface="Arial" panose="020B0604020202020204" pitchFamily="34" charset="0"/>
              </a:rPr>
              <a:t>) and Definition of Done (DoD) criteria must be included for each user story.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Weekly business and IT alignment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Product Manager presents business needs to the IT Program delivery to assess technical feasibility and identify any constraints or dependencies.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Bi-weekly global alignment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Portfolio Manager coordinates with all stakeholders to prepare upcoming sprints. This includes prioritizing work items and ensuring that IT teams have sufficient information to proceed with solution design and provide development timelines.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Weekly technical prioritization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IT program delivery reviews and prioritizes technical tasks evaluating them to define timelines for inclusion in the project plan. This information is then shared in the subsequent bi-weekly global alignment meeting. Tasks have to be approved by </a:t>
            </a:r>
            <a:r>
              <a:rPr lang="en-US" sz="1100">
                <a:solidFill>
                  <a:srgbClr val="2C3E50"/>
                </a:solidFill>
              </a:rPr>
              <a:t>Architect reviewer.</a:t>
            </a:r>
            <a:endParaRPr lang="en-US" altLang="en-US" sz="1100">
              <a:solidFill>
                <a:schemeClr val="tx1"/>
              </a:solidFill>
              <a:latin typeface="Arial" panose="020B0604020202020204" pitchFamily="34" charset="0"/>
            </a:endParaRPr>
          </a:p>
          <a:p>
            <a:endParaRPr lang="en-US" sz="1100" u="sng">
              <a:solidFill>
                <a:schemeClr val="tx1"/>
              </a:solidFill>
              <a:latin typeface="Arial" panose="020B0604020202020204" pitchFamily="34" charset="0"/>
              <a:cs typeface="Arial" panose="020B0604020202020204" pitchFamily="34" charset="0"/>
            </a:endParaRPr>
          </a:p>
          <a:p>
            <a:r>
              <a:rPr lang="en-US" sz="1100" b="1" u="sng">
                <a:solidFill>
                  <a:schemeClr val="tx1"/>
                </a:solidFill>
              </a:rPr>
              <a:t>Completion Criteria</a:t>
            </a:r>
          </a:p>
          <a:p>
            <a:pPr marL="171450" lvl="1" indent="-171450">
              <a:buFont typeface="Arial" panose="020B0604020202020204" pitchFamily="34" charset="0"/>
              <a:buChar char="•"/>
            </a:pPr>
            <a:r>
              <a:rPr lang="en-US" sz="1100">
                <a:solidFill>
                  <a:schemeClr val="tx1"/>
                </a:solidFill>
              </a:rPr>
              <a:t>Every user story must contain </a:t>
            </a:r>
            <a:r>
              <a:rPr lang="en-US" sz="1100" err="1">
                <a:solidFill>
                  <a:schemeClr val="tx1"/>
                </a:solidFill>
              </a:rPr>
              <a:t>DoR</a:t>
            </a:r>
            <a:r>
              <a:rPr lang="en-US" sz="1100">
                <a:solidFill>
                  <a:schemeClr val="tx1"/>
                </a:solidFill>
              </a:rPr>
              <a:t> and DoD before to be included in the backlog </a:t>
            </a:r>
          </a:p>
          <a:p>
            <a:pPr marL="171450" lvl="1" indent="-171450">
              <a:buFont typeface="Arial" panose="020B0604020202020204" pitchFamily="34" charset="0"/>
              <a:buChar char="•"/>
            </a:pPr>
            <a:r>
              <a:rPr lang="en-US" sz="1100">
                <a:solidFill>
                  <a:schemeClr val="tx1"/>
                </a:solidFill>
              </a:rPr>
              <a:t>Business and IT approvals</a:t>
            </a:r>
          </a:p>
          <a:p>
            <a:pPr marL="628650" lvl="1" indent="-171450">
              <a:buFont typeface="Arial" panose="020B0604020202020204" pitchFamily="34" charset="0"/>
              <a:buChar char="•"/>
            </a:pPr>
            <a:endParaRPr lang="en-US" sz="1100">
              <a:solidFill>
                <a:schemeClr val="tx1"/>
              </a:solidFill>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4B919858-B021-9887-B286-635B73FBBE73}"/>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630880E7-E3CC-FAA4-3094-FEF529977A71}"/>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342900" indent="-342900">
              <a:buAutoNum type="arabicPeriod"/>
            </a:pPr>
            <a:r>
              <a:rPr lang="en-US" sz="1100" b="1">
                <a:solidFill>
                  <a:schemeClr val="tx1"/>
                </a:solidFill>
                <a:latin typeface="Arial" panose="020B0604020202020204" pitchFamily="34" charset="0"/>
                <a:cs typeface="Arial" panose="020B0604020202020204" pitchFamily="34" charset="0"/>
              </a:rPr>
              <a:t>Capabilities included in this steps: </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Work breakdown (epics, stories, tasks)Sprint / iteration management</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Definition of Ready (or equivalent readiness practices)</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Definition of Done (or completion criteria)</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Dependency management (intra- and inter-team)</a:t>
            </a:r>
          </a:p>
          <a:p>
            <a:endParaRPr lang="en-US" sz="1100">
              <a:solidFill>
                <a:schemeClr val="tx1"/>
              </a:solidFill>
              <a:latin typeface="Arial" panose="020B0604020202020204" pitchFamily="34" charset="0"/>
              <a:cs typeface="Arial" panose="020B0604020202020204" pitchFamily="34" charset="0"/>
            </a:endParaRPr>
          </a:p>
          <a:p>
            <a:r>
              <a:rPr lang="en-US" sz="1100" b="1">
                <a:solidFill>
                  <a:schemeClr val="tx1"/>
                </a:solidFill>
                <a:latin typeface="Arial" panose="020B0604020202020204" pitchFamily="34" charset="0"/>
                <a:cs typeface="Arial" panose="020B0604020202020204" pitchFamily="34" charset="0"/>
              </a:rPr>
              <a:t>2.      Artifacts</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Product Backlog</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Project Backlog and Project plan</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Sprints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Definition of delivery standards and guidelines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Coordination mechanisms across teams or domains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Alignment with business during execution</a:t>
            </a:r>
          </a:p>
          <a:p>
            <a:pPr marL="228600" indent="-228600">
              <a:buAutoNum type="arabicPeriod"/>
            </a:pPr>
            <a:endParaRPr lang="en-US" sz="1200">
              <a:solidFill>
                <a:schemeClr val="tx1"/>
              </a:solidFill>
              <a:highlight>
                <a:srgbClr val="FFFF00"/>
              </a:highlight>
            </a:endParaRPr>
          </a:p>
          <a:p>
            <a:pPr marL="171450" indent="-17145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7251607B-134D-11C0-96D6-3B854E6A5994}"/>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35518E7A-FD93-A399-F8E3-F52260433FDE}"/>
              </a:ext>
            </a:extLst>
          </p:cNvPr>
          <p:cNvSpPr/>
          <p:nvPr/>
        </p:nvSpPr>
        <p:spPr>
          <a:xfrm>
            <a:off x="6271477" y="558427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719FB19-5E7E-2E70-F817-60479BA81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01" y="5924147"/>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0C9CC600-E205-17EA-D350-30752EF71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6505" y="5727677"/>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0172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3CC19B-7A05-E4A5-71BE-13F2D5C9B2E7}"/>
            </a:ext>
          </a:extLst>
        </p:cNvPr>
        <p:cNvGrpSpPr/>
        <p:nvPr/>
      </p:nvGrpSpPr>
      <p:grpSpPr>
        <a:xfrm>
          <a:off x="0" y="0"/>
          <a:ext cx="0" cy="0"/>
          <a:chOff x="0" y="0"/>
          <a:chExt cx="0" cy="0"/>
        </a:xfrm>
      </p:grpSpPr>
      <p:cxnSp>
        <p:nvCxnSpPr>
          <p:cNvPr id="172" name="Elbow Connector 21">
            <a:extLst>
              <a:ext uri="{FF2B5EF4-FFF2-40B4-BE49-F238E27FC236}">
                <a16:creationId xmlns:a16="http://schemas.microsoft.com/office/drawing/2014/main" id="{6A923B6B-1498-6FF1-882A-53FB7F749D11}"/>
              </a:ext>
            </a:extLst>
          </p:cNvPr>
          <p:cNvCxnSpPr>
            <a:cxnSpLocks/>
          </p:cNvCxnSpPr>
          <p:nvPr/>
        </p:nvCxnSpPr>
        <p:spPr>
          <a:xfrm>
            <a:off x="6536297" y="2161896"/>
            <a:ext cx="1188000" cy="1224000"/>
          </a:xfrm>
          <a:prstGeom prst="bentConnector3">
            <a:avLst>
              <a:gd name="adj1" fmla="val 64539"/>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73" name="Elbow Connector 30">
            <a:extLst>
              <a:ext uri="{FF2B5EF4-FFF2-40B4-BE49-F238E27FC236}">
                <a16:creationId xmlns:a16="http://schemas.microsoft.com/office/drawing/2014/main" id="{147F1A37-A7D1-F257-072F-F6E0261C879C}"/>
              </a:ext>
            </a:extLst>
          </p:cNvPr>
          <p:cNvCxnSpPr>
            <a:cxnSpLocks/>
          </p:cNvCxnSpPr>
          <p:nvPr/>
        </p:nvCxnSpPr>
        <p:spPr>
          <a:xfrm flipV="1">
            <a:off x="6637129" y="3380681"/>
            <a:ext cx="1080000" cy="864000"/>
          </a:xfrm>
          <a:prstGeom prst="bentConnector3">
            <a:avLst>
              <a:gd name="adj1" fmla="val 61738"/>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2" name="Rounded Rectangle 42">
            <a:extLst>
              <a:ext uri="{FF2B5EF4-FFF2-40B4-BE49-F238E27FC236}">
                <a16:creationId xmlns:a16="http://schemas.microsoft.com/office/drawing/2014/main" id="{28350E19-1059-276D-056F-4F2BAAC080E7}"/>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05686693-F59B-5203-C1DC-3BCEBE73A6D7}"/>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7" name="Rounded Rectangle 5">
            <a:extLst>
              <a:ext uri="{FF2B5EF4-FFF2-40B4-BE49-F238E27FC236}">
                <a16:creationId xmlns:a16="http://schemas.microsoft.com/office/drawing/2014/main" id="{603FB5F3-B461-7D2C-0125-7BE73C9ED00C}"/>
              </a:ext>
            </a:extLst>
          </p:cNvPr>
          <p:cNvSpPr/>
          <p:nvPr/>
        </p:nvSpPr>
        <p:spPr>
          <a:xfrm>
            <a:off x="469178" y="2439497"/>
            <a:ext cx="3738973" cy="2113379"/>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Continuous Backlog Prioritization</a:t>
            </a:r>
          </a:p>
          <a:p>
            <a:r>
              <a:rPr lang="en-US" sz="1100" b="1">
                <a:solidFill>
                  <a:schemeClr val="tx1"/>
                </a:solidFill>
              </a:rPr>
              <a:t>How to Execute</a:t>
            </a:r>
          </a:p>
          <a:p>
            <a:r>
              <a:rPr lang="en-US" sz="1100">
                <a:solidFill>
                  <a:schemeClr val="tx1"/>
                </a:solidFill>
              </a:rPr>
              <a:t>Review backlog daily/weekly </a:t>
            </a:r>
          </a:p>
          <a:p>
            <a:r>
              <a:rPr lang="en-US" sz="1100">
                <a:solidFill>
                  <a:schemeClr val="tx1"/>
                </a:solidFill>
              </a:rPr>
              <a:t>Reorder based on: </a:t>
            </a:r>
          </a:p>
          <a:p>
            <a:pPr marL="628650" lvl="1" indent="-171450">
              <a:buFont typeface="Arial" panose="020B0604020202020204" pitchFamily="34" charset="0"/>
              <a:buChar char="•"/>
            </a:pPr>
            <a:r>
              <a:rPr lang="en-US" sz="1100">
                <a:solidFill>
                  <a:schemeClr val="tx1"/>
                </a:solidFill>
              </a:rPr>
              <a:t>Value </a:t>
            </a:r>
          </a:p>
          <a:p>
            <a:pPr marL="628650" lvl="1" indent="-171450">
              <a:buFont typeface="Arial" panose="020B0604020202020204" pitchFamily="34" charset="0"/>
              <a:buChar char="•"/>
            </a:pPr>
            <a:r>
              <a:rPr lang="en-US" sz="1100">
                <a:solidFill>
                  <a:schemeClr val="tx1"/>
                </a:solidFill>
              </a:rPr>
              <a:t>Urgency </a:t>
            </a:r>
          </a:p>
          <a:p>
            <a:pPr marL="628650" lvl="1" indent="-171450">
              <a:buFont typeface="Arial" panose="020B0604020202020204" pitchFamily="34" charset="0"/>
              <a:buChar char="•"/>
            </a:pPr>
            <a:r>
              <a:rPr lang="en-US" sz="1100">
                <a:solidFill>
                  <a:schemeClr val="tx1"/>
                </a:solidFill>
              </a:rPr>
              <a:t>Risk </a:t>
            </a:r>
          </a:p>
          <a:p>
            <a:r>
              <a:rPr lang="en-US" sz="1100">
                <a:solidFill>
                  <a:schemeClr val="tx1"/>
                </a:solidFill>
              </a:rPr>
              <a:t>Ensure top items are ready to pull </a:t>
            </a:r>
          </a:p>
          <a:p>
            <a:r>
              <a:rPr lang="en-US" sz="1100" b="1">
                <a:solidFill>
                  <a:schemeClr val="tx1"/>
                </a:solidFill>
              </a:rPr>
              <a:t>Completion Criteria</a:t>
            </a:r>
          </a:p>
          <a:p>
            <a:pPr marL="171450" indent="-171450">
              <a:buFont typeface="Arial" panose="020B0604020202020204" pitchFamily="34" charset="0"/>
              <a:buChar char="•"/>
            </a:pPr>
            <a:r>
              <a:rPr lang="en-US" sz="1100">
                <a:solidFill>
                  <a:schemeClr val="tx1"/>
                </a:solidFill>
              </a:rPr>
              <a:t>Top 5–10 items always ready </a:t>
            </a:r>
          </a:p>
          <a:p>
            <a:pPr marL="171450" indent="-171450">
              <a:buFont typeface="Arial" panose="020B0604020202020204" pitchFamily="34" charset="0"/>
              <a:buChar char="•"/>
            </a:pPr>
            <a:r>
              <a:rPr lang="en-US" sz="1100">
                <a:solidFill>
                  <a:schemeClr val="tx1"/>
                </a:solidFill>
              </a:rPr>
              <a:t>Backlog is continuously ordered </a:t>
            </a:r>
          </a:p>
        </p:txBody>
      </p:sp>
      <p:sp>
        <p:nvSpPr>
          <p:cNvPr id="31" name="Rounded Rectangle 6">
            <a:extLst>
              <a:ext uri="{FF2B5EF4-FFF2-40B4-BE49-F238E27FC236}">
                <a16:creationId xmlns:a16="http://schemas.microsoft.com/office/drawing/2014/main" id="{0F9E107C-54A4-C84D-A5A0-21D20FF3CF1E}"/>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E2FFDC59-A452-F93C-A828-DF221091F61A}"/>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94E0182B-0B7B-0E47-C337-967AF09930B0}"/>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8962BDA8-AE66-2F99-3C82-1988529DE9E3}"/>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F8E950E0-A1B3-A139-A82B-A01C2C302C42}"/>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F5A1D7CE-F9E0-0242-9B58-64426B94A2E6}"/>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587DC8D2-0E21-AF24-249F-4C0BAECA4FF4}"/>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F472D3D8-28CE-0195-26F2-BBD574DBD66C}"/>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0942CD72-338D-44DA-2322-656E0632B60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5478804B-403D-78C8-2104-0CDA1B68E208}"/>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CE1A38A1-4461-5297-01B4-614CC47510A2}"/>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BF0C2D41-D04C-FC95-6228-3C1FA2740D66}"/>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80F27F12-82B9-25F7-DF61-614F7BBC8210}"/>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53CFD33E-E9AF-3835-FA7E-606144FA5341}"/>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6BD2FB31-7136-B2E0-21B4-2F2473814DF8}"/>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6EFC1C60-3F37-E4A2-5CDC-CB5DA5ABCFC6}"/>
              </a:ext>
            </a:extLst>
          </p:cNvPr>
          <p:cNvSpPr/>
          <p:nvPr/>
        </p:nvSpPr>
        <p:spPr>
          <a:xfrm>
            <a:off x="1686513" y="4678446"/>
            <a:ext cx="3121114" cy="17346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Prioritized Backlog</a:t>
            </a:r>
          </a:p>
          <a:p>
            <a:r>
              <a:rPr lang="en-US" sz="1100" b="1">
                <a:solidFill>
                  <a:schemeClr val="tx1"/>
                </a:solidFill>
              </a:rPr>
              <a:t>How to Maintain</a:t>
            </a:r>
          </a:p>
          <a:p>
            <a:pPr marL="171450" indent="-171450">
              <a:buFont typeface="Arial" panose="020B0604020202020204" pitchFamily="34" charset="0"/>
              <a:buChar char="•"/>
            </a:pPr>
            <a:r>
              <a:rPr lang="en-US" sz="1100">
                <a:solidFill>
                  <a:schemeClr val="tx1"/>
                </a:solidFill>
              </a:rPr>
              <a:t>Single queue in Jira </a:t>
            </a:r>
          </a:p>
          <a:p>
            <a:pPr marL="171450" indent="-171450">
              <a:buFont typeface="Arial" panose="020B0604020202020204" pitchFamily="34" charset="0"/>
              <a:buChar char="•"/>
            </a:pPr>
            <a:r>
              <a:rPr lang="en-US" sz="1100">
                <a:solidFill>
                  <a:schemeClr val="tx1"/>
                </a:solidFill>
              </a:rPr>
              <a:t>Sorted top → bottom by priority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Avoid multiple backlogs </a:t>
            </a:r>
          </a:p>
          <a:p>
            <a:pPr marL="628650" lvl="1" indent="-171450">
              <a:buFont typeface="Arial" panose="020B0604020202020204" pitchFamily="34" charset="0"/>
              <a:buChar char="•"/>
            </a:pPr>
            <a:r>
              <a:rPr lang="en-US" sz="1100">
                <a:solidFill>
                  <a:schemeClr val="tx1"/>
                </a:solidFill>
              </a:rPr>
              <a:t>Keep it short and actionable </a:t>
            </a:r>
          </a:p>
          <a:p>
            <a:pPr marL="628650" lvl="1" indent="-171450">
              <a:buFont typeface="Arial" panose="020B0604020202020204" pitchFamily="34" charset="0"/>
              <a:buChar char="•"/>
            </a:pPr>
            <a:endParaRPr lang="en-US" sz="1100">
              <a:solidFill>
                <a:schemeClr val="tx1"/>
              </a:solidFill>
            </a:endParaRPr>
          </a:p>
        </p:txBody>
      </p:sp>
      <p:sp>
        <p:nvSpPr>
          <p:cNvPr id="94" name="Arrow: Bent 93">
            <a:extLst>
              <a:ext uri="{FF2B5EF4-FFF2-40B4-BE49-F238E27FC236}">
                <a16:creationId xmlns:a16="http://schemas.microsoft.com/office/drawing/2014/main" id="{E01691EA-FE0F-0117-FAE0-2BECF3AC9FEE}"/>
              </a:ext>
            </a:extLst>
          </p:cNvPr>
          <p:cNvSpPr/>
          <p:nvPr/>
        </p:nvSpPr>
        <p:spPr>
          <a:xfrm flipV="1">
            <a:off x="812451" y="4555471"/>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3C7BA7D0-234C-19C3-F0A2-6C29516B7F53}"/>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C5E7F062-C2CA-4BEB-B632-EAA140C5CD84}"/>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Rounded Rectangle 5">
            <a:extLst>
              <a:ext uri="{FF2B5EF4-FFF2-40B4-BE49-F238E27FC236}">
                <a16:creationId xmlns:a16="http://schemas.microsoft.com/office/drawing/2014/main" id="{2CE896E9-EE88-2194-EF52-5EF89FB8FFC5}"/>
              </a:ext>
            </a:extLst>
          </p:cNvPr>
          <p:cNvSpPr/>
          <p:nvPr/>
        </p:nvSpPr>
        <p:spPr>
          <a:xfrm>
            <a:off x="8284768" y="860817"/>
            <a:ext cx="2736982" cy="856365"/>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Keep the work queue aligned with current business priorities so teams can pull the right work at the right time and maintain efficient, value-driven flow.</a:t>
            </a:r>
          </a:p>
        </p:txBody>
      </p:sp>
      <p:pic>
        <p:nvPicPr>
          <p:cNvPr id="12" name="Picture 11">
            <a:extLst>
              <a:ext uri="{FF2B5EF4-FFF2-40B4-BE49-F238E27FC236}">
                <a16:creationId xmlns:a16="http://schemas.microsoft.com/office/drawing/2014/main" id="{3D88D96C-2FE1-5231-57A3-DCF83B4C95E6}"/>
              </a:ext>
            </a:extLst>
          </p:cNvPr>
          <p:cNvPicPr>
            <a:picLocks noChangeAspect="1"/>
          </p:cNvPicPr>
          <p:nvPr/>
        </p:nvPicPr>
        <p:blipFill>
          <a:blip r:embed="rId2"/>
          <a:stretch>
            <a:fillRect/>
          </a:stretch>
        </p:blipFill>
        <p:spPr>
          <a:xfrm>
            <a:off x="5645282" y="4604681"/>
            <a:ext cx="2970030" cy="1748903"/>
          </a:xfrm>
          <a:prstGeom prst="rect">
            <a:avLst/>
          </a:prstGeom>
        </p:spPr>
      </p:pic>
      <p:sp>
        <p:nvSpPr>
          <p:cNvPr id="8" name="Rectangle 7">
            <a:extLst>
              <a:ext uri="{FF2B5EF4-FFF2-40B4-BE49-F238E27FC236}">
                <a16:creationId xmlns:a16="http://schemas.microsoft.com/office/drawing/2014/main" id="{6198BF6E-2851-D1EA-571C-AE9234EC968A}"/>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1" name="Rectangle 10">
            <a:extLst>
              <a:ext uri="{FF2B5EF4-FFF2-40B4-BE49-F238E27FC236}">
                <a16:creationId xmlns:a16="http://schemas.microsoft.com/office/drawing/2014/main" id="{15AC9254-F0CE-C9BF-6156-2FDAE1A499BC}"/>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8" name="Rectangle 17">
            <a:extLst>
              <a:ext uri="{FF2B5EF4-FFF2-40B4-BE49-F238E27FC236}">
                <a16:creationId xmlns:a16="http://schemas.microsoft.com/office/drawing/2014/main" id="{3B82A28C-4776-2AC5-DBD8-93DE57FF0050}"/>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9" name="Rectangle 18">
            <a:extLst>
              <a:ext uri="{FF2B5EF4-FFF2-40B4-BE49-F238E27FC236}">
                <a16:creationId xmlns:a16="http://schemas.microsoft.com/office/drawing/2014/main" id="{017B65B4-394A-C71D-559F-44C40DEA7B39}"/>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20" name="Rectangle 19">
            <a:extLst>
              <a:ext uri="{FF2B5EF4-FFF2-40B4-BE49-F238E27FC236}">
                <a16:creationId xmlns:a16="http://schemas.microsoft.com/office/drawing/2014/main" id="{97E23409-8FAB-203C-9C29-A5E2C28D665B}"/>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5A7B0474-ABC8-94C8-707C-8D8B5EA00C74}"/>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22" name="Rectangle 21">
            <a:extLst>
              <a:ext uri="{FF2B5EF4-FFF2-40B4-BE49-F238E27FC236}">
                <a16:creationId xmlns:a16="http://schemas.microsoft.com/office/drawing/2014/main" id="{6A51F9EC-3491-F5EF-FE0F-B090CCA1714B}"/>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23" name="Rectangle 22">
            <a:extLst>
              <a:ext uri="{FF2B5EF4-FFF2-40B4-BE49-F238E27FC236}">
                <a16:creationId xmlns:a16="http://schemas.microsoft.com/office/drawing/2014/main" id="{6FC5B393-10BB-C82D-4326-78A7F5B3425B}"/>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24" name="Rectangle 23">
            <a:extLst>
              <a:ext uri="{FF2B5EF4-FFF2-40B4-BE49-F238E27FC236}">
                <a16:creationId xmlns:a16="http://schemas.microsoft.com/office/drawing/2014/main" id="{691134F3-BAB6-A8F4-E91E-B9056458BA74}"/>
              </a:ext>
            </a:extLst>
          </p:cNvPr>
          <p:cNvSpPr/>
          <p:nvPr/>
        </p:nvSpPr>
        <p:spPr>
          <a:xfrm>
            <a:off x="11372001" y="1992475"/>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25" name="Rectangle 24">
            <a:extLst>
              <a:ext uri="{FF2B5EF4-FFF2-40B4-BE49-F238E27FC236}">
                <a16:creationId xmlns:a16="http://schemas.microsoft.com/office/drawing/2014/main" id="{FC3341A9-3D8F-88FF-0D93-F4D64645EE80}"/>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26" name="Rectangle 25">
            <a:extLst>
              <a:ext uri="{FF2B5EF4-FFF2-40B4-BE49-F238E27FC236}">
                <a16:creationId xmlns:a16="http://schemas.microsoft.com/office/drawing/2014/main" id="{8BC134F7-8E91-0C09-4BFE-A48AE1E9851E}"/>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27" name="Rectangle 26">
            <a:extLst>
              <a:ext uri="{FF2B5EF4-FFF2-40B4-BE49-F238E27FC236}">
                <a16:creationId xmlns:a16="http://schemas.microsoft.com/office/drawing/2014/main" id="{5DC63345-7038-128F-B69D-1D6A6A73DC0A}"/>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28" name="Rectangle 27">
            <a:extLst>
              <a:ext uri="{FF2B5EF4-FFF2-40B4-BE49-F238E27FC236}">
                <a16:creationId xmlns:a16="http://schemas.microsoft.com/office/drawing/2014/main" id="{4952FBF7-8E2E-DD3E-FB43-D5680D0F2985}"/>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29" name="Rectangle 28">
            <a:extLst>
              <a:ext uri="{FF2B5EF4-FFF2-40B4-BE49-F238E27FC236}">
                <a16:creationId xmlns:a16="http://schemas.microsoft.com/office/drawing/2014/main" id="{7D3F5BF6-3A8D-E142-F38F-834CD4851811}"/>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30" name="Rectangle 29">
            <a:extLst>
              <a:ext uri="{FF2B5EF4-FFF2-40B4-BE49-F238E27FC236}">
                <a16:creationId xmlns:a16="http://schemas.microsoft.com/office/drawing/2014/main" id="{3C482BB5-4F09-CD32-F8FC-0404E186A5A9}"/>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33" name="Rectangle 32">
            <a:extLst>
              <a:ext uri="{FF2B5EF4-FFF2-40B4-BE49-F238E27FC236}">
                <a16:creationId xmlns:a16="http://schemas.microsoft.com/office/drawing/2014/main" id="{811E23EC-32EC-7775-31C2-02FF47D811B4}"/>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34" name="Rectangle 33">
            <a:extLst>
              <a:ext uri="{FF2B5EF4-FFF2-40B4-BE49-F238E27FC236}">
                <a16:creationId xmlns:a16="http://schemas.microsoft.com/office/drawing/2014/main" id="{8637DCDB-3ED5-B18B-D825-127873D3F62B}"/>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35" name="Rectangle 34">
            <a:extLst>
              <a:ext uri="{FF2B5EF4-FFF2-40B4-BE49-F238E27FC236}">
                <a16:creationId xmlns:a16="http://schemas.microsoft.com/office/drawing/2014/main" id="{C6C29FE7-AD1C-AB26-BC6A-30755608B242}"/>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36" name="Rectangle 35">
            <a:extLst>
              <a:ext uri="{FF2B5EF4-FFF2-40B4-BE49-F238E27FC236}">
                <a16:creationId xmlns:a16="http://schemas.microsoft.com/office/drawing/2014/main" id="{48CB5C52-CE3A-9141-854F-C2EACEDF5DE8}"/>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37" name="Rectangle 36">
            <a:extLst>
              <a:ext uri="{FF2B5EF4-FFF2-40B4-BE49-F238E27FC236}">
                <a16:creationId xmlns:a16="http://schemas.microsoft.com/office/drawing/2014/main" id="{D338B81B-FFE9-52BA-A73D-8A0D53F3C7C2}"/>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38" name="Rectangle 37">
            <a:extLst>
              <a:ext uri="{FF2B5EF4-FFF2-40B4-BE49-F238E27FC236}">
                <a16:creationId xmlns:a16="http://schemas.microsoft.com/office/drawing/2014/main" id="{41C8774E-5DE0-CC75-01C3-C630CE3B2F0B}"/>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
        <p:nvSpPr>
          <p:cNvPr id="56" name="Título 2">
            <a:extLst>
              <a:ext uri="{FF2B5EF4-FFF2-40B4-BE49-F238E27FC236}">
                <a16:creationId xmlns:a16="http://schemas.microsoft.com/office/drawing/2014/main" id="{A088D017-3319-FD91-FB63-43E21FB14788}"/>
              </a:ext>
            </a:extLst>
          </p:cNvPr>
          <p:cNvSpPr txBox="1">
            <a:spLocks/>
          </p:cNvSpPr>
          <p:nvPr/>
        </p:nvSpPr>
        <p:spPr>
          <a:xfrm>
            <a:off x="180918" y="127319"/>
            <a:ext cx="9540598"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PROCESSES AND ARTIFACTS – Continuous Backlog Prioritization</a:t>
            </a:r>
          </a:p>
        </p:txBody>
      </p:sp>
      <p:grpSp>
        <p:nvGrpSpPr>
          <p:cNvPr id="57" name="Group 32">
            <a:extLst>
              <a:ext uri="{FF2B5EF4-FFF2-40B4-BE49-F238E27FC236}">
                <a16:creationId xmlns:a16="http://schemas.microsoft.com/office/drawing/2014/main" id="{39F89970-41C7-97FF-930D-8ADFD391E6DA}"/>
              </a:ext>
            </a:extLst>
          </p:cNvPr>
          <p:cNvGrpSpPr/>
          <p:nvPr/>
        </p:nvGrpSpPr>
        <p:grpSpPr>
          <a:xfrm>
            <a:off x="5557116" y="2749282"/>
            <a:ext cx="443725" cy="250799"/>
            <a:chOff x="6964708" y="4299700"/>
            <a:chExt cx="1208965" cy="753345"/>
          </a:xfrm>
        </p:grpSpPr>
        <p:grpSp>
          <p:nvGrpSpPr>
            <p:cNvPr id="58" name="Group 33">
              <a:extLst>
                <a:ext uri="{FF2B5EF4-FFF2-40B4-BE49-F238E27FC236}">
                  <a16:creationId xmlns:a16="http://schemas.microsoft.com/office/drawing/2014/main" id="{2DB5C4E8-8EF4-ED09-5813-9982551ACCAC}"/>
                </a:ext>
              </a:extLst>
            </p:cNvPr>
            <p:cNvGrpSpPr/>
            <p:nvPr/>
          </p:nvGrpSpPr>
          <p:grpSpPr>
            <a:xfrm>
              <a:off x="6964708" y="4299700"/>
              <a:ext cx="1208965" cy="753345"/>
              <a:chOff x="6629084" y="4161784"/>
              <a:chExt cx="1208965" cy="753345"/>
            </a:xfrm>
          </p:grpSpPr>
          <p:sp>
            <p:nvSpPr>
              <p:cNvPr id="62" name="Google Shape;1775;p42">
                <a:extLst>
                  <a:ext uri="{FF2B5EF4-FFF2-40B4-BE49-F238E27FC236}">
                    <a16:creationId xmlns:a16="http://schemas.microsoft.com/office/drawing/2014/main" id="{CCE74501-D044-2CE5-F04A-E79EB53AABA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63" name="Google Shape;1775;p42">
                <a:extLst>
                  <a:ext uri="{FF2B5EF4-FFF2-40B4-BE49-F238E27FC236}">
                    <a16:creationId xmlns:a16="http://schemas.microsoft.com/office/drawing/2014/main" id="{F70C74C0-A610-49B3-9203-82631629FA9B}"/>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59" name="Rectangle 34">
              <a:extLst>
                <a:ext uri="{FF2B5EF4-FFF2-40B4-BE49-F238E27FC236}">
                  <a16:creationId xmlns:a16="http://schemas.microsoft.com/office/drawing/2014/main" id="{0273E0A1-07DE-0CEC-C9E5-1E10011AAC8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0" name="Rectangle 35">
              <a:extLst>
                <a:ext uri="{FF2B5EF4-FFF2-40B4-BE49-F238E27FC236}">
                  <a16:creationId xmlns:a16="http://schemas.microsoft.com/office/drawing/2014/main" id="{75247C11-5BD3-5B3F-E4ED-EC4D738112FD}"/>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1" name="Oval 36">
              <a:extLst>
                <a:ext uri="{FF2B5EF4-FFF2-40B4-BE49-F238E27FC236}">
                  <a16:creationId xmlns:a16="http://schemas.microsoft.com/office/drawing/2014/main" id="{EDF52195-7D60-D2D0-5210-CF2260FD8B89}"/>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64" name="Group 39">
            <a:extLst>
              <a:ext uri="{FF2B5EF4-FFF2-40B4-BE49-F238E27FC236}">
                <a16:creationId xmlns:a16="http://schemas.microsoft.com/office/drawing/2014/main" id="{1D86AA8E-CD79-44AF-EFD7-0169F5884D8C}"/>
              </a:ext>
            </a:extLst>
          </p:cNvPr>
          <p:cNvGrpSpPr/>
          <p:nvPr/>
        </p:nvGrpSpPr>
        <p:grpSpPr>
          <a:xfrm>
            <a:off x="6166262" y="2745348"/>
            <a:ext cx="443725" cy="250799"/>
            <a:chOff x="6964708" y="4299700"/>
            <a:chExt cx="1208965" cy="753345"/>
          </a:xfrm>
        </p:grpSpPr>
        <p:grpSp>
          <p:nvGrpSpPr>
            <p:cNvPr id="65" name="Group 40">
              <a:extLst>
                <a:ext uri="{FF2B5EF4-FFF2-40B4-BE49-F238E27FC236}">
                  <a16:creationId xmlns:a16="http://schemas.microsoft.com/office/drawing/2014/main" id="{B943DBD3-FD8C-67B5-DD77-D9CAF34D6A92}"/>
                </a:ext>
              </a:extLst>
            </p:cNvPr>
            <p:cNvGrpSpPr/>
            <p:nvPr/>
          </p:nvGrpSpPr>
          <p:grpSpPr>
            <a:xfrm>
              <a:off x="6964708" y="4299700"/>
              <a:ext cx="1208965" cy="753345"/>
              <a:chOff x="6629084" y="4161784"/>
              <a:chExt cx="1208965" cy="753345"/>
            </a:xfrm>
          </p:grpSpPr>
          <p:sp>
            <p:nvSpPr>
              <p:cNvPr id="69" name="Google Shape;1775;p42">
                <a:extLst>
                  <a:ext uri="{FF2B5EF4-FFF2-40B4-BE49-F238E27FC236}">
                    <a16:creationId xmlns:a16="http://schemas.microsoft.com/office/drawing/2014/main" id="{AE2D5A6E-14C5-62B8-95EE-2FC6C7BFFE0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70" name="Google Shape;1775;p42">
                <a:extLst>
                  <a:ext uri="{FF2B5EF4-FFF2-40B4-BE49-F238E27FC236}">
                    <a16:creationId xmlns:a16="http://schemas.microsoft.com/office/drawing/2014/main" id="{776D3E58-A305-DA9D-F467-E94EAC3404F0}"/>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66" name="Rectangle 41">
              <a:extLst>
                <a:ext uri="{FF2B5EF4-FFF2-40B4-BE49-F238E27FC236}">
                  <a16:creationId xmlns:a16="http://schemas.microsoft.com/office/drawing/2014/main" id="{0E0EB841-37DD-A8DF-C39A-F86EA016EB0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7" name="Rectangle 42">
              <a:extLst>
                <a:ext uri="{FF2B5EF4-FFF2-40B4-BE49-F238E27FC236}">
                  <a16:creationId xmlns:a16="http://schemas.microsoft.com/office/drawing/2014/main" id="{CD7B2BD3-CE86-214E-2F4D-C9EB1DC72F4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8" name="Oval 43">
              <a:extLst>
                <a:ext uri="{FF2B5EF4-FFF2-40B4-BE49-F238E27FC236}">
                  <a16:creationId xmlns:a16="http://schemas.microsoft.com/office/drawing/2014/main" id="{F8ADF03F-7FC7-3F90-A3D6-3DA47C31C9CB}"/>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71" name="Group 46">
            <a:extLst>
              <a:ext uri="{FF2B5EF4-FFF2-40B4-BE49-F238E27FC236}">
                <a16:creationId xmlns:a16="http://schemas.microsoft.com/office/drawing/2014/main" id="{4ED062CB-157C-64F6-AFEE-4FB795C70DB1}"/>
              </a:ext>
            </a:extLst>
          </p:cNvPr>
          <p:cNvGrpSpPr/>
          <p:nvPr/>
        </p:nvGrpSpPr>
        <p:grpSpPr>
          <a:xfrm>
            <a:off x="6166262" y="3388692"/>
            <a:ext cx="443725" cy="250799"/>
            <a:chOff x="6964708" y="4299700"/>
            <a:chExt cx="1208965" cy="753345"/>
          </a:xfrm>
        </p:grpSpPr>
        <p:grpSp>
          <p:nvGrpSpPr>
            <p:cNvPr id="72" name="Group 47">
              <a:extLst>
                <a:ext uri="{FF2B5EF4-FFF2-40B4-BE49-F238E27FC236}">
                  <a16:creationId xmlns:a16="http://schemas.microsoft.com/office/drawing/2014/main" id="{CCB5CE70-7456-ECFD-1EA2-0B9420EFBFE2}"/>
                </a:ext>
              </a:extLst>
            </p:cNvPr>
            <p:cNvGrpSpPr/>
            <p:nvPr/>
          </p:nvGrpSpPr>
          <p:grpSpPr>
            <a:xfrm>
              <a:off x="6964708" y="4299700"/>
              <a:ext cx="1208965" cy="753345"/>
              <a:chOff x="6629084" y="4161784"/>
              <a:chExt cx="1208965" cy="753345"/>
            </a:xfrm>
          </p:grpSpPr>
          <p:sp>
            <p:nvSpPr>
              <p:cNvPr id="89" name="Google Shape;1775;p42">
                <a:extLst>
                  <a:ext uri="{FF2B5EF4-FFF2-40B4-BE49-F238E27FC236}">
                    <a16:creationId xmlns:a16="http://schemas.microsoft.com/office/drawing/2014/main" id="{45BAF220-685A-8065-E421-BBBAB9B3DF9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90" name="Google Shape;1775;p42">
                <a:extLst>
                  <a:ext uri="{FF2B5EF4-FFF2-40B4-BE49-F238E27FC236}">
                    <a16:creationId xmlns:a16="http://schemas.microsoft.com/office/drawing/2014/main" id="{E0FABED2-C2EE-CD9C-AE32-9C6E7C50487C}"/>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73" name="Rectangle 48">
              <a:extLst>
                <a:ext uri="{FF2B5EF4-FFF2-40B4-BE49-F238E27FC236}">
                  <a16:creationId xmlns:a16="http://schemas.microsoft.com/office/drawing/2014/main" id="{5691D703-91C5-4E35-2955-2171D32461AC}"/>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78" name="Rectangle 49">
              <a:extLst>
                <a:ext uri="{FF2B5EF4-FFF2-40B4-BE49-F238E27FC236}">
                  <a16:creationId xmlns:a16="http://schemas.microsoft.com/office/drawing/2014/main" id="{89674120-2F8B-8777-6AE8-848537C87C8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79" name="Oval 50">
              <a:extLst>
                <a:ext uri="{FF2B5EF4-FFF2-40B4-BE49-F238E27FC236}">
                  <a16:creationId xmlns:a16="http://schemas.microsoft.com/office/drawing/2014/main" id="{651725E3-1C38-C64C-9E5B-B2D3DCD9E2F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91" name="Group 53">
            <a:extLst>
              <a:ext uri="{FF2B5EF4-FFF2-40B4-BE49-F238E27FC236}">
                <a16:creationId xmlns:a16="http://schemas.microsoft.com/office/drawing/2014/main" id="{FC2E73ED-7A75-C6C6-E181-19E26A099A95}"/>
              </a:ext>
            </a:extLst>
          </p:cNvPr>
          <p:cNvGrpSpPr/>
          <p:nvPr/>
        </p:nvGrpSpPr>
        <p:grpSpPr>
          <a:xfrm>
            <a:off x="5557116" y="2411391"/>
            <a:ext cx="443725" cy="250799"/>
            <a:chOff x="6964708" y="4299700"/>
            <a:chExt cx="1208965" cy="753345"/>
          </a:xfrm>
        </p:grpSpPr>
        <p:grpSp>
          <p:nvGrpSpPr>
            <p:cNvPr id="93" name="Group 54">
              <a:extLst>
                <a:ext uri="{FF2B5EF4-FFF2-40B4-BE49-F238E27FC236}">
                  <a16:creationId xmlns:a16="http://schemas.microsoft.com/office/drawing/2014/main" id="{791EEA71-2685-B089-D850-82CC194ADB59}"/>
                </a:ext>
              </a:extLst>
            </p:cNvPr>
            <p:cNvGrpSpPr/>
            <p:nvPr/>
          </p:nvGrpSpPr>
          <p:grpSpPr>
            <a:xfrm>
              <a:off x="6964708" y="4299700"/>
              <a:ext cx="1208965" cy="753345"/>
              <a:chOff x="6629084" y="4161784"/>
              <a:chExt cx="1208965" cy="753345"/>
            </a:xfrm>
          </p:grpSpPr>
          <p:sp>
            <p:nvSpPr>
              <p:cNvPr id="98" name="Google Shape;1775;p42">
                <a:extLst>
                  <a:ext uri="{FF2B5EF4-FFF2-40B4-BE49-F238E27FC236}">
                    <a16:creationId xmlns:a16="http://schemas.microsoft.com/office/drawing/2014/main" id="{DB0B3C1C-C2A2-3412-E235-41B996CB8E3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99" name="Google Shape;1775;p42">
                <a:extLst>
                  <a:ext uri="{FF2B5EF4-FFF2-40B4-BE49-F238E27FC236}">
                    <a16:creationId xmlns:a16="http://schemas.microsoft.com/office/drawing/2014/main" id="{2BC6DBAF-2B89-2FE2-66D4-3BF11B53D13F}"/>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95" name="Rectangle 55">
              <a:extLst>
                <a:ext uri="{FF2B5EF4-FFF2-40B4-BE49-F238E27FC236}">
                  <a16:creationId xmlns:a16="http://schemas.microsoft.com/office/drawing/2014/main" id="{3553D36F-70C1-01D3-B57C-D8D805FFEBD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96" name="Rectangle 56">
              <a:extLst>
                <a:ext uri="{FF2B5EF4-FFF2-40B4-BE49-F238E27FC236}">
                  <a16:creationId xmlns:a16="http://schemas.microsoft.com/office/drawing/2014/main" id="{2230A256-C0B0-DDCE-7861-1FE0C28D201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97" name="Oval 57">
              <a:extLst>
                <a:ext uri="{FF2B5EF4-FFF2-40B4-BE49-F238E27FC236}">
                  <a16:creationId xmlns:a16="http://schemas.microsoft.com/office/drawing/2014/main" id="{7A28305E-9BA2-DF62-7F1C-DD579BAA1BD0}"/>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00" name="Group 127">
            <a:extLst>
              <a:ext uri="{FF2B5EF4-FFF2-40B4-BE49-F238E27FC236}">
                <a16:creationId xmlns:a16="http://schemas.microsoft.com/office/drawing/2014/main" id="{8D6C0AB9-6038-E89E-98A2-8F299E931CBC}"/>
              </a:ext>
            </a:extLst>
          </p:cNvPr>
          <p:cNvGrpSpPr/>
          <p:nvPr/>
        </p:nvGrpSpPr>
        <p:grpSpPr>
          <a:xfrm>
            <a:off x="5557116" y="3696072"/>
            <a:ext cx="443725" cy="250799"/>
            <a:chOff x="6964708" y="4299700"/>
            <a:chExt cx="1208965" cy="753345"/>
          </a:xfrm>
        </p:grpSpPr>
        <p:grpSp>
          <p:nvGrpSpPr>
            <p:cNvPr id="101" name="Group 128">
              <a:extLst>
                <a:ext uri="{FF2B5EF4-FFF2-40B4-BE49-F238E27FC236}">
                  <a16:creationId xmlns:a16="http://schemas.microsoft.com/office/drawing/2014/main" id="{839A1A9A-FA47-EE39-A61E-4607DFA72215}"/>
                </a:ext>
              </a:extLst>
            </p:cNvPr>
            <p:cNvGrpSpPr/>
            <p:nvPr/>
          </p:nvGrpSpPr>
          <p:grpSpPr>
            <a:xfrm>
              <a:off x="6964708" y="4299700"/>
              <a:ext cx="1208965" cy="753345"/>
              <a:chOff x="6629084" y="4161784"/>
              <a:chExt cx="1208965" cy="753345"/>
            </a:xfrm>
          </p:grpSpPr>
          <p:sp>
            <p:nvSpPr>
              <p:cNvPr id="105" name="Google Shape;1775;p42">
                <a:extLst>
                  <a:ext uri="{FF2B5EF4-FFF2-40B4-BE49-F238E27FC236}">
                    <a16:creationId xmlns:a16="http://schemas.microsoft.com/office/drawing/2014/main" id="{87D2FDC9-F1CF-A234-37FA-886F30859A4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06" name="Google Shape;1775;p42">
                <a:extLst>
                  <a:ext uri="{FF2B5EF4-FFF2-40B4-BE49-F238E27FC236}">
                    <a16:creationId xmlns:a16="http://schemas.microsoft.com/office/drawing/2014/main" id="{06F96C13-FFB4-731B-01BA-119C253DC9BB}"/>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2" name="Rectangle 129">
              <a:extLst>
                <a:ext uri="{FF2B5EF4-FFF2-40B4-BE49-F238E27FC236}">
                  <a16:creationId xmlns:a16="http://schemas.microsoft.com/office/drawing/2014/main" id="{4ECECAFE-9009-8590-A471-5E32DCBF0CF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3" name="Rectangle 130">
              <a:extLst>
                <a:ext uri="{FF2B5EF4-FFF2-40B4-BE49-F238E27FC236}">
                  <a16:creationId xmlns:a16="http://schemas.microsoft.com/office/drawing/2014/main" id="{1A1078C1-652C-AECC-7A3D-2522516BF6D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4" name="Oval 131">
              <a:extLst>
                <a:ext uri="{FF2B5EF4-FFF2-40B4-BE49-F238E27FC236}">
                  <a16:creationId xmlns:a16="http://schemas.microsoft.com/office/drawing/2014/main" id="{B4A3EC4B-F377-9A71-2A80-7C5F70136D22}"/>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14" name="Group 304">
            <a:extLst>
              <a:ext uri="{FF2B5EF4-FFF2-40B4-BE49-F238E27FC236}">
                <a16:creationId xmlns:a16="http://schemas.microsoft.com/office/drawing/2014/main" id="{19DE15F7-D67C-49B4-8D0D-7225415D69F9}"/>
              </a:ext>
            </a:extLst>
          </p:cNvPr>
          <p:cNvGrpSpPr/>
          <p:nvPr/>
        </p:nvGrpSpPr>
        <p:grpSpPr>
          <a:xfrm>
            <a:off x="6166262" y="2102004"/>
            <a:ext cx="443725" cy="250799"/>
            <a:chOff x="6964708" y="4299700"/>
            <a:chExt cx="1208965" cy="753345"/>
          </a:xfrm>
        </p:grpSpPr>
        <p:grpSp>
          <p:nvGrpSpPr>
            <p:cNvPr id="115" name="Group 305">
              <a:extLst>
                <a:ext uri="{FF2B5EF4-FFF2-40B4-BE49-F238E27FC236}">
                  <a16:creationId xmlns:a16="http://schemas.microsoft.com/office/drawing/2014/main" id="{88293C55-93C2-3136-01FA-649AF46C9FFE}"/>
                </a:ext>
              </a:extLst>
            </p:cNvPr>
            <p:cNvGrpSpPr/>
            <p:nvPr/>
          </p:nvGrpSpPr>
          <p:grpSpPr>
            <a:xfrm>
              <a:off x="6964708" y="4299700"/>
              <a:ext cx="1208965" cy="753345"/>
              <a:chOff x="6629084" y="4161784"/>
              <a:chExt cx="1208965" cy="753345"/>
            </a:xfrm>
          </p:grpSpPr>
          <p:sp>
            <p:nvSpPr>
              <p:cNvPr id="122" name="Google Shape;1775;p42">
                <a:extLst>
                  <a:ext uri="{FF2B5EF4-FFF2-40B4-BE49-F238E27FC236}">
                    <a16:creationId xmlns:a16="http://schemas.microsoft.com/office/drawing/2014/main" id="{0E3EE45B-D30A-C7A5-DD32-4C9D0C676A2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23" name="Google Shape;1775;p42">
                <a:extLst>
                  <a:ext uri="{FF2B5EF4-FFF2-40B4-BE49-F238E27FC236}">
                    <a16:creationId xmlns:a16="http://schemas.microsoft.com/office/drawing/2014/main" id="{909D7B77-FE96-F5FA-A380-85B7D3BED16B}"/>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19" name="Rectangle 306">
              <a:extLst>
                <a:ext uri="{FF2B5EF4-FFF2-40B4-BE49-F238E27FC236}">
                  <a16:creationId xmlns:a16="http://schemas.microsoft.com/office/drawing/2014/main" id="{1867994C-63DB-0904-C51A-C8E036FBFCF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0" name="Rectangle 307">
              <a:extLst>
                <a:ext uri="{FF2B5EF4-FFF2-40B4-BE49-F238E27FC236}">
                  <a16:creationId xmlns:a16="http://schemas.microsoft.com/office/drawing/2014/main" id="{3D0FB13C-C2B4-EC8F-367C-1211256E7DE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1" name="Oval 308">
              <a:extLst>
                <a:ext uri="{FF2B5EF4-FFF2-40B4-BE49-F238E27FC236}">
                  <a16:creationId xmlns:a16="http://schemas.microsoft.com/office/drawing/2014/main" id="{C307C3E0-65FC-95AA-9395-4F7E9BB6019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4" name="Group 311">
            <a:extLst>
              <a:ext uri="{FF2B5EF4-FFF2-40B4-BE49-F238E27FC236}">
                <a16:creationId xmlns:a16="http://schemas.microsoft.com/office/drawing/2014/main" id="{EE0D8995-15C6-5217-42BE-F5AED5BB6943}"/>
              </a:ext>
            </a:extLst>
          </p:cNvPr>
          <p:cNvGrpSpPr/>
          <p:nvPr/>
        </p:nvGrpSpPr>
        <p:grpSpPr>
          <a:xfrm>
            <a:off x="6166262" y="3067020"/>
            <a:ext cx="443725" cy="250799"/>
            <a:chOff x="6964708" y="4299700"/>
            <a:chExt cx="1208965" cy="753345"/>
          </a:xfrm>
        </p:grpSpPr>
        <p:grpSp>
          <p:nvGrpSpPr>
            <p:cNvPr id="125" name="Group 312">
              <a:extLst>
                <a:ext uri="{FF2B5EF4-FFF2-40B4-BE49-F238E27FC236}">
                  <a16:creationId xmlns:a16="http://schemas.microsoft.com/office/drawing/2014/main" id="{75657FDD-2132-CF38-B5B4-2423602D934F}"/>
                </a:ext>
              </a:extLst>
            </p:cNvPr>
            <p:cNvGrpSpPr/>
            <p:nvPr/>
          </p:nvGrpSpPr>
          <p:grpSpPr>
            <a:xfrm>
              <a:off x="6964708" y="4299700"/>
              <a:ext cx="1208965" cy="753345"/>
              <a:chOff x="6629084" y="4161784"/>
              <a:chExt cx="1208965" cy="753345"/>
            </a:xfrm>
          </p:grpSpPr>
          <p:sp>
            <p:nvSpPr>
              <p:cNvPr id="129" name="Google Shape;1775;p42">
                <a:extLst>
                  <a:ext uri="{FF2B5EF4-FFF2-40B4-BE49-F238E27FC236}">
                    <a16:creationId xmlns:a16="http://schemas.microsoft.com/office/drawing/2014/main" id="{56A636AD-778F-F56C-7388-6257ECACF24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0" name="Google Shape;1775;p42">
                <a:extLst>
                  <a:ext uri="{FF2B5EF4-FFF2-40B4-BE49-F238E27FC236}">
                    <a16:creationId xmlns:a16="http://schemas.microsoft.com/office/drawing/2014/main" id="{069D9275-C994-149F-729F-700CEE55E1A3}"/>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6" name="Rectangle 313">
              <a:extLst>
                <a:ext uri="{FF2B5EF4-FFF2-40B4-BE49-F238E27FC236}">
                  <a16:creationId xmlns:a16="http://schemas.microsoft.com/office/drawing/2014/main" id="{DB9A06F3-3F2D-F0CE-DFA3-6286E83667F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7" name="Rectangle 314">
              <a:extLst>
                <a:ext uri="{FF2B5EF4-FFF2-40B4-BE49-F238E27FC236}">
                  <a16:creationId xmlns:a16="http://schemas.microsoft.com/office/drawing/2014/main" id="{BC386792-2676-A0F1-0904-8B00C1A5F94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8" name="Oval 315">
              <a:extLst>
                <a:ext uri="{FF2B5EF4-FFF2-40B4-BE49-F238E27FC236}">
                  <a16:creationId xmlns:a16="http://schemas.microsoft.com/office/drawing/2014/main" id="{A1B8E3B0-BA3E-087C-E9C4-7FC780BD3D8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1" name="Group 318">
            <a:extLst>
              <a:ext uri="{FF2B5EF4-FFF2-40B4-BE49-F238E27FC236}">
                <a16:creationId xmlns:a16="http://schemas.microsoft.com/office/drawing/2014/main" id="{1708F1C0-8AAA-2C3C-69D5-97C563C42469}"/>
              </a:ext>
            </a:extLst>
          </p:cNvPr>
          <p:cNvGrpSpPr/>
          <p:nvPr/>
        </p:nvGrpSpPr>
        <p:grpSpPr>
          <a:xfrm>
            <a:off x="5557116" y="3079176"/>
            <a:ext cx="443725" cy="250799"/>
            <a:chOff x="6964708" y="4299700"/>
            <a:chExt cx="1208965" cy="753345"/>
          </a:xfrm>
        </p:grpSpPr>
        <p:grpSp>
          <p:nvGrpSpPr>
            <p:cNvPr id="132" name="Group 319">
              <a:extLst>
                <a:ext uri="{FF2B5EF4-FFF2-40B4-BE49-F238E27FC236}">
                  <a16:creationId xmlns:a16="http://schemas.microsoft.com/office/drawing/2014/main" id="{975A567E-17FF-53A6-A91D-7A4FA663C381}"/>
                </a:ext>
              </a:extLst>
            </p:cNvPr>
            <p:cNvGrpSpPr/>
            <p:nvPr/>
          </p:nvGrpSpPr>
          <p:grpSpPr>
            <a:xfrm>
              <a:off x="6964708" y="4299700"/>
              <a:ext cx="1208965" cy="753345"/>
              <a:chOff x="6629084" y="4161784"/>
              <a:chExt cx="1208965" cy="753345"/>
            </a:xfrm>
          </p:grpSpPr>
          <p:sp>
            <p:nvSpPr>
              <p:cNvPr id="136" name="Google Shape;1775;p42">
                <a:extLst>
                  <a:ext uri="{FF2B5EF4-FFF2-40B4-BE49-F238E27FC236}">
                    <a16:creationId xmlns:a16="http://schemas.microsoft.com/office/drawing/2014/main" id="{A556B260-4434-0922-5340-77A31166911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7" name="Google Shape;1775;p42">
                <a:extLst>
                  <a:ext uri="{FF2B5EF4-FFF2-40B4-BE49-F238E27FC236}">
                    <a16:creationId xmlns:a16="http://schemas.microsoft.com/office/drawing/2014/main" id="{EA46F201-FEF7-0C78-392E-126AC535E1B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33" name="Rectangle 320">
              <a:extLst>
                <a:ext uri="{FF2B5EF4-FFF2-40B4-BE49-F238E27FC236}">
                  <a16:creationId xmlns:a16="http://schemas.microsoft.com/office/drawing/2014/main" id="{77716351-DDBC-DDA5-341A-1E56F0BD061C}"/>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4" name="Rectangle 321">
              <a:extLst>
                <a:ext uri="{FF2B5EF4-FFF2-40B4-BE49-F238E27FC236}">
                  <a16:creationId xmlns:a16="http://schemas.microsoft.com/office/drawing/2014/main" id="{E685B2F2-7D30-ACC0-2512-ACFF96B7AEB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5" name="Oval 322">
              <a:extLst>
                <a:ext uri="{FF2B5EF4-FFF2-40B4-BE49-F238E27FC236}">
                  <a16:creationId xmlns:a16="http://schemas.microsoft.com/office/drawing/2014/main" id="{81DF9C20-8F84-A7C7-BA7C-83A913A2476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8" name="Group 325">
            <a:extLst>
              <a:ext uri="{FF2B5EF4-FFF2-40B4-BE49-F238E27FC236}">
                <a16:creationId xmlns:a16="http://schemas.microsoft.com/office/drawing/2014/main" id="{9B163AFC-B836-5E3D-B239-FECD1FCC10A3}"/>
              </a:ext>
            </a:extLst>
          </p:cNvPr>
          <p:cNvGrpSpPr/>
          <p:nvPr/>
        </p:nvGrpSpPr>
        <p:grpSpPr>
          <a:xfrm>
            <a:off x="5557116" y="3399486"/>
            <a:ext cx="443725" cy="250799"/>
            <a:chOff x="6964708" y="4299700"/>
            <a:chExt cx="1208965" cy="753345"/>
          </a:xfrm>
        </p:grpSpPr>
        <p:grpSp>
          <p:nvGrpSpPr>
            <p:cNvPr id="139" name="Group 326">
              <a:extLst>
                <a:ext uri="{FF2B5EF4-FFF2-40B4-BE49-F238E27FC236}">
                  <a16:creationId xmlns:a16="http://schemas.microsoft.com/office/drawing/2014/main" id="{BEB80DC2-554C-DF75-991A-E3B291AFD5FC}"/>
                </a:ext>
              </a:extLst>
            </p:cNvPr>
            <p:cNvGrpSpPr/>
            <p:nvPr/>
          </p:nvGrpSpPr>
          <p:grpSpPr>
            <a:xfrm>
              <a:off x="6964708" y="4299700"/>
              <a:ext cx="1208965" cy="753345"/>
              <a:chOff x="6629084" y="4161784"/>
              <a:chExt cx="1208965" cy="753345"/>
            </a:xfrm>
          </p:grpSpPr>
          <p:sp>
            <p:nvSpPr>
              <p:cNvPr id="143" name="Google Shape;1775;p42">
                <a:extLst>
                  <a:ext uri="{FF2B5EF4-FFF2-40B4-BE49-F238E27FC236}">
                    <a16:creationId xmlns:a16="http://schemas.microsoft.com/office/drawing/2014/main" id="{F5CB0396-7E31-D5B6-F486-8FAB6A10177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4" name="Google Shape;1775;p42">
                <a:extLst>
                  <a:ext uri="{FF2B5EF4-FFF2-40B4-BE49-F238E27FC236}">
                    <a16:creationId xmlns:a16="http://schemas.microsoft.com/office/drawing/2014/main" id="{2EB668E0-CD16-D138-C884-ABBAF09EDB60}"/>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0" name="Rectangle 327">
              <a:extLst>
                <a:ext uri="{FF2B5EF4-FFF2-40B4-BE49-F238E27FC236}">
                  <a16:creationId xmlns:a16="http://schemas.microsoft.com/office/drawing/2014/main" id="{E38C419B-0BA0-E197-B2D4-73D309B1A93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1" name="Rectangle 328">
              <a:extLst>
                <a:ext uri="{FF2B5EF4-FFF2-40B4-BE49-F238E27FC236}">
                  <a16:creationId xmlns:a16="http://schemas.microsoft.com/office/drawing/2014/main" id="{DD32AA92-2B6D-38AF-85A9-692A781F010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2" name="Oval 329">
              <a:extLst>
                <a:ext uri="{FF2B5EF4-FFF2-40B4-BE49-F238E27FC236}">
                  <a16:creationId xmlns:a16="http://schemas.microsoft.com/office/drawing/2014/main" id="{3403D2AE-9C32-10A6-5026-652712F0F60D}"/>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45" name="Group 332">
            <a:extLst>
              <a:ext uri="{FF2B5EF4-FFF2-40B4-BE49-F238E27FC236}">
                <a16:creationId xmlns:a16="http://schemas.microsoft.com/office/drawing/2014/main" id="{87D34BA6-8B22-F0C0-0E11-91508C9DE56E}"/>
              </a:ext>
            </a:extLst>
          </p:cNvPr>
          <p:cNvGrpSpPr/>
          <p:nvPr/>
        </p:nvGrpSpPr>
        <p:grpSpPr>
          <a:xfrm>
            <a:off x="6166262" y="3710364"/>
            <a:ext cx="443725" cy="250799"/>
            <a:chOff x="6964708" y="4299700"/>
            <a:chExt cx="1208965" cy="753345"/>
          </a:xfrm>
        </p:grpSpPr>
        <p:grpSp>
          <p:nvGrpSpPr>
            <p:cNvPr id="146" name="Group 333">
              <a:extLst>
                <a:ext uri="{FF2B5EF4-FFF2-40B4-BE49-F238E27FC236}">
                  <a16:creationId xmlns:a16="http://schemas.microsoft.com/office/drawing/2014/main" id="{60EA228C-E9CE-35DC-99E7-80DD313D11EB}"/>
                </a:ext>
              </a:extLst>
            </p:cNvPr>
            <p:cNvGrpSpPr/>
            <p:nvPr/>
          </p:nvGrpSpPr>
          <p:grpSpPr>
            <a:xfrm>
              <a:off x="6964708" y="4299700"/>
              <a:ext cx="1208965" cy="753345"/>
              <a:chOff x="6629084" y="4161784"/>
              <a:chExt cx="1208965" cy="753345"/>
            </a:xfrm>
          </p:grpSpPr>
          <p:sp>
            <p:nvSpPr>
              <p:cNvPr id="150" name="Google Shape;1775;p42">
                <a:extLst>
                  <a:ext uri="{FF2B5EF4-FFF2-40B4-BE49-F238E27FC236}">
                    <a16:creationId xmlns:a16="http://schemas.microsoft.com/office/drawing/2014/main" id="{70002BDF-E48B-C587-F6B8-9F6BD63314F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51" name="Google Shape;1775;p42">
                <a:extLst>
                  <a:ext uri="{FF2B5EF4-FFF2-40B4-BE49-F238E27FC236}">
                    <a16:creationId xmlns:a16="http://schemas.microsoft.com/office/drawing/2014/main" id="{816B3FD5-EF66-36B1-5F73-924A5FF0A177}"/>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7" name="Rectangle 334">
              <a:extLst>
                <a:ext uri="{FF2B5EF4-FFF2-40B4-BE49-F238E27FC236}">
                  <a16:creationId xmlns:a16="http://schemas.microsoft.com/office/drawing/2014/main" id="{637C8E02-E00B-1EA8-3695-98A96BD9E2A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8" name="Rectangle 335">
              <a:extLst>
                <a:ext uri="{FF2B5EF4-FFF2-40B4-BE49-F238E27FC236}">
                  <a16:creationId xmlns:a16="http://schemas.microsoft.com/office/drawing/2014/main" id="{3A40A68C-64F9-1E3F-C552-5F34E7040BC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9" name="Oval 336">
              <a:extLst>
                <a:ext uri="{FF2B5EF4-FFF2-40B4-BE49-F238E27FC236}">
                  <a16:creationId xmlns:a16="http://schemas.microsoft.com/office/drawing/2014/main" id="{A8451D82-1AC3-1876-461D-D161E75ADC24}"/>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52" name="Group 339">
            <a:extLst>
              <a:ext uri="{FF2B5EF4-FFF2-40B4-BE49-F238E27FC236}">
                <a16:creationId xmlns:a16="http://schemas.microsoft.com/office/drawing/2014/main" id="{126F3954-64BC-9284-B246-BC57A8BC4260}"/>
              </a:ext>
            </a:extLst>
          </p:cNvPr>
          <p:cNvGrpSpPr/>
          <p:nvPr/>
        </p:nvGrpSpPr>
        <p:grpSpPr>
          <a:xfrm>
            <a:off x="5557116" y="2101068"/>
            <a:ext cx="443725" cy="250799"/>
            <a:chOff x="6964708" y="4299700"/>
            <a:chExt cx="1208965" cy="753345"/>
          </a:xfrm>
        </p:grpSpPr>
        <p:grpSp>
          <p:nvGrpSpPr>
            <p:cNvPr id="153" name="Group 340">
              <a:extLst>
                <a:ext uri="{FF2B5EF4-FFF2-40B4-BE49-F238E27FC236}">
                  <a16:creationId xmlns:a16="http://schemas.microsoft.com/office/drawing/2014/main" id="{6BECE88C-6A7D-9627-4D46-C8F5805D17A1}"/>
                </a:ext>
              </a:extLst>
            </p:cNvPr>
            <p:cNvGrpSpPr/>
            <p:nvPr/>
          </p:nvGrpSpPr>
          <p:grpSpPr>
            <a:xfrm>
              <a:off x="6964708" y="4299700"/>
              <a:ext cx="1208965" cy="753345"/>
              <a:chOff x="6629084" y="4161784"/>
              <a:chExt cx="1208965" cy="753345"/>
            </a:xfrm>
          </p:grpSpPr>
          <p:sp>
            <p:nvSpPr>
              <p:cNvPr id="157" name="Google Shape;1775;p42">
                <a:extLst>
                  <a:ext uri="{FF2B5EF4-FFF2-40B4-BE49-F238E27FC236}">
                    <a16:creationId xmlns:a16="http://schemas.microsoft.com/office/drawing/2014/main" id="{3D8E9248-F221-F546-2142-DFB56676939D}"/>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58" name="Google Shape;1775;p42">
                <a:extLst>
                  <a:ext uri="{FF2B5EF4-FFF2-40B4-BE49-F238E27FC236}">
                    <a16:creationId xmlns:a16="http://schemas.microsoft.com/office/drawing/2014/main" id="{26FB176C-6C67-DDE0-53DF-E0F65B47B6E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54" name="Rectangle 341">
              <a:extLst>
                <a:ext uri="{FF2B5EF4-FFF2-40B4-BE49-F238E27FC236}">
                  <a16:creationId xmlns:a16="http://schemas.microsoft.com/office/drawing/2014/main" id="{637D89D4-BFDD-8FDD-46F9-ADE2F60986E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55" name="Rectangle 342">
              <a:extLst>
                <a:ext uri="{FF2B5EF4-FFF2-40B4-BE49-F238E27FC236}">
                  <a16:creationId xmlns:a16="http://schemas.microsoft.com/office/drawing/2014/main" id="{CF21DD30-29F8-806B-B772-1ACEF180EBD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56" name="Oval 343">
              <a:extLst>
                <a:ext uri="{FF2B5EF4-FFF2-40B4-BE49-F238E27FC236}">
                  <a16:creationId xmlns:a16="http://schemas.microsoft.com/office/drawing/2014/main" id="{6A7A0F05-4273-7993-D48E-4ACB57AA197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70" name="Grupo 169">
            <a:extLst>
              <a:ext uri="{FF2B5EF4-FFF2-40B4-BE49-F238E27FC236}">
                <a16:creationId xmlns:a16="http://schemas.microsoft.com/office/drawing/2014/main" id="{315EA6A6-335E-2F90-07A7-E0C17DA5ED07}"/>
              </a:ext>
            </a:extLst>
          </p:cNvPr>
          <p:cNvGrpSpPr/>
          <p:nvPr/>
        </p:nvGrpSpPr>
        <p:grpSpPr>
          <a:xfrm>
            <a:off x="5557116" y="4018632"/>
            <a:ext cx="443725" cy="250799"/>
            <a:chOff x="5572820" y="4018632"/>
            <a:chExt cx="443725" cy="250799"/>
          </a:xfrm>
        </p:grpSpPr>
        <p:sp>
          <p:nvSpPr>
            <p:cNvPr id="159" name="Google Shape;1775;p42">
              <a:extLst>
                <a:ext uri="{FF2B5EF4-FFF2-40B4-BE49-F238E27FC236}">
                  <a16:creationId xmlns:a16="http://schemas.microsoft.com/office/drawing/2014/main" id="{F01E6CB9-BB43-3C2E-BD5E-1E55102614FA}"/>
                </a:ext>
              </a:extLst>
            </p:cNvPr>
            <p:cNvSpPr/>
            <p:nvPr/>
          </p:nvSpPr>
          <p:spPr>
            <a:xfrm>
              <a:off x="5572820" y="4018632"/>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60" name="Google Shape;1775;p42">
              <a:extLst>
                <a:ext uri="{FF2B5EF4-FFF2-40B4-BE49-F238E27FC236}">
                  <a16:creationId xmlns:a16="http://schemas.microsoft.com/office/drawing/2014/main" id="{3714CB8B-99F0-9ED3-B5AE-36F81A4B3D0C}"/>
                </a:ext>
              </a:extLst>
            </p:cNvPr>
            <p:cNvSpPr/>
            <p:nvPr/>
          </p:nvSpPr>
          <p:spPr>
            <a:xfrm>
              <a:off x="5575283" y="4018632"/>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161" name="Rectangle 447">
              <a:extLst>
                <a:ext uri="{FF2B5EF4-FFF2-40B4-BE49-F238E27FC236}">
                  <a16:creationId xmlns:a16="http://schemas.microsoft.com/office/drawing/2014/main" id="{0CC38757-F3F1-7DE7-D4E0-0668BF328193}"/>
                </a:ext>
              </a:extLst>
            </p:cNvPr>
            <p:cNvSpPr/>
            <p:nvPr/>
          </p:nvSpPr>
          <p:spPr>
            <a:xfrm>
              <a:off x="5613621" y="4143266"/>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2" name="Rectangle 448">
              <a:extLst>
                <a:ext uri="{FF2B5EF4-FFF2-40B4-BE49-F238E27FC236}">
                  <a16:creationId xmlns:a16="http://schemas.microsoft.com/office/drawing/2014/main" id="{AED4376B-7B5C-4B85-BA0B-EE1FEF7CCF8D}"/>
                </a:ext>
              </a:extLst>
            </p:cNvPr>
            <p:cNvSpPr/>
            <p:nvPr/>
          </p:nvSpPr>
          <p:spPr>
            <a:xfrm>
              <a:off x="5618305" y="4187309"/>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3" name="Oval 449">
              <a:extLst>
                <a:ext uri="{FF2B5EF4-FFF2-40B4-BE49-F238E27FC236}">
                  <a16:creationId xmlns:a16="http://schemas.microsoft.com/office/drawing/2014/main" id="{AD2A30EF-31DF-47A6-5017-A60816988D8D}"/>
                </a:ext>
              </a:extLst>
            </p:cNvPr>
            <p:cNvSpPr/>
            <p:nvPr/>
          </p:nvSpPr>
          <p:spPr>
            <a:xfrm>
              <a:off x="5895824" y="4108042"/>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69" name="Grupo 168">
            <a:extLst>
              <a:ext uri="{FF2B5EF4-FFF2-40B4-BE49-F238E27FC236}">
                <a16:creationId xmlns:a16="http://schemas.microsoft.com/office/drawing/2014/main" id="{CC8C0999-FC97-FB23-0E8F-96776BCFF6B9}"/>
              </a:ext>
            </a:extLst>
          </p:cNvPr>
          <p:cNvGrpSpPr/>
          <p:nvPr/>
        </p:nvGrpSpPr>
        <p:grpSpPr>
          <a:xfrm>
            <a:off x="6166262" y="4032036"/>
            <a:ext cx="443725" cy="250799"/>
            <a:chOff x="6166262" y="4032036"/>
            <a:chExt cx="443725" cy="250799"/>
          </a:xfrm>
        </p:grpSpPr>
        <p:sp>
          <p:nvSpPr>
            <p:cNvPr id="164" name="Google Shape;1775;p42">
              <a:extLst>
                <a:ext uri="{FF2B5EF4-FFF2-40B4-BE49-F238E27FC236}">
                  <a16:creationId xmlns:a16="http://schemas.microsoft.com/office/drawing/2014/main" id="{392780E4-65BA-2604-FF2B-8F2BF8940546}"/>
                </a:ext>
              </a:extLst>
            </p:cNvPr>
            <p:cNvSpPr/>
            <p:nvPr/>
          </p:nvSpPr>
          <p:spPr>
            <a:xfrm>
              <a:off x="6166262" y="4032036"/>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65" name="Google Shape;1775;p42">
              <a:extLst>
                <a:ext uri="{FF2B5EF4-FFF2-40B4-BE49-F238E27FC236}">
                  <a16:creationId xmlns:a16="http://schemas.microsoft.com/office/drawing/2014/main" id="{05459CD9-78A5-E475-4B74-598FD40CDE48}"/>
                </a:ext>
              </a:extLst>
            </p:cNvPr>
            <p:cNvSpPr/>
            <p:nvPr/>
          </p:nvSpPr>
          <p:spPr>
            <a:xfrm>
              <a:off x="6168725" y="4032036"/>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166" name="Rectangle 452">
              <a:extLst>
                <a:ext uri="{FF2B5EF4-FFF2-40B4-BE49-F238E27FC236}">
                  <a16:creationId xmlns:a16="http://schemas.microsoft.com/office/drawing/2014/main" id="{95F0BE79-1E8C-14A5-5EB8-C132D365D847}"/>
                </a:ext>
              </a:extLst>
            </p:cNvPr>
            <p:cNvSpPr/>
            <p:nvPr/>
          </p:nvSpPr>
          <p:spPr>
            <a:xfrm>
              <a:off x="6207064" y="4156669"/>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7" name="Rectangle 453">
              <a:extLst>
                <a:ext uri="{FF2B5EF4-FFF2-40B4-BE49-F238E27FC236}">
                  <a16:creationId xmlns:a16="http://schemas.microsoft.com/office/drawing/2014/main" id="{9A65BDFE-7615-E979-576F-016F0BCDD9C0}"/>
                </a:ext>
              </a:extLst>
            </p:cNvPr>
            <p:cNvSpPr/>
            <p:nvPr/>
          </p:nvSpPr>
          <p:spPr>
            <a:xfrm>
              <a:off x="6211748" y="4200713"/>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8" name="Oval 454">
              <a:extLst>
                <a:ext uri="{FF2B5EF4-FFF2-40B4-BE49-F238E27FC236}">
                  <a16:creationId xmlns:a16="http://schemas.microsoft.com/office/drawing/2014/main" id="{3470383F-C675-0512-1ECD-B84C08C604C8}"/>
                </a:ext>
              </a:extLst>
            </p:cNvPr>
            <p:cNvSpPr/>
            <p:nvPr/>
          </p:nvSpPr>
          <p:spPr>
            <a:xfrm>
              <a:off x="6489266" y="4121446"/>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171" name="TextBox 47">
            <a:extLst>
              <a:ext uri="{FF2B5EF4-FFF2-40B4-BE49-F238E27FC236}">
                <a16:creationId xmlns:a16="http://schemas.microsoft.com/office/drawing/2014/main" id="{9FEF6DCC-F0E6-07F2-1695-1FBC46CDADC5}"/>
              </a:ext>
            </a:extLst>
          </p:cNvPr>
          <p:cNvSpPr txBox="1"/>
          <p:nvPr/>
        </p:nvSpPr>
        <p:spPr>
          <a:xfrm>
            <a:off x="5181447" y="1768408"/>
            <a:ext cx="1828800" cy="240066"/>
          </a:xfrm>
          <a:prstGeom prst="rect">
            <a:avLst/>
          </a:prstGeom>
          <a:noFill/>
        </p:spPr>
        <p:txBody>
          <a:bodyPr wrap="square" lIns="54864" tIns="27432" rIns="54864" bIns="27432" anchor="t">
            <a:spAutoFit/>
          </a:bodyPr>
          <a:lstStyle>
            <a:defPPr>
              <a:defRPr lang="es-MX"/>
            </a:defPPr>
            <a:lvl1pPr>
              <a:defRPr sz="1200" b="1">
                <a:solidFill>
                  <a:schemeClr val="bg1">
                    <a:lumMod val="65000"/>
                  </a:schemeClr>
                </a:solidFill>
                <a:latin typeface="Arial" panose="020B0604020202020204" pitchFamily="34" charset="0"/>
                <a:cs typeface="Arial" panose="020B0604020202020204" pitchFamily="34" charset="0"/>
              </a:defRPr>
            </a:lvl1pPr>
          </a:lstStyle>
          <a:p>
            <a:pPr algn="ctr"/>
            <a:r>
              <a:rPr lang="en-US"/>
              <a:t>Demand Backlog</a:t>
            </a:r>
          </a:p>
        </p:txBody>
      </p:sp>
      <p:cxnSp>
        <p:nvCxnSpPr>
          <p:cNvPr id="316" name="Google Shape;1772;p42">
            <a:extLst>
              <a:ext uri="{FF2B5EF4-FFF2-40B4-BE49-F238E27FC236}">
                <a16:creationId xmlns:a16="http://schemas.microsoft.com/office/drawing/2014/main" id="{D8373904-6561-587A-E322-4C45F5FAFC17}"/>
              </a:ext>
            </a:extLst>
          </p:cNvPr>
          <p:cNvCxnSpPr>
            <a:cxnSpLocks/>
          </p:cNvCxnSpPr>
          <p:nvPr/>
        </p:nvCxnSpPr>
        <p:spPr>
          <a:xfrm flipH="1" flipV="1">
            <a:off x="8076102" y="2110477"/>
            <a:ext cx="2248" cy="2088000"/>
          </a:xfrm>
          <a:prstGeom prst="straightConnector1">
            <a:avLst/>
          </a:prstGeom>
          <a:noFill/>
          <a:ln w="9525" cap="flat" cmpd="sng">
            <a:solidFill>
              <a:schemeClr val="dk1"/>
            </a:solidFill>
            <a:prstDash val="solid"/>
            <a:round/>
            <a:headEnd type="none" w="sm" len="sm"/>
            <a:tailEnd type="stealth" w="med" len="med"/>
          </a:ln>
        </p:spPr>
      </p:cxnSp>
      <p:grpSp>
        <p:nvGrpSpPr>
          <p:cNvPr id="344" name="Grupo 343">
            <a:extLst>
              <a:ext uri="{FF2B5EF4-FFF2-40B4-BE49-F238E27FC236}">
                <a16:creationId xmlns:a16="http://schemas.microsoft.com/office/drawing/2014/main" id="{21699FC4-37AF-05D5-B3D0-650DB2FCC2A0}"/>
              </a:ext>
            </a:extLst>
          </p:cNvPr>
          <p:cNvGrpSpPr/>
          <p:nvPr/>
        </p:nvGrpSpPr>
        <p:grpSpPr>
          <a:xfrm>
            <a:off x="8152557" y="2137355"/>
            <a:ext cx="495189" cy="298200"/>
            <a:chOff x="8724057" y="2114495"/>
            <a:chExt cx="495189" cy="298200"/>
          </a:xfrm>
        </p:grpSpPr>
        <p:grpSp>
          <p:nvGrpSpPr>
            <p:cNvPr id="328" name="Group 304">
              <a:extLst>
                <a:ext uri="{FF2B5EF4-FFF2-40B4-BE49-F238E27FC236}">
                  <a16:creationId xmlns:a16="http://schemas.microsoft.com/office/drawing/2014/main" id="{7122A1F4-DD79-B991-257D-37E027422AEB}"/>
                </a:ext>
              </a:extLst>
            </p:cNvPr>
            <p:cNvGrpSpPr/>
            <p:nvPr/>
          </p:nvGrpSpPr>
          <p:grpSpPr>
            <a:xfrm>
              <a:off x="8775521" y="2161896"/>
              <a:ext cx="443725" cy="250799"/>
              <a:chOff x="6964708" y="4299700"/>
              <a:chExt cx="1208965" cy="753345"/>
            </a:xfrm>
          </p:grpSpPr>
          <p:grpSp>
            <p:nvGrpSpPr>
              <p:cNvPr id="329" name="Group 305">
                <a:extLst>
                  <a:ext uri="{FF2B5EF4-FFF2-40B4-BE49-F238E27FC236}">
                    <a16:creationId xmlns:a16="http://schemas.microsoft.com/office/drawing/2014/main" id="{1384AE43-E089-DD2D-C3FC-951E9E88FBCB}"/>
                  </a:ext>
                </a:extLst>
              </p:cNvPr>
              <p:cNvGrpSpPr/>
              <p:nvPr/>
            </p:nvGrpSpPr>
            <p:grpSpPr>
              <a:xfrm>
                <a:off x="6964708" y="4299700"/>
                <a:ext cx="1208965" cy="753345"/>
                <a:chOff x="6629084" y="4161784"/>
                <a:chExt cx="1208965" cy="753345"/>
              </a:xfrm>
            </p:grpSpPr>
            <p:sp>
              <p:nvSpPr>
                <p:cNvPr id="333" name="Google Shape;1775;p42">
                  <a:extLst>
                    <a:ext uri="{FF2B5EF4-FFF2-40B4-BE49-F238E27FC236}">
                      <a16:creationId xmlns:a16="http://schemas.microsoft.com/office/drawing/2014/main" id="{D574A0F4-99E2-1AC8-78EB-96B4AFAD6C0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34" name="Google Shape;1775;p42">
                  <a:extLst>
                    <a:ext uri="{FF2B5EF4-FFF2-40B4-BE49-F238E27FC236}">
                      <a16:creationId xmlns:a16="http://schemas.microsoft.com/office/drawing/2014/main" id="{1E5C294D-DE3C-419B-A74B-54D8A35435E7}"/>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0" name="Rectangle 306">
                <a:extLst>
                  <a:ext uri="{FF2B5EF4-FFF2-40B4-BE49-F238E27FC236}">
                    <a16:creationId xmlns:a16="http://schemas.microsoft.com/office/drawing/2014/main" id="{4214838C-B14C-3550-71C9-4F1E7CE01BD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1" name="Rectangle 307">
                <a:extLst>
                  <a:ext uri="{FF2B5EF4-FFF2-40B4-BE49-F238E27FC236}">
                    <a16:creationId xmlns:a16="http://schemas.microsoft.com/office/drawing/2014/main" id="{6A9F05C7-64F1-07B0-0270-0B19E9DD15C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2" name="Oval 308">
                <a:extLst>
                  <a:ext uri="{FF2B5EF4-FFF2-40B4-BE49-F238E27FC236}">
                    <a16:creationId xmlns:a16="http://schemas.microsoft.com/office/drawing/2014/main" id="{EE61D7F9-E34C-174D-9944-AE201230783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35" name="TextBox 145">
              <a:extLst>
                <a:ext uri="{FF2B5EF4-FFF2-40B4-BE49-F238E27FC236}">
                  <a16:creationId xmlns:a16="http://schemas.microsoft.com/office/drawing/2014/main" id="{50C3E34D-C59F-A15C-BC19-1D2DA39640A1}"/>
                </a:ext>
              </a:extLst>
            </p:cNvPr>
            <p:cNvSpPr txBox="1"/>
            <p:nvPr/>
          </p:nvSpPr>
          <p:spPr>
            <a:xfrm>
              <a:off x="8724057" y="211449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45" name="Grupo 344">
            <a:extLst>
              <a:ext uri="{FF2B5EF4-FFF2-40B4-BE49-F238E27FC236}">
                <a16:creationId xmlns:a16="http://schemas.microsoft.com/office/drawing/2014/main" id="{205A7811-63D2-DD1C-39FD-098114989A5B}"/>
              </a:ext>
            </a:extLst>
          </p:cNvPr>
          <p:cNvGrpSpPr/>
          <p:nvPr/>
        </p:nvGrpSpPr>
        <p:grpSpPr>
          <a:xfrm>
            <a:off x="8152557" y="2498035"/>
            <a:ext cx="512071" cy="298721"/>
            <a:chOff x="8724057" y="2475175"/>
            <a:chExt cx="512071" cy="298721"/>
          </a:xfrm>
        </p:grpSpPr>
        <p:grpSp>
          <p:nvGrpSpPr>
            <p:cNvPr id="107" name="Group 134">
              <a:extLst>
                <a:ext uri="{FF2B5EF4-FFF2-40B4-BE49-F238E27FC236}">
                  <a16:creationId xmlns:a16="http://schemas.microsoft.com/office/drawing/2014/main" id="{6B4874DD-3383-6126-9A29-AFCDEFA2F1B5}"/>
                </a:ext>
              </a:extLst>
            </p:cNvPr>
            <p:cNvGrpSpPr/>
            <p:nvPr/>
          </p:nvGrpSpPr>
          <p:grpSpPr>
            <a:xfrm>
              <a:off x="8792403" y="2523097"/>
              <a:ext cx="443725" cy="250799"/>
              <a:chOff x="6964708" y="4299700"/>
              <a:chExt cx="1208965" cy="753345"/>
            </a:xfrm>
          </p:grpSpPr>
          <p:grpSp>
            <p:nvGrpSpPr>
              <p:cNvPr id="108" name="Group 135">
                <a:extLst>
                  <a:ext uri="{FF2B5EF4-FFF2-40B4-BE49-F238E27FC236}">
                    <a16:creationId xmlns:a16="http://schemas.microsoft.com/office/drawing/2014/main" id="{51822C4C-ABF9-54D5-867E-20B41798403B}"/>
                  </a:ext>
                </a:extLst>
              </p:cNvPr>
              <p:cNvGrpSpPr/>
              <p:nvPr/>
            </p:nvGrpSpPr>
            <p:grpSpPr>
              <a:xfrm>
                <a:off x="6964708" y="4299700"/>
                <a:ext cx="1208965" cy="753345"/>
                <a:chOff x="6629084" y="4161784"/>
                <a:chExt cx="1208965" cy="753345"/>
              </a:xfrm>
            </p:grpSpPr>
            <p:sp>
              <p:nvSpPr>
                <p:cNvPr id="112" name="Google Shape;1775;p42">
                  <a:extLst>
                    <a:ext uri="{FF2B5EF4-FFF2-40B4-BE49-F238E27FC236}">
                      <a16:creationId xmlns:a16="http://schemas.microsoft.com/office/drawing/2014/main" id="{B2837A59-A69E-CAF6-1AD4-46268A7BF1C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3" name="Google Shape;1775;p42">
                  <a:extLst>
                    <a:ext uri="{FF2B5EF4-FFF2-40B4-BE49-F238E27FC236}">
                      <a16:creationId xmlns:a16="http://schemas.microsoft.com/office/drawing/2014/main" id="{8BEDFF3E-E81B-31DF-C1CA-F3C9A736065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9" name="Rectangle 136">
                <a:extLst>
                  <a:ext uri="{FF2B5EF4-FFF2-40B4-BE49-F238E27FC236}">
                    <a16:creationId xmlns:a16="http://schemas.microsoft.com/office/drawing/2014/main" id="{4B8E2B85-446D-1D81-0314-2BC9C7AF007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0" name="Rectangle 137">
                <a:extLst>
                  <a:ext uri="{FF2B5EF4-FFF2-40B4-BE49-F238E27FC236}">
                    <a16:creationId xmlns:a16="http://schemas.microsoft.com/office/drawing/2014/main" id="{0A45ADF0-D6EF-C693-E983-49C9145FC85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1" name="Oval 138">
                <a:extLst>
                  <a:ext uri="{FF2B5EF4-FFF2-40B4-BE49-F238E27FC236}">
                    <a16:creationId xmlns:a16="http://schemas.microsoft.com/office/drawing/2014/main" id="{C9373BF6-1189-0927-CE14-9BA9C032C58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36" name="TextBox 145">
              <a:extLst>
                <a:ext uri="{FF2B5EF4-FFF2-40B4-BE49-F238E27FC236}">
                  <a16:creationId xmlns:a16="http://schemas.microsoft.com/office/drawing/2014/main" id="{3A7F1636-EDE3-2948-FCE4-35A95109090C}"/>
                </a:ext>
              </a:extLst>
            </p:cNvPr>
            <p:cNvSpPr txBox="1"/>
            <p:nvPr/>
          </p:nvSpPr>
          <p:spPr>
            <a:xfrm>
              <a:off x="8724057" y="247517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37" name="Group 304">
            <a:extLst>
              <a:ext uri="{FF2B5EF4-FFF2-40B4-BE49-F238E27FC236}">
                <a16:creationId xmlns:a16="http://schemas.microsoft.com/office/drawing/2014/main" id="{0226DA15-E299-F2EC-E3F5-4FFF54AFE315}"/>
              </a:ext>
            </a:extLst>
          </p:cNvPr>
          <p:cNvGrpSpPr/>
          <p:nvPr/>
        </p:nvGrpSpPr>
        <p:grpSpPr>
          <a:xfrm>
            <a:off x="6166262" y="2423676"/>
            <a:ext cx="443725" cy="250799"/>
            <a:chOff x="6964708" y="4299700"/>
            <a:chExt cx="1208965" cy="753345"/>
          </a:xfrm>
        </p:grpSpPr>
        <p:grpSp>
          <p:nvGrpSpPr>
            <p:cNvPr id="338" name="Group 305">
              <a:extLst>
                <a:ext uri="{FF2B5EF4-FFF2-40B4-BE49-F238E27FC236}">
                  <a16:creationId xmlns:a16="http://schemas.microsoft.com/office/drawing/2014/main" id="{CFB592F1-D9D3-9FBD-0148-96BD1FBA8263}"/>
                </a:ext>
              </a:extLst>
            </p:cNvPr>
            <p:cNvGrpSpPr/>
            <p:nvPr/>
          </p:nvGrpSpPr>
          <p:grpSpPr>
            <a:xfrm>
              <a:off x="6964708" y="4299700"/>
              <a:ext cx="1208965" cy="753345"/>
              <a:chOff x="6629084" y="4161784"/>
              <a:chExt cx="1208965" cy="753345"/>
            </a:xfrm>
          </p:grpSpPr>
          <p:sp>
            <p:nvSpPr>
              <p:cNvPr id="342" name="Google Shape;1775;p42">
                <a:extLst>
                  <a:ext uri="{FF2B5EF4-FFF2-40B4-BE49-F238E27FC236}">
                    <a16:creationId xmlns:a16="http://schemas.microsoft.com/office/drawing/2014/main" id="{4C1955A8-DF40-393C-5922-5F4BB0405C5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3" name="Google Shape;1775;p42">
                <a:extLst>
                  <a:ext uri="{FF2B5EF4-FFF2-40B4-BE49-F238E27FC236}">
                    <a16:creationId xmlns:a16="http://schemas.microsoft.com/office/drawing/2014/main" id="{6577FDCE-C15A-FC71-3C2B-B417FD67DB5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9" name="Rectangle 306">
              <a:extLst>
                <a:ext uri="{FF2B5EF4-FFF2-40B4-BE49-F238E27FC236}">
                  <a16:creationId xmlns:a16="http://schemas.microsoft.com/office/drawing/2014/main" id="{12C30605-1631-76AB-5045-6C460ECB1AE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0" name="Rectangle 307">
              <a:extLst>
                <a:ext uri="{FF2B5EF4-FFF2-40B4-BE49-F238E27FC236}">
                  <a16:creationId xmlns:a16="http://schemas.microsoft.com/office/drawing/2014/main" id="{3E42DDE9-4749-6CFE-6782-0D89BA348D1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1" name="Oval 308">
              <a:extLst>
                <a:ext uri="{FF2B5EF4-FFF2-40B4-BE49-F238E27FC236}">
                  <a16:creationId xmlns:a16="http://schemas.microsoft.com/office/drawing/2014/main" id="{0CA4C2A6-C26E-B3C7-B7E5-1973E51650D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9" name="Grupo 378">
            <a:extLst>
              <a:ext uri="{FF2B5EF4-FFF2-40B4-BE49-F238E27FC236}">
                <a16:creationId xmlns:a16="http://schemas.microsoft.com/office/drawing/2014/main" id="{B336821C-F25F-95AB-C187-EF894A1CDF3F}"/>
              </a:ext>
            </a:extLst>
          </p:cNvPr>
          <p:cNvGrpSpPr/>
          <p:nvPr/>
        </p:nvGrpSpPr>
        <p:grpSpPr>
          <a:xfrm>
            <a:off x="8164921" y="3159975"/>
            <a:ext cx="502747" cy="299237"/>
            <a:chOff x="8736421" y="3137115"/>
            <a:chExt cx="502747" cy="299237"/>
          </a:xfrm>
        </p:grpSpPr>
        <p:grpSp>
          <p:nvGrpSpPr>
            <p:cNvPr id="364" name="Group 46">
              <a:extLst>
                <a:ext uri="{FF2B5EF4-FFF2-40B4-BE49-F238E27FC236}">
                  <a16:creationId xmlns:a16="http://schemas.microsoft.com/office/drawing/2014/main" id="{FEF73523-0C4C-ACFB-1444-9F23AC9FD542}"/>
                </a:ext>
              </a:extLst>
            </p:cNvPr>
            <p:cNvGrpSpPr/>
            <p:nvPr/>
          </p:nvGrpSpPr>
          <p:grpSpPr>
            <a:xfrm>
              <a:off x="8795443" y="3185553"/>
              <a:ext cx="443725" cy="250799"/>
              <a:chOff x="6964708" y="4299700"/>
              <a:chExt cx="1208965" cy="753345"/>
            </a:xfrm>
          </p:grpSpPr>
          <p:grpSp>
            <p:nvGrpSpPr>
              <p:cNvPr id="365" name="Group 47">
                <a:extLst>
                  <a:ext uri="{FF2B5EF4-FFF2-40B4-BE49-F238E27FC236}">
                    <a16:creationId xmlns:a16="http://schemas.microsoft.com/office/drawing/2014/main" id="{A01C36B7-B375-2E1B-F80D-9CC37CB395B9}"/>
                  </a:ext>
                </a:extLst>
              </p:cNvPr>
              <p:cNvGrpSpPr/>
              <p:nvPr/>
            </p:nvGrpSpPr>
            <p:grpSpPr>
              <a:xfrm>
                <a:off x="6964708" y="4299700"/>
                <a:ext cx="1208965" cy="753345"/>
                <a:chOff x="6629084" y="4161784"/>
                <a:chExt cx="1208965" cy="753345"/>
              </a:xfrm>
            </p:grpSpPr>
            <p:sp>
              <p:nvSpPr>
                <p:cNvPr id="369" name="Google Shape;1775;p42">
                  <a:extLst>
                    <a:ext uri="{FF2B5EF4-FFF2-40B4-BE49-F238E27FC236}">
                      <a16:creationId xmlns:a16="http://schemas.microsoft.com/office/drawing/2014/main" id="{6F17E1E9-2275-12A5-A7D8-A94C2D297D5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70" name="Google Shape;1775;p42">
                  <a:extLst>
                    <a:ext uri="{FF2B5EF4-FFF2-40B4-BE49-F238E27FC236}">
                      <a16:creationId xmlns:a16="http://schemas.microsoft.com/office/drawing/2014/main" id="{4B6A1662-1330-2617-7BE1-E25DB78C4200}"/>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66" name="Rectangle 48">
                <a:extLst>
                  <a:ext uri="{FF2B5EF4-FFF2-40B4-BE49-F238E27FC236}">
                    <a16:creationId xmlns:a16="http://schemas.microsoft.com/office/drawing/2014/main" id="{087FA3F4-A665-8863-1CE1-E973FD6DEC8F}"/>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7" name="Rectangle 49">
                <a:extLst>
                  <a:ext uri="{FF2B5EF4-FFF2-40B4-BE49-F238E27FC236}">
                    <a16:creationId xmlns:a16="http://schemas.microsoft.com/office/drawing/2014/main" id="{6C7DEA8D-C352-B7A5-A968-8A79BE45AB7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8" name="Oval 50">
                <a:extLst>
                  <a:ext uri="{FF2B5EF4-FFF2-40B4-BE49-F238E27FC236}">
                    <a16:creationId xmlns:a16="http://schemas.microsoft.com/office/drawing/2014/main" id="{6E7C23F1-FC79-F477-04B2-9785A85CBCAD}"/>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78" name="TextBox 145">
              <a:extLst>
                <a:ext uri="{FF2B5EF4-FFF2-40B4-BE49-F238E27FC236}">
                  <a16:creationId xmlns:a16="http://schemas.microsoft.com/office/drawing/2014/main" id="{751C6F8E-B4CD-BF63-3F09-CFF10D9B27B0}"/>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80" name="Grupo 379">
            <a:extLst>
              <a:ext uri="{FF2B5EF4-FFF2-40B4-BE49-F238E27FC236}">
                <a16:creationId xmlns:a16="http://schemas.microsoft.com/office/drawing/2014/main" id="{2BA677B2-F4B7-8681-0EE2-6346EFA1C926}"/>
              </a:ext>
            </a:extLst>
          </p:cNvPr>
          <p:cNvGrpSpPr/>
          <p:nvPr/>
        </p:nvGrpSpPr>
        <p:grpSpPr>
          <a:xfrm>
            <a:off x="8170001" y="3485095"/>
            <a:ext cx="502747" cy="299237"/>
            <a:chOff x="8736421" y="3137115"/>
            <a:chExt cx="502747" cy="299237"/>
          </a:xfrm>
        </p:grpSpPr>
        <p:grpSp>
          <p:nvGrpSpPr>
            <p:cNvPr id="381" name="Group 46">
              <a:extLst>
                <a:ext uri="{FF2B5EF4-FFF2-40B4-BE49-F238E27FC236}">
                  <a16:creationId xmlns:a16="http://schemas.microsoft.com/office/drawing/2014/main" id="{FAAF3355-66E1-3C70-192D-35D7754E8BBC}"/>
                </a:ext>
              </a:extLst>
            </p:cNvPr>
            <p:cNvGrpSpPr/>
            <p:nvPr/>
          </p:nvGrpSpPr>
          <p:grpSpPr>
            <a:xfrm>
              <a:off x="8795443" y="3185553"/>
              <a:ext cx="443725" cy="250799"/>
              <a:chOff x="6964708" y="4299700"/>
              <a:chExt cx="1208965" cy="753345"/>
            </a:xfrm>
          </p:grpSpPr>
          <p:grpSp>
            <p:nvGrpSpPr>
              <p:cNvPr id="383" name="Group 47">
                <a:extLst>
                  <a:ext uri="{FF2B5EF4-FFF2-40B4-BE49-F238E27FC236}">
                    <a16:creationId xmlns:a16="http://schemas.microsoft.com/office/drawing/2014/main" id="{8DD8EC2F-5196-1097-D7F4-8B4EAEC220CE}"/>
                  </a:ext>
                </a:extLst>
              </p:cNvPr>
              <p:cNvGrpSpPr/>
              <p:nvPr/>
            </p:nvGrpSpPr>
            <p:grpSpPr>
              <a:xfrm>
                <a:off x="6964708" y="4299700"/>
                <a:ext cx="1208965" cy="753345"/>
                <a:chOff x="6629084" y="4161784"/>
                <a:chExt cx="1208965" cy="753345"/>
              </a:xfrm>
            </p:grpSpPr>
            <p:sp>
              <p:nvSpPr>
                <p:cNvPr id="387" name="Google Shape;1775;p42">
                  <a:extLst>
                    <a:ext uri="{FF2B5EF4-FFF2-40B4-BE49-F238E27FC236}">
                      <a16:creationId xmlns:a16="http://schemas.microsoft.com/office/drawing/2014/main" id="{5134DA50-2240-16B5-635E-ECA71CD25F7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88" name="Google Shape;1775;p42">
                  <a:extLst>
                    <a:ext uri="{FF2B5EF4-FFF2-40B4-BE49-F238E27FC236}">
                      <a16:creationId xmlns:a16="http://schemas.microsoft.com/office/drawing/2014/main" id="{EA59E18D-C663-F1B6-0885-AB505FAB70B5}"/>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84" name="Rectangle 48">
                <a:extLst>
                  <a:ext uri="{FF2B5EF4-FFF2-40B4-BE49-F238E27FC236}">
                    <a16:creationId xmlns:a16="http://schemas.microsoft.com/office/drawing/2014/main" id="{CF59CC87-893C-97E2-B3B7-94B4218C92E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5" name="Rectangle 49">
                <a:extLst>
                  <a:ext uri="{FF2B5EF4-FFF2-40B4-BE49-F238E27FC236}">
                    <a16:creationId xmlns:a16="http://schemas.microsoft.com/office/drawing/2014/main" id="{9D43043E-98A0-D99A-97D3-54F0626B287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6" name="Oval 50">
                <a:extLst>
                  <a:ext uri="{FF2B5EF4-FFF2-40B4-BE49-F238E27FC236}">
                    <a16:creationId xmlns:a16="http://schemas.microsoft.com/office/drawing/2014/main" id="{09877569-BF7B-FC1F-9450-E92740DA98F1}"/>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82" name="TextBox 145">
              <a:extLst>
                <a:ext uri="{FF2B5EF4-FFF2-40B4-BE49-F238E27FC236}">
                  <a16:creationId xmlns:a16="http://schemas.microsoft.com/office/drawing/2014/main" id="{39423B21-6CFD-FD7F-B837-D48A24C1D263}"/>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89" name="Grupo 388">
            <a:extLst>
              <a:ext uri="{FF2B5EF4-FFF2-40B4-BE49-F238E27FC236}">
                <a16:creationId xmlns:a16="http://schemas.microsoft.com/office/drawing/2014/main" id="{84ABF618-3FAF-033E-1F4A-5B62E84D5FCF}"/>
              </a:ext>
            </a:extLst>
          </p:cNvPr>
          <p:cNvGrpSpPr/>
          <p:nvPr/>
        </p:nvGrpSpPr>
        <p:grpSpPr>
          <a:xfrm>
            <a:off x="8185241" y="3815295"/>
            <a:ext cx="502747" cy="299237"/>
            <a:chOff x="8736421" y="3137115"/>
            <a:chExt cx="502747" cy="299237"/>
          </a:xfrm>
        </p:grpSpPr>
        <p:grpSp>
          <p:nvGrpSpPr>
            <p:cNvPr id="390" name="Group 46">
              <a:extLst>
                <a:ext uri="{FF2B5EF4-FFF2-40B4-BE49-F238E27FC236}">
                  <a16:creationId xmlns:a16="http://schemas.microsoft.com/office/drawing/2014/main" id="{8444A830-7D34-6892-9369-BC3B2919DEF4}"/>
                </a:ext>
              </a:extLst>
            </p:cNvPr>
            <p:cNvGrpSpPr/>
            <p:nvPr/>
          </p:nvGrpSpPr>
          <p:grpSpPr>
            <a:xfrm>
              <a:off x="8795443" y="3185553"/>
              <a:ext cx="443725" cy="250799"/>
              <a:chOff x="6964708" y="4299700"/>
              <a:chExt cx="1208965" cy="753345"/>
            </a:xfrm>
          </p:grpSpPr>
          <p:grpSp>
            <p:nvGrpSpPr>
              <p:cNvPr id="392" name="Group 47">
                <a:extLst>
                  <a:ext uri="{FF2B5EF4-FFF2-40B4-BE49-F238E27FC236}">
                    <a16:creationId xmlns:a16="http://schemas.microsoft.com/office/drawing/2014/main" id="{98FF8675-FA1F-DABB-92A8-D6CC0D2C8779}"/>
                  </a:ext>
                </a:extLst>
              </p:cNvPr>
              <p:cNvGrpSpPr/>
              <p:nvPr/>
            </p:nvGrpSpPr>
            <p:grpSpPr>
              <a:xfrm>
                <a:off x="6964708" y="4299700"/>
                <a:ext cx="1208965" cy="753345"/>
                <a:chOff x="6629084" y="4161784"/>
                <a:chExt cx="1208965" cy="753345"/>
              </a:xfrm>
            </p:grpSpPr>
            <p:sp>
              <p:nvSpPr>
                <p:cNvPr id="396" name="Google Shape;1775;p42">
                  <a:extLst>
                    <a:ext uri="{FF2B5EF4-FFF2-40B4-BE49-F238E27FC236}">
                      <a16:creationId xmlns:a16="http://schemas.microsoft.com/office/drawing/2014/main" id="{A199DE67-B2EA-F78B-E8D7-54FBA83BC95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7" name="Google Shape;1775;p42">
                  <a:extLst>
                    <a:ext uri="{FF2B5EF4-FFF2-40B4-BE49-F238E27FC236}">
                      <a16:creationId xmlns:a16="http://schemas.microsoft.com/office/drawing/2014/main" id="{74F5049B-D0A3-D0C8-4614-A44D4719E9AD}"/>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93" name="Rectangle 48">
                <a:extLst>
                  <a:ext uri="{FF2B5EF4-FFF2-40B4-BE49-F238E27FC236}">
                    <a16:creationId xmlns:a16="http://schemas.microsoft.com/office/drawing/2014/main" id="{06AC3005-1AB2-CD1E-3AA9-DADD8C240E0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4" name="Rectangle 49">
                <a:extLst>
                  <a:ext uri="{FF2B5EF4-FFF2-40B4-BE49-F238E27FC236}">
                    <a16:creationId xmlns:a16="http://schemas.microsoft.com/office/drawing/2014/main" id="{7C254F65-6066-7C6C-EA24-42587D7B154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5" name="Oval 50">
                <a:extLst>
                  <a:ext uri="{FF2B5EF4-FFF2-40B4-BE49-F238E27FC236}">
                    <a16:creationId xmlns:a16="http://schemas.microsoft.com/office/drawing/2014/main" id="{7745AC15-D689-CF34-8023-9AAA22E2590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91" name="TextBox 145">
              <a:extLst>
                <a:ext uri="{FF2B5EF4-FFF2-40B4-BE49-F238E27FC236}">
                  <a16:creationId xmlns:a16="http://schemas.microsoft.com/office/drawing/2014/main" id="{6CBC7479-0EC4-261C-FAAC-7A9AC7B13535}"/>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98" name="Grupo 397">
            <a:extLst>
              <a:ext uri="{FF2B5EF4-FFF2-40B4-BE49-F238E27FC236}">
                <a16:creationId xmlns:a16="http://schemas.microsoft.com/office/drawing/2014/main" id="{8599EA79-CB6B-AA5E-2689-B04CA7324CF8}"/>
              </a:ext>
            </a:extLst>
          </p:cNvPr>
          <p:cNvGrpSpPr/>
          <p:nvPr/>
        </p:nvGrpSpPr>
        <p:grpSpPr>
          <a:xfrm>
            <a:off x="8224341" y="2875767"/>
            <a:ext cx="443725" cy="250799"/>
            <a:chOff x="6166262" y="4032036"/>
            <a:chExt cx="443725" cy="250799"/>
          </a:xfrm>
        </p:grpSpPr>
        <p:sp>
          <p:nvSpPr>
            <p:cNvPr id="399" name="Google Shape;1775;p42">
              <a:extLst>
                <a:ext uri="{FF2B5EF4-FFF2-40B4-BE49-F238E27FC236}">
                  <a16:creationId xmlns:a16="http://schemas.microsoft.com/office/drawing/2014/main" id="{B567732F-D64A-1BE4-1F1C-C519A91DF245}"/>
                </a:ext>
              </a:extLst>
            </p:cNvPr>
            <p:cNvSpPr/>
            <p:nvPr/>
          </p:nvSpPr>
          <p:spPr>
            <a:xfrm>
              <a:off x="6166262" y="4032036"/>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00" name="Google Shape;1775;p42">
              <a:extLst>
                <a:ext uri="{FF2B5EF4-FFF2-40B4-BE49-F238E27FC236}">
                  <a16:creationId xmlns:a16="http://schemas.microsoft.com/office/drawing/2014/main" id="{6FE0B1CC-BB28-CE2C-D6AD-0433F16457D2}"/>
                </a:ext>
              </a:extLst>
            </p:cNvPr>
            <p:cNvSpPr/>
            <p:nvPr/>
          </p:nvSpPr>
          <p:spPr>
            <a:xfrm>
              <a:off x="6168725" y="4032036"/>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01" name="Rectangle 452">
              <a:extLst>
                <a:ext uri="{FF2B5EF4-FFF2-40B4-BE49-F238E27FC236}">
                  <a16:creationId xmlns:a16="http://schemas.microsoft.com/office/drawing/2014/main" id="{49D3A97F-D311-AB79-B668-5902EF502276}"/>
                </a:ext>
              </a:extLst>
            </p:cNvPr>
            <p:cNvSpPr/>
            <p:nvPr/>
          </p:nvSpPr>
          <p:spPr>
            <a:xfrm>
              <a:off x="6207064" y="4156669"/>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2" name="Rectangle 453">
              <a:extLst>
                <a:ext uri="{FF2B5EF4-FFF2-40B4-BE49-F238E27FC236}">
                  <a16:creationId xmlns:a16="http://schemas.microsoft.com/office/drawing/2014/main" id="{2357E0BE-2A24-E597-76D3-B406E411F972}"/>
                </a:ext>
              </a:extLst>
            </p:cNvPr>
            <p:cNvSpPr/>
            <p:nvPr/>
          </p:nvSpPr>
          <p:spPr>
            <a:xfrm>
              <a:off x="6211748" y="4200713"/>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3" name="Oval 454">
              <a:extLst>
                <a:ext uri="{FF2B5EF4-FFF2-40B4-BE49-F238E27FC236}">
                  <a16:creationId xmlns:a16="http://schemas.microsoft.com/office/drawing/2014/main" id="{498495CA-BBAA-319A-C23C-43FE38A225DA}"/>
                </a:ext>
              </a:extLst>
            </p:cNvPr>
            <p:cNvSpPr/>
            <p:nvPr/>
          </p:nvSpPr>
          <p:spPr>
            <a:xfrm>
              <a:off x="6489266" y="4121446"/>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404" name="TextBox 145">
            <a:extLst>
              <a:ext uri="{FF2B5EF4-FFF2-40B4-BE49-F238E27FC236}">
                <a16:creationId xmlns:a16="http://schemas.microsoft.com/office/drawing/2014/main" id="{6C1CE9E7-3652-ECA2-FC82-2563671175C5}"/>
              </a:ext>
            </a:extLst>
          </p:cNvPr>
          <p:cNvSpPr txBox="1"/>
          <p:nvPr/>
        </p:nvSpPr>
        <p:spPr>
          <a:xfrm>
            <a:off x="8167359" y="2824738"/>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nvGrpSpPr>
          <p:cNvPr id="412" name="Grupo 411">
            <a:extLst>
              <a:ext uri="{FF2B5EF4-FFF2-40B4-BE49-F238E27FC236}">
                <a16:creationId xmlns:a16="http://schemas.microsoft.com/office/drawing/2014/main" id="{AD3650AB-2E08-86E6-8073-8AAABF76AE04}"/>
              </a:ext>
            </a:extLst>
          </p:cNvPr>
          <p:cNvGrpSpPr/>
          <p:nvPr/>
        </p:nvGrpSpPr>
        <p:grpSpPr>
          <a:xfrm>
            <a:off x="8921172" y="3295032"/>
            <a:ext cx="437105" cy="540509"/>
            <a:chOff x="9414385" y="3256792"/>
            <a:chExt cx="437105" cy="540509"/>
          </a:xfrm>
        </p:grpSpPr>
        <p:sp>
          <p:nvSpPr>
            <p:cNvPr id="306" name="Google Shape;1775;p42">
              <a:extLst>
                <a:ext uri="{FF2B5EF4-FFF2-40B4-BE49-F238E27FC236}">
                  <a16:creationId xmlns:a16="http://schemas.microsoft.com/office/drawing/2014/main" id="{EF8471CF-E7B0-6232-2263-C5C4E7B11795}"/>
                </a:ext>
              </a:extLst>
            </p:cNvPr>
            <p:cNvSpPr/>
            <p:nvPr/>
          </p:nvSpPr>
          <p:spPr>
            <a:xfrm>
              <a:off x="9468071" y="3320274"/>
              <a:ext cx="370377" cy="477027"/>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307" name="Google Shape;1775;p42">
              <a:extLst>
                <a:ext uri="{FF2B5EF4-FFF2-40B4-BE49-F238E27FC236}">
                  <a16:creationId xmlns:a16="http://schemas.microsoft.com/office/drawing/2014/main" id="{4A7AB3A8-A06F-61C0-D402-0C82D412FAFA}"/>
                </a:ext>
              </a:extLst>
            </p:cNvPr>
            <p:cNvSpPr/>
            <p:nvPr/>
          </p:nvSpPr>
          <p:spPr>
            <a:xfrm>
              <a:off x="9476915" y="3300358"/>
              <a:ext cx="352687" cy="63687"/>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sp>
          <p:nvSpPr>
            <p:cNvPr id="303" name="Rectangle 289">
              <a:extLst>
                <a:ext uri="{FF2B5EF4-FFF2-40B4-BE49-F238E27FC236}">
                  <a16:creationId xmlns:a16="http://schemas.microsoft.com/office/drawing/2014/main" id="{98C39404-7650-9742-D6AE-16942A95B10F}"/>
                </a:ext>
              </a:extLst>
            </p:cNvPr>
            <p:cNvSpPr/>
            <p:nvPr/>
          </p:nvSpPr>
          <p:spPr>
            <a:xfrm>
              <a:off x="9500454" y="3430329"/>
              <a:ext cx="176085" cy="400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304" name="Rectangle 290">
              <a:extLst>
                <a:ext uri="{FF2B5EF4-FFF2-40B4-BE49-F238E27FC236}">
                  <a16:creationId xmlns:a16="http://schemas.microsoft.com/office/drawing/2014/main" id="{89946438-9A67-FBAC-160F-155AB6EDAC7D}"/>
                </a:ext>
              </a:extLst>
            </p:cNvPr>
            <p:cNvSpPr/>
            <p:nvPr/>
          </p:nvSpPr>
          <p:spPr>
            <a:xfrm>
              <a:off x="9500454" y="3485361"/>
              <a:ext cx="215624" cy="400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305" name="Oval 291">
              <a:extLst>
                <a:ext uri="{FF2B5EF4-FFF2-40B4-BE49-F238E27FC236}">
                  <a16:creationId xmlns:a16="http://schemas.microsoft.com/office/drawing/2014/main" id="{863FE858-2935-79D2-32A2-18C119D740DB}"/>
                </a:ext>
              </a:extLst>
            </p:cNvPr>
            <p:cNvSpPr/>
            <p:nvPr/>
          </p:nvSpPr>
          <p:spPr>
            <a:xfrm>
              <a:off x="9696186" y="3681110"/>
              <a:ext cx="99863" cy="90109"/>
            </a:xfrm>
            <a:prstGeom prst="ellipse">
              <a:avLst/>
            </a:prstGeom>
            <a:solidFill>
              <a:srgbClr val="00B17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405" name="TextBox 145">
              <a:extLst>
                <a:ext uri="{FF2B5EF4-FFF2-40B4-BE49-F238E27FC236}">
                  <a16:creationId xmlns:a16="http://schemas.microsoft.com/office/drawing/2014/main" id="{B9464E61-B30D-6546-194E-10D40EC0D83D}"/>
                </a:ext>
              </a:extLst>
            </p:cNvPr>
            <p:cNvSpPr txBox="1"/>
            <p:nvPr/>
          </p:nvSpPr>
          <p:spPr>
            <a:xfrm>
              <a:off x="9414385" y="3256792"/>
              <a:ext cx="437105" cy="153888"/>
            </a:xfrm>
            <a:prstGeom prst="rect">
              <a:avLst/>
            </a:prstGeom>
            <a:noFill/>
          </p:spPr>
          <p:txBody>
            <a:bodyPr wrap="square">
              <a:spAutoFit/>
            </a:bodyPr>
            <a:lstStyle/>
            <a:p>
              <a:r>
                <a:rPr lang="en-US" sz="400">
                  <a:solidFill>
                    <a:schemeClr val="bg1"/>
                  </a:solidFill>
                  <a:latin typeface="+mn-lt"/>
                </a:rPr>
                <a:t>Initiative 1</a:t>
              </a:r>
              <a:endParaRPr lang="en-BR" sz="400">
                <a:solidFill>
                  <a:schemeClr val="bg1"/>
                </a:solidFill>
                <a:latin typeface="+mn-lt"/>
              </a:endParaRPr>
            </a:p>
          </p:txBody>
        </p:sp>
      </p:grpSp>
      <p:cxnSp>
        <p:nvCxnSpPr>
          <p:cNvPr id="407" name="Elbow Connector 21">
            <a:extLst>
              <a:ext uri="{FF2B5EF4-FFF2-40B4-BE49-F238E27FC236}">
                <a16:creationId xmlns:a16="http://schemas.microsoft.com/office/drawing/2014/main" id="{E5D5F0AA-5D7A-5FEB-889F-3F63CF81E9E5}"/>
              </a:ext>
            </a:extLst>
          </p:cNvPr>
          <p:cNvCxnSpPr>
            <a:cxnSpLocks/>
          </p:cNvCxnSpPr>
          <p:nvPr/>
        </p:nvCxnSpPr>
        <p:spPr>
          <a:xfrm>
            <a:off x="8608049" y="3188287"/>
            <a:ext cx="324000" cy="396000"/>
          </a:xfrm>
          <a:prstGeom prst="bentConnector3">
            <a:avLst>
              <a:gd name="adj1" fmla="val 64539"/>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8" name="Elbow Connector 30">
            <a:extLst>
              <a:ext uri="{FF2B5EF4-FFF2-40B4-BE49-F238E27FC236}">
                <a16:creationId xmlns:a16="http://schemas.microsoft.com/office/drawing/2014/main" id="{8E255A6C-92BE-506F-9982-B0527B6A8A6B}"/>
              </a:ext>
            </a:extLst>
          </p:cNvPr>
          <p:cNvCxnSpPr>
            <a:cxnSpLocks/>
          </p:cNvCxnSpPr>
          <p:nvPr/>
        </p:nvCxnSpPr>
        <p:spPr>
          <a:xfrm flipV="1">
            <a:off x="8663161" y="3584112"/>
            <a:ext cx="288000" cy="576000"/>
          </a:xfrm>
          <a:prstGeom prst="bentConnector3">
            <a:avLst>
              <a:gd name="adj1" fmla="val 5404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14" name="Google Shape;1773;p42">
            <a:extLst>
              <a:ext uri="{FF2B5EF4-FFF2-40B4-BE49-F238E27FC236}">
                <a16:creationId xmlns:a16="http://schemas.microsoft.com/office/drawing/2014/main" id="{6DBAEA0C-E46E-106D-69E0-D3EFBE24D5FD}"/>
              </a:ext>
            </a:extLst>
          </p:cNvPr>
          <p:cNvSpPr txBox="1"/>
          <p:nvPr/>
        </p:nvSpPr>
        <p:spPr>
          <a:xfrm rot="16200000">
            <a:off x="7073370" y="3332256"/>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Sort by business value</a:t>
            </a:r>
            <a:endParaRPr sz="800" b="1">
              <a:solidFill>
                <a:srgbClr val="000000"/>
              </a:solidFill>
              <a:latin typeface="+mn-lt"/>
              <a:ea typeface="Open Sans"/>
              <a:cs typeface="Open Sans"/>
              <a:sym typeface="Open Sans"/>
            </a:endParaRPr>
          </a:p>
        </p:txBody>
      </p:sp>
    </p:spTree>
    <p:extLst>
      <p:ext uri="{BB962C8B-B14F-4D97-AF65-F5344CB8AC3E}">
        <p14:creationId xmlns:p14="http://schemas.microsoft.com/office/powerpoint/2010/main" val="12919829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B93A11-6ADE-C964-97F6-86926F86B24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B1A1434E-F536-72C5-1517-F5EEB9C90BF8}"/>
              </a:ext>
            </a:extLst>
          </p:cNvPr>
          <p:cNvPicPr>
            <a:picLocks noChangeAspect="1"/>
          </p:cNvPicPr>
          <p:nvPr/>
        </p:nvPicPr>
        <p:blipFill>
          <a:blip r:embed="rId2"/>
          <a:stretch>
            <a:fillRect/>
          </a:stretch>
        </p:blipFill>
        <p:spPr>
          <a:xfrm>
            <a:off x="6544086" y="3421180"/>
            <a:ext cx="3622492" cy="2381076"/>
          </a:xfrm>
          <a:prstGeom prst="rect">
            <a:avLst/>
          </a:prstGeom>
        </p:spPr>
      </p:pic>
      <p:sp>
        <p:nvSpPr>
          <p:cNvPr id="92" name="Rounded Rectangle 42">
            <a:extLst>
              <a:ext uri="{FF2B5EF4-FFF2-40B4-BE49-F238E27FC236}">
                <a16:creationId xmlns:a16="http://schemas.microsoft.com/office/drawing/2014/main" id="{5B0B61CB-ECCA-198D-189E-9D5EF9B855A5}"/>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14CADD56-61A3-E676-57C3-1B577DDCBB57}"/>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7" name="Rounded Rectangle 5">
            <a:extLst>
              <a:ext uri="{FF2B5EF4-FFF2-40B4-BE49-F238E27FC236}">
                <a16:creationId xmlns:a16="http://schemas.microsoft.com/office/drawing/2014/main" id="{C3A276E4-D39D-0D8F-B387-9F423CD3D44F}"/>
              </a:ext>
            </a:extLst>
          </p:cNvPr>
          <p:cNvSpPr/>
          <p:nvPr/>
        </p:nvSpPr>
        <p:spPr>
          <a:xfrm>
            <a:off x="457200" y="2439497"/>
            <a:ext cx="3568989" cy="205013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Apply Prioritization Criteria</a:t>
            </a:r>
          </a:p>
          <a:p>
            <a:r>
              <a:rPr lang="en-US" sz="1100" b="1">
                <a:solidFill>
                  <a:schemeClr val="tx1"/>
                </a:solidFill>
              </a:rPr>
              <a:t>How to Execute</a:t>
            </a:r>
          </a:p>
          <a:p>
            <a:r>
              <a:rPr lang="en-US" sz="1100">
                <a:solidFill>
                  <a:schemeClr val="tx1"/>
                </a:solidFill>
              </a:rPr>
              <a:t>Use a simple scoring model:</a:t>
            </a: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Priorities are objective, not opinion-based </a:t>
            </a:r>
          </a:p>
        </p:txBody>
      </p:sp>
      <p:sp>
        <p:nvSpPr>
          <p:cNvPr id="31" name="Rounded Rectangle 6">
            <a:extLst>
              <a:ext uri="{FF2B5EF4-FFF2-40B4-BE49-F238E27FC236}">
                <a16:creationId xmlns:a16="http://schemas.microsoft.com/office/drawing/2014/main" id="{BB3D21AA-41F1-9E76-34B9-78B57312D86F}"/>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50D3B491-AF45-CA23-960F-8CC65941E72B}"/>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46403347-36FF-1863-BA25-D0FD89465787}"/>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7CB03DE7-F888-B70E-FAF3-16ED3643B317}"/>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AFE05561-6E32-1794-7BBA-48F93A1E5B04}"/>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970E1396-2B00-A6B2-29DD-5818C8BDB7D7}"/>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3B938CD4-0845-8BEB-A801-E561DD5646A8}"/>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B9B282B2-4C0E-99A4-3683-EEA0E81E0F6C}"/>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98C2480D-F0EE-DB4C-7D5E-071C489DC4C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31895902-F955-82B9-B379-6B8421796CCC}"/>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2ED401EF-1DFB-1871-CB96-67FD7FC147B6}"/>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603523AE-9108-09A6-30C9-FDCE505CFAB5}"/>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2475ACE6-77C9-6A88-917B-A3FFEC79B18B}"/>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D11C15D3-6DA4-A579-1B93-6535236BD1D8}"/>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21FF2675-F53F-0A80-5AEB-E65D530C10E5}"/>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6CCA4BD9-7424-AB13-4E8F-64C11FE762B3}"/>
              </a:ext>
            </a:extLst>
          </p:cNvPr>
          <p:cNvSpPr/>
          <p:nvPr/>
        </p:nvSpPr>
        <p:spPr>
          <a:xfrm>
            <a:off x="2920337" y="4593041"/>
            <a:ext cx="3121114" cy="17346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Prioritization Framework</a:t>
            </a:r>
          </a:p>
          <a:p>
            <a:r>
              <a:rPr lang="en-US" sz="1100" b="1">
                <a:solidFill>
                  <a:schemeClr val="tx1"/>
                </a:solidFill>
              </a:rPr>
              <a:t>How to Create</a:t>
            </a:r>
          </a:p>
          <a:p>
            <a:r>
              <a:rPr lang="en-US" sz="1100">
                <a:solidFill>
                  <a:schemeClr val="tx1"/>
                </a:solidFill>
              </a:rPr>
              <a:t>Use simple scoring: </a:t>
            </a:r>
          </a:p>
          <a:p>
            <a:pPr marL="628650" lvl="1" indent="-171450">
              <a:buFont typeface="Arial" panose="020B0604020202020204" pitchFamily="34" charset="0"/>
              <a:buChar char="•"/>
            </a:pPr>
            <a:r>
              <a:rPr lang="en-US" sz="1100">
                <a:solidFill>
                  <a:schemeClr val="tx1"/>
                </a:solidFill>
              </a:rPr>
              <a:t>High / Medium / Low OR </a:t>
            </a:r>
          </a:p>
          <a:p>
            <a:pPr marL="628650" lvl="1" indent="-171450">
              <a:buFont typeface="Arial" panose="020B0604020202020204" pitchFamily="34" charset="0"/>
              <a:buChar char="•"/>
            </a:pPr>
            <a:r>
              <a:rPr lang="en-US" sz="1100">
                <a:solidFill>
                  <a:schemeClr val="tx1"/>
                </a:solidFill>
              </a:rPr>
              <a:t>Weighted score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Keep it lightweight </a:t>
            </a:r>
          </a:p>
          <a:p>
            <a:pPr marL="628650" lvl="1" indent="-171450">
              <a:buFont typeface="Arial" panose="020B0604020202020204" pitchFamily="34" charset="0"/>
              <a:buChar char="•"/>
            </a:pPr>
            <a:r>
              <a:rPr lang="en-US" sz="1100">
                <a:solidFill>
                  <a:schemeClr val="tx1"/>
                </a:solidFill>
              </a:rPr>
              <a:t>Avoid over-engineering </a:t>
            </a:r>
          </a:p>
        </p:txBody>
      </p:sp>
      <p:sp>
        <p:nvSpPr>
          <p:cNvPr id="94" name="Arrow: Bent 93">
            <a:extLst>
              <a:ext uri="{FF2B5EF4-FFF2-40B4-BE49-F238E27FC236}">
                <a16:creationId xmlns:a16="http://schemas.microsoft.com/office/drawing/2014/main" id="{998ACDA9-EA4B-8100-E8CB-1C31C8ACEA5B}"/>
              </a:ext>
            </a:extLst>
          </p:cNvPr>
          <p:cNvSpPr/>
          <p:nvPr/>
        </p:nvSpPr>
        <p:spPr>
          <a:xfrm flipV="1">
            <a:off x="2022076" y="4611718"/>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070E7848-0B07-7209-AC29-F4F5F75B5948}"/>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1995915C-61B4-7019-D49B-095D33439AAA}"/>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graphicFrame>
        <p:nvGraphicFramePr>
          <p:cNvPr id="9" name="Table 8">
            <a:extLst>
              <a:ext uri="{FF2B5EF4-FFF2-40B4-BE49-F238E27FC236}">
                <a16:creationId xmlns:a16="http://schemas.microsoft.com/office/drawing/2014/main" id="{2A4BDD8C-565F-D7A4-8E0B-27078951F528}"/>
              </a:ext>
            </a:extLst>
          </p:cNvPr>
          <p:cNvGraphicFramePr>
            <a:graphicFrameLocks noGrp="1"/>
          </p:cNvGraphicFramePr>
          <p:nvPr/>
        </p:nvGraphicFramePr>
        <p:xfrm>
          <a:off x="621008" y="3062375"/>
          <a:ext cx="2802137" cy="928370"/>
        </p:xfrm>
        <a:graphic>
          <a:graphicData uri="http://schemas.openxmlformats.org/drawingml/2006/table">
            <a:tbl>
              <a:tblPr firstRow="1" firstCol="1" bandRow="1">
                <a:tableStyleId>{5C22544A-7EE6-4342-B048-85BDC9FD1C3A}</a:tableStyleId>
              </a:tblPr>
              <a:tblGrid>
                <a:gridCol w="1133642">
                  <a:extLst>
                    <a:ext uri="{9D8B030D-6E8A-4147-A177-3AD203B41FA5}">
                      <a16:colId xmlns:a16="http://schemas.microsoft.com/office/drawing/2014/main" val="3879608401"/>
                    </a:ext>
                  </a:extLst>
                </a:gridCol>
                <a:gridCol w="1668495">
                  <a:extLst>
                    <a:ext uri="{9D8B030D-6E8A-4147-A177-3AD203B41FA5}">
                      <a16:colId xmlns:a16="http://schemas.microsoft.com/office/drawing/2014/main" val="636858066"/>
                    </a:ext>
                  </a:extLst>
                </a:gridCol>
              </a:tblGrid>
              <a:tr h="0">
                <a:tc>
                  <a:txBody>
                    <a:bodyPr/>
                    <a:lstStyle/>
                    <a:p>
                      <a:pPr marL="0" marR="0">
                        <a:lnSpc>
                          <a:spcPct val="115000"/>
                        </a:lnSpc>
                        <a:spcAft>
                          <a:spcPts val="800"/>
                        </a:spcAft>
                        <a:buNone/>
                      </a:pPr>
                      <a:r>
                        <a:rPr lang="en-US" sz="1000" kern="100">
                          <a:effectLst/>
                        </a:rPr>
                        <a:t>Criteria</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000" kern="100">
                          <a:effectLst/>
                        </a:rPr>
                        <a:t>Example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80046420"/>
                  </a:ext>
                </a:extLst>
              </a:tr>
              <a:tr h="0">
                <a:tc>
                  <a:txBody>
                    <a:bodyPr/>
                    <a:lstStyle/>
                    <a:p>
                      <a:pPr marL="0" marR="0">
                        <a:lnSpc>
                          <a:spcPct val="115000"/>
                        </a:lnSpc>
                        <a:spcAft>
                          <a:spcPts val="800"/>
                        </a:spcAft>
                        <a:buNone/>
                      </a:pPr>
                      <a:r>
                        <a:rPr lang="en-US" sz="1000" kern="100">
                          <a:effectLst/>
                        </a:rPr>
                        <a:t>Business Value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Revenue, risk reduction</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47727027"/>
                  </a:ext>
                </a:extLst>
              </a:tr>
              <a:tr h="0">
                <a:tc>
                  <a:txBody>
                    <a:bodyPr/>
                    <a:lstStyle/>
                    <a:p>
                      <a:pPr marL="0" marR="0">
                        <a:lnSpc>
                          <a:spcPct val="115000"/>
                        </a:lnSpc>
                        <a:spcAft>
                          <a:spcPts val="800"/>
                        </a:spcAft>
                        <a:buNone/>
                      </a:pPr>
                      <a:r>
                        <a:rPr lang="en-US" sz="1000" kern="100">
                          <a:effectLst/>
                        </a:rPr>
                        <a:t>Urgency</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Deadline, production issue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62847325"/>
                  </a:ext>
                </a:extLst>
              </a:tr>
              <a:tr h="0">
                <a:tc>
                  <a:txBody>
                    <a:bodyPr/>
                    <a:lstStyle/>
                    <a:p>
                      <a:pPr marL="0" marR="0">
                        <a:lnSpc>
                          <a:spcPct val="115000"/>
                        </a:lnSpc>
                        <a:spcAft>
                          <a:spcPts val="800"/>
                        </a:spcAft>
                        <a:buNone/>
                      </a:pPr>
                      <a:r>
                        <a:rPr lang="en-US" sz="1000" kern="100">
                          <a:effectLst/>
                        </a:rPr>
                        <a:t>Effort</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Small vs large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8069174"/>
                  </a:ext>
                </a:extLst>
              </a:tr>
              <a:tr h="0">
                <a:tc>
                  <a:txBody>
                    <a:bodyPr/>
                    <a:lstStyle/>
                    <a:p>
                      <a:pPr marL="0" marR="0">
                        <a:lnSpc>
                          <a:spcPct val="115000"/>
                        </a:lnSpc>
                        <a:spcAft>
                          <a:spcPts val="800"/>
                        </a:spcAft>
                        <a:buNone/>
                      </a:pPr>
                      <a:r>
                        <a:rPr lang="en-US" sz="1000" kern="100">
                          <a:effectLst/>
                        </a:rPr>
                        <a:t>Risk</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Dependencies</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26441320"/>
                  </a:ext>
                </a:extLst>
              </a:tr>
            </a:tbl>
          </a:graphicData>
        </a:graphic>
      </p:graphicFrame>
      <p:sp>
        <p:nvSpPr>
          <p:cNvPr id="12" name="Rounded Rectangle 5">
            <a:extLst>
              <a:ext uri="{FF2B5EF4-FFF2-40B4-BE49-F238E27FC236}">
                <a16:creationId xmlns:a16="http://schemas.microsoft.com/office/drawing/2014/main" id="{59F31A94-22BA-8983-88B0-D1ED145ACAAA}"/>
              </a:ext>
            </a:extLst>
          </p:cNvPr>
          <p:cNvSpPr/>
          <p:nvPr/>
        </p:nvSpPr>
        <p:spPr>
          <a:xfrm>
            <a:off x="8354598" y="868895"/>
            <a:ext cx="2667151" cy="802825"/>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Ensure that backlog decisions are consistent, transparent, and focused on delivering the highest value work in the most effective order.</a:t>
            </a:r>
          </a:p>
        </p:txBody>
      </p:sp>
      <p:sp>
        <p:nvSpPr>
          <p:cNvPr id="18" name="Título 2">
            <a:extLst>
              <a:ext uri="{FF2B5EF4-FFF2-40B4-BE49-F238E27FC236}">
                <a16:creationId xmlns:a16="http://schemas.microsoft.com/office/drawing/2014/main" id="{5CFEB293-C762-1138-4585-99ADF2224176}"/>
              </a:ext>
            </a:extLst>
          </p:cNvPr>
          <p:cNvSpPr txBox="1">
            <a:spLocks/>
          </p:cNvSpPr>
          <p:nvPr/>
        </p:nvSpPr>
        <p:spPr>
          <a:xfrm>
            <a:off x="180918" y="127319"/>
            <a:ext cx="12011082"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PROCESSES AND ARTIFACTS – Apply Prioritization Criteria</a:t>
            </a:r>
          </a:p>
        </p:txBody>
      </p:sp>
      <p:sp>
        <p:nvSpPr>
          <p:cNvPr id="19" name="Rectangle 7">
            <a:extLst>
              <a:ext uri="{FF2B5EF4-FFF2-40B4-BE49-F238E27FC236}">
                <a16:creationId xmlns:a16="http://schemas.microsoft.com/office/drawing/2014/main" id="{911FE64C-AD1A-ACB9-8730-ADF0F38F3929}"/>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20" name="Rectangle 10">
            <a:extLst>
              <a:ext uri="{FF2B5EF4-FFF2-40B4-BE49-F238E27FC236}">
                <a16:creationId xmlns:a16="http://schemas.microsoft.com/office/drawing/2014/main" id="{5875DFE4-8D2B-743A-FFC0-85A2B589E4BE}"/>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21" name="Rectangle 17">
            <a:extLst>
              <a:ext uri="{FF2B5EF4-FFF2-40B4-BE49-F238E27FC236}">
                <a16:creationId xmlns:a16="http://schemas.microsoft.com/office/drawing/2014/main" id="{5A3A4498-BE6D-2602-D56A-0FF324B3ACA6}"/>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39" name="Rectangle 18">
            <a:extLst>
              <a:ext uri="{FF2B5EF4-FFF2-40B4-BE49-F238E27FC236}">
                <a16:creationId xmlns:a16="http://schemas.microsoft.com/office/drawing/2014/main" id="{5D5B1F4B-51E7-1A1C-263F-531F0B6EF55E}"/>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40" name="Rectangle 19">
            <a:extLst>
              <a:ext uri="{FF2B5EF4-FFF2-40B4-BE49-F238E27FC236}">
                <a16:creationId xmlns:a16="http://schemas.microsoft.com/office/drawing/2014/main" id="{1F419A7A-546A-242A-B47C-93A7DAFF5717}"/>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2" name="Rectangle 20">
            <a:extLst>
              <a:ext uri="{FF2B5EF4-FFF2-40B4-BE49-F238E27FC236}">
                <a16:creationId xmlns:a16="http://schemas.microsoft.com/office/drawing/2014/main" id="{1A41C028-0251-86E6-1E6A-67C7F580BBB0}"/>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3" name="Rectangle 21">
            <a:extLst>
              <a:ext uri="{FF2B5EF4-FFF2-40B4-BE49-F238E27FC236}">
                <a16:creationId xmlns:a16="http://schemas.microsoft.com/office/drawing/2014/main" id="{AA66562E-D2F3-62DC-A5D0-E94C4403B0DC}"/>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4" name="Rectangle 22">
            <a:extLst>
              <a:ext uri="{FF2B5EF4-FFF2-40B4-BE49-F238E27FC236}">
                <a16:creationId xmlns:a16="http://schemas.microsoft.com/office/drawing/2014/main" id="{372376B5-95CF-19C7-94ED-FCEE1D6A4752}"/>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5" name="Rectangle 23">
            <a:extLst>
              <a:ext uri="{FF2B5EF4-FFF2-40B4-BE49-F238E27FC236}">
                <a16:creationId xmlns:a16="http://schemas.microsoft.com/office/drawing/2014/main" id="{08F3CFC6-F979-8817-4BA9-288E0FB293D0}"/>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6" name="Rectangle 24">
            <a:extLst>
              <a:ext uri="{FF2B5EF4-FFF2-40B4-BE49-F238E27FC236}">
                <a16:creationId xmlns:a16="http://schemas.microsoft.com/office/drawing/2014/main" id="{060DAF3E-82F1-903E-991B-853309C04856}"/>
              </a:ext>
            </a:extLst>
          </p:cNvPr>
          <p:cNvSpPr/>
          <p:nvPr/>
        </p:nvSpPr>
        <p:spPr>
          <a:xfrm>
            <a:off x="11372000" y="2224050"/>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7" name="Rectangle 25">
            <a:extLst>
              <a:ext uri="{FF2B5EF4-FFF2-40B4-BE49-F238E27FC236}">
                <a16:creationId xmlns:a16="http://schemas.microsoft.com/office/drawing/2014/main" id="{347BBE2E-190C-98EB-5333-BC28179256B6}"/>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8" name="Rectangle 26">
            <a:extLst>
              <a:ext uri="{FF2B5EF4-FFF2-40B4-BE49-F238E27FC236}">
                <a16:creationId xmlns:a16="http://schemas.microsoft.com/office/drawing/2014/main" id="{17D6DD73-D60E-295F-642B-6F9B99CB1F61}"/>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9" name="Rectangle 27">
            <a:extLst>
              <a:ext uri="{FF2B5EF4-FFF2-40B4-BE49-F238E27FC236}">
                <a16:creationId xmlns:a16="http://schemas.microsoft.com/office/drawing/2014/main" id="{23145C96-4562-8B7B-25AE-F3A629F0F1CA}"/>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0" name="Rectangle 28">
            <a:extLst>
              <a:ext uri="{FF2B5EF4-FFF2-40B4-BE49-F238E27FC236}">
                <a16:creationId xmlns:a16="http://schemas.microsoft.com/office/drawing/2014/main" id="{2B60A523-B07C-4DE3-507E-A7652175481F}"/>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1" name="Rectangle 29">
            <a:extLst>
              <a:ext uri="{FF2B5EF4-FFF2-40B4-BE49-F238E27FC236}">
                <a16:creationId xmlns:a16="http://schemas.microsoft.com/office/drawing/2014/main" id="{A91A7A0C-7C0E-A75A-CB16-E2B42D7FE2A6}"/>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2" name="Rectangle 32">
            <a:extLst>
              <a:ext uri="{FF2B5EF4-FFF2-40B4-BE49-F238E27FC236}">
                <a16:creationId xmlns:a16="http://schemas.microsoft.com/office/drawing/2014/main" id="{46B127E8-729E-D2E9-806A-C9CD12B3CF4D}"/>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3" name="Rectangle 33">
            <a:extLst>
              <a:ext uri="{FF2B5EF4-FFF2-40B4-BE49-F238E27FC236}">
                <a16:creationId xmlns:a16="http://schemas.microsoft.com/office/drawing/2014/main" id="{FB501952-D781-BB05-11A8-6C2C813C6112}"/>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4" name="Rectangle 34">
            <a:extLst>
              <a:ext uri="{FF2B5EF4-FFF2-40B4-BE49-F238E27FC236}">
                <a16:creationId xmlns:a16="http://schemas.microsoft.com/office/drawing/2014/main" id="{9DE64F9D-7B83-CE0B-4334-20690151B673}"/>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5" name="Rectangle 35">
            <a:extLst>
              <a:ext uri="{FF2B5EF4-FFF2-40B4-BE49-F238E27FC236}">
                <a16:creationId xmlns:a16="http://schemas.microsoft.com/office/drawing/2014/main" id="{07B33360-BEDB-68EC-1F48-834CBC165EAA}"/>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6" name="Rectangle 36">
            <a:extLst>
              <a:ext uri="{FF2B5EF4-FFF2-40B4-BE49-F238E27FC236}">
                <a16:creationId xmlns:a16="http://schemas.microsoft.com/office/drawing/2014/main" id="{6CBBE95D-A4A9-C67E-155E-B598121300FB}"/>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7" name="Rectangle 37">
            <a:extLst>
              <a:ext uri="{FF2B5EF4-FFF2-40B4-BE49-F238E27FC236}">
                <a16:creationId xmlns:a16="http://schemas.microsoft.com/office/drawing/2014/main" id="{0CB0F022-6654-0AF5-D002-4B47A4647DFA}"/>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grpSp>
        <p:nvGrpSpPr>
          <p:cNvPr id="58" name="Group 300">
            <a:extLst>
              <a:ext uri="{FF2B5EF4-FFF2-40B4-BE49-F238E27FC236}">
                <a16:creationId xmlns:a16="http://schemas.microsoft.com/office/drawing/2014/main" id="{C44FE579-A927-30B0-5D17-9144BB49618C}"/>
              </a:ext>
            </a:extLst>
          </p:cNvPr>
          <p:cNvGrpSpPr/>
          <p:nvPr/>
        </p:nvGrpSpPr>
        <p:grpSpPr>
          <a:xfrm>
            <a:off x="6264826" y="2297405"/>
            <a:ext cx="3622492" cy="905033"/>
            <a:chOff x="2853171" y="1821929"/>
            <a:chExt cx="3162225" cy="519344"/>
          </a:xfrm>
        </p:grpSpPr>
        <p:sp>
          <p:nvSpPr>
            <p:cNvPr id="59" name="Rounded Rectangle 301">
              <a:extLst>
                <a:ext uri="{FF2B5EF4-FFF2-40B4-BE49-F238E27FC236}">
                  <a16:creationId xmlns:a16="http://schemas.microsoft.com/office/drawing/2014/main" id="{0F1FAB6A-360A-547D-BEFE-002AE9DF6550}"/>
                </a:ext>
              </a:extLst>
            </p:cNvPr>
            <p:cNvSpPr/>
            <p:nvPr/>
          </p:nvSpPr>
          <p:spPr>
            <a:xfrm>
              <a:off x="3710781" y="2000981"/>
              <a:ext cx="1352878"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0" name="Rounded Rectangle 302">
              <a:extLst>
                <a:ext uri="{FF2B5EF4-FFF2-40B4-BE49-F238E27FC236}">
                  <a16:creationId xmlns:a16="http://schemas.microsoft.com/office/drawing/2014/main" id="{2A83215C-9429-A963-7B22-62566D5449F4}"/>
                </a:ext>
              </a:extLst>
            </p:cNvPr>
            <p:cNvSpPr/>
            <p:nvPr/>
          </p:nvSpPr>
          <p:spPr>
            <a:xfrm>
              <a:off x="5130800" y="2000981"/>
              <a:ext cx="807150"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pic>
          <p:nvPicPr>
            <p:cNvPr id="61" name="Picture 303">
              <a:extLst>
                <a:ext uri="{FF2B5EF4-FFF2-40B4-BE49-F238E27FC236}">
                  <a16:creationId xmlns:a16="http://schemas.microsoft.com/office/drawing/2014/main" id="{140E3B26-8A8A-BE87-5819-877075E4D473}"/>
                </a:ext>
              </a:extLst>
            </p:cNvPr>
            <p:cNvPicPr>
              <a:picLocks noChangeAspect="1"/>
            </p:cNvPicPr>
            <p:nvPr/>
          </p:nvPicPr>
          <p:blipFill>
            <a:blip r:embed="rId3"/>
            <a:stretch>
              <a:fillRect/>
            </a:stretch>
          </p:blipFill>
          <p:spPr>
            <a:xfrm>
              <a:off x="2853171" y="1821929"/>
              <a:ext cx="3162225" cy="519344"/>
            </a:xfrm>
            <a:prstGeom prst="rect">
              <a:avLst/>
            </a:prstGeom>
          </p:spPr>
        </p:pic>
      </p:grpSp>
      <p:sp>
        <p:nvSpPr>
          <p:cNvPr id="62" name="CuadroTexto 61">
            <a:extLst>
              <a:ext uri="{FF2B5EF4-FFF2-40B4-BE49-F238E27FC236}">
                <a16:creationId xmlns:a16="http://schemas.microsoft.com/office/drawing/2014/main" id="{AE02DB5B-AFF9-34D8-3848-E1CC5A8A9004}"/>
              </a:ext>
            </a:extLst>
          </p:cNvPr>
          <p:cNvSpPr txBox="1"/>
          <p:nvPr/>
        </p:nvSpPr>
        <p:spPr>
          <a:xfrm>
            <a:off x="8896828" y="2634623"/>
            <a:ext cx="224312" cy="215444"/>
          </a:xfrm>
          <a:prstGeom prst="rect">
            <a:avLst/>
          </a:prstGeom>
          <a:solidFill>
            <a:srgbClr val="FFF6F5"/>
          </a:solidFill>
        </p:spPr>
        <p:txBody>
          <a:bodyPr wrap="square" rtlCol="0">
            <a:spAutoFit/>
          </a:bodyPr>
          <a:lstStyle/>
          <a:p>
            <a:r>
              <a:rPr lang="es-MX" sz="800" b="1"/>
              <a:t>S</a:t>
            </a:r>
          </a:p>
        </p:txBody>
      </p:sp>
      <p:sp>
        <p:nvSpPr>
          <p:cNvPr id="63" name="CuadroTexto 62">
            <a:extLst>
              <a:ext uri="{FF2B5EF4-FFF2-40B4-BE49-F238E27FC236}">
                <a16:creationId xmlns:a16="http://schemas.microsoft.com/office/drawing/2014/main" id="{00B8018E-6BB8-B4ED-E256-9880093F2B52}"/>
              </a:ext>
            </a:extLst>
          </p:cNvPr>
          <p:cNvSpPr txBox="1"/>
          <p:nvPr/>
        </p:nvSpPr>
        <p:spPr>
          <a:xfrm>
            <a:off x="9193748" y="2634623"/>
            <a:ext cx="224312" cy="215444"/>
          </a:xfrm>
          <a:prstGeom prst="rect">
            <a:avLst/>
          </a:prstGeom>
          <a:solidFill>
            <a:srgbClr val="FFF6F5"/>
          </a:solidFill>
        </p:spPr>
        <p:txBody>
          <a:bodyPr wrap="square" rtlCol="0">
            <a:spAutoFit/>
          </a:bodyPr>
          <a:lstStyle/>
          <a:p>
            <a:r>
              <a:rPr lang="es-MX" sz="800" b="1"/>
              <a:t>M</a:t>
            </a:r>
          </a:p>
        </p:txBody>
      </p:sp>
      <p:sp>
        <p:nvSpPr>
          <p:cNvPr id="64" name="CuadroTexto 63">
            <a:extLst>
              <a:ext uri="{FF2B5EF4-FFF2-40B4-BE49-F238E27FC236}">
                <a16:creationId xmlns:a16="http://schemas.microsoft.com/office/drawing/2014/main" id="{43619B5B-1D55-990C-83D5-2615224397A3}"/>
              </a:ext>
            </a:extLst>
          </p:cNvPr>
          <p:cNvSpPr txBox="1"/>
          <p:nvPr/>
        </p:nvSpPr>
        <p:spPr>
          <a:xfrm>
            <a:off x="9513788" y="2634623"/>
            <a:ext cx="224312" cy="215444"/>
          </a:xfrm>
          <a:prstGeom prst="rect">
            <a:avLst/>
          </a:prstGeom>
          <a:solidFill>
            <a:srgbClr val="FFF6F5"/>
          </a:solidFill>
        </p:spPr>
        <p:txBody>
          <a:bodyPr wrap="square" rtlCol="0">
            <a:spAutoFit/>
          </a:bodyPr>
          <a:lstStyle/>
          <a:p>
            <a:r>
              <a:rPr lang="es-MX" sz="800" b="1"/>
              <a:t>B</a:t>
            </a:r>
          </a:p>
        </p:txBody>
      </p:sp>
    </p:spTree>
    <p:extLst>
      <p:ext uri="{BB962C8B-B14F-4D97-AF65-F5344CB8AC3E}">
        <p14:creationId xmlns:p14="http://schemas.microsoft.com/office/powerpoint/2010/main" val="11621706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F0C1F0-F89E-85CF-8217-D1AE7029D8E3}"/>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5FBCC84C-4E8D-5CBE-01D1-292AE4E8C49F}"/>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513D2007-0492-04C4-B7D7-5B582E44216D}"/>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99831BF7-0AF8-1410-1E18-6B0D1790355D}"/>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6AD76712-124F-1F24-B4A8-21EDBD33811A}"/>
              </a:ext>
            </a:extLst>
          </p:cNvPr>
          <p:cNvSpPr/>
          <p:nvPr/>
        </p:nvSpPr>
        <p:spPr>
          <a:xfrm>
            <a:off x="469178" y="2439497"/>
            <a:ext cx="3568989" cy="205013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Capacity Allocation</a:t>
            </a:r>
          </a:p>
          <a:p>
            <a:r>
              <a:rPr lang="en-US" sz="1100" b="1">
                <a:solidFill>
                  <a:schemeClr val="tx1"/>
                </a:solidFill>
              </a:rPr>
              <a:t>How to Execute</a:t>
            </a:r>
          </a:p>
          <a:p>
            <a:r>
              <a:rPr lang="en-US" sz="1100">
                <a:solidFill>
                  <a:schemeClr val="tx1"/>
                </a:solidFill>
              </a:rPr>
              <a:t>Define % allocation: </a:t>
            </a:r>
          </a:p>
          <a:p>
            <a:pPr marL="628650" lvl="1" indent="-171450">
              <a:buFont typeface="Arial" panose="020B0604020202020204" pitchFamily="34" charset="0"/>
              <a:buChar char="•"/>
            </a:pPr>
            <a:r>
              <a:rPr lang="en-US" sz="1100">
                <a:solidFill>
                  <a:schemeClr val="tx1"/>
                </a:solidFill>
              </a:rPr>
              <a:t>Build: 60% </a:t>
            </a:r>
          </a:p>
          <a:p>
            <a:pPr marL="628650" lvl="1" indent="-171450">
              <a:buFont typeface="Arial" panose="020B0604020202020204" pitchFamily="34" charset="0"/>
              <a:buChar char="•"/>
            </a:pPr>
            <a:r>
              <a:rPr lang="en-US" sz="1100">
                <a:solidFill>
                  <a:schemeClr val="tx1"/>
                </a:solidFill>
              </a:rPr>
              <a:t>BAU: 25% </a:t>
            </a:r>
          </a:p>
          <a:p>
            <a:pPr marL="628650" lvl="1" indent="-171450">
              <a:buFont typeface="Arial" panose="020B0604020202020204" pitchFamily="34" charset="0"/>
              <a:buChar char="•"/>
            </a:pPr>
            <a:r>
              <a:rPr lang="en-US" sz="1100">
                <a:solidFill>
                  <a:schemeClr val="tx1"/>
                </a:solidFill>
              </a:rPr>
              <a:t>Upgrades: 15% </a:t>
            </a:r>
          </a:p>
          <a:p>
            <a:r>
              <a:rPr lang="en-US" sz="1100">
                <a:solidFill>
                  <a:schemeClr val="tx1"/>
                </a:solidFill>
              </a:rPr>
              <a:t>Monitor actual vs planned </a:t>
            </a:r>
          </a:p>
          <a:p>
            <a:r>
              <a:rPr lang="en-US" sz="1100">
                <a:solidFill>
                  <a:schemeClr val="tx1"/>
                </a:solidFill>
              </a:rPr>
              <a:t>Adjust if imbalance occurs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Work types are balanced </a:t>
            </a:r>
          </a:p>
          <a:p>
            <a:pPr marL="628650" lvl="1" indent="-171450">
              <a:buFont typeface="Arial" panose="020B0604020202020204" pitchFamily="34" charset="0"/>
              <a:buChar char="•"/>
            </a:pPr>
            <a:r>
              <a:rPr lang="en-US" sz="1100">
                <a:solidFill>
                  <a:schemeClr val="tx1"/>
                </a:solidFill>
              </a:rPr>
              <a:t>No overload of BAU </a:t>
            </a:r>
          </a:p>
        </p:txBody>
      </p:sp>
      <p:sp>
        <p:nvSpPr>
          <p:cNvPr id="31" name="Rounded Rectangle 6">
            <a:extLst>
              <a:ext uri="{FF2B5EF4-FFF2-40B4-BE49-F238E27FC236}">
                <a16:creationId xmlns:a16="http://schemas.microsoft.com/office/drawing/2014/main" id="{FDF752A6-B320-DC02-5AD0-535465F8828E}"/>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78D7B5ED-2B4C-50B4-1589-E83458B5B375}"/>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4DD31431-AA8B-AE71-817A-60A394A65FB3}"/>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216C6169-B7F3-0933-BF48-F9436BD1D015}"/>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E3EBB913-EB09-164E-8FCB-3BBC09198198}"/>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D4167623-FFEC-99B7-E7CD-6AA7A4A6CF77}"/>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0FB9B169-88A1-600D-DA9E-E42DD66AD486}"/>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7803430E-85B7-C489-0C03-45A24DE3BB8B}"/>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6C592C7E-50F1-9375-130C-533A0027BEAD}"/>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863A18B2-E73D-5855-77AC-44AD97145F2C}"/>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7DD3B4D8-D0D7-5D63-E3DF-9A15CD4622B4}"/>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6E7B6558-FE0A-F9CF-3399-5BEF40137E71}"/>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504F1E32-51AF-421A-F49C-5982ECAF2A74}"/>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91151B98-F0AA-AB2A-2437-16094D8611CB}"/>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347888F6-D3C6-E8E7-350C-4588B1389121}"/>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F2BCA8B9-5A66-5188-FAF1-A8695A46F1DF}"/>
              </a:ext>
            </a:extLst>
          </p:cNvPr>
          <p:cNvSpPr/>
          <p:nvPr/>
        </p:nvSpPr>
        <p:spPr>
          <a:xfrm>
            <a:off x="1515404" y="5138175"/>
            <a:ext cx="3121114" cy="886616"/>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Capacity Allocation Model</a:t>
            </a:r>
          </a:p>
          <a:p>
            <a:r>
              <a:rPr lang="en-US" sz="1100" b="1">
                <a:solidFill>
                  <a:schemeClr val="tx1"/>
                </a:solidFill>
              </a:rPr>
              <a:t>How to Use</a:t>
            </a:r>
          </a:p>
          <a:p>
            <a:pPr marL="171450" indent="-171450">
              <a:buFont typeface="Arial" panose="020B0604020202020204" pitchFamily="34" charset="0"/>
              <a:buChar char="•"/>
            </a:pPr>
            <a:r>
              <a:rPr lang="en-US" sz="1100">
                <a:solidFill>
                  <a:schemeClr val="tx1"/>
                </a:solidFill>
              </a:rPr>
              <a:t>Document % split </a:t>
            </a:r>
          </a:p>
          <a:p>
            <a:pPr marL="171450" indent="-171450">
              <a:buFont typeface="Arial" panose="020B0604020202020204" pitchFamily="34" charset="0"/>
              <a:buChar char="•"/>
            </a:pPr>
            <a:r>
              <a:rPr lang="en-US" sz="1100">
                <a:solidFill>
                  <a:schemeClr val="tx1"/>
                </a:solidFill>
              </a:rPr>
              <a:t>Use it to guide prioritization</a:t>
            </a:r>
          </a:p>
        </p:txBody>
      </p:sp>
      <p:sp>
        <p:nvSpPr>
          <p:cNvPr id="94" name="Arrow: Bent 93">
            <a:extLst>
              <a:ext uri="{FF2B5EF4-FFF2-40B4-BE49-F238E27FC236}">
                <a16:creationId xmlns:a16="http://schemas.microsoft.com/office/drawing/2014/main" id="{85680DBF-39A6-083F-520E-F739E35B5E2D}"/>
              </a:ext>
            </a:extLst>
          </p:cNvPr>
          <p:cNvSpPr/>
          <p:nvPr/>
        </p:nvSpPr>
        <p:spPr>
          <a:xfrm flipV="1">
            <a:off x="626616" y="4723119"/>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9E741CB9-C528-A971-D72B-8A8CEC2F504D}"/>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1AE51AA0-7F8C-59EC-7C74-6E0B37573210}"/>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Rounded Rectangle 5">
            <a:extLst>
              <a:ext uri="{FF2B5EF4-FFF2-40B4-BE49-F238E27FC236}">
                <a16:creationId xmlns:a16="http://schemas.microsoft.com/office/drawing/2014/main" id="{B49B3BA1-6319-9821-1C6E-E09EA7D1FEB3}"/>
              </a:ext>
            </a:extLst>
          </p:cNvPr>
          <p:cNvSpPr/>
          <p:nvPr/>
        </p:nvSpPr>
        <p:spPr>
          <a:xfrm>
            <a:off x="8201258" y="871505"/>
            <a:ext cx="2820491" cy="961669"/>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Intentionally control how team effort is distributed so that all critical types of work are delivered without overloading the system or compromising flow.</a:t>
            </a:r>
          </a:p>
        </p:txBody>
      </p:sp>
      <p:pic>
        <p:nvPicPr>
          <p:cNvPr id="13" name="Picture 12">
            <a:extLst>
              <a:ext uri="{FF2B5EF4-FFF2-40B4-BE49-F238E27FC236}">
                <a16:creationId xmlns:a16="http://schemas.microsoft.com/office/drawing/2014/main" id="{34E19FAA-17C7-F961-B1EF-C0292B2B9A83}"/>
              </a:ext>
            </a:extLst>
          </p:cNvPr>
          <p:cNvPicPr>
            <a:picLocks noChangeAspect="1"/>
          </p:cNvPicPr>
          <p:nvPr/>
        </p:nvPicPr>
        <p:blipFill>
          <a:blip r:embed="rId2"/>
          <a:stretch>
            <a:fillRect/>
          </a:stretch>
        </p:blipFill>
        <p:spPr>
          <a:xfrm>
            <a:off x="4310117" y="2563301"/>
            <a:ext cx="6662683" cy="2333665"/>
          </a:xfrm>
          <a:prstGeom prst="rect">
            <a:avLst/>
          </a:prstGeom>
        </p:spPr>
      </p:pic>
      <p:sp>
        <p:nvSpPr>
          <p:cNvPr id="15" name="Título 2">
            <a:extLst>
              <a:ext uri="{FF2B5EF4-FFF2-40B4-BE49-F238E27FC236}">
                <a16:creationId xmlns:a16="http://schemas.microsoft.com/office/drawing/2014/main" id="{0C6123F9-6621-8221-8354-644E5F367CF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lvl="0">
              <a:defRPr/>
            </a:pPr>
            <a:r>
              <a:rPr lang="en-US" sz="2400"/>
              <a:t>PREPARATION PLANNING </a:t>
            </a:r>
          </a:p>
          <a:p>
            <a:pPr>
              <a:defRPr/>
            </a:pPr>
            <a:r>
              <a:rPr lang="en-US" sz="1200">
                <a:solidFill>
                  <a:prstClr val="white"/>
                </a:solidFill>
                <a:latin typeface="Arial" panose="020B0604020202020204" pitchFamily="34" charset="0"/>
                <a:cs typeface="Arial" panose="020B0604020202020204" pitchFamily="34" charset="0"/>
              </a:rPr>
              <a:t>PROCESSES AND ARTIFACTS – Capacity Allocation</a:t>
            </a:r>
          </a:p>
        </p:txBody>
      </p:sp>
      <p:sp>
        <p:nvSpPr>
          <p:cNvPr id="16" name="Rectangle 7">
            <a:extLst>
              <a:ext uri="{FF2B5EF4-FFF2-40B4-BE49-F238E27FC236}">
                <a16:creationId xmlns:a16="http://schemas.microsoft.com/office/drawing/2014/main" id="{907E4CD4-7324-A5CD-21E0-217F4C544D3B}"/>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8" name="Rectangle 10">
            <a:extLst>
              <a:ext uri="{FF2B5EF4-FFF2-40B4-BE49-F238E27FC236}">
                <a16:creationId xmlns:a16="http://schemas.microsoft.com/office/drawing/2014/main" id="{A443304A-8207-D2B7-ED08-1A4CC1C9E2A3}"/>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38" name="Rectangle 17">
            <a:extLst>
              <a:ext uri="{FF2B5EF4-FFF2-40B4-BE49-F238E27FC236}">
                <a16:creationId xmlns:a16="http://schemas.microsoft.com/office/drawing/2014/main" id="{B6372193-3837-5987-5A8E-4C5A0EFD31B5}"/>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39" name="Rectangle 18">
            <a:extLst>
              <a:ext uri="{FF2B5EF4-FFF2-40B4-BE49-F238E27FC236}">
                <a16:creationId xmlns:a16="http://schemas.microsoft.com/office/drawing/2014/main" id="{6046A748-A8BF-26F5-782D-54015EF3539B}"/>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40" name="Rectangle 19">
            <a:extLst>
              <a:ext uri="{FF2B5EF4-FFF2-40B4-BE49-F238E27FC236}">
                <a16:creationId xmlns:a16="http://schemas.microsoft.com/office/drawing/2014/main" id="{AAFBA578-5E4B-36C4-E398-9801BBBCED99}"/>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2" name="Rectangle 20">
            <a:extLst>
              <a:ext uri="{FF2B5EF4-FFF2-40B4-BE49-F238E27FC236}">
                <a16:creationId xmlns:a16="http://schemas.microsoft.com/office/drawing/2014/main" id="{5EBA65BB-0F22-1E9C-7365-85B7D2A27BB1}"/>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3" name="Rectangle 21">
            <a:extLst>
              <a:ext uri="{FF2B5EF4-FFF2-40B4-BE49-F238E27FC236}">
                <a16:creationId xmlns:a16="http://schemas.microsoft.com/office/drawing/2014/main" id="{977EB374-511B-659F-C4F2-67C4751295AA}"/>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4" name="Rectangle 22">
            <a:extLst>
              <a:ext uri="{FF2B5EF4-FFF2-40B4-BE49-F238E27FC236}">
                <a16:creationId xmlns:a16="http://schemas.microsoft.com/office/drawing/2014/main" id="{C4708BE5-3E23-B370-6BD6-76345494C8AE}"/>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5" name="Rectangle 23">
            <a:extLst>
              <a:ext uri="{FF2B5EF4-FFF2-40B4-BE49-F238E27FC236}">
                <a16:creationId xmlns:a16="http://schemas.microsoft.com/office/drawing/2014/main" id="{F290F235-B00A-3F6A-9E36-DA4A264694FD}"/>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6" name="Rectangle 24">
            <a:extLst>
              <a:ext uri="{FF2B5EF4-FFF2-40B4-BE49-F238E27FC236}">
                <a16:creationId xmlns:a16="http://schemas.microsoft.com/office/drawing/2014/main" id="{EC127E20-A567-C01B-F9F0-2BB3E6C20D8E}"/>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7" name="Rectangle 25">
            <a:extLst>
              <a:ext uri="{FF2B5EF4-FFF2-40B4-BE49-F238E27FC236}">
                <a16:creationId xmlns:a16="http://schemas.microsoft.com/office/drawing/2014/main" id="{EE970D8B-1955-2E83-EBED-A366260464D5}"/>
              </a:ext>
            </a:extLst>
          </p:cNvPr>
          <p:cNvSpPr/>
          <p:nvPr/>
        </p:nvSpPr>
        <p:spPr>
          <a:xfrm>
            <a:off x="11371999" y="2455625"/>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8" name="Rectangle 26">
            <a:extLst>
              <a:ext uri="{FF2B5EF4-FFF2-40B4-BE49-F238E27FC236}">
                <a16:creationId xmlns:a16="http://schemas.microsoft.com/office/drawing/2014/main" id="{F93E5030-C8C6-0107-0489-700CFDED2395}"/>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9" name="Rectangle 27">
            <a:extLst>
              <a:ext uri="{FF2B5EF4-FFF2-40B4-BE49-F238E27FC236}">
                <a16:creationId xmlns:a16="http://schemas.microsoft.com/office/drawing/2014/main" id="{36830E08-2F93-967B-C25C-F7E1EF723E50}"/>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0" name="Rectangle 28">
            <a:extLst>
              <a:ext uri="{FF2B5EF4-FFF2-40B4-BE49-F238E27FC236}">
                <a16:creationId xmlns:a16="http://schemas.microsoft.com/office/drawing/2014/main" id="{997C0222-2B53-DA75-7A6C-306E199C6CD9}"/>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1" name="Rectangle 29">
            <a:extLst>
              <a:ext uri="{FF2B5EF4-FFF2-40B4-BE49-F238E27FC236}">
                <a16:creationId xmlns:a16="http://schemas.microsoft.com/office/drawing/2014/main" id="{E27B6DAB-9F32-B585-BF0E-3BC5F2FEE397}"/>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2" name="Rectangle 32">
            <a:extLst>
              <a:ext uri="{FF2B5EF4-FFF2-40B4-BE49-F238E27FC236}">
                <a16:creationId xmlns:a16="http://schemas.microsoft.com/office/drawing/2014/main" id="{6DA23C6F-4DC7-E8FE-983A-85BB7167A67E}"/>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3" name="Rectangle 33">
            <a:extLst>
              <a:ext uri="{FF2B5EF4-FFF2-40B4-BE49-F238E27FC236}">
                <a16:creationId xmlns:a16="http://schemas.microsoft.com/office/drawing/2014/main" id="{55E5CAA5-8D32-C4B9-E034-2B898616475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4" name="Rectangle 34">
            <a:extLst>
              <a:ext uri="{FF2B5EF4-FFF2-40B4-BE49-F238E27FC236}">
                <a16:creationId xmlns:a16="http://schemas.microsoft.com/office/drawing/2014/main" id="{8AA358A8-C377-65F1-2693-DFEAD212F10B}"/>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5" name="Rectangle 35">
            <a:extLst>
              <a:ext uri="{FF2B5EF4-FFF2-40B4-BE49-F238E27FC236}">
                <a16:creationId xmlns:a16="http://schemas.microsoft.com/office/drawing/2014/main" id="{74971F4C-06C4-741C-8C5A-1AF3CB5EDBD2}"/>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6" name="Rectangle 36">
            <a:extLst>
              <a:ext uri="{FF2B5EF4-FFF2-40B4-BE49-F238E27FC236}">
                <a16:creationId xmlns:a16="http://schemas.microsoft.com/office/drawing/2014/main" id="{1672CF0B-68C5-6991-7036-E9EC6FD6977D}"/>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7" name="Rectangle 37">
            <a:extLst>
              <a:ext uri="{FF2B5EF4-FFF2-40B4-BE49-F238E27FC236}">
                <a16:creationId xmlns:a16="http://schemas.microsoft.com/office/drawing/2014/main" id="{63F3C1E3-F885-117B-938D-A9E3476EEB3F}"/>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10527814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538144-1309-2B9A-14B0-A625ED93F0F7}"/>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83175B4A-1A9A-C080-2D5F-77FFC81568F9}"/>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3C1606EF-6F4E-7ED1-6E12-99C2746752D4}"/>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3E412ECC-57E4-2296-DCA5-399072694D09}"/>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E568D614-F612-73F4-3B8B-5395940BA62F}"/>
              </a:ext>
            </a:extLst>
          </p:cNvPr>
          <p:cNvSpPr/>
          <p:nvPr/>
        </p:nvSpPr>
        <p:spPr>
          <a:xfrm>
            <a:off x="469179" y="2439497"/>
            <a:ext cx="2978110" cy="394387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Backlog Review Cadence</a:t>
            </a:r>
          </a:p>
          <a:p>
            <a:r>
              <a:rPr lang="en-US" sz="1100" b="1">
                <a:solidFill>
                  <a:schemeClr val="tx1"/>
                </a:solidFill>
              </a:rPr>
              <a:t>Purpose</a:t>
            </a:r>
          </a:p>
          <a:p>
            <a:r>
              <a:rPr lang="en-US" sz="1100">
                <a:solidFill>
                  <a:schemeClr val="tx1"/>
                </a:solidFill>
              </a:rPr>
              <a:t>Ensure backlog remains aligned, prioritized, and data-driven</a:t>
            </a:r>
          </a:p>
          <a:p>
            <a:r>
              <a:rPr lang="en-US" sz="1100" b="1">
                <a:solidFill>
                  <a:schemeClr val="tx1"/>
                </a:solidFill>
              </a:rPr>
              <a:t>How to Execute</a:t>
            </a:r>
          </a:p>
          <a:p>
            <a:r>
              <a:rPr lang="en-US" sz="1100">
                <a:solidFill>
                  <a:schemeClr val="tx1"/>
                </a:solidFill>
              </a:rPr>
              <a:t>Schedule weekly backlog review session </a:t>
            </a:r>
          </a:p>
          <a:p>
            <a:r>
              <a:rPr lang="en-US" sz="1100">
                <a:solidFill>
                  <a:schemeClr val="tx1"/>
                </a:solidFill>
              </a:rPr>
              <a:t>Participants: </a:t>
            </a:r>
          </a:p>
          <a:p>
            <a:pPr marL="628650" lvl="1" indent="-171450">
              <a:buFont typeface="Arial" panose="020B0604020202020204" pitchFamily="34" charset="0"/>
              <a:buChar char="•"/>
            </a:pPr>
            <a:r>
              <a:rPr lang="en-US" sz="1100">
                <a:solidFill>
                  <a:schemeClr val="tx1"/>
                </a:solidFill>
              </a:rPr>
              <a:t>Product Owner </a:t>
            </a:r>
          </a:p>
          <a:p>
            <a:pPr marL="628650" lvl="1" indent="-171450">
              <a:buFont typeface="Arial" panose="020B0604020202020204" pitchFamily="34" charset="0"/>
              <a:buChar char="•"/>
            </a:pPr>
            <a:r>
              <a:rPr lang="en-US" sz="1100">
                <a:solidFill>
                  <a:schemeClr val="tx1"/>
                </a:solidFill>
              </a:rPr>
              <a:t>Key stakeholders </a:t>
            </a:r>
          </a:p>
          <a:p>
            <a:pPr marL="628650" lvl="1" indent="-171450">
              <a:buFont typeface="Arial" panose="020B0604020202020204" pitchFamily="34" charset="0"/>
              <a:buChar char="•"/>
            </a:pPr>
            <a:r>
              <a:rPr lang="en-US" sz="1100">
                <a:solidFill>
                  <a:schemeClr val="tx1"/>
                </a:solidFill>
              </a:rPr>
              <a:t>Project Manager (facilitator) </a:t>
            </a:r>
          </a:p>
          <a:p>
            <a:r>
              <a:rPr lang="en-US" sz="1100">
                <a:solidFill>
                  <a:schemeClr val="tx1"/>
                </a:solidFill>
              </a:rPr>
              <a:t>Review: </a:t>
            </a:r>
          </a:p>
          <a:p>
            <a:pPr marL="628650" lvl="1" indent="-171450">
              <a:buFont typeface="Arial" panose="020B0604020202020204" pitchFamily="34" charset="0"/>
              <a:buChar char="•"/>
            </a:pPr>
            <a:r>
              <a:rPr lang="en-US" sz="1100">
                <a:solidFill>
                  <a:schemeClr val="tx1"/>
                </a:solidFill>
              </a:rPr>
              <a:t>Top backlog items </a:t>
            </a:r>
          </a:p>
          <a:p>
            <a:pPr marL="628650" lvl="1" indent="-171450">
              <a:buFont typeface="Arial" panose="020B0604020202020204" pitchFamily="34" charset="0"/>
              <a:buChar char="•"/>
            </a:pPr>
            <a:r>
              <a:rPr lang="en-US" sz="1100">
                <a:solidFill>
                  <a:schemeClr val="tx1"/>
                </a:solidFill>
              </a:rPr>
              <a:t>New incoming demand </a:t>
            </a:r>
          </a:p>
          <a:p>
            <a:pPr marL="628650" lvl="1" indent="-171450">
              <a:buFont typeface="Arial" panose="020B0604020202020204" pitchFamily="34" charset="0"/>
              <a:buChar char="•"/>
            </a:pPr>
            <a:r>
              <a:rPr lang="en-US" sz="1100">
                <a:solidFill>
                  <a:schemeClr val="tx1"/>
                </a:solidFill>
              </a:rPr>
              <a:t>Aging items </a:t>
            </a:r>
          </a:p>
          <a:p>
            <a:r>
              <a:rPr lang="en-US" sz="1100">
                <a:solidFill>
                  <a:schemeClr val="tx1"/>
                </a:solidFill>
              </a:rPr>
              <a:t>Use metrics to adjust priorities: </a:t>
            </a:r>
          </a:p>
          <a:p>
            <a:pPr marL="628650" lvl="1" indent="-171450">
              <a:buFont typeface="Arial" panose="020B0604020202020204" pitchFamily="34" charset="0"/>
              <a:buChar char="•"/>
            </a:pPr>
            <a:r>
              <a:rPr lang="en-US" sz="1100">
                <a:solidFill>
                  <a:schemeClr val="tx1"/>
                </a:solidFill>
              </a:rPr>
              <a:t>Items waiting too long </a:t>
            </a:r>
          </a:p>
          <a:p>
            <a:pPr marL="628650" lvl="1" indent="-171450">
              <a:buFont typeface="Arial" panose="020B0604020202020204" pitchFamily="34" charset="0"/>
              <a:buChar char="•"/>
            </a:pPr>
            <a:r>
              <a:rPr lang="en-US" sz="1100">
                <a:solidFill>
                  <a:schemeClr val="tx1"/>
                </a:solidFill>
              </a:rPr>
              <a:t>Cycle time trends </a:t>
            </a:r>
          </a:p>
          <a:p>
            <a:pPr marL="628650" lvl="1" indent="-171450">
              <a:buFont typeface="Arial" panose="020B0604020202020204" pitchFamily="34" charset="0"/>
              <a:buChar char="•"/>
            </a:pPr>
            <a:r>
              <a:rPr lang="en-US" sz="1100">
                <a:solidFill>
                  <a:schemeClr val="tx1"/>
                </a:solidFill>
              </a:rPr>
              <a:t>Throughput capacity </a:t>
            </a:r>
          </a:p>
          <a:p>
            <a:r>
              <a:rPr lang="en-US" sz="1100">
                <a:solidFill>
                  <a:schemeClr val="tx1"/>
                </a:solidFill>
              </a:rPr>
              <a:t>Reorder backlog accordingly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Backlog is updated and aligned with stakeholders </a:t>
            </a:r>
          </a:p>
          <a:p>
            <a:pPr marL="628650" lvl="1" indent="-171450">
              <a:buFont typeface="Arial" panose="020B0604020202020204" pitchFamily="34" charset="0"/>
              <a:buChar char="•"/>
            </a:pPr>
            <a:r>
              <a:rPr lang="en-US" sz="1100">
                <a:solidFill>
                  <a:schemeClr val="tx1"/>
                </a:solidFill>
              </a:rPr>
              <a:t>Top items are ready + prioritized </a:t>
            </a:r>
          </a:p>
        </p:txBody>
      </p:sp>
      <p:sp>
        <p:nvSpPr>
          <p:cNvPr id="31" name="Rounded Rectangle 6">
            <a:extLst>
              <a:ext uri="{FF2B5EF4-FFF2-40B4-BE49-F238E27FC236}">
                <a16:creationId xmlns:a16="http://schemas.microsoft.com/office/drawing/2014/main" id="{388735A0-4314-E1C8-C331-32F7B396C65B}"/>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E05020FB-DA59-42FE-BC6E-EF9221C73084}"/>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6B3446EF-6E8A-ECEE-6EF2-02C911930800}"/>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2FB77C37-9654-1FCC-C6B5-3817C737250D}"/>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ADC45F5A-65B8-51C6-9BC9-50AF57B91DAA}"/>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E9ED022D-5DB6-8EC3-7756-DE6072B3A519}"/>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1AB82D20-4C51-1E3D-A20A-1F66A904F68C}"/>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BDF950D5-5DCC-B630-E793-CDBD0F49506B}"/>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1EB07F86-6057-BB6F-29E1-C6B309B5CCB5}"/>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017006B2-7674-9D09-316B-61153132CFB9}"/>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4D16C2E1-E757-D6DD-CC21-ABF04FC16B63}"/>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3F5CD9C9-BAB0-1487-24C1-ABEFAA8FB214}"/>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12E0AEAD-91A9-F1D7-2C47-4934088C3C2A}"/>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6E8653AF-A817-5F5C-0D62-78220C61FE73}"/>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7D33EF2C-9172-64DA-7324-57D27DBB97D2}"/>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475C9E45-5D04-DA34-AA40-AE52910F671F}"/>
              </a:ext>
            </a:extLst>
          </p:cNvPr>
          <p:cNvSpPr/>
          <p:nvPr/>
        </p:nvSpPr>
        <p:spPr>
          <a:xfrm>
            <a:off x="3932259" y="2426633"/>
            <a:ext cx="2542485" cy="27218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Flow Metrics Dashboard (Used for Prioritization)</a:t>
            </a:r>
          </a:p>
          <a:p>
            <a:r>
              <a:rPr lang="en-US" sz="1100" b="1">
                <a:solidFill>
                  <a:schemeClr val="tx1"/>
                </a:solidFill>
              </a:rPr>
              <a:t>How to Use</a:t>
            </a:r>
          </a:p>
          <a:p>
            <a:r>
              <a:rPr lang="en-US" sz="1100">
                <a:solidFill>
                  <a:schemeClr val="tx1"/>
                </a:solidFill>
              </a:rPr>
              <a:t>Track:</a:t>
            </a:r>
          </a:p>
          <a:p>
            <a:pPr marL="628650" lvl="1" indent="-171450">
              <a:buFont typeface="Arial" panose="020B0604020202020204" pitchFamily="34" charset="0"/>
              <a:buChar char="•"/>
            </a:pPr>
            <a:r>
              <a:rPr lang="en-US" sz="1100">
                <a:solidFill>
                  <a:schemeClr val="tx1"/>
                </a:solidFill>
              </a:rPr>
              <a:t>Lead Time (idea → done) </a:t>
            </a:r>
          </a:p>
          <a:p>
            <a:pPr marL="628650" lvl="1" indent="-171450">
              <a:buFont typeface="Arial" panose="020B0604020202020204" pitchFamily="34" charset="0"/>
              <a:buChar char="•"/>
            </a:pPr>
            <a:r>
              <a:rPr lang="en-US" sz="1100">
                <a:solidFill>
                  <a:schemeClr val="tx1"/>
                </a:solidFill>
              </a:rPr>
              <a:t>Cycle Time (in progress → done) </a:t>
            </a:r>
          </a:p>
          <a:p>
            <a:pPr marL="628650" lvl="1" indent="-171450">
              <a:buFont typeface="Arial" panose="020B0604020202020204" pitchFamily="34" charset="0"/>
              <a:buChar char="•"/>
            </a:pPr>
            <a:r>
              <a:rPr lang="en-US" sz="1100">
                <a:solidFill>
                  <a:schemeClr val="tx1"/>
                </a:solidFill>
              </a:rPr>
              <a:t>Throughput (items/week) </a:t>
            </a:r>
          </a:p>
          <a:p>
            <a:pPr marL="628650" lvl="1" indent="-171450">
              <a:buFont typeface="Arial" panose="020B0604020202020204" pitchFamily="34" charset="0"/>
              <a:buChar char="•"/>
            </a:pPr>
            <a:r>
              <a:rPr lang="en-US" sz="1100">
                <a:solidFill>
                  <a:schemeClr val="tx1"/>
                </a:solidFill>
              </a:rPr>
              <a:t>Aging work items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Use trends, not single data points </a:t>
            </a:r>
          </a:p>
          <a:p>
            <a:pPr marL="628650" lvl="1" indent="-171450">
              <a:buFont typeface="Arial" panose="020B0604020202020204" pitchFamily="34" charset="0"/>
              <a:buChar char="•"/>
            </a:pPr>
            <a:r>
              <a:rPr lang="en-US" sz="1100">
                <a:solidFill>
                  <a:schemeClr val="tx1"/>
                </a:solidFill>
              </a:rPr>
              <a:t>Highlight bottlenecks influencing prioritization</a:t>
            </a:r>
          </a:p>
        </p:txBody>
      </p:sp>
      <p:sp>
        <p:nvSpPr>
          <p:cNvPr id="4" name="TextBox 3">
            <a:extLst>
              <a:ext uri="{FF2B5EF4-FFF2-40B4-BE49-F238E27FC236}">
                <a16:creationId xmlns:a16="http://schemas.microsoft.com/office/drawing/2014/main" id="{11734625-66AD-CA44-C60E-D6C9D603858E}"/>
              </a:ext>
            </a:extLst>
          </p:cNvPr>
          <p:cNvSpPr txBox="1"/>
          <p:nvPr/>
        </p:nvSpPr>
        <p:spPr>
          <a:xfrm>
            <a:off x="457200" y="73152"/>
            <a:ext cx="11277295" cy="461665"/>
          </a:xfrm>
          <a:prstGeom prst="rect">
            <a:avLst/>
          </a:prstGeom>
          <a:noFill/>
        </p:spPr>
        <p:txBody>
          <a:bodyPr wrap="square">
            <a:spAutoFit/>
          </a:bodyPr>
          <a:lstStyle/>
          <a:p>
            <a:pPr>
              <a:defRPr sz="2400" b="1" i="0">
                <a:solidFill>
                  <a:srgbClr val="0F1A38"/>
                </a:solidFill>
                <a:latin typeface="Calibri"/>
              </a:defRPr>
            </a:pPr>
            <a:r>
              <a:rPr lang="en-US"/>
              <a:t>PREPARATION PLANNING</a:t>
            </a:r>
            <a:endParaRPr/>
          </a:p>
        </p:txBody>
      </p:sp>
      <p:sp>
        <p:nvSpPr>
          <p:cNvPr id="5" name="TextBox 4">
            <a:extLst>
              <a:ext uri="{FF2B5EF4-FFF2-40B4-BE49-F238E27FC236}">
                <a16:creationId xmlns:a16="http://schemas.microsoft.com/office/drawing/2014/main" id="{9D880AFB-644C-28A4-927F-96DDC71D18E8}"/>
              </a:ext>
            </a:extLst>
          </p:cNvPr>
          <p:cNvSpPr txBox="1"/>
          <p:nvPr/>
        </p:nvSpPr>
        <p:spPr>
          <a:xfrm>
            <a:off x="457200" y="384048"/>
            <a:ext cx="9144000" cy="400110"/>
          </a:xfrm>
          <a:prstGeom prst="rect">
            <a:avLst/>
          </a:prstGeom>
          <a:noFill/>
        </p:spPr>
        <p:txBody>
          <a:bodyPr wrap="square">
            <a:spAutoFit/>
          </a:bodyPr>
          <a:lstStyle/>
          <a:p>
            <a:pPr algn="l">
              <a:defRPr sz="1200" b="0" i="1">
                <a:solidFill>
                  <a:srgbClr val="666666"/>
                </a:solidFill>
                <a:latin typeface="Calibri"/>
              </a:defRPr>
            </a:pPr>
            <a:r>
              <a:rPr lang="en-US" sz="2000"/>
              <a:t>PROCESSES AND ARTIFACTS – Backlog Review Cadence</a:t>
            </a:r>
          </a:p>
        </p:txBody>
      </p:sp>
      <p:sp>
        <p:nvSpPr>
          <p:cNvPr id="3" name="TextBox 2">
            <a:extLst>
              <a:ext uri="{FF2B5EF4-FFF2-40B4-BE49-F238E27FC236}">
                <a16:creationId xmlns:a16="http://schemas.microsoft.com/office/drawing/2014/main" id="{980F0384-3BCD-D630-5CE6-B5572D6F577B}"/>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CE81949A-F29D-5D3E-F076-FA1BFED41480}"/>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Arrow: Right 6">
            <a:extLst>
              <a:ext uri="{FF2B5EF4-FFF2-40B4-BE49-F238E27FC236}">
                <a16:creationId xmlns:a16="http://schemas.microsoft.com/office/drawing/2014/main" id="{EF783D9F-3303-1604-8B46-3DFC210EEAC8}"/>
              </a:ext>
            </a:extLst>
          </p:cNvPr>
          <p:cNvSpPr/>
          <p:nvPr/>
        </p:nvSpPr>
        <p:spPr>
          <a:xfrm>
            <a:off x="3464809" y="2925091"/>
            <a:ext cx="423568" cy="63985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5">
            <a:extLst>
              <a:ext uri="{FF2B5EF4-FFF2-40B4-BE49-F238E27FC236}">
                <a16:creationId xmlns:a16="http://schemas.microsoft.com/office/drawing/2014/main" id="{07DCB98F-7406-369A-B031-6279ADEC2CB2}"/>
              </a:ext>
            </a:extLst>
          </p:cNvPr>
          <p:cNvSpPr/>
          <p:nvPr/>
        </p:nvSpPr>
        <p:spPr>
          <a:xfrm>
            <a:off x="8201258" y="871505"/>
            <a:ext cx="2692877" cy="950469"/>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Continuously refine and prioritize the backlog so that high-quality, ready work is always available to sustain efficient Kanban flow.</a:t>
            </a:r>
          </a:p>
        </p:txBody>
      </p:sp>
      <p:pic>
        <p:nvPicPr>
          <p:cNvPr id="13" name="Picture 12">
            <a:extLst>
              <a:ext uri="{FF2B5EF4-FFF2-40B4-BE49-F238E27FC236}">
                <a16:creationId xmlns:a16="http://schemas.microsoft.com/office/drawing/2014/main" id="{FE4408D9-018C-AEF1-DD4E-D529E9140DBA}"/>
              </a:ext>
            </a:extLst>
          </p:cNvPr>
          <p:cNvPicPr>
            <a:picLocks noChangeAspect="1"/>
          </p:cNvPicPr>
          <p:nvPr/>
        </p:nvPicPr>
        <p:blipFill>
          <a:blip r:embed="rId2"/>
          <a:stretch>
            <a:fillRect/>
          </a:stretch>
        </p:blipFill>
        <p:spPr>
          <a:xfrm>
            <a:off x="6584950" y="2208840"/>
            <a:ext cx="4454576" cy="2083075"/>
          </a:xfrm>
          <a:prstGeom prst="rect">
            <a:avLst/>
          </a:prstGeom>
        </p:spPr>
      </p:pic>
      <p:sp>
        <p:nvSpPr>
          <p:cNvPr id="14" name="Rectangle 7">
            <a:extLst>
              <a:ext uri="{FF2B5EF4-FFF2-40B4-BE49-F238E27FC236}">
                <a16:creationId xmlns:a16="http://schemas.microsoft.com/office/drawing/2014/main" id="{5448036E-5B11-2456-71C2-C4AB04078B13}"/>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5" name="Rectangle 10">
            <a:extLst>
              <a:ext uri="{FF2B5EF4-FFF2-40B4-BE49-F238E27FC236}">
                <a16:creationId xmlns:a16="http://schemas.microsoft.com/office/drawing/2014/main" id="{0FF03FEF-5A41-B0A8-AF09-41DAF2382B4F}"/>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6" name="Rectangle 17">
            <a:extLst>
              <a:ext uri="{FF2B5EF4-FFF2-40B4-BE49-F238E27FC236}">
                <a16:creationId xmlns:a16="http://schemas.microsoft.com/office/drawing/2014/main" id="{FD5F79E6-6AFB-CF87-46B0-C699873C6A29}"/>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8" name="Rectangle 18">
            <a:extLst>
              <a:ext uri="{FF2B5EF4-FFF2-40B4-BE49-F238E27FC236}">
                <a16:creationId xmlns:a16="http://schemas.microsoft.com/office/drawing/2014/main" id="{31A7EB80-ABB3-187D-8F03-726EB3C18AF6}"/>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39" name="Rectangle 19">
            <a:extLst>
              <a:ext uri="{FF2B5EF4-FFF2-40B4-BE49-F238E27FC236}">
                <a16:creationId xmlns:a16="http://schemas.microsoft.com/office/drawing/2014/main" id="{E4EE66D0-13E4-2F91-0796-643E31DDAAA2}"/>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0" name="Rectangle 20">
            <a:extLst>
              <a:ext uri="{FF2B5EF4-FFF2-40B4-BE49-F238E27FC236}">
                <a16:creationId xmlns:a16="http://schemas.microsoft.com/office/drawing/2014/main" id="{E7BFB855-9197-2E9C-EA6E-36B78FE8DA64}"/>
              </a:ext>
            </a:extLst>
          </p:cNvPr>
          <p:cNvSpPr/>
          <p:nvPr/>
        </p:nvSpPr>
        <p:spPr>
          <a:xfrm>
            <a:off x="11371999" y="2684398"/>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2" name="Rectangle 21">
            <a:extLst>
              <a:ext uri="{FF2B5EF4-FFF2-40B4-BE49-F238E27FC236}">
                <a16:creationId xmlns:a16="http://schemas.microsoft.com/office/drawing/2014/main" id="{080B51C4-E5ED-F143-8605-0302AC80F0CA}"/>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3" name="Rectangle 22">
            <a:extLst>
              <a:ext uri="{FF2B5EF4-FFF2-40B4-BE49-F238E27FC236}">
                <a16:creationId xmlns:a16="http://schemas.microsoft.com/office/drawing/2014/main" id="{1FE88B89-F79F-C4C5-306B-5A5D9C8186EC}"/>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4" name="Rectangle 23">
            <a:extLst>
              <a:ext uri="{FF2B5EF4-FFF2-40B4-BE49-F238E27FC236}">
                <a16:creationId xmlns:a16="http://schemas.microsoft.com/office/drawing/2014/main" id="{D09F7116-9539-3E94-1117-E0C60D8308D4}"/>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5" name="Rectangle 24">
            <a:extLst>
              <a:ext uri="{FF2B5EF4-FFF2-40B4-BE49-F238E27FC236}">
                <a16:creationId xmlns:a16="http://schemas.microsoft.com/office/drawing/2014/main" id="{64FF01A3-D8C5-AE6D-DE5C-57C82F9E19DB}"/>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6" name="Rectangle 25">
            <a:extLst>
              <a:ext uri="{FF2B5EF4-FFF2-40B4-BE49-F238E27FC236}">
                <a16:creationId xmlns:a16="http://schemas.microsoft.com/office/drawing/2014/main" id="{97644F2C-4DC1-9956-09C9-244ABF667BCC}"/>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7" name="Rectangle 26">
            <a:extLst>
              <a:ext uri="{FF2B5EF4-FFF2-40B4-BE49-F238E27FC236}">
                <a16:creationId xmlns:a16="http://schemas.microsoft.com/office/drawing/2014/main" id="{199FD7BF-5594-F7C9-C85C-5D259FA161A5}"/>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8" name="Rectangle 27">
            <a:extLst>
              <a:ext uri="{FF2B5EF4-FFF2-40B4-BE49-F238E27FC236}">
                <a16:creationId xmlns:a16="http://schemas.microsoft.com/office/drawing/2014/main" id="{80BD2FCF-55F5-077F-5B5E-DBACAF473987}"/>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49" name="Rectangle 28">
            <a:extLst>
              <a:ext uri="{FF2B5EF4-FFF2-40B4-BE49-F238E27FC236}">
                <a16:creationId xmlns:a16="http://schemas.microsoft.com/office/drawing/2014/main" id="{D915B370-66D3-2600-B2B3-626A2CAD4002}"/>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0" name="Rectangle 29">
            <a:extLst>
              <a:ext uri="{FF2B5EF4-FFF2-40B4-BE49-F238E27FC236}">
                <a16:creationId xmlns:a16="http://schemas.microsoft.com/office/drawing/2014/main" id="{B613548C-BC50-9095-BE2C-E82060DADB8C}"/>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1" name="Rectangle 32">
            <a:extLst>
              <a:ext uri="{FF2B5EF4-FFF2-40B4-BE49-F238E27FC236}">
                <a16:creationId xmlns:a16="http://schemas.microsoft.com/office/drawing/2014/main" id="{9B79DF84-999E-E6E9-6077-60C1DD7C3DA5}"/>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2" name="Rectangle 33">
            <a:extLst>
              <a:ext uri="{FF2B5EF4-FFF2-40B4-BE49-F238E27FC236}">
                <a16:creationId xmlns:a16="http://schemas.microsoft.com/office/drawing/2014/main" id="{E1EE26EC-B3B2-6AC4-A953-1BF2614BF6A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3" name="Rectangle 34">
            <a:extLst>
              <a:ext uri="{FF2B5EF4-FFF2-40B4-BE49-F238E27FC236}">
                <a16:creationId xmlns:a16="http://schemas.microsoft.com/office/drawing/2014/main" id="{136628E4-EDBD-8F4A-C7CE-0026EEE4F997}"/>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4" name="Rectangle 35">
            <a:extLst>
              <a:ext uri="{FF2B5EF4-FFF2-40B4-BE49-F238E27FC236}">
                <a16:creationId xmlns:a16="http://schemas.microsoft.com/office/drawing/2014/main" id="{9F4E3514-8B95-A680-8A85-3D352E60CF91}"/>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5" name="Rectangle 36">
            <a:extLst>
              <a:ext uri="{FF2B5EF4-FFF2-40B4-BE49-F238E27FC236}">
                <a16:creationId xmlns:a16="http://schemas.microsoft.com/office/drawing/2014/main" id="{F0ABE969-4C83-1F99-2B89-5889279B0791}"/>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6" name="Rectangle 37">
            <a:extLst>
              <a:ext uri="{FF2B5EF4-FFF2-40B4-BE49-F238E27FC236}">
                <a16:creationId xmlns:a16="http://schemas.microsoft.com/office/drawing/2014/main" id="{67A26A35-B278-E5EF-1A4F-A4CCEA17FFD3}"/>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27479741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DA3404-B3F7-7679-60A2-B7FDCF230E1B}"/>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08C4520E-3963-878E-F90A-E823D055111F}"/>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C9E2F331-1CC7-BE68-C837-8851DC497703}"/>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B6A258EB-174A-33BE-FEF5-29190C9FFC4D}"/>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6D1A3EF5-A8AC-D5F6-3E3E-04873340146D}"/>
              </a:ext>
            </a:extLst>
          </p:cNvPr>
          <p:cNvSpPr/>
          <p:nvPr/>
        </p:nvSpPr>
        <p:spPr>
          <a:xfrm>
            <a:off x="469178" y="2439497"/>
            <a:ext cx="3568989" cy="3098914"/>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Pre-Estimation of Stories</a:t>
            </a:r>
          </a:p>
          <a:p>
            <a:r>
              <a:rPr lang="en-US" sz="1100" b="1">
                <a:solidFill>
                  <a:schemeClr val="tx1"/>
                </a:solidFill>
              </a:rPr>
              <a:t>Purpose</a:t>
            </a:r>
          </a:p>
          <a:p>
            <a:r>
              <a:rPr lang="en-US" sz="1100">
                <a:solidFill>
                  <a:schemeClr val="tx1"/>
                </a:solidFill>
              </a:rPr>
              <a:t>Provide lightweight effort sizing to support prioritization decisions</a:t>
            </a:r>
          </a:p>
          <a:p>
            <a:r>
              <a:rPr lang="en-US" sz="1100" b="1">
                <a:solidFill>
                  <a:schemeClr val="tx1"/>
                </a:solidFill>
              </a:rPr>
              <a:t>How to Execute</a:t>
            </a:r>
          </a:p>
          <a:p>
            <a:r>
              <a:rPr lang="en-US" sz="1100">
                <a:solidFill>
                  <a:schemeClr val="tx1"/>
                </a:solidFill>
              </a:rPr>
              <a:t>During backlog refinement: </a:t>
            </a:r>
          </a:p>
          <a:p>
            <a:pPr marL="628650" lvl="1" indent="-171450">
              <a:buFont typeface="Arial" panose="020B0604020202020204" pitchFamily="34" charset="0"/>
              <a:buChar char="•"/>
            </a:pPr>
            <a:r>
              <a:rPr lang="en-US" sz="1100">
                <a:solidFill>
                  <a:schemeClr val="tx1"/>
                </a:solidFill>
              </a:rPr>
              <a:t>Dev team reviews upcoming items </a:t>
            </a:r>
          </a:p>
          <a:p>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Hours - Time</a:t>
            </a:r>
          </a:p>
          <a:p>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p:txBody>
      </p:sp>
      <p:sp>
        <p:nvSpPr>
          <p:cNvPr id="31" name="Rounded Rectangle 6">
            <a:extLst>
              <a:ext uri="{FF2B5EF4-FFF2-40B4-BE49-F238E27FC236}">
                <a16:creationId xmlns:a16="http://schemas.microsoft.com/office/drawing/2014/main" id="{5C730622-1C40-C324-407F-A83B49F7FAA4}"/>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CBCAB8DB-D99A-A84C-5D44-E1C0C5C25FC5}"/>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0F447510-F2DE-3859-3376-2FCD0D0ACA8A}"/>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B502E869-8275-1C0B-0606-A3AD2CA87FC3}"/>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3E6B99CD-95B1-0964-2BA5-C11973E8299D}"/>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97E11687-34AE-A608-DF2F-315FE3209516}"/>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3DD970-826E-248F-05B0-67D50E1AD3E8}"/>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5334B5CA-44D9-3A47-9EC7-5CC14EC3C7FE}"/>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E9D97A5A-402F-76C8-B7CE-6C94BD7CB99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72FF74BA-D03E-4115-E550-0659ACE36F7F}"/>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30F4BA04-D353-214A-EC2E-0ADA0A7D554E}"/>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13953A65-DFF5-A3D0-A277-359AFEB2E011}"/>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131A64C6-2BC4-59C2-73B3-A3D55C183671}"/>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C7E4223F-614E-9C3A-6CD7-7E2C46637D5B}"/>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CBBD6FBF-C8A4-C9D1-57ED-2A9F8003F4B1}"/>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3E25601B-1D3D-2D75-6138-58D15696E9AA}"/>
              </a:ext>
            </a:extLst>
          </p:cNvPr>
          <p:cNvSpPr/>
          <p:nvPr/>
        </p:nvSpPr>
        <p:spPr>
          <a:xfrm>
            <a:off x="4114800" y="4055634"/>
            <a:ext cx="2913293" cy="232792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Estimation Board / Tracker</a:t>
            </a:r>
          </a:p>
          <a:p>
            <a:r>
              <a:rPr lang="en-US" sz="1100" b="1">
                <a:solidFill>
                  <a:schemeClr val="tx1"/>
                </a:solidFill>
              </a:rPr>
              <a:t>How to Create</a:t>
            </a:r>
          </a:p>
          <a:p>
            <a:r>
              <a:rPr lang="en-US" sz="1100">
                <a:solidFill>
                  <a:schemeClr val="tx1"/>
                </a:solidFill>
              </a:rPr>
              <a:t>Options:</a:t>
            </a:r>
          </a:p>
          <a:p>
            <a:r>
              <a:rPr lang="en-US" sz="1100">
                <a:solidFill>
                  <a:schemeClr val="tx1"/>
                </a:solidFill>
              </a:rPr>
              <a:t>Jira field (Story Points / Size / hours) </a:t>
            </a:r>
          </a:p>
          <a:p>
            <a:r>
              <a:rPr lang="en-US" sz="1100">
                <a:solidFill>
                  <a:schemeClr val="tx1"/>
                </a:solidFill>
              </a:rPr>
              <a:t>Simple board view showing: </a:t>
            </a:r>
          </a:p>
          <a:p>
            <a:pPr marL="628650" lvl="1" indent="-171450">
              <a:buFont typeface="Arial" panose="020B0604020202020204" pitchFamily="34" charset="0"/>
              <a:buChar char="•"/>
            </a:pPr>
            <a:r>
              <a:rPr lang="en-US" sz="1100">
                <a:solidFill>
                  <a:schemeClr val="tx1"/>
                </a:solidFill>
              </a:rPr>
              <a:t>Item </a:t>
            </a:r>
          </a:p>
          <a:p>
            <a:pPr marL="628650" lvl="1" indent="-171450">
              <a:buFont typeface="Arial" panose="020B0604020202020204" pitchFamily="34" charset="0"/>
              <a:buChar char="•"/>
            </a:pPr>
            <a:r>
              <a:rPr lang="en-US" sz="1100">
                <a:solidFill>
                  <a:schemeClr val="tx1"/>
                </a:solidFill>
              </a:rPr>
              <a:t>Size </a:t>
            </a:r>
          </a:p>
          <a:p>
            <a:pPr marL="628650" lvl="1" indent="-171450">
              <a:buFont typeface="Arial" panose="020B0604020202020204" pitchFamily="34" charset="0"/>
              <a:buChar char="•"/>
            </a:pPr>
            <a:r>
              <a:rPr lang="en-US" sz="1100">
                <a:solidFill>
                  <a:schemeClr val="tx1"/>
                </a:solidFill>
              </a:rPr>
              <a:t>Owner </a:t>
            </a:r>
          </a:p>
          <a:p>
            <a:pPr marL="628650" lvl="1" indent="-171450">
              <a:buFont typeface="Arial" panose="020B0604020202020204" pitchFamily="34" charset="0"/>
              <a:buChar char="•"/>
            </a:pPr>
            <a:r>
              <a:rPr lang="en-US" sz="1100">
                <a:solidFill>
                  <a:schemeClr val="tx1"/>
                </a:solidFill>
              </a:rPr>
              <a:t>Confidence level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Use relative estimation </a:t>
            </a:r>
          </a:p>
          <a:p>
            <a:pPr marL="628650" lvl="1" indent="-171450">
              <a:buFont typeface="Arial" panose="020B0604020202020204" pitchFamily="34" charset="0"/>
              <a:buChar char="•"/>
            </a:pPr>
            <a:r>
              <a:rPr lang="en-US" sz="1100">
                <a:solidFill>
                  <a:schemeClr val="tx1"/>
                </a:solidFill>
              </a:rPr>
              <a:t>Track estimation vs actual trends (for learning, not control)</a:t>
            </a:r>
          </a:p>
        </p:txBody>
      </p:sp>
      <p:sp>
        <p:nvSpPr>
          <p:cNvPr id="94" name="Arrow: Bent 93">
            <a:extLst>
              <a:ext uri="{FF2B5EF4-FFF2-40B4-BE49-F238E27FC236}">
                <a16:creationId xmlns:a16="http://schemas.microsoft.com/office/drawing/2014/main" id="{37237F6A-BCE9-467B-9A72-823E221ED06B}"/>
              </a:ext>
            </a:extLst>
          </p:cNvPr>
          <p:cNvSpPr/>
          <p:nvPr/>
        </p:nvSpPr>
        <p:spPr>
          <a:xfrm flipV="1">
            <a:off x="3178231" y="5620025"/>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C4D4126A-15DF-D9D4-A922-A2CCFB0CD336}"/>
              </a:ext>
            </a:extLst>
          </p:cNvPr>
          <p:cNvSpPr txBox="1"/>
          <p:nvPr/>
        </p:nvSpPr>
        <p:spPr>
          <a:xfrm>
            <a:off x="457200" y="73152"/>
            <a:ext cx="11277295" cy="461665"/>
          </a:xfrm>
          <a:prstGeom prst="rect">
            <a:avLst/>
          </a:prstGeom>
          <a:noFill/>
        </p:spPr>
        <p:txBody>
          <a:bodyPr wrap="square">
            <a:spAutoFit/>
          </a:bodyPr>
          <a:lstStyle/>
          <a:p>
            <a:pPr>
              <a:defRPr sz="2400" b="1" i="0">
                <a:solidFill>
                  <a:srgbClr val="0F1A38"/>
                </a:solidFill>
                <a:latin typeface="Calibri"/>
              </a:defRPr>
            </a:pPr>
            <a:r>
              <a:rPr lang="en-US"/>
              <a:t>PREPARATION PLANNING</a:t>
            </a:r>
            <a:endParaRPr/>
          </a:p>
        </p:txBody>
      </p:sp>
      <p:sp>
        <p:nvSpPr>
          <p:cNvPr id="5" name="TextBox 4">
            <a:extLst>
              <a:ext uri="{FF2B5EF4-FFF2-40B4-BE49-F238E27FC236}">
                <a16:creationId xmlns:a16="http://schemas.microsoft.com/office/drawing/2014/main" id="{0F4025E0-6CDF-6C56-A04D-061D13EC4C91}"/>
              </a:ext>
            </a:extLst>
          </p:cNvPr>
          <p:cNvSpPr txBox="1"/>
          <p:nvPr/>
        </p:nvSpPr>
        <p:spPr>
          <a:xfrm>
            <a:off x="457200" y="384048"/>
            <a:ext cx="9144000" cy="400110"/>
          </a:xfrm>
          <a:prstGeom prst="rect">
            <a:avLst/>
          </a:prstGeom>
          <a:noFill/>
        </p:spPr>
        <p:txBody>
          <a:bodyPr wrap="square">
            <a:spAutoFit/>
          </a:bodyPr>
          <a:lstStyle/>
          <a:p>
            <a:pPr algn="l">
              <a:defRPr sz="1200" b="0" i="1">
                <a:solidFill>
                  <a:srgbClr val="666666"/>
                </a:solidFill>
                <a:latin typeface="Calibri"/>
              </a:defRPr>
            </a:pPr>
            <a:r>
              <a:rPr lang="en-US" sz="2000"/>
              <a:t>PROCESSES AND ARTIFACTS – Pre-Estimation of Stories</a:t>
            </a:r>
          </a:p>
        </p:txBody>
      </p:sp>
      <p:sp>
        <p:nvSpPr>
          <p:cNvPr id="3" name="TextBox 2">
            <a:extLst>
              <a:ext uri="{FF2B5EF4-FFF2-40B4-BE49-F238E27FC236}">
                <a16:creationId xmlns:a16="http://schemas.microsoft.com/office/drawing/2014/main" id="{251A9F2B-E18F-BE32-42FC-A1B2B20D2619}"/>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2B11C168-6A10-8E40-A598-FA2F73E2BFAB}"/>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8" name="Rounded Rectangle 5">
            <a:extLst>
              <a:ext uri="{FF2B5EF4-FFF2-40B4-BE49-F238E27FC236}">
                <a16:creationId xmlns:a16="http://schemas.microsoft.com/office/drawing/2014/main" id="{AA2A98FD-A264-81A0-F443-4DC3DB224439}"/>
              </a:ext>
            </a:extLst>
          </p:cNvPr>
          <p:cNvSpPr/>
          <p:nvPr/>
        </p:nvSpPr>
        <p:spPr>
          <a:xfrm>
            <a:off x="8037384" y="871505"/>
            <a:ext cx="2984365" cy="871298"/>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latin typeface="Arial" panose="020B0604020202020204" pitchFamily="34" charset="0"/>
                <a:cs typeface="Arial" panose="020B0604020202020204" pitchFamily="34" charset="0"/>
              </a:rPr>
              <a:t>Objective</a:t>
            </a:r>
          </a:p>
          <a:p>
            <a:r>
              <a:rPr lang="en-US" sz="1100">
                <a:solidFill>
                  <a:schemeClr val="tx1"/>
                </a:solidFill>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pic>
        <p:nvPicPr>
          <p:cNvPr id="11" name="Picture 10">
            <a:extLst>
              <a:ext uri="{FF2B5EF4-FFF2-40B4-BE49-F238E27FC236}">
                <a16:creationId xmlns:a16="http://schemas.microsoft.com/office/drawing/2014/main" id="{7753E046-1B48-FB8D-7028-B90B7A18438F}"/>
              </a:ext>
            </a:extLst>
          </p:cNvPr>
          <p:cNvPicPr>
            <a:picLocks noChangeAspect="1"/>
          </p:cNvPicPr>
          <p:nvPr/>
        </p:nvPicPr>
        <p:blipFill>
          <a:blip r:embed="rId2"/>
          <a:stretch>
            <a:fillRect/>
          </a:stretch>
        </p:blipFill>
        <p:spPr>
          <a:xfrm>
            <a:off x="7330608" y="4535913"/>
            <a:ext cx="3474628" cy="1332683"/>
          </a:xfrm>
          <a:prstGeom prst="rect">
            <a:avLst/>
          </a:prstGeom>
        </p:spPr>
      </p:pic>
      <p:pic>
        <p:nvPicPr>
          <p:cNvPr id="13" name="Picture 12">
            <a:extLst>
              <a:ext uri="{FF2B5EF4-FFF2-40B4-BE49-F238E27FC236}">
                <a16:creationId xmlns:a16="http://schemas.microsoft.com/office/drawing/2014/main" id="{95CDF754-8C04-9865-BF82-A21ABDB76D4A}"/>
              </a:ext>
            </a:extLst>
          </p:cNvPr>
          <p:cNvPicPr>
            <a:picLocks noChangeAspect="1"/>
          </p:cNvPicPr>
          <p:nvPr/>
        </p:nvPicPr>
        <p:blipFill>
          <a:blip r:embed="rId3"/>
          <a:stretch>
            <a:fillRect/>
          </a:stretch>
        </p:blipFill>
        <p:spPr>
          <a:xfrm>
            <a:off x="5619528" y="1888300"/>
            <a:ext cx="4589214" cy="1920353"/>
          </a:xfrm>
          <a:prstGeom prst="rect">
            <a:avLst/>
          </a:prstGeom>
        </p:spPr>
      </p:pic>
      <p:sp>
        <p:nvSpPr>
          <p:cNvPr id="14" name="Rectangle 7">
            <a:extLst>
              <a:ext uri="{FF2B5EF4-FFF2-40B4-BE49-F238E27FC236}">
                <a16:creationId xmlns:a16="http://schemas.microsoft.com/office/drawing/2014/main" id="{7B99EF62-D637-B787-58FF-EDD6AADFBD40}"/>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5" name="Rectangle 10">
            <a:extLst>
              <a:ext uri="{FF2B5EF4-FFF2-40B4-BE49-F238E27FC236}">
                <a16:creationId xmlns:a16="http://schemas.microsoft.com/office/drawing/2014/main" id="{EDC7B47F-C6FF-051C-02AC-759BAE6BDD82}"/>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6" name="Rectangle 17">
            <a:extLst>
              <a:ext uri="{FF2B5EF4-FFF2-40B4-BE49-F238E27FC236}">
                <a16:creationId xmlns:a16="http://schemas.microsoft.com/office/drawing/2014/main" id="{AD59E522-C552-A37B-7870-CFA5ECAD7DBD}"/>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8" name="Rectangle 18">
            <a:extLst>
              <a:ext uri="{FF2B5EF4-FFF2-40B4-BE49-F238E27FC236}">
                <a16:creationId xmlns:a16="http://schemas.microsoft.com/office/drawing/2014/main" id="{D0604606-DCB1-3F16-17C1-7D7A98AA9BFC}"/>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39" name="Rectangle 19">
            <a:extLst>
              <a:ext uri="{FF2B5EF4-FFF2-40B4-BE49-F238E27FC236}">
                <a16:creationId xmlns:a16="http://schemas.microsoft.com/office/drawing/2014/main" id="{4F86326D-3C70-9A3D-F167-EC8C3E5CD93A}"/>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0" name="Rectangle 20">
            <a:extLst>
              <a:ext uri="{FF2B5EF4-FFF2-40B4-BE49-F238E27FC236}">
                <a16:creationId xmlns:a16="http://schemas.microsoft.com/office/drawing/2014/main" id="{17881B3E-52D8-8BB0-96F5-BDCAB3222B52}"/>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2" name="Rectangle 21">
            <a:extLst>
              <a:ext uri="{FF2B5EF4-FFF2-40B4-BE49-F238E27FC236}">
                <a16:creationId xmlns:a16="http://schemas.microsoft.com/office/drawing/2014/main" id="{9340CBB9-96AE-F7D1-18A7-2AAF9DE09C8F}"/>
              </a:ext>
            </a:extLst>
          </p:cNvPr>
          <p:cNvSpPr/>
          <p:nvPr/>
        </p:nvSpPr>
        <p:spPr>
          <a:xfrm>
            <a:off x="11371998" y="2913422"/>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3" name="Rectangle 22">
            <a:extLst>
              <a:ext uri="{FF2B5EF4-FFF2-40B4-BE49-F238E27FC236}">
                <a16:creationId xmlns:a16="http://schemas.microsoft.com/office/drawing/2014/main" id="{B1AAE747-A777-4D15-AE68-76ED93F34518}"/>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4" name="Rectangle 23">
            <a:extLst>
              <a:ext uri="{FF2B5EF4-FFF2-40B4-BE49-F238E27FC236}">
                <a16:creationId xmlns:a16="http://schemas.microsoft.com/office/drawing/2014/main" id="{2B72F2E7-0E9C-3474-5059-8FC777F99844}"/>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5" name="Rectangle 24">
            <a:extLst>
              <a:ext uri="{FF2B5EF4-FFF2-40B4-BE49-F238E27FC236}">
                <a16:creationId xmlns:a16="http://schemas.microsoft.com/office/drawing/2014/main" id="{86DC4764-7405-EBB9-EE22-BE184E603BFC}"/>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6" name="Rectangle 25">
            <a:extLst>
              <a:ext uri="{FF2B5EF4-FFF2-40B4-BE49-F238E27FC236}">
                <a16:creationId xmlns:a16="http://schemas.microsoft.com/office/drawing/2014/main" id="{815D8CFF-C09D-0502-55C1-3009E370A618}"/>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7" name="Rectangle 26">
            <a:extLst>
              <a:ext uri="{FF2B5EF4-FFF2-40B4-BE49-F238E27FC236}">
                <a16:creationId xmlns:a16="http://schemas.microsoft.com/office/drawing/2014/main" id="{1131B935-A557-D40A-C6B8-D236FCEE0A9E}"/>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8" name="Rectangle 27">
            <a:extLst>
              <a:ext uri="{FF2B5EF4-FFF2-40B4-BE49-F238E27FC236}">
                <a16:creationId xmlns:a16="http://schemas.microsoft.com/office/drawing/2014/main" id="{B635DB17-DB4A-1099-BF09-2E57272CBF71}"/>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49" name="Rectangle 28">
            <a:extLst>
              <a:ext uri="{FF2B5EF4-FFF2-40B4-BE49-F238E27FC236}">
                <a16:creationId xmlns:a16="http://schemas.microsoft.com/office/drawing/2014/main" id="{A8AD2B70-DD95-FC54-BE99-DA8C063CF0C1}"/>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0" name="Rectangle 29">
            <a:extLst>
              <a:ext uri="{FF2B5EF4-FFF2-40B4-BE49-F238E27FC236}">
                <a16:creationId xmlns:a16="http://schemas.microsoft.com/office/drawing/2014/main" id="{5C6C90C7-8DA3-437F-F03D-FF3D87BA6475}"/>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1" name="Rectangle 32">
            <a:extLst>
              <a:ext uri="{FF2B5EF4-FFF2-40B4-BE49-F238E27FC236}">
                <a16:creationId xmlns:a16="http://schemas.microsoft.com/office/drawing/2014/main" id="{896C6BC2-CD43-ED0D-C825-C560E41FE107}"/>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2" name="Rectangle 33">
            <a:extLst>
              <a:ext uri="{FF2B5EF4-FFF2-40B4-BE49-F238E27FC236}">
                <a16:creationId xmlns:a16="http://schemas.microsoft.com/office/drawing/2014/main" id="{0E14380B-955D-F946-5DE6-176C1A600EF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3" name="Rectangle 34">
            <a:extLst>
              <a:ext uri="{FF2B5EF4-FFF2-40B4-BE49-F238E27FC236}">
                <a16:creationId xmlns:a16="http://schemas.microsoft.com/office/drawing/2014/main" id="{4FB64CE5-E2B5-DF1D-04C4-36088591CA32}"/>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4" name="Rectangle 35">
            <a:extLst>
              <a:ext uri="{FF2B5EF4-FFF2-40B4-BE49-F238E27FC236}">
                <a16:creationId xmlns:a16="http://schemas.microsoft.com/office/drawing/2014/main" id="{593F5D35-BD6E-75EB-E819-295EB9F23205}"/>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5" name="Rectangle 36">
            <a:extLst>
              <a:ext uri="{FF2B5EF4-FFF2-40B4-BE49-F238E27FC236}">
                <a16:creationId xmlns:a16="http://schemas.microsoft.com/office/drawing/2014/main" id="{4A0CC929-490A-788D-B9C6-5766FA01E427}"/>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6" name="Rectangle 37">
            <a:extLst>
              <a:ext uri="{FF2B5EF4-FFF2-40B4-BE49-F238E27FC236}">
                <a16:creationId xmlns:a16="http://schemas.microsoft.com/office/drawing/2014/main" id="{E8799A80-0312-7CB7-8B62-8212B76C05F4}"/>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19712579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3B6295-C6D5-7744-3A81-8C94F91AC07C}"/>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67133AFC-A115-8CBA-B1FF-87D9FEA74D75}"/>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C0CA2844-9053-BA17-178E-36E0B62B8D2E}"/>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lang="es-MX" sz="1600" b="1" i="0">
                <a:solidFill>
                  <a:srgbClr val="FFFFFF"/>
                </a:solidFill>
              </a:rPr>
              <a:t>Demand </a:t>
            </a:r>
            <a:r>
              <a:rPr sz="1600" b="1" i="0">
                <a:solidFill>
                  <a:srgbClr val="FFFFFF"/>
                </a:solidFill>
              </a:rPr>
              <a:t>Size</a:t>
            </a:r>
          </a:p>
        </p:txBody>
      </p:sp>
      <p:sp>
        <p:nvSpPr>
          <p:cNvPr id="37" name="Rounded Rectangle 41">
            <a:extLst>
              <a:ext uri="{FF2B5EF4-FFF2-40B4-BE49-F238E27FC236}">
                <a16:creationId xmlns:a16="http://schemas.microsoft.com/office/drawing/2014/main" id="{C527A9E2-7211-252C-0E2C-41EFAD69FFFA}"/>
              </a:ext>
            </a:extLst>
          </p:cNvPr>
          <p:cNvSpPr/>
          <p:nvPr/>
        </p:nvSpPr>
        <p:spPr>
          <a:xfrm>
            <a:off x="341093" y="1691640"/>
            <a:ext cx="5650992" cy="4434840"/>
          </a:xfrm>
          <a:prstGeom prst="roundRect">
            <a:avLst>
              <a:gd name="adj" fmla="val 3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42">
            <a:extLst>
              <a:ext uri="{FF2B5EF4-FFF2-40B4-BE49-F238E27FC236}">
                <a16:creationId xmlns:a16="http://schemas.microsoft.com/office/drawing/2014/main" id="{8AE505F4-2542-C2D7-7D2E-2E23E9AB6532}"/>
              </a:ext>
            </a:extLst>
          </p:cNvPr>
          <p:cNvSpPr/>
          <p:nvPr/>
        </p:nvSpPr>
        <p:spPr>
          <a:xfrm>
            <a:off x="335527" y="1661823"/>
            <a:ext cx="5669280" cy="395577"/>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3">
            <a:extLst>
              <a:ext uri="{FF2B5EF4-FFF2-40B4-BE49-F238E27FC236}">
                <a16:creationId xmlns:a16="http://schemas.microsoft.com/office/drawing/2014/main" id="{38D2BAE1-F0BE-79A9-07ED-A3BE2A109993}"/>
              </a:ext>
            </a:extLst>
          </p:cNvPr>
          <p:cNvSpPr txBox="1"/>
          <p:nvPr/>
        </p:nvSpPr>
        <p:spPr>
          <a:xfrm>
            <a:off x="478253" y="1764792"/>
            <a:ext cx="5376672" cy="236406"/>
          </a:xfrm>
          <a:prstGeom prst="rect">
            <a:avLst/>
          </a:prstGeom>
          <a:noFill/>
        </p:spPr>
        <p:txBody>
          <a:bodyPr wrap="square" lIns="36000" tIns="18000" rIns="36000" bIns="18000" anchor="t">
            <a:spAutoFit/>
          </a:bodyPr>
          <a:lstStyle/>
          <a:p>
            <a:pPr algn="l"/>
            <a:r>
              <a:rPr sz="1300" b="1" i="0">
                <a:solidFill>
                  <a:srgbClr val="FFFFFF"/>
                </a:solidFill>
              </a:rPr>
              <a:t>SIZE  ·  drives auto-conversion to Story / Epic / Initiative</a:t>
            </a:r>
          </a:p>
        </p:txBody>
      </p:sp>
      <p:sp>
        <p:nvSpPr>
          <p:cNvPr id="40" name="Rounded Rectangle 44">
            <a:extLst>
              <a:ext uri="{FF2B5EF4-FFF2-40B4-BE49-F238E27FC236}">
                <a16:creationId xmlns:a16="http://schemas.microsoft.com/office/drawing/2014/main" id="{FB9199ED-6160-C55D-E24A-947A5F9B2DA7}"/>
              </a:ext>
            </a:extLst>
          </p:cNvPr>
          <p:cNvSpPr/>
          <p:nvPr/>
        </p:nvSpPr>
        <p:spPr>
          <a:xfrm>
            <a:off x="478253" y="2194560"/>
            <a:ext cx="5376672" cy="914400"/>
          </a:xfrm>
          <a:prstGeom prst="roundRect">
            <a:avLst>
              <a:gd name="adj" fmla="val 4000"/>
            </a:avLst>
          </a:prstGeom>
          <a:solidFill>
            <a:srgbClr val="FFFFFF"/>
          </a:solidFill>
          <a:ln w="190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5">
            <a:extLst>
              <a:ext uri="{FF2B5EF4-FFF2-40B4-BE49-F238E27FC236}">
                <a16:creationId xmlns:a16="http://schemas.microsoft.com/office/drawing/2014/main" id="{D5ABE287-CAFD-5E37-4E37-452E47C40249}"/>
              </a:ext>
            </a:extLst>
          </p:cNvPr>
          <p:cNvSpPr/>
          <p:nvPr/>
        </p:nvSpPr>
        <p:spPr>
          <a:xfrm>
            <a:off x="478253" y="2194560"/>
            <a:ext cx="777240" cy="914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6">
            <a:extLst>
              <a:ext uri="{FF2B5EF4-FFF2-40B4-BE49-F238E27FC236}">
                <a16:creationId xmlns:a16="http://schemas.microsoft.com/office/drawing/2014/main" id="{CBECBAC0-E1D0-3A63-02DE-A04F42FB8D6F}"/>
              </a:ext>
            </a:extLst>
          </p:cNvPr>
          <p:cNvSpPr txBox="1"/>
          <p:nvPr/>
        </p:nvSpPr>
        <p:spPr>
          <a:xfrm>
            <a:off x="478253" y="2194560"/>
            <a:ext cx="777240" cy="914400"/>
          </a:xfrm>
          <a:prstGeom prst="rect">
            <a:avLst/>
          </a:prstGeom>
          <a:noFill/>
        </p:spPr>
        <p:txBody>
          <a:bodyPr wrap="square" lIns="36000" tIns="18000" rIns="36000" bIns="18000" anchor="ctr">
            <a:spAutoFit/>
          </a:bodyPr>
          <a:lstStyle/>
          <a:p>
            <a:pPr algn="ctr"/>
            <a:r>
              <a:rPr sz="2200" b="1" i="0">
                <a:solidFill>
                  <a:srgbClr val="FFFFFF"/>
                </a:solidFill>
              </a:rPr>
              <a:t>S</a:t>
            </a:r>
          </a:p>
        </p:txBody>
      </p:sp>
      <p:sp>
        <p:nvSpPr>
          <p:cNvPr id="43" name="TextBox 47">
            <a:extLst>
              <a:ext uri="{FF2B5EF4-FFF2-40B4-BE49-F238E27FC236}">
                <a16:creationId xmlns:a16="http://schemas.microsoft.com/office/drawing/2014/main" id="{4BFD8FFE-E3C5-859A-5A3B-55C245A1C209}"/>
              </a:ext>
            </a:extLst>
          </p:cNvPr>
          <p:cNvSpPr txBox="1"/>
          <p:nvPr/>
        </p:nvSpPr>
        <p:spPr>
          <a:xfrm>
            <a:off x="1383509" y="2240280"/>
            <a:ext cx="4434840" cy="201168"/>
          </a:xfrm>
          <a:prstGeom prst="rect">
            <a:avLst/>
          </a:prstGeom>
          <a:noFill/>
        </p:spPr>
        <p:txBody>
          <a:bodyPr wrap="square" lIns="36000" tIns="18000" rIns="36000" bIns="18000" anchor="t">
            <a:spAutoFit/>
          </a:bodyPr>
          <a:lstStyle/>
          <a:p>
            <a:pPr algn="l"/>
            <a:r>
              <a:rPr sz="1100" b="1" i="0">
                <a:solidFill>
                  <a:srgbClr val="006B3F"/>
                </a:solidFill>
              </a:rPr>
              <a:t>Small  ·  &lt; 5 days · &lt; $10k · 1 squad</a:t>
            </a:r>
          </a:p>
        </p:txBody>
      </p:sp>
      <p:sp>
        <p:nvSpPr>
          <p:cNvPr id="45" name="Rounded Rectangle 49">
            <a:extLst>
              <a:ext uri="{FF2B5EF4-FFF2-40B4-BE49-F238E27FC236}">
                <a16:creationId xmlns:a16="http://schemas.microsoft.com/office/drawing/2014/main" id="{3005A989-EAC2-E6CC-7429-2750F200C983}"/>
              </a:ext>
            </a:extLst>
          </p:cNvPr>
          <p:cNvSpPr/>
          <p:nvPr/>
        </p:nvSpPr>
        <p:spPr>
          <a:xfrm>
            <a:off x="478253" y="3154680"/>
            <a:ext cx="5376672" cy="914400"/>
          </a:xfrm>
          <a:prstGeom prst="roundRect">
            <a:avLst>
              <a:gd name="adj" fmla="val 4000"/>
            </a:avLst>
          </a:prstGeom>
          <a:solidFill>
            <a:srgbClr val="FFFFFF"/>
          </a:solidFill>
          <a:ln w="19050">
            <a:solidFill>
              <a:srgbClr val="0089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50">
            <a:extLst>
              <a:ext uri="{FF2B5EF4-FFF2-40B4-BE49-F238E27FC236}">
                <a16:creationId xmlns:a16="http://schemas.microsoft.com/office/drawing/2014/main" id="{CC9A8590-E80F-965A-6478-99D6F51F1C2A}"/>
              </a:ext>
            </a:extLst>
          </p:cNvPr>
          <p:cNvSpPr/>
          <p:nvPr/>
        </p:nvSpPr>
        <p:spPr>
          <a:xfrm>
            <a:off x="478253" y="3154680"/>
            <a:ext cx="777240" cy="914400"/>
          </a:xfrm>
          <a:prstGeom prst="roundRect">
            <a:avLst>
              <a:gd name="adj" fmla="val 4000"/>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51">
            <a:extLst>
              <a:ext uri="{FF2B5EF4-FFF2-40B4-BE49-F238E27FC236}">
                <a16:creationId xmlns:a16="http://schemas.microsoft.com/office/drawing/2014/main" id="{C3772BDF-0A81-00EE-A9A0-01FD06F59754}"/>
              </a:ext>
            </a:extLst>
          </p:cNvPr>
          <p:cNvSpPr txBox="1"/>
          <p:nvPr/>
        </p:nvSpPr>
        <p:spPr>
          <a:xfrm>
            <a:off x="478253" y="3154680"/>
            <a:ext cx="777240" cy="914400"/>
          </a:xfrm>
          <a:prstGeom prst="rect">
            <a:avLst/>
          </a:prstGeom>
          <a:solidFill>
            <a:srgbClr val="008951"/>
          </a:solidFill>
        </p:spPr>
        <p:txBody>
          <a:bodyPr wrap="square" lIns="36000" tIns="18000" rIns="36000" bIns="18000" anchor="ctr">
            <a:spAutoFit/>
          </a:bodyPr>
          <a:lstStyle/>
          <a:p>
            <a:pPr algn="ctr"/>
            <a:r>
              <a:rPr sz="2200" b="1" i="0">
                <a:solidFill>
                  <a:srgbClr val="FFFFFF"/>
                </a:solidFill>
              </a:rPr>
              <a:t>M</a:t>
            </a:r>
          </a:p>
        </p:txBody>
      </p:sp>
      <p:sp>
        <p:nvSpPr>
          <p:cNvPr id="48" name="TextBox 52">
            <a:extLst>
              <a:ext uri="{FF2B5EF4-FFF2-40B4-BE49-F238E27FC236}">
                <a16:creationId xmlns:a16="http://schemas.microsoft.com/office/drawing/2014/main" id="{58917450-5DF1-0BA4-2DAE-3C61CB7EED6A}"/>
              </a:ext>
            </a:extLst>
          </p:cNvPr>
          <p:cNvSpPr txBox="1"/>
          <p:nvPr/>
        </p:nvSpPr>
        <p:spPr>
          <a:xfrm>
            <a:off x="1383509" y="3200400"/>
            <a:ext cx="4434840" cy="205629"/>
          </a:xfrm>
          <a:prstGeom prst="rect">
            <a:avLst/>
          </a:prstGeom>
          <a:noFill/>
        </p:spPr>
        <p:txBody>
          <a:bodyPr wrap="square" lIns="36000" tIns="18000" rIns="36000" bIns="18000" anchor="t">
            <a:spAutoFit/>
          </a:bodyPr>
          <a:lstStyle/>
          <a:p>
            <a:pPr algn="l"/>
            <a:r>
              <a:rPr sz="1100" b="1" i="0">
                <a:solidFill>
                  <a:srgbClr val="008951"/>
                </a:solidFill>
              </a:rPr>
              <a:t>Medium  ·  5–20 days · &lt; $500k · 1 squad</a:t>
            </a:r>
          </a:p>
        </p:txBody>
      </p:sp>
      <p:sp>
        <p:nvSpPr>
          <p:cNvPr id="49" name="TextBox 53">
            <a:extLst>
              <a:ext uri="{FF2B5EF4-FFF2-40B4-BE49-F238E27FC236}">
                <a16:creationId xmlns:a16="http://schemas.microsoft.com/office/drawing/2014/main" id="{AE0FBA8F-0068-DB5D-AC54-B289C0B948B9}"/>
              </a:ext>
            </a:extLst>
          </p:cNvPr>
          <p:cNvSpPr txBox="1"/>
          <p:nvPr/>
        </p:nvSpPr>
        <p:spPr>
          <a:xfrm>
            <a:off x="1383509" y="3410712"/>
            <a:ext cx="4434840" cy="65190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a:t>
            </a:r>
            <a:r>
              <a:rPr lang="pt-BR" sz="800" b="0" i="0">
                <a:solidFill>
                  <a:srgbClr val="172B4D"/>
                </a:solidFill>
              </a:rPr>
              <a:t> — </a:t>
            </a:r>
            <a:r>
              <a:rPr lang="pt-BR" sz="800" b="0" i="0" err="1">
                <a:solidFill>
                  <a:srgbClr val="172B4D"/>
                </a:solidFill>
              </a:rPr>
              <a:t>flagged</a:t>
            </a:r>
            <a:r>
              <a:rPr lang="pt-BR" sz="800" b="0" i="0">
                <a:solidFill>
                  <a:srgbClr val="172B4D"/>
                </a:solidFill>
              </a:rPr>
              <a:t> for </a:t>
            </a:r>
            <a:r>
              <a:rPr lang="pt-BR" sz="800" b="0" i="0" err="1">
                <a:solidFill>
                  <a:srgbClr val="172B4D"/>
                </a:solidFill>
              </a:rPr>
              <a:t>awareness</a:t>
            </a:r>
            <a:r>
              <a:rPr lang="pt-BR" sz="800" b="0" i="0">
                <a:solidFill>
                  <a:srgbClr val="172B4D"/>
                </a:solidFill>
              </a:rPr>
              <a:t> </a:t>
            </a:r>
            <a:r>
              <a:rPr lang="pt-BR" sz="800" b="0" i="0" err="1">
                <a:solidFill>
                  <a:srgbClr val="172B4D"/>
                </a:solidFill>
              </a:rPr>
              <a:t>at</a:t>
            </a:r>
            <a:r>
              <a:rPr lang="pt-BR" sz="800" b="0" i="0">
                <a:solidFill>
                  <a:srgbClr val="172B4D"/>
                </a:solidFill>
              </a:rPr>
              <a:t> Portfolio</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Discovery (1–2 </a:t>
            </a:r>
            <a:r>
              <a:rPr lang="pt-BR" sz="800" b="0" i="0" err="1">
                <a:solidFill>
                  <a:srgbClr val="172B4D"/>
                </a:solidFill>
              </a:rPr>
              <a:t>weeks</a:t>
            </a:r>
            <a:r>
              <a:rPr lang="pt-BR" sz="800" b="0" i="0">
                <a:solidFill>
                  <a:srgbClr val="172B4D"/>
                </a:solidFill>
              </a:rPr>
              <a:t>)</a:t>
            </a:r>
          </a:p>
          <a:p>
            <a:pPr algn="l"/>
            <a:r>
              <a:rPr lang="pt-BR" sz="800" b="0" i="0">
                <a:solidFill>
                  <a:srgbClr val="172B4D"/>
                </a:solidFill>
              </a:rPr>
              <a:t>•  Standard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a:t>
            </a:r>
            <a:r>
              <a:rPr lang="pt-BR" sz="800" b="0" i="0" err="1">
                <a:solidFill>
                  <a:srgbClr val="172B4D"/>
                </a:solidFill>
              </a:rPr>
              <a:t>CoS</a:t>
            </a:r>
            <a:r>
              <a:rPr lang="pt-BR" sz="800" b="0" i="0">
                <a:solidFill>
                  <a:srgbClr val="172B4D"/>
                </a:solidFill>
              </a:rPr>
              <a:t> · OPCO · Pain Score</a:t>
            </a:r>
          </a:p>
          <a:p>
            <a:pPr algn="l"/>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business </a:t>
            </a:r>
            <a:r>
              <a:rPr lang="pt-BR" sz="800" b="0" i="0" err="1">
                <a:solidFill>
                  <a:srgbClr val="172B4D"/>
                </a:solidFill>
              </a:rPr>
              <a:t>unit</a:t>
            </a:r>
            <a:r>
              <a:rPr lang="pt-BR" sz="800" b="0" i="0">
                <a:solidFill>
                  <a:srgbClr val="172B4D"/>
                </a:solidFill>
              </a:rPr>
              <a:t> lead</a:t>
            </a:r>
          </a:p>
        </p:txBody>
      </p:sp>
      <p:sp>
        <p:nvSpPr>
          <p:cNvPr id="50" name="Rounded Rectangle 54">
            <a:extLst>
              <a:ext uri="{FF2B5EF4-FFF2-40B4-BE49-F238E27FC236}">
                <a16:creationId xmlns:a16="http://schemas.microsoft.com/office/drawing/2014/main" id="{625429F4-8504-6892-7A49-FD774E7CA1B9}"/>
              </a:ext>
            </a:extLst>
          </p:cNvPr>
          <p:cNvSpPr/>
          <p:nvPr/>
        </p:nvSpPr>
        <p:spPr>
          <a:xfrm>
            <a:off x="478253" y="4114800"/>
            <a:ext cx="5376672" cy="914400"/>
          </a:xfrm>
          <a:prstGeom prst="roundRect">
            <a:avLst>
              <a:gd name="adj" fmla="val 4000"/>
            </a:avLst>
          </a:prstGeom>
          <a:solidFill>
            <a:srgbClr val="FFFFFF"/>
          </a:solidFill>
          <a:ln w="19050">
            <a:solidFill>
              <a:srgbClr val="009E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5">
            <a:extLst>
              <a:ext uri="{FF2B5EF4-FFF2-40B4-BE49-F238E27FC236}">
                <a16:creationId xmlns:a16="http://schemas.microsoft.com/office/drawing/2014/main" id="{C4338F90-F0A8-D1C6-1804-EECBBDF4201D}"/>
              </a:ext>
            </a:extLst>
          </p:cNvPr>
          <p:cNvSpPr/>
          <p:nvPr/>
        </p:nvSpPr>
        <p:spPr>
          <a:xfrm>
            <a:off x="478253" y="4114800"/>
            <a:ext cx="777240" cy="914400"/>
          </a:xfrm>
          <a:prstGeom prst="roundRect">
            <a:avLst>
              <a:gd name="adj" fmla="val 4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6">
            <a:extLst>
              <a:ext uri="{FF2B5EF4-FFF2-40B4-BE49-F238E27FC236}">
                <a16:creationId xmlns:a16="http://schemas.microsoft.com/office/drawing/2014/main" id="{626E53FD-5013-4319-AD38-6D3D41A561EA}"/>
              </a:ext>
            </a:extLst>
          </p:cNvPr>
          <p:cNvSpPr txBox="1"/>
          <p:nvPr/>
        </p:nvSpPr>
        <p:spPr>
          <a:xfrm>
            <a:off x="478253" y="4114800"/>
            <a:ext cx="777240" cy="914400"/>
          </a:xfrm>
          <a:prstGeom prst="rect">
            <a:avLst/>
          </a:prstGeom>
          <a:solidFill>
            <a:srgbClr val="009E5D"/>
          </a:solidFill>
        </p:spPr>
        <p:txBody>
          <a:bodyPr wrap="square" lIns="36000" tIns="18000" rIns="36000" bIns="18000" anchor="ctr">
            <a:spAutoFit/>
          </a:bodyPr>
          <a:lstStyle/>
          <a:p>
            <a:pPr algn="ctr"/>
            <a:r>
              <a:rPr sz="2200" b="1" i="0">
                <a:solidFill>
                  <a:srgbClr val="FFFFFF"/>
                </a:solidFill>
              </a:rPr>
              <a:t>L</a:t>
            </a:r>
          </a:p>
        </p:txBody>
      </p:sp>
      <p:sp>
        <p:nvSpPr>
          <p:cNvPr id="53" name="TextBox 57">
            <a:extLst>
              <a:ext uri="{FF2B5EF4-FFF2-40B4-BE49-F238E27FC236}">
                <a16:creationId xmlns:a16="http://schemas.microsoft.com/office/drawing/2014/main" id="{590230CD-AE81-85EE-45E8-F5BD1D5064C1}"/>
              </a:ext>
            </a:extLst>
          </p:cNvPr>
          <p:cNvSpPr txBox="1"/>
          <p:nvPr/>
        </p:nvSpPr>
        <p:spPr>
          <a:xfrm>
            <a:off x="1383509" y="4160520"/>
            <a:ext cx="4434840" cy="205629"/>
          </a:xfrm>
          <a:prstGeom prst="rect">
            <a:avLst/>
          </a:prstGeom>
          <a:noFill/>
        </p:spPr>
        <p:txBody>
          <a:bodyPr wrap="square" lIns="36000" tIns="18000" rIns="36000" bIns="18000" anchor="t">
            <a:spAutoFit/>
          </a:bodyPr>
          <a:lstStyle/>
          <a:p>
            <a:pPr algn="l"/>
            <a:r>
              <a:rPr sz="1100" b="1" i="0">
                <a:solidFill>
                  <a:srgbClr val="009E5D"/>
                </a:solidFill>
              </a:rPr>
              <a:t>Large  ·  20–60 days · 1–2 squads</a:t>
            </a:r>
          </a:p>
        </p:txBody>
      </p:sp>
      <p:sp>
        <p:nvSpPr>
          <p:cNvPr id="54" name="TextBox 58">
            <a:extLst>
              <a:ext uri="{FF2B5EF4-FFF2-40B4-BE49-F238E27FC236}">
                <a16:creationId xmlns:a16="http://schemas.microsoft.com/office/drawing/2014/main" id="{613C7D45-5874-7A52-3CEF-2840EB544C7F}"/>
              </a:ext>
            </a:extLst>
          </p:cNvPr>
          <p:cNvSpPr txBox="1"/>
          <p:nvPr/>
        </p:nvSpPr>
        <p:spPr>
          <a:xfrm>
            <a:off x="1383509" y="4370832"/>
            <a:ext cx="4434840" cy="728849"/>
          </a:xfrm>
          <a:prstGeom prst="rect">
            <a:avLst/>
          </a:prstGeom>
          <a:noFill/>
        </p:spPr>
        <p:txBody>
          <a:bodyPr wrap="square" lIns="36000" tIns="18000" rIns="36000" bIns="18000" anchor="t">
            <a:spAutoFit/>
          </a:bodyPr>
          <a:lstStyle/>
          <a:p>
            <a:pPr lvl="0"/>
            <a:r>
              <a:rPr lang="pt-BR" sz="900" b="0" i="0">
                <a:solidFill>
                  <a:srgbClr val="172B4D"/>
                </a:solidFill>
              </a:rPr>
              <a:t>•  Full Discovery — </a:t>
            </a:r>
            <a:r>
              <a:rPr lang="pt-BR" sz="900" b="0" i="0" err="1">
                <a:solidFill>
                  <a:srgbClr val="172B4D"/>
                </a:solidFill>
              </a:rPr>
              <a:t>outcome</a:t>
            </a:r>
            <a:r>
              <a:rPr lang="pt-BR" sz="900" b="0" i="0">
                <a:solidFill>
                  <a:srgbClr val="172B4D"/>
                </a:solidFill>
              </a:rPr>
              <a:t> · </a:t>
            </a:r>
            <a:r>
              <a:rPr lang="pt-BR" sz="900" b="0" i="0" err="1">
                <a:solidFill>
                  <a:srgbClr val="172B4D"/>
                </a:solidFill>
              </a:rPr>
              <a:t>users</a:t>
            </a:r>
            <a:r>
              <a:rPr lang="pt-BR" sz="900" b="0" i="0">
                <a:solidFill>
                  <a:srgbClr val="172B4D"/>
                </a:solidFill>
              </a:rPr>
              <a:t> · </a:t>
            </a:r>
            <a:r>
              <a:rPr lang="pt-BR" sz="900" b="0" i="0" err="1">
                <a:solidFill>
                  <a:srgbClr val="172B4D"/>
                </a:solidFill>
              </a:rPr>
              <a:t>solution</a:t>
            </a:r>
            <a:r>
              <a:rPr lang="pt-BR" sz="900" b="0" i="0">
                <a:solidFill>
                  <a:srgbClr val="172B4D"/>
                </a:solidFill>
              </a:rPr>
              <a:t> shape</a:t>
            </a:r>
          </a:p>
          <a:p>
            <a:pPr lvl="0"/>
            <a:r>
              <a:rPr lang="pt-BR" sz="900" b="0" i="0">
                <a:solidFill>
                  <a:srgbClr val="172B4D"/>
                </a:solidFill>
              </a:rPr>
              <a:t>•  Full </a:t>
            </a:r>
            <a:r>
              <a:rPr lang="pt-BR" sz="900" b="0" i="0" err="1">
                <a:solidFill>
                  <a:srgbClr val="172B4D"/>
                </a:solidFill>
              </a:rPr>
              <a:t>DoR</a:t>
            </a:r>
            <a:r>
              <a:rPr lang="pt-BR" sz="900" b="0" i="0">
                <a:solidFill>
                  <a:srgbClr val="172B4D"/>
                </a:solidFill>
              </a:rPr>
              <a:t> — </a:t>
            </a:r>
            <a:r>
              <a:rPr lang="pt-BR" sz="900" b="0" i="0" err="1">
                <a:solidFill>
                  <a:srgbClr val="172B4D"/>
                </a:solidFill>
              </a:rPr>
              <a:t>adds</a:t>
            </a:r>
            <a:r>
              <a:rPr lang="pt-BR" sz="900" b="0" i="0">
                <a:solidFill>
                  <a:srgbClr val="172B4D"/>
                </a:solidFill>
              </a:rPr>
              <a:t> budget · </a:t>
            </a:r>
            <a:r>
              <a:rPr lang="pt-BR" sz="900" b="0" i="0" err="1">
                <a:solidFill>
                  <a:srgbClr val="172B4D"/>
                </a:solidFill>
              </a:rPr>
              <a:t>vendor</a:t>
            </a:r>
            <a:r>
              <a:rPr lang="pt-BR" sz="900" b="0" i="0">
                <a:solidFill>
                  <a:srgbClr val="172B4D"/>
                </a:solidFill>
              </a:rPr>
              <a:t> model · </a:t>
            </a:r>
            <a:r>
              <a:rPr lang="pt-BR" sz="900" b="0" i="0" err="1">
                <a:solidFill>
                  <a:srgbClr val="172B4D"/>
                </a:solidFill>
              </a:rPr>
              <a:t>architecture</a:t>
            </a:r>
            <a:r>
              <a:rPr lang="pt-BR" sz="900" b="0" i="0">
                <a:solidFill>
                  <a:srgbClr val="172B4D"/>
                </a:solidFill>
              </a:rPr>
              <a:t> review</a:t>
            </a:r>
          </a:p>
          <a:p>
            <a:pPr lvl="0"/>
            <a:r>
              <a:rPr lang="pt-BR" sz="900" b="0" i="0">
                <a:solidFill>
                  <a:srgbClr val="172B4D"/>
                </a:solidFill>
              </a:rPr>
              <a:t>•  </a:t>
            </a:r>
            <a:r>
              <a:rPr lang="pt-BR" sz="900" b="0" i="0" err="1">
                <a:solidFill>
                  <a:srgbClr val="172B4D"/>
                </a:solidFill>
              </a:rPr>
              <a:t>Triage</a:t>
            </a:r>
            <a:r>
              <a:rPr lang="pt-BR" sz="900" b="0" i="0">
                <a:solidFill>
                  <a:srgbClr val="172B4D"/>
                </a:solidFill>
              </a:rPr>
              <a:t> SLA: 5 business </a:t>
            </a:r>
            <a:r>
              <a:rPr lang="pt-BR" sz="900" b="0" i="0" err="1">
                <a:solidFill>
                  <a:srgbClr val="172B4D"/>
                </a:solidFill>
              </a:rPr>
              <a:t>days</a:t>
            </a:r>
            <a:r>
              <a:rPr lang="pt-BR" sz="900" b="0" i="0">
                <a:solidFill>
                  <a:srgbClr val="172B4D"/>
                </a:solidFill>
              </a:rPr>
              <a:t> · Gate </a:t>
            </a:r>
            <a:r>
              <a:rPr lang="pt-BR" sz="900" b="0" i="0" err="1">
                <a:solidFill>
                  <a:srgbClr val="172B4D"/>
                </a:solidFill>
              </a:rPr>
              <a:t>decision</a:t>
            </a:r>
            <a:r>
              <a:rPr lang="pt-BR" sz="900" b="0" i="0">
                <a:solidFill>
                  <a:srgbClr val="172B4D"/>
                </a:solidFill>
              </a:rPr>
              <a:t> </a:t>
            </a:r>
            <a:r>
              <a:rPr lang="pt-BR" sz="900" b="0" i="0" err="1">
                <a:solidFill>
                  <a:srgbClr val="172B4D"/>
                </a:solidFill>
              </a:rPr>
              <a:t>next</a:t>
            </a:r>
            <a:r>
              <a:rPr lang="pt-BR" sz="900" b="0" i="0">
                <a:solidFill>
                  <a:srgbClr val="172B4D"/>
                </a:solidFill>
              </a:rPr>
              <a:t> </a:t>
            </a:r>
            <a:r>
              <a:rPr lang="pt-BR" sz="900" b="0" i="0" err="1">
                <a:solidFill>
                  <a:srgbClr val="172B4D"/>
                </a:solidFill>
              </a:rPr>
              <a:t>monthly</a:t>
            </a:r>
            <a:endParaRPr lang="pt-BR" sz="900" b="0" i="0">
              <a:solidFill>
                <a:srgbClr val="172B4D"/>
              </a:solidFill>
            </a:endParaRPr>
          </a:p>
          <a:p>
            <a:pPr lvl="0"/>
            <a:r>
              <a:rPr lang="pt-BR" sz="900" b="0" i="0">
                <a:solidFill>
                  <a:srgbClr val="172B4D"/>
                </a:solidFill>
              </a:rPr>
              <a:t>•  </a:t>
            </a:r>
            <a:r>
              <a:rPr lang="pt-BR" sz="900" b="0" i="0" err="1">
                <a:solidFill>
                  <a:srgbClr val="172B4D"/>
                </a:solidFill>
              </a:rPr>
              <a:t>Sponsor</a:t>
            </a:r>
            <a:r>
              <a:rPr lang="pt-BR" sz="900" b="0" i="0">
                <a:solidFill>
                  <a:srgbClr val="172B4D"/>
                </a:solidFill>
              </a:rPr>
              <a:t>: </a:t>
            </a:r>
            <a:r>
              <a:rPr lang="pt-BR" sz="900" b="0" i="0" err="1">
                <a:solidFill>
                  <a:srgbClr val="172B4D"/>
                </a:solidFill>
              </a:rPr>
              <a:t>Director</a:t>
            </a:r>
            <a:r>
              <a:rPr lang="pt-BR" sz="900" b="0" i="0">
                <a:solidFill>
                  <a:srgbClr val="172B4D"/>
                </a:solidFill>
              </a:rPr>
              <a:t> (Carlos / Kumar / Heather)</a:t>
            </a:r>
          </a:p>
          <a:p>
            <a:pPr lvl="0"/>
            <a:endParaRPr sz="900" b="0" i="0">
              <a:solidFill>
                <a:srgbClr val="172B4D"/>
              </a:solidFill>
            </a:endParaRPr>
          </a:p>
        </p:txBody>
      </p:sp>
      <p:sp>
        <p:nvSpPr>
          <p:cNvPr id="55" name="Rounded Rectangle 59">
            <a:extLst>
              <a:ext uri="{FF2B5EF4-FFF2-40B4-BE49-F238E27FC236}">
                <a16:creationId xmlns:a16="http://schemas.microsoft.com/office/drawing/2014/main" id="{1C82F0A3-D910-8FD2-E55A-250D689C7FBC}"/>
              </a:ext>
            </a:extLst>
          </p:cNvPr>
          <p:cNvSpPr/>
          <p:nvPr/>
        </p:nvSpPr>
        <p:spPr>
          <a:xfrm>
            <a:off x="478253" y="5074920"/>
            <a:ext cx="5376672" cy="914400"/>
          </a:xfrm>
          <a:prstGeom prst="roundRect">
            <a:avLst>
              <a:gd name="adj" fmla="val 4000"/>
            </a:avLst>
          </a:prstGeom>
          <a:solidFill>
            <a:srgbClr val="FFFFFF"/>
          </a:solidFill>
          <a:ln w="190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60">
            <a:extLst>
              <a:ext uri="{FF2B5EF4-FFF2-40B4-BE49-F238E27FC236}">
                <a16:creationId xmlns:a16="http://schemas.microsoft.com/office/drawing/2014/main" id="{D25A9F6F-1C5B-3A49-75F9-22787E5B6E01}"/>
              </a:ext>
            </a:extLst>
          </p:cNvPr>
          <p:cNvSpPr/>
          <p:nvPr/>
        </p:nvSpPr>
        <p:spPr>
          <a:xfrm>
            <a:off x="478253" y="5074920"/>
            <a:ext cx="777240" cy="914400"/>
          </a:xfrm>
          <a:prstGeom prst="roundRect">
            <a:avLst>
              <a:gd name="adj" fmla="val 4000"/>
            </a:avLst>
          </a:prstGeom>
          <a:solidFill>
            <a:srgbClr val="DE3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61">
            <a:extLst>
              <a:ext uri="{FF2B5EF4-FFF2-40B4-BE49-F238E27FC236}">
                <a16:creationId xmlns:a16="http://schemas.microsoft.com/office/drawing/2014/main" id="{01742833-0CEC-CCE0-2228-E18EE084EE39}"/>
              </a:ext>
            </a:extLst>
          </p:cNvPr>
          <p:cNvSpPr txBox="1"/>
          <p:nvPr/>
        </p:nvSpPr>
        <p:spPr>
          <a:xfrm>
            <a:off x="478253" y="5074920"/>
            <a:ext cx="777240" cy="914400"/>
          </a:xfrm>
          <a:prstGeom prst="rect">
            <a:avLst/>
          </a:prstGeom>
          <a:solidFill>
            <a:srgbClr val="00B46E"/>
          </a:solidFill>
        </p:spPr>
        <p:txBody>
          <a:bodyPr wrap="square" lIns="36000" tIns="18000" rIns="36000" bIns="18000" anchor="ctr">
            <a:spAutoFit/>
          </a:bodyPr>
          <a:lstStyle/>
          <a:p>
            <a:pPr algn="ctr"/>
            <a:r>
              <a:rPr sz="2200" b="1" i="0">
                <a:solidFill>
                  <a:srgbClr val="FFFFFF"/>
                </a:solidFill>
              </a:rPr>
              <a:t>XL</a:t>
            </a:r>
          </a:p>
        </p:txBody>
      </p:sp>
      <p:sp>
        <p:nvSpPr>
          <p:cNvPr id="102" name="TextBox 62">
            <a:extLst>
              <a:ext uri="{FF2B5EF4-FFF2-40B4-BE49-F238E27FC236}">
                <a16:creationId xmlns:a16="http://schemas.microsoft.com/office/drawing/2014/main" id="{CB73D24E-E6C7-73AD-336B-2518FAA87EB6}"/>
              </a:ext>
            </a:extLst>
          </p:cNvPr>
          <p:cNvSpPr txBox="1"/>
          <p:nvPr/>
        </p:nvSpPr>
        <p:spPr>
          <a:xfrm>
            <a:off x="1383509" y="5120640"/>
            <a:ext cx="4434840" cy="205629"/>
          </a:xfrm>
          <a:prstGeom prst="rect">
            <a:avLst/>
          </a:prstGeom>
          <a:noFill/>
        </p:spPr>
        <p:txBody>
          <a:bodyPr wrap="square" lIns="36000" tIns="18000" rIns="36000" bIns="18000" anchor="t">
            <a:spAutoFit/>
          </a:bodyPr>
          <a:lstStyle/>
          <a:p>
            <a:pPr algn="l"/>
            <a:r>
              <a:rPr sz="1100" b="1" i="0">
                <a:solidFill>
                  <a:srgbClr val="00B46E"/>
                </a:solidFill>
              </a:rPr>
              <a:t>Extra-Large  ·  &gt; </a:t>
            </a:r>
            <a:r>
              <a:rPr lang="pt-BR" sz="1100" b="1" i="0">
                <a:solidFill>
                  <a:srgbClr val="00B46E"/>
                </a:solidFill>
              </a:rPr>
              <a:t>90</a:t>
            </a:r>
            <a:r>
              <a:rPr sz="1100" b="1" i="0">
                <a:solidFill>
                  <a:srgbClr val="00B46E"/>
                </a:solidFill>
              </a:rPr>
              <a:t> days · cross-</a:t>
            </a:r>
            <a:r>
              <a:rPr lang="pt-BR" sz="1100" b="1" err="1">
                <a:solidFill>
                  <a:srgbClr val="00B46E"/>
                </a:solidFill>
              </a:rPr>
              <a:t>area</a:t>
            </a:r>
            <a:endParaRPr sz="1100" b="1" i="0">
              <a:solidFill>
                <a:srgbClr val="00B46E"/>
              </a:solidFill>
            </a:endParaRPr>
          </a:p>
        </p:txBody>
      </p:sp>
      <p:sp>
        <p:nvSpPr>
          <p:cNvPr id="103" name="TextBox 63">
            <a:extLst>
              <a:ext uri="{FF2B5EF4-FFF2-40B4-BE49-F238E27FC236}">
                <a16:creationId xmlns:a16="http://schemas.microsoft.com/office/drawing/2014/main" id="{0987721C-9B03-1B57-1F81-A090D6F0AB10}"/>
              </a:ext>
            </a:extLst>
          </p:cNvPr>
          <p:cNvSpPr txBox="1"/>
          <p:nvPr/>
        </p:nvSpPr>
        <p:spPr>
          <a:xfrm>
            <a:off x="1383509" y="5330952"/>
            <a:ext cx="4434840" cy="313350"/>
          </a:xfrm>
          <a:prstGeom prst="rect">
            <a:avLst/>
          </a:prstGeom>
          <a:noFill/>
        </p:spPr>
        <p:txBody>
          <a:bodyPr wrap="square" lIns="36000" tIns="18000" rIns="36000" bIns="18000" anchor="t">
            <a:spAutoFit/>
          </a:bodyPr>
          <a:lstStyle/>
          <a:p>
            <a:pPr lvl="0"/>
            <a:r>
              <a:rPr lang="pt-BR" sz="900" b="0" i="0">
                <a:solidFill>
                  <a:srgbClr val="172B4D"/>
                </a:solidFill>
              </a:rPr>
              <a:t>•  MANAGED IN PPM </a:t>
            </a:r>
            <a:r>
              <a:rPr lang="pt-BR" sz="900" b="0" i="0" err="1">
                <a:solidFill>
                  <a:srgbClr val="172B4D"/>
                </a:solidFill>
              </a:rPr>
              <a:t>Now</a:t>
            </a:r>
            <a:endParaRPr lang="pt-BR" sz="900" b="0" i="0">
              <a:solidFill>
                <a:srgbClr val="172B4D"/>
              </a:solidFill>
            </a:endParaRPr>
          </a:p>
          <a:p>
            <a:pPr lvl="0"/>
            <a:endParaRPr sz="900" b="0" i="0">
              <a:solidFill>
                <a:srgbClr val="172B4D"/>
              </a:solidFill>
            </a:endParaRPr>
          </a:p>
        </p:txBody>
      </p:sp>
      <p:sp>
        <p:nvSpPr>
          <p:cNvPr id="108" name="TextBox 53">
            <a:extLst>
              <a:ext uri="{FF2B5EF4-FFF2-40B4-BE49-F238E27FC236}">
                <a16:creationId xmlns:a16="http://schemas.microsoft.com/office/drawing/2014/main" id="{C1CF5B43-D2E1-9BF6-2AF7-4739BB42E0CE}"/>
              </a:ext>
            </a:extLst>
          </p:cNvPr>
          <p:cNvSpPr txBox="1"/>
          <p:nvPr/>
        </p:nvSpPr>
        <p:spPr>
          <a:xfrm>
            <a:off x="1383509" y="2434194"/>
            <a:ext cx="4434840" cy="77501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Squad's</a:t>
            </a:r>
            <a:r>
              <a:rPr lang="pt-BR" sz="800" b="0" i="0">
                <a:solidFill>
                  <a:srgbClr val="172B4D"/>
                </a:solidFill>
              </a:rPr>
              <a:t> Team </a:t>
            </a:r>
            <a:r>
              <a:rPr lang="pt-BR" sz="800" b="0" i="0" err="1">
                <a:solidFill>
                  <a:srgbClr val="172B4D"/>
                </a:solidFill>
              </a:rPr>
              <a:t>Kanban</a:t>
            </a:r>
            <a:endParaRPr lang="pt-BR" sz="800" b="0" i="0">
              <a:solidFill>
                <a:srgbClr val="172B4D"/>
              </a:solidFill>
            </a:endParaRPr>
          </a:p>
          <a:p>
            <a:pPr algn="l"/>
            <a:r>
              <a:rPr lang="pt-BR" sz="800" b="0" i="0">
                <a:solidFill>
                  <a:srgbClr val="172B4D"/>
                </a:solidFill>
              </a:rPr>
              <a:t>•  </a:t>
            </a:r>
            <a:r>
              <a:rPr lang="pt-BR" sz="800" b="0" i="0" err="1">
                <a:solidFill>
                  <a:srgbClr val="172B4D"/>
                </a:solidFill>
              </a:rPr>
              <a:t>Skips</a:t>
            </a:r>
            <a:r>
              <a:rPr lang="pt-BR" sz="800" b="0" i="0">
                <a:solidFill>
                  <a:srgbClr val="172B4D"/>
                </a:solidFill>
              </a:rPr>
              <a:t> Portfolio Gate</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a:t>
            </a:r>
            <a:r>
              <a:rPr lang="pt-BR" sz="800" b="0" i="0" err="1">
                <a:solidFill>
                  <a:srgbClr val="172B4D"/>
                </a:solidFill>
              </a:rPr>
              <a:t>DoR</a:t>
            </a:r>
            <a:r>
              <a:rPr lang="pt-BR" sz="800" b="0" i="0">
                <a:solidFill>
                  <a:srgbClr val="172B4D"/>
                </a:solidFill>
              </a:rPr>
              <a:t> — </a:t>
            </a:r>
            <a:r>
              <a:rPr lang="pt-BR" sz="800" b="0" i="0" err="1">
                <a:solidFill>
                  <a:srgbClr val="172B4D"/>
                </a:solidFill>
              </a:rPr>
              <a:t>title</a:t>
            </a:r>
            <a:r>
              <a:rPr lang="pt-BR" sz="800" b="0" i="0">
                <a:solidFill>
                  <a:srgbClr val="172B4D"/>
                </a:solidFill>
              </a:rPr>
              <a:t> · BV · </a:t>
            </a:r>
            <a:r>
              <a:rPr lang="pt-BR" sz="800" b="0" i="0" err="1">
                <a:solidFill>
                  <a:srgbClr val="172B4D"/>
                </a:solidFill>
              </a:rPr>
              <a:t>acceptance</a:t>
            </a:r>
            <a:r>
              <a:rPr lang="pt-BR" sz="800" b="0" i="0">
                <a:solidFill>
                  <a:srgbClr val="172B4D"/>
                </a:solidFill>
              </a:rPr>
              <a:t> </a:t>
            </a:r>
            <a:r>
              <a:rPr lang="pt-BR" sz="800" b="0" i="0" err="1">
                <a:solidFill>
                  <a:srgbClr val="172B4D"/>
                </a:solidFill>
              </a:rPr>
              <a:t>criteria</a:t>
            </a:r>
            <a:endParaRPr lang="pt-BR" sz="800" b="0" i="0">
              <a:solidFill>
                <a:srgbClr val="172B4D"/>
              </a:solidFill>
            </a:endParaRPr>
          </a:p>
          <a:p>
            <a:pPr algn="l"/>
            <a:r>
              <a:rPr lang="pt-BR" sz="800" b="0" i="0">
                <a:solidFill>
                  <a:srgbClr val="172B4D"/>
                </a:solidFill>
              </a:rPr>
              <a:t>•  </a:t>
            </a:r>
            <a:r>
              <a:rPr lang="pt-BR" sz="800" b="0" i="0" err="1">
                <a:solidFill>
                  <a:srgbClr val="172B4D"/>
                </a:solidFill>
              </a:rPr>
              <a:t>Triage</a:t>
            </a:r>
            <a:r>
              <a:rPr lang="pt-BR" sz="800" b="0" i="0">
                <a:solidFill>
                  <a:srgbClr val="172B4D"/>
                </a:solidFill>
              </a:rPr>
              <a:t> SLA: 2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sub-team</a:t>
            </a:r>
            <a:r>
              <a:rPr lang="pt-BR" sz="800" b="0" i="0">
                <a:solidFill>
                  <a:srgbClr val="172B4D"/>
                </a:solidFill>
              </a:rPr>
              <a:t> lead</a:t>
            </a:r>
          </a:p>
          <a:p>
            <a:pPr algn="l"/>
            <a:endParaRPr lang="pt-BR" sz="800" b="0" i="0">
              <a:solidFill>
                <a:srgbClr val="172B4D"/>
              </a:solidFill>
            </a:endParaRPr>
          </a:p>
        </p:txBody>
      </p:sp>
      <p:sp>
        <p:nvSpPr>
          <p:cNvPr id="2" name="TextBox 13">
            <a:extLst>
              <a:ext uri="{FF2B5EF4-FFF2-40B4-BE49-F238E27FC236}">
                <a16:creationId xmlns:a16="http://schemas.microsoft.com/office/drawing/2014/main" id="{268E5B04-6B19-A1CB-84EA-9DE1A69B889C}"/>
              </a:ext>
            </a:extLst>
          </p:cNvPr>
          <p:cNvSpPr txBox="1"/>
          <p:nvPr/>
        </p:nvSpPr>
        <p:spPr>
          <a:xfrm>
            <a:off x="8046720" y="1227861"/>
            <a:ext cx="3840480" cy="159462"/>
          </a:xfrm>
          <a:prstGeom prst="rect">
            <a:avLst/>
          </a:prstGeom>
          <a:noFill/>
        </p:spPr>
        <p:txBody>
          <a:bodyPr wrap="square" lIns="36000" tIns="18000" rIns="36000" bIns="18000" anchor="ctr">
            <a:spAutoFit/>
          </a:bodyPr>
          <a:lstStyle/>
          <a:p>
            <a:pPr algn="ctr"/>
            <a:r>
              <a:rPr sz="800" b="1" i="0">
                <a:solidFill>
                  <a:srgbClr val="FFFFFF"/>
                </a:solidFill>
              </a:rPr>
              <a:t>● REVIEWING  ·  </a:t>
            </a:r>
            <a:r>
              <a:rPr lang="pt-BR" sz="800" b="1" i="0">
                <a:solidFill>
                  <a:srgbClr val="FFFFFF"/>
                </a:solidFill>
              </a:rPr>
              <a:t>PM</a:t>
            </a:r>
            <a:endParaRPr sz="800" b="1" i="0">
              <a:solidFill>
                <a:srgbClr val="FFFFFF"/>
              </a:solidFill>
            </a:endParaRPr>
          </a:p>
        </p:txBody>
      </p:sp>
      <p:sp>
        <p:nvSpPr>
          <p:cNvPr id="6" name="Rounded Rectangle 97">
            <a:extLst>
              <a:ext uri="{FF2B5EF4-FFF2-40B4-BE49-F238E27FC236}">
                <a16:creationId xmlns:a16="http://schemas.microsoft.com/office/drawing/2014/main" id="{0EF8C29F-7084-6C60-C000-C260D21FF9F5}"/>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98">
            <a:extLst>
              <a:ext uri="{FF2B5EF4-FFF2-40B4-BE49-F238E27FC236}">
                <a16:creationId xmlns:a16="http://schemas.microsoft.com/office/drawing/2014/main" id="{23E2699B-B140-5B09-CEDC-3563E00D7515}"/>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78" name="CaixaDeTexto 77">
            <a:extLst>
              <a:ext uri="{FF2B5EF4-FFF2-40B4-BE49-F238E27FC236}">
                <a16:creationId xmlns:a16="http://schemas.microsoft.com/office/drawing/2014/main" id="{792CBCDB-8384-12B4-D476-33A3F29CE431}"/>
              </a:ext>
            </a:extLst>
          </p:cNvPr>
          <p:cNvSpPr txBox="1"/>
          <p:nvPr/>
        </p:nvSpPr>
        <p:spPr>
          <a:xfrm>
            <a:off x="429769" y="1061666"/>
            <a:ext cx="6457950" cy="144073"/>
          </a:xfrm>
          <a:prstGeom prst="rect">
            <a:avLst/>
          </a:prstGeom>
          <a:noFill/>
        </p:spPr>
        <p:txBody>
          <a:bodyPr wrap="square" lIns="36000" tIns="18000" rIns="36000" bIns="18000" anchor="t">
            <a:spAutoFit/>
          </a:bodyPr>
          <a:lstStyle>
            <a:defPPr>
              <a:defRPr lang="es-MX"/>
            </a:defPPr>
            <a:lvl1pPr>
              <a:defRPr sz="700" b="1" i="0">
                <a:solidFill>
                  <a:srgbClr val="E6F2EB"/>
                </a:solidFill>
              </a:defRPr>
            </a:lvl1pPr>
          </a:lstStyle>
          <a:p>
            <a:r>
              <a:rPr lang="pt-BR"/>
              <a:t>TYPE  ·  </a:t>
            </a:r>
            <a:r>
              <a:rPr lang="pt-BR" err="1"/>
              <a:t>Type</a:t>
            </a:r>
            <a:r>
              <a:rPr lang="pt-BR"/>
              <a:t>: </a:t>
            </a:r>
            <a:r>
              <a:rPr lang="pt-BR" err="1"/>
              <a:t>Production</a:t>
            </a:r>
            <a:r>
              <a:rPr lang="pt-BR"/>
              <a:t> </a:t>
            </a:r>
            <a:r>
              <a:rPr lang="pt-BR" err="1"/>
              <a:t>Support</a:t>
            </a:r>
            <a:r>
              <a:rPr lang="pt-BR"/>
              <a:t> · </a:t>
            </a:r>
            <a:r>
              <a:rPr lang="pt-BR" err="1"/>
              <a:t>Regulatory</a:t>
            </a:r>
            <a:r>
              <a:rPr lang="pt-BR"/>
              <a:t> · Non-</a:t>
            </a:r>
            <a:r>
              <a:rPr lang="pt-BR" err="1"/>
              <a:t>Regulatory</a:t>
            </a:r>
            <a:r>
              <a:rPr lang="pt-BR"/>
              <a:t>  ·  </a:t>
            </a:r>
            <a:r>
              <a:rPr lang="pt-BR" err="1"/>
              <a:t>Size</a:t>
            </a:r>
            <a:r>
              <a:rPr lang="pt-BR"/>
              <a:t>: </a:t>
            </a:r>
            <a:r>
              <a:rPr lang="pt-BR" err="1"/>
              <a:t>S</a:t>
            </a:r>
            <a:r>
              <a:rPr lang="pt-BR"/>
              <a:t> · M · L · XL</a:t>
            </a:r>
          </a:p>
        </p:txBody>
      </p:sp>
      <p:sp>
        <p:nvSpPr>
          <p:cNvPr id="5" name="Text Placeholder 19">
            <a:extLst>
              <a:ext uri="{FF2B5EF4-FFF2-40B4-BE49-F238E27FC236}">
                <a16:creationId xmlns:a16="http://schemas.microsoft.com/office/drawing/2014/main" id="{F4CCE65D-5BA3-327E-0A04-1CDCCA3C5217}"/>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Demand type and Size</a:t>
            </a:r>
          </a:p>
        </p:txBody>
      </p:sp>
      <p:pic>
        <p:nvPicPr>
          <p:cNvPr id="13" name="Imagen 12">
            <a:extLst>
              <a:ext uri="{FF2B5EF4-FFF2-40B4-BE49-F238E27FC236}">
                <a16:creationId xmlns:a16="http://schemas.microsoft.com/office/drawing/2014/main" id="{75798FA5-60D0-6071-8A69-778BFB6DA941}"/>
              </a:ext>
            </a:extLst>
          </p:cNvPr>
          <p:cNvPicPr>
            <a:picLocks noChangeAspect="1"/>
          </p:cNvPicPr>
          <p:nvPr/>
        </p:nvPicPr>
        <p:blipFill>
          <a:blip r:embed="rId4"/>
          <a:stretch>
            <a:fillRect/>
          </a:stretch>
        </p:blipFill>
        <p:spPr>
          <a:xfrm>
            <a:off x="8435831" y="116730"/>
            <a:ext cx="1314000" cy="636076"/>
          </a:xfrm>
          <a:prstGeom prst="rect">
            <a:avLst/>
          </a:prstGeom>
          <a:effectLst>
            <a:outerShdw blurRad="50800" dist="38100" dir="5400000" algn="t" rotWithShape="0">
              <a:prstClr val="black">
                <a:alpha val="40000"/>
              </a:prstClr>
            </a:outerShdw>
          </a:effectLst>
        </p:spPr>
      </p:pic>
      <p:sp>
        <p:nvSpPr>
          <p:cNvPr id="16" name="Elipse 15">
            <a:extLst>
              <a:ext uri="{FF2B5EF4-FFF2-40B4-BE49-F238E27FC236}">
                <a16:creationId xmlns:a16="http://schemas.microsoft.com/office/drawing/2014/main" id="{EA6D254E-D6B4-2E58-034D-2AC2B84980D3}"/>
              </a:ext>
            </a:extLst>
          </p:cNvPr>
          <p:cNvSpPr/>
          <p:nvPr/>
        </p:nvSpPr>
        <p:spPr>
          <a:xfrm>
            <a:off x="7570381" y="361507"/>
            <a:ext cx="1329070" cy="637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Javi</a:t>
            </a:r>
          </a:p>
        </p:txBody>
      </p:sp>
    </p:spTree>
    <p:extLst>
      <p:ext uri="{BB962C8B-B14F-4D97-AF65-F5344CB8AC3E}">
        <p14:creationId xmlns:p14="http://schemas.microsoft.com/office/powerpoint/2010/main" val="3501843082"/>
      </p:ext>
    </p:extLst>
  </p:cSld>
  <p:clrMapOvr>
    <a:masterClrMapping/>
  </p:clrMapOvr>
  <p:extLst>
    <p:ext uri="{6950BFC3-D8DA-4A85-94F7-54DA5524770B}">
      <p188:commentRel xmlns:p188="http://schemas.microsoft.com/office/powerpoint/2018/8/main" r:id="rId3"/>
    </p:ext>
  </p:extLst>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BC67C9-47D6-1FAE-AAA7-276BF10AA97D}"/>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0F5F578-03C4-2CAE-E144-2B79094011B8}"/>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t>We defined a process structured across two key stages—intake and triage—to ensure consistent capture, classification, and routing of requests. It engages key roles across business, product, and technology to enable early validation, prioritization, and alignment with business needs.</a:t>
            </a: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70485F62-E3CB-E110-72DF-736D0DE52300}"/>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PROCESS OVERVIEW</a:t>
            </a:r>
          </a:p>
        </p:txBody>
      </p:sp>
      <p:sp>
        <p:nvSpPr>
          <p:cNvPr id="338" name="Rounded Rectangle 9">
            <a:extLst>
              <a:ext uri="{FF2B5EF4-FFF2-40B4-BE49-F238E27FC236}">
                <a16:creationId xmlns:a16="http://schemas.microsoft.com/office/drawing/2014/main" id="{1A8F6C86-1054-A409-1C71-B15A9B9D1A9E}"/>
              </a:ext>
            </a:extLst>
          </p:cNvPr>
          <p:cNvSpPr/>
          <p:nvPr/>
        </p:nvSpPr>
        <p:spPr>
          <a:xfrm>
            <a:off x="1959047" y="1455983"/>
            <a:ext cx="9556608" cy="4632681"/>
          </a:xfrm>
          <a:prstGeom prst="roundRect">
            <a:avLst>
              <a:gd name="adj" fmla="val 2168"/>
            </a:avLst>
          </a:prstGeom>
          <a:solidFill>
            <a:srgbClr val="FFFFFF"/>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72" name="Group 9">
            <a:extLst>
              <a:ext uri="{FF2B5EF4-FFF2-40B4-BE49-F238E27FC236}">
                <a16:creationId xmlns:a16="http://schemas.microsoft.com/office/drawing/2014/main" id="{1B03ADF2-3E3A-836C-FA3E-583DFD7B2124}"/>
              </a:ext>
            </a:extLst>
          </p:cNvPr>
          <p:cNvGrpSpPr/>
          <p:nvPr/>
        </p:nvGrpSpPr>
        <p:grpSpPr>
          <a:xfrm>
            <a:off x="6223598" y="3002289"/>
            <a:ext cx="385851" cy="648910"/>
            <a:chOff x="9328519" y="683140"/>
            <a:chExt cx="685589" cy="1273630"/>
          </a:xfrm>
        </p:grpSpPr>
        <p:pic>
          <p:nvPicPr>
            <p:cNvPr id="1073" name="Picture 20">
              <a:extLst>
                <a:ext uri="{FF2B5EF4-FFF2-40B4-BE49-F238E27FC236}">
                  <a16:creationId xmlns:a16="http://schemas.microsoft.com/office/drawing/2014/main" id="{4EC299C9-FBBA-D3C5-049F-1A3E547F56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96832" y="683140"/>
              <a:ext cx="548640" cy="548640"/>
            </a:xfrm>
            <a:prstGeom prst="rect">
              <a:avLst/>
            </a:prstGeom>
          </p:spPr>
        </p:pic>
        <p:sp>
          <p:nvSpPr>
            <p:cNvPr id="1074" name="Rectángulo 322">
              <a:extLst>
                <a:ext uri="{FF2B5EF4-FFF2-40B4-BE49-F238E27FC236}">
                  <a16:creationId xmlns:a16="http://schemas.microsoft.com/office/drawing/2014/main" id="{03D097EA-F90D-7CAE-AA61-8B76E7CE2405}"/>
                </a:ext>
              </a:extLst>
            </p:cNvPr>
            <p:cNvSpPr/>
            <p:nvPr/>
          </p:nvSpPr>
          <p:spPr>
            <a:xfrm>
              <a:off x="9328519" y="1239051"/>
              <a:ext cx="685589" cy="717719"/>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latin typeface="+mn-lt"/>
                </a:rPr>
                <a:t>PRODUCT MANAGER DIRECTOR</a:t>
              </a:r>
            </a:p>
          </p:txBody>
        </p:sp>
      </p:grpSp>
      <p:sp>
        <p:nvSpPr>
          <p:cNvPr id="42" name="CuadroTexto 41">
            <a:extLst>
              <a:ext uri="{FF2B5EF4-FFF2-40B4-BE49-F238E27FC236}">
                <a16:creationId xmlns:a16="http://schemas.microsoft.com/office/drawing/2014/main" id="{9EA9F7DC-C3EF-1951-895F-2F35F9846AB3}"/>
              </a:ext>
            </a:extLst>
          </p:cNvPr>
          <p:cNvSpPr txBox="1"/>
          <p:nvPr/>
        </p:nvSpPr>
        <p:spPr>
          <a:xfrm>
            <a:off x="3302666" y="1792046"/>
            <a:ext cx="963821" cy="276999"/>
          </a:xfrm>
          <a:prstGeom prst="rect">
            <a:avLst/>
          </a:prstGeom>
          <a:noFill/>
        </p:spPr>
        <p:txBody>
          <a:bodyPr wrap="square">
            <a:spAutoFit/>
          </a:bodyPr>
          <a:lstStyle/>
          <a:p>
            <a:pPr algn="ctr"/>
            <a:r>
              <a:rPr lang="en-US" sz="600" b="1" noProof="0">
                <a:solidFill>
                  <a:schemeClr val="tx1"/>
                </a:solidFill>
                <a:latin typeface="Arial" panose="020B0604020202020204" pitchFamily="34" charset="0"/>
                <a:cs typeface="Arial" panose="020B0604020202020204" pitchFamily="34" charset="0"/>
              </a:rPr>
              <a:t>Intake of demand from requestors</a:t>
            </a:r>
          </a:p>
        </p:txBody>
      </p:sp>
      <p:sp>
        <p:nvSpPr>
          <p:cNvPr id="43" name="Left Brace 366">
            <a:extLst>
              <a:ext uri="{FF2B5EF4-FFF2-40B4-BE49-F238E27FC236}">
                <a16:creationId xmlns:a16="http://schemas.microsoft.com/office/drawing/2014/main" id="{A7DFDB00-7807-40A1-21E1-5A91FD030EB1}"/>
              </a:ext>
            </a:extLst>
          </p:cNvPr>
          <p:cNvSpPr/>
          <p:nvPr/>
        </p:nvSpPr>
        <p:spPr>
          <a:xfrm rot="5400000">
            <a:off x="3693014" y="578430"/>
            <a:ext cx="144623" cy="312529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noProof="0">
              <a:latin typeface="Montserrat" pitchFamily="2" charset="77"/>
            </a:endParaRPr>
          </a:p>
        </p:txBody>
      </p:sp>
      <p:sp>
        <p:nvSpPr>
          <p:cNvPr id="44" name="Chevron 212">
            <a:extLst>
              <a:ext uri="{FF2B5EF4-FFF2-40B4-BE49-F238E27FC236}">
                <a16:creationId xmlns:a16="http://schemas.microsoft.com/office/drawing/2014/main" id="{160C16BD-32BF-1791-AFB1-2AF6523413F6}"/>
              </a:ext>
            </a:extLst>
          </p:cNvPr>
          <p:cNvSpPr/>
          <p:nvPr/>
        </p:nvSpPr>
        <p:spPr>
          <a:xfrm>
            <a:off x="5055576" y="3756116"/>
            <a:ext cx="351057" cy="426793"/>
          </a:xfrm>
          <a:prstGeom prst="chevron">
            <a:avLst/>
          </a:prstGeom>
          <a:solidFill>
            <a:srgbClr val="002060"/>
          </a:solidFill>
          <a:ln w="22225"/>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solidFill>
                <a:schemeClr val="tx1"/>
              </a:solidFill>
            </a:endParaRPr>
          </a:p>
        </p:txBody>
      </p:sp>
      <p:pic>
        <p:nvPicPr>
          <p:cNvPr id="45" name="Picture 215">
            <a:extLst>
              <a:ext uri="{FF2B5EF4-FFF2-40B4-BE49-F238E27FC236}">
                <a16:creationId xmlns:a16="http://schemas.microsoft.com/office/drawing/2014/main" id="{32524289-A803-D1AD-41C3-C583E36C1201}"/>
              </a:ext>
            </a:extLst>
          </p:cNvPr>
          <p:cNvPicPr>
            <a:picLocks noChangeAspect="1"/>
          </p:cNvPicPr>
          <p:nvPr/>
        </p:nvPicPr>
        <p:blipFill>
          <a:blip r:embed="rId5"/>
          <a:stretch>
            <a:fillRect/>
          </a:stretch>
        </p:blipFill>
        <p:spPr>
          <a:xfrm>
            <a:off x="5940784" y="4381301"/>
            <a:ext cx="232513" cy="259983"/>
          </a:xfrm>
          <a:prstGeom prst="rect">
            <a:avLst/>
          </a:prstGeom>
        </p:spPr>
      </p:pic>
      <p:pic>
        <p:nvPicPr>
          <p:cNvPr id="46" name="Picture 216">
            <a:extLst>
              <a:ext uri="{FF2B5EF4-FFF2-40B4-BE49-F238E27FC236}">
                <a16:creationId xmlns:a16="http://schemas.microsoft.com/office/drawing/2014/main" id="{EAA35415-92A9-B3C0-C11E-A6ED6C3A9654}"/>
              </a:ext>
            </a:extLst>
          </p:cNvPr>
          <p:cNvPicPr>
            <a:picLocks noChangeAspect="1"/>
          </p:cNvPicPr>
          <p:nvPr/>
        </p:nvPicPr>
        <p:blipFill>
          <a:blip r:embed="rId6"/>
          <a:stretch>
            <a:fillRect/>
          </a:stretch>
        </p:blipFill>
        <p:spPr>
          <a:xfrm>
            <a:off x="5916707" y="3392074"/>
            <a:ext cx="237943" cy="261547"/>
          </a:xfrm>
          <a:prstGeom prst="rect">
            <a:avLst/>
          </a:prstGeom>
        </p:spPr>
      </p:pic>
      <p:pic>
        <p:nvPicPr>
          <p:cNvPr id="47" name="Picture 217">
            <a:extLst>
              <a:ext uri="{FF2B5EF4-FFF2-40B4-BE49-F238E27FC236}">
                <a16:creationId xmlns:a16="http://schemas.microsoft.com/office/drawing/2014/main" id="{B02E2215-67C2-8E37-3188-1B0ECE62615F}"/>
              </a:ext>
            </a:extLst>
          </p:cNvPr>
          <p:cNvPicPr>
            <a:picLocks noChangeAspect="1"/>
          </p:cNvPicPr>
          <p:nvPr/>
        </p:nvPicPr>
        <p:blipFill>
          <a:blip r:embed="rId7"/>
          <a:stretch>
            <a:fillRect/>
          </a:stretch>
        </p:blipFill>
        <p:spPr>
          <a:xfrm>
            <a:off x="5631238" y="4401448"/>
            <a:ext cx="236947" cy="261776"/>
          </a:xfrm>
          <a:prstGeom prst="rect">
            <a:avLst/>
          </a:prstGeom>
        </p:spPr>
      </p:pic>
      <p:pic>
        <p:nvPicPr>
          <p:cNvPr id="48" name="Picture 218">
            <a:extLst>
              <a:ext uri="{FF2B5EF4-FFF2-40B4-BE49-F238E27FC236}">
                <a16:creationId xmlns:a16="http://schemas.microsoft.com/office/drawing/2014/main" id="{EF1050BF-A628-E191-B7C9-94ED725283FA}"/>
              </a:ext>
            </a:extLst>
          </p:cNvPr>
          <p:cNvPicPr>
            <a:picLocks noChangeAspect="1"/>
          </p:cNvPicPr>
          <p:nvPr/>
        </p:nvPicPr>
        <p:blipFill>
          <a:blip r:embed="rId8"/>
          <a:stretch>
            <a:fillRect/>
          </a:stretch>
        </p:blipFill>
        <p:spPr>
          <a:xfrm>
            <a:off x="5920641" y="3678067"/>
            <a:ext cx="236946" cy="261775"/>
          </a:xfrm>
          <a:prstGeom prst="rect">
            <a:avLst/>
          </a:prstGeom>
        </p:spPr>
      </p:pic>
      <p:pic>
        <p:nvPicPr>
          <p:cNvPr id="49" name="Picture 219">
            <a:extLst>
              <a:ext uri="{FF2B5EF4-FFF2-40B4-BE49-F238E27FC236}">
                <a16:creationId xmlns:a16="http://schemas.microsoft.com/office/drawing/2014/main" id="{DADA5C12-F1D8-2219-E6A3-DBA7E725A15D}"/>
              </a:ext>
            </a:extLst>
          </p:cNvPr>
          <p:cNvPicPr>
            <a:picLocks noChangeAspect="1"/>
          </p:cNvPicPr>
          <p:nvPr/>
        </p:nvPicPr>
        <p:blipFill>
          <a:blip r:embed="rId5"/>
          <a:stretch>
            <a:fillRect/>
          </a:stretch>
        </p:blipFill>
        <p:spPr>
          <a:xfrm>
            <a:off x="5669043" y="3389488"/>
            <a:ext cx="232513" cy="259983"/>
          </a:xfrm>
          <a:prstGeom prst="rect">
            <a:avLst/>
          </a:prstGeom>
        </p:spPr>
      </p:pic>
      <p:pic>
        <p:nvPicPr>
          <p:cNvPr id="50" name="Picture 220">
            <a:extLst>
              <a:ext uri="{FF2B5EF4-FFF2-40B4-BE49-F238E27FC236}">
                <a16:creationId xmlns:a16="http://schemas.microsoft.com/office/drawing/2014/main" id="{3528AA60-4B90-5935-E97A-5A92246DE97A}"/>
              </a:ext>
            </a:extLst>
          </p:cNvPr>
          <p:cNvPicPr>
            <a:picLocks noChangeAspect="1"/>
          </p:cNvPicPr>
          <p:nvPr/>
        </p:nvPicPr>
        <p:blipFill>
          <a:blip r:embed="rId7"/>
          <a:stretch>
            <a:fillRect/>
          </a:stretch>
        </p:blipFill>
        <p:spPr>
          <a:xfrm>
            <a:off x="5679760" y="3689871"/>
            <a:ext cx="236947" cy="261776"/>
          </a:xfrm>
          <a:prstGeom prst="rect">
            <a:avLst/>
          </a:prstGeom>
        </p:spPr>
      </p:pic>
      <p:pic>
        <p:nvPicPr>
          <p:cNvPr id="51" name="Picture 221">
            <a:extLst>
              <a:ext uri="{FF2B5EF4-FFF2-40B4-BE49-F238E27FC236}">
                <a16:creationId xmlns:a16="http://schemas.microsoft.com/office/drawing/2014/main" id="{E88A3B80-F9F0-087A-BA8D-687F91758AD9}"/>
              </a:ext>
            </a:extLst>
          </p:cNvPr>
          <p:cNvPicPr>
            <a:picLocks noChangeAspect="1"/>
          </p:cNvPicPr>
          <p:nvPr/>
        </p:nvPicPr>
        <p:blipFill>
          <a:blip r:embed="rId6"/>
          <a:stretch>
            <a:fillRect/>
          </a:stretch>
        </p:blipFill>
        <p:spPr>
          <a:xfrm>
            <a:off x="5394189" y="3396691"/>
            <a:ext cx="237943" cy="261547"/>
          </a:xfrm>
          <a:prstGeom prst="rect">
            <a:avLst/>
          </a:prstGeom>
        </p:spPr>
      </p:pic>
      <p:pic>
        <p:nvPicPr>
          <p:cNvPr id="52" name="Picture 222">
            <a:extLst>
              <a:ext uri="{FF2B5EF4-FFF2-40B4-BE49-F238E27FC236}">
                <a16:creationId xmlns:a16="http://schemas.microsoft.com/office/drawing/2014/main" id="{148E4FC7-2389-8CC0-B20B-F5BA7EEA6EF0}"/>
              </a:ext>
            </a:extLst>
          </p:cNvPr>
          <p:cNvPicPr>
            <a:picLocks noChangeAspect="1"/>
          </p:cNvPicPr>
          <p:nvPr/>
        </p:nvPicPr>
        <p:blipFill>
          <a:blip r:embed="rId6"/>
          <a:stretch>
            <a:fillRect/>
          </a:stretch>
        </p:blipFill>
        <p:spPr>
          <a:xfrm>
            <a:off x="5630242" y="4675228"/>
            <a:ext cx="237943" cy="261547"/>
          </a:xfrm>
          <a:prstGeom prst="rect">
            <a:avLst/>
          </a:prstGeom>
        </p:spPr>
      </p:pic>
      <p:pic>
        <p:nvPicPr>
          <p:cNvPr id="55" name="Picture 223">
            <a:extLst>
              <a:ext uri="{FF2B5EF4-FFF2-40B4-BE49-F238E27FC236}">
                <a16:creationId xmlns:a16="http://schemas.microsoft.com/office/drawing/2014/main" id="{B8CC5C47-5172-4E67-689D-3AC1170D3008}"/>
              </a:ext>
            </a:extLst>
          </p:cNvPr>
          <p:cNvPicPr>
            <a:picLocks noChangeAspect="1"/>
          </p:cNvPicPr>
          <p:nvPr/>
        </p:nvPicPr>
        <p:blipFill>
          <a:blip r:embed="rId8"/>
          <a:stretch>
            <a:fillRect/>
          </a:stretch>
        </p:blipFill>
        <p:spPr>
          <a:xfrm>
            <a:off x="5942002" y="4681398"/>
            <a:ext cx="236946" cy="261775"/>
          </a:xfrm>
          <a:prstGeom prst="rect">
            <a:avLst/>
          </a:prstGeom>
        </p:spPr>
      </p:pic>
      <p:pic>
        <p:nvPicPr>
          <p:cNvPr id="56" name="Picture 230">
            <a:extLst>
              <a:ext uri="{FF2B5EF4-FFF2-40B4-BE49-F238E27FC236}">
                <a16:creationId xmlns:a16="http://schemas.microsoft.com/office/drawing/2014/main" id="{31555439-6175-5A05-CBA9-D4AB96A2D530}"/>
              </a:ext>
            </a:extLst>
          </p:cNvPr>
          <p:cNvPicPr>
            <a:picLocks noChangeAspect="1"/>
          </p:cNvPicPr>
          <p:nvPr/>
        </p:nvPicPr>
        <p:blipFill>
          <a:blip r:embed="rId8"/>
          <a:stretch>
            <a:fillRect/>
          </a:stretch>
        </p:blipFill>
        <p:spPr>
          <a:xfrm>
            <a:off x="5365298" y="4401448"/>
            <a:ext cx="236946" cy="261775"/>
          </a:xfrm>
          <a:prstGeom prst="rect">
            <a:avLst/>
          </a:prstGeom>
        </p:spPr>
      </p:pic>
      <p:sp>
        <p:nvSpPr>
          <p:cNvPr id="58" name="Oval 1">
            <a:extLst>
              <a:ext uri="{FF2B5EF4-FFF2-40B4-BE49-F238E27FC236}">
                <a16:creationId xmlns:a16="http://schemas.microsoft.com/office/drawing/2014/main" id="{27EFDF3B-378B-FF81-7388-0C5055BB1129}"/>
              </a:ext>
            </a:extLst>
          </p:cNvPr>
          <p:cNvSpPr/>
          <p:nvPr/>
        </p:nvSpPr>
        <p:spPr>
          <a:xfrm>
            <a:off x="3284302" y="3531113"/>
            <a:ext cx="1695608" cy="219558"/>
          </a:xfrm>
          <a:prstGeom prst="ellipse">
            <a:avLst/>
          </a:prstGeom>
          <a:solidFill>
            <a:srgbClr val="005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59" name="Oval 3">
            <a:extLst>
              <a:ext uri="{FF2B5EF4-FFF2-40B4-BE49-F238E27FC236}">
                <a16:creationId xmlns:a16="http://schemas.microsoft.com/office/drawing/2014/main" id="{606DFD70-DF93-B9C1-E316-519B85A08D66}"/>
              </a:ext>
            </a:extLst>
          </p:cNvPr>
          <p:cNvSpPr/>
          <p:nvPr/>
        </p:nvSpPr>
        <p:spPr>
          <a:xfrm>
            <a:off x="3443048" y="3564873"/>
            <a:ext cx="1378870" cy="146717"/>
          </a:xfrm>
          <a:prstGeom prst="ellipse">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nvGrpSpPr>
          <p:cNvPr id="60" name="Group 8">
            <a:extLst>
              <a:ext uri="{FF2B5EF4-FFF2-40B4-BE49-F238E27FC236}">
                <a16:creationId xmlns:a16="http://schemas.microsoft.com/office/drawing/2014/main" id="{D5B6D312-F807-5A73-6157-09BEEAF8C36A}"/>
              </a:ext>
            </a:extLst>
          </p:cNvPr>
          <p:cNvGrpSpPr/>
          <p:nvPr/>
        </p:nvGrpSpPr>
        <p:grpSpPr>
          <a:xfrm>
            <a:off x="3483629" y="3944593"/>
            <a:ext cx="1290622" cy="750234"/>
            <a:chOff x="3030025" y="2251462"/>
            <a:chExt cx="3083613" cy="2025428"/>
          </a:xfrm>
          <a:solidFill>
            <a:schemeClr val="accent1"/>
          </a:solidFill>
        </p:grpSpPr>
        <p:sp>
          <p:nvSpPr>
            <p:cNvPr id="61" name="Freeform 9">
              <a:extLst>
                <a:ext uri="{FF2B5EF4-FFF2-40B4-BE49-F238E27FC236}">
                  <a16:creationId xmlns:a16="http://schemas.microsoft.com/office/drawing/2014/main" id="{78C7C6B5-F69E-C756-21A5-13CF773A6B2F}"/>
                </a:ext>
              </a:extLst>
            </p:cNvPr>
            <p:cNvSpPr/>
            <p:nvPr/>
          </p:nvSpPr>
          <p:spPr>
            <a:xfrm rot="10800000">
              <a:off x="3030025" y="2251462"/>
              <a:ext cx="3083613" cy="1816567"/>
            </a:xfrm>
            <a:custGeom>
              <a:avLst/>
              <a:gdLst>
                <a:gd name="connsiteX0" fmla="*/ 3317727 w 3317727"/>
                <a:gd name="connsiteY0" fmla="*/ 1424642 h 1424642"/>
                <a:gd name="connsiteX1" fmla="*/ 3313856 w 3317727"/>
                <a:gd name="connsiteY1" fmla="*/ 1424642 h 1424642"/>
                <a:gd name="connsiteX2" fmla="*/ 3280303 w 3317727"/>
                <a:gd name="connsiteY2" fmla="*/ 1351086 h 1424642"/>
                <a:gd name="connsiteX3" fmla="*/ 1658864 w 3317727"/>
                <a:gd name="connsiteY3" fmla="*/ 1059040 h 1424642"/>
                <a:gd name="connsiteX4" fmla="*/ 37425 w 3317727"/>
                <a:gd name="connsiteY4" fmla="*/ 1351086 h 1424642"/>
                <a:gd name="connsiteX5" fmla="*/ 3872 w 3317727"/>
                <a:gd name="connsiteY5" fmla="*/ 1424642 h 1424642"/>
                <a:gd name="connsiteX6" fmla="*/ 0 w 3317727"/>
                <a:gd name="connsiteY6" fmla="*/ 1424642 h 1424642"/>
                <a:gd name="connsiteX7" fmla="*/ 62339 w 3317727"/>
                <a:gd name="connsiteY7" fmla="*/ 1288892 h 1424642"/>
                <a:gd name="connsiteX8" fmla="*/ 372798 w 3317727"/>
                <a:gd name="connsiteY8" fmla="*/ 494048 h 1424642"/>
                <a:gd name="connsiteX9" fmla="*/ 425436 w 3317727"/>
                <a:gd name="connsiteY9" fmla="*/ 331991 h 1424642"/>
                <a:gd name="connsiteX10" fmla="*/ 429418 w 3317727"/>
                <a:gd name="connsiteY10" fmla="*/ 331991 h 1424642"/>
                <a:gd name="connsiteX11" fmla="*/ 449503 w 3317727"/>
                <a:gd name="connsiteY11" fmla="*/ 276167 h 1424642"/>
                <a:gd name="connsiteX12" fmla="*/ 1658864 w 3317727"/>
                <a:gd name="connsiteY12" fmla="*/ 0 h 1424642"/>
                <a:gd name="connsiteX13" fmla="*/ 2868224 w 3317727"/>
                <a:gd name="connsiteY13" fmla="*/ 276167 h 1424642"/>
                <a:gd name="connsiteX14" fmla="*/ 2888310 w 3317727"/>
                <a:gd name="connsiteY14" fmla="*/ 331991 h 1424642"/>
                <a:gd name="connsiteX15" fmla="*/ 2892290 w 3317727"/>
                <a:gd name="connsiteY15" fmla="*/ 331991 h 1424642"/>
                <a:gd name="connsiteX16" fmla="*/ 2944928 w 3317727"/>
                <a:gd name="connsiteY16" fmla="*/ 494048 h 1424642"/>
                <a:gd name="connsiteX17" fmla="*/ 3255388 w 3317727"/>
                <a:gd name="connsiteY17" fmla="*/ 1288892 h 142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17727" h="1424642">
                  <a:moveTo>
                    <a:pt x="3317727" y="1424642"/>
                  </a:moveTo>
                  <a:lnTo>
                    <a:pt x="3313856" y="1424642"/>
                  </a:lnTo>
                  <a:lnTo>
                    <a:pt x="3280303" y="1351086"/>
                  </a:lnTo>
                  <a:cubicBezTo>
                    <a:pt x="3125974" y="1184416"/>
                    <a:pt x="2458672" y="1059040"/>
                    <a:pt x="1658864" y="1059040"/>
                  </a:cubicBezTo>
                  <a:cubicBezTo>
                    <a:pt x="859055" y="1059040"/>
                    <a:pt x="191753" y="1184416"/>
                    <a:pt x="37425" y="1351086"/>
                  </a:cubicBezTo>
                  <a:lnTo>
                    <a:pt x="3872" y="1424642"/>
                  </a:lnTo>
                  <a:lnTo>
                    <a:pt x="0" y="1424642"/>
                  </a:lnTo>
                  <a:lnTo>
                    <a:pt x="62339" y="1288892"/>
                  </a:lnTo>
                  <a:cubicBezTo>
                    <a:pt x="171966" y="1040442"/>
                    <a:pt x="276210" y="774367"/>
                    <a:pt x="372798" y="494048"/>
                  </a:cubicBezTo>
                  <a:lnTo>
                    <a:pt x="425436" y="331991"/>
                  </a:lnTo>
                  <a:lnTo>
                    <a:pt x="429418" y="331991"/>
                  </a:lnTo>
                  <a:lnTo>
                    <a:pt x="449503" y="276167"/>
                  </a:lnTo>
                  <a:cubicBezTo>
                    <a:pt x="564610" y="118558"/>
                    <a:pt x="1062322" y="0"/>
                    <a:pt x="1658864" y="0"/>
                  </a:cubicBezTo>
                  <a:cubicBezTo>
                    <a:pt x="2255406" y="0"/>
                    <a:pt x="2753117" y="118558"/>
                    <a:pt x="2868224" y="276167"/>
                  </a:cubicBezTo>
                  <a:lnTo>
                    <a:pt x="2888310" y="331991"/>
                  </a:lnTo>
                  <a:lnTo>
                    <a:pt x="2892290" y="331991"/>
                  </a:lnTo>
                  <a:lnTo>
                    <a:pt x="2944928" y="494048"/>
                  </a:lnTo>
                  <a:cubicBezTo>
                    <a:pt x="3041516" y="774367"/>
                    <a:pt x="3145761" y="1040442"/>
                    <a:pt x="3255388" y="12888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62" name="Pentagon 12">
              <a:extLst>
                <a:ext uri="{FF2B5EF4-FFF2-40B4-BE49-F238E27FC236}">
                  <a16:creationId xmlns:a16="http://schemas.microsoft.com/office/drawing/2014/main" id="{0D82900D-57B3-3DD4-A948-9F91F59B2745}"/>
                </a:ext>
              </a:extLst>
            </p:cNvPr>
            <p:cNvSpPr/>
            <p:nvPr/>
          </p:nvSpPr>
          <p:spPr>
            <a:xfrm rot="5400000">
              <a:off x="4376962" y="3828483"/>
              <a:ext cx="342011" cy="554803"/>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grpSp>
        <p:nvGrpSpPr>
          <p:cNvPr id="63" name="Group 13">
            <a:extLst>
              <a:ext uri="{FF2B5EF4-FFF2-40B4-BE49-F238E27FC236}">
                <a16:creationId xmlns:a16="http://schemas.microsoft.com/office/drawing/2014/main" id="{84B5A60C-7FFE-7B1C-AC4A-C58B91B7FB71}"/>
              </a:ext>
            </a:extLst>
          </p:cNvPr>
          <p:cNvGrpSpPr/>
          <p:nvPr/>
        </p:nvGrpSpPr>
        <p:grpSpPr>
          <a:xfrm>
            <a:off x="3307145" y="3678836"/>
            <a:ext cx="1649921" cy="596273"/>
            <a:chOff x="2522937" y="1525565"/>
            <a:chExt cx="4102125" cy="1270225"/>
          </a:xfrm>
          <a:solidFill>
            <a:schemeClr val="accent1"/>
          </a:solidFill>
        </p:grpSpPr>
        <p:sp>
          <p:nvSpPr>
            <p:cNvPr id="448" name="Freeform 14">
              <a:extLst>
                <a:ext uri="{FF2B5EF4-FFF2-40B4-BE49-F238E27FC236}">
                  <a16:creationId xmlns:a16="http://schemas.microsoft.com/office/drawing/2014/main" id="{9006C607-2E4D-9FB6-009C-EB118C2871B3}"/>
                </a:ext>
              </a:extLst>
            </p:cNvPr>
            <p:cNvSpPr/>
            <p:nvPr/>
          </p:nvSpPr>
          <p:spPr>
            <a:xfrm rot="10800000">
              <a:off x="2522937" y="1525565"/>
              <a:ext cx="4102125" cy="1009876"/>
            </a:xfrm>
            <a:custGeom>
              <a:avLst/>
              <a:gdLst>
                <a:gd name="connsiteX0" fmla="*/ 3685105 w 4413566"/>
                <a:gd name="connsiteY0" fmla="*/ 52497 h 1455510"/>
                <a:gd name="connsiteX1" fmla="*/ 3663298 w 4413566"/>
                <a:gd name="connsiteY1" fmla="*/ 0 h 1455510"/>
                <a:gd name="connsiteX2" fmla="*/ 3663734 w 4413566"/>
                <a:gd name="connsiteY2" fmla="*/ 0 h 1455510"/>
                <a:gd name="connsiteX3" fmla="*/ 728457 w 4413566"/>
                <a:gd name="connsiteY3" fmla="*/ 52508 h 1455510"/>
                <a:gd name="connsiteX4" fmla="*/ 749832 w 4413566"/>
                <a:gd name="connsiteY4" fmla="*/ 0 h 1455510"/>
                <a:gd name="connsiteX5" fmla="*/ 750268 w 4413566"/>
                <a:gd name="connsiteY5" fmla="*/ 0 h 1455510"/>
                <a:gd name="connsiteX6" fmla="*/ 0 w 4413566"/>
                <a:gd name="connsiteY6" fmla="*/ 1455510 h 1455510"/>
                <a:gd name="connsiteX7" fmla="*/ 27790 w 4413566"/>
                <a:gd name="connsiteY7" fmla="*/ 1416784 h 1455510"/>
                <a:gd name="connsiteX8" fmla="*/ 498921 w 4413566"/>
                <a:gd name="connsiteY8" fmla="*/ 579507 h 1455510"/>
                <a:gd name="connsiteX9" fmla="*/ 626561 w 4413566"/>
                <a:gd name="connsiteY9" fmla="*/ 297814 h 1455510"/>
                <a:gd name="connsiteX10" fmla="*/ 610259 w 4413566"/>
                <a:gd name="connsiteY10" fmla="*/ 337058 h 1455510"/>
                <a:gd name="connsiteX11" fmla="*/ 547920 w 4413566"/>
                <a:gd name="connsiteY11" fmla="*/ 472808 h 1455510"/>
                <a:gd name="connsiteX12" fmla="*/ 551792 w 4413566"/>
                <a:gd name="connsiteY12" fmla="*/ 472808 h 1455510"/>
                <a:gd name="connsiteX13" fmla="*/ 585345 w 4413566"/>
                <a:gd name="connsiteY13" fmla="*/ 399252 h 1455510"/>
                <a:gd name="connsiteX14" fmla="*/ 2206784 w 4413566"/>
                <a:gd name="connsiteY14" fmla="*/ 107206 h 1455510"/>
                <a:gd name="connsiteX15" fmla="*/ 3828223 w 4413566"/>
                <a:gd name="connsiteY15" fmla="*/ 399252 h 1455510"/>
                <a:gd name="connsiteX16" fmla="*/ 3861776 w 4413566"/>
                <a:gd name="connsiteY16" fmla="*/ 472808 h 1455510"/>
                <a:gd name="connsiteX17" fmla="*/ 3865647 w 4413566"/>
                <a:gd name="connsiteY17" fmla="*/ 472808 h 1455510"/>
                <a:gd name="connsiteX18" fmla="*/ 3803308 w 4413566"/>
                <a:gd name="connsiteY18" fmla="*/ 337058 h 1455510"/>
                <a:gd name="connsiteX19" fmla="*/ 3787016 w 4413566"/>
                <a:gd name="connsiteY19" fmla="*/ 297836 h 1455510"/>
                <a:gd name="connsiteX20" fmla="*/ 3914645 w 4413566"/>
                <a:gd name="connsiteY20" fmla="*/ 579507 h 1455510"/>
                <a:gd name="connsiteX21" fmla="*/ 4385777 w 4413566"/>
                <a:gd name="connsiteY21" fmla="*/ 1416784 h 1455510"/>
                <a:gd name="connsiteX22" fmla="*/ 4413566 w 4413566"/>
                <a:gd name="connsiteY22" fmla="*/ 1455508 h 1455510"/>
                <a:gd name="connsiteX23" fmla="*/ 4372544 w 4413566"/>
                <a:gd name="connsiteY23" fmla="*/ 1426917 h 1455510"/>
                <a:gd name="connsiteX24" fmla="*/ 2206784 w 4413566"/>
                <a:gd name="connsiteY24" fmla="*/ 1141368 h 1455510"/>
                <a:gd name="connsiteX25" fmla="*/ 41024 w 4413566"/>
                <a:gd name="connsiteY25" fmla="*/ 1426917 h 1455510"/>
                <a:gd name="connsiteX0" fmla="*/ 3685105 w 4413566"/>
                <a:gd name="connsiteY0" fmla="*/ 52497 h 1455510"/>
                <a:gd name="connsiteX1" fmla="*/ 3663298 w 4413566"/>
                <a:gd name="connsiteY1" fmla="*/ 0 h 1455510"/>
                <a:gd name="connsiteX2" fmla="*/ 3685105 w 4413566"/>
                <a:gd name="connsiteY2" fmla="*/ 52497 h 1455510"/>
                <a:gd name="connsiteX3" fmla="*/ 728457 w 4413566"/>
                <a:gd name="connsiteY3" fmla="*/ 52508 h 1455510"/>
                <a:gd name="connsiteX4" fmla="*/ 749832 w 4413566"/>
                <a:gd name="connsiteY4" fmla="*/ 0 h 1455510"/>
                <a:gd name="connsiteX5" fmla="*/ 750268 w 4413566"/>
                <a:gd name="connsiteY5" fmla="*/ 0 h 1455510"/>
                <a:gd name="connsiteX6" fmla="*/ 728457 w 4413566"/>
                <a:gd name="connsiteY6" fmla="*/ 52508 h 1455510"/>
                <a:gd name="connsiteX7" fmla="*/ 0 w 4413566"/>
                <a:gd name="connsiteY7" fmla="*/ 1455510 h 1455510"/>
                <a:gd name="connsiteX8" fmla="*/ 27790 w 4413566"/>
                <a:gd name="connsiteY8" fmla="*/ 1416784 h 1455510"/>
                <a:gd name="connsiteX9" fmla="*/ 498921 w 4413566"/>
                <a:gd name="connsiteY9" fmla="*/ 579507 h 1455510"/>
                <a:gd name="connsiteX10" fmla="*/ 626561 w 4413566"/>
                <a:gd name="connsiteY10" fmla="*/ 297814 h 1455510"/>
                <a:gd name="connsiteX11" fmla="*/ 610259 w 4413566"/>
                <a:gd name="connsiteY11" fmla="*/ 337058 h 1455510"/>
                <a:gd name="connsiteX12" fmla="*/ 547920 w 4413566"/>
                <a:gd name="connsiteY12" fmla="*/ 472808 h 1455510"/>
                <a:gd name="connsiteX13" fmla="*/ 551792 w 4413566"/>
                <a:gd name="connsiteY13" fmla="*/ 472808 h 1455510"/>
                <a:gd name="connsiteX14" fmla="*/ 585345 w 4413566"/>
                <a:gd name="connsiteY14" fmla="*/ 399252 h 1455510"/>
                <a:gd name="connsiteX15" fmla="*/ 2206784 w 4413566"/>
                <a:gd name="connsiteY15" fmla="*/ 107206 h 1455510"/>
                <a:gd name="connsiteX16" fmla="*/ 3828223 w 4413566"/>
                <a:gd name="connsiteY16" fmla="*/ 399252 h 1455510"/>
                <a:gd name="connsiteX17" fmla="*/ 3861776 w 4413566"/>
                <a:gd name="connsiteY17" fmla="*/ 472808 h 1455510"/>
                <a:gd name="connsiteX18" fmla="*/ 3865647 w 4413566"/>
                <a:gd name="connsiteY18" fmla="*/ 472808 h 1455510"/>
                <a:gd name="connsiteX19" fmla="*/ 3803308 w 4413566"/>
                <a:gd name="connsiteY19" fmla="*/ 337058 h 1455510"/>
                <a:gd name="connsiteX20" fmla="*/ 3787016 w 4413566"/>
                <a:gd name="connsiteY20" fmla="*/ 297836 h 1455510"/>
                <a:gd name="connsiteX21" fmla="*/ 3914645 w 4413566"/>
                <a:gd name="connsiteY21" fmla="*/ 579507 h 1455510"/>
                <a:gd name="connsiteX22" fmla="*/ 4385777 w 4413566"/>
                <a:gd name="connsiteY22" fmla="*/ 1416784 h 1455510"/>
                <a:gd name="connsiteX23" fmla="*/ 4413566 w 4413566"/>
                <a:gd name="connsiteY23" fmla="*/ 1455508 h 1455510"/>
                <a:gd name="connsiteX24" fmla="*/ 4372544 w 4413566"/>
                <a:gd name="connsiteY24" fmla="*/ 1426917 h 1455510"/>
                <a:gd name="connsiteX25" fmla="*/ 2206784 w 4413566"/>
                <a:gd name="connsiteY25" fmla="*/ 1141368 h 1455510"/>
                <a:gd name="connsiteX26" fmla="*/ 41024 w 4413566"/>
                <a:gd name="connsiteY26" fmla="*/ 1426917 h 1455510"/>
                <a:gd name="connsiteX27" fmla="*/ 0 w 4413566"/>
                <a:gd name="connsiteY27" fmla="*/ 1455510 h 1455510"/>
                <a:gd name="connsiteX0" fmla="*/ 728457 w 4413566"/>
                <a:gd name="connsiteY0" fmla="*/ 52508 h 1455510"/>
                <a:gd name="connsiteX1" fmla="*/ 749832 w 4413566"/>
                <a:gd name="connsiteY1" fmla="*/ 0 h 1455510"/>
                <a:gd name="connsiteX2" fmla="*/ 750268 w 4413566"/>
                <a:gd name="connsiteY2" fmla="*/ 0 h 1455510"/>
                <a:gd name="connsiteX3" fmla="*/ 728457 w 4413566"/>
                <a:gd name="connsiteY3" fmla="*/ 52508 h 1455510"/>
                <a:gd name="connsiteX4" fmla="*/ 0 w 4413566"/>
                <a:gd name="connsiteY4" fmla="*/ 1455510 h 1455510"/>
                <a:gd name="connsiteX5" fmla="*/ 27790 w 4413566"/>
                <a:gd name="connsiteY5" fmla="*/ 1416784 h 1455510"/>
                <a:gd name="connsiteX6" fmla="*/ 498921 w 4413566"/>
                <a:gd name="connsiteY6" fmla="*/ 579507 h 1455510"/>
                <a:gd name="connsiteX7" fmla="*/ 626561 w 4413566"/>
                <a:gd name="connsiteY7" fmla="*/ 297814 h 1455510"/>
                <a:gd name="connsiteX8" fmla="*/ 610259 w 4413566"/>
                <a:gd name="connsiteY8" fmla="*/ 337058 h 1455510"/>
                <a:gd name="connsiteX9" fmla="*/ 547920 w 4413566"/>
                <a:gd name="connsiteY9" fmla="*/ 472808 h 1455510"/>
                <a:gd name="connsiteX10" fmla="*/ 551792 w 4413566"/>
                <a:gd name="connsiteY10" fmla="*/ 472808 h 1455510"/>
                <a:gd name="connsiteX11" fmla="*/ 585345 w 4413566"/>
                <a:gd name="connsiteY11" fmla="*/ 399252 h 1455510"/>
                <a:gd name="connsiteX12" fmla="*/ 2206784 w 4413566"/>
                <a:gd name="connsiteY12" fmla="*/ 107206 h 1455510"/>
                <a:gd name="connsiteX13" fmla="*/ 3828223 w 4413566"/>
                <a:gd name="connsiteY13" fmla="*/ 399252 h 1455510"/>
                <a:gd name="connsiteX14" fmla="*/ 3861776 w 4413566"/>
                <a:gd name="connsiteY14" fmla="*/ 472808 h 1455510"/>
                <a:gd name="connsiteX15" fmla="*/ 3865647 w 4413566"/>
                <a:gd name="connsiteY15" fmla="*/ 472808 h 1455510"/>
                <a:gd name="connsiteX16" fmla="*/ 3803308 w 4413566"/>
                <a:gd name="connsiteY16" fmla="*/ 337058 h 1455510"/>
                <a:gd name="connsiteX17" fmla="*/ 3787016 w 4413566"/>
                <a:gd name="connsiteY17" fmla="*/ 297836 h 1455510"/>
                <a:gd name="connsiteX18" fmla="*/ 3914645 w 4413566"/>
                <a:gd name="connsiteY18" fmla="*/ 579507 h 1455510"/>
                <a:gd name="connsiteX19" fmla="*/ 4385777 w 4413566"/>
                <a:gd name="connsiteY19" fmla="*/ 1416784 h 1455510"/>
                <a:gd name="connsiteX20" fmla="*/ 4413566 w 4413566"/>
                <a:gd name="connsiteY20" fmla="*/ 1455508 h 1455510"/>
                <a:gd name="connsiteX21" fmla="*/ 4372544 w 4413566"/>
                <a:gd name="connsiteY21" fmla="*/ 1426917 h 1455510"/>
                <a:gd name="connsiteX22" fmla="*/ 2206784 w 4413566"/>
                <a:gd name="connsiteY22" fmla="*/ 1141368 h 1455510"/>
                <a:gd name="connsiteX23" fmla="*/ 41024 w 4413566"/>
                <a:gd name="connsiteY23" fmla="*/ 1426917 h 1455510"/>
                <a:gd name="connsiteX24" fmla="*/ 0 w 4413566"/>
                <a:gd name="connsiteY24" fmla="*/ 1455510 h 1455510"/>
                <a:gd name="connsiteX0" fmla="*/ 728457 w 4413566"/>
                <a:gd name="connsiteY0" fmla="*/ 52508 h 1455510"/>
                <a:gd name="connsiteX1" fmla="*/ 749832 w 4413566"/>
                <a:gd name="connsiteY1" fmla="*/ 0 h 1455510"/>
                <a:gd name="connsiteX2" fmla="*/ 728457 w 4413566"/>
                <a:gd name="connsiteY2" fmla="*/ 52508 h 1455510"/>
                <a:gd name="connsiteX3" fmla="*/ 0 w 4413566"/>
                <a:gd name="connsiteY3" fmla="*/ 1455510 h 1455510"/>
                <a:gd name="connsiteX4" fmla="*/ 27790 w 4413566"/>
                <a:gd name="connsiteY4" fmla="*/ 1416784 h 1455510"/>
                <a:gd name="connsiteX5" fmla="*/ 498921 w 4413566"/>
                <a:gd name="connsiteY5" fmla="*/ 579507 h 1455510"/>
                <a:gd name="connsiteX6" fmla="*/ 626561 w 4413566"/>
                <a:gd name="connsiteY6" fmla="*/ 297814 h 1455510"/>
                <a:gd name="connsiteX7" fmla="*/ 610259 w 4413566"/>
                <a:gd name="connsiteY7" fmla="*/ 337058 h 1455510"/>
                <a:gd name="connsiteX8" fmla="*/ 547920 w 4413566"/>
                <a:gd name="connsiteY8" fmla="*/ 472808 h 1455510"/>
                <a:gd name="connsiteX9" fmla="*/ 551792 w 4413566"/>
                <a:gd name="connsiteY9" fmla="*/ 472808 h 1455510"/>
                <a:gd name="connsiteX10" fmla="*/ 585345 w 4413566"/>
                <a:gd name="connsiteY10" fmla="*/ 399252 h 1455510"/>
                <a:gd name="connsiteX11" fmla="*/ 2206784 w 4413566"/>
                <a:gd name="connsiteY11" fmla="*/ 107206 h 1455510"/>
                <a:gd name="connsiteX12" fmla="*/ 3828223 w 4413566"/>
                <a:gd name="connsiteY12" fmla="*/ 399252 h 1455510"/>
                <a:gd name="connsiteX13" fmla="*/ 3861776 w 4413566"/>
                <a:gd name="connsiteY13" fmla="*/ 472808 h 1455510"/>
                <a:gd name="connsiteX14" fmla="*/ 3865647 w 4413566"/>
                <a:gd name="connsiteY14" fmla="*/ 472808 h 1455510"/>
                <a:gd name="connsiteX15" fmla="*/ 3803308 w 4413566"/>
                <a:gd name="connsiteY15" fmla="*/ 337058 h 1455510"/>
                <a:gd name="connsiteX16" fmla="*/ 3787016 w 4413566"/>
                <a:gd name="connsiteY16" fmla="*/ 297836 h 1455510"/>
                <a:gd name="connsiteX17" fmla="*/ 3914645 w 4413566"/>
                <a:gd name="connsiteY17" fmla="*/ 579507 h 1455510"/>
                <a:gd name="connsiteX18" fmla="*/ 4385777 w 4413566"/>
                <a:gd name="connsiteY18" fmla="*/ 1416784 h 1455510"/>
                <a:gd name="connsiteX19" fmla="*/ 4413566 w 4413566"/>
                <a:gd name="connsiteY19" fmla="*/ 1455508 h 1455510"/>
                <a:gd name="connsiteX20" fmla="*/ 4372544 w 4413566"/>
                <a:gd name="connsiteY20" fmla="*/ 1426917 h 1455510"/>
                <a:gd name="connsiteX21" fmla="*/ 2206784 w 4413566"/>
                <a:gd name="connsiteY21" fmla="*/ 1141368 h 1455510"/>
                <a:gd name="connsiteX22" fmla="*/ 41024 w 4413566"/>
                <a:gd name="connsiteY22" fmla="*/ 1426917 h 1455510"/>
                <a:gd name="connsiteX23" fmla="*/ 0 w 4413566"/>
                <a:gd name="connsiteY23" fmla="*/ 1455510 h 1455510"/>
                <a:gd name="connsiteX0" fmla="*/ 0 w 4413566"/>
                <a:gd name="connsiteY0" fmla="*/ 1348304 h 1348304"/>
                <a:gd name="connsiteX1" fmla="*/ 27790 w 4413566"/>
                <a:gd name="connsiteY1" fmla="*/ 1309578 h 1348304"/>
                <a:gd name="connsiteX2" fmla="*/ 498921 w 4413566"/>
                <a:gd name="connsiteY2" fmla="*/ 472301 h 1348304"/>
                <a:gd name="connsiteX3" fmla="*/ 626561 w 4413566"/>
                <a:gd name="connsiteY3" fmla="*/ 190608 h 1348304"/>
                <a:gd name="connsiteX4" fmla="*/ 610259 w 4413566"/>
                <a:gd name="connsiteY4" fmla="*/ 229852 h 1348304"/>
                <a:gd name="connsiteX5" fmla="*/ 547920 w 4413566"/>
                <a:gd name="connsiteY5" fmla="*/ 365602 h 1348304"/>
                <a:gd name="connsiteX6" fmla="*/ 551792 w 4413566"/>
                <a:gd name="connsiteY6" fmla="*/ 365602 h 1348304"/>
                <a:gd name="connsiteX7" fmla="*/ 585345 w 4413566"/>
                <a:gd name="connsiteY7" fmla="*/ 292046 h 1348304"/>
                <a:gd name="connsiteX8" fmla="*/ 2206784 w 4413566"/>
                <a:gd name="connsiteY8" fmla="*/ 0 h 1348304"/>
                <a:gd name="connsiteX9" fmla="*/ 3828223 w 4413566"/>
                <a:gd name="connsiteY9" fmla="*/ 292046 h 1348304"/>
                <a:gd name="connsiteX10" fmla="*/ 3861776 w 4413566"/>
                <a:gd name="connsiteY10" fmla="*/ 365602 h 1348304"/>
                <a:gd name="connsiteX11" fmla="*/ 3865647 w 4413566"/>
                <a:gd name="connsiteY11" fmla="*/ 365602 h 1348304"/>
                <a:gd name="connsiteX12" fmla="*/ 3803308 w 4413566"/>
                <a:gd name="connsiteY12" fmla="*/ 229852 h 1348304"/>
                <a:gd name="connsiteX13" fmla="*/ 3787016 w 4413566"/>
                <a:gd name="connsiteY13" fmla="*/ 190630 h 1348304"/>
                <a:gd name="connsiteX14" fmla="*/ 3914645 w 4413566"/>
                <a:gd name="connsiteY14" fmla="*/ 472301 h 1348304"/>
                <a:gd name="connsiteX15" fmla="*/ 4385777 w 4413566"/>
                <a:gd name="connsiteY15" fmla="*/ 1309578 h 1348304"/>
                <a:gd name="connsiteX16" fmla="*/ 4413566 w 4413566"/>
                <a:gd name="connsiteY16" fmla="*/ 1348302 h 1348304"/>
                <a:gd name="connsiteX17" fmla="*/ 4372544 w 4413566"/>
                <a:gd name="connsiteY17" fmla="*/ 1319711 h 1348304"/>
                <a:gd name="connsiteX18" fmla="*/ 2206784 w 4413566"/>
                <a:gd name="connsiteY18" fmla="*/ 1034162 h 1348304"/>
                <a:gd name="connsiteX19" fmla="*/ 41024 w 4413566"/>
                <a:gd name="connsiteY19" fmla="*/ 1319711 h 1348304"/>
                <a:gd name="connsiteX20" fmla="*/ 0 w 4413566"/>
                <a:gd name="connsiteY20"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610259 w 4413566"/>
                <a:gd name="connsiteY3" fmla="*/ 229852 h 1348304"/>
                <a:gd name="connsiteX4" fmla="*/ 547920 w 4413566"/>
                <a:gd name="connsiteY4" fmla="*/ 365602 h 1348304"/>
                <a:gd name="connsiteX5" fmla="*/ 551792 w 4413566"/>
                <a:gd name="connsiteY5" fmla="*/ 365602 h 1348304"/>
                <a:gd name="connsiteX6" fmla="*/ 585345 w 4413566"/>
                <a:gd name="connsiteY6" fmla="*/ 292046 h 1348304"/>
                <a:gd name="connsiteX7" fmla="*/ 2206784 w 4413566"/>
                <a:gd name="connsiteY7" fmla="*/ 0 h 1348304"/>
                <a:gd name="connsiteX8" fmla="*/ 3828223 w 4413566"/>
                <a:gd name="connsiteY8" fmla="*/ 292046 h 1348304"/>
                <a:gd name="connsiteX9" fmla="*/ 3861776 w 4413566"/>
                <a:gd name="connsiteY9" fmla="*/ 365602 h 1348304"/>
                <a:gd name="connsiteX10" fmla="*/ 3865647 w 4413566"/>
                <a:gd name="connsiteY10" fmla="*/ 365602 h 1348304"/>
                <a:gd name="connsiteX11" fmla="*/ 3803308 w 4413566"/>
                <a:gd name="connsiteY11" fmla="*/ 229852 h 1348304"/>
                <a:gd name="connsiteX12" fmla="*/ 3787016 w 4413566"/>
                <a:gd name="connsiteY12" fmla="*/ 190630 h 1348304"/>
                <a:gd name="connsiteX13" fmla="*/ 3914645 w 4413566"/>
                <a:gd name="connsiteY13" fmla="*/ 472301 h 1348304"/>
                <a:gd name="connsiteX14" fmla="*/ 4385777 w 4413566"/>
                <a:gd name="connsiteY14" fmla="*/ 1309578 h 1348304"/>
                <a:gd name="connsiteX15" fmla="*/ 4413566 w 4413566"/>
                <a:gd name="connsiteY15" fmla="*/ 1348302 h 1348304"/>
                <a:gd name="connsiteX16" fmla="*/ 4372544 w 4413566"/>
                <a:gd name="connsiteY16" fmla="*/ 1319711 h 1348304"/>
                <a:gd name="connsiteX17" fmla="*/ 2206784 w 4413566"/>
                <a:gd name="connsiteY17" fmla="*/ 1034162 h 1348304"/>
                <a:gd name="connsiteX18" fmla="*/ 41024 w 4413566"/>
                <a:gd name="connsiteY18" fmla="*/ 1319711 h 1348304"/>
                <a:gd name="connsiteX19" fmla="*/ 0 w 4413566"/>
                <a:gd name="connsiteY19"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51792 w 4413566"/>
                <a:gd name="connsiteY4" fmla="*/ 365602 h 1348304"/>
                <a:gd name="connsiteX5" fmla="*/ 585345 w 4413566"/>
                <a:gd name="connsiteY5" fmla="*/ 292046 h 1348304"/>
                <a:gd name="connsiteX6" fmla="*/ 2206784 w 4413566"/>
                <a:gd name="connsiteY6" fmla="*/ 0 h 1348304"/>
                <a:gd name="connsiteX7" fmla="*/ 3828223 w 4413566"/>
                <a:gd name="connsiteY7" fmla="*/ 292046 h 1348304"/>
                <a:gd name="connsiteX8" fmla="*/ 3861776 w 4413566"/>
                <a:gd name="connsiteY8" fmla="*/ 365602 h 1348304"/>
                <a:gd name="connsiteX9" fmla="*/ 3865647 w 4413566"/>
                <a:gd name="connsiteY9" fmla="*/ 365602 h 1348304"/>
                <a:gd name="connsiteX10" fmla="*/ 3803308 w 4413566"/>
                <a:gd name="connsiteY10" fmla="*/ 229852 h 1348304"/>
                <a:gd name="connsiteX11" fmla="*/ 3787016 w 4413566"/>
                <a:gd name="connsiteY11" fmla="*/ 190630 h 1348304"/>
                <a:gd name="connsiteX12" fmla="*/ 3914645 w 4413566"/>
                <a:gd name="connsiteY12" fmla="*/ 472301 h 1348304"/>
                <a:gd name="connsiteX13" fmla="*/ 4385777 w 4413566"/>
                <a:gd name="connsiteY13" fmla="*/ 1309578 h 1348304"/>
                <a:gd name="connsiteX14" fmla="*/ 4413566 w 4413566"/>
                <a:gd name="connsiteY14" fmla="*/ 1348302 h 1348304"/>
                <a:gd name="connsiteX15" fmla="*/ 4372544 w 4413566"/>
                <a:gd name="connsiteY15" fmla="*/ 1319711 h 1348304"/>
                <a:gd name="connsiteX16" fmla="*/ 2206784 w 4413566"/>
                <a:gd name="connsiteY16" fmla="*/ 1034162 h 1348304"/>
                <a:gd name="connsiteX17" fmla="*/ 41024 w 4413566"/>
                <a:gd name="connsiteY17" fmla="*/ 1319711 h 1348304"/>
                <a:gd name="connsiteX18" fmla="*/ 0 w 4413566"/>
                <a:gd name="connsiteY18"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787016 w 4413566"/>
                <a:gd name="connsiteY10" fmla="*/ 190630 h 1348304"/>
                <a:gd name="connsiteX11" fmla="*/ 3914645 w 4413566"/>
                <a:gd name="connsiteY11" fmla="*/ 472301 h 1348304"/>
                <a:gd name="connsiteX12" fmla="*/ 4385777 w 4413566"/>
                <a:gd name="connsiteY12" fmla="*/ 1309578 h 1348304"/>
                <a:gd name="connsiteX13" fmla="*/ 4413566 w 4413566"/>
                <a:gd name="connsiteY13" fmla="*/ 1348302 h 1348304"/>
                <a:gd name="connsiteX14" fmla="*/ 4372544 w 4413566"/>
                <a:gd name="connsiteY14" fmla="*/ 1319711 h 1348304"/>
                <a:gd name="connsiteX15" fmla="*/ 2206784 w 4413566"/>
                <a:gd name="connsiteY15" fmla="*/ 1034162 h 1348304"/>
                <a:gd name="connsiteX16" fmla="*/ 41024 w 4413566"/>
                <a:gd name="connsiteY16" fmla="*/ 1319711 h 1348304"/>
                <a:gd name="connsiteX17" fmla="*/ 0 w 4413566"/>
                <a:gd name="connsiteY17"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914645 w 4413566"/>
                <a:gd name="connsiteY10" fmla="*/ 472301 h 1348304"/>
                <a:gd name="connsiteX11" fmla="*/ 4385777 w 4413566"/>
                <a:gd name="connsiteY11" fmla="*/ 1309578 h 1348304"/>
                <a:gd name="connsiteX12" fmla="*/ 4413566 w 4413566"/>
                <a:gd name="connsiteY12" fmla="*/ 1348302 h 1348304"/>
                <a:gd name="connsiteX13" fmla="*/ 4372544 w 4413566"/>
                <a:gd name="connsiteY13" fmla="*/ 1319711 h 1348304"/>
                <a:gd name="connsiteX14" fmla="*/ 2206784 w 4413566"/>
                <a:gd name="connsiteY14" fmla="*/ 1034162 h 1348304"/>
                <a:gd name="connsiteX15" fmla="*/ 41024 w 4413566"/>
                <a:gd name="connsiteY15" fmla="*/ 1319711 h 1348304"/>
                <a:gd name="connsiteX16" fmla="*/ 0 w 4413566"/>
                <a:gd name="connsiteY16"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914645 w 4413566"/>
                <a:gd name="connsiteY9" fmla="*/ 472301 h 1348304"/>
                <a:gd name="connsiteX10" fmla="*/ 4385777 w 4413566"/>
                <a:gd name="connsiteY10" fmla="*/ 1309578 h 1348304"/>
                <a:gd name="connsiteX11" fmla="*/ 4413566 w 4413566"/>
                <a:gd name="connsiteY11" fmla="*/ 1348302 h 1348304"/>
                <a:gd name="connsiteX12" fmla="*/ 4372544 w 4413566"/>
                <a:gd name="connsiteY12" fmla="*/ 1319711 h 1348304"/>
                <a:gd name="connsiteX13" fmla="*/ 2206784 w 4413566"/>
                <a:gd name="connsiteY13" fmla="*/ 1034162 h 1348304"/>
                <a:gd name="connsiteX14" fmla="*/ 41024 w 4413566"/>
                <a:gd name="connsiteY14" fmla="*/ 1319711 h 1348304"/>
                <a:gd name="connsiteX15" fmla="*/ 0 w 4413566"/>
                <a:gd name="connsiteY15"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914645 w 4413566"/>
                <a:gd name="connsiteY8" fmla="*/ 472301 h 1348304"/>
                <a:gd name="connsiteX9" fmla="*/ 4385777 w 4413566"/>
                <a:gd name="connsiteY9" fmla="*/ 1309578 h 1348304"/>
                <a:gd name="connsiteX10" fmla="*/ 4413566 w 4413566"/>
                <a:gd name="connsiteY10" fmla="*/ 1348302 h 1348304"/>
                <a:gd name="connsiteX11" fmla="*/ 4372544 w 4413566"/>
                <a:gd name="connsiteY11" fmla="*/ 1319711 h 1348304"/>
                <a:gd name="connsiteX12" fmla="*/ 2206784 w 4413566"/>
                <a:gd name="connsiteY12" fmla="*/ 1034162 h 1348304"/>
                <a:gd name="connsiteX13" fmla="*/ 41024 w 4413566"/>
                <a:gd name="connsiteY13" fmla="*/ 1319711 h 1348304"/>
                <a:gd name="connsiteX14" fmla="*/ 0 w 4413566"/>
                <a:gd name="connsiteY14" fmla="*/ 1348304 h 13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13566" h="1348304">
                  <a:moveTo>
                    <a:pt x="0" y="1348304"/>
                  </a:moveTo>
                  <a:lnTo>
                    <a:pt x="27790" y="1309578"/>
                  </a:lnTo>
                  <a:cubicBezTo>
                    <a:pt x="189464" y="1069164"/>
                    <a:pt x="348304" y="787401"/>
                    <a:pt x="498921" y="472301"/>
                  </a:cubicBezTo>
                  <a:lnTo>
                    <a:pt x="547920" y="365602"/>
                  </a:lnTo>
                  <a:lnTo>
                    <a:pt x="585345" y="292046"/>
                  </a:lnTo>
                  <a:cubicBezTo>
                    <a:pt x="739673" y="125376"/>
                    <a:pt x="1406975" y="0"/>
                    <a:pt x="2206784" y="0"/>
                  </a:cubicBezTo>
                  <a:cubicBezTo>
                    <a:pt x="3006592" y="0"/>
                    <a:pt x="3673894" y="125376"/>
                    <a:pt x="3828223" y="292046"/>
                  </a:cubicBezTo>
                  <a:lnTo>
                    <a:pt x="3861776" y="365602"/>
                  </a:lnTo>
                  <a:lnTo>
                    <a:pt x="3914645" y="472301"/>
                  </a:lnTo>
                  <a:cubicBezTo>
                    <a:pt x="4065263" y="787401"/>
                    <a:pt x="4224103" y="1069164"/>
                    <a:pt x="4385777" y="1309578"/>
                  </a:cubicBezTo>
                  <a:lnTo>
                    <a:pt x="4413566" y="1348302"/>
                  </a:lnTo>
                  <a:lnTo>
                    <a:pt x="4372544" y="1319711"/>
                  </a:lnTo>
                  <a:cubicBezTo>
                    <a:pt x="4085426" y="1154278"/>
                    <a:pt x="3224378" y="1034162"/>
                    <a:pt x="2206784" y="1034162"/>
                  </a:cubicBezTo>
                  <a:cubicBezTo>
                    <a:pt x="1189190" y="1034162"/>
                    <a:pt x="328142" y="1154278"/>
                    <a:pt x="41024" y="1319711"/>
                  </a:cubicBezTo>
                  <a:lnTo>
                    <a:pt x="0" y="134830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449" name="Pentagon 15">
              <a:extLst>
                <a:ext uri="{FF2B5EF4-FFF2-40B4-BE49-F238E27FC236}">
                  <a16:creationId xmlns:a16="http://schemas.microsoft.com/office/drawing/2014/main" id="{4352B12F-3D67-EA30-38EA-AFFF42C3B202}"/>
                </a:ext>
              </a:extLst>
            </p:cNvPr>
            <p:cNvSpPr/>
            <p:nvPr/>
          </p:nvSpPr>
          <p:spPr>
            <a:xfrm rot="5400000">
              <a:off x="4401155" y="2347383"/>
              <a:ext cx="342012" cy="554802"/>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sp>
        <p:nvSpPr>
          <p:cNvPr id="450" name="TextBox 17">
            <a:extLst>
              <a:ext uri="{FF2B5EF4-FFF2-40B4-BE49-F238E27FC236}">
                <a16:creationId xmlns:a16="http://schemas.microsoft.com/office/drawing/2014/main" id="{4D870136-F948-43ED-528E-08EB59CEB19B}"/>
              </a:ext>
            </a:extLst>
          </p:cNvPr>
          <p:cNvSpPr txBox="1"/>
          <p:nvPr/>
        </p:nvSpPr>
        <p:spPr>
          <a:xfrm>
            <a:off x="3798530" y="3986039"/>
            <a:ext cx="585729" cy="274256"/>
          </a:xfrm>
          <a:prstGeom prst="rect">
            <a:avLst/>
          </a:prstGeom>
          <a:noFill/>
        </p:spPr>
        <p:txBody>
          <a:bodyPr wrap="square" rtlCol="0" anchor="ctr">
            <a:spAutoFit/>
          </a:bodyPr>
          <a:lstStyle/>
          <a:p>
            <a:pPr algn="ctr"/>
            <a:r>
              <a:rPr lang="en-US" sz="1200" b="1" cap="all" noProof="0">
                <a:solidFill>
                  <a:schemeClr val="bg1"/>
                </a:solidFill>
                <a:effectLst>
                  <a:outerShdw blurRad="38100" dist="38100" dir="2700000" algn="tl">
                    <a:srgbClr val="000000">
                      <a:alpha val="43137"/>
                    </a:srgbClr>
                  </a:outerShdw>
                </a:effectLst>
                <a:latin typeface="+mn-lt"/>
                <a:cs typeface="Calibri" panose="020F0502020204030204" pitchFamily="34" charset="0"/>
              </a:rPr>
              <a:t>JIRA</a:t>
            </a:r>
          </a:p>
        </p:txBody>
      </p:sp>
      <p:sp>
        <p:nvSpPr>
          <p:cNvPr id="451" name="Oval 25">
            <a:extLst>
              <a:ext uri="{FF2B5EF4-FFF2-40B4-BE49-F238E27FC236}">
                <a16:creationId xmlns:a16="http://schemas.microsoft.com/office/drawing/2014/main" id="{A5D301F3-3A26-D1F7-8D9B-6323F762ADCD}"/>
              </a:ext>
            </a:extLst>
          </p:cNvPr>
          <p:cNvSpPr/>
          <p:nvPr/>
        </p:nvSpPr>
        <p:spPr>
          <a:xfrm>
            <a:off x="4384840" y="2959314"/>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2" name="Oval 26">
            <a:extLst>
              <a:ext uri="{FF2B5EF4-FFF2-40B4-BE49-F238E27FC236}">
                <a16:creationId xmlns:a16="http://schemas.microsoft.com/office/drawing/2014/main" id="{1191D5A7-CFC9-F891-98C3-7F57C0F8CD92}"/>
              </a:ext>
            </a:extLst>
          </p:cNvPr>
          <p:cNvSpPr/>
          <p:nvPr/>
        </p:nvSpPr>
        <p:spPr>
          <a:xfrm>
            <a:off x="4686915" y="3296903"/>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3" name="Oval 27">
            <a:extLst>
              <a:ext uri="{FF2B5EF4-FFF2-40B4-BE49-F238E27FC236}">
                <a16:creationId xmlns:a16="http://schemas.microsoft.com/office/drawing/2014/main" id="{D97CA0D4-95BE-82EB-62C2-BA51C4A7C510}"/>
              </a:ext>
            </a:extLst>
          </p:cNvPr>
          <p:cNvSpPr/>
          <p:nvPr/>
        </p:nvSpPr>
        <p:spPr>
          <a:xfrm>
            <a:off x="4710321" y="3034771"/>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4" name="Oval 28">
            <a:extLst>
              <a:ext uri="{FF2B5EF4-FFF2-40B4-BE49-F238E27FC236}">
                <a16:creationId xmlns:a16="http://schemas.microsoft.com/office/drawing/2014/main" id="{36077DF3-9E10-EC60-263E-A854FBA339D7}"/>
              </a:ext>
            </a:extLst>
          </p:cNvPr>
          <p:cNvSpPr/>
          <p:nvPr/>
        </p:nvSpPr>
        <p:spPr>
          <a:xfrm>
            <a:off x="4027275" y="3233531"/>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5" name="Oval 29">
            <a:extLst>
              <a:ext uri="{FF2B5EF4-FFF2-40B4-BE49-F238E27FC236}">
                <a16:creationId xmlns:a16="http://schemas.microsoft.com/office/drawing/2014/main" id="{CA2A5836-1600-31CB-F4CB-EEA0DF76F89D}"/>
              </a:ext>
            </a:extLst>
          </p:cNvPr>
          <p:cNvSpPr/>
          <p:nvPr/>
        </p:nvSpPr>
        <p:spPr>
          <a:xfrm>
            <a:off x="3966901" y="2891459"/>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6" name="Oval 31">
            <a:extLst>
              <a:ext uri="{FF2B5EF4-FFF2-40B4-BE49-F238E27FC236}">
                <a16:creationId xmlns:a16="http://schemas.microsoft.com/office/drawing/2014/main" id="{FF03EE16-FCF3-78EC-7C1C-7383D4ADBDE4}"/>
              </a:ext>
            </a:extLst>
          </p:cNvPr>
          <p:cNvSpPr/>
          <p:nvPr/>
        </p:nvSpPr>
        <p:spPr>
          <a:xfrm>
            <a:off x="4148888" y="3046661"/>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7" name="Oval 32">
            <a:extLst>
              <a:ext uri="{FF2B5EF4-FFF2-40B4-BE49-F238E27FC236}">
                <a16:creationId xmlns:a16="http://schemas.microsoft.com/office/drawing/2014/main" id="{6482B7FF-3D67-A006-E20E-D08D4943F042}"/>
              </a:ext>
            </a:extLst>
          </p:cNvPr>
          <p:cNvSpPr/>
          <p:nvPr/>
        </p:nvSpPr>
        <p:spPr>
          <a:xfrm>
            <a:off x="4330874" y="3201861"/>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8" name="Oval 33">
            <a:extLst>
              <a:ext uri="{FF2B5EF4-FFF2-40B4-BE49-F238E27FC236}">
                <a16:creationId xmlns:a16="http://schemas.microsoft.com/office/drawing/2014/main" id="{62CB769E-F4BB-BD5C-03A8-ACEE34726028}"/>
              </a:ext>
            </a:extLst>
          </p:cNvPr>
          <p:cNvSpPr/>
          <p:nvPr/>
        </p:nvSpPr>
        <p:spPr>
          <a:xfrm>
            <a:off x="3558756" y="2813537"/>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9" name="Oval 34">
            <a:extLst>
              <a:ext uri="{FF2B5EF4-FFF2-40B4-BE49-F238E27FC236}">
                <a16:creationId xmlns:a16="http://schemas.microsoft.com/office/drawing/2014/main" id="{383A2AEB-F6EA-0A25-E8DF-91A0C2D067EE}"/>
              </a:ext>
            </a:extLst>
          </p:cNvPr>
          <p:cNvSpPr/>
          <p:nvPr/>
        </p:nvSpPr>
        <p:spPr>
          <a:xfrm>
            <a:off x="3460480" y="3268960"/>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0" name="Oval 35">
            <a:extLst>
              <a:ext uri="{FF2B5EF4-FFF2-40B4-BE49-F238E27FC236}">
                <a16:creationId xmlns:a16="http://schemas.microsoft.com/office/drawing/2014/main" id="{BC84E2B6-9A0A-FDD2-DC2F-9CFA4F201312}"/>
              </a:ext>
            </a:extLst>
          </p:cNvPr>
          <p:cNvSpPr/>
          <p:nvPr/>
        </p:nvSpPr>
        <p:spPr>
          <a:xfrm>
            <a:off x="3704179" y="3064864"/>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1" name="Oval 36">
            <a:extLst>
              <a:ext uri="{FF2B5EF4-FFF2-40B4-BE49-F238E27FC236}">
                <a16:creationId xmlns:a16="http://schemas.microsoft.com/office/drawing/2014/main" id="{0A54242A-2FDF-4ED1-0E5D-10C389DBC04A}"/>
              </a:ext>
            </a:extLst>
          </p:cNvPr>
          <p:cNvSpPr/>
          <p:nvPr/>
        </p:nvSpPr>
        <p:spPr>
          <a:xfrm>
            <a:off x="3761816" y="3414009"/>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2" name="Oval 37">
            <a:extLst>
              <a:ext uri="{FF2B5EF4-FFF2-40B4-BE49-F238E27FC236}">
                <a16:creationId xmlns:a16="http://schemas.microsoft.com/office/drawing/2014/main" id="{3C257C6F-4401-3FEB-996D-21A2A7E1311F}"/>
              </a:ext>
            </a:extLst>
          </p:cNvPr>
          <p:cNvSpPr/>
          <p:nvPr/>
        </p:nvSpPr>
        <p:spPr>
          <a:xfrm>
            <a:off x="4370864" y="3460094"/>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3" name="Oval 38">
            <a:extLst>
              <a:ext uri="{FF2B5EF4-FFF2-40B4-BE49-F238E27FC236}">
                <a16:creationId xmlns:a16="http://schemas.microsoft.com/office/drawing/2014/main" id="{E94B5311-994C-3725-5E84-ADD8FDFFB5ED}"/>
              </a:ext>
            </a:extLst>
          </p:cNvPr>
          <p:cNvSpPr/>
          <p:nvPr/>
        </p:nvSpPr>
        <p:spPr>
          <a:xfrm>
            <a:off x="4047222" y="3495683"/>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4" name="CuadroTexto 4">
            <a:extLst>
              <a:ext uri="{FF2B5EF4-FFF2-40B4-BE49-F238E27FC236}">
                <a16:creationId xmlns:a16="http://schemas.microsoft.com/office/drawing/2014/main" id="{D922A472-8619-E28F-647B-EAC7D98EF631}"/>
              </a:ext>
            </a:extLst>
          </p:cNvPr>
          <p:cNvSpPr txBox="1"/>
          <p:nvPr/>
        </p:nvSpPr>
        <p:spPr>
          <a:xfrm>
            <a:off x="3777144" y="2591089"/>
            <a:ext cx="582846" cy="167601"/>
          </a:xfrm>
          <a:prstGeom prst="rect">
            <a:avLst/>
          </a:prstGeom>
          <a:noFill/>
        </p:spPr>
        <p:txBody>
          <a:bodyPr wrap="square" rtlCol="0">
            <a:spAutoFit/>
          </a:bodyPr>
          <a:lstStyle/>
          <a:p>
            <a:pPr algn="ctr"/>
            <a:r>
              <a:rPr lang="en-US" sz="500" noProof="0">
                <a:solidFill>
                  <a:srgbClr val="7F7F7F"/>
                </a:solidFill>
                <a:latin typeface="+mn-lt"/>
              </a:rPr>
              <a:t>REQUESTS</a:t>
            </a:r>
          </a:p>
        </p:txBody>
      </p:sp>
      <p:cxnSp>
        <p:nvCxnSpPr>
          <p:cNvPr id="465" name="Elbow Connector 2">
            <a:extLst>
              <a:ext uri="{FF2B5EF4-FFF2-40B4-BE49-F238E27FC236}">
                <a16:creationId xmlns:a16="http://schemas.microsoft.com/office/drawing/2014/main" id="{633B3E53-40E3-5C3D-CC89-6DA73312A883}"/>
              </a:ext>
            </a:extLst>
          </p:cNvPr>
          <p:cNvCxnSpPr>
            <a:cxnSpLocks/>
          </p:cNvCxnSpPr>
          <p:nvPr/>
        </p:nvCxnSpPr>
        <p:spPr>
          <a:xfrm>
            <a:off x="4267611" y="2672076"/>
            <a:ext cx="544376" cy="361253"/>
          </a:xfrm>
          <a:prstGeom prst="bentConnector2">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6" name="Elbow Connector 30">
            <a:extLst>
              <a:ext uri="{FF2B5EF4-FFF2-40B4-BE49-F238E27FC236}">
                <a16:creationId xmlns:a16="http://schemas.microsoft.com/office/drawing/2014/main" id="{937EB0ED-8078-76F0-407F-B52D4CFB77C9}"/>
              </a:ext>
            </a:extLst>
          </p:cNvPr>
          <p:cNvCxnSpPr>
            <a:cxnSpLocks/>
          </p:cNvCxnSpPr>
          <p:nvPr/>
        </p:nvCxnSpPr>
        <p:spPr>
          <a:xfrm rot="10800000" flipV="1">
            <a:off x="3460480" y="2672075"/>
            <a:ext cx="409042" cy="682146"/>
          </a:xfrm>
          <a:prstGeom prst="bentConnector3">
            <a:avLst>
              <a:gd name="adj1" fmla="val 143877"/>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7" name="Elbow Connector 210">
            <a:extLst>
              <a:ext uri="{FF2B5EF4-FFF2-40B4-BE49-F238E27FC236}">
                <a16:creationId xmlns:a16="http://schemas.microsoft.com/office/drawing/2014/main" id="{DECF2837-4DB6-462D-BD04-7B28F7769316}"/>
              </a:ext>
            </a:extLst>
          </p:cNvPr>
          <p:cNvCxnSpPr>
            <a:cxnSpLocks/>
            <a:endCxn id="478" idx="1"/>
          </p:cNvCxnSpPr>
          <p:nvPr/>
        </p:nvCxnSpPr>
        <p:spPr>
          <a:xfrm>
            <a:off x="4118951" y="5192667"/>
            <a:ext cx="1104862" cy="929655"/>
          </a:xfrm>
          <a:prstGeom prst="bentConnector3">
            <a:avLst>
              <a:gd name="adj1" fmla="val 50000"/>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68" name="Google Shape;1758;p42">
            <a:extLst>
              <a:ext uri="{FF2B5EF4-FFF2-40B4-BE49-F238E27FC236}">
                <a16:creationId xmlns:a16="http://schemas.microsoft.com/office/drawing/2014/main" id="{5099021F-0AA2-1428-1610-AB3DAE355BF2}"/>
              </a:ext>
            </a:extLst>
          </p:cNvPr>
          <p:cNvSpPr txBox="1"/>
          <p:nvPr/>
        </p:nvSpPr>
        <p:spPr>
          <a:xfrm>
            <a:off x="5333633" y="2717850"/>
            <a:ext cx="1196411" cy="457040"/>
          </a:xfrm>
          <a:prstGeom prst="rect">
            <a:avLst/>
          </a:prstGeom>
          <a:noFill/>
          <a:ln>
            <a:noFill/>
          </a:ln>
        </p:spPr>
        <p:txBody>
          <a:bodyPr spcFirstLastPara="1" wrap="square" lIns="121900" tIns="60933" rIns="121900" bIns="60933" anchor="ctr" anchorCtr="0">
            <a:spAutoFit/>
          </a:bodyPr>
          <a:lstStyle/>
          <a:p>
            <a:pPr algn="ctr"/>
            <a:r>
              <a:rPr lang="en-US" sz="1100" b="1" i="1" noProof="0">
                <a:latin typeface="+mn-lt"/>
                <a:ea typeface="Open Sans"/>
                <a:cs typeface="Open Sans"/>
                <a:sym typeface="Open Sans"/>
              </a:rPr>
              <a:t>DEMAND BACKLOG</a:t>
            </a:r>
            <a:endParaRPr lang="en-US" sz="2400" b="1" noProof="0">
              <a:latin typeface="+mn-lt"/>
            </a:endParaRPr>
          </a:p>
        </p:txBody>
      </p:sp>
      <p:pic>
        <p:nvPicPr>
          <p:cNvPr id="469" name="Gráfico 468" descr="Perfil de hombre con relleno sólido">
            <a:extLst>
              <a:ext uri="{FF2B5EF4-FFF2-40B4-BE49-F238E27FC236}">
                <a16:creationId xmlns:a16="http://schemas.microsoft.com/office/drawing/2014/main" id="{06972E8E-ED2F-ABCA-04E5-1206B900C26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3248379"/>
            <a:ext cx="304460" cy="252013"/>
          </a:xfrm>
          <a:prstGeom prst="rect">
            <a:avLst/>
          </a:prstGeom>
          <a:effectLst/>
        </p:spPr>
      </p:pic>
      <p:sp>
        <p:nvSpPr>
          <p:cNvPr id="470" name="TextBox 158">
            <a:extLst>
              <a:ext uri="{FF2B5EF4-FFF2-40B4-BE49-F238E27FC236}">
                <a16:creationId xmlns:a16="http://schemas.microsoft.com/office/drawing/2014/main" id="{FB37F1CC-492F-3DFA-B71A-62D8CB309B26}"/>
              </a:ext>
            </a:extLst>
          </p:cNvPr>
          <p:cNvSpPr txBox="1"/>
          <p:nvPr/>
        </p:nvSpPr>
        <p:spPr>
          <a:xfrm>
            <a:off x="2280616" y="3468632"/>
            <a:ext cx="652597" cy="2255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Domain Product Owner</a:t>
            </a:r>
          </a:p>
        </p:txBody>
      </p:sp>
      <p:pic>
        <p:nvPicPr>
          <p:cNvPr id="471" name="Gráfico 470" descr="Perfil de hombre con relleno sólido">
            <a:extLst>
              <a:ext uri="{FF2B5EF4-FFF2-40B4-BE49-F238E27FC236}">
                <a16:creationId xmlns:a16="http://schemas.microsoft.com/office/drawing/2014/main" id="{62E96796-C1D5-AA2C-0FC5-BACCA7C25F0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4256025"/>
            <a:ext cx="304460" cy="252013"/>
          </a:xfrm>
          <a:prstGeom prst="rect">
            <a:avLst/>
          </a:prstGeom>
          <a:effectLst/>
        </p:spPr>
      </p:pic>
      <p:sp>
        <p:nvSpPr>
          <p:cNvPr id="472" name="TextBox 158">
            <a:extLst>
              <a:ext uri="{FF2B5EF4-FFF2-40B4-BE49-F238E27FC236}">
                <a16:creationId xmlns:a16="http://schemas.microsoft.com/office/drawing/2014/main" id="{8CE00674-B67B-E735-5571-D0D9E5442D8F}"/>
              </a:ext>
            </a:extLst>
          </p:cNvPr>
          <p:cNvSpPr txBox="1"/>
          <p:nvPr/>
        </p:nvSpPr>
        <p:spPr>
          <a:xfrm>
            <a:off x="2172611" y="4476276"/>
            <a:ext cx="868605" cy="2255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Business Process Owner</a:t>
            </a:r>
          </a:p>
        </p:txBody>
      </p:sp>
      <p:pic>
        <p:nvPicPr>
          <p:cNvPr id="473" name="Gráfico 472" descr="Perfil de hombre con relleno sólido">
            <a:extLst>
              <a:ext uri="{FF2B5EF4-FFF2-40B4-BE49-F238E27FC236}">
                <a16:creationId xmlns:a16="http://schemas.microsoft.com/office/drawing/2014/main" id="{D0E57DB2-50A8-3F95-0920-4947BE94EE7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454684" y="3758580"/>
            <a:ext cx="304460" cy="252013"/>
          </a:xfrm>
          <a:prstGeom prst="rect">
            <a:avLst/>
          </a:prstGeom>
          <a:effectLst/>
        </p:spPr>
      </p:pic>
      <p:sp>
        <p:nvSpPr>
          <p:cNvPr id="474" name="TextBox 158">
            <a:extLst>
              <a:ext uri="{FF2B5EF4-FFF2-40B4-BE49-F238E27FC236}">
                <a16:creationId xmlns:a16="http://schemas.microsoft.com/office/drawing/2014/main" id="{210672FD-A0AB-C96E-227A-3847C200087E}"/>
              </a:ext>
            </a:extLst>
          </p:cNvPr>
          <p:cNvSpPr txBox="1"/>
          <p:nvPr/>
        </p:nvSpPr>
        <p:spPr>
          <a:xfrm>
            <a:off x="2172611" y="4037491"/>
            <a:ext cx="868605" cy="10824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a:latin typeface="Arial" panose="020B0604020202020204" pitchFamily="34" charset="0"/>
                <a:cs typeface="Arial" panose="020B0604020202020204" pitchFamily="34" charset="0"/>
              </a:rPr>
              <a:t>Intake Lead</a:t>
            </a:r>
            <a:endParaRPr lang="en-US" sz="700" b="0" noProof="0">
              <a:latin typeface="Arial" panose="020B0604020202020204" pitchFamily="34" charset="0"/>
              <a:cs typeface="Arial" panose="020B0604020202020204" pitchFamily="34" charset="0"/>
            </a:endParaRPr>
          </a:p>
        </p:txBody>
      </p:sp>
      <p:sp>
        <p:nvSpPr>
          <p:cNvPr id="475" name="TextBox 13">
            <a:extLst>
              <a:ext uri="{FF2B5EF4-FFF2-40B4-BE49-F238E27FC236}">
                <a16:creationId xmlns:a16="http://schemas.microsoft.com/office/drawing/2014/main" id="{7C8EC864-4874-076B-8BBD-457E7F3BD432}"/>
              </a:ext>
            </a:extLst>
          </p:cNvPr>
          <p:cNvSpPr txBox="1"/>
          <p:nvPr/>
        </p:nvSpPr>
        <p:spPr>
          <a:xfrm>
            <a:off x="2161199" y="4875976"/>
            <a:ext cx="1718405" cy="639599"/>
          </a:xfrm>
          <a:prstGeom prst="rect">
            <a:avLst/>
          </a:prstGeom>
          <a:noFill/>
        </p:spPr>
        <p:txBody>
          <a:bodyPr wrap="square" lIns="45720" tIns="36576" rIns="45720" bIns="36576">
            <a:spAutoFit/>
          </a:bodyPr>
          <a:lstStyle/>
          <a:p>
            <a:pPr>
              <a:lnSpc>
                <a:spcPct val="135000"/>
              </a:lnSpc>
            </a:pPr>
            <a:r>
              <a:rPr sz="700" b="0">
                <a:solidFill>
                  <a:srgbClr val="2C3E50"/>
                </a:solidFill>
                <a:latin typeface="Arial"/>
              </a:rPr>
              <a:t>• </a:t>
            </a:r>
            <a:r>
              <a:rPr lang="pt-BR" sz="700" b="1" err="1">
                <a:solidFill>
                  <a:srgbClr val="2C3E50"/>
                </a:solidFill>
                <a:latin typeface="Arial"/>
              </a:rPr>
              <a:t>Option</a:t>
            </a:r>
            <a:r>
              <a:rPr lang="pt-BR" sz="700" b="1">
                <a:solidFill>
                  <a:srgbClr val="2C3E50"/>
                </a:solidFill>
                <a:latin typeface="Arial"/>
              </a:rPr>
              <a:t> 1: </a:t>
            </a:r>
            <a:r>
              <a:rPr lang="pt-BR" sz="700" err="1">
                <a:solidFill>
                  <a:srgbClr val="2C3E50"/>
                </a:solidFill>
                <a:latin typeface="Arial"/>
              </a:rPr>
              <a:t>Required</a:t>
            </a:r>
            <a:r>
              <a:rPr lang="pt-BR" sz="700">
                <a:solidFill>
                  <a:srgbClr val="2C3E50"/>
                </a:solidFill>
                <a:latin typeface="Arial"/>
              </a:rPr>
              <a:t> </a:t>
            </a:r>
            <a:r>
              <a:rPr lang="pt-BR" sz="700" err="1">
                <a:solidFill>
                  <a:srgbClr val="2C3E50"/>
                </a:solidFill>
                <a:latin typeface="Arial"/>
              </a:rPr>
              <a:t>request</a:t>
            </a:r>
            <a:r>
              <a:rPr lang="pt-BR" sz="700">
                <a:solidFill>
                  <a:srgbClr val="2C3E50"/>
                </a:solidFill>
                <a:latin typeface="Arial"/>
              </a:rPr>
              <a:t> </a:t>
            </a:r>
            <a:r>
              <a:rPr lang="pt-BR" sz="700" err="1">
                <a:solidFill>
                  <a:srgbClr val="2C3E50"/>
                </a:solidFill>
                <a:latin typeface="Arial"/>
              </a:rPr>
              <a:t>form</a:t>
            </a:r>
            <a:r>
              <a:rPr lang="pt-BR" sz="700">
                <a:solidFill>
                  <a:srgbClr val="2C3E50"/>
                </a:solidFill>
                <a:latin typeface="Arial"/>
              </a:rPr>
              <a:t> for </a:t>
            </a:r>
            <a:r>
              <a:rPr lang="pt-BR" sz="700" err="1">
                <a:solidFill>
                  <a:srgbClr val="2C3E50"/>
                </a:solidFill>
                <a:latin typeface="Arial"/>
              </a:rPr>
              <a:t>all</a:t>
            </a:r>
            <a:r>
              <a:rPr lang="pt-BR" sz="700">
                <a:solidFill>
                  <a:srgbClr val="2C3E50"/>
                </a:solidFill>
                <a:latin typeface="Arial"/>
              </a:rPr>
              <a:t> </a:t>
            </a:r>
            <a:r>
              <a:rPr lang="pt-BR" sz="700" err="1">
                <a:solidFill>
                  <a:srgbClr val="2C3E50"/>
                </a:solidFill>
                <a:latin typeface="Arial"/>
              </a:rPr>
              <a:t>demand</a:t>
            </a:r>
            <a:r>
              <a:rPr lang="pt-BR" sz="700">
                <a:solidFill>
                  <a:srgbClr val="2C3E50"/>
                </a:solidFill>
                <a:latin typeface="Arial"/>
              </a:rPr>
              <a:t> </a:t>
            </a:r>
            <a:r>
              <a:rPr lang="pt-BR" sz="700" err="1">
                <a:solidFill>
                  <a:srgbClr val="2C3E50"/>
                </a:solidFill>
                <a:latin typeface="Arial"/>
              </a:rPr>
              <a:t>areas</a:t>
            </a:r>
            <a:r>
              <a:rPr lang="pt-BR" sz="700">
                <a:solidFill>
                  <a:srgbClr val="2C3E50"/>
                </a:solidFill>
                <a:latin typeface="Arial"/>
              </a:rPr>
              <a:t>.</a:t>
            </a:r>
          </a:p>
          <a:p>
            <a:pPr>
              <a:lnSpc>
                <a:spcPct val="135000"/>
              </a:lnSpc>
            </a:pPr>
            <a:r>
              <a:rPr lang="pt-BR" sz="700">
                <a:solidFill>
                  <a:srgbClr val="2C3E50"/>
                </a:solidFill>
                <a:latin typeface="Arial"/>
              </a:rPr>
              <a:t>• </a:t>
            </a:r>
            <a:r>
              <a:rPr lang="pt-BR" sz="700" b="1" err="1">
                <a:solidFill>
                  <a:srgbClr val="2C3E50"/>
                </a:solidFill>
                <a:latin typeface="Arial"/>
              </a:rPr>
              <a:t>Option</a:t>
            </a:r>
            <a:r>
              <a:rPr lang="pt-BR" sz="700" b="1">
                <a:solidFill>
                  <a:srgbClr val="2C3E50"/>
                </a:solidFill>
                <a:latin typeface="Arial"/>
              </a:rPr>
              <a:t> 2: </a:t>
            </a:r>
            <a:r>
              <a:rPr lang="pt-BR" sz="700">
                <a:solidFill>
                  <a:srgbClr val="2C3E50"/>
                </a:solidFill>
                <a:latin typeface="Arial"/>
              </a:rPr>
              <a:t>For </a:t>
            </a:r>
            <a:r>
              <a:rPr lang="pt-BR" sz="700" err="1">
                <a:solidFill>
                  <a:srgbClr val="2C3E50"/>
                </a:solidFill>
                <a:latin typeface="Arial"/>
              </a:rPr>
              <a:t>CX&amp;Digital</a:t>
            </a:r>
            <a:r>
              <a:rPr lang="pt-BR" sz="700">
                <a:solidFill>
                  <a:srgbClr val="2C3E50"/>
                </a:solidFill>
                <a:latin typeface="Arial"/>
              </a:rPr>
              <a:t> </a:t>
            </a:r>
            <a:r>
              <a:rPr lang="pt-BR" sz="700" err="1">
                <a:solidFill>
                  <a:srgbClr val="2C3E50"/>
                </a:solidFill>
                <a:latin typeface="Arial"/>
              </a:rPr>
              <a:t>CoE</a:t>
            </a:r>
            <a:r>
              <a:rPr lang="pt-BR" sz="700">
                <a:solidFill>
                  <a:srgbClr val="2C3E50"/>
                </a:solidFill>
                <a:latin typeface="Arial"/>
              </a:rPr>
              <a:t> </a:t>
            </a:r>
            <a:r>
              <a:rPr lang="pt-BR" sz="700" err="1">
                <a:solidFill>
                  <a:srgbClr val="2C3E50"/>
                </a:solidFill>
                <a:latin typeface="Arial"/>
              </a:rPr>
              <a:t>establish</a:t>
            </a:r>
            <a:r>
              <a:rPr lang="pt-BR" sz="700">
                <a:solidFill>
                  <a:srgbClr val="2C3E50"/>
                </a:solidFill>
                <a:latin typeface="Arial"/>
              </a:rPr>
              <a:t> a </a:t>
            </a:r>
            <a:r>
              <a:rPr lang="pt-BR" sz="700" err="1">
                <a:solidFill>
                  <a:srgbClr val="2C3E50"/>
                </a:solidFill>
                <a:latin typeface="Arial"/>
              </a:rPr>
              <a:t>partnership</a:t>
            </a:r>
            <a:r>
              <a:rPr lang="pt-BR" sz="700">
                <a:solidFill>
                  <a:srgbClr val="2C3E50"/>
                </a:solidFill>
                <a:latin typeface="Arial"/>
              </a:rPr>
              <a:t> </a:t>
            </a:r>
            <a:r>
              <a:rPr lang="pt-BR" sz="700" err="1">
                <a:solidFill>
                  <a:srgbClr val="2C3E50"/>
                </a:solidFill>
                <a:latin typeface="Arial"/>
              </a:rPr>
              <a:t>an</a:t>
            </a:r>
            <a:r>
              <a:rPr lang="pt-BR" sz="700">
                <a:solidFill>
                  <a:srgbClr val="2C3E50"/>
                </a:solidFill>
                <a:latin typeface="Arial"/>
              </a:rPr>
              <a:t> </a:t>
            </a:r>
            <a:r>
              <a:rPr lang="pt-BR" sz="700" err="1">
                <a:solidFill>
                  <a:srgbClr val="2C3E50"/>
                </a:solidFill>
                <a:latin typeface="Arial"/>
              </a:rPr>
              <a:t>intake</a:t>
            </a:r>
            <a:r>
              <a:rPr lang="pt-BR" sz="700">
                <a:solidFill>
                  <a:srgbClr val="2C3E50"/>
                </a:solidFill>
                <a:latin typeface="Arial"/>
              </a:rPr>
              <a:t> </a:t>
            </a:r>
            <a:r>
              <a:rPr lang="pt-BR" sz="700" err="1">
                <a:solidFill>
                  <a:srgbClr val="2C3E50"/>
                </a:solidFill>
                <a:latin typeface="Arial"/>
              </a:rPr>
              <a:t>process</a:t>
            </a:r>
            <a:r>
              <a:rPr lang="pt-BR" sz="700">
                <a:solidFill>
                  <a:srgbClr val="2C3E50"/>
                </a:solidFill>
                <a:latin typeface="Arial"/>
              </a:rPr>
              <a:t> </a:t>
            </a:r>
          </a:p>
        </p:txBody>
      </p:sp>
      <p:pic>
        <p:nvPicPr>
          <p:cNvPr id="476" name="Gráfico 475" descr="Perfil de hombre con relleno sólido">
            <a:extLst>
              <a:ext uri="{FF2B5EF4-FFF2-40B4-BE49-F238E27FC236}">
                <a16:creationId xmlns:a16="http://schemas.microsoft.com/office/drawing/2014/main" id="{64A53E77-625D-5609-8874-CCA6F7334F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2719048"/>
            <a:ext cx="304460" cy="252013"/>
          </a:xfrm>
          <a:prstGeom prst="rect">
            <a:avLst/>
          </a:prstGeom>
          <a:effectLst/>
        </p:spPr>
      </p:pic>
      <p:sp>
        <p:nvSpPr>
          <p:cNvPr id="477" name="TextBox 158">
            <a:extLst>
              <a:ext uri="{FF2B5EF4-FFF2-40B4-BE49-F238E27FC236}">
                <a16:creationId xmlns:a16="http://schemas.microsoft.com/office/drawing/2014/main" id="{3C9CAF4E-EE9D-D7E0-B310-D93A1DCACA4F}"/>
              </a:ext>
            </a:extLst>
          </p:cNvPr>
          <p:cNvSpPr txBox="1"/>
          <p:nvPr/>
        </p:nvSpPr>
        <p:spPr>
          <a:xfrm>
            <a:off x="2172611" y="2997959"/>
            <a:ext cx="868605" cy="10824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Business Requester</a:t>
            </a:r>
          </a:p>
        </p:txBody>
      </p:sp>
      <p:sp>
        <p:nvSpPr>
          <p:cNvPr id="478" name="TextBox 13">
            <a:extLst>
              <a:ext uri="{FF2B5EF4-FFF2-40B4-BE49-F238E27FC236}">
                <a16:creationId xmlns:a16="http://schemas.microsoft.com/office/drawing/2014/main" id="{6F40C922-0B31-4428-46C9-04B608DC1A51}"/>
              </a:ext>
            </a:extLst>
          </p:cNvPr>
          <p:cNvSpPr txBox="1"/>
          <p:nvPr/>
        </p:nvSpPr>
        <p:spPr>
          <a:xfrm>
            <a:off x="5223813" y="5231938"/>
            <a:ext cx="1571354" cy="785087"/>
          </a:xfrm>
          <a:prstGeom prst="rect">
            <a:avLst/>
          </a:prstGeom>
          <a:noFill/>
        </p:spPr>
        <p:txBody>
          <a:bodyPr wrap="square" lIns="45720" tIns="36576" rIns="45720" bIns="36576">
            <a:spAutoFit/>
          </a:bodyPr>
          <a:lstStyle/>
          <a:p>
            <a:pPr>
              <a:lnSpc>
                <a:spcPct val="135000"/>
              </a:lnSpc>
            </a:pPr>
            <a:r>
              <a:rPr lang="pt-BR" sz="700" err="1">
                <a:solidFill>
                  <a:srgbClr val="2C3E50"/>
                </a:solidFill>
                <a:latin typeface="Arial"/>
              </a:rPr>
              <a:t>Submits</a:t>
            </a:r>
            <a:r>
              <a:rPr lang="pt-BR" sz="700">
                <a:solidFill>
                  <a:srgbClr val="2C3E50"/>
                </a:solidFill>
                <a:latin typeface="Arial"/>
              </a:rPr>
              <a:t> </a:t>
            </a:r>
            <a:r>
              <a:rPr lang="pt-BR" sz="700" err="1">
                <a:solidFill>
                  <a:srgbClr val="2C3E50"/>
                </a:solidFill>
                <a:latin typeface="Arial"/>
              </a:rPr>
              <a:t>demand</a:t>
            </a:r>
            <a:r>
              <a:rPr lang="pt-BR" sz="700">
                <a:solidFill>
                  <a:srgbClr val="2C3E50"/>
                </a:solidFill>
                <a:latin typeface="Arial"/>
              </a:rPr>
              <a:t> via </a:t>
            </a:r>
            <a:r>
              <a:rPr lang="pt-BR" sz="700" b="1" err="1">
                <a:solidFill>
                  <a:srgbClr val="2C3E50"/>
                </a:solidFill>
                <a:latin typeface="Arial"/>
              </a:rPr>
              <a:t>Jira</a:t>
            </a:r>
            <a:r>
              <a:rPr lang="pt-BR" sz="700" b="1">
                <a:solidFill>
                  <a:srgbClr val="2C3E50"/>
                </a:solidFill>
                <a:latin typeface="Arial"/>
              </a:rPr>
              <a:t> </a:t>
            </a:r>
            <a:r>
              <a:rPr lang="pt-BR" sz="700" b="1" err="1">
                <a:solidFill>
                  <a:srgbClr val="2C3E50"/>
                </a:solidFill>
                <a:latin typeface="Arial"/>
              </a:rPr>
              <a:t>Request</a:t>
            </a:r>
            <a:r>
              <a:rPr lang="pt-BR" sz="700" b="1">
                <a:solidFill>
                  <a:srgbClr val="2C3E50"/>
                </a:solidFill>
                <a:latin typeface="Arial"/>
              </a:rPr>
              <a:t> </a:t>
            </a:r>
            <a:r>
              <a:rPr lang="pt-BR" sz="700" err="1">
                <a:solidFill>
                  <a:srgbClr val="2C3E50"/>
                </a:solidFill>
                <a:latin typeface="Arial"/>
              </a:rPr>
              <a:t>and</a:t>
            </a:r>
            <a:r>
              <a:rPr lang="pt-BR" sz="700">
                <a:solidFill>
                  <a:srgbClr val="2C3E50"/>
                </a:solidFill>
                <a:latin typeface="Arial"/>
              </a:rPr>
              <a:t> it </a:t>
            </a:r>
            <a:r>
              <a:rPr lang="pt-BR" sz="700" b="1">
                <a:solidFill>
                  <a:srgbClr val="2C3E50"/>
                </a:solidFill>
                <a:latin typeface="Arial"/>
              </a:rPr>
              <a:t>auto </a:t>
            </a:r>
            <a:r>
              <a:rPr lang="pt-BR" sz="700" b="1" err="1">
                <a:solidFill>
                  <a:srgbClr val="2C3E50"/>
                </a:solidFill>
                <a:latin typeface="Arial"/>
              </a:rPr>
              <a:t>redirects</a:t>
            </a:r>
            <a:r>
              <a:rPr lang="pt-BR" sz="700" b="1">
                <a:solidFill>
                  <a:srgbClr val="2C3E50"/>
                </a:solidFill>
                <a:latin typeface="Arial"/>
              </a:rPr>
              <a:t> </a:t>
            </a:r>
            <a:r>
              <a:rPr lang="pt-BR" sz="700" err="1">
                <a:solidFill>
                  <a:srgbClr val="2C3E50"/>
                </a:solidFill>
                <a:latin typeface="Arial"/>
              </a:rPr>
              <a:t>to</a:t>
            </a:r>
            <a:r>
              <a:rPr lang="pt-BR" sz="700">
                <a:solidFill>
                  <a:srgbClr val="2C3E50"/>
                </a:solidFill>
                <a:latin typeface="Arial"/>
              </a:rPr>
              <a:t> </a:t>
            </a:r>
            <a:r>
              <a:rPr lang="pt-BR" sz="700" err="1">
                <a:solidFill>
                  <a:srgbClr val="2C3E50"/>
                </a:solidFill>
                <a:latin typeface="Arial"/>
              </a:rPr>
              <a:t>Customer</a:t>
            </a:r>
            <a:r>
              <a:rPr lang="pt-BR" sz="700">
                <a:solidFill>
                  <a:srgbClr val="2C3E50"/>
                </a:solidFill>
                <a:latin typeface="Arial"/>
              </a:rPr>
              <a:t> Services </a:t>
            </a:r>
            <a:r>
              <a:rPr lang="pt-BR" sz="700" err="1">
                <a:solidFill>
                  <a:srgbClr val="2C3E50"/>
                </a:solidFill>
                <a:latin typeface="Arial"/>
              </a:rPr>
              <a:t>or</a:t>
            </a:r>
            <a:r>
              <a:rPr lang="pt-BR" sz="700">
                <a:solidFill>
                  <a:srgbClr val="2C3E50"/>
                </a:solidFill>
                <a:latin typeface="Arial"/>
              </a:rPr>
              <a:t> IT Business </a:t>
            </a:r>
            <a:r>
              <a:rPr lang="pt-BR" sz="700" err="1">
                <a:solidFill>
                  <a:srgbClr val="2C3E50"/>
                </a:solidFill>
                <a:latin typeface="Arial"/>
              </a:rPr>
              <a:t>Applications</a:t>
            </a:r>
            <a:r>
              <a:rPr lang="pt-BR" sz="700">
                <a:solidFill>
                  <a:srgbClr val="2C3E50"/>
                </a:solidFill>
                <a:latin typeface="Arial"/>
              </a:rPr>
              <a:t> Portfolio </a:t>
            </a:r>
            <a:r>
              <a:rPr lang="pt-BR" sz="700" err="1">
                <a:solidFill>
                  <a:srgbClr val="2C3E50"/>
                </a:solidFill>
                <a:latin typeface="Arial"/>
              </a:rPr>
              <a:t>Kanban</a:t>
            </a:r>
            <a:r>
              <a:rPr lang="pt-BR" sz="700">
                <a:solidFill>
                  <a:srgbClr val="2C3E50"/>
                </a:solidFill>
                <a:latin typeface="Arial"/>
              </a:rPr>
              <a:t> Board </a:t>
            </a:r>
            <a:r>
              <a:rPr lang="pt-BR" sz="700" err="1">
                <a:solidFill>
                  <a:srgbClr val="2C3E50"/>
                </a:solidFill>
                <a:latin typeface="Arial"/>
              </a:rPr>
              <a:t>or</a:t>
            </a:r>
            <a:r>
              <a:rPr lang="pt-BR" sz="700">
                <a:solidFill>
                  <a:srgbClr val="2C3E50"/>
                </a:solidFill>
                <a:latin typeface="Arial"/>
              </a:rPr>
              <a:t> Direct </a:t>
            </a:r>
            <a:r>
              <a:rPr lang="pt-BR" sz="700" err="1">
                <a:solidFill>
                  <a:srgbClr val="2C3E50"/>
                </a:solidFill>
                <a:latin typeface="Arial"/>
              </a:rPr>
              <a:t>teams</a:t>
            </a:r>
            <a:r>
              <a:rPr lang="pt-BR" sz="700">
                <a:solidFill>
                  <a:srgbClr val="2C3E50"/>
                </a:solidFill>
                <a:latin typeface="Arial"/>
              </a:rPr>
              <a:t> Boards</a:t>
            </a:r>
          </a:p>
        </p:txBody>
      </p:sp>
      <p:grpSp>
        <p:nvGrpSpPr>
          <p:cNvPr id="479" name="Group 510">
            <a:extLst>
              <a:ext uri="{FF2B5EF4-FFF2-40B4-BE49-F238E27FC236}">
                <a16:creationId xmlns:a16="http://schemas.microsoft.com/office/drawing/2014/main" id="{FB0C1CAF-D3F2-3EAD-3C55-D74C387007BC}"/>
              </a:ext>
            </a:extLst>
          </p:cNvPr>
          <p:cNvGrpSpPr/>
          <p:nvPr/>
        </p:nvGrpSpPr>
        <p:grpSpPr>
          <a:xfrm>
            <a:off x="6771434" y="2371325"/>
            <a:ext cx="1869898" cy="494113"/>
            <a:chOff x="9050566" y="3065430"/>
            <a:chExt cx="2004153" cy="429761"/>
          </a:xfrm>
          <a:solidFill>
            <a:schemeClr val="bg1">
              <a:lumMod val="95000"/>
            </a:schemeClr>
          </a:solidFill>
        </p:grpSpPr>
        <p:sp>
          <p:nvSpPr>
            <p:cNvPr id="480" name="Rounded Rectangle 463">
              <a:extLst>
                <a:ext uri="{FF2B5EF4-FFF2-40B4-BE49-F238E27FC236}">
                  <a16:creationId xmlns:a16="http://schemas.microsoft.com/office/drawing/2014/main" id="{110817F9-8DDB-61D0-6513-4A78FDB6CDA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481" name="Straight Connector 470">
              <a:extLst>
                <a:ext uri="{FF2B5EF4-FFF2-40B4-BE49-F238E27FC236}">
                  <a16:creationId xmlns:a16="http://schemas.microsoft.com/office/drawing/2014/main" id="{32CBECC5-860B-03C4-FE66-B483ED23DB36}"/>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2" name="Straight Connector 499">
              <a:extLst>
                <a:ext uri="{FF2B5EF4-FFF2-40B4-BE49-F238E27FC236}">
                  <a16:creationId xmlns:a16="http://schemas.microsoft.com/office/drawing/2014/main" id="{57ED698D-9256-61DF-49E3-5EA67E1A7A67}"/>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3" name="Straight Connector 503">
              <a:extLst>
                <a:ext uri="{FF2B5EF4-FFF2-40B4-BE49-F238E27FC236}">
                  <a16:creationId xmlns:a16="http://schemas.microsoft.com/office/drawing/2014/main" id="{66F376CD-C6C0-C7A3-D4B4-EE797C1EEBAC}"/>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4" name="Straight Connector 504">
              <a:extLst>
                <a:ext uri="{FF2B5EF4-FFF2-40B4-BE49-F238E27FC236}">
                  <a16:creationId xmlns:a16="http://schemas.microsoft.com/office/drawing/2014/main" id="{351B44EA-A1D5-7DF1-F8D4-72800F56A660}"/>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5" name="Straight Connector 505">
              <a:extLst>
                <a:ext uri="{FF2B5EF4-FFF2-40B4-BE49-F238E27FC236}">
                  <a16:creationId xmlns:a16="http://schemas.microsoft.com/office/drawing/2014/main" id="{CEED24CC-493D-1D5A-4AAC-A6F9DF7DE3BE}"/>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6" name="Straight Connector 506">
              <a:extLst>
                <a:ext uri="{FF2B5EF4-FFF2-40B4-BE49-F238E27FC236}">
                  <a16:creationId xmlns:a16="http://schemas.microsoft.com/office/drawing/2014/main" id="{07B501B3-76C8-F39B-D78C-9240E6167AD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7" name="Straight Connector 507">
              <a:extLst>
                <a:ext uri="{FF2B5EF4-FFF2-40B4-BE49-F238E27FC236}">
                  <a16:creationId xmlns:a16="http://schemas.microsoft.com/office/drawing/2014/main" id="{B112FB71-258A-BAD7-3F7D-E840796865E4}"/>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Straight Connector 508">
              <a:extLst>
                <a:ext uri="{FF2B5EF4-FFF2-40B4-BE49-F238E27FC236}">
                  <a16:creationId xmlns:a16="http://schemas.microsoft.com/office/drawing/2014/main" id="{224579C5-89AE-1C7C-9ED1-01C8EF09CD8B}"/>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9" name="Straight Connector 509">
              <a:extLst>
                <a:ext uri="{FF2B5EF4-FFF2-40B4-BE49-F238E27FC236}">
                  <a16:creationId xmlns:a16="http://schemas.microsoft.com/office/drawing/2014/main" id="{23F622DF-1DB4-BA0A-89DB-2BD2A9B2654F}"/>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0" name="TextBox 65">
            <a:extLst>
              <a:ext uri="{FF2B5EF4-FFF2-40B4-BE49-F238E27FC236}">
                <a16:creationId xmlns:a16="http://schemas.microsoft.com/office/drawing/2014/main" id="{BE34D802-E587-A472-14D9-CC821C8D8D29}"/>
              </a:ext>
            </a:extLst>
          </p:cNvPr>
          <p:cNvSpPr txBox="1"/>
          <p:nvPr/>
        </p:nvSpPr>
        <p:spPr>
          <a:xfrm>
            <a:off x="6960886" y="2353614"/>
            <a:ext cx="1574508" cy="137128"/>
          </a:xfrm>
          <a:prstGeom prst="rect">
            <a:avLst/>
          </a:prstGeom>
          <a:noFill/>
        </p:spPr>
        <p:txBody>
          <a:bodyPr wrap="square" rtlCol="0">
            <a:spAutoFit/>
          </a:bodyPr>
          <a:lstStyle/>
          <a:p>
            <a:pPr algn="ctr"/>
            <a:r>
              <a:rPr lang="en-US" sz="300" b="1" noProof="0">
                <a:solidFill>
                  <a:schemeClr val="accent1">
                    <a:lumMod val="50000"/>
                  </a:schemeClr>
                </a:solidFill>
                <a:latin typeface="Montserrat" pitchFamily="2" charset="77"/>
                <a:cs typeface="Calibri" panose="020F0502020204030204" pitchFamily="34" charset="0"/>
              </a:rPr>
              <a:t>DIGITAL PRODUCTS PORTFOLIO KANBAN BOARD</a:t>
            </a:r>
            <a:endParaRPr lang="en-US" sz="300" noProof="0">
              <a:solidFill>
                <a:schemeClr val="accent1">
                  <a:lumMod val="50000"/>
                </a:schemeClr>
              </a:solidFill>
              <a:latin typeface="Montserrat" pitchFamily="2" charset="77"/>
              <a:cs typeface="Calibri" panose="020F0502020204030204" pitchFamily="34" charset="0"/>
            </a:endParaRPr>
          </a:p>
        </p:txBody>
      </p:sp>
      <p:sp>
        <p:nvSpPr>
          <p:cNvPr id="491" name="TextBox 13">
            <a:extLst>
              <a:ext uri="{FF2B5EF4-FFF2-40B4-BE49-F238E27FC236}">
                <a16:creationId xmlns:a16="http://schemas.microsoft.com/office/drawing/2014/main" id="{3491F67F-FF5D-9C6B-BEF6-5A623863B2FC}"/>
              </a:ext>
            </a:extLst>
          </p:cNvPr>
          <p:cNvSpPr txBox="1"/>
          <p:nvPr/>
        </p:nvSpPr>
        <p:spPr>
          <a:xfrm>
            <a:off x="8826079" y="2152146"/>
            <a:ext cx="1999741" cy="558807"/>
          </a:xfrm>
          <a:prstGeom prst="rect">
            <a:avLst/>
          </a:prstGeom>
          <a:noFill/>
        </p:spPr>
        <p:txBody>
          <a:bodyPr wrap="square" lIns="45720" tIns="36576" rIns="45720" bIns="36576">
            <a:spAutoFit/>
          </a:bodyPr>
          <a:lstStyle/>
          <a:p>
            <a:pPr>
              <a:lnSpc>
                <a:spcPct val="135000"/>
              </a:lnSpc>
            </a:pPr>
            <a:r>
              <a:rPr lang="pt-BR" sz="600" b="1">
                <a:solidFill>
                  <a:srgbClr val="2C3E50"/>
                </a:solidFill>
                <a:latin typeface="Arial"/>
              </a:rPr>
              <a:t>Digital </a:t>
            </a:r>
            <a:r>
              <a:rPr lang="pt-BR" sz="600" b="1" err="1">
                <a:solidFill>
                  <a:srgbClr val="2C3E50"/>
                </a:solidFill>
                <a:latin typeface="Arial"/>
              </a:rPr>
              <a:t>Products</a:t>
            </a:r>
            <a:r>
              <a:rPr lang="pt-BR" sz="600" b="1">
                <a:solidFill>
                  <a:srgbClr val="2C3E50"/>
                </a:solidFill>
                <a:latin typeface="Arial"/>
              </a:rPr>
              <a:t> Portfolio </a:t>
            </a:r>
            <a:r>
              <a:rPr lang="pt-BR" sz="600" b="1" err="1">
                <a:solidFill>
                  <a:srgbClr val="2C3E50"/>
                </a:solidFill>
                <a:latin typeface="Arial"/>
              </a:rPr>
              <a:t>Kanban</a:t>
            </a:r>
            <a:r>
              <a:rPr lang="pt-BR" sz="600" b="1">
                <a:solidFill>
                  <a:srgbClr val="2C3E50"/>
                </a:solidFill>
                <a:latin typeface="Arial"/>
              </a:rPr>
              <a:t> </a:t>
            </a:r>
            <a:r>
              <a:rPr lang="pt-BR" sz="600">
                <a:solidFill>
                  <a:srgbClr val="2C3E50"/>
                </a:solidFill>
                <a:latin typeface="Arial"/>
              </a:rPr>
              <a:t>Board </a:t>
            </a:r>
            <a:r>
              <a:rPr lang="pt-BR" sz="600" err="1">
                <a:solidFill>
                  <a:srgbClr val="2C3E50"/>
                </a:solidFill>
                <a:latin typeface="Arial"/>
              </a:rPr>
              <a:t>contains</a:t>
            </a:r>
            <a:r>
              <a:rPr lang="pt-BR" sz="600">
                <a:solidFill>
                  <a:srgbClr val="2C3E50"/>
                </a:solidFill>
                <a:latin typeface="Arial"/>
              </a:rPr>
              <a:t> </a:t>
            </a:r>
            <a:r>
              <a:rPr lang="pt-BR" sz="600" err="1">
                <a:solidFill>
                  <a:srgbClr val="2C3E50"/>
                </a:solidFill>
                <a:latin typeface="Arial"/>
              </a:rPr>
              <a:t>the</a:t>
            </a:r>
            <a:r>
              <a:rPr lang="pt-BR" sz="600">
                <a:solidFill>
                  <a:srgbClr val="2C3E50"/>
                </a:solidFill>
                <a:latin typeface="Arial"/>
              </a:rPr>
              <a:t> </a:t>
            </a:r>
            <a:r>
              <a:rPr lang="pt-BR" sz="600" err="1">
                <a:solidFill>
                  <a:srgbClr val="2C3E50"/>
                </a:solidFill>
                <a:latin typeface="Arial"/>
              </a:rPr>
              <a:t>consolidation</a:t>
            </a:r>
            <a:r>
              <a:rPr lang="pt-BR" sz="600">
                <a:solidFill>
                  <a:srgbClr val="2C3E50"/>
                </a:solidFill>
                <a:latin typeface="Arial"/>
              </a:rPr>
              <a:t> </a:t>
            </a:r>
            <a:r>
              <a:rPr lang="pt-BR" sz="600" err="1">
                <a:solidFill>
                  <a:srgbClr val="2C3E50"/>
                </a:solidFill>
                <a:latin typeface="Arial"/>
              </a:rPr>
              <a:t>of</a:t>
            </a:r>
            <a:r>
              <a:rPr lang="pt-BR" sz="600">
                <a:solidFill>
                  <a:srgbClr val="2C3E50"/>
                </a:solidFill>
                <a:latin typeface="Arial"/>
              </a:rPr>
              <a:t> </a:t>
            </a:r>
            <a:r>
              <a:rPr lang="pt-BR" sz="600" err="1">
                <a:solidFill>
                  <a:srgbClr val="2C3E50"/>
                </a:solidFill>
                <a:latin typeface="Arial"/>
              </a:rPr>
              <a:t>requests</a:t>
            </a:r>
            <a:r>
              <a:rPr lang="pt-BR" sz="600">
                <a:solidFill>
                  <a:srgbClr val="2C3E50"/>
                </a:solidFill>
                <a:latin typeface="Arial"/>
              </a:rPr>
              <a:t> </a:t>
            </a:r>
            <a:r>
              <a:rPr lang="pt-BR" sz="600" err="1">
                <a:solidFill>
                  <a:srgbClr val="2C3E50"/>
                </a:solidFill>
                <a:latin typeface="Arial"/>
              </a:rPr>
              <a:t>from</a:t>
            </a:r>
            <a:r>
              <a:rPr lang="pt-BR" sz="600">
                <a:solidFill>
                  <a:srgbClr val="2C3E50"/>
                </a:solidFill>
                <a:latin typeface="Arial"/>
              </a:rPr>
              <a:t> </a:t>
            </a:r>
            <a:r>
              <a:rPr lang="pt-BR" sz="600" b="1" err="1">
                <a:solidFill>
                  <a:srgbClr val="2C3E50"/>
                </a:solidFill>
                <a:latin typeface="Arial"/>
              </a:rPr>
              <a:t>Customer</a:t>
            </a:r>
            <a:r>
              <a:rPr lang="pt-BR" sz="600" b="1">
                <a:solidFill>
                  <a:srgbClr val="2C3E50"/>
                </a:solidFill>
                <a:latin typeface="Arial"/>
              </a:rPr>
              <a:t> Services Portfolio </a:t>
            </a:r>
            <a:r>
              <a:rPr lang="pt-BR" sz="600" b="1" err="1">
                <a:solidFill>
                  <a:srgbClr val="2C3E50"/>
                </a:solidFill>
                <a:latin typeface="Arial"/>
              </a:rPr>
              <a:t>Kanban</a:t>
            </a:r>
            <a:r>
              <a:rPr lang="pt-BR" sz="600">
                <a:solidFill>
                  <a:srgbClr val="2C3E50"/>
                </a:solidFill>
                <a:latin typeface="Arial"/>
              </a:rPr>
              <a:t> </a:t>
            </a:r>
            <a:r>
              <a:rPr lang="pt-BR" sz="600" err="1">
                <a:solidFill>
                  <a:srgbClr val="2C3E50"/>
                </a:solidFill>
                <a:latin typeface="Arial"/>
              </a:rPr>
              <a:t>and</a:t>
            </a:r>
            <a:r>
              <a:rPr lang="pt-BR" sz="600">
                <a:solidFill>
                  <a:srgbClr val="2C3E50"/>
                </a:solidFill>
                <a:latin typeface="Arial"/>
              </a:rPr>
              <a:t> </a:t>
            </a:r>
            <a:r>
              <a:rPr lang="pt-BR" sz="600" b="1">
                <a:solidFill>
                  <a:srgbClr val="2C3E50"/>
                </a:solidFill>
                <a:latin typeface="Arial"/>
              </a:rPr>
              <a:t>IT Business </a:t>
            </a:r>
            <a:r>
              <a:rPr lang="pt-BR" sz="600" b="1" err="1">
                <a:solidFill>
                  <a:srgbClr val="2C3E50"/>
                </a:solidFill>
                <a:latin typeface="Arial"/>
              </a:rPr>
              <a:t>Applications</a:t>
            </a:r>
            <a:r>
              <a:rPr lang="pt-BR" sz="600" b="1">
                <a:solidFill>
                  <a:srgbClr val="2C3E50"/>
                </a:solidFill>
                <a:latin typeface="Arial"/>
              </a:rPr>
              <a:t> Portfolio </a:t>
            </a:r>
            <a:r>
              <a:rPr lang="pt-BR" sz="600" b="1" err="1">
                <a:solidFill>
                  <a:srgbClr val="2C3E50"/>
                </a:solidFill>
                <a:latin typeface="Arial"/>
              </a:rPr>
              <a:t>Kanban</a:t>
            </a:r>
            <a:endParaRPr lang="pt-BR" sz="600" b="1">
              <a:solidFill>
                <a:srgbClr val="2C3E50"/>
              </a:solidFill>
              <a:latin typeface="Arial"/>
            </a:endParaRPr>
          </a:p>
        </p:txBody>
      </p:sp>
      <p:pic>
        <p:nvPicPr>
          <p:cNvPr id="492" name="Imagem 53">
            <a:extLst>
              <a:ext uri="{FF2B5EF4-FFF2-40B4-BE49-F238E27FC236}">
                <a16:creationId xmlns:a16="http://schemas.microsoft.com/office/drawing/2014/main" id="{16F62D7D-F2A2-BAB1-BEF5-01AC7541F79B}"/>
              </a:ext>
            </a:extLst>
          </p:cNvPr>
          <p:cNvPicPr>
            <a:picLocks noChangeAspect="1"/>
          </p:cNvPicPr>
          <p:nvPr/>
        </p:nvPicPr>
        <p:blipFill>
          <a:blip r:embed="rId11"/>
          <a:stretch>
            <a:fillRect/>
          </a:stretch>
        </p:blipFill>
        <p:spPr>
          <a:xfrm>
            <a:off x="4309548" y="4750776"/>
            <a:ext cx="847473" cy="782970"/>
          </a:xfrm>
          <a:prstGeom prst="rect">
            <a:avLst/>
          </a:prstGeom>
        </p:spPr>
      </p:pic>
      <p:pic>
        <p:nvPicPr>
          <p:cNvPr id="493" name="Imagem 56">
            <a:extLst>
              <a:ext uri="{FF2B5EF4-FFF2-40B4-BE49-F238E27FC236}">
                <a16:creationId xmlns:a16="http://schemas.microsoft.com/office/drawing/2014/main" id="{E20410DC-E37D-E564-F2AC-5C858DC6593E}"/>
              </a:ext>
            </a:extLst>
          </p:cNvPr>
          <p:cNvPicPr>
            <a:picLocks noChangeAspect="1"/>
          </p:cNvPicPr>
          <p:nvPr/>
        </p:nvPicPr>
        <p:blipFill>
          <a:blip r:embed="rId12"/>
          <a:stretch>
            <a:fillRect/>
          </a:stretch>
        </p:blipFill>
        <p:spPr>
          <a:xfrm>
            <a:off x="6693933" y="3298138"/>
            <a:ext cx="2227329" cy="732881"/>
          </a:xfrm>
          <a:prstGeom prst="rect">
            <a:avLst/>
          </a:prstGeom>
        </p:spPr>
      </p:pic>
      <p:pic>
        <p:nvPicPr>
          <p:cNvPr id="494" name="Imagem 265">
            <a:extLst>
              <a:ext uri="{FF2B5EF4-FFF2-40B4-BE49-F238E27FC236}">
                <a16:creationId xmlns:a16="http://schemas.microsoft.com/office/drawing/2014/main" id="{8E79B0F3-8078-D674-932B-63F137D59F66}"/>
              </a:ext>
            </a:extLst>
          </p:cNvPr>
          <p:cNvPicPr>
            <a:picLocks noChangeAspect="1"/>
          </p:cNvPicPr>
          <p:nvPr/>
        </p:nvPicPr>
        <p:blipFill>
          <a:blip r:embed="rId12"/>
          <a:stretch>
            <a:fillRect/>
          </a:stretch>
        </p:blipFill>
        <p:spPr>
          <a:xfrm>
            <a:off x="6762768" y="4543682"/>
            <a:ext cx="2188787" cy="720200"/>
          </a:xfrm>
          <a:prstGeom prst="rect">
            <a:avLst/>
          </a:prstGeom>
        </p:spPr>
      </p:pic>
      <p:sp>
        <p:nvSpPr>
          <p:cNvPr id="501" name="TextBox 65">
            <a:extLst>
              <a:ext uri="{FF2B5EF4-FFF2-40B4-BE49-F238E27FC236}">
                <a16:creationId xmlns:a16="http://schemas.microsoft.com/office/drawing/2014/main" id="{1C1C910C-D5F6-33EE-5BA3-1D13F4B30A20}"/>
              </a:ext>
            </a:extLst>
          </p:cNvPr>
          <p:cNvSpPr txBox="1"/>
          <p:nvPr/>
        </p:nvSpPr>
        <p:spPr>
          <a:xfrm>
            <a:off x="6795167" y="3180570"/>
            <a:ext cx="2126094" cy="169277"/>
          </a:xfrm>
          <a:prstGeom prst="rect">
            <a:avLst/>
          </a:prstGeom>
          <a:noFill/>
        </p:spPr>
        <p:txBody>
          <a:bodyPr wrap="square" rtlCol="0">
            <a:spAutoFit/>
          </a:bodyPr>
          <a:lstStyle/>
          <a:p>
            <a:pPr algn="ctr"/>
            <a:r>
              <a:rPr lang="en-US" sz="500" b="1">
                <a:solidFill>
                  <a:srgbClr val="173458"/>
                </a:solidFill>
                <a:latin typeface="Montserrat" pitchFamily="2" charset="77"/>
                <a:cs typeface="Calibri" panose="020F0502020204030204" pitchFamily="34" charset="0"/>
              </a:rPr>
              <a:t>CUSTOMER SERVICES PORTFOLIO KANBAN BOARD</a:t>
            </a:r>
          </a:p>
        </p:txBody>
      </p:sp>
      <p:sp>
        <p:nvSpPr>
          <p:cNvPr id="502" name="TextBox 65">
            <a:extLst>
              <a:ext uri="{FF2B5EF4-FFF2-40B4-BE49-F238E27FC236}">
                <a16:creationId xmlns:a16="http://schemas.microsoft.com/office/drawing/2014/main" id="{776B584C-E70E-D6CD-2E3C-7F1DCF43C3EA}"/>
              </a:ext>
            </a:extLst>
          </p:cNvPr>
          <p:cNvSpPr txBox="1"/>
          <p:nvPr/>
        </p:nvSpPr>
        <p:spPr>
          <a:xfrm>
            <a:off x="6833443" y="4396376"/>
            <a:ext cx="2323701" cy="169277"/>
          </a:xfrm>
          <a:prstGeom prst="rect">
            <a:avLst/>
          </a:prstGeom>
          <a:noFill/>
        </p:spPr>
        <p:txBody>
          <a:bodyPr wrap="square" rtlCol="0">
            <a:spAutoFit/>
          </a:bodyPr>
          <a:lstStyle/>
          <a:p>
            <a:pPr algn="ctr"/>
            <a:r>
              <a:rPr lang="en-US" sz="500" b="1">
                <a:solidFill>
                  <a:srgbClr val="808080"/>
                </a:solidFill>
                <a:latin typeface="Montserrat" pitchFamily="2" charset="77"/>
                <a:cs typeface="Calibri" panose="020F0502020204030204" pitchFamily="34" charset="0"/>
              </a:rPr>
              <a:t>IT BUSINESS APPLICATIONS </a:t>
            </a:r>
            <a:r>
              <a:rPr lang="en-US" sz="500" b="1" noProof="0">
                <a:solidFill>
                  <a:srgbClr val="808080"/>
                </a:solidFill>
                <a:latin typeface="Montserrat" pitchFamily="2" charset="77"/>
                <a:cs typeface="Calibri" panose="020F0502020204030204" pitchFamily="34" charset="0"/>
              </a:rPr>
              <a:t>PORTFOLIO KANBAN BOARD</a:t>
            </a:r>
            <a:endParaRPr lang="en-US" sz="500" noProof="0">
              <a:solidFill>
                <a:srgbClr val="808080"/>
              </a:solidFill>
              <a:latin typeface="Montserrat" pitchFamily="2" charset="77"/>
              <a:cs typeface="Calibri" panose="020F0502020204030204" pitchFamily="34" charset="0"/>
            </a:endParaRPr>
          </a:p>
        </p:txBody>
      </p:sp>
      <p:grpSp>
        <p:nvGrpSpPr>
          <p:cNvPr id="503" name="Group 510">
            <a:extLst>
              <a:ext uri="{FF2B5EF4-FFF2-40B4-BE49-F238E27FC236}">
                <a16:creationId xmlns:a16="http://schemas.microsoft.com/office/drawing/2014/main" id="{4D002578-1488-FEAC-9A5D-F031D634C989}"/>
              </a:ext>
            </a:extLst>
          </p:cNvPr>
          <p:cNvGrpSpPr/>
          <p:nvPr/>
        </p:nvGrpSpPr>
        <p:grpSpPr>
          <a:xfrm>
            <a:off x="9784700" y="2904004"/>
            <a:ext cx="1314261" cy="173414"/>
            <a:chOff x="9050566" y="3065430"/>
            <a:chExt cx="2004153" cy="429761"/>
          </a:xfrm>
          <a:solidFill>
            <a:schemeClr val="bg1">
              <a:lumMod val="95000"/>
            </a:schemeClr>
          </a:solidFill>
        </p:grpSpPr>
        <p:sp>
          <p:nvSpPr>
            <p:cNvPr id="504" name="Rounded Rectangle 463">
              <a:extLst>
                <a:ext uri="{FF2B5EF4-FFF2-40B4-BE49-F238E27FC236}">
                  <a16:creationId xmlns:a16="http://schemas.microsoft.com/office/drawing/2014/main" id="{E25D3990-1707-81C2-F7BA-31C80F01A6BF}"/>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08" name="Straight Connector 470">
              <a:extLst>
                <a:ext uri="{FF2B5EF4-FFF2-40B4-BE49-F238E27FC236}">
                  <a16:creationId xmlns:a16="http://schemas.microsoft.com/office/drawing/2014/main" id="{287DFC77-BF96-8DA0-AA2C-9508EE275BFD}"/>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9" name="Straight Connector 499">
              <a:extLst>
                <a:ext uri="{FF2B5EF4-FFF2-40B4-BE49-F238E27FC236}">
                  <a16:creationId xmlns:a16="http://schemas.microsoft.com/office/drawing/2014/main" id="{C5E8F6D9-6C51-AECE-BACC-6031B7F584B8}"/>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0" name="Straight Connector 503">
              <a:extLst>
                <a:ext uri="{FF2B5EF4-FFF2-40B4-BE49-F238E27FC236}">
                  <a16:creationId xmlns:a16="http://schemas.microsoft.com/office/drawing/2014/main" id="{35D48C54-F44C-4196-FBC8-0A8F2F04961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1" name="Straight Connector 504">
              <a:extLst>
                <a:ext uri="{FF2B5EF4-FFF2-40B4-BE49-F238E27FC236}">
                  <a16:creationId xmlns:a16="http://schemas.microsoft.com/office/drawing/2014/main" id="{316D1E04-ABED-53DB-60A0-1234575101AC}"/>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2" name="Straight Connector 505">
              <a:extLst>
                <a:ext uri="{FF2B5EF4-FFF2-40B4-BE49-F238E27FC236}">
                  <a16:creationId xmlns:a16="http://schemas.microsoft.com/office/drawing/2014/main" id="{AE158F90-5E14-F2E2-0F8B-015740FF74EF}"/>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 name="Straight Connector 506">
              <a:extLst>
                <a:ext uri="{FF2B5EF4-FFF2-40B4-BE49-F238E27FC236}">
                  <a16:creationId xmlns:a16="http://schemas.microsoft.com/office/drawing/2014/main" id="{F15391BA-8EB9-DFBF-5BCB-DE83D408C51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Straight Connector 507">
              <a:extLst>
                <a:ext uri="{FF2B5EF4-FFF2-40B4-BE49-F238E27FC236}">
                  <a16:creationId xmlns:a16="http://schemas.microsoft.com/office/drawing/2014/main" id="{60FD32F6-BB4B-194F-B2BC-65D42D79D2EE}"/>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Straight Connector 508">
              <a:extLst>
                <a:ext uri="{FF2B5EF4-FFF2-40B4-BE49-F238E27FC236}">
                  <a16:creationId xmlns:a16="http://schemas.microsoft.com/office/drawing/2014/main" id="{B97C5E22-7580-4CF9-A8E9-BE1A55A3967B}"/>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Straight Connector 509">
              <a:extLst>
                <a:ext uri="{FF2B5EF4-FFF2-40B4-BE49-F238E27FC236}">
                  <a16:creationId xmlns:a16="http://schemas.microsoft.com/office/drawing/2014/main" id="{CEEFB910-5E48-3FD2-D8F5-5E5E80F41C33}"/>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2" name="Group 510">
            <a:extLst>
              <a:ext uri="{FF2B5EF4-FFF2-40B4-BE49-F238E27FC236}">
                <a16:creationId xmlns:a16="http://schemas.microsoft.com/office/drawing/2014/main" id="{BB937AD9-4AA5-C687-23B7-B2698F42BC2F}"/>
              </a:ext>
            </a:extLst>
          </p:cNvPr>
          <p:cNvGrpSpPr/>
          <p:nvPr/>
        </p:nvGrpSpPr>
        <p:grpSpPr>
          <a:xfrm>
            <a:off x="9805547" y="3270015"/>
            <a:ext cx="1314261" cy="173414"/>
            <a:chOff x="9050566" y="3065430"/>
            <a:chExt cx="2004153" cy="429761"/>
          </a:xfrm>
          <a:solidFill>
            <a:schemeClr val="bg1">
              <a:lumMod val="95000"/>
            </a:schemeClr>
          </a:solidFill>
        </p:grpSpPr>
        <p:sp>
          <p:nvSpPr>
            <p:cNvPr id="573" name="Rounded Rectangle 463">
              <a:extLst>
                <a:ext uri="{FF2B5EF4-FFF2-40B4-BE49-F238E27FC236}">
                  <a16:creationId xmlns:a16="http://schemas.microsoft.com/office/drawing/2014/main" id="{10B2B009-3AB5-D1E4-8C9B-52820BD49E22}"/>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74" name="Straight Connector 470">
              <a:extLst>
                <a:ext uri="{FF2B5EF4-FFF2-40B4-BE49-F238E27FC236}">
                  <a16:creationId xmlns:a16="http://schemas.microsoft.com/office/drawing/2014/main" id="{D7D1C523-5D01-8003-25C2-8193D428F39E}"/>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Straight Connector 499">
              <a:extLst>
                <a:ext uri="{FF2B5EF4-FFF2-40B4-BE49-F238E27FC236}">
                  <a16:creationId xmlns:a16="http://schemas.microsoft.com/office/drawing/2014/main" id="{1BB627A5-A44D-84B1-09C1-B2B1486D3E71}"/>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Straight Connector 503">
              <a:extLst>
                <a:ext uri="{FF2B5EF4-FFF2-40B4-BE49-F238E27FC236}">
                  <a16:creationId xmlns:a16="http://schemas.microsoft.com/office/drawing/2014/main" id="{EB032901-FA5E-E4A7-B425-B63947AD2805}"/>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Straight Connector 504">
              <a:extLst>
                <a:ext uri="{FF2B5EF4-FFF2-40B4-BE49-F238E27FC236}">
                  <a16:creationId xmlns:a16="http://schemas.microsoft.com/office/drawing/2014/main" id="{AFC63F6C-F6AE-534B-243C-6600222947F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Straight Connector 505">
              <a:extLst>
                <a:ext uri="{FF2B5EF4-FFF2-40B4-BE49-F238E27FC236}">
                  <a16:creationId xmlns:a16="http://schemas.microsoft.com/office/drawing/2014/main" id="{7E4224B5-7371-9703-D1EC-F34B53BAC7BE}"/>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Straight Connector 506">
              <a:extLst>
                <a:ext uri="{FF2B5EF4-FFF2-40B4-BE49-F238E27FC236}">
                  <a16:creationId xmlns:a16="http://schemas.microsoft.com/office/drawing/2014/main" id="{83CF452D-565E-00C4-2F78-2976C0A02AD4}"/>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Straight Connector 507">
              <a:extLst>
                <a:ext uri="{FF2B5EF4-FFF2-40B4-BE49-F238E27FC236}">
                  <a16:creationId xmlns:a16="http://schemas.microsoft.com/office/drawing/2014/main" id="{B2E040BF-C849-290C-2A59-EEC4358F1216}"/>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08">
              <a:extLst>
                <a:ext uri="{FF2B5EF4-FFF2-40B4-BE49-F238E27FC236}">
                  <a16:creationId xmlns:a16="http://schemas.microsoft.com/office/drawing/2014/main" id="{4A39A0DA-691A-E392-617C-A1A951D578CE}"/>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Straight Connector 509">
              <a:extLst>
                <a:ext uri="{FF2B5EF4-FFF2-40B4-BE49-F238E27FC236}">
                  <a16:creationId xmlns:a16="http://schemas.microsoft.com/office/drawing/2014/main" id="{D1AD93FA-8578-E2CB-34CC-F902AFF3E59C}"/>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3" name="Group 510">
            <a:extLst>
              <a:ext uri="{FF2B5EF4-FFF2-40B4-BE49-F238E27FC236}">
                <a16:creationId xmlns:a16="http://schemas.microsoft.com/office/drawing/2014/main" id="{F9D3F614-7FEC-FF02-3F4A-792F127E8FCA}"/>
              </a:ext>
            </a:extLst>
          </p:cNvPr>
          <p:cNvGrpSpPr/>
          <p:nvPr/>
        </p:nvGrpSpPr>
        <p:grpSpPr>
          <a:xfrm>
            <a:off x="9770256" y="3601537"/>
            <a:ext cx="1314261" cy="173414"/>
            <a:chOff x="9050566" y="3065430"/>
            <a:chExt cx="2004153" cy="429761"/>
          </a:xfrm>
          <a:solidFill>
            <a:schemeClr val="bg1">
              <a:lumMod val="95000"/>
            </a:schemeClr>
          </a:solidFill>
        </p:grpSpPr>
        <p:sp>
          <p:nvSpPr>
            <p:cNvPr id="584" name="Rounded Rectangle 463">
              <a:extLst>
                <a:ext uri="{FF2B5EF4-FFF2-40B4-BE49-F238E27FC236}">
                  <a16:creationId xmlns:a16="http://schemas.microsoft.com/office/drawing/2014/main" id="{D14421CF-B9FC-3620-8486-DEA246E4D738}"/>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85" name="Straight Connector 470">
              <a:extLst>
                <a:ext uri="{FF2B5EF4-FFF2-40B4-BE49-F238E27FC236}">
                  <a16:creationId xmlns:a16="http://schemas.microsoft.com/office/drawing/2014/main" id="{DD946A79-E357-821F-360F-54D98B61D0D1}"/>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Straight Connector 499">
              <a:extLst>
                <a:ext uri="{FF2B5EF4-FFF2-40B4-BE49-F238E27FC236}">
                  <a16:creationId xmlns:a16="http://schemas.microsoft.com/office/drawing/2014/main" id="{F0F49232-1ACA-915C-C7BC-21EEC81F239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03">
              <a:extLst>
                <a:ext uri="{FF2B5EF4-FFF2-40B4-BE49-F238E27FC236}">
                  <a16:creationId xmlns:a16="http://schemas.microsoft.com/office/drawing/2014/main" id="{29927E25-C1B7-3E49-AE3C-36CDE1A0FEA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Straight Connector 504">
              <a:extLst>
                <a:ext uri="{FF2B5EF4-FFF2-40B4-BE49-F238E27FC236}">
                  <a16:creationId xmlns:a16="http://schemas.microsoft.com/office/drawing/2014/main" id="{2B0DD7B3-E97B-69CA-1C14-1861D547ECFC}"/>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Straight Connector 505">
              <a:extLst>
                <a:ext uri="{FF2B5EF4-FFF2-40B4-BE49-F238E27FC236}">
                  <a16:creationId xmlns:a16="http://schemas.microsoft.com/office/drawing/2014/main" id="{B9C088EE-86DC-E9BA-6595-ECB1FB6EB9E7}"/>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Straight Connector 506">
              <a:extLst>
                <a:ext uri="{FF2B5EF4-FFF2-40B4-BE49-F238E27FC236}">
                  <a16:creationId xmlns:a16="http://schemas.microsoft.com/office/drawing/2014/main" id="{31B955CB-6C3E-6E98-8286-55FB27147319}"/>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Straight Connector 507">
              <a:extLst>
                <a:ext uri="{FF2B5EF4-FFF2-40B4-BE49-F238E27FC236}">
                  <a16:creationId xmlns:a16="http://schemas.microsoft.com/office/drawing/2014/main" id="{763FF32F-46FD-19ED-2CD6-171BFA81DCB4}"/>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Straight Connector 508">
              <a:extLst>
                <a:ext uri="{FF2B5EF4-FFF2-40B4-BE49-F238E27FC236}">
                  <a16:creationId xmlns:a16="http://schemas.microsoft.com/office/drawing/2014/main" id="{593B9BB6-871A-067B-71E0-B593BCB10A78}"/>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Straight Connector 509">
              <a:extLst>
                <a:ext uri="{FF2B5EF4-FFF2-40B4-BE49-F238E27FC236}">
                  <a16:creationId xmlns:a16="http://schemas.microsoft.com/office/drawing/2014/main" id="{9679904C-7A8C-D062-8C55-DA678907F659}"/>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4" name="Group 510">
            <a:extLst>
              <a:ext uri="{FF2B5EF4-FFF2-40B4-BE49-F238E27FC236}">
                <a16:creationId xmlns:a16="http://schemas.microsoft.com/office/drawing/2014/main" id="{83727195-5967-62AA-A5B1-B8F11A8C904B}"/>
              </a:ext>
            </a:extLst>
          </p:cNvPr>
          <p:cNvGrpSpPr/>
          <p:nvPr/>
        </p:nvGrpSpPr>
        <p:grpSpPr>
          <a:xfrm>
            <a:off x="9805870" y="4571712"/>
            <a:ext cx="1314261" cy="173414"/>
            <a:chOff x="9050566" y="3065430"/>
            <a:chExt cx="2004153" cy="429761"/>
          </a:xfrm>
          <a:solidFill>
            <a:schemeClr val="bg1">
              <a:lumMod val="95000"/>
            </a:schemeClr>
          </a:solidFill>
        </p:grpSpPr>
        <p:sp>
          <p:nvSpPr>
            <p:cNvPr id="595" name="Rounded Rectangle 463">
              <a:extLst>
                <a:ext uri="{FF2B5EF4-FFF2-40B4-BE49-F238E27FC236}">
                  <a16:creationId xmlns:a16="http://schemas.microsoft.com/office/drawing/2014/main" id="{B1ABBDE3-D878-BF43-280E-C6C2C63ECA8F}"/>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96" name="Straight Connector 470">
              <a:extLst>
                <a:ext uri="{FF2B5EF4-FFF2-40B4-BE49-F238E27FC236}">
                  <a16:creationId xmlns:a16="http://schemas.microsoft.com/office/drawing/2014/main" id="{58C60997-0ABF-EA50-112B-05BAA594934C}"/>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Straight Connector 499">
              <a:extLst>
                <a:ext uri="{FF2B5EF4-FFF2-40B4-BE49-F238E27FC236}">
                  <a16:creationId xmlns:a16="http://schemas.microsoft.com/office/drawing/2014/main" id="{5245EE60-7B82-D201-CB10-178300FF787B}"/>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Straight Connector 503">
              <a:extLst>
                <a:ext uri="{FF2B5EF4-FFF2-40B4-BE49-F238E27FC236}">
                  <a16:creationId xmlns:a16="http://schemas.microsoft.com/office/drawing/2014/main" id="{72762636-0891-47F0-8C3C-BB44C61D74C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9" name="Straight Connector 504">
              <a:extLst>
                <a:ext uri="{FF2B5EF4-FFF2-40B4-BE49-F238E27FC236}">
                  <a16:creationId xmlns:a16="http://schemas.microsoft.com/office/drawing/2014/main" id="{131C6030-A2BA-1B5E-AA88-E628F41292F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Straight Connector 505">
              <a:extLst>
                <a:ext uri="{FF2B5EF4-FFF2-40B4-BE49-F238E27FC236}">
                  <a16:creationId xmlns:a16="http://schemas.microsoft.com/office/drawing/2014/main" id="{53F73092-D813-F9EB-A16B-0FE42BCACEE7}"/>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Straight Connector 506">
              <a:extLst>
                <a:ext uri="{FF2B5EF4-FFF2-40B4-BE49-F238E27FC236}">
                  <a16:creationId xmlns:a16="http://schemas.microsoft.com/office/drawing/2014/main" id="{D100AF0D-8930-F911-CA62-0CC2B96CE24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2" name="Straight Connector 507">
              <a:extLst>
                <a:ext uri="{FF2B5EF4-FFF2-40B4-BE49-F238E27FC236}">
                  <a16:creationId xmlns:a16="http://schemas.microsoft.com/office/drawing/2014/main" id="{74605D90-763E-21A7-7844-3FBADF8FCA88}"/>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3" name="Straight Connector 508">
              <a:extLst>
                <a:ext uri="{FF2B5EF4-FFF2-40B4-BE49-F238E27FC236}">
                  <a16:creationId xmlns:a16="http://schemas.microsoft.com/office/drawing/2014/main" id="{9116D519-9FCC-3185-541E-D239091235D5}"/>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Straight Connector 509">
              <a:extLst>
                <a:ext uri="{FF2B5EF4-FFF2-40B4-BE49-F238E27FC236}">
                  <a16:creationId xmlns:a16="http://schemas.microsoft.com/office/drawing/2014/main" id="{1F6F01D4-4B7E-95AB-93EC-EECF0E5E64AC}"/>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6" name="Group 510">
            <a:extLst>
              <a:ext uri="{FF2B5EF4-FFF2-40B4-BE49-F238E27FC236}">
                <a16:creationId xmlns:a16="http://schemas.microsoft.com/office/drawing/2014/main" id="{BD35875E-AF92-86EE-562B-48A69C88977D}"/>
              </a:ext>
            </a:extLst>
          </p:cNvPr>
          <p:cNvGrpSpPr/>
          <p:nvPr/>
        </p:nvGrpSpPr>
        <p:grpSpPr>
          <a:xfrm>
            <a:off x="9809148" y="4864884"/>
            <a:ext cx="1314261" cy="173414"/>
            <a:chOff x="9050566" y="3065430"/>
            <a:chExt cx="2004153" cy="429761"/>
          </a:xfrm>
          <a:solidFill>
            <a:schemeClr val="bg1">
              <a:lumMod val="95000"/>
            </a:schemeClr>
          </a:solidFill>
        </p:grpSpPr>
        <p:sp>
          <p:nvSpPr>
            <p:cNvPr id="617" name="Rounded Rectangle 463">
              <a:extLst>
                <a:ext uri="{FF2B5EF4-FFF2-40B4-BE49-F238E27FC236}">
                  <a16:creationId xmlns:a16="http://schemas.microsoft.com/office/drawing/2014/main" id="{BFF4A708-C5A4-482B-062F-342B2116A0A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619" name="Straight Connector 470">
              <a:extLst>
                <a:ext uri="{FF2B5EF4-FFF2-40B4-BE49-F238E27FC236}">
                  <a16:creationId xmlns:a16="http://schemas.microsoft.com/office/drawing/2014/main" id="{2338DBE1-2764-EA6E-E556-D9DB10C1D77D}"/>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Straight Connector 499">
              <a:extLst>
                <a:ext uri="{FF2B5EF4-FFF2-40B4-BE49-F238E27FC236}">
                  <a16:creationId xmlns:a16="http://schemas.microsoft.com/office/drawing/2014/main" id="{3C4A1FA5-12A3-1C0D-7B21-BA312D875CD8}"/>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Straight Connector 503">
              <a:extLst>
                <a:ext uri="{FF2B5EF4-FFF2-40B4-BE49-F238E27FC236}">
                  <a16:creationId xmlns:a16="http://schemas.microsoft.com/office/drawing/2014/main" id="{2DC23032-0D2C-6E86-DBE7-40D385710218}"/>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Straight Connector 504">
              <a:extLst>
                <a:ext uri="{FF2B5EF4-FFF2-40B4-BE49-F238E27FC236}">
                  <a16:creationId xmlns:a16="http://schemas.microsoft.com/office/drawing/2014/main" id="{38FEB2B2-84C6-F1B9-EC6A-59F2E8B9B4D8}"/>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Straight Connector 505">
              <a:extLst>
                <a:ext uri="{FF2B5EF4-FFF2-40B4-BE49-F238E27FC236}">
                  <a16:creationId xmlns:a16="http://schemas.microsoft.com/office/drawing/2014/main" id="{9B0A390C-767D-CEBE-126A-94E5085299E0}"/>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Straight Connector 506">
              <a:extLst>
                <a:ext uri="{FF2B5EF4-FFF2-40B4-BE49-F238E27FC236}">
                  <a16:creationId xmlns:a16="http://schemas.microsoft.com/office/drawing/2014/main" id="{EC4E8CB7-25A6-87A9-A591-2081F68C8F9A}"/>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Straight Connector 507">
              <a:extLst>
                <a:ext uri="{FF2B5EF4-FFF2-40B4-BE49-F238E27FC236}">
                  <a16:creationId xmlns:a16="http://schemas.microsoft.com/office/drawing/2014/main" id="{35C7E157-2EF1-460E-37DE-41677F186BB2}"/>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Straight Connector 508">
              <a:extLst>
                <a:ext uri="{FF2B5EF4-FFF2-40B4-BE49-F238E27FC236}">
                  <a16:creationId xmlns:a16="http://schemas.microsoft.com/office/drawing/2014/main" id="{317FE570-59D3-DE13-45CC-B7B3157E17B2}"/>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Straight Connector 509">
              <a:extLst>
                <a:ext uri="{FF2B5EF4-FFF2-40B4-BE49-F238E27FC236}">
                  <a16:creationId xmlns:a16="http://schemas.microsoft.com/office/drawing/2014/main" id="{CC0609A2-1393-70C7-CD72-C7F4E5980F19}"/>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0" name="Group 510">
            <a:extLst>
              <a:ext uri="{FF2B5EF4-FFF2-40B4-BE49-F238E27FC236}">
                <a16:creationId xmlns:a16="http://schemas.microsoft.com/office/drawing/2014/main" id="{8F6D1E31-2CCE-7888-4019-87711F053CB8}"/>
              </a:ext>
            </a:extLst>
          </p:cNvPr>
          <p:cNvGrpSpPr/>
          <p:nvPr/>
        </p:nvGrpSpPr>
        <p:grpSpPr>
          <a:xfrm>
            <a:off x="9809148" y="5198826"/>
            <a:ext cx="1314261" cy="173414"/>
            <a:chOff x="9050566" y="3065430"/>
            <a:chExt cx="2004153" cy="429761"/>
          </a:xfrm>
          <a:solidFill>
            <a:schemeClr val="bg1">
              <a:lumMod val="95000"/>
            </a:schemeClr>
          </a:solidFill>
        </p:grpSpPr>
        <p:sp>
          <p:nvSpPr>
            <p:cNvPr id="631" name="Rounded Rectangle 463">
              <a:extLst>
                <a:ext uri="{FF2B5EF4-FFF2-40B4-BE49-F238E27FC236}">
                  <a16:creationId xmlns:a16="http://schemas.microsoft.com/office/drawing/2014/main" id="{0E508CC6-FC95-274A-A73B-1DE6DA1013EA}"/>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632" name="Straight Connector 470">
              <a:extLst>
                <a:ext uri="{FF2B5EF4-FFF2-40B4-BE49-F238E27FC236}">
                  <a16:creationId xmlns:a16="http://schemas.microsoft.com/office/drawing/2014/main" id="{9CCD2C0D-4BA7-A508-1D85-8E74111FE58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 name="Straight Connector 499">
              <a:extLst>
                <a:ext uri="{FF2B5EF4-FFF2-40B4-BE49-F238E27FC236}">
                  <a16:creationId xmlns:a16="http://schemas.microsoft.com/office/drawing/2014/main" id="{89DF027E-7EFE-FD1D-D0C3-6F830465CCC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Straight Connector 503">
              <a:extLst>
                <a:ext uri="{FF2B5EF4-FFF2-40B4-BE49-F238E27FC236}">
                  <a16:creationId xmlns:a16="http://schemas.microsoft.com/office/drawing/2014/main" id="{F1AB43F8-BE33-902B-4D1C-4B65EBD007D3}"/>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Straight Connector 504">
              <a:extLst>
                <a:ext uri="{FF2B5EF4-FFF2-40B4-BE49-F238E27FC236}">
                  <a16:creationId xmlns:a16="http://schemas.microsoft.com/office/drawing/2014/main" id="{60904572-5C1B-72A8-6363-B4B387F98261}"/>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Straight Connector 505">
              <a:extLst>
                <a:ext uri="{FF2B5EF4-FFF2-40B4-BE49-F238E27FC236}">
                  <a16:creationId xmlns:a16="http://schemas.microsoft.com/office/drawing/2014/main" id="{7A7528C8-58DE-39DE-0C4F-ED4FBBD45526}"/>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Straight Connector 506">
              <a:extLst>
                <a:ext uri="{FF2B5EF4-FFF2-40B4-BE49-F238E27FC236}">
                  <a16:creationId xmlns:a16="http://schemas.microsoft.com/office/drawing/2014/main" id="{7EC92DCB-742F-BA3B-3E1C-20AAE9CCA43A}"/>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Straight Connector 507">
              <a:extLst>
                <a:ext uri="{FF2B5EF4-FFF2-40B4-BE49-F238E27FC236}">
                  <a16:creationId xmlns:a16="http://schemas.microsoft.com/office/drawing/2014/main" id="{4D5B9B93-0933-16F6-616F-771A274C5A90}"/>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508">
              <a:extLst>
                <a:ext uri="{FF2B5EF4-FFF2-40B4-BE49-F238E27FC236}">
                  <a16:creationId xmlns:a16="http://schemas.microsoft.com/office/drawing/2014/main" id="{AEC83E14-19E4-0693-80FC-56926A23CFE9}"/>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7" name="Straight Connector 509">
              <a:extLst>
                <a:ext uri="{FF2B5EF4-FFF2-40B4-BE49-F238E27FC236}">
                  <a16:creationId xmlns:a16="http://schemas.microsoft.com/office/drawing/2014/main" id="{B5EF457C-ADE8-1C81-5620-1CBC1FDE5C76}"/>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9" name="Group 510">
            <a:extLst>
              <a:ext uri="{FF2B5EF4-FFF2-40B4-BE49-F238E27FC236}">
                <a16:creationId xmlns:a16="http://schemas.microsoft.com/office/drawing/2014/main" id="{068EFE22-43C6-3352-2983-EBC9674AC86C}"/>
              </a:ext>
            </a:extLst>
          </p:cNvPr>
          <p:cNvGrpSpPr/>
          <p:nvPr/>
        </p:nvGrpSpPr>
        <p:grpSpPr>
          <a:xfrm>
            <a:off x="9809148" y="5510163"/>
            <a:ext cx="1314261" cy="173414"/>
            <a:chOff x="9050566" y="3065430"/>
            <a:chExt cx="2004153" cy="429761"/>
          </a:xfrm>
          <a:solidFill>
            <a:schemeClr val="bg1">
              <a:lumMod val="95000"/>
            </a:schemeClr>
          </a:solidFill>
        </p:grpSpPr>
        <p:sp>
          <p:nvSpPr>
            <p:cNvPr id="1030" name="Rounded Rectangle 463">
              <a:extLst>
                <a:ext uri="{FF2B5EF4-FFF2-40B4-BE49-F238E27FC236}">
                  <a16:creationId xmlns:a16="http://schemas.microsoft.com/office/drawing/2014/main" id="{8070426C-C142-6741-B5AE-69EE9632BC6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031" name="Straight Connector 470">
              <a:extLst>
                <a:ext uri="{FF2B5EF4-FFF2-40B4-BE49-F238E27FC236}">
                  <a16:creationId xmlns:a16="http://schemas.microsoft.com/office/drawing/2014/main" id="{6FA70AC5-0335-D0F8-EFBB-9E1BCEE12FFB}"/>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2" name="Straight Connector 499">
              <a:extLst>
                <a:ext uri="{FF2B5EF4-FFF2-40B4-BE49-F238E27FC236}">
                  <a16:creationId xmlns:a16="http://schemas.microsoft.com/office/drawing/2014/main" id="{E772897E-6F0D-4572-4074-738B9A1798A2}"/>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3" name="Straight Connector 503">
              <a:extLst>
                <a:ext uri="{FF2B5EF4-FFF2-40B4-BE49-F238E27FC236}">
                  <a16:creationId xmlns:a16="http://schemas.microsoft.com/office/drawing/2014/main" id="{C73F7EA8-EC18-11A3-8B8C-47AE3E341DD2}"/>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4" name="Straight Connector 504">
              <a:extLst>
                <a:ext uri="{FF2B5EF4-FFF2-40B4-BE49-F238E27FC236}">
                  <a16:creationId xmlns:a16="http://schemas.microsoft.com/office/drawing/2014/main" id="{288E8A9E-FEAB-DAA6-1B77-3B5C438FD98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5" name="Straight Connector 505">
              <a:extLst>
                <a:ext uri="{FF2B5EF4-FFF2-40B4-BE49-F238E27FC236}">
                  <a16:creationId xmlns:a16="http://schemas.microsoft.com/office/drawing/2014/main" id="{93D5BAD0-BF2E-0A6E-4603-035DB8038522}"/>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6" name="Straight Connector 506">
              <a:extLst>
                <a:ext uri="{FF2B5EF4-FFF2-40B4-BE49-F238E27FC236}">
                  <a16:creationId xmlns:a16="http://schemas.microsoft.com/office/drawing/2014/main" id="{AFB0AE9D-1C1E-012F-36E3-0DF4D646569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7" name="Straight Connector 507">
              <a:extLst>
                <a:ext uri="{FF2B5EF4-FFF2-40B4-BE49-F238E27FC236}">
                  <a16:creationId xmlns:a16="http://schemas.microsoft.com/office/drawing/2014/main" id="{210091DD-CC35-0DB3-8200-B13A3C5642CA}"/>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8" name="Straight Connector 508">
              <a:extLst>
                <a:ext uri="{FF2B5EF4-FFF2-40B4-BE49-F238E27FC236}">
                  <a16:creationId xmlns:a16="http://schemas.microsoft.com/office/drawing/2014/main" id="{6EBF0FB7-D0D0-882D-BBF2-912DB86A3909}"/>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Straight Connector 509">
              <a:extLst>
                <a:ext uri="{FF2B5EF4-FFF2-40B4-BE49-F238E27FC236}">
                  <a16:creationId xmlns:a16="http://schemas.microsoft.com/office/drawing/2014/main" id="{2B860891-D05F-703D-47B6-B7AD31E48D1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40" name="CaixaDeTexto 617">
            <a:extLst>
              <a:ext uri="{FF2B5EF4-FFF2-40B4-BE49-F238E27FC236}">
                <a16:creationId xmlns:a16="http://schemas.microsoft.com/office/drawing/2014/main" id="{0CC81E79-A938-096F-FD14-804906560654}"/>
              </a:ext>
            </a:extLst>
          </p:cNvPr>
          <p:cNvSpPr txBox="1"/>
          <p:nvPr/>
        </p:nvSpPr>
        <p:spPr>
          <a:xfrm>
            <a:off x="5443384" y="4007665"/>
            <a:ext cx="1083413" cy="307777"/>
          </a:xfrm>
          <a:prstGeom prst="rect">
            <a:avLst/>
          </a:prstGeom>
          <a:noFill/>
        </p:spPr>
        <p:txBody>
          <a:bodyPr wrap="square">
            <a:spAutoFit/>
          </a:bodyPr>
          <a:lstStyle/>
          <a:p>
            <a:r>
              <a:rPr lang="pt-BR" sz="700" b="1" i="1">
                <a:solidFill>
                  <a:schemeClr val="tx1">
                    <a:lumMod val="65000"/>
                    <a:lumOff val="35000"/>
                  </a:schemeClr>
                </a:solidFill>
                <a:latin typeface="Arial"/>
              </a:rPr>
              <a:t>Automation </a:t>
            </a:r>
            <a:r>
              <a:rPr lang="pt-BR" sz="700" b="1" i="1" err="1">
                <a:solidFill>
                  <a:schemeClr val="tx1">
                    <a:lumMod val="65000"/>
                    <a:lumOff val="35000"/>
                  </a:schemeClr>
                </a:solidFill>
                <a:latin typeface="Arial"/>
              </a:rPr>
              <a:t>redirects</a:t>
            </a:r>
            <a:endParaRPr lang="pt-BR" sz="700" b="1" i="1">
              <a:solidFill>
                <a:schemeClr val="tx1">
                  <a:lumMod val="65000"/>
                  <a:lumOff val="35000"/>
                </a:schemeClr>
              </a:solidFill>
              <a:latin typeface="Arial"/>
            </a:endParaRPr>
          </a:p>
          <a:p>
            <a:r>
              <a:rPr lang="pt-BR" sz="700" b="1" i="1" err="1">
                <a:solidFill>
                  <a:schemeClr val="tx1">
                    <a:lumMod val="65000"/>
                    <a:lumOff val="35000"/>
                  </a:schemeClr>
                </a:solidFill>
                <a:latin typeface="Arial"/>
              </a:rPr>
              <a:t>with</a:t>
            </a:r>
            <a:r>
              <a:rPr lang="pt-BR" sz="700" b="1" i="1">
                <a:solidFill>
                  <a:schemeClr val="tx1">
                    <a:lumMod val="65000"/>
                    <a:lumOff val="35000"/>
                  </a:schemeClr>
                </a:solidFill>
                <a:latin typeface="Arial"/>
              </a:rPr>
              <a:t> </a:t>
            </a:r>
            <a:r>
              <a:rPr lang="pt-BR" sz="700" b="1" i="1" err="1">
                <a:solidFill>
                  <a:schemeClr val="tx1">
                    <a:lumMod val="65000"/>
                    <a:lumOff val="35000"/>
                  </a:schemeClr>
                </a:solidFill>
                <a:latin typeface="Arial"/>
              </a:rPr>
              <a:t>rules</a:t>
            </a:r>
            <a:r>
              <a:rPr lang="pt-BR" sz="700" b="1" i="1">
                <a:solidFill>
                  <a:schemeClr val="tx1">
                    <a:lumMod val="65000"/>
                    <a:lumOff val="35000"/>
                  </a:schemeClr>
                </a:solidFill>
                <a:latin typeface="Arial"/>
              </a:rPr>
              <a:t>*</a:t>
            </a:r>
            <a:endParaRPr lang="pt-BR" sz="700" i="1">
              <a:solidFill>
                <a:schemeClr val="tx1">
                  <a:lumMod val="65000"/>
                  <a:lumOff val="35000"/>
                </a:schemeClr>
              </a:solidFill>
            </a:endParaRPr>
          </a:p>
        </p:txBody>
      </p:sp>
      <p:cxnSp>
        <p:nvCxnSpPr>
          <p:cNvPr id="1041" name="Conector em Curva 619">
            <a:extLst>
              <a:ext uri="{FF2B5EF4-FFF2-40B4-BE49-F238E27FC236}">
                <a16:creationId xmlns:a16="http://schemas.microsoft.com/office/drawing/2014/main" id="{9853B368-4FEF-8A6F-DB8C-9929543E64ED}"/>
              </a:ext>
            </a:extLst>
          </p:cNvPr>
          <p:cNvCxnSpPr>
            <a:cxnSpLocks/>
            <a:stCxn id="1040" idx="3"/>
            <a:endCxn id="493" idx="1"/>
          </p:cNvCxnSpPr>
          <p:nvPr/>
        </p:nvCxnSpPr>
        <p:spPr>
          <a:xfrm flipV="1">
            <a:off x="6526797" y="3664579"/>
            <a:ext cx="167136" cy="496975"/>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2" name="Conector em Curva 620">
            <a:extLst>
              <a:ext uri="{FF2B5EF4-FFF2-40B4-BE49-F238E27FC236}">
                <a16:creationId xmlns:a16="http://schemas.microsoft.com/office/drawing/2014/main" id="{EBCD0CED-E95A-2128-9F74-27DD40DB6E5A}"/>
              </a:ext>
            </a:extLst>
          </p:cNvPr>
          <p:cNvCxnSpPr>
            <a:cxnSpLocks/>
            <a:stCxn id="1040" idx="3"/>
            <a:endCxn id="494" idx="1"/>
          </p:cNvCxnSpPr>
          <p:nvPr/>
        </p:nvCxnSpPr>
        <p:spPr>
          <a:xfrm>
            <a:off x="6526797" y="4161554"/>
            <a:ext cx="235971" cy="742228"/>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3" name="Conector em Curva 637">
            <a:extLst>
              <a:ext uri="{FF2B5EF4-FFF2-40B4-BE49-F238E27FC236}">
                <a16:creationId xmlns:a16="http://schemas.microsoft.com/office/drawing/2014/main" id="{79762F43-E33C-F2C8-2302-982F003A5EB2}"/>
              </a:ext>
            </a:extLst>
          </p:cNvPr>
          <p:cNvCxnSpPr>
            <a:cxnSpLocks/>
            <a:endCxn id="493" idx="3"/>
          </p:cNvCxnSpPr>
          <p:nvPr/>
        </p:nvCxnSpPr>
        <p:spPr>
          <a:xfrm rot="10800000" flipV="1">
            <a:off x="8921262" y="2990679"/>
            <a:ext cx="863438" cy="673900"/>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4" name="Conector em Curva 638">
            <a:extLst>
              <a:ext uri="{FF2B5EF4-FFF2-40B4-BE49-F238E27FC236}">
                <a16:creationId xmlns:a16="http://schemas.microsoft.com/office/drawing/2014/main" id="{4384C696-E08D-3258-B8D4-28897451D2B7}"/>
              </a:ext>
            </a:extLst>
          </p:cNvPr>
          <p:cNvCxnSpPr>
            <a:cxnSpLocks/>
            <a:endCxn id="493" idx="3"/>
          </p:cNvCxnSpPr>
          <p:nvPr/>
        </p:nvCxnSpPr>
        <p:spPr>
          <a:xfrm rot="10800000" flipV="1">
            <a:off x="8921263" y="3356683"/>
            <a:ext cx="884285" cy="307896"/>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5" name="Conector em Curva 641">
            <a:extLst>
              <a:ext uri="{FF2B5EF4-FFF2-40B4-BE49-F238E27FC236}">
                <a16:creationId xmlns:a16="http://schemas.microsoft.com/office/drawing/2014/main" id="{85CEA6FA-D242-5AF7-437E-D27D153C7C30}"/>
              </a:ext>
            </a:extLst>
          </p:cNvPr>
          <p:cNvCxnSpPr>
            <a:cxnSpLocks/>
            <a:endCxn id="493" idx="3"/>
          </p:cNvCxnSpPr>
          <p:nvPr/>
        </p:nvCxnSpPr>
        <p:spPr>
          <a:xfrm rot="10800000">
            <a:off x="8921262" y="3664579"/>
            <a:ext cx="848994" cy="23626"/>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6" name="Conector em Curva 644">
            <a:extLst>
              <a:ext uri="{FF2B5EF4-FFF2-40B4-BE49-F238E27FC236}">
                <a16:creationId xmlns:a16="http://schemas.microsoft.com/office/drawing/2014/main" id="{5CD83BE5-814C-B6A7-6B5D-254658A3F986}"/>
              </a:ext>
            </a:extLst>
          </p:cNvPr>
          <p:cNvCxnSpPr>
            <a:cxnSpLocks/>
            <a:endCxn id="494" idx="3"/>
          </p:cNvCxnSpPr>
          <p:nvPr/>
        </p:nvCxnSpPr>
        <p:spPr>
          <a:xfrm rot="10800000">
            <a:off x="8951556" y="4903782"/>
            <a:ext cx="857593" cy="47770"/>
          </a:xfrm>
          <a:prstGeom prst="curved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7" name="Conector em Curva 646">
            <a:extLst>
              <a:ext uri="{FF2B5EF4-FFF2-40B4-BE49-F238E27FC236}">
                <a16:creationId xmlns:a16="http://schemas.microsoft.com/office/drawing/2014/main" id="{EA3AA705-2887-ACC7-5B11-0AFCB177BD94}"/>
              </a:ext>
            </a:extLst>
          </p:cNvPr>
          <p:cNvCxnSpPr>
            <a:cxnSpLocks/>
            <a:endCxn id="494" idx="3"/>
          </p:cNvCxnSpPr>
          <p:nvPr/>
        </p:nvCxnSpPr>
        <p:spPr>
          <a:xfrm rot="10800000">
            <a:off x="8951556" y="4903782"/>
            <a:ext cx="857593" cy="381712"/>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8" name="Conector em Curva 649">
            <a:extLst>
              <a:ext uri="{FF2B5EF4-FFF2-40B4-BE49-F238E27FC236}">
                <a16:creationId xmlns:a16="http://schemas.microsoft.com/office/drawing/2014/main" id="{FA65EF83-E992-773A-4066-A10196A8EAE1}"/>
              </a:ext>
            </a:extLst>
          </p:cNvPr>
          <p:cNvCxnSpPr>
            <a:cxnSpLocks/>
            <a:endCxn id="494" idx="3"/>
          </p:cNvCxnSpPr>
          <p:nvPr/>
        </p:nvCxnSpPr>
        <p:spPr>
          <a:xfrm rot="10800000">
            <a:off x="8951556" y="4903783"/>
            <a:ext cx="857593" cy="693049"/>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9" name="Conector em Curva 652">
            <a:extLst>
              <a:ext uri="{FF2B5EF4-FFF2-40B4-BE49-F238E27FC236}">
                <a16:creationId xmlns:a16="http://schemas.microsoft.com/office/drawing/2014/main" id="{A3A11D2D-86CE-762B-F950-F6587972B79A}"/>
              </a:ext>
            </a:extLst>
          </p:cNvPr>
          <p:cNvCxnSpPr>
            <a:cxnSpLocks/>
            <a:endCxn id="494" idx="3"/>
          </p:cNvCxnSpPr>
          <p:nvPr/>
        </p:nvCxnSpPr>
        <p:spPr>
          <a:xfrm rot="10800000">
            <a:off x="8951555" y="4903783"/>
            <a:ext cx="857446" cy="1028001"/>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50" name="TextBox 65">
            <a:extLst>
              <a:ext uri="{FF2B5EF4-FFF2-40B4-BE49-F238E27FC236}">
                <a16:creationId xmlns:a16="http://schemas.microsoft.com/office/drawing/2014/main" id="{37B82F23-F5AB-C47C-B909-6F9257789DED}"/>
              </a:ext>
            </a:extLst>
          </p:cNvPr>
          <p:cNvSpPr txBox="1"/>
          <p:nvPr/>
        </p:nvSpPr>
        <p:spPr>
          <a:xfrm>
            <a:off x="9675424" y="2770468"/>
            <a:ext cx="1574508" cy="138499"/>
          </a:xfrm>
          <a:prstGeom prst="rect">
            <a:avLst/>
          </a:prstGeom>
          <a:noFill/>
        </p:spPr>
        <p:txBody>
          <a:bodyPr wrap="square" lIns="91440" tIns="45720" rIns="91440" bIns="45720" rtlCol="0" anchor="t">
            <a:spAutoFit/>
          </a:bodyPr>
          <a:lstStyle/>
          <a:p>
            <a:pPr algn="ctr"/>
            <a:r>
              <a:rPr lang="en-US" sz="300" b="1">
                <a:solidFill>
                  <a:srgbClr val="173458"/>
                </a:solidFill>
                <a:latin typeface="Montserrat"/>
                <a:cs typeface="Calibri"/>
              </a:rPr>
              <a:t>CUSTOMER CARE &amp; ENGAGEMENT </a:t>
            </a:r>
            <a:r>
              <a:rPr lang="en-US" sz="300" b="1" noProof="0">
                <a:solidFill>
                  <a:srgbClr val="173458"/>
                </a:solidFill>
                <a:latin typeface="Montserrat"/>
                <a:cs typeface="Calibri"/>
              </a:rPr>
              <a:t>TEAM KANBAN BOARD</a:t>
            </a:r>
            <a:endParaRPr lang="en-US" sz="300" noProof="0">
              <a:solidFill>
                <a:srgbClr val="173458"/>
              </a:solidFill>
              <a:latin typeface="Montserrat"/>
              <a:cs typeface="Calibri"/>
            </a:endParaRPr>
          </a:p>
        </p:txBody>
      </p:sp>
      <p:sp>
        <p:nvSpPr>
          <p:cNvPr id="1051" name="TextBox 65">
            <a:extLst>
              <a:ext uri="{FF2B5EF4-FFF2-40B4-BE49-F238E27FC236}">
                <a16:creationId xmlns:a16="http://schemas.microsoft.com/office/drawing/2014/main" id="{069F829A-A8F1-6DC4-9BB0-9F227E75B786}"/>
              </a:ext>
            </a:extLst>
          </p:cNvPr>
          <p:cNvSpPr txBox="1"/>
          <p:nvPr/>
        </p:nvSpPr>
        <p:spPr>
          <a:xfrm>
            <a:off x="9657148" y="3139238"/>
            <a:ext cx="1574508" cy="138499"/>
          </a:xfrm>
          <a:prstGeom prst="rect">
            <a:avLst/>
          </a:prstGeom>
          <a:noFill/>
        </p:spPr>
        <p:txBody>
          <a:bodyPr wrap="square" lIns="91440" tIns="45720" rIns="91440" bIns="45720" rtlCol="0" anchor="t">
            <a:spAutoFit/>
          </a:bodyPr>
          <a:lstStyle/>
          <a:p>
            <a:pPr algn="ctr"/>
            <a:r>
              <a:rPr lang="en-US" sz="300" b="1">
                <a:solidFill>
                  <a:srgbClr val="173458"/>
                </a:solidFill>
                <a:latin typeface="Montserrat"/>
                <a:cs typeface="Calibri"/>
              </a:rPr>
              <a:t>METER &amp; DEVICE OPERATIONS </a:t>
            </a:r>
            <a:r>
              <a:rPr lang="en-US" sz="300" b="1" noProof="0">
                <a:solidFill>
                  <a:srgbClr val="173458"/>
                </a:solidFill>
                <a:latin typeface="Montserrat"/>
                <a:cs typeface="Calibri"/>
              </a:rPr>
              <a:t>TEAM KANBAN BOARD</a:t>
            </a:r>
            <a:endParaRPr lang="en-US" sz="300" noProof="0">
              <a:solidFill>
                <a:srgbClr val="173458"/>
              </a:solidFill>
              <a:latin typeface="Montserrat"/>
              <a:cs typeface="Calibri"/>
            </a:endParaRPr>
          </a:p>
        </p:txBody>
      </p:sp>
      <p:sp>
        <p:nvSpPr>
          <p:cNvPr id="1052" name="TextBox 65">
            <a:extLst>
              <a:ext uri="{FF2B5EF4-FFF2-40B4-BE49-F238E27FC236}">
                <a16:creationId xmlns:a16="http://schemas.microsoft.com/office/drawing/2014/main" id="{DF45889D-53D0-5C09-10FE-236F45D03328}"/>
              </a:ext>
            </a:extLst>
          </p:cNvPr>
          <p:cNvSpPr txBox="1"/>
          <p:nvPr/>
        </p:nvSpPr>
        <p:spPr>
          <a:xfrm>
            <a:off x="9594918" y="3490834"/>
            <a:ext cx="1750034" cy="138499"/>
          </a:xfrm>
          <a:prstGeom prst="rect">
            <a:avLst/>
          </a:prstGeom>
          <a:noFill/>
        </p:spPr>
        <p:txBody>
          <a:bodyPr wrap="square" rtlCol="0">
            <a:spAutoFit/>
          </a:bodyPr>
          <a:lstStyle/>
          <a:p>
            <a:pPr algn="ctr"/>
            <a:r>
              <a:rPr lang="en-US" sz="300" b="1" noProof="0">
                <a:solidFill>
                  <a:srgbClr val="173458"/>
                </a:solidFill>
                <a:latin typeface="Montserrat" pitchFamily="2" charset="77"/>
                <a:cs typeface="Calibri" panose="020F0502020204030204" pitchFamily="34" charset="0"/>
              </a:rPr>
              <a:t>BILLING  OPERATIONS TEAM KANBAN BOARD</a:t>
            </a:r>
            <a:endParaRPr lang="en-US" sz="300" noProof="0">
              <a:solidFill>
                <a:srgbClr val="173458"/>
              </a:solidFill>
              <a:latin typeface="Montserrat" pitchFamily="2" charset="77"/>
              <a:cs typeface="Calibri" panose="020F0502020204030204" pitchFamily="34" charset="0"/>
            </a:endParaRPr>
          </a:p>
        </p:txBody>
      </p:sp>
      <p:sp>
        <p:nvSpPr>
          <p:cNvPr id="1053" name="TextBox 65">
            <a:extLst>
              <a:ext uri="{FF2B5EF4-FFF2-40B4-BE49-F238E27FC236}">
                <a16:creationId xmlns:a16="http://schemas.microsoft.com/office/drawing/2014/main" id="{F85EBD02-FB92-11E4-DB15-106B0F7DD0FA}"/>
              </a:ext>
            </a:extLst>
          </p:cNvPr>
          <p:cNvSpPr txBox="1"/>
          <p:nvPr/>
        </p:nvSpPr>
        <p:spPr>
          <a:xfrm>
            <a:off x="9678877" y="4466570"/>
            <a:ext cx="157450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FILED OPERATIONS TEAM  KANBAN BOARD</a:t>
            </a:r>
            <a:endParaRPr lang="en-US" sz="300" noProof="0">
              <a:solidFill>
                <a:srgbClr val="808080"/>
              </a:solidFill>
              <a:latin typeface="Montserrat" pitchFamily="2" charset="77"/>
              <a:cs typeface="Calibri" panose="020F0502020204030204" pitchFamily="34" charset="0"/>
            </a:endParaRPr>
          </a:p>
        </p:txBody>
      </p:sp>
      <p:sp>
        <p:nvSpPr>
          <p:cNvPr id="1054" name="TextBox 65">
            <a:extLst>
              <a:ext uri="{FF2B5EF4-FFF2-40B4-BE49-F238E27FC236}">
                <a16:creationId xmlns:a16="http://schemas.microsoft.com/office/drawing/2014/main" id="{508F409E-C434-1B8C-98A1-F8BAAB5194EB}"/>
              </a:ext>
            </a:extLst>
          </p:cNvPr>
          <p:cNvSpPr txBox="1"/>
          <p:nvPr/>
        </p:nvSpPr>
        <p:spPr>
          <a:xfrm>
            <a:off x="9751013" y="5085406"/>
            <a:ext cx="173473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NETWORK OPEATIONS &amp; CONTROL TEAMKANBAN BOARD</a:t>
            </a:r>
            <a:endParaRPr lang="en-US" sz="300" noProof="0">
              <a:solidFill>
                <a:srgbClr val="808080"/>
              </a:solidFill>
              <a:latin typeface="Montserrat" pitchFamily="2" charset="77"/>
              <a:cs typeface="Calibri" panose="020F0502020204030204" pitchFamily="34" charset="0"/>
            </a:endParaRPr>
          </a:p>
        </p:txBody>
      </p:sp>
      <p:sp>
        <p:nvSpPr>
          <p:cNvPr id="1055" name="TextBox 65">
            <a:extLst>
              <a:ext uri="{FF2B5EF4-FFF2-40B4-BE49-F238E27FC236}">
                <a16:creationId xmlns:a16="http://schemas.microsoft.com/office/drawing/2014/main" id="{EB43A7A2-B9E6-0AF3-149C-A3569278ABF9}"/>
              </a:ext>
            </a:extLst>
          </p:cNvPr>
          <p:cNvSpPr txBox="1"/>
          <p:nvPr/>
        </p:nvSpPr>
        <p:spPr>
          <a:xfrm>
            <a:off x="9751013" y="5395796"/>
            <a:ext cx="157450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CORPORATE &amp; REGULATORY TEAM KANBAN BOARD</a:t>
            </a:r>
            <a:endParaRPr lang="en-US" sz="300" noProof="0">
              <a:solidFill>
                <a:srgbClr val="808080"/>
              </a:solidFill>
              <a:latin typeface="Montserrat" pitchFamily="2" charset="77"/>
              <a:cs typeface="Calibri" panose="020F0502020204030204" pitchFamily="34" charset="0"/>
            </a:endParaRPr>
          </a:p>
        </p:txBody>
      </p:sp>
      <p:sp>
        <p:nvSpPr>
          <p:cNvPr id="1056" name="TextBox 65">
            <a:extLst>
              <a:ext uri="{FF2B5EF4-FFF2-40B4-BE49-F238E27FC236}">
                <a16:creationId xmlns:a16="http://schemas.microsoft.com/office/drawing/2014/main" id="{19661841-91B2-1F98-D208-DF5789851982}"/>
              </a:ext>
            </a:extLst>
          </p:cNvPr>
          <p:cNvSpPr txBox="1"/>
          <p:nvPr/>
        </p:nvSpPr>
        <p:spPr>
          <a:xfrm>
            <a:off x="9714315" y="4752918"/>
            <a:ext cx="1786731"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ENGINEERING &amp; ASSET MNGMT TEAM KANBAN BOARD</a:t>
            </a:r>
            <a:endParaRPr lang="en-US" sz="300" noProof="0">
              <a:solidFill>
                <a:srgbClr val="808080"/>
              </a:solidFill>
              <a:latin typeface="Montserrat" pitchFamily="2" charset="77"/>
              <a:cs typeface="Calibri" panose="020F0502020204030204" pitchFamily="34" charset="0"/>
            </a:endParaRPr>
          </a:p>
        </p:txBody>
      </p:sp>
      <p:grpSp>
        <p:nvGrpSpPr>
          <p:cNvPr id="1057" name="Group 510">
            <a:extLst>
              <a:ext uri="{FF2B5EF4-FFF2-40B4-BE49-F238E27FC236}">
                <a16:creationId xmlns:a16="http://schemas.microsoft.com/office/drawing/2014/main" id="{09D8B293-754B-6063-E61E-EE48D7C89F7A}"/>
              </a:ext>
            </a:extLst>
          </p:cNvPr>
          <p:cNvGrpSpPr/>
          <p:nvPr/>
        </p:nvGrpSpPr>
        <p:grpSpPr>
          <a:xfrm>
            <a:off x="9809001" y="5845115"/>
            <a:ext cx="1314261" cy="173414"/>
            <a:chOff x="9050566" y="3065430"/>
            <a:chExt cx="2004153" cy="429761"/>
          </a:xfrm>
          <a:solidFill>
            <a:schemeClr val="bg1">
              <a:lumMod val="95000"/>
            </a:schemeClr>
          </a:solidFill>
        </p:grpSpPr>
        <p:sp>
          <p:nvSpPr>
            <p:cNvPr id="1058" name="Rounded Rectangle 463">
              <a:extLst>
                <a:ext uri="{FF2B5EF4-FFF2-40B4-BE49-F238E27FC236}">
                  <a16:creationId xmlns:a16="http://schemas.microsoft.com/office/drawing/2014/main" id="{F2DD8284-1041-6D68-3BDA-2DE000F62EAA}"/>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059" name="Straight Connector 470">
              <a:extLst>
                <a:ext uri="{FF2B5EF4-FFF2-40B4-BE49-F238E27FC236}">
                  <a16:creationId xmlns:a16="http://schemas.microsoft.com/office/drawing/2014/main" id="{E7EE7B71-25EA-7E91-A630-AFE8D1B252E3}"/>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0" name="Straight Connector 499">
              <a:extLst>
                <a:ext uri="{FF2B5EF4-FFF2-40B4-BE49-F238E27FC236}">
                  <a16:creationId xmlns:a16="http://schemas.microsoft.com/office/drawing/2014/main" id="{4A87038A-8CB7-2709-684B-F4F99D84088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1" name="Straight Connector 503">
              <a:extLst>
                <a:ext uri="{FF2B5EF4-FFF2-40B4-BE49-F238E27FC236}">
                  <a16:creationId xmlns:a16="http://schemas.microsoft.com/office/drawing/2014/main" id="{C3A81736-35CD-41E7-7489-BD7BE5E5809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2" name="Straight Connector 504">
              <a:extLst>
                <a:ext uri="{FF2B5EF4-FFF2-40B4-BE49-F238E27FC236}">
                  <a16:creationId xmlns:a16="http://schemas.microsoft.com/office/drawing/2014/main" id="{B6B8EB03-E3D8-9DDB-0C0A-8C44B5D979A4}"/>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3" name="Straight Connector 505">
              <a:extLst>
                <a:ext uri="{FF2B5EF4-FFF2-40B4-BE49-F238E27FC236}">
                  <a16:creationId xmlns:a16="http://schemas.microsoft.com/office/drawing/2014/main" id="{0943FDCB-EC97-2F24-CCD5-3C18BF9457B0}"/>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4" name="Straight Connector 506">
              <a:extLst>
                <a:ext uri="{FF2B5EF4-FFF2-40B4-BE49-F238E27FC236}">
                  <a16:creationId xmlns:a16="http://schemas.microsoft.com/office/drawing/2014/main" id="{BF42359F-F4E7-9B1A-A110-FFC936A19788}"/>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5" name="Straight Connector 507">
              <a:extLst>
                <a:ext uri="{FF2B5EF4-FFF2-40B4-BE49-F238E27FC236}">
                  <a16:creationId xmlns:a16="http://schemas.microsoft.com/office/drawing/2014/main" id="{433E96AB-58AF-824F-4F3F-B91856BD98D0}"/>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6" name="Straight Connector 508">
              <a:extLst>
                <a:ext uri="{FF2B5EF4-FFF2-40B4-BE49-F238E27FC236}">
                  <a16:creationId xmlns:a16="http://schemas.microsoft.com/office/drawing/2014/main" id="{29B01ACC-309E-0F4D-55D1-DD668183780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7" name="Straight Connector 509">
              <a:extLst>
                <a:ext uri="{FF2B5EF4-FFF2-40B4-BE49-F238E27FC236}">
                  <a16:creationId xmlns:a16="http://schemas.microsoft.com/office/drawing/2014/main" id="{8A7AD9C4-E350-3FC7-478B-F56D8A055FC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68" name="TextBox 65">
            <a:extLst>
              <a:ext uri="{FF2B5EF4-FFF2-40B4-BE49-F238E27FC236}">
                <a16:creationId xmlns:a16="http://schemas.microsoft.com/office/drawing/2014/main" id="{AC304EE2-5863-556B-3D1C-81BB299A7E5B}"/>
              </a:ext>
            </a:extLst>
          </p:cNvPr>
          <p:cNvSpPr txBox="1"/>
          <p:nvPr/>
        </p:nvSpPr>
        <p:spPr>
          <a:xfrm>
            <a:off x="9740313" y="5726700"/>
            <a:ext cx="1734737"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IBERFROLA CORPORATE SERVICES TEAM KANBAN BOARD</a:t>
            </a:r>
            <a:endParaRPr lang="en-US" sz="300" noProof="0">
              <a:solidFill>
                <a:srgbClr val="808080"/>
              </a:solidFill>
              <a:latin typeface="Montserrat" pitchFamily="2" charset="77"/>
              <a:cs typeface="Calibri" panose="020F0502020204030204" pitchFamily="34" charset="0"/>
            </a:endParaRPr>
          </a:p>
        </p:txBody>
      </p:sp>
      <p:grpSp>
        <p:nvGrpSpPr>
          <p:cNvPr id="1069" name="Group 25">
            <a:extLst>
              <a:ext uri="{FF2B5EF4-FFF2-40B4-BE49-F238E27FC236}">
                <a16:creationId xmlns:a16="http://schemas.microsoft.com/office/drawing/2014/main" id="{F7A0DE4A-AF83-960D-B53D-5CA6535DDF3C}"/>
              </a:ext>
            </a:extLst>
          </p:cNvPr>
          <p:cNvGrpSpPr/>
          <p:nvPr/>
        </p:nvGrpSpPr>
        <p:grpSpPr>
          <a:xfrm>
            <a:off x="6151476" y="2260203"/>
            <a:ext cx="457910" cy="581593"/>
            <a:chOff x="9851096" y="1633258"/>
            <a:chExt cx="685589" cy="1021050"/>
          </a:xfrm>
        </p:grpSpPr>
        <p:pic>
          <p:nvPicPr>
            <p:cNvPr id="1070" name="Picture 26">
              <a:extLst>
                <a:ext uri="{FF2B5EF4-FFF2-40B4-BE49-F238E27FC236}">
                  <a16:creationId xmlns:a16="http://schemas.microsoft.com/office/drawing/2014/main" id="{C197DC21-B9ED-A935-047B-854CC79B75A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919409" y="1633258"/>
              <a:ext cx="548640" cy="548640"/>
            </a:xfrm>
            <a:prstGeom prst="rect">
              <a:avLst/>
            </a:prstGeom>
          </p:spPr>
        </p:pic>
        <p:sp>
          <p:nvSpPr>
            <p:cNvPr id="1071" name="Rectángulo 322">
              <a:extLst>
                <a:ext uri="{FF2B5EF4-FFF2-40B4-BE49-F238E27FC236}">
                  <a16:creationId xmlns:a16="http://schemas.microsoft.com/office/drawing/2014/main" id="{EA3A80EC-38DB-5571-16BF-AECB054E9B05}"/>
                </a:ext>
              </a:extLst>
            </p:cNvPr>
            <p:cNvSpPr/>
            <p:nvPr/>
          </p:nvSpPr>
          <p:spPr>
            <a:xfrm>
              <a:off x="9851096" y="2172822"/>
              <a:ext cx="685589" cy="481486"/>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highlight>
                    <a:srgbClr val="FFFFFF"/>
                  </a:highlight>
                  <a:latin typeface="+mn-lt"/>
                </a:rPr>
                <a:t>PORTFOLIO MANAGER</a:t>
              </a:r>
            </a:p>
          </p:txBody>
        </p:sp>
      </p:grpSp>
      <p:sp>
        <p:nvSpPr>
          <p:cNvPr id="1075" name="Rectángulo 322">
            <a:extLst>
              <a:ext uri="{FF2B5EF4-FFF2-40B4-BE49-F238E27FC236}">
                <a16:creationId xmlns:a16="http://schemas.microsoft.com/office/drawing/2014/main" id="{717D8F76-9C5D-6CEC-A39F-CD701A9B126A}"/>
              </a:ext>
            </a:extLst>
          </p:cNvPr>
          <p:cNvSpPr/>
          <p:nvPr/>
        </p:nvSpPr>
        <p:spPr>
          <a:xfrm>
            <a:off x="8925401" y="3797650"/>
            <a:ext cx="368665" cy="230832"/>
          </a:xfrm>
          <a:prstGeom prst="rect">
            <a:avLst/>
          </a:prstGeom>
        </p:spPr>
        <p:txBody>
          <a:bodyPr wrap="square" lIns="0" rIns="0">
            <a:spAutoFit/>
          </a:bodyPr>
          <a:lstStyle/>
          <a:p>
            <a:pPr algn="ctr">
              <a:spcBef>
                <a:spcPts val="200"/>
              </a:spcBef>
              <a:spcAft>
                <a:spcPts val="200"/>
              </a:spcAft>
              <a:defRPr/>
            </a:pPr>
            <a:r>
              <a:rPr lang="en-US" sz="300">
                <a:solidFill>
                  <a:srgbClr val="000000"/>
                </a:solidFill>
              </a:rPr>
              <a:t>1 </a:t>
            </a:r>
            <a:r>
              <a:rPr lang="en-US" sz="300" noProof="0">
                <a:solidFill>
                  <a:srgbClr val="000000"/>
                </a:solidFill>
                <a:latin typeface="+mn-lt"/>
              </a:rPr>
              <a:t>PRODUCT MANAGER PER VALUE STREAM</a:t>
            </a:r>
          </a:p>
        </p:txBody>
      </p:sp>
      <p:sp>
        <p:nvSpPr>
          <p:cNvPr id="1076" name="Rectángulo 322">
            <a:extLst>
              <a:ext uri="{FF2B5EF4-FFF2-40B4-BE49-F238E27FC236}">
                <a16:creationId xmlns:a16="http://schemas.microsoft.com/office/drawing/2014/main" id="{9F40306D-2374-C697-A147-5379AA770D3F}"/>
              </a:ext>
            </a:extLst>
          </p:cNvPr>
          <p:cNvSpPr/>
          <p:nvPr/>
        </p:nvSpPr>
        <p:spPr>
          <a:xfrm>
            <a:off x="9005585" y="4484114"/>
            <a:ext cx="368665" cy="230832"/>
          </a:xfrm>
          <a:prstGeom prst="rect">
            <a:avLst/>
          </a:prstGeom>
        </p:spPr>
        <p:txBody>
          <a:bodyPr wrap="square" lIns="0" rIns="0">
            <a:spAutoFit/>
          </a:bodyPr>
          <a:lstStyle/>
          <a:p>
            <a:pPr algn="ctr">
              <a:spcBef>
                <a:spcPts val="200"/>
              </a:spcBef>
              <a:spcAft>
                <a:spcPts val="200"/>
              </a:spcAft>
              <a:defRPr/>
            </a:pPr>
            <a:r>
              <a:rPr lang="en-US" sz="300">
                <a:solidFill>
                  <a:srgbClr val="000000"/>
                </a:solidFill>
              </a:rPr>
              <a:t>1 </a:t>
            </a:r>
            <a:r>
              <a:rPr lang="en-US" sz="300" noProof="0">
                <a:solidFill>
                  <a:srgbClr val="000000"/>
                </a:solidFill>
                <a:latin typeface="+mn-lt"/>
              </a:rPr>
              <a:t>PRODUCT MANAGER PER VALUE STREAM</a:t>
            </a:r>
          </a:p>
        </p:txBody>
      </p:sp>
      <p:sp>
        <p:nvSpPr>
          <p:cNvPr id="1077" name="Rectángulo 322">
            <a:extLst>
              <a:ext uri="{FF2B5EF4-FFF2-40B4-BE49-F238E27FC236}">
                <a16:creationId xmlns:a16="http://schemas.microsoft.com/office/drawing/2014/main" id="{2F01F003-84B0-4997-D386-FECF398F5721}"/>
              </a:ext>
            </a:extLst>
          </p:cNvPr>
          <p:cNvSpPr/>
          <p:nvPr/>
        </p:nvSpPr>
        <p:spPr>
          <a:xfrm>
            <a:off x="6276054" y="4914738"/>
            <a:ext cx="368665" cy="369332"/>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latin typeface="+mn-lt"/>
              </a:rPr>
              <a:t>IT PROGRAM DELIVERY</a:t>
            </a:r>
          </a:p>
        </p:txBody>
      </p:sp>
      <p:pic>
        <p:nvPicPr>
          <p:cNvPr id="1080" name="Picture 26">
            <a:extLst>
              <a:ext uri="{FF2B5EF4-FFF2-40B4-BE49-F238E27FC236}">
                <a16:creationId xmlns:a16="http://schemas.microsoft.com/office/drawing/2014/main" id="{31C773B2-1A94-6F77-2A6A-1B6C6AF5B50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341453" y="4741143"/>
            <a:ext cx="237866" cy="202856"/>
          </a:xfrm>
          <a:prstGeom prst="rect">
            <a:avLst/>
          </a:prstGeom>
        </p:spPr>
      </p:pic>
      <p:sp>
        <p:nvSpPr>
          <p:cNvPr id="1084" name="CuadroTexto 1083">
            <a:extLst>
              <a:ext uri="{FF2B5EF4-FFF2-40B4-BE49-F238E27FC236}">
                <a16:creationId xmlns:a16="http://schemas.microsoft.com/office/drawing/2014/main" id="{1E96DCF9-ABC7-D5B6-1D15-89774BF433E1}"/>
              </a:ext>
            </a:extLst>
          </p:cNvPr>
          <p:cNvSpPr txBox="1"/>
          <p:nvPr/>
        </p:nvSpPr>
        <p:spPr>
          <a:xfrm>
            <a:off x="8008708" y="1820921"/>
            <a:ext cx="963821" cy="274256"/>
          </a:xfrm>
          <a:prstGeom prst="rect">
            <a:avLst/>
          </a:prstGeom>
          <a:noFill/>
        </p:spPr>
        <p:txBody>
          <a:bodyPr wrap="square">
            <a:spAutoFit/>
          </a:bodyPr>
          <a:lstStyle/>
          <a:p>
            <a:pPr algn="ctr"/>
            <a:r>
              <a:rPr lang="en-US" sz="600" b="1" noProof="0">
                <a:solidFill>
                  <a:schemeClr val="tx1"/>
                </a:solidFill>
                <a:latin typeface="Arial" panose="020B0604020202020204" pitchFamily="34" charset="0"/>
                <a:cs typeface="Arial" panose="020B0604020202020204" pitchFamily="34" charset="0"/>
              </a:rPr>
              <a:t>Initial classification and triage</a:t>
            </a:r>
          </a:p>
        </p:txBody>
      </p:sp>
      <p:sp>
        <p:nvSpPr>
          <p:cNvPr id="1085" name="Left Brace 366">
            <a:extLst>
              <a:ext uri="{FF2B5EF4-FFF2-40B4-BE49-F238E27FC236}">
                <a16:creationId xmlns:a16="http://schemas.microsoft.com/office/drawing/2014/main" id="{59147FFD-CCBD-376B-9149-405DAE3E1295}"/>
              </a:ext>
            </a:extLst>
          </p:cNvPr>
          <p:cNvSpPr/>
          <p:nvPr/>
        </p:nvSpPr>
        <p:spPr>
          <a:xfrm rot="5400000">
            <a:off x="8416133" y="-627250"/>
            <a:ext cx="144623" cy="553665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noProof="0">
              <a:latin typeface="Montserrat" pitchFamily="2" charset="77"/>
            </a:endParaRPr>
          </a:p>
        </p:txBody>
      </p:sp>
      <p:grpSp>
        <p:nvGrpSpPr>
          <p:cNvPr id="648" name="Grupo 647">
            <a:extLst>
              <a:ext uri="{FF2B5EF4-FFF2-40B4-BE49-F238E27FC236}">
                <a16:creationId xmlns:a16="http://schemas.microsoft.com/office/drawing/2014/main" id="{3FF40CEF-BEE7-2BFA-9E1E-75F5E05E92F7}"/>
              </a:ext>
            </a:extLst>
          </p:cNvPr>
          <p:cNvGrpSpPr/>
          <p:nvPr/>
        </p:nvGrpSpPr>
        <p:grpSpPr>
          <a:xfrm>
            <a:off x="2008259" y="6198641"/>
            <a:ext cx="2041383" cy="430086"/>
            <a:chOff x="457200" y="1691640"/>
            <a:chExt cx="4813475" cy="777240"/>
          </a:xfrm>
        </p:grpSpPr>
        <p:sp>
          <p:nvSpPr>
            <p:cNvPr id="644" name="Rounded Rectangle 9">
              <a:extLst>
                <a:ext uri="{FF2B5EF4-FFF2-40B4-BE49-F238E27FC236}">
                  <a16:creationId xmlns:a16="http://schemas.microsoft.com/office/drawing/2014/main" id="{343790AA-1323-7C15-C205-DB39AF862A74}"/>
                </a:ext>
              </a:extLst>
            </p:cNvPr>
            <p:cNvSpPr/>
            <p:nvPr/>
          </p:nvSpPr>
          <p:spPr>
            <a:xfrm>
              <a:off x="457200" y="1691640"/>
              <a:ext cx="4813475" cy="77724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TextBox 11">
              <a:extLst>
                <a:ext uri="{FF2B5EF4-FFF2-40B4-BE49-F238E27FC236}">
                  <a16:creationId xmlns:a16="http://schemas.microsoft.com/office/drawing/2014/main" id="{E264FA1E-43E1-FA6D-5655-2B3FE27C8DFB}"/>
                </a:ext>
              </a:extLst>
            </p:cNvPr>
            <p:cNvSpPr txBox="1"/>
            <p:nvPr/>
          </p:nvSpPr>
          <p:spPr>
            <a:xfrm>
              <a:off x="502119" y="1721979"/>
              <a:ext cx="1554480" cy="723714"/>
            </a:xfrm>
            <a:prstGeom prst="rect">
              <a:avLst/>
            </a:prstGeom>
            <a:solidFill>
              <a:schemeClr val="accent4"/>
            </a:solidFill>
            <a:ln>
              <a:noFill/>
            </a:ln>
          </p:spPr>
          <p:txBody>
            <a:bodyPr wrap="square" lIns="45720" tIns="18288" rIns="45720" bIns="18288" anchor="ctr">
              <a:spAutoFit/>
            </a:bodyPr>
            <a:lstStyle/>
            <a:p>
              <a:pPr algn="ctr"/>
              <a:r>
                <a:rPr lang="es-MX" sz="1200" b="1" i="0">
                  <a:solidFill>
                    <a:srgbClr val="FFFFFF"/>
                  </a:solidFill>
                  <a:latin typeface="Arial"/>
                </a:rPr>
                <a:t>Tools</a:t>
              </a:r>
              <a:endParaRPr sz="1200" b="1" i="0">
                <a:solidFill>
                  <a:srgbClr val="FFFFFF"/>
                </a:solidFill>
                <a:latin typeface="Arial"/>
              </a:endParaRPr>
            </a:p>
          </p:txBody>
        </p:sp>
      </p:grpSp>
      <p:grpSp>
        <p:nvGrpSpPr>
          <p:cNvPr id="652" name="Grupo 651">
            <a:extLst>
              <a:ext uri="{FF2B5EF4-FFF2-40B4-BE49-F238E27FC236}">
                <a16:creationId xmlns:a16="http://schemas.microsoft.com/office/drawing/2014/main" id="{8C0591BE-5B12-33B6-1808-6673E81E74D5}"/>
              </a:ext>
            </a:extLst>
          </p:cNvPr>
          <p:cNvGrpSpPr/>
          <p:nvPr/>
        </p:nvGrpSpPr>
        <p:grpSpPr>
          <a:xfrm>
            <a:off x="2762309" y="6169123"/>
            <a:ext cx="1148723" cy="470847"/>
            <a:chOff x="4898912" y="5610709"/>
            <a:chExt cx="2035032" cy="696262"/>
          </a:xfrm>
        </p:grpSpPr>
        <p:pic>
          <p:nvPicPr>
            <p:cNvPr id="649" name="Picture 2">
              <a:extLst>
                <a:ext uri="{FF2B5EF4-FFF2-40B4-BE49-F238E27FC236}">
                  <a16:creationId xmlns:a16="http://schemas.microsoft.com/office/drawing/2014/main" id="{03CD67D6-0612-BB0D-0202-157B1224DC9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651" name="Picture 4" descr="ServiceNow Logo - símbolo, significado logotipo, historia, PNG">
              <a:extLst>
                <a:ext uri="{FF2B5EF4-FFF2-40B4-BE49-F238E27FC236}">
                  <a16:creationId xmlns:a16="http://schemas.microsoft.com/office/drawing/2014/main" id="{8B52A93A-EBF4-93FF-5156-EAD44AEB144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grpSp>
      <p:sp>
        <p:nvSpPr>
          <p:cNvPr id="655" name="Rounded Rectangle 9">
            <a:extLst>
              <a:ext uri="{FF2B5EF4-FFF2-40B4-BE49-F238E27FC236}">
                <a16:creationId xmlns:a16="http://schemas.microsoft.com/office/drawing/2014/main" id="{BF22B809-CFB4-A184-7688-BAC708488959}"/>
              </a:ext>
            </a:extLst>
          </p:cNvPr>
          <p:cNvSpPr/>
          <p:nvPr/>
        </p:nvSpPr>
        <p:spPr>
          <a:xfrm>
            <a:off x="4284734" y="6198641"/>
            <a:ext cx="3527283" cy="430086"/>
          </a:xfrm>
          <a:prstGeom prst="roundRect">
            <a:avLst>
              <a:gd name="adj" fmla="val 4000"/>
            </a:avLst>
          </a:prstGeom>
          <a:solidFill>
            <a:srgbClr val="FFFFFF"/>
          </a:solidFill>
          <a:ln w="25400">
            <a:solidFill>
              <a:srgbClr val="00B1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TextBox 11">
            <a:extLst>
              <a:ext uri="{FF2B5EF4-FFF2-40B4-BE49-F238E27FC236}">
                <a16:creationId xmlns:a16="http://schemas.microsoft.com/office/drawing/2014/main" id="{6BAE9705-1B6A-AFC1-D40A-9D5CF4410CBB}"/>
              </a:ext>
            </a:extLst>
          </p:cNvPr>
          <p:cNvSpPr txBox="1"/>
          <p:nvPr/>
        </p:nvSpPr>
        <p:spPr>
          <a:xfrm>
            <a:off x="4302569" y="6215988"/>
            <a:ext cx="1061730" cy="396395"/>
          </a:xfrm>
          <a:prstGeom prst="rect">
            <a:avLst/>
          </a:prstGeom>
          <a:solidFill>
            <a:srgbClr val="00B176"/>
          </a:solidFill>
          <a:ln>
            <a:noFill/>
          </a:ln>
        </p:spPr>
        <p:txBody>
          <a:bodyPr wrap="square" lIns="45720" tIns="18288" rIns="45720" bIns="18288" anchor="ctr">
            <a:spAutoFit/>
          </a:bodyPr>
          <a:lstStyle/>
          <a:p>
            <a:pPr algn="ctr"/>
            <a:r>
              <a:rPr lang="es-MX" sz="1200" b="1" i="0" err="1">
                <a:solidFill>
                  <a:srgbClr val="FFFFFF"/>
                </a:solidFill>
                <a:latin typeface="Arial"/>
              </a:rPr>
              <a:t>Governance</a:t>
            </a:r>
            <a:endParaRPr sz="1200" b="1" i="0">
              <a:solidFill>
                <a:srgbClr val="FFFFFF"/>
              </a:solidFill>
              <a:latin typeface="Arial"/>
            </a:endParaRPr>
          </a:p>
        </p:txBody>
      </p:sp>
      <p:sp>
        <p:nvSpPr>
          <p:cNvPr id="690" name="Rounded Rectangle 9">
            <a:extLst>
              <a:ext uri="{FF2B5EF4-FFF2-40B4-BE49-F238E27FC236}">
                <a16:creationId xmlns:a16="http://schemas.microsoft.com/office/drawing/2014/main" id="{61DFE693-3359-5C06-4982-E71E2B004EB5}"/>
              </a:ext>
            </a:extLst>
          </p:cNvPr>
          <p:cNvSpPr/>
          <p:nvPr/>
        </p:nvSpPr>
        <p:spPr>
          <a:xfrm>
            <a:off x="8037584" y="6198641"/>
            <a:ext cx="3527283" cy="430086"/>
          </a:xfrm>
          <a:prstGeom prst="roundRect">
            <a:avLst>
              <a:gd name="adj" fmla="val 4000"/>
            </a:avLst>
          </a:prstGeom>
          <a:solidFill>
            <a:srgbClr val="FFFFFF"/>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1" name="TextBox 11">
            <a:extLst>
              <a:ext uri="{FF2B5EF4-FFF2-40B4-BE49-F238E27FC236}">
                <a16:creationId xmlns:a16="http://schemas.microsoft.com/office/drawing/2014/main" id="{2373BBBA-83AE-C680-4BAC-274A460267FF}"/>
              </a:ext>
            </a:extLst>
          </p:cNvPr>
          <p:cNvSpPr txBox="1"/>
          <p:nvPr/>
        </p:nvSpPr>
        <p:spPr>
          <a:xfrm>
            <a:off x="8055419" y="6215485"/>
            <a:ext cx="1061730" cy="396395"/>
          </a:xfrm>
          <a:prstGeom prst="rect">
            <a:avLst/>
          </a:prstGeom>
          <a:solidFill>
            <a:schemeClr val="accent2"/>
          </a:solidFill>
          <a:ln>
            <a:noFill/>
          </a:ln>
        </p:spPr>
        <p:txBody>
          <a:bodyPr wrap="square" lIns="45720" tIns="18288" rIns="45720" bIns="18288" anchor="ctr">
            <a:spAutoFit/>
          </a:bodyPr>
          <a:lstStyle/>
          <a:p>
            <a:pPr algn="ctr"/>
            <a:r>
              <a:rPr lang="es-MX" sz="1200" b="1" i="0">
                <a:solidFill>
                  <a:srgbClr val="FFFFFF"/>
                </a:solidFill>
                <a:latin typeface="Arial"/>
              </a:rPr>
              <a:t>Performance</a:t>
            </a:r>
            <a:endParaRPr sz="1200" b="1" i="0">
              <a:solidFill>
                <a:srgbClr val="FFFFFF"/>
              </a:solidFill>
              <a:latin typeface="Arial"/>
            </a:endParaRPr>
          </a:p>
        </p:txBody>
      </p:sp>
      <p:grpSp>
        <p:nvGrpSpPr>
          <p:cNvPr id="283" name="Grupo 282">
            <a:extLst>
              <a:ext uri="{FF2B5EF4-FFF2-40B4-BE49-F238E27FC236}">
                <a16:creationId xmlns:a16="http://schemas.microsoft.com/office/drawing/2014/main" id="{49D492FC-3119-7876-1821-EF333FAB5E51}"/>
              </a:ext>
            </a:extLst>
          </p:cNvPr>
          <p:cNvGrpSpPr/>
          <p:nvPr/>
        </p:nvGrpSpPr>
        <p:grpSpPr>
          <a:xfrm>
            <a:off x="9282738" y="6268903"/>
            <a:ext cx="2077935" cy="314392"/>
            <a:chOff x="7632734" y="6069466"/>
            <a:chExt cx="1717301" cy="317535"/>
          </a:xfrm>
        </p:grpSpPr>
        <p:sp>
          <p:nvSpPr>
            <p:cNvPr id="261" name="TextBox 11">
              <a:extLst>
                <a:ext uri="{FF2B5EF4-FFF2-40B4-BE49-F238E27FC236}">
                  <a16:creationId xmlns:a16="http://schemas.microsoft.com/office/drawing/2014/main" id="{DD378A2B-709D-FCA6-5BDD-D801D86C8FE3}"/>
                </a:ext>
              </a:extLst>
            </p:cNvPr>
            <p:cNvSpPr txBox="1"/>
            <p:nvPr/>
          </p:nvSpPr>
          <p:spPr>
            <a:xfrm>
              <a:off x="7633511" y="606946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Demand</a:t>
              </a:r>
              <a:r>
                <a:rPr lang="es-MX" sz="700" b="1" i="0">
                  <a:latin typeface="Arial"/>
                </a:rPr>
                <a:t> </a:t>
              </a:r>
              <a:r>
                <a:rPr lang="es-MX" sz="700" b="1" i="0" err="1">
                  <a:latin typeface="Arial"/>
                </a:rPr>
                <a:t>volume</a:t>
              </a:r>
              <a:endParaRPr lang="es-MX" sz="700" b="1" i="0">
                <a:latin typeface="Arial"/>
              </a:endParaRPr>
            </a:p>
          </p:txBody>
        </p:sp>
        <p:sp>
          <p:nvSpPr>
            <p:cNvPr id="262" name="TextBox 17">
              <a:extLst>
                <a:ext uri="{FF2B5EF4-FFF2-40B4-BE49-F238E27FC236}">
                  <a16:creationId xmlns:a16="http://schemas.microsoft.com/office/drawing/2014/main" id="{2A010C96-0141-8C1F-DBAA-BAAA25843E07}"/>
                </a:ext>
              </a:extLst>
            </p:cNvPr>
            <p:cNvSpPr txBox="1"/>
            <p:nvPr/>
          </p:nvSpPr>
          <p:spPr>
            <a:xfrm>
              <a:off x="8542760" y="606946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DoR</a:t>
              </a:r>
              <a:r>
                <a:rPr lang="es-MX" sz="700" b="1" i="0">
                  <a:latin typeface="Arial"/>
                </a:rPr>
                <a:t> Pass </a:t>
              </a:r>
              <a:r>
                <a:rPr lang="es-MX" sz="700" b="1" i="0" err="1">
                  <a:latin typeface="Arial"/>
                </a:rPr>
                <a:t>Rate</a:t>
              </a:r>
              <a:endParaRPr lang="es-MX" sz="700" b="1" i="0">
                <a:latin typeface="Arial"/>
              </a:endParaRPr>
            </a:p>
          </p:txBody>
        </p:sp>
        <p:sp>
          <p:nvSpPr>
            <p:cNvPr id="263" name="TextBox 23">
              <a:extLst>
                <a:ext uri="{FF2B5EF4-FFF2-40B4-BE49-F238E27FC236}">
                  <a16:creationId xmlns:a16="http://schemas.microsoft.com/office/drawing/2014/main" id="{87153068-020F-3EF1-104B-1705E2C03682}"/>
                </a:ext>
              </a:extLst>
            </p:cNvPr>
            <p:cNvSpPr txBox="1"/>
            <p:nvPr/>
          </p:nvSpPr>
          <p:spPr>
            <a:xfrm>
              <a:off x="7632734" y="6242344"/>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Triage</a:t>
              </a:r>
              <a:r>
                <a:rPr lang="es-MX" sz="700" b="1" i="0">
                  <a:latin typeface="Arial"/>
                </a:rPr>
                <a:t> lead time</a:t>
              </a:r>
            </a:p>
          </p:txBody>
        </p:sp>
        <p:sp>
          <p:nvSpPr>
            <p:cNvPr id="264" name="TextBox 29">
              <a:extLst>
                <a:ext uri="{FF2B5EF4-FFF2-40B4-BE49-F238E27FC236}">
                  <a16:creationId xmlns:a16="http://schemas.microsoft.com/office/drawing/2014/main" id="{1EECC54E-CBA7-9CAF-4CA3-5911F033AE30}"/>
                </a:ext>
              </a:extLst>
            </p:cNvPr>
            <p:cNvSpPr txBox="1"/>
            <p:nvPr/>
          </p:nvSpPr>
          <p:spPr>
            <a:xfrm>
              <a:off x="8541983" y="624234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Channel</a:t>
              </a:r>
              <a:r>
                <a:rPr lang="es-MX" sz="700" b="1" i="0">
                  <a:latin typeface="Arial"/>
                </a:rPr>
                <a:t> </a:t>
              </a:r>
              <a:r>
                <a:rPr lang="es-MX" sz="700" b="1" i="0" err="1">
                  <a:latin typeface="Arial"/>
                </a:rPr>
                <a:t>adoption</a:t>
              </a:r>
              <a:endParaRPr lang="es-MX" sz="700" b="1" i="0">
                <a:latin typeface="Arial"/>
              </a:endParaRPr>
            </a:p>
          </p:txBody>
        </p:sp>
      </p:grpSp>
      <p:sp>
        <p:nvSpPr>
          <p:cNvPr id="303" name="Rounded Rectangle 9">
            <a:extLst>
              <a:ext uri="{FF2B5EF4-FFF2-40B4-BE49-F238E27FC236}">
                <a16:creationId xmlns:a16="http://schemas.microsoft.com/office/drawing/2014/main" id="{FA286113-DA8E-AFAB-AFBF-A9DB30148153}"/>
              </a:ext>
            </a:extLst>
          </p:cNvPr>
          <p:cNvSpPr/>
          <p:nvPr/>
        </p:nvSpPr>
        <p:spPr>
          <a:xfrm>
            <a:off x="617609" y="1455002"/>
            <a:ext cx="1203183" cy="5189092"/>
          </a:xfrm>
          <a:prstGeom prst="roundRect">
            <a:avLst>
              <a:gd name="adj" fmla="val 4000"/>
            </a:avLst>
          </a:prstGeom>
          <a:solidFill>
            <a:srgbClr val="FFFFFF"/>
          </a:solidFill>
          <a:ln w="25400">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TextBox 11">
            <a:extLst>
              <a:ext uri="{FF2B5EF4-FFF2-40B4-BE49-F238E27FC236}">
                <a16:creationId xmlns:a16="http://schemas.microsoft.com/office/drawing/2014/main" id="{5B05F1AB-29B1-2258-3C87-8CB3C1600AEB}"/>
              </a:ext>
            </a:extLst>
          </p:cNvPr>
          <p:cNvSpPr txBox="1"/>
          <p:nvPr/>
        </p:nvSpPr>
        <p:spPr>
          <a:xfrm>
            <a:off x="636659" y="1462647"/>
            <a:ext cx="1174608" cy="324444"/>
          </a:xfrm>
          <a:prstGeom prst="rect">
            <a:avLst/>
          </a:prstGeom>
          <a:solidFill>
            <a:schemeClr val="accent4">
              <a:lumMod val="75000"/>
            </a:schemeClr>
          </a:solidFill>
          <a:ln>
            <a:noFill/>
          </a:ln>
        </p:spPr>
        <p:txBody>
          <a:bodyPr wrap="square" lIns="45720" tIns="18288" rIns="45720" bIns="18288" anchor="ctr">
            <a:spAutoFit/>
          </a:bodyPr>
          <a:lstStyle/>
          <a:p>
            <a:pPr algn="ctr"/>
            <a:r>
              <a:rPr lang="es-MX" sz="1200" b="1" i="0">
                <a:solidFill>
                  <a:srgbClr val="FFFFFF"/>
                </a:solidFill>
                <a:latin typeface="Arial"/>
              </a:rPr>
              <a:t>Roles</a:t>
            </a:r>
            <a:endParaRPr sz="1200" b="1" i="0">
              <a:solidFill>
                <a:srgbClr val="FFFFFF"/>
              </a:solidFill>
              <a:latin typeface="Arial"/>
            </a:endParaRPr>
          </a:p>
        </p:txBody>
      </p:sp>
      <p:pic>
        <p:nvPicPr>
          <p:cNvPr id="306" name="Gráfico 305" descr="Perfil de hombre con relleno sólido">
            <a:extLst>
              <a:ext uri="{FF2B5EF4-FFF2-40B4-BE49-F238E27FC236}">
                <a16:creationId xmlns:a16="http://schemas.microsoft.com/office/drawing/2014/main" id="{6E64959B-B6B2-D7D7-A8E7-D6580E06F54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2221" y="1894591"/>
            <a:ext cx="405237" cy="335430"/>
          </a:xfrm>
          <a:prstGeom prst="rect">
            <a:avLst/>
          </a:prstGeom>
          <a:effectLst/>
        </p:spPr>
      </p:pic>
      <p:sp>
        <p:nvSpPr>
          <p:cNvPr id="321" name="TextBox 158">
            <a:extLst>
              <a:ext uri="{FF2B5EF4-FFF2-40B4-BE49-F238E27FC236}">
                <a16:creationId xmlns:a16="http://schemas.microsoft.com/office/drawing/2014/main" id="{9B89B605-2554-E1D7-8943-0FC8525D952D}"/>
              </a:ext>
            </a:extLst>
          </p:cNvPr>
          <p:cNvSpPr txBox="1"/>
          <p:nvPr/>
        </p:nvSpPr>
        <p:spPr>
          <a:xfrm>
            <a:off x="653455" y="2237586"/>
            <a:ext cx="1144667" cy="591620"/>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900" b="0" noProof="0">
                <a:solidFill>
                  <a:schemeClr val="tx1"/>
                </a:solidFill>
                <a:latin typeface="Arial" panose="020B0604020202020204" pitchFamily="34" charset="0"/>
                <a:cs typeface="Arial" panose="020B0604020202020204" pitchFamily="34" charset="0"/>
              </a:rPr>
              <a:t>Business requester / intake lead / business process owner</a:t>
            </a:r>
          </a:p>
        </p:txBody>
      </p:sp>
      <p:pic>
        <p:nvPicPr>
          <p:cNvPr id="322" name="Picture 26">
            <a:extLst>
              <a:ext uri="{FF2B5EF4-FFF2-40B4-BE49-F238E27FC236}">
                <a16:creationId xmlns:a16="http://schemas.microsoft.com/office/drawing/2014/main" id="{C93C035C-A047-4774-E87B-4836C6B2BD0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53603" y="2986366"/>
            <a:ext cx="366441" cy="312507"/>
          </a:xfrm>
          <a:prstGeom prst="rect">
            <a:avLst/>
          </a:prstGeom>
        </p:spPr>
      </p:pic>
      <p:sp>
        <p:nvSpPr>
          <p:cNvPr id="323" name="Rectángulo 322">
            <a:extLst>
              <a:ext uri="{FF2B5EF4-FFF2-40B4-BE49-F238E27FC236}">
                <a16:creationId xmlns:a16="http://schemas.microsoft.com/office/drawing/2014/main" id="{D4FD57D3-1231-6C02-A8FD-4EBBC2845790}"/>
              </a:ext>
            </a:extLst>
          </p:cNvPr>
          <p:cNvSpPr/>
          <p:nvPr/>
        </p:nvSpPr>
        <p:spPr>
          <a:xfrm>
            <a:off x="746145" y="3320021"/>
            <a:ext cx="981572" cy="228547"/>
          </a:xfrm>
          <a:prstGeom prst="rect">
            <a:avLst/>
          </a:prstGeom>
        </p:spPr>
        <p:txBody>
          <a:bodyPr wrap="square" lIns="0" rIns="0">
            <a:spAutoFit/>
          </a:bodyPr>
          <a:lstStyle/>
          <a:p>
            <a:pPr algn="ctr">
              <a:spcBef>
                <a:spcPts val="200"/>
              </a:spcBef>
              <a:spcAft>
                <a:spcPts val="200"/>
              </a:spcAft>
              <a:defRPr/>
            </a:pPr>
            <a:r>
              <a:rPr lang="en-US" sz="900" noProof="0">
                <a:highlight>
                  <a:srgbClr val="FFFFFF"/>
                </a:highlight>
                <a:latin typeface="Arial" panose="020B0604020202020204" pitchFamily="34" charset="0"/>
                <a:cs typeface="Arial" panose="020B0604020202020204" pitchFamily="34" charset="0"/>
              </a:rPr>
              <a:t>Portfolio manager</a:t>
            </a:r>
          </a:p>
        </p:txBody>
      </p:sp>
      <p:pic>
        <p:nvPicPr>
          <p:cNvPr id="325" name="Picture 20">
            <a:extLst>
              <a:ext uri="{FF2B5EF4-FFF2-40B4-BE49-F238E27FC236}">
                <a16:creationId xmlns:a16="http://schemas.microsoft.com/office/drawing/2014/main" id="{2C288896-8186-CA18-78FC-8A82F0173B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445" y="3624715"/>
            <a:ext cx="308776" cy="279530"/>
          </a:xfrm>
          <a:prstGeom prst="rect">
            <a:avLst/>
          </a:prstGeom>
        </p:spPr>
      </p:pic>
      <p:sp>
        <p:nvSpPr>
          <p:cNvPr id="326" name="Rectángulo 322">
            <a:extLst>
              <a:ext uri="{FF2B5EF4-FFF2-40B4-BE49-F238E27FC236}">
                <a16:creationId xmlns:a16="http://schemas.microsoft.com/office/drawing/2014/main" id="{B012BB17-E315-C284-C4D0-466067D5A56F}"/>
              </a:ext>
            </a:extLst>
          </p:cNvPr>
          <p:cNvSpPr/>
          <p:nvPr/>
        </p:nvSpPr>
        <p:spPr>
          <a:xfrm>
            <a:off x="858965" y="3907949"/>
            <a:ext cx="751916" cy="502803"/>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Product manager director</a:t>
            </a:r>
          </a:p>
        </p:txBody>
      </p:sp>
      <p:sp>
        <p:nvSpPr>
          <p:cNvPr id="333" name="Rectángulo 322">
            <a:extLst>
              <a:ext uri="{FF2B5EF4-FFF2-40B4-BE49-F238E27FC236}">
                <a16:creationId xmlns:a16="http://schemas.microsoft.com/office/drawing/2014/main" id="{EEFBC5A8-4353-61D3-5172-EB78A83928B4}"/>
              </a:ext>
            </a:extLst>
          </p:cNvPr>
          <p:cNvSpPr/>
          <p:nvPr/>
        </p:nvSpPr>
        <p:spPr>
          <a:xfrm>
            <a:off x="915717" y="4862279"/>
            <a:ext cx="653113" cy="369332"/>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IT program delivery</a:t>
            </a:r>
          </a:p>
        </p:txBody>
      </p:sp>
      <p:pic>
        <p:nvPicPr>
          <p:cNvPr id="334" name="Picture 26">
            <a:extLst>
              <a:ext uri="{FF2B5EF4-FFF2-40B4-BE49-F238E27FC236}">
                <a16:creationId xmlns:a16="http://schemas.microsoft.com/office/drawing/2014/main" id="{C2DFF5FF-F384-3FEE-3BBE-611FD19F34A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83973" y="4607957"/>
            <a:ext cx="316600" cy="270002"/>
          </a:xfrm>
          <a:prstGeom prst="rect">
            <a:avLst/>
          </a:prstGeom>
        </p:spPr>
      </p:pic>
      <p:pic>
        <p:nvPicPr>
          <p:cNvPr id="336" name="Picture 20">
            <a:extLst>
              <a:ext uri="{FF2B5EF4-FFF2-40B4-BE49-F238E27FC236}">
                <a16:creationId xmlns:a16="http://schemas.microsoft.com/office/drawing/2014/main" id="{6D785862-52AF-E05F-33AD-E2BF3DB18F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0920" y="5416546"/>
            <a:ext cx="308776" cy="279530"/>
          </a:xfrm>
          <a:prstGeom prst="rect">
            <a:avLst/>
          </a:prstGeom>
        </p:spPr>
      </p:pic>
      <p:sp>
        <p:nvSpPr>
          <p:cNvPr id="337" name="Rectángulo 322">
            <a:extLst>
              <a:ext uri="{FF2B5EF4-FFF2-40B4-BE49-F238E27FC236}">
                <a16:creationId xmlns:a16="http://schemas.microsoft.com/office/drawing/2014/main" id="{3DB1FA74-2EF3-016E-1601-F7B578773F31}"/>
              </a:ext>
            </a:extLst>
          </p:cNvPr>
          <p:cNvSpPr/>
          <p:nvPr/>
        </p:nvSpPr>
        <p:spPr>
          <a:xfrm>
            <a:off x="914689" y="5699781"/>
            <a:ext cx="621418" cy="365675"/>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Architect reviewer</a:t>
            </a:r>
          </a:p>
        </p:txBody>
      </p:sp>
      <p:sp>
        <p:nvSpPr>
          <p:cNvPr id="339" name="TextBox 11">
            <a:extLst>
              <a:ext uri="{FF2B5EF4-FFF2-40B4-BE49-F238E27FC236}">
                <a16:creationId xmlns:a16="http://schemas.microsoft.com/office/drawing/2014/main" id="{1C01AE25-421C-7EA7-6BE1-9C48F705B90D}"/>
              </a:ext>
            </a:extLst>
          </p:cNvPr>
          <p:cNvSpPr txBox="1"/>
          <p:nvPr/>
        </p:nvSpPr>
        <p:spPr>
          <a:xfrm>
            <a:off x="1959933" y="1462647"/>
            <a:ext cx="9547084" cy="324356"/>
          </a:xfrm>
          <a:prstGeom prst="rect">
            <a:avLst/>
          </a:prstGeom>
          <a:solidFill>
            <a:schemeClr val="accent3"/>
          </a:solidFill>
          <a:ln>
            <a:noFill/>
          </a:ln>
        </p:spPr>
        <p:txBody>
          <a:bodyPr wrap="square" lIns="45720" tIns="18288" rIns="45720" bIns="18288" anchor="ctr">
            <a:noAutofit/>
          </a:bodyPr>
          <a:lstStyle/>
          <a:p>
            <a:pPr algn="ctr"/>
            <a:r>
              <a:rPr lang="es-MX" sz="1200" b="1" i="0">
                <a:solidFill>
                  <a:srgbClr val="FFFFFF"/>
                </a:solidFill>
                <a:latin typeface="Arial"/>
              </a:rPr>
              <a:t>Process</a:t>
            </a:r>
            <a:endParaRPr sz="1200" b="1" i="0">
              <a:solidFill>
                <a:srgbClr val="FFFFFF"/>
              </a:solidFill>
              <a:latin typeface="Arial"/>
            </a:endParaRPr>
          </a:p>
        </p:txBody>
      </p:sp>
      <p:cxnSp>
        <p:nvCxnSpPr>
          <p:cNvPr id="9" name="Conector em Curva 644">
            <a:extLst>
              <a:ext uri="{FF2B5EF4-FFF2-40B4-BE49-F238E27FC236}">
                <a16:creationId xmlns:a16="http://schemas.microsoft.com/office/drawing/2014/main" id="{483C0A88-7018-9F8A-C2C1-66758997EB7C}"/>
              </a:ext>
            </a:extLst>
          </p:cNvPr>
          <p:cNvCxnSpPr>
            <a:cxnSpLocks/>
            <a:endCxn id="494" idx="3"/>
          </p:cNvCxnSpPr>
          <p:nvPr/>
        </p:nvCxnSpPr>
        <p:spPr>
          <a:xfrm rot="10800000" flipV="1">
            <a:off x="8951556" y="4658380"/>
            <a:ext cx="854315" cy="245402"/>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4" name="Group 510">
            <a:extLst>
              <a:ext uri="{FF2B5EF4-FFF2-40B4-BE49-F238E27FC236}">
                <a16:creationId xmlns:a16="http://schemas.microsoft.com/office/drawing/2014/main" id="{B94BA8E1-DCE5-DC8D-0BFA-767E80128D40}"/>
              </a:ext>
            </a:extLst>
          </p:cNvPr>
          <p:cNvGrpSpPr/>
          <p:nvPr/>
        </p:nvGrpSpPr>
        <p:grpSpPr>
          <a:xfrm>
            <a:off x="9815712" y="3927019"/>
            <a:ext cx="1314261" cy="173414"/>
            <a:chOff x="9050566" y="3065430"/>
            <a:chExt cx="2004153" cy="429761"/>
          </a:xfrm>
          <a:solidFill>
            <a:schemeClr val="bg1">
              <a:lumMod val="95000"/>
            </a:schemeClr>
          </a:solidFill>
        </p:grpSpPr>
        <p:sp>
          <p:nvSpPr>
            <p:cNvPr id="15" name="Rounded Rectangle 463">
              <a:extLst>
                <a:ext uri="{FF2B5EF4-FFF2-40B4-BE49-F238E27FC236}">
                  <a16:creationId xmlns:a16="http://schemas.microsoft.com/office/drawing/2014/main" id="{3B848403-2A22-6089-5987-7A250755CB96}"/>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6" name="Straight Connector 470">
              <a:extLst>
                <a:ext uri="{FF2B5EF4-FFF2-40B4-BE49-F238E27FC236}">
                  <a16:creationId xmlns:a16="http://schemas.microsoft.com/office/drawing/2014/main" id="{E98F62AC-41FC-DD63-1E2A-01E57470F943}"/>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499">
              <a:extLst>
                <a:ext uri="{FF2B5EF4-FFF2-40B4-BE49-F238E27FC236}">
                  <a16:creationId xmlns:a16="http://schemas.microsoft.com/office/drawing/2014/main" id="{73810090-3BDD-DCEE-80E9-8B2539F38A5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503">
              <a:extLst>
                <a:ext uri="{FF2B5EF4-FFF2-40B4-BE49-F238E27FC236}">
                  <a16:creationId xmlns:a16="http://schemas.microsoft.com/office/drawing/2014/main" id="{0E8F2A41-0119-74FF-E2B2-B42E4CAFC230}"/>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504">
              <a:extLst>
                <a:ext uri="{FF2B5EF4-FFF2-40B4-BE49-F238E27FC236}">
                  <a16:creationId xmlns:a16="http://schemas.microsoft.com/office/drawing/2014/main" id="{414ABD67-F991-E3FA-44B2-47B50400F26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505">
              <a:extLst>
                <a:ext uri="{FF2B5EF4-FFF2-40B4-BE49-F238E27FC236}">
                  <a16:creationId xmlns:a16="http://schemas.microsoft.com/office/drawing/2014/main" id="{FE4AFAC1-46B0-2FD8-7C4A-9A47CE8871EB}"/>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506">
              <a:extLst>
                <a:ext uri="{FF2B5EF4-FFF2-40B4-BE49-F238E27FC236}">
                  <a16:creationId xmlns:a16="http://schemas.microsoft.com/office/drawing/2014/main" id="{DC431322-4B0E-D9E0-9F8B-F857F282CEE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507">
              <a:extLst>
                <a:ext uri="{FF2B5EF4-FFF2-40B4-BE49-F238E27FC236}">
                  <a16:creationId xmlns:a16="http://schemas.microsoft.com/office/drawing/2014/main" id="{F0611459-C107-6098-58A3-7F369800595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508">
              <a:extLst>
                <a:ext uri="{FF2B5EF4-FFF2-40B4-BE49-F238E27FC236}">
                  <a16:creationId xmlns:a16="http://schemas.microsoft.com/office/drawing/2014/main" id="{EEDA9656-1DB1-1D23-DD4B-9992A174901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509">
              <a:extLst>
                <a:ext uri="{FF2B5EF4-FFF2-40B4-BE49-F238E27FC236}">
                  <a16:creationId xmlns:a16="http://schemas.microsoft.com/office/drawing/2014/main" id="{74C9B977-9D86-1045-2A45-86D5FE675B3B}"/>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extBox 65">
            <a:extLst>
              <a:ext uri="{FF2B5EF4-FFF2-40B4-BE49-F238E27FC236}">
                <a16:creationId xmlns:a16="http://schemas.microsoft.com/office/drawing/2014/main" id="{8181091D-471A-9F99-91CB-CEC9510810A4}"/>
              </a:ext>
            </a:extLst>
          </p:cNvPr>
          <p:cNvSpPr txBox="1"/>
          <p:nvPr/>
        </p:nvSpPr>
        <p:spPr>
          <a:xfrm>
            <a:off x="9594918" y="3801789"/>
            <a:ext cx="1750034" cy="138499"/>
          </a:xfrm>
          <a:prstGeom prst="rect">
            <a:avLst/>
          </a:prstGeom>
          <a:noFill/>
        </p:spPr>
        <p:txBody>
          <a:bodyPr wrap="square" rtlCol="0">
            <a:spAutoFit/>
          </a:bodyPr>
          <a:lstStyle/>
          <a:p>
            <a:pPr algn="ctr"/>
            <a:r>
              <a:rPr lang="en-US" sz="300" b="1" noProof="0">
                <a:solidFill>
                  <a:srgbClr val="173458"/>
                </a:solidFill>
                <a:latin typeface="Montserrat" pitchFamily="2" charset="77"/>
                <a:cs typeface="Calibri" panose="020F0502020204030204" pitchFamily="34" charset="0"/>
              </a:rPr>
              <a:t>REVENUE AND COLLECTIONS TEAM KANBAN BOARD</a:t>
            </a:r>
            <a:endParaRPr lang="en-US" sz="300" noProof="0">
              <a:solidFill>
                <a:srgbClr val="173458"/>
              </a:solidFill>
              <a:latin typeface="Montserrat" pitchFamily="2" charset="77"/>
              <a:cs typeface="Calibri" panose="020F0502020204030204" pitchFamily="34" charset="0"/>
            </a:endParaRPr>
          </a:p>
        </p:txBody>
      </p:sp>
      <p:cxnSp>
        <p:nvCxnSpPr>
          <p:cNvPr id="26" name="Conector em Curva 641">
            <a:extLst>
              <a:ext uri="{FF2B5EF4-FFF2-40B4-BE49-F238E27FC236}">
                <a16:creationId xmlns:a16="http://schemas.microsoft.com/office/drawing/2014/main" id="{4588DF1D-F664-B74E-0B53-F9DF8ECA8DE7}"/>
              </a:ext>
            </a:extLst>
          </p:cNvPr>
          <p:cNvCxnSpPr>
            <a:cxnSpLocks/>
            <a:endCxn id="493" idx="3"/>
          </p:cNvCxnSpPr>
          <p:nvPr/>
        </p:nvCxnSpPr>
        <p:spPr>
          <a:xfrm rot="10800000">
            <a:off x="8921262" y="3664579"/>
            <a:ext cx="894450" cy="349108"/>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9" name="Group 510">
            <a:extLst>
              <a:ext uri="{FF2B5EF4-FFF2-40B4-BE49-F238E27FC236}">
                <a16:creationId xmlns:a16="http://schemas.microsoft.com/office/drawing/2014/main" id="{85FD98E3-E065-CC82-0E1F-064266DBB8AC}"/>
              </a:ext>
            </a:extLst>
          </p:cNvPr>
          <p:cNvGrpSpPr/>
          <p:nvPr/>
        </p:nvGrpSpPr>
        <p:grpSpPr>
          <a:xfrm>
            <a:off x="9812804" y="4247511"/>
            <a:ext cx="1314261" cy="173414"/>
            <a:chOff x="9050566" y="3065430"/>
            <a:chExt cx="2004153" cy="429761"/>
          </a:xfrm>
          <a:solidFill>
            <a:schemeClr val="bg1">
              <a:lumMod val="95000"/>
            </a:schemeClr>
          </a:solidFill>
        </p:grpSpPr>
        <p:sp>
          <p:nvSpPr>
            <p:cNvPr id="40" name="Rounded Rectangle 463">
              <a:extLst>
                <a:ext uri="{FF2B5EF4-FFF2-40B4-BE49-F238E27FC236}">
                  <a16:creationId xmlns:a16="http://schemas.microsoft.com/office/drawing/2014/main" id="{B679A615-4473-7D2E-8BFF-C7CBECE0DD91}"/>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41" name="Straight Connector 470">
              <a:extLst>
                <a:ext uri="{FF2B5EF4-FFF2-40B4-BE49-F238E27FC236}">
                  <a16:creationId xmlns:a16="http://schemas.microsoft.com/office/drawing/2014/main" id="{2F7FD37B-D1E9-DD45-9DD4-2FD565C05616}"/>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499">
              <a:extLst>
                <a:ext uri="{FF2B5EF4-FFF2-40B4-BE49-F238E27FC236}">
                  <a16:creationId xmlns:a16="http://schemas.microsoft.com/office/drawing/2014/main" id="{8910F122-DA02-DE5D-B7C7-75AC09CD4F02}"/>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03">
              <a:extLst>
                <a:ext uri="{FF2B5EF4-FFF2-40B4-BE49-F238E27FC236}">
                  <a16:creationId xmlns:a16="http://schemas.microsoft.com/office/drawing/2014/main" id="{BCFADDEC-7C98-2837-154A-1A49CF4A6581}"/>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04">
              <a:extLst>
                <a:ext uri="{FF2B5EF4-FFF2-40B4-BE49-F238E27FC236}">
                  <a16:creationId xmlns:a16="http://schemas.microsoft.com/office/drawing/2014/main" id="{B833620D-7235-6B71-505A-C4A7A57E4A3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Straight Connector 505">
              <a:extLst>
                <a:ext uri="{FF2B5EF4-FFF2-40B4-BE49-F238E27FC236}">
                  <a16:creationId xmlns:a16="http://schemas.microsoft.com/office/drawing/2014/main" id="{CD398E72-4084-B0B3-AF50-D968646F6375}"/>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Straight Connector 506">
              <a:extLst>
                <a:ext uri="{FF2B5EF4-FFF2-40B4-BE49-F238E27FC236}">
                  <a16:creationId xmlns:a16="http://schemas.microsoft.com/office/drawing/2014/main" id="{53190A54-CA3F-935E-D1EE-25FBF539B46E}"/>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7" name="Straight Connector 507">
              <a:extLst>
                <a:ext uri="{FF2B5EF4-FFF2-40B4-BE49-F238E27FC236}">
                  <a16:creationId xmlns:a16="http://schemas.microsoft.com/office/drawing/2014/main" id="{B099EAAC-A632-0111-1CD9-19DEA434796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Straight Connector 508">
              <a:extLst>
                <a:ext uri="{FF2B5EF4-FFF2-40B4-BE49-F238E27FC236}">
                  <a16:creationId xmlns:a16="http://schemas.microsoft.com/office/drawing/2014/main" id="{12392A20-2E56-80A1-31B5-E8155E5DE522}"/>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Straight Connector 509">
              <a:extLst>
                <a:ext uri="{FF2B5EF4-FFF2-40B4-BE49-F238E27FC236}">
                  <a16:creationId xmlns:a16="http://schemas.microsoft.com/office/drawing/2014/main" id="{A7270EEB-5E57-53B1-4D92-B19AE2224E2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0" name="TextBox 65">
            <a:extLst>
              <a:ext uri="{FF2B5EF4-FFF2-40B4-BE49-F238E27FC236}">
                <a16:creationId xmlns:a16="http://schemas.microsoft.com/office/drawing/2014/main" id="{82685955-955B-BF99-E1B2-D6827FAB25B7}"/>
              </a:ext>
            </a:extLst>
          </p:cNvPr>
          <p:cNvSpPr txBox="1"/>
          <p:nvPr/>
        </p:nvSpPr>
        <p:spPr>
          <a:xfrm>
            <a:off x="9594918" y="4098227"/>
            <a:ext cx="1750034" cy="138499"/>
          </a:xfrm>
          <a:prstGeom prst="rect">
            <a:avLst/>
          </a:prstGeom>
          <a:noFill/>
        </p:spPr>
        <p:txBody>
          <a:bodyPr wrap="square" rtlCol="0">
            <a:spAutoFit/>
          </a:bodyPr>
          <a:lstStyle/>
          <a:p>
            <a:pPr algn="ctr"/>
            <a:r>
              <a:rPr lang="en-US" sz="300" b="1">
                <a:solidFill>
                  <a:srgbClr val="C00000"/>
                </a:solidFill>
                <a:latin typeface="Montserrat" pitchFamily="2" charset="77"/>
                <a:cs typeface="Calibri" panose="020F0502020204030204" pitchFamily="34" charset="0"/>
              </a:rPr>
              <a:t>ENABLING </a:t>
            </a:r>
            <a:r>
              <a:rPr lang="en-US" sz="300" b="1" noProof="0">
                <a:solidFill>
                  <a:srgbClr val="C00000"/>
                </a:solidFill>
                <a:latin typeface="Montserrat" pitchFamily="2" charset="77"/>
                <a:cs typeface="Calibri" panose="020F0502020204030204" pitchFamily="34" charset="0"/>
              </a:rPr>
              <a:t>TEAM KANBAN BOARD</a:t>
            </a:r>
            <a:endParaRPr lang="en-US" sz="300" noProof="0">
              <a:solidFill>
                <a:srgbClr val="C00000"/>
              </a:solidFill>
              <a:latin typeface="Montserrat" pitchFamily="2" charset="77"/>
              <a:cs typeface="Calibri" panose="020F0502020204030204" pitchFamily="34" charset="0"/>
            </a:endParaRPr>
          </a:p>
        </p:txBody>
      </p:sp>
      <p:cxnSp>
        <p:nvCxnSpPr>
          <p:cNvPr id="507" name="Conector em Curva 641">
            <a:extLst>
              <a:ext uri="{FF2B5EF4-FFF2-40B4-BE49-F238E27FC236}">
                <a16:creationId xmlns:a16="http://schemas.microsoft.com/office/drawing/2014/main" id="{B3D10CA0-A2A9-C246-EAB2-E2A59B613AD0}"/>
              </a:ext>
            </a:extLst>
          </p:cNvPr>
          <p:cNvCxnSpPr>
            <a:cxnSpLocks/>
            <a:endCxn id="493" idx="3"/>
          </p:cNvCxnSpPr>
          <p:nvPr/>
        </p:nvCxnSpPr>
        <p:spPr>
          <a:xfrm rot="10800000">
            <a:off x="8921262" y="3664579"/>
            <a:ext cx="891542" cy="669600"/>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5" name="Grupo 4">
            <a:extLst>
              <a:ext uri="{FF2B5EF4-FFF2-40B4-BE49-F238E27FC236}">
                <a16:creationId xmlns:a16="http://schemas.microsoft.com/office/drawing/2014/main" id="{AB36014E-909B-E3EC-4244-F88A93DBA5FD}"/>
              </a:ext>
            </a:extLst>
          </p:cNvPr>
          <p:cNvGrpSpPr/>
          <p:nvPr/>
        </p:nvGrpSpPr>
        <p:grpSpPr>
          <a:xfrm>
            <a:off x="5376294" y="6307630"/>
            <a:ext cx="1583111" cy="252377"/>
            <a:chOff x="548640" y="1804292"/>
            <a:chExt cx="7274355" cy="277614"/>
          </a:xfrm>
        </p:grpSpPr>
        <p:sp>
          <p:nvSpPr>
            <p:cNvPr id="3" name="TextBox 11">
              <a:extLst>
                <a:ext uri="{FF2B5EF4-FFF2-40B4-BE49-F238E27FC236}">
                  <a16:creationId xmlns:a16="http://schemas.microsoft.com/office/drawing/2014/main" id="{704CB385-462B-44D4-B94C-1BF2B24A9805}"/>
                </a:ext>
              </a:extLst>
            </p:cNvPr>
            <p:cNvSpPr txBox="1"/>
            <p:nvPr/>
          </p:nvSpPr>
          <p:spPr>
            <a:xfrm>
              <a:off x="548640" y="1804293"/>
              <a:ext cx="3454295" cy="277613"/>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effectLst/>
                  <a:uLnTx/>
                  <a:uFillTx/>
                  <a:latin typeface="Arial"/>
                  <a:ea typeface="+mn-ea"/>
                  <a:cs typeface="+mn-cs"/>
                </a:rPr>
                <a:t>GATE 1 · TRIAGE</a:t>
              </a:r>
            </a:p>
          </p:txBody>
        </p:sp>
        <p:sp>
          <p:nvSpPr>
            <p:cNvPr id="4" name="TextBox 26">
              <a:extLst>
                <a:ext uri="{FF2B5EF4-FFF2-40B4-BE49-F238E27FC236}">
                  <a16:creationId xmlns:a16="http://schemas.microsoft.com/office/drawing/2014/main" id="{02BB0DD9-5B23-B9C3-8508-397851593CB4}"/>
                </a:ext>
              </a:extLst>
            </p:cNvPr>
            <p:cNvSpPr txBox="1"/>
            <p:nvPr/>
          </p:nvSpPr>
          <p:spPr>
            <a:xfrm>
              <a:off x="4368700" y="1804292"/>
              <a:ext cx="3454295" cy="277613"/>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effectLst/>
                  <a:uLnTx/>
                  <a:uFillTx/>
                  <a:latin typeface="Arial"/>
                  <a:ea typeface="+mn-ea"/>
                  <a:cs typeface="+mn-cs"/>
                </a:rPr>
                <a:t>GATE 2 · PORTFOLIO</a:t>
              </a:r>
            </a:p>
          </p:txBody>
        </p:sp>
      </p:grpSp>
    </p:spTree>
    <p:extLst>
      <p:ext uri="{BB962C8B-B14F-4D97-AF65-F5344CB8AC3E}">
        <p14:creationId xmlns:p14="http://schemas.microsoft.com/office/powerpoint/2010/main" val="2406640219"/>
      </p:ext>
    </p:extLst>
  </p:cSld>
  <p:clrMapOvr>
    <a:masterClrMapping/>
  </p:clrMapOvr>
  <p:extLst>
    <p:ext uri="{6950BFC3-D8DA-4A85-94F7-54DA5524770B}">
      <p188:commentRel xmlns:p188="http://schemas.microsoft.com/office/powerpoint/2018/8/main" r:id="rId3"/>
    </p:ext>
  </p:extLs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9B3956-374D-C832-F055-2F37757D1A69}"/>
            </a:ext>
          </a:extLst>
        </p:cNvPr>
        <p:cNvGrpSpPr/>
        <p:nvPr/>
      </p:nvGrpSpPr>
      <p:grpSpPr>
        <a:xfrm>
          <a:off x="0" y="0"/>
          <a:ext cx="0" cy="0"/>
          <a:chOff x="0" y="0"/>
          <a:chExt cx="0" cy="0"/>
        </a:xfrm>
      </p:grpSpPr>
      <p:sp>
        <p:nvSpPr>
          <p:cNvPr id="3" name="Rounded Rectangle 6">
            <a:extLst>
              <a:ext uri="{FF2B5EF4-FFF2-40B4-BE49-F238E27FC236}">
                <a16:creationId xmlns:a16="http://schemas.microsoft.com/office/drawing/2014/main" id="{C957ECB2-B262-4489-CE8E-524901DB8807}"/>
              </a:ext>
            </a:extLst>
          </p:cNvPr>
          <p:cNvSpPr/>
          <p:nvPr/>
        </p:nvSpPr>
        <p:spPr>
          <a:xfrm>
            <a:off x="365760" y="109728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7">
            <a:extLst>
              <a:ext uri="{FF2B5EF4-FFF2-40B4-BE49-F238E27FC236}">
                <a16:creationId xmlns:a16="http://schemas.microsoft.com/office/drawing/2014/main" id="{E1E68400-D030-E382-DA94-B06AC08F2C43}"/>
              </a:ext>
            </a:extLst>
          </p:cNvPr>
          <p:cNvSpPr txBox="1"/>
          <p:nvPr/>
        </p:nvSpPr>
        <p:spPr>
          <a:xfrm>
            <a:off x="502920" y="1133856"/>
            <a:ext cx="7315200" cy="182880"/>
          </a:xfrm>
          <a:prstGeom prst="rect">
            <a:avLst/>
          </a:prstGeom>
          <a:noFill/>
        </p:spPr>
        <p:txBody>
          <a:bodyPr wrap="square" lIns="36000" tIns="18000" rIns="36000" bIns="18000" anchor="t">
            <a:spAutoFit/>
          </a:bodyPr>
          <a:lstStyle/>
          <a:p>
            <a:pPr algn="l"/>
            <a:r>
              <a:rPr sz="800" b="0" i="0">
                <a:solidFill>
                  <a:srgbClr val="C8E0CB"/>
                </a:solidFill>
                <a:latin typeface="Arial"/>
              </a:rPr>
              <a:t>TYPE  ·  Single-select · 4 options · CS only · optional at submit</a:t>
            </a:r>
          </a:p>
        </p:txBody>
      </p:sp>
      <p:sp>
        <p:nvSpPr>
          <p:cNvPr id="5" name="TextBox 8">
            <a:extLst>
              <a:ext uri="{FF2B5EF4-FFF2-40B4-BE49-F238E27FC236}">
                <a16:creationId xmlns:a16="http://schemas.microsoft.com/office/drawing/2014/main" id="{3C086F4E-4A21-0DCC-DF53-0391343F66CC}"/>
              </a:ext>
            </a:extLst>
          </p:cNvPr>
          <p:cNvSpPr txBox="1"/>
          <p:nvPr/>
        </p:nvSpPr>
        <p:spPr>
          <a:xfrm>
            <a:off x="502920" y="1298448"/>
            <a:ext cx="7315200" cy="274320"/>
          </a:xfrm>
          <a:prstGeom prst="rect">
            <a:avLst/>
          </a:prstGeom>
          <a:noFill/>
        </p:spPr>
        <p:txBody>
          <a:bodyPr wrap="square" lIns="36000" tIns="18000" rIns="36000" bIns="18000" anchor="t">
            <a:spAutoFit/>
          </a:bodyPr>
          <a:lstStyle/>
          <a:p>
            <a:pPr algn="l"/>
            <a:r>
              <a:rPr sz="1800" b="1" i="0">
                <a:solidFill>
                  <a:srgbClr val="FFFFFF"/>
                </a:solidFill>
                <a:latin typeface="Arial"/>
              </a:rPr>
              <a:t>Customer Impact Tier</a:t>
            </a:r>
          </a:p>
        </p:txBody>
      </p:sp>
      <p:sp>
        <p:nvSpPr>
          <p:cNvPr id="6" name="Rounded Rectangle 9">
            <a:extLst>
              <a:ext uri="{FF2B5EF4-FFF2-40B4-BE49-F238E27FC236}">
                <a16:creationId xmlns:a16="http://schemas.microsoft.com/office/drawing/2014/main" id="{767C74B2-3719-E5B2-A481-4C8BD45789CE}"/>
              </a:ext>
            </a:extLst>
          </p:cNvPr>
          <p:cNvSpPr/>
          <p:nvPr/>
        </p:nvSpPr>
        <p:spPr>
          <a:xfrm>
            <a:off x="7863840" y="1216152"/>
            <a:ext cx="3931920" cy="274320"/>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0">
            <a:extLst>
              <a:ext uri="{FF2B5EF4-FFF2-40B4-BE49-F238E27FC236}">
                <a16:creationId xmlns:a16="http://schemas.microsoft.com/office/drawing/2014/main" id="{E0D5C247-0875-3990-FCCC-6CDAA0CF14D8}"/>
              </a:ext>
            </a:extLst>
          </p:cNvPr>
          <p:cNvSpPr txBox="1"/>
          <p:nvPr/>
        </p:nvSpPr>
        <p:spPr>
          <a:xfrm>
            <a:off x="7863840" y="1216152"/>
            <a:ext cx="3931920" cy="274320"/>
          </a:xfrm>
          <a:prstGeom prst="rect">
            <a:avLst/>
          </a:prstGeom>
          <a:noFill/>
        </p:spPr>
        <p:txBody>
          <a:bodyPr wrap="square" lIns="36000" tIns="18000" rIns="36000" bIns="18000" anchor="ctr">
            <a:spAutoFit/>
          </a:bodyPr>
          <a:lstStyle/>
          <a:p>
            <a:pPr algn="ctr"/>
            <a:r>
              <a:rPr sz="800" b="1" i="0">
                <a:solidFill>
                  <a:srgbClr val="FFFFFF"/>
                </a:solidFill>
                <a:latin typeface="Arial"/>
              </a:rPr>
              <a:t>● REQUESTER (if known)  /  PM at Reviewing</a:t>
            </a:r>
          </a:p>
        </p:txBody>
      </p:sp>
      <p:sp>
        <p:nvSpPr>
          <p:cNvPr id="8" name="Rounded Rectangle 11">
            <a:extLst>
              <a:ext uri="{FF2B5EF4-FFF2-40B4-BE49-F238E27FC236}">
                <a16:creationId xmlns:a16="http://schemas.microsoft.com/office/drawing/2014/main" id="{547CCCF7-9D3E-73E0-C812-F4A90C58BC7D}"/>
              </a:ext>
            </a:extLst>
          </p:cNvPr>
          <p:cNvSpPr/>
          <p:nvPr/>
        </p:nvSpPr>
        <p:spPr>
          <a:xfrm>
            <a:off x="36576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12">
            <a:extLst>
              <a:ext uri="{FF2B5EF4-FFF2-40B4-BE49-F238E27FC236}">
                <a16:creationId xmlns:a16="http://schemas.microsoft.com/office/drawing/2014/main" id="{40322F24-0363-673E-4A1A-A0EF19860649}"/>
              </a:ext>
            </a:extLst>
          </p:cNvPr>
          <p:cNvSpPr/>
          <p:nvPr/>
        </p:nvSpPr>
        <p:spPr>
          <a:xfrm>
            <a:off x="365760" y="1783080"/>
            <a:ext cx="280035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3">
            <a:extLst>
              <a:ext uri="{FF2B5EF4-FFF2-40B4-BE49-F238E27FC236}">
                <a16:creationId xmlns:a16="http://schemas.microsoft.com/office/drawing/2014/main" id="{794B28E5-C31E-EFEF-E97B-9D588712B1FA}"/>
              </a:ext>
            </a:extLst>
          </p:cNvPr>
          <p:cNvSpPr txBox="1"/>
          <p:nvPr/>
        </p:nvSpPr>
        <p:spPr>
          <a:xfrm>
            <a:off x="36576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P1</a:t>
            </a:r>
          </a:p>
        </p:txBody>
      </p:sp>
      <p:sp>
        <p:nvSpPr>
          <p:cNvPr id="11" name="TextBox 14">
            <a:extLst>
              <a:ext uri="{FF2B5EF4-FFF2-40B4-BE49-F238E27FC236}">
                <a16:creationId xmlns:a16="http://schemas.microsoft.com/office/drawing/2014/main" id="{A01075B5-CF1D-D985-B646-6B97FCD6B335}"/>
              </a:ext>
            </a:extLst>
          </p:cNvPr>
          <p:cNvSpPr txBox="1"/>
          <p:nvPr/>
        </p:nvSpPr>
        <p:spPr>
          <a:xfrm>
            <a:off x="36576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CRITICAL</a:t>
            </a:r>
          </a:p>
        </p:txBody>
      </p:sp>
      <p:sp>
        <p:nvSpPr>
          <p:cNvPr id="12" name="TextBox 15">
            <a:extLst>
              <a:ext uri="{FF2B5EF4-FFF2-40B4-BE49-F238E27FC236}">
                <a16:creationId xmlns:a16="http://schemas.microsoft.com/office/drawing/2014/main" id="{F4FE951B-0E4E-1C0B-E463-9F6EBF023C07}"/>
              </a:ext>
            </a:extLst>
          </p:cNvPr>
          <p:cNvSpPr txBox="1"/>
          <p:nvPr/>
        </p:nvSpPr>
        <p:spPr>
          <a:xfrm>
            <a:off x="43891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&gt; 100k customers OR full OPCO outage</a:t>
            </a:r>
          </a:p>
        </p:txBody>
      </p:sp>
      <p:sp>
        <p:nvSpPr>
          <p:cNvPr id="13" name="TextBox 16">
            <a:extLst>
              <a:ext uri="{FF2B5EF4-FFF2-40B4-BE49-F238E27FC236}">
                <a16:creationId xmlns:a16="http://schemas.microsoft.com/office/drawing/2014/main" id="{EA80EF51-EF8C-0F13-FE78-38714F603A17}"/>
              </a:ext>
            </a:extLst>
          </p:cNvPr>
          <p:cNvSpPr txBox="1"/>
          <p:nvPr/>
        </p:nvSpPr>
        <p:spPr>
          <a:xfrm>
            <a:off x="47548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14" name="TextBox 17">
            <a:extLst>
              <a:ext uri="{FF2B5EF4-FFF2-40B4-BE49-F238E27FC236}">
                <a16:creationId xmlns:a16="http://schemas.microsoft.com/office/drawing/2014/main" id="{D232D092-8011-479D-7907-472E22CA43EC}"/>
              </a:ext>
            </a:extLst>
          </p:cNvPr>
          <p:cNvSpPr txBox="1"/>
          <p:nvPr/>
        </p:nvSpPr>
        <p:spPr>
          <a:xfrm>
            <a:off x="47548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Production outage affecting full customer base of an OPCO · service unavailable · revenue impact &gt; $100k/day</a:t>
            </a:r>
          </a:p>
        </p:txBody>
      </p:sp>
      <p:sp>
        <p:nvSpPr>
          <p:cNvPr id="15" name="TextBox 18">
            <a:extLst>
              <a:ext uri="{FF2B5EF4-FFF2-40B4-BE49-F238E27FC236}">
                <a16:creationId xmlns:a16="http://schemas.microsoft.com/office/drawing/2014/main" id="{5650FE63-501A-E957-588C-3BA29FEE955D}"/>
              </a:ext>
            </a:extLst>
          </p:cNvPr>
          <p:cNvSpPr txBox="1"/>
          <p:nvPr/>
        </p:nvSpPr>
        <p:spPr>
          <a:xfrm>
            <a:off x="47548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16" name="TextBox 19">
            <a:extLst>
              <a:ext uri="{FF2B5EF4-FFF2-40B4-BE49-F238E27FC236}">
                <a16:creationId xmlns:a16="http://schemas.microsoft.com/office/drawing/2014/main" id="{EACA37EE-A2D3-09BA-6B01-2AE1EFBBBA31}"/>
              </a:ext>
            </a:extLst>
          </p:cNvPr>
          <p:cNvSpPr txBox="1"/>
          <p:nvPr/>
        </p:nvSpPr>
        <p:spPr>
          <a:xfrm>
            <a:off x="47548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A2 Auto-Expedite · CoS=Expedite · WIP-1 · 4-hour SLA</a:t>
            </a:r>
          </a:p>
        </p:txBody>
      </p:sp>
      <p:sp>
        <p:nvSpPr>
          <p:cNvPr id="17" name="TextBox 20">
            <a:extLst>
              <a:ext uri="{FF2B5EF4-FFF2-40B4-BE49-F238E27FC236}">
                <a16:creationId xmlns:a16="http://schemas.microsoft.com/office/drawing/2014/main" id="{0629F6B0-FD1E-E1CF-DF28-B4625A710D49}"/>
              </a:ext>
            </a:extLst>
          </p:cNvPr>
          <p:cNvSpPr txBox="1"/>
          <p:nvPr/>
        </p:nvSpPr>
        <p:spPr>
          <a:xfrm>
            <a:off x="47548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18" name="TextBox 21">
            <a:extLst>
              <a:ext uri="{FF2B5EF4-FFF2-40B4-BE49-F238E27FC236}">
                <a16:creationId xmlns:a16="http://schemas.microsoft.com/office/drawing/2014/main" id="{1CA74461-44BD-C75B-C0B8-579AE3816E5A}"/>
              </a:ext>
            </a:extLst>
          </p:cNvPr>
          <p:cNvSpPr txBox="1"/>
          <p:nvPr/>
        </p:nvSpPr>
        <p:spPr>
          <a:xfrm>
            <a:off x="47548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Billing engine down · IVR fully offline · Iberdrola month-close blocker</a:t>
            </a:r>
          </a:p>
        </p:txBody>
      </p:sp>
      <p:sp>
        <p:nvSpPr>
          <p:cNvPr id="19" name="Rounded Rectangle 22">
            <a:extLst>
              <a:ext uri="{FF2B5EF4-FFF2-40B4-BE49-F238E27FC236}">
                <a16:creationId xmlns:a16="http://schemas.microsoft.com/office/drawing/2014/main" id="{92BF9C48-4091-FCA0-EEF2-E3235E50C4AE}"/>
              </a:ext>
            </a:extLst>
          </p:cNvPr>
          <p:cNvSpPr/>
          <p:nvPr/>
        </p:nvSpPr>
        <p:spPr>
          <a:xfrm>
            <a:off x="325755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23">
            <a:extLst>
              <a:ext uri="{FF2B5EF4-FFF2-40B4-BE49-F238E27FC236}">
                <a16:creationId xmlns:a16="http://schemas.microsoft.com/office/drawing/2014/main" id="{0D063664-5EB7-40EA-7E1A-A222192D4EA2}"/>
              </a:ext>
            </a:extLst>
          </p:cNvPr>
          <p:cNvSpPr/>
          <p:nvPr/>
        </p:nvSpPr>
        <p:spPr>
          <a:xfrm>
            <a:off x="3257550" y="1783080"/>
            <a:ext cx="2800350" cy="77724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4">
            <a:extLst>
              <a:ext uri="{FF2B5EF4-FFF2-40B4-BE49-F238E27FC236}">
                <a16:creationId xmlns:a16="http://schemas.microsoft.com/office/drawing/2014/main" id="{8492842A-D62F-E253-FBC5-74E9D03F54CD}"/>
              </a:ext>
            </a:extLst>
          </p:cNvPr>
          <p:cNvSpPr txBox="1"/>
          <p:nvPr/>
        </p:nvSpPr>
        <p:spPr>
          <a:xfrm>
            <a:off x="325755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P2</a:t>
            </a:r>
          </a:p>
        </p:txBody>
      </p:sp>
      <p:sp>
        <p:nvSpPr>
          <p:cNvPr id="22" name="TextBox 25">
            <a:extLst>
              <a:ext uri="{FF2B5EF4-FFF2-40B4-BE49-F238E27FC236}">
                <a16:creationId xmlns:a16="http://schemas.microsoft.com/office/drawing/2014/main" id="{A3B06479-46B0-A749-0A7A-1E24370E6272}"/>
              </a:ext>
            </a:extLst>
          </p:cNvPr>
          <p:cNvSpPr txBox="1"/>
          <p:nvPr/>
        </p:nvSpPr>
        <p:spPr>
          <a:xfrm>
            <a:off x="325755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HIGH</a:t>
            </a:r>
          </a:p>
        </p:txBody>
      </p:sp>
      <p:sp>
        <p:nvSpPr>
          <p:cNvPr id="23" name="TextBox 26">
            <a:extLst>
              <a:ext uri="{FF2B5EF4-FFF2-40B4-BE49-F238E27FC236}">
                <a16:creationId xmlns:a16="http://schemas.microsoft.com/office/drawing/2014/main" id="{ACFF1542-85E0-AA1D-A0A8-1C401F0092B1}"/>
              </a:ext>
            </a:extLst>
          </p:cNvPr>
          <p:cNvSpPr txBox="1"/>
          <p:nvPr/>
        </p:nvSpPr>
        <p:spPr>
          <a:xfrm>
            <a:off x="333070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&gt; 10k customers · degraded service</a:t>
            </a:r>
          </a:p>
        </p:txBody>
      </p:sp>
      <p:sp>
        <p:nvSpPr>
          <p:cNvPr id="24" name="TextBox 27">
            <a:extLst>
              <a:ext uri="{FF2B5EF4-FFF2-40B4-BE49-F238E27FC236}">
                <a16:creationId xmlns:a16="http://schemas.microsoft.com/office/drawing/2014/main" id="{5A7367DD-8820-29EB-2872-F5173E700224}"/>
              </a:ext>
            </a:extLst>
          </p:cNvPr>
          <p:cNvSpPr txBox="1"/>
          <p:nvPr/>
        </p:nvSpPr>
        <p:spPr>
          <a:xfrm>
            <a:off x="336727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25" name="TextBox 28">
            <a:extLst>
              <a:ext uri="{FF2B5EF4-FFF2-40B4-BE49-F238E27FC236}">
                <a16:creationId xmlns:a16="http://schemas.microsoft.com/office/drawing/2014/main" id="{48E1BF9D-CBD3-BC43-0F59-9CB46BB3791B}"/>
              </a:ext>
            </a:extLst>
          </p:cNvPr>
          <p:cNvSpPr txBox="1"/>
          <p:nvPr/>
        </p:nvSpPr>
        <p:spPr>
          <a:xfrm>
            <a:off x="336727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Significant degradation but service continues · workarounds available · regulatory deadline imminent</a:t>
            </a:r>
          </a:p>
        </p:txBody>
      </p:sp>
      <p:sp>
        <p:nvSpPr>
          <p:cNvPr id="26" name="TextBox 29">
            <a:extLst>
              <a:ext uri="{FF2B5EF4-FFF2-40B4-BE49-F238E27FC236}">
                <a16:creationId xmlns:a16="http://schemas.microsoft.com/office/drawing/2014/main" id="{14A4A054-112F-1DF7-4172-63ACBE8D2FE8}"/>
              </a:ext>
            </a:extLst>
          </p:cNvPr>
          <p:cNvSpPr txBox="1"/>
          <p:nvPr/>
        </p:nvSpPr>
        <p:spPr>
          <a:xfrm>
            <a:off x="336727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27" name="TextBox 30">
            <a:extLst>
              <a:ext uri="{FF2B5EF4-FFF2-40B4-BE49-F238E27FC236}">
                <a16:creationId xmlns:a16="http://schemas.microsoft.com/office/drawing/2014/main" id="{94A39DC2-45E6-3E78-1201-06DEA5143DBB}"/>
              </a:ext>
            </a:extLst>
          </p:cNvPr>
          <p:cNvSpPr txBox="1"/>
          <p:nvPr/>
        </p:nvSpPr>
        <p:spPr>
          <a:xfrm>
            <a:off x="336727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A2 Auto-Expedite · CoS=Expedite · WIP-1 · 8-hour SLA</a:t>
            </a:r>
          </a:p>
        </p:txBody>
      </p:sp>
      <p:sp>
        <p:nvSpPr>
          <p:cNvPr id="28" name="TextBox 31">
            <a:extLst>
              <a:ext uri="{FF2B5EF4-FFF2-40B4-BE49-F238E27FC236}">
                <a16:creationId xmlns:a16="http://schemas.microsoft.com/office/drawing/2014/main" id="{689CD523-622C-90FF-1880-53322A548DA9}"/>
              </a:ext>
            </a:extLst>
          </p:cNvPr>
          <p:cNvSpPr txBox="1"/>
          <p:nvPr/>
        </p:nvSpPr>
        <p:spPr>
          <a:xfrm>
            <a:off x="336727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29" name="TextBox 32">
            <a:extLst>
              <a:ext uri="{FF2B5EF4-FFF2-40B4-BE49-F238E27FC236}">
                <a16:creationId xmlns:a16="http://schemas.microsoft.com/office/drawing/2014/main" id="{0C2D996B-8D73-E1F9-4DE3-E15F4F9D3DC4}"/>
              </a:ext>
            </a:extLst>
          </p:cNvPr>
          <p:cNvSpPr txBox="1"/>
          <p:nvPr/>
        </p:nvSpPr>
        <p:spPr>
          <a:xfrm>
            <a:off x="336727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CRM partial outage · Genesys queue routing failure · payment gateway slow</a:t>
            </a:r>
          </a:p>
        </p:txBody>
      </p:sp>
      <p:sp>
        <p:nvSpPr>
          <p:cNvPr id="30" name="Rounded Rectangle 33">
            <a:extLst>
              <a:ext uri="{FF2B5EF4-FFF2-40B4-BE49-F238E27FC236}">
                <a16:creationId xmlns:a16="http://schemas.microsoft.com/office/drawing/2014/main" id="{47911991-4A34-868F-57BD-ED36F09A82C6}"/>
              </a:ext>
            </a:extLst>
          </p:cNvPr>
          <p:cNvSpPr/>
          <p:nvPr/>
        </p:nvSpPr>
        <p:spPr>
          <a:xfrm>
            <a:off x="614934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4">
            <a:extLst>
              <a:ext uri="{FF2B5EF4-FFF2-40B4-BE49-F238E27FC236}">
                <a16:creationId xmlns:a16="http://schemas.microsoft.com/office/drawing/2014/main" id="{305A61F6-6061-365E-8DEB-A180AA214E59}"/>
              </a:ext>
            </a:extLst>
          </p:cNvPr>
          <p:cNvSpPr/>
          <p:nvPr/>
        </p:nvSpPr>
        <p:spPr>
          <a:xfrm>
            <a:off x="6149340" y="1783080"/>
            <a:ext cx="2800350" cy="77724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5">
            <a:extLst>
              <a:ext uri="{FF2B5EF4-FFF2-40B4-BE49-F238E27FC236}">
                <a16:creationId xmlns:a16="http://schemas.microsoft.com/office/drawing/2014/main" id="{035619E6-0C38-F05B-6766-D6E5A020370D}"/>
              </a:ext>
            </a:extLst>
          </p:cNvPr>
          <p:cNvSpPr txBox="1"/>
          <p:nvPr/>
        </p:nvSpPr>
        <p:spPr>
          <a:xfrm>
            <a:off x="614934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P3</a:t>
            </a:r>
          </a:p>
        </p:txBody>
      </p:sp>
      <p:sp>
        <p:nvSpPr>
          <p:cNvPr id="33" name="TextBox 36">
            <a:extLst>
              <a:ext uri="{FF2B5EF4-FFF2-40B4-BE49-F238E27FC236}">
                <a16:creationId xmlns:a16="http://schemas.microsoft.com/office/drawing/2014/main" id="{1530BE48-C79A-AE8B-E1A1-632CED8F6B86}"/>
              </a:ext>
            </a:extLst>
          </p:cNvPr>
          <p:cNvSpPr txBox="1"/>
          <p:nvPr/>
        </p:nvSpPr>
        <p:spPr>
          <a:xfrm>
            <a:off x="614934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MEDIUM</a:t>
            </a:r>
          </a:p>
        </p:txBody>
      </p:sp>
      <p:sp>
        <p:nvSpPr>
          <p:cNvPr id="34" name="TextBox 37">
            <a:extLst>
              <a:ext uri="{FF2B5EF4-FFF2-40B4-BE49-F238E27FC236}">
                <a16:creationId xmlns:a16="http://schemas.microsoft.com/office/drawing/2014/main" id="{19E36778-22E1-8D19-8549-9AD2B9BFEAE5}"/>
              </a:ext>
            </a:extLst>
          </p:cNvPr>
          <p:cNvSpPr txBox="1"/>
          <p:nvPr/>
        </p:nvSpPr>
        <p:spPr>
          <a:xfrm>
            <a:off x="622249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single-OPCO non-critical issue</a:t>
            </a:r>
          </a:p>
        </p:txBody>
      </p:sp>
      <p:sp>
        <p:nvSpPr>
          <p:cNvPr id="35" name="TextBox 38">
            <a:extLst>
              <a:ext uri="{FF2B5EF4-FFF2-40B4-BE49-F238E27FC236}">
                <a16:creationId xmlns:a16="http://schemas.microsoft.com/office/drawing/2014/main" id="{3D7DA30E-642C-0B40-82A3-EA509B801CEF}"/>
              </a:ext>
            </a:extLst>
          </p:cNvPr>
          <p:cNvSpPr txBox="1"/>
          <p:nvPr/>
        </p:nvSpPr>
        <p:spPr>
          <a:xfrm>
            <a:off x="625906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36" name="TextBox 39">
            <a:extLst>
              <a:ext uri="{FF2B5EF4-FFF2-40B4-BE49-F238E27FC236}">
                <a16:creationId xmlns:a16="http://schemas.microsoft.com/office/drawing/2014/main" id="{BB62CA5E-FC60-69A9-46CF-50E740E90768}"/>
              </a:ext>
            </a:extLst>
          </p:cNvPr>
          <p:cNvSpPr txBox="1"/>
          <p:nvPr/>
        </p:nvSpPr>
        <p:spPr>
          <a:xfrm>
            <a:off x="625906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One OPCO affected · workarounds in place · low complaint volume · not customer-facing severity</a:t>
            </a:r>
          </a:p>
        </p:txBody>
      </p:sp>
      <p:sp>
        <p:nvSpPr>
          <p:cNvPr id="37" name="TextBox 40">
            <a:extLst>
              <a:ext uri="{FF2B5EF4-FFF2-40B4-BE49-F238E27FC236}">
                <a16:creationId xmlns:a16="http://schemas.microsoft.com/office/drawing/2014/main" id="{710BCBE5-63BE-A3EC-F0DD-A88C7C43F00E}"/>
              </a:ext>
            </a:extLst>
          </p:cNvPr>
          <p:cNvSpPr txBox="1"/>
          <p:nvPr/>
        </p:nvSpPr>
        <p:spPr>
          <a:xfrm>
            <a:off x="625906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38" name="TextBox 41">
            <a:extLst>
              <a:ext uri="{FF2B5EF4-FFF2-40B4-BE49-F238E27FC236}">
                <a16:creationId xmlns:a16="http://schemas.microsoft.com/office/drawing/2014/main" id="{6920BE32-BC02-8B50-0F76-E72BB8185D96}"/>
              </a:ext>
            </a:extLst>
          </p:cNvPr>
          <p:cNvSpPr txBox="1"/>
          <p:nvPr/>
        </p:nvSpPr>
        <p:spPr>
          <a:xfrm>
            <a:off x="625906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No automation · Standard CoS · 24-hour SLA · normal triage flow</a:t>
            </a:r>
          </a:p>
        </p:txBody>
      </p:sp>
      <p:sp>
        <p:nvSpPr>
          <p:cNvPr id="39" name="TextBox 42">
            <a:extLst>
              <a:ext uri="{FF2B5EF4-FFF2-40B4-BE49-F238E27FC236}">
                <a16:creationId xmlns:a16="http://schemas.microsoft.com/office/drawing/2014/main" id="{922F3B14-47E5-17D2-D136-6EA392BEE927}"/>
              </a:ext>
            </a:extLst>
          </p:cNvPr>
          <p:cNvSpPr txBox="1"/>
          <p:nvPr/>
        </p:nvSpPr>
        <p:spPr>
          <a:xfrm>
            <a:off x="625906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40" name="TextBox 43">
            <a:extLst>
              <a:ext uri="{FF2B5EF4-FFF2-40B4-BE49-F238E27FC236}">
                <a16:creationId xmlns:a16="http://schemas.microsoft.com/office/drawing/2014/main" id="{26AED123-FA31-EA71-762E-EA6744BD2E83}"/>
              </a:ext>
            </a:extLst>
          </p:cNvPr>
          <p:cNvSpPr txBox="1"/>
          <p:nvPr/>
        </p:nvSpPr>
        <p:spPr>
          <a:xfrm>
            <a:off x="625906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Localized billing display issue · UI glitch on a single OPCO · dashboard slow</a:t>
            </a:r>
          </a:p>
        </p:txBody>
      </p:sp>
      <p:sp>
        <p:nvSpPr>
          <p:cNvPr id="41" name="Rounded Rectangle 44">
            <a:extLst>
              <a:ext uri="{FF2B5EF4-FFF2-40B4-BE49-F238E27FC236}">
                <a16:creationId xmlns:a16="http://schemas.microsoft.com/office/drawing/2014/main" id="{A2143AC8-4276-8DF9-00BF-B3BCFF198998}"/>
              </a:ext>
            </a:extLst>
          </p:cNvPr>
          <p:cNvSpPr/>
          <p:nvPr/>
        </p:nvSpPr>
        <p:spPr>
          <a:xfrm>
            <a:off x="904113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5">
            <a:extLst>
              <a:ext uri="{FF2B5EF4-FFF2-40B4-BE49-F238E27FC236}">
                <a16:creationId xmlns:a16="http://schemas.microsoft.com/office/drawing/2014/main" id="{C967868E-4342-E0B9-6552-D9B2C59147BE}"/>
              </a:ext>
            </a:extLst>
          </p:cNvPr>
          <p:cNvSpPr/>
          <p:nvPr/>
        </p:nvSpPr>
        <p:spPr>
          <a:xfrm>
            <a:off x="9041130" y="1783080"/>
            <a:ext cx="2800350" cy="77724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6">
            <a:extLst>
              <a:ext uri="{FF2B5EF4-FFF2-40B4-BE49-F238E27FC236}">
                <a16:creationId xmlns:a16="http://schemas.microsoft.com/office/drawing/2014/main" id="{90E0CADE-3DA7-4037-FA1E-8F255308CBB2}"/>
              </a:ext>
            </a:extLst>
          </p:cNvPr>
          <p:cNvSpPr txBox="1"/>
          <p:nvPr/>
        </p:nvSpPr>
        <p:spPr>
          <a:xfrm>
            <a:off x="904113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P4</a:t>
            </a:r>
          </a:p>
        </p:txBody>
      </p:sp>
      <p:sp>
        <p:nvSpPr>
          <p:cNvPr id="44" name="TextBox 47">
            <a:extLst>
              <a:ext uri="{FF2B5EF4-FFF2-40B4-BE49-F238E27FC236}">
                <a16:creationId xmlns:a16="http://schemas.microsoft.com/office/drawing/2014/main" id="{9B00F9DD-EAC1-5338-20CD-92BB421654E3}"/>
              </a:ext>
            </a:extLst>
          </p:cNvPr>
          <p:cNvSpPr txBox="1"/>
          <p:nvPr/>
        </p:nvSpPr>
        <p:spPr>
          <a:xfrm>
            <a:off x="904113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LOW</a:t>
            </a:r>
          </a:p>
        </p:txBody>
      </p:sp>
      <p:sp>
        <p:nvSpPr>
          <p:cNvPr id="45" name="TextBox 48">
            <a:extLst>
              <a:ext uri="{FF2B5EF4-FFF2-40B4-BE49-F238E27FC236}">
                <a16:creationId xmlns:a16="http://schemas.microsoft.com/office/drawing/2014/main" id="{98B7900F-A514-4F65-5B17-9B89F6B06BE6}"/>
              </a:ext>
            </a:extLst>
          </p:cNvPr>
          <p:cNvSpPr txBox="1"/>
          <p:nvPr/>
        </p:nvSpPr>
        <p:spPr>
          <a:xfrm>
            <a:off x="911428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internal-only · no customer impact</a:t>
            </a:r>
          </a:p>
        </p:txBody>
      </p:sp>
      <p:sp>
        <p:nvSpPr>
          <p:cNvPr id="46" name="TextBox 49">
            <a:extLst>
              <a:ext uri="{FF2B5EF4-FFF2-40B4-BE49-F238E27FC236}">
                <a16:creationId xmlns:a16="http://schemas.microsoft.com/office/drawing/2014/main" id="{41D11E0D-8BD7-B42A-0BC4-25DABF786AF8}"/>
              </a:ext>
            </a:extLst>
          </p:cNvPr>
          <p:cNvSpPr txBox="1"/>
          <p:nvPr/>
        </p:nvSpPr>
        <p:spPr>
          <a:xfrm>
            <a:off x="915085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47" name="TextBox 50">
            <a:extLst>
              <a:ext uri="{FF2B5EF4-FFF2-40B4-BE49-F238E27FC236}">
                <a16:creationId xmlns:a16="http://schemas.microsoft.com/office/drawing/2014/main" id="{9E08E013-1612-BAA6-B55C-826D9AFD23EC}"/>
              </a:ext>
            </a:extLst>
          </p:cNvPr>
          <p:cNvSpPr txBox="1"/>
          <p:nvPr/>
        </p:nvSpPr>
        <p:spPr>
          <a:xfrm>
            <a:off x="915085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Internal users only · agent-side or back-office tooling · no customer-facing implications</a:t>
            </a:r>
          </a:p>
        </p:txBody>
      </p:sp>
      <p:sp>
        <p:nvSpPr>
          <p:cNvPr id="48" name="TextBox 51">
            <a:extLst>
              <a:ext uri="{FF2B5EF4-FFF2-40B4-BE49-F238E27FC236}">
                <a16:creationId xmlns:a16="http://schemas.microsoft.com/office/drawing/2014/main" id="{0F46C227-16F9-95B9-6FA8-ACAEBD654396}"/>
              </a:ext>
            </a:extLst>
          </p:cNvPr>
          <p:cNvSpPr txBox="1"/>
          <p:nvPr/>
        </p:nvSpPr>
        <p:spPr>
          <a:xfrm>
            <a:off x="915085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49" name="TextBox 52">
            <a:extLst>
              <a:ext uri="{FF2B5EF4-FFF2-40B4-BE49-F238E27FC236}">
                <a16:creationId xmlns:a16="http://schemas.microsoft.com/office/drawing/2014/main" id="{27665B2C-D387-C7F7-5F65-7EBE6273E860}"/>
              </a:ext>
            </a:extLst>
          </p:cNvPr>
          <p:cNvSpPr txBox="1"/>
          <p:nvPr/>
        </p:nvSpPr>
        <p:spPr>
          <a:xfrm>
            <a:off x="915085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No automation · Standard or Intangible CoS · 72-hour SLA</a:t>
            </a:r>
          </a:p>
        </p:txBody>
      </p:sp>
      <p:sp>
        <p:nvSpPr>
          <p:cNvPr id="50" name="TextBox 53">
            <a:extLst>
              <a:ext uri="{FF2B5EF4-FFF2-40B4-BE49-F238E27FC236}">
                <a16:creationId xmlns:a16="http://schemas.microsoft.com/office/drawing/2014/main" id="{FF414C09-405E-E0EF-2FE3-D30428904626}"/>
              </a:ext>
            </a:extLst>
          </p:cNvPr>
          <p:cNvSpPr txBox="1"/>
          <p:nvPr/>
        </p:nvSpPr>
        <p:spPr>
          <a:xfrm>
            <a:off x="915085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51" name="TextBox 54">
            <a:extLst>
              <a:ext uri="{FF2B5EF4-FFF2-40B4-BE49-F238E27FC236}">
                <a16:creationId xmlns:a16="http://schemas.microsoft.com/office/drawing/2014/main" id="{9F4D09BD-E577-BF15-7FCB-4D9D04236BAC}"/>
              </a:ext>
            </a:extLst>
          </p:cNvPr>
          <p:cNvSpPr txBox="1"/>
          <p:nvPr/>
        </p:nvSpPr>
        <p:spPr>
          <a:xfrm>
            <a:off x="915085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Internal report formatting · agent dashboard tweak · documentation update</a:t>
            </a:r>
          </a:p>
        </p:txBody>
      </p:sp>
      <p:sp>
        <p:nvSpPr>
          <p:cNvPr id="52" name="Rounded Rectangle 55">
            <a:extLst>
              <a:ext uri="{FF2B5EF4-FFF2-40B4-BE49-F238E27FC236}">
                <a16:creationId xmlns:a16="http://schemas.microsoft.com/office/drawing/2014/main" id="{E6B0FD30-7609-0BE3-804A-2726580ADA9A}"/>
              </a:ext>
            </a:extLst>
          </p:cNvPr>
          <p:cNvSpPr/>
          <p:nvPr/>
        </p:nvSpPr>
        <p:spPr>
          <a:xfrm>
            <a:off x="365760" y="5322436"/>
            <a:ext cx="11475720" cy="8686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6">
            <a:extLst>
              <a:ext uri="{FF2B5EF4-FFF2-40B4-BE49-F238E27FC236}">
                <a16:creationId xmlns:a16="http://schemas.microsoft.com/office/drawing/2014/main" id="{5C6A8ED3-BFDA-58EA-D49C-1DC44574353A}"/>
              </a:ext>
            </a:extLst>
          </p:cNvPr>
          <p:cNvSpPr txBox="1"/>
          <p:nvPr/>
        </p:nvSpPr>
        <p:spPr>
          <a:xfrm>
            <a:off x="502920" y="5395588"/>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HOW IT AFFECTS THE CALCULATION</a:t>
            </a:r>
          </a:p>
        </p:txBody>
      </p:sp>
      <p:sp>
        <p:nvSpPr>
          <p:cNvPr id="54" name="TextBox 57">
            <a:extLst>
              <a:ext uri="{FF2B5EF4-FFF2-40B4-BE49-F238E27FC236}">
                <a16:creationId xmlns:a16="http://schemas.microsoft.com/office/drawing/2014/main" id="{000B3EEC-3588-7D2E-53E9-66DFFCE06F7C}"/>
              </a:ext>
            </a:extLst>
          </p:cNvPr>
          <p:cNvSpPr txBox="1"/>
          <p:nvPr/>
        </p:nvSpPr>
        <p:spPr>
          <a:xfrm>
            <a:off x="502920" y="5596756"/>
            <a:ext cx="11155680" cy="274320"/>
          </a:xfrm>
          <a:prstGeom prst="rect">
            <a:avLst/>
          </a:prstGeom>
          <a:noFill/>
        </p:spPr>
        <p:txBody>
          <a:bodyPr wrap="square" lIns="36000" tIns="18000" rIns="36000" bIns="18000" anchor="t">
            <a:spAutoFit/>
          </a:bodyPr>
          <a:lstStyle/>
          <a:p>
            <a:pPr algn="l"/>
            <a:r>
              <a:rPr sz="1000" b="0" i="0">
                <a:solidFill>
                  <a:srgbClr val="2C3E50"/>
                </a:solidFill>
                <a:latin typeface="Arial"/>
              </a:rPr>
              <a:t>▸  CIT does NOT enter the Pain Score formula  —  it is a CATEGORICAL FLAG, not a numeric weight</a:t>
            </a:r>
          </a:p>
        </p:txBody>
      </p:sp>
      <p:sp>
        <p:nvSpPr>
          <p:cNvPr id="55" name="TextBox 58">
            <a:extLst>
              <a:ext uri="{FF2B5EF4-FFF2-40B4-BE49-F238E27FC236}">
                <a16:creationId xmlns:a16="http://schemas.microsoft.com/office/drawing/2014/main" id="{5AA19188-EEE8-79E2-6B16-F08794AA0397}"/>
              </a:ext>
            </a:extLst>
          </p:cNvPr>
          <p:cNvSpPr txBox="1"/>
          <p:nvPr/>
        </p:nvSpPr>
        <p:spPr>
          <a:xfrm>
            <a:off x="502920" y="5797924"/>
            <a:ext cx="11155680" cy="274320"/>
          </a:xfrm>
          <a:prstGeom prst="rect">
            <a:avLst/>
          </a:prstGeom>
          <a:noFill/>
        </p:spPr>
        <p:txBody>
          <a:bodyPr wrap="square" lIns="36000" tIns="18000" rIns="36000" bIns="18000" anchor="t">
            <a:spAutoFit/>
          </a:bodyPr>
          <a:lstStyle/>
          <a:p>
            <a:pPr algn="l"/>
            <a:r>
              <a:rPr sz="1000" b="0" i="0">
                <a:solidFill>
                  <a:srgbClr val="2C3E50"/>
                </a:solidFill>
                <a:latin typeface="Arial"/>
              </a:rPr>
              <a:t>▸  P1 / P2  →  triggers A2 Auto-Expedite  →  forces CoS = Expedite + WIP-1  →  jumps the queue regardless of Pain Score</a:t>
            </a:r>
          </a:p>
        </p:txBody>
      </p:sp>
      <p:sp>
        <p:nvSpPr>
          <p:cNvPr id="56" name="TextBox 59">
            <a:extLst>
              <a:ext uri="{FF2B5EF4-FFF2-40B4-BE49-F238E27FC236}">
                <a16:creationId xmlns:a16="http://schemas.microsoft.com/office/drawing/2014/main" id="{F5DC10CF-CC93-4642-7F42-8F96FA61B15A}"/>
              </a:ext>
            </a:extLst>
          </p:cNvPr>
          <p:cNvSpPr txBox="1"/>
          <p:nvPr/>
        </p:nvSpPr>
        <p:spPr>
          <a:xfrm>
            <a:off x="502920" y="5999092"/>
            <a:ext cx="11155680" cy="182880"/>
          </a:xfrm>
          <a:prstGeom prst="rect">
            <a:avLst/>
          </a:prstGeom>
          <a:noFill/>
        </p:spPr>
        <p:txBody>
          <a:bodyPr wrap="square" lIns="36000" tIns="18000" rIns="36000" bIns="18000" anchor="t">
            <a:spAutoFit/>
          </a:bodyPr>
          <a:lstStyle/>
          <a:p>
            <a:pPr algn="l"/>
            <a:r>
              <a:rPr sz="1000" b="0" i="0">
                <a:solidFill>
                  <a:srgbClr val="2C3E50"/>
                </a:solidFill>
                <a:latin typeface="Arial"/>
              </a:rPr>
              <a:t>▸  P3 / P4  →  no automation  →  follows Pain Score ranking + CoS lane normally</a:t>
            </a:r>
          </a:p>
        </p:txBody>
      </p:sp>
      <p:sp>
        <p:nvSpPr>
          <p:cNvPr id="57" name="TextBox 60">
            <a:extLst>
              <a:ext uri="{FF2B5EF4-FFF2-40B4-BE49-F238E27FC236}">
                <a16:creationId xmlns:a16="http://schemas.microsoft.com/office/drawing/2014/main" id="{77240DE8-9437-CC30-D0D1-6E56750DC689}"/>
              </a:ext>
            </a:extLst>
          </p:cNvPr>
          <p:cNvSpPr txBox="1"/>
          <p:nvPr/>
        </p:nvSpPr>
        <p:spPr>
          <a:xfrm>
            <a:off x="502920" y="6282556"/>
            <a:ext cx="11155680" cy="182880"/>
          </a:xfrm>
          <a:prstGeom prst="rect">
            <a:avLst/>
          </a:prstGeom>
          <a:noFill/>
        </p:spPr>
        <p:txBody>
          <a:bodyPr wrap="square" lIns="36000" tIns="18000" rIns="36000" bIns="18000" anchor="t">
            <a:spAutoFit/>
          </a:bodyPr>
          <a:lstStyle/>
          <a:p>
            <a:pPr algn="l"/>
            <a:r>
              <a:rPr sz="900" b="1" i="1">
                <a:solidFill>
                  <a:srgbClr val="006B3F"/>
                </a:solidFill>
                <a:latin typeface="Arial"/>
              </a:rPr>
              <a:t>MANDATORY?  ·  Optional at submit (Requester fills if known) · Reviewing PM may add later  ·  empty = Standard CoS default</a:t>
            </a:r>
          </a:p>
        </p:txBody>
      </p:sp>
      <p:sp>
        <p:nvSpPr>
          <p:cNvPr id="2" name="Text Placeholder 19">
            <a:extLst>
              <a:ext uri="{FF2B5EF4-FFF2-40B4-BE49-F238E27FC236}">
                <a16:creationId xmlns:a16="http://schemas.microsoft.com/office/drawing/2014/main" id="{96EAB45A-A0FB-6D0B-B2E2-B38667BFA8B2}"/>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customer impact</a:t>
            </a:r>
          </a:p>
        </p:txBody>
      </p:sp>
      <p:pic>
        <p:nvPicPr>
          <p:cNvPr id="58" name="Imagen 57">
            <a:extLst>
              <a:ext uri="{FF2B5EF4-FFF2-40B4-BE49-F238E27FC236}">
                <a16:creationId xmlns:a16="http://schemas.microsoft.com/office/drawing/2014/main" id="{82B5EC9D-2E4C-D101-1046-B54B8EE331BD}"/>
              </a:ext>
            </a:extLst>
          </p:cNvPr>
          <p:cNvPicPr>
            <a:picLocks noChangeAspect="1"/>
          </p:cNvPicPr>
          <p:nvPr/>
        </p:nvPicPr>
        <p:blipFill>
          <a:blip r:embed="rId4"/>
          <a:stretch>
            <a:fillRect/>
          </a:stretch>
        </p:blipFill>
        <p:spPr>
          <a:xfrm>
            <a:off x="8447364" y="144214"/>
            <a:ext cx="1313912" cy="63810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65451652"/>
      </p:ext>
    </p:extLst>
  </p:cSld>
  <p:clrMapOvr>
    <a:masterClrMapping/>
  </p:clrMapOvr>
  <p:extLst>
    <p:ext uri="{6950BFC3-D8DA-4A85-94F7-54DA5524770B}">
      <p188:commentRel xmlns:p188="http://schemas.microsoft.com/office/powerpoint/2018/8/main" r:id="rId3"/>
    </p:ext>
  </p:extLs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D779D3-2BD7-9F95-500F-9D40B95A599F}"/>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A1E04D02-DA03-4267-3683-F674CFE0BC5D}"/>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6F1EA4EF-4E1D-9088-FB1C-4E3F358CBD57}"/>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Business Value</a:t>
            </a:r>
          </a:p>
        </p:txBody>
      </p:sp>
      <p:sp>
        <p:nvSpPr>
          <p:cNvPr id="5" name="TextBox 11">
            <a:extLst>
              <a:ext uri="{FF2B5EF4-FFF2-40B4-BE49-F238E27FC236}">
                <a16:creationId xmlns:a16="http://schemas.microsoft.com/office/drawing/2014/main" id="{05BE2F35-7DA4-47E5-F6EE-AA0BC7A9E9A0}"/>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numeric BV component (1–5 score)</a:t>
            </a:r>
          </a:p>
        </p:txBody>
      </p:sp>
      <p:sp>
        <p:nvSpPr>
          <p:cNvPr id="10" name="Rounded Rectangle 14">
            <a:extLst>
              <a:ext uri="{FF2B5EF4-FFF2-40B4-BE49-F238E27FC236}">
                <a16:creationId xmlns:a16="http://schemas.microsoft.com/office/drawing/2014/main" id="{F779CEF1-04B1-57BC-E54E-3DDC3C804CC2}"/>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5">
            <a:extLst>
              <a:ext uri="{FF2B5EF4-FFF2-40B4-BE49-F238E27FC236}">
                <a16:creationId xmlns:a16="http://schemas.microsoft.com/office/drawing/2014/main" id="{68D02298-63D8-A501-5CA7-65D6D509B161}"/>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BV COMPONENT — 5-point scoring guide</a:t>
            </a:r>
          </a:p>
        </p:txBody>
      </p:sp>
      <p:sp>
        <p:nvSpPr>
          <p:cNvPr id="12" name="TextBox 16">
            <a:extLst>
              <a:ext uri="{FF2B5EF4-FFF2-40B4-BE49-F238E27FC236}">
                <a16:creationId xmlns:a16="http://schemas.microsoft.com/office/drawing/2014/main" id="{039F2CF4-EC2F-A078-A0E4-F82DA0A26A4E}"/>
              </a:ext>
            </a:extLst>
          </p:cNvPr>
          <p:cNvSpPr txBox="1"/>
          <p:nvPr/>
        </p:nvSpPr>
        <p:spPr>
          <a:xfrm>
            <a:off x="502920" y="1965960"/>
            <a:ext cx="5486400" cy="174851"/>
          </a:xfrm>
          <a:prstGeom prst="rect">
            <a:avLst/>
          </a:prstGeom>
          <a:noFill/>
        </p:spPr>
        <p:txBody>
          <a:bodyPr wrap="square" lIns="36000" tIns="18000" rIns="36000" bIns="18000" anchor="t">
            <a:spAutoFit/>
          </a:bodyPr>
          <a:lstStyle/>
          <a:p>
            <a:pPr algn="l"/>
            <a:r>
              <a:rPr lang="pt-BR" sz="900" b="0" i="1">
                <a:solidFill>
                  <a:srgbClr val="6B778C"/>
                </a:solidFill>
              </a:rPr>
              <a:t>ONE </a:t>
            </a:r>
            <a:r>
              <a:rPr lang="pt-BR" sz="900" b="0" i="1" err="1">
                <a:solidFill>
                  <a:srgbClr val="6B778C"/>
                </a:solidFill>
              </a:rPr>
              <a:t>of</a:t>
            </a:r>
            <a:r>
              <a:rPr lang="pt-BR" sz="900" b="0" i="1">
                <a:solidFill>
                  <a:srgbClr val="6B778C"/>
                </a:solidFill>
              </a:rPr>
              <a:t> 4 inputs </a:t>
            </a:r>
            <a:r>
              <a:rPr lang="pt-BR" sz="900" b="0" i="1" err="1">
                <a:solidFill>
                  <a:srgbClr val="6B778C"/>
                </a:solidFill>
              </a:rPr>
              <a:t>into</a:t>
            </a:r>
            <a:r>
              <a:rPr lang="pt-BR" sz="900" b="0" i="1">
                <a:solidFill>
                  <a:srgbClr val="6B778C"/>
                </a:solidFill>
              </a:rPr>
              <a:t> Pain Score · </a:t>
            </a:r>
            <a:r>
              <a:rPr lang="pt-BR" sz="900" b="0" i="1" err="1">
                <a:solidFill>
                  <a:srgbClr val="6B778C"/>
                </a:solidFill>
              </a:rPr>
              <a:t>scored</a:t>
            </a:r>
            <a:r>
              <a:rPr lang="pt-BR" sz="900" b="0" i="1">
                <a:solidFill>
                  <a:srgbClr val="6B778C"/>
                </a:solidFill>
              </a:rPr>
              <a:t> </a:t>
            </a:r>
            <a:r>
              <a:rPr lang="pt-BR" sz="900" b="0" i="1" err="1">
                <a:solidFill>
                  <a:srgbClr val="6B778C"/>
                </a:solidFill>
              </a:rPr>
              <a:t>at</a:t>
            </a:r>
            <a:r>
              <a:rPr lang="pt-BR" sz="900" b="0" i="1">
                <a:solidFill>
                  <a:srgbClr val="6B778C"/>
                </a:solidFill>
              </a:rPr>
              <a:t> </a:t>
            </a:r>
            <a:r>
              <a:rPr lang="pt-BR" sz="900" b="0" i="1" err="1">
                <a:solidFill>
                  <a:srgbClr val="6B778C"/>
                </a:solidFill>
              </a:rPr>
              <a:t>Analyzing</a:t>
            </a:r>
            <a:r>
              <a:rPr lang="pt-BR" sz="900" b="0" i="1">
                <a:solidFill>
                  <a:srgbClr val="6B778C"/>
                </a:solidFill>
              </a:rPr>
              <a:t> </a:t>
            </a:r>
            <a:r>
              <a:rPr lang="pt-BR" sz="900" b="0" i="1" err="1">
                <a:solidFill>
                  <a:srgbClr val="6B778C"/>
                </a:solidFill>
              </a:rPr>
              <a:t>by</a:t>
            </a:r>
            <a:r>
              <a:rPr lang="pt-BR" sz="900" b="0" i="1">
                <a:solidFill>
                  <a:srgbClr val="6B778C"/>
                </a:solidFill>
              </a:rPr>
              <a:t> PM</a:t>
            </a:r>
          </a:p>
        </p:txBody>
      </p:sp>
      <p:sp>
        <p:nvSpPr>
          <p:cNvPr id="13" name="Rounded Rectangle 17">
            <a:extLst>
              <a:ext uri="{FF2B5EF4-FFF2-40B4-BE49-F238E27FC236}">
                <a16:creationId xmlns:a16="http://schemas.microsoft.com/office/drawing/2014/main" id="{E13C0341-9698-5DC0-8EDE-14ABABA27B18}"/>
              </a:ext>
            </a:extLst>
          </p:cNvPr>
          <p:cNvSpPr/>
          <p:nvPr/>
        </p:nvSpPr>
        <p:spPr>
          <a:xfrm>
            <a:off x="502920" y="224028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8">
            <a:extLst>
              <a:ext uri="{FF2B5EF4-FFF2-40B4-BE49-F238E27FC236}">
                <a16:creationId xmlns:a16="http://schemas.microsoft.com/office/drawing/2014/main" id="{5A5D9EBA-A674-F17C-994E-620B45EA786C}"/>
              </a:ext>
            </a:extLst>
          </p:cNvPr>
          <p:cNvSpPr/>
          <p:nvPr/>
        </p:nvSpPr>
        <p:spPr>
          <a:xfrm>
            <a:off x="502920" y="224028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9">
            <a:extLst>
              <a:ext uri="{FF2B5EF4-FFF2-40B4-BE49-F238E27FC236}">
                <a16:creationId xmlns:a16="http://schemas.microsoft.com/office/drawing/2014/main" id="{4FF9B135-C355-3287-947D-D5700019F8C9}"/>
              </a:ext>
            </a:extLst>
          </p:cNvPr>
          <p:cNvSpPr txBox="1"/>
          <p:nvPr/>
        </p:nvSpPr>
        <p:spPr>
          <a:xfrm>
            <a:off x="502920" y="2240280"/>
            <a:ext cx="777240" cy="713232"/>
          </a:xfrm>
          <a:prstGeom prst="rect">
            <a:avLst/>
          </a:prstGeom>
          <a:noFill/>
        </p:spPr>
        <p:txBody>
          <a:bodyPr wrap="square" lIns="36000" tIns="18000" rIns="36000" bIns="18000" anchor="ctr">
            <a:spAutoFit/>
          </a:bodyPr>
          <a:lstStyle/>
          <a:p>
            <a:pPr algn="ctr"/>
            <a:r>
              <a:rPr sz="2400" b="1" i="0">
                <a:solidFill>
                  <a:srgbClr val="FFFFFF"/>
                </a:solidFill>
              </a:rPr>
              <a:t>5</a:t>
            </a:r>
          </a:p>
        </p:txBody>
      </p:sp>
      <p:sp>
        <p:nvSpPr>
          <p:cNvPr id="16" name="TextBox 20">
            <a:extLst>
              <a:ext uri="{FF2B5EF4-FFF2-40B4-BE49-F238E27FC236}">
                <a16:creationId xmlns:a16="http://schemas.microsoft.com/office/drawing/2014/main" id="{D939E800-6B63-8353-2FB4-83681D891684}"/>
              </a:ext>
            </a:extLst>
          </p:cNvPr>
          <p:cNvSpPr txBox="1"/>
          <p:nvPr/>
        </p:nvSpPr>
        <p:spPr>
          <a:xfrm>
            <a:off x="1371600" y="2295144"/>
            <a:ext cx="4389120" cy="201168"/>
          </a:xfrm>
          <a:prstGeom prst="rect">
            <a:avLst/>
          </a:prstGeom>
          <a:noFill/>
        </p:spPr>
        <p:txBody>
          <a:bodyPr wrap="square" lIns="36000" tIns="18000" rIns="36000" bIns="18000" anchor="t">
            <a:spAutoFit/>
          </a:bodyPr>
          <a:lstStyle/>
          <a:p>
            <a:pPr algn="l"/>
            <a:r>
              <a:rPr sz="1100" b="1" i="0">
                <a:solidFill>
                  <a:srgbClr val="004D2E"/>
                </a:solidFill>
              </a:rPr>
              <a:t>TRANSFORMATIONAL</a:t>
            </a:r>
          </a:p>
        </p:txBody>
      </p:sp>
      <p:sp>
        <p:nvSpPr>
          <p:cNvPr id="17" name="TextBox 21">
            <a:extLst>
              <a:ext uri="{FF2B5EF4-FFF2-40B4-BE49-F238E27FC236}">
                <a16:creationId xmlns:a16="http://schemas.microsoft.com/office/drawing/2014/main" id="{3AD3D16A-9F99-5524-D4B7-798E7159238F}"/>
              </a:ext>
            </a:extLst>
          </p:cNvPr>
          <p:cNvSpPr txBox="1"/>
          <p:nvPr/>
        </p:nvSpPr>
        <p:spPr>
          <a:xfrm>
            <a:off x="1371600" y="2514600"/>
            <a:ext cx="4389120" cy="174851"/>
          </a:xfrm>
          <a:prstGeom prst="rect">
            <a:avLst/>
          </a:prstGeom>
          <a:noFill/>
        </p:spPr>
        <p:txBody>
          <a:bodyPr wrap="square" lIns="36000" tIns="18000" rIns="36000" bIns="18000" anchor="t">
            <a:spAutoFit/>
          </a:bodyPr>
          <a:lstStyle/>
          <a:p>
            <a:r>
              <a:rPr lang="pt-BR" sz="900" err="1">
                <a:solidFill>
                  <a:srgbClr val="172B4D"/>
                </a:solidFill>
              </a:rPr>
              <a:t>Multi-million</a:t>
            </a:r>
            <a:r>
              <a:rPr lang="pt-BR" sz="900">
                <a:solidFill>
                  <a:srgbClr val="172B4D"/>
                </a:solidFill>
              </a:rPr>
              <a:t> </a:t>
            </a:r>
            <a:r>
              <a:rPr lang="pt-BR" sz="900" err="1">
                <a:solidFill>
                  <a:srgbClr val="172B4D"/>
                </a:solidFill>
              </a:rPr>
              <a:t>impact</a:t>
            </a:r>
            <a:r>
              <a:rPr lang="pt-BR" sz="900">
                <a:solidFill>
                  <a:srgbClr val="172B4D"/>
                </a:solidFill>
              </a:rPr>
              <a:t> · </a:t>
            </a:r>
            <a:r>
              <a:rPr lang="pt-BR" sz="900" err="1">
                <a:solidFill>
                  <a:srgbClr val="172B4D"/>
                </a:solidFill>
              </a:rPr>
              <a:t>safety</a:t>
            </a:r>
            <a:r>
              <a:rPr lang="pt-BR" sz="900">
                <a:solidFill>
                  <a:srgbClr val="172B4D"/>
                </a:solidFill>
              </a:rPr>
              <a:t> · </a:t>
            </a:r>
            <a:r>
              <a:rPr lang="pt-BR" sz="900" err="1">
                <a:solidFill>
                  <a:srgbClr val="172B4D"/>
                </a:solidFill>
              </a:rPr>
              <a:t>existential</a:t>
            </a:r>
            <a:r>
              <a:rPr lang="pt-BR" sz="900">
                <a:solidFill>
                  <a:srgbClr val="172B4D"/>
                </a:solidFill>
              </a:rPr>
              <a:t> business </a:t>
            </a:r>
            <a:r>
              <a:rPr lang="pt-BR" sz="900" err="1">
                <a:solidFill>
                  <a:srgbClr val="172B4D"/>
                </a:solidFill>
              </a:rPr>
              <a:t>risk</a:t>
            </a:r>
            <a:endParaRPr lang="pt-BR" sz="900">
              <a:solidFill>
                <a:srgbClr val="172B4D"/>
              </a:solidFill>
            </a:endParaRPr>
          </a:p>
        </p:txBody>
      </p:sp>
      <p:sp>
        <p:nvSpPr>
          <p:cNvPr id="18" name="Rounded Rectangle 22">
            <a:extLst>
              <a:ext uri="{FF2B5EF4-FFF2-40B4-BE49-F238E27FC236}">
                <a16:creationId xmlns:a16="http://schemas.microsoft.com/office/drawing/2014/main" id="{971D43B9-E84F-3D95-9EC3-300AF4F703CE}"/>
              </a:ext>
            </a:extLst>
          </p:cNvPr>
          <p:cNvSpPr/>
          <p:nvPr/>
        </p:nvSpPr>
        <p:spPr>
          <a:xfrm>
            <a:off x="502920" y="301752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23">
            <a:extLst>
              <a:ext uri="{FF2B5EF4-FFF2-40B4-BE49-F238E27FC236}">
                <a16:creationId xmlns:a16="http://schemas.microsoft.com/office/drawing/2014/main" id="{AADEE2D1-FABF-5882-14A2-134C8795E5CA}"/>
              </a:ext>
            </a:extLst>
          </p:cNvPr>
          <p:cNvSpPr/>
          <p:nvPr/>
        </p:nvSpPr>
        <p:spPr>
          <a:xfrm>
            <a:off x="502920" y="301752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4">
            <a:extLst>
              <a:ext uri="{FF2B5EF4-FFF2-40B4-BE49-F238E27FC236}">
                <a16:creationId xmlns:a16="http://schemas.microsoft.com/office/drawing/2014/main" id="{E414E86F-49C8-C368-D553-0B4C09C9EC73}"/>
              </a:ext>
            </a:extLst>
          </p:cNvPr>
          <p:cNvSpPr txBox="1"/>
          <p:nvPr/>
        </p:nvSpPr>
        <p:spPr>
          <a:xfrm>
            <a:off x="502920" y="3017520"/>
            <a:ext cx="777240" cy="713232"/>
          </a:xfrm>
          <a:prstGeom prst="rect">
            <a:avLst/>
          </a:prstGeom>
          <a:noFill/>
        </p:spPr>
        <p:txBody>
          <a:bodyPr wrap="square" lIns="36000" tIns="18000" rIns="36000" bIns="18000" anchor="ctr">
            <a:spAutoFit/>
          </a:bodyPr>
          <a:lstStyle/>
          <a:p>
            <a:pPr algn="ctr"/>
            <a:r>
              <a:rPr sz="2400" b="1" i="0">
                <a:solidFill>
                  <a:srgbClr val="FFFFFF"/>
                </a:solidFill>
              </a:rPr>
              <a:t>4</a:t>
            </a:r>
          </a:p>
        </p:txBody>
      </p:sp>
      <p:sp>
        <p:nvSpPr>
          <p:cNvPr id="21" name="TextBox 25">
            <a:extLst>
              <a:ext uri="{FF2B5EF4-FFF2-40B4-BE49-F238E27FC236}">
                <a16:creationId xmlns:a16="http://schemas.microsoft.com/office/drawing/2014/main" id="{2C5A04E5-E259-A0EF-C8BA-CAB0DCE4E3BB}"/>
              </a:ext>
            </a:extLst>
          </p:cNvPr>
          <p:cNvSpPr txBox="1"/>
          <p:nvPr/>
        </p:nvSpPr>
        <p:spPr>
          <a:xfrm>
            <a:off x="1371600" y="3072384"/>
            <a:ext cx="4389120" cy="201168"/>
          </a:xfrm>
          <a:prstGeom prst="rect">
            <a:avLst/>
          </a:prstGeom>
          <a:noFill/>
        </p:spPr>
        <p:txBody>
          <a:bodyPr wrap="square" lIns="36000" tIns="18000" rIns="36000" bIns="18000" anchor="t">
            <a:spAutoFit/>
          </a:bodyPr>
          <a:lstStyle/>
          <a:p>
            <a:pPr algn="l"/>
            <a:r>
              <a:rPr sz="1100" b="1" i="0">
                <a:solidFill>
                  <a:srgbClr val="004D2E"/>
                </a:solidFill>
              </a:rPr>
              <a:t>VERY HIGH</a:t>
            </a:r>
          </a:p>
        </p:txBody>
      </p:sp>
      <p:sp>
        <p:nvSpPr>
          <p:cNvPr id="22" name="TextBox 26">
            <a:extLst>
              <a:ext uri="{FF2B5EF4-FFF2-40B4-BE49-F238E27FC236}">
                <a16:creationId xmlns:a16="http://schemas.microsoft.com/office/drawing/2014/main" id="{4A9855DF-958B-A62A-65E2-3419AA7892F4}"/>
              </a:ext>
            </a:extLst>
          </p:cNvPr>
          <p:cNvSpPr txBox="1"/>
          <p:nvPr/>
        </p:nvSpPr>
        <p:spPr>
          <a:xfrm>
            <a:off x="1371600" y="3291840"/>
            <a:ext cx="4389120" cy="411480"/>
          </a:xfrm>
          <a:prstGeom prst="rect">
            <a:avLst/>
          </a:prstGeom>
          <a:noFill/>
        </p:spPr>
        <p:txBody>
          <a:bodyPr wrap="square" lIns="36000" tIns="18000" rIns="36000" bIns="18000" anchor="t">
            <a:spAutoFit/>
          </a:bodyPr>
          <a:lstStyle/>
          <a:p>
            <a:pPr algn="l"/>
            <a:r>
              <a:rPr sz="900" b="0" i="0">
                <a:solidFill>
                  <a:srgbClr val="172B4D"/>
                </a:solidFill>
              </a:rPr>
              <a:t>Major contribution to OPCO results · customer NPS shift · year-end target</a:t>
            </a:r>
          </a:p>
        </p:txBody>
      </p:sp>
      <p:sp>
        <p:nvSpPr>
          <p:cNvPr id="23" name="Rounded Rectangle 27">
            <a:extLst>
              <a:ext uri="{FF2B5EF4-FFF2-40B4-BE49-F238E27FC236}">
                <a16:creationId xmlns:a16="http://schemas.microsoft.com/office/drawing/2014/main" id="{662DCDA8-256C-1674-4799-4DC1BAC8180B}"/>
              </a:ext>
            </a:extLst>
          </p:cNvPr>
          <p:cNvSpPr/>
          <p:nvPr/>
        </p:nvSpPr>
        <p:spPr>
          <a:xfrm>
            <a:off x="502920" y="379476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8">
            <a:extLst>
              <a:ext uri="{FF2B5EF4-FFF2-40B4-BE49-F238E27FC236}">
                <a16:creationId xmlns:a16="http://schemas.microsoft.com/office/drawing/2014/main" id="{46FB38F9-56C2-761C-ECD1-37CC46109BBF}"/>
              </a:ext>
            </a:extLst>
          </p:cNvPr>
          <p:cNvSpPr/>
          <p:nvPr/>
        </p:nvSpPr>
        <p:spPr>
          <a:xfrm>
            <a:off x="502920" y="379476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9">
            <a:extLst>
              <a:ext uri="{FF2B5EF4-FFF2-40B4-BE49-F238E27FC236}">
                <a16:creationId xmlns:a16="http://schemas.microsoft.com/office/drawing/2014/main" id="{3F956C46-A1D6-3377-F653-2B11F07023D1}"/>
              </a:ext>
            </a:extLst>
          </p:cNvPr>
          <p:cNvSpPr txBox="1"/>
          <p:nvPr/>
        </p:nvSpPr>
        <p:spPr>
          <a:xfrm>
            <a:off x="502920" y="3794760"/>
            <a:ext cx="777240" cy="713232"/>
          </a:xfrm>
          <a:prstGeom prst="rect">
            <a:avLst/>
          </a:prstGeom>
          <a:noFill/>
        </p:spPr>
        <p:txBody>
          <a:bodyPr wrap="square" lIns="36000" tIns="18000" rIns="36000" bIns="18000" anchor="ctr">
            <a:spAutoFit/>
          </a:bodyPr>
          <a:lstStyle/>
          <a:p>
            <a:pPr algn="ctr"/>
            <a:r>
              <a:rPr sz="2400" b="1" i="0">
                <a:solidFill>
                  <a:srgbClr val="FFFFFF"/>
                </a:solidFill>
              </a:rPr>
              <a:t>3</a:t>
            </a:r>
          </a:p>
        </p:txBody>
      </p:sp>
      <p:sp>
        <p:nvSpPr>
          <p:cNvPr id="26" name="TextBox 30">
            <a:extLst>
              <a:ext uri="{FF2B5EF4-FFF2-40B4-BE49-F238E27FC236}">
                <a16:creationId xmlns:a16="http://schemas.microsoft.com/office/drawing/2014/main" id="{F5B7B2D6-4A2C-8182-5C8C-A0A4F2B24CDF}"/>
              </a:ext>
            </a:extLst>
          </p:cNvPr>
          <p:cNvSpPr txBox="1"/>
          <p:nvPr/>
        </p:nvSpPr>
        <p:spPr>
          <a:xfrm>
            <a:off x="1371600" y="3849624"/>
            <a:ext cx="4389120" cy="201168"/>
          </a:xfrm>
          <a:prstGeom prst="rect">
            <a:avLst/>
          </a:prstGeom>
          <a:noFill/>
        </p:spPr>
        <p:txBody>
          <a:bodyPr wrap="square" lIns="36000" tIns="18000" rIns="36000" bIns="18000" anchor="t">
            <a:spAutoFit/>
          </a:bodyPr>
          <a:lstStyle/>
          <a:p>
            <a:pPr algn="l"/>
            <a:r>
              <a:rPr sz="1100" b="1" i="0">
                <a:solidFill>
                  <a:srgbClr val="004D2E"/>
                </a:solidFill>
              </a:rPr>
              <a:t>HIGH</a:t>
            </a:r>
          </a:p>
        </p:txBody>
      </p:sp>
      <p:sp>
        <p:nvSpPr>
          <p:cNvPr id="27" name="TextBox 31">
            <a:extLst>
              <a:ext uri="{FF2B5EF4-FFF2-40B4-BE49-F238E27FC236}">
                <a16:creationId xmlns:a16="http://schemas.microsoft.com/office/drawing/2014/main" id="{CA4F2454-DBAD-0DF3-6C87-3BD5B92754D5}"/>
              </a:ext>
            </a:extLst>
          </p:cNvPr>
          <p:cNvSpPr txBox="1"/>
          <p:nvPr/>
        </p:nvSpPr>
        <p:spPr>
          <a:xfrm>
            <a:off x="1371600" y="4069080"/>
            <a:ext cx="4389120" cy="411480"/>
          </a:xfrm>
          <a:prstGeom prst="rect">
            <a:avLst/>
          </a:prstGeom>
          <a:noFill/>
        </p:spPr>
        <p:txBody>
          <a:bodyPr wrap="square" lIns="36000" tIns="18000" rIns="36000" bIns="18000" anchor="t">
            <a:spAutoFit/>
          </a:bodyPr>
          <a:lstStyle/>
          <a:p>
            <a:pPr algn="l"/>
            <a:r>
              <a:rPr sz="900" b="0" i="0">
                <a:solidFill>
                  <a:srgbClr val="172B4D"/>
                </a:solidFill>
              </a:rPr>
              <a:t>Moderate gain · cost / time / quality measurable improvement</a:t>
            </a:r>
          </a:p>
        </p:txBody>
      </p:sp>
      <p:sp>
        <p:nvSpPr>
          <p:cNvPr id="28" name="Rounded Rectangle 32">
            <a:extLst>
              <a:ext uri="{FF2B5EF4-FFF2-40B4-BE49-F238E27FC236}">
                <a16:creationId xmlns:a16="http://schemas.microsoft.com/office/drawing/2014/main" id="{692D399A-C549-F85D-9B6D-1C369F48A921}"/>
              </a:ext>
            </a:extLst>
          </p:cNvPr>
          <p:cNvSpPr/>
          <p:nvPr/>
        </p:nvSpPr>
        <p:spPr>
          <a:xfrm>
            <a:off x="502920" y="457200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33">
            <a:extLst>
              <a:ext uri="{FF2B5EF4-FFF2-40B4-BE49-F238E27FC236}">
                <a16:creationId xmlns:a16="http://schemas.microsoft.com/office/drawing/2014/main" id="{B5B6EF76-703F-E36D-6C7D-6A9607F60784}"/>
              </a:ext>
            </a:extLst>
          </p:cNvPr>
          <p:cNvSpPr/>
          <p:nvPr/>
        </p:nvSpPr>
        <p:spPr>
          <a:xfrm>
            <a:off x="502920" y="457200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4">
            <a:extLst>
              <a:ext uri="{FF2B5EF4-FFF2-40B4-BE49-F238E27FC236}">
                <a16:creationId xmlns:a16="http://schemas.microsoft.com/office/drawing/2014/main" id="{8E419062-9768-5A50-2FDB-64C47D781E62}"/>
              </a:ext>
            </a:extLst>
          </p:cNvPr>
          <p:cNvSpPr txBox="1"/>
          <p:nvPr/>
        </p:nvSpPr>
        <p:spPr>
          <a:xfrm>
            <a:off x="502920" y="4572000"/>
            <a:ext cx="777240" cy="713232"/>
          </a:xfrm>
          <a:prstGeom prst="rect">
            <a:avLst/>
          </a:prstGeom>
          <a:noFill/>
        </p:spPr>
        <p:txBody>
          <a:bodyPr wrap="square" lIns="36000" tIns="18000" rIns="36000" bIns="18000" anchor="ctr">
            <a:spAutoFit/>
          </a:bodyPr>
          <a:lstStyle/>
          <a:p>
            <a:pPr algn="ctr"/>
            <a:r>
              <a:rPr sz="2400" b="1" i="0">
                <a:solidFill>
                  <a:srgbClr val="FFFFFF"/>
                </a:solidFill>
              </a:rPr>
              <a:t>2</a:t>
            </a:r>
          </a:p>
        </p:txBody>
      </p:sp>
      <p:sp>
        <p:nvSpPr>
          <p:cNvPr id="31" name="TextBox 35">
            <a:extLst>
              <a:ext uri="{FF2B5EF4-FFF2-40B4-BE49-F238E27FC236}">
                <a16:creationId xmlns:a16="http://schemas.microsoft.com/office/drawing/2014/main" id="{4C7843B2-4E5B-8101-D3FD-D961084973B0}"/>
              </a:ext>
            </a:extLst>
          </p:cNvPr>
          <p:cNvSpPr txBox="1"/>
          <p:nvPr/>
        </p:nvSpPr>
        <p:spPr>
          <a:xfrm>
            <a:off x="1371600" y="4626864"/>
            <a:ext cx="4389120" cy="201168"/>
          </a:xfrm>
          <a:prstGeom prst="rect">
            <a:avLst/>
          </a:prstGeom>
          <a:noFill/>
        </p:spPr>
        <p:txBody>
          <a:bodyPr wrap="square" lIns="36000" tIns="18000" rIns="36000" bIns="18000" anchor="t">
            <a:spAutoFit/>
          </a:bodyPr>
          <a:lstStyle/>
          <a:p>
            <a:pPr algn="l"/>
            <a:r>
              <a:rPr sz="1100" b="1" i="0">
                <a:solidFill>
                  <a:srgbClr val="004D2E"/>
                </a:solidFill>
              </a:rPr>
              <a:t>LOW</a:t>
            </a:r>
          </a:p>
        </p:txBody>
      </p:sp>
      <p:sp>
        <p:nvSpPr>
          <p:cNvPr id="32" name="TextBox 36">
            <a:extLst>
              <a:ext uri="{FF2B5EF4-FFF2-40B4-BE49-F238E27FC236}">
                <a16:creationId xmlns:a16="http://schemas.microsoft.com/office/drawing/2014/main" id="{681BE9DB-AF76-CF43-8FEA-30C76F0F5097}"/>
              </a:ext>
            </a:extLst>
          </p:cNvPr>
          <p:cNvSpPr txBox="1"/>
          <p:nvPr/>
        </p:nvSpPr>
        <p:spPr>
          <a:xfrm>
            <a:off x="1371600" y="4846320"/>
            <a:ext cx="4389120" cy="411480"/>
          </a:xfrm>
          <a:prstGeom prst="rect">
            <a:avLst/>
          </a:prstGeom>
          <a:noFill/>
        </p:spPr>
        <p:txBody>
          <a:bodyPr wrap="square" lIns="36000" tIns="18000" rIns="36000" bIns="18000" anchor="t">
            <a:spAutoFit/>
          </a:bodyPr>
          <a:lstStyle/>
          <a:p>
            <a:pPr algn="l"/>
            <a:r>
              <a:rPr sz="900" b="0" i="0">
                <a:solidFill>
                  <a:srgbClr val="172B4D"/>
                </a:solidFill>
              </a:rPr>
              <a:t>Limited gain · convenience · efficiency · single team</a:t>
            </a:r>
          </a:p>
        </p:txBody>
      </p:sp>
      <p:sp>
        <p:nvSpPr>
          <p:cNvPr id="33" name="Rounded Rectangle 37">
            <a:extLst>
              <a:ext uri="{FF2B5EF4-FFF2-40B4-BE49-F238E27FC236}">
                <a16:creationId xmlns:a16="http://schemas.microsoft.com/office/drawing/2014/main" id="{7376F62E-A327-8B74-32E4-BBD443298AC9}"/>
              </a:ext>
            </a:extLst>
          </p:cNvPr>
          <p:cNvSpPr/>
          <p:nvPr/>
        </p:nvSpPr>
        <p:spPr>
          <a:xfrm>
            <a:off x="502920" y="534924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8">
            <a:extLst>
              <a:ext uri="{FF2B5EF4-FFF2-40B4-BE49-F238E27FC236}">
                <a16:creationId xmlns:a16="http://schemas.microsoft.com/office/drawing/2014/main" id="{B7A97208-D375-5D03-F549-EBEF8A201BDA}"/>
              </a:ext>
            </a:extLst>
          </p:cNvPr>
          <p:cNvSpPr/>
          <p:nvPr/>
        </p:nvSpPr>
        <p:spPr>
          <a:xfrm>
            <a:off x="502920" y="534924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9">
            <a:extLst>
              <a:ext uri="{FF2B5EF4-FFF2-40B4-BE49-F238E27FC236}">
                <a16:creationId xmlns:a16="http://schemas.microsoft.com/office/drawing/2014/main" id="{80DD94B5-5280-AC58-4A64-672291EB60D9}"/>
              </a:ext>
            </a:extLst>
          </p:cNvPr>
          <p:cNvSpPr txBox="1"/>
          <p:nvPr/>
        </p:nvSpPr>
        <p:spPr>
          <a:xfrm>
            <a:off x="502920" y="5349240"/>
            <a:ext cx="777240" cy="713232"/>
          </a:xfrm>
          <a:prstGeom prst="rect">
            <a:avLst/>
          </a:prstGeom>
          <a:noFill/>
        </p:spPr>
        <p:txBody>
          <a:bodyPr wrap="square" lIns="36000" tIns="18000" rIns="36000" bIns="18000" anchor="ctr">
            <a:spAutoFit/>
          </a:bodyPr>
          <a:lstStyle/>
          <a:p>
            <a:pPr algn="ctr"/>
            <a:r>
              <a:rPr sz="2400" b="1" i="0">
                <a:solidFill>
                  <a:srgbClr val="FFFFFF"/>
                </a:solidFill>
              </a:rPr>
              <a:t>1</a:t>
            </a:r>
          </a:p>
        </p:txBody>
      </p:sp>
      <p:sp>
        <p:nvSpPr>
          <p:cNvPr id="36" name="TextBox 40">
            <a:extLst>
              <a:ext uri="{FF2B5EF4-FFF2-40B4-BE49-F238E27FC236}">
                <a16:creationId xmlns:a16="http://schemas.microsoft.com/office/drawing/2014/main" id="{365C7622-D0D2-D893-DC7B-99E767AB3F2C}"/>
              </a:ext>
            </a:extLst>
          </p:cNvPr>
          <p:cNvSpPr txBox="1"/>
          <p:nvPr/>
        </p:nvSpPr>
        <p:spPr>
          <a:xfrm>
            <a:off x="1371600" y="5404104"/>
            <a:ext cx="4389120" cy="201168"/>
          </a:xfrm>
          <a:prstGeom prst="rect">
            <a:avLst/>
          </a:prstGeom>
          <a:noFill/>
        </p:spPr>
        <p:txBody>
          <a:bodyPr wrap="square" lIns="36000" tIns="18000" rIns="36000" bIns="18000" anchor="t">
            <a:spAutoFit/>
          </a:bodyPr>
          <a:lstStyle/>
          <a:p>
            <a:pPr algn="l"/>
            <a:r>
              <a:rPr sz="1100" b="1" i="0">
                <a:solidFill>
                  <a:srgbClr val="004D2E"/>
                </a:solidFill>
              </a:rPr>
              <a:t>MINIMAL</a:t>
            </a:r>
          </a:p>
        </p:txBody>
      </p:sp>
      <p:sp>
        <p:nvSpPr>
          <p:cNvPr id="37" name="TextBox 41">
            <a:extLst>
              <a:ext uri="{FF2B5EF4-FFF2-40B4-BE49-F238E27FC236}">
                <a16:creationId xmlns:a16="http://schemas.microsoft.com/office/drawing/2014/main" id="{67445C82-8A21-2E2C-EF34-FC6CA968DF3F}"/>
              </a:ext>
            </a:extLst>
          </p:cNvPr>
          <p:cNvSpPr txBox="1"/>
          <p:nvPr/>
        </p:nvSpPr>
        <p:spPr>
          <a:xfrm>
            <a:off x="1371600" y="5623560"/>
            <a:ext cx="4389120" cy="411480"/>
          </a:xfrm>
          <a:prstGeom prst="rect">
            <a:avLst/>
          </a:prstGeom>
          <a:noFill/>
        </p:spPr>
        <p:txBody>
          <a:bodyPr wrap="square" lIns="36000" tIns="18000" rIns="36000" bIns="18000" anchor="t">
            <a:spAutoFit/>
          </a:bodyPr>
          <a:lstStyle/>
          <a:p>
            <a:pPr algn="l"/>
            <a:r>
              <a:rPr sz="900" b="0" i="0">
                <a:solidFill>
                  <a:srgbClr val="172B4D"/>
                </a:solidFill>
              </a:rPr>
              <a:t>Cosmetic · nice-to-have · no measurable business impact</a:t>
            </a:r>
          </a:p>
        </p:txBody>
      </p:sp>
      <p:sp>
        <p:nvSpPr>
          <p:cNvPr id="38" name="Rounded Rectangle 42">
            <a:extLst>
              <a:ext uri="{FF2B5EF4-FFF2-40B4-BE49-F238E27FC236}">
                <a16:creationId xmlns:a16="http://schemas.microsoft.com/office/drawing/2014/main" id="{800F88A7-663D-9932-34B7-81FCDF74519D}"/>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3">
            <a:extLst>
              <a:ext uri="{FF2B5EF4-FFF2-40B4-BE49-F238E27FC236}">
                <a16:creationId xmlns:a16="http://schemas.microsoft.com/office/drawing/2014/main" id="{4DB99CC8-0FDA-7E0D-B95F-FE0D36F8F7C8}"/>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TEXT NARRATIVE — quantify the outcome</a:t>
            </a:r>
          </a:p>
        </p:txBody>
      </p:sp>
      <p:sp>
        <p:nvSpPr>
          <p:cNvPr id="40" name="TextBox 44">
            <a:extLst>
              <a:ext uri="{FF2B5EF4-FFF2-40B4-BE49-F238E27FC236}">
                <a16:creationId xmlns:a16="http://schemas.microsoft.com/office/drawing/2014/main" id="{A9E8A4E4-CF94-C2BC-4E80-B30CD088BB64}"/>
              </a:ext>
            </a:extLst>
          </p:cNvPr>
          <p:cNvSpPr txBox="1"/>
          <p:nvPr/>
        </p:nvSpPr>
        <p:spPr>
          <a:xfrm>
            <a:off x="6336792" y="2011680"/>
            <a:ext cx="5486400" cy="201168"/>
          </a:xfrm>
          <a:prstGeom prst="rect">
            <a:avLst/>
          </a:prstGeom>
          <a:noFill/>
        </p:spPr>
        <p:txBody>
          <a:bodyPr wrap="square" lIns="36000" tIns="18000" rIns="36000" bIns="18000" anchor="t">
            <a:spAutoFit/>
          </a:bodyPr>
          <a:lstStyle/>
          <a:p>
            <a:pPr algn="l"/>
            <a:r>
              <a:rPr sz="1000" b="1" i="0">
                <a:solidFill>
                  <a:srgbClr val="006B3F"/>
                </a:solidFill>
              </a:rPr>
              <a:t>✓ INCLUDE NUMBERS</a:t>
            </a:r>
          </a:p>
        </p:txBody>
      </p:sp>
      <p:sp>
        <p:nvSpPr>
          <p:cNvPr id="41" name="TextBox 45">
            <a:extLst>
              <a:ext uri="{FF2B5EF4-FFF2-40B4-BE49-F238E27FC236}">
                <a16:creationId xmlns:a16="http://schemas.microsoft.com/office/drawing/2014/main" id="{7ADB751C-1595-CA04-FAB5-A4328AB51D2F}"/>
              </a:ext>
            </a:extLst>
          </p:cNvPr>
          <p:cNvSpPr txBox="1"/>
          <p:nvPr/>
        </p:nvSpPr>
        <p:spPr>
          <a:xfrm>
            <a:off x="6336792" y="2221992"/>
            <a:ext cx="1828800" cy="201168"/>
          </a:xfrm>
          <a:prstGeom prst="rect">
            <a:avLst/>
          </a:prstGeom>
          <a:noFill/>
        </p:spPr>
        <p:txBody>
          <a:bodyPr wrap="square" lIns="36000" tIns="18000" rIns="36000" bIns="18000" anchor="t">
            <a:spAutoFit/>
          </a:bodyPr>
          <a:lstStyle/>
          <a:p>
            <a:pPr algn="l"/>
            <a:r>
              <a:rPr sz="900" b="1" i="0">
                <a:solidFill>
                  <a:srgbClr val="004D2E"/>
                </a:solidFill>
              </a:rPr>
              <a:t>▸ $ impact</a:t>
            </a:r>
          </a:p>
        </p:txBody>
      </p:sp>
      <p:sp>
        <p:nvSpPr>
          <p:cNvPr id="42" name="TextBox 46">
            <a:extLst>
              <a:ext uri="{FF2B5EF4-FFF2-40B4-BE49-F238E27FC236}">
                <a16:creationId xmlns:a16="http://schemas.microsoft.com/office/drawing/2014/main" id="{AD955339-6053-6183-29F2-56E1122DD197}"/>
              </a:ext>
            </a:extLst>
          </p:cNvPr>
          <p:cNvSpPr txBox="1"/>
          <p:nvPr/>
        </p:nvSpPr>
        <p:spPr>
          <a:xfrm>
            <a:off x="8229600" y="2221992"/>
            <a:ext cx="3520440" cy="201168"/>
          </a:xfrm>
          <a:prstGeom prst="rect">
            <a:avLst/>
          </a:prstGeom>
          <a:noFill/>
        </p:spPr>
        <p:txBody>
          <a:bodyPr wrap="square" lIns="36000" tIns="18000" rIns="36000" bIns="18000" anchor="t">
            <a:spAutoFit/>
          </a:bodyPr>
          <a:lstStyle/>
          <a:p>
            <a:pPr algn="l"/>
            <a:r>
              <a:rPr sz="900" b="0" i="0">
                <a:solidFill>
                  <a:srgbClr val="172B4D"/>
                </a:solidFill>
              </a:rPr>
              <a:t>$2M/yr cost avoidance · $500k revenue uplift</a:t>
            </a:r>
          </a:p>
        </p:txBody>
      </p:sp>
      <p:sp>
        <p:nvSpPr>
          <p:cNvPr id="43" name="TextBox 47">
            <a:extLst>
              <a:ext uri="{FF2B5EF4-FFF2-40B4-BE49-F238E27FC236}">
                <a16:creationId xmlns:a16="http://schemas.microsoft.com/office/drawing/2014/main" id="{89026DF8-B259-638F-4B30-F931B9DBAF09}"/>
              </a:ext>
            </a:extLst>
          </p:cNvPr>
          <p:cNvSpPr txBox="1"/>
          <p:nvPr/>
        </p:nvSpPr>
        <p:spPr>
          <a:xfrm>
            <a:off x="6336792" y="2459736"/>
            <a:ext cx="1828800" cy="201168"/>
          </a:xfrm>
          <a:prstGeom prst="rect">
            <a:avLst/>
          </a:prstGeom>
          <a:noFill/>
        </p:spPr>
        <p:txBody>
          <a:bodyPr wrap="square" lIns="36000" tIns="18000" rIns="36000" bIns="18000" anchor="t">
            <a:spAutoFit/>
          </a:bodyPr>
          <a:lstStyle/>
          <a:p>
            <a:pPr algn="l"/>
            <a:r>
              <a:rPr sz="900" b="1" i="0">
                <a:solidFill>
                  <a:srgbClr val="004D2E"/>
                </a:solidFill>
              </a:rPr>
              <a:t>▸ % delta</a:t>
            </a:r>
          </a:p>
        </p:txBody>
      </p:sp>
      <p:sp>
        <p:nvSpPr>
          <p:cNvPr id="44" name="TextBox 48">
            <a:extLst>
              <a:ext uri="{FF2B5EF4-FFF2-40B4-BE49-F238E27FC236}">
                <a16:creationId xmlns:a16="http://schemas.microsoft.com/office/drawing/2014/main" id="{40E5F450-BC7D-8909-FD96-5CA528F45780}"/>
              </a:ext>
            </a:extLst>
          </p:cNvPr>
          <p:cNvSpPr txBox="1"/>
          <p:nvPr/>
        </p:nvSpPr>
        <p:spPr>
          <a:xfrm>
            <a:off x="8229600" y="2459736"/>
            <a:ext cx="3520440" cy="201168"/>
          </a:xfrm>
          <a:prstGeom prst="rect">
            <a:avLst/>
          </a:prstGeom>
          <a:noFill/>
        </p:spPr>
        <p:txBody>
          <a:bodyPr wrap="square" lIns="36000" tIns="18000" rIns="36000" bIns="18000" anchor="t">
            <a:spAutoFit/>
          </a:bodyPr>
          <a:lstStyle/>
          <a:p>
            <a:pPr algn="l"/>
            <a:r>
              <a:rPr sz="900" b="0" i="0">
                <a:solidFill>
                  <a:srgbClr val="172B4D"/>
                </a:solidFill>
              </a:rPr>
              <a:t>NPS +5 points · CSAT 78% → 88%</a:t>
            </a:r>
          </a:p>
        </p:txBody>
      </p:sp>
      <p:sp>
        <p:nvSpPr>
          <p:cNvPr id="45" name="TextBox 49">
            <a:extLst>
              <a:ext uri="{FF2B5EF4-FFF2-40B4-BE49-F238E27FC236}">
                <a16:creationId xmlns:a16="http://schemas.microsoft.com/office/drawing/2014/main" id="{0882ACA0-38E9-73A1-6A49-F7FC968F3AD7}"/>
              </a:ext>
            </a:extLst>
          </p:cNvPr>
          <p:cNvSpPr txBox="1"/>
          <p:nvPr/>
        </p:nvSpPr>
        <p:spPr>
          <a:xfrm>
            <a:off x="6336792" y="2697480"/>
            <a:ext cx="1828800" cy="201168"/>
          </a:xfrm>
          <a:prstGeom prst="rect">
            <a:avLst/>
          </a:prstGeom>
          <a:noFill/>
        </p:spPr>
        <p:txBody>
          <a:bodyPr wrap="square" lIns="36000" tIns="18000" rIns="36000" bIns="18000" anchor="t">
            <a:spAutoFit/>
          </a:bodyPr>
          <a:lstStyle/>
          <a:p>
            <a:pPr algn="l"/>
            <a:r>
              <a:rPr sz="900" b="1" i="0">
                <a:solidFill>
                  <a:srgbClr val="004D2E"/>
                </a:solidFill>
              </a:rPr>
              <a:t>▸ Time saved</a:t>
            </a:r>
          </a:p>
        </p:txBody>
      </p:sp>
      <p:sp>
        <p:nvSpPr>
          <p:cNvPr id="46" name="TextBox 50">
            <a:extLst>
              <a:ext uri="{FF2B5EF4-FFF2-40B4-BE49-F238E27FC236}">
                <a16:creationId xmlns:a16="http://schemas.microsoft.com/office/drawing/2014/main" id="{87DAEEFB-B7A3-A4D6-2A9E-11156D6520E0}"/>
              </a:ext>
            </a:extLst>
          </p:cNvPr>
          <p:cNvSpPr txBox="1"/>
          <p:nvPr/>
        </p:nvSpPr>
        <p:spPr>
          <a:xfrm>
            <a:off x="8229600" y="2697480"/>
            <a:ext cx="3520440" cy="201168"/>
          </a:xfrm>
          <a:prstGeom prst="rect">
            <a:avLst/>
          </a:prstGeom>
          <a:noFill/>
        </p:spPr>
        <p:txBody>
          <a:bodyPr wrap="square" lIns="36000" tIns="18000" rIns="36000" bIns="18000" anchor="t">
            <a:spAutoFit/>
          </a:bodyPr>
          <a:lstStyle/>
          <a:p>
            <a:pPr algn="l"/>
            <a:r>
              <a:rPr sz="900" b="0" i="0">
                <a:solidFill>
                  <a:srgbClr val="172B4D"/>
                </a:solidFill>
              </a:rPr>
              <a:t>240 hrs/cycle · 5 days off cycle time</a:t>
            </a:r>
          </a:p>
        </p:txBody>
      </p:sp>
      <p:sp>
        <p:nvSpPr>
          <p:cNvPr id="47" name="TextBox 51">
            <a:extLst>
              <a:ext uri="{FF2B5EF4-FFF2-40B4-BE49-F238E27FC236}">
                <a16:creationId xmlns:a16="http://schemas.microsoft.com/office/drawing/2014/main" id="{CE8BB82F-FE17-9088-A5AF-5C83F60476F1}"/>
              </a:ext>
            </a:extLst>
          </p:cNvPr>
          <p:cNvSpPr txBox="1"/>
          <p:nvPr/>
        </p:nvSpPr>
        <p:spPr>
          <a:xfrm>
            <a:off x="6336792" y="2935224"/>
            <a:ext cx="1828800" cy="201168"/>
          </a:xfrm>
          <a:prstGeom prst="rect">
            <a:avLst/>
          </a:prstGeom>
          <a:noFill/>
        </p:spPr>
        <p:txBody>
          <a:bodyPr wrap="square" lIns="36000" tIns="18000" rIns="36000" bIns="18000" anchor="t">
            <a:spAutoFit/>
          </a:bodyPr>
          <a:lstStyle/>
          <a:p>
            <a:pPr algn="l"/>
            <a:r>
              <a:rPr sz="900" b="1" i="0">
                <a:solidFill>
                  <a:srgbClr val="004D2E"/>
                </a:solidFill>
              </a:rPr>
              <a:t>▸ Volume</a:t>
            </a:r>
          </a:p>
        </p:txBody>
      </p:sp>
      <p:sp>
        <p:nvSpPr>
          <p:cNvPr id="48" name="TextBox 52">
            <a:extLst>
              <a:ext uri="{FF2B5EF4-FFF2-40B4-BE49-F238E27FC236}">
                <a16:creationId xmlns:a16="http://schemas.microsoft.com/office/drawing/2014/main" id="{2AB17DA0-9E48-7E66-83DD-0D08B86A098F}"/>
              </a:ext>
            </a:extLst>
          </p:cNvPr>
          <p:cNvSpPr txBox="1"/>
          <p:nvPr/>
        </p:nvSpPr>
        <p:spPr>
          <a:xfrm>
            <a:off x="8229600" y="2935224"/>
            <a:ext cx="3520440" cy="201168"/>
          </a:xfrm>
          <a:prstGeom prst="rect">
            <a:avLst/>
          </a:prstGeom>
          <a:noFill/>
        </p:spPr>
        <p:txBody>
          <a:bodyPr wrap="square" lIns="36000" tIns="18000" rIns="36000" bIns="18000" anchor="t">
            <a:spAutoFit/>
          </a:bodyPr>
          <a:lstStyle/>
          <a:p>
            <a:pPr algn="l"/>
            <a:r>
              <a:rPr sz="900" b="0" i="0">
                <a:solidFill>
                  <a:srgbClr val="172B4D"/>
                </a:solidFill>
              </a:rPr>
              <a:t>1,200 errors/cycle · 8% of inbound calls</a:t>
            </a:r>
          </a:p>
        </p:txBody>
      </p:sp>
      <p:sp>
        <p:nvSpPr>
          <p:cNvPr id="49" name="TextBox 53">
            <a:extLst>
              <a:ext uri="{FF2B5EF4-FFF2-40B4-BE49-F238E27FC236}">
                <a16:creationId xmlns:a16="http://schemas.microsoft.com/office/drawing/2014/main" id="{5526902E-609B-30EE-005B-FF07945EE89F}"/>
              </a:ext>
            </a:extLst>
          </p:cNvPr>
          <p:cNvSpPr txBox="1"/>
          <p:nvPr/>
        </p:nvSpPr>
        <p:spPr>
          <a:xfrm>
            <a:off x="6336792" y="3172968"/>
            <a:ext cx="1828800" cy="201168"/>
          </a:xfrm>
          <a:prstGeom prst="rect">
            <a:avLst/>
          </a:prstGeom>
          <a:noFill/>
        </p:spPr>
        <p:txBody>
          <a:bodyPr wrap="square" lIns="36000" tIns="18000" rIns="36000" bIns="18000" anchor="t">
            <a:spAutoFit/>
          </a:bodyPr>
          <a:lstStyle/>
          <a:p>
            <a:pPr algn="l"/>
            <a:r>
              <a:rPr sz="900" b="1" i="0">
                <a:solidFill>
                  <a:srgbClr val="004D2E"/>
                </a:solidFill>
              </a:rPr>
              <a:t>▸ Compliance</a:t>
            </a:r>
          </a:p>
        </p:txBody>
      </p:sp>
      <p:sp>
        <p:nvSpPr>
          <p:cNvPr id="50" name="TextBox 54">
            <a:extLst>
              <a:ext uri="{FF2B5EF4-FFF2-40B4-BE49-F238E27FC236}">
                <a16:creationId xmlns:a16="http://schemas.microsoft.com/office/drawing/2014/main" id="{816827F6-7F57-6879-5BE6-2FBC7176ACC3}"/>
              </a:ext>
            </a:extLst>
          </p:cNvPr>
          <p:cNvSpPr txBox="1"/>
          <p:nvPr/>
        </p:nvSpPr>
        <p:spPr>
          <a:xfrm>
            <a:off x="8229600" y="3172968"/>
            <a:ext cx="3520440" cy="201168"/>
          </a:xfrm>
          <a:prstGeom prst="rect">
            <a:avLst/>
          </a:prstGeom>
          <a:noFill/>
        </p:spPr>
        <p:txBody>
          <a:bodyPr wrap="square" lIns="36000" tIns="18000" rIns="36000" bIns="18000" anchor="t">
            <a:spAutoFit/>
          </a:bodyPr>
          <a:lstStyle/>
          <a:p>
            <a:pPr algn="l"/>
            <a:r>
              <a:rPr sz="900" b="0" i="0">
                <a:solidFill>
                  <a:srgbClr val="172B4D"/>
                </a:solidFill>
              </a:rPr>
              <a:t>PUC mandate · SOX gap · OSHA finding</a:t>
            </a:r>
          </a:p>
        </p:txBody>
      </p:sp>
      <p:sp>
        <p:nvSpPr>
          <p:cNvPr id="53" name="TextBox 57">
            <a:extLst>
              <a:ext uri="{FF2B5EF4-FFF2-40B4-BE49-F238E27FC236}">
                <a16:creationId xmlns:a16="http://schemas.microsoft.com/office/drawing/2014/main" id="{32A4226B-AB41-00EB-384A-CB6457129341}"/>
              </a:ext>
            </a:extLst>
          </p:cNvPr>
          <p:cNvSpPr txBox="1"/>
          <p:nvPr/>
        </p:nvSpPr>
        <p:spPr>
          <a:xfrm>
            <a:off x="6336792" y="3794760"/>
            <a:ext cx="5486400" cy="201168"/>
          </a:xfrm>
          <a:prstGeom prst="rect">
            <a:avLst/>
          </a:prstGeom>
          <a:noFill/>
        </p:spPr>
        <p:txBody>
          <a:bodyPr wrap="square" lIns="36000" tIns="18000" rIns="36000" bIns="18000" anchor="t">
            <a:spAutoFit/>
          </a:bodyPr>
          <a:lstStyle/>
          <a:p>
            <a:pPr algn="l"/>
            <a:r>
              <a:rPr sz="1000" b="1" i="0">
                <a:solidFill>
                  <a:srgbClr val="DE350B"/>
                </a:solidFill>
              </a:rPr>
              <a:t>✗ AVOID</a:t>
            </a:r>
          </a:p>
        </p:txBody>
      </p:sp>
      <p:sp>
        <p:nvSpPr>
          <p:cNvPr id="54" name="TextBox 58">
            <a:extLst>
              <a:ext uri="{FF2B5EF4-FFF2-40B4-BE49-F238E27FC236}">
                <a16:creationId xmlns:a16="http://schemas.microsoft.com/office/drawing/2014/main" id="{020AAD8E-9467-715F-7878-3EBFDE3BC843}"/>
              </a:ext>
            </a:extLst>
          </p:cNvPr>
          <p:cNvSpPr txBox="1"/>
          <p:nvPr/>
        </p:nvSpPr>
        <p:spPr>
          <a:xfrm>
            <a:off x="6336792" y="4023360"/>
            <a:ext cx="5394960" cy="201168"/>
          </a:xfrm>
          <a:prstGeom prst="rect">
            <a:avLst/>
          </a:prstGeom>
          <a:noFill/>
        </p:spPr>
        <p:txBody>
          <a:bodyPr wrap="square" lIns="36000" tIns="18000" rIns="36000" bIns="18000" anchor="t">
            <a:spAutoFit/>
          </a:bodyPr>
          <a:lstStyle/>
          <a:p>
            <a:pPr algn="l"/>
            <a:r>
              <a:rPr sz="900" b="0" i="0">
                <a:solidFill>
                  <a:srgbClr val="DE350B"/>
                </a:solidFill>
              </a:rPr>
              <a:t>✗  Strategic alignment  ·  Industry best practice</a:t>
            </a:r>
          </a:p>
        </p:txBody>
      </p:sp>
      <p:sp>
        <p:nvSpPr>
          <p:cNvPr id="55" name="TextBox 59">
            <a:extLst>
              <a:ext uri="{FF2B5EF4-FFF2-40B4-BE49-F238E27FC236}">
                <a16:creationId xmlns:a16="http://schemas.microsoft.com/office/drawing/2014/main" id="{13CBC9DE-724C-DDEC-8F32-BE96DA211CBD}"/>
              </a:ext>
            </a:extLst>
          </p:cNvPr>
          <p:cNvSpPr txBox="1"/>
          <p:nvPr/>
        </p:nvSpPr>
        <p:spPr>
          <a:xfrm>
            <a:off x="6336792" y="4242816"/>
            <a:ext cx="5394960" cy="201168"/>
          </a:xfrm>
          <a:prstGeom prst="rect">
            <a:avLst/>
          </a:prstGeom>
          <a:noFill/>
        </p:spPr>
        <p:txBody>
          <a:bodyPr wrap="square" lIns="36000" tIns="18000" rIns="36000" bIns="18000" anchor="t">
            <a:spAutoFit/>
          </a:bodyPr>
          <a:lstStyle/>
          <a:p>
            <a:pPr algn="l"/>
            <a:r>
              <a:rPr sz="900" b="0" i="0">
                <a:solidFill>
                  <a:srgbClr val="DE350B"/>
                </a:solidFill>
              </a:rPr>
              <a:t>✗  Customer satisfaction (without number)</a:t>
            </a:r>
          </a:p>
        </p:txBody>
      </p:sp>
      <p:sp>
        <p:nvSpPr>
          <p:cNvPr id="100" name="TextBox 60">
            <a:extLst>
              <a:ext uri="{FF2B5EF4-FFF2-40B4-BE49-F238E27FC236}">
                <a16:creationId xmlns:a16="http://schemas.microsoft.com/office/drawing/2014/main" id="{34D69C64-B839-D2A1-7BCF-50CA1434098D}"/>
              </a:ext>
            </a:extLst>
          </p:cNvPr>
          <p:cNvSpPr txBox="1"/>
          <p:nvPr/>
        </p:nvSpPr>
        <p:spPr>
          <a:xfrm>
            <a:off x="6336792" y="4462272"/>
            <a:ext cx="5394960" cy="201168"/>
          </a:xfrm>
          <a:prstGeom prst="rect">
            <a:avLst/>
          </a:prstGeom>
          <a:noFill/>
        </p:spPr>
        <p:txBody>
          <a:bodyPr wrap="square" lIns="36000" tIns="18000" rIns="36000" bIns="18000" anchor="t">
            <a:spAutoFit/>
          </a:bodyPr>
          <a:lstStyle/>
          <a:p>
            <a:pPr algn="l"/>
            <a:r>
              <a:rPr sz="900" b="0" i="0">
                <a:solidFill>
                  <a:srgbClr val="DE350B"/>
                </a:solidFill>
              </a:rPr>
              <a:t>✗  It would be nice to have  ·  Future-proofing</a:t>
            </a:r>
          </a:p>
        </p:txBody>
      </p:sp>
      <p:sp>
        <p:nvSpPr>
          <p:cNvPr id="101" name="TextBox 61">
            <a:extLst>
              <a:ext uri="{FF2B5EF4-FFF2-40B4-BE49-F238E27FC236}">
                <a16:creationId xmlns:a16="http://schemas.microsoft.com/office/drawing/2014/main" id="{10A3B31E-3A8E-A58E-9679-B36AEEBFC502}"/>
              </a:ext>
            </a:extLst>
          </p:cNvPr>
          <p:cNvSpPr txBox="1"/>
          <p:nvPr/>
        </p:nvSpPr>
        <p:spPr>
          <a:xfrm>
            <a:off x="6336792" y="4681728"/>
            <a:ext cx="5394960" cy="201168"/>
          </a:xfrm>
          <a:prstGeom prst="rect">
            <a:avLst/>
          </a:prstGeom>
          <a:noFill/>
        </p:spPr>
        <p:txBody>
          <a:bodyPr wrap="square" lIns="36000" tIns="18000" rIns="36000" bIns="18000" anchor="t">
            <a:spAutoFit/>
          </a:bodyPr>
          <a:lstStyle/>
          <a:p>
            <a:pPr algn="l"/>
            <a:r>
              <a:rPr sz="900" b="0" i="0">
                <a:solidFill>
                  <a:srgbClr val="DE350B"/>
                </a:solidFill>
              </a:rPr>
              <a:t>✗  Better experience (without metric)</a:t>
            </a:r>
          </a:p>
        </p:txBody>
      </p:sp>
      <p:sp>
        <p:nvSpPr>
          <p:cNvPr id="102" name="TextBox 62">
            <a:extLst>
              <a:ext uri="{FF2B5EF4-FFF2-40B4-BE49-F238E27FC236}">
                <a16:creationId xmlns:a16="http://schemas.microsoft.com/office/drawing/2014/main" id="{DE2E8407-5DE0-F474-1317-C3BA2EA2B5F9}"/>
              </a:ext>
            </a:extLst>
          </p:cNvPr>
          <p:cNvSpPr txBox="1"/>
          <p:nvPr/>
        </p:nvSpPr>
        <p:spPr>
          <a:xfrm>
            <a:off x="6336792" y="4937760"/>
            <a:ext cx="5486400" cy="201168"/>
          </a:xfrm>
          <a:prstGeom prst="rect">
            <a:avLst/>
          </a:prstGeom>
          <a:noFill/>
        </p:spPr>
        <p:txBody>
          <a:bodyPr wrap="square" lIns="36000" tIns="18000" rIns="36000" bIns="18000" anchor="t">
            <a:spAutoFit/>
          </a:bodyPr>
          <a:lstStyle/>
          <a:p>
            <a:pPr algn="l"/>
            <a:r>
              <a:rPr sz="900" b="1" i="0">
                <a:solidFill>
                  <a:srgbClr val="006B3F"/>
                </a:solidFill>
              </a:rPr>
              <a:t>EXAMPLE — high BV statement</a:t>
            </a:r>
          </a:p>
        </p:txBody>
      </p:sp>
      <p:sp>
        <p:nvSpPr>
          <p:cNvPr id="103" name="Rounded Rectangle 63">
            <a:extLst>
              <a:ext uri="{FF2B5EF4-FFF2-40B4-BE49-F238E27FC236}">
                <a16:creationId xmlns:a16="http://schemas.microsoft.com/office/drawing/2014/main" id="{C0505C87-012A-F6FA-5FA5-7411E1F3B9F5}"/>
              </a:ext>
            </a:extLst>
          </p:cNvPr>
          <p:cNvSpPr/>
          <p:nvPr/>
        </p:nvSpPr>
        <p:spPr>
          <a:xfrm>
            <a:off x="6336792" y="5148072"/>
            <a:ext cx="5394960" cy="86868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64">
            <a:extLst>
              <a:ext uri="{FF2B5EF4-FFF2-40B4-BE49-F238E27FC236}">
                <a16:creationId xmlns:a16="http://schemas.microsoft.com/office/drawing/2014/main" id="{52320551-9029-1874-E264-E9E52FAABC33}"/>
              </a:ext>
            </a:extLst>
          </p:cNvPr>
          <p:cNvSpPr txBox="1"/>
          <p:nvPr/>
        </p:nvSpPr>
        <p:spPr>
          <a:xfrm>
            <a:off x="6446520" y="5212080"/>
            <a:ext cx="5212080" cy="777240"/>
          </a:xfrm>
          <a:prstGeom prst="rect">
            <a:avLst/>
          </a:prstGeom>
          <a:noFill/>
        </p:spPr>
        <p:txBody>
          <a:bodyPr wrap="square" lIns="36000" tIns="18000" rIns="36000" bIns="18000" anchor="t">
            <a:spAutoFit/>
          </a:bodyPr>
          <a:lstStyle/>
          <a:p>
            <a:pPr algn="l"/>
            <a:r>
              <a:rPr sz="900" b="0" i="1">
                <a:solidFill>
                  <a:srgbClr val="004D2E"/>
                </a:solidFill>
              </a:rPr>
              <a:t>"Reducing billing-correction cycle from 14 to 5 days saves 240 hrs/cycle (~$285k/yr labor) and reduces inbound complaints by ~8% (480 calls/cycle). Aligns with 2026 NPS target +5. BV = 4 (VERY HIGH).</a:t>
            </a:r>
          </a:p>
        </p:txBody>
      </p:sp>
      <p:sp>
        <p:nvSpPr>
          <p:cNvPr id="105" name="Rounded Rectangle 65">
            <a:extLst>
              <a:ext uri="{FF2B5EF4-FFF2-40B4-BE49-F238E27FC236}">
                <a16:creationId xmlns:a16="http://schemas.microsoft.com/office/drawing/2014/main" id="{C94C485A-B95F-6A64-C1A8-958DA15038EA}"/>
              </a:ext>
            </a:extLst>
          </p:cNvPr>
          <p:cNvSpPr/>
          <p:nvPr/>
        </p:nvSpPr>
        <p:spPr>
          <a:xfrm>
            <a:off x="365760" y="6263640"/>
            <a:ext cx="5650992" cy="521068"/>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66">
            <a:extLst>
              <a:ext uri="{FF2B5EF4-FFF2-40B4-BE49-F238E27FC236}">
                <a16:creationId xmlns:a16="http://schemas.microsoft.com/office/drawing/2014/main" id="{F7325F11-5C85-2CBB-9A67-B55F880E1E07}"/>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07" name="TextBox 67">
            <a:extLst>
              <a:ext uri="{FF2B5EF4-FFF2-40B4-BE49-F238E27FC236}">
                <a16:creationId xmlns:a16="http://schemas.microsoft.com/office/drawing/2014/main" id="{E086B88A-F2FD-869D-20A3-6501E2AA9785}"/>
              </a:ext>
            </a:extLst>
          </p:cNvPr>
          <p:cNvSpPr txBox="1"/>
          <p:nvPr/>
        </p:nvSpPr>
        <p:spPr>
          <a:xfrm>
            <a:off x="502920" y="6446520"/>
            <a:ext cx="5394960" cy="174851"/>
          </a:xfrm>
          <a:prstGeom prst="rect">
            <a:avLst/>
          </a:prstGeom>
          <a:noFill/>
        </p:spPr>
        <p:txBody>
          <a:bodyPr wrap="square" lIns="36000" tIns="18000" rIns="36000" bIns="18000" anchor="t">
            <a:spAutoFit/>
          </a:bodyPr>
          <a:lstStyle/>
          <a:p>
            <a:r>
              <a:rPr lang="pt-BR" sz="900" err="1">
                <a:solidFill>
                  <a:srgbClr val="172B4D"/>
                </a:solidFill>
              </a:rPr>
              <a:t>Reviewers</a:t>
            </a:r>
            <a:r>
              <a:rPr lang="pt-BR" sz="900">
                <a:solidFill>
                  <a:srgbClr val="172B4D"/>
                </a:solidFill>
              </a:rPr>
              <a:t> </a:t>
            </a:r>
            <a:r>
              <a:rPr lang="pt-BR" sz="900" err="1">
                <a:solidFill>
                  <a:srgbClr val="172B4D"/>
                </a:solidFill>
              </a:rPr>
              <a:t>can't</a:t>
            </a:r>
            <a:r>
              <a:rPr lang="pt-BR" sz="900">
                <a:solidFill>
                  <a:srgbClr val="172B4D"/>
                </a:solidFill>
              </a:rPr>
              <a:t> game ranking</a:t>
            </a:r>
          </a:p>
        </p:txBody>
      </p:sp>
      <p:sp>
        <p:nvSpPr>
          <p:cNvPr id="108" name="Rounded Rectangle 68">
            <a:extLst>
              <a:ext uri="{FF2B5EF4-FFF2-40B4-BE49-F238E27FC236}">
                <a16:creationId xmlns:a16="http://schemas.microsoft.com/office/drawing/2014/main" id="{878986FA-AE16-7AED-9BF7-EF2288BCD37D}"/>
              </a:ext>
            </a:extLst>
          </p:cNvPr>
          <p:cNvSpPr/>
          <p:nvPr/>
        </p:nvSpPr>
        <p:spPr>
          <a:xfrm>
            <a:off x="6199632" y="6263640"/>
            <a:ext cx="5650992" cy="521068"/>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69">
            <a:extLst>
              <a:ext uri="{FF2B5EF4-FFF2-40B4-BE49-F238E27FC236}">
                <a16:creationId xmlns:a16="http://schemas.microsoft.com/office/drawing/2014/main" id="{BB38FA6A-70F7-4DF8-5C9C-DA74B9193CB9}"/>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10" name="TextBox 70">
            <a:extLst>
              <a:ext uri="{FF2B5EF4-FFF2-40B4-BE49-F238E27FC236}">
                <a16:creationId xmlns:a16="http://schemas.microsoft.com/office/drawing/2014/main" id="{BC9B0FB7-FE5B-31F2-994C-0907D516DB1C}"/>
              </a:ext>
            </a:extLst>
          </p:cNvPr>
          <p:cNvSpPr txBox="1"/>
          <p:nvPr/>
        </p:nvSpPr>
        <p:spPr>
          <a:xfrm>
            <a:off x="6336792" y="6446520"/>
            <a:ext cx="5394960" cy="451850"/>
          </a:xfrm>
          <a:prstGeom prst="rect">
            <a:avLst/>
          </a:prstGeom>
          <a:noFill/>
        </p:spPr>
        <p:txBody>
          <a:bodyPr wrap="square" lIns="36000" tIns="18000" rIns="36000" bIns="18000" anchor="t">
            <a:spAutoFit/>
          </a:bodyPr>
          <a:lstStyle/>
          <a:p>
            <a:r>
              <a:rPr lang="pt-BR" sz="900" b="1" i="1">
                <a:solidFill>
                  <a:srgbClr val="F08629"/>
                </a:solidFill>
              </a:rPr>
              <a:t>▸ Pain Score · BV </a:t>
            </a:r>
            <a:r>
              <a:rPr lang="pt-BR" sz="900" b="1" i="1" err="1">
                <a:solidFill>
                  <a:srgbClr val="F08629"/>
                </a:solidFill>
              </a:rPr>
              <a:t>component</a:t>
            </a:r>
            <a:r>
              <a:rPr lang="pt-BR" sz="900" b="1" i="1">
                <a:solidFill>
                  <a:srgbClr val="F08629"/>
                </a:solidFill>
              </a:rPr>
              <a:t>  ·  ITBA: </a:t>
            </a:r>
            <a:r>
              <a:rPr lang="pt-BR" sz="900" b="1" i="1" err="1">
                <a:solidFill>
                  <a:srgbClr val="F08629"/>
                </a:solidFill>
              </a:rPr>
              <a:t>w</a:t>
            </a:r>
            <a:r>
              <a:rPr lang="pt-BR" sz="900" b="1" i="1">
                <a:solidFill>
                  <a:srgbClr val="F08629"/>
                </a:solidFill>
              </a:rPr>
              <a:t>₁=0.45 · CS: </a:t>
            </a:r>
            <a:r>
              <a:rPr lang="pt-BR" sz="900" b="1" i="1" err="1">
                <a:solidFill>
                  <a:srgbClr val="F08629"/>
                </a:solidFill>
              </a:rPr>
              <a:t>w</a:t>
            </a:r>
            <a:r>
              <a:rPr lang="pt-BR" sz="900" b="1" i="1">
                <a:solidFill>
                  <a:srgbClr val="F08629"/>
                </a:solidFill>
              </a:rPr>
              <a:t>₁=0.40  ·  Gate 2 review · Portfolio </a:t>
            </a:r>
            <a:r>
              <a:rPr lang="pt-BR" sz="900" b="1" i="1" err="1">
                <a:solidFill>
                  <a:srgbClr val="F08629"/>
                </a:solidFill>
              </a:rPr>
              <a:t>Committee</a:t>
            </a:r>
            <a:r>
              <a:rPr lang="pt-BR" sz="900" b="1" i="1">
                <a:solidFill>
                  <a:srgbClr val="F08629"/>
                </a:solidFill>
              </a:rPr>
              <a:t> </a:t>
            </a:r>
            <a:r>
              <a:rPr lang="pt-BR" sz="900" b="1" i="1" err="1">
                <a:solidFill>
                  <a:srgbClr val="F08629"/>
                </a:solidFill>
              </a:rPr>
              <a:t>defense</a:t>
            </a:r>
            <a:endParaRPr lang="pt-BR" sz="900" b="1" i="1">
              <a:solidFill>
                <a:srgbClr val="F08629"/>
              </a:solidFill>
            </a:endParaRPr>
          </a:p>
          <a:p>
            <a:endParaRPr lang="pt-BR" sz="900" b="1" i="1">
              <a:solidFill>
                <a:srgbClr val="F08629"/>
              </a:solidFill>
            </a:endParaRPr>
          </a:p>
        </p:txBody>
      </p:sp>
      <p:sp>
        <p:nvSpPr>
          <p:cNvPr id="7" name="TextBox 13">
            <a:extLst>
              <a:ext uri="{FF2B5EF4-FFF2-40B4-BE49-F238E27FC236}">
                <a16:creationId xmlns:a16="http://schemas.microsoft.com/office/drawing/2014/main" id="{B0308FFA-B0FB-72E9-625F-39EB76D08384}"/>
              </a:ext>
            </a:extLst>
          </p:cNvPr>
          <p:cNvSpPr txBox="1"/>
          <p:nvPr/>
        </p:nvSpPr>
        <p:spPr>
          <a:xfrm>
            <a:off x="8046720" y="1235555"/>
            <a:ext cx="3840480" cy="144073"/>
          </a:xfrm>
          <a:prstGeom prst="rect">
            <a:avLst/>
          </a:prstGeom>
          <a:noFill/>
        </p:spPr>
        <p:txBody>
          <a:bodyPr wrap="square" lIns="36000" tIns="18000" rIns="36000" bIns="18000" anchor="ctr">
            <a:spAutoFit/>
          </a:bodyPr>
          <a:lstStyle/>
          <a:p>
            <a:pPr algn="ctr"/>
            <a:r>
              <a:rPr sz="700" b="1" i="0">
                <a:solidFill>
                  <a:srgbClr val="FFFFFF"/>
                </a:solidFill>
              </a:rPr>
              <a:t>● NARRATIVE: FUNNEL · REQUESTER  /  SCORE: ANALYZING · </a:t>
            </a:r>
            <a:r>
              <a:rPr lang="pt-BR" sz="700" b="1" i="0">
                <a:solidFill>
                  <a:srgbClr val="FFFFFF"/>
                </a:solidFill>
              </a:rPr>
              <a:t>PM</a:t>
            </a:r>
            <a:endParaRPr sz="700" b="1" i="0">
              <a:solidFill>
                <a:srgbClr val="FFFFFF"/>
              </a:solidFill>
            </a:endParaRPr>
          </a:p>
        </p:txBody>
      </p:sp>
      <p:sp>
        <p:nvSpPr>
          <p:cNvPr id="2" name="TextBox 55">
            <a:extLst>
              <a:ext uri="{FF2B5EF4-FFF2-40B4-BE49-F238E27FC236}">
                <a16:creationId xmlns:a16="http://schemas.microsoft.com/office/drawing/2014/main" id="{3EBC67AF-B5EB-5580-C09B-DEDF03FD9C27}"/>
              </a:ext>
            </a:extLst>
          </p:cNvPr>
          <p:cNvSpPr txBox="1"/>
          <p:nvPr/>
        </p:nvSpPr>
        <p:spPr>
          <a:xfrm>
            <a:off x="6336792" y="3410712"/>
            <a:ext cx="1828800" cy="313350"/>
          </a:xfrm>
          <a:prstGeom prst="rect">
            <a:avLst/>
          </a:prstGeom>
          <a:noFill/>
        </p:spPr>
        <p:txBody>
          <a:bodyPr wrap="square" lIns="36000" tIns="18000" rIns="36000" bIns="18000" anchor="t">
            <a:spAutoFit/>
          </a:bodyPr>
          <a:lstStyle>
            <a:defPPr>
              <a:defRPr lang="es-MX"/>
            </a:defPPr>
            <a:lvl1pPr>
              <a:defRPr sz="900" b="1" i="0">
                <a:solidFill>
                  <a:srgbClr val="004D2E"/>
                </a:solidFill>
              </a:defRPr>
            </a:lvl1pPr>
          </a:lstStyle>
          <a:p>
            <a:r>
              <a:rPr lang="en-US"/>
              <a:t>▸ Safety (ITBA) / Customer Reliability (CS)</a:t>
            </a:r>
          </a:p>
        </p:txBody>
      </p:sp>
      <p:sp>
        <p:nvSpPr>
          <p:cNvPr id="6" name="TextBox 56">
            <a:extLst>
              <a:ext uri="{FF2B5EF4-FFF2-40B4-BE49-F238E27FC236}">
                <a16:creationId xmlns:a16="http://schemas.microsoft.com/office/drawing/2014/main" id="{1B7B50AF-ECA7-2408-3ECB-25CE521D888D}"/>
              </a:ext>
            </a:extLst>
          </p:cNvPr>
          <p:cNvSpPr txBox="1"/>
          <p:nvPr/>
        </p:nvSpPr>
        <p:spPr>
          <a:xfrm>
            <a:off x="8229600" y="3410712"/>
            <a:ext cx="3520440" cy="313350"/>
          </a:xfrm>
          <a:prstGeom prst="rect">
            <a:avLst/>
          </a:prstGeom>
          <a:noFill/>
        </p:spPr>
        <p:txBody>
          <a:bodyPr wrap="square" lIns="36000" tIns="18000" rIns="36000" bIns="18000" anchor="t">
            <a:spAutoFit/>
          </a:bodyPr>
          <a:lstStyle>
            <a:defPPr>
              <a:defRPr lang="es-MX"/>
            </a:defPPr>
            <a:lvl1pPr>
              <a:defRPr sz="900" b="0" i="0">
                <a:solidFill>
                  <a:srgbClr val="172B4D"/>
                </a:solidFill>
              </a:defRPr>
            </a:lvl1pPr>
          </a:lstStyle>
          <a:p>
            <a:r>
              <a:rPr lang="en-US"/>
              <a:t>ITBA · field crew · public hazard · near-miss     CS · uptime · NPS hits · service availability   (ITBA only · CS uses Customer Reliability instead)</a:t>
            </a:r>
          </a:p>
        </p:txBody>
      </p:sp>
      <p:sp>
        <p:nvSpPr>
          <p:cNvPr id="51" name="Text Placeholder 19">
            <a:extLst>
              <a:ext uri="{FF2B5EF4-FFF2-40B4-BE49-F238E27FC236}">
                <a16:creationId xmlns:a16="http://schemas.microsoft.com/office/drawing/2014/main" id="{DF180045-99AF-3BE7-3773-1FF43C8CC66F}"/>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Business Value</a:t>
            </a:r>
          </a:p>
        </p:txBody>
      </p:sp>
      <p:pic>
        <p:nvPicPr>
          <p:cNvPr id="52" name="Imagen 51">
            <a:extLst>
              <a:ext uri="{FF2B5EF4-FFF2-40B4-BE49-F238E27FC236}">
                <a16:creationId xmlns:a16="http://schemas.microsoft.com/office/drawing/2014/main" id="{B4AA4D22-95F1-950B-BFC9-4E901091DBDB}"/>
              </a:ext>
            </a:extLst>
          </p:cNvPr>
          <p:cNvPicPr>
            <a:picLocks noChangeAspect="1"/>
          </p:cNvPicPr>
          <p:nvPr/>
        </p:nvPicPr>
        <p:blipFill>
          <a:blip r:embed="rId4"/>
          <a:stretch>
            <a:fillRect/>
          </a:stretch>
        </p:blipFill>
        <p:spPr>
          <a:xfrm>
            <a:off x="8435831" y="116730"/>
            <a:ext cx="1314000" cy="63607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257544071"/>
      </p:ext>
    </p:extLst>
  </p:cSld>
  <p:clrMapOvr>
    <a:masterClrMapping/>
  </p:clrMapOvr>
  <p:extLst>
    <p:ext uri="{6950BFC3-D8DA-4A85-94F7-54DA5524770B}">
      <p188:commentRel xmlns:p188="http://schemas.microsoft.com/office/powerpoint/2018/8/main" r:id="rId3"/>
    </p:ext>
  </p:extLst>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883A1B-72D3-9C6F-1034-1A5763721FD6}"/>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C0F2A11D-7080-E507-EB45-A02710640320}"/>
              </a:ext>
            </a:extLst>
          </p:cNvPr>
          <p:cNvSpPr/>
          <p:nvPr/>
        </p:nvSpPr>
        <p:spPr>
          <a:xfrm>
            <a:off x="365760"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D144C2A7-53A2-7FB7-ADED-1547DB12242F}"/>
              </a:ext>
            </a:extLst>
          </p:cNvPr>
          <p:cNvSpPr/>
          <p:nvPr/>
        </p:nvSpPr>
        <p:spPr>
          <a:xfrm>
            <a:off x="365760" y="1097280"/>
            <a:ext cx="3749039" cy="777240"/>
          </a:xfrm>
          <a:prstGeom prst="roundRect">
            <a:avLst>
              <a:gd name="adj" fmla="val 3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9008108-DCB3-6A3F-2E5A-9100D06C783C}"/>
              </a:ext>
            </a:extLst>
          </p:cNvPr>
          <p:cNvSpPr txBox="1"/>
          <p:nvPr/>
        </p:nvSpPr>
        <p:spPr>
          <a:xfrm>
            <a:off x="502920"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REQUESTER VIEW</a:t>
            </a:r>
          </a:p>
        </p:txBody>
      </p:sp>
      <p:sp>
        <p:nvSpPr>
          <p:cNvPr id="10" name="TextBox 9">
            <a:extLst>
              <a:ext uri="{FF2B5EF4-FFF2-40B4-BE49-F238E27FC236}">
                <a16:creationId xmlns:a16="http://schemas.microsoft.com/office/drawing/2014/main" id="{569E4FEC-DC28-75E2-048A-13D9B5DBC545}"/>
              </a:ext>
            </a:extLst>
          </p:cNvPr>
          <p:cNvSpPr txBox="1"/>
          <p:nvPr/>
        </p:nvSpPr>
        <p:spPr>
          <a:xfrm>
            <a:off x="502920"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FUNNEL · SUBMIT</a:t>
            </a:r>
          </a:p>
        </p:txBody>
      </p:sp>
      <p:sp>
        <p:nvSpPr>
          <p:cNvPr id="11" name="TextBox 10">
            <a:extLst>
              <a:ext uri="{FF2B5EF4-FFF2-40B4-BE49-F238E27FC236}">
                <a16:creationId xmlns:a16="http://schemas.microsoft.com/office/drawing/2014/main" id="{AF81376F-AC8F-AEA6-CBD6-55BC1017AB79}"/>
              </a:ext>
            </a:extLst>
          </p:cNvPr>
          <p:cNvSpPr txBox="1"/>
          <p:nvPr/>
        </p:nvSpPr>
        <p:spPr>
          <a:xfrm>
            <a:off x="502920"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Sponsor / business user</a:t>
            </a:r>
          </a:p>
        </p:txBody>
      </p:sp>
      <p:sp>
        <p:nvSpPr>
          <p:cNvPr id="12" name="TextBox 11">
            <a:extLst>
              <a:ext uri="{FF2B5EF4-FFF2-40B4-BE49-F238E27FC236}">
                <a16:creationId xmlns:a16="http://schemas.microsoft.com/office/drawing/2014/main" id="{FF593E9C-E7A3-A6F6-CCA5-C7D8E4BE5258}"/>
              </a:ext>
            </a:extLst>
          </p:cNvPr>
          <p:cNvSpPr txBox="1"/>
          <p:nvPr/>
        </p:nvSpPr>
        <p:spPr>
          <a:xfrm>
            <a:off x="502920"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BUSINESS CONTEXT</a:t>
            </a:r>
          </a:p>
        </p:txBody>
      </p:sp>
      <p:sp>
        <p:nvSpPr>
          <p:cNvPr id="13" name="TextBox 12">
            <a:extLst>
              <a:ext uri="{FF2B5EF4-FFF2-40B4-BE49-F238E27FC236}">
                <a16:creationId xmlns:a16="http://schemas.microsoft.com/office/drawing/2014/main" id="{D3C5A60A-C646-442B-A695-EB556FA61FCD}"/>
              </a:ext>
            </a:extLst>
          </p:cNvPr>
          <p:cNvSpPr txBox="1"/>
          <p:nvPr/>
        </p:nvSpPr>
        <p:spPr>
          <a:xfrm>
            <a:off x="566928"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Title *</a:t>
            </a:r>
          </a:p>
        </p:txBody>
      </p:sp>
      <p:sp>
        <p:nvSpPr>
          <p:cNvPr id="14" name="TextBox 13">
            <a:extLst>
              <a:ext uri="{FF2B5EF4-FFF2-40B4-BE49-F238E27FC236}">
                <a16:creationId xmlns:a16="http://schemas.microsoft.com/office/drawing/2014/main" id="{5CB01167-A158-80F6-7FFF-154648A72DEE}"/>
              </a:ext>
            </a:extLst>
          </p:cNvPr>
          <p:cNvSpPr txBox="1"/>
          <p:nvPr/>
        </p:nvSpPr>
        <p:spPr>
          <a:xfrm>
            <a:off x="566928" y="239572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Description *</a:t>
            </a:r>
          </a:p>
        </p:txBody>
      </p:sp>
      <p:sp>
        <p:nvSpPr>
          <p:cNvPr id="15" name="TextBox 14">
            <a:extLst>
              <a:ext uri="{FF2B5EF4-FFF2-40B4-BE49-F238E27FC236}">
                <a16:creationId xmlns:a16="http://schemas.microsoft.com/office/drawing/2014/main" id="{3FBD3FAF-7F08-4F91-71A4-D8D9D20D84A9}"/>
              </a:ext>
            </a:extLst>
          </p:cNvPr>
          <p:cNvSpPr txBox="1"/>
          <p:nvPr/>
        </p:nvSpPr>
        <p:spPr>
          <a:xfrm>
            <a:off x="566928" y="257860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Business Value · narrative *</a:t>
            </a:r>
          </a:p>
        </p:txBody>
      </p:sp>
      <p:sp>
        <p:nvSpPr>
          <p:cNvPr id="16" name="TextBox 15">
            <a:extLst>
              <a:ext uri="{FF2B5EF4-FFF2-40B4-BE49-F238E27FC236}">
                <a16:creationId xmlns:a16="http://schemas.microsoft.com/office/drawing/2014/main" id="{E4C7E6A8-24C7-F76F-1517-D34FA41F6CE4}"/>
              </a:ext>
            </a:extLst>
          </p:cNvPr>
          <p:cNvSpPr txBox="1"/>
          <p:nvPr/>
        </p:nvSpPr>
        <p:spPr>
          <a:xfrm>
            <a:off x="566928" y="276148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Acceptance Criteria *</a:t>
            </a:r>
          </a:p>
        </p:txBody>
      </p:sp>
      <p:sp>
        <p:nvSpPr>
          <p:cNvPr id="17" name="TextBox 16">
            <a:extLst>
              <a:ext uri="{FF2B5EF4-FFF2-40B4-BE49-F238E27FC236}">
                <a16:creationId xmlns:a16="http://schemas.microsoft.com/office/drawing/2014/main" id="{DBC3E26C-D700-1373-82B5-A42348BA3733}"/>
              </a:ext>
            </a:extLst>
          </p:cNvPr>
          <p:cNvSpPr txBox="1"/>
          <p:nvPr/>
        </p:nvSpPr>
        <p:spPr>
          <a:xfrm>
            <a:off x="502920" y="299923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ROUTING</a:t>
            </a:r>
          </a:p>
        </p:txBody>
      </p:sp>
      <p:sp>
        <p:nvSpPr>
          <p:cNvPr id="18" name="TextBox 17">
            <a:extLst>
              <a:ext uri="{FF2B5EF4-FFF2-40B4-BE49-F238E27FC236}">
                <a16:creationId xmlns:a16="http://schemas.microsoft.com/office/drawing/2014/main" id="{34ADF460-BF16-559F-9288-3443E9974746}"/>
              </a:ext>
            </a:extLst>
          </p:cNvPr>
          <p:cNvSpPr txBox="1"/>
          <p:nvPr/>
        </p:nvSpPr>
        <p:spPr>
          <a:xfrm>
            <a:off x="566928" y="320040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Value Stream destination *</a:t>
            </a:r>
          </a:p>
        </p:txBody>
      </p:sp>
      <p:sp>
        <p:nvSpPr>
          <p:cNvPr id="19" name="TextBox 18">
            <a:extLst>
              <a:ext uri="{FF2B5EF4-FFF2-40B4-BE49-F238E27FC236}">
                <a16:creationId xmlns:a16="http://schemas.microsoft.com/office/drawing/2014/main" id="{DC433C42-4712-9CF0-0488-65A2978603E5}"/>
              </a:ext>
            </a:extLst>
          </p:cNvPr>
          <p:cNvSpPr txBox="1"/>
          <p:nvPr/>
        </p:nvSpPr>
        <p:spPr>
          <a:xfrm>
            <a:off x="566928" y="338328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OPCO *  ·  multi-select</a:t>
            </a:r>
          </a:p>
        </p:txBody>
      </p:sp>
      <p:sp>
        <p:nvSpPr>
          <p:cNvPr id="20" name="TextBox 19">
            <a:extLst>
              <a:ext uri="{FF2B5EF4-FFF2-40B4-BE49-F238E27FC236}">
                <a16:creationId xmlns:a16="http://schemas.microsoft.com/office/drawing/2014/main" id="{1E8C5E63-CDB1-6709-2A28-3BFA9C7E0716}"/>
              </a:ext>
            </a:extLst>
          </p:cNvPr>
          <p:cNvSpPr txBox="1"/>
          <p:nvPr/>
        </p:nvSpPr>
        <p:spPr>
          <a:xfrm>
            <a:off x="566928" y="35661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Sponsor *  ·  user picker</a:t>
            </a:r>
          </a:p>
        </p:txBody>
      </p:sp>
      <p:sp>
        <p:nvSpPr>
          <p:cNvPr id="21" name="TextBox 20">
            <a:extLst>
              <a:ext uri="{FF2B5EF4-FFF2-40B4-BE49-F238E27FC236}">
                <a16:creationId xmlns:a16="http://schemas.microsoft.com/office/drawing/2014/main" id="{CAF727C9-52ED-EFF4-A600-040A7C8BBABE}"/>
              </a:ext>
            </a:extLst>
          </p:cNvPr>
          <p:cNvSpPr txBox="1"/>
          <p:nvPr/>
        </p:nvSpPr>
        <p:spPr>
          <a:xfrm>
            <a:off x="502920" y="380390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FLAGS · optional</a:t>
            </a:r>
          </a:p>
        </p:txBody>
      </p:sp>
      <p:sp>
        <p:nvSpPr>
          <p:cNvPr id="22" name="TextBox 21">
            <a:extLst>
              <a:ext uri="{FF2B5EF4-FFF2-40B4-BE49-F238E27FC236}">
                <a16:creationId xmlns:a16="http://schemas.microsoft.com/office/drawing/2014/main" id="{72B5D02A-070D-5DAE-64FA-D117128B096F}"/>
              </a:ext>
            </a:extLst>
          </p:cNvPr>
          <p:cNvSpPr txBox="1"/>
          <p:nvPr/>
        </p:nvSpPr>
        <p:spPr>
          <a:xfrm>
            <a:off x="566928" y="400507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Customer Impact Tier (P1–P4 if known)</a:t>
            </a:r>
          </a:p>
        </p:txBody>
      </p:sp>
      <p:sp>
        <p:nvSpPr>
          <p:cNvPr id="23" name="TextBox 22">
            <a:extLst>
              <a:ext uri="{FF2B5EF4-FFF2-40B4-BE49-F238E27FC236}">
                <a16:creationId xmlns:a16="http://schemas.microsoft.com/office/drawing/2014/main" id="{E573BDA9-E466-94E4-D542-9F60AC196418}"/>
              </a:ext>
            </a:extLst>
          </p:cNvPr>
          <p:cNvSpPr txBox="1"/>
          <p:nvPr/>
        </p:nvSpPr>
        <p:spPr>
          <a:xfrm>
            <a:off x="502920" y="424281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ABOUT SPONSOR</a:t>
            </a:r>
          </a:p>
        </p:txBody>
      </p:sp>
      <p:sp>
        <p:nvSpPr>
          <p:cNvPr id="24" name="TextBox 23">
            <a:extLst>
              <a:ext uri="{FF2B5EF4-FFF2-40B4-BE49-F238E27FC236}">
                <a16:creationId xmlns:a16="http://schemas.microsoft.com/office/drawing/2014/main" id="{D04DB9CE-6B2F-C29F-65D6-0C8FEB092210}"/>
              </a:ext>
            </a:extLst>
          </p:cNvPr>
          <p:cNvSpPr txBox="1"/>
          <p:nvPr/>
        </p:nvSpPr>
        <p:spPr>
          <a:xfrm>
            <a:off x="566928" y="444398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Sponsor = business owner who validates demand · accepts at Done</a:t>
            </a:r>
          </a:p>
        </p:txBody>
      </p:sp>
      <p:sp>
        <p:nvSpPr>
          <p:cNvPr id="25" name="TextBox 24">
            <a:extLst>
              <a:ext uri="{FF2B5EF4-FFF2-40B4-BE49-F238E27FC236}">
                <a16:creationId xmlns:a16="http://schemas.microsoft.com/office/drawing/2014/main" id="{B328F199-EE9E-423E-76EE-AB2B8D88BB07}"/>
              </a:ext>
            </a:extLst>
          </p:cNvPr>
          <p:cNvSpPr txBox="1"/>
          <p:nvPr/>
        </p:nvSpPr>
        <p:spPr>
          <a:xfrm>
            <a:off x="566928" y="4713691"/>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Requester ≠ Sponsor · Sponsor mandatory user-picker</a:t>
            </a:r>
          </a:p>
        </p:txBody>
      </p:sp>
      <p:sp>
        <p:nvSpPr>
          <p:cNvPr id="26" name="Rounded Rectangle 25">
            <a:extLst>
              <a:ext uri="{FF2B5EF4-FFF2-40B4-BE49-F238E27FC236}">
                <a16:creationId xmlns:a16="http://schemas.microsoft.com/office/drawing/2014/main" id="{C4CC26B6-3D0A-13E7-D2BB-33CE88C9E4A7}"/>
              </a:ext>
            </a:extLst>
          </p:cNvPr>
          <p:cNvSpPr/>
          <p:nvPr/>
        </p:nvSpPr>
        <p:spPr>
          <a:xfrm>
            <a:off x="4206239"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a:extLst>
              <a:ext uri="{FF2B5EF4-FFF2-40B4-BE49-F238E27FC236}">
                <a16:creationId xmlns:a16="http://schemas.microsoft.com/office/drawing/2014/main" id="{1167E2B1-6764-70E9-2AE8-F6AFDDB3D726}"/>
              </a:ext>
            </a:extLst>
          </p:cNvPr>
          <p:cNvSpPr/>
          <p:nvPr/>
        </p:nvSpPr>
        <p:spPr>
          <a:xfrm>
            <a:off x="4206239" y="1097280"/>
            <a:ext cx="3749039" cy="77724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483BB414-615E-6CB5-FE9E-5D10E301DF1A}"/>
              </a:ext>
            </a:extLst>
          </p:cNvPr>
          <p:cNvSpPr txBox="1"/>
          <p:nvPr/>
        </p:nvSpPr>
        <p:spPr>
          <a:xfrm>
            <a:off x="4343399"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PM VIEW</a:t>
            </a:r>
          </a:p>
        </p:txBody>
      </p:sp>
      <p:sp>
        <p:nvSpPr>
          <p:cNvPr id="29" name="TextBox 28">
            <a:extLst>
              <a:ext uri="{FF2B5EF4-FFF2-40B4-BE49-F238E27FC236}">
                <a16:creationId xmlns:a16="http://schemas.microsoft.com/office/drawing/2014/main" id="{C1369F12-CA93-BC66-05AE-EFBA493B9497}"/>
              </a:ext>
            </a:extLst>
          </p:cNvPr>
          <p:cNvSpPr txBox="1"/>
          <p:nvPr/>
        </p:nvSpPr>
        <p:spPr>
          <a:xfrm>
            <a:off x="4343399"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REVIEWING → ANALYZING</a:t>
            </a:r>
          </a:p>
        </p:txBody>
      </p:sp>
      <p:sp>
        <p:nvSpPr>
          <p:cNvPr id="30" name="TextBox 29">
            <a:extLst>
              <a:ext uri="{FF2B5EF4-FFF2-40B4-BE49-F238E27FC236}">
                <a16:creationId xmlns:a16="http://schemas.microsoft.com/office/drawing/2014/main" id="{04ED8699-4932-715D-0229-63679A0BD8B5}"/>
              </a:ext>
            </a:extLst>
          </p:cNvPr>
          <p:cNvSpPr txBox="1"/>
          <p:nvPr/>
        </p:nvSpPr>
        <p:spPr>
          <a:xfrm>
            <a:off x="4343399"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PM (per VS) + Architect</a:t>
            </a:r>
          </a:p>
        </p:txBody>
      </p:sp>
      <p:sp>
        <p:nvSpPr>
          <p:cNvPr id="31" name="TextBox 30">
            <a:extLst>
              <a:ext uri="{FF2B5EF4-FFF2-40B4-BE49-F238E27FC236}">
                <a16:creationId xmlns:a16="http://schemas.microsoft.com/office/drawing/2014/main" id="{F40D0FAB-8778-DDEB-4510-A895B089F4EB}"/>
              </a:ext>
            </a:extLst>
          </p:cNvPr>
          <p:cNvSpPr txBox="1"/>
          <p:nvPr/>
        </p:nvSpPr>
        <p:spPr>
          <a:xfrm>
            <a:off x="4343399"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REQUESTER FIELDS</a:t>
            </a:r>
          </a:p>
        </p:txBody>
      </p:sp>
      <p:sp>
        <p:nvSpPr>
          <p:cNvPr id="32" name="TextBox 31">
            <a:extLst>
              <a:ext uri="{FF2B5EF4-FFF2-40B4-BE49-F238E27FC236}">
                <a16:creationId xmlns:a16="http://schemas.microsoft.com/office/drawing/2014/main" id="{5C17F96D-2583-CA02-884D-9B36BC7EDE60}"/>
              </a:ext>
            </a:extLst>
          </p:cNvPr>
          <p:cNvSpPr txBox="1"/>
          <p:nvPr/>
        </p:nvSpPr>
        <p:spPr>
          <a:xfrm>
            <a:off x="4407407"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All Funnel-stage fields · read-only</a:t>
            </a:r>
          </a:p>
        </p:txBody>
      </p:sp>
      <p:sp>
        <p:nvSpPr>
          <p:cNvPr id="33" name="TextBox 32">
            <a:extLst>
              <a:ext uri="{FF2B5EF4-FFF2-40B4-BE49-F238E27FC236}">
                <a16:creationId xmlns:a16="http://schemas.microsoft.com/office/drawing/2014/main" id="{FD3E9E77-4EE2-F29F-EC8C-323BC8408023}"/>
              </a:ext>
            </a:extLst>
          </p:cNvPr>
          <p:cNvSpPr txBox="1"/>
          <p:nvPr/>
        </p:nvSpPr>
        <p:spPr>
          <a:xfrm>
            <a:off x="4343399" y="245059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CLASSIFICATION  ·  Reviewing</a:t>
            </a:r>
          </a:p>
        </p:txBody>
      </p:sp>
      <p:sp>
        <p:nvSpPr>
          <p:cNvPr id="34" name="TextBox 33">
            <a:extLst>
              <a:ext uri="{FF2B5EF4-FFF2-40B4-BE49-F238E27FC236}">
                <a16:creationId xmlns:a16="http://schemas.microsoft.com/office/drawing/2014/main" id="{915DE020-9C3C-727B-CC40-9F8D65410E57}"/>
              </a:ext>
            </a:extLst>
          </p:cNvPr>
          <p:cNvSpPr txBox="1"/>
          <p:nvPr/>
        </p:nvSpPr>
        <p:spPr>
          <a:xfrm>
            <a:off x="4407407" y="26517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Type *  ·  PS / Reg / Non-Reg</a:t>
            </a:r>
          </a:p>
        </p:txBody>
      </p:sp>
      <p:sp>
        <p:nvSpPr>
          <p:cNvPr id="35" name="TextBox 34">
            <a:extLst>
              <a:ext uri="{FF2B5EF4-FFF2-40B4-BE49-F238E27FC236}">
                <a16:creationId xmlns:a16="http://schemas.microsoft.com/office/drawing/2014/main" id="{C89AE3BA-3E98-23B2-4053-F7172FE4EABE}"/>
              </a:ext>
            </a:extLst>
          </p:cNvPr>
          <p:cNvSpPr txBox="1"/>
          <p:nvPr/>
        </p:nvSpPr>
        <p:spPr>
          <a:xfrm>
            <a:off x="4407407" y="283464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Size *  ·  initial guess</a:t>
            </a:r>
          </a:p>
        </p:txBody>
      </p:sp>
      <p:sp>
        <p:nvSpPr>
          <p:cNvPr id="36" name="TextBox 35">
            <a:extLst>
              <a:ext uri="{FF2B5EF4-FFF2-40B4-BE49-F238E27FC236}">
                <a16:creationId xmlns:a16="http://schemas.microsoft.com/office/drawing/2014/main" id="{7BC4FDC5-EAFF-3818-3FC2-DBE1E95CDD19}"/>
              </a:ext>
            </a:extLst>
          </p:cNvPr>
          <p:cNvSpPr txBox="1"/>
          <p:nvPr/>
        </p:nvSpPr>
        <p:spPr>
          <a:xfrm>
            <a:off x="4407407" y="301752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CoS *  ·  initial guess</a:t>
            </a:r>
          </a:p>
        </p:txBody>
      </p:sp>
      <p:sp>
        <p:nvSpPr>
          <p:cNvPr id="37" name="TextBox 36">
            <a:extLst>
              <a:ext uri="{FF2B5EF4-FFF2-40B4-BE49-F238E27FC236}">
                <a16:creationId xmlns:a16="http://schemas.microsoft.com/office/drawing/2014/main" id="{6955C02F-9FEC-2A66-4C29-07C35E475CEA}"/>
              </a:ext>
            </a:extLst>
          </p:cNvPr>
          <p:cNvSpPr txBox="1"/>
          <p:nvPr/>
        </p:nvSpPr>
        <p:spPr>
          <a:xfrm>
            <a:off x="4407407" y="320040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Run / Grow / Transform *</a:t>
            </a:r>
          </a:p>
        </p:txBody>
      </p:sp>
      <p:sp>
        <p:nvSpPr>
          <p:cNvPr id="38" name="TextBox 37">
            <a:extLst>
              <a:ext uri="{FF2B5EF4-FFF2-40B4-BE49-F238E27FC236}">
                <a16:creationId xmlns:a16="http://schemas.microsoft.com/office/drawing/2014/main" id="{C6B14A0C-DE94-58B6-8237-7AB51E6DBFDE}"/>
              </a:ext>
            </a:extLst>
          </p:cNvPr>
          <p:cNvSpPr txBox="1"/>
          <p:nvPr/>
        </p:nvSpPr>
        <p:spPr>
          <a:xfrm>
            <a:off x="4343399" y="343814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SCORES  ·  Analyzing</a:t>
            </a:r>
          </a:p>
        </p:txBody>
      </p:sp>
      <p:sp>
        <p:nvSpPr>
          <p:cNvPr id="39" name="TextBox 38">
            <a:extLst>
              <a:ext uri="{FF2B5EF4-FFF2-40B4-BE49-F238E27FC236}">
                <a16:creationId xmlns:a16="http://schemas.microsoft.com/office/drawing/2014/main" id="{1EA3EDC2-3363-48CF-8320-91255B36C9EA}"/>
              </a:ext>
            </a:extLst>
          </p:cNvPr>
          <p:cNvSpPr txBox="1"/>
          <p:nvPr/>
        </p:nvSpPr>
        <p:spPr>
          <a:xfrm>
            <a:off x="4407407" y="363931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BV score 1–5 *  ·  by PM</a:t>
            </a:r>
          </a:p>
        </p:txBody>
      </p:sp>
      <p:sp>
        <p:nvSpPr>
          <p:cNvPr id="40" name="TextBox 39">
            <a:extLst>
              <a:ext uri="{FF2B5EF4-FFF2-40B4-BE49-F238E27FC236}">
                <a16:creationId xmlns:a16="http://schemas.microsoft.com/office/drawing/2014/main" id="{95E0C138-C144-8454-87D3-879814F5C106}"/>
              </a:ext>
            </a:extLst>
          </p:cNvPr>
          <p:cNvSpPr txBox="1"/>
          <p:nvPr/>
        </p:nvSpPr>
        <p:spPr>
          <a:xfrm>
            <a:off x="4407407" y="382219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UX score 1–5 *  ·  by PM</a:t>
            </a:r>
          </a:p>
        </p:txBody>
      </p:sp>
      <p:sp>
        <p:nvSpPr>
          <p:cNvPr id="41" name="TextBox 40">
            <a:extLst>
              <a:ext uri="{FF2B5EF4-FFF2-40B4-BE49-F238E27FC236}">
                <a16:creationId xmlns:a16="http://schemas.microsoft.com/office/drawing/2014/main" id="{9EE9416C-5245-6378-13DE-7C875569F95F}"/>
              </a:ext>
            </a:extLst>
          </p:cNvPr>
          <p:cNvSpPr txBox="1"/>
          <p:nvPr/>
        </p:nvSpPr>
        <p:spPr>
          <a:xfrm>
            <a:off x="4407407" y="400507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Safety score 1–5 (ITBA only) *  ·  by Architect</a:t>
            </a:r>
          </a:p>
        </p:txBody>
      </p:sp>
      <p:sp>
        <p:nvSpPr>
          <p:cNvPr id="42" name="TextBox 41">
            <a:extLst>
              <a:ext uri="{FF2B5EF4-FFF2-40B4-BE49-F238E27FC236}">
                <a16:creationId xmlns:a16="http://schemas.microsoft.com/office/drawing/2014/main" id="{5BD5E932-35D1-0050-F9C6-FC7C807E0DCC}"/>
              </a:ext>
            </a:extLst>
          </p:cNvPr>
          <p:cNvSpPr txBox="1"/>
          <p:nvPr/>
        </p:nvSpPr>
        <p:spPr>
          <a:xfrm>
            <a:off x="4407407" y="418795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Effort *  ·  by Architect · t-shirt size</a:t>
            </a:r>
          </a:p>
        </p:txBody>
      </p:sp>
      <p:sp>
        <p:nvSpPr>
          <p:cNvPr id="43" name="TextBox 42">
            <a:extLst>
              <a:ext uri="{FF2B5EF4-FFF2-40B4-BE49-F238E27FC236}">
                <a16:creationId xmlns:a16="http://schemas.microsoft.com/office/drawing/2014/main" id="{CEF2B82F-FEB6-2A5D-86AC-00AF05462A4F}"/>
              </a:ext>
            </a:extLst>
          </p:cNvPr>
          <p:cNvSpPr txBox="1"/>
          <p:nvPr/>
        </p:nvSpPr>
        <p:spPr>
          <a:xfrm>
            <a:off x="4343399" y="442569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ARTIFACTS</a:t>
            </a:r>
          </a:p>
        </p:txBody>
      </p:sp>
      <p:sp>
        <p:nvSpPr>
          <p:cNvPr id="44" name="TextBox 43">
            <a:extLst>
              <a:ext uri="{FF2B5EF4-FFF2-40B4-BE49-F238E27FC236}">
                <a16:creationId xmlns:a16="http://schemas.microsoft.com/office/drawing/2014/main" id="{5649566E-2C0A-AC90-73DC-B1B494449E81}"/>
              </a:ext>
            </a:extLst>
          </p:cNvPr>
          <p:cNvSpPr txBox="1"/>
          <p:nvPr/>
        </p:nvSpPr>
        <p:spPr>
          <a:xfrm>
            <a:off x="4407407" y="4626864"/>
            <a:ext cx="3346703" cy="167157"/>
          </a:xfrm>
          <a:prstGeom prst="rect">
            <a:avLst/>
          </a:prstGeom>
          <a:noFill/>
        </p:spPr>
        <p:txBody>
          <a:bodyPr wrap="square" lIns="36000" tIns="18000" rIns="36000" bIns="18000" anchor="t">
            <a:spAutoFit/>
          </a:bodyPr>
          <a:lstStyle/>
          <a:p>
            <a:pPr algn="l"/>
            <a:r>
              <a:rPr lang="es-MX" sz="850" b="0" i="0">
                <a:solidFill>
                  <a:srgbClr val="2C3E50"/>
                </a:solidFill>
                <a:highlight>
                  <a:srgbClr val="FFFF00"/>
                </a:highlight>
                <a:latin typeface="Arial"/>
              </a:rPr>
              <a:t>▪ Discovery Report attached</a:t>
            </a:r>
          </a:p>
        </p:txBody>
      </p:sp>
      <p:sp>
        <p:nvSpPr>
          <p:cNvPr id="45" name="TextBox 44">
            <a:extLst>
              <a:ext uri="{FF2B5EF4-FFF2-40B4-BE49-F238E27FC236}">
                <a16:creationId xmlns:a16="http://schemas.microsoft.com/office/drawing/2014/main" id="{5683F30F-6B93-ADFD-E2C3-C3E34F38CB30}"/>
              </a:ext>
            </a:extLst>
          </p:cNvPr>
          <p:cNvSpPr txBox="1"/>
          <p:nvPr/>
        </p:nvSpPr>
        <p:spPr>
          <a:xfrm>
            <a:off x="4407407" y="4809744"/>
            <a:ext cx="3346703" cy="167157"/>
          </a:xfrm>
          <a:prstGeom prst="rect">
            <a:avLst/>
          </a:prstGeom>
          <a:noFill/>
        </p:spPr>
        <p:txBody>
          <a:bodyPr wrap="square" lIns="36000" tIns="18000" rIns="36000" bIns="18000" anchor="t">
            <a:spAutoFit/>
          </a:bodyPr>
          <a:lstStyle/>
          <a:p>
            <a:pPr algn="l"/>
            <a:r>
              <a:rPr lang="es-MX" sz="850" b="0" i="0">
                <a:solidFill>
                  <a:srgbClr val="2C3E50"/>
                </a:solidFill>
                <a:highlight>
                  <a:srgbClr val="FFFF00"/>
                </a:highlight>
                <a:latin typeface="Arial"/>
              </a:rPr>
              <a:t>▪ Concept Prototype if Transform</a:t>
            </a:r>
          </a:p>
        </p:txBody>
      </p:sp>
      <p:sp>
        <p:nvSpPr>
          <p:cNvPr id="46" name="Rounded Rectangle 45">
            <a:extLst>
              <a:ext uri="{FF2B5EF4-FFF2-40B4-BE49-F238E27FC236}">
                <a16:creationId xmlns:a16="http://schemas.microsoft.com/office/drawing/2014/main" id="{70EBE688-2600-FA25-CBE5-34E84F6C3816}"/>
              </a:ext>
            </a:extLst>
          </p:cNvPr>
          <p:cNvSpPr/>
          <p:nvPr/>
        </p:nvSpPr>
        <p:spPr>
          <a:xfrm>
            <a:off x="8046718"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a:extLst>
              <a:ext uri="{FF2B5EF4-FFF2-40B4-BE49-F238E27FC236}">
                <a16:creationId xmlns:a16="http://schemas.microsoft.com/office/drawing/2014/main" id="{D78EA3D2-5AEF-BFBC-B9F5-F6FA34E5FB06}"/>
              </a:ext>
            </a:extLst>
          </p:cNvPr>
          <p:cNvSpPr/>
          <p:nvPr/>
        </p:nvSpPr>
        <p:spPr>
          <a:xfrm>
            <a:off x="8046718" y="1097280"/>
            <a:ext cx="3749039" cy="77724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165142E6-061D-7FFD-3803-5C35E0937949}"/>
              </a:ext>
            </a:extLst>
          </p:cNvPr>
          <p:cNvSpPr txBox="1"/>
          <p:nvPr/>
        </p:nvSpPr>
        <p:spPr>
          <a:xfrm>
            <a:off x="8183878"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DIRECTOR VIEW</a:t>
            </a:r>
          </a:p>
        </p:txBody>
      </p:sp>
      <p:sp>
        <p:nvSpPr>
          <p:cNvPr id="49" name="TextBox 48">
            <a:extLst>
              <a:ext uri="{FF2B5EF4-FFF2-40B4-BE49-F238E27FC236}">
                <a16:creationId xmlns:a16="http://schemas.microsoft.com/office/drawing/2014/main" id="{593C5DA1-23A7-FF7F-CC8A-1EDCDDA2C263}"/>
              </a:ext>
            </a:extLst>
          </p:cNvPr>
          <p:cNvSpPr txBox="1"/>
          <p:nvPr/>
        </p:nvSpPr>
        <p:spPr>
          <a:xfrm>
            <a:off x="8183878"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GATE 2 · PORTFOLIO</a:t>
            </a:r>
          </a:p>
        </p:txBody>
      </p:sp>
      <p:sp>
        <p:nvSpPr>
          <p:cNvPr id="50" name="TextBox 49">
            <a:extLst>
              <a:ext uri="{FF2B5EF4-FFF2-40B4-BE49-F238E27FC236}">
                <a16:creationId xmlns:a16="http://schemas.microsoft.com/office/drawing/2014/main" id="{D46011C6-3623-A5B5-8E84-181329D809C4}"/>
              </a:ext>
            </a:extLst>
          </p:cNvPr>
          <p:cNvSpPr txBox="1"/>
          <p:nvPr/>
        </p:nvSpPr>
        <p:spPr>
          <a:xfrm>
            <a:off x="8183878"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Director (Carlos · Kumar)</a:t>
            </a:r>
          </a:p>
        </p:txBody>
      </p:sp>
      <p:sp>
        <p:nvSpPr>
          <p:cNvPr id="51" name="TextBox 50">
            <a:extLst>
              <a:ext uri="{FF2B5EF4-FFF2-40B4-BE49-F238E27FC236}">
                <a16:creationId xmlns:a16="http://schemas.microsoft.com/office/drawing/2014/main" id="{B97B6DF2-60E2-AA55-9D8E-F9A589779AE7}"/>
              </a:ext>
            </a:extLst>
          </p:cNvPr>
          <p:cNvSpPr txBox="1"/>
          <p:nvPr/>
        </p:nvSpPr>
        <p:spPr>
          <a:xfrm>
            <a:off x="8183878"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FULL CARD</a:t>
            </a:r>
          </a:p>
        </p:txBody>
      </p:sp>
      <p:sp>
        <p:nvSpPr>
          <p:cNvPr id="52" name="TextBox 51">
            <a:extLst>
              <a:ext uri="{FF2B5EF4-FFF2-40B4-BE49-F238E27FC236}">
                <a16:creationId xmlns:a16="http://schemas.microsoft.com/office/drawing/2014/main" id="{2866C688-8F1E-5773-B131-27B679D44FB3}"/>
              </a:ext>
            </a:extLst>
          </p:cNvPr>
          <p:cNvSpPr txBox="1"/>
          <p:nvPr/>
        </p:nvSpPr>
        <p:spPr>
          <a:xfrm>
            <a:off x="8247886"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All previous fields · read-only</a:t>
            </a:r>
          </a:p>
        </p:txBody>
      </p:sp>
      <p:sp>
        <p:nvSpPr>
          <p:cNvPr id="53" name="TextBox 52">
            <a:extLst>
              <a:ext uri="{FF2B5EF4-FFF2-40B4-BE49-F238E27FC236}">
                <a16:creationId xmlns:a16="http://schemas.microsoft.com/office/drawing/2014/main" id="{FDC3E8A0-7B69-8666-BB05-34A9301AA853}"/>
              </a:ext>
            </a:extLst>
          </p:cNvPr>
          <p:cNvSpPr txBox="1"/>
          <p:nvPr/>
        </p:nvSpPr>
        <p:spPr>
          <a:xfrm>
            <a:off x="8183878" y="245059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AUTO-COMPUTED · system</a:t>
            </a:r>
          </a:p>
        </p:txBody>
      </p:sp>
      <p:sp>
        <p:nvSpPr>
          <p:cNvPr id="54" name="TextBox 53">
            <a:extLst>
              <a:ext uri="{FF2B5EF4-FFF2-40B4-BE49-F238E27FC236}">
                <a16:creationId xmlns:a16="http://schemas.microsoft.com/office/drawing/2014/main" id="{28884DB2-935F-17F9-128F-5751E73F7598}"/>
              </a:ext>
            </a:extLst>
          </p:cNvPr>
          <p:cNvSpPr txBox="1"/>
          <p:nvPr/>
        </p:nvSpPr>
        <p:spPr>
          <a:xfrm>
            <a:off x="8247886" y="26517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Pain Score (A4 auto-fires)</a:t>
            </a:r>
          </a:p>
        </p:txBody>
      </p:sp>
      <p:sp>
        <p:nvSpPr>
          <p:cNvPr id="55" name="TextBox 54">
            <a:extLst>
              <a:ext uri="{FF2B5EF4-FFF2-40B4-BE49-F238E27FC236}">
                <a16:creationId xmlns:a16="http://schemas.microsoft.com/office/drawing/2014/main" id="{D4B5D28C-979A-8656-244A-E7B911D66963}"/>
              </a:ext>
            </a:extLst>
          </p:cNvPr>
          <p:cNvSpPr txBox="1"/>
          <p:nvPr/>
        </p:nvSpPr>
        <p:spPr>
          <a:xfrm>
            <a:off x="8247886" y="283464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Backlog rank (after decision)</a:t>
            </a:r>
          </a:p>
        </p:txBody>
      </p:sp>
      <p:sp>
        <p:nvSpPr>
          <p:cNvPr id="56" name="TextBox 55">
            <a:extLst>
              <a:ext uri="{FF2B5EF4-FFF2-40B4-BE49-F238E27FC236}">
                <a16:creationId xmlns:a16="http://schemas.microsoft.com/office/drawing/2014/main" id="{DAA4450F-A1D7-C647-F08C-BC6FACDC0100}"/>
              </a:ext>
            </a:extLst>
          </p:cNvPr>
          <p:cNvSpPr txBox="1"/>
          <p:nvPr/>
        </p:nvSpPr>
        <p:spPr>
          <a:xfrm>
            <a:off x="8183878" y="307238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DECISION</a:t>
            </a:r>
          </a:p>
        </p:txBody>
      </p:sp>
      <p:sp>
        <p:nvSpPr>
          <p:cNvPr id="57" name="TextBox 56">
            <a:extLst>
              <a:ext uri="{FF2B5EF4-FFF2-40B4-BE49-F238E27FC236}">
                <a16:creationId xmlns:a16="http://schemas.microsoft.com/office/drawing/2014/main" id="{0406BAA6-4A71-6735-B3C5-0CEB58F460AF}"/>
              </a:ext>
            </a:extLst>
          </p:cNvPr>
          <p:cNvSpPr txBox="1"/>
          <p:nvPr/>
        </p:nvSpPr>
        <p:spPr>
          <a:xfrm>
            <a:off x="8247886" y="327355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Go / No-Go / Defer *</a:t>
            </a:r>
          </a:p>
        </p:txBody>
      </p:sp>
      <p:sp>
        <p:nvSpPr>
          <p:cNvPr id="59" name="TextBox 57">
            <a:extLst>
              <a:ext uri="{FF2B5EF4-FFF2-40B4-BE49-F238E27FC236}">
                <a16:creationId xmlns:a16="http://schemas.microsoft.com/office/drawing/2014/main" id="{F3DC11BF-CB1D-911E-1357-36491FB031F7}"/>
              </a:ext>
            </a:extLst>
          </p:cNvPr>
          <p:cNvSpPr txBox="1"/>
          <p:nvPr/>
        </p:nvSpPr>
        <p:spPr>
          <a:xfrm>
            <a:off x="8247886" y="345643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Capacity slot · quarter</a:t>
            </a:r>
          </a:p>
        </p:txBody>
      </p:sp>
      <p:sp>
        <p:nvSpPr>
          <p:cNvPr id="60" name="TextBox 58">
            <a:extLst>
              <a:ext uri="{FF2B5EF4-FFF2-40B4-BE49-F238E27FC236}">
                <a16:creationId xmlns:a16="http://schemas.microsoft.com/office/drawing/2014/main" id="{C6286DA4-F653-0718-417F-DB5976EBA6F9}"/>
              </a:ext>
            </a:extLst>
          </p:cNvPr>
          <p:cNvSpPr txBox="1"/>
          <p:nvPr/>
        </p:nvSpPr>
        <p:spPr>
          <a:xfrm>
            <a:off x="8247886" y="363931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Comments · rationale</a:t>
            </a:r>
          </a:p>
        </p:txBody>
      </p:sp>
      <p:sp>
        <p:nvSpPr>
          <p:cNvPr id="61" name="TextBox 59">
            <a:extLst>
              <a:ext uri="{FF2B5EF4-FFF2-40B4-BE49-F238E27FC236}">
                <a16:creationId xmlns:a16="http://schemas.microsoft.com/office/drawing/2014/main" id="{A03F26C5-8A95-CCAA-056B-74BC53140E26}"/>
              </a:ext>
            </a:extLst>
          </p:cNvPr>
          <p:cNvSpPr txBox="1"/>
          <p:nvPr/>
        </p:nvSpPr>
        <p:spPr>
          <a:xfrm>
            <a:off x="8183878" y="387705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OUTPUTS</a:t>
            </a:r>
          </a:p>
        </p:txBody>
      </p:sp>
      <p:sp>
        <p:nvSpPr>
          <p:cNvPr id="62" name="TextBox 60">
            <a:extLst>
              <a:ext uri="{FF2B5EF4-FFF2-40B4-BE49-F238E27FC236}">
                <a16:creationId xmlns:a16="http://schemas.microsoft.com/office/drawing/2014/main" id="{9D325A75-DEDC-A96B-E209-49C2B3926C78}"/>
              </a:ext>
            </a:extLst>
          </p:cNvPr>
          <p:cNvSpPr txBox="1"/>
          <p:nvPr/>
        </p:nvSpPr>
        <p:spPr>
          <a:xfrm>
            <a:off x="8247886" y="407822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Status → Ready For Execution</a:t>
            </a:r>
          </a:p>
        </p:txBody>
      </p:sp>
      <p:sp>
        <p:nvSpPr>
          <p:cNvPr id="63" name="TextBox 61">
            <a:extLst>
              <a:ext uri="{FF2B5EF4-FFF2-40B4-BE49-F238E27FC236}">
                <a16:creationId xmlns:a16="http://schemas.microsoft.com/office/drawing/2014/main" id="{42EC6404-1408-FE9A-98AB-E48B2388F36D}"/>
              </a:ext>
            </a:extLst>
          </p:cNvPr>
          <p:cNvSpPr txBox="1"/>
          <p:nvPr/>
        </p:nvSpPr>
        <p:spPr>
          <a:xfrm>
            <a:off x="8247886" y="426110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Notify Sponsor + Squad Lead</a:t>
            </a:r>
          </a:p>
        </p:txBody>
      </p:sp>
      <p:sp>
        <p:nvSpPr>
          <p:cNvPr id="64" name="Rounded Rectangle 62">
            <a:extLst>
              <a:ext uri="{FF2B5EF4-FFF2-40B4-BE49-F238E27FC236}">
                <a16:creationId xmlns:a16="http://schemas.microsoft.com/office/drawing/2014/main" id="{3C8047BF-E093-602D-A66D-1A6B43F00EA7}"/>
              </a:ext>
            </a:extLst>
          </p:cNvPr>
          <p:cNvSpPr/>
          <p:nvPr/>
        </p:nvSpPr>
        <p:spPr>
          <a:xfrm>
            <a:off x="365760" y="6044184"/>
            <a:ext cx="11475720" cy="2743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3">
            <a:extLst>
              <a:ext uri="{FF2B5EF4-FFF2-40B4-BE49-F238E27FC236}">
                <a16:creationId xmlns:a16="http://schemas.microsoft.com/office/drawing/2014/main" id="{5721FE95-89A0-6305-070E-152E153E3F03}"/>
              </a:ext>
            </a:extLst>
          </p:cNvPr>
          <p:cNvSpPr txBox="1"/>
          <p:nvPr/>
        </p:nvSpPr>
        <p:spPr>
          <a:xfrm>
            <a:off x="502920" y="6044184"/>
            <a:ext cx="11155680" cy="274320"/>
          </a:xfrm>
          <a:prstGeom prst="rect">
            <a:avLst/>
          </a:prstGeom>
          <a:noFill/>
        </p:spPr>
        <p:txBody>
          <a:bodyPr wrap="square" lIns="36000" tIns="18000" rIns="36000" bIns="18000" anchor="ctr">
            <a:spAutoFit/>
          </a:bodyPr>
          <a:lstStyle/>
          <a:p>
            <a:pPr algn="l"/>
            <a:r>
              <a:rPr sz="900" b="0" i="1">
                <a:solidFill>
                  <a:srgbClr val="006B3F"/>
                </a:solidFill>
                <a:latin typeface="Arial"/>
              </a:rPr>
              <a:t>Jira conditional field visibility by issue status + user role  ·  permission scheme controls who can edit what  ·  asterisk (*) = mandatory at THAT stage</a:t>
            </a:r>
          </a:p>
        </p:txBody>
      </p:sp>
      <p:sp>
        <p:nvSpPr>
          <p:cNvPr id="66" name="TextBox 64">
            <a:extLst>
              <a:ext uri="{FF2B5EF4-FFF2-40B4-BE49-F238E27FC236}">
                <a16:creationId xmlns:a16="http://schemas.microsoft.com/office/drawing/2014/main" id="{C64D41A0-8846-CA3D-A42F-5C5B1B6DE36A}"/>
              </a:ext>
            </a:extLst>
          </p:cNvPr>
          <p:cNvSpPr txBox="1"/>
          <p:nvPr/>
        </p:nvSpPr>
        <p:spPr>
          <a:xfrm>
            <a:off x="365760" y="6565392"/>
            <a:ext cx="7315200" cy="164592"/>
          </a:xfrm>
          <a:prstGeom prst="rect">
            <a:avLst/>
          </a:prstGeom>
          <a:noFill/>
        </p:spPr>
        <p:txBody>
          <a:bodyPr wrap="square" lIns="36000" tIns="18000" rIns="36000" bIns="18000" anchor="t">
            <a:spAutoFit/>
          </a:bodyPr>
          <a:lstStyle/>
          <a:p>
            <a:pPr algn="l"/>
            <a:r>
              <a:rPr sz="800" b="0" i="1">
                <a:solidFill>
                  <a:srgbClr val="6B778C"/>
                </a:solidFill>
                <a:latin typeface="Arial"/>
              </a:rPr>
              <a:t>Avangrid · Digital Products · Target Operating Model</a:t>
            </a:r>
          </a:p>
        </p:txBody>
      </p:sp>
      <p:sp>
        <p:nvSpPr>
          <p:cNvPr id="67" name="TextBox 65">
            <a:extLst>
              <a:ext uri="{FF2B5EF4-FFF2-40B4-BE49-F238E27FC236}">
                <a16:creationId xmlns:a16="http://schemas.microsoft.com/office/drawing/2014/main" id="{DB3421B0-2928-8D9B-3AC0-A47FE1F6FE6B}"/>
              </a:ext>
            </a:extLst>
          </p:cNvPr>
          <p:cNvSpPr txBox="1"/>
          <p:nvPr/>
        </p:nvSpPr>
        <p:spPr>
          <a:xfrm>
            <a:off x="10515600" y="6565392"/>
            <a:ext cx="1463040" cy="164592"/>
          </a:xfrm>
          <a:prstGeom prst="rect">
            <a:avLst/>
          </a:prstGeom>
          <a:noFill/>
        </p:spPr>
        <p:txBody>
          <a:bodyPr wrap="square" lIns="36000" tIns="18000" rIns="36000" bIns="18000" anchor="t">
            <a:spAutoFit/>
          </a:bodyPr>
          <a:lstStyle/>
          <a:p>
            <a:pPr algn="r"/>
            <a:r>
              <a:rPr sz="800" b="0" i="0">
                <a:solidFill>
                  <a:srgbClr val="6B778C"/>
                </a:solidFill>
                <a:latin typeface="Arial"/>
              </a:rPr>
              <a:t>Form Views by Role &amp; Stage</a:t>
            </a:r>
          </a:p>
        </p:txBody>
      </p:sp>
      <p:sp>
        <p:nvSpPr>
          <p:cNvPr id="2" name="Text Placeholder 19">
            <a:extLst>
              <a:ext uri="{FF2B5EF4-FFF2-40B4-BE49-F238E27FC236}">
                <a16:creationId xmlns:a16="http://schemas.microsoft.com/office/drawing/2014/main" id="{7E6994D8-25FD-C73C-11C9-62FDEBE4BAD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FORM VIEWS BY ROLE &amp; STAGE</a:t>
            </a:r>
          </a:p>
        </p:txBody>
      </p:sp>
      <p:sp>
        <p:nvSpPr>
          <p:cNvPr id="3" name="Rectángulo 2">
            <a:extLst>
              <a:ext uri="{FF2B5EF4-FFF2-40B4-BE49-F238E27FC236}">
                <a16:creationId xmlns:a16="http://schemas.microsoft.com/office/drawing/2014/main" id="{478BD461-385D-5A84-5E40-CB2EE193A8B6}"/>
              </a:ext>
            </a:extLst>
          </p:cNvPr>
          <p:cNvSpPr/>
          <p:nvPr/>
        </p:nvSpPr>
        <p:spPr>
          <a:xfrm>
            <a:off x="980481" y="1562985"/>
            <a:ext cx="2791791" cy="37745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Quitar </a:t>
            </a:r>
            <a:r>
              <a:rPr lang="es-MX" err="1"/>
              <a:t>Requester</a:t>
            </a:r>
            <a:r>
              <a:rPr lang="es-MX"/>
              <a:t> </a:t>
            </a:r>
            <a:r>
              <a:rPr lang="es-MX" err="1"/>
              <a:t>view</a:t>
            </a:r>
            <a:endParaRPr lang="es-MX"/>
          </a:p>
        </p:txBody>
      </p:sp>
    </p:spTree>
    <p:extLst>
      <p:ext uri="{BB962C8B-B14F-4D97-AF65-F5344CB8AC3E}">
        <p14:creationId xmlns:p14="http://schemas.microsoft.com/office/powerpoint/2010/main" val="4075322896"/>
      </p:ext>
    </p:extLst>
  </p:cSld>
  <p:clrMapOvr>
    <a:masterClrMapping/>
  </p:clrMapOvr>
  <p:extLst>
    <p:ext uri="{6950BFC3-D8DA-4A85-94F7-54DA5524770B}">
      <p188:commentRel xmlns:p188="http://schemas.microsoft.com/office/powerpoint/2018/8/main" r:id="rId3"/>
    </p:ext>
  </p:extLs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3BBF51-0A4C-8CD7-95FE-17B94C4F6F4E}"/>
            </a:ext>
          </a:extLst>
        </p:cNvPr>
        <p:cNvGrpSpPr/>
        <p:nvPr/>
      </p:nvGrpSpPr>
      <p:grpSpPr>
        <a:xfrm>
          <a:off x="0" y="0"/>
          <a:ext cx="0" cy="0"/>
          <a:chOff x="0" y="0"/>
          <a:chExt cx="0" cy="0"/>
        </a:xfrm>
      </p:grpSpPr>
      <p:sp>
        <p:nvSpPr>
          <p:cNvPr id="6" name="Rounded Rectangle 6">
            <a:extLst>
              <a:ext uri="{FF2B5EF4-FFF2-40B4-BE49-F238E27FC236}">
                <a16:creationId xmlns:a16="http://schemas.microsoft.com/office/drawing/2014/main" id="{31B5A445-21EE-8A83-627A-EBA717839DC4}"/>
              </a:ext>
            </a:extLst>
          </p:cNvPr>
          <p:cNvSpPr/>
          <p:nvPr/>
        </p:nvSpPr>
        <p:spPr>
          <a:xfrm>
            <a:off x="365760" y="1097280"/>
            <a:ext cx="5650992" cy="4983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20">
            <a:extLst>
              <a:ext uri="{FF2B5EF4-FFF2-40B4-BE49-F238E27FC236}">
                <a16:creationId xmlns:a16="http://schemas.microsoft.com/office/drawing/2014/main" id="{0061C7E0-29A7-1639-EDDF-D2471DEC0BD9}"/>
              </a:ext>
            </a:extLst>
          </p:cNvPr>
          <p:cNvSpPr/>
          <p:nvPr/>
        </p:nvSpPr>
        <p:spPr>
          <a:xfrm>
            <a:off x="6181344" y="1097280"/>
            <a:ext cx="5650992" cy="4983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
            <a:extLst>
              <a:ext uri="{FF2B5EF4-FFF2-40B4-BE49-F238E27FC236}">
                <a16:creationId xmlns:a16="http://schemas.microsoft.com/office/drawing/2014/main" id="{180FD3D9-BED1-A170-F8BA-7822E6D48583}"/>
              </a:ext>
            </a:extLst>
          </p:cNvPr>
          <p:cNvSpPr/>
          <p:nvPr/>
        </p:nvSpPr>
        <p:spPr>
          <a:xfrm>
            <a:off x="365760" y="1097280"/>
            <a:ext cx="5650992" cy="59436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8">
            <a:extLst>
              <a:ext uri="{FF2B5EF4-FFF2-40B4-BE49-F238E27FC236}">
                <a16:creationId xmlns:a16="http://schemas.microsoft.com/office/drawing/2014/main" id="{8CE7FFC3-4C07-E35E-F2F5-B9DBA3989AEB}"/>
              </a:ext>
            </a:extLst>
          </p:cNvPr>
          <p:cNvSpPr txBox="1"/>
          <p:nvPr/>
        </p:nvSpPr>
        <p:spPr>
          <a:xfrm>
            <a:off x="502920" y="1207008"/>
            <a:ext cx="5376672" cy="292608"/>
          </a:xfrm>
          <a:prstGeom prst="rect">
            <a:avLst/>
          </a:prstGeom>
          <a:noFill/>
        </p:spPr>
        <p:txBody>
          <a:bodyPr wrap="square" lIns="36000" tIns="18000" rIns="36000" bIns="18000" anchor="t">
            <a:spAutoFit/>
          </a:bodyPr>
          <a:lstStyle/>
          <a:p>
            <a:pPr algn="l"/>
            <a:r>
              <a:rPr sz="1400" b="1" i="0">
                <a:solidFill>
                  <a:srgbClr val="FFFFFF"/>
                </a:solidFill>
                <a:latin typeface="Arial"/>
              </a:rPr>
              <a:t>1.  DEMAND CHANNEL  ·  via Jira</a:t>
            </a:r>
          </a:p>
        </p:txBody>
      </p:sp>
      <p:sp>
        <p:nvSpPr>
          <p:cNvPr id="76" name="TextBox 9">
            <a:extLst>
              <a:ext uri="{FF2B5EF4-FFF2-40B4-BE49-F238E27FC236}">
                <a16:creationId xmlns:a16="http://schemas.microsoft.com/office/drawing/2014/main" id="{1CA671C3-DAB7-E54C-428E-0367DB505016}"/>
              </a:ext>
            </a:extLst>
          </p:cNvPr>
          <p:cNvSpPr txBox="1"/>
          <p:nvPr/>
        </p:nvSpPr>
        <p:spPr>
          <a:xfrm>
            <a:off x="502920" y="1463040"/>
            <a:ext cx="5376672" cy="174851"/>
          </a:xfrm>
          <a:prstGeom prst="rect">
            <a:avLst/>
          </a:prstGeom>
          <a:noFill/>
        </p:spPr>
        <p:txBody>
          <a:bodyPr wrap="square" lIns="36000" tIns="18000" rIns="36000" bIns="18000" anchor="t">
            <a:spAutoFit/>
          </a:bodyPr>
          <a:lstStyle/>
          <a:p>
            <a:pPr algn="l"/>
            <a:r>
              <a:rPr sz="900" b="0" i="1">
                <a:solidFill>
                  <a:srgbClr val="C8E0CB"/>
                </a:solidFill>
                <a:latin typeface="Arial"/>
              </a:rPr>
              <a:t>Digital </a:t>
            </a:r>
            <a:r>
              <a:rPr lang="es-MX" sz="900" b="0" i="1" err="1">
                <a:solidFill>
                  <a:srgbClr val="C8E0CB"/>
                </a:solidFill>
                <a:latin typeface="Arial"/>
              </a:rPr>
              <a:t>CoE</a:t>
            </a:r>
            <a:r>
              <a:rPr sz="900" b="0" i="1">
                <a:solidFill>
                  <a:srgbClr val="C8E0CB"/>
                </a:solidFill>
                <a:latin typeface="Arial"/>
              </a:rPr>
              <a:t> submits demand the same way as any business area</a:t>
            </a:r>
          </a:p>
        </p:txBody>
      </p:sp>
      <p:sp>
        <p:nvSpPr>
          <p:cNvPr id="77" name="TextBox 10">
            <a:extLst>
              <a:ext uri="{FF2B5EF4-FFF2-40B4-BE49-F238E27FC236}">
                <a16:creationId xmlns:a16="http://schemas.microsoft.com/office/drawing/2014/main" id="{5236BF9B-126C-53CD-6856-F11DBE17796B}"/>
              </a:ext>
            </a:extLst>
          </p:cNvPr>
          <p:cNvSpPr txBox="1"/>
          <p:nvPr/>
        </p:nvSpPr>
        <p:spPr>
          <a:xfrm>
            <a:off x="502920" y="1874520"/>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ENTRY POINT</a:t>
            </a:r>
          </a:p>
        </p:txBody>
      </p:sp>
      <p:sp>
        <p:nvSpPr>
          <p:cNvPr id="78" name="TextBox 11">
            <a:extLst>
              <a:ext uri="{FF2B5EF4-FFF2-40B4-BE49-F238E27FC236}">
                <a16:creationId xmlns:a16="http://schemas.microsoft.com/office/drawing/2014/main" id="{0E428958-18A5-818C-34AA-5C28EB2FD9F8}"/>
              </a:ext>
            </a:extLst>
          </p:cNvPr>
          <p:cNvSpPr txBox="1"/>
          <p:nvPr/>
        </p:nvSpPr>
        <p:spPr>
          <a:xfrm>
            <a:off x="2057400" y="1874520"/>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Digital </a:t>
            </a:r>
            <a:r>
              <a:rPr lang="es-MX" sz="900" b="0" i="0">
                <a:solidFill>
                  <a:srgbClr val="2C3E50"/>
                </a:solidFill>
                <a:latin typeface="Arial"/>
              </a:rPr>
              <a:t>CX </a:t>
            </a:r>
            <a:r>
              <a:rPr sz="900" b="0" i="0">
                <a:solidFill>
                  <a:srgbClr val="2C3E50"/>
                </a:solidFill>
                <a:latin typeface="Arial"/>
              </a:rPr>
              <a:t>opens a Jira Demand via the SAME intake form  ·  field 'Sponsor area' = 'Digital </a:t>
            </a:r>
            <a:r>
              <a:rPr lang="es-MX" sz="900" b="0" i="0">
                <a:solidFill>
                  <a:srgbClr val="2C3E50"/>
                </a:solidFill>
                <a:latin typeface="Arial"/>
              </a:rPr>
              <a:t>CX</a:t>
            </a:r>
            <a:r>
              <a:rPr sz="900" b="0" i="0">
                <a:solidFill>
                  <a:srgbClr val="2C3E50"/>
                </a:solidFill>
                <a:latin typeface="Arial"/>
              </a:rPr>
              <a:t>'</a:t>
            </a:r>
          </a:p>
        </p:txBody>
      </p:sp>
      <p:sp>
        <p:nvSpPr>
          <p:cNvPr id="79" name="TextBox 12">
            <a:extLst>
              <a:ext uri="{FF2B5EF4-FFF2-40B4-BE49-F238E27FC236}">
                <a16:creationId xmlns:a16="http://schemas.microsoft.com/office/drawing/2014/main" id="{4103A8F9-3E4B-16FE-D03F-DB163F950CE4}"/>
              </a:ext>
            </a:extLst>
          </p:cNvPr>
          <p:cNvSpPr txBox="1"/>
          <p:nvPr/>
        </p:nvSpPr>
        <p:spPr>
          <a:xfrm>
            <a:off x="502920" y="2532888"/>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ROUTING</a:t>
            </a:r>
          </a:p>
        </p:txBody>
      </p:sp>
      <p:sp>
        <p:nvSpPr>
          <p:cNvPr id="80" name="TextBox 13">
            <a:extLst>
              <a:ext uri="{FF2B5EF4-FFF2-40B4-BE49-F238E27FC236}">
                <a16:creationId xmlns:a16="http://schemas.microsoft.com/office/drawing/2014/main" id="{796AF687-2133-DEF8-572E-CD41851C16C9}"/>
              </a:ext>
            </a:extLst>
          </p:cNvPr>
          <p:cNvSpPr txBox="1"/>
          <p:nvPr/>
        </p:nvSpPr>
        <p:spPr>
          <a:xfrm>
            <a:off x="2057400" y="2532888"/>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A1 routes to the correct VS based on impacted product (CRM · Smart Metering · Genesys · etc.)</a:t>
            </a:r>
          </a:p>
        </p:txBody>
      </p:sp>
      <p:sp>
        <p:nvSpPr>
          <p:cNvPr id="81" name="TextBox 14">
            <a:extLst>
              <a:ext uri="{FF2B5EF4-FFF2-40B4-BE49-F238E27FC236}">
                <a16:creationId xmlns:a16="http://schemas.microsoft.com/office/drawing/2014/main" id="{26972244-D2BD-7169-2A20-E7F685779B90}"/>
              </a:ext>
            </a:extLst>
          </p:cNvPr>
          <p:cNvSpPr txBox="1"/>
          <p:nvPr/>
        </p:nvSpPr>
        <p:spPr>
          <a:xfrm>
            <a:off x="502920" y="3191256"/>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PRIORITIZATION</a:t>
            </a:r>
          </a:p>
        </p:txBody>
      </p:sp>
      <p:sp>
        <p:nvSpPr>
          <p:cNvPr id="82" name="TextBox 15">
            <a:extLst>
              <a:ext uri="{FF2B5EF4-FFF2-40B4-BE49-F238E27FC236}">
                <a16:creationId xmlns:a16="http://schemas.microsoft.com/office/drawing/2014/main" id="{06363614-5E2B-B9B9-B225-FF2BED22AA0B}"/>
              </a:ext>
            </a:extLst>
          </p:cNvPr>
          <p:cNvSpPr txBox="1"/>
          <p:nvPr/>
        </p:nvSpPr>
        <p:spPr>
          <a:xfrm>
            <a:off x="2057400" y="3191256"/>
            <a:ext cx="3822192" cy="174851"/>
          </a:xfrm>
          <a:prstGeom prst="rect">
            <a:avLst/>
          </a:prstGeom>
          <a:noFill/>
        </p:spPr>
        <p:txBody>
          <a:bodyPr wrap="square" lIns="36000" tIns="18000" rIns="36000" bIns="18000" anchor="t">
            <a:spAutoFit/>
          </a:bodyPr>
          <a:lstStyle/>
          <a:p>
            <a:pPr algn="l"/>
            <a:r>
              <a:rPr sz="900" b="0" i="0">
                <a:solidFill>
                  <a:srgbClr val="2C3E50"/>
                </a:solidFill>
                <a:latin typeface="Arial"/>
              </a:rPr>
              <a:t>Same Pain Score formula applies · Digital </a:t>
            </a:r>
            <a:r>
              <a:rPr lang="es-MX" sz="900" b="0" i="0">
                <a:solidFill>
                  <a:srgbClr val="2C3E50"/>
                </a:solidFill>
                <a:latin typeface="Arial"/>
              </a:rPr>
              <a:t>CX</a:t>
            </a:r>
            <a:r>
              <a:rPr sz="900" b="0" i="0">
                <a:solidFill>
                  <a:srgbClr val="2C3E50"/>
                </a:solidFill>
                <a:latin typeface="Arial"/>
              </a:rPr>
              <a:t> OKRs feed BV component</a:t>
            </a:r>
          </a:p>
        </p:txBody>
      </p:sp>
      <p:sp>
        <p:nvSpPr>
          <p:cNvPr id="83" name="TextBox 16">
            <a:extLst>
              <a:ext uri="{FF2B5EF4-FFF2-40B4-BE49-F238E27FC236}">
                <a16:creationId xmlns:a16="http://schemas.microsoft.com/office/drawing/2014/main" id="{11D67345-A9E5-CA6B-78D8-054520B458FF}"/>
              </a:ext>
            </a:extLst>
          </p:cNvPr>
          <p:cNvSpPr txBox="1"/>
          <p:nvPr/>
        </p:nvSpPr>
        <p:spPr>
          <a:xfrm>
            <a:off x="502920" y="3849624"/>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GATE 2 SEAT</a:t>
            </a:r>
          </a:p>
        </p:txBody>
      </p:sp>
      <p:sp>
        <p:nvSpPr>
          <p:cNvPr id="84" name="TextBox 17">
            <a:extLst>
              <a:ext uri="{FF2B5EF4-FFF2-40B4-BE49-F238E27FC236}">
                <a16:creationId xmlns:a16="http://schemas.microsoft.com/office/drawing/2014/main" id="{CAFC3D5E-02B5-D9FF-76A7-E5E761C5C63A}"/>
              </a:ext>
            </a:extLst>
          </p:cNvPr>
          <p:cNvSpPr txBox="1"/>
          <p:nvPr/>
        </p:nvSpPr>
        <p:spPr>
          <a:xfrm>
            <a:off x="2057400" y="3849624"/>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Digital </a:t>
            </a:r>
            <a:r>
              <a:rPr lang="es-MX" sz="900" b="0" i="0">
                <a:solidFill>
                  <a:srgbClr val="2C3E50"/>
                </a:solidFill>
                <a:latin typeface="Arial"/>
              </a:rPr>
              <a:t>CX </a:t>
            </a:r>
            <a:r>
              <a:rPr sz="900" b="0" i="0">
                <a:solidFill>
                  <a:srgbClr val="2C3E50"/>
                </a:solidFill>
                <a:latin typeface="Arial"/>
              </a:rPr>
              <a:t>Champion participates as VOTING MEMBER for items where Digital </a:t>
            </a:r>
            <a:r>
              <a:rPr lang="es-MX" sz="900" b="0" i="0">
                <a:solidFill>
                  <a:srgbClr val="2C3E50"/>
                </a:solidFill>
                <a:latin typeface="Arial"/>
              </a:rPr>
              <a:t>CX</a:t>
            </a:r>
            <a:r>
              <a:rPr sz="900" b="0" i="0">
                <a:solidFill>
                  <a:srgbClr val="2C3E50"/>
                </a:solidFill>
                <a:latin typeface="Arial"/>
              </a:rPr>
              <a:t> is sponsor</a:t>
            </a:r>
          </a:p>
        </p:txBody>
      </p:sp>
      <p:sp>
        <p:nvSpPr>
          <p:cNvPr id="85" name="TextBox 18">
            <a:extLst>
              <a:ext uri="{FF2B5EF4-FFF2-40B4-BE49-F238E27FC236}">
                <a16:creationId xmlns:a16="http://schemas.microsoft.com/office/drawing/2014/main" id="{7848BBCE-711F-86E2-C51C-2CA1E7AE03CC}"/>
              </a:ext>
            </a:extLst>
          </p:cNvPr>
          <p:cNvSpPr txBox="1"/>
          <p:nvPr/>
        </p:nvSpPr>
        <p:spPr>
          <a:xfrm>
            <a:off x="502920" y="4507992"/>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CARD FLOW</a:t>
            </a:r>
          </a:p>
        </p:txBody>
      </p:sp>
      <p:sp>
        <p:nvSpPr>
          <p:cNvPr id="86" name="TextBox 19">
            <a:extLst>
              <a:ext uri="{FF2B5EF4-FFF2-40B4-BE49-F238E27FC236}">
                <a16:creationId xmlns:a16="http://schemas.microsoft.com/office/drawing/2014/main" id="{7E5C91C2-2C87-4E41-3229-5D8572AF1EA2}"/>
              </a:ext>
            </a:extLst>
          </p:cNvPr>
          <p:cNvSpPr txBox="1"/>
          <p:nvPr/>
        </p:nvSpPr>
        <p:spPr>
          <a:xfrm>
            <a:off x="2057400" y="4507992"/>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Same lifecycle: Funnel → Reviewing → Analyzing → Backlog → Implementing → Done</a:t>
            </a:r>
          </a:p>
        </p:txBody>
      </p:sp>
      <p:sp>
        <p:nvSpPr>
          <p:cNvPr id="87" name="Rounded Rectangle 21">
            <a:extLst>
              <a:ext uri="{FF2B5EF4-FFF2-40B4-BE49-F238E27FC236}">
                <a16:creationId xmlns:a16="http://schemas.microsoft.com/office/drawing/2014/main" id="{22D5AE52-C57C-BD68-A362-7E3606C34E07}"/>
              </a:ext>
            </a:extLst>
          </p:cNvPr>
          <p:cNvSpPr/>
          <p:nvPr/>
        </p:nvSpPr>
        <p:spPr>
          <a:xfrm>
            <a:off x="6181344" y="1097280"/>
            <a:ext cx="5650992"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22">
            <a:extLst>
              <a:ext uri="{FF2B5EF4-FFF2-40B4-BE49-F238E27FC236}">
                <a16:creationId xmlns:a16="http://schemas.microsoft.com/office/drawing/2014/main" id="{9DC94E56-40BF-0617-BEDA-5065C0160E96}"/>
              </a:ext>
            </a:extLst>
          </p:cNvPr>
          <p:cNvSpPr txBox="1"/>
          <p:nvPr/>
        </p:nvSpPr>
        <p:spPr>
          <a:xfrm>
            <a:off x="6318504" y="1207008"/>
            <a:ext cx="5376672" cy="292608"/>
          </a:xfrm>
          <a:prstGeom prst="rect">
            <a:avLst/>
          </a:prstGeom>
          <a:noFill/>
        </p:spPr>
        <p:txBody>
          <a:bodyPr wrap="square" lIns="36000" tIns="18000" rIns="36000" bIns="18000" anchor="t">
            <a:spAutoFit/>
          </a:bodyPr>
          <a:lstStyle/>
          <a:p>
            <a:pPr algn="l"/>
            <a:r>
              <a:rPr sz="1400" b="1" i="0">
                <a:solidFill>
                  <a:srgbClr val="FFFFFF"/>
                </a:solidFill>
                <a:latin typeface="Arial"/>
              </a:rPr>
              <a:t>2.  STRATEGIC ALIGNMENT  ·  via OKR sync</a:t>
            </a:r>
          </a:p>
        </p:txBody>
      </p:sp>
      <p:sp>
        <p:nvSpPr>
          <p:cNvPr id="89" name="TextBox 23">
            <a:extLst>
              <a:ext uri="{FF2B5EF4-FFF2-40B4-BE49-F238E27FC236}">
                <a16:creationId xmlns:a16="http://schemas.microsoft.com/office/drawing/2014/main" id="{C7D710B5-A59A-E4C6-6408-29E41791BE99}"/>
              </a:ext>
            </a:extLst>
          </p:cNvPr>
          <p:cNvSpPr txBox="1"/>
          <p:nvPr/>
        </p:nvSpPr>
        <p:spPr>
          <a:xfrm>
            <a:off x="6318504" y="1463040"/>
            <a:ext cx="5376672" cy="201168"/>
          </a:xfrm>
          <a:prstGeom prst="rect">
            <a:avLst/>
          </a:prstGeom>
          <a:noFill/>
        </p:spPr>
        <p:txBody>
          <a:bodyPr wrap="square" lIns="36000" tIns="18000" rIns="36000" bIns="18000" anchor="t">
            <a:spAutoFit/>
          </a:bodyPr>
          <a:lstStyle/>
          <a:p>
            <a:pPr algn="l"/>
            <a:r>
              <a:rPr sz="900" b="0" i="1">
                <a:solidFill>
                  <a:srgbClr val="C8E0CB"/>
                </a:solidFill>
                <a:latin typeface="Arial"/>
              </a:rPr>
              <a:t>Existing BRP outputs flow IN as input to our monthly Gate 2 · we don't run a quarterly event</a:t>
            </a:r>
          </a:p>
        </p:txBody>
      </p:sp>
      <p:sp>
        <p:nvSpPr>
          <p:cNvPr id="90" name="TextBox 24">
            <a:extLst>
              <a:ext uri="{FF2B5EF4-FFF2-40B4-BE49-F238E27FC236}">
                <a16:creationId xmlns:a16="http://schemas.microsoft.com/office/drawing/2014/main" id="{47E53E2A-69BA-835D-5BDD-11BACB70CE2D}"/>
              </a:ext>
            </a:extLst>
          </p:cNvPr>
          <p:cNvSpPr txBox="1"/>
          <p:nvPr/>
        </p:nvSpPr>
        <p:spPr>
          <a:xfrm>
            <a:off x="6318504" y="1874520"/>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DIRECTION</a:t>
            </a:r>
          </a:p>
        </p:txBody>
      </p:sp>
      <p:sp>
        <p:nvSpPr>
          <p:cNvPr id="91" name="TextBox 25">
            <a:extLst>
              <a:ext uri="{FF2B5EF4-FFF2-40B4-BE49-F238E27FC236}">
                <a16:creationId xmlns:a16="http://schemas.microsoft.com/office/drawing/2014/main" id="{CCF53485-FD2B-EA54-9559-CD6D468ABC4B}"/>
              </a:ext>
            </a:extLst>
          </p:cNvPr>
          <p:cNvSpPr txBox="1"/>
          <p:nvPr/>
        </p:nvSpPr>
        <p:spPr>
          <a:xfrm>
            <a:off x="7872984" y="1874520"/>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BRPs (existing) → </a:t>
            </a:r>
            <a:r>
              <a:rPr lang="pt-BR" sz="900">
                <a:solidFill>
                  <a:srgbClr val="2C3E50"/>
                </a:solidFill>
                <a:latin typeface="Arial"/>
              </a:rPr>
              <a:t>DP</a:t>
            </a:r>
            <a:r>
              <a:rPr sz="900" b="0" i="0">
                <a:solidFill>
                  <a:srgbClr val="2C3E50"/>
                </a:solidFill>
                <a:latin typeface="Arial"/>
              </a:rPr>
              <a:t>  ·  </a:t>
            </a:r>
            <a:r>
              <a:rPr lang="pt-BR" sz="900">
                <a:solidFill>
                  <a:srgbClr val="2C3E50"/>
                </a:solidFill>
                <a:latin typeface="Arial"/>
              </a:rPr>
              <a:t>DP</a:t>
            </a:r>
            <a:r>
              <a:rPr sz="900" b="0" i="0">
                <a:solidFill>
                  <a:srgbClr val="2C3E50"/>
                </a:solidFill>
                <a:latin typeface="Arial"/>
              </a:rPr>
              <a:t> RECEIVE outputs · refined priorities · OKRs · capacity decisions</a:t>
            </a:r>
          </a:p>
        </p:txBody>
      </p:sp>
      <p:sp>
        <p:nvSpPr>
          <p:cNvPr id="92" name="TextBox 26">
            <a:extLst>
              <a:ext uri="{FF2B5EF4-FFF2-40B4-BE49-F238E27FC236}">
                <a16:creationId xmlns:a16="http://schemas.microsoft.com/office/drawing/2014/main" id="{24EDA771-2B42-5C7B-6E0F-B0C337A5277F}"/>
              </a:ext>
            </a:extLst>
          </p:cNvPr>
          <p:cNvSpPr txBox="1"/>
          <p:nvPr/>
        </p:nvSpPr>
        <p:spPr>
          <a:xfrm>
            <a:off x="6318504" y="2532888"/>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OWNERS</a:t>
            </a:r>
          </a:p>
        </p:txBody>
      </p:sp>
      <p:sp>
        <p:nvSpPr>
          <p:cNvPr id="93" name="TextBox 27">
            <a:extLst>
              <a:ext uri="{FF2B5EF4-FFF2-40B4-BE49-F238E27FC236}">
                <a16:creationId xmlns:a16="http://schemas.microsoft.com/office/drawing/2014/main" id="{089F8F47-7698-F2CF-A435-9639B1029ABA}"/>
              </a:ext>
            </a:extLst>
          </p:cNvPr>
          <p:cNvSpPr txBox="1"/>
          <p:nvPr/>
        </p:nvSpPr>
        <p:spPr>
          <a:xfrm>
            <a:off x="7872984" y="2532888"/>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Kumar (CS) + Carlos (ITBA)</a:t>
            </a:r>
            <a:r>
              <a:rPr lang="pt-BR" sz="900">
                <a:solidFill>
                  <a:srgbClr val="2C3E50"/>
                </a:solidFill>
                <a:latin typeface="Arial"/>
              </a:rPr>
              <a:t> + Heather</a:t>
            </a:r>
            <a:r>
              <a:rPr sz="900" b="0" i="0">
                <a:solidFill>
                  <a:srgbClr val="2C3E50"/>
                </a:solidFill>
                <a:latin typeface="Arial"/>
              </a:rPr>
              <a:t> + Vitor (VP)  ·  liaisons to Digital </a:t>
            </a:r>
            <a:r>
              <a:rPr lang="es-MX" sz="900" b="0" i="0">
                <a:solidFill>
                  <a:srgbClr val="2C3E50"/>
                </a:solidFill>
                <a:latin typeface="Arial"/>
              </a:rPr>
              <a:t>CX</a:t>
            </a:r>
            <a:r>
              <a:rPr sz="900" b="0" i="0">
                <a:solidFill>
                  <a:srgbClr val="2C3E50"/>
                </a:solidFill>
                <a:latin typeface="Arial"/>
              </a:rPr>
              <a:t> BRP and P&amp;T BRP respectively</a:t>
            </a:r>
          </a:p>
        </p:txBody>
      </p:sp>
      <p:sp>
        <p:nvSpPr>
          <p:cNvPr id="94" name="TextBox 28">
            <a:extLst>
              <a:ext uri="{FF2B5EF4-FFF2-40B4-BE49-F238E27FC236}">
                <a16:creationId xmlns:a16="http://schemas.microsoft.com/office/drawing/2014/main" id="{C964360F-8501-37F8-19AC-1C6534BC595C}"/>
              </a:ext>
            </a:extLst>
          </p:cNvPr>
          <p:cNvSpPr txBox="1"/>
          <p:nvPr/>
        </p:nvSpPr>
        <p:spPr>
          <a:xfrm>
            <a:off x="6318504" y="3191256"/>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CONTENT IN</a:t>
            </a:r>
          </a:p>
        </p:txBody>
      </p:sp>
      <p:sp>
        <p:nvSpPr>
          <p:cNvPr id="95" name="TextBox 29">
            <a:extLst>
              <a:ext uri="{FF2B5EF4-FFF2-40B4-BE49-F238E27FC236}">
                <a16:creationId xmlns:a16="http://schemas.microsoft.com/office/drawing/2014/main" id="{7679730C-09BC-6FE4-B916-D57E6524E90D}"/>
              </a:ext>
            </a:extLst>
          </p:cNvPr>
          <p:cNvSpPr txBox="1"/>
          <p:nvPr/>
        </p:nvSpPr>
        <p:spPr>
          <a:xfrm>
            <a:off x="7872984" y="3191256"/>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Refined OKRs · regulatory mandates · cross-org dependencies · headcount/capacity decisions from BRPs</a:t>
            </a:r>
          </a:p>
        </p:txBody>
      </p:sp>
      <p:sp>
        <p:nvSpPr>
          <p:cNvPr id="96" name="TextBox 30">
            <a:extLst>
              <a:ext uri="{FF2B5EF4-FFF2-40B4-BE49-F238E27FC236}">
                <a16:creationId xmlns:a16="http://schemas.microsoft.com/office/drawing/2014/main" id="{72ADA799-36D3-8AC2-6074-0C48936AE74F}"/>
              </a:ext>
            </a:extLst>
          </p:cNvPr>
          <p:cNvSpPr txBox="1"/>
          <p:nvPr/>
        </p:nvSpPr>
        <p:spPr>
          <a:xfrm>
            <a:off x="6318504" y="3849624"/>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OUTCOME</a:t>
            </a:r>
          </a:p>
        </p:txBody>
      </p:sp>
      <p:sp>
        <p:nvSpPr>
          <p:cNvPr id="97" name="TextBox 31">
            <a:extLst>
              <a:ext uri="{FF2B5EF4-FFF2-40B4-BE49-F238E27FC236}">
                <a16:creationId xmlns:a16="http://schemas.microsoft.com/office/drawing/2014/main" id="{DF78ACF3-9A81-8253-8261-441260D127B4}"/>
              </a:ext>
            </a:extLst>
          </p:cNvPr>
          <p:cNvSpPr txBox="1"/>
          <p:nvPr/>
        </p:nvSpPr>
        <p:spPr>
          <a:xfrm>
            <a:off x="7872984" y="3849624"/>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BRP outputs feed our monthly Gate 2 · Gate 2 capacity &amp; priority decisions incorporate BRP inputs</a:t>
            </a:r>
          </a:p>
        </p:txBody>
      </p:sp>
      <p:sp>
        <p:nvSpPr>
          <p:cNvPr id="98" name="TextBox 32">
            <a:extLst>
              <a:ext uri="{FF2B5EF4-FFF2-40B4-BE49-F238E27FC236}">
                <a16:creationId xmlns:a16="http://schemas.microsoft.com/office/drawing/2014/main" id="{00E749BC-0885-FB61-159A-FD6B15984BA1}"/>
              </a:ext>
            </a:extLst>
          </p:cNvPr>
          <p:cNvSpPr txBox="1"/>
          <p:nvPr/>
        </p:nvSpPr>
        <p:spPr>
          <a:xfrm>
            <a:off x="6318504" y="4507992"/>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NO OWN BRP</a:t>
            </a:r>
          </a:p>
        </p:txBody>
      </p:sp>
      <p:sp>
        <p:nvSpPr>
          <p:cNvPr id="99" name="TextBox 33">
            <a:extLst>
              <a:ext uri="{FF2B5EF4-FFF2-40B4-BE49-F238E27FC236}">
                <a16:creationId xmlns:a16="http://schemas.microsoft.com/office/drawing/2014/main" id="{EC1513E4-CEAF-3138-773B-34E5322336AB}"/>
              </a:ext>
            </a:extLst>
          </p:cNvPr>
          <p:cNvSpPr txBox="1"/>
          <p:nvPr/>
        </p:nvSpPr>
        <p:spPr>
          <a:xfrm>
            <a:off x="7872984" y="4507992"/>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We don't run a Digital Products BRP · couple to existing P&amp;T BRP + Digital </a:t>
            </a:r>
            <a:r>
              <a:rPr lang="es-MX" sz="900" b="0" i="0">
                <a:solidFill>
                  <a:srgbClr val="2C3E50"/>
                </a:solidFill>
                <a:latin typeface="Arial"/>
              </a:rPr>
              <a:t>CX</a:t>
            </a:r>
            <a:r>
              <a:rPr sz="900" b="0" i="0">
                <a:solidFill>
                  <a:srgbClr val="2C3E50"/>
                </a:solidFill>
                <a:latin typeface="Arial"/>
              </a:rPr>
              <a:t> BRP via the liaisons</a:t>
            </a:r>
          </a:p>
        </p:txBody>
      </p:sp>
      <p:sp>
        <p:nvSpPr>
          <p:cNvPr id="2" name="Text Placeholder 19">
            <a:extLst>
              <a:ext uri="{FF2B5EF4-FFF2-40B4-BE49-F238E27FC236}">
                <a16:creationId xmlns:a16="http://schemas.microsoft.com/office/drawing/2014/main" id="{D907A975-2DDF-B01C-E704-7C1971BC2253}"/>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CX  ×  DIGITAL PRODUCTS</a:t>
            </a:r>
          </a:p>
        </p:txBody>
      </p:sp>
    </p:spTree>
    <p:extLst>
      <p:ext uri="{BB962C8B-B14F-4D97-AF65-F5344CB8AC3E}">
        <p14:creationId xmlns:p14="http://schemas.microsoft.com/office/powerpoint/2010/main" val="3608423746"/>
      </p:ext>
    </p:extLst>
  </p:cSld>
  <p:clrMapOvr>
    <a:masterClrMapping/>
  </p:clrMapOvr>
  <p:extLst>
    <p:ext uri="{6950BFC3-D8DA-4A85-94F7-54DA5524770B}">
      <p188:commentRel xmlns:p188="http://schemas.microsoft.com/office/powerpoint/2018/8/main" r:id="rId2"/>
    </p:ext>
  </p:extLs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OPENER</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FROM A PRIORITIZED LIST TO SHIPPABLE WORK: WHAT PHASE 1 HANDS OVER · WHAT PHASE 2 ADDS · WHAT FLOWS TO EXECUTION</a:t>
            </a:r>
          </a:p>
        </p:txBody>
      </p:sp>
      <p:sp>
        <p:nvSpPr>
          <p:cNvPr id="7" name="Rectangle 6"/>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11679" y="187452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79" y="1874520"/>
            <a:ext cx="594360" cy="594360"/>
          </a:xfrm>
          <a:prstGeom prst="rect">
            <a:avLst/>
          </a:prstGeom>
          <a:noFill/>
        </p:spPr>
        <p:txBody>
          <a:bodyPr wrap="square" lIns="36000" rIns="36000" tIns="18000" bIns="18000" anchor="ctr">
            <a:spAutoFit/>
          </a:bodyPr>
          <a:lstStyle/>
          <a:p>
            <a:pPr algn="ctr"/>
            <a:r>
              <a:rPr sz="1800" b="1" i="0">
                <a:solidFill>
                  <a:srgbClr val="FFFFFF"/>
                </a:solidFill>
                <a:latin typeface="Arial"/>
              </a:rPr>
              <a:t>1</a:t>
            </a:r>
          </a:p>
        </p:txBody>
      </p:sp>
      <p:sp>
        <p:nvSpPr>
          <p:cNvPr id="10" name="TextBox 9"/>
          <p:cNvSpPr txBox="1"/>
          <p:nvPr/>
        </p:nvSpPr>
        <p:spPr>
          <a:xfrm>
            <a:off x="457200" y="2587752"/>
            <a:ext cx="3703320" cy="201168"/>
          </a:xfrm>
          <a:prstGeom prst="rect">
            <a:avLst/>
          </a:prstGeom>
          <a:noFill/>
        </p:spPr>
        <p:txBody>
          <a:bodyPr wrap="square" lIns="36000" rIns="36000" tIns="18000" bIns="18000" anchor="t">
            <a:spAutoFit/>
          </a:bodyPr>
          <a:lstStyle/>
          <a:p>
            <a:pPr algn="ctr"/>
            <a:r>
              <a:rPr sz="1100" b="1" i="0">
                <a:solidFill>
                  <a:srgbClr val="6B778C"/>
                </a:solidFill>
                <a:latin typeface="Arial"/>
              </a:rPr>
              <a:t>DEMAND MANAGEMENT</a:t>
            </a:r>
          </a:p>
        </p:txBody>
      </p:sp>
      <p:sp>
        <p:nvSpPr>
          <p:cNvPr id="11" name="TextBox 10"/>
          <p:cNvSpPr txBox="1"/>
          <p:nvPr/>
        </p:nvSpPr>
        <p:spPr>
          <a:xfrm>
            <a:off x="457200" y="2807208"/>
            <a:ext cx="3703320" cy="201168"/>
          </a:xfrm>
          <a:prstGeom prst="rect">
            <a:avLst/>
          </a:prstGeom>
          <a:noFill/>
        </p:spPr>
        <p:txBody>
          <a:bodyPr wrap="square" lIns="36000" rIns="36000" tIns="18000" bIns="18000" anchor="t">
            <a:spAutoFit/>
          </a:bodyPr>
          <a:lstStyle/>
          <a:p>
            <a:pPr algn="ctr"/>
            <a:r>
              <a:rPr sz="800" b="0" i="1">
                <a:solidFill>
                  <a:srgbClr val="6B778C"/>
                </a:solidFill>
                <a:latin typeface="Arial"/>
              </a:rPr>
              <a:t>intake · Gate 1 · Gate 2</a:t>
            </a:r>
          </a:p>
        </p:txBody>
      </p:sp>
      <p:sp>
        <p:nvSpPr>
          <p:cNvPr id="12" name="Oval 11"/>
          <p:cNvSpPr/>
          <p:nvPr/>
        </p:nvSpPr>
        <p:spPr>
          <a:xfrm>
            <a:off x="5714999" y="1691640"/>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4999" y="1691640"/>
            <a:ext cx="777240" cy="777240"/>
          </a:xfrm>
          <a:prstGeom prst="rect">
            <a:avLst/>
          </a:prstGeom>
          <a:noFill/>
        </p:spPr>
        <p:txBody>
          <a:bodyPr wrap="square" lIns="36000" rIns="36000" tIns="18000" bIns="18000" anchor="ctr">
            <a:spAutoFit/>
          </a:bodyPr>
          <a:lstStyle/>
          <a:p>
            <a:pPr algn="ctr"/>
            <a:r>
              <a:rPr sz="2300" b="1" i="0">
                <a:solidFill>
                  <a:srgbClr val="FFFFFF"/>
                </a:solidFill>
                <a:latin typeface="Arial"/>
              </a:rPr>
              <a:t>2</a:t>
            </a:r>
          </a:p>
        </p:txBody>
      </p:sp>
      <p:sp>
        <p:nvSpPr>
          <p:cNvPr id="14" name="TextBox 13"/>
          <p:cNvSpPr txBox="1"/>
          <p:nvPr/>
        </p:nvSpPr>
        <p:spPr>
          <a:xfrm>
            <a:off x="4251959" y="2587752"/>
            <a:ext cx="3703320" cy="201168"/>
          </a:xfrm>
          <a:prstGeom prst="rect">
            <a:avLst/>
          </a:prstGeom>
          <a:noFill/>
        </p:spPr>
        <p:txBody>
          <a:bodyPr wrap="square" lIns="36000" rIns="36000" tIns="18000" bIns="18000" anchor="t">
            <a:spAutoFit/>
          </a:bodyPr>
          <a:lstStyle/>
          <a:p>
            <a:pPr algn="ctr"/>
            <a:r>
              <a:rPr sz="1100" b="1" i="0">
                <a:solidFill>
                  <a:srgbClr val="008C38"/>
                </a:solidFill>
                <a:latin typeface="Arial"/>
              </a:rPr>
              <a:t>PREPARATION &amp; PLANNING</a:t>
            </a:r>
          </a:p>
        </p:txBody>
      </p:sp>
      <p:sp>
        <p:nvSpPr>
          <p:cNvPr id="15" name="TextBox 14"/>
          <p:cNvSpPr txBox="1"/>
          <p:nvPr/>
        </p:nvSpPr>
        <p:spPr>
          <a:xfrm>
            <a:off x="4251959" y="2807208"/>
            <a:ext cx="3703320" cy="201168"/>
          </a:xfrm>
          <a:prstGeom prst="rect">
            <a:avLst/>
          </a:prstGeom>
          <a:noFill/>
        </p:spPr>
        <p:txBody>
          <a:bodyPr wrap="square" lIns="36000" rIns="36000" tIns="18000" bIns="18000" anchor="t">
            <a:spAutoFit/>
          </a:bodyPr>
          <a:lstStyle/>
          <a:p>
            <a:pPr algn="ctr"/>
            <a:r>
              <a:rPr sz="800" b="0" i="1">
                <a:solidFill>
                  <a:srgbClr val="6B778C"/>
                </a:solidFill>
                <a:latin typeface="Arial"/>
              </a:rPr>
              <a:t>this section</a:t>
            </a:r>
          </a:p>
        </p:txBody>
      </p:sp>
      <p:sp>
        <p:nvSpPr>
          <p:cNvPr id="16" name="Rounded Rectangle 15"/>
          <p:cNvSpPr/>
          <p:nvPr/>
        </p:nvSpPr>
        <p:spPr>
          <a:xfrm>
            <a:off x="5234939" y="1399032"/>
            <a:ext cx="1737360" cy="201168"/>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34939" y="1399032"/>
            <a:ext cx="1737360" cy="201168"/>
          </a:xfrm>
          <a:prstGeom prst="rect">
            <a:avLst/>
          </a:prstGeom>
          <a:noFill/>
        </p:spPr>
        <p:txBody>
          <a:bodyPr wrap="square" lIns="36000" rIns="36000" tIns="18000" bIns="18000" anchor="ctr">
            <a:spAutoFit/>
          </a:bodyPr>
          <a:lstStyle/>
          <a:p>
            <a:pPr algn="ctr"/>
            <a:r>
              <a:rPr sz="800" b="1" i="0">
                <a:solidFill>
                  <a:srgbClr val="FFFFFF"/>
                </a:solidFill>
                <a:latin typeface="Arial"/>
              </a:rPr>
              <a:t>▼ COVERED IN THIS SECTION</a:t>
            </a:r>
          </a:p>
        </p:txBody>
      </p:sp>
      <p:sp>
        <p:nvSpPr>
          <p:cNvPr id="18" name="Oval 17"/>
          <p:cNvSpPr/>
          <p:nvPr/>
        </p:nvSpPr>
        <p:spPr>
          <a:xfrm>
            <a:off x="9601200" y="187452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1874520"/>
            <a:ext cx="594360" cy="594360"/>
          </a:xfrm>
          <a:prstGeom prst="rect">
            <a:avLst/>
          </a:prstGeom>
          <a:noFill/>
        </p:spPr>
        <p:txBody>
          <a:bodyPr wrap="square" lIns="36000" rIns="36000" tIns="18000" bIns="18000" anchor="ctr">
            <a:spAutoFit/>
          </a:bodyPr>
          <a:lstStyle/>
          <a:p>
            <a:pPr algn="ctr"/>
            <a:r>
              <a:rPr sz="1800" b="1" i="0">
                <a:solidFill>
                  <a:srgbClr val="FFFFFF"/>
                </a:solidFill>
                <a:latin typeface="Arial"/>
              </a:rPr>
              <a:t>3</a:t>
            </a:r>
          </a:p>
        </p:txBody>
      </p:sp>
      <p:sp>
        <p:nvSpPr>
          <p:cNvPr id="20" name="TextBox 19"/>
          <p:cNvSpPr txBox="1"/>
          <p:nvPr/>
        </p:nvSpPr>
        <p:spPr>
          <a:xfrm>
            <a:off x="8046719" y="2587752"/>
            <a:ext cx="3703320" cy="201168"/>
          </a:xfrm>
          <a:prstGeom prst="rect">
            <a:avLst/>
          </a:prstGeom>
          <a:noFill/>
        </p:spPr>
        <p:txBody>
          <a:bodyPr wrap="square" lIns="36000" rIns="36000" tIns="18000" bIns="18000" anchor="t">
            <a:spAutoFit/>
          </a:bodyPr>
          <a:lstStyle/>
          <a:p>
            <a:pPr algn="ctr"/>
            <a:r>
              <a:rPr sz="1100" b="1" i="0">
                <a:solidFill>
                  <a:srgbClr val="6B778C"/>
                </a:solidFill>
                <a:latin typeface="Arial"/>
              </a:rPr>
              <a:t>EXECUTION</a:t>
            </a:r>
          </a:p>
        </p:txBody>
      </p:sp>
      <p:sp>
        <p:nvSpPr>
          <p:cNvPr id="21" name="TextBox 20"/>
          <p:cNvSpPr txBox="1"/>
          <p:nvPr/>
        </p:nvSpPr>
        <p:spPr>
          <a:xfrm>
            <a:off x="8046719" y="2807208"/>
            <a:ext cx="3703320" cy="201168"/>
          </a:xfrm>
          <a:prstGeom prst="rect">
            <a:avLst/>
          </a:prstGeom>
          <a:noFill/>
        </p:spPr>
        <p:txBody>
          <a:bodyPr wrap="square" lIns="36000" rIns="36000" tIns="18000" bIns="18000" anchor="t">
            <a:spAutoFit/>
          </a:bodyPr>
          <a:lstStyle/>
          <a:p>
            <a:pPr algn="ctr"/>
            <a:r>
              <a:rPr sz="800" b="0" i="1">
                <a:solidFill>
                  <a:srgbClr val="6B778C"/>
                </a:solidFill>
                <a:latin typeface="Arial"/>
              </a:rPr>
              <a:t>build · test · release</a:t>
            </a:r>
          </a:p>
        </p:txBody>
      </p:sp>
      <p:sp>
        <p:nvSpPr>
          <p:cNvPr id="22" name="Rounded Rectangle 21"/>
          <p:cNvSpPr/>
          <p:nvPr/>
        </p:nvSpPr>
        <p:spPr>
          <a:xfrm>
            <a:off x="36576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108960"/>
            <a:ext cx="364236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16382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FLOWS IN  ·  Phase 1 output</a:t>
            </a:r>
          </a:p>
        </p:txBody>
      </p:sp>
      <p:sp>
        <p:nvSpPr>
          <p:cNvPr id="25" name="TextBox 24"/>
          <p:cNvSpPr txBox="1"/>
          <p:nvPr/>
        </p:nvSpPr>
        <p:spPr>
          <a:xfrm>
            <a:off x="502920" y="3383279"/>
            <a:ext cx="3368040" cy="201168"/>
          </a:xfrm>
          <a:prstGeom prst="rect">
            <a:avLst/>
          </a:prstGeom>
          <a:noFill/>
        </p:spPr>
        <p:txBody>
          <a:bodyPr wrap="square" lIns="36000" rIns="36000" tIns="18000" bIns="18000" anchor="t">
            <a:spAutoFit/>
          </a:bodyPr>
          <a:lstStyle/>
          <a:p>
            <a:pPr algn="l"/>
            <a:r>
              <a:rPr sz="800" b="0" i="1">
                <a:solidFill>
                  <a:srgbClr val="F2F8F4"/>
                </a:solidFill>
                <a:latin typeface="Arial"/>
              </a:rPr>
              <a:t>Output of Gate 2 · GO decision · classified demand</a:t>
            </a:r>
          </a:p>
        </p:txBody>
      </p:sp>
      <p:sp>
        <p:nvSpPr>
          <p:cNvPr id="26" name="Oval 25"/>
          <p:cNvSpPr/>
          <p:nvPr/>
        </p:nvSpPr>
        <p:spPr>
          <a:xfrm>
            <a:off x="548640" y="375818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2160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Pain Score</a:t>
            </a:r>
          </a:p>
        </p:txBody>
      </p:sp>
      <p:sp>
        <p:nvSpPr>
          <p:cNvPr id="28" name="TextBox 27"/>
          <p:cNvSpPr txBox="1"/>
          <p:nvPr/>
        </p:nvSpPr>
        <p:spPr>
          <a:xfrm>
            <a:off x="777240" y="3886200"/>
            <a:ext cx="3139440" cy="151529"/>
          </a:xfrm>
          <a:prstGeom prst="rect">
            <a:avLst/>
          </a:prstGeom>
          <a:noFill/>
        </p:spPr>
        <p:txBody>
          <a:bodyPr wrap="square" lIns="36000" rIns="36000" tIns="18000" bIns="18000" anchor="t">
            <a:spAutoFit/>
          </a:bodyPr>
          <a:lstStyle/>
          <a:p>
            <a:pPr algn="l"/>
            <a:r>
              <a:rPr sz="800" b="0" i="0">
                <a:solidFill>
                  <a:srgbClr val="526077"/>
                </a:solidFill>
                <a:latin typeface="Arial"/>
              </a:rPr>
              <a:t>BV · UX · Effort · OPCOmult — preliminary</a:t>
            </a:r>
          </a:p>
        </p:txBody>
      </p:sp>
      <p:sp>
        <p:nvSpPr>
          <p:cNvPr id="29" name="Oval 28"/>
          <p:cNvSpPr/>
          <p:nvPr/>
        </p:nvSpPr>
        <p:spPr>
          <a:xfrm>
            <a:off x="548640" y="4110881"/>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074305"/>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Class of Service</a:t>
            </a:r>
          </a:p>
        </p:txBody>
      </p:sp>
      <p:sp>
        <p:nvSpPr>
          <p:cNvPr id="31" name="TextBox 30"/>
          <p:cNvSpPr txBox="1"/>
          <p:nvPr/>
        </p:nvSpPr>
        <p:spPr>
          <a:xfrm>
            <a:off x="777240" y="4238897"/>
            <a:ext cx="3139440" cy="151529"/>
          </a:xfrm>
          <a:prstGeom prst="rect">
            <a:avLst/>
          </a:prstGeom>
          <a:noFill/>
        </p:spPr>
        <p:txBody>
          <a:bodyPr wrap="square" lIns="36000" rIns="36000" tIns="18000" bIns="18000" anchor="t">
            <a:spAutoFit/>
          </a:bodyPr>
          <a:lstStyle/>
          <a:p>
            <a:pPr algn="l"/>
            <a:r>
              <a:rPr sz="800" b="0" i="0">
                <a:solidFill>
                  <a:srgbClr val="526077"/>
                </a:solidFill>
                <a:latin typeface="Arial"/>
              </a:rPr>
              <a:t>Standard · Fixed-Date · Expedite · Intangible — best-guess</a:t>
            </a:r>
          </a:p>
        </p:txBody>
      </p:sp>
      <p:sp>
        <p:nvSpPr>
          <p:cNvPr id="32" name="Oval 31"/>
          <p:cNvSpPr/>
          <p:nvPr/>
        </p:nvSpPr>
        <p:spPr>
          <a:xfrm>
            <a:off x="548640" y="4463578"/>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427002"/>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Type</a:t>
            </a:r>
          </a:p>
        </p:txBody>
      </p:sp>
      <p:sp>
        <p:nvSpPr>
          <p:cNvPr id="34" name="TextBox 33"/>
          <p:cNvSpPr txBox="1"/>
          <p:nvPr/>
        </p:nvSpPr>
        <p:spPr>
          <a:xfrm>
            <a:off x="777240" y="4591594"/>
            <a:ext cx="3139440" cy="151529"/>
          </a:xfrm>
          <a:prstGeom prst="rect">
            <a:avLst/>
          </a:prstGeom>
          <a:noFill/>
        </p:spPr>
        <p:txBody>
          <a:bodyPr wrap="square" lIns="36000" rIns="36000" tIns="18000" bIns="18000" anchor="t">
            <a:spAutoFit/>
          </a:bodyPr>
          <a:lstStyle/>
          <a:p>
            <a:pPr algn="l"/>
            <a:r>
              <a:rPr sz="800" b="0" i="0">
                <a:solidFill>
                  <a:srgbClr val="526077"/>
                </a:solidFill>
                <a:latin typeface="Arial"/>
              </a:rPr>
              <a:t>Production Support · Regulatory · Non-Regulatory</a:t>
            </a:r>
          </a:p>
        </p:txBody>
      </p:sp>
      <p:sp>
        <p:nvSpPr>
          <p:cNvPr id="35" name="Oval 34"/>
          <p:cNvSpPr/>
          <p:nvPr/>
        </p:nvSpPr>
        <p:spPr>
          <a:xfrm>
            <a:off x="548640" y="4816275"/>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779699"/>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Size</a:t>
            </a:r>
          </a:p>
        </p:txBody>
      </p:sp>
      <p:sp>
        <p:nvSpPr>
          <p:cNvPr id="37" name="TextBox 36"/>
          <p:cNvSpPr txBox="1"/>
          <p:nvPr/>
        </p:nvSpPr>
        <p:spPr>
          <a:xfrm>
            <a:off x="777240" y="4944291"/>
            <a:ext cx="3139440" cy="151529"/>
          </a:xfrm>
          <a:prstGeom prst="rect">
            <a:avLst/>
          </a:prstGeom>
          <a:noFill/>
        </p:spPr>
        <p:txBody>
          <a:bodyPr wrap="square" lIns="36000" rIns="36000" tIns="18000" bIns="18000" anchor="t">
            <a:spAutoFit/>
          </a:bodyPr>
          <a:lstStyle/>
          <a:p>
            <a:pPr algn="l"/>
            <a:r>
              <a:rPr sz="800" b="0" i="0">
                <a:solidFill>
                  <a:srgbClr val="526077"/>
                </a:solidFill>
                <a:latin typeface="Arial"/>
              </a:rPr>
              <a:t>S · M · L  (XL → PPM Now · out of scope)</a:t>
            </a:r>
          </a:p>
        </p:txBody>
      </p:sp>
      <p:sp>
        <p:nvSpPr>
          <p:cNvPr id="38" name="Oval 37"/>
          <p:cNvSpPr/>
          <p:nvPr/>
        </p:nvSpPr>
        <p:spPr>
          <a:xfrm>
            <a:off x="548640" y="5168972"/>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132396"/>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OPCO scope</a:t>
            </a:r>
          </a:p>
        </p:txBody>
      </p:sp>
      <p:sp>
        <p:nvSpPr>
          <p:cNvPr id="40" name="TextBox 39"/>
          <p:cNvSpPr txBox="1"/>
          <p:nvPr/>
        </p:nvSpPr>
        <p:spPr>
          <a:xfrm>
            <a:off x="777240" y="5296988"/>
            <a:ext cx="3139440" cy="151529"/>
          </a:xfrm>
          <a:prstGeom prst="rect">
            <a:avLst/>
          </a:prstGeom>
          <a:noFill/>
        </p:spPr>
        <p:txBody>
          <a:bodyPr wrap="square" lIns="36000" rIns="36000" tIns="18000" bIns="18000" anchor="t">
            <a:spAutoFit/>
          </a:bodyPr>
          <a:lstStyle/>
          <a:p>
            <a:pPr algn="l"/>
            <a:r>
              <a:rPr sz="800" b="0" i="0">
                <a:solidFill>
                  <a:srgbClr val="526077"/>
                </a:solidFill>
                <a:latin typeface="Arial"/>
              </a:rPr>
              <a:t>single · regional (2-4) · enterprise (5+) — drives multiplier</a:t>
            </a:r>
          </a:p>
        </p:txBody>
      </p:sp>
      <p:sp>
        <p:nvSpPr>
          <p:cNvPr id="41" name="Oval 40"/>
          <p:cNvSpPr/>
          <p:nvPr/>
        </p:nvSpPr>
        <p:spPr>
          <a:xfrm>
            <a:off x="548640" y="5521669"/>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485093"/>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Sponsor</a:t>
            </a:r>
          </a:p>
        </p:txBody>
      </p:sp>
      <p:sp>
        <p:nvSpPr>
          <p:cNvPr id="43" name="TextBox 42"/>
          <p:cNvSpPr txBox="1"/>
          <p:nvPr/>
        </p:nvSpPr>
        <p:spPr>
          <a:xfrm>
            <a:off x="777240" y="5649685"/>
            <a:ext cx="3139440" cy="151529"/>
          </a:xfrm>
          <a:prstGeom prst="rect">
            <a:avLst/>
          </a:prstGeom>
          <a:noFill/>
        </p:spPr>
        <p:txBody>
          <a:bodyPr wrap="square" lIns="36000" rIns="36000" tIns="18000" bIns="18000" anchor="t">
            <a:spAutoFit/>
          </a:bodyPr>
          <a:lstStyle/>
          <a:p>
            <a:pPr algn="l"/>
            <a:r>
              <a:rPr sz="800" b="0" i="0">
                <a:solidFill>
                  <a:srgbClr val="526077"/>
                </a:solidFill>
                <a:latin typeface="Arial"/>
              </a:rPr>
              <a:t>named user · acceptance criteria signed at Funnel</a:t>
            </a:r>
          </a:p>
        </p:txBody>
      </p:sp>
      <p:sp>
        <p:nvSpPr>
          <p:cNvPr id="44" name="Oval 43"/>
          <p:cNvSpPr/>
          <p:nvPr/>
        </p:nvSpPr>
        <p:spPr>
          <a:xfrm>
            <a:off x="548640" y="5874366"/>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837790"/>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R/G/T classification</a:t>
            </a:r>
          </a:p>
        </p:txBody>
      </p:sp>
      <p:sp>
        <p:nvSpPr>
          <p:cNvPr id="46" name="TextBox 45"/>
          <p:cNvSpPr txBox="1"/>
          <p:nvPr/>
        </p:nvSpPr>
        <p:spPr>
          <a:xfrm>
            <a:off x="777240" y="6002382"/>
            <a:ext cx="3139440" cy="151529"/>
          </a:xfrm>
          <a:prstGeom prst="rect">
            <a:avLst/>
          </a:prstGeom>
          <a:noFill/>
        </p:spPr>
        <p:txBody>
          <a:bodyPr wrap="square" lIns="36000" rIns="36000" tIns="18000" bIns="18000" anchor="t">
            <a:spAutoFit/>
          </a:bodyPr>
          <a:lstStyle/>
          <a:p>
            <a:pPr algn="l"/>
            <a:r>
              <a:rPr sz="800" b="0" i="0">
                <a:solidFill>
                  <a:srgbClr val="526077"/>
                </a:solidFill>
                <a:latin typeface="Arial"/>
              </a:rPr>
              <a:t>Run · Grow · Transform — strategic lens</a:t>
            </a:r>
          </a:p>
        </p:txBody>
      </p:sp>
      <p:sp>
        <p:nvSpPr>
          <p:cNvPr id="47" name="TextBox 46"/>
          <p:cNvSpPr txBox="1"/>
          <p:nvPr/>
        </p:nvSpPr>
        <p:spPr>
          <a:xfrm>
            <a:off x="4044696" y="4503420"/>
            <a:ext cx="201167"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48" name="Rounded Rectangle 47"/>
          <p:cNvSpPr/>
          <p:nvPr/>
        </p:nvSpPr>
        <p:spPr>
          <a:xfrm>
            <a:off x="428244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82440" y="3108960"/>
            <a:ext cx="364236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19600" y="316382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WE ADD  ·  Phase 2 work</a:t>
            </a:r>
          </a:p>
        </p:txBody>
      </p:sp>
      <p:sp>
        <p:nvSpPr>
          <p:cNvPr id="51" name="TextBox 50"/>
          <p:cNvSpPr txBox="1"/>
          <p:nvPr/>
        </p:nvSpPr>
        <p:spPr>
          <a:xfrm>
            <a:off x="4419600" y="3383279"/>
            <a:ext cx="3368040" cy="201168"/>
          </a:xfrm>
          <a:prstGeom prst="rect">
            <a:avLst/>
          </a:prstGeom>
          <a:noFill/>
        </p:spPr>
        <p:txBody>
          <a:bodyPr wrap="square" lIns="36000" rIns="36000" tIns="18000" bIns="18000" anchor="t">
            <a:spAutoFit/>
          </a:bodyPr>
          <a:lstStyle/>
          <a:p>
            <a:pPr algn="l"/>
            <a:r>
              <a:rPr sz="800" b="0" i="1">
                <a:solidFill>
                  <a:srgbClr val="F6FAFD"/>
                </a:solidFill>
                <a:latin typeface="Arial"/>
              </a:rPr>
              <a:t>6 capabilities · 4 gaps closed · CS and ITBA in parallel</a:t>
            </a:r>
          </a:p>
        </p:txBody>
      </p:sp>
      <p:sp>
        <p:nvSpPr>
          <p:cNvPr id="52" name="Oval 51"/>
          <p:cNvSpPr/>
          <p:nvPr/>
        </p:nvSpPr>
        <p:spPr>
          <a:xfrm>
            <a:off x="4465320" y="375818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93920" y="372160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Refinement</a:t>
            </a:r>
          </a:p>
        </p:txBody>
      </p:sp>
      <p:sp>
        <p:nvSpPr>
          <p:cNvPr id="54" name="TextBox 53"/>
          <p:cNvSpPr txBox="1"/>
          <p:nvPr/>
        </p:nvSpPr>
        <p:spPr>
          <a:xfrm>
            <a:off x="4693920" y="38862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S → Story · M → Epic · L → Initiative (Epics if &gt; 3 months)</a:t>
            </a:r>
          </a:p>
        </p:txBody>
      </p:sp>
      <p:sp>
        <p:nvSpPr>
          <p:cNvPr id="55" name="Oval 54"/>
          <p:cNvSpPr/>
          <p:nvPr/>
        </p:nvSpPr>
        <p:spPr>
          <a:xfrm>
            <a:off x="4465320" y="416966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93920" y="413308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Pre-estimation</a:t>
            </a:r>
          </a:p>
        </p:txBody>
      </p:sp>
      <p:sp>
        <p:nvSpPr>
          <p:cNvPr id="57" name="TextBox 56"/>
          <p:cNvSpPr txBox="1"/>
          <p:nvPr/>
        </p:nvSpPr>
        <p:spPr>
          <a:xfrm>
            <a:off x="4693920" y="429768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T-shirt confirmed · Effort 1-5 by Architect · Pain Score finalized</a:t>
            </a:r>
          </a:p>
        </p:txBody>
      </p:sp>
      <p:sp>
        <p:nvSpPr>
          <p:cNvPr id="58" name="Oval 57"/>
          <p:cNvSpPr/>
          <p:nvPr/>
        </p:nvSpPr>
        <p:spPr>
          <a:xfrm>
            <a:off x="4465320" y="458114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93920" y="45445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Architecture</a:t>
            </a:r>
          </a:p>
        </p:txBody>
      </p:sp>
      <p:sp>
        <p:nvSpPr>
          <p:cNvPr id="60" name="TextBox 59"/>
          <p:cNvSpPr txBox="1"/>
          <p:nvPr/>
        </p:nvSpPr>
        <p:spPr>
          <a:xfrm>
            <a:off x="4693920" y="470916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NFRs · vendor model · cross-VS feasibility · Architect signs off</a:t>
            </a:r>
          </a:p>
        </p:txBody>
      </p:sp>
      <p:sp>
        <p:nvSpPr>
          <p:cNvPr id="61" name="Oval 60"/>
          <p:cNvSpPr/>
          <p:nvPr/>
        </p:nvSpPr>
        <p:spPr>
          <a:xfrm>
            <a:off x="4465320" y="499262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93920" y="495604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a:t>
            </a:r>
          </a:p>
        </p:txBody>
      </p:sp>
      <p:sp>
        <p:nvSpPr>
          <p:cNvPr id="63" name="TextBox 62"/>
          <p:cNvSpPr txBox="1"/>
          <p:nvPr/>
        </p:nvSpPr>
        <p:spPr>
          <a:xfrm>
            <a:off x="4693920" y="512064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 per CoS lane · per squad · monthly @ Gate 2</a:t>
            </a:r>
          </a:p>
        </p:txBody>
      </p:sp>
      <p:sp>
        <p:nvSpPr>
          <p:cNvPr id="64" name="Oval 63"/>
          <p:cNvSpPr/>
          <p:nvPr/>
        </p:nvSpPr>
        <p:spPr>
          <a:xfrm>
            <a:off x="4465320" y="540410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93920" y="536752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Roadmap entry</a:t>
            </a:r>
          </a:p>
        </p:txBody>
      </p:sp>
      <p:sp>
        <p:nvSpPr>
          <p:cNvPr id="66" name="TextBox 65"/>
          <p:cNvSpPr txBox="1"/>
          <p:nvPr/>
        </p:nvSpPr>
        <p:spPr>
          <a:xfrm>
            <a:off x="4693920" y="553212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rolling wave 3·6·12 mo · committed vs hypothesized</a:t>
            </a:r>
          </a:p>
        </p:txBody>
      </p:sp>
      <p:sp>
        <p:nvSpPr>
          <p:cNvPr id="67" name="Oval 66"/>
          <p:cNvSpPr/>
          <p:nvPr/>
        </p:nvSpPr>
        <p:spPr>
          <a:xfrm>
            <a:off x="4465320" y="581558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693920" y="577900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DoR check</a:t>
            </a:r>
          </a:p>
        </p:txBody>
      </p:sp>
      <p:sp>
        <p:nvSpPr>
          <p:cNvPr id="69" name="TextBox 68"/>
          <p:cNvSpPr txBox="1"/>
          <p:nvPr/>
        </p:nvSpPr>
        <p:spPr>
          <a:xfrm>
            <a:off x="4693920" y="59436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6 criteria · single gate to Execution · loop back if fail</a:t>
            </a:r>
          </a:p>
        </p:txBody>
      </p:sp>
      <p:sp>
        <p:nvSpPr>
          <p:cNvPr id="70" name="TextBox 69"/>
          <p:cNvSpPr txBox="1"/>
          <p:nvPr/>
        </p:nvSpPr>
        <p:spPr>
          <a:xfrm>
            <a:off x="7961376" y="4503420"/>
            <a:ext cx="201167"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71" name="Rounded Rectangle 70"/>
          <p:cNvSpPr/>
          <p:nvPr/>
        </p:nvSpPr>
        <p:spPr>
          <a:xfrm>
            <a:off x="819912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199120" y="3108960"/>
            <a:ext cx="3642360" cy="50292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336280" y="316382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FLOWS OUT  ·  Phase 3 input</a:t>
            </a:r>
          </a:p>
        </p:txBody>
      </p:sp>
      <p:sp>
        <p:nvSpPr>
          <p:cNvPr id="74" name="TextBox 73"/>
          <p:cNvSpPr txBox="1"/>
          <p:nvPr/>
        </p:nvSpPr>
        <p:spPr>
          <a:xfrm>
            <a:off x="8336280" y="3383279"/>
            <a:ext cx="3368040" cy="201168"/>
          </a:xfrm>
          <a:prstGeom prst="rect">
            <a:avLst/>
          </a:prstGeom>
          <a:noFill/>
        </p:spPr>
        <p:txBody>
          <a:bodyPr wrap="square" lIns="36000" rIns="36000" tIns="18000" bIns="18000" anchor="t">
            <a:spAutoFit/>
          </a:bodyPr>
          <a:lstStyle/>
          <a:p>
            <a:pPr algn="l"/>
            <a:r>
              <a:rPr sz="800" b="0" i="1">
                <a:solidFill>
                  <a:srgbClr val="F6FAFD"/>
                </a:solidFill>
                <a:latin typeface="Arial"/>
              </a:rPr>
              <a:t>DoR-passed · Squad pulls · Execution begins</a:t>
            </a:r>
          </a:p>
        </p:txBody>
      </p:sp>
      <p:sp>
        <p:nvSpPr>
          <p:cNvPr id="75" name="Oval 74"/>
          <p:cNvSpPr/>
          <p:nvPr/>
        </p:nvSpPr>
        <p:spPr>
          <a:xfrm>
            <a:off x="8382000" y="375818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10600" y="372160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Stories (≤ 5 SP)</a:t>
            </a:r>
          </a:p>
        </p:txBody>
      </p:sp>
      <p:sp>
        <p:nvSpPr>
          <p:cNvPr id="77" name="TextBox 76"/>
          <p:cNvSpPr txBox="1"/>
          <p:nvPr/>
        </p:nvSpPr>
        <p:spPr>
          <a:xfrm>
            <a:off x="8610600" y="38862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INVEST-compliant · acceptance criteria binary</a:t>
            </a:r>
          </a:p>
        </p:txBody>
      </p:sp>
      <p:sp>
        <p:nvSpPr>
          <p:cNvPr id="78" name="Oval 77"/>
          <p:cNvSpPr/>
          <p:nvPr/>
        </p:nvSpPr>
        <p:spPr>
          <a:xfrm>
            <a:off x="8382000" y="416966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10600" y="413308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NFRs documented</a:t>
            </a:r>
          </a:p>
        </p:txBody>
      </p:sp>
      <p:sp>
        <p:nvSpPr>
          <p:cNvPr id="80" name="TextBox 79"/>
          <p:cNvSpPr txBox="1"/>
          <p:nvPr/>
        </p:nvSpPr>
        <p:spPr>
          <a:xfrm>
            <a:off x="8610600" y="429768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perf · security · compliance · scale · attached to Story</a:t>
            </a:r>
          </a:p>
        </p:txBody>
      </p:sp>
      <p:sp>
        <p:nvSpPr>
          <p:cNvPr id="81" name="Oval 80"/>
          <p:cNvSpPr/>
          <p:nvPr/>
        </p:nvSpPr>
        <p:spPr>
          <a:xfrm>
            <a:off x="8382000" y="458114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610600" y="45445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reserved</a:t>
            </a:r>
          </a:p>
        </p:txBody>
      </p:sp>
      <p:sp>
        <p:nvSpPr>
          <p:cNvPr id="83" name="TextBox 82"/>
          <p:cNvSpPr txBox="1"/>
          <p:nvPr/>
        </p:nvSpPr>
        <p:spPr>
          <a:xfrm>
            <a:off x="8610600" y="470916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fits inside CoS lane % · WIP not exceeded</a:t>
            </a:r>
          </a:p>
        </p:txBody>
      </p:sp>
      <p:sp>
        <p:nvSpPr>
          <p:cNvPr id="84" name="Oval 83"/>
          <p:cNvSpPr/>
          <p:nvPr/>
        </p:nvSpPr>
        <p:spPr>
          <a:xfrm>
            <a:off x="8382000" y="499262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610600" y="495604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Acceptance criteria</a:t>
            </a:r>
          </a:p>
        </p:txBody>
      </p:sp>
      <p:sp>
        <p:nvSpPr>
          <p:cNvPr id="86" name="TextBox 85"/>
          <p:cNvSpPr txBox="1"/>
          <p:nvPr/>
        </p:nvSpPr>
        <p:spPr>
          <a:xfrm>
            <a:off x="8610600" y="512064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traceable to Sponsor-approved Initiative or Epic</a:t>
            </a:r>
          </a:p>
        </p:txBody>
      </p:sp>
      <p:sp>
        <p:nvSpPr>
          <p:cNvPr id="87" name="Oval 86"/>
          <p:cNvSpPr/>
          <p:nvPr/>
        </p:nvSpPr>
        <p:spPr>
          <a:xfrm>
            <a:off x="8382000" y="540410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610600" y="536752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Dependencies known</a:t>
            </a:r>
          </a:p>
        </p:txBody>
      </p:sp>
      <p:sp>
        <p:nvSpPr>
          <p:cNvPr id="89" name="TextBox 88"/>
          <p:cNvSpPr txBox="1"/>
          <p:nvPr/>
        </p:nvSpPr>
        <p:spPr>
          <a:xfrm>
            <a:off x="8610600" y="553212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cross-VS · vendor · license — surfaced before pull</a:t>
            </a:r>
          </a:p>
        </p:txBody>
      </p:sp>
      <p:sp>
        <p:nvSpPr>
          <p:cNvPr id="90" name="Oval 89"/>
          <p:cNvSpPr/>
          <p:nvPr/>
        </p:nvSpPr>
        <p:spPr>
          <a:xfrm>
            <a:off x="8382000" y="581558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610600" y="577900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Roadmap entry</a:t>
            </a:r>
          </a:p>
        </p:txBody>
      </p:sp>
      <p:sp>
        <p:nvSpPr>
          <p:cNvPr id="92" name="TextBox 91"/>
          <p:cNvSpPr txBox="1"/>
          <p:nvPr/>
        </p:nvSpPr>
        <p:spPr>
          <a:xfrm>
            <a:off x="8610600" y="59436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committed band · re-balanced monthly</a:t>
            </a:r>
          </a:p>
        </p:txBody>
      </p:sp>
      <p:sp>
        <p:nvSpPr>
          <p:cNvPr id="93" name="TextBox 9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01 / 29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OPENER</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PREPARATION &amp; PLANNING CLOSES 4 GAPS: DETAIL · SEQUENCE · CAPACITY · READINESS — THE FOUR JOBS OF THIS PHASE</a:t>
            </a:r>
          </a:p>
        </p:txBody>
      </p:sp>
      <p:sp>
        <p:nvSpPr>
          <p:cNvPr id="7" name="Rounded Rectangle 6"/>
          <p:cNvSpPr/>
          <p:nvPr/>
        </p:nvSpPr>
        <p:spPr>
          <a:xfrm>
            <a:off x="365760" y="1417320"/>
            <a:ext cx="114757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72184"/>
            <a:ext cx="11338560" cy="201168"/>
          </a:xfrm>
          <a:prstGeom prst="rect">
            <a:avLst/>
          </a:prstGeom>
          <a:noFill/>
        </p:spPr>
        <p:txBody>
          <a:bodyPr wrap="square" lIns="36000" rIns="36000" tIns="18000" bIns="18000" anchor="t">
            <a:spAutoFit/>
          </a:bodyPr>
          <a:lstStyle/>
          <a:p>
            <a:pPr algn="l"/>
            <a:r>
              <a:rPr sz="900" b="1" i="0">
                <a:solidFill>
                  <a:srgbClr val="006B3F"/>
                </a:solidFill>
                <a:latin typeface="Arial"/>
              </a:rPr>
              <a:t>GOVERNING THOUGHT</a:t>
            </a:r>
          </a:p>
        </p:txBody>
      </p:sp>
      <p:sp>
        <p:nvSpPr>
          <p:cNvPr id="10" name="TextBox 9"/>
          <p:cNvSpPr txBox="1"/>
          <p:nvPr/>
        </p:nvSpPr>
        <p:spPr>
          <a:xfrm>
            <a:off x="502920" y="1655064"/>
            <a:ext cx="11338560" cy="320040"/>
          </a:xfrm>
          <a:prstGeom prst="rect">
            <a:avLst/>
          </a:prstGeom>
          <a:noFill/>
        </p:spPr>
        <p:txBody>
          <a:bodyPr wrap="square" lIns="36000" rIns="36000" tIns="18000" bIns="18000" anchor="t">
            <a:spAutoFit/>
          </a:bodyPr>
          <a:lstStyle/>
          <a:p>
            <a:pPr algn="l"/>
            <a:r>
              <a:rPr sz="1200" b="1" i="0">
                <a:solidFill>
                  <a:srgbClr val="2C3E50"/>
                </a:solidFill>
                <a:latin typeface="Arial"/>
              </a:rPr>
              <a:t>A prioritized list says "we want this" — Preparation &amp; Planning answers "how, by whom, with what capacity, and when ready".</a:t>
            </a:r>
          </a:p>
        </p:txBody>
      </p:sp>
      <p:sp>
        <p:nvSpPr>
          <p:cNvPr id="11" name="Rounded Rectangle 10"/>
          <p:cNvSpPr/>
          <p:nvPr/>
        </p:nvSpPr>
        <p:spPr>
          <a:xfrm>
            <a:off x="36576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920240"/>
            <a:ext cx="273177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01</a:t>
            </a:r>
          </a:p>
        </p:txBody>
      </p:sp>
      <p:sp>
        <p:nvSpPr>
          <p:cNvPr id="14" name="TextBox 13"/>
          <p:cNvSpPr txBox="1"/>
          <p:nvPr/>
        </p:nvSpPr>
        <p:spPr>
          <a:xfrm>
            <a:off x="100584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DETAIL</a:t>
            </a:r>
          </a:p>
        </p:txBody>
      </p:sp>
      <p:sp>
        <p:nvSpPr>
          <p:cNvPr id="15" name="TextBox 14"/>
          <p:cNvSpPr txBox="1"/>
          <p:nvPr/>
        </p:nvSpPr>
        <p:spPr>
          <a:xfrm>
            <a:off x="54864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A Demand becomes Initiative · Epic · Story (by size) — outcome-named, sized, acceptance-criteria split.</a:t>
            </a:r>
          </a:p>
        </p:txBody>
      </p:sp>
      <p:sp>
        <p:nvSpPr>
          <p:cNvPr id="16" name="Rounded Rectangle 15"/>
          <p:cNvSpPr/>
          <p:nvPr/>
        </p:nvSpPr>
        <p:spPr>
          <a:xfrm>
            <a:off x="54864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Refinement + Estimation</a:t>
            </a:r>
          </a:p>
        </p:txBody>
      </p:sp>
      <p:sp>
        <p:nvSpPr>
          <p:cNvPr id="18" name="Rounded Rectangle 17"/>
          <p:cNvSpPr/>
          <p:nvPr/>
        </p:nvSpPr>
        <p:spPr>
          <a:xfrm>
            <a:off x="32804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80410" y="1920240"/>
            <a:ext cx="2731770"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757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02</a:t>
            </a:r>
          </a:p>
        </p:txBody>
      </p:sp>
      <p:sp>
        <p:nvSpPr>
          <p:cNvPr id="21" name="TextBox 20"/>
          <p:cNvSpPr txBox="1"/>
          <p:nvPr/>
        </p:nvSpPr>
        <p:spPr>
          <a:xfrm>
            <a:off x="392049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SEQUENCE</a:t>
            </a:r>
          </a:p>
        </p:txBody>
      </p:sp>
      <p:sp>
        <p:nvSpPr>
          <p:cNvPr id="22" name="TextBox 21"/>
          <p:cNvSpPr txBox="1"/>
          <p:nvPr/>
        </p:nvSpPr>
        <p:spPr>
          <a:xfrm>
            <a:off x="346329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Pain Score + Class of Service + capacity available decide what gets pulled when.</a:t>
            </a:r>
          </a:p>
        </p:txBody>
      </p:sp>
      <p:sp>
        <p:nvSpPr>
          <p:cNvPr id="23" name="Rounded Rectangle 22"/>
          <p:cNvSpPr/>
          <p:nvPr/>
        </p:nvSpPr>
        <p:spPr>
          <a:xfrm>
            <a:off x="346329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5473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Prioritization + Roadmap</a:t>
            </a:r>
          </a:p>
        </p:txBody>
      </p:sp>
      <p:sp>
        <p:nvSpPr>
          <p:cNvPr id="25" name="Rounded Rectangle 24"/>
          <p:cNvSpPr/>
          <p:nvPr/>
        </p:nvSpPr>
        <p:spPr>
          <a:xfrm>
            <a:off x="619506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5060" y="1920240"/>
            <a:ext cx="273177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222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03</a:t>
            </a:r>
          </a:p>
        </p:txBody>
      </p:sp>
      <p:sp>
        <p:nvSpPr>
          <p:cNvPr id="28" name="TextBox 27"/>
          <p:cNvSpPr txBox="1"/>
          <p:nvPr/>
        </p:nvSpPr>
        <p:spPr>
          <a:xfrm>
            <a:off x="683514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CAPACITY</a:t>
            </a:r>
          </a:p>
        </p:txBody>
      </p:sp>
      <p:sp>
        <p:nvSpPr>
          <p:cNvPr id="29" name="TextBox 28"/>
          <p:cNvSpPr txBox="1"/>
          <p:nvPr/>
        </p:nvSpPr>
        <p:spPr>
          <a:xfrm>
            <a:off x="637794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 per CoS lane decided monthly · middle managers hold day-to-day reality.</a:t>
            </a:r>
          </a:p>
        </p:txBody>
      </p:sp>
      <p:sp>
        <p:nvSpPr>
          <p:cNvPr id="30" name="Rounded Rectangle 29"/>
          <p:cNvSpPr/>
          <p:nvPr/>
        </p:nvSpPr>
        <p:spPr>
          <a:xfrm>
            <a:off x="637794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938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Capacity + Forecasting</a:t>
            </a:r>
          </a:p>
        </p:txBody>
      </p:sp>
      <p:sp>
        <p:nvSpPr>
          <p:cNvPr id="32" name="Rounded Rectangle 31"/>
          <p:cNvSpPr/>
          <p:nvPr/>
        </p:nvSpPr>
        <p:spPr>
          <a:xfrm>
            <a:off x="91097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09710" y="1920240"/>
            <a:ext cx="2731770"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4687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04</a:t>
            </a:r>
          </a:p>
        </p:txBody>
      </p:sp>
      <p:sp>
        <p:nvSpPr>
          <p:cNvPr id="35" name="TextBox 34"/>
          <p:cNvSpPr txBox="1"/>
          <p:nvPr/>
        </p:nvSpPr>
        <p:spPr>
          <a:xfrm>
            <a:off x="974979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READINESS</a:t>
            </a:r>
          </a:p>
        </p:txBody>
      </p:sp>
      <p:sp>
        <p:nvSpPr>
          <p:cNvPr id="36" name="TextBox 35"/>
          <p:cNvSpPr txBox="1"/>
          <p:nvPr/>
        </p:nvSpPr>
        <p:spPr>
          <a:xfrm>
            <a:off x="929259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Definition of Ready — 6 criteria · single gate to Execution.</a:t>
            </a:r>
          </a:p>
        </p:txBody>
      </p:sp>
      <p:sp>
        <p:nvSpPr>
          <p:cNvPr id="37" name="Rounded Rectangle 36"/>
          <p:cNvSpPr/>
          <p:nvPr/>
        </p:nvSpPr>
        <p:spPr>
          <a:xfrm>
            <a:off x="929259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8403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DoR check</a:t>
            </a:r>
          </a:p>
        </p:txBody>
      </p:sp>
      <p:sp>
        <p:nvSpPr>
          <p:cNvPr id="39" name="TextBox 38"/>
          <p:cNvSpPr txBox="1"/>
          <p:nvPr/>
        </p:nvSpPr>
        <p:spPr>
          <a:xfrm>
            <a:off x="365760" y="4526280"/>
            <a:ext cx="11475720" cy="201168"/>
          </a:xfrm>
          <a:prstGeom prst="rect">
            <a:avLst/>
          </a:prstGeom>
          <a:noFill/>
        </p:spPr>
        <p:txBody>
          <a:bodyPr wrap="square" lIns="36000" rIns="36000" tIns="18000" bIns="18000" anchor="t">
            <a:spAutoFit/>
          </a:bodyPr>
          <a:lstStyle/>
          <a:p>
            <a:pPr algn="l"/>
            <a:r>
              <a:rPr sz="1000" b="1" i="0">
                <a:solidFill>
                  <a:srgbClr val="6B778C"/>
                </a:solidFill>
                <a:latin typeface="Arial"/>
              </a:rPr>
              <a:t>ORGANIZED AS 5 CATEGORIES  ·  the framework that structures the rest of this section</a:t>
            </a:r>
          </a:p>
        </p:txBody>
      </p:sp>
      <p:sp>
        <p:nvSpPr>
          <p:cNvPr id="40" name="Rounded Rectangle 39"/>
          <p:cNvSpPr/>
          <p:nvPr/>
        </p:nvSpPr>
        <p:spPr>
          <a:xfrm>
            <a:off x="365760"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48006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892040"/>
            <a:ext cx="1911096" cy="274320"/>
          </a:xfrm>
          <a:prstGeom prst="rect">
            <a:avLst/>
          </a:prstGeom>
          <a:noFill/>
        </p:spPr>
        <p:txBody>
          <a:bodyPr wrap="square" lIns="36000" rIns="36000" tIns="18000" bIns="18000" anchor="t">
            <a:spAutoFit/>
          </a:bodyPr>
          <a:lstStyle/>
          <a:p>
            <a:pPr algn="l"/>
            <a:r>
              <a:rPr sz="1100" b="1" i="0">
                <a:solidFill>
                  <a:srgbClr val="008C38"/>
                </a:solidFill>
                <a:latin typeface="Arial"/>
              </a:rPr>
              <a:t>CAPABILITIES</a:t>
            </a:r>
          </a:p>
        </p:txBody>
      </p:sp>
      <p:sp>
        <p:nvSpPr>
          <p:cNvPr id="43" name="TextBox 42"/>
          <p:cNvSpPr txBox="1"/>
          <p:nvPr/>
        </p:nvSpPr>
        <p:spPr>
          <a:xfrm>
            <a:off x="548640"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8 slides · what we do</a:t>
            </a:r>
          </a:p>
        </p:txBody>
      </p:sp>
      <p:sp>
        <p:nvSpPr>
          <p:cNvPr id="44" name="Rounded Rectangle 43"/>
          <p:cNvSpPr/>
          <p:nvPr/>
        </p:nvSpPr>
        <p:spPr>
          <a:xfrm>
            <a:off x="2688336"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688336" y="48006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71216" y="4892040"/>
            <a:ext cx="1911096" cy="274320"/>
          </a:xfrm>
          <a:prstGeom prst="rect">
            <a:avLst/>
          </a:prstGeom>
          <a:noFill/>
        </p:spPr>
        <p:txBody>
          <a:bodyPr wrap="square" lIns="36000" rIns="36000" tIns="18000" bIns="18000" anchor="t">
            <a:spAutoFit/>
          </a:bodyPr>
          <a:lstStyle/>
          <a:p>
            <a:pPr algn="l"/>
            <a:r>
              <a:rPr sz="1100" b="1" i="0">
                <a:solidFill>
                  <a:srgbClr val="2C578B"/>
                </a:solidFill>
                <a:latin typeface="Arial"/>
              </a:rPr>
              <a:t>ROLES</a:t>
            </a:r>
          </a:p>
        </p:txBody>
      </p:sp>
      <p:sp>
        <p:nvSpPr>
          <p:cNvPr id="47" name="TextBox 46"/>
          <p:cNvSpPr txBox="1"/>
          <p:nvPr/>
        </p:nvSpPr>
        <p:spPr>
          <a:xfrm>
            <a:off x="2871216"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3 slides · who does it</a:t>
            </a:r>
          </a:p>
        </p:txBody>
      </p:sp>
      <p:sp>
        <p:nvSpPr>
          <p:cNvPr id="48" name="Rounded Rectangle 47"/>
          <p:cNvSpPr/>
          <p:nvPr/>
        </p:nvSpPr>
        <p:spPr>
          <a:xfrm>
            <a:off x="5010912"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10912" y="4800600"/>
            <a:ext cx="91440" cy="9144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93792" y="4892040"/>
            <a:ext cx="1911096" cy="274320"/>
          </a:xfrm>
          <a:prstGeom prst="rect">
            <a:avLst/>
          </a:prstGeom>
          <a:noFill/>
        </p:spPr>
        <p:txBody>
          <a:bodyPr wrap="square" lIns="36000" rIns="36000" tIns="18000" bIns="18000" anchor="t">
            <a:spAutoFit/>
          </a:bodyPr>
          <a:lstStyle/>
          <a:p>
            <a:pPr algn="l"/>
            <a:r>
              <a:rPr sz="1100" b="1" i="0">
                <a:solidFill>
                  <a:srgbClr val="008950"/>
                </a:solidFill>
                <a:latin typeface="Arial"/>
              </a:rPr>
              <a:t>TOOLS</a:t>
            </a:r>
          </a:p>
        </p:txBody>
      </p:sp>
      <p:sp>
        <p:nvSpPr>
          <p:cNvPr id="51" name="TextBox 50"/>
          <p:cNvSpPr txBox="1"/>
          <p:nvPr/>
        </p:nvSpPr>
        <p:spPr>
          <a:xfrm>
            <a:off x="5193792"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1 slide · what supports us</a:t>
            </a:r>
          </a:p>
        </p:txBody>
      </p:sp>
      <p:sp>
        <p:nvSpPr>
          <p:cNvPr id="52" name="Rounded Rectangle 51"/>
          <p:cNvSpPr/>
          <p:nvPr/>
        </p:nvSpPr>
        <p:spPr>
          <a:xfrm>
            <a:off x="7333488"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33488" y="4800600"/>
            <a:ext cx="91440" cy="9144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16367" y="4892040"/>
            <a:ext cx="1911096" cy="274320"/>
          </a:xfrm>
          <a:prstGeom prst="rect">
            <a:avLst/>
          </a:prstGeom>
          <a:noFill/>
        </p:spPr>
        <p:txBody>
          <a:bodyPr wrap="square" lIns="36000" rIns="36000" tIns="18000" bIns="18000" anchor="t">
            <a:spAutoFit/>
          </a:bodyPr>
          <a:lstStyle/>
          <a:p>
            <a:pPr algn="l"/>
            <a:r>
              <a:rPr sz="1100" b="1" i="0">
                <a:solidFill>
                  <a:srgbClr val="0F2A47"/>
                </a:solidFill>
                <a:latin typeface="Arial"/>
              </a:rPr>
              <a:t>GOVERNANCE</a:t>
            </a:r>
          </a:p>
        </p:txBody>
      </p:sp>
      <p:sp>
        <p:nvSpPr>
          <p:cNvPr id="55" name="TextBox 54"/>
          <p:cNvSpPr txBox="1"/>
          <p:nvPr/>
        </p:nvSpPr>
        <p:spPr>
          <a:xfrm>
            <a:off x="7516367"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4 slides · decision rights</a:t>
            </a:r>
          </a:p>
        </p:txBody>
      </p:sp>
      <p:sp>
        <p:nvSpPr>
          <p:cNvPr id="56" name="Rounded Rectangle 55"/>
          <p:cNvSpPr/>
          <p:nvPr/>
        </p:nvSpPr>
        <p:spPr>
          <a:xfrm>
            <a:off x="9656064"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656064" y="4800600"/>
            <a:ext cx="91440" cy="9144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38944" y="4892040"/>
            <a:ext cx="1911096" cy="274320"/>
          </a:xfrm>
          <a:prstGeom prst="rect">
            <a:avLst/>
          </a:prstGeom>
          <a:noFill/>
        </p:spPr>
        <p:txBody>
          <a:bodyPr wrap="square" lIns="36000" rIns="36000" tIns="18000" bIns="18000" anchor="t">
            <a:spAutoFit/>
          </a:bodyPr>
          <a:lstStyle/>
          <a:p>
            <a:pPr algn="l"/>
            <a:r>
              <a:rPr sz="1100" b="1" i="0">
                <a:solidFill>
                  <a:srgbClr val="E98B2F"/>
                </a:solidFill>
                <a:latin typeface="Arial"/>
              </a:rPr>
              <a:t>PERFORMANCE</a:t>
            </a:r>
          </a:p>
        </p:txBody>
      </p:sp>
      <p:sp>
        <p:nvSpPr>
          <p:cNvPr id="59" name="TextBox 58"/>
          <p:cNvSpPr txBox="1"/>
          <p:nvPr/>
        </p:nvSpPr>
        <p:spPr>
          <a:xfrm>
            <a:off x="9838944"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3 slides · how we measure</a:t>
            </a:r>
          </a:p>
        </p:txBody>
      </p:sp>
      <p:sp>
        <p:nvSpPr>
          <p:cNvPr id="60" name="Rounded Rectangle 59"/>
          <p:cNvSpPr/>
          <p:nvPr/>
        </p:nvSpPr>
        <p:spPr>
          <a:xfrm>
            <a:off x="365760" y="589788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5760" y="589788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595274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63" name="TextBox 62"/>
          <p:cNvSpPr txBox="1"/>
          <p:nvPr/>
        </p:nvSpPr>
        <p:spPr>
          <a:xfrm>
            <a:off x="548640" y="61173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Phase 2 has clear boundaries — we do not run BRPs (Business Review Process), Big Room Planning, Discovery, or plan XL.</a:t>
            </a:r>
          </a:p>
        </p:txBody>
      </p:sp>
      <p:sp>
        <p:nvSpPr>
          <p:cNvPr id="64" name="TextBox 63"/>
          <p:cNvSpPr txBox="1"/>
          <p:nvPr/>
        </p:nvSpPr>
        <p:spPr>
          <a:xfrm>
            <a:off x="548640" y="6400800"/>
            <a:ext cx="11201400" cy="-45719"/>
          </a:xfrm>
          <a:prstGeom prst="rect">
            <a:avLst/>
          </a:prstGeom>
          <a:noFill/>
        </p:spPr>
        <p:txBody>
          <a:bodyPr wrap="square" lIns="36000" rIns="36000" tIns="18000" bIns="18000" anchor="t">
            <a:spAutoFit/>
          </a:bodyPr>
          <a:lstStyle/>
          <a:p>
            <a:pPr algn="l"/>
            <a:r>
              <a:rPr sz="800" b="0" i="0">
                <a:solidFill>
                  <a:srgbClr val="526077"/>
                </a:solidFill>
                <a:latin typeface="Arial"/>
              </a:rPr>
              <a:t>Couple to existing P&amp;T BRP + Digital CoE BRP · NO Big Room Planning of our own · vendor or domain runs Discovery (Phase 0/1) · XL initiatives flow through PPM Now</a:t>
            </a:r>
          </a:p>
        </p:txBody>
      </p:sp>
      <p:sp>
        <p:nvSpPr>
          <p:cNvPr id="65" name="TextBox 6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02 / 29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OPENER</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TWO BOARDS · ONE BRIDGE: PORTFOLIO DECIDES THE WHAT · TEAM DECIDES THE WHEN · DOR IS THE BRIDGE BETWEEN THEM</a:t>
            </a:r>
          </a:p>
        </p:txBody>
      </p:sp>
      <p:sp>
        <p:nvSpPr>
          <p:cNvPr id="7" name="Rounded Rectangle 6"/>
          <p:cNvSpPr/>
          <p:nvPr/>
        </p:nvSpPr>
        <p:spPr>
          <a:xfrm>
            <a:off x="365760" y="1188720"/>
            <a:ext cx="6858000"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685800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43584"/>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PORTFOLIO BOARD  ·  cross-VS  ·  Director-level  ·  L only</a:t>
            </a:r>
          </a:p>
        </p:txBody>
      </p:sp>
      <p:sp>
        <p:nvSpPr>
          <p:cNvPr id="10" name="TextBox 9"/>
          <p:cNvSpPr txBox="1"/>
          <p:nvPr/>
        </p:nvSpPr>
        <p:spPr>
          <a:xfrm>
            <a:off x="173736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1 · weekly</a:t>
            </a:r>
          </a:p>
        </p:txBody>
      </p:sp>
      <p:sp>
        <p:nvSpPr>
          <p:cNvPr id="11" name="TextBox 10"/>
          <p:cNvSpPr txBox="1"/>
          <p:nvPr/>
        </p:nvSpPr>
        <p:spPr>
          <a:xfrm>
            <a:off x="429768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2 · monthly</a:t>
            </a:r>
          </a:p>
        </p:txBody>
      </p:sp>
      <p:sp>
        <p:nvSpPr>
          <p:cNvPr id="12" name="Rectangle 11"/>
          <p:cNvSpPr/>
          <p:nvPr/>
        </p:nvSpPr>
        <p:spPr>
          <a:xfrm>
            <a:off x="50292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Funnel</a:t>
            </a:r>
          </a:p>
        </p:txBody>
      </p:sp>
      <p:sp>
        <p:nvSpPr>
          <p:cNvPr id="14" name="Rectangle 13"/>
          <p:cNvSpPr/>
          <p:nvPr/>
        </p:nvSpPr>
        <p:spPr>
          <a:xfrm>
            <a:off x="502920" y="2212848"/>
            <a:ext cx="1066800"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06296"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06296"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Reviewing</a:t>
            </a:r>
          </a:p>
        </p:txBody>
      </p:sp>
      <p:sp>
        <p:nvSpPr>
          <p:cNvPr id="17" name="Rectangle 16"/>
          <p:cNvSpPr/>
          <p:nvPr/>
        </p:nvSpPr>
        <p:spPr>
          <a:xfrm>
            <a:off x="1606296"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09672"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09672"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Analyzing</a:t>
            </a:r>
          </a:p>
        </p:txBody>
      </p:sp>
      <p:sp>
        <p:nvSpPr>
          <p:cNvPr id="20" name="Rectangle 19"/>
          <p:cNvSpPr/>
          <p:nvPr/>
        </p:nvSpPr>
        <p:spPr>
          <a:xfrm>
            <a:off x="2709672"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13048"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13048"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Backlog</a:t>
            </a:r>
          </a:p>
        </p:txBody>
      </p:sp>
      <p:sp>
        <p:nvSpPr>
          <p:cNvPr id="23" name="Rectangle 22"/>
          <p:cNvSpPr/>
          <p:nvPr/>
        </p:nvSpPr>
        <p:spPr>
          <a:xfrm>
            <a:off x="3813048" y="2212848"/>
            <a:ext cx="1066800" cy="2907792"/>
          </a:xfrm>
          <a:prstGeom prst="rect">
            <a:avLst/>
          </a:prstGeom>
          <a:solidFill>
            <a:srgbClr val="6FC1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16424"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6424"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Implementing</a:t>
            </a:r>
          </a:p>
        </p:txBody>
      </p:sp>
      <p:sp>
        <p:nvSpPr>
          <p:cNvPr id="26" name="Rectangle 25"/>
          <p:cNvSpPr/>
          <p:nvPr/>
        </p:nvSpPr>
        <p:spPr>
          <a:xfrm>
            <a:off x="4916424" y="2212848"/>
            <a:ext cx="1066800"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1980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1980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Done</a:t>
            </a:r>
          </a:p>
        </p:txBody>
      </p:sp>
      <p:sp>
        <p:nvSpPr>
          <p:cNvPr id="29" name="Rectangle 28"/>
          <p:cNvSpPr/>
          <p:nvPr/>
        </p:nvSpPr>
        <p:spPr>
          <a:xfrm>
            <a:off x="6019800" y="2212848"/>
            <a:ext cx="1066800"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588008"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94760"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886200" y="2331720"/>
            <a:ext cx="920496"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22776" y="2377440"/>
            <a:ext cx="847344" cy="164592"/>
          </a:xfrm>
          <a:prstGeom prst="rect">
            <a:avLst/>
          </a:prstGeom>
          <a:noFill/>
        </p:spPr>
        <p:txBody>
          <a:bodyPr wrap="square" lIns="36000" rIns="36000" tIns="18000" bIns="18000" anchor="t">
            <a:spAutoFit/>
          </a:bodyPr>
          <a:lstStyle/>
          <a:p>
            <a:pPr algn="l"/>
            <a:r>
              <a:rPr sz="700" b="1" i="0">
                <a:solidFill>
                  <a:srgbClr val="6B778C"/>
                </a:solidFill>
                <a:latin typeface="Arial"/>
              </a:rPr>
              <a:t>L · Initiative</a:t>
            </a:r>
          </a:p>
        </p:txBody>
      </p:sp>
      <p:sp>
        <p:nvSpPr>
          <p:cNvPr id="34" name="TextBox 33"/>
          <p:cNvSpPr txBox="1"/>
          <p:nvPr/>
        </p:nvSpPr>
        <p:spPr>
          <a:xfrm>
            <a:off x="3922776" y="2532888"/>
            <a:ext cx="847344" cy="365760"/>
          </a:xfrm>
          <a:prstGeom prst="rect">
            <a:avLst/>
          </a:prstGeom>
          <a:noFill/>
        </p:spPr>
        <p:txBody>
          <a:bodyPr wrap="square" lIns="36000" rIns="36000" tIns="18000" bIns="18000" anchor="t">
            <a:spAutoFit/>
          </a:bodyPr>
          <a:lstStyle/>
          <a:p>
            <a:pPr algn="l"/>
            <a:r>
              <a:rPr sz="750" b="1" i="0">
                <a:solidFill>
                  <a:srgbClr val="2C3E50"/>
                </a:solidFill>
                <a:latin typeface="Arial"/>
              </a:rPr>
              <a:t>PUC tariff banner Q3</a:t>
            </a:r>
          </a:p>
        </p:txBody>
      </p:sp>
      <p:sp>
        <p:nvSpPr>
          <p:cNvPr id="35" name="Rounded Rectangle 34"/>
          <p:cNvSpPr/>
          <p:nvPr/>
        </p:nvSpPr>
        <p:spPr>
          <a:xfrm>
            <a:off x="3922776" y="2898648"/>
            <a:ext cx="640080" cy="164592"/>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22776"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Fixed-Date</a:t>
            </a:r>
          </a:p>
        </p:txBody>
      </p:sp>
      <p:sp>
        <p:nvSpPr>
          <p:cNvPr id="37" name="Rounded Rectangle 36"/>
          <p:cNvSpPr/>
          <p:nvPr/>
        </p:nvSpPr>
        <p:spPr>
          <a:xfrm>
            <a:off x="4376928" y="2377440"/>
            <a:ext cx="365760" cy="146304"/>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76928" y="2377440"/>
            <a:ext cx="365760" cy="146304"/>
          </a:xfrm>
          <a:prstGeom prst="rect">
            <a:avLst/>
          </a:prstGeom>
          <a:noFill/>
        </p:spPr>
        <p:txBody>
          <a:bodyPr wrap="square" lIns="36000" rIns="36000" tIns="18000" bIns="18000" anchor="ctr">
            <a:spAutoFit/>
          </a:bodyPr>
          <a:lstStyle/>
          <a:p>
            <a:pPr algn="ctr"/>
            <a:r>
              <a:rPr sz="600" b="1" i="0">
                <a:solidFill>
                  <a:srgbClr val="FFFFFF"/>
                </a:solidFill>
                <a:latin typeface="Arial"/>
              </a:rPr>
              <a:t>ITBA</a:t>
            </a:r>
          </a:p>
        </p:txBody>
      </p:sp>
      <p:sp>
        <p:nvSpPr>
          <p:cNvPr id="39" name="Rectangle 38"/>
          <p:cNvSpPr/>
          <p:nvPr/>
        </p:nvSpPr>
        <p:spPr>
          <a:xfrm>
            <a:off x="1606296" y="5212079"/>
            <a:ext cx="3273552"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606296" y="5212079"/>
            <a:ext cx="3273552" cy="256032"/>
          </a:xfrm>
          <a:prstGeom prst="rect">
            <a:avLst/>
          </a:prstGeom>
          <a:noFill/>
        </p:spPr>
        <p:txBody>
          <a:bodyPr wrap="square" lIns="36000" rIns="36000" tIns="18000" bIns="18000" anchor="ctr">
            <a:spAutoFit/>
          </a:bodyPr>
          <a:lstStyle/>
          <a:p>
            <a:pPr algn="ctr"/>
            <a:r>
              <a:rPr sz="800" b="1" i="0">
                <a:solidFill>
                  <a:srgbClr val="FFFFFF"/>
                </a:solidFill>
                <a:latin typeface="Arial"/>
              </a:rPr>
              <a:t>▲ PHASE 2 owns these 3 columns · Reviewing · Analyzing · Backlog (RFE)</a:t>
            </a:r>
          </a:p>
        </p:txBody>
      </p:sp>
      <p:sp>
        <p:nvSpPr>
          <p:cNvPr id="41" name="TextBox 40"/>
          <p:cNvSpPr txBox="1"/>
          <p:nvPr/>
        </p:nvSpPr>
        <p:spPr>
          <a:xfrm>
            <a:off x="502920" y="5532120"/>
            <a:ext cx="6583680" cy="182880"/>
          </a:xfrm>
          <a:prstGeom prst="rect">
            <a:avLst/>
          </a:prstGeom>
          <a:noFill/>
        </p:spPr>
        <p:txBody>
          <a:bodyPr wrap="square" lIns="36000" rIns="36000" tIns="18000" bIns="18000" anchor="t">
            <a:spAutoFit/>
          </a:bodyPr>
          <a:lstStyle/>
          <a:p>
            <a:pPr algn="l"/>
            <a:r>
              <a:rPr sz="800" b="0" i="1">
                <a:solidFill>
                  <a:srgbClr val="F08629"/>
                </a:solidFill>
                <a:latin typeface="Arial"/>
              </a:rPr>
              <a:t>Only S demands BYPASS this board (go directly to Team Kanban) · M / L flow through Gate 2 · XL → PPM Now</a:t>
            </a:r>
          </a:p>
        </p:txBody>
      </p:sp>
      <p:sp>
        <p:nvSpPr>
          <p:cNvPr id="42" name="Rounded Rectangle 41"/>
          <p:cNvSpPr/>
          <p:nvPr/>
        </p:nvSpPr>
        <p:spPr>
          <a:xfrm>
            <a:off x="7406640" y="1920240"/>
            <a:ext cx="1691640" cy="3200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06640" y="2057400"/>
            <a:ext cx="1691640" cy="274320"/>
          </a:xfrm>
          <a:prstGeom prst="rect">
            <a:avLst/>
          </a:prstGeom>
          <a:noFill/>
        </p:spPr>
        <p:txBody>
          <a:bodyPr wrap="square" lIns="36000" rIns="36000" tIns="18000" bIns="18000" anchor="t">
            <a:spAutoFit/>
          </a:bodyPr>
          <a:lstStyle/>
          <a:p>
            <a:pPr algn="ctr"/>
            <a:r>
              <a:rPr sz="1400" b="1" i="0">
                <a:solidFill>
                  <a:srgbClr val="FFFFFF"/>
                </a:solidFill>
                <a:latin typeface="Arial"/>
              </a:rPr>
              <a:t>DoR</a:t>
            </a:r>
          </a:p>
        </p:txBody>
      </p:sp>
      <p:sp>
        <p:nvSpPr>
          <p:cNvPr id="44" name="TextBox 43"/>
          <p:cNvSpPr txBox="1"/>
          <p:nvPr/>
        </p:nvSpPr>
        <p:spPr>
          <a:xfrm>
            <a:off x="7406640" y="2331720"/>
            <a:ext cx="1691640" cy="182880"/>
          </a:xfrm>
          <a:prstGeom prst="rect">
            <a:avLst/>
          </a:prstGeom>
          <a:noFill/>
        </p:spPr>
        <p:txBody>
          <a:bodyPr wrap="square" lIns="36000" rIns="36000" tIns="18000" bIns="18000" anchor="t">
            <a:spAutoFit/>
          </a:bodyPr>
          <a:lstStyle/>
          <a:p>
            <a:pPr algn="ctr"/>
            <a:r>
              <a:rPr sz="800" b="1" i="0">
                <a:solidFill>
                  <a:srgbClr val="6FC18F"/>
                </a:solidFill>
                <a:latin typeface="Arial"/>
              </a:rPr>
              <a:t>GATE  ·  6 criteria</a:t>
            </a:r>
          </a:p>
        </p:txBody>
      </p:sp>
      <p:sp>
        <p:nvSpPr>
          <p:cNvPr id="45" name="Oval 44"/>
          <p:cNvSpPr/>
          <p:nvPr/>
        </p:nvSpPr>
        <p:spPr>
          <a:xfrm>
            <a:off x="7498079" y="260604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8079" y="260604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7" name="TextBox 46"/>
          <p:cNvSpPr txBox="1"/>
          <p:nvPr/>
        </p:nvSpPr>
        <p:spPr>
          <a:xfrm>
            <a:off x="7726679" y="2606040"/>
            <a:ext cx="1325880" cy="182880"/>
          </a:xfrm>
          <a:prstGeom prst="rect">
            <a:avLst/>
          </a:prstGeom>
          <a:noFill/>
        </p:spPr>
        <p:txBody>
          <a:bodyPr wrap="square" lIns="36000" rIns="36000" tIns="18000" bIns="18000" anchor="ctr">
            <a:spAutoFit/>
          </a:bodyPr>
          <a:lstStyle/>
          <a:p>
            <a:pPr algn="l"/>
            <a:r>
              <a:rPr sz="800" b="1" i="0">
                <a:solidFill>
                  <a:srgbClr val="FFFFFF"/>
                </a:solidFill>
                <a:latin typeface="Arial"/>
              </a:rPr>
              <a:t>Outcome clear</a:t>
            </a:r>
          </a:p>
        </p:txBody>
      </p:sp>
      <p:sp>
        <p:nvSpPr>
          <p:cNvPr id="48" name="Oval 47"/>
          <p:cNvSpPr/>
          <p:nvPr/>
        </p:nvSpPr>
        <p:spPr>
          <a:xfrm>
            <a:off x="7498079" y="2990088"/>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98079" y="2990088"/>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0" name="TextBox 49"/>
          <p:cNvSpPr txBox="1"/>
          <p:nvPr/>
        </p:nvSpPr>
        <p:spPr>
          <a:xfrm>
            <a:off x="7726679" y="2990088"/>
            <a:ext cx="1325880" cy="182880"/>
          </a:xfrm>
          <a:prstGeom prst="rect">
            <a:avLst/>
          </a:prstGeom>
          <a:noFill/>
        </p:spPr>
        <p:txBody>
          <a:bodyPr wrap="square" lIns="36000" rIns="36000" tIns="18000" bIns="18000" anchor="ctr">
            <a:spAutoFit/>
          </a:bodyPr>
          <a:lstStyle/>
          <a:p>
            <a:pPr algn="l"/>
            <a:r>
              <a:rPr sz="800" b="1" i="0">
                <a:solidFill>
                  <a:srgbClr val="FFFFFF"/>
                </a:solidFill>
                <a:latin typeface="Arial"/>
              </a:rPr>
              <a:t>Sized</a:t>
            </a:r>
          </a:p>
        </p:txBody>
      </p:sp>
      <p:sp>
        <p:nvSpPr>
          <p:cNvPr id="51" name="Oval 50"/>
          <p:cNvSpPr/>
          <p:nvPr/>
        </p:nvSpPr>
        <p:spPr>
          <a:xfrm>
            <a:off x="7498079" y="3374136"/>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8079" y="3374136"/>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3" name="TextBox 52"/>
          <p:cNvSpPr txBox="1"/>
          <p:nvPr/>
        </p:nvSpPr>
        <p:spPr>
          <a:xfrm>
            <a:off x="7726679" y="3374136"/>
            <a:ext cx="1325880" cy="182880"/>
          </a:xfrm>
          <a:prstGeom prst="rect">
            <a:avLst/>
          </a:prstGeom>
          <a:noFill/>
        </p:spPr>
        <p:txBody>
          <a:bodyPr wrap="square" lIns="36000" rIns="36000" tIns="18000" bIns="18000" anchor="ctr">
            <a:spAutoFit/>
          </a:bodyPr>
          <a:lstStyle/>
          <a:p>
            <a:pPr algn="l"/>
            <a:r>
              <a:rPr sz="800" b="1" i="0">
                <a:solidFill>
                  <a:srgbClr val="FFFFFF"/>
                </a:solidFill>
                <a:latin typeface="Arial"/>
              </a:rPr>
              <a:t>Architecture reviewed</a:t>
            </a:r>
          </a:p>
        </p:txBody>
      </p:sp>
      <p:sp>
        <p:nvSpPr>
          <p:cNvPr id="54" name="Oval 53"/>
          <p:cNvSpPr/>
          <p:nvPr/>
        </p:nvSpPr>
        <p:spPr>
          <a:xfrm>
            <a:off x="7498079" y="3758184"/>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98079" y="3758184"/>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6" name="TextBox 55"/>
          <p:cNvSpPr txBox="1"/>
          <p:nvPr/>
        </p:nvSpPr>
        <p:spPr>
          <a:xfrm>
            <a:off x="7726679" y="3758184"/>
            <a:ext cx="1325880" cy="182880"/>
          </a:xfrm>
          <a:prstGeom prst="rect">
            <a:avLst/>
          </a:prstGeom>
          <a:noFill/>
        </p:spPr>
        <p:txBody>
          <a:bodyPr wrap="square" lIns="36000" rIns="36000" tIns="18000" bIns="18000" anchor="ctr">
            <a:spAutoFit/>
          </a:bodyPr>
          <a:lstStyle/>
          <a:p>
            <a:pPr algn="l"/>
            <a:r>
              <a:rPr sz="800" b="1" i="0">
                <a:solidFill>
                  <a:srgbClr val="FFFFFF"/>
                </a:solidFill>
                <a:latin typeface="Arial"/>
              </a:rPr>
              <a:t>Dependencies known</a:t>
            </a:r>
          </a:p>
        </p:txBody>
      </p:sp>
      <p:sp>
        <p:nvSpPr>
          <p:cNvPr id="57" name="Oval 56"/>
          <p:cNvSpPr/>
          <p:nvPr/>
        </p:nvSpPr>
        <p:spPr>
          <a:xfrm>
            <a:off x="7498079" y="4142232"/>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98079" y="4142232"/>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9" name="TextBox 58"/>
          <p:cNvSpPr txBox="1"/>
          <p:nvPr/>
        </p:nvSpPr>
        <p:spPr>
          <a:xfrm>
            <a:off x="7726679" y="4142232"/>
            <a:ext cx="1325880" cy="182880"/>
          </a:xfrm>
          <a:prstGeom prst="rect">
            <a:avLst/>
          </a:prstGeom>
          <a:noFill/>
        </p:spPr>
        <p:txBody>
          <a:bodyPr wrap="square" lIns="36000" rIns="36000" tIns="18000" bIns="18000" anchor="ctr">
            <a:spAutoFit/>
          </a:bodyPr>
          <a:lstStyle/>
          <a:p>
            <a:pPr algn="l"/>
            <a:r>
              <a:rPr sz="800" b="1" i="0">
                <a:solidFill>
                  <a:srgbClr val="FFFFFF"/>
                </a:solidFill>
                <a:latin typeface="Arial"/>
              </a:rPr>
              <a:t>Capacity reserved</a:t>
            </a:r>
          </a:p>
        </p:txBody>
      </p:sp>
      <p:sp>
        <p:nvSpPr>
          <p:cNvPr id="60" name="Oval 59"/>
          <p:cNvSpPr/>
          <p:nvPr/>
        </p:nvSpPr>
        <p:spPr>
          <a:xfrm>
            <a:off x="7498079" y="4526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98079" y="452628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62" name="TextBox 61"/>
          <p:cNvSpPr txBox="1"/>
          <p:nvPr/>
        </p:nvSpPr>
        <p:spPr>
          <a:xfrm>
            <a:off x="7726679" y="4526280"/>
            <a:ext cx="1325880" cy="182880"/>
          </a:xfrm>
          <a:prstGeom prst="rect">
            <a:avLst/>
          </a:prstGeom>
          <a:noFill/>
        </p:spPr>
        <p:txBody>
          <a:bodyPr wrap="square" lIns="36000" rIns="36000" tIns="18000" bIns="18000" anchor="ctr">
            <a:spAutoFit/>
          </a:bodyPr>
          <a:lstStyle/>
          <a:p>
            <a:pPr algn="l"/>
            <a:r>
              <a:rPr sz="800" b="1" i="0">
                <a:solidFill>
                  <a:srgbClr val="FFFFFF"/>
                </a:solidFill>
                <a:latin typeface="Arial"/>
              </a:rPr>
              <a:t>Acceptance criteria</a:t>
            </a:r>
          </a:p>
        </p:txBody>
      </p:sp>
      <p:sp>
        <p:nvSpPr>
          <p:cNvPr id="63" name="TextBox 62"/>
          <p:cNvSpPr txBox="1"/>
          <p:nvPr/>
        </p:nvSpPr>
        <p:spPr>
          <a:xfrm>
            <a:off x="7360919" y="4956048"/>
            <a:ext cx="1783080" cy="274320"/>
          </a:xfrm>
          <a:prstGeom prst="rect">
            <a:avLst/>
          </a:prstGeom>
          <a:noFill/>
        </p:spPr>
        <p:txBody>
          <a:bodyPr wrap="square" lIns="36000" rIns="36000" tIns="18000" bIns="18000" anchor="t">
            <a:spAutoFit/>
          </a:bodyPr>
          <a:lstStyle/>
          <a:p>
            <a:pPr algn="ctr"/>
            <a:r>
              <a:rPr sz="800" b="0" i="1">
                <a:solidFill>
                  <a:srgbClr val="006B3F"/>
                </a:solidFill>
                <a:latin typeface="Arial"/>
              </a:rPr>
              <a:t>Definition of Ready</a:t>
            </a:r>
          </a:p>
        </p:txBody>
      </p:sp>
      <p:sp>
        <p:nvSpPr>
          <p:cNvPr id="64" name="Rounded Rectangle 63"/>
          <p:cNvSpPr/>
          <p:nvPr/>
        </p:nvSpPr>
        <p:spPr>
          <a:xfrm>
            <a:off x="9281159" y="1188720"/>
            <a:ext cx="2542032"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281159" y="1188720"/>
            <a:ext cx="2542032" cy="384048"/>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18319" y="1243584"/>
            <a:ext cx="2267712" cy="274320"/>
          </a:xfrm>
          <a:prstGeom prst="rect">
            <a:avLst/>
          </a:prstGeom>
          <a:noFill/>
        </p:spPr>
        <p:txBody>
          <a:bodyPr wrap="square" lIns="36000" rIns="36000" tIns="18000" bIns="18000" anchor="t">
            <a:spAutoFit/>
          </a:bodyPr>
          <a:lstStyle/>
          <a:p>
            <a:pPr algn="l"/>
            <a:r>
              <a:rPr sz="1100" b="1" i="0">
                <a:solidFill>
                  <a:srgbClr val="FFFFFF"/>
                </a:solidFill>
                <a:latin typeface="Arial"/>
              </a:rPr>
              <a:t>TEAM KANBAN  ·  Squad-level  ·  S direct · M / L after Gate 2</a:t>
            </a:r>
          </a:p>
        </p:txBody>
      </p:sp>
      <p:sp>
        <p:nvSpPr>
          <p:cNvPr id="67" name="TextBox 66"/>
          <p:cNvSpPr txBox="1"/>
          <p:nvPr/>
        </p:nvSpPr>
        <p:spPr>
          <a:xfrm>
            <a:off x="9418319" y="1645920"/>
            <a:ext cx="2267712" cy="182880"/>
          </a:xfrm>
          <a:prstGeom prst="rect">
            <a:avLst/>
          </a:prstGeom>
          <a:noFill/>
        </p:spPr>
        <p:txBody>
          <a:bodyPr wrap="square" lIns="36000" rIns="36000" tIns="18000" bIns="18000" anchor="t">
            <a:spAutoFit/>
          </a:bodyPr>
          <a:lstStyle/>
          <a:p>
            <a:pPr algn="l"/>
            <a:r>
              <a:rPr sz="800" b="0" i="1">
                <a:solidFill>
                  <a:srgbClr val="526077"/>
                </a:solidFill>
                <a:latin typeface="Arial"/>
              </a:rPr>
              <a:t>Example · CS Billing Operations Squad</a:t>
            </a:r>
          </a:p>
        </p:txBody>
      </p:sp>
      <p:sp>
        <p:nvSpPr>
          <p:cNvPr id="68" name="Rectangle 67"/>
          <p:cNvSpPr/>
          <p:nvPr/>
        </p:nvSpPr>
        <p:spPr>
          <a:xfrm>
            <a:off x="9418319" y="1920240"/>
            <a:ext cx="53949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18319" y="1920240"/>
            <a:ext cx="539496" cy="292608"/>
          </a:xfrm>
          <a:prstGeom prst="rect">
            <a:avLst/>
          </a:prstGeom>
          <a:noFill/>
        </p:spPr>
        <p:txBody>
          <a:bodyPr wrap="square" lIns="36000" rIns="36000" tIns="18000" bIns="18000" anchor="ctr">
            <a:spAutoFit/>
          </a:bodyPr>
          <a:lstStyle/>
          <a:p>
            <a:pPr algn="ctr"/>
            <a:r>
              <a:rPr sz="750" b="1" i="0">
                <a:solidFill>
                  <a:srgbClr val="FFFFFF"/>
                </a:solidFill>
                <a:latin typeface="Arial"/>
              </a:rPr>
              <a:t>Backlog</a:t>
            </a:r>
          </a:p>
        </p:txBody>
      </p:sp>
      <p:sp>
        <p:nvSpPr>
          <p:cNvPr id="70" name="Rectangle 69"/>
          <p:cNvSpPr/>
          <p:nvPr/>
        </p:nvSpPr>
        <p:spPr>
          <a:xfrm>
            <a:off x="9418319" y="2212848"/>
            <a:ext cx="539496"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994392" y="1920240"/>
            <a:ext cx="53949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94392" y="1920240"/>
            <a:ext cx="539496" cy="292608"/>
          </a:xfrm>
          <a:prstGeom prst="rect">
            <a:avLst/>
          </a:prstGeom>
          <a:noFill/>
        </p:spPr>
        <p:txBody>
          <a:bodyPr wrap="square" lIns="36000" rIns="36000" tIns="18000" bIns="18000" anchor="ctr">
            <a:spAutoFit/>
          </a:bodyPr>
          <a:lstStyle/>
          <a:p>
            <a:pPr algn="ctr"/>
            <a:r>
              <a:rPr sz="750" b="1" i="0">
                <a:solidFill>
                  <a:srgbClr val="FFFFFF"/>
                </a:solidFill>
                <a:latin typeface="Arial"/>
              </a:rPr>
              <a:t>In Progress</a:t>
            </a:r>
          </a:p>
        </p:txBody>
      </p:sp>
      <p:sp>
        <p:nvSpPr>
          <p:cNvPr id="73" name="Rectangle 72"/>
          <p:cNvSpPr/>
          <p:nvPr/>
        </p:nvSpPr>
        <p:spPr>
          <a:xfrm>
            <a:off x="9994392" y="2212848"/>
            <a:ext cx="539496"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570464" y="1920240"/>
            <a:ext cx="53949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70464" y="1920240"/>
            <a:ext cx="539496" cy="292608"/>
          </a:xfrm>
          <a:prstGeom prst="rect">
            <a:avLst/>
          </a:prstGeom>
          <a:noFill/>
        </p:spPr>
        <p:txBody>
          <a:bodyPr wrap="square" lIns="36000" rIns="36000" tIns="18000" bIns="18000" anchor="ctr">
            <a:spAutoFit/>
          </a:bodyPr>
          <a:lstStyle/>
          <a:p>
            <a:pPr algn="ctr"/>
            <a:r>
              <a:rPr sz="750" b="1" i="0">
                <a:solidFill>
                  <a:srgbClr val="FFFFFF"/>
                </a:solidFill>
                <a:latin typeface="Arial"/>
              </a:rPr>
              <a:t>Review</a:t>
            </a:r>
          </a:p>
        </p:txBody>
      </p:sp>
      <p:sp>
        <p:nvSpPr>
          <p:cNvPr id="76" name="Rectangle 75"/>
          <p:cNvSpPr/>
          <p:nvPr/>
        </p:nvSpPr>
        <p:spPr>
          <a:xfrm>
            <a:off x="10570464" y="2212848"/>
            <a:ext cx="539496"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1146536" y="1920240"/>
            <a:ext cx="53949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146536" y="1920240"/>
            <a:ext cx="539496" cy="292608"/>
          </a:xfrm>
          <a:prstGeom prst="rect">
            <a:avLst/>
          </a:prstGeom>
          <a:noFill/>
        </p:spPr>
        <p:txBody>
          <a:bodyPr wrap="square" lIns="36000" rIns="36000" tIns="18000" bIns="18000" anchor="ctr">
            <a:spAutoFit/>
          </a:bodyPr>
          <a:lstStyle/>
          <a:p>
            <a:pPr algn="ctr"/>
            <a:r>
              <a:rPr sz="750" b="1" i="0">
                <a:solidFill>
                  <a:srgbClr val="FFFFFF"/>
                </a:solidFill>
                <a:latin typeface="Arial"/>
              </a:rPr>
              <a:t>Done</a:t>
            </a:r>
          </a:p>
        </p:txBody>
      </p:sp>
      <p:sp>
        <p:nvSpPr>
          <p:cNvPr id="79" name="Rectangle 78"/>
          <p:cNvSpPr/>
          <p:nvPr/>
        </p:nvSpPr>
        <p:spPr>
          <a:xfrm>
            <a:off x="11146536" y="2212848"/>
            <a:ext cx="539496"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9473184" y="2331720"/>
            <a:ext cx="429768"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509759" y="2368296"/>
            <a:ext cx="356616" cy="164592"/>
          </a:xfrm>
          <a:prstGeom prst="rect">
            <a:avLst/>
          </a:prstGeom>
          <a:noFill/>
        </p:spPr>
        <p:txBody>
          <a:bodyPr wrap="square" lIns="36000" rIns="36000" tIns="18000" bIns="18000" anchor="t">
            <a:spAutoFit/>
          </a:bodyPr>
          <a:lstStyle/>
          <a:p>
            <a:pPr algn="l"/>
            <a:r>
              <a:rPr sz="650" b="1" i="0">
                <a:solidFill>
                  <a:srgbClr val="6B778C"/>
                </a:solidFill>
                <a:latin typeface="Arial"/>
              </a:rPr>
              <a:t>S · Story</a:t>
            </a:r>
          </a:p>
        </p:txBody>
      </p:sp>
      <p:sp>
        <p:nvSpPr>
          <p:cNvPr id="82" name="TextBox 81"/>
          <p:cNvSpPr txBox="1"/>
          <p:nvPr/>
        </p:nvSpPr>
        <p:spPr>
          <a:xfrm>
            <a:off x="9509759" y="2514600"/>
            <a:ext cx="356616" cy="384048"/>
          </a:xfrm>
          <a:prstGeom prst="rect">
            <a:avLst/>
          </a:prstGeom>
          <a:noFill/>
        </p:spPr>
        <p:txBody>
          <a:bodyPr wrap="square" lIns="36000" rIns="36000" tIns="18000" bIns="18000" anchor="t">
            <a:spAutoFit/>
          </a:bodyPr>
          <a:lstStyle/>
          <a:p>
            <a:pPr algn="l"/>
            <a:r>
              <a:rPr sz="700" b="1" i="0">
                <a:solidFill>
                  <a:srgbClr val="2C3E50"/>
                </a:solidFill>
                <a:latin typeface="Arial"/>
              </a:rPr>
              <a:t>CRM page load &lt;2s</a:t>
            </a:r>
          </a:p>
        </p:txBody>
      </p:sp>
      <p:sp>
        <p:nvSpPr>
          <p:cNvPr id="83" name="Rounded Rectangle 82"/>
          <p:cNvSpPr/>
          <p:nvPr/>
        </p:nvSpPr>
        <p:spPr>
          <a:xfrm>
            <a:off x="9509759" y="2898648"/>
            <a:ext cx="640080" cy="164592"/>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509759"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Expedite</a:t>
            </a:r>
          </a:p>
        </p:txBody>
      </p:sp>
      <p:sp>
        <p:nvSpPr>
          <p:cNvPr id="85" name="Rounded Rectangle 84"/>
          <p:cNvSpPr/>
          <p:nvPr/>
        </p:nvSpPr>
        <p:spPr>
          <a:xfrm>
            <a:off x="9546336" y="2368296"/>
            <a:ext cx="274320" cy="146304"/>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546336" y="2368296"/>
            <a:ext cx="274320" cy="146304"/>
          </a:xfrm>
          <a:prstGeom prst="rect">
            <a:avLst/>
          </a:prstGeom>
          <a:noFill/>
        </p:spPr>
        <p:txBody>
          <a:bodyPr wrap="square" lIns="36000" rIns="36000" tIns="18000" bIns="18000" anchor="ctr">
            <a:spAutoFit/>
          </a:bodyPr>
          <a:lstStyle/>
          <a:p>
            <a:pPr algn="ctr"/>
            <a:r>
              <a:rPr sz="600" b="1" i="0">
                <a:solidFill>
                  <a:srgbClr val="FFFFFF"/>
                </a:solidFill>
                <a:latin typeface="Arial"/>
              </a:rPr>
              <a:t>CS</a:t>
            </a:r>
          </a:p>
        </p:txBody>
      </p:sp>
      <p:sp>
        <p:nvSpPr>
          <p:cNvPr id="87" name="TextBox 86"/>
          <p:cNvSpPr txBox="1"/>
          <p:nvPr/>
        </p:nvSpPr>
        <p:spPr>
          <a:xfrm>
            <a:off x="7360919" y="4663440"/>
            <a:ext cx="1783080" cy="274320"/>
          </a:xfrm>
          <a:prstGeom prst="rect">
            <a:avLst/>
          </a:prstGeom>
          <a:noFill/>
        </p:spPr>
        <p:txBody>
          <a:bodyPr wrap="square" lIns="36000" rIns="36000" tIns="18000" bIns="18000" anchor="t">
            <a:spAutoFit/>
          </a:bodyPr>
          <a:lstStyle/>
          <a:p>
            <a:pPr algn="ctr"/>
            <a:r>
              <a:rPr sz="1000" b="1" i="0">
                <a:solidFill>
                  <a:srgbClr val="006B3F"/>
                </a:solidFill>
                <a:latin typeface="Arial"/>
              </a:rPr>
              <a:t>→ pull</a:t>
            </a:r>
          </a:p>
        </p:txBody>
      </p:sp>
      <p:sp>
        <p:nvSpPr>
          <p:cNvPr id="88" name="Rounded Rectangle 87"/>
          <p:cNvSpPr/>
          <p:nvPr/>
        </p:nvSpPr>
        <p:spPr>
          <a:xfrm>
            <a:off x="365760" y="585216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365760" y="585216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48640" y="59070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91" name="TextBox 90"/>
          <p:cNvSpPr txBox="1"/>
          <p:nvPr/>
        </p:nvSpPr>
        <p:spPr>
          <a:xfrm>
            <a:off x="548640" y="60716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DoR (Definition of Ready) = 6-criteria checklist · the only gate Stories cross before Execution — Stories are pulled, not pushed.</a:t>
            </a:r>
          </a:p>
        </p:txBody>
      </p:sp>
      <p:sp>
        <p:nvSpPr>
          <p:cNvPr id="92" name="TextBox 91"/>
          <p:cNvSpPr txBox="1"/>
          <p:nvPr/>
        </p:nvSpPr>
        <p:spPr>
          <a:xfrm>
            <a:off x="548640" y="6355080"/>
            <a:ext cx="11201400" cy="-45719"/>
          </a:xfrm>
          <a:prstGeom prst="rect">
            <a:avLst/>
          </a:prstGeom>
          <a:noFill/>
        </p:spPr>
        <p:txBody>
          <a:bodyPr wrap="square" lIns="36000" rIns="36000" tIns="18000" bIns="18000" anchor="t">
            <a:spAutoFit/>
          </a:bodyPr>
          <a:lstStyle/>
          <a:p>
            <a:pPr algn="l"/>
            <a:r>
              <a:rPr sz="800" b="0" i="0">
                <a:solidFill>
                  <a:srgbClr val="526077"/>
                </a:solidFill>
                <a:latin typeface="Arial"/>
              </a:rPr>
              <a:t>PM (per Squad) checks DoR + WIP, then pulls when capacity allows · same flow for CS and ITBA · DoR detail covered later in the deck</a:t>
            </a:r>
          </a:p>
        </p:txBody>
      </p:sp>
      <p:sp>
        <p:nvSpPr>
          <p:cNvPr id="93" name="TextBox 92"/>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94" name="Rectangle 93"/>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96" name="Rectangle 95"/>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98" name="Rectangle 97"/>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00" name="Rectangle 99"/>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02" name="TextBox 101"/>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03 / 29</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SIX CAPABILITIES · THREE MUSCLES: DETAIL · SEQUENCE · CAPACITY — EVERY CAPABILITY LIVES INSIDE ONE OF THESE THREE GROUPS</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3703320" cy="6400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DETAIL  ·  detail muscle</a:t>
            </a:r>
          </a:p>
        </p:txBody>
      </p:sp>
      <p:sp>
        <p:nvSpPr>
          <p:cNvPr id="11" name="TextBox 10"/>
          <p:cNvSpPr txBox="1"/>
          <p:nvPr/>
        </p:nvSpPr>
        <p:spPr>
          <a:xfrm>
            <a:off x="5486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Turn vague demand into shippable stories</a:t>
            </a:r>
          </a:p>
        </p:txBody>
      </p:sp>
      <p:sp>
        <p:nvSpPr>
          <p:cNvPr id="12" name="Rounded Rectangle 11"/>
          <p:cNvSpPr/>
          <p:nvPr/>
        </p:nvSpPr>
        <p:spPr>
          <a:xfrm>
            <a:off x="502920" y="22860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2860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408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Refinement</a:t>
            </a:r>
          </a:p>
        </p:txBody>
      </p:sp>
      <p:sp>
        <p:nvSpPr>
          <p:cNvPr id="15" name="TextBox 14"/>
          <p:cNvSpPr txBox="1"/>
          <p:nvPr/>
        </p:nvSpPr>
        <p:spPr>
          <a:xfrm>
            <a:off x="30632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05</a:t>
            </a:r>
          </a:p>
        </p:txBody>
      </p:sp>
      <p:sp>
        <p:nvSpPr>
          <p:cNvPr id="16" name="TextBox 15"/>
          <p:cNvSpPr txBox="1"/>
          <p:nvPr/>
        </p:nvSpPr>
        <p:spPr>
          <a:xfrm>
            <a:off x="6400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S → Story · M → Epic · L → Initiative · Epics if &gt; 3 months</a:t>
            </a:r>
          </a:p>
        </p:txBody>
      </p:sp>
      <p:sp>
        <p:nvSpPr>
          <p:cNvPr id="17" name="TextBox 16"/>
          <p:cNvSpPr txBox="1"/>
          <p:nvPr/>
        </p:nvSpPr>
        <p:spPr>
          <a:xfrm>
            <a:off x="6400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outcome-named, not deliverable-named</a:t>
            </a:r>
          </a:p>
        </p:txBody>
      </p:sp>
      <p:sp>
        <p:nvSpPr>
          <p:cNvPr id="18" name="TextBox 17"/>
          <p:cNvSpPr txBox="1"/>
          <p:nvPr/>
        </p:nvSpPr>
        <p:spPr>
          <a:xfrm>
            <a:off x="640080" y="29626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(per Squad)</a:t>
            </a:r>
          </a:p>
        </p:txBody>
      </p:sp>
      <p:sp>
        <p:nvSpPr>
          <p:cNvPr id="19" name="Rounded Rectangle 18"/>
          <p:cNvSpPr/>
          <p:nvPr/>
        </p:nvSpPr>
        <p:spPr>
          <a:xfrm>
            <a:off x="502920" y="36576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6576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712463"/>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Estimation</a:t>
            </a:r>
          </a:p>
        </p:txBody>
      </p:sp>
      <p:sp>
        <p:nvSpPr>
          <p:cNvPr id="22" name="TextBox 21"/>
          <p:cNvSpPr txBox="1"/>
          <p:nvPr/>
        </p:nvSpPr>
        <p:spPr>
          <a:xfrm>
            <a:off x="30632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06</a:t>
            </a:r>
          </a:p>
        </p:txBody>
      </p:sp>
      <p:sp>
        <p:nvSpPr>
          <p:cNvPr id="23" name="TextBox 22"/>
          <p:cNvSpPr txBox="1"/>
          <p:nvPr/>
        </p:nvSpPr>
        <p:spPr>
          <a:xfrm>
            <a:off x="6400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T-shirt + Effort 1-5 + Pain Score</a:t>
            </a:r>
          </a:p>
        </p:txBody>
      </p:sp>
      <p:sp>
        <p:nvSpPr>
          <p:cNvPr id="24" name="TextBox 23"/>
          <p:cNvSpPr txBox="1"/>
          <p:nvPr/>
        </p:nvSpPr>
        <p:spPr>
          <a:xfrm>
            <a:off x="6400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CS uses 2 components · ITBA uses 3 (Safety isolated)</a:t>
            </a:r>
          </a:p>
        </p:txBody>
      </p:sp>
      <p:sp>
        <p:nvSpPr>
          <p:cNvPr id="25" name="TextBox 24"/>
          <p:cNvSpPr txBox="1"/>
          <p:nvPr/>
        </p:nvSpPr>
        <p:spPr>
          <a:xfrm>
            <a:off x="640080" y="43342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scores BV/UX · Architect scores Effort/Safety</a:t>
            </a:r>
          </a:p>
        </p:txBody>
      </p:sp>
      <p:sp>
        <p:nvSpPr>
          <p:cNvPr id="26" name="Rounded Rectangle 25"/>
          <p:cNvSpPr/>
          <p:nvPr/>
        </p:nvSpPr>
        <p:spPr>
          <a:xfrm>
            <a:off x="502920" y="50292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0292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0840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Grouping</a:t>
            </a:r>
          </a:p>
        </p:txBody>
      </p:sp>
      <p:sp>
        <p:nvSpPr>
          <p:cNvPr id="29" name="TextBox 28"/>
          <p:cNvSpPr txBox="1"/>
          <p:nvPr/>
        </p:nvSpPr>
        <p:spPr>
          <a:xfrm>
            <a:off x="30632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05</a:t>
            </a:r>
          </a:p>
        </p:txBody>
      </p:sp>
      <p:sp>
        <p:nvSpPr>
          <p:cNvPr id="30" name="TextBox 29"/>
          <p:cNvSpPr txBox="1"/>
          <p:nvPr/>
        </p:nvSpPr>
        <p:spPr>
          <a:xfrm>
            <a:off x="6400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Initiative · Epic · Story · Sub-task</a:t>
            </a:r>
          </a:p>
        </p:txBody>
      </p:sp>
      <p:sp>
        <p:nvSpPr>
          <p:cNvPr id="31" name="TextBox 30"/>
          <p:cNvSpPr txBox="1"/>
          <p:nvPr/>
        </p:nvSpPr>
        <p:spPr>
          <a:xfrm>
            <a:off x="6400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hierarchy mirrors the work breakdown</a:t>
            </a:r>
          </a:p>
        </p:txBody>
      </p:sp>
      <p:sp>
        <p:nvSpPr>
          <p:cNvPr id="32" name="TextBox 31"/>
          <p:cNvSpPr txBox="1"/>
          <p:nvPr/>
        </p:nvSpPr>
        <p:spPr>
          <a:xfrm>
            <a:off x="640080" y="57058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(per Squad)</a:t>
            </a:r>
          </a:p>
        </p:txBody>
      </p:sp>
      <p:sp>
        <p:nvSpPr>
          <p:cNvPr id="33" name="Rounded Rectangle 32"/>
          <p:cNvSpPr/>
          <p:nvPr/>
        </p:nvSpPr>
        <p:spPr>
          <a:xfrm>
            <a:off x="42519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51960" y="1508760"/>
            <a:ext cx="3703320" cy="6400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348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SEQUENCE  ·  sequence muscle</a:t>
            </a:r>
          </a:p>
        </p:txBody>
      </p:sp>
      <p:sp>
        <p:nvSpPr>
          <p:cNvPr id="36" name="TextBox 35"/>
          <p:cNvSpPr txBox="1"/>
          <p:nvPr/>
        </p:nvSpPr>
        <p:spPr>
          <a:xfrm>
            <a:off x="44348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Decide what gets built when — across CS and ITBA</a:t>
            </a:r>
          </a:p>
        </p:txBody>
      </p:sp>
      <p:sp>
        <p:nvSpPr>
          <p:cNvPr id="37" name="Rounded Rectangle 36"/>
          <p:cNvSpPr/>
          <p:nvPr/>
        </p:nvSpPr>
        <p:spPr>
          <a:xfrm>
            <a:off x="4389120" y="22860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89120" y="22860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6280" y="23408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Prioritization</a:t>
            </a:r>
          </a:p>
        </p:txBody>
      </p:sp>
      <p:sp>
        <p:nvSpPr>
          <p:cNvPr id="40" name="TextBox 39"/>
          <p:cNvSpPr txBox="1"/>
          <p:nvPr/>
        </p:nvSpPr>
        <p:spPr>
          <a:xfrm>
            <a:off x="69494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07</a:t>
            </a:r>
          </a:p>
        </p:txBody>
      </p:sp>
      <p:sp>
        <p:nvSpPr>
          <p:cNvPr id="41" name="TextBox 40"/>
          <p:cNvSpPr txBox="1"/>
          <p:nvPr/>
        </p:nvSpPr>
        <p:spPr>
          <a:xfrm>
            <a:off x="45262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2 overrides + Pain Score + CoS</a:t>
            </a:r>
          </a:p>
        </p:txBody>
      </p:sp>
      <p:sp>
        <p:nvSpPr>
          <p:cNvPr id="42" name="TextBox 41"/>
          <p:cNvSpPr txBox="1"/>
          <p:nvPr/>
        </p:nvSpPr>
        <p:spPr>
          <a:xfrm>
            <a:off x="45262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Type=Regulatory → Fixed-Date · severity event → Expedite</a:t>
            </a:r>
          </a:p>
        </p:txBody>
      </p:sp>
      <p:sp>
        <p:nvSpPr>
          <p:cNvPr id="43" name="TextBox 42"/>
          <p:cNvSpPr txBox="1"/>
          <p:nvPr/>
        </p:nvSpPr>
        <p:spPr>
          <a:xfrm>
            <a:off x="4526280" y="29626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Squad) proposes within-Squad rank · Director arbitrates cross-VS at Gate 2 · VP breaks ties</a:t>
            </a:r>
          </a:p>
        </p:txBody>
      </p:sp>
      <p:sp>
        <p:nvSpPr>
          <p:cNvPr id="44" name="Rounded Rectangle 43"/>
          <p:cNvSpPr/>
          <p:nvPr/>
        </p:nvSpPr>
        <p:spPr>
          <a:xfrm>
            <a:off x="4389120" y="36576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389120" y="36576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26280" y="3712463"/>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Portfolio backlog</a:t>
            </a:r>
          </a:p>
        </p:txBody>
      </p:sp>
      <p:sp>
        <p:nvSpPr>
          <p:cNvPr id="47" name="TextBox 46"/>
          <p:cNvSpPr txBox="1"/>
          <p:nvPr/>
        </p:nvSpPr>
        <p:spPr>
          <a:xfrm>
            <a:off x="69494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08</a:t>
            </a:r>
          </a:p>
        </p:txBody>
      </p:sp>
      <p:sp>
        <p:nvSpPr>
          <p:cNvPr id="48" name="TextBox 47"/>
          <p:cNvSpPr txBox="1"/>
          <p:nvPr/>
        </p:nvSpPr>
        <p:spPr>
          <a:xfrm>
            <a:off x="45262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Per-area ranked (CS · ITBA independent) · monthly</a:t>
            </a:r>
          </a:p>
        </p:txBody>
      </p:sp>
      <p:sp>
        <p:nvSpPr>
          <p:cNvPr id="49" name="TextBox 48"/>
          <p:cNvSpPr txBox="1"/>
          <p:nvPr/>
        </p:nvSpPr>
        <p:spPr>
          <a:xfrm>
            <a:off x="45262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Pain Score + CoS + capacity-available</a:t>
            </a:r>
          </a:p>
        </p:txBody>
      </p:sp>
      <p:sp>
        <p:nvSpPr>
          <p:cNvPr id="50" name="TextBox 49"/>
          <p:cNvSpPr txBox="1"/>
          <p:nvPr/>
        </p:nvSpPr>
        <p:spPr>
          <a:xfrm>
            <a:off x="4526280" y="43342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Squad) feeds rank · Director approves portfolio-level at Gate 2</a:t>
            </a:r>
          </a:p>
        </p:txBody>
      </p:sp>
      <p:sp>
        <p:nvSpPr>
          <p:cNvPr id="51" name="Rounded Rectangle 50"/>
          <p:cNvSpPr/>
          <p:nvPr/>
        </p:nvSpPr>
        <p:spPr>
          <a:xfrm>
            <a:off x="4389120" y="50292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389120" y="50292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26280" y="50840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Roadmap (rolling wave)</a:t>
            </a:r>
          </a:p>
        </p:txBody>
      </p:sp>
      <p:sp>
        <p:nvSpPr>
          <p:cNvPr id="54" name="TextBox 53"/>
          <p:cNvSpPr txBox="1"/>
          <p:nvPr/>
        </p:nvSpPr>
        <p:spPr>
          <a:xfrm>
            <a:off x="69494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09</a:t>
            </a:r>
          </a:p>
        </p:txBody>
      </p:sp>
      <p:sp>
        <p:nvSpPr>
          <p:cNvPr id="55" name="TextBox 54"/>
          <p:cNvSpPr txBox="1"/>
          <p:nvPr/>
        </p:nvSpPr>
        <p:spPr>
          <a:xfrm>
            <a:off x="45262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3 mo committed · 3-6 planned · 6-12 hypothesized</a:t>
            </a:r>
          </a:p>
        </p:txBody>
      </p:sp>
      <p:sp>
        <p:nvSpPr>
          <p:cNvPr id="56" name="TextBox 55"/>
          <p:cNvSpPr txBox="1"/>
          <p:nvPr/>
        </p:nvSpPr>
        <p:spPr>
          <a:xfrm>
            <a:off x="45262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commits and hypotheses NEVER mixed visually</a:t>
            </a:r>
          </a:p>
        </p:txBody>
      </p:sp>
      <p:sp>
        <p:nvSpPr>
          <p:cNvPr id="57" name="TextBox 56"/>
          <p:cNvSpPr txBox="1"/>
          <p:nvPr/>
        </p:nvSpPr>
        <p:spPr>
          <a:xfrm>
            <a:off x="4526280" y="57058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Squad) · re-balanced cross-VS at Gate 2 by Director trio</a:t>
            </a:r>
          </a:p>
        </p:txBody>
      </p:sp>
      <p:sp>
        <p:nvSpPr>
          <p:cNvPr id="58" name="Rounded Rectangle 57"/>
          <p:cNvSpPr/>
          <p:nvPr/>
        </p:nvSpPr>
        <p:spPr>
          <a:xfrm>
            <a:off x="81381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138160" y="1508760"/>
            <a:ext cx="3703320"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210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CAPACITY  ·  capacity muscle</a:t>
            </a:r>
          </a:p>
        </p:txBody>
      </p:sp>
      <p:sp>
        <p:nvSpPr>
          <p:cNvPr id="61" name="TextBox 60"/>
          <p:cNvSpPr txBox="1"/>
          <p:nvPr/>
        </p:nvSpPr>
        <p:spPr>
          <a:xfrm>
            <a:off x="83210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Match demand to available squad capacity — and react when reality bites</a:t>
            </a:r>
          </a:p>
        </p:txBody>
      </p:sp>
      <p:sp>
        <p:nvSpPr>
          <p:cNvPr id="62" name="Rounded Rectangle 61"/>
          <p:cNvSpPr/>
          <p:nvPr/>
        </p:nvSpPr>
        <p:spPr>
          <a:xfrm>
            <a:off x="8275320" y="22860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275320" y="22860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12480" y="23408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Capacity planning</a:t>
            </a:r>
          </a:p>
        </p:txBody>
      </p:sp>
      <p:sp>
        <p:nvSpPr>
          <p:cNvPr id="65" name="TextBox 64"/>
          <p:cNvSpPr txBox="1"/>
          <p:nvPr/>
        </p:nvSpPr>
        <p:spPr>
          <a:xfrm>
            <a:off x="108356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10</a:t>
            </a:r>
          </a:p>
        </p:txBody>
      </p:sp>
      <p:sp>
        <p:nvSpPr>
          <p:cNvPr id="66" name="TextBox 65"/>
          <p:cNvSpPr txBox="1"/>
          <p:nvPr/>
        </p:nvSpPr>
        <p:spPr>
          <a:xfrm>
            <a:off x="84124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 per CoS lane · per squad · per quarter</a:t>
            </a:r>
          </a:p>
        </p:txBody>
      </p:sp>
      <p:sp>
        <p:nvSpPr>
          <p:cNvPr id="67" name="TextBox 66"/>
          <p:cNvSpPr txBox="1"/>
          <p:nvPr/>
        </p:nvSpPr>
        <p:spPr>
          <a:xfrm>
            <a:off x="84124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decided MONTHLY at Gate 2 · day-to-day with middle managers</a:t>
            </a:r>
          </a:p>
        </p:txBody>
      </p:sp>
      <p:sp>
        <p:nvSpPr>
          <p:cNvPr id="68" name="TextBox 67"/>
          <p:cNvSpPr txBox="1"/>
          <p:nvPr/>
        </p:nvSpPr>
        <p:spPr>
          <a:xfrm>
            <a:off x="8412480" y="29626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Director (approves) + Middle managers (day-to-day)</a:t>
            </a:r>
          </a:p>
        </p:txBody>
      </p:sp>
      <p:sp>
        <p:nvSpPr>
          <p:cNvPr id="69" name="Rounded Rectangle 68"/>
          <p:cNvSpPr/>
          <p:nvPr/>
        </p:nvSpPr>
        <p:spPr>
          <a:xfrm>
            <a:off x="8275320" y="36576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75320" y="36576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12480" y="3712463"/>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Forecasting + alignment</a:t>
            </a:r>
          </a:p>
        </p:txBody>
      </p:sp>
      <p:sp>
        <p:nvSpPr>
          <p:cNvPr id="72" name="TextBox 71"/>
          <p:cNvSpPr txBox="1"/>
          <p:nvPr/>
        </p:nvSpPr>
        <p:spPr>
          <a:xfrm>
            <a:off x="108356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10</a:t>
            </a:r>
          </a:p>
        </p:txBody>
      </p:sp>
      <p:sp>
        <p:nvSpPr>
          <p:cNvPr id="73" name="TextBox 72"/>
          <p:cNvSpPr txBox="1"/>
          <p:nvPr/>
        </p:nvSpPr>
        <p:spPr>
          <a:xfrm>
            <a:off x="84124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Squad capacity (FTE × velocity) FIXED quarterly</a:t>
            </a:r>
          </a:p>
        </p:txBody>
      </p:sp>
      <p:sp>
        <p:nvSpPr>
          <p:cNvPr id="74" name="TextBox 73"/>
          <p:cNvSpPr txBox="1"/>
          <p:nvPr/>
        </p:nvSpPr>
        <p:spPr>
          <a:xfrm>
            <a:off x="84124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demand vs available capacity visible at Gate 2</a:t>
            </a:r>
          </a:p>
        </p:txBody>
      </p:sp>
      <p:sp>
        <p:nvSpPr>
          <p:cNvPr id="75" name="TextBox 74"/>
          <p:cNvSpPr txBox="1"/>
          <p:nvPr/>
        </p:nvSpPr>
        <p:spPr>
          <a:xfrm>
            <a:off x="8412480" y="43342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Middle managers maintain capacity reality · PM (per Squad) consumes within their lane</a:t>
            </a:r>
          </a:p>
        </p:txBody>
      </p:sp>
      <p:sp>
        <p:nvSpPr>
          <p:cNvPr id="76" name="Rounded Rectangle 75"/>
          <p:cNvSpPr/>
          <p:nvPr/>
        </p:nvSpPr>
        <p:spPr>
          <a:xfrm>
            <a:off x="8275320" y="50292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275320" y="50292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12480" y="50840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Work allocation + ad-hoc</a:t>
            </a:r>
          </a:p>
        </p:txBody>
      </p:sp>
      <p:sp>
        <p:nvSpPr>
          <p:cNvPr id="79" name="TextBox 78"/>
          <p:cNvSpPr txBox="1"/>
          <p:nvPr/>
        </p:nvSpPr>
        <p:spPr>
          <a:xfrm>
            <a:off x="108356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11</a:t>
            </a:r>
          </a:p>
        </p:txBody>
      </p:sp>
      <p:sp>
        <p:nvSpPr>
          <p:cNvPr id="80" name="TextBox 79"/>
          <p:cNvSpPr txBox="1"/>
          <p:nvPr/>
        </p:nvSpPr>
        <p:spPr>
          <a:xfrm>
            <a:off x="84124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Auto-Expedite (P1/P2) · scope-add · emergency</a:t>
            </a:r>
          </a:p>
        </p:txBody>
      </p:sp>
      <p:sp>
        <p:nvSpPr>
          <p:cNvPr id="81" name="TextBox 80"/>
          <p:cNvSpPr txBox="1"/>
          <p:nvPr/>
        </p:nvSpPr>
        <p:spPr>
          <a:xfrm>
            <a:off x="84124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3 channels for unplanned demand</a:t>
            </a:r>
          </a:p>
        </p:txBody>
      </p:sp>
      <p:sp>
        <p:nvSpPr>
          <p:cNvPr id="82" name="TextBox 81"/>
          <p:cNvSpPr txBox="1"/>
          <p:nvPr/>
        </p:nvSpPr>
        <p:spPr>
          <a:xfrm>
            <a:off x="8412480" y="57058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PM (per Squad) accepts within 48h</a:t>
            </a:r>
          </a:p>
        </p:txBody>
      </p:sp>
      <p:sp>
        <p:nvSpPr>
          <p:cNvPr id="83" name="TextBox 8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04 / 29</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REFINEMENT · OUTCOME-NAMED HIERARCHY: S → STORY · M → EPIC · L → INITIATIVE · INITIATIVE &gt; 3 MONTHS BREAKS INTO EPICS</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2286000"/>
            <a:ext cx="1691640" cy="566928"/>
          </a:xfrm>
          <a:prstGeom prst="roundRect">
            <a:avLst>
              <a:gd name="adj" fmla="val 6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322576"/>
            <a:ext cx="1691640" cy="201168"/>
          </a:xfrm>
          <a:prstGeom prst="rect">
            <a:avLst/>
          </a:prstGeom>
          <a:noFill/>
        </p:spPr>
        <p:txBody>
          <a:bodyPr wrap="square" lIns="36000" rIns="36000" tIns="18000" bIns="18000" anchor="t">
            <a:spAutoFit/>
          </a:bodyPr>
          <a:lstStyle/>
          <a:p>
            <a:pPr algn="ctr"/>
            <a:r>
              <a:rPr sz="1100" b="1" i="0">
                <a:solidFill>
                  <a:srgbClr val="FFFFFF"/>
                </a:solidFill>
                <a:latin typeface="Arial"/>
              </a:rPr>
              <a:t>DEMAND</a:t>
            </a:r>
          </a:p>
        </p:txBody>
      </p:sp>
      <p:sp>
        <p:nvSpPr>
          <p:cNvPr id="10" name="TextBox 9"/>
          <p:cNvSpPr txBox="1"/>
          <p:nvPr/>
        </p:nvSpPr>
        <p:spPr>
          <a:xfrm>
            <a:off x="365760" y="2532888"/>
            <a:ext cx="1691640" cy="164592"/>
          </a:xfrm>
          <a:prstGeom prst="rect">
            <a:avLst/>
          </a:prstGeom>
          <a:noFill/>
        </p:spPr>
        <p:txBody>
          <a:bodyPr wrap="square" lIns="36000" rIns="36000" tIns="18000" bIns="18000" anchor="t">
            <a:spAutoFit/>
          </a:bodyPr>
          <a:lstStyle/>
          <a:p>
            <a:pPr algn="ctr"/>
            <a:r>
              <a:rPr sz="800" b="0" i="1">
                <a:solidFill>
                  <a:srgbClr val="FFFFFF"/>
                </a:solidFill>
                <a:latin typeface="Arial"/>
              </a:rPr>
              <a:t>intake placeholder</a:t>
            </a:r>
          </a:p>
        </p:txBody>
      </p:sp>
      <p:sp>
        <p:nvSpPr>
          <p:cNvPr id="11" name="TextBox 10"/>
          <p:cNvSpPr txBox="1"/>
          <p:nvPr/>
        </p:nvSpPr>
        <p:spPr>
          <a:xfrm>
            <a:off x="365760" y="2697480"/>
            <a:ext cx="1691640" cy="164592"/>
          </a:xfrm>
          <a:prstGeom prst="rect">
            <a:avLst/>
          </a:prstGeom>
          <a:noFill/>
        </p:spPr>
        <p:txBody>
          <a:bodyPr wrap="square" lIns="36000" rIns="36000" tIns="18000" bIns="18000" anchor="t">
            <a:spAutoFit/>
          </a:bodyPr>
          <a:lstStyle/>
          <a:p>
            <a:pPr algn="ctr"/>
            <a:r>
              <a:rPr sz="700" b="1" i="0">
                <a:solidFill>
                  <a:srgbClr val="FFFFFF"/>
                </a:solidFill>
                <a:latin typeface="Arial"/>
              </a:rPr>
              <a:t>from Phase 1</a:t>
            </a:r>
          </a:p>
        </p:txBody>
      </p:sp>
      <p:sp>
        <p:nvSpPr>
          <p:cNvPr id="12" name="Rounded Rectangle 11"/>
          <p:cNvSpPr/>
          <p:nvPr/>
        </p:nvSpPr>
        <p:spPr>
          <a:xfrm>
            <a:off x="2194560" y="2286000"/>
            <a:ext cx="1783080" cy="566928"/>
          </a:xfrm>
          <a:prstGeom prst="roundRect">
            <a:avLst>
              <a:gd name="adj" fmla="val 6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2322576"/>
            <a:ext cx="1783080" cy="201168"/>
          </a:xfrm>
          <a:prstGeom prst="rect">
            <a:avLst/>
          </a:prstGeom>
          <a:noFill/>
        </p:spPr>
        <p:txBody>
          <a:bodyPr wrap="square" lIns="36000" rIns="36000" tIns="18000" bIns="18000" anchor="t">
            <a:spAutoFit/>
          </a:bodyPr>
          <a:lstStyle/>
          <a:p>
            <a:pPr algn="ctr"/>
            <a:r>
              <a:rPr sz="1100" b="1" i="0">
                <a:solidFill>
                  <a:srgbClr val="FFFFFF"/>
                </a:solidFill>
                <a:latin typeface="Arial"/>
              </a:rPr>
              <a:t>INITIATIVE</a:t>
            </a:r>
          </a:p>
        </p:txBody>
      </p:sp>
      <p:sp>
        <p:nvSpPr>
          <p:cNvPr id="14" name="TextBox 13"/>
          <p:cNvSpPr txBox="1"/>
          <p:nvPr/>
        </p:nvSpPr>
        <p:spPr>
          <a:xfrm>
            <a:off x="2194560" y="2532888"/>
            <a:ext cx="1783080" cy="164592"/>
          </a:xfrm>
          <a:prstGeom prst="rect">
            <a:avLst/>
          </a:prstGeom>
          <a:noFill/>
        </p:spPr>
        <p:txBody>
          <a:bodyPr wrap="square" lIns="36000" rIns="36000" tIns="18000" bIns="18000" anchor="t">
            <a:spAutoFit/>
          </a:bodyPr>
          <a:lstStyle/>
          <a:p>
            <a:pPr algn="ctr"/>
            <a:r>
              <a:rPr sz="800" b="0" i="1">
                <a:solidFill>
                  <a:srgbClr val="FFFFFF"/>
                </a:solidFill>
                <a:latin typeface="Arial"/>
              </a:rPr>
              <a:t>L size · default Initiative → Story</a:t>
            </a:r>
          </a:p>
        </p:txBody>
      </p:sp>
      <p:sp>
        <p:nvSpPr>
          <p:cNvPr id="15" name="TextBox 14"/>
          <p:cNvSpPr txBox="1"/>
          <p:nvPr/>
        </p:nvSpPr>
        <p:spPr>
          <a:xfrm>
            <a:off x="2194560" y="2697480"/>
            <a:ext cx="178308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sp>
        <p:nvSpPr>
          <p:cNvPr id="16" name="Rounded Rectangle 15"/>
          <p:cNvSpPr/>
          <p:nvPr/>
        </p:nvSpPr>
        <p:spPr>
          <a:xfrm>
            <a:off x="4114800" y="2286000"/>
            <a:ext cx="2331720" cy="566928"/>
          </a:xfrm>
          <a:prstGeom prst="roundRect">
            <a:avLst>
              <a:gd name="adj" fmla="val 6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2322576"/>
            <a:ext cx="2331720" cy="201168"/>
          </a:xfrm>
          <a:prstGeom prst="rect">
            <a:avLst/>
          </a:prstGeom>
          <a:noFill/>
        </p:spPr>
        <p:txBody>
          <a:bodyPr wrap="square" lIns="36000" rIns="36000" tIns="18000" bIns="18000" anchor="t">
            <a:spAutoFit/>
          </a:bodyPr>
          <a:lstStyle/>
          <a:p>
            <a:pPr algn="ctr"/>
            <a:r>
              <a:rPr sz="1100" b="1" i="0">
                <a:solidFill>
                  <a:srgbClr val="FFFFFF"/>
                </a:solidFill>
                <a:latin typeface="Arial"/>
              </a:rPr>
              <a:t>EPIC</a:t>
            </a:r>
          </a:p>
        </p:txBody>
      </p:sp>
      <p:sp>
        <p:nvSpPr>
          <p:cNvPr id="18" name="TextBox 17"/>
          <p:cNvSpPr txBox="1"/>
          <p:nvPr/>
        </p:nvSpPr>
        <p:spPr>
          <a:xfrm>
            <a:off x="4114800" y="2532888"/>
            <a:ext cx="2331720" cy="164592"/>
          </a:xfrm>
          <a:prstGeom prst="rect">
            <a:avLst/>
          </a:prstGeom>
          <a:noFill/>
        </p:spPr>
        <p:txBody>
          <a:bodyPr wrap="square" lIns="36000" rIns="36000" tIns="18000" bIns="18000" anchor="t">
            <a:spAutoFit/>
          </a:bodyPr>
          <a:lstStyle/>
          <a:p>
            <a:pPr algn="ctr"/>
            <a:r>
              <a:rPr sz="800" b="0" i="1">
                <a:solidFill>
                  <a:srgbClr val="FFFFFF"/>
                </a:solidFill>
                <a:latin typeface="Arial"/>
              </a:rPr>
              <a:t>M size · or Initiative &gt; 3 months</a:t>
            </a:r>
          </a:p>
        </p:txBody>
      </p:sp>
      <p:sp>
        <p:nvSpPr>
          <p:cNvPr id="19" name="TextBox 18"/>
          <p:cNvSpPr txBox="1"/>
          <p:nvPr/>
        </p:nvSpPr>
        <p:spPr>
          <a:xfrm>
            <a:off x="4114800" y="2697480"/>
            <a:ext cx="233172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cxnSp>
        <p:nvCxnSpPr>
          <p:cNvPr id="20" name="Connector 19"/>
          <p:cNvCxnSpPr/>
          <p:nvPr/>
        </p:nvCxnSpPr>
        <p:spPr>
          <a:xfrm>
            <a:off x="2057400" y="2569464"/>
            <a:ext cx="137160" cy="0"/>
          </a:xfrm>
          <a:prstGeom prst="line">
            <a:avLst/>
          </a:prstGeom>
          <a:ln w="25400">
            <a:solidFill>
              <a:srgbClr val="008C3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977639" y="2569464"/>
            <a:ext cx="137161" cy="0"/>
          </a:xfrm>
          <a:prstGeom prst="line">
            <a:avLst/>
          </a:prstGeom>
          <a:ln w="25400">
            <a:solidFill>
              <a:srgbClr val="1B3C6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675120" y="16002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16367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1</a:t>
            </a:r>
          </a:p>
        </p:txBody>
      </p:sp>
      <p:sp>
        <p:nvSpPr>
          <p:cNvPr id="24" name="TextBox 23"/>
          <p:cNvSpPr txBox="1"/>
          <p:nvPr/>
        </p:nvSpPr>
        <p:spPr>
          <a:xfrm>
            <a:off x="6675120" y="18470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25" name="TextBox 24"/>
          <p:cNvSpPr txBox="1"/>
          <p:nvPr/>
        </p:nvSpPr>
        <p:spPr>
          <a:xfrm>
            <a:off x="6675120" y="20116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26" name="Connector 25"/>
          <p:cNvCxnSpPr/>
          <p:nvPr/>
        </p:nvCxnSpPr>
        <p:spPr>
          <a:xfrm flipV="1">
            <a:off x="6446520" y="18836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675120" y="22860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23225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2</a:t>
            </a:r>
          </a:p>
        </p:txBody>
      </p:sp>
      <p:sp>
        <p:nvSpPr>
          <p:cNvPr id="29" name="TextBox 28"/>
          <p:cNvSpPr txBox="1"/>
          <p:nvPr/>
        </p:nvSpPr>
        <p:spPr>
          <a:xfrm>
            <a:off x="6675120" y="25328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30" name="TextBox 29"/>
          <p:cNvSpPr txBox="1"/>
          <p:nvPr/>
        </p:nvSpPr>
        <p:spPr>
          <a:xfrm>
            <a:off x="6675120" y="26974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31" name="Connector 30"/>
          <p:cNvCxnSpPr/>
          <p:nvPr/>
        </p:nvCxnSpPr>
        <p:spPr>
          <a:xfrm>
            <a:off x="6446520" y="2569464"/>
            <a:ext cx="228600" cy="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675120" y="29718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0" y="30083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3</a:t>
            </a:r>
          </a:p>
        </p:txBody>
      </p:sp>
      <p:sp>
        <p:nvSpPr>
          <p:cNvPr id="34" name="TextBox 33"/>
          <p:cNvSpPr txBox="1"/>
          <p:nvPr/>
        </p:nvSpPr>
        <p:spPr>
          <a:xfrm>
            <a:off x="6675120" y="32186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35" name="TextBox 34"/>
          <p:cNvSpPr txBox="1"/>
          <p:nvPr/>
        </p:nvSpPr>
        <p:spPr>
          <a:xfrm>
            <a:off x="6675120" y="33832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36" name="Connector 35"/>
          <p:cNvCxnSpPr/>
          <p:nvPr/>
        </p:nvCxnSpPr>
        <p:spPr>
          <a:xfrm>
            <a:off x="6446520" y="25694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601200" y="1600200"/>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0" y="1600200"/>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1</a:t>
            </a:r>
          </a:p>
        </p:txBody>
      </p:sp>
      <p:cxnSp>
        <p:nvCxnSpPr>
          <p:cNvPr id="39" name="Connector 38"/>
          <p:cNvCxnSpPr/>
          <p:nvPr/>
        </p:nvCxnSpPr>
        <p:spPr>
          <a:xfrm flipV="1">
            <a:off x="9189720" y="1764792"/>
            <a:ext cx="411480" cy="118872"/>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601200" y="1984248"/>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0" y="1984248"/>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2</a:t>
            </a:r>
          </a:p>
        </p:txBody>
      </p:sp>
      <p:cxnSp>
        <p:nvCxnSpPr>
          <p:cNvPr id="42" name="Connector 41"/>
          <p:cNvCxnSpPr/>
          <p:nvPr/>
        </p:nvCxnSpPr>
        <p:spPr>
          <a:xfrm>
            <a:off x="9189720" y="1883664"/>
            <a:ext cx="411480" cy="265176"/>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601200" y="23774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4" name="TextBox 43"/>
          <p:cNvSpPr txBox="1"/>
          <p:nvPr/>
        </p:nvSpPr>
        <p:spPr>
          <a:xfrm>
            <a:off x="9601200" y="30632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5" name="Rounded Rectangle 44"/>
          <p:cNvSpPr/>
          <p:nvPr/>
        </p:nvSpPr>
        <p:spPr>
          <a:xfrm>
            <a:off x="365760" y="3931920"/>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5760" y="3931920"/>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4005072"/>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INVEST  ·  what every Story must satisfy at the Story level (Squad PM verifies)</a:t>
            </a:r>
          </a:p>
        </p:txBody>
      </p:sp>
      <p:sp>
        <p:nvSpPr>
          <p:cNvPr id="48" name="Oval 47"/>
          <p:cNvSpPr/>
          <p:nvPr/>
        </p:nvSpPr>
        <p:spPr>
          <a:xfrm>
            <a:off x="12336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336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I</a:t>
            </a:r>
          </a:p>
        </p:txBody>
      </p:sp>
      <p:sp>
        <p:nvSpPr>
          <p:cNvPr id="50" name="TextBox 49"/>
          <p:cNvSpPr txBox="1"/>
          <p:nvPr/>
        </p:nvSpPr>
        <p:spPr>
          <a:xfrm>
            <a:off x="5029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Independent</a:t>
            </a:r>
          </a:p>
        </p:txBody>
      </p:sp>
      <p:sp>
        <p:nvSpPr>
          <p:cNvPr id="51" name="Oval 50"/>
          <p:cNvSpPr/>
          <p:nvPr/>
        </p:nvSpPr>
        <p:spPr>
          <a:xfrm>
            <a:off x="311581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1581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N</a:t>
            </a:r>
          </a:p>
        </p:txBody>
      </p:sp>
      <p:sp>
        <p:nvSpPr>
          <p:cNvPr id="53" name="TextBox 52"/>
          <p:cNvSpPr txBox="1"/>
          <p:nvPr/>
        </p:nvSpPr>
        <p:spPr>
          <a:xfrm>
            <a:off x="238506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Negotiable</a:t>
            </a:r>
          </a:p>
        </p:txBody>
      </p:sp>
      <p:sp>
        <p:nvSpPr>
          <p:cNvPr id="54" name="Oval 53"/>
          <p:cNvSpPr/>
          <p:nvPr/>
        </p:nvSpPr>
        <p:spPr>
          <a:xfrm>
            <a:off x="499795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99795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V</a:t>
            </a:r>
          </a:p>
        </p:txBody>
      </p:sp>
      <p:sp>
        <p:nvSpPr>
          <p:cNvPr id="56" name="TextBox 55"/>
          <p:cNvSpPr txBox="1"/>
          <p:nvPr/>
        </p:nvSpPr>
        <p:spPr>
          <a:xfrm>
            <a:off x="426719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Valuable</a:t>
            </a:r>
          </a:p>
        </p:txBody>
      </p:sp>
      <p:sp>
        <p:nvSpPr>
          <p:cNvPr id="57" name="Oval 56"/>
          <p:cNvSpPr/>
          <p:nvPr/>
        </p:nvSpPr>
        <p:spPr>
          <a:xfrm>
            <a:off x="6880097"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80097"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E</a:t>
            </a:r>
          </a:p>
        </p:txBody>
      </p:sp>
      <p:sp>
        <p:nvSpPr>
          <p:cNvPr id="59" name="TextBox 58"/>
          <p:cNvSpPr txBox="1"/>
          <p:nvPr/>
        </p:nvSpPr>
        <p:spPr>
          <a:xfrm>
            <a:off x="614933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Estimable</a:t>
            </a:r>
          </a:p>
        </p:txBody>
      </p:sp>
      <p:sp>
        <p:nvSpPr>
          <p:cNvPr id="60" name="Oval 59"/>
          <p:cNvSpPr/>
          <p:nvPr/>
        </p:nvSpPr>
        <p:spPr>
          <a:xfrm>
            <a:off x="876223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76223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S</a:t>
            </a:r>
          </a:p>
        </p:txBody>
      </p:sp>
      <p:sp>
        <p:nvSpPr>
          <p:cNvPr id="62" name="TextBox 61"/>
          <p:cNvSpPr txBox="1"/>
          <p:nvPr/>
        </p:nvSpPr>
        <p:spPr>
          <a:xfrm>
            <a:off x="803148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Small (≤5 SP)</a:t>
            </a:r>
          </a:p>
        </p:txBody>
      </p:sp>
      <p:sp>
        <p:nvSpPr>
          <p:cNvPr id="63" name="Oval 62"/>
          <p:cNvSpPr/>
          <p:nvPr/>
        </p:nvSpPr>
        <p:spPr>
          <a:xfrm>
            <a:off x="106443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6443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T</a:t>
            </a:r>
          </a:p>
        </p:txBody>
      </p:sp>
      <p:sp>
        <p:nvSpPr>
          <p:cNvPr id="65" name="TextBox 64"/>
          <p:cNvSpPr txBox="1"/>
          <p:nvPr/>
        </p:nvSpPr>
        <p:spPr>
          <a:xfrm>
            <a:off x="99136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Testable</a:t>
            </a:r>
          </a:p>
        </p:txBody>
      </p:sp>
      <p:sp>
        <p:nvSpPr>
          <p:cNvPr id="66" name="Rounded Rectangle 65"/>
          <p:cNvSpPr/>
          <p:nvPr/>
        </p:nvSpPr>
        <p:spPr>
          <a:xfrm>
            <a:off x="3657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65760" y="4983480"/>
            <a:ext cx="564642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29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CS  ·  outcomes named in customer language</a:t>
            </a:r>
          </a:p>
        </p:txBody>
      </p:sp>
      <p:sp>
        <p:nvSpPr>
          <p:cNvPr id="69" name="TextBox 68"/>
          <p:cNvSpPr txBox="1"/>
          <p:nvPr/>
        </p:nvSpPr>
        <p:spPr>
          <a:xfrm>
            <a:off x="5029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"reduce time-to-resolve by 30%"  ·  "NPS +5 points"  ·  "deflect 15% of inbound calls"</a:t>
            </a:r>
          </a:p>
        </p:txBody>
      </p:sp>
      <p:sp>
        <p:nvSpPr>
          <p:cNvPr id="70" name="TextBox 69"/>
          <p:cNvSpPr txBox="1"/>
          <p:nvPr/>
        </p:nvSpPr>
        <p:spPr>
          <a:xfrm>
            <a:off x="5029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"add CSV export feature"  ·  "build new dashboard"  ·  "upgrade Genesys to v9"</a:t>
            </a:r>
          </a:p>
        </p:txBody>
      </p:sp>
      <p:sp>
        <p:nvSpPr>
          <p:cNvPr id="71" name="Rounded Rectangle 70"/>
          <p:cNvSpPr/>
          <p:nvPr/>
        </p:nvSpPr>
        <p:spPr>
          <a:xfrm>
            <a:off x="61950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95060" y="4983480"/>
            <a:ext cx="5646420"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322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ITBA  ·  outcomes named in business language</a:t>
            </a:r>
          </a:p>
        </p:txBody>
      </p:sp>
      <p:sp>
        <p:nvSpPr>
          <p:cNvPr id="74" name="TextBox 73"/>
          <p:cNvSpPr txBox="1"/>
          <p:nvPr/>
        </p:nvSpPr>
        <p:spPr>
          <a:xfrm>
            <a:off x="63322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"close month-end 2 days faster"  ·  "audit pass without findings"  ·  "$2M cost avoided"</a:t>
            </a:r>
          </a:p>
        </p:txBody>
      </p:sp>
      <p:sp>
        <p:nvSpPr>
          <p:cNvPr id="75" name="TextBox 74"/>
          <p:cNvSpPr txBox="1"/>
          <p:nvPr/>
        </p:nvSpPr>
        <p:spPr>
          <a:xfrm>
            <a:off x="63322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"upgrade SAP module"  ·  "build new portal"  ·  "add audit field"</a:t>
            </a:r>
          </a:p>
        </p:txBody>
      </p:sp>
      <p:sp>
        <p:nvSpPr>
          <p:cNvPr id="76" name="TextBox 7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05 / 29</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PAIN SCORE · EFFORT FIRST, THEN FORMULA: STEP 1 ARCHITECT ESTIMATES EFFORT  ·  STEP 2 BV/UX/SAFETY SCORED  ·  STEP 3 PAIN SCORE AUTO-COMPUTES</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88720"/>
            <a:ext cx="56464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CS  ·  Pain Score formula</a:t>
            </a:r>
          </a:p>
        </p:txBody>
      </p:sp>
      <p:sp>
        <p:nvSpPr>
          <p:cNvPr id="11" name="TextBox 10"/>
          <p:cNvSpPr txBox="1"/>
          <p:nvPr/>
        </p:nvSpPr>
        <p:spPr>
          <a:xfrm>
            <a:off x="502920" y="1463040"/>
            <a:ext cx="5372100" cy="182880"/>
          </a:xfrm>
          <a:prstGeom prst="rect">
            <a:avLst/>
          </a:prstGeom>
          <a:noFill/>
        </p:spPr>
        <p:txBody>
          <a:bodyPr wrap="square" lIns="36000" rIns="36000" tIns="18000" bIns="18000" anchor="t">
            <a:spAutoFit/>
          </a:bodyPr>
          <a:lstStyle/>
          <a:p>
            <a:pPr algn="l"/>
            <a:r>
              <a:rPr sz="800" b="0" i="1">
                <a:solidFill>
                  <a:srgbClr val="F2F8F4"/>
                </a:solidFill>
                <a:latin typeface="Arial"/>
              </a:rPr>
              <a:t>finalized at Analyzing · auto-computed (Automation A4)</a:t>
            </a:r>
          </a:p>
        </p:txBody>
      </p:sp>
      <p:sp>
        <p:nvSpPr>
          <p:cNvPr id="12" name="Rounded Rectangle 11"/>
          <p:cNvSpPr/>
          <p:nvPr/>
        </p:nvSpPr>
        <p:spPr>
          <a:xfrm>
            <a:off x="548640" y="1828800"/>
            <a:ext cx="5280660" cy="91440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288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20240"/>
            <a:ext cx="5097780" cy="274320"/>
          </a:xfrm>
          <a:prstGeom prst="rect">
            <a:avLst/>
          </a:prstGeom>
          <a:noFill/>
        </p:spPr>
        <p:txBody>
          <a:bodyPr wrap="square" lIns="36000" rIns="36000" tIns="18000" bIns="18000" anchor="t">
            <a:spAutoFit/>
          </a:bodyPr>
          <a:lstStyle/>
          <a:p>
            <a:pPr algn="l"/>
            <a:r>
              <a:rPr sz="800" b="1" i="0">
                <a:solidFill>
                  <a:srgbClr val="006B3F"/>
                </a:solidFill>
                <a:latin typeface="Arial"/>
              </a:rPr>
              <a:t>FORMULA</a:t>
            </a:r>
          </a:p>
        </p:txBody>
      </p:sp>
      <p:sp>
        <p:nvSpPr>
          <p:cNvPr id="15" name="TextBox 14"/>
          <p:cNvSpPr txBox="1"/>
          <p:nvPr/>
        </p:nvSpPr>
        <p:spPr>
          <a:xfrm>
            <a:off x="7315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0.40 + UX · 0.60) / Effort</a:t>
            </a:r>
          </a:p>
        </p:txBody>
      </p:sp>
      <p:sp>
        <p:nvSpPr>
          <p:cNvPr id="16" name="Rounded Rectangle 15"/>
          <p:cNvSpPr/>
          <p:nvPr/>
        </p:nvSpPr>
        <p:spPr>
          <a:xfrm>
            <a:off x="5486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18" name="Rounded Rectangle 17"/>
          <p:cNvSpPr/>
          <p:nvPr/>
        </p:nvSpPr>
        <p:spPr>
          <a:xfrm>
            <a:off x="640080" y="3154679"/>
            <a:ext cx="1005840" cy="29260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40%</a:t>
            </a:r>
          </a:p>
        </p:txBody>
      </p:sp>
      <p:sp>
        <p:nvSpPr>
          <p:cNvPr id="20" name="Rounded Rectangle 19"/>
          <p:cNvSpPr/>
          <p:nvPr/>
        </p:nvSpPr>
        <p:spPr>
          <a:xfrm>
            <a:off x="1737360" y="3154679"/>
            <a:ext cx="1005840" cy="292608"/>
          </a:xfrm>
          <a:prstGeom prst="roundRect">
            <a:avLst>
              <a:gd name="adj" fmla="val 30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373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60%</a:t>
            </a:r>
          </a:p>
        </p:txBody>
      </p:sp>
      <p:sp>
        <p:nvSpPr>
          <p:cNvPr id="22" name="Rounded Rectangle 21"/>
          <p:cNvSpPr/>
          <p:nvPr/>
        </p:nvSpPr>
        <p:spPr>
          <a:xfrm>
            <a:off x="548640" y="3794760"/>
            <a:ext cx="5280660" cy="100584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867912"/>
            <a:ext cx="5097780" cy="182880"/>
          </a:xfrm>
          <a:prstGeom prst="rect">
            <a:avLst/>
          </a:prstGeom>
          <a:noFill/>
        </p:spPr>
        <p:txBody>
          <a:bodyPr wrap="square" lIns="36000" rIns="36000" tIns="18000" bIns="18000" anchor="t">
            <a:spAutoFit/>
          </a:bodyPr>
          <a:lstStyle/>
          <a:p>
            <a:pPr algn="l"/>
            <a:r>
              <a:rPr sz="800" b="1" i="0">
                <a:solidFill>
                  <a:srgbClr val="006B3F"/>
                </a:solidFill>
                <a:latin typeface="Arial"/>
              </a:rPr>
              <a:t>WHO SCORES WHAT  ·  1-5 scale defined by Architect</a:t>
            </a:r>
          </a:p>
        </p:txBody>
      </p:sp>
      <p:sp>
        <p:nvSpPr>
          <p:cNvPr id="24" name="TextBox 23"/>
          <p:cNvSpPr txBox="1"/>
          <p:nvPr/>
        </p:nvSpPr>
        <p:spPr>
          <a:xfrm>
            <a:off x="640080" y="4069080"/>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PM (per VS)</a:t>
            </a:r>
          </a:p>
        </p:txBody>
      </p:sp>
      <p:sp>
        <p:nvSpPr>
          <p:cNvPr id="25" name="TextBox 24"/>
          <p:cNvSpPr txBox="1"/>
          <p:nvPr/>
        </p:nvSpPr>
        <p:spPr>
          <a:xfrm>
            <a:off x="2697479"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26" name="TextBox 25"/>
          <p:cNvSpPr txBox="1"/>
          <p:nvPr/>
        </p:nvSpPr>
        <p:spPr>
          <a:xfrm>
            <a:off x="640080" y="4270248"/>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Architect</a:t>
            </a:r>
          </a:p>
        </p:txBody>
      </p:sp>
      <p:sp>
        <p:nvSpPr>
          <p:cNvPr id="27" name="TextBox 26"/>
          <p:cNvSpPr txBox="1"/>
          <p:nvPr/>
        </p:nvSpPr>
        <p:spPr>
          <a:xfrm>
            <a:off x="2697479"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(1-5) at Analyzing</a:t>
            </a:r>
          </a:p>
        </p:txBody>
      </p:sp>
      <p:sp>
        <p:nvSpPr>
          <p:cNvPr id="28" name="TextBox 27"/>
          <p:cNvSpPr txBox="1"/>
          <p:nvPr/>
        </p:nvSpPr>
        <p:spPr>
          <a:xfrm>
            <a:off x="640080" y="4471416"/>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OPCOmult auto</a:t>
            </a:r>
          </a:p>
        </p:txBody>
      </p:sp>
      <p:sp>
        <p:nvSpPr>
          <p:cNvPr id="29" name="TextBox 28"/>
          <p:cNvSpPr txBox="1"/>
          <p:nvPr/>
        </p:nvSpPr>
        <p:spPr>
          <a:xfrm>
            <a:off x="2697479"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30" name="Rounded Rectangle 29"/>
          <p:cNvSpPr/>
          <p:nvPr/>
        </p:nvSpPr>
        <p:spPr>
          <a:xfrm>
            <a:off x="5486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33" name="TextBox 32"/>
          <p:cNvSpPr txBox="1"/>
          <p:nvPr/>
        </p:nvSpPr>
        <p:spPr>
          <a:xfrm>
            <a:off x="6858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BV=4 · UX=5 · OPCOmult=1.3 · Effort=3</a:t>
            </a:r>
          </a:p>
        </p:txBody>
      </p:sp>
      <p:sp>
        <p:nvSpPr>
          <p:cNvPr id="34" name="TextBox 33"/>
          <p:cNvSpPr txBox="1"/>
          <p:nvPr/>
        </p:nvSpPr>
        <p:spPr>
          <a:xfrm>
            <a:off x="685800" y="5440680"/>
            <a:ext cx="5143500" cy="365760"/>
          </a:xfrm>
          <a:prstGeom prst="rect">
            <a:avLst/>
          </a:prstGeom>
          <a:noFill/>
        </p:spPr>
        <p:txBody>
          <a:bodyPr wrap="square" lIns="36000" rIns="36000" tIns="18000" bIns="18000" anchor="t">
            <a:spAutoFit/>
          </a:bodyPr>
          <a:lstStyle/>
          <a:p>
            <a:pPr algn="l"/>
            <a:r>
              <a:rPr sz="1000" b="1" i="0">
                <a:solidFill>
                  <a:srgbClr val="008C38"/>
                </a:solidFill>
                <a:latin typeface="Arial"/>
              </a:rPr>
              <a:t>Pain Score = (4 · 1.3 · 0.40 + 5 · 0.60) / 3 = 2.43</a:t>
            </a:r>
          </a:p>
        </p:txBody>
      </p:sp>
      <p:sp>
        <p:nvSpPr>
          <p:cNvPr id="35" name="Rounded Rectangle 34"/>
          <p:cNvSpPr/>
          <p:nvPr/>
        </p:nvSpPr>
        <p:spPr>
          <a:xfrm>
            <a:off x="61950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95060" y="1188720"/>
            <a:ext cx="56464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22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ITBA  ·  Pain Score formula</a:t>
            </a:r>
          </a:p>
        </p:txBody>
      </p:sp>
      <p:sp>
        <p:nvSpPr>
          <p:cNvPr id="38" name="TextBox 37"/>
          <p:cNvSpPr txBox="1"/>
          <p:nvPr/>
        </p:nvSpPr>
        <p:spPr>
          <a:xfrm>
            <a:off x="6332220" y="1463040"/>
            <a:ext cx="5372100" cy="182880"/>
          </a:xfrm>
          <a:prstGeom prst="rect">
            <a:avLst/>
          </a:prstGeom>
          <a:noFill/>
        </p:spPr>
        <p:txBody>
          <a:bodyPr wrap="square" lIns="36000" rIns="36000" tIns="18000" bIns="18000" anchor="t">
            <a:spAutoFit/>
          </a:bodyPr>
          <a:lstStyle/>
          <a:p>
            <a:pPr algn="l"/>
            <a:r>
              <a:rPr sz="800" b="0" i="1">
                <a:solidFill>
                  <a:srgbClr val="F6FAFD"/>
                </a:solidFill>
                <a:latin typeface="Arial"/>
              </a:rPr>
              <a:t>finalized at Analyzing · auto-computed (Automation A4)</a:t>
            </a:r>
          </a:p>
        </p:txBody>
      </p:sp>
      <p:sp>
        <p:nvSpPr>
          <p:cNvPr id="39" name="Rounded Rectangle 38"/>
          <p:cNvSpPr/>
          <p:nvPr/>
        </p:nvSpPr>
        <p:spPr>
          <a:xfrm>
            <a:off x="6377940" y="1828800"/>
            <a:ext cx="5280660" cy="91440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77940" y="18288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0820" y="1920240"/>
            <a:ext cx="5097780" cy="274320"/>
          </a:xfrm>
          <a:prstGeom prst="rect">
            <a:avLst/>
          </a:prstGeom>
          <a:noFill/>
        </p:spPr>
        <p:txBody>
          <a:bodyPr wrap="square" lIns="36000" rIns="36000" tIns="18000" bIns="18000" anchor="t">
            <a:spAutoFit/>
          </a:bodyPr>
          <a:lstStyle/>
          <a:p>
            <a:pPr algn="l"/>
            <a:r>
              <a:rPr sz="800" b="1" i="0">
                <a:solidFill>
                  <a:srgbClr val="1B3C66"/>
                </a:solidFill>
                <a:latin typeface="Arial"/>
              </a:rPr>
              <a:t>FORMULA</a:t>
            </a:r>
          </a:p>
        </p:txBody>
      </p:sp>
      <p:sp>
        <p:nvSpPr>
          <p:cNvPr id="42" name="TextBox 41"/>
          <p:cNvSpPr txBox="1"/>
          <p:nvPr/>
        </p:nvSpPr>
        <p:spPr>
          <a:xfrm>
            <a:off x="65608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w₁ + UX · w₂ + Safety · w₃) / Effort</a:t>
            </a:r>
          </a:p>
        </p:txBody>
      </p:sp>
      <p:sp>
        <p:nvSpPr>
          <p:cNvPr id="43" name="Rounded Rectangle 42"/>
          <p:cNvSpPr/>
          <p:nvPr/>
        </p:nvSpPr>
        <p:spPr>
          <a:xfrm>
            <a:off x="63779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693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45" name="Rounded Rectangle 44"/>
          <p:cNvSpPr/>
          <p:nvPr/>
        </p:nvSpPr>
        <p:spPr>
          <a:xfrm>
            <a:off x="6469380" y="3154679"/>
            <a:ext cx="1005840" cy="29260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693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w₁ 0.45</a:t>
            </a:r>
          </a:p>
        </p:txBody>
      </p:sp>
      <p:sp>
        <p:nvSpPr>
          <p:cNvPr id="47" name="Rounded Rectangle 46"/>
          <p:cNvSpPr/>
          <p:nvPr/>
        </p:nvSpPr>
        <p:spPr>
          <a:xfrm>
            <a:off x="7566660" y="3154679"/>
            <a:ext cx="1005840" cy="292608"/>
          </a:xfrm>
          <a:prstGeom prst="roundRect">
            <a:avLst>
              <a:gd name="adj" fmla="val 30000"/>
            </a:avLst>
          </a:prstGeom>
          <a:solidFill>
            <a:srgbClr val="7E9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666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w₂ 0.30</a:t>
            </a:r>
          </a:p>
        </p:txBody>
      </p:sp>
      <p:sp>
        <p:nvSpPr>
          <p:cNvPr id="49" name="Rounded Rectangle 48"/>
          <p:cNvSpPr/>
          <p:nvPr/>
        </p:nvSpPr>
        <p:spPr>
          <a:xfrm>
            <a:off x="8663940" y="3154679"/>
            <a:ext cx="1005840" cy="292608"/>
          </a:xfrm>
          <a:prstGeom prst="roundRect">
            <a:avLst>
              <a:gd name="adj" fmla="val 30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6394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Safety w₃ 0.25</a:t>
            </a:r>
          </a:p>
        </p:txBody>
      </p:sp>
      <p:sp>
        <p:nvSpPr>
          <p:cNvPr id="51" name="Rounded Rectangle 50"/>
          <p:cNvSpPr/>
          <p:nvPr/>
        </p:nvSpPr>
        <p:spPr>
          <a:xfrm>
            <a:off x="6377940" y="3794760"/>
            <a:ext cx="5280660" cy="100584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9380" y="3867912"/>
            <a:ext cx="5097780" cy="182880"/>
          </a:xfrm>
          <a:prstGeom prst="rect">
            <a:avLst/>
          </a:prstGeom>
          <a:noFill/>
        </p:spPr>
        <p:txBody>
          <a:bodyPr wrap="square" lIns="36000" rIns="36000" tIns="18000" bIns="18000" anchor="t">
            <a:spAutoFit/>
          </a:bodyPr>
          <a:lstStyle/>
          <a:p>
            <a:pPr algn="l"/>
            <a:r>
              <a:rPr sz="800" b="1" i="0">
                <a:solidFill>
                  <a:srgbClr val="1B3C66"/>
                </a:solidFill>
                <a:latin typeface="Arial"/>
              </a:rPr>
              <a:t>WHO SCORES WHAT  ·  1-5 scale defined by Architect</a:t>
            </a:r>
          </a:p>
        </p:txBody>
      </p:sp>
      <p:sp>
        <p:nvSpPr>
          <p:cNvPr id="53" name="TextBox 52"/>
          <p:cNvSpPr txBox="1"/>
          <p:nvPr/>
        </p:nvSpPr>
        <p:spPr>
          <a:xfrm>
            <a:off x="6469380" y="4069080"/>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PM (per VS)</a:t>
            </a:r>
          </a:p>
        </p:txBody>
      </p:sp>
      <p:sp>
        <p:nvSpPr>
          <p:cNvPr id="54" name="TextBox 53"/>
          <p:cNvSpPr txBox="1"/>
          <p:nvPr/>
        </p:nvSpPr>
        <p:spPr>
          <a:xfrm>
            <a:off x="8526780"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55" name="TextBox 54"/>
          <p:cNvSpPr txBox="1"/>
          <p:nvPr/>
        </p:nvSpPr>
        <p:spPr>
          <a:xfrm>
            <a:off x="6469380" y="4270248"/>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Architect</a:t>
            </a:r>
          </a:p>
        </p:txBody>
      </p:sp>
      <p:sp>
        <p:nvSpPr>
          <p:cNvPr id="56" name="TextBox 55"/>
          <p:cNvSpPr txBox="1"/>
          <p:nvPr/>
        </p:nvSpPr>
        <p:spPr>
          <a:xfrm>
            <a:off x="8526780"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 Safety (1-5) at Analyzing</a:t>
            </a:r>
          </a:p>
        </p:txBody>
      </p:sp>
      <p:sp>
        <p:nvSpPr>
          <p:cNvPr id="57" name="TextBox 56"/>
          <p:cNvSpPr txBox="1"/>
          <p:nvPr/>
        </p:nvSpPr>
        <p:spPr>
          <a:xfrm>
            <a:off x="6469380" y="4471416"/>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Safety isolated</a:t>
            </a:r>
          </a:p>
        </p:txBody>
      </p:sp>
      <p:sp>
        <p:nvSpPr>
          <p:cNvPr id="58" name="TextBox 57"/>
          <p:cNvSpPr txBox="1"/>
          <p:nvPr/>
        </p:nvSpPr>
        <p:spPr>
          <a:xfrm>
            <a:off x="8526780"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NOT buried in BV</a:t>
            </a:r>
          </a:p>
        </p:txBody>
      </p:sp>
      <p:sp>
        <p:nvSpPr>
          <p:cNvPr id="59" name="TextBox 58"/>
          <p:cNvSpPr txBox="1"/>
          <p:nvPr/>
        </p:nvSpPr>
        <p:spPr>
          <a:xfrm>
            <a:off x="6469380" y="4672583"/>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OPCOmult auto</a:t>
            </a:r>
          </a:p>
        </p:txBody>
      </p:sp>
      <p:sp>
        <p:nvSpPr>
          <p:cNvPr id="60" name="TextBox 59"/>
          <p:cNvSpPr txBox="1"/>
          <p:nvPr/>
        </p:nvSpPr>
        <p:spPr>
          <a:xfrm>
            <a:off x="8526780" y="4672583"/>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61" name="Rounded Rectangle 60"/>
          <p:cNvSpPr/>
          <p:nvPr/>
        </p:nvSpPr>
        <p:spPr>
          <a:xfrm>
            <a:off x="63779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3779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151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64" name="TextBox 63"/>
          <p:cNvSpPr txBox="1"/>
          <p:nvPr/>
        </p:nvSpPr>
        <p:spPr>
          <a:xfrm>
            <a:off x="65151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BV=5 · UX=3 · Safety=4 · OPCOmult=1.6 · Effort=4</a:t>
            </a:r>
          </a:p>
        </p:txBody>
      </p:sp>
      <p:sp>
        <p:nvSpPr>
          <p:cNvPr id="65" name="TextBox 64"/>
          <p:cNvSpPr txBox="1"/>
          <p:nvPr/>
        </p:nvSpPr>
        <p:spPr>
          <a:xfrm>
            <a:off x="6515100" y="5440680"/>
            <a:ext cx="5143500" cy="365760"/>
          </a:xfrm>
          <a:prstGeom prst="rect">
            <a:avLst/>
          </a:prstGeom>
          <a:noFill/>
        </p:spPr>
        <p:txBody>
          <a:bodyPr wrap="square" lIns="36000" rIns="36000" tIns="18000" bIns="18000" anchor="t">
            <a:spAutoFit/>
          </a:bodyPr>
          <a:lstStyle/>
          <a:p>
            <a:pPr algn="l"/>
            <a:r>
              <a:rPr sz="1000" b="1" i="0">
                <a:solidFill>
                  <a:srgbClr val="2C578B"/>
                </a:solidFill>
                <a:latin typeface="Arial"/>
              </a:rPr>
              <a:t>Pain Score = (5 · 1.6 · 0.45 + 3 · 0.30 + 4 · 0.25) / 4 = 1.38</a:t>
            </a:r>
          </a:p>
        </p:txBody>
      </p:sp>
      <p:sp>
        <p:nvSpPr>
          <p:cNvPr id="66" name="TextBox 6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06 / 29</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PRIORITIZATION IS LAYERED: TWO OVERRIDES PROTECT CRITICAL WORK · PAIN SCORE SEQUENCES THE REST · COS LANE CAPS IT</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54480"/>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54480"/>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48640" y="1719072"/>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19072"/>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1</a:t>
            </a:r>
          </a:p>
        </p:txBody>
      </p:sp>
      <p:sp>
        <p:nvSpPr>
          <p:cNvPr id="12" name="TextBox 11"/>
          <p:cNvSpPr txBox="1"/>
          <p:nvPr/>
        </p:nvSpPr>
        <p:spPr>
          <a:xfrm>
            <a:off x="1234440" y="1609344"/>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1  ·  TYPE = REGULATORY</a:t>
            </a:r>
          </a:p>
        </p:txBody>
      </p:sp>
      <p:sp>
        <p:nvSpPr>
          <p:cNvPr id="13" name="TextBox 12"/>
          <p:cNvSpPr txBox="1"/>
          <p:nvPr/>
        </p:nvSpPr>
        <p:spPr>
          <a:xfrm>
            <a:off x="1234440" y="182880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Type field set to Regulatory (at Reviewing)</a:t>
            </a:r>
          </a:p>
        </p:txBody>
      </p:sp>
      <p:sp>
        <p:nvSpPr>
          <p:cNvPr id="14" name="TextBox 13"/>
          <p:cNvSpPr txBox="1"/>
          <p:nvPr/>
        </p:nvSpPr>
        <p:spPr>
          <a:xfrm>
            <a:off x="1234440" y="201168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A3 sets CoS = Fixed-Date · deadline pinned · enters Fixed-Date lane</a:t>
            </a:r>
          </a:p>
        </p:txBody>
      </p:sp>
      <p:sp>
        <p:nvSpPr>
          <p:cNvPr id="15" name="TextBox 14"/>
          <p:cNvSpPr txBox="1"/>
          <p:nvPr/>
        </p:nvSpPr>
        <p:spPr>
          <a:xfrm>
            <a:off x="1234440" y="2194560"/>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first: regulatory deadlines are absolute · cannot be missed</a:t>
            </a:r>
          </a:p>
        </p:txBody>
      </p:sp>
      <p:sp>
        <p:nvSpPr>
          <p:cNvPr id="16" name="Rounded Rectangle 15"/>
          <p:cNvSpPr/>
          <p:nvPr/>
        </p:nvSpPr>
        <p:spPr>
          <a:xfrm>
            <a:off x="365760" y="2478024"/>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2478024"/>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8640" y="2642616"/>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42616"/>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2</a:t>
            </a:r>
          </a:p>
        </p:txBody>
      </p:sp>
      <p:sp>
        <p:nvSpPr>
          <p:cNvPr id="20" name="TextBox 19"/>
          <p:cNvSpPr txBox="1"/>
          <p:nvPr/>
        </p:nvSpPr>
        <p:spPr>
          <a:xfrm>
            <a:off x="1234440" y="2532888"/>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2  ·  SEVERITY · EMERGENCY</a:t>
            </a:r>
          </a:p>
        </p:txBody>
      </p:sp>
      <p:sp>
        <p:nvSpPr>
          <p:cNvPr id="21" name="TextBox 20"/>
          <p:cNvSpPr txBox="1"/>
          <p:nvPr/>
        </p:nvSpPr>
        <p:spPr>
          <a:xfrm>
            <a:off x="1234440" y="275234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Director declares severity event (production outage · safety · critical impact)</a:t>
            </a:r>
          </a:p>
        </p:txBody>
      </p:sp>
      <p:sp>
        <p:nvSpPr>
          <p:cNvPr id="22" name="TextBox 21"/>
          <p:cNvSpPr txBox="1"/>
          <p:nvPr/>
        </p:nvSpPr>
        <p:spPr>
          <a:xfrm>
            <a:off x="1234440" y="293522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Manual CoS = Expedite · WIP-1 lane · jumps the queue regardless of Pain Score</a:t>
            </a:r>
          </a:p>
        </p:txBody>
      </p:sp>
      <p:sp>
        <p:nvSpPr>
          <p:cNvPr id="23" name="TextBox 22"/>
          <p:cNvSpPr txBox="1"/>
          <p:nvPr/>
        </p:nvSpPr>
        <p:spPr>
          <a:xfrm>
            <a:off x="1234440" y="3118104"/>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second: severity events take precedence · audit logged</a:t>
            </a:r>
          </a:p>
        </p:txBody>
      </p:sp>
      <p:sp>
        <p:nvSpPr>
          <p:cNvPr id="24" name="Rounded Rectangle 23"/>
          <p:cNvSpPr/>
          <p:nvPr/>
        </p:nvSpPr>
        <p:spPr>
          <a:xfrm>
            <a:off x="365760" y="3401568"/>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401568"/>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8640" y="356616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566160"/>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3</a:t>
            </a:r>
          </a:p>
        </p:txBody>
      </p:sp>
      <p:sp>
        <p:nvSpPr>
          <p:cNvPr id="28" name="TextBox 27"/>
          <p:cNvSpPr txBox="1"/>
          <p:nvPr/>
        </p:nvSpPr>
        <p:spPr>
          <a:xfrm>
            <a:off x="1234440" y="3456432"/>
            <a:ext cx="10469880" cy="228600"/>
          </a:xfrm>
          <a:prstGeom prst="rect">
            <a:avLst/>
          </a:prstGeom>
          <a:noFill/>
        </p:spPr>
        <p:txBody>
          <a:bodyPr wrap="square" lIns="36000" rIns="36000" tIns="18000" bIns="18000" anchor="t">
            <a:spAutoFit/>
          </a:bodyPr>
          <a:lstStyle/>
          <a:p>
            <a:pPr algn="l"/>
            <a:r>
              <a:rPr sz="1100" b="1" i="0">
                <a:solidFill>
                  <a:srgbClr val="008C38"/>
                </a:solidFill>
                <a:latin typeface="Arial"/>
              </a:rPr>
              <a:t>PAIN SCORE  ·  numeric ranking</a:t>
            </a:r>
          </a:p>
        </p:txBody>
      </p:sp>
      <p:sp>
        <p:nvSpPr>
          <p:cNvPr id="29" name="TextBox 28"/>
          <p:cNvSpPr txBox="1"/>
          <p:nvPr/>
        </p:nvSpPr>
        <p:spPr>
          <a:xfrm>
            <a:off x="1234440" y="3675887"/>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Computed: A4 auto-computes when BV/UX/Effort/Safety populated </a:t>
            </a:r>
          </a:p>
        </p:txBody>
      </p:sp>
      <p:sp>
        <p:nvSpPr>
          <p:cNvPr id="30" name="TextBox 29"/>
          <p:cNvSpPr txBox="1"/>
          <p:nvPr/>
        </p:nvSpPr>
        <p:spPr>
          <a:xfrm>
            <a:off x="1234440" y="3858768"/>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CS = (BV·OPCOmult·0.40 + UX·0.60) / Effort  ·  ITBA = (BV·OPCOmult·0.45 + UX·0.30 + Safety·0.25) / Effort</a:t>
            </a:r>
          </a:p>
        </p:txBody>
      </p:sp>
      <p:sp>
        <p:nvSpPr>
          <p:cNvPr id="31" name="TextBox 30"/>
          <p:cNvSpPr txBox="1"/>
          <p:nvPr/>
        </p:nvSpPr>
        <p:spPr>
          <a:xfrm>
            <a:off x="1234440" y="4041648"/>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Higher score = higher pain = earlier sequence</a:t>
            </a:r>
          </a:p>
        </p:txBody>
      </p:sp>
      <p:sp>
        <p:nvSpPr>
          <p:cNvPr id="32" name="Rounded Rectangle 31"/>
          <p:cNvSpPr/>
          <p:nvPr/>
        </p:nvSpPr>
        <p:spPr>
          <a:xfrm>
            <a:off x="365760" y="4325112"/>
            <a:ext cx="11475720" cy="86868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 y="4325112"/>
            <a:ext cx="91440"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48640" y="4489704"/>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489704"/>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4</a:t>
            </a:r>
          </a:p>
        </p:txBody>
      </p:sp>
      <p:sp>
        <p:nvSpPr>
          <p:cNvPr id="36" name="TextBox 35"/>
          <p:cNvSpPr txBox="1"/>
          <p:nvPr/>
        </p:nvSpPr>
        <p:spPr>
          <a:xfrm>
            <a:off x="1234440" y="4379976"/>
            <a:ext cx="10469880" cy="228600"/>
          </a:xfrm>
          <a:prstGeom prst="rect">
            <a:avLst/>
          </a:prstGeom>
          <a:noFill/>
        </p:spPr>
        <p:txBody>
          <a:bodyPr wrap="square" lIns="36000" rIns="36000" tIns="18000" bIns="18000" anchor="t">
            <a:spAutoFit/>
          </a:bodyPr>
          <a:lstStyle/>
          <a:p>
            <a:pPr algn="l"/>
            <a:r>
              <a:rPr sz="1100" b="1" i="0">
                <a:solidFill>
                  <a:srgbClr val="2C578B"/>
                </a:solidFill>
                <a:latin typeface="Arial"/>
              </a:rPr>
              <a:t>CAPACITY FLOOR  ·  CoS lane availability</a:t>
            </a:r>
          </a:p>
        </p:txBody>
      </p:sp>
      <p:sp>
        <p:nvSpPr>
          <p:cNvPr id="37" name="TextBox 36"/>
          <p:cNvSpPr txBox="1"/>
          <p:nvPr/>
        </p:nvSpPr>
        <p:spPr>
          <a:xfrm>
            <a:off x="1234440" y="459943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Even with high Pain Score, item must fit inside CoS lane capacity %</a:t>
            </a:r>
          </a:p>
        </p:txBody>
      </p:sp>
      <p:sp>
        <p:nvSpPr>
          <p:cNvPr id="38" name="TextBox 37"/>
          <p:cNvSpPr txBox="1"/>
          <p:nvPr/>
        </p:nvSpPr>
        <p:spPr>
          <a:xfrm>
            <a:off x="1234440" y="478231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If lane at WIP cap → next-rank item picks up · waiting items re-evaluated next cycle</a:t>
            </a:r>
          </a:p>
        </p:txBody>
      </p:sp>
      <p:sp>
        <p:nvSpPr>
          <p:cNvPr id="39" name="TextBox 38"/>
          <p:cNvSpPr txBox="1"/>
          <p:nvPr/>
        </p:nvSpPr>
        <p:spPr>
          <a:xfrm>
            <a:off x="1234440" y="4965192"/>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Decided monthly at Gate 2 by Director + middle managers</a:t>
            </a:r>
          </a:p>
        </p:txBody>
      </p:sp>
      <p:sp>
        <p:nvSpPr>
          <p:cNvPr id="40" name="Rounded Rectangle 39"/>
          <p:cNvSpPr/>
          <p:nvPr/>
        </p:nvSpPr>
        <p:spPr>
          <a:xfrm>
            <a:off x="365760" y="5166360"/>
            <a:ext cx="11475720" cy="114300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5166360"/>
            <a:ext cx="91440" cy="1143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2212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43" name="TextBox 42"/>
          <p:cNvSpPr txBox="1"/>
          <p:nvPr/>
        </p:nvSpPr>
        <p:spPr>
          <a:xfrm>
            <a:off x="548640" y="53858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Two items with the same Pain Score? The override layer + capacity floor decide — never just the number.</a:t>
            </a:r>
          </a:p>
        </p:txBody>
      </p:sp>
      <p:sp>
        <p:nvSpPr>
          <p:cNvPr id="44" name="TextBox 43"/>
          <p:cNvSpPr txBox="1"/>
          <p:nvPr/>
        </p:nvSpPr>
        <p:spPr>
          <a:xfrm>
            <a:off x="548640" y="5669280"/>
            <a:ext cx="11201400" cy="594360"/>
          </a:xfrm>
          <a:prstGeom prst="rect">
            <a:avLst/>
          </a:prstGeom>
          <a:noFill/>
        </p:spPr>
        <p:txBody>
          <a:bodyPr wrap="square" lIns="36000" rIns="36000" tIns="18000" bIns="18000" anchor="t">
            <a:spAutoFit/>
          </a:bodyPr>
          <a:lstStyle/>
          <a:p>
            <a:pPr algn="l"/>
            <a:r>
              <a:rPr sz="800" b="0" i="0">
                <a:solidFill>
                  <a:srgbClr val="526077"/>
                </a:solidFill>
                <a:latin typeface="Arial"/>
              </a:rPr>
              <a:t>Example · Pain 2.4 each: "Regulatory tariff change (ITBA)" wins over "CRM perf optimization (CS)" because Type=Regulatory triggers Override 1 → Fixed-Date lane (deadline-bound). The CS item competes inside Standard lane on Pain Score alone.</a:t>
            </a:r>
          </a:p>
        </p:txBody>
      </p:sp>
      <p:sp>
        <p:nvSpPr>
          <p:cNvPr id="45" name="TextBox 4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07 / 29</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BACKLOG · INDEPENDENT PER AREA: CS AND ITBA ARE INDEPENDENT VALUE STREAMS · EACH RANKED SEPARATELY · SAME PAIN SCORE LOGIC, DIFFERENT FORMULA INPUTS</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463040"/>
            <a:ext cx="5669280" cy="4800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63040"/>
            <a:ext cx="566928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36192"/>
            <a:ext cx="5394960" cy="274320"/>
          </a:xfrm>
          <a:prstGeom prst="rect">
            <a:avLst/>
          </a:prstGeom>
          <a:noFill/>
        </p:spPr>
        <p:txBody>
          <a:bodyPr wrap="square" lIns="36000" rIns="36000" tIns="18000" bIns="18000" anchor="t">
            <a:spAutoFit/>
          </a:bodyPr>
          <a:lstStyle/>
          <a:p>
            <a:pPr algn="l"/>
            <a:r>
              <a:rPr sz="1100" b="1" i="0">
                <a:solidFill>
                  <a:srgbClr val="FFFFFF"/>
                </a:solidFill>
                <a:latin typeface="Arial"/>
              </a:rPr>
              <a:t>CS BACKLOG  ·  Customer Services  ·  Q3 snapshot</a:t>
            </a:r>
          </a:p>
        </p:txBody>
      </p:sp>
      <p:sp>
        <p:nvSpPr>
          <p:cNvPr id="11" name="TextBox 10"/>
          <p:cNvSpPr txBox="1"/>
          <p:nvPr/>
        </p:nvSpPr>
        <p:spPr>
          <a:xfrm>
            <a:off x="457200" y="1965960"/>
            <a:ext cx="457200" cy="182880"/>
          </a:xfrm>
          <a:prstGeom prst="rect">
            <a:avLst/>
          </a:prstGeom>
          <a:noFill/>
        </p:spPr>
        <p:txBody>
          <a:bodyPr wrap="square" lIns="36000" rIns="36000" tIns="18000" bIns="18000" anchor="t">
            <a:spAutoFit/>
          </a:bodyPr>
          <a:lstStyle/>
          <a:p>
            <a:pPr algn="l"/>
            <a:r>
              <a:rPr sz="700" b="1" i="0">
                <a:solidFill>
                  <a:srgbClr val="6B778C"/>
                </a:solidFill>
                <a:latin typeface="Arial"/>
              </a:rPr>
              <a:t>RANK</a:t>
            </a:r>
          </a:p>
        </p:txBody>
      </p:sp>
      <p:sp>
        <p:nvSpPr>
          <p:cNvPr id="12" name="TextBox 11"/>
          <p:cNvSpPr txBox="1"/>
          <p:nvPr/>
        </p:nvSpPr>
        <p:spPr>
          <a:xfrm>
            <a:off x="914400" y="1965960"/>
            <a:ext cx="2788920" cy="182880"/>
          </a:xfrm>
          <a:prstGeom prst="rect">
            <a:avLst/>
          </a:prstGeom>
          <a:noFill/>
        </p:spPr>
        <p:txBody>
          <a:bodyPr wrap="square" lIns="36000" rIns="36000" tIns="18000" bIns="18000" anchor="t">
            <a:spAutoFit/>
          </a:bodyPr>
          <a:lstStyle/>
          <a:p>
            <a:pPr algn="l"/>
            <a:r>
              <a:rPr sz="700" b="1" i="0">
                <a:solidFill>
                  <a:srgbClr val="6B778C"/>
                </a:solidFill>
                <a:latin typeface="Arial"/>
              </a:rPr>
              <a:t>DEMAND</a:t>
            </a:r>
          </a:p>
        </p:txBody>
      </p:sp>
      <p:sp>
        <p:nvSpPr>
          <p:cNvPr id="13" name="TextBox 12"/>
          <p:cNvSpPr txBox="1"/>
          <p:nvPr/>
        </p:nvSpPr>
        <p:spPr>
          <a:xfrm>
            <a:off x="3703320" y="1965960"/>
            <a:ext cx="594360" cy="182880"/>
          </a:xfrm>
          <a:prstGeom prst="rect">
            <a:avLst/>
          </a:prstGeom>
          <a:noFill/>
        </p:spPr>
        <p:txBody>
          <a:bodyPr wrap="square" lIns="36000" rIns="36000" tIns="18000" bIns="18000" anchor="t">
            <a:spAutoFit/>
          </a:bodyPr>
          <a:lstStyle/>
          <a:p>
            <a:pPr algn="l"/>
            <a:r>
              <a:rPr sz="700" b="1" i="0">
                <a:solidFill>
                  <a:srgbClr val="6B778C"/>
                </a:solidFill>
                <a:latin typeface="Arial"/>
              </a:rPr>
              <a:t>PAIN</a:t>
            </a:r>
          </a:p>
        </p:txBody>
      </p:sp>
      <p:sp>
        <p:nvSpPr>
          <p:cNvPr id="14" name="TextBox 13"/>
          <p:cNvSpPr txBox="1"/>
          <p:nvPr/>
        </p:nvSpPr>
        <p:spPr>
          <a:xfrm>
            <a:off x="4297680" y="1965960"/>
            <a:ext cx="914400" cy="182880"/>
          </a:xfrm>
          <a:prstGeom prst="rect">
            <a:avLst/>
          </a:prstGeom>
          <a:noFill/>
        </p:spPr>
        <p:txBody>
          <a:bodyPr wrap="square" lIns="36000" rIns="36000" tIns="18000" bIns="18000" anchor="t">
            <a:spAutoFit/>
          </a:bodyPr>
          <a:lstStyle/>
          <a:p>
            <a:pPr algn="l"/>
            <a:r>
              <a:rPr sz="700" b="1" i="0">
                <a:solidFill>
                  <a:srgbClr val="6B778C"/>
                </a:solidFill>
                <a:latin typeface="Arial"/>
              </a:rPr>
              <a:t>CoS</a:t>
            </a:r>
          </a:p>
        </p:txBody>
      </p:sp>
      <p:sp>
        <p:nvSpPr>
          <p:cNvPr id="15" name="TextBox 14"/>
          <p:cNvSpPr txBox="1"/>
          <p:nvPr/>
        </p:nvSpPr>
        <p:spPr>
          <a:xfrm>
            <a:off x="5212080" y="1965960"/>
            <a:ext cx="457200" cy="182880"/>
          </a:xfrm>
          <a:prstGeom prst="rect">
            <a:avLst/>
          </a:prstGeom>
          <a:noFill/>
        </p:spPr>
        <p:txBody>
          <a:bodyPr wrap="square" lIns="36000" rIns="36000" tIns="18000" bIns="18000" anchor="t">
            <a:spAutoFit/>
          </a:bodyPr>
          <a:lstStyle/>
          <a:p>
            <a:pPr algn="l"/>
            <a:r>
              <a:rPr sz="700" b="1" i="0">
                <a:solidFill>
                  <a:srgbClr val="6B778C"/>
                </a:solidFill>
                <a:latin typeface="Arial"/>
              </a:rPr>
              <a:t>SIZE</a:t>
            </a:r>
          </a:p>
        </p:txBody>
      </p:sp>
      <p:sp>
        <p:nvSpPr>
          <p:cNvPr id="16" name="Rectangle 15"/>
          <p:cNvSpPr/>
          <p:nvPr/>
        </p:nvSpPr>
        <p:spPr>
          <a:xfrm>
            <a:off x="457200" y="2167128"/>
            <a:ext cx="54864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340864"/>
            <a:ext cx="457200" cy="667512"/>
          </a:xfrm>
          <a:prstGeom prst="rect">
            <a:avLst/>
          </a:prstGeom>
          <a:noFill/>
        </p:spPr>
        <p:txBody>
          <a:bodyPr wrap="square" lIns="36000" rIns="36000" tIns="18000" bIns="18000" anchor="ctr">
            <a:spAutoFit/>
          </a:bodyPr>
          <a:lstStyle/>
          <a:p>
            <a:pPr algn="l"/>
            <a:r>
              <a:rPr sz="1100" b="1" i="0">
                <a:solidFill>
                  <a:srgbClr val="006B3F"/>
                </a:solidFill>
                <a:latin typeface="Arial"/>
              </a:rPr>
              <a:t>01</a:t>
            </a:r>
          </a:p>
        </p:txBody>
      </p:sp>
      <p:sp>
        <p:nvSpPr>
          <p:cNvPr id="18" name="TextBox 17"/>
          <p:cNvSpPr txBox="1"/>
          <p:nvPr/>
        </p:nvSpPr>
        <p:spPr>
          <a:xfrm>
            <a:off x="914400" y="2340864"/>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CRM page load &lt;2s on Genesys</a:t>
            </a:r>
          </a:p>
        </p:txBody>
      </p:sp>
      <p:sp>
        <p:nvSpPr>
          <p:cNvPr id="19" name="TextBox 18"/>
          <p:cNvSpPr txBox="1"/>
          <p:nvPr/>
        </p:nvSpPr>
        <p:spPr>
          <a:xfrm>
            <a:off x="3703320" y="2340864"/>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2.10</a:t>
            </a:r>
          </a:p>
        </p:txBody>
      </p:sp>
      <p:sp>
        <p:nvSpPr>
          <p:cNvPr id="20" name="Rounded Rectangle 19"/>
          <p:cNvSpPr/>
          <p:nvPr/>
        </p:nvSpPr>
        <p:spPr>
          <a:xfrm>
            <a:off x="4297680" y="2564892"/>
            <a:ext cx="868680" cy="18288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256489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Expedite</a:t>
            </a:r>
          </a:p>
        </p:txBody>
      </p:sp>
      <p:sp>
        <p:nvSpPr>
          <p:cNvPr id="22" name="Rounded Rectangle 21"/>
          <p:cNvSpPr/>
          <p:nvPr/>
        </p:nvSpPr>
        <p:spPr>
          <a:xfrm>
            <a:off x="5212080" y="2564892"/>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256489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24" name="Rectangle 23"/>
          <p:cNvSpPr/>
          <p:nvPr/>
        </p:nvSpPr>
        <p:spPr>
          <a:xfrm>
            <a:off x="457200" y="3044952"/>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099816"/>
            <a:ext cx="457200" cy="667512"/>
          </a:xfrm>
          <a:prstGeom prst="rect">
            <a:avLst/>
          </a:prstGeom>
          <a:noFill/>
        </p:spPr>
        <p:txBody>
          <a:bodyPr wrap="square" lIns="36000" rIns="36000" tIns="18000" bIns="18000" anchor="ctr">
            <a:spAutoFit/>
          </a:bodyPr>
          <a:lstStyle/>
          <a:p>
            <a:pPr algn="l"/>
            <a:r>
              <a:rPr sz="1100" b="1" i="0">
                <a:solidFill>
                  <a:srgbClr val="006B3F"/>
                </a:solidFill>
                <a:latin typeface="Arial"/>
              </a:rPr>
              <a:t>02</a:t>
            </a:r>
          </a:p>
        </p:txBody>
      </p:sp>
      <p:sp>
        <p:nvSpPr>
          <p:cNvPr id="26" name="TextBox 25"/>
          <p:cNvSpPr txBox="1"/>
          <p:nvPr/>
        </p:nvSpPr>
        <p:spPr>
          <a:xfrm>
            <a:off x="914400" y="3099816"/>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Reduce billing-correction cycle 14→5 d</a:t>
            </a:r>
          </a:p>
        </p:txBody>
      </p:sp>
      <p:sp>
        <p:nvSpPr>
          <p:cNvPr id="27" name="TextBox 26"/>
          <p:cNvSpPr txBox="1"/>
          <p:nvPr/>
        </p:nvSpPr>
        <p:spPr>
          <a:xfrm>
            <a:off x="3703320" y="3099816"/>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2.43</a:t>
            </a:r>
          </a:p>
        </p:txBody>
      </p:sp>
      <p:sp>
        <p:nvSpPr>
          <p:cNvPr id="28" name="Rounded Rectangle 27"/>
          <p:cNvSpPr/>
          <p:nvPr/>
        </p:nvSpPr>
        <p:spPr>
          <a:xfrm>
            <a:off x="4297680" y="3323844"/>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3323844"/>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30" name="Rounded Rectangle 29"/>
          <p:cNvSpPr/>
          <p:nvPr/>
        </p:nvSpPr>
        <p:spPr>
          <a:xfrm>
            <a:off x="5212080" y="3323844"/>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0" y="3323844"/>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32" name="TextBox 31"/>
          <p:cNvSpPr txBox="1"/>
          <p:nvPr/>
        </p:nvSpPr>
        <p:spPr>
          <a:xfrm>
            <a:off x="457200" y="3858768"/>
            <a:ext cx="457200" cy="667512"/>
          </a:xfrm>
          <a:prstGeom prst="rect">
            <a:avLst/>
          </a:prstGeom>
          <a:noFill/>
        </p:spPr>
        <p:txBody>
          <a:bodyPr wrap="square" lIns="36000" rIns="36000" tIns="18000" bIns="18000" anchor="ctr">
            <a:spAutoFit/>
          </a:bodyPr>
          <a:lstStyle/>
          <a:p>
            <a:pPr algn="l"/>
            <a:r>
              <a:rPr sz="1100" b="1" i="0">
                <a:solidFill>
                  <a:srgbClr val="006B3F"/>
                </a:solidFill>
                <a:latin typeface="Arial"/>
              </a:rPr>
              <a:t>03</a:t>
            </a:r>
          </a:p>
        </p:txBody>
      </p:sp>
      <p:sp>
        <p:nvSpPr>
          <p:cNvPr id="33" name="TextBox 32"/>
          <p:cNvSpPr txBox="1"/>
          <p:nvPr/>
        </p:nvSpPr>
        <p:spPr>
          <a:xfrm>
            <a:off x="914400" y="3858768"/>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Self-service password (multi-OPCO)</a:t>
            </a:r>
          </a:p>
        </p:txBody>
      </p:sp>
      <p:sp>
        <p:nvSpPr>
          <p:cNvPr id="34" name="TextBox 33"/>
          <p:cNvSpPr txBox="1"/>
          <p:nvPr/>
        </p:nvSpPr>
        <p:spPr>
          <a:xfrm>
            <a:off x="3703320" y="3858768"/>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35" name="Rounded Rectangle 34"/>
          <p:cNvSpPr/>
          <p:nvPr/>
        </p:nvSpPr>
        <p:spPr>
          <a:xfrm>
            <a:off x="4297680" y="4082796"/>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97680" y="408279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37" name="Rounded Rectangle 36"/>
          <p:cNvSpPr/>
          <p:nvPr/>
        </p:nvSpPr>
        <p:spPr>
          <a:xfrm>
            <a:off x="5212080" y="4082796"/>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0" y="408279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39" name="Rectangle 38"/>
          <p:cNvSpPr/>
          <p:nvPr/>
        </p:nvSpPr>
        <p:spPr>
          <a:xfrm>
            <a:off x="457200" y="4562856"/>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617720"/>
            <a:ext cx="457200" cy="667512"/>
          </a:xfrm>
          <a:prstGeom prst="rect">
            <a:avLst/>
          </a:prstGeom>
          <a:noFill/>
        </p:spPr>
        <p:txBody>
          <a:bodyPr wrap="square" lIns="36000" rIns="36000" tIns="18000" bIns="18000" anchor="ctr">
            <a:spAutoFit/>
          </a:bodyPr>
          <a:lstStyle/>
          <a:p>
            <a:pPr algn="l"/>
            <a:r>
              <a:rPr sz="1100" b="1" i="0">
                <a:solidFill>
                  <a:srgbClr val="006B3F"/>
                </a:solidFill>
                <a:latin typeface="Arial"/>
              </a:rPr>
              <a:t>04</a:t>
            </a:r>
          </a:p>
        </p:txBody>
      </p:sp>
      <p:sp>
        <p:nvSpPr>
          <p:cNvPr id="41" name="TextBox 40"/>
          <p:cNvSpPr txBox="1"/>
          <p:nvPr/>
        </p:nvSpPr>
        <p:spPr>
          <a:xfrm>
            <a:off x="914400" y="4617720"/>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GIS layer migration · scope-add</a:t>
            </a:r>
          </a:p>
        </p:txBody>
      </p:sp>
      <p:sp>
        <p:nvSpPr>
          <p:cNvPr id="42" name="TextBox 41"/>
          <p:cNvSpPr txBox="1"/>
          <p:nvPr/>
        </p:nvSpPr>
        <p:spPr>
          <a:xfrm>
            <a:off x="3703320" y="4617720"/>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1.80</a:t>
            </a:r>
          </a:p>
        </p:txBody>
      </p:sp>
      <p:sp>
        <p:nvSpPr>
          <p:cNvPr id="43" name="Rounded Rectangle 42"/>
          <p:cNvSpPr/>
          <p:nvPr/>
        </p:nvSpPr>
        <p:spPr>
          <a:xfrm>
            <a:off x="4297680" y="4841748"/>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97680" y="484174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45" name="Rounded Rectangle 44"/>
          <p:cNvSpPr/>
          <p:nvPr/>
        </p:nvSpPr>
        <p:spPr>
          <a:xfrm>
            <a:off x="5212080" y="4841748"/>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12080" y="484174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47" name="TextBox 46"/>
          <p:cNvSpPr txBox="1"/>
          <p:nvPr/>
        </p:nvSpPr>
        <p:spPr>
          <a:xfrm>
            <a:off x="457200" y="5376672"/>
            <a:ext cx="457200" cy="667512"/>
          </a:xfrm>
          <a:prstGeom prst="rect">
            <a:avLst/>
          </a:prstGeom>
          <a:noFill/>
        </p:spPr>
        <p:txBody>
          <a:bodyPr wrap="square" lIns="36000" rIns="36000" tIns="18000" bIns="18000" anchor="ctr">
            <a:spAutoFit/>
          </a:bodyPr>
          <a:lstStyle/>
          <a:p>
            <a:pPr algn="l"/>
            <a:r>
              <a:rPr sz="1100" b="1" i="0">
                <a:solidFill>
                  <a:srgbClr val="006B3F"/>
                </a:solidFill>
                <a:latin typeface="Arial"/>
              </a:rPr>
              <a:t>05</a:t>
            </a:r>
          </a:p>
        </p:txBody>
      </p:sp>
      <p:sp>
        <p:nvSpPr>
          <p:cNvPr id="48" name="TextBox 47"/>
          <p:cNvSpPr txBox="1"/>
          <p:nvPr/>
        </p:nvSpPr>
        <p:spPr>
          <a:xfrm>
            <a:off x="914400" y="5376672"/>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Smart Meter analytics platform</a:t>
            </a:r>
          </a:p>
        </p:txBody>
      </p:sp>
      <p:sp>
        <p:nvSpPr>
          <p:cNvPr id="49" name="TextBox 48"/>
          <p:cNvSpPr txBox="1"/>
          <p:nvPr/>
        </p:nvSpPr>
        <p:spPr>
          <a:xfrm>
            <a:off x="3703320" y="5376672"/>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1.55</a:t>
            </a:r>
          </a:p>
        </p:txBody>
      </p:sp>
      <p:sp>
        <p:nvSpPr>
          <p:cNvPr id="50" name="Rounded Rectangle 49"/>
          <p:cNvSpPr/>
          <p:nvPr/>
        </p:nvSpPr>
        <p:spPr>
          <a:xfrm>
            <a:off x="4297680" y="5600700"/>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97680" y="560070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52" name="Rounded Rectangle 51"/>
          <p:cNvSpPr/>
          <p:nvPr/>
        </p:nvSpPr>
        <p:spPr>
          <a:xfrm>
            <a:off x="5212080" y="5600700"/>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212080" y="560070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54" name="Rounded Rectangle 53"/>
          <p:cNvSpPr/>
          <p:nvPr/>
        </p:nvSpPr>
        <p:spPr>
          <a:xfrm>
            <a:off x="6217920" y="1463040"/>
            <a:ext cx="5669280" cy="4800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1463040"/>
            <a:ext cx="5669280"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55080" y="1536192"/>
            <a:ext cx="5394960" cy="274320"/>
          </a:xfrm>
          <a:prstGeom prst="rect">
            <a:avLst/>
          </a:prstGeom>
          <a:noFill/>
        </p:spPr>
        <p:txBody>
          <a:bodyPr wrap="square" lIns="36000" rIns="36000" tIns="18000" bIns="18000" anchor="t">
            <a:spAutoFit/>
          </a:bodyPr>
          <a:lstStyle/>
          <a:p>
            <a:pPr algn="l"/>
            <a:r>
              <a:rPr sz="1100" b="1" i="0">
                <a:solidFill>
                  <a:srgbClr val="FFFFFF"/>
                </a:solidFill>
                <a:latin typeface="Arial"/>
              </a:rPr>
              <a:t>ITBA BACKLOG  ·  IT Business Apps  ·  Q3 snapshot</a:t>
            </a:r>
          </a:p>
        </p:txBody>
      </p:sp>
      <p:sp>
        <p:nvSpPr>
          <p:cNvPr id="57" name="TextBox 56"/>
          <p:cNvSpPr txBox="1"/>
          <p:nvPr/>
        </p:nvSpPr>
        <p:spPr>
          <a:xfrm>
            <a:off x="6309360" y="1965960"/>
            <a:ext cx="457200" cy="182880"/>
          </a:xfrm>
          <a:prstGeom prst="rect">
            <a:avLst/>
          </a:prstGeom>
          <a:noFill/>
        </p:spPr>
        <p:txBody>
          <a:bodyPr wrap="square" lIns="36000" rIns="36000" tIns="18000" bIns="18000" anchor="t">
            <a:spAutoFit/>
          </a:bodyPr>
          <a:lstStyle/>
          <a:p>
            <a:pPr algn="l"/>
            <a:r>
              <a:rPr sz="700" b="1" i="0">
                <a:solidFill>
                  <a:srgbClr val="6B778C"/>
                </a:solidFill>
                <a:latin typeface="Arial"/>
              </a:rPr>
              <a:t>RANK</a:t>
            </a:r>
          </a:p>
        </p:txBody>
      </p:sp>
      <p:sp>
        <p:nvSpPr>
          <p:cNvPr id="58" name="TextBox 57"/>
          <p:cNvSpPr txBox="1"/>
          <p:nvPr/>
        </p:nvSpPr>
        <p:spPr>
          <a:xfrm>
            <a:off x="6766560" y="1965960"/>
            <a:ext cx="2788920" cy="182880"/>
          </a:xfrm>
          <a:prstGeom prst="rect">
            <a:avLst/>
          </a:prstGeom>
          <a:noFill/>
        </p:spPr>
        <p:txBody>
          <a:bodyPr wrap="square" lIns="36000" rIns="36000" tIns="18000" bIns="18000" anchor="t">
            <a:spAutoFit/>
          </a:bodyPr>
          <a:lstStyle/>
          <a:p>
            <a:pPr algn="l"/>
            <a:r>
              <a:rPr sz="700" b="1" i="0">
                <a:solidFill>
                  <a:srgbClr val="6B778C"/>
                </a:solidFill>
                <a:latin typeface="Arial"/>
              </a:rPr>
              <a:t>DEMAND</a:t>
            </a:r>
          </a:p>
        </p:txBody>
      </p:sp>
      <p:sp>
        <p:nvSpPr>
          <p:cNvPr id="59" name="TextBox 58"/>
          <p:cNvSpPr txBox="1"/>
          <p:nvPr/>
        </p:nvSpPr>
        <p:spPr>
          <a:xfrm>
            <a:off x="9555480" y="1965960"/>
            <a:ext cx="594360" cy="182880"/>
          </a:xfrm>
          <a:prstGeom prst="rect">
            <a:avLst/>
          </a:prstGeom>
          <a:noFill/>
        </p:spPr>
        <p:txBody>
          <a:bodyPr wrap="square" lIns="36000" rIns="36000" tIns="18000" bIns="18000" anchor="t">
            <a:spAutoFit/>
          </a:bodyPr>
          <a:lstStyle/>
          <a:p>
            <a:pPr algn="l"/>
            <a:r>
              <a:rPr sz="700" b="1" i="0">
                <a:solidFill>
                  <a:srgbClr val="6B778C"/>
                </a:solidFill>
                <a:latin typeface="Arial"/>
              </a:rPr>
              <a:t>PAIN</a:t>
            </a:r>
          </a:p>
        </p:txBody>
      </p:sp>
      <p:sp>
        <p:nvSpPr>
          <p:cNvPr id="60" name="TextBox 59"/>
          <p:cNvSpPr txBox="1"/>
          <p:nvPr/>
        </p:nvSpPr>
        <p:spPr>
          <a:xfrm>
            <a:off x="10149840" y="1965960"/>
            <a:ext cx="914400" cy="182880"/>
          </a:xfrm>
          <a:prstGeom prst="rect">
            <a:avLst/>
          </a:prstGeom>
          <a:noFill/>
        </p:spPr>
        <p:txBody>
          <a:bodyPr wrap="square" lIns="36000" rIns="36000" tIns="18000" bIns="18000" anchor="t">
            <a:spAutoFit/>
          </a:bodyPr>
          <a:lstStyle/>
          <a:p>
            <a:pPr algn="l"/>
            <a:r>
              <a:rPr sz="700" b="1" i="0">
                <a:solidFill>
                  <a:srgbClr val="6B778C"/>
                </a:solidFill>
                <a:latin typeface="Arial"/>
              </a:rPr>
              <a:t>CoS</a:t>
            </a:r>
          </a:p>
        </p:txBody>
      </p:sp>
      <p:sp>
        <p:nvSpPr>
          <p:cNvPr id="61" name="TextBox 60"/>
          <p:cNvSpPr txBox="1"/>
          <p:nvPr/>
        </p:nvSpPr>
        <p:spPr>
          <a:xfrm>
            <a:off x="11064240" y="1965960"/>
            <a:ext cx="457200" cy="182880"/>
          </a:xfrm>
          <a:prstGeom prst="rect">
            <a:avLst/>
          </a:prstGeom>
          <a:noFill/>
        </p:spPr>
        <p:txBody>
          <a:bodyPr wrap="square" lIns="36000" rIns="36000" tIns="18000" bIns="18000" anchor="t">
            <a:spAutoFit/>
          </a:bodyPr>
          <a:lstStyle/>
          <a:p>
            <a:pPr algn="l"/>
            <a:r>
              <a:rPr sz="700" b="1" i="0">
                <a:solidFill>
                  <a:srgbClr val="6B778C"/>
                </a:solidFill>
                <a:latin typeface="Arial"/>
              </a:rPr>
              <a:t>SIZE</a:t>
            </a:r>
          </a:p>
        </p:txBody>
      </p:sp>
      <p:sp>
        <p:nvSpPr>
          <p:cNvPr id="62" name="Rectangle 61"/>
          <p:cNvSpPr/>
          <p:nvPr/>
        </p:nvSpPr>
        <p:spPr>
          <a:xfrm>
            <a:off x="6309360" y="2167128"/>
            <a:ext cx="54864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09360" y="2340864"/>
            <a:ext cx="457200" cy="667512"/>
          </a:xfrm>
          <a:prstGeom prst="rect">
            <a:avLst/>
          </a:prstGeom>
          <a:noFill/>
        </p:spPr>
        <p:txBody>
          <a:bodyPr wrap="square" lIns="36000" rIns="36000" tIns="18000" bIns="18000" anchor="ctr">
            <a:spAutoFit/>
          </a:bodyPr>
          <a:lstStyle/>
          <a:p>
            <a:pPr algn="l"/>
            <a:r>
              <a:rPr sz="1100" b="1" i="0">
                <a:solidFill>
                  <a:srgbClr val="1B3C66"/>
                </a:solidFill>
                <a:latin typeface="Arial"/>
              </a:rPr>
              <a:t>01</a:t>
            </a:r>
          </a:p>
        </p:txBody>
      </p:sp>
      <p:sp>
        <p:nvSpPr>
          <p:cNvPr id="64" name="TextBox 63"/>
          <p:cNvSpPr txBox="1"/>
          <p:nvPr/>
        </p:nvSpPr>
        <p:spPr>
          <a:xfrm>
            <a:off x="6766560" y="2340864"/>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PUC tariff banner Q3 (regulatory)</a:t>
            </a:r>
          </a:p>
        </p:txBody>
      </p:sp>
      <p:sp>
        <p:nvSpPr>
          <p:cNvPr id="65" name="TextBox 64"/>
          <p:cNvSpPr txBox="1"/>
          <p:nvPr/>
        </p:nvSpPr>
        <p:spPr>
          <a:xfrm>
            <a:off x="9555480" y="2340864"/>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66" name="Rounded Rectangle 65"/>
          <p:cNvSpPr/>
          <p:nvPr/>
        </p:nvSpPr>
        <p:spPr>
          <a:xfrm>
            <a:off x="10149840" y="2564892"/>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149840" y="256489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68" name="Rounded Rectangle 67"/>
          <p:cNvSpPr/>
          <p:nvPr/>
        </p:nvSpPr>
        <p:spPr>
          <a:xfrm>
            <a:off x="11064240" y="2564892"/>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064240" y="256489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70" name="Rectangle 69"/>
          <p:cNvSpPr/>
          <p:nvPr/>
        </p:nvSpPr>
        <p:spPr>
          <a:xfrm>
            <a:off x="6309360" y="3044952"/>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09360" y="3099816"/>
            <a:ext cx="457200" cy="667512"/>
          </a:xfrm>
          <a:prstGeom prst="rect">
            <a:avLst/>
          </a:prstGeom>
          <a:noFill/>
        </p:spPr>
        <p:txBody>
          <a:bodyPr wrap="square" lIns="36000" rIns="36000" tIns="18000" bIns="18000" anchor="ctr">
            <a:spAutoFit/>
          </a:bodyPr>
          <a:lstStyle/>
          <a:p>
            <a:pPr algn="l"/>
            <a:r>
              <a:rPr sz="1100" b="1" i="0">
                <a:solidFill>
                  <a:srgbClr val="1B3C66"/>
                </a:solidFill>
                <a:latin typeface="Arial"/>
              </a:rPr>
              <a:t>02</a:t>
            </a:r>
          </a:p>
        </p:txBody>
      </p:sp>
      <p:sp>
        <p:nvSpPr>
          <p:cNvPr id="72" name="TextBox 71"/>
          <p:cNvSpPr txBox="1"/>
          <p:nvPr/>
        </p:nvSpPr>
        <p:spPr>
          <a:xfrm>
            <a:off x="6766560" y="3099816"/>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SAP FI year-end close acceleration</a:t>
            </a:r>
          </a:p>
        </p:txBody>
      </p:sp>
      <p:sp>
        <p:nvSpPr>
          <p:cNvPr id="73" name="TextBox 72"/>
          <p:cNvSpPr txBox="1"/>
          <p:nvPr/>
        </p:nvSpPr>
        <p:spPr>
          <a:xfrm>
            <a:off x="9555480" y="3099816"/>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2.20</a:t>
            </a:r>
          </a:p>
        </p:txBody>
      </p:sp>
      <p:sp>
        <p:nvSpPr>
          <p:cNvPr id="74" name="Rounded Rectangle 73"/>
          <p:cNvSpPr/>
          <p:nvPr/>
        </p:nvSpPr>
        <p:spPr>
          <a:xfrm>
            <a:off x="10149840" y="3323844"/>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49840" y="3323844"/>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76" name="Rounded Rectangle 75"/>
          <p:cNvSpPr/>
          <p:nvPr/>
        </p:nvSpPr>
        <p:spPr>
          <a:xfrm>
            <a:off x="11064240" y="3323844"/>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064240" y="3323844"/>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78" name="TextBox 77"/>
          <p:cNvSpPr txBox="1"/>
          <p:nvPr/>
        </p:nvSpPr>
        <p:spPr>
          <a:xfrm>
            <a:off x="6309360" y="3858768"/>
            <a:ext cx="457200" cy="667512"/>
          </a:xfrm>
          <a:prstGeom prst="rect">
            <a:avLst/>
          </a:prstGeom>
          <a:noFill/>
        </p:spPr>
        <p:txBody>
          <a:bodyPr wrap="square" lIns="36000" rIns="36000" tIns="18000" bIns="18000" anchor="ctr">
            <a:spAutoFit/>
          </a:bodyPr>
          <a:lstStyle/>
          <a:p>
            <a:pPr algn="l"/>
            <a:r>
              <a:rPr sz="1100" b="1" i="0">
                <a:solidFill>
                  <a:srgbClr val="1B3C66"/>
                </a:solidFill>
                <a:latin typeface="Arial"/>
              </a:rPr>
              <a:t>03</a:t>
            </a:r>
          </a:p>
        </p:txBody>
      </p:sp>
      <p:sp>
        <p:nvSpPr>
          <p:cNvPr id="79" name="TextBox 78"/>
          <p:cNvSpPr txBox="1"/>
          <p:nvPr/>
        </p:nvSpPr>
        <p:spPr>
          <a:xfrm>
            <a:off x="6766560" y="3858768"/>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Audit framework refresh (regulatory)</a:t>
            </a:r>
          </a:p>
        </p:txBody>
      </p:sp>
      <p:sp>
        <p:nvSpPr>
          <p:cNvPr id="80" name="TextBox 79"/>
          <p:cNvSpPr txBox="1"/>
          <p:nvPr/>
        </p:nvSpPr>
        <p:spPr>
          <a:xfrm>
            <a:off x="9555480" y="3858768"/>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1.85</a:t>
            </a:r>
          </a:p>
        </p:txBody>
      </p:sp>
      <p:sp>
        <p:nvSpPr>
          <p:cNvPr id="81" name="Rounded Rectangle 80"/>
          <p:cNvSpPr/>
          <p:nvPr/>
        </p:nvSpPr>
        <p:spPr>
          <a:xfrm>
            <a:off x="10149840" y="4082796"/>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149840" y="408279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83" name="Rounded Rectangle 82"/>
          <p:cNvSpPr/>
          <p:nvPr/>
        </p:nvSpPr>
        <p:spPr>
          <a:xfrm>
            <a:off x="11064240" y="4082796"/>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064240" y="408279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85" name="Rectangle 84"/>
          <p:cNvSpPr/>
          <p:nvPr/>
        </p:nvSpPr>
        <p:spPr>
          <a:xfrm>
            <a:off x="6309360" y="4562856"/>
            <a:ext cx="5486400" cy="72237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309360" y="4617720"/>
            <a:ext cx="457200" cy="667512"/>
          </a:xfrm>
          <a:prstGeom prst="rect">
            <a:avLst/>
          </a:prstGeom>
          <a:noFill/>
        </p:spPr>
        <p:txBody>
          <a:bodyPr wrap="square" lIns="36000" rIns="36000" tIns="18000" bIns="18000" anchor="ctr">
            <a:spAutoFit/>
          </a:bodyPr>
          <a:lstStyle/>
          <a:p>
            <a:pPr algn="l"/>
            <a:r>
              <a:rPr sz="1100" b="1" i="0">
                <a:solidFill>
                  <a:srgbClr val="1B3C66"/>
                </a:solidFill>
                <a:latin typeface="Arial"/>
              </a:rPr>
              <a:t>04</a:t>
            </a:r>
          </a:p>
        </p:txBody>
      </p:sp>
      <p:sp>
        <p:nvSpPr>
          <p:cNvPr id="87" name="TextBox 86"/>
          <p:cNvSpPr txBox="1"/>
          <p:nvPr/>
        </p:nvSpPr>
        <p:spPr>
          <a:xfrm>
            <a:off x="6766560" y="4617720"/>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Networks IT data backbone (cross-VS)</a:t>
            </a:r>
          </a:p>
        </p:txBody>
      </p:sp>
      <p:sp>
        <p:nvSpPr>
          <p:cNvPr id="88" name="TextBox 87"/>
          <p:cNvSpPr txBox="1"/>
          <p:nvPr/>
        </p:nvSpPr>
        <p:spPr>
          <a:xfrm>
            <a:off x="9555480" y="4617720"/>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1.65</a:t>
            </a:r>
          </a:p>
        </p:txBody>
      </p:sp>
      <p:sp>
        <p:nvSpPr>
          <p:cNvPr id="89" name="Rounded Rectangle 88"/>
          <p:cNvSpPr/>
          <p:nvPr/>
        </p:nvSpPr>
        <p:spPr>
          <a:xfrm>
            <a:off x="10149840" y="4841748"/>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149840" y="484174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91" name="Rounded Rectangle 90"/>
          <p:cNvSpPr/>
          <p:nvPr/>
        </p:nvSpPr>
        <p:spPr>
          <a:xfrm>
            <a:off x="11064240" y="4841748"/>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1064240" y="484174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93" name="TextBox 92"/>
          <p:cNvSpPr txBox="1"/>
          <p:nvPr/>
        </p:nvSpPr>
        <p:spPr>
          <a:xfrm>
            <a:off x="6309360" y="5376672"/>
            <a:ext cx="457200" cy="667512"/>
          </a:xfrm>
          <a:prstGeom prst="rect">
            <a:avLst/>
          </a:prstGeom>
          <a:noFill/>
        </p:spPr>
        <p:txBody>
          <a:bodyPr wrap="square" lIns="36000" rIns="36000" tIns="18000" bIns="18000" anchor="ctr">
            <a:spAutoFit/>
          </a:bodyPr>
          <a:lstStyle/>
          <a:p>
            <a:pPr algn="l"/>
            <a:r>
              <a:rPr sz="1100" b="1" i="0">
                <a:solidFill>
                  <a:srgbClr val="1B3C66"/>
                </a:solidFill>
                <a:latin typeface="Arial"/>
              </a:rPr>
              <a:t>05</a:t>
            </a:r>
          </a:p>
        </p:txBody>
      </p:sp>
      <p:sp>
        <p:nvSpPr>
          <p:cNvPr id="94" name="TextBox 93"/>
          <p:cNvSpPr txBox="1"/>
          <p:nvPr/>
        </p:nvSpPr>
        <p:spPr>
          <a:xfrm>
            <a:off x="6766560" y="5376672"/>
            <a:ext cx="2743200" cy="667512"/>
          </a:xfrm>
          <a:prstGeom prst="rect">
            <a:avLst/>
          </a:prstGeom>
          <a:noFill/>
        </p:spPr>
        <p:txBody>
          <a:bodyPr wrap="square" lIns="36000" rIns="36000" tIns="18000" bIns="18000" anchor="ctr">
            <a:spAutoFit/>
          </a:bodyPr>
          <a:lstStyle/>
          <a:p>
            <a:pPr algn="l"/>
            <a:r>
              <a:rPr sz="850" b="0" i="0">
                <a:solidFill>
                  <a:srgbClr val="2C3E50"/>
                </a:solidFill>
                <a:latin typeface="Arial"/>
              </a:rPr>
              <a:t>SAP Basis kernel patch Q2 (tech debt)</a:t>
            </a:r>
          </a:p>
        </p:txBody>
      </p:sp>
      <p:sp>
        <p:nvSpPr>
          <p:cNvPr id="95" name="TextBox 94"/>
          <p:cNvSpPr txBox="1"/>
          <p:nvPr/>
        </p:nvSpPr>
        <p:spPr>
          <a:xfrm>
            <a:off x="9555480" y="5376672"/>
            <a:ext cx="548640" cy="667512"/>
          </a:xfrm>
          <a:prstGeom prst="rect">
            <a:avLst/>
          </a:prstGeom>
          <a:noFill/>
        </p:spPr>
        <p:txBody>
          <a:bodyPr wrap="square" lIns="36000" rIns="36000" tIns="18000" bIns="18000" anchor="ctr">
            <a:spAutoFit/>
          </a:bodyPr>
          <a:lstStyle/>
          <a:p>
            <a:pPr algn="l"/>
            <a:r>
              <a:rPr sz="1000" b="1" i="0">
                <a:solidFill>
                  <a:srgbClr val="0F2A47"/>
                </a:solidFill>
                <a:latin typeface="Arial"/>
              </a:rPr>
              <a:t>0.95</a:t>
            </a:r>
          </a:p>
        </p:txBody>
      </p:sp>
      <p:sp>
        <p:nvSpPr>
          <p:cNvPr id="96" name="Rounded Rectangle 95"/>
          <p:cNvSpPr/>
          <p:nvPr/>
        </p:nvSpPr>
        <p:spPr>
          <a:xfrm>
            <a:off x="10149840" y="5600700"/>
            <a:ext cx="8686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149840" y="560070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Intangible</a:t>
            </a:r>
          </a:p>
        </p:txBody>
      </p:sp>
      <p:sp>
        <p:nvSpPr>
          <p:cNvPr id="98" name="Rounded Rectangle 97"/>
          <p:cNvSpPr/>
          <p:nvPr/>
        </p:nvSpPr>
        <p:spPr>
          <a:xfrm>
            <a:off x="11064240" y="5600700"/>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064240" y="560070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100" name="Rounded Rectangle 99"/>
          <p:cNvSpPr/>
          <p:nvPr/>
        </p:nvSpPr>
        <p:spPr>
          <a:xfrm>
            <a:off x="365760" y="6355079"/>
            <a:ext cx="11475720" cy="7315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365760" y="6355079"/>
            <a:ext cx="91440" cy="7315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48640" y="6409943"/>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103" name="TextBox 102"/>
          <p:cNvSpPr txBox="1"/>
          <p:nvPr/>
        </p:nvSpPr>
        <p:spPr>
          <a:xfrm>
            <a:off x="548640" y="65745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Each area ranks independently — same Pain Score logic, different formula inputs · cross-area only when dependencies surface.</a:t>
            </a:r>
          </a:p>
        </p:txBody>
      </p:sp>
      <p:sp>
        <p:nvSpPr>
          <p:cNvPr id="104" name="TextBox 103"/>
          <p:cNvSpPr txBox="1"/>
          <p:nvPr/>
        </p:nvSpPr>
        <p:spPr>
          <a:xfrm>
            <a:off x="548640" y="6857999"/>
            <a:ext cx="11201400" cy="182880"/>
          </a:xfrm>
          <a:prstGeom prst="rect">
            <a:avLst/>
          </a:prstGeom>
          <a:noFill/>
        </p:spPr>
        <p:txBody>
          <a:bodyPr wrap="square" lIns="36000" rIns="36000" tIns="18000" bIns="18000" anchor="t">
            <a:spAutoFit/>
          </a:bodyPr>
          <a:lstStyle/>
          <a:p>
            <a:pPr algn="l"/>
            <a:r>
              <a:rPr sz="800" b="0" i="0">
                <a:solidFill>
                  <a:srgbClr val="526077"/>
                </a:solidFill>
                <a:latin typeface="Arial"/>
              </a:rPr>
              <a:t>PM (per VS) keeps within-VS rank fresh weekly · Director (CS: Kumar+Heather · ITBA: Carlos+Heather) arbitrates cross-VS at Gate 2 · cross-area dependencies escalate to VP Vitor</a:t>
            </a:r>
          </a:p>
        </p:txBody>
      </p:sp>
      <p:sp>
        <p:nvSpPr>
          <p:cNvPr id="105" name="TextBox 104"/>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06" name="Rectangle 105"/>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08" name="Rectangle 107"/>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10" name="Rectangle 109"/>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12" name="Rectangle 111"/>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14" name="TextBox 11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08 / 29</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ROLLING-WAVE ROADMAP: 3 MO COMMITTED · 3-6 PLANNED · 6-12 HYPOTHESIZED · RE-BALANCED MONTHLY AT GATE 2</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ectangle 7"/>
          <p:cNvSpPr/>
          <p:nvPr/>
        </p:nvSpPr>
        <p:spPr>
          <a:xfrm>
            <a:off x="1645920" y="1554480"/>
            <a:ext cx="2512314" cy="29260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Q3 2026</a:t>
            </a:r>
          </a:p>
        </p:txBody>
      </p:sp>
      <p:sp>
        <p:nvSpPr>
          <p:cNvPr id="10" name="Rectangle 9"/>
          <p:cNvSpPr/>
          <p:nvPr/>
        </p:nvSpPr>
        <p:spPr>
          <a:xfrm>
            <a:off x="4194810" y="1554480"/>
            <a:ext cx="2512314"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9481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Q4 2026</a:t>
            </a:r>
          </a:p>
        </p:txBody>
      </p:sp>
      <p:sp>
        <p:nvSpPr>
          <p:cNvPr id="12" name="Rectangle 11"/>
          <p:cNvSpPr/>
          <p:nvPr/>
        </p:nvSpPr>
        <p:spPr>
          <a:xfrm>
            <a:off x="674370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4370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Q1 2027</a:t>
            </a:r>
          </a:p>
        </p:txBody>
      </p:sp>
      <p:sp>
        <p:nvSpPr>
          <p:cNvPr id="14" name="Rectangle 13"/>
          <p:cNvSpPr/>
          <p:nvPr/>
        </p:nvSpPr>
        <p:spPr>
          <a:xfrm>
            <a:off x="929259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259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Q2 2027</a:t>
            </a:r>
          </a:p>
        </p:txBody>
      </p:sp>
      <p:sp>
        <p:nvSpPr>
          <p:cNvPr id="16" name="TextBox 15"/>
          <p:cNvSpPr txBox="1"/>
          <p:nvPr/>
        </p:nvSpPr>
        <p:spPr>
          <a:xfrm>
            <a:off x="1645920" y="1883664"/>
            <a:ext cx="2548890" cy="182880"/>
          </a:xfrm>
          <a:prstGeom prst="rect">
            <a:avLst/>
          </a:prstGeom>
          <a:noFill/>
        </p:spPr>
        <p:txBody>
          <a:bodyPr wrap="square" lIns="36000" rIns="36000" tIns="18000" bIns="18000" anchor="t">
            <a:spAutoFit/>
          </a:bodyPr>
          <a:lstStyle/>
          <a:p>
            <a:pPr algn="ctr"/>
            <a:r>
              <a:rPr sz="800" b="1" i="0">
                <a:solidFill>
                  <a:srgbClr val="006B3F"/>
                </a:solidFill>
                <a:latin typeface="Arial"/>
              </a:rPr>
              <a:t>COMMITTED</a:t>
            </a:r>
          </a:p>
        </p:txBody>
      </p:sp>
      <p:sp>
        <p:nvSpPr>
          <p:cNvPr id="17" name="TextBox 16"/>
          <p:cNvSpPr txBox="1"/>
          <p:nvPr/>
        </p:nvSpPr>
        <p:spPr>
          <a:xfrm>
            <a:off x="4194810" y="1883664"/>
            <a:ext cx="2548890" cy="182880"/>
          </a:xfrm>
          <a:prstGeom prst="rect">
            <a:avLst/>
          </a:prstGeom>
          <a:noFill/>
        </p:spPr>
        <p:txBody>
          <a:bodyPr wrap="square" lIns="36000" rIns="36000" tIns="18000" bIns="18000" anchor="t">
            <a:spAutoFit/>
          </a:bodyPr>
          <a:lstStyle/>
          <a:p>
            <a:pPr algn="ctr"/>
            <a:r>
              <a:rPr sz="800" b="1" i="0">
                <a:solidFill>
                  <a:srgbClr val="2C578B"/>
                </a:solidFill>
                <a:latin typeface="Arial"/>
              </a:rPr>
              <a:t>PLANNED</a:t>
            </a:r>
          </a:p>
        </p:txBody>
      </p:sp>
      <p:sp>
        <p:nvSpPr>
          <p:cNvPr id="18" name="TextBox 17"/>
          <p:cNvSpPr txBox="1"/>
          <p:nvPr/>
        </p:nvSpPr>
        <p:spPr>
          <a:xfrm>
            <a:off x="6743700" y="1883664"/>
            <a:ext cx="5097780" cy="182880"/>
          </a:xfrm>
          <a:prstGeom prst="rect">
            <a:avLst/>
          </a:prstGeom>
          <a:noFill/>
        </p:spPr>
        <p:txBody>
          <a:bodyPr wrap="square" lIns="36000" rIns="36000" tIns="18000" bIns="18000" anchor="t">
            <a:spAutoFit/>
          </a:bodyPr>
          <a:lstStyle/>
          <a:p>
            <a:pPr algn="ctr"/>
            <a:r>
              <a:rPr sz="800" b="1" i="0">
                <a:solidFill>
                  <a:srgbClr val="6B778C"/>
                </a:solidFill>
                <a:latin typeface="Arial"/>
              </a:rPr>
              <a:t>HYPOTHESIZED</a:t>
            </a:r>
          </a:p>
        </p:txBody>
      </p:sp>
      <p:sp>
        <p:nvSpPr>
          <p:cNvPr id="19" name="Rectangle 18"/>
          <p:cNvSpPr/>
          <p:nvPr/>
        </p:nvSpPr>
        <p:spPr>
          <a:xfrm>
            <a:off x="365760" y="2157984"/>
            <a:ext cx="123444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157984"/>
            <a:ext cx="91440" cy="5227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0370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22" name="TextBox 21"/>
          <p:cNvSpPr txBox="1"/>
          <p:nvPr/>
        </p:nvSpPr>
        <p:spPr>
          <a:xfrm>
            <a:off x="502920" y="2377439"/>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23" name="Rectangle 22"/>
          <p:cNvSpPr/>
          <p:nvPr/>
        </p:nvSpPr>
        <p:spPr>
          <a:xfrm>
            <a:off x="1645920" y="2157984"/>
            <a:ext cx="1019556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94810" y="215798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743700" y="215798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2590" y="215798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645920" y="2212848"/>
            <a:ext cx="4078224"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682496" y="2220087"/>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47088" y="2249424"/>
            <a:ext cx="3803904" cy="51054"/>
          </a:xfrm>
          <a:prstGeom prst="rect">
            <a:avLst/>
          </a:prstGeom>
          <a:noFill/>
        </p:spPr>
        <p:txBody>
          <a:bodyPr wrap="square" lIns="36000" rIns="36000" tIns="18000" bIns="18000" anchor="ctr">
            <a:spAutoFit/>
          </a:bodyPr>
          <a:lstStyle/>
          <a:p>
            <a:pPr algn="l"/>
            <a:r>
              <a:rPr sz="750" b="1" i="0">
                <a:solidFill>
                  <a:srgbClr val="FFFFFF"/>
                </a:solidFill>
                <a:latin typeface="Arial"/>
              </a:rPr>
              <a:t>Genesys script overhaul</a:t>
            </a:r>
          </a:p>
        </p:txBody>
      </p:sp>
      <p:sp>
        <p:nvSpPr>
          <p:cNvPr id="30" name="Rounded Rectangle 29"/>
          <p:cNvSpPr/>
          <p:nvPr/>
        </p:nvSpPr>
        <p:spPr>
          <a:xfrm>
            <a:off x="2155698" y="2391918"/>
            <a:ext cx="1529334"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192274" y="2399157"/>
            <a:ext cx="109728" cy="10972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56866" y="2428494"/>
            <a:ext cx="1255014" cy="51054"/>
          </a:xfrm>
          <a:prstGeom prst="rect">
            <a:avLst/>
          </a:prstGeom>
          <a:noFill/>
        </p:spPr>
        <p:txBody>
          <a:bodyPr wrap="square" lIns="36000" rIns="36000" tIns="18000" bIns="18000" anchor="ctr">
            <a:spAutoFit/>
          </a:bodyPr>
          <a:lstStyle/>
          <a:p>
            <a:pPr algn="l"/>
            <a:r>
              <a:rPr sz="750" b="1" i="0">
                <a:solidFill>
                  <a:srgbClr val="FFFFFF"/>
                </a:solidFill>
                <a:latin typeface="Arial"/>
              </a:rPr>
              <a:t>CRM page load &lt;2s</a:t>
            </a:r>
          </a:p>
        </p:txBody>
      </p:sp>
      <p:sp>
        <p:nvSpPr>
          <p:cNvPr id="33" name="Rectangle 32"/>
          <p:cNvSpPr/>
          <p:nvPr/>
        </p:nvSpPr>
        <p:spPr>
          <a:xfrm>
            <a:off x="365760" y="2699004"/>
            <a:ext cx="123444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2699004"/>
            <a:ext cx="91440" cy="5227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274472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36" name="TextBox 35"/>
          <p:cNvSpPr txBox="1"/>
          <p:nvPr/>
        </p:nvSpPr>
        <p:spPr>
          <a:xfrm>
            <a:off x="502920" y="291846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37" name="Rectangle 36"/>
          <p:cNvSpPr/>
          <p:nvPr/>
        </p:nvSpPr>
        <p:spPr>
          <a:xfrm>
            <a:off x="1645920" y="2699004"/>
            <a:ext cx="1019556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194810" y="269900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743700" y="269900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92590" y="269900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155698" y="2753868"/>
            <a:ext cx="3568446"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192274" y="2761107"/>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56866" y="2790444"/>
            <a:ext cx="3294126" cy="51054"/>
          </a:xfrm>
          <a:prstGeom prst="rect">
            <a:avLst/>
          </a:prstGeom>
          <a:noFill/>
        </p:spPr>
        <p:txBody>
          <a:bodyPr wrap="square" lIns="36000" rIns="36000" tIns="18000" bIns="18000" anchor="ctr">
            <a:spAutoFit/>
          </a:bodyPr>
          <a:lstStyle/>
          <a:p>
            <a:pPr algn="l"/>
            <a:r>
              <a:rPr sz="750" b="1" i="0">
                <a:solidFill>
                  <a:srgbClr val="FFFFFF"/>
                </a:solidFill>
                <a:latin typeface="Arial"/>
              </a:rPr>
              <a:t>Billing cycle 14→5 days</a:t>
            </a:r>
          </a:p>
        </p:txBody>
      </p:sp>
      <p:sp>
        <p:nvSpPr>
          <p:cNvPr id="44" name="Rounded Rectangle 43"/>
          <p:cNvSpPr/>
          <p:nvPr/>
        </p:nvSpPr>
        <p:spPr>
          <a:xfrm>
            <a:off x="2665476" y="2932938"/>
            <a:ext cx="2039112"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702052" y="2940177"/>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66644" y="2969514"/>
            <a:ext cx="1764792" cy="51054"/>
          </a:xfrm>
          <a:prstGeom prst="rect">
            <a:avLst/>
          </a:prstGeom>
          <a:noFill/>
        </p:spPr>
        <p:txBody>
          <a:bodyPr wrap="square" lIns="36000" rIns="36000" tIns="18000" bIns="18000" anchor="ctr">
            <a:spAutoFit/>
          </a:bodyPr>
          <a:lstStyle/>
          <a:p>
            <a:pPr algn="l"/>
            <a:r>
              <a:rPr sz="750" b="1" i="0">
                <a:solidFill>
                  <a:srgbClr val="FFFFFF"/>
                </a:solidFill>
                <a:latin typeface="Arial"/>
              </a:rPr>
              <a:t>Self-service password</a:t>
            </a:r>
          </a:p>
        </p:txBody>
      </p:sp>
      <p:sp>
        <p:nvSpPr>
          <p:cNvPr id="47" name="Rectangle 46"/>
          <p:cNvSpPr/>
          <p:nvPr/>
        </p:nvSpPr>
        <p:spPr>
          <a:xfrm>
            <a:off x="365760" y="3240023"/>
            <a:ext cx="123444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5760" y="3240023"/>
            <a:ext cx="91440" cy="5227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28574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50" name="TextBox 49"/>
          <p:cNvSpPr txBox="1"/>
          <p:nvPr/>
        </p:nvSpPr>
        <p:spPr>
          <a:xfrm>
            <a:off x="502920" y="345948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51" name="Rectangle 50"/>
          <p:cNvSpPr/>
          <p:nvPr/>
        </p:nvSpPr>
        <p:spPr>
          <a:xfrm>
            <a:off x="1645920" y="3240023"/>
            <a:ext cx="1019556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194810" y="3240023"/>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743700" y="3240023"/>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292590" y="3240023"/>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4704588" y="3294887"/>
            <a:ext cx="4588002" cy="30327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741164" y="339166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05756" y="3331464"/>
            <a:ext cx="4313682" cy="230123"/>
          </a:xfrm>
          <a:prstGeom prst="rect">
            <a:avLst/>
          </a:prstGeom>
          <a:noFill/>
        </p:spPr>
        <p:txBody>
          <a:bodyPr wrap="square" lIns="36000" rIns="36000" tIns="18000" bIns="18000" anchor="ctr">
            <a:spAutoFit/>
          </a:bodyPr>
          <a:lstStyle/>
          <a:p>
            <a:pPr algn="l"/>
            <a:r>
              <a:rPr sz="750" b="1" i="0">
                <a:solidFill>
                  <a:srgbClr val="FFFFFF"/>
                </a:solidFill>
                <a:latin typeface="Arial"/>
              </a:rPr>
              <a:t>Smart Meter analytics</a:t>
            </a:r>
          </a:p>
        </p:txBody>
      </p:sp>
      <p:sp>
        <p:nvSpPr>
          <p:cNvPr id="58" name="Rectangle 57"/>
          <p:cNvSpPr/>
          <p:nvPr/>
        </p:nvSpPr>
        <p:spPr>
          <a:xfrm>
            <a:off x="365760" y="3781044"/>
            <a:ext cx="123444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5760" y="3781044"/>
            <a:ext cx="91440" cy="5227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382676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61" name="TextBox 60"/>
          <p:cNvSpPr txBox="1"/>
          <p:nvPr/>
        </p:nvSpPr>
        <p:spPr>
          <a:xfrm>
            <a:off x="502920" y="400050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62" name="Rectangle 61"/>
          <p:cNvSpPr/>
          <p:nvPr/>
        </p:nvSpPr>
        <p:spPr>
          <a:xfrm>
            <a:off x="1645920" y="3781044"/>
            <a:ext cx="1019556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194810" y="378104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743700" y="378104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292590" y="378104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849831" y="3835907"/>
            <a:ext cx="2039112" cy="12420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886407" y="3843147"/>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50999" y="3872483"/>
            <a:ext cx="1764792" cy="51054"/>
          </a:xfrm>
          <a:prstGeom prst="rect">
            <a:avLst/>
          </a:prstGeom>
          <a:noFill/>
        </p:spPr>
        <p:txBody>
          <a:bodyPr wrap="square" lIns="36000" rIns="36000" tIns="18000" bIns="18000" anchor="ctr">
            <a:spAutoFit/>
          </a:bodyPr>
          <a:lstStyle/>
          <a:p>
            <a:pPr algn="l"/>
            <a:r>
              <a:rPr sz="750" b="1" i="0">
                <a:solidFill>
                  <a:srgbClr val="FFFFFF"/>
                </a:solidFill>
                <a:latin typeface="Arial"/>
              </a:rPr>
              <a:t>PUC tariff banner Q3</a:t>
            </a:r>
          </a:p>
        </p:txBody>
      </p:sp>
      <p:sp>
        <p:nvSpPr>
          <p:cNvPr id="69" name="Rounded Rectangle 68"/>
          <p:cNvSpPr/>
          <p:nvPr/>
        </p:nvSpPr>
        <p:spPr>
          <a:xfrm>
            <a:off x="4704588" y="4014978"/>
            <a:ext cx="3568446" cy="12420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741164" y="4022217"/>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905756" y="4051554"/>
            <a:ext cx="3294126" cy="51054"/>
          </a:xfrm>
          <a:prstGeom prst="rect">
            <a:avLst/>
          </a:prstGeom>
          <a:noFill/>
        </p:spPr>
        <p:txBody>
          <a:bodyPr wrap="square" lIns="36000" rIns="36000" tIns="18000" bIns="18000" anchor="ctr">
            <a:spAutoFit/>
          </a:bodyPr>
          <a:lstStyle/>
          <a:p>
            <a:pPr algn="l"/>
            <a:r>
              <a:rPr sz="750" b="1" i="0">
                <a:solidFill>
                  <a:srgbClr val="FFFFFF"/>
                </a:solidFill>
                <a:latin typeface="Arial"/>
              </a:rPr>
              <a:t>Audit framework refresh</a:t>
            </a:r>
          </a:p>
        </p:txBody>
      </p:sp>
      <p:sp>
        <p:nvSpPr>
          <p:cNvPr id="72" name="Rectangle 71"/>
          <p:cNvSpPr/>
          <p:nvPr/>
        </p:nvSpPr>
        <p:spPr>
          <a:xfrm>
            <a:off x="365760" y="4322064"/>
            <a:ext cx="123444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65760" y="4322064"/>
            <a:ext cx="91440" cy="5227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2920" y="436778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75" name="TextBox 74"/>
          <p:cNvSpPr txBox="1"/>
          <p:nvPr/>
        </p:nvSpPr>
        <p:spPr>
          <a:xfrm>
            <a:off x="502920" y="454152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76" name="Rectangle 75"/>
          <p:cNvSpPr/>
          <p:nvPr/>
        </p:nvSpPr>
        <p:spPr>
          <a:xfrm>
            <a:off x="1645920" y="4322064"/>
            <a:ext cx="10195560" cy="5227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194810" y="432206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743700" y="432206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292590" y="432206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4704588" y="4376928"/>
            <a:ext cx="2548890" cy="12420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741164" y="4384167"/>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905756" y="4413504"/>
            <a:ext cx="2274570" cy="51054"/>
          </a:xfrm>
          <a:prstGeom prst="rect">
            <a:avLst/>
          </a:prstGeom>
          <a:noFill/>
        </p:spPr>
        <p:txBody>
          <a:bodyPr wrap="square" lIns="36000" rIns="36000" tIns="18000" bIns="18000" anchor="ctr">
            <a:spAutoFit/>
          </a:bodyPr>
          <a:lstStyle/>
          <a:p>
            <a:pPr algn="l"/>
            <a:r>
              <a:rPr sz="750" b="1" i="0">
                <a:solidFill>
                  <a:srgbClr val="FFFFFF"/>
                </a:solidFill>
                <a:latin typeface="Arial"/>
              </a:rPr>
              <a:t>Networks data backbone</a:t>
            </a:r>
          </a:p>
        </p:txBody>
      </p:sp>
      <p:sp>
        <p:nvSpPr>
          <p:cNvPr id="83" name="Rounded Rectangle 82"/>
          <p:cNvSpPr/>
          <p:nvPr/>
        </p:nvSpPr>
        <p:spPr>
          <a:xfrm>
            <a:off x="7253478" y="4555998"/>
            <a:ext cx="4078223" cy="12420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290054" y="4563237"/>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454646" y="4592574"/>
            <a:ext cx="3803903" cy="51054"/>
          </a:xfrm>
          <a:prstGeom prst="rect">
            <a:avLst/>
          </a:prstGeom>
          <a:noFill/>
        </p:spPr>
        <p:txBody>
          <a:bodyPr wrap="square" lIns="36000" rIns="36000" tIns="18000" bIns="18000" anchor="ctr">
            <a:spAutoFit/>
          </a:bodyPr>
          <a:lstStyle/>
          <a:p>
            <a:pPr algn="l"/>
            <a:r>
              <a:rPr sz="750" b="1" i="0">
                <a:solidFill>
                  <a:srgbClr val="FFFFFF"/>
                </a:solidFill>
                <a:latin typeface="Arial"/>
              </a:rPr>
              <a:t>S/4HANA migration plan</a:t>
            </a:r>
          </a:p>
        </p:txBody>
      </p:sp>
      <p:sp>
        <p:nvSpPr>
          <p:cNvPr id="86" name="Rectangle 85"/>
          <p:cNvSpPr/>
          <p:nvPr/>
        </p:nvSpPr>
        <p:spPr>
          <a:xfrm>
            <a:off x="365760" y="4863084"/>
            <a:ext cx="123444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65760" y="4863084"/>
            <a:ext cx="91440" cy="5227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02920" y="490880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89" name="TextBox 88"/>
          <p:cNvSpPr txBox="1"/>
          <p:nvPr/>
        </p:nvSpPr>
        <p:spPr>
          <a:xfrm>
            <a:off x="502920" y="508254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90" name="Rectangle 89"/>
          <p:cNvSpPr/>
          <p:nvPr/>
        </p:nvSpPr>
        <p:spPr>
          <a:xfrm>
            <a:off x="1645920" y="4863084"/>
            <a:ext cx="10195560" cy="5227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194810" y="486308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743700" y="486308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292590" y="4863084"/>
            <a:ext cx="7000" cy="52273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2155698" y="4917948"/>
            <a:ext cx="1529334" cy="303276"/>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192274" y="5014722"/>
            <a:ext cx="109728" cy="109728"/>
          </a:xfrm>
          <a:prstGeom prst="ellipse">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356866" y="4954524"/>
            <a:ext cx="1255014" cy="230123"/>
          </a:xfrm>
          <a:prstGeom prst="rect">
            <a:avLst/>
          </a:prstGeom>
          <a:noFill/>
        </p:spPr>
        <p:txBody>
          <a:bodyPr wrap="square" lIns="36000" rIns="36000" tIns="18000" bIns="18000" anchor="ctr">
            <a:spAutoFit/>
          </a:bodyPr>
          <a:lstStyle/>
          <a:p>
            <a:pPr algn="l"/>
            <a:r>
              <a:rPr sz="750" b="1" i="0">
                <a:solidFill>
                  <a:srgbClr val="FFFFFF"/>
                </a:solidFill>
                <a:latin typeface="Arial"/>
              </a:rPr>
              <a:t>SAP Basis patch Q2</a:t>
            </a:r>
          </a:p>
        </p:txBody>
      </p:sp>
      <p:sp>
        <p:nvSpPr>
          <p:cNvPr id="97" name="Rounded Rectangle 96"/>
          <p:cNvSpPr/>
          <p:nvPr/>
        </p:nvSpPr>
        <p:spPr>
          <a:xfrm>
            <a:off x="365760" y="5532120"/>
            <a:ext cx="114757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365760" y="553212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02920" y="5586983"/>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PLANNING CYCLES  ·  monthly Gate 2 + ad-hoc + BRP coupling</a:t>
            </a:r>
          </a:p>
        </p:txBody>
      </p:sp>
      <p:sp>
        <p:nvSpPr>
          <p:cNvPr id="100" name="TextBox 99"/>
          <p:cNvSpPr txBox="1"/>
          <p:nvPr/>
        </p:nvSpPr>
        <p:spPr>
          <a:xfrm>
            <a:off x="50292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Monthly · Gate 2</a:t>
            </a:r>
          </a:p>
        </p:txBody>
      </p:sp>
      <p:sp>
        <p:nvSpPr>
          <p:cNvPr id="101" name="TextBox 100"/>
          <p:cNvSpPr txBox="1"/>
          <p:nvPr/>
        </p:nvSpPr>
        <p:spPr>
          <a:xfrm>
            <a:off x="50292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90 min · VP Vitor chairs · re-balance roadmap · approve capacity % · CS + ITBA reviewed independently</a:t>
            </a:r>
          </a:p>
        </p:txBody>
      </p:sp>
      <p:sp>
        <p:nvSpPr>
          <p:cNvPr id="102" name="TextBox 101"/>
          <p:cNvSpPr txBox="1"/>
          <p:nvPr/>
        </p:nvSpPr>
        <p:spPr>
          <a:xfrm>
            <a:off x="4267199"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BRP coupling</a:t>
            </a:r>
          </a:p>
        </p:txBody>
      </p:sp>
      <p:sp>
        <p:nvSpPr>
          <p:cNvPr id="103" name="TextBox 102"/>
          <p:cNvSpPr txBox="1"/>
          <p:nvPr/>
        </p:nvSpPr>
        <p:spPr>
          <a:xfrm>
            <a:off x="4267199"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Quarterly priorities digest fed to existing P&amp;T BRP + Digital CoE BRP · we do NOT run our own</a:t>
            </a:r>
          </a:p>
        </p:txBody>
      </p:sp>
      <p:sp>
        <p:nvSpPr>
          <p:cNvPr id="104" name="TextBox 103"/>
          <p:cNvSpPr txBox="1"/>
          <p:nvPr/>
        </p:nvSpPr>
        <p:spPr>
          <a:xfrm>
            <a:off x="803148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Ad-hoc · re-rank</a:t>
            </a:r>
          </a:p>
        </p:txBody>
      </p:sp>
      <p:sp>
        <p:nvSpPr>
          <p:cNvPr id="105" name="TextBox 104"/>
          <p:cNvSpPr txBox="1"/>
          <p:nvPr/>
        </p:nvSpPr>
        <p:spPr>
          <a:xfrm>
            <a:off x="803148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P1/P2 lands · regulatory deadline shifts · capacity changes</a:t>
            </a:r>
          </a:p>
        </p:txBody>
      </p:sp>
      <p:sp>
        <p:nvSpPr>
          <p:cNvPr id="106" name="TextBox 105"/>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07" name="Rectangle 106"/>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09" name="Rectangle 108"/>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11" name="Rectangle 110"/>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13" name="Rectangle 112"/>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15" name="TextBox 11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09 / 29</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CAPACITY · SQUAD FIRST, LANE SECOND: PRIMARY · SQUAD FTE × VELOCITY (FIXED QUARTERLY)  ·  SECONDARY · % PER COS LANE (GATE 2 MONTHLY)  ·  BEST PRACTICE FROM LEAN KANBAN</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417320"/>
            <a:ext cx="11475720" cy="384048"/>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9144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72184"/>
            <a:ext cx="11338560" cy="182880"/>
          </a:xfrm>
          <a:prstGeom prst="rect">
            <a:avLst/>
          </a:prstGeom>
          <a:noFill/>
        </p:spPr>
        <p:txBody>
          <a:bodyPr wrap="square" lIns="36000" rIns="36000" tIns="18000" bIns="18000" anchor="t">
            <a:spAutoFit/>
          </a:bodyPr>
          <a:lstStyle/>
          <a:p>
            <a:pPr algn="l"/>
            <a:r>
              <a:rPr sz="850" b="1" i="0">
                <a:solidFill>
                  <a:srgbClr val="2C578B"/>
                </a:solidFill>
                <a:latin typeface="Arial"/>
              </a:rPr>
              <a:t>CAPACITY HIERARCHY  ·  squad FTE primary · CoS allocation secondary</a:t>
            </a:r>
          </a:p>
        </p:txBody>
      </p:sp>
      <p:sp>
        <p:nvSpPr>
          <p:cNvPr id="11" name="TextBox 10"/>
          <p:cNvSpPr txBox="1"/>
          <p:nvPr/>
        </p:nvSpPr>
        <p:spPr>
          <a:xfrm>
            <a:off x="502920" y="1618488"/>
            <a:ext cx="11338560" cy="182880"/>
          </a:xfrm>
          <a:prstGeom prst="rect">
            <a:avLst/>
          </a:prstGeom>
          <a:noFill/>
        </p:spPr>
        <p:txBody>
          <a:bodyPr wrap="square" lIns="36000" rIns="36000" tIns="18000" bIns="18000" anchor="t">
            <a:spAutoFit/>
          </a:bodyPr>
          <a:lstStyle/>
          <a:p>
            <a:pPr algn="l"/>
            <a:r>
              <a:rPr sz="800" b="0" i="0">
                <a:solidFill>
                  <a:srgbClr val="2C3E50"/>
                </a:solidFill>
                <a:latin typeface="Arial"/>
              </a:rPr>
              <a:t>FIXED · squad capacity = FTE × velocity (quarterly)  ·  ALLOCATED · % per CoS lane (Gate 2 monthly · Director + middle managers)  ·  CONSUMED · PM (per VS) pulls within lane</a:t>
            </a:r>
          </a:p>
        </p:txBody>
      </p:sp>
      <p:sp>
        <p:nvSpPr>
          <p:cNvPr id="12" name="Rectangle 11"/>
          <p:cNvSpPr/>
          <p:nvPr/>
        </p:nvSpPr>
        <p:spPr>
          <a:xfrm>
            <a:off x="365760" y="2011680"/>
            <a:ext cx="219456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011680"/>
            <a:ext cx="2194560" cy="384048"/>
          </a:xfrm>
          <a:prstGeom prst="rect">
            <a:avLst/>
          </a:prstGeom>
          <a:noFill/>
        </p:spPr>
        <p:txBody>
          <a:bodyPr wrap="square" lIns="36000" rIns="36000" tIns="18000" bIns="18000" anchor="ctr">
            <a:spAutoFit/>
          </a:bodyPr>
          <a:lstStyle/>
          <a:p>
            <a:pPr algn="ctr"/>
            <a:r>
              <a:rPr sz="900" b="1" i="0">
                <a:solidFill>
                  <a:srgbClr val="FFFFFF"/>
                </a:solidFill>
                <a:latin typeface="Arial"/>
              </a:rPr>
              <a:t>SQUAD  ·  per Value Stream</a:t>
            </a:r>
          </a:p>
        </p:txBody>
      </p:sp>
      <p:sp>
        <p:nvSpPr>
          <p:cNvPr id="14" name="Rectangle 13"/>
          <p:cNvSpPr/>
          <p:nvPr/>
        </p:nvSpPr>
        <p:spPr>
          <a:xfrm>
            <a:off x="2560320" y="2011680"/>
            <a:ext cx="2032254" cy="384048"/>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STANDARD</a:t>
            </a:r>
          </a:p>
        </p:txBody>
      </p:sp>
      <p:sp>
        <p:nvSpPr>
          <p:cNvPr id="16" name="TextBox 15"/>
          <p:cNvSpPr txBox="1"/>
          <p:nvPr/>
        </p:nvSpPr>
        <p:spPr>
          <a:xfrm>
            <a:off x="256032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3-4</a:t>
            </a:r>
          </a:p>
        </p:txBody>
      </p:sp>
      <p:sp>
        <p:nvSpPr>
          <p:cNvPr id="17" name="Rectangle 16"/>
          <p:cNvSpPr/>
          <p:nvPr/>
        </p:nvSpPr>
        <p:spPr>
          <a:xfrm>
            <a:off x="4629150" y="2011680"/>
            <a:ext cx="2032254" cy="384048"/>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915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FIXED-DATE</a:t>
            </a:r>
          </a:p>
        </p:txBody>
      </p:sp>
      <p:sp>
        <p:nvSpPr>
          <p:cNvPr id="19" name="TextBox 18"/>
          <p:cNvSpPr txBox="1"/>
          <p:nvPr/>
        </p:nvSpPr>
        <p:spPr>
          <a:xfrm>
            <a:off x="462915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2</a:t>
            </a:r>
          </a:p>
        </p:txBody>
      </p:sp>
      <p:sp>
        <p:nvSpPr>
          <p:cNvPr id="20" name="Rectangle 19"/>
          <p:cNvSpPr/>
          <p:nvPr/>
        </p:nvSpPr>
        <p:spPr>
          <a:xfrm>
            <a:off x="6697980" y="2011680"/>
            <a:ext cx="2032254" cy="384048"/>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798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EXPEDITE</a:t>
            </a:r>
          </a:p>
        </p:txBody>
      </p:sp>
      <p:sp>
        <p:nvSpPr>
          <p:cNvPr id="22" name="TextBox 21"/>
          <p:cNvSpPr txBox="1"/>
          <p:nvPr/>
        </p:nvSpPr>
        <p:spPr>
          <a:xfrm>
            <a:off x="669798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3" name="Rectangle 22"/>
          <p:cNvSpPr/>
          <p:nvPr/>
        </p:nvSpPr>
        <p:spPr>
          <a:xfrm>
            <a:off x="8766810" y="2011680"/>
            <a:ext cx="2032254" cy="384048"/>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6681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INTANGIBLE</a:t>
            </a:r>
          </a:p>
        </p:txBody>
      </p:sp>
      <p:sp>
        <p:nvSpPr>
          <p:cNvPr id="25" name="TextBox 24"/>
          <p:cNvSpPr txBox="1"/>
          <p:nvPr/>
        </p:nvSpPr>
        <p:spPr>
          <a:xfrm>
            <a:off x="876681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6" name="Rectangle 25"/>
          <p:cNvSpPr/>
          <p:nvPr/>
        </p:nvSpPr>
        <p:spPr>
          <a:xfrm>
            <a:off x="10835640" y="2011680"/>
            <a:ext cx="100584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35640" y="2011680"/>
            <a:ext cx="1005840" cy="384048"/>
          </a:xfrm>
          <a:prstGeom prst="rect">
            <a:avLst/>
          </a:prstGeom>
          <a:noFill/>
        </p:spPr>
        <p:txBody>
          <a:bodyPr wrap="square" lIns="36000" rIns="36000" tIns="18000" bIns="18000" anchor="ctr">
            <a:spAutoFit/>
          </a:bodyPr>
          <a:lstStyle/>
          <a:p>
            <a:pPr algn="ctr"/>
            <a:r>
              <a:rPr sz="900" b="1" i="0">
                <a:solidFill>
                  <a:srgbClr val="FFFFFF"/>
                </a:solidFill>
                <a:latin typeface="Arial"/>
              </a:rPr>
              <a:t>FTE</a:t>
            </a:r>
          </a:p>
        </p:txBody>
      </p:sp>
      <p:sp>
        <p:nvSpPr>
          <p:cNvPr id="28" name="Rectangle 27"/>
          <p:cNvSpPr/>
          <p:nvPr/>
        </p:nvSpPr>
        <p:spPr>
          <a:xfrm>
            <a:off x="365760" y="2395728"/>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2395728"/>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243230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31" name="TextBox 30"/>
          <p:cNvSpPr txBox="1"/>
          <p:nvPr/>
        </p:nvSpPr>
        <p:spPr>
          <a:xfrm>
            <a:off x="502920" y="259689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32" name="Rectangle 31"/>
          <p:cNvSpPr/>
          <p:nvPr/>
        </p:nvSpPr>
        <p:spPr>
          <a:xfrm>
            <a:off x="256032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65176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651760" y="249631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36" name="Rectangle 35"/>
          <p:cNvSpPr/>
          <p:nvPr/>
        </p:nvSpPr>
        <p:spPr>
          <a:xfrm>
            <a:off x="462915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2059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20590" y="2496312"/>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2915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40" name="Rectangle 39"/>
          <p:cNvSpPr/>
          <p:nvPr/>
        </p:nvSpPr>
        <p:spPr>
          <a:xfrm>
            <a:off x="669798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78942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789420" y="2496312"/>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9798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44" name="Rectangle 43"/>
          <p:cNvSpPr/>
          <p:nvPr/>
        </p:nvSpPr>
        <p:spPr>
          <a:xfrm>
            <a:off x="876681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85825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858250" y="2496312"/>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6681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48" name="Rectangle 47"/>
          <p:cNvSpPr/>
          <p:nvPr/>
        </p:nvSpPr>
        <p:spPr>
          <a:xfrm>
            <a:off x="10835640" y="2395728"/>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35640" y="239572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50" name="Rectangle 49"/>
          <p:cNvSpPr/>
          <p:nvPr/>
        </p:nvSpPr>
        <p:spPr>
          <a:xfrm>
            <a:off x="365760" y="2779776"/>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2779776"/>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281635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53" name="TextBox 52"/>
          <p:cNvSpPr txBox="1"/>
          <p:nvPr/>
        </p:nvSpPr>
        <p:spPr>
          <a:xfrm>
            <a:off x="502920" y="2980944"/>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54" name="Rectangle 53"/>
          <p:cNvSpPr/>
          <p:nvPr/>
        </p:nvSpPr>
        <p:spPr>
          <a:xfrm>
            <a:off x="256032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5176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651760" y="288036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6032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58" name="Rectangle 57"/>
          <p:cNvSpPr/>
          <p:nvPr/>
        </p:nvSpPr>
        <p:spPr>
          <a:xfrm>
            <a:off x="462915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72059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720590" y="288036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2915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62" name="Rectangle 61"/>
          <p:cNvSpPr/>
          <p:nvPr/>
        </p:nvSpPr>
        <p:spPr>
          <a:xfrm>
            <a:off x="669798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78942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789420" y="288036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9798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66" name="Rectangle 65"/>
          <p:cNvSpPr/>
          <p:nvPr/>
        </p:nvSpPr>
        <p:spPr>
          <a:xfrm>
            <a:off x="876681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85825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858250" y="288036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76681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70" name="Rectangle 69"/>
          <p:cNvSpPr/>
          <p:nvPr/>
        </p:nvSpPr>
        <p:spPr>
          <a:xfrm>
            <a:off x="10835640" y="2779776"/>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835640" y="277977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72" name="Rectangle 71"/>
          <p:cNvSpPr/>
          <p:nvPr/>
        </p:nvSpPr>
        <p:spPr>
          <a:xfrm>
            <a:off x="365760" y="3163824"/>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65760" y="3163824"/>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2920" y="320040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Field Operations (CS)</a:t>
            </a:r>
          </a:p>
        </p:txBody>
      </p:sp>
      <p:sp>
        <p:nvSpPr>
          <p:cNvPr id="75" name="TextBox 74"/>
          <p:cNvSpPr txBox="1"/>
          <p:nvPr/>
        </p:nvSpPr>
        <p:spPr>
          <a:xfrm>
            <a:off x="502920" y="3364992"/>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76" name="Rectangle 75"/>
          <p:cNvSpPr/>
          <p:nvPr/>
        </p:nvSpPr>
        <p:spPr>
          <a:xfrm>
            <a:off x="256032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65176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651760" y="326440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56032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80" name="Rectangle 79"/>
          <p:cNvSpPr/>
          <p:nvPr/>
        </p:nvSpPr>
        <p:spPr>
          <a:xfrm>
            <a:off x="462915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72059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720590" y="3264408"/>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62915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84" name="Rectangle 83"/>
          <p:cNvSpPr/>
          <p:nvPr/>
        </p:nvSpPr>
        <p:spPr>
          <a:xfrm>
            <a:off x="669798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78942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789420" y="3264408"/>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69798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88" name="Rectangle 87"/>
          <p:cNvSpPr/>
          <p:nvPr/>
        </p:nvSpPr>
        <p:spPr>
          <a:xfrm>
            <a:off x="876681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85825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58250" y="326440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76681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92" name="Rectangle 91"/>
          <p:cNvSpPr/>
          <p:nvPr/>
        </p:nvSpPr>
        <p:spPr>
          <a:xfrm>
            <a:off x="10835640" y="3163824"/>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835640" y="316382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94" name="Rectangle 93"/>
          <p:cNvSpPr/>
          <p:nvPr/>
        </p:nvSpPr>
        <p:spPr>
          <a:xfrm>
            <a:off x="365760" y="3547872"/>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65760" y="3547872"/>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02920" y="358444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97" name="TextBox 96"/>
          <p:cNvSpPr txBox="1"/>
          <p:nvPr/>
        </p:nvSpPr>
        <p:spPr>
          <a:xfrm>
            <a:off x="502920" y="374903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98" name="Rectangle 97"/>
          <p:cNvSpPr/>
          <p:nvPr/>
        </p:nvSpPr>
        <p:spPr>
          <a:xfrm>
            <a:off x="256032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65176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651760" y="3648456"/>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56032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102" name="Rectangle 101"/>
          <p:cNvSpPr/>
          <p:nvPr/>
        </p:nvSpPr>
        <p:spPr>
          <a:xfrm>
            <a:off x="462915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472059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720590" y="3648456"/>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62915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106" name="Rectangle 105"/>
          <p:cNvSpPr/>
          <p:nvPr/>
        </p:nvSpPr>
        <p:spPr>
          <a:xfrm>
            <a:off x="669798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78942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6789420" y="3648456"/>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69798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10" name="Rectangle 109"/>
          <p:cNvSpPr/>
          <p:nvPr/>
        </p:nvSpPr>
        <p:spPr>
          <a:xfrm>
            <a:off x="876681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85825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8858250" y="3648456"/>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76681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14" name="Rectangle 113"/>
          <p:cNvSpPr/>
          <p:nvPr/>
        </p:nvSpPr>
        <p:spPr>
          <a:xfrm>
            <a:off x="10835640" y="3547872"/>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835640" y="354787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6</a:t>
            </a:r>
          </a:p>
        </p:txBody>
      </p:sp>
      <p:sp>
        <p:nvSpPr>
          <p:cNvPr id="116" name="Rectangle 115"/>
          <p:cNvSpPr/>
          <p:nvPr/>
        </p:nvSpPr>
        <p:spPr>
          <a:xfrm>
            <a:off x="365760" y="3931920"/>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365760" y="3931920"/>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02920" y="3968496"/>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119" name="TextBox 118"/>
          <p:cNvSpPr txBox="1"/>
          <p:nvPr/>
        </p:nvSpPr>
        <p:spPr>
          <a:xfrm>
            <a:off x="502920" y="4133087"/>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20" name="Rectangle 119"/>
          <p:cNvSpPr/>
          <p:nvPr/>
        </p:nvSpPr>
        <p:spPr>
          <a:xfrm>
            <a:off x="256032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65176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2651760" y="4032504"/>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56032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124" name="Rectangle 123"/>
          <p:cNvSpPr/>
          <p:nvPr/>
        </p:nvSpPr>
        <p:spPr>
          <a:xfrm>
            <a:off x="462915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472059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720590" y="4032504"/>
            <a:ext cx="807529"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62915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45%</a:t>
            </a:r>
          </a:p>
        </p:txBody>
      </p:sp>
      <p:sp>
        <p:nvSpPr>
          <p:cNvPr id="128" name="Rectangle 127"/>
          <p:cNvSpPr/>
          <p:nvPr/>
        </p:nvSpPr>
        <p:spPr>
          <a:xfrm>
            <a:off x="669798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678942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6789420" y="4032504"/>
            <a:ext cx="89725"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69798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a:t>
            </a:r>
          </a:p>
        </p:txBody>
      </p:sp>
      <p:sp>
        <p:nvSpPr>
          <p:cNvPr id="132" name="Rectangle 131"/>
          <p:cNvSpPr/>
          <p:nvPr/>
        </p:nvSpPr>
        <p:spPr>
          <a:xfrm>
            <a:off x="876681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885825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858250" y="4032504"/>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76681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36" name="Rectangle 135"/>
          <p:cNvSpPr/>
          <p:nvPr/>
        </p:nvSpPr>
        <p:spPr>
          <a:xfrm>
            <a:off x="10835640" y="3931920"/>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0835640" y="3931920"/>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10</a:t>
            </a:r>
          </a:p>
        </p:txBody>
      </p:sp>
      <p:sp>
        <p:nvSpPr>
          <p:cNvPr id="138" name="Rectangle 137"/>
          <p:cNvSpPr/>
          <p:nvPr/>
        </p:nvSpPr>
        <p:spPr>
          <a:xfrm>
            <a:off x="365760" y="4315968"/>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365760" y="4315968"/>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02920" y="435254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141" name="TextBox 140"/>
          <p:cNvSpPr txBox="1"/>
          <p:nvPr/>
        </p:nvSpPr>
        <p:spPr>
          <a:xfrm>
            <a:off x="502920" y="451713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42" name="Rectangle 141"/>
          <p:cNvSpPr/>
          <p:nvPr/>
        </p:nvSpPr>
        <p:spPr>
          <a:xfrm>
            <a:off x="256032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265176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2651760" y="441655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56032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146" name="Rectangle 145"/>
          <p:cNvSpPr/>
          <p:nvPr/>
        </p:nvSpPr>
        <p:spPr>
          <a:xfrm>
            <a:off x="462915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472059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4720590" y="4416552"/>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62915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150" name="Rectangle 149"/>
          <p:cNvSpPr/>
          <p:nvPr/>
        </p:nvSpPr>
        <p:spPr>
          <a:xfrm>
            <a:off x="669798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678942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6789420" y="4416552"/>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69798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54" name="Rectangle 153"/>
          <p:cNvSpPr/>
          <p:nvPr/>
        </p:nvSpPr>
        <p:spPr>
          <a:xfrm>
            <a:off x="876681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85825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858250" y="4416552"/>
            <a:ext cx="269176"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76681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58" name="Rectangle 157"/>
          <p:cNvSpPr/>
          <p:nvPr/>
        </p:nvSpPr>
        <p:spPr>
          <a:xfrm>
            <a:off x="10835640" y="4315968"/>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0835640" y="431596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160" name="Rectangle 159"/>
          <p:cNvSpPr/>
          <p:nvPr/>
        </p:nvSpPr>
        <p:spPr>
          <a:xfrm>
            <a:off x="365760" y="4700016"/>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365760" y="4700016"/>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02920" y="473659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Renewables IT</a:t>
            </a:r>
          </a:p>
        </p:txBody>
      </p:sp>
      <p:sp>
        <p:nvSpPr>
          <p:cNvPr id="163" name="TextBox 162"/>
          <p:cNvSpPr txBox="1"/>
          <p:nvPr/>
        </p:nvSpPr>
        <p:spPr>
          <a:xfrm>
            <a:off x="502920" y="4901183"/>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64" name="Rectangle 163"/>
          <p:cNvSpPr/>
          <p:nvPr/>
        </p:nvSpPr>
        <p:spPr>
          <a:xfrm>
            <a:off x="256032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265176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2651760" y="480060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256032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168" name="Rectangle 167"/>
          <p:cNvSpPr/>
          <p:nvPr/>
        </p:nvSpPr>
        <p:spPr>
          <a:xfrm>
            <a:off x="462915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72059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4720590" y="480060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462915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72" name="Rectangle 171"/>
          <p:cNvSpPr/>
          <p:nvPr/>
        </p:nvSpPr>
        <p:spPr>
          <a:xfrm>
            <a:off x="669798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78942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789420" y="480060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69798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76" name="Rectangle 175"/>
          <p:cNvSpPr/>
          <p:nvPr/>
        </p:nvSpPr>
        <p:spPr>
          <a:xfrm>
            <a:off x="876681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885825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8858250" y="480060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876681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80" name="Rectangle 179"/>
          <p:cNvSpPr/>
          <p:nvPr/>
        </p:nvSpPr>
        <p:spPr>
          <a:xfrm>
            <a:off x="10835640" y="4700016"/>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10835640" y="470001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182" name="Rectangle 181"/>
          <p:cNvSpPr/>
          <p:nvPr/>
        </p:nvSpPr>
        <p:spPr>
          <a:xfrm>
            <a:off x="365760" y="5084064"/>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365760" y="5084064"/>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02920" y="512064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185" name="TextBox 184"/>
          <p:cNvSpPr txBox="1"/>
          <p:nvPr/>
        </p:nvSpPr>
        <p:spPr>
          <a:xfrm>
            <a:off x="502920" y="5285231"/>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86" name="Rectangle 185"/>
          <p:cNvSpPr/>
          <p:nvPr/>
        </p:nvSpPr>
        <p:spPr>
          <a:xfrm>
            <a:off x="256032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265176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2651760" y="518464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256032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190" name="Rectangle 189"/>
          <p:cNvSpPr/>
          <p:nvPr/>
        </p:nvSpPr>
        <p:spPr>
          <a:xfrm>
            <a:off x="462915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472059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720590" y="5184648"/>
            <a:ext cx="538353"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462915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30%</a:t>
            </a:r>
          </a:p>
        </p:txBody>
      </p:sp>
      <p:sp>
        <p:nvSpPr>
          <p:cNvPr id="194" name="Rectangle 193"/>
          <p:cNvSpPr/>
          <p:nvPr/>
        </p:nvSpPr>
        <p:spPr>
          <a:xfrm>
            <a:off x="669798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78942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6789420" y="5184648"/>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669798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98" name="Rectangle 197"/>
          <p:cNvSpPr/>
          <p:nvPr/>
        </p:nvSpPr>
        <p:spPr>
          <a:xfrm>
            <a:off x="876681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85825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8858250" y="518464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876681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202" name="Rectangle 201"/>
          <p:cNvSpPr/>
          <p:nvPr/>
        </p:nvSpPr>
        <p:spPr>
          <a:xfrm>
            <a:off x="10835640" y="5084064"/>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10835640" y="508406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204" name="Rectangle 203"/>
          <p:cNvSpPr/>
          <p:nvPr/>
        </p:nvSpPr>
        <p:spPr>
          <a:xfrm>
            <a:off x="365760" y="5468112"/>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365760" y="5468112"/>
            <a:ext cx="91440" cy="365759"/>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502920" y="550468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Enabling Team</a:t>
            </a:r>
          </a:p>
        </p:txBody>
      </p:sp>
      <p:sp>
        <p:nvSpPr>
          <p:cNvPr id="207" name="TextBox 206"/>
          <p:cNvSpPr txBox="1"/>
          <p:nvPr/>
        </p:nvSpPr>
        <p:spPr>
          <a:xfrm>
            <a:off x="502920" y="566927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BOTH</a:t>
            </a:r>
          </a:p>
        </p:txBody>
      </p:sp>
      <p:sp>
        <p:nvSpPr>
          <p:cNvPr id="208" name="Rectangle 207"/>
          <p:cNvSpPr/>
          <p:nvPr/>
        </p:nvSpPr>
        <p:spPr>
          <a:xfrm>
            <a:off x="256032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265176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2651760" y="5568696"/>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256032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212" name="Rectangle 211"/>
          <p:cNvSpPr/>
          <p:nvPr/>
        </p:nvSpPr>
        <p:spPr>
          <a:xfrm>
            <a:off x="462915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472059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4720590" y="5568696"/>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462915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16" name="Rectangle 215"/>
          <p:cNvSpPr/>
          <p:nvPr/>
        </p:nvSpPr>
        <p:spPr>
          <a:xfrm>
            <a:off x="669798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678942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6789420" y="5568696"/>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669798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20" name="Rectangle 219"/>
          <p:cNvSpPr/>
          <p:nvPr/>
        </p:nvSpPr>
        <p:spPr>
          <a:xfrm>
            <a:off x="876681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85825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858250" y="5568696"/>
            <a:ext cx="358902"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876681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24" name="Rectangle 223"/>
          <p:cNvSpPr/>
          <p:nvPr/>
        </p:nvSpPr>
        <p:spPr>
          <a:xfrm>
            <a:off x="10835640" y="5468112"/>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10835640" y="546811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5</a:t>
            </a:r>
          </a:p>
        </p:txBody>
      </p:sp>
      <p:sp>
        <p:nvSpPr>
          <p:cNvPr id="226" name="Rounded Rectangle 225"/>
          <p:cNvSpPr/>
          <p:nvPr/>
        </p:nvSpPr>
        <p:spPr>
          <a:xfrm>
            <a:off x="365760" y="5440680"/>
            <a:ext cx="11475720" cy="86868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365760" y="544068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548640" y="549554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229" name="TextBox 228"/>
          <p:cNvSpPr txBox="1"/>
          <p:nvPr/>
        </p:nvSpPr>
        <p:spPr>
          <a:xfrm>
            <a:off x="548640" y="56601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Capacity reality lives with middle managers — not with the Director who approves the % at Gate 2.</a:t>
            </a:r>
          </a:p>
        </p:txBody>
      </p:sp>
      <p:sp>
        <p:nvSpPr>
          <p:cNvPr id="230" name="TextBox 229"/>
          <p:cNvSpPr txBox="1"/>
          <p:nvPr/>
        </p:nvSpPr>
        <p:spPr>
          <a:xfrm>
            <a:off x="548640" y="5943600"/>
            <a:ext cx="11201400" cy="320040"/>
          </a:xfrm>
          <a:prstGeom prst="rect">
            <a:avLst/>
          </a:prstGeom>
          <a:noFill/>
        </p:spPr>
        <p:txBody>
          <a:bodyPr wrap="square" lIns="36000" rIns="36000" tIns="18000" bIns="18000" anchor="t">
            <a:spAutoFit/>
          </a:bodyPr>
          <a:lstStyle/>
          <a:p>
            <a:pPr algn="l"/>
            <a:r>
              <a:rPr sz="800" b="0" i="0">
                <a:solidFill>
                  <a:srgbClr val="526077"/>
                </a:solidFill>
                <a:latin typeface="Arial"/>
              </a:rPr>
              <a:t>Director sets policy (% per CoS lane) once a month · Middle managers (Kumar's + Carlos's lieutenants) flex day-to-day within that envelope · PM (per VS) consumes the capacity for refinement and pull · misalignment caught at next Gate 2 with audit trail</a:t>
            </a:r>
          </a:p>
        </p:txBody>
      </p:sp>
      <p:sp>
        <p:nvSpPr>
          <p:cNvPr id="231" name="TextBox 230"/>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232" name="Rectangle 231"/>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234" name="Rectangle 233"/>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236" name="Rectangle 235"/>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238" name="Rectangle 237"/>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240" name="TextBox 23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10 / 29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CAPABILITIES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UNPLANNED DEMAND · 2 CHANNELS: SCOPE-ADD SHORTCUT · SEVERITY / EMERGENCY LANE · DIRECTOR DECLARES SEVERITY AT ANY TIME</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88720"/>
            <a:ext cx="56464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243584"/>
            <a:ext cx="53721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1  ·  SCOPE-ADD</a:t>
            </a:r>
          </a:p>
        </p:txBody>
      </p:sp>
      <p:sp>
        <p:nvSpPr>
          <p:cNvPr id="11" name="TextBox 10"/>
          <p:cNvSpPr txBox="1"/>
          <p:nvPr/>
        </p:nvSpPr>
        <p:spPr>
          <a:xfrm>
            <a:off x="502920" y="1481328"/>
            <a:ext cx="5372100" cy="274320"/>
          </a:xfrm>
          <a:prstGeom prst="rect">
            <a:avLst/>
          </a:prstGeom>
          <a:noFill/>
        </p:spPr>
        <p:txBody>
          <a:bodyPr wrap="square" lIns="36000" rIns="36000" tIns="18000" bIns="18000" anchor="t">
            <a:spAutoFit/>
          </a:bodyPr>
          <a:lstStyle/>
          <a:p>
            <a:pPr algn="l"/>
            <a:r>
              <a:rPr sz="800" b="0" i="1">
                <a:solidFill>
                  <a:srgbClr val="FFFFFF"/>
                </a:solidFill>
                <a:latin typeface="Arial"/>
              </a:rPr>
              <a:t>Demand-on-existing-Initiative shortcut</a:t>
            </a:r>
          </a:p>
        </p:txBody>
      </p:sp>
      <p:sp>
        <p:nvSpPr>
          <p:cNvPr id="12" name="TextBox 11"/>
          <p:cNvSpPr txBox="1"/>
          <p:nvPr/>
        </p:nvSpPr>
        <p:spPr>
          <a:xfrm>
            <a:off x="502920" y="1920240"/>
            <a:ext cx="5372100" cy="164592"/>
          </a:xfrm>
          <a:prstGeom prst="rect">
            <a:avLst/>
          </a:prstGeom>
          <a:noFill/>
        </p:spPr>
        <p:txBody>
          <a:bodyPr wrap="square" lIns="36000" rIns="36000" tIns="18000" bIns="18000" anchor="t">
            <a:spAutoFit/>
          </a:bodyPr>
          <a:lstStyle/>
          <a:p>
            <a:pPr algn="l"/>
            <a:r>
              <a:rPr sz="700" b="1" i="0">
                <a:solidFill>
                  <a:srgbClr val="008C38"/>
                </a:solidFill>
                <a:latin typeface="Arial"/>
              </a:rPr>
              <a:t>TRIGGER</a:t>
            </a:r>
          </a:p>
        </p:txBody>
      </p:sp>
      <p:sp>
        <p:nvSpPr>
          <p:cNvPr id="13" name="TextBox 12"/>
          <p:cNvSpPr txBox="1"/>
          <p:nvPr/>
        </p:nvSpPr>
        <p:spPr>
          <a:xfrm>
            <a:off x="502920" y="2084832"/>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New ask scopes-into an Initiative already in Implementing</a:t>
            </a:r>
          </a:p>
        </p:txBody>
      </p:sp>
      <p:sp>
        <p:nvSpPr>
          <p:cNvPr id="14" name="TextBox 13"/>
          <p:cNvSpPr txBox="1"/>
          <p:nvPr/>
        </p:nvSpPr>
        <p:spPr>
          <a:xfrm>
            <a:off x="502920" y="2521131"/>
            <a:ext cx="5372100" cy="164592"/>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15" name="TextBox 14"/>
          <p:cNvSpPr txBox="1"/>
          <p:nvPr/>
        </p:nvSpPr>
        <p:spPr>
          <a:xfrm>
            <a:off x="502920" y="2685723"/>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PM (per Squad) evaluates within 48h</a:t>
            </a:r>
          </a:p>
        </p:txBody>
      </p:sp>
      <p:sp>
        <p:nvSpPr>
          <p:cNvPr id="16" name="TextBox 15"/>
          <p:cNvSpPr txBox="1"/>
          <p:nvPr/>
        </p:nvSpPr>
        <p:spPr>
          <a:xfrm>
            <a:off x="502920" y="3122022"/>
            <a:ext cx="5372100" cy="164592"/>
          </a:xfrm>
          <a:prstGeom prst="rect">
            <a:avLst/>
          </a:prstGeom>
          <a:noFill/>
        </p:spPr>
        <p:txBody>
          <a:bodyPr wrap="square" lIns="36000" rIns="36000" tIns="18000" bIns="18000" anchor="t">
            <a:spAutoFit/>
          </a:bodyPr>
          <a:lstStyle/>
          <a:p>
            <a:pPr algn="l"/>
            <a:r>
              <a:rPr sz="700" b="1" i="0">
                <a:solidFill>
                  <a:srgbClr val="008C38"/>
                </a:solidFill>
                <a:latin typeface="Arial"/>
              </a:rPr>
              <a:t>DECISION</a:t>
            </a:r>
          </a:p>
        </p:txBody>
      </p:sp>
      <p:sp>
        <p:nvSpPr>
          <p:cNvPr id="17" name="TextBox 16"/>
          <p:cNvSpPr txBox="1"/>
          <p:nvPr/>
        </p:nvSpPr>
        <p:spPr>
          <a:xfrm>
            <a:off x="502920" y="3286614"/>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ACCEPT (preferred when parent Implementing)</a:t>
            </a:r>
          </a:p>
          <a:p>
            <a:pPr algn="l"/>
            <a:r>
              <a:rPr sz="800" b="0" i="0">
                <a:solidFill>
                  <a:srgbClr val="2C3E50"/>
                </a:solidFill>
                <a:latin typeface="Arial"/>
              </a:rPr>
              <a:t>REJECT (when parent earlier — submit standalone)</a:t>
            </a:r>
          </a:p>
        </p:txBody>
      </p:sp>
      <p:sp>
        <p:nvSpPr>
          <p:cNvPr id="18" name="TextBox 17"/>
          <p:cNvSpPr txBox="1"/>
          <p:nvPr/>
        </p:nvSpPr>
        <p:spPr>
          <a:xfrm>
            <a:off x="502920" y="3722914"/>
            <a:ext cx="5372100" cy="164592"/>
          </a:xfrm>
          <a:prstGeom prst="rect">
            <a:avLst/>
          </a:prstGeom>
          <a:noFill/>
        </p:spPr>
        <p:txBody>
          <a:bodyPr wrap="square" lIns="36000" rIns="36000" tIns="18000" bIns="18000" anchor="t">
            <a:spAutoFit/>
          </a:bodyPr>
          <a:lstStyle/>
          <a:p>
            <a:pPr algn="l"/>
            <a:r>
              <a:rPr sz="700" b="1" i="0">
                <a:solidFill>
                  <a:srgbClr val="008C38"/>
                </a:solidFill>
                <a:latin typeface="Arial"/>
              </a:rPr>
              <a:t>PATH</a:t>
            </a:r>
          </a:p>
        </p:txBody>
      </p:sp>
      <p:sp>
        <p:nvSpPr>
          <p:cNvPr id="19" name="TextBox 18"/>
          <p:cNvSpPr txBox="1"/>
          <p:nvPr/>
        </p:nvSpPr>
        <p:spPr>
          <a:xfrm>
            <a:off x="502920" y="3887506"/>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Story added under existing Initiative or Epic · DoR fast-track</a:t>
            </a:r>
          </a:p>
        </p:txBody>
      </p:sp>
      <p:sp>
        <p:nvSpPr>
          <p:cNvPr id="20" name="TextBox 19"/>
          <p:cNvSpPr txBox="1"/>
          <p:nvPr/>
        </p:nvSpPr>
        <p:spPr>
          <a:xfrm>
            <a:off x="502920" y="4323805"/>
            <a:ext cx="5372100" cy="164592"/>
          </a:xfrm>
          <a:prstGeom prst="rect">
            <a:avLst/>
          </a:prstGeom>
          <a:noFill/>
        </p:spPr>
        <p:txBody>
          <a:bodyPr wrap="square" lIns="36000" rIns="36000" tIns="18000" bIns="18000" anchor="t">
            <a:spAutoFit/>
          </a:bodyPr>
          <a:lstStyle/>
          <a:p>
            <a:pPr algn="l"/>
            <a:r>
              <a:rPr sz="700" b="1" i="0">
                <a:solidFill>
                  <a:srgbClr val="008C38"/>
                </a:solidFill>
                <a:latin typeface="Arial"/>
              </a:rPr>
              <a:t>CoS IMPACT</a:t>
            </a:r>
          </a:p>
        </p:txBody>
      </p:sp>
      <p:sp>
        <p:nvSpPr>
          <p:cNvPr id="21" name="TextBox 20"/>
          <p:cNvSpPr txBox="1"/>
          <p:nvPr/>
        </p:nvSpPr>
        <p:spPr>
          <a:xfrm>
            <a:off x="502920" y="4488397"/>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Inherits parent CoS · stays in same lane</a:t>
            </a:r>
          </a:p>
        </p:txBody>
      </p:sp>
      <p:sp>
        <p:nvSpPr>
          <p:cNvPr id="22" name="TextBox 21"/>
          <p:cNvSpPr txBox="1"/>
          <p:nvPr/>
        </p:nvSpPr>
        <p:spPr>
          <a:xfrm>
            <a:off x="502920" y="4924697"/>
            <a:ext cx="5372100" cy="164592"/>
          </a:xfrm>
          <a:prstGeom prst="rect">
            <a:avLst/>
          </a:prstGeom>
          <a:noFill/>
        </p:spPr>
        <p:txBody>
          <a:bodyPr wrap="square" lIns="36000" rIns="36000" tIns="18000" bIns="18000" anchor="t">
            <a:spAutoFit/>
          </a:bodyPr>
          <a:lstStyle/>
          <a:p>
            <a:pPr algn="l"/>
            <a:r>
              <a:rPr sz="700" b="1" i="0">
                <a:solidFill>
                  <a:srgbClr val="008C38"/>
                </a:solidFill>
                <a:latin typeface="Arial"/>
              </a:rPr>
              <a:t>EXAMPLE</a:t>
            </a:r>
          </a:p>
        </p:txBody>
      </p:sp>
      <p:sp>
        <p:nvSpPr>
          <p:cNvPr id="23" name="TextBox 22"/>
          <p:cNvSpPr txBox="1"/>
          <p:nvPr/>
        </p:nvSpPr>
        <p:spPr>
          <a:xfrm>
            <a:off x="502920" y="5089289"/>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CRM project live · add CSV export to reconciliation report</a:t>
            </a:r>
          </a:p>
        </p:txBody>
      </p:sp>
      <p:sp>
        <p:nvSpPr>
          <p:cNvPr id="24" name="TextBox 23"/>
          <p:cNvSpPr txBox="1"/>
          <p:nvPr/>
        </p:nvSpPr>
        <p:spPr>
          <a:xfrm>
            <a:off x="502920" y="5525588"/>
            <a:ext cx="5372100" cy="164592"/>
          </a:xfrm>
          <a:prstGeom prst="rect">
            <a:avLst/>
          </a:prstGeom>
          <a:noFill/>
        </p:spPr>
        <p:txBody>
          <a:bodyPr wrap="square" lIns="36000" rIns="36000" tIns="18000" bIns="18000" anchor="t">
            <a:spAutoFit/>
          </a:bodyPr>
          <a:lstStyle/>
          <a:p>
            <a:pPr algn="l"/>
            <a:r>
              <a:rPr sz="700" b="1" i="0">
                <a:solidFill>
                  <a:srgbClr val="008C38"/>
                </a:solidFill>
                <a:latin typeface="Arial"/>
              </a:rPr>
              <a:t>BYPASS</a:t>
            </a:r>
          </a:p>
        </p:txBody>
      </p:sp>
      <p:sp>
        <p:nvSpPr>
          <p:cNvPr id="25" name="TextBox 24"/>
          <p:cNvSpPr txBox="1"/>
          <p:nvPr/>
        </p:nvSpPr>
        <p:spPr>
          <a:xfrm>
            <a:off x="502920" y="5690180"/>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No new Gate 2 · audit logged at parent Initiative</a:t>
            </a:r>
          </a:p>
        </p:txBody>
      </p:sp>
      <p:sp>
        <p:nvSpPr>
          <p:cNvPr id="26" name="Rounded Rectangle 25"/>
          <p:cNvSpPr/>
          <p:nvPr/>
        </p:nvSpPr>
        <p:spPr>
          <a:xfrm>
            <a:off x="61950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95060" y="1188720"/>
            <a:ext cx="5646420"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2220" y="1243584"/>
            <a:ext cx="53721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2  ·  SEVERITY / EMERGENCY</a:t>
            </a:r>
          </a:p>
        </p:txBody>
      </p:sp>
      <p:sp>
        <p:nvSpPr>
          <p:cNvPr id="29" name="TextBox 28"/>
          <p:cNvSpPr txBox="1"/>
          <p:nvPr/>
        </p:nvSpPr>
        <p:spPr>
          <a:xfrm>
            <a:off x="6332220" y="1481328"/>
            <a:ext cx="5372100" cy="274320"/>
          </a:xfrm>
          <a:prstGeom prst="rect">
            <a:avLst/>
          </a:prstGeom>
          <a:noFill/>
        </p:spPr>
        <p:txBody>
          <a:bodyPr wrap="square" lIns="36000" rIns="36000" tIns="18000" bIns="18000" anchor="t">
            <a:spAutoFit/>
          </a:bodyPr>
          <a:lstStyle/>
          <a:p>
            <a:pPr algn="l"/>
            <a:r>
              <a:rPr sz="800" b="0" i="1">
                <a:solidFill>
                  <a:srgbClr val="FFFFFF"/>
                </a:solidFill>
                <a:latin typeface="Arial"/>
              </a:rPr>
              <a:t>Production outage · regulatory deadline shift · safety · critical impact</a:t>
            </a:r>
          </a:p>
        </p:txBody>
      </p:sp>
      <p:sp>
        <p:nvSpPr>
          <p:cNvPr id="30" name="TextBox 29"/>
          <p:cNvSpPr txBox="1"/>
          <p:nvPr/>
        </p:nvSpPr>
        <p:spPr>
          <a:xfrm>
            <a:off x="6332220" y="1920240"/>
            <a:ext cx="5372100" cy="164592"/>
          </a:xfrm>
          <a:prstGeom prst="rect">
            <a:avLst/>
          </a:prstGeom>
          <a:noFill/>
        </p:spPr>
        <p:txBody>
          <a:bodyPr wrap="square" lIns="36000" rIns="36000" tIns="18000" bIns="18000" anchor="t">
            <a:spAutoFit/>
          </a:bodyPr>
          <a:lstStyle/>
          <a:p>
            <a:pPr algn="l"/>
            <a:r>
              <a:rPr sz="700" b="1" i="0">
                <a:solidFill>
                  <a:srgbClr val="E09F3E"/>
                </a:solidFill>
                <a:latin typeface="Arial"/>
              </a:rPr>
              <a:t>TRIGGER</a:t>
            </a:r>
          </a:p>
        </p:txBody>
      </p:sp>
      <p:sp>
        <p:nvSpPr>
          <p:cNvPr id="31" name="TextBox 30"/>
          <p:cNvSpPr txBox="1"/>
          <p:nvPr/>
        </p:nvSpPr>
        <p:spPr>
          <a:xfrm>
            <a:off x="6332220" y="2084832"/>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Production outage OR external regulatory shift OR safety incident OR critical impact declared by Director</a:t>
            </a:r>
          </a:p>
        </p:txBody>
      </p:sp>
      <p:sp>
        <p:nvSpPr>
          <p:cNvPr id="32" name="TextBox 31"/>
          <p:cNvSpPr txBox="1"/>
          <p:nvPr/>
        </p:nvSpPr>
        <p:spPr>
          <a:xfrm>
            <a:off x="6332220" y="2521131"/>
            <a:ext cx="5372100" cy="164592"/>
          </a:xfrm>
          <a:prstGeom prst="rect">
            <a:avLst/>
          </a:prstGeom>
          <a:noFill/>
        </p:spPr>
        <p:txBody>
          <a:bodyPr wrap="square" lIns="36000" rIns="36000" tIns="18000" bIns="18000" anchor="t">
            <a:spAutoFit/>
          </a:bodyPr>
          <a:lstStyle/>
          <a:p>
            <a:pPr algn="l"/>
            <a:r>
              <a:rPr sz="700" b="1" i="0">
                <a:solidFill>
                  <a:srgbClr val="E09F3E"/>
                </a:solidFill>
                <a:latin typeface="Arial"/>
              </a:rPr>
              <a:t>OWNER</a:t>
            </a:r>
          </a:p>
        </p:txBody>
      </p:sp>
      <p:sp>
        <p:nvSpPr>
          <p:cNvPr id="33" name="TextBox 32"/>
          <p:cNvSpPr txBox="1"/>
          <p:nvPr/>
        </p:nvSpPr>
        <p:spPr>
          <a:xfrm>
            <a:off x="6332220" y="2685723"/>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(relevant area) + Architect on-call · severity declared at any time (no intake flag required)</a:t>
            </a:r>
          </a:p>
        </p:txBody>
      </p:sp>
      <p:sp>
        <p:nvSpPr>
          <p:cNvPr id="34" name="TextBox 33"/>
          <p:cNvSpPr txBox="1"/>
          <p:nvPr/>
        </p:nvSpPr>
        <p:spPr>
          <a:xfrm>
            <a:off x="6332220" y="3122022"/>
            <a:ext cx="5372100" cy="164592"/>
          </a:xfrm>
          <a:prstGeom prst="rect">
            <a:avLst/>
          </a:prstGeom>
          <a:noFill/>
        </p:spPr>
        <p:txBody>
          <a:bodyPr wrap="square" lIns="36000" rIns="36000" tIns="18000" bIns="18000" anchor="t">
            <a:spAutoFit/>
          </a:bodyPr>
          <a:lstStyle/>
          <a:p>
            <a:pPr algn="l"/>
            <a:r>
              <a:rPr sz="700" b="1" i="0">
                <a:solidFill>
                  <a:srgbClr val="E09F3E"/>
                </a:solidFill>
                <a:latin typeface="Arial"/>
              </a:rPr>
              <a:t>PATH</a:t>
            </a:r>
          </a:p>
        </p:txBody>
      </p:sp>
      <p:sp>
        <p:nvSpPr>
          <p:cNvPr id="35" name="TextBox 34"/>
          <p:cNvSpPr txBox="1"/>
          <p:nvPr/>
        </p:nvSpPr>
        <p:spPr>
          <a:xfrm>
            <a:off x="6332220" y="3286614"/>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 to Squad · skip Funnel · ServiceNow-side handles pure incidents</a:t>
            </a:r>
          </a:p>
        </p:txBody>
      </p:sp>
      <p:sp>
        <p:nvSpPr>
          <p:cNvPr id="36" name="TextBox 35"/>
          <p:cNvSpPr txBox="1"/>
          <p:nvPr/>
        </p:nvSpPr>
        <p:spPr>
          <a:xfrm>
            <a:off x="6332220" y="3722914"/>
            <a:ext cx="5372100" cy="164592"/>
          </a:xfrm>
          <a:prstGeom prst="rect">
            <a:avLst/>
          </a:prstGeom>
          <a:noFill/>
        </p:spPr>
        <p:txBody>
          <a:bodyPr wrap="square" lIns="36000" rIns="36000" tIns="18000" bIns="18000" anchor="t">
            <a:spAutoFit/>
          </a:bodyPr>
          <a:lstStyle/>
          <a:p>
            <a:pPr algn="l"/>
            <a:r>
              <a:rPr sz="700" b="1" i="0">
                <a:solidFill>
                  <a:srgbClr val="E09F3E"/>
                </a:solidFill>
                <a:latin typeface="Arial"/>
              </a:rPr>
              <a:t>LANE</a:t>
            </a:r>
          </a:p>
        </p:txBody>
      </p:sp>
      <p:sp>
        <p:nvSpPr>
          <p:cNvPr id="37" name="TextBox 36"/>
          <p:cNvSpPr txBox="1"/>
          <p:nvPr/>
        </p:nvSpPr>
        <p:spPr>
          <a:xfrm>
            <a:off x="6332220" y="3887506"/>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Expedite (severity / outage) OR Fixed-Date (regulatory deadline)</a:t>
            </a:r>
          </a:p>
        </p:txBody>
      </p:sp>
      <p:sp>
        <p:nvSpPr>
          <p:cNvPr id="38" name="TextBox 37"/>
          <p:cNvSpPr txBox="1"/>
          <p:nvPr/>
        </p:nvSpPr>
        <p:spPr>
          <a:xfrm>
            <a:off x="6332220" y="4323805"/>
            <a:ext cx="5372100" cy="164592"/>
          </a:xfrm>
          <a:prstGeom prst="rect">
            <a:avLst/>
          </a:prstGeom>
          <a:noFill/>
        </p:spPr>
        <p:txBody>
          <a:bodyPr wrap="square" lIns="36000" rIns="36000" tIns="18000" bIns="18000" anchor="t">
            <a:spAutoFit/>
          </a:bodyPr>
          <a:lstStyle/>
          <a:p>
            <a:pPr algn="l"/>
            <a:r>
              <a:rPr sz="700" b="1" i="0">
                <a:solidFill>
                  <a:srgbClr val="E09F3E"/>
                </a:solidFill>
                <a:latin typeface="Arial"/>
              </a:rPr>
              <a:t>CoS IMPACT</a:t>
            </a:r>
          </a:p>
        </p:txBody>
      </p:sp>
      <p:sp>
        <p:nvSpPr>
          <p:cNvPr id="39" name="TextBox 38"/>
          <p:cNvSpPr txBox="1"/>
          <p:nvPr/>
        </p:nvSpPr>
        <p:spPr>
          <a:xfrm>
            <a:off x="6332220" y="4488397"/>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Pre-empts existing WIP if needed · Director call · WIP-1 lane</a:t>
            </a:r>
          </a:p>
        </p:txBody>
      </p:sp>
      <p:sp>
        <p:nvSpPr>
          <p:cNvPr id="40" name="TextBox 39"/>
          <p:cNvSpPr txBox="1"/>
          <p:nvPr/>
        </p:nvSpPr>
        <p:spPr>
          <a:xfrm>
            <a:off x="6332220" y="4924697"/>
            <a:ext cx="5372100" cy="164592"/>
          </a:xfrm>
          <a:prstGeom prst="rect">
            <a:avLst/>
          </a:prstGeom>
          <a:noFill/>
        </p:spPr>
        <p:txBody>
          <a:bodyPr wrap="square" lIns="36000" rIns="36000" tIns="18000" bIns="18000" anchor="t">
            <a:spAutoFit/>
          </a:bodyPr>
          <a:lstStyle/>
          <a:p>
            <a:pPr algn="l"/>
            <a:r>
              <a:rPr sz="700" b="1" i="0">
                <a:solidFill>
                  <a:srgbClr val="E09F3E"/>
                </a:solidFill>
                <a:latin typeface="Arial"/>
              </a:rPr>
              <a:t>EXAMPLES</a:t>
            </a:r>
          </a:p>
        </p:txBody>
      </p:sp>
      <p:sp>
        <p:nvSpPr>
          <p:cNvPr id="41" name="TextBox 40"/>
          <p:cNvSpPr txBox="1"/>
          <p:nvPr/>
        </p:nvSpPr>
        <p:spPr>
          <a:xfrm>
            <a:off x="6332220" y="5089289"/>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Genesys queue routing failure during peak hours · PUC issues new regulatory directive with 30-day deadline</a:t>
            </a:r>
          </a:p>
        </p:txBody>
      </p:sp>
      <p:sp>
        <p:nvSpPr>
          <p:cNvPr id="42" name="TextBox 41"/>
          <p:cNvSpPr txBox="1"/>
          <p:nvPr/>
        </p:nvSpPr>
        <p:spPr>
          <a:xfrm>
            <a:off x="6332220" y="5525588"/>
            <a:ext cx="5372100" cy="164592"/>
          </a:xfrm>
          <a:prstGeom prst="rect">
            <a:avLst/>
          </a:prstGeom>
          <a:noFill/>
        </p:spPr>
        <p:txBody>
          <a:bodyPr wrap="square" lIns="36000" rIns="36000" tIns="18000" bIns="18000" anchor="t">
            <a:spAutoFit/>
          </a:bodyPr>
          <a:lstStyle/>
          <a:p>
            <a:pPr algn="l"/>
            <a:r>
              <a:rPr sz="700" b="1" i="0">
                <a:solidFill>
                  <a:srgbClr val="E09F3E"/>
                </a:solidFill>
                <a:latin typeface="Arial"/>
              </a:rPr>
              <a:t>AUDIT</a:t>
            </a:r>
          </a:p>
        </p:txBody>
      </p:sp>
      <p:sp>
        <p:nvSpPr>
          <p:cNvPr id="43" name="TextBox 42"/>
          <p:cNvSpPr txBox="1"/>
          <p:nvPr/>
        </p:nvSpPr>
        <p:spPr>
          <a:xfrm>
            <a:off x="6332220" y="5690180"/>
            <a:ext cx="53721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signs off · post-mortem at next Gate 2 · all events logged</a:t>
            </a:r>
          </a:p>
        </p:txBody>
      </p:sp>
      <p:sp>
        <p:nvSpPr>
          <p:cNvPr id="44" name="TextBox 4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11 / 29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ROLES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PM PER SQUAD · ARCHITECT · SQUAD TEAM: ONE PM PER SQUAD COVERS REFINEMENT → DOR → PULL · PORTFOLIO-LEVEL DECISIONS STAY WITH DIRECTOR TRIO AT GATE 2</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2286000" y="1417320"/>
            <a:ext cx="75895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68880" y="1463040"/>
            <a:ext cx="502920" cy="50292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1463040"/>
            <a:ext cx="502920" cy="502920"/>
          </a:xfrm>
          <a:prstGeom prst="rect">
            <a:avLst/>
          </a:prstGeom>
          <a:noFill/>
        </p:spPr>
        <p:txBody>
          <a:bodyPr wrap="square" lIns="36000" rIns="36000" tIns="18000" bIns="18000" anchor="ctr">
            <a:spAutoFit/>
          </a:bodyPr>
          <a:lstStyle/>
          <a:p>
            <a:pPr algn="ctr"/>
            <a:r>
              <a:rPr sz="1100" b="1" i="0">
                <a:solidFill>
                  <a:srgbClr val="FFFFFF"/>
                </a:solidFill>
                <a:latin typeface="Arial"/>
              </a:rPr>
              <a:t>HK</a:t>
            </a:r>
          </a:p>
        </p:txBody>
      </p:sp>
      <p:sp>
        <p:nvSpPr>
          <p:cNvPr id="12" name="TextBox 11"/>
          <p:cNvSpPr txBox="1"/>
          <p:nvPr/>
        </p:nvSpPr>
        <p:spPr>
          <a:xfrm>
            <a:off x="3108960" y="1472184"/>
            <a:ext cx="6583680" cy="201168"/>
          </a:xfrm>
          <a:prstGeom prst="rect">
            <a:avLst/>
          </a:prstGeom>
          <a:noFill/>
        </p:spPr>
        <p:txBody>
          <a:bodyPr wrap="square" lIns="36000" rIns="36000" tIns="18000" bIns="18000" anchor="t">
            <a:spAutoFit/>
          </a:bodyPr>
          <a:lstStyle/>
          <a:p>
            <a:pPr algn="l"/>
            <a:r>
              <a:rPr sz="1200" b="1" i="0">
                <a:solidFill>
                  <a:srgbClr val="006B3F"/>
                </a:solidFill>
                <a:latin typeface="Arial"/>
              </a:rPr>
              <a:t>HEATHER LaJOIE  ·  Director · Product (NEW capability for Avangrid)</a:t>
            </a:r>
          </a:p>
        </p:txBody>
      </p:sp>
      <p:sp>
        <p:nvSpPr>
          <p:cNvPr id="13" name="TextBox 12"/>
          <p:cNvSpPr txBox="1"/>
          <p:nvPr/>
        </p:nvSpPr>
        <p:spPr>
          <a:xfrm>
            <a:off x="3108960" y="1691640"/>
            <a:ext cx="6583680" cy="274320"/>
          </a:xfrm>
          <a:prstGeom prst="rect">
            <a:avLst/>
          </a:prstGeom>
          <a:noFill/>
        </p:spPr>
        <p:txBody>
          <a:bodyPr wrap="square" lIns="36000" rIns="36000" tIns="18000" bIns="18000" anchor="t">
            <a:spAutoFit/>
          </a:bodyPr>
          <a:lstStyle/>
          <a:p>
            <a:pPr algn="l"/>
            <a:r>
              <a:rPr sz="850" b="0" i="1">
                <a:solidFill>
                  <a:srgbClr val="2C3E50"/>
                </a:solidFill>
                <a:latin typeface="Arial"/>
              </a:rPr>
              <a:t>Spans CS and ITBA · leads + mentors new Product capability · liaison to Digital CoE BRP · co-Director at Gate 2</a:t>
            </a:r>
          </a:p>
        </p:txBody>
      </p:sp>
      <p:sp>
        <p:nvSpPr>
          <p:cNvPr id="14" name="Rounded Rectangle 13"/>
          <p:cNvSpPr/>
          <p:nvPr/>
        </p:nvSpPr>
        <p:spPr>
          <a:xfrm>
            <a:off x="3657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1920240"/>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PM (per Squad)</a:t>
            </a:r>
          </a:p>
        </p:txBody>
      </p:sp>
      <p:sp>
        <p:nvSpPr>
          <p:cNvPr id="17" name="TextBox 16"/>
          <p:cNvSpPr txBox="1"/>
          <p:nvPr/>
        </p:nvSpPr>
        <p:spPr>
          <a:xfrm>
            <a:off x="5029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PMs · per VS · NEW capability across CS + ITBA</a:t>
            </a:r>
          </a:p>
        </p:txBody>
      </p:sp>
      <p:sp>
        <p:nvSpPr>
          <p:cNvPr id="18" name="TextBox 17"/>
          <p:cNvSpPr txBox="1"/>
          <p:nvPr/>
        </p:nvSpPr>
        <p:spPr>
          <a:xfrm>
            <a:off x="502920" y="26517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OWNS</a:t>
            </a:r>
          </a:p>
        </p:txBody>
      </p:sp>
      <p:sp>
        <p:nvSpPr>
          <p:cNvPr id="19" name="TextBox 18"/>
          <p:cNvSpPr txBox="1"/>
          <p:nvPr/>
        </p:nvSpPr>
        <p:spPr>
          <a:xfrm>
            <a:off x="5029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Refinement · Portfolio backlog rank within VS · Roadmap entries</a:t>
            </a:r>
          </a:p>
        </p:txBody>
      </p:sp>
      <p:sp>
        <p:nvSpPr>
          <p:cNvPr id="20" name="TextBox 19"/>
          <p:cNvSpPr txBox="1"/>
          <p:nvPr/>
        </p:nvSpPr>
        <p:spPr>
          <a:xfrm>
            <a:off x="502920" y="323850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PRODUCES</a:t>
            </a:r>
          </a:p>
        </p:txBody>
      </p:sp>
      <p:sp>
        <p:nvSpPr>
          <p:cNvPr id="21" name="TextBox 20"/>
          <p:cNvSpPr txBox="1"/>
          <p:nvPr/>
        </p:nvSpPr>
        <p:spPr>
          <a:xfrm>
            <a:off x="5029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Outcome-named Stories · INVEST-compliant · acceptance criteria split</a:t>
            </a:r>
          </a:p>
        </p:txBody>
      </p:sp>
      <p:sp>
        <p:nvSpPr>
          <p:cNvPr id="22" name="TextBox 21"/>
          <p:cNvSpPr txBox="1"/>
          <p:nvPr/>
        </p:nvSpPr>
        <p:spPr>
          <a:xfrm>
            <a:off x="502920" y="382524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MEETS</a:t>
            </a:r>
          </a:p>
        </p:txBody>
      </p:sp>
      <p:sp>
        <p:nvSpPr>
          <p:cNvPr id="23" name="TextBox 22"/>
          <p:cNvSpPr txBox="1"/>
          <p:nvPr/>
        </p:nvSpPr>
        <p:spPr>
          <a:xfrm>
            <a:off x="5029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(PM + Architect + Squad)  ·  Bi-weekly grooming  ·  Monthly Gate 2 prep</a:t>
            </a:r>
          </a:p>
        </p:txBody>
      </p:sp>
      <p:sp>
        <p:nvSpPr>
          <p:cNvPr id="24" name="TextBox 23"/>
          <p:cNvSpPr txBox="1"/>
          <p:nvPr/>
        </p:nvSpPr>
        <p:spPr>
          <a:xfrm>
            <a:off x="502920" y="441198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ACCOUNTABLE FOR</a:t>
            </a:r>
          </a:p>
        </p:txBody>
      </p:sp>
      <p:sp>
        <p:nvSpPr>
          <p:cNvPr id="25" name="TextBox 24"/>
          <p:cNvSpPr txBox="1"/>
          <p:nvPr/>
        </p:nvSpPr>
        <p:spPr>
          <a:xfrm>
            <a:off x="5029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 framing · NOT delivery (Squad PM owns) · NOT capacity (Director owns)</a:t>
            </a:r>
          </a:p>
        </p:txBody>
      </p:sp>
      <p:sp>
        <p:nvSpPr>
          <p:cNvPr id="26" name="TextBox 25"/>
          <p:cNvSpPr txBox="1"/>
          <p:nvPr/>
        </p:nvSpPr>
        <p:spPr>
          <a:xfrm>
            <a:off x="502920" y="499872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ONBOARDING + RAMP</a:t>
            </a:r>
          </a:p>
        </p:txBody>
      </p:sp>
      <p:sp>
        <p:nvSpPr>
          <p:cNvPr id="27" name="TextBox 26"/>
          <p:cNvSpPr txBox="1"/>
          <p:nvPr/>
        </p:nvSpPr>
        <p:spPr>
          <a:xfrm>
            <a:off x="5029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12-week onboarding · mentored by Heather · paired with BRS counterpart</a:t>
            </a:r>
          </a:p>
        </p:txBody>
      </p:sp>
      <p:sp>
        <p:nvSpPr>
          <p:cNvPr id="28" name="TextBox 27"/>
          <p:cNvSpPr txBox="1"/>
          <p:nvPr/>
        </p:nvSpPr>
        <p:spPr>
          <a:xfrm>
            <a:off x="502920" y="55854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WHO IS THIS PERSON</a:t>
            </a:r>
          </a:p>
        </p:txBody>
      </p:sp>
      <p:sp>
        <p:nvSpPr>
          <p:cNvPr id="29" name="TextBox 28"/>
          <p:cNvSpPr txBox="1"/>
          <p:nvPr/>
        </p:nvSpPr>
        <p:spPr>
          <a:xfrm>
            <a:off x="5029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individual contributor · product-mindset · domain literacy</a:t>
            </a:r>
          </a:p>
        </p:txBody>
      </p:sp>
      <p:sp>
        <p:nvSpPr>
          <p:cNvPr id="30" name="Rounded Rectangle 29"/>
          <p:cNvSpPr/>
          <p:nvPr/>
        </p:nvSpPr>
        <p:spPr>
          <a:xfrm>
            <a:off x="42519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51960" y="1920240"/>
            <a:ext cx="370332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ARCHITECT  ·  cross-VS</a:t>
            </a:r>
          </a:p>
        </p:txBody>
      </p:sp>
      <p:sp>
        <p:nvSpPr>
          <p:cNvPr id="33" name="TextBox 32"/>
          <p:cNvSpPr txBox="1"/>
          <p:nvPr/>
        </p:nvSpPr>
        <p:spPr>
          <a:xfrm>
            <a:off x="43891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architect per area (CS + ITBA) · cross-VS feasibility</a:t>
            </a:r>
          </a:p>
        </p:txBody>
      </p:sp>
      <p:sp>
        <p:nvSpPr>
          <p:cNvPr id="34" name="TextBox 33"/>
          <p:cNvSpPr txBox="1"/>
          <p:nvPr/>
        </p:nvSpPr>
        <p:spPr>
          <a:xfrm>
            <a:off x="4389120" y="26517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35" name="TextBox 34"/>
          <p:cNvSpPr txBox="1"/>
          <p:nvPr/>
        </p:nvSpPr>
        <p:spPr>
          <a:xfrm>
            <a:off x="43891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scoring (1-5) · Safety scoring (ITBA · 1-5) · NFR pre-check</a:t>
            </a:r>
          </a:p>
        </p:txBody>
      </p:sp>
      <p:sp>
        <p:nvSpPr>
          <p:cNvPr id="36" name="TextBox 35"/>
          <p:cNvSpPr txBox="1"/>
          <p:nvPr/>
        </p:nvSpPr>
        <p:spPr>
          <a:xfrm>
            <a:off x="4389120" y="323850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PRODUCES</a:t>
            </a:r>
          </a:p>
        </p:txBody>
      </p:sp>
      <p:sp>
        <p:nvSpPr>
          <p:cNvPr id="37" name="TextBox 36"/>
          <p:cNvSpPr txBox="1"/>
          <p:nvPr/>
        </p:nvSpPr>
        <p:spPr>
          <a:xfrm>
            <a:off x="43891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Architecture position note per Initiative · cross-VS dependency map</a:t>
            </a:r>
          </a:p>
        </p:txBody>
      </p:sp>
      <p:sp>
        <p:nvSpPr>
          <p:cNvPr id="38" name="TextBox 37"/>
          <p:cNvSpPr txBox="1"/>
          <p:nvPr/>
        </p:nvSpPr>
        <p:spPr>
          <a:xfrm>
            <a:off x="4389120" y="382524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MEETS</a:t>
            </a:r>
          </a:p>
        </p:txBody>
      </p:sp>
      <p:sp>
        <p:nvSpPr>
          <p:cNvPr id="39" name="TextBox 38"/>
          <p:cNvSpPr txBox="1"/>
          <p:nvPr/>
        </p:nvSpPr>
        <p:spPr>
          <a:xfrm>
            <a:off x="43891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(alongside PM)  ·  Architecture review on demand  ·  Monthly Gate 2</a:t>
            </a:r>
          </a:p>
        </p:txBody>
      </p:sp>
      <p:sp>
        <p:nvSpPr>
          <p:cNvPr id="40" name="TextBox 39"/>
          <p:cNvSpPr txBox="1"/>
          <p:nvPr/>
        </p:nvSpPr>
        <p:spPr>
          <a:xfrm>
            <a:off x="4389120" y="441198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ACCOUNTABLE FOR</a:t>
            </a:r>
          </a:p>
        </p:txBody>
      </p:sp>
      <p:sp>
        <p:nvSpPr>
          <p:cNvPr id="41" name="TextBox 40"/>
          <p:cNvSpPr txBox="1"/>
          <p:nvPr/>
        </p:nvSpPr>
        <p:spPr>
          <a:xfrm>
            <a:off x="43891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NFRs (perf · security · compliance · scale) · vendor model · cross-VS deps</a:t>
            </a:r>
          </a:p>
        </p:txBody>
      </p:sp>
      <p:sp>
        <p:nvSpPr>
          <p:cNvPr id="42" name="TextBox 41"/>
          <p:cNvSpPr txBox="1"/>
          <p:nvPr/>
        </p:nvSpPr>
        <p:spPr>
          <a:xfrm>
            <a:off x="4389120" y="499872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DEFINES SCALE 1-5</a:t>
            </a:r>
          </a:p>
        </p:txBody>
      </p:sp>
      <p:sp>
        <p:nvSpPr>
          <p:cNvPr id="43" name="TextBox 42"/>
          <p:cNvSpPr txBox="1"/>
          <p:nvPr/>
        </p:nvSpPr>
        <p:spPr>
          <a:xfrm>
            <a:off x="43891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1=hours · 2=days · 3=weeks · 4=quarter · 5=multi-quarter</a:t>
            </a:r>
          </a:p>
        </p:txBody>
      </p:sp>
      <p:sp>
        <p:nvSpPr>
          <p:cNvPr id="44" name="TextBox 43"/>
          <p:cNvSpPr txBox="1"/>
          <p:nvPr/>
        </p:nvSpPr>
        <p:spPr>
          <a:xfrm>
            <a:off x="4389120" y="55854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WHO IS THIS PERSON</a:t>
            </a:r>
          </a:p>
        </p:txBody>
      </p:sp>
      <p:sp>
        <p:nvSpPr>
          <p:cNvPr id="45" name="TextBox 44"/>
          <p:cNvSpPr txBox="1"/>
          <p:nvPr/>
        </p:nvSpPr>
        <p:spPr>
          <a:xfrm>
            <a:off x="43891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architect · 8+ years · vendor + in-house experience</a:t>
            </a:r>
          </a:p>
        </p:txBody>
      </p:sp>
      <p:sp>
        <p:nvSpPr>
          <p:cNvPr id="46" name="Rounded Rectangle 45"/>
          <p:cNvSpPr/>
          <p:nvPr/>
        </p:nvSpPr>
        <p:spPr>
          <a:xfrm>
            <a:off x="81381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38160" y="1920240"/>
            <a:ext cx="3703320"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753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SQUAD PM</a:t>
            </a:r>
          </a:p>
        </p:txBody>
      </p:sp>
      <p:sp>
        <p:nvSpPr>
          <p:cNvPr id="49" name="TextBox 48"/>
          <p:cNvSpPr txBox="1"/>
          <p:nvPr/>
        </p:nvSpPr>
        <p:spPr>
          <a:xfrm>
            <a:off x="82753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per squad · 9 squads (4 CS + 5 ITBA) + 1 Enabling</a:t>
            </a:r>
          </a:p>
        </p:txBody>
      </p:sp>
      <p:sp>
        <p:nvSpPr>
          <p:cNvPr id="50" name="TextBox 49"/>
          <p:cNvSpPr txBox="1"/>
          <p:nvPr/>
        </p:nvSpPr>
        <p:spPr>
          <a:xfrm>
            <a:off x="8275320" y="26517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51" name="TextBox 50"/>
          <p:cNvSpPr txBox="1"/>
          <p:nvPr/>
        </p:nvSpPr>
        <p:spPr>
          <a:xfrm>
            <a:off x="82753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 check · pull from CoS lane · WIP discipline · daily ops</a:t>
            </a:r>
          </a:p>
        </p:txBody>
      </p:sp>
      <p:sp>
        <p:nvSpPr>
          <p:cNvPr id="52" name="TextBox 51"/>
          <p:cNvSpPr txBox="1"/>
          <p:nvPr/>
        </p:nvSpPr>
        <p:spPr>
          <a:xfrm>
            <a:off x="8275320" y="323850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PRODUCES</a:t>
            </a:r>
          </a:p>
        </p:txBody>
      </p:sp>
      <p:sp>
        <p:nvSpPr>
          <p:cNvPr id="53" name="TextBox 52"/>
          <p:cNvSpPr txBox="1"/>
          <p:nvPr/>
        </p:nvSpPr>
        <p:spPr>
          <a:xfrm>
            <a:off x="82753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DoR-passed pull queue · iteration-level commitments · cycle-time data</a:t>
            </a:r>
          </a:p>
        </p:txBody>
      </p:sp>
      <p:sp>
        <p:nvSpPr>
          <p:cNvPr id="54" name="TextBox 53"/>
          <p:cNvSpPr txBox="1"/>
          <p:nvPr/>
        </p:nvSpPr>
        <p:spPr>
          <a:xfrm>
            <a:off x="8275320" y="382524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MEETS</a:t>
            </a:r>
          </a:p>
        </p:txBody>
      </p:sp>
      <p:sp>
        <p:nvSpPr>
          <p:cNvPr id="55" name="TextBox 54"/>
          <p:cNvSpPr txBox="1"/>
          <p:nvPr/>
        </p:nvSpPr>
        <p:spPr>
          <a:xfrm>
            <a:off x="82753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Daily standup  ·  Weekly refinement (with PM + Architect)  ·  Bi-weekly retro</a:t>
            </a:r>
          </a:p>
        </p:txBody>
      </p:sp>
      <p:sp>
        <p:nvSpPr>
          <p:cNvPr id="56" name="TextBox 55"/>
          <p:cNvSpPr txBox="1"/>
          <p:nvPr/>
        </p:nvSpPr>
        <p:spPr>
          <a:xfrm>
            <a:off x="8275320" y="441198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ACCOUNTABLE FOR</a:t>
            </a:r>
          </a:p>
        </p:txBody>
      </p:sp>
      <p:sp>
        <p:nvSpPr>
          <p:cNvPr id="57" name="TextBox 56"/>
          <p:cNvSpPr txBox="1"/>
          <p:nvPr/>
        </p:nvSpPr>
        <p:spPr>
          <a:xfrm>
            <a:off x="82753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Single gate to Execution · pull discipline · NOT prioritization (PM owns)</a:t>
            </a:r>
          </a:p>
        </p:txBody>
      </p:sp>
      <p:sp>
        <p:nvSpPr>
          <p:cNvPr id="58" name="TextBox 57"/>
          <p:cNvSpPr txBox="1"/>
          <p:nvPr/>
        </p:nvSpPr>
        <p:spPr>
          <a:xfrm>
            <a:off x="8275320" y="499872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ESCALATES TO</a:t>
            </a:r>
          </a:p>
        </p:txBody>
      </p:sp>
      <p:sp>
        <p:nvSpPr>
          <p:cNvPr id="59" name="TextBox 58"/>
          <p:cNvSpPr txBox="1"/>
          <p:nvPr/>
        </p:nvSpPr>
        <p:spPr>
          <a:xfrm>
            <a:off x="82753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PM (per VS) on outcome drift · Architect on NFR breach · Director on capacity</a:t>
            </a:r>
          </a:p>
        </p:txBody>
      </p:sp>
      <p:sp>
        <p:nvSpPr>
          <p:cNvPr id="60" name="TextBox 59"/>
          <p:cNvSpPr txBox="1"/>
          <p:nvPr/>
        </p:nvSpPr>
        <p:spPr>
          <a:xfrm>
            <a:off x="8275320" y="55854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WHO IS THIS PERSON</a:t>
            </a:r>
          </a:p>
        </p:txBody>
      </p:sp>
      <p:sp>
        <p:nvSpPr>
          <p:cNvPr id="61" name="TextBox 60"/>
          <p:cNvSpPr txBox="1"/>
          <p:nvPr/>
        </p:nvSpPr>
        <p:spPr>
          <a:xfrm>
            <a:off x="82753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individual contributor · product-mindset · Scrum/Kanban background</a:t>
            </a:r>
          </a:p>
        </p:txBody>
      </p:sp>
      <p:sp>
        <p:nvSpPr>
          <p:cNvPr id="62" name="TextBox 61"/>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12 / 29</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ROLES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PM ONBOARDING · NEW CAPABILITY · 12-WEEK RAMP: PAIR WITH BRS COUNTERPART · HEATHER MENTORS · STANDALONE BY DAY 90</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ectangle 7"/>
          <p:cNvSpPr/>
          <p:nvPr/>
        </p:nvSpPr>
        <p:spPr>
          <a:xfrm>
            <a:off x="365760" y="1508760"/>
            <a:ext cx="114757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81912"/>
            <a:ext cx="11338560" cy="237744"/>
          </a:xfrm>
          <a:prstGeom prst="rect">
            <a:avLst/>
          </a:prstGeom>
          <a:noFill/>
        </p:spPr>
        <p:txBody>
          <a:bodyPr wrap="square" lIns="36000" rIns="36000" tIns="18000" bIns="18000" anchor="t">
            <a:spAutoFit/>
          </a:bodyPr>
          <a:lstStyle/>
          <a:p>
            <a:pPr algn="l"/>
            <a:r>
              <a:rPr sz="1100" b="1" i="0">
                <a:solidFill>
                  <a:srgbClr val="FFFFFF"/>
                </a:solidFill>
                <a:latin typeface="Arial"/>
              </a:rPr>
              <a:t>PM ONBOARDING  ·  12 weeks · paired with BRS counterpart</a:t>
            </a:r>
          </a:p>
        </p:txBody>
      </p:sp>
      <p:sp>
        <p:nvSpPr>
          <p:cNvPr id="10" name="Rounded Rectangle 9"/>
          <p:cNvSpPr/>
          <p:nvPr/>
        </p:nvSpPr>
        <p:spPr>
          <a:xfrm>
            <a:off x="502920"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11680"/>
            <a:ext cx="91440" cy="1325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1-3</a:t>
            </a:r>
          </a:p>
        </p:txBody>
      </p:sp>
      <p:sp>
        <p:nvSpPr>
          <p:cNvPr id="13" name="TextBox 12"/>
          <p:cNvSpPr txBox="1"/>
          <p:nvPr/>
        </p:nvSpPr>
        <p:spPr>
          <a:xfrm>
            <a:off x="685800" y="2258568"/>
            <a:ext cx="2471166" cy="274320"/>
          </a:xfrm>
          <a:prstGeom prst="rect">
            <a:avLst/>
          </a:prstGeom>
          <a:noFill/>
        </p:spPr>
        <p:txBody>
          <a:bodyPr wrap="square" lIns="36000" rIns="36000" tIns="18000" bIns="18000" anchor="t">
            <a:spAutoFit/>
          </a:bodyPr>
          <a:lstStyle/>
          <a:p>
            <a:pPr algn="l"/>
            <a:r>
              <a:rPr sz="1400" b="1" i="0">
                <a:solidFill>
                  <a:srgbClr val="008C38"/>
                </a:solidFill>
                <a:latin typeface="Arial"/>
              </a:rPr>
              <a:t>ORIENT</a:t>
            </a:r>
          </a:p>
        </p:txBody>
      </p:sp>
      <p:sp>
        <p:nvSpPr>
          <p:cNvPr id="14" name="TextBox 13"/>
          <p:cNvSpPr txBox="1"/>
          <p:nvPr/>
        </p:nvSpPr>
        <p:spPr>
          <a:xfrm>
            <a:off x="685800"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Shadow Heather · meet Sponsors · learn taxonomy · observe Gate 2</a:t>
            </a:r>
          </a:p>
        </p:txBody>
      </p:sp>
      <p:sp>
        <p:nvSpPr>
          <p:cNvPr id="15" name="Rounded Rectangle 14"/>
          <p:cNvSpPr/>
          <p:nvPr/>
        </p:nvSpPr>
        <p:spPr>
          <a:xfrm>
            <a:off x="3321558"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1558" y="2011680"/>
            <a:ext cx="91440" cy="1325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4438"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4-6</a:t>
            </a:r>
          </a:p>
        </p:txBody>
      </p:sp>
      <p:sp>
        <p:nvSpPr>
          <p:cNvPr id="18" name="TextBox 17"/>
          <p:cNvSpPr txBox="1"/>
          <p:nvPr/>
        </p:nvSpPr>
        <p:spPr>
          <a:xfrm>
            <a:off x="3504438" y="2258568"/>
            <a:ext cx="2471166" cy="274320"/>
          </a:xfrm>
          <a:prstGeom prst="rect">
            <a:avLst/>
          </a:prstGeom>
          <a:noFill/>
        </p:spPr>
        <p:txBody>
          <a:bodyPr wrap="square" lIns="36000" rIns="36000" tIns="18000" bIns="18000" anchor="t">
            <a:spAutoFit/>
          </a:bodyPr>
          <a:lstStyle/>
          <a:p>
            <a:pPr algn="l"/>
            <a:r>
              <a:rPr sz="1400" b="1" i="0">
                <a:solidFill>
                  <a:srgbClr val="008950"/>
                </a:solidFill>
                <a:latin typeface="Arial"/>
              </a:rPr>
              <a:t>PAIR</a:t>
            </a:r>
          </a:p>
        </p:txBody>
      </p:sp>
      <p:sp>
        <p:nvSpPr>
          <p:cNvPr id="19" name="TextBox 18"/>
          <p:cNvSpPr txBox="1"/>
          <p:nvPr/>
        </p:nvSpPr>
        <p:spPr>
          <a:xfrm>
            <a:off x="3504438"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Co-refine with senior PM · score 5 demands with Architect · run first DoR</a:t>
            </a:r>
          </a:p>
        </p:txBody>
      </p:sp>
      <p:sp>
        <p:nvSpPr>
          <p:cNvPr id="20" name="Rounded Rectangle 19"/>
          <p:cNvSpPr/>
          <p:nvPr/>
        </p:nvSpPr>
        <p:spPr>
          <a:xfrm>
            <a:off x="6140196"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0196" y="2011680"/>
            <a:ext cx="91440" cy="1325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3076"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7-9</a:t>
            </a:r>
          </a:p>
        </p:txBody>
      </p:sp>
      <p:sp>
        <p:nvSpPr>
          <p:cNvPr id="23" name="TextBox 22"/>
          <p:cNvSpPr txBox="1"/>
          <p:nvPr/>
        </p:nvSpPr>
        <p:spPr>
          <a:xfrm>
            <a:off x="6323076" y="2258568"/>
            <a:ext cx="2471166" cy="274320"/>
          </a:xfrm>
          <a:prstGeom prst="rect">
            <a:avLst/>
          </a:prstGeom>
          <a:noFill/>
        </p:spPr>
        <p:txBody>
          <a:bodyPr wrap="square" lIns="36000" rIns="36000" tIns="18000" bIns="18000" anchor="t">
            <a:spAutoFit/>
          </a:bodyPr>
          <a:lstStyle/>
          <a:p>
            <a:pPr algn="l"/>
            <a:r>
              <a:rPr sz="1400" b="1" i="0">
                <a:solidFill>
                  <a:srgbClr val="2C578B"/>
                </a:solidFill>
                <a:latin typeface="Arial"/>
              </a:rPr>
              <a:t>OWN</a:t>
            </a:r>
          </a:p>
        </p:txBody>
      </p:sp>
      <p:sp>
        <p:nvSpPr>
          <p:cNvPr id="24" name="TextBox 23"/>
          <p:cNvSpPr txBox="1"/>
          <p:nvPr/>
        </p:nvSpPr>
        <p:spPr>
          <a:xfrm>
            <a:off x="6323076"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Own VS backlog · run weekly refinement · prepare Gate 2 deck</a:t>
            </a:r>
          </a:p>
        </p:txBody>
      </p:sp>
      <p:sp>
        <p:nvSpPr>
          <p:cNvPr id="25" name="Rounded Rectangle 24"/>
          <p:cNvSpPr/>
          <p:nvPr/>
        </p:nvSpPr>
        <p:spPr>
          <a:xfrm>
            <a:off x="8958834"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58834" y="2011680"/>
            <a:ext cx="91440" cy="1325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1714"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10-12</a:t>
            </a:r>
          </a:p>
        </p:txBody>
      </p:sp>
      <p:sp>
        <p:nvSpPr>
          <p:cNvPr id="28" name="TextBox 27"/>
          <p:cNvSpPr txBox="1"/>
          <p:nvPr/>
        </p:nvSpPr>
        <p:spPr>
          <a:xfrm>
            <a:off x="9141714" y="2258568"/>
            <a:ext cx="2471166" cy="274320"/>
          </a:xfrm>
          <a:prstGeom prst="rect">
            <a:avLst/>
          </a:prstGeom>
          <a:noFill/>
        </p:spPr>
        <p:txBody>
          <a:bodyPr wrap="square" lIns="36000" rIns="36000" tIns="18000" bIns="18000" anchor="t">
            <a:spAutoFit/>
          </a:bodyPr>
          <a:lstStyle/>
          <a:p>
            <a:pPr algn="l"/>
            <a:r>
              <a:rPr sz="1400" b="1" i="0">
                <a:solidFill>
                  <a:srgbClr val="1B3C66"/>
                </a:solidFill>
                <a:latin typeface="Arial"/>
              </a:rPr>
              <a:t>EVALUATE</a:t>
            </a:r>
          </a:p>
        </p:txBody>
      </p:sp>
      <p:sp>
        <p:nvSpPr>
          <p:cNvPr id="29" name="TextBox 28"/>
          <p:cNvSpPr txBox="1"/>
          <p:nvPr/>
        </p:nvSpPr>
        <p:spPr>
          <a:xfrm>
            <a:off x="9141714"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Heather reviews outcome quality · BRS feedback · pass = standalone</a:t>
            </a:r>
          </a:p>
        </p:txBody>
      </p:sp>
      <p:sp>
        <p:nvSpPr>
          <p:cNvPr id="30" name="Rounded Rectangle 29"/>
          <p:cNvSpPr/>
          <p:nvPr/>
        </p:nvSpPr>
        <p:spPr>
          <a:xfrm>
            <a:off x="3657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3337560"/>
            <a:ext cx="56464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PM (per Squad)  ·  the NEW Product role</a:t>
            </a:r>
          </a:p>
        </p:txBody>
      </p:sp>
      <p:sp>
        <p:nvSpPr>
          <p:cNvPr id="33" name="TextBox 32"/>
          <p:cNvSpPr txBox="1"/>
          <p:nvPr/>
        </p:nvSpPr>
        <p:spPr>
          <a:xfrm>
            <a:off x="502920" y="384048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34" name="TextBox 33"/>
          <p:cNvSpPr txBox="1"/>
          <p:nvPr/>
        </p:nvSpPr>
        <p:spPr>
          <a:xfrm>
            <a:off x="1691640" y="3858768"/>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Outcome framing · refinement · Pain Score (BV/UX) · roadmap · DoR · pull · daily ops</a:t>
            </a:r>
          </a:p>
        </p:txBody>
      </p:sp>
      <p:sp>
        <p:nvSpPr>
          <p:cNvPr id="35" name="TextBox 34"/>
          <p:cNvSpPr txBox="1"/>
          <p:nvPr/>
        </p:nvSpPr>
        <p:spPr>
          <a:xfrm>
            <a:off x="502920" y="411480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CADENCE</a:t>
            </a:r>
          </a:p>
        </p:txBody>
      </p:sp>
      <p:sp>
        <p:nvSpPr>
          <p:cNvPr id="36" name="TextBox 35"/>
          <p:cNvSpPr txBox="1"/>
          <p:nvPr/>
        </p:nvSpPr>
        <p:spPr>
          <a:xfrm>
            <a:off x="1691640" y="413308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Daily within VS  ·  weekly refinement  ·  monthly Gate 2</a:t>
            </a:r>
          </a:p>
        </p:txBody>
      </p:sp>
      <p:sp>
        <p:nvSpPr>
          <p:cNvPr id="37" name="TextBox 36"/>
          <p:cNvSpPr txBox="1"/>
          <p:nvPr/>
        </p:nvSpPr>
        <p:spPr>
          <a:xfrm>
            <a:off x="502920" y="438912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REPORTS</a:t>
            </a:r>
          </a:p>
        </p:txBody>
      </p:sp>
      <p:sp>
        <p:nvSpPr>
          <p:cNvPr id="38" name="TextBox 37"/>
          <p:cNvSpPr txBox="1"/>
          <p:nvPr/>
        </p:nvSpPr>
        <p:spPr>
          <a:xfrm>
            <a:off x="1691640" y="440740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To Heather (Director Product)</a:t>
            </a:r>
          </a:p>
        </p:txBody>
      </p:sp>
      <p:sp>
        <p:nvSpPr>
          <p:cNvPr id="39" name="TextBox 38"/>
          <p:cNvSpPr txBox="1"/>
          <p:nvPr/>
        </p:nvSpPr>
        <p:spPr>
          <a:xfrm>
            <a:off x="502920" y="466344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SKILL</a:t>
            </a:r>
          </a:p>
        </p:txBody>
      </p:sp>
      <p:sp>
        <p:nvSpPr>
          <p:cNvPr id="40" name="TextBox 39"/>
          <p:cNvSpPr txBox="1"/>
          <p:nvPr/>
        </p:nvSpPr>
        <p:spPr>
          <a:xfrm>
            <a:off x="1691640" y="468172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Product mindset · outcome-driven · domain literacy</a:t>
            </a:r>
          </a:p>
        </p:txBody>
      </p:sp>
      <p:sp>
        <p:nvSpPr>
          <p:cNvPr id="41" name="TextBox 40"/>
          <p:cNvSpPr txBox="1"/>
          <p:nvPr/>
        </p:nvSpPr>
        <p:spPr>
          <a:xfrm>
            <a:off x="6048756" y="4000500"/>
            <a:ext cx="182880"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42" name="Rounded Rectangle 41"/>
          <p:cNvSpPr/>
          <p:nvPr/>
        </p:nvSpPr>
        <p:spPr>
          <a:xfrm>
            <a:off x="61950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5060" y="3337560"/>
            <a:ext cx="564642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322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BRS  ·  Business Relationship Steward</a:t>
            </a:r>
          </a:p>
        </p:txBody>
      </p:sp>
      <p:sp>
        <p:nvSpPr>
          <p:cNvPr id="45" name="TextBox 44"/>
          <p:cNvSpPr txBox="1"/>
          <p:nvPr/>
        </p:nvSpPr>
        <p:spPr>
          <a:xfrm>
            <a:off x="6332220" y="384048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46" name="TextBox 45"/>
          <p:cNvSpPr txBox="1"/>
          <p:nvPr/>
        </p:nvSpPr>
        <p:spPr>
          <a:xfrm>
            <a:off x="7520940" y="3858768"/>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Process owner counterpart · value stream advocacy · outcome challenge</a:t>
            </a:r>
          </a:p>
        </p:txBody>
      </p:sp>
      <p:sp>
        <p:nvSpPr>
          <p:cNvPr id="47" name="TextBox 46"/>
          <p:cNvSpPr txBox="1"/>
          <p:nvPr/>
        </p:nvSpPr>
        <p:spPr>
          <a:xfrm>
            <a:off x="6332220" y="411480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8" name="TextBox 47"/>
          <p:cNvSpPr txBox="1"/>
          <p:nvPr/>
        </p:nvSpPr>
        <p:spPr>
          <a:xfrm>
            <a:off x="7520940" y="413308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Weekly with PM  ·  monthly at Gate 2  ·  quarterly with VP Vitor</a:t>
            </a:r>
          </a:p>
        </p:txBody>
      </p:sp>
      <p:sp>
        <p:nvSpPr>
          <p:cNvPr id="49" name="TextBox 48"/>
          <p:cNvSpPr txBox="1"/>
          <p:nvPr/>
        </p:nvSpPr>
        <p:spPr>
          <a:xfrm>
            <a:off x="6332220" y="438912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REPORTS</a:t>
            </a:r>
          </a:p>
        </p:txBody>
      </p:sp>
      <p:sp>
        <p:nvSpPr>
          <p:cNvPr id="50" name="TextBox 49"/>
          <p:cNvSpPr txBox="1"/>
          <p:nvPr/>
        </p:nvSpPr>
        <p:spPr>
          <a:xfrm>
            <a:off x="7520940" y="440740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To business unit Director (CS or ITBA side)</a:t>
            </a:r>
          </a:p>
        </p:txBody>
      </p:sp>
      <p:sp>
        <p:nvSpPr>
          <p:cNvPr id="51" name="TextBox 50"/>
          <p:cNvSpPr txBox="1"/>
          <p:nvPr/>
        </p:nvSpPr>
        <p:spPr>
          <a:xfrm>
            <a:off x="6332220" y="466344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SKILL</a:t>
            </a:r>
          </a:p>
        </p:txBody>
      </p:sp>
      <p:sp>
        <p:nvSpPr>
          <p:cNvPr id="52" name="TextBox 51"/>
          <p:cNvSpPr txBox="1"/>
          <p:nvPr/>
        </p:nvSpPr>
        <p:spPr>
          <a:xfrm>
            <a:off x="7520940" y="468172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Business process mastery · stakeholder mgmt · governance fluency</a:t>
            </a:r>
          </a:p>
        </p:txBody>
      </p:sp>
      <p:sp>
        <p:nvSpPr>
          <p:cNvPr id="53" name="Rounded Rectangle 52"/>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6" name="TextBox 55"/>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PM and BRS are partners — PM owns the WHAT (product outcomes), BRS owns the WHY (business value).</a:t>
            </a:r>
          </a:p>
        </p:txBody>
      </p:sp>
      <p:sp>
        <p:nvSpPr>
          <p:cNvPr id="57" name="TextBox 56"/>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Together they ensure each Initiative ties an outcome to a business case · neither role alone is sufficient · both attend Gate 2 · both sign off on roadmap commits</a:t>
            </a:r>
          </a:p>
        </p:txBody>
      </p:sp>
      <p:sp>
        <p:nvSpPr>
          <p:cNvPr id="58" name="TextBox 5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13 / 29</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ROLES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RACI · WHO DOES WHAT: 8 ACTIVITIES × 8 ROLES · PM RESPONSIBLE FOR REFINEMENT · SQUAD PM ACCOUNTABLE FOR DOR</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ectangle 7"/>
          <p:cNvSpPr/>
          <p:nvPr/>
        </p:nvSpPr>
        <p:spPr>
          <a:xfrm>
            <a:off x="365760" y="1508760"/>
            <a:ext cx="3291840" cy="5943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600200"/>
            <a:ext cx="3291840" cy="411480"/>
          </a:xfrm>
          <a:prstGeom prst="rect">
            <a:avLst/>
          </a:prstGeom>
          <a:noFill/>
        </p:spPr>
        <p:txBody>
          <a:bodyPr wrap="square" lIns="36000" rIns="36000" tIns="18000" bIns="18000" anchor="ctr">
            <a:spAutoFit/>
          </a:bodyPr>
          <a:lstStyle/>
          <a:p>
            <a:pPr algn="ctr"/>
            <a:r>
              <a:rPr sz="1100" b="1" i="0">
                <a:solidFill>
                  <a:srgbClr val="FFFFFF"/>
                </a:solidFill>
                <a:latin typeface="Arial"/>
              </a:rPr>
              <a:t>ACTIVITY</a:t>
            </a:r>
          </a:p>
        </p:txBody>
      </p:sp>
      <p:sp>
        <p:nvSpPr>
          <p:cNvPr id="10" name="Rectangle 9"/>
          <p:cNvSpPr/>
          <p:nvPr/>
        </p:nvSpPr>
        <p:spPr>
          <a:xfrm>
            <a:off x="3657600" y="1508760"/>
            <a:ext cx="1004697"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VP</a:t>
            </a:r>
          </a:p>
        </p:txBody>
      </p:sp>
      <p:sp>
        <p:nvSpPr>
          <p:cNvPr id="12" name="TextBox 11"/>
          <p:cNvSpPr txBox="1"/>
          <p:nvPr/>
        </p:nvSpPr>
        <p:spPr>
          <a:xfrm>
            <a:off x="365760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Vitor</a:t>
            </a:r>
          </a:p>
        </p:txBody>
      </p:sp>
      <p:sp>
        <p:nvSpPr>
          <p:cNvPr id="13" name="Rectangle 12"/>
          <p:cNvSpPr/>
          <p:nvPr/>
        </p:nvSpPr>
        <p:spPr>
          <a:xfrm>
            <a:off x="4680585"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058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PROD</a:t>
            </a:r>
          </a:p>
        </p:txBody>
      </p:sp>
      <p:sp>
        <p:nvSpPr>
          <p:cNvPr id="15" name="TextBox 14"/>
          <p:cNvSpPr txBox="1"/>
          <p:nvPr/>
        </p:nvSpPr>
        <p:spPr>
          <a:xfrm>
            <a:off x="468058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Heather</a:t>
            </a:r>
          </a:p>
        </p:txBody>
      </p:sp>
      <p:sp>
        <p:nvSpPr>
          <p:cNvPr id="16" name="Rectangle 15"/>
          <p:cNvSpPr/>
          <p:nvPr/>
        </p:nvSpPr>
        <p:spPr>
          <a:xfrm>
            <a:off x="5703570"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0357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CS</a:t>
            </a:r>
          </a:p>
        </p:txBody>
      </p:sp>
      <p:sp>
        <p:nvSpPr>
          <p:cNvPr id="18" name="TextBox 17"/>
          <p:cNvSpPr txBox="1"/>
          <p:nvPr/>
        </p:nvSpPr>
        <p:spPr>
          <a:xfrm>
            <a:off x="570357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Kumar</a:t>
            </a:r>
          </a:p>
        </p:txBody>
      </p:sp>
      <p:sp>
        <p:nvSpPr>
          <p:cNvPr id="19" name="Rectangle 18"/>
          <p:cNvSpPr/>
          <p:nvPr/>
        </p:nvSpPr>
        <p:spPr>
          <a:xfrm>
            <a:off x="6726555" y="1508760"/>
            <a:ext cx="1004697"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655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ITBA</a:t>
            </a:r>
          </a:p>
        </p:txBody>
      </p:sp>
      <p:sp>
        <p:nvSpPr>
          <p:cNvPr id="21" name="TextBox 20"/>
          <p:cNvSpPr txBox="1"/>
          <p:nvPr/>
        </p:nvSpPr>
        <p:spPr>
          <a:xfrm>
            <a:off x="672655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Carlos</a:t>
            </a:r>
          </a:p>
        </p:txBody>
      </p:sp>
      <p:sp>
        <p:nvSpPr>
          <p:cNvPr id="22" name="Rectangle 21"/>
          <p:cNvSpPr/>
          <p:nvPr/>
        </p:nvSpPr>
        <p:spPr>
          <a:xfrm>
            <a:off x="7749540" y="1508760"/>
            <a:ext cx="1004697" cy="59436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4954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MIDDLE MGR</a:t>
            </a:r>
          </a:p>
        </p:txBody>
      </p:sp>
      <p:sp>
        <p:nvSpPr>
          <p:cNvPr id="24" name="TextBox 23"/>
          <p:cNvSpPr txBox="1"/>
          <p:nvPr/>
        </p:nvSpPr>
        <p:spPr>
          <a:xfrm>
            <a:off x="774954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day-to-day</a:t>
            </a:r>
          </a:p>
        </p:txBody>
      </p:sp>
      <p:sp>
        <p:nvSpPr>
          <p:cNvPr id="25" name="Rectangle 24"/>
          <p:cNvSpPr/>
          <p:nvPr/>
        </p:nvSpPr>
        <p:spPr>
          <a:xfrm>
            <a:off x="8772525" y="1508760"/>
            <a:ext cx="1004697"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252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PM (Squad)</a:t>
            </a:r>
          </a:p>
        </p:txBody>
      </p:sp>
      <p:sp>
        <p:nvSpPr>
          <p:cNvPr id="27" name="TextBox 26"/>
          <p:cNvSpPr txBox="1"/>
          <p:nvPr/>
        </p:nvSpPr>
        <p:spPr>
          <a:xfrm>
            <a:off x="877252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NEW</a:t>
            </a:r>
          </a:p>
        </p:txBody>
      </p:sp>
      <p:sp>
        <p:nvSpPr>
          <p:cNvPr id="28" name="Rectangle 27"/>
          <p:cNvSpPr/>
          <p:nvPr/>
        </p:nvSpPr>
        <p:spPr>
          <a:xfrm>
            <a:off x="9795510" y="1508760"/>
            <a:ext cx="1004697"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9551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ARCHITECT</a:t>
            </a:r>
          </a:p>
        </p:txBody>
      </p:sp>
      <p:sp>
        <p:nvSpPr>
          <p:cNvPr id="30" name="TextBox 29"/>
          <p:cNvSpPr txBox="1"/>
          <p:nvPr/>
        </p:nvSpPr>
        <p:spPr>
          <a:xfrm>
            <a:off x="979551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cross-VS</a:t>
            </a:r>
          </a:p>
        </p:txBody>
      </p:sp>
      <p:sp>
        <p:nvSpPr>
          <p:cNvPr id="31" name="Rectangle 30"/>
          <p:cNvSpPr/>
          <p:nvPr/>
        </p:nvSpPr>
        <p:spPr>
          <a:xfrm>
            <a:off x="10818495" y="1508760"/>
            <a:ext cx="1004697"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81849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SQUAD TEAM</a:t>
            </a:r>
          </a:p>
        </p:txBody>
      </p:sp>
      <p:sp>
        <p:nvSpPr>
          <p:cNvPr id="33" name="TextBox 32"/>
          <p:cNvSpPr txBox="1"/>
          <p:nvPr/>
        </p:nvSpPr>
        <p:spPr>
          <a:xfrm>
            <a:off x="1081849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TL+BA+SME</a:t>
            </a:r>
          </a:p>
        </p:txBody>
      </p:sp>
      <p:sp>
        <p:nvSpPr>
          <p:cNvPr id="34" name="Rectangle 33"/>
          <p:cNvSpPr/>
          <p:nvPr/>
        </p:nvSpPr>
        <p:spPr>
          <a:xfrm>
            <a:off x="365760" y="2103120"/>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2194560"/>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Refinement (Demand → Initiative · Epic · Story)</a:t>
            </a:r>
          </a:p>
        </p:txBody>
      </p:sp>
      <p:sp>
        <p:nvSpPr>
          <p:cNvPr id="36" name="Rectangle 35"/>
          <p:cNvSpPr/>
          <p:nvPr/>
        </p:nvSpPr>
        <p:spPr>
          <a:xfrm>
            <a:off x="365760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96792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39" name="Rectangle 38"/>
          <p:cNvSpPr/>
          <p:nvPr/>
        </p:nvSpPr>
        <p:spPr>
          <a:xfrm>
            <a:off x="468058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99090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8058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42" name="Rectangle 41"/>
          <p:cNvSpPr/>
          <p:nvPr/>
        </p:nvSpPr>
        <p:spPr>
          <a:xfrm>
            <a:off x="570357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01389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0357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5" name="Rectangle 44"/>
          <p:cNvSpPr/>
          <p:nvPr/>
        </p:nvSpPr>
        <p:spPr>
          <a:xfrm>
            <a:off x="672655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036879"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2655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8" name="Rectangle 47"/>
          <p:cNvSpPr/>
          <p:nvPr/>
        </p:nvSpPr>
        <p:spPr>
          <a:xfrm>
            <a:off x="774954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5986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4954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51" name="Rectangle 50"/>
          <p:cNvSpPr/>
          <p:nvPr/>
        </p:nvSpPr>
        <p:spPr>
          <a:xfrm>
            <a:off x="877252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082849" y="218198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7252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54" name="Rectangle 53"/>
          <p:cNvSpPr/>
          <p:nvPr/>
        </p:nvSpPr>
        <p:spPr>
          <a:xfrm>
            <a:off x="979551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105834"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9551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57" name="Rectangle 56"/>
          <p:cNvSpPr/>
          <p:nvPr/>
        </p:nvSpPr>
        <p:spPr>
          <a:xfrm>
            <a:off x="1081849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12881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1849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60" name="Rectangle 59"/>
          <p:cNvSpPr/>
          <p:nvPr/>
        </p:nvSpPr>
        <p:spPr>
          <a:xfrm>
            <a:off x="365760" y="266318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275462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Pre-estimation (BV · UX · Effort · Safety)</a:t>
            </a:r>
          </a:p>
        </p:txBody>
      </p:sp>
      <p:sp>
        <p:nvSpPr>
          <p:cNvPr id="62" name="Rectangle 61"/>
          <p:cNvSpPr/>
          <p:nvPr/>
        </p:nvSpPr>
        <p:spPr>
          <a:xfrm>
            <a:off x="365760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96792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5760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5" name="Rectangle 64"/>
          <p:cNvSpPr/>
          <p:nvPr/>
        </p:nvSpPr>
        <p:spPr>
          <a:xfrm>
            <a:off x="468058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99090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68058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8" name="Rectangle 67"/>
          <p:cNvSpPr/>
          <p:nvPr/>
        </p:nvSpPr>
        <p:spPr>
          <a:xfrm>
            <a:off x="570357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01389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70357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1" name="Rectangle 70"/>
          <p:cNvSpPr/>
          <p:nvPr/>
        </p:nvSpPr>
        <p:spPr>
          <a:xfrm>
            <a:off x="672655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03687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72655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4" name="Rectangle 73"/>
          <p:cNvSpPr/>
          <p:nvPr/>
        </p:nvSpPr>
        <p:spPr>
          <a:xfrm>
            <a:off x="774954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05986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4954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7" name="Rectangle 76"/>
          <p:cNvSpPr/>
          <p:nvPr/>
        </p:nvSpPr>
        <p:spPr>
          <a:xfrm>
            <a:off x="877252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082849" y="274205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77252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80" name="Rectangle 79"/>
          <p:cNvSpPr/>
          <p:nvPr/>
        </p:nvSpPr>
        <p:spPr>
          <a:xfrm>
            <a:off x="979551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105834" y="2742057"/>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79551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83" name="Rectangle 82"/>
          <p:cNvSpPr/>
          <p:nvPr/>
        </p:nvSpPr>
        <p:spPr>
          <a:xfrm>
            <a:off x="1081849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12881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81849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86" name="Rectangle 85"/>
          <p:cNvSpPr/>
          <p:nvPr/>
        </p:nvSpPr>
        <p:spPr>
          <a:xfrm>
            <a:off x="365760" y="322325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2920" y="331469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Pain Score computation</a:t>
            </a:r>
          </a:p>
        </p:txBody>
      </p:sp>
      <p:sp>
        <p:nvSpPr>
          <p:cNvPr id="88" name="Rectangle 87"/>
          <p:cNvSpPr/>
          <p:nvPr/>
        </p:nvSpPr>
        <p:spPr>
          <a:xfrm>
            <a:off x="365760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96792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65760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1" name="Rectangle 90"/>
          <p:cNvSpPr/>
          <p:nvPr/>
        </p:nvSpPr>
        <p:spPr>
          <a:xfrm>
            <a:off x="468058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99090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68058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4" name="Rectangle 93"/>
          <p:cNvSpPr/>
          <p:nvPr/>
        </p:nvSpPr>
        <p:spPr>
          <a:xfrm>
            <a:off x="570357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01389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70357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7" name="Rectangle 96"/>
          <p:cNvSpPr/>
          <p:nvPr/>
        </p:nvSpPr>
        <p:spPr>
          <a:xfrm>
            <a:off x="672655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03687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72655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0" name="Rectangle 99"/>
          <p:cNvSpPr/>
          <p:nvPr/>
        </p:nvSpPr>
        <p:spPr>
          <a:xfrm>
            <a:off x="774954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05986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74954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3" name="Rectangle 102"/>
          <p:cNvSpPr/>
          <p:nvPr/>
        </p:nvSpPr>
        <p:spPr>
          <a:xfrm>
            <a:off x="877252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082849" y="330212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77252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06" name="Rectangle 105"/>
          <p:cNvSpPr/>
          <p:nvPr/>
        </p:nvSpPr>
        <p:spPr>
          <a:xfrm>
            <a:off x="979551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010583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79551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9" name="Rectangle 108"/>
          <p:cNvSpPr/>
          <p:nvPr/>
        </p:nvSpPr>
        <p:spPr>
          <a:xfrm>
            <a:off x="1081849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112881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81849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12" name="Rectangle 111"/>
          <p:cNvSpPr/>
          <p:nvPr/>
        </p:nvSpPr>
        <p:spPr>
          <a:xfrm>
            <a:off x="365760" y="378332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2920" y="387476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Architecture review (NFRs · vendor · deps)</a:t>
            </a:r>
          </a:p>
        </p:txBody>
      </p:sp>
      <p:sp>
        <p:nvSpPr>
          <p:cNvPr id="114" name="Rectangle 113"/>
          <p:cNvSpPr/>
          <p:nvPr/>
        </p:nvSpPr>
        <p:spPr>
          <a:xfrm>
            <a:off x="365760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96792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65760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17" name="Rectangle 116"/>
          <p:cNvSpPr/>
          <p:nvPr/>
        </p:nvSpPr>
        <p:spPr>
          <a:xfrm>
            <a:off x="468058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99090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68058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20" name="Rectangle 119"/>
          <p:cNvSpPr/>
          <p:nvPr/>
        </p:nvSpPr>
        <p:spPr>
          <a:xfrm>
            <a:off x="570357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601389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70357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3" name="Rectangle 122"/>
          <p:cNvSpPr/>
          <p:nvPr/>
        </p:nvSpPr>
        <p:spPr>
          <a:xfrm>
            <a:off x="672655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703687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72655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6" name="Rectangle 125"/>
          <p:cNvSpPr/>
          <p:nvPr/>
        </p:nvSpPr>
        <p:spPr>
          <a:xfrm>
            <a:off x="774954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05986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774954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9" name="Rectangle 128"/>
          <p:cNvSpPr/>
          <p:nvPr/>
        </p:nvSpPr>
        <p:spPr>
          <a:xfrm>
            <a:off x="877252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908284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877252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32" name="Rectangle 131"/>
          <p:cNvSpPr/>
          <p:nvPr/>
        </p:nvSpPr>
        <p:spPr>
          <a:xfrm>
            <a:off x="979551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105834" y="386219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979551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135" name="Rectangle 134"/>
          <p:cNvSpPr/>
          <p:nvPr/>
        </p:nvSpPr>
        <p:spPr>
          <a:xfrm>
            <a:off x="1081849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112881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081849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38" name="Rectangle 137"/>
          <p:cNvSpPr/>
          <p:nvPr/>
        </p:nvSpPr>
        <p:spPr>
          <a:xfrm>
            <a:off x="365760" y="434339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02920" y="443483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Capacity allocation (% per CoS lane)</a:t>
            </a:r>
          </a:p>
        </p:txBody>
      </p:sp>
      <p:sp>
        <p:nvSpPr>
          <p:cNvPr id="140" name="Rectangle 139"/>
          <p:cNvSpPr/>
          <p:nvPr/>
        </p:nvSpPr>
        <p:spPr>
          <a:xfrm>
            <a:off x="365760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396792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65760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43" name="Rectangle 142"/>
          <p:cNvSpPr/>
          <p:nvPr/>
        </p:nvSpPr>
        <p:spPr>
          <a:xfrm>
            <a:off x="468058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990909" y="442226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8058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46" name="Rectangle 145"/>
          <p:cNvSpPr/>
          <p:nvPr/>
        </p:nvSpPr>
        <p:spPr>
          <a:xfrm>
            <a:off x="570357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6013894"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70357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49" name="Rectangle 148"/>
          <p:cNvSpPr/>
          <p:nvPr/>
        </p:nvSpPr>
        <p:spPr>
          <a:xfrm>
            <a:off x="672655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7036879"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72655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52" name="Rectangle 151"/>
          <p:cNvSpPr/>
          <p:nvPr/>
        </p:nvSpPr>
        <p:spPr>
          <a:xfrm>
            <a:off x="774954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8059864" y="442226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74954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55" name="Rectangle 154"/>
          <p:cNvSpPr/>
          <p:nvPr/>
        </p:nvSpPr>
        <p:spPr>
          <a:xfrm>
            <a:off x="877252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908284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77252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58" name="Rectangle 157"/>
          <p:cNvSpPr/>
          <p:nvPr/>
        </p:nvSpPr>
        <p:spPr>
          <a:xfrm>
            <a:off x="979551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1010583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79551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1" name="Rectangle 160"/>
          <p:cNvSpPr/>
          <p:nvPr/>
        </p:nvSpPr>
        <p:spPr>
          <a:xfrm>
            <a:off x="1081849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1112881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081849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4" name="Rectangle 163"/>
          <p:cNvSpPr/>
          <p:nvPr/>
        </p:nvSpPr>
        <p:spPr>
          <a:xfrm>
            <a:off x="365760" y="490346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502920" y="499490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Roadmap rolling-wave maintenance</a:t>
            </a:r>
          </a:p>
        </p:txBody>
      </p:sp>
      <p:sp>
        <p:nvSpPr>
          <p:cNvPr id="166" name="Rectangle 165"/>
          <p:cNvSpPr/>
          <p:nvPr/>
        </p:nvSpPr>
        <p:spPr>
          <a:xfrm>
            <a:off x="365760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396792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365760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9" name="Rectangle 168"/>
          <p:cNvSpPr/>
          <p:nvPr/>
        </p:nvSpPr>
        <p:spPr>
          <a:xfrm>
            <a:off x="468058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990909" y="498233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468058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72" name="Rectangle 171"/>
          <p:cNvSpPr/>
          <p:nvPr/>
        </p:nvSpPr>
        <p:spPr>
          <a:xfrm>
            <a:off x="570357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601389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0357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5" name="Rectangle 174"/>
          <p:cNvSpPr/>
          <p:nvPr/>
        </p:nvSpPr>
        <p:spPr>
          <a:xfrm>
            <a:off x="672655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7036879"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72655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8" name="Rectangle 177"/>
          <p:cNvSpPr/>
          <p:nvPr/>
        </p:nvSpPr>
        <p:spPr>
          <a:xfrm>
            <a:off x="774954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805986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74954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81" name="Rectangle 180"/>
          <p:cNvSpPr/>
          <p:nvPr/>
        </p:nvSpPr>
        <p:spPr>
          <a:xfrm>
            <a:off x="877252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9082849" y="498233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877252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84" name="Rectangle 183"/>
          <p:cNvSpPr/>
          <p:nvPr/>
        </p:nvSpPr>
        <p:spPr>
          <a:xfrm>
            <a:off x="979551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1010583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79551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87" name="Rectangle 186"/>
          <p:cNvSpPr/>
          <p:nvPr/>
        </p:nvSpPr>
        <p:spPr>
          <a:xfrm>
            <a:off x="1081849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11128819"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1081849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90" name="Rectangle 189"/>
          <p:cNvSpPr/>
          <p:nvPr/>
        </p:nvSpPr>
        <p:spPr>
          <a:xfrm>
            <a:off x="365760" y="546353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502920" y="555497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Defer / Reject decision</a:t>
            </a:r>
          </a:p>
        </p:txBody>
      </p:sp>
      <p:sp>
        <p:nvSpPr>
          <p:cNvPr id="192" name="Rectangle 191"/>
          <p:cNvSpPr/>
          <p:nvPr/>
        </p:nvSpPr>
        <p:spPr>
          <a:xfrm>
            <a:off x="365760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396792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365760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95" name="Rectangle 194"/>
          <p:cNvSpPr/>
          <p:nvPr/>
        </p:nvSpPr>
        <p:spPr>
          <a:xfrm>
            <a:off x="468058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99090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468058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98" name="Rectangle 197"/>
          <p:cNvSpPr/>
          <p:nvPr/>
        </p:nvSpPr>
        <p:spPr>
          <a:xfrm>
            <a:off x="570357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6013894"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570357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01" name="Rectangle 200"/>
          <p:cNvSpPr/>
          <p:nvPr/>
        </p:nvSpPr>
        <p:spPr>
          <a:xfrm>
            <a:off x="672655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7036879"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72655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04" name="Rectangle 203"/>
          <p:cNvSpPr/>
          <p:nvPr/>
        </p:nvSpPr>
        <p:spPr>
          <a:xfrm>
            <a:off x="774954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805986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74954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07" name="Rectangle 206"/>
          <p:cNvSpPr/>
          <p:nvPr/>
        </p:nvSpPr>
        <p:spPr>
          <a:xfrm>
            <a:off x="877252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908284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877252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10" name="Rectangle 209"/>
          <p:cNvSpPr/>
          <p:nvPr/>
        </p:nvSpPr>
        <p:spPr>
          <a:xfrm>
            <a:off x="979551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10105834"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979551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13" name="Rectangle 212"/>
          <p:cNvSpPr/>
          <p:nvPr/>
        </p:nvSpPr>
        <p:spPr>
          <a:xfrm>
            <a:off x="1081849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11128819"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1081849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16" name="Rectangle 215"/>
          <p:cNvSpPr/>
          <p:nvPr/>
        </p:nvSpPr>
        <p:spPr>
          <a:xfrm>
            <a:off x="365760" y="602360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502920" y="611504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DoR check + handoff to Squad</a:t>
            </a:r>
          </a:p>
        </p:txBody>
      </p:sp>
      <p:sp>
        <p:nvSpPr>
          <p:cNvPr id="218" name="Rectangle 217"/>
          <p:cNvSpPr/>
          <p:nvPr/>
        </p:nvSpPr>
        <p:spPr>
          <a:xfrm>
            <a:off x="365760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96792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365760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1" name="Rectangle 220"/>
          <p:cNvSpPr/>
          <p:nvPr/>
        </p:nvSpPr>
        <p:spPr>
          <a:xfrm>
            <a:off x="468058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99090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468058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4" name="Rectangle 223"/>
          <p:cNvSpPr/>
          <p:nvPr/>
        </p:nvSpPr>
        <p:spPr>
          <a:xfrm>
            <a:off x="570357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601389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570357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7" name="Rectangle 226"/>
          <p:cNvSpPr/>
          <p:nvPr/>
        </p:nvSpPr>
        <p:spPr>
          <a:xfrm>
            <a:off x="672655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703687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672655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30" name="Rectangle 229"/>
          <p:cNvSpPr/>
          <p:nvPr/>
        </p:nvSpPr>
        <p:spPr>
          <a:xfrm>
            <a:off x="774954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805986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74954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33" name="Rectangle 232"/>
          <p:cNvSpPr/>
          <p:nvPr/>
        </p:nvSpPr>
        <p:spPr>
          <a:xfrm>
            <a:off x="877252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9082849" y="610247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77252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36" name="Rectangle 235"/>
          <p:cNvSpPr/>
          <p:nvPr/>
        </p:nvSpPr>
        <p:spPr>
          <a:xfrm>
            <a:off x="979551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10105834"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979551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39" name="Rectangle 238"/>
          <p:cNvSpPr/>
          <p:nvPr/>
        </p:nvSpPr>
        <p:spPr>
          <a:xfrm>
            <a:off x="1081849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11128819"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1081849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42" name="TextBox 241"/>
          <p:cNvSpPr txBox="1"/>
          <p:nvPr/>
        </p:nvSpPr>
        <p:spPr>
          <a:xfrm>
            <a:off x="365760" y="6446520"/>
            <a:ext cx="1371600" cy="164592"/>
          </a:xfrm>
          <a:prstGeom prst="rect">
            <a:avLst/>
          </a:prstGeom>
          <a:noFill/>
        </p:spPr>
        <p:txBody>
          <a:bodyPr wrap="square" lIns="36000" rIns="36000" tIns="18000" bIns="18000" anchor="t">
            <a:spAutoFit/>
          </a:bodyPr>
          <a:lstStyle/>
          <a:p>
            <a:pPr algn="l"/>
            <a:r>
              <a:rPr sz="800" b="1" i="0">
                <a:solidFill>
                  <a:srgbClr val="6B778C"/>
                </a:solidFill>
                <a:latin typeface="Arial"/>
              </a:rPr>
              <a:t>RACI</a:t>
            </a:r>
          </a:p>
        </p:txBody>
      </p:sp>
      <p:sp>
        <p:nvSpPr>
          <p:cNvPr id="243" name="Oval 242"/>
          <p:cNvSpPr/>
          <p:nvPr/>
        </p:nvSpPr>
        <p:spPr>
          <a:xfrm>
            <a:off x="1645920" y="6464807"/>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84708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R · Responsible</a:t>
            </a:r>
          </a:p>
        </p:txBody>
      </p:sp>
      <p:sp>
        <p:nvSpPr>
          <p:cNvPr id="245" name="Oval 244"/>
          <p:cNvSpPr/>
          <p:nvPr/>
        </p:nvSpPr>
        <p:spPr>
          <a:xfrm>
            <a:off x="3840480" y="6464807"/>
            <a:ext cx="146304" cy="146304"/>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404164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A · Accountable</a:t>
            </a:r>
          </a:p>
        </p:txBody>
      </p:sp>
      <p:sp>
        <p:nvSpPr>
          <p:cNvPr id="247" name="Oval 246"/>
          <p:cNvSpPr/>
          <p:nvPr/>
        </p:nvSpPr>
        <p:spPr>
          <a:xfrm>
            <a:off x="6035040" y="6464807"/>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6236207"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C · Consulted</a:t>
            </a:r>
          </a:p>
        </p:txBody>
      </p:sp>
      <p:sp>
        <p:nvSpPr>
          <p:cNvPr id="249" name="Oval 248"/>
          <p:cNvSpPr/>
          <p:nvPr/>
        </p:nvSpPr>
        <p:spPr>
          <a:xfrm>
            <a:off x="8229600" y="6464807"/>
            <a:ext cx="146304" cy="146304"/>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843076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I · Informed</a:t>
            </a:r>
          </a:p>
        </p:txBody>
      </p:sp>
      <p:sp>
        <p:nvSpPr>
          <p:cNvPr id="251" name="TextBox 25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14 / 29</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TOOLS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FOUR TOOL FAMILIES · LIVE DASHBOARDS: BACKLOG · ROADMAP · ESTIMATION · REPORTING — HEATHER + VP VITOR SEE REAL-TIME STATUS</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273177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01  ·  BACKLOG + PORTFOLIO</a:t>
            </a:r>
          </a:p>
        </p:txBody>
      </p:sp>
      <p:sp>
        <p:nvSpPr>
          <p:cNvPr id="11" name="TextBox 10"/>
          <p:cNvSpPr txBox="1"/>
          <p:nvPr/>
        </p:nvSpPr>
        <p:spPr>
          <a:xfrm>
            <a:off x="5029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Single source of truth for demand state</a:t>
            </a:r>
          </a:p>
        </p:txBody>
      </p:sp>
      <p:sp>
        <p:nvSpPr>
          <p:cNvPr id="12" name="TextBox 11"/>
          <p:cNvSpPr txBox="1"/>
          <p:nvPr/>
        </p:nvSpPr>
        <p:spPr>
          <a:xfrm>
            <a:off x="502920" y="2240280"/>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WHAT IT DOES</a:t>
            </a:r>
          </a:p>
        </p:txBody>
      </p:sp>
      <p:sp>
        <p:nvSpPr>
          <p:cNvPr id="13" name="TextBox 12"/>
          <p:cNvSpPr txBox="1"/>
          <p:nvPr/>
        </p:nvSpPr>
        <p:spPr>
          <a:xfrm>
            <a:off x="5029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Portfolio Board · Backlog ranking · status workflow · audit log</a:t>
            </a:r>
          </a:p>
        </p:txBody>
      </p:sp>
      <p:sp>
        <p:nvSpPr>
          <p:cNvPr id="14" name="TextBox 13"/>
          <p:cNvSpPr txBox="1"/>
          <p:nvPr/>
        </p:nvSpPr>
        <p:spPr>
          <a:xfrm>
            <a:off x="502920" y="2843784"/>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CADENCE</a:t>
            </a:r>
          </a:p>
        </p:txBody>
      </p:sp>
      <p:sp>
        <p:nvSpPr>
          <p:cNvPr id="15" name="TextBox 14"/>
          <p:cNvSpPr txBox="1"/>
          <p:nvPr/>
        </p:nvSpPr>
        <p:spPr>
          <a:xfrm>
            <a:off x="5029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a:t>
            </a:r>
          </a:p>
        </p:txBody>
      </p:sp>
      <p:sp>
        <p:nvSpPr>
          <p:cNvPr id="16" name="TextBox 15"/>
          <p:cNvSpPr txBox="1"/>
          <p:nvPr/>
        </p:nvSpPr>
        <p:spPr>
          <a:xfrm>
            <a:off x="502920" y="3447288"/>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AUDIENCE</a:t>
            </a:r>
          </a:p>
        </p:txBody>
      </p:sp>
      <p:sp>
        <p:nvSpPr>
          <p:cNvPr id="17" name="TextBox 16"/>
          <p:cNvSpPr txBox="1"/>
          <p:nvPr/>
        </p:nvSpPr>
        <p:spPr>
          <a:xfrm>
            <a:off x="5029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(per Squad) · Director · VP Vitor</a:t>
            </a:r>
          </a:p>
        </p:txBody>
      </p:sp>
      <p:sp>
        <p:nvSpPr>
          <p:cNvPr id="18" name="TextBox 17"/>
          <p:cNvSpPr txBox="1"/>
          <p:nvPr/>
        </p:nvSpPr>
        <p:spPr>
          <a:xfrm>
            <a:off x="502920" y="4050792"/>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KEY VIEW</a:t>
            </a:r>
          </a:p>
        </p:txBody>
      </p:sp>
      <p:sp>
        <p:nvSpPr>
          <p:cNvPr id="19" name="TextBox 18"/>
          <p:cNvSpPr txBox="1"/>
          <p:nvPr/>
        </p:nvSpPr>
        <p:spPr>
          <a:xfrm>
            <a:off x="5029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Cross-VS Backlog ranked by Pain Score + CoS</a:t>
            </a:r>
          </a:p>
        </p:txBody>
      </p:sp>
      <p:sp>
        <p:nvSpPr>
          <p:cNvPr id="20" name="TextBox 19"/>
          <p:cNvSpPr txBox="1"/>
          <p:nvPr/>
        </p:nvSpPr>
        <p:spPr>
          <a:xfrm>
            <a:off x="502920" y="4654296"/>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INTEGRATION</a:t>
            </a:r>
          </a:p>
        </p:txBody>
      </p:sp>
      <p:sp>
        <p:nvSpPr>
          <p:cNvPr id="21" name="TextBox 20"/>
          <p:cNvSpPr txBox="1"/>
          <p:nvPr/>
        </p:nvSpPr>
        <p:spPr>
          <a:xfrm>
            <a:off x="5029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Feeds Roadmap + Capacity + Reporting tools</a:t>
            </a:r>
          </a:p>
        </p:txBody>
      </p:sp>
      <p:sp>
        <p:nvSpPr>
          <p:cNvPr id="22" name="Rounded Rectangle 21"/>
          <p:cNvSpPr/>
          <p:nvPr/>
        </p:nvSpPr>
        <p:spPr>
          <a:xfrm>
            <a:off x="32804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80410" y="1508760"/>
            <a:ext cx="2731770"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175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02  ·  ROADMAP + PLANNING</a:t>
            </a:r>
          </a:p>
        </p:txBody>
      </p:sp>
      <p:sp>
        <p:nvSpPr>
          <p:cNvPr id="25" name="TextBox 24"/>
          <p:cNvSpPr txBox="1"/>
          <p:nvPr/>
        </p:nvSpPr>
        <p:spPr>
          <a:xfrm>
            <a:off x="34175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Rolling-wave timeline · per VS</a:t>
            </a:r>
          </a:p>
        </p:txBody>
      </p:sp>
      <p:sp>
        <p:nvSpPr>
          <p:cNvPr id="26" name="TextBox 25"/>
          <p:cNvSpPr txBox="1"/>
          <p:nvPr/>
        </p:nvSpPr>
        <p:spPr>
          <a:xfrm>
            <a:off x="3417570" y="2240280"/>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WHAT IT DOES</a:t>
            </a:r>
          </a:p>
        </p:txBody>
      </p:sp>
      <p:sp>
        <p:nvSpPr>
          <p:cNvPr id="27" name="TextBox 26"/>
          <p:cNvSpPr txBox="1"/>
          <p:nvPr/>
        </p:nvSpPr>
        <p:spPr>
          <a:xfrm>
            <a:off x="34175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Timeline view · 3·6·12 mo bands · committed vs hypothesized</a:t>
            </a:r>
          </a:p>
        </p:txBody>
      </p:sp>
      <p:sp>
        <p:nvSpPr>
          <p:cNvPr id="28" name="TextBox 27"/>
          <p:cNvSpPr txBox="1"/>
          <p:nvPr/>
        </p:nvSpPr>
        <p:spPr>
          <a:xfrm>
            <a:off x="3417570" y="2843784"/>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CADENCE</a:t>
            </a:r>
          </a:p>
        </p:txBody>
      </p:sp>
      <p:sp>
        <p:nvSpPr>
          <p:cNvPr id="29" name="TextBox 28"/>
          <p:cNvSpPr txBox="1"/>
          <p:nvPr/>
        </p:nvSpPr>
        <p:spPr>
          <a:xfrm>
            <a:off x="34175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Updated weekly · re-balanced monthly @ Gate 2</a:t>
            </a:r>
          </a:p>
        </p:txBody>
      </p:sp>
      <p:sp>
        <p:nvSpPr>
          <p:cNvPr id="30" name="TextBox 29"/>
          <p:cNvSpPr txBox="1"/>
          <p:nvPr/>
        </p:nvSpPr>
        <p:spPr>
          <a:xfrm>
            <a:off x="3417570" y="3447288"/>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AUDIENCE</a:t>
            </a:r>
          </a:p>
        </p:txBody>
      </p:sp>
      <p:sp>
        <p:nvSpPr>
          <p:cNvPr id="31" name="TextBox 30"/>
          <p:cNvSpPr txBox="1"/>
          <p:nvPr/>
        </p:nvSpPr>
        <p:spPr>
          <a:xfrm>
            <a:off x="34175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Director · VP Vitor · BRS counterparts</a:t>
            </a:r>
          </a:p>
        </p:txBody>
      </p:sp>
      <p:sp>
        <p:nvSpPr>
          <p:cNvPr id="32" name="TextBox 31"/>
          <p:cNvSpPr txBox="1"/>
          <p:nvPr/>
        </p:nvSpPr>
        <p:spPr>
          <a:xfrm>
            <a:off x="3417570" y="4050792"/>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KEY VIEW</a:t>
            </a:r>
          </a:p>
        </p:txBody>
      </p:sp>
      <p:sp>
        <p:nvSpPr>
          <p:cNvPr id="33" name="TextBox 32"/>
          <p:cNvSpPr txBox="1"/>
          <p:nvPr/>
        </p:nvSpPr>
        <p:spPr>
          <a:xfrm>
            <a:off x="34175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Per-VS timeline + cross-VS dependencies overlay</a:t>
            </a:r>
          </a:p>
        </p:txBody>
      </p:sp>
      <p:sp>
        <p:nvSpPr>
          <p:cNvPr id="34" name="TextBox 33"/>
          <p:cNvSpPr txBox="1"/>
          <p:nvPr/>
        </p:nvSpPr>
        <p:spPr>
          <a:xfrm>
            <a:off x="3417570" y="4654296"/>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INTEGRATION</a:t>
            </a:r>
          </a:p>
        </p:txBody>
      </p:sp>
      <p:sp>
        <p:nvSpPr>
          <p:cNvPr id="35" name="TextBox 34"/>
          <p:cNvSpPr txBox="1"/>
          <p:nvPr/>
        </p:nvSpPr>
        <p:spPr>
          <a:xfrm>
            <a:off x="34175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Reads from Backlog · feeds capacity reservations</a:t>
            </a:r>
          </a:p>
        </p:txBody>
      </p:sp>
      <p:sp>
        <p:nvSpPr>
          <p:cNvPr id="36" name="Rounded Rectangle 35"/>
          <p:cNvSpPr/>
          <p:nvPr/>
        </p:nvSpPr>
        <p:spPr>
          <a:xfrm>
            <a:off x="61950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5060" y="1508760"/>
            <a:ext cx="273177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322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03  ·  ESTIMATION + CAPACITY</a:t>
            </a:r>
          </a:p>
        </p:txBody>
      </p:sp>
      <p:sp>
        <p:nvSpPr>
          <p:cNvPr id="39" name="TextBox 38"/>
          <p:cNvSpPr txBox="1"/>
          <p:nvPr/>
        </p:nvSpPr>
        <p:spPr>
          <a:xfrm>
            <a:off x="63322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Pain Score · Effort · CoS lane utilization</a:t>
            </a:r>
          </a:p>
        </p:txBody>
      </p:sp>
      <p:sp>
        <p:nvSpPr>
          <p:cNvPr id="40" name="TextBox 39"/>
          <p:cNvSpPr txBox="1"/>
          <p:nvPr/>
        </p:nvSpPr>
        <p:spPr>
          <a:xfrm>
            <a:off x="6332220" y="2240280"/>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WHAT IT DOES</a:t>
            </a:r>
          </a:p>
        </p:txBody>
      </p:sp>
      <p:sp>
        <p:nvSpPr>
          <p:cNvPr id="41" name="TextBox 40"/>
          <p:cNvSpPr txBox="1"/>
          <p:nvPr/>
        </p:nvSpPr>
        <p:spPr>
          <a:xfrm>
            <a:off x="63322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Score panel · capacity matrix · WIP tracker · forecasting</a:t>
            </a:r>
          </a:p>
        </p:txBody>
      </p:sp>
      <p:sp>
        <p:nvSpPr>
          <p:cNvPr id="42" name="TextBox 41"/>
          <p:cNvSpPr txBox="1"/>
          <p:nvPr/>
        </p:nvSpPr>
        <p:spPr>
          <a:xfrm>
            <a:off x="6332220" y="2843784"/>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3" name="TextBox 42"/>
          <p:cNvSpPr txBox="1"/>
          <p:nvPr/>
        </p:nvSpPr>
        <p:spPr>
          <a:xfrm>
            <a:off x="63322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on score · monthly on capacity %</a:t>
            </a:r>
          </a:p>
        </p:txBody>
      </p:sp>
      <p:sp>
        <p:nvSpPr>
          <p:cNvPr id="44" name="TextBox 43"/>
          <p:cNvSpPr txBox="1"/>
          <p:nvPr/>
        </p:nvSpPr>
        <p:spPr>
          <a:xfrm>
            <a:off x="6332220" y="3447288"/>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AUDIENCE</a:t>
            </a:r>
          </a:p>
        </p:txBody>
      </p:sp>
      <p:sp>
        <p:nvSpPr>
          <p:cNvPr id="45" name="TextBox 44"/>
          <p:cNvSpPr txBox="1"/>
          <p:nvPr/>
        </p:nvSpPr>
        <p:spPr>
          <a:xfrm>
            <a:off x="63322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(per Squad) · Architect · Director · Middle managers</a:t>
            </a:r>
          </a:p>
        </p:txBody>
      </p:sp>
      <p:sp>
        <p:nvSpPr>
          <p:cNvPr id="46" name="TextBox 45"/>
          <p:cNvSpPr txBox="1"/>
          <p:nvPr/>
        </p:nvSpPr>
        <p:spPr>
          <a:xfrm>
            <a:off x="6332220" y="4050792"/>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KEY VIEW</a:t>
            </a:r>
          </a:p>
        </p:txBody>
      </p:sp>
      <p:sp>
        <p:nvSpPr>
          <p:cNvPr id="47" name="TextBox 46"/>
          <p:cNvSpPr txBox="1"/>
          <p:nvPr/>
        </p:nvSpPr>
        <p:spPr>
          <a:xfrm>
            <a:off x="63322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Squad × CoS lane utilization · capacity forecast Q+1</a:t>
            </a:r>
          </a:p>
        </p:txBody>
      </p:sp>
      <p:sp>
        <p:nvSpPr>
          <p:cNvPr id="48" name="TextBox 47"/>
          <p:cNvSpPr txBox="1"/>
          <p:nvPr/>
        </p:nvSpPr>
        <p:spPr>
          <a:xfrm>
            <a:off x="6332220" y="4654296"/>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INTEGRATION</a:t>
            </a:r>
          </a:p>
        </p:txBody>
      </p:sp>
      <p:sp>
        <p:nvSpPr>
          <p:cNvPr id="49" name="TextBox 48"/>
          <p:cNvSpPr txBox="1"/>
          <p:nvPr/>
        </p:nvSpPr>
        <p:spPr>
          <a:xfrm>
            <a:off x="63322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Pain Score auto-computed · feeds Reporting</a:t>
            </a:r>
          </a:p>
        </p:txBody>
      </p:sp>
      <p:sp>
        <p:nvSpPr>
          <p:cNvPr id="50" name="Rounded Rectangle 49"/>
          <p:cNvSpPr/>
          <p:nvPr/>
        </p:nvSpPr>
        <p:spPr>
          <a:xfrm>
            <a:off x="91097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109710" y="1508760"/>
            <a:ext cx="2731770"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468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04  ·  REPORTING + DASHBOARDS</a:t>
            </a:r>
          </a:p>
        </p:txBody>
      </p:sp>
      <p:sp>
        <p:nvSpPr>
          <p:cNvPr id="53" name="TextBox 52"/>
          <p:cNvSpPr txBox="1"/>
          <p:nvPr/>
        </p:nvSpPr>
        <p:spPr>
          <a:xfrm>
            <a:off x="92468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Heather + Vitor real-time view</a:t>
            </a:r>
          </a:p>
        </p:txBody>
      </p:sp>
      <p:sp>
        <p:nvSpPr>
          <p:cNvPr id="54" name="TextBox 53"/>
          <p:cNvSpPr txBox="1"/>
          <p:nvPr/>
        </p:nvSpPr>
        <p:spPr>
          <a:xfrm>
            <a:off x="9246870" y="2240280"/>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WHAT IT DOES</a:t>
            </a:r>
          </a:p>
        </p:txBody>
      </p:sp>
      <p:sp>
        <p:nvSpPr>
          <p:cNvPr id="55" name="TextBox 54"/>
          <p:cNvSpPr txBox="1"/>
          <p:nvPr/>
        </p:nvSpPr>
        <p:spPr>
          <a:xfrm>
            <a:off x="92468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7 metrics · trend charts · variance commentary · exceptions</a:t>
            </a:r>
          </a:p>
        </p:txBody>
      </p:sp>
      <p:sp>
        <p:nvSpPr>
          <p:cNvPr id="56" name="TextBox 55"/>
          <p:cNvSpPr txBox="1"/>
          <p:nvPr/>
        </p:nvSpPr>
        <p:spPr>
          <a:xfrm>
            <a:off x="9246870" y="2843784"/>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CADENCE</a:t>
            </a:r>
          </a:p>
        </p:txBody>
      </p:sp>
      <p:sp>
        <p:nvSpPr>
          <p:cNvPr id="57" name="TextBox 56"/>
          <p:cNvSpPr txBox="1"/>
          <p:nvPr/>
        </p:nvSpPr>
        <p:spPr>
          <a:xfrm>
            <a:off x="92468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 monthly review at Gate 2</a:t>
            </a:r>
          </a:p>
        </p:txBody>
      </p:sp>
      <p:sp>
        <p:nvSpPr>
          <p:cNvPr id="58" name="TextBox 57"/>
          <p:cNvSpPr txBox="1"/>
          <p:nvPr/>
        </p:nvSpPr>
        <p:spPr>
          <a:xfrm>
            <a:off x="9246870" y="3447288"/>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AUDIENCE</a:t>
            </a:r>
          </a:p>
        </p:txBody>
      </p:sp>
      <p:sp>
        <p:nvSpPr>
          <p:cNvPr id="59" name="TextBox 58"/>
          <p:cNvSpPr txBox="1"/>
          <p:nvPr/>
        </p:nvSpPr>
        <p:spPr>
          <a:xfrm>
            <a:off x="92468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VP Vitor · Heather · Directors · BRS</a:t>
            </a:r>
          </a:p>
        </p:txBody>
      </p:sp>
      <p:sp>
        <p:nvSpPr>
          <p:cNvPr id="60" name="TextBox 59"/>
          <p:cNvSpPr txBox="1"/>
          <p:nvPr/>
        </p:nvSpPr>
        <p:spPr>
          <a:xfrm>
            <a:off x="9246870" y="4050792"/>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KEY VIEW</a:t>
            </a:r>
          </a:p>
        </p:txBody>
      </p:sp>
      <p:sp>
        <p:nvSpPr>
          <p:cNvPr id="61" name="TextBox 60"/>
          <p:cNvSpPr txBox="1"/>
          <p:nvPr/>
        </p:nvSpPr>
        <p:spPr>
          <a:xfrm>
            <a:off x="92468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Demand × capacity · cycle time · planning predictability</a:t>
            </a:r>
          </a:p>
        </p:txBody>
      </p:sp>
      <p:sp>
        <p:nvSpPr>
          <p:cNvPr id="62" name="TextBox 61"/>
          <p:cNvSpPr txBox="1"/>
          <p:nvPr/>
        </p:nvSpPr>
        <p:spPr>
          <a:xfrm>
            <a:off x="9246870" y="4654296"/>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INTEGRATION</a:t>
            </a:r>
          </a:p>
        </p:txBody>
      </p:sp>
      <p:sp>
        <p:nvSpPr>
          <p:cNvPr id="63" name="TextBox 62"/>
          <p:cNvSpPr txBox="1"/>
          <p:nvPr/>
        </p:nvSpPr>
        <p:spPr>
          <a:xfrm>
            <a:off x="92468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Aggregates from Backlog + Roadmap + Capacity tools</a:t>
            </a:r>
          </a:p>
        </p:txBody>
      </p:sp>
      <p:sp>
        <p:nvSpPr>
          <p:cNvPr id="64" name="Rounded Rectangle 63"/>
          <p:cNvSpPr/>
          <p:nvPr/>
        </p:nvSpPr>
        <p:spPr>
          <a:xfrm>
            <a:off x="365760" y="5257800"/>
            <a:ext cx="11475720" cy="10515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65760" y="5257800"/>
            <a:ext cx="91440" cy="1051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02920" y="5312664"/>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EXECUTIVE DASHBOARD  ·  Heather + VP Vitor  ·  always live</a:t>
            </a:r>
          </a:p>
        </p:txBody>
      </p:sp>
      <p:sp>
        <p:nvSpPr>
          <p:cNvPr id="67" name="Rounded Rectangle 66"/>
          <p:cNvSpPr/>
          <p:nvPr/>
        </p:nvSpPr>
        <p:spPr>
          <a:xfrm>
            <a:off x="50292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02920" y="5550408"/>
            <a:ext cx="54864" cy="6858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2648" y="5586984"/>
            <a:ext cx="2548889" cy="182880"/>
          </a:xfrm>
          <a:prstGeom prst="rect">
            <a:avLst/>
          </a:prstGeom>
          <a:noFill/>
        </p:spPr>
        <p:txBody>
          <a:bodyPr wrap="square" lIns="36000" rIns="36000" tIns="18000" bIns="18000" anchor="t">
            <a:spAutoFit/>
          </a:bodyPr>
          <a:lstStyle/>
          <a:p>
            <a:pPr algn="l"/>
            <a:r>
              <a:rPr sz="850" b="1" i="0">
                <a:solidFill>
                  <a:srgbClr val="008C38"/>
                </a:solidFill>
                <a:latin typeface="Arial"/>
              </a:rPr>
              <a:t>BV THROUGHPUT</a:t>
            </a:r>
          </a:p>
        </p:txBody>
      </p:sp>
      <p:sp>
        <p:nvSpPr>
          <p:cNvPr id="70" name="TextBox 69"/>
          <p:cNvSpPr txBox="1"/>
          <p:nvPr/>
        </p:nvSpPr>
        <p:spPr>
          <a:xfrm>
            <a:off x="61264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delivered / quarter</a:t>
            </a:r>
          </a:p>
        </p:txBody>
      </p:sp>
      <p:sp>
        <p:nvSpPr>
          <p:cNvPr id="71" name="TextBox 70"/>
          <p:cNvSpPr txBox="1"/>
          <p:nvPr/>
        </p:nvSpPr>
        <p:spPr>
          <a:xfrm>
            <a:off x="612648" y="5971032"/>
            <a:ext cx="2548889" cy="201168"/>
          </a:xfrm>
          <a:prstGeom prst="rect">
            <a:avLst/>
          </a:prstGeom>
          <a:noFill/>
        </p:spPr>
        <p:txBody>
          <a:bodyPr wrap="square" lIns="36000" rIns="36000" tIns="18000" bIns="18000" anchor="t">
            <a:spAutoFit/>
          </a:bodyPr>
          <a:lstStyle/>
          <a:p>
            <a:pPr algn="l"/>
            <a:r>
              <a:rPr sz="1100" b="0" i="0">
                <a:solidFill>
                  <a:srgbClr val="008C38"/>
                </a:solidFill>
                <a:latin typeface="Arial"/>
              </a:rPr>
              <a:t>▎▎▎▎▎▎▎▎ ▏▏▏</a:t>
            </a:r>
          </a:p>
        </p:txBody>
      </p:sp>
      <p:sp>
        <p:nvSpPr>
          <p:cNvPr id="72" name="Rounded Rectangle 71"/>
          <p:cNvSpPr/>
          <p:nvPr/>
        </p:nvSpPr>
        <p:spPr>
          <a:xfrm>
            <a:off x="332613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326130" y="5550408"/>
            <a:ext cx="54864" cy="6858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435858" y="5586984"/>
            <a:ext cx="2548889" cy="182880"/>
          </a:xfrm>
          <a:prstGeom prst="rect">
            <a:avLst/>
          </a:prstGeom>
          <a:noFill/>
        </p:spPr>
        <p:txBody>
          <a:bodyPr wrap="square" lIns="36000" rIns="36000" tIns="18000" bIns="18000" anchor="t">
            <a:spAutoFit/>
          </a:bodyPr>
          <a:lstStyle/>
          <a:p>
            <a:pPr algn="l"/>
            <a:r>
              <a:rPr sz="850" b="1" i="0">
                <a:solidFill>
                  <a:srgbClr val="008950"/>
                </a:solidFill>
                <a:latin typeface="Arial"/>
              </a:rPr>
              <a:t>PAIN VELOCITY</a:t>
            </a:r>
          </a:p>
        </p:txBody>
      </p:sp>
      <p:sp>
        <p:nvSpPr>
          <p:cNvPr id="75" name="TextBox 74"/>
          <p:cNvSpPr txBox="1"/>
          <p:nvPr/>
        </p:nvSpPr>
        <p:spPr>
          <a:xfrm>
            <a:off x="343585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avg score completed</a:t>
            </a:r>
          </a:p>
        </p:txBody>
      </p:sp>
      <p:sp>
        <p:nvSpPr>
          <p:cNvPr id="76" name="TextBox 75"/>
          <p:cNvSpPr txBox="1"/>
          <p:nvPr/>
        </p:nvSpPr>
        <p:spPr>
          <a:xfrm>
            <a:off x="3435858" y="5971032"/>
            <a:ext cx="2548889" cy="201168"/>
          </a:xfrm>
          <a:prstGeom prst="rect">
            <a:avLst/>
          </a:prstGeom>
          <a:noFill/>
        </p:spPr>
        <p:txBody>
          <a:bodyPr wrap="square" lIns="36000" rIns="36000" tIns="18000" bIns="18000" anchor="t">
            <a:spAutoFit/>
          </a:bodyPr>
          <a:lstStyle/>
          <a:p>
            <a:pPr algn="l"/>
            <a:r>
              <a:rPr sz="1100" b="0" i="0">
                <a:solidFill>
                  <a:srgbClr val="008950"/>
                </a:solidFill>
                <a:latin typeface="Arial"/>
              </a:rPr>
              <a:t>▎▎▎▎▎▎▎▎ ▏▏▏</a:t>
            </a:r>
          </a:p>
        </p:txBody>
      </p:sp>
      <p:sp>
        <p:nvSpPr>
          <p:cNvPr id="77" name="Rounded Rectangle 76"/>
          <p:cNvSpPr/>
          <p:nvPr/>
        </p:nvSpPr>
        <p:spPr>
          <a:xfrm>
            <a:off x="614934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149340" y="5550408"/>
            <a:ext cx="54864" cy="6858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59068" y="5586984"/>
            <a:ext cx="2548889" cy="182880"/>
          </a:xfrm>
          <a:prstGeom prst="rect">
            <a:avLst/>
          </a:prstGeom>
          <a:noFill/>
        </p:spPr>
        <p:txBody>
          <a:bodyPr wrap="square" lIns="36000" rIns="36000" tIns="18000" bIns="18000" anchor="t">
            <a:spAutoFit/>
          </a:bodyPr>
          <a:lstStyle/>
          <a:p>
            <a:pPr algn="l"/>
            <a:r>
              <a:rPr sz="850" b="1" i="0">
                <a:solidFill>
                  <a:srgbClr val="2C578B"/>
                </a:solidFill>
                <a:latin typeface="Arial"/>
              </a:rPr>
              <a:t>CYCLE TIME</a:t>
            </a:r>
          </a:p>
        </p:txBody>
      </p:sp>
      <p:sp>
        <p:nvSpPr>
          <p:cNvPr id="80" name="TextBox 79"/>
          <p:cNvSpPr txBox="1"/>
          <p:nvPr/>
        </p:nvSpPr>
        <p:spPr>
          <a:xfrm>
            <a:off x="625906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intake → release</a:t>
            </a:r>
          </a:p>
        </p:txBody>
      </p:sp>
      <p:sp>
        <p:nvSpPr>
          <p:cNvPr id="81" name="TextBox 80"/>
          <p:cNvSpPr txBox="1"/>
          <p:nvPr/>
        </p:nvSpPr>
        <p:spPr>
          <a:xfrm>
            <a:off x="6259068" y="5971032"/>
            <a:ext cx="2548889" cy="201168"/>
          </a:xfrm>
          <a:prstGeom prst="rect">
            <a:avLst/>
          </a:prstGeom>
          <a:noFill/>
        </p:spPr>
        <p:txBody>
          <a:bodyPr wrap="square" lIns="36000" rIns="36000" tIns="18000" bIns="18000" anchor="t">
            <a:spAutoFit/>
          </a:bodyPr>
          <a:lstStyle/>
          <a:p>
            <a:pPr algn="l"/>
            <a:r>
              <a:rPr sz="1100" b="0" i="0">
                <a:solidFill>
                  <a:srgbClr val="2C578B"/>
                </a:solidFill>
                <a:latin typeface="Arial"/>
              </a:rPr>
              <a:t>▎▎▎▎▎▎▎▎ ▏▏▏</a:t>
            </a:r>
          </a:p>
        </p:txBody>
      </p:sp>
      <p:sp>
        <p:nvSpPr>
          <p:cNvPr id="82" name="Rounded Rectangle 81"/>
          <p:cNvSpPr/>
          <p:nvPr/>
        </p:nvSpPr>
        <p:spPr>
          <a:xfrm>
            <a:off x="897255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972550" y="5550408"/>
            <a:ext cx="54864" cy="6858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082278" y="5586984"/>
            <a:ext cx="2548889" cy="182880"/>
          </a:xfrm>
          <a:prstGeom prst="rect">
            <a:avLst/>
          </a:prstGeom>
          <a:noFill/>
        </p:spPr>
        <p:txBody>
          <a:bodyPr wrap="square" lIns="36000" rIns="36000" tIns="18000" bIns="18000" anchor="t">
            <a:spAutoFit/>
          </a:bodyPr>
          <a:lstStyle/>
          <a:p>
            <a:pPr algn="l"/>
            <a:r>
              <a:rPr sz="850" b="1" i="0">
                <a:solidFill>
                  <a:srgbClr val="1B3C66"/>
                </a:solidFill>
                <a:latin typeface="Arial"/>
              </a:rPr>
              <a:t>CoS ADHERENCE</a:t>
            </a:r>
          </a:p>
        </p:txBody>
      </p:sp>
      <p:sp>
        <p:nvSpPr>
          <p:cNvPr id="85" name="TextBox 84"/>
          <p:cNvSpPr txBox="1"/>
          <p:nvPr/>
        </p:nvSpPr>
        <p:spPr>
          <a:xfrm>
            <a:off x="908227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in correct lane</a:t>
            </a:r>
          </a:p>
        </p:txBody>
      </p:sp>
      <p:sp>
        <p:nvSpPr>
          <p:cNvPr id="86" name="TextBox 85"/>
          <p:cNvSpPr txBox="1"/>
          <p:nvPr/>
        </p:nvSpPr>
        <p:spPr>
          <a:xfrm>
            <a:off x="9082278" y="5971032"/>
            <a:ext cx="2548889" cy="201168"/>
          </a:xfrm>
          <a:prstGeom prst="rect">
            <a:avLst/>
          </a:prstGeom>
          <a:noFill/>
        </p:spPr>
        <p:txBody>
          <a:bodyPr wrap="square" lIns="36000" rIns="36000" tIns="18000" bIns="18000" anchor="t">
            <a:spAutoFit/>
          </a:bodyPr>
          <a:lstStyle/>
          <a:p>
            <a:pPr algn="l"/>
            <a:r>
              <a:rPr sz="1100" b="0" i="0">
                <a:solidFill>
                  <a:srgbClr val="1B3C66"/>
                </a:solidFill>
                <a:latin typeface="Arial"/>
              </a:rPr>
              <a:t>▎▎▎▎▎▎▎▎ ▏▏▏</a:t>
            </a:r>
          </a:p>
        </p:txBody>
      </p:sp>
      <p:sp>
        <p:nvSpPr>
          <p:cNvPr id="87" name="TextBox 8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15 / 29</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GOVERNANCE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GATE 2 · THE ONLY FORUM: MONTHLY · 90 MIN · VP VITOR CHAIRS · 3 DIRECTORS VOTE · AUDIT-TRAIL EVERY DECISION</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6858000"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685800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81912"/>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GATE 2  ·  Portfolio Decision Forum</a:t>
            </a:r>
          </a:p>
        </p:txBody>
      </p:sp>
      <p:sp>
        <p:nvSpPr>
          <p:cNvPr id="11" name="Rounded Rectangle 10"/>
          <p:cNvSpPr/>
          <p:nvPr/>
        </p:nvSpPr>
        <p:spPr>
          <a:xfrm>
            <a:off x="1645919" y="2286000"/>
            <a:ext cx="4297680" cy="1737360"/>
          </a:xfrm>
          <a:prstGeom prst="roundRect">
            <a:avLst>
              <a:gd name="adj" fmla="val 50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19" y="3017520"/>
            <a:ext cx="4297680" cy="274320"/>
          </a:xfrm>
          <a:prstGeom prst="rect">
            <a:avLst/>
          </a:prstGeom>
          <a:noFill/>
        </p:spPr>
        <p:txBody>
          <a:bodyPr wrap="square" lIns="36000" rIns="36000" tIns="18000" bIns="18000" anchor="t">
            <a:spAutoFit/>
          </a:bodyPr>
          <a:lstStyle/>
          <a:p>
            <a:pPr algn="ctr"/>
            <a:r>
              <a:rPr sz="1100" b="1" i="0">
                <a:solidFill>
                  <a:srgbClr val="6B778C"/>
                </a:solidFill>
                <a:latin typeface="Arial"/>
              </a:rPr>
              <a:t>Gate 2 · monthly · 90 min</a:t>
            </a:r>
          </a:p>
        </p:txBody>
      </p:sp>
      <p:sp>
        <p:nvSpPr>
          <p:cNvPr id="13" name="Oval 12"/>
          <p:cNvSpPr/>
          <p:nvPr/>
        </p:nvSpPr>
        <p:spPr>
          <a:xfrm>
            <a:off x="3520440" y="1828800"/>
            <a:ext cx="502920" cy="502920"/>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82880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VV</a:t>
            </a:r>
          </a:p>
        </p:txBody>
      </p:sp>
      <p:sp>
        <p:nvSpPr>
          <p:cNvPr id="15" name="TextBox 14"/>
          <p:cNvSpPr txBox="1"/>
          <p:nvPr/>
        </p:nvSpPr>
        <p:spPr>
          <a:xfrm>
            <a:off x="3154680" y="233172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VP Vitor</a:t>
            </a:r>
          </a:p>
        </p:txBody>
      </p:sp>
      <p:sp>
        <p:nvSpPr>
          <p:cNvPr id="16" name="TextBox 15"/>
          <p:cNvSpPr txBox="1"/>
          <p:nvPr/>
        </p:nvSpPr>
        <p:spPr>
          <a:xfrm>
            <a:off x="3154680" y="247802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chairs</a:t>
            </a:r>
          </a:p>
        </p:txBody>
      </p:sp>
      <p:sp>
        <p:nvSpPr>
          <p:cNvPr id="17" name="Oval 16"/>
          <p:cNvSpPr/>
          <p:nvPr/>
        </p:nvSpPr>
        <p:spPr>
          <a:xfrm>
            <a:off x="1142999" y="246888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2999"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HK</a:t>
            </a:r>
          </a:p>
        </p:txBody>
      </p:sp>
      <p:sp>
        <p:nvSpPr>
          <p:cNvPr id="19" name="TextBox 18"/>
          <p:cNvSpPr txBox="1"/>
          <p:nvPr/>
        </p:nvSpPr>
        <p:spPr>
          <a:xfrm>
            <a:off x="77723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Heather</a:t>
            </a:r>
          </a:p>
        </p:txBody>
      </p:sp>
      <p:sp>
        <p:nvSpPr>
          <p:cNvPr id="20" name="TextBox 19"/>
          <p:cNvSpPr txBox="1"/>
          <p:nvPr/>
        </p:nvSpPr>
        <p:spPr>
          <a:xfrm>
            <a:off x="77723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Product</a:t>
            </a:r>
          </a:p>
        </p:txBody>
      </p:sp>
      <p:sp>
        <p:nvSpPr>
          <p:cNvPr id="21" name="Oval 20"/>
          <p:cNvSpPr/>
          <p:nvPr/>
        </p:nvSpPr>
        <p:spPr>
          <a:xfrm>
            <a:off x="1142999" y="329184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2999"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KJ</a:t>
            </a:r>
          </a:p>
        </p:txBody>
      </p:sp>
      <p:sp>
        <p:nvSpPr>
          <p:cNvPr id="23" name="TextBox 22"/>
          <p:cNvSpPr txBox="1"/>
          <p:nvPr/>
        </p:nvSpPr>
        <p:spPr>
          <a:xfrm>
            <a:off x="77723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Kumar</a:t>
            </a:r>
          </a:p>
        </p:txBody>
      </p:sp>
      <p:sp>
        <p:nvSpPr>
          <p:cNvPr id="24" name="TextBox 23"/>
          <p:cNvSpPr txBox="1"/>
          <p:nvPr/>
        </p:nvSpPr>
        <p:spPr>
          <a:xfrm>
            <a:off x="77723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CS</a:t>
            </a:r>
          </a:p>
        </p:txBody>
      </p:sp>
      <p:sp>
        <p:nvSpPr>
          <p:cNvPr id="25" name="Oval 24"/>
          <p:cNvSpPr/>
          <p:nvPr/>
        </p:nvSpPr>
        <p:spPr>
          <a:xfrm>
            <a:off x="5989320" y="2468880"/>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CG</a:t>
            </a:r>
          </a:p>
        </p:txBody>
      </p:sp>
      <p:sp>
        <p:nvSpPr>
          <p:cNvPr id="27" name="TextBox 26"/>
          <p:cNvSpPr txBox="1"/>
          <p:nvPr/>
        </p:nvSpPr>
        <p:spPr>
          <a:xfrm>
            <a:off x="562355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Carlos</a:t>
            </a:r>
          </a:p>
        </p:txBody>
      </p:sp>
      <p:sp>
        <p:nvSpPr>
          <p:cNvPr id="28" name="TextBox 27"/>
          <p:cNvSpPr txBox="1"/>
          <p:nvPr/>
        </p:nvSpPr>
        <p:spPr>
          <a:xfrm>
            <a:off x="562355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ITBA</a:t>
            </a:r>
          </a:p>
        </p:txBody>
      </p:sp>
      <p:sp>
        <p:nvSpPr>
          <p:cNvPr id="29" name="Oval 28"/>
          <p:cNvSpPr/>
          <p:nvPr/>
        </p:nvSpPr>
        <p:spPr>
          <a:xfrm>
            <a:off x="5989320" y="3291840"/>
            <a:ext cx="502920" cy="502920"/>
          </a:xfrm>
          <a:prstGeom prst="ellipse">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89320"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MM</a:t>
            </a:r>
          </a:p>
        </p:txBody>
      </p:sp>
      <p:sp>
        <p:nvSpPr>
          <p:cNvPr id="31" name="TextBox 30"/>
          <p:cNvSpPr txBox="1"/>
          <p:nvPr/>
        </p:nvSpPr>
        <p:spPr>
          <a:xfrm>
            <a:off x="562355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Middle mgrs</a:t>
            </a:r>
          </a:p>
        </p:txBody>
      </p:sp>
      <p:sp>
        <p:nvSpPr>
          <p:cNvPr id="32" name="TextBox 31"/>
          <p:cNvSpPr txBox="1"/>
          <p:nvPr/>
        </p:nvSpPr>
        <p:spPr>
          <a:xfrm>
            <a:off x="562355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advise</a:t>
            </a:r>
          </a:p>
        </p:txBody>
      </p:sp>
      <p:sp>
        <p:nvSpPr>
          <p:cNvPr id="33" name="Oval 32"/>
          <p:cNvSpPr/>
          <p:nvPr/>
        </p:nvSpPr>
        <p:spPr>
          <a:xfrm>
            <a:off x="3520440" y="4160520"/>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20440" y="416052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PA</a:t>
            </a:r>
          </a:p>
        </p:txBody>
      </p:sp>
      <p:sp>
        <p:nvSpPr>
          <p:cNvPr id="35" name="TextBox 34"/>
          <p:cNvSpPr txBox="1"/>
          <p:nvPr/>
        </p:nvSpPr>
        <p:spPr>
          <a:xfrm>
            <a:off x="3154680" y="466344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PMs + Architect</a:t>
            </a:r>
          </a:p>
        </p:txBody>
      </p:sp>
      <p:sp>
        <p:nvSpPr>
          <p:cNvPr id="36" name="TextBox 35"/>
          <p:cNvSpPr txBox="1"/>
          <p:nvPr/>
        </p:nvSpPr>
        <p:spPr>
          <a:xfrm>
            <a:off x="3154680" y="480974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support</a:t>
            </a:r>
          </a:p>
        </p:txBody>
      </p:sp>
      <p:sp>
        <p:nvSpPr>
          <p:cNvPr id="37" name="TextBox 36"/>
          <p:cNvSpPr txBox="1"/>
          <p:nvPr/>
        </p:nvSpPr>
        <p:spPr>
          <a:xfrm>
            <a:off x="548640" y="4343400"/>
            <a:ext cx="6583680" cy="182880"/>
          </a:xfrm>
          <a:prstGeom prst="rect">
            <a:avLst/>
          </a:prstGeom>
          <a:noFill/>
        </p:spPr>
        <p:txBody>
          <a:bodyPr wrap="square" lIns="36000" rIns="36000" tIns="18000" bIns="18000" anchor="t">
            <a:spAutoFit/>
          </a:bodyPr>
          <a:lstStyle/>
          <a:p>
            <a:pPr algn="l"/>
            <a:r>
              <a:rPr sz="800" b="1" i="0">
                <a:solidFill>
                  <a:srgbClr val="6B778C"/>
                </a:solidFill>
                <a:latin typeface="Arial"/>
              </a:rPr>
              <a:t>AGENDA  ·  90 min</a:t>
            </a:r>
          </a:p>
        </p:txBody>
      </p:sp>
      <p:sp>
        <p:nvSpPr>
          <p:cNvPr id="38" name="Rectangle 37"/>
          <p:cNvSpPr/>
          <p:nvPr/>
        </p:nvSpPr>
        <p:spPr>
          <a:xfrm>
            <a:off x="548640" y="457200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57200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00-15</a:t>
            </a:r>
          </a:p>
        </p:txBody>
      </p:sp>
      <p:sp>
        <p:nvSpPr>
          <p:cNvPr id="40" name="TextBox 39"/>
          <p:cNvSpPr txBox="1"/>
          <p:nvPr/>
        </p:nvSpPr>
        <p:spPr>
          <a:xfrm>
            <a:off x="1508760" y="460857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Capacity reality check  ·  middle managers report</a:t>
            </a:r>
          </a:p>
        </p:txBody>
      </p:sp>
      <p:sp>
        <p:nvSpPr>
          <p:cNvPr id="41" name="Rectangle 40"/>
          <p:cNvSpPr/>
          <p:nvPr/>
        </p:nvSpPr>
        <p:spPr>
          <a:xfrm>
            <a:off x="548640" y="484632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84632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15-35</a:t>
            </a:r>
          </a:p>
        </p:txBody>
      </p:sp>
      <p:sp>
        <p:nvSpPr>
          <p:cNvPr id="43" name="TextBox 42"/>
          <p:cNvSpPr txBox="1"/>
          <p:nvPr/>
        </p:nvSpPr>
        <p:spPr>
          <a:xfrm>
            <a:off x="1508760" y="488289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Backlog re-rank · CS + ITBA reviewed independently · Pain Score + CoS</a:t>
            </a:r>
          </a:p>
        </p:txBody>
      </p:sp>
      <p:sp>
        <p:nvSpPr>
          <p:cNvPr id="44" name="Rectangle 43"/>
          <p:cNvSpPr/>
          <p:nvPr/>
        </p:nvSpPr>
        <p:spPr>
          <a:xfrm>
            <a:off x="548640" y="512064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12064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35-55</a:t>
            </a:r>
          </a:p>
        </p:txBody>
      </p:sp>
      <p:sp>
        <p:nvSpPr>
          <p:cNvPr id="46" name="TextBox 45"/>
          <p:cNvSpPr txBox="1"/>
          <p:nvPr/>
        </p:nvSpPr>
        <p:spPr>
          <a:xfrm>
            <a:off x="1508760" y="515721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Defer/Reject decisions  ·  audit-logged</a:t>
            </a:r>
          </a:p>
        </p:txBody>
      </p:sp>
      <p:sp>
        <p:nvSpPr>
          <p:cNvPr id="47" name="Rectangle 46"/>
          <p:cNvSpPr/>
          <p:nvPr/>
        </p:nvSpPr>
        <p:spPr>
          <a:xfrm>
            <a:off x="548640" y="539495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39495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55-75</a:t>
            </a:r>
          </a:p>
        </p:txBody>
      </p:sp>
      <p:sp>
        <p:nvSpPr>
          <p:cNvPr id="49" name="TextBox 48"/>
          <p:cNvSpPr txBox="1"/>
          <p:nvPr/>
        </p:nvSpPr>
        <p:spPr>
          <a:xfrm>
            <a:off x="1508760" y="543153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Roadmap rolling-wave realignment  ·  commits vs hypotheses</a:t>
            </a:r>
          </a:p>
        </p:txBody>
      </p:sp>
      <p:sp>
        <p:nvSpPr>
          <p:cNvPr id="50" name="Rectangle 49"/>
          <p:cNvSpPr/>
          <p:nvPr/>
        </p:nvSpPr>
        <p:spPr>
          <a:xfrm>
            <a:off x="548640" y="566927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566927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75-85</a:t>
            </a:r>
          </a:p>
        </p:txBody>
      </p:sp>
      <p:sp>
        <p:nvSpPr>
          <p:cNvPr id="52" name="TextBox 51"/>
          <p:cNvSpPr txBox="1"/>
          <p:nvPr/>
        </p:nvSpPr>
        <p:spPr>
          <a:xfrm>
            <a:off x="1508760" y="570585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Cross-area dependencies  ·  blockers · escalations between CS and ITBA</a:t>
            </a:r>
          </a:p>
        </p:txBody>
      </p:sp>
      <p:sp>
        <p:nvSpPr>
          <p:cNvPr id="53" name="Rectangle 52"/>
          <p:cNvSpPr/>
          <p:nvPr/>
        </p:nvSpPr>
        <p:spPr>
          <a:xfrm>
            <a:off x="548640" y="594359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594359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85-90</a:t>
            </a:r>
          </a:p>
        </p:txBody>
      </p:sp>
      <p:sp>
        <p:nvSpPr>
          <p:cNvPr id="55" name="TextBox 54"/>
          <p:cNvSpPr txBox="1"/>
          <p:nvPr/>
        </p:nvSpPr>
        <p:spPr>
          <a:xfrm>
            <a:off x="1508760" y="598017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BRP outputs digest  ·  feeds quarterly priorities to P&amp;T + CoE BRPs</a:t>
            </a:r>
          </a:p>
        </p:txBody>
      </p:sp>
      <p:sp>
        <p:nvSpPr>
          <p:cNvPr id="56" name="Rounded Rectangle 55"/>
          <p:cNvSpPr/>
          <p:nvPr/>
        </p:nvSpPr>
        <p:spPr>
          <a:xfrm>
            <a:off x="7406640" y="1508760"/>
            <a:ext cx="4416552"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406640" y="1508760"/>
            <a:ext cx="441655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43800" y="1581912"/>
            <a:ext cx="4142232" cy="274320"/>
          </a:xfrm>
          <a:prstGeom prst="rect">
            <a:avLst/>
          </a:prstGeom>
          <a:noFill/>
        </p:spPr>
        <p:txBody>
          <a:bodyPr wrap="square" lIns="36000" rIns="36000" tIns="18000" bIns="18000" anchor="t">
            <a:spAutoFit/>
          </a:bodyPr>
          <a:lstStyle/>
          <a:p>
            <a:pPr algn="l"/>
            <a:r>
              <a:rPr sz="1100" b="1" i="0">
                <a:solidFill>
                  <a:srgbClr val="FFFFFF"/>
                </a:solidFill>
                <a:latin typeface="Arial"/>
              </a:rPr>
              <a:t>PRINCIPLES</a:t>
            </a:r>
          </a:p>
        </p:txBody>
      </p:sp>
      <p:sp>
        <p:nvSpPr>
          <p:cNvPr id="59" name="Rounded Rectangle 58"/>
          <p:cNvSpPr/>
          <p:nvPr/>
        </p:nvSpPr>
        <p:spPr>
          <a:xfrm>
            <a:off x="7543800" y="210312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43800" y="210312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ONE FORUM</a:t>
            </a:r>
          </a:p>
        </p:txBody>
      </p:sp>
      <p:sp>
        <p:nvSpPr>
          <p:cNvPr id="61" name="TextBox 60"/>
          <p:cNvSpPr txBox="1"/>
          <p:nvPr/>
        </p:nvSpPr>
        <p:spPr>
          <a:xfrm>
            <a:off x="7543800" y="237744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All Phase-2 decisions land here · no parallel committee</a:t>
            </a:r>
          </a:p>
        </p:txBody>
      </p:sp>
      <p:sp>
        <p:nvSpPr>
          <p:cNvPr id="62" name="Rounded Rectangle 61"/>
          <p:cNvSpPr/>
          <p:nvPr/>
        </p:nvSpPr>
        <p:spPr>
          <a:xfrm>
            <a:off x="7543800" y="279654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43800" y="279654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3-VOICE</a:t>
            </a:r>
          </a:p>
        </p:txBody>
      </p:sp>
      <p:sp>
        <p:nvSpPr>
          <p:cNvPr id="64" name="TextBox 63"/>
          <p:cNvSpPr txBox="1"/>
          <p:nvPr/>
        </p:nvSpPr>
        <p:spPr>
          <a:xfrm>
            <a:off x="7543800" y="307086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Kumar + Carlos must concur · VP breaks ties</a:t>
            </a:r>
          </a:p>
        </p:txBody>
      </p:sp>
      <p:sp>
        <p:nvSpPr>
          <p:cNvPr id="65" name="Rounded Rectangle 64"/>
          <p:cNvSpPr/>
          <p:nvPr/>
        </p:nvSpPr>
        <p:spPr>
          <a:xfrm>
            <a:off x="7543800" y="348996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543800" y="348996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AUDIT</a:t>
            </a:r>
          </a:p>
        </p:txBody>
      </p:sp>
      <p:sp>
        <p:nvSpPr>
          <p:cNvPr id="67" name="TextBox 66"/>
          <p:cNvSpPr txBox="1"/>
          <p:nvPr/>
        </p:nvSpPr>
        <p:spPr>
          <a:xfrm>
            <a:off x="7543800" y="376428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Every Defer/Reject + re-rank logged with reason · visible to all</a:t>
            </a:r>
          </a:p>
        </p:txBody>
      </p:sp>
      <p:sp>
        <p:nvSpPr>
          <p:cNvPr id="68" name="Rounded Rectangle 67"/>
          <p:cNvSpPr/>
          <p:nvPr/>
        </p:nvSpPr>
        <p:spPr>
          <a:xfrm>
            <a:off x="7543800" y="418337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43800" y="418337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METRICS</a:t>
            </a:r>
          </a:p>
        </p:txBody>
      </p:sp>
      <p:sp>
        <p:nvSpPr>
          <p:cNvPr id="70" name="TextBox 69"/>
          <p:cNvSpPr txBox="1"/>
          <p:nvPr/>
        </p:nvSpPr>
        <p:spPr>
          <a:xfrm>
            <a:off x="7543800" y="445770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VP Vitor metrics drive performance review</a:t>
            </a:r>
          </a:p>
        </p:txBody>
      </p:sp>
      <p:sp>
        <p:nvSpPr>
          <p:cNvPr id="71" name="Rounded Rectangle 70"/>
          <p:cNvSpPr/>
          <p:nvPr/>
        </p:nvSpPr>
        <p:spPr>
          <a:xfrm>
            <a:off x="7543800" y="487679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43800" y="487679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BRP COUPLING</a:t>
            </a:r>
          </a:p>
        </p:txBody>
      </p:sp>
      <p:sp>
        <p:nvSpPr>
          <p:cNvPr id="73" name="TextBox 72"/>
          <p:cNvSpPr txBox="1"/>
          <p:nvPr/>
        </p:nvSpPr>
        <p:spPr>
          <a:xfrm>
            <a:off x="7543800" y="515112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Outputs feed quarterly digest to P&amp;T BRP + Digital CoE BRP</a:t>
            </a:r>
          </a:p>
        </p:txBody>
      </p:sp>
      <p:sp>
        <p:nvSpPr>
          <p:cNvPr id="74" name="Rounded Rectangle 73"/>
          <p:cNvSpPr/>
          <p:nvPr/>
        </p:nvSpPr>
        <p:spPr>
          <a:xfrm>
            <a:off x="7543800" y="557021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543800" y="557021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NO PARALLEL</a:t>
            </a:r>
          </a:p>
        </p:txBody>
      </p:sp>
      <p:sp>
        <p:nvSpPr>
          <p:cNvPr id="76" name="TextBox 75"/>
          <p:cNvSpPr txBox="1"/>
          <p:nvPr/>
        </p:nvSpPr>
        <p:spPr>
          <a:xfrm>
            <a:off x="7543800" y="5844539"/>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No quarterly event of our own · couples to existing</a:t>
            </a:r>
          </a:p>
        </p:txBody>
      </p:sp>
      <p:sp>
        <p:nvSpPr>
          <p:cNvPr id="77" name="TextBox 7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16 / 29</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GOVERNANCE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BRP COUPLING · BUSINESS REVIEW PROCESS: BRP = BUSINESS REVIEW PROCESS (NOT BIG ROOM PLANNING) · EXISTING P&amp;T BRP + DIGITAL COE BRP FEED GATE 2 · WE DO NOT RUN OUR OWN</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417320"/>
            <a:ext cx="114757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72184"/>
            <a:ext cx="11338560" cy="201168"/>
          </a:xfrm>
          <a:prstGeom prst="rect">
            <a:avLst/>
          </a:prstGeom>
          <a:noFill/>
        </p:spPr>
        <p:txBody>
          <a:bodyPr wrap="square" lIns="36000" rIns="36000" tIns="18000" bIns="18000" anchor="t">
            <a:spAutoFit/>
          </a:bodyPr>
          <a:lstStyle/>
          <a:p>
            <a:pPr algn="l"/>
            <a:r>
              <a:rPr sz="1000" b="1" i="0">
                <a:solidFill>
                  <a:srgbClr val="006B3F"/>
                </a:solidFill>
                <a:latin typeface="Arial"/>
              </a:rPr>
              <a:t>WHAT IS A BRP</a:t>
            </a:r>
          </a:p>
        </p:txBody>
      </p:sp>
      <p:sp>
        <p:nvSpPr>
          <p:cNvPr id="11" name="TextBox 10"/>
          <p:cNvSpPr txBox="1"/>
          <p:nvPr/>
        </p:nvSpPr>
        <p:spPr>
          <a:xfrm>
            <a:off x="502920" y="1691640"/>
            <a:ext cx="11338560" cy="292608"/>
          </a:xfrm>
          <a:prstGeom prst="rect">
            <a:avLst/>
          </a:prstGeom>
          <a:noFill/>
        </p:spPr>
        <p:txBody>
          <a:bodyPr wrap="square" lIns="36000" rIns="36000" tIns="18000" bIns="18000" anchor="t">
            <a:spAutoFit/>
          </a:bodyPr>
          <a:lstStyle/>
          <a:p>
            <a:pPr algn="l"/>
            <a:r>
              <a:rPr sz="900" b="0" i="0">
                <a:solidFill>
                  <a:srgbClr val="2C3E50"/>
                </a:solidFill>
                <a:latin typeface="Arial"/>
              </a:rPr>
              <a:t>BRP = Business Review Process · NOT Big Room Planning · cross-business strategic alignment forum that already exists at Avangrid · Digital Products couples to existing forums (we do NOT run Big Room Planning)</a:t>
            </a:r>
          </a:p>
        </p:txBody>
      </p:sp>
      <p:sp>
        <p:nvSpPr>
          <p:cNvPr id="12" name="Rounded Rectangle 11"/>
          <p:cNvSpPr/>
          <p:nvPr/>
        </p:nvSpPr>
        <p:spPr>
          <a:xfrm>
            <a:off x="365760" y="2194560"/>
            <a:ext cx="5646420" cy="30175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194560"/>
            <a:ext cx="56464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24942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P&amp;T BRP</a:t>
            </a:r>
          </a:p>
        </p:txBody>
      </p:sp>
      <p:sp>
        <p:nvSpPr>
          <p:cNvPr id="15" name="TextBox 14"/>
          <p:cNvSpPr txBox="1"/>
          <p:nvPr/>
        </p:nvSpPr>
        <p:spPr>
          <a:xfrm>
            <a:off x="502920" y="2468879"/>
            <a:ext cx="5372100" cy="201168"/>
          </a:xfrm>
          <a:prstGeom prst="rect">
            <a:avLst/>
          </a:prstGeom>
          <a:noFill/>
        </p:spPr>
        <p:txBody>
          <a:bodyPr wrap="square" lIns="36000" rIns="36000" tIns="18000" bIns="18000" anchor="t">
            <a:spAutoFit/>
          </a:bodyPr>
          <a:lstStyle/>
          <a:p>
            <a:pPr algn="l"/>
            <a:r>
              <a:rPr sz="800" b="0" i="1">
                <a:solidFill>
                  <a:srgbClr val="FFFFFF"/>
                </a:solidFill>
                <a:latin typeface="Arial"/>
              </a:rPr>
              <a:t>Carlos + Asier own the relationship · ITBA-anchored</a:t>
            </a:r>
          </a:p>
        </p:txBody>
      </p:sp>
      <p:sp>
        <p:nvSpPr>
          <p:cNvPr id="16" name="TextBox 15"/>
          <p:cNvSpPr txBox="1"/>
          <p:nvPr/>
        </p:nvSpPr>
        <p:spPr>
          <a:xfrm>
            <a:off x="548640" y="2852927"/>
            <a:ext cx="1920240" cy="182880"/>
          </a:xfrm>
          <a:prstGeom prst="rect">
            <a:avLst/>
          </a:prstGeom>
          <a:noFill/>
        </p:spPr>
        <p:txBody>
          <a:bodyPr wrap="square" lIns="36000" rIns="36000" tIns="18000" bIns="18000" anchor="t">
            <a:spAutoFit/>
          </a:bodyPr>
          <a:lstStyle/>
          <a:p>
            <a:pPr algn="l"/>
            <a:r>
              <a:rPr sz="800" b="1" i="0">
                <a:solidFill>
                  <a:srgbClr val="2C578B"/>
                </a:solidFill>
                <a:latin typeface="Arial"/>
              </a:rPr>
              <a:t>WHO ATTENDS</a:t>
            </a:r>
          </a:p>
        </p:txBody>
      </p:sp>
      <p:sp>
        <p:nvSpPr>
          <p:cNvPr id="17" name="TextBox 16"/>
          <p:cNvSpPr txBox="1"/>
          <p:nvPr/>
        </p:nvSpPr>
        <p:spPr>
          <a:xfrm>
            <a:off x="2560320" y="285292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Carlos (ITBA Director) · Asier · BRS counterpart · Heather observer</a:t>
            </a:r>
          </a:p>
        </p:txBody>
      </p:sp>
      <p:sp>
        <p:nvSpPr>
          <p:cNvPr id="18" name="TextBox 17"/>
          <p:cNvSpPr txBox="1"/>
          <p:nvPr/>
        </p:nvSpPr>
        <p:spPr>
          <a:xfrm>
            <a:off x="548640" y="3226307"/>
            <a:ext cx="1920240" cy="182880"/>
          </a:xfrm>
          <a:prstGeom prst="rect">
            <a:avLst/>
          </a:prstGeom>
          <a:noFill/>
        </p:spPr>
        <p:txBody>
          <a:bodyPr wrap="square" lIns="36000" rIns="36000" tIns="18000" bIns="18000" anchor="t">
            <a:spAutoFit/>
          </a:bodyPr>
          <a:lstStyle/>
          <a:p>
            <a:pPr algn="l"/>
            <a:r>
              <a:rPr sz="800" b="1" i="0">
                <a:solidFill>
                  <a:srgbClr val="2C578B"/>
                </a:solidFill>
                <a:latin typeface="Arial"/>
              </a:rPr>
              <a:t>CADENCE</a:t>
            </a:r>
          </a:p>
        </p:txBody>
      </p:sp>
      <p:sp>
        <p:nvSpPr>
          <p:cNvPr id="19" name="TextBox 18"/>
          <p:cNvSpPr txBox="1"/>
          <p:nvPr/>
        </p:nvSpPr>
        <p:spPr>
          <a:xfrm>
            <a:off x="2560320" y="322630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Quarterly · cross-business strategic forum</a:t>
            </a:r>
          </a:p>
        </p:txBody>
      </p:sp>
      <p:sp>
        <p:nvSpPr>
          <p:cNvPr id="20" name="TextBox 19"/>
          <p:cNvSpPr txBox="1"/>
          <p:nvPr/>
        </p:nvSpPr>
        <p:spPr>
          <a:xfrm>
            <a:off x="548640" y="3599687"/>
            <a:ext cx="1920240" cy="182880"/>
          </a:xfrm>
          <a:prstGeom prst="rect">
            <a:avLst/>
          </a:prstGeom>
          <a:noFill/>
        </p:spPr>
        <p:txBody>
          <a:bodyPr wrap="square" lIns="36000" rIns="36000" tIns="18000" bIns="18000" anchor="t">
            <a:spAutoFit/>
          </a:bodyPr>
          <a:lstStyle/>
          <a:p>
            <a:pPr algn="l"/>
            <a:r>
              <a:rPr sz="800" b="1" i="0">
                <a:solidFill>
                  <a:srgbClr val="2C578B"/>
                </a:solidFill>
                <a:latin typeface="Arial"/>
              </a:rPr>
              <a:t>INPUT TO US</a:t>
            </a:r>
          </a:p>
        </p:txBody>
      </p:sp>
      <p:sp>
        <p:nvSpPr>
          <p:cNvPr id="21" name="TextBox 20"/>
          <p:cNvSpPr txBox="1"/>
          <p:nvPr/>
        </p:nvSpPr>
        <p:spPr>
          <a:xfrm>
            <a:off x="2560320" y="359968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ITBA priorities · regulatory deadlines · OPCO directives · capacity asks</a:t>
            </a:r>
          </a:p>
        </p:txBody>
      </p:sp>
      <p:sp>
        <p:nvSpPr>
          <p:cNvPr id="22" name="TextBox 21"/>
          <p:cNvSpPr txBox="1"/>
          <p:nvPr/>
        </p:nvSpPr>
        <p:spPr>
          <a:xfrm>
            <a:off x="548640" y="3973067"/>
            <a:ext cx="1920240" cy="182880"/>
          </a:xfrm>
          <a:prstGeom prst="rect">
            <a:avLst/>
          </a:prstGeom>
          <a:noFill/>
        </p:spPr>
        <p:txBody>
          <a:bodyPr wrap="square" lIns="36000" rIns="36000" tIns="18000" bIns="18000" anchor="t">
            <a:spAutoFit/>
          </a:bodyPr>
          <a:lstStyle/>
          <a:p>
            <a:pPr algn="l"/>
            <a:r>
              <a:rPr sz="800" b="1" i="0">
                <a:solidFill>
                  <a:srgbClr val="2C578B"/>
                </a:solidFill>
                <a:latin typeface="Arial"/>
              </a:rPr>
              <a:t>FORMAT</a:t>
            </a:r>
          </a:p>
        </p:txBody>
      </p:sp>
      <p:sp>
        <p:nvSpPr>
          <p:cNvPr id="23" name="TextBox 22"/>
          <p:cNvSpPr txBox="1"/>
          <p:nvPr/>
        </p:nvSpPr>
        <p:spPr>
          <a:xfrm>
            <a:off x="2560320" y="397306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BRP outputs digest (1-page) shared post-meeting</a:t>
            </a:r>
          </a:p>
        </p:txBody>
      </p:sp>
      <p:sp>
        <p:nvSpPr>
          <p:cNvPr id="24" name="TextBox 23"/>
          <p:cNvSpPr txBox="1"/>
          <p:nvPr/>
        </p:nvSpPr>
        <p:spPr>
          <a:xfrm>
            <a:off x="548640" y="4346447"/>
            <a:ext cx="1920240" cy="182880"/>
          </a:xfrm>
          <a:prstGeom prst="rect">
            <a:avLst/>
          </a:prstGeom>
          <a:noFill/>
        </p:spPr>
        <p:txBody>
          <a:bodyPr wrap="square" lIns="36000" rIns="36000" tIns="18000" bIns="18000" anchor="t">
            <a:spAutoFit/>
          </a:bodyPr>
          <a:lstStyle/>
          <a:p>
            <a:pPr algn="l"/>
            <a:r>
              <a:rPr sz="800" b="1" i="0">
                <a:solidFill>
                  <a:srgbClr val="2C578B"/>
                </a:solidFill>
                <a:latin typeface="Arial"/>
              </a:rPr>
              <a:t>FEEDS</a:t>
            </a:r>
          </a:p>
        </p:txBody>
      </p:sp>
      <p:sp>
        <p:nvSpPr>
          <p:cNvPr id="25" name="TextBox 24"/>
          <p:cNvSpPr txBox="1"/>
          <p:nvPr/>
        </p:nvSpPr>
        <p:spPr>
          <a:xfrm>
            <a:off x="2560320" y="434644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ITBA backlog re-rank at next Gate 2 · capacity reallocation triggers</a:t>
            </a:r>
          </a:p>
        </p:txBody>
      </p:sp>
      <p:sp>
        <p:nvSpPr>
          <p:cNvPr id="26" name="TextBox 25"/>
          <p:cNvSpPr txBox="1"/>
          <p:nvPr/>
        </p:nvSpPr>
        <p:spPr>
          <a:xfrm>
            <a:off x="548640" y="4719827"/>
            <a:ext cx="1920240" cy="182880"/>
          </a:xfrm>
          <a:prstGeom prst="rect">
            <a:avLst/>
          </a:prstGeom>
          <a:noFill/>
        </p:spPr>
        <p:txBody>
          <a:bodyPr wrap="square" lIns="36000" rIns="36000" tIns="18000" bIns="18000" anchor="t">
            <a:spAutoFit/>
          </a:bodyPr>
          <a:lstStyle/>
          <a:p>
            <a:pPr algn="l"/>
            <a:r>
              <a:rPr sz="800" b="1" i="0">
                <a:solidFill>
                  <a:srgbClr val="2C578B"/>
                </a:solidFill>
                <a:latin typeface="Arial"/>
              </a:rPr>
              <a:t>SYNC OWNER</a:t>
            </a:r>
          </a:p>
        </p:txBody>
      </p:sp>
      <p:sp>
        <p:nvSpPr>
          <p:cNvPr id="27" name="TextBox 26"/>
          <p:cNvSpPr txBox="1"/>
          <p:nvPr/>
        </p:nvSpPr>
        <p:spPr>
          <a:xfrm>
            <a:off x="2560320" y="471982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Carlos digests outputs · pre-Gate 2 sync with Heather + Kumar</a:t>
            </a:r>
          </a:p>
        </p:txBody>
      </p:sp>
      <p:sp>
        <p:nvSpPr>
          <p:cNvPr id="28" name="Rounded Rectangle 27"/>
          <p:cNvSpPr/>
          <p:nvPr/>
        </p:nvSpPr>
        <p:spPr>
          <a:xfrm>
            <a:off x="6195060" y="2194560"/>
            <a:ext cx="5646420" cy="30175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5060" y="2194560"/>
            <a:ext cx="56464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2220" y="224942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Digital CoE BRP</a:t>
            </a:r>
          </a:p>
        </p:txBody>
      </p:sp>
      <p:sp>
        <p:nvSpPr>
          <p:cNvPr id="31" name="TextBox 30"/>
          <p:cNvSpPr txBox="1"/>
          <p:nvPr/>
        </p:nvSpPr>
        <p:spPr>
          <a:xfrm>
            <a:off x="6332220" y="2468879"/>
            <a:ext cx="5372100" cy="201168"/>
          </a:xfrm>
          <a:prstGeom prst="rect">
            <a:avLst/>
          </a:prstGeom>
          <a:noFill/>
        </p:spPr>
        <p:txBody>
          <a:bodyPr wrap="square" lIns="36000" rIns="36000" tIns="18000" bIns="18000" anchor="t">
            <a:spAutoFit/>
          </a:bodyPr>
          <a:lstStyle/>
          <a:p>
            <a:pPr algn="l"/>
            <a:r>
              <a:rPr sz="800" b="0" i="1">
                <a:solidFill>
                  <a:srgbClr val="FFFFFF"/>
                </a:solidFill>
                <a:latin typeface="Arial"/>
              </a:rPr>
              <a:t>Heather is the liaison · spans CS + Digital portfolio</a:t>
            </a:r>
          </a:p>
        </p:txBody>
      </p:sp>
      <p:sp>
        <p:nvSpPr>
          <p:cNvPr id="32" name="TextBox 31"/>
          <p:cNvSpPr txBox="1"/>
          <p:nvPr/>
        </p:nvSpPr>
        <p:spPr>
          <a:xfrm>
            <a:off x="6377940" y="2852927"/>
            <a:ext cx="1920240" cy="182880"/>
          </a:xfrm>
          <a:prstGeom prst="rect">
            <a:avLst/>
          </a:prstGeom>
          <a:noFill/>
        </p:spPr>
        <p:txBody>
          <a:bodyPr wrap="square" lIns="36000" rIns="36000" tIns="18000" bIns="18000" anchor="t">
            <a:spAutoFit/>
          </a:bodyPr>
          <a:lstStyle/>
          <a:p>
            <a:pPr algn="l"/>
            <a:r>
              <a:rPr sz="800" b="1" i="0">
                <a:solidFill>
                  <a:srgbClr val="008C38"/>
                </a:solidFill>
                <a:latin typeface="Arial"/>
              </a:rPr>
              <a:t>WHO ATTENDS</a:t>
            </a:r>
          </a:p>
        </p:txBody>
      </p:sp>
      <p:sp>
        <p:nvSpPr>
          <p:cNvPr id="33" name="TextBox 32"/>
          <p:cNvSpPr txBox="1"/>
          <p:nvPr/>
        </p:nvSpPr>
        <p:spPr>
          <a:xfrm>
            <a:off x="8389620" y="285292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Heather (Director Product) · Digital CoE leadership · CCC stakeholders</a:t>
            </a:r>
          </a:p>
        </p:txBody>
      </p:sp>
      <p:sp>
        <p:nvSpPr>
          <p:cNvPr id="34" name="TextBox 33"/>
          <p:cNvSpPr txBox="1"/>
          <p:nvPr/>
        </p:nvSpPr>
        <p:spPr>
          <a:xfrm>
            <a:off x="6377940" y="3226307"/>
            <a:ext cx="1920240" cy="182880"/>
          </a:xfrm>
          <a:prstGeom prst="rect">
            <a:avLst/>
          </a:prstGeom>
          <a:noFill/>
        </p:spPr>
        <p:txBody>
          <a:bodyPr wrap="square" lIns="36000" rIns="36000" tIns="18000" bIns="18000" anchor="t">
            <a:spAutoFit/>
          </a:bodyPr>
          <a:lstStyle/>
          <a:p>
            <a:pPr algn="l"/>
            <a:r>
              <a:rPr sz="800" b="1" i="0">
                <a:solidFill>
                  <a:srgbClr val="008C38"/>
                </a:solidFill>
                <a:latin typeface="Arial"/>
              </a:rPr>
              <a:t>CADENCE</a:t>
            </a:r>
          </a:p>
        </p:txBody>
      </p:sp>
      <p:sp>
        <p:nvSpPr>
          <p:cNvPr id="35" name="TextBox 34"/>
          <p:cNvSpPr txBox="1"/>
          <p:nvPr/>
        </p:nvSpPr>
        <p:spPr>
          <a:xfrm>
            <a:off x="8389620" y="322630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Quarterly · enterprise-wide Digital alignment</a:t>
            </a:r>
          </a:p>
        </p:txBody>
      </p:sp>
      <p:sp>
        <p:nvSpPr>
          <p:cNvPr id="36" name="TextBox 35"/>
          <p:cNvSpPr txBox="1"/>
          <p:nvPr/>
        </p:nvSpPr>
        <p:spPr>
          <a:xfrm>
            <a:off x="6377940" y="3599687"/>
            <a:ext cx="1920240" cy="182880"/>
          </a:xfrm>
          <a:prstGeom prst="rect">
            <a:avLst/>
          </a:prstGeom>
          <a:noFill/>
        </p:spPr>
        <p:txBody>
          <a:bodyPr wrap="square" lIns="36000" rIns="36000" tIns="18000" bIns="18000" anchor="t">
            <a:spAutoFit/>
          </a:bodyPr>
          <a:lstStyle/>
          <a:p>
            <a:pPr algn="l"/>
            <a:r>
              <a:rPr sz="800" b="1" i="0">
                <a:solidFill>
                  <a:srgbClr val="008C38"/>
                </a:solidFill>
                <a:latin typeface="Arial"/>
              </a:rPr>
              <a:t>INPUT TO US</a:t>
            </a:r>
          </a:p>
        </p:txBody>
      </p:sp>
      <p:sp>
        <p:nvSpPr>
          <p:cNvPr id="37" name="TextBox 36"/>
          <p:cNvSpPr txBox="1"/>
          <p:nvPr/>
        </p:nvSpPr>
        <p:spPr>
          <a:xfrm>
            <a:off x="8389620" y="359968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Customer-experience priorities · enterprise digital roadmap · Discovery handoffs</a:t>
            </a:r>
          </a:p>
        </p:txBody>
      </p:sp>
      <p:sp>
        <p:nvSpPr>
          <p:cNvPr id="38" name="TextBox 37"/>
          <p:cNvSpPr txBox="1"/>
          <p:nvPr/>
        </p:nvSpPr>
        <p:spPr>
          <a:xfrm>
            <a:off x="6377940" y="3973067"/>
            <a:ext cx="1920240" cy="182880"/>
          </a:xfrm>
          <a:prstGeom prst="rect">
            <a:avLst/>
          </a:prstGeom>
          <a:noFill/>
        </p:spPr>
        <p:txBody>
          <a:bodyPr wrap="square" lIns="36000" rIns="36000" tIns="18000" bIns="18000" anchor="t">
            <a:spAutoFit/>
          </a:bodyPr>
          <a:lstStyle/>
          <a:p>
            <a:pPr algn="l"/>
            <a:r>
              <a:rPr sz="800" b="1" i="0">
                <a:solidFill>
                  <a:srgbClr val="008C38"/>
                </a:solidFill>
                <a:latin typeface="Arial"/>
              </a:rPr>
              <a:t>FORMAT</a:t>
            </a:r>
          </a:p>
        </p:txBody>
      </p:sp>
      <p:sp>
        <p:nvSpPr>
          <p:cNvPr id="39" name="TextBox 38"/>
          <p:cNvSpPr txBox="1"/>
          <p:nvPr/>
        </p:nvSpPr>
        <p:spPr>
          <a:xfrm>
            <a:off x="8389620" y="397306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BRP outputs digest (1-page) shared post-meeting</a:t>
            </a:r>
          </a:p>
        </p:txBody>
      </p:sp>
      <p:sp>
        <p:nvSpPr>
          <p:cNvPr id="40" name="TextBox 39"/>
          <p:cNvSpPr txBox="1"/>
          <p:nvPr/>
        </p:nvSpPr>
        <p:spPr>
          <a:xfrm>
            <a:off x="6377940" y="4346447"/>
            <a:ext cx="1920240" cy="182880"/>
          </a:xfrm>
          <a:prstGeom prst="rect">
            <a:avLst/>
          </a:prstGeom>
          <a:noFill/>
        </p:spPr>
        <p:txBody>
          <a:bodyPr wrap="square" lIns="36000" rIns="36000" tIns="18000" bIns="18000" anchor="t">
            <a:spAutoFit/>
          </a:bodyPr>
          <a:lstStyle/>
          <a:p>
            <a:pPr algn="l"/>
            <a:r>
              <a:rPr sz="800" b="1" i="0">
                <a:solidFill>
                  <a:srgbClr val="008C38"/>
                </a:solidFill>
                <a:latin typeface="Arial"/>
              </a:rPr>
              <a:t>FEEDS</a:t>
            </a:r>
          </a:p>
        </p:txBody>
      </p:sp>
      <p:sp>
        <p:nvSpPr>
          <p:cNvPr id="41" name="TextBox 40"/>
          <p:cNvSpPr txBox="1"/>
          <p:nvPr/>
        </p:nvSpPr>
        <p:spPr>
          <a:xfrm>
            <a:off x="8389620" y="434644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CS backlog re-rank at next Gate 2 · roadmap commit adjustments</a:t>
            </a:r>
          </a:p>
        </p:txBody>
      </p:sp>
      <p:sp>
        <p:nvSpPr>
          <p:cNvPr id="42" name="TextBox 41"/>
          <p:cNvSpPr txBox="1"/>
          <p:nvPr/>
        </p:nvSpPr>
        <p:spPr>
          <a:xfrm>
            <a:off x="6377940" y="4719827"/>
            <a:ext cx="1920240" cy="182880"/>
          </a:xfrm>
          <a:prstGeom prst="rect">
            <a:avLst/>
          </a:prstGeom>
          <a:noFill/>
        </p:spPr>
        <p:txBody>
          <a:bodyPr wrap="square" lIns="36000" rIns="36000" tIns="18000" bIns="18000" anchor="t">
            <a:spAutoFit/>
          </a:bodyPr>
          <a:lstStyle/>
          <a:p>
            <a:pPr algn="l"/>
            <a:r>
              <a:rPr sz="800" b="1" i="0">
                <a:solidFill>
                  <a:srgbClr val="008C38"/>
                </a:solidFill>
                <a:latin typeface="Arial"/>
              </a:rPr>
              <a:t>SYNC OWNER</a:t>
            </a:r>
          </a:p>
        </p:txBody>
      </p:sp>
      <p:sp>
        <p:nvSpPr>
          <p:cNvPr id="43" name="TextBox 42"/>
          <p:cNvSpPr txBox="1"/>
          <p:nvPr/>
        </p:nvSpPr>
        <p:spPr>
          <a:xfrm>
            <a:off x="8389620" y="4719827"/>
            <a:ext cx="3314700" cy="327659"/>
          </a:xfrm>
          <a:prstGeom prst="rect">
            <a:avLst/>
          </a:prstGeom>
          <a:noFill/>
        </p:spPr>
        <p:txBody>
          <a:bodyPr wrap="square" lIns="36000" rIns="36000" tIns="18000" bIns="18000" anchor="t">
            <a:spAutoFit/>
          </a:bodyPr>
          <a:lstStyle/>
          <a:p>
            <a:pPr algn="l"/>
            <a:r>
              <a:rPr sz="850" b="0" i="0">
                <a:solidFill>
                  <a:srgbClr val="2C3E50"/>
                </a:solidFill>
                <a:latin typeface="Arial"/>
              </a:rPr>
              <a:t>Heather digests outputs · pre-Gate 2 sync with Carlos + Kumar</a:t>
            </a:r>
          </a:p>
        </p:txBody>
      </p:sp>
      <p:sp>
        <p:nvSpPr>
          <p:cNvPr id="44" name="Rounded Rectangle 43"/>
          <p:cNvSpPr/>
          <p:nvPr/>
        </p:nvSpPr>
        <p:spPr>
          <a:xfrm>
            <a:off x="365760" y="5349240"/>
            <a:ext cx="11475720" cy="9601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5404103"/>
            <a:ext cx="11247120" cy="182880"/>
          </a:xfrm>
          <a:prstGeom prst="rect">
            <a:avLst/>
          </a:prstGeom>
          <a:noFill/>
        </p:spPr>
        <p:txBody>
          <a:bodyPr wrap="square" lIns="36000" rIns="36000" tIns="18000" bIns="18000" anchor="t">
            <a:spAutoFit/>
          </a:bodyPr>
          <a:lstStyle/>
          <a:p>
            <a:pPr algn="l"/>
            <a:r>
              <a:rPr sz="1000" b="1" i="0">
                <a:solidFill>
                  <a:srgbClr val="0F2A47"/>
                </a:solidFill>
                <a:latin typeface="Arial"/>
              </a:rPr>
              <a:t>INPUT FLOW  ·  BRP → our Gate 2</a:t>
            </a:r>
          </a:p>
        </p:txBody>
      </p:sp>
      <p:sp>
        <p:nvSpPr>
          <p:cNvPr id="46" name="Rounded Rectangle 45"/>
          <p:cNvSpPr/>
          <p:nvPr/>
        </p:nvSpPr>
        <p:spPr>
          <a:xfrm>
            <a:off x="502920" y="5641848"/>
            <a:ext cx="2731770" cy="576072"/>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5696712"/>
            <a:ext cx="2731770" cy="201168"/>
          </a:xfrm>
          <a:prstGeom prst="rect">
            <a:avLst/>
          </a:prstGeom>
          <a:noFill/>
        </p:spPr>
        <p:txBody>
          <a:bodyPr wrap="square" lIns="36000" rIns="36000" tIns="18000" bIns="18000" anchor="t">
            <a:spAutoFit/>
          </a:bodyPr>
          <a:lstStyle/>
          <a:p>
            <a:pPr algn="ctr"/>
            <a:r>
              <a:rPr sz="900" b="1" i="0">
                <a:solidFill>
                  <a:srgbClr val="FFFFFF"/>
                </a:solidFill>
                <a:latin typeface="Arial"/>
              </a:rPr>
              <a:t>BRP meets</a:t>
            </a:r>
          </a:p>
        </p:txBody>
      </p:sp>
      <p:sp>
        <p:nvSpPr>
          <p:cNvPr id="48" name="TextBox 47"/>
          <p:cNvSpPr txBox="1"/>
          <p:nvPr/>
        </p:nvSpPr>
        <p:spPr>
          <a:xfrm>
            <a:off x="502920" y="5897880"/>
            <a:ext cx="2731770" cy="274320"/>
          </a:xfrm>
          <a:prstGeom prst="rect">
            <a:avLst/>
          </a:prstGeom>
          <a:noFill/>
        </p:spPr>
        <p:txBody>
          <a:bodyPr wrap="square" lIns="36000" rIns="36000" tIns="18000" bIns="18000" anchor="t">
            <a:spAutoFit/>
          </a:bodyPr>
          <a:lstStyle/>
          <a:p>
            <a:pPr algn="ctr"/>
            <a:r>
              <a:rPr sz="800" b="0" i="1">
                <a:solidFill>
                  <a:srgbClr val="FFFFFF"/>
                </a:solidFill>
                <a:latin typeface="Arial"/>
              </a:rPr>
              <a:t>quarterly · cross-business</a:t>
            </a:r>
          </a:p>
        </p:txBody>
      </p:sp>
      <p:sp>
        <p:nvSpPr>
          <p:cNvPr id="49" name="TextBox 48"/>
          <p:cNvSpPr txBox="1"/>
          <p:nvPr/>
        </p:nvSpPr>
        <p:spPr>
          <a:xfrm>
            <a:off x="3239261" y="5687568"/>
            <a:ext cx="109728" cy="365760"/>
          </a:xfrm>
          <a:prstGeom prst="rect">
            <a:avLst/>
          </a:prstGeom>
          <a:noFill/>
        </p:spPr>
        <p:txBody>
          <a:bodyPr wrap="square" lIns="36000" rIns="36000" tIns="18000" bIns="18000" anchor="ctr">
            <a:spAutoFit/>
          </a:bodyPr>
          <a:lstStyle/>
          <a:p>
            <a:pPr algn="ctr"/>
            <a:r>
              <a:rPr sz="1400" b="1" i="0">
                <a:solidFill>
                  <a:srgbClr val="6B778C"/>
                </a:solidFill>
                <a:latin typeface="Arial"/>
              </a:rPr>
              <a:t>→</a:t>
            </a:r>
          </a:p>
        </p:txBody>
      </p:sp>
      <p:sp>
        <p:nvSpPr>
          <p:cNvPr id="50" name="Rounded Rectangle 49"/>
          <p:cNvSpPr/>
          <p:nvPr/>
        </p:nvSpPr>
        <p:spPr>
          <a:xfrm>
            <a:off x="3326130" y="5641848"/>
            <a:ext cx="2731770" cy="57607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26130" y="5696712"/>
            <a:ext cx="2731770" cy="201168"/>
          </a:xfrm>
          <a:prstGeom prst="rect">
            <a:avLst/>
          </a:prstGeom>
          <a:noFill/>
        </p:spPr>
        <p:txBody>
          <a:bodyPr wrap="square" lIns="36000" rIns="36000" tIns="18000" bIns="18000" anchor="t">
            <a:spAutoFit/>
          </a:bodyPr>
          <a:lstStyle/>
          <a:p>
            <a:pPr algn="ctr"/>
            <a:r>
              <a:rPr sz="900" b="1" i="0">
                <a:solidFill>
                  <a:srgbClr val="FFFFFF"/>
                </a:solidFill>
                <a:latin typeface="Arial"/>
              </a:rPr>
              <a:t>Outputs digest</a:t>
            </a:r>
          </a:p>
        </p:txBody>
      </p:sp>
      <p:sp>
        <p:nvSpPr>
          <p:cNvPr id="52" name="TextBox 51"/>
          <p:cNvSpPr txBox="1"/>
          <p:nvPr/>
        </p:nvSpPr>
        <p:spPr>
          <a:xfrm>
            <a:off x="3326130" y="5897880"/>
            <a:ext cx="2731770" cy="274320"/>
          </a:xfrm>
          <a:prstGeom prst="rect">
            <a:avLst/>
          </a:prstGeom>
          <a:noFill/>
        </p:spPr>
        <p:txBody>
          <a:bodyPr wrap="square" lIns="36000" rIns="36000" tIns="18000" bIns="18000" anchor="t">
            <a:spAutoFit/>
          </a:bodyPr>
          <a:lstStyle/>
          <a:p>
            <a:pPr algn="ctr"/>
            <a:r>
              <a:rPr sz="800" b="0" i="1">
                <a:solidFill>
                  <a:srgbClr val="FFFFFF"/>
                </a:solidFill>
                <a:latin typeface="Arial"/>
              </a:rPr>
              <a:t>1-page summary · 5 business days</a:t>
            </a:r>
          </a:p>
        </p:txBody>
      </p:sp>
      <p:sp>
        <p:nvSpPr>
          <p:cNvPr id="53" name="TextBox 52"/>
          <p:cNvSpPr txBox="1"/>
          <p:nvPr/>
        </p:nvSpPr>
        <p:spPr>
          <a:xfrm>
            <a:off x="6062472" y="5687568"/>
            <a:ext cx="109728" cy="365760"/>
          </a:xfrm>
          <a:prstGeom prst="rect">
            <a:avLst/>
          </a:prstGeom>
          <a:noFill/>
        </p:spPr>
        <p:txBody>
          <a:bodyPr wrap="square" lIns="36000" rIns="36000" tIns="18000" bIns="18000" anchor="ctr">
            <a:spAutoFit/>
          </a:bodyPr>
          <a:lstStyle/>
          <a:p>
            <a:pPr algn="ctr"/>
            <a:r>
              <a:rPr sz="1400" b="1" i="0">
                <a:solidFill>
                  <a:srgbClr val="6B778C"/>
                </a:solidFill>
                <a:latin typeface="Arial"/>
              </a:rPr>
              <a:t>→</a:t>
            </a:r>
          </a:p>
        </p:txBody>
      </p:sp>
      <p:sp>
        <p:nvSpPr>
          <p:cNvPr id="54" name="Rounded Rectangle 53"/>
          <p:cNvSpPr/>
          <p:nvPr/>
        </p:nvSpPr>
        <p:spPr>
          <a:xfrm>
            <a:off x="6149340" y="5641848"/>
            <a:ext cx="2731770" cy="576072"/>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49340" y="5696712"/>
            <a:ext cx="2731770" cy="201168"/>
          </a:xfrm>
          <a:prstGeom prst="rect">
            <a:avLst/>
          </a:prstGeom>
          <a:noFill/>
        </p:spPr>
        <p:txBody>
          <a:bodyPr wrap="square" lIns="36000" rIns="36000" tIns="18000" bIns="18000" anchor="t">
            <a:spAutoFit/>
          </a:bodyPr>
          <a:lstStyle/>
          <a:p>
            <a:pPr algn="ctr"/>
            <a:r>
              <a:rPr sz="900" b="1" i="0">
                <a:solidFill>
                  <a:srgbClr val="FFFFFF"/>
                </a:solidFill>
                <a:latin typeface="Arial"/>
              </a:rPr>
              <a:t>Pre-Gate 2 sync</a:t>
            </a:r>
          </a:p>
        </p:txBody>
      </p:sp>
      <p:sp>
        <p:nvSpPr>
          <p:cNvPr id="56" name="TextBox 55"/>
          <p:cNvSpPr txBox="1"/>
          <p:nvPr/>
        </p:nvSpPr>
        <p:spPr>
          <a:xfrm>
            <a:off x="6149340" y="5897880"/>
            <a:ext cx="2731770" cy="274320"/>
          </a:xfrm>
          <a:prstGeom prst="rect">
            <a:avLst/>
          </a:prstGeom>
          <a:noFill/>
        </p:spPr>
        <p:txBody>
          <a:bodyPr wrap="square" lIns="36000" rIns="36000" tIns="18000" bIns="18000" anchor="t">
            <a:spAutoFit/>
          </a:bodyPr>
          <a:lstStyle/>
          <a:p>
            <a:pPr algn="ctr"/>
            <a:r>
              <a:rPr sz="800" b="0" i="1">
                <a:solidFill>
                  <a:srgbClr val="FFFFFF"/>
                </a:solidFill>
                <a:latin typeface="Arial"/>
              </a:rPr>
              <a:t>Heather+Carlos+Kumar align</a:t>
            </a:r>
          </a:p>
        </p:txBody>
      </p:sp>
      <p:sp>
        <p:nvSpPr>
          <p:cNvPr id="57" name="TextBox 56"/>
          <p:cNvSpPr txBox="1"/>
          <p:nvPr/>
        </p:nvSpPr>
        <p:spPr>
          <a:xfrm>
            <a:off x="8885682" y="5687568"/>
            <a:ext cx="109728" cy="365760"/>
          </a:xfrm>
          <a:prstGeom prst="rect">
            <a:avLst/>
          </a:prstGeom>
          <a:noFill/>
        </p:spPr>
        <p:txBody>
          <a:bodyPr wrap="square" lIns="36000" rIns="36000" tIns="18000" bIns="18000" anchor="ctr">
            <a:spAutoFit/>
          </a:bodyPr>
          <a:lstStyle/>
          <a:p>
            <a:pPr algn="ctr"/>
            <a:r>
              <a:rPr sz="1400" b="1" i="0">
                <a:solidFill>
                  <a:srgbClr val="6B778C"/>
                </a:solidFill>
                <a:latin typeface="Arial"/>
              </a:rPr>
              <a:t>→</a:t>
            </a:r>
          </a:p>
        </p:txBody>
      </p:sp>
      <p:sp>
        <p:nvSpPr>
          <p:cNvPr id="58" name="Rounded Rectangle 57"/>
          <p:cNvSpPr/>
          <p:nvPr/>
        </p:nvSpPr>
        <p:spPr>
          <a:xfrm>
            <a:off x="8972550" y="5641848"/>
            <a:ext cx="2731770" cy="576072"/>
          </a:xfrm>
          <a:prstGeom prst="roundRect">
            <a:avLst>
              <a:gd name="adj" fmla="val 4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972550" y="5696712"/>
            <a:ext cx="2731770" cy="201168"/>
          </a:xfrm>
          <a:prstGeom prst="rect">
            <a:avLst/>
          </a:prstGeom>
          <a:noFill/>
        </p:spPr>
        <p:txBody>
          <a:bodyPr wrap="square" lIns="36000" rIns="36000" tIns="18000" bIns="18000" anchor="t">
            <a:spAutoFit/>
          </a:bodyPr>
          <a:lstStyle/>
          <a:p>
            <a:pPr algn="ctr"/>
            <a:r>
              <a:rPr sz="900" b="1" i="0">
                <a:solidFill>
                  <a:srgbClr val="FFFFFF"/>
                </a:solidFill>
                <a:latin typeface="Arial"/>
              </a:rPr>
              <a:t>Gate 2</a:t>
            </a:r>
          </a:p>
        </p:txBody>
      </p:sp>
      <p:sp>
        <p:nvSpPr>
          <p:cNvPr id="60" name="TextBox 59"/>
          <p:cNvSpPr txBox="1"/>
          <p:nvPr/>
        </p:nvSpPr>
        <p:spPr>
          <a:xfrm>
            <a:off x="8972550" y="5897880"/>
            <a:ext cx="2731770" cy="274320"/>
          </a:xfrm>
          <a:prstGeom prst="rect">
            <a:avLst/>
          </a:prstGeom>
          <a:noFill/>
        </p:spPr>
        <p:txBody>
          <a:bodyPr wrap="square" lIns="36000" rIns="36000" tIns="18000" bIns="18000" anchor="t">
            <a:spAutoFit/>
          </a:bodyPr>
          <a:lstStyle/>
          <a:p>
            <a:pPr algn="ctr"/>
            <a:r>
              <a:rPr sz="800" b="0" i="1">
                <a:solidFill>
                  <a:srgbClr val="FFFFFF"/>
                </a:solidFill>
                <a:latin typeface="Arial"/>
              </a:rPr>
              <a:t>re-rank backlog · capacity adjust</a:t>
            </a:r>
          </a:p>
        </p:txBody>
      </p:sp>
      <p:sp>
        <p:nvSpPr>
          <p:cNvPr id="61" name="TextBox 6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17 / 29</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GOVERNANCE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PRIORITIZATION CRITERIA · 5 LAYERS: VALUE · RISK · EFFORT · OPCO SCOPE · OVERRIDES — SAME LOGIC CS+ITBA · DIFFERENT INPUTS</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2185416"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01</a:t>
            </a:r>
          </a:p>
        </p:txBody>
      </p:sp>
      <p:sp>
        <p:nvSpPr>
          <p:cNvPr id="11" name="TextBox 10"/>
          <p:cNvSpPr txBox="1"/>
          <p:nvPr/>
        </p:nvSpPr>
        <p:spPr>
          <a:xfrm>
            <a:off x="1143000"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VALUE</a:t>
            </a:r>
          </a:p>
        </p:txBody>
      </p:sp>
      <p:sp>
        <p:nvSpPr>
          <p:cNvPr id="12" name="TextBox 11"/>
          <p:cNvSpPr txBox="1"/>
          <p:nvPr/>
        </p:nvSpPr>
        <p:spPr>
          <a:xfrm>
            <a:off x="1143000"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BV (1-5)  +  UX (1-5)</a:t>
            </a:r>
          </a:p>
        </p:txBody>
      </p:sp>
      <p:sp>
        <p:nvSpPr>
          <p:cNvPr id="13" name="TextBox 12"/>
          <p:cNvSpPr txBox="1"/>
          <p:nvPr/>
        </p:nvSpPr>
        <p:spPr>
          <a:xfrm>
            <a:off x="502920" y="24231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14" name="TextBox 13"/>
          <p:cNvSpPr txBox="1"/>
          <p:nvPr/>
        </p:nvSpPr>
        <p:spPr>
          <a:xfrm>
            <a:off x="502920"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PM (per Squad) scores at Analyzing</a:t>
            </a:r>
          </a:p>
        </p:txBody>
      </p:sp>
      <p:sp>
        <p:nvSpPr>
          <p:cNvPr id="15" name="TextBox 14"/>
          <p:cNvSpPr txBox="1"/>
          <p:nvPr/>
        </p:nvSpPr>
        <p:spPr>
          <a:xfrm>
            <a:off x="502920" y="31089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DETAIL</a:t>
            </a:r>
          </a:p>
        </p:txBody>
      </p:sp>
      <p:sp>
        <p:nvSpPr>
          <p:cNvPr id="16" name="TextBox 15"/>
          <p:cNvSpPr txBox="1"/>
          <p:nvPr/>
        </p:nvSpPr>
        <p:spPr>
          <a:xfrm>
            <a:off x="502920"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ITBA: BV weight 0.45 · CS: BV weight 0.40</a:t>
            </a:r>
          </a:p>
          <a:p>
            <a:pPr algn="l"/>
            <a:r>
              <a:rPr sz="800" b="0" i="0">
                <a:solidFill>
                  <a:srgbClr val="2C3E50"/>
                </a:solidFill>
                <a:latin typeface="Arial"/>
              </a:rPr>
              <a:t>ITBA: UX weight 0.30 · CS: UX weight 0.60</a:t>
            </a:r>
          </a:p>
        </p:txBody>
      </p:sp>
      <p:sp>
        <p:nvSpPr>
          <p:cNvPr id="17" name="Rounded Rectangle 16"/>
          <p:cNvSpPr/>
          <p:nvPr/>
        </p:nvSpPr>
        <p:spPr>
          <a:xfrm>
            <a:off x="2688336"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88336" y="1508760"/>
            <a:ext cx="2185416"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25496"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02</a:t>
            </a:r>
          </a:p>
        </p:txBody>
      </p:sp>
      <p:sp>
        <p:nvSpPr>
          <p:cNvPr id="20" name="TextBox 19"/>
          <p:cNvSpPr txBox="1"/>
          <p:nvPr/>
        </p:nvSpPr>
        <p:spPr>
          <a:xfrm>
            <a:off x="3465576"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RISK</a:t>
            </a:r>
          </a:p>
        </p:txBody>
      </p:sp>
      <p:sp>
        <p:nvSpPr>
          <p:cNvPr id="21" name="TextBox 20"/>
          <p:cNvSpPr txBox="1"/>
          <p:nvPr/>
        </p:nvSpPr>
        <p:spPr>
          <a:xfrm>
            <a:off x="3465576"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Safety (1-5) · ITBA only</a:t>
            </a:r>
          </a:p>
        </p:txBody>
      </p:sp>
      <p:sp>
        <p:nvSpPr>
          <p:cNvPr id="22" name="TextBox 21"/>
          <p:cNvSpPr txBox="1"/>
          <p:nvPr/>
        </p:nvSpPr>
        <p:spPr>
          <a:xfrm>
            <a:off x="2825496" y="24231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OWNER</a:t>
            </a:r>
          </a:p>
        </p:txBody>
      </p:sp>
      <p:sp>
        <p:nvSpPr>
          <p:cNvPr id="23" name="TextBox 22"/>
          <p:cNvSpPr txBox="1"/>
          <p:nvPr/>
        </p:nvSpPr>
        <p:spPr>
          <a:xfrm>
            <a:off x="2825496"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24" name="TextBox 23"/>
          <p:cNvSpPr txBox="1"/>
          <p:nvPr/>
        </p:nvSpPr>
        <p:spPr>
          <a:xfrm>
            <a:off x="2825496" y="31089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DETAIL</a:t>
            </a:r>
          </a:p>
        </p:txBody>
      </p:sp>
      <p:sp>
        <p:nvSpPr>
          <p:cNvPr id="25" name="TextBox 24"/>
          <p:cNvSpPr txBox="1"/>
          <p:nvPr/>
        </p:nvSpPr>
        <p:spPr>
          <a:xfrm>
            <a:off x="2825496"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isolated from BV</a:t>
            </a:r>
          </a:p>
          <a:p>
            <a:pPr algn="l"/>
            <a:r>
              <a:rPr sz="800" b="0" i="0">
                <a:solidFill>
                  <a:srgbClr val="2C3E50"/>
                </a:solidFill>
                <a:latin typeface="Arial"/>
              </a:rPr>
              <a:t>Weight 0.25 (ITBA) · 0 (CS)</a:t>
            </a:r>
          </a:p>
        </p:txBody>
      </p:sp>
      <p:sp>
        <p:nvSpPr>
          <p:cNvPr id="26" name="Rounded Rectangle 25"/>
          <p:cNvSpPr/>
          <p:nvPr/>
        </p:nvSpPr>
        <p:spPr>
          <a:xfrm>
            <a:off x="5010912"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10912" y="1508760"/>
            <a:ext cx="2185416" cy="7772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48072"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03</a:t>
            </a:r>
          </a:p>
        </p:txBody>
      </p:sp>
      <p:sp>
        <p:nvSpPr>
          <p:cNvPr id="29" name="TextBox 28"/>
          <p:cNvSpPr txBox="1"/>
          <p:nvPr/>
        </p:nvSpPr>
        <p:spPr>
          <a:xfrm>
            <a:off x="5788152"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EFFORT</a:t>
            </a:r>
          </a:p>
        </p:txBody>
      </p:sp>
      <p:sp>
        <p:nvSpPr>
          <p:cNvPr id="30" name="TextBox 29"/>
          <p:cNvSpPr txBox="1"/>
          <p:nvPr/>
        </p:nvSpPr>
        <p:spPr>
          <a:xfrm>
            <a:off x="5788152"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1-5 scale · Architect-defined</a:t>
            </a:r>
          </a:p>
        </p:txBody>
      </p:sp>
      <p:sp>
        <p:nvSpPr>
          <p:cNvPr id="31" name="TextBox 30"/>
          <p:cNvSpPr txBox="1"/>
          <p:nvPr/>
        </p:nvSpPr>
        <p:spPr>
          <a:xfrm>
            <a:off x="5148072" y="24231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OWNER</a:t>
            </a:r>
          </a:p>
        </p:txBody>
      </p:sp>
      <p:sp>
        <p:nvSpPr>
          <p:cNvPr id="32" name="TextBox 31"/>
          <p:cNvSpPr txBox="1"/>
          <p:nvPr/>
        </p:nvSpPr>
        <p:spPr>
          <a:xfrm>
            <a:off x="5148072"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33" name="TextBox 32"/>
          <p:cNvSpPr txBox="1"/>
          <p:nvPr/>
        </p:nvSpPr>
        <p:spPr>
          <a:xfrm>
            <a:off x="5148072" y="31089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DETAIL</a:t>
            </a:r>
          </a:p>
        </p:txBody>
      </p:sp>
      <p:sp>
        <p:nvSpPr>
          <p:cNvPr id="34" name="TextBox 33"/>
          <p:cNvSpPr txBox="1"/>
          <p:nvPr/>
        </p:nvSpPr>
        <p:spPr>
          <a:xfrm>
            <a:off x="5148072"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1=hours · 2=days · 3=weeks</a:t>
            </a:r>
          </a:p>
          <a:p>
            <a:pPr algn="l"/>
            <a:r>
              <a:rPr sz="800" b="0" i="0">
                <a:solidFill>
                  <a:srgbClr val="2C3E50"/>
                </a:solidFill>
                <a:latin typeface="Arial"/>
              </a:rPr>
              <a:t>4=quarter · 5=multi-quarter</a:t>
            </a:r>
          </a:p>
        </p:txBody>
      </p:sp>
      <p:sp>
        <p:nvSpPr>
          <p:cNvPr id="35" name="Rounded Rectangle 34"/>
          <p:cNvSpPr/>
          <p:nvPr/>
        </p:nvSpPr>
        <p:spPr>
          <a:xfrm>
            <a:off x="7333488"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33488" y="1508760"/>
            <a:ext cx="2185416" cy="7772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70648"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04</a:t>
            </a:r>
          </a:p>
        </p:txBody>
      </p:sp>
      <p:sp>
        <p:nvSpPr>
          <p:cNvPr id="38" name="TextBox 37"/>
          <p:cNvSpPr txBox="1"/>
          <p:nvPr/>
        </p:nvSpPr>
        <p:spPr>
          <a:xfrm>
            <a:off x="8110727"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OPCO SCOPE</a:t>
            </a:r>
          </a:p>
        </p:txBody>
      </p:sp>
      <p:sp>
        <p:nvSpPr>
          <p:cNvPr id="39" name="TextBox 38"/>
          <p:cNvSpPr txBox="1"/>
          <p:nvPr/>
        </p:nvSpPr>
        <p:spPr>
          <a:xfrm>
            <a:off x="8110727"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OPCOmult automatic</a:t>
            </a:r>
          </a:p>
        </p:txBody>
      </p:sp>
      <p:sp>
        <p:nvSpPr>
          <p:cNvPr id="40" name="TextBox 39"/>
          <p:cNvSpPr txBox="1"/>
          <p:nvPr/>
        </p:nvSpPr>
        <p:spPr>
          <a:xfrm>
            <a:off x="7470648" y="24231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OWNER</a:t>
            </a:r>
          </a:p>
        </p:txBody>
      </p:sp>
      <p:sp>
        <p:nvSpPr>
          <p:cNvPr id="41" name="TextBox 40"/>
          <p:cNvSpPr txBox="1"/>
          <p:nvPr/>
        </p:nvSpPr>
        <p:spPr>
          <a:xfrm>
            <a:off x="7470648"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from OPCO field at Funnel</a:t>
            </a:r>
          </a:p>
        </p:txBody>
      </p:sp>
      <p:sp>
        <p:nvSpPr>
          <p:cNvPr id="42" name="TextBox 41"/>
          <p:cNvSpPr txBox="1"/>
          <p:nvPr/>
        </p:nvSpPr>
        <p:spPr>
          <a:xfrm>
            <a:off x="7470648" y="31089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DETAIL</a:t>
            </a:r>
          </a:p>
        </p:txBody>
      </p:sp>
      <p:sp>
        <p:nvSpPr>
          <p:cNvPr id="43" name="TextBox 42"/>
          <p:cNvSpPr txBox="1"/>
          <p:nvPr/>
        </p:nvSpPr>
        <p:spPr>
          <a:xfrm>
            <a:off x="7470648"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1.0 (1 OPCO) · 1.3 (2-4 regional)</a:t>
            </a:r>
          </a:p>
          <a:p>
            <a:pPr algn="l"/>
            <a:r>
              <a:rPr sz="800" b="0" i="0">
                <a:solidFill>
                  <a:srgbClr val="2C3E50"/>
                </a:solidFill>
                <a:latin typeface="Arial"/>
              </a:rPr>
              <a:t>1.6 (5+ enterprise)</a:t>
            </a:r>
          </a:p>
        </p:txBody>
      </p:sp>
      <p:sp>
        <p:nvSpPr>
          <p:cNvPr id="44" name="Rounded Rectangle 43"/>
          <p:cNvSpPr/>
          <p:nvPr/>
        </p:nvSpPr>
        <p:spPr>
          <a:xfrm>
            <a:off x="9656064"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656064" y="1508760"/>
            <a:ext cx="2185416" cy="77724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93224"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05</a:t>
            </a:r>
          </a:p>
        </p:txBody>
      </p:sp>
      <p:sp>
        <p:nvSpPr>
          <p:cNvPr id="47" name="TextBox 46"/>
          <p:cNvSpPr txBox="1"/>
          <p:nvPr/>
        </p:nvSpPr>
        <p:spPr>
          <a:xfrm>
            <a:off x="10433304"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OVERRIDES</a:t>
            </a:r>
          </a:p>
        </p:txBody>
      </p:sp>
      <p:sp>
        <p:nvSpPr>
          <p:cNvPr id="48" name="TextBox 47"/>
          <p:cNvSpPr txBox="1"/>
          <p:nvPr/>
        </p:nvSpPr>
        <p:spPr>
          <a:xfrm>
            <a:off x="10433304"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Type=Reg → Fixed-Date</a:t>
            </a:r>
          </a:p>
          <a:p>
            <a:pPr algn="l"/>
            <a:r>
              <a:rPr sz="850" b="0" i="0">
                <a:solidFill>
                  <a:srgbClr val="FFFFFF"/>
                </a:solidFill>
                <a:latin typeface="Arial"/>
              </a:rPr>
              <a:t>CIT P1/P2 → Expedite</a:t>
            </a:r>
          </a:p>
        </p:txBody>
      </p:sp>
      <p:sp>
        <p:nvSpPr>
          <p:cNvPr id="49" name="TextBox 48"/>
          <p:cNvSpPr txBox="1"/>
          <p:nvPr/>
        </p:nvSpPr>
        <p:spPr>
          <a:xfrm>
            <a:off x="9793224" y="24231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OWNER</a:t>
            </a:r>
          </a:p>
        </p:txBody>
      </p:sp>
      <p:sp>
        <p:nvSpPr>
          <p:cNvPr id="50" name="TextBox 49"/>
          <p:cNvSpPr txBox="1"/>
          <p:nvPr/>
        </p:nvSpPr>
        <p:spPr>
          <a:xfrm>
            <a:off x="9793224"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 A2 + A3 fire</a:t>
            </a:r>
          </a:p>
        </p:txBody>
      </p:sp>
      <p:sp>
        <p:nvSpPr>
          <p:cNvPr id="51" name="TextBox 50"/>
          <p:cNvSpPr txBox="1"/>
          <p:nvPr/>
        </p:nvSpPr>
        <p:spPr>
          <a:xfrm>
            <a:off x="9793224" y="31089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DETAIL</a:t>
            </a:r>
          </a:p>
        </p:txBody>
      </p:sp>
      <p:sp>
        <p:nvSpPr>
          <p:cNvPr id="52" name="TextBox 51"/>
          <p:cNvSpPr txBox="1"/>
          <p:nvPr/>
        </p:nvSpPr>
        <p:spPr>
          <a:xfrm>
            <a:off x="9793224"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Bypass Pain Score ranking</a:t>
            </a:r>
          </a:p>
          <a:p>
            <a:pPr algn="l"/>
            <a:r>
              <a:rPr sz="800" b="0" i="0">
                <a:solidFill>
                  <a:srgbClr val="2C3E50"/>
                </a:solidFill>
                <a:latin typeface="Arial"/>
              </a:rPr>
              <a:t>Protect deadline-bound + critical</a:t>
            </a:r>
          </a:p>
        </p:txBody>
      </p:sp>
      <p:sp>
        <p:nvSpPr>
          <p:cNvPr id="53" name="Rounded Rectangle 52"/>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6" name="TextBox 55"/>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Tie-break rule: Pain Score equal? Then CoS lane &gt; capacity available &gt; Sponsor seniority — never "squeaky-wheel".</a:t>
            </a:r>
          </a:p>
        </p:txBody>
      </p:sp>
      <p:sp>
        <p:nvSpPr>
          <p:cNvPr id="57" name="TextBox 56"/>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Example · two demands at Pain 2.4: regulatory with Fixed-Date wins over Standard CS · if both Standard, the one fitting current capacity wins · if both fit, the one with named Director Sponsor wins · audit logged at Gate 2</a:t>
            </a:r>
          </a:p>
        </p:txBody>
      </p:sp>
      <p:sp>
        <p:nvSpPr>
          <p:cNvPr id="58" name="TextBox 5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18 / 29</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GOVERNANCE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DEMAND × CAPACITY · THE BALANCE CHECK: EACH AREA CHECKS INDEPENDENTLY · PENDING CARDS VS AVAILABLE FTE PER COS LANE · GAP ESCALATES AT GATE 2</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534924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534924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81912"/>
            <a:ext cx="5074920" cy="274320"/>
          </a:xfrm>
          <a:prstGeom prst="rect">
            <a:avLst/>
          </a:prstGeom>
          <a:noFill/>
        </p:spPr>
        <p:txBody>
          <a:bodyPr wrap="square" lIns="36000" rIns="36000" tIns="18000" bIns="18000" anchor="t">
            <a:spAutoFit/>
          </a:bodyPr>
          <a:lstStyle/>
          <a:p>
            <a:pPr algn="l"/>
            <a:r>
              <a:rPr sz="1100" b="1" i="0">
                <a:solidFill>
                  <a:srgbClr val="FFFFFF"/>
                </a:solidFill>
                <a:latin typeface="Arial"/>
              </a:rPr>
              <a:t>PENDING DEMAND  ·  in Backlog (RFE)  ·  per area</a:t>
            </a:r>
          </a:p>
        </p:txBody>
      </p:sp>
      <p:sp>
        <p:nvSpPr>
          <p:cNvPr id="11" name="Rounded Rectangle 10"/>
          <p:cNvSpPr/>
          <p:nvPr/>
        </p:nvSpPr>
        <p:spPr>
          <a:xfrm>
            <a:off x="502920" y="2103120"/>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14" name="Rectangle 13"/>
          <p:cNvSpPr/>
          <p:nvPr/>
        </p:nvSpPr>
        <p:spPr>
          <a:xfrm>
            <a:off x="1874519" y="228600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4519" y="2286000"/>
            <a:ext cx="333755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2194560"/>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18</a:t>
            </a:r>
          </a:p>
        </p:txBody>
      </p:sp>
      <p:sp>
        <p:nvSpPr>
          <p:cNvPr id="17" name="Rounded Rectangle 16"/>
          <p:cNvSpPr/>
          <p:nvPr/>
        </p:nvSpPr>
        <p:spPr>
          <a:xfrm>
            <a:off x="502920" y="317753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20" name="Rectangle 19"/>
          <p:cNvSpPr/>
          <p:nvPr/>
        </p:nvSpPr>
        <p:spPr>
          <a:xfrm>
            <a:off x="1874519" y="336042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74519" y="3360420"/>
            <a:ext cx="1297939"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0" y="326897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7</a:t>
            </a:r>
          </a:p>
        </p:txBody>
      </p:sp>
      <p:sp>
        <p:nvSpPr>
          <p:cNvPr id="23" name="Rounded Rectangle 22"/>
          <p:cNvSpPr/>
          <p:nvPr/>
        </p:nvSpPr>
        <p:spPr>
          <a:xfrm>
            <a:off x="502920" y="425195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26" name="Rectangle 25"/>
          <p:cNvSpPr/>
          <p:nvPr/>
        </p:nvSpPr>
        <p:spPr>
          <a:xfrm>
            <a:off x="1874519" y="443484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74519" y="4434840"/>
            <a:ext cx="370839"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0" y="434339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2</a:t>
            </a:r>
          </a:p>
        </p:txBody>
      </p:sp>
      <p:sp>
        <p:nvSpPr>
          <p:cNvPr id="29" name="Rounded Rectangle 28"/>
          <p:cNvSpPr/>
          <p:nvPr/>
        </p:nvSpPr>
        <p:spPr>
          <a:xfrm>
            <a:off x="502920" y="532637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32" name="Rectangle 31"/>
          <p:cNvSpPr/>
          <p:nvPr/>
        </p:nvSpPr>
        <p:spPr>
          <a:xfrm>
            <a:off x="1874519" y="5509259"/>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874519" y="5509259"/>
            <a:ext cx="741679"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541781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4</a:t>
            </a:r>
          </a:p>
        </p:txBody>
      </p:sp>
      <p:sp>
        <p:nvSpPr>
          <p:cNvPr id="35" name="Rounded Rectangle 34"/>
          <p:cNvSpPr/>
          <p:nvPr/>
        </p:nvSpPr>
        <p:spPr>
          <a:xfrm>
            <a:off x="5897880" y="1508760"/>
            <a:ext cx="592531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97880" y="1508760"/>
            <a:ext cx="5925312"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0" y="1581912"/>
            <a:ext cx="5650992" cy="274320"/>
          </a:xfrm>
          <a:prstGeom prst="rect">
            <a:avLst/>
          </a:prstGeom>
          <a:noFill/>
        </p:spPr>
        <p:txBody>
          <a:bodyPr wrap="square" lIns="36000" rIns="36000" tIns="18000" bIns="18000" anchor="t">
            <a:spAutoFit/>
          </a:bodyPr>
          <a:lstStyle/>
          <a:p>
            <a:pPr algn="l"/>
            <a:r>
              <a:rPr sz="1100" b="1" i="0">
                <a:solidFill>
                  <a:srgbClr val="FFFFFF"/>
                </a:solidFill>
                <a:latin typeface="Arial"/>
              </a:rPr>
              <a:t>AVAILABLE CAPACITY  ·  next 30 days  ·  per area</a:t>
            </a:r>
          </a:p>
        </p:txBody>
      </p:sp>
      <p:sp>
        <p:nvSpPr>
          <p:cNvPr id="38" name="Rounded Rectangle 37"/>
          <p:cNvSpPr/>
          <p:nvPr/>
        </p:nvSpPr>
        <p:spPr>
          <a:xfrm>
            <a:off x="6035040" y="2103120"/>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08076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8076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41" name="Rectangle 40"/>
          <p:cNvSpPr/>
          <p:nvPr/>
        </p:nvSpPr>
        <p:spPr>
          <a:xfrm>
            <a:off x="7406640" y="228600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06640" y="2286000"/>
            <a:ext cx="234817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79" y="2194560"/>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60%</a:t>
            </a:r>
          </a:p>
        </p:txBody>
      </p:sp>
      <p:sp>
        <p:nvSpPr>
          <p:cNvPr id="44" name="TextBox 43"/>
          <p:cNvSpPr txBox="1"/>
          <p:nvPr/>
        </p:nvSpPr>
        <p:spPr>
          <a:xfrm>
            <a:off x="7406640" y="2903220"/>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38 SP/wk</a:t>
            </a:r>
          </a:p>
        </p:txBody>
      </p:sp>
      <p:sp>
        <p:nvSpPr>
          <p:cNvPr id="45" name="Rounded Rectangle 44"/>
          <p:cNvSpPr/>
          <p:nvPr/>
        </p:nvSpPr>
        <p:spPr>
          <a:xfrm>
            <a:off x="6035040" y="317753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08076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8076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48" name="Rectangle 47"/>
          <p:cNvSpPr/>
          <p:nvPr/>
        </p:nvSpPr>
        <p:spPr>
          <a:xfrm>
            <a:off x="7406640" y="336042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0" y="3360420"/>
            <a:ext cx="782726"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98079" y="326897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20%</a:t>
            </a:r>
          </a:p>
        </p:txBody>
      </p:sp>
      <p:sp>
        <p:nvSpPr>
          <p:cNvPr id="51" name="TextBox 50"/>
          <p:cNvSpPr txBox="1"/>
          <p:nvPr/>
        </p:nvSpPr>
        <p:spPr>
          <a:xfrm>
            <a:off x="7406640" y="397763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13 SP/wk</a:t>
            </a:r>
          </a:p>
        </p:txBody>
      </p:sp>
      <p:sp>
        <p:nvSpPr>
          <p:cNvPr id="52" name="Rounded Rectangle 51"/>
          <p:cNvSpPr/>
          <p:nvPr/>
        </p:nvSpPr>
        <p:spPr>
          <a:xfrm>
            <a:off x="6035040" y="425195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08076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08076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55" name="Rectangle 54"/>
          <p:cNvSpPr/>
          <p:nvPr/>
        </p:nvSpPr>
        <p:spPr>
          <a:xfrm>
            <a:off x="7406640" y="443484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406640" y="4434840"/>
            <a:ext cx="391363"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8079" y="434339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58" name="TextBox 57"/>
          <p:cNvSpPr txBox="1"/>
          <p:nvPr/>
        </p:nvSpPr>
        <p:spPr>
          <a:xfrm>
            <a:off x="7406640" y="505205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59" name="Rounded Rectangle 58"/>
          <p:cNvSpPr/>
          <p:nvPr/>
        </p:nvSpPr>
        <p:spPr>
          <a:xfrm>
            <a:off x="6035040" y="532637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08076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8076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62" name="Rectangle 61"/>
          <p:cNvSpPr/>
          <p:nvPr/>
        </p:nvSpPr>
        <p:spPr>
          <a:xfrm>
            <a:off x="7406640" y="5509259"/>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406640" y="5509259"/>
            <a:ext cx="391363"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98079" y="541781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65" name="TextBox 64"/>
          <p:cNvSpPr txBox="1"/>
          <p:nvPr/>
        </p:nvSpPr>
        <p:spPr>
          <a:xfrm>
            <a:off x="7406640" y="612647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66" name="Rounded Rectangle 65"/>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69" name="TextBox 68"/>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Each area runs this check separately — illustrative numbers shown represent ONE area at a time.</a:t>
            </a:r>
          </a:p>
        </p:txBody>
      </p:sp>
      <p:sp>
        <p:nvSpPr>
          <p:cNvPr id="70" name="TextBox 69"/>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CS Director (Kumar + Heather) reviews CS gap · ITBA Director (Carlos + Heather) reviews ITBA gap · if pending &gt; 4× weekly capacity, escalation to VP Vitor for capacity reallocation OR Defer/Reject</a:t>
            </a:r>
          </a:p>
        </p:txBody>
      </p:sp>
      <p:sp>
        <p:nvSpPr>
          <p:cNvPr id="71" name="TextBox 70"/>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72" name="Rectangle 71"/>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74" name="Rectangle 73"/>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76" name="Rectangle 75"/>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78" name="Rectangle 77"/>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80" name="TextBox 7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19 / 29</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GOVERNANCE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DEFER OR REJECT · 3 TRIGGERS: CAPACITY FULL · STRATEGIC MISMATCH · SPONSOR UNCONFIRMED — AREA DIRECTOR DECIDES AT GATE 2 · AUDIT LOG</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4937760" y="1188720"/>
            <a:ext cx="2331720" cy="68580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DEMAND ARRIVES AT</a:t>
            </a:r>
          </a:p>
        </p:txBody>
      </p:sp>
      <p:sp>
        <p:nvSpPr>
          <p:cNvPr id="10" name="TextBox 9"/>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GATE 2 CHECK</a:t>
            </a:r>
          </a:p>
        </p:txBody>
      </p:sp>
      <p:cxnSp>
        <p:nvCxnSpPr>
          <p:cNvPr id="11" name="Connector 10"/>
          <p:cNvCxnSpPr/>
          <p:nvPr/>
        </p:nvCxnSpPr>
        <p:spPr>
          <a:xfrm flipH="1">
            <a:off x="2125980" y="1874519"/>
            <a:ext cx="3977640" cy="731521"/>
          </a:xfrm>
          <a:prstGeom prst="line">
            <a:avLst/>
          </a:prstGeom>
          <a:ln w="25400">
            <a:solidFill>
              <a:srgbClr val="E98B2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5760" y="2606040"/>
            <a:ext cx="35204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CAPACITY FULL?</a:t>
            </a:r>
          </a:p>
        </p:txBody>
      </p:sp>
      <p:sp>
        <p:nvSpPr>
          <p:cNvPr id="14" name="TextBox 13"/>
          <p:cNvSpPr txBox="1"/>
          <p:nvPr/>
        </p:nvSpPr>
        <p:spPr>
          <a:xfrm>
            <a:off x="36576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Lane WIP at cap · no slot for next quarter</a:t>
            </a:r>
          </a:p>
        </p:txBody>
      </p:sp>
      <p:cxnSp>
        <p:nvCxnSpPr>
          <p:cNvPr id="15" name="Connector 14"/>
          <p:cNvCxnSpPr/>
          <p:nvPr/>
        </p:nvCxnSpPr>
        <p:spPr>
          <a:xfrm flipH="1">
            <a:off x="5920740" y="1874519"/>
            <a:ext cx="182880" cy="731521"/>
          </a:xfrm>
          <a:prstGeom prst="line">
            <a:avLst/>
          </a:prstGeom>
          <a:ln w="25400">
            <a:solidFill>
              <a:srgbClr val="2C578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60520" y="2606040"/>
            <a:ext cx="3520440"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052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STRATEGIC MISMATCH?</a:t>
            </a:r>
          </a:p>
        </p:txBody>
      </p:sp>
      <p:sp>
        <p:nvSpPr>
          <p:cNvPr id="18" name="TextBox 17"/>
          <p:cNvSpPr txBox="1"/>
          <p:nvPr/>
        </p:nvSpPr>
        <p:spPr>
          <a:xfrm>
            <a:off x="416052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BRP outputs deprioritize this area</a:t>
            </a:r>
          </a:p>
        </p:txBody>
      </p:sp>
      <p:cxnSp>
        <p:nvCxnSpPr>
          <p:cNvPr id="19" name="Connector 18"/>
          <p:cNvCxnSpPr/>
          <p:nvPr/>
        </p:nvCxnSpPr>
        <p:spPr>
          <a:xfrm>
            <a:off x="6103620" y="1874519"/>
            <a:ext cx="3611880" cy="731521"/>
          </a:xfrm>
          <a:prstGeom prst="line">
            <a:avLst/>
          </a:prstGeom>
          <a:ln w="25400">
            <a:solidFill>
              <a:srgbClr val="B03535"/>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955280" y="2606040"/>
            <a:ext cx="3520440" cy="502920"/>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SPONSOR UNCONFIRMED?</a:t>
            </a:r>
          </a:p>
        </p:txBody>
      </p:sp>
      <p:sp>
        <p:nvSpPr>
          <p:cNvPr id="22" name="TextBox 21"/>
          <p:cNvSpPr txBox="1"/>
          <p:nvPr/>
        </p:nvSpPr>
        <p:spPr>
          <a:xfrm>
            <a:off x="795528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Sponsor not named · UAT path unsigned</a:t>
            </a:r>
          </a:p>
        </p:txBody>
      </p:sp>
      <p:cxnSp>
        <p:nvCxnSpPr>
          <p:cNvPr id="23" name="Connector 22"/>
          <p:cNvCxnSpPr/>
          <p:nvPr/>
        </p:nvCxnSpPr>
        <p:spPr>
          <a:xfrm>
            <a:off x="2125980" y="3108960"/>
            <a:ext cx="0" cy="22860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6576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337560"/>
            <a:ext cx="91440" cy="1371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392424"/>
            <a:ext cx="3246120" cy="228600"/>
          </a:xfrm>
          <a:prstGeom prst="rect">
            <a:avLst/>
          </a:prstGeom>
          <a:noFill/>
        </p:spPr>
        <p:txBody>
          <a:bodyPr wrap="square" lIns="36000" rIns="36000" tIns="18000" bIns="18000" anchor="t">
            <a:spAutoFit/>
          </a:bodyPr>
          <a:lstStyle/>
          <a:p>
            <a:pPr algn="l"/>
            <a:r>
              <a:rPr sz="1000" b="1" i="0">
                <a:solidFill>
                  <a:srgbClr val="E98B2F"/>
                </a:solidFill>
                <a:latin typeface="Arial"/>
              </a:rPr>
              <a:t>DEFER  ·  to next quarter</a:t>
            </a:r>
          </a:p>
        </p:txBody>
      </p:sp>
      <p:sp>
        <p:nvSpPr>
          <p:cNvPr id="27" name="TextBox 26"/>
          <p:cNvSpPr txBox="1"/>
          <p:nvPr/>
        </p:nvSpPr>
        <p:spPr>
          <a:xfrm>
            <a:off x="54864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stays in Backlog · re-ranked next Gate 2 · Sponsor notified</a:t>
            </a:r>
          </a:p>
        </p:txBody>
      </p:sp>
      <p:sp>
        <p:nvSpPr>
          <p:cNvPr id="28" name="TextBox 27"/>
          <p:cNvSpPr txBox="1"/>
          <p:nvPr/>
        </p:nvSpPr>
        <p:spPr>
          <a:xfrm>
            <a:off x="54864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Most common · low cost · keeps optionality</a:t>
            </a:r>
          </a:p>
        </p:txBody>
      </p:sp>
      <p:cxnSp>
        <p:nvCxnSpPr>
          <p:cNvPr id="29" name="Connector 28"/>
          <p:cNvCxnSpPr/>
          <p:nvPr/>
        </p:nvCxnSpPr>
        <p:spPr>
          <a:xfrm>
            <a:off x="5920740" y="3108960"/>
            <a:ext cx="0" cy="228600"/>
          </a:xfrm>
          <a:prstGeom prst="line">
            <a:avLst/>
          </a:prstGeom>
          <a:ln w="19050">
            <a:solidFill>
              <a:srgbClr val="2C578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16052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60520" y="3337560"/>
            <a:ext cx="91440" cy="1371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43400" y="3392424"/>
            <a:ext cx="3246120" cy="228600"/>
          </a:xfrm>
          <a:prstGeom prst="rect">
            <a:avLst/>
          </a:prstGeom>
          <a:noFill/>
        </p:spPr>
        <p:txBody>
          <a:bodyPr wrap="square" lIns="36000" rIns="36000" tIns="18000" bIns="18000" anchor="t">
            <a:spAutoFit/>
          </a:bodyPr>
          <a:lstStyle/>
          <a:p>
            <a:pPr algn="l"/>
            <a:r>
              <a:rPr sz="1000" b="1" i="0">
                <a:solidFill>
                  <a:srgbClr val="2C578B"/>
                </a:solidFill>
                <a:latin typeface="Arial"/>
              </a:rPr>
              <a:t>DEFER  ·  to next BRP cycle</a:t>
            </a:r>
          </a:p>
        </p:txBody>
      </p:sp>
      <p:sp>
        <p:nvSpPr>
          <p:cNvPr id="33" name="TextBox 32"/>
          <p:cNvSpPr txBox="1"/>
          <p:nvPr/>
        </p:nvSpPr>
        <p:spPr>
          <a:xfrm>
            <a:off x="434340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parked · waiting on strategic alignment · BRS counterpart notified</a:t>
            </a:r>
          </a:p>
        </p:txBody>
      </p:sp>
      <p:sp>
        <p:nvSpPr>
          <p:cNvPr id="34" name="TextBox 33"/>
          <p:cNvSpPr txBox="1"/>
          <p:nvPr/>
        </p:nvSpPr>
        <p:spPr>
          <a:xfrm>
            <a:off x="434340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 BRS escalate via P&amp;T or Digital CoE BRP</a:t>
            </a:r>
          </a:p>
        </p:txBody>
      </p:sp>
      <p:cxnSp>
        <p:nvCxnSpPr>
          <p:cNvPr id="35" name="Connector 34"/>
          <p:cNvCxnSpPr/>
          <p:nvPr/>
        </p:nvCxnSpPr>
        <p:spPr>
          <a:xfrm>
            <a:off x="9715500" y="3108960"/>
            <a:ext cx="0" cy="228600"/>
          </a:xfrm>
          <a:prstGeom prst="line">
            <a:avLst/>
          </a:prstGeom>
          <a:ln w="19050">
            <a:solidFill>
              <a:srgbClr val="B0353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95528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55280" y="3337560"/>
            <a:ext cx="91440" cy="13716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38160" y="3392424"/>
            <a:ext cx="3246120" cy="228600"/>
          </a:xfrm>
          <a:prstGeom prst="rect">
            <a:avLst/>
          </a:prstGeom>
          <a:noFill/>
        </p:spPr>
        <p:txBody>
          <a:bodyPr wrap="square" lIns="36000" rIns="36000" tIns="18000" bIns="18000" anchor="t">
            <a:spAutoFit/>
          </a:bodyPr>
          <a:lstStyle/>
          <a:p>
            <a:pPr algn="l"/>
            <a:r>
              <a:rPr sz="1000" b="1" i="0">
                <a:solidFill>
                  <a:srgbClr val="B03535"/>
                </a:solidFill>
                <a:latin typeface="Arial"/>
              </a:rPr>
              <a:t>REJECT  ·  back to Sponsor</a:t>
            </a:r>
          </a:p>
        </p:txBody>
      </p:sp>
      <p:sp>
        <p:nvSpPr>
          <p:cNvPr id="39" name="TextBox 38"/>
          <p:cNvSpPr txBox="1"/>
          <p:nvPr/>
        </p:nvSpPr>
        <p:spPr>
          <a:xfrm>
            <a:off x="813816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closed · Sponsor must re-submit when criteria met</a:t>
            </a:r>
          </a:p>
        </p:txBody>
      </p:sp>
      <p:sp>
        <p:nvSpPr>
          <p:cNvPr id="40" name="TextBox 39"/>
          <p:cNvSpPr txBox="1"/>
          <p:nvPr/>
        </p:nvSpPr>
        <p:spPr>
          <a:xfrm>
            <a:off x="813816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re-confirms acceptance criteria + UAT path · re-enters Funnel</a:t>
            </a:r>
          </a:p>
        </p:txBody>
      </p:sp>
      <p:sp>
        <p:nvSpPr>
          <p:cNvPr id="41" name="Rounded Rectangle 40"/>
          <p:cNvSpPr/>
          <p:nvPr/>
        </p:nvSpPr>
        <p:spPr>
          <a:xfrm>
            <a:off x="365760" y="4937760"/>
            <a:ext cx="11475720" cy="1005840"/>
          </a:xfrm>
          <a:prstGeom prst="roundRect">
            <a:avLst>
              <a:gd name="adj" fmla="val 4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4992624"/>
            <a:ext cx="11338560" cy="201168"/>
          </a:xfrm>
          <a:prstGeom prst="rect">
            <a:avLst/>
          </a:prstGeom>
          <a:noFill/>
        </p:spPr>
        <p:txBody>
          <a:bodyPr wrap="square" lIns="36000" rIns="36000" tIns="18000" bIns="18000" anchor="t">
            <a:spAutoFit/>
          </a:bodyPr>
          <a:lstStyle/>
          <a:p>
            <a:pPr algn="l"/>
            <a:r>
              <a:rPr sz="1000" b="1" i="0">
                <a:solidFill>
                  <a:srgbClr val="FFFFFF"/>
                </a:solidFill>
                <a:latin typeface="Arial"/>
              </a:rPr>
              <a:t>AUDIT TRAIL  ·  every Defer/Reject logged in the Decision Log</a:t>
            </a:r>
          </a:p>
        </p:txBody>
      </p:sp>
      <p:sp>
        <p:nvSpPr>
          <p:cNvPr id="43" name="TextBox 42"/>
          <p:cNvSpPr txBox="1"/>
          <p:nvPr/>
        </p:nvSpPr>
        <p:spPr>
          <a:xfrm>
            <a:off x="502920" y="5212080"/>
            <a:ext cx="11338560" cy="594360"/>
          </a:xfrm>
          <a:prstGeom prst="rect">
            <a:avLst/>
          </a:prstGeom>
          <a:noFill/>
        </p:spPr>
        <p:txBody>
          <a:bodyPr wrap="square" lIns="36000" rIns="36000" tIns="18000" bIns="18000" anchor="t">
            <a:spAutoFit/>
          </a:bodyPr>
          <a:lstStyle/>
          <a:p>
            <a:pPr algn="l"/>
            <a:r>
              <a:rPr sz="850" b="0" i="0">
                <a:solidFill>
                  <a:srgbClr val="F6FAFD"/>
                </a:solidFill>
                <a:latin typeface="Arial"/>
              </a:rPr>
              <a:t>Demand ID + title + Sponsor  ·  Trigger (Capacity / Strategic / Sponsor)  ·  Decision (Defer-Quarter / Defer-BRP / Reject)  ·  Decider (CS Director Kumar/Heather OR ITBA Director Carlos)  ·  Date + Gate 2 session reference</a:t>
            </a:r>
          </a:p>
        </p:txBody>
      </p:sp>
      <p:sp>
        <p:nvSpPr>
          <p:cNvPr id="44" name="TextBox 43"/>
          <p:cNvSpPr txBox="1"/>
          <p:nvPr/>
        </p:nvSpPr>
        <p:spPr>
          <a:xfrm>
            <a:off x="502920" y="5577840"/>
            <a:ext cx="11338560" cy="274320"/>
          </a:xfrm>
          <a:prstGeom prst="rect">
            <a:avLst/>
          </a:prstGeom>
          <a:noFill/>
        </p:spPr>
        <p:txBody>
          <a:bodyPr wrap="square" lIns="36000" rIns="36000" tIns="18000" bIns="18000" anchor="t">
            <a:spAutoFit/>
          </a:bodyPr>
          <a:lstStyle/>
          <a:p>
            <a:pPr algn="l"/>
            <a:r>
              <a:rPr sz="800" b="0" i="1">
                <a:solidFill>
                  <a:srgbClr val="F6FAFD"/>
                </a:solidFill>
                <a:latin typeface="Arial"/>
              </a:rPr>
              <a:t>Visible to · VP Vitor + Director trio + middle managers + Sponsors of affected items + BRS</a:t>
            </a:r>
          </a:p>
        </p:txBody>
      </p:sp>
      <p:sp>
        <p:nvSpPr>
          <p:cNvPr id="45" name="TextBox 4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20 / 29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GOVERNANCE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DOR GATE · DEFINITION OF READY: 3 LEVELS OF READINESS · INITIATIVE · EPIC · STORY · INVEST + DOR ARE STACKED CHECKS (NOT THE SAME)</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417320"/>
            <a:ext cx="114757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72184"/>
            <a:ext cx="11338560" cy="201168"/>
          </a:xfrm>
          <a:prstGeom prst="rect">
            <a:avLst/>
          </a:prstGeom>
          <a:noFill/>
        </p:spPr>
        <p:txBody>
          <a:bodyPr wrap="square" lIns="36000" rIns="36000" tIns="18000" bIns="18000" anchor="t">
            <a:spAutoFit/>
          </a:bodyPr>
          <a:lstStyle/>
          <a:p>
            <a:pPr algn="l"/>
            <a:r>
              <a:rPr sz="1000" b="1" i="0">
                <a:solidFill>
                  <a:srgbClr val="006B3F"/>
                </a:solidFill>
                <a:latin typeface="Arial"/>
              </a:rPr>
              <a:t>INVEST vs DoR  ·  stacked checks · not the same</a:t>
            </a:r>
          </a:p>
        </p:txBody>
      </p:sp>
      <p:sp>
        <p:nvSpPr>
          <p:cNvPr id="11" name="TextBox 10"/>
          <p:cNvSpPr txBox="1"/>
          <p:nvPr/>
        </p:nvSpPr>
        <p:spPr>
          <a:xfrm>
            <a:off x="502920" y="1691640"/>
            <a:ext cx="11338560" cy="292608"/>
          </a:xfrm>
          <a:prstGeom prst="rect">
            <a:avLst/>
          </a:prstGeom>
          <a:noFill/>
        </p:spPr>
        <p:txBody>
          <a:bodyPr wrap="square" lIns="36000" rIns="36000" tIns="18000" bIns="18000" anchor="t">
            <a:spAutoFit/>
          </a:bodyPr>
          <a:lstStyle/>
          <a:p>
            <a:pPr algn="l"/>
            <a:r>
              <a:rPr sz="1000" b="0" i="0">
                <a:solidFill>
                  <a:srgbClr val="2C3E50"/>
                </a:solidFill>
                <a:latin typeface="Arial"/>
              </a:rPr>
              <a:t>INVEST = Story content quality (during refinement, by PM) · DoR = handoff readiness (before Squad pulls, by Squad PM) · a Story passes INVEST first, then DoR</a:t>
            </a:r>
          </a:p>
        </p:txBody>
      </p:sp>
      <p:sp>
        <p:nvSpPr>
          <p:cNvPr id="12" name="Rounded Rectangle 11"/>
          <p:cNvSpPr/>
          <p:nvPr/>
        </p:nvSpPr>
        <p:spPr>
          <a:xfrm>
            <a:off x="365760" y="2194560"/>
            <a:ext cx="3703320" cy="374903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194560"/>
            <a:ext cx="3703320"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2494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INITIATIVE READINESS</a:t>
            </a:r>
          </a:p>
        </p:txBody>
      </p:sp>
      <p:sp>
        <p:nvSpPr>
          <p:cNvPr id="15" name="TextBox 14"/>
          <p:cNvSpPr txBox="1"/>
          <p:nvPr/>
        </p:nvSpPr>
        <p:spPr>
          <a:xfrm>
            <a:off x="502920" y="24871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validated at Gate 2 (post-Phase 1)</a:t>
            </a:r>
          </a:p>
        </p:txBody>
      </p:sp>
      <p:sp>
        <p:nvSpPr>
          <p:cNvPr id="16" name="Oval 15"/>
          <p:cNvSpPr/>
          <p:nvPr/>
        </p:nvSpPr>
        <p:spPr>
          <a:xfrm>
            <a:off x="530352" y="2980944"/>
            <a:ext cx="201168" cy="201168"/>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298094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18" name="TextBox 17"/>
          <p:cNvSpPr txBox="1"/>
          <p:nvPr/>
        </p:nvSpPr>
        <p:spPr>
          <a:xfrm>
            <a:off x="822960" y="296265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Pain Score computed</a:t>
            </a:r>
          </a:p>
        </p:txBody>
      </p:sp>
      <p:sp>
        <p:nvSpPr>
          <p:cNvPr id="19" name="TextBox 18"/>
          <p:cNvSpPr txBox="1"/>
          <p:nvPr/>
        </p:nvSpPr>
        <p:spPr>
          <a:xfrm>
            <a:off x="822960" y="312724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BV · UX · Effort · Safety scored at Analyzing</a:t>
            </a:r>
          </a:p>
        </p:txBody>
      </p:sp>
      <p:sp>
        <p:nvSpPr>
          <p:cNvPr id="20" name="Oval 19"/>
          <p:cNvSpPr/>
          <p:nvPr/>
        </p:nvSpPr>
        <p:spPr>
          <a:xfrm>
            <a:off x="530352" y="3461004"/>
            <a:ext cx="201168" cy="201168"/>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346100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22" name="TextBox 21"/>
          <p:cNvSpPr txBox="1"/>
          <p:nvPr/>
        </p:nvSpPr>
        <p:spPr>
          <a:xfrm>
            <a:off x="822960" y="344271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CoS assigned</a:t>
            </a:r>
          </a:p>
        </p:txBody>
      </p:sp>
      <p:sp>
        <p:nvSpPr>
          <p:cNvPr id="23" name="TextBox 22"/>
          <p:cNvSpPr txBox="1"/>
          <p:nvPr/>
        </p:nvSpPr>
        <p:spPr>
          <a:xfrm>
            <a:off x="822960" y="360730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Standard / Fixed-Date / Expedite / Intangible</a:t>
            </a:r>
          </a:p>
        </p:txBody>
      </p:sp>
      <p:sp>
        <p:nvSpPr>
          <p:cNvPr id="24" name="Oval 23"/>
          <p:cNvSpPr/>
          <p:nvPr/>
        </p:nvSpPr>
        <p:spPr>
          <a:xfrm>
            <a:off x="530352" y="3941063"/>
            <a:ext cx="201168" cy="201168"/>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941063"/>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26" name="TextBox 25"/>
          <p:cNvSpPr txBox="1"/>
          <p:nvPr/>
        </p:nvSpPr>
        <p:spPr>
          <a:xfrm>
            <a:off x="822960" y="392277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reserved</a:t>
            </a:r>
          </a:p>
        </p:txBody>
      </p:sp>
      <p:sp>
        <p:nvSpPr>
          <p:cNvPr id="27" name="TextBox 26"/>
          <p:cNvSpPr txBox="1"/>
          <p:nvPr/>
        </p:nvSpPr>
        <p:spPr>
          <a:xfrm>
            <a:off x="822960" y="408736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multi-quarter slot in CoS lane</a:t>
            </a:r>
          </a:p>
        </p:txBody>
      </p:sp>
      <p:sp>
        <p:nvSpPr>
          <p:cNvPr id="28" name="Oval 27"/>
          <p:cNvSpPr/>
          <p:nvPr/>
        </p:nvSpPr>
        <p:spPr>
          <a:xfrm>
            <a:off x="530352" y="4421124"/>
            <a:ext cx="201168" cy="201168"/>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442112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30" name="TextBox 29"/>
          <p:cNvSpPr txBox="1"/>
          <p:nvPr/>
        </p:nvSpPr>
        <p:spPr>
          <a:xfrm>
            <a:off x="822960" y="440283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Sponsor named</a:t>
            </a:r>
          </a:p>
        </p:txBody>
      </p:sp>
      <p:sp>
        <p:nvSpPr>
          <p:cNvPr id="31" name="TextBox 30"/>
          <p:cNvSpPr txBox="1"/>
          <p:nvPr/>
        </p:nvSpPr>
        <p:spPr>
          <a:xfrm>
            <a:off x="822960" y="456742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Director-level signoff</a:t>
            </a:r>
          </a:p>
        </p:txBody>
      </p:sp>
      <p:sp>
        <p:nvSpPr>
          <p:cNvPr id="32" name="Oval 31"/>
          <p:cNvSpPr/>
          <p:nvPr/>
        </p:nvSpPr>
        <p:spPr>
          <a:xfrm>
            <a:off x="530352" y="4901184"/>
            <a:ext cx="201168" cy="201168"/>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490118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34" name="TextBox 33"/>
          <p:cNvSpPr txBox="1"/>
          <p:nvPr/>
        </p:nvSpPr>
        <p:spPr>
          <a:xfrm>
            <a:off x="822960" y="488289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Roadmap entry</a:t>
            </a:r>
          </a:p>
        </p:txBody>
      </p:sp>
      <p:sp>
        <p:nvSpPr>
          <p:cNvPr id="35" name="TextBox 34"/>
          <p:cNvSpPr txBox="1"/>
          <p:nvPr/>
        </p:nvSpPr>
        <p:spPr>
          <a:xfrm>
            <a:off x="822960" y="504748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rolling-wave commit band</a:t>
            </a:r>
          </a:p>
        </p:txBody>
      </p:sp>
      <p:sp>
        <p:nvSpPr>
          <p:cNvPr id="36" name="Oval 35"/>
          <p:cNvSpPr/>
          <p:nvPr/>
        </p:nvSpPr>
        <p:spPr>
          <a:xfrm>
            <a:off x="530352" y="5381244"/>
            <a:ext cx="201168" cy="201168"/>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538124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38" name="TextBox 37"/>
          <p:cNvSpPr txBox="1"/>
          <p:nvPr/>
        </p:nvSpPr>
        <p:spPr>
          <a:xfrm>
            <a:off x="822960" y="536295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Architecture position</a:t>
            </a:r>
          </a:p>
        </p:txBody>
      </p:sp>
      <p:sp>
        <p:nvSpPr>
          <p:cNvPr id="39" name="TextBox 38"/>
          <p:cNvSpPr txBox="1"/>
          <p:nvPr/>
        </p:nvSpPr>
        <p:spPr>
          <a:xfrm>
            <a:off x="822960" y="552754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vendor model · cross-VS feasibility cleared</a:t>
            </a:r>
          </a:p>
        </p:txBody>
      </p:sp>
      <p:sp>
        <p:nvSpPr>
          <p:cNvPr id="40" name="Rounded Rectangle 39"/>
          <p:cNvSpPr/>
          <p:nvPr/>
        </p:nvSpPr>
        <p:spPr>
          <a:xfrm>
            <a:off x="4251960" y="2194560"/>
            <a:ext cx="3703320" cy="374903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51960" y="2194560"/>
            <a:ext cx="370332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0" y="22494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EPIC READINESS</a:t>
            </a:r>
          </a:p>
        </p:txBody>
      </p:sp>
      <p:sp>
        <p:nvSpPr>
          <p:cNvPr id="43" name="TextBox 42"/>
          <p:cNvSpPr txBox="1"/>
          <p:nvPr/>
        </p:nvSpPr>
        <p:spPr>
          <a:xfrm>
            <a:off x="4389120" y="24871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validated at VS-level refinement (before Story split)</a:t>
            </a:r>
          </a:p>
        </p:txBody>
      </p:sp>
      <p:sp>
        <p:nvSpPr>
          <p:cNvPr id="44" name="Oval 43"/>
          <p:cNvSpPr/>
          <p:nvPr/>
        </p:nvSpPr>
        <p:spPr>
          <a:xfrm>
            <a:off x="4416552" y="2980944"/>
            <a:ext cx="201168" cy="20116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16552" y="298094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46" name="TextBox 45"/>
          <p:cNvSpPr txBox="1"/>
          <p:nvPr/>
        </p:nvSpPr>
        <p:spPr>
          <a:xfrm>
            <a:off x="4709160" y="296265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Outcome named</a:t>
            </a:r>
          </a:p>
        </p:txBody>
      </p:sp>
      <p:sp>
        <p:nvSpPr>
          <p:cNvPr id="47" name="TextBox 46"/>
          <p:cNvSpPr txBox="1"/>
          <p:nvPr/>
        </p:nvSpPr>
        <p:spPr>
          <a:xfrm>
            <a:off x="4709160" y="312724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NPS · cycle time · cost · audit pass</a:t>
            </a:r>
          </a:p>
        </p:txBody>
      </p:sp>
      <p:sp>
        <p:nvSpPr>
          <p:cNvPr id="48" name="Oval 47"/>
          <p:cNvSpPr/>
          <p:nvPr/>
        </p:nvSpPr>
        <p:spPr>
          <a:xfrm>
            <a:off x="4416552" y="3461004"/>
            <a:ext cx="201168" cy="20116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16552" y="346100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50" name="TextBox 49"/>
          <p:cNvSpPr txBox="1"/>
          <p:nvPr/>
        </p:nvSpPr>
        <p:spPr>
          <a:xfrm>
            <a:off x="4709160" y="344271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NFRs identified</a:t>
            </a:r>
          </a:p>
        </p:txBody>
      </p:sp>
      <p:sp>
        <p:nvSpPr>
          <p:cNvPr id="51" name="TextBox 50"/>
          <p:cNvSpPr txBox="1"/>
          <p:nvPr/>
        </p:nvSpPr>
        <p:spPr>
          <a:xfrm>
            <a:off x="4709160" y="360730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perf · security · compliance · scale</a:t>
            </a:r>
          </a:p>
        </p:txBody>
      </p:sp>
      <p:sp>
        <p:nvSpPr>
          <p:cNvPr id="52" name="Oval 51"/>
          <p:cNvSpPr/>
          <p:nvPr/>
        </p:nvSpPr>
        <p:spPr>
          <a:xfrm>
            <a:off x="4416552" y="3941063"/>
            <a:ext cx="201168" cy="20116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16552" y="3941063"/>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54" name="TextBox 53"/>
          <p:cNvSpPr txBox="1"/>
          <p:nvPr/>
        </p:nvSpPr>
        <p:spPr>
          <a:xfrm>
            <a:off x="4709160" y="392277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Vendor model decided</a:t>
            </a:r>
          </a:p>
        </p:txBody>
      </p:sp>
      <p:sp>
        <p:nvSpPr>
          <p:cNvPr id="55" name="TextBox 54"/>
          <p:cNvSpPr txBox="1"/>
          <p:nvPr/>
        </p:nvSpPr>
        <p:spPr>
          <a:xfrm>
            <a:off x="4709160" y="408736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build vs buy vs SaaS</a:t>
            </a:r>
          </a:p>
        </p:txBody>
      </p:sp>
      <p:sp>
        <p:nvSpPr>
          <p:cNvPr id="56" name="Oval 55"/>
          <p:cNvSpPr/>
          <p:nvPr/>
        </p:nvSpPr>
        <p:spPr>
          <a:xfrm>
            <a:off x="4416552" y="4421124"/>
            <a:ext cx="201168" cy="20116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16552" y="442112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58" name="TextBox 57"/>
          <p:cNvSpPr txBox="1"/>
          <p:nvPr/>
        </p:nvSpPr>
        <p:spPr>
          <a:xfrm>
            <a:off x="4709160" y="440283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Child Stories outlined</a:t>
            </a:r>
          </a:p>
        </p:txBody>
      </p:sp>
      <p:sp>
        <p:nvSpPr>
          <p:cNvPr id="59" name="TextBox 58"/>
          <p:cNvSpPr txBox="1"/>
          <p:nvPr/>
        </p:nvSpPr>
        <p:spPr>
          <a:xfrm>
            <a:off x="4709160" y="456742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list of child Stories (not detailed)</a:t>
            </a:r>
          </a:p>
        </p:txBody>
      </p:sp>
      <p:sp>
        <p:nvSpPr>
          <p:cNvPr id="60" name="Oval 59"/>
          <p:cNvSpPr/>
          <p:nvPr/>
        </p:nvSpPr>
        <p:spPr>
          <a:xfrm>
            <a:off x="4416552" y="4901184"/>
            <a:ext cx="201168" cy="20116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16552" y="490118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62" name="TextBox 61"/>
          <p:cNvSpPr txBox="1"/>
          <p:nvPr/>
        </p:nvSpPr>
        <p:spPr>
          <a:xfrm>
            <a:off x="4709160" y="488289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Cross-VS deps logged</a:t>
            </a:r>
          </a:p>
        </p:txBody>
      </p:sp>
      <p:sp>
        <p:nvSpPr>
          <p:cNvPr id="63" name="TextBox 62"/>
          <p:cNvSpPr txBox="1"/>
          <p:nvPr/>
        </p:nvSpPr>
        <p:spPr>
          <a:xfrm>
            <a:off x="4709160" y="504748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dependencies surfaced and tracked</a:t>
            </a:r>
          </a:p>
        </p:txBody>
      </p:sp>
      <p:sp>
        <p:nvSpPr>
          <p:cNvPr id="64" name="Oval 63"/>
          <p:cNvSpPr/>
          <p:nvPr/>
        </p:nvSpPr>
        <p:spPr>
          <a:xfrm>
            <a:off x="4416552" y="5381244"/>
            <a:ext cx="201168" cy="20116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16552" y="538124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66" name="TextBox 65"/>
          <p:cNvSpPr txBox="1"/>
          <p:nvPr/>
        </p:nvSpPr>
        <p:spPr>
          <a:xfrm>
            <a:off x="4709160" y="536295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Sponsor signed off</a:t>
            </a:r>
          </a:p>
        </p:txBody>
      </p:sp>
      <p:sp>
        <p:nvSpPr>
          <p:cNvPr id="67" name="TextBox 66"/>
          <p:cNvSpPr txBox="1"/>
          <p:nvPr/>
        </p:nvSpPr>
        <p:spPr>
          <a:xfrm>
            <a:off x="4709160" y="552754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Epic-level outcome accepted</a:t>
            </a:r>
          </a:p>
        </p:txBody>
      </p:sp>
      <p:sp>
        <p:nvSpPr>
          <p:cNvPr id="68" name="Rounded Rectangle 67"/>
          <p:cNvSpPr/>
          <p:nvPr/>
        </p:nvSpPr>
        <p:spPr>
          <a:xfrm>
            <a:off x="8138160" y="2194560"/>
            <a:ext cx="3703320" cy="374903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138160" y="2194560"/>
            <a:ext cx="3703320"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75320" y="22494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STORY DoR  ·  6 criteria</a:t>
            </a:r>
          </a:p>
        </p:txBody>
      </p:sp>
      <p:sp>
        <p:nvSpPr>
          <p:cNvPr id="71" name="TextBox 70"/>
          <p:cNvSpPr txBox="1"/>
          <p:nvPr/>
        </p:nvSpPr>
        <p:spPr>
          <a:xfrm>
            <a:off x="8275320" y="24871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validated by PM (per Squad) before pull (handoff to Execution)</a:t>
            </a:r>
          </a:p>
        </p:txBody>
      </p:sp>
      <p:sp>
        <p:nvSpPr>
          <p:cNvPr id="72" name="Oval 71"/>
          <p:cNvSpPr/>
          <p:nvPr/>
        </p:nvSpPr>
        <p:spPr>
          <a:xfrm>
            <a:off x="8302752" y="2980944"/>
            <a:ext cx="201168" cy="201168"/>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302752" y="298094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74" name="TextBox 73"/>
          <p:cNvSpPr txBox="1"/>
          <p:nvPr/>
        </p:nvSpPr>
        <p:spPr>
          <a:xfrm>
            <a:off x="8595360" y="296265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Outcome clear</a:t>
            </a:r>
          </a:p>
        </p:txBody>
      </p:sp>
      <p:sp>
        <p:nvSpPr>
          <p:cNvPr id="75" name="TextBox 74"/>
          <p:cNvSpPr txBox="1"/>
          <p:nvPr/>
        </p:nvSpPr>
        <p:spPr>
          <a:xfrm>
            <a:off x="8595360" y="312724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acceptance criteria UAT-testable · binary</a:t>
            </a:r>
          </a:p>
        </p:txBody>
      </p:sp>
      <p:sp>
        <p:nvSpPr>
          <p:cNvPr id="76" name="Oval 75"/>
          <p:cNvSpPr/>
          <p:nvPr/>
        </p:nvSpPr>
        <p:spPr>
          <a:xfrm>
            <a:off x="8302752" y="3461004"/>
            <a:ext cx="201168" cy="201168"/>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302752" y="346100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78" name="TextBox 77"/>
          <p:cNvSpPr txBox="1"/>
          <p:nvPr/>
        </p:nvSpPr>
        <p:spPr>
          <a:xfrm>
            <a:off x="8595360" y="344271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Sized</a:t>
            </a:r>
          </a:p>
        </p:txBody>
      </p:sp>
      <p:sp>
        <p:nvSpPr>
          <p:cNvPr id="79" name="TextBox 78"/>
          <p:cNvSpPr txBox="1"/>
          <p:nvPr/>
        </p:nvSpPr>
        <p:spPr>
          <a:xfrm>
            <a:off x="8595360" y="360730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 5 SP · INVEST-compliant</a:t>
            </a:r>
          </a:p>
        </p:txBody>
      </p:sp>
      <p:sp>
        <p:nvSpPr>
          <p:cNvPr id="80" name="Oval 79"/>
          <p:cNvSpPr/>
          <p:nvPr/>
        </p:nvSpPr>
        <p:spPr>
          <a:xfrm>
            <a:off x="8302752" y="3941063"/>
            <a:ext cx="201168" cy="201168"/>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302752" y="3941063"/>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82" name="TextBox 81"/>
          <p:cNvSpPr txBox="1"/>
          <p:nvPr/>
        </p:nvSpPr>
        <p:spPr>
          <a:xfrm>
            <a:off x="8595360" y="392277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Architecture reviewed</a:t>
            </a:r>
          </a:p>
        </p:txBody>
      </p:sp>
      <p:sp>
        <p:nvSpPr>
          <p:cNvPr id="83" name="TextBox 82"/>
          <p:cNvSpPr txBox="1"/>
          <p:nvPr/>
        </p:nvSpPr>
        <p:spPr>
          <a:xfrm>
            <a:off x="8595360" y="408736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NFRs noted · vendor model confirmed</a:t>
            </a:r>
          </a:p>
        </p:txBody>
      </p:sp>
      <p:sp>
        <p:nvSpPr>
          <p:cNvPr id="84" name="Oval 83"/>
          <p:cNvSpPr/>
          <p:nvPr/>
        </p:nvSpPr>
        <p:spPr>
          <a:xfrm>
            <a:off x="8302752" y="4421124"/>
            <a:ext cx="201168" cy="201168"/>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302752" y="442112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86" name="TextBox 85"/>
          <p:cNvSpPr txBox="1"/>
          <p:nvPr/>
        </p:nvSpPr>
        <p:spPr>
          <a:xfrm>
            <a:off x="8595360" y="440283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Dependencies known</a:t>
            </a:r>
          </a:p>
        </p:txBody>
      </p:sp>
      <p:sp>
        <p:nvSpPr>
          <p:cNvPr id="87" name="TextBox 86"/>
          <p:cNvSpPr txBox="1"/>
          <p:nvPr/>
        </p:nvSpPr>
        <p:spPr>
          <a:xfrm>
            <a:off x="8595360" y="456742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cross-VS · vendor · license surfaced</a:t>
            </a:r>
          </a:p>
        </p:txBody>
      </p:sp>
      <p:sp>
        <p:nvSpPr>
          <p:cNvPr id="88" name="Oval 87"/>
          <p:cNvSpPr/>
          <p:nvPr/>
        </p:nvSpPr>
        <p:spPr>
          <a:xfrm>
            <a:off x="8302752" y="4901184"/>
            <a:ext cx="201168" cy="201168"/>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302752" y="490118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90" name="TextBox 89"/>
          <p:cNvSpPr txBox="1"/>
          <p:nvPr/>
        </p:nvSpPr>
        <p:spPr>
          <a:xfrm>
            <a:off x="8595360" y="488289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reserved</a:t>
            </a:r>
          </a:p>
        </p:txBody>
      </p:sp>
      <p:sp>
        <p:nvSpPr>
          <p:cNvPr id="91" name="TextBox 90"/>
          <p:cNvSpPr txBox="1"/>
          <p:nvPr/>
        </p:nvSpPr>
        <p:spPr>
          <a:xfrm>
            <a:off x="8595360" y="504748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fits inside CoS lane · WIP not exceeded</a:t>
            </a:r>
          </a:p>
        </p:txBody>
      </p:sp>
      <p:sp>
        <p:nvSpPr>
          <p:cNvPr id="92" name="Oval 91"/>
          <p:cNvSpPr/>
          <p:nvPr/>
        </p:nvSpPr>
        <p:spPr>
          <a:xfrm>
            <a:off x="8302752" y="5381244"/>
            <a:ext cx="201168" cy="201168"/>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302752" y="5381244"/>
            <a:ext cx="201168" cy="201168"/>
          </a:xfrm>
          <a:prstGeom prst="rect">
            <a:avLst/>
          </a:prstGeom>
          <a:noFill/>
        </p:spPr>
        <p:txBody>
          <a:bodyPr wrap="square" lIns="36000" rIns="36000" tIns="18000" bIns="18000" anchor="ctr">
            <a:spAutoFit/>
          </a:bodyPr>
          <a:lstStyle/>
          <a:p>
            <a:pPr algn="ctr"/>
            <a:r>
              <a:rPr sz="1000" b="1" i="0">
                <a:solidFill>
                  <a:srgbClr val="FFFFFF"/>
                </a:solidFill>
                <a:latin typeface="Arial"/>
              </a:rPr>
              <a:t>✓</a:t>
            </a:r>
          </a:p>
        </p:txBody>
      </p:sp>
      <p:sp>
        <p:nvSpPr>
          <p:cNvPr id="94" name="TextBox 93"/>
          <p:cNvSpPr txBox="1"/>
          <p:nvPr/>
        </p:nvSpPr>
        <p:spPr>
          <a:xfrm>
            <a:off x="8595360" y="5362956"/>
            <a:ext cx="3108960" cy="182880"/>
          </a:xfrm>
          <a:prstGeom prst="rect">
            <a:avLst/>
          </a:prstGeom>
          <a:noFill/>
        </p:spPr>
        <p:txBody>
          <a:bodyPr wrap="square" lIns="36000" rIns="36000" tIns="18000" bIns="18000" anchor="t">
            <a:spAutoFit/>
          </a:bodyPr>
          <a:lstStyle/>
          <a:p>
            <a:pPr algn="l"/>
            <a:r>
              <a:rPr sz="850" b="1" i="0">
                <a:solidFill>
                  <a:srgbClr val="2C3E50"/>
                </a:solidFill>
                <a:latin typeface="Arial"/>
              </a:rPr>
              <a:t>Acceptance criteria</a:t>
            </a:r>
          </a:p>
        </p:txBody>
      </p:sp>
      <p:sp>
        <p:nvSpPr>
          <p:cNvPr id="95" name="TextBox 94"/>
          <p:cNvSpPr txBox="1"/>
          <p:nvPr/>
        </p:nvSpPr>
        <p:spPr>
          <a:xfrm>
            <a:off x="8595360" y="5527548"/>
            <a:ext cx="3108960" cy="251459"/>
          </a:xfrm>
          <a:prstGeom prst="rect">
            <a:avLst/>
          </a:prstGeom>
          <a:noFill/>
        </p:spPr>
        <p:txBody>
          <a:bodyPr wrap="square" lIns="36000" rIns="36000" tIns="18000" bIns="18000" anchor="t">
            <a:spAutoFit/>
          </a:bodyPr>
          <a:lstStyle/>
          <a:p>
            <a:pPr algn="l"/>
            <a:r>
              <a:rPr sz="750" b="0" i="0">
                <a:solidFill>
                  <a:srgbClr val="526077"/>
                </a:solidFill>
                <a:latin typeface="Arial"/>
              </a:rPr>
              <a:t>traceable to Sponsor-approved Initiative/Epic · Squad PM verifies · no story-by-story signoff</a:t>
            </a:r>
          </a:p>
        </p:txBody>
      </p:sp>
      <p:sp>
        <p:nvSpPr>
          <p:cNvPr id="96" name="Rounded Rectangle 95"/>
          <p:cNvSpPr/>
          <p:nvPr/>
        </p:nvSpPr>
        <p:spPr>
          <a:xfrm>
            <a:off x="365760" y="6080760"/>
            <a:ext cx="11475720" cy="36576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365760" y="6080760"/>
            <a:ext cx="91440" cy="3657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48640" y="61356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99" name="TextBox 98"/>
          <p:cNvSpPr txBox="1"/>
          <p:nvPr/>
        </p:nvSpPr>
        <p:spPr>
          <a:xfrm>
            <a:off x="548640" y="63002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Sponsor signs off at INITIATIVE and EPIC level — NOT story-by-story · Story DoR inherits acceptance criteria from approved parent.</a:t>
            </a:r>
          </a:p>
        </p:txBody>
      </p:sp>
      <p:sp>
        <p:nvSpPr>
          <p:cNvPr id="100" name="TextBox 99"/>
          <p:cNvSpPr txBox="1"/>
          <p:nvPr/>
        </p:nvSpPr>
        <p:spPr>
          <a:xfrm>
            <a:off x="548640" y="6583680"/>
            <a:ext cx="11201400" cy="-182879"/>
          </a:xfrm>
          <a:prstGeom prst="rect">
            <a:avLst/>
          </a:prstGeom>
          <a:noFill/>
        </p:spPr>
        <p:txBody>
          <a:bodyPr wrap="square" lIns="36000" rIns="36000" tIns="18000" bIns="18000" anchor="t">
            <a:spAutoFit/>
          </a:bodyPr>
          <a:lstStyle/>
          <a:p>
            <a:pPr algn="l"/>
            <a:r>
              <a:rPr sz="800" b="0" i="0">
                <a:solidFill>
                  <a:srgbClr val="526077"/>
                </a:solidFill>
                <a:latin typeface="Arial"/>
              </a:rPr>
              <a:t/>
            </a:r>
          </a:p>
        </p:txBody>
      </p:sp>
      <p:sp>
        <p:nvSpPr>
          <p:cNvPr id="101" name="TextBox 10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21 / 29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PERFORMANCE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SEVEN PERFORMANCE METRICS · THE CONTRACT: SAME 7 KPIS AS DEMAND MANAGEMENT · APPLIED THROUGH PHASE 2 · LIVE DASHBOARD FOR VP VITOR + HEATHER</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91440" cy="2423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00200"/>
            <a:ext cx="2491740" cy="274320"/>
          </a:xfrm>
          <a:prstGeom prst="rect">
            <a:avLst/>
          </a:prstGeom>
          <a:noFill/>
        </p:spPr>
        <p:txBody>
          <a:bodyPr wrap="square" lIns="36000" rIns="36000" tIns="18000" bIns="18000" anchor="t">
            <a:spAutoFit/>
          </a:bodyPr>
          <a:lstStyle/>
          <a:p>
            <a:pPr algn="l"/>
            <a:r>
              <a:rPr sz="900" b="1" i="0">
                <a:solidFill>
                  <a:srgbClr val="008C38"/>
                </a:solidFill>
                <a:latin typeface="Arial"/>
              </a:rPr>
              <a:t>DEMAND VOLUME</a:t>
            </a:r>
          </a:p>
        </p:txBody>
      </p:sp>
      <p:sp>
        <p:nvSpPr>
          <p:cNvPr id="11" name="TextBox 10"/>
          <p:cNvSpPr txBox="1"/>
          <p:nvPr/>
        </p:nvSpPr>
        <p:spPr>
          <a:xfrm>
            <a:off x="54864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submissions / week · by VS · CoS · OPCO</a:t>
            </a:r>
          </a:p>
        </p:txBody>
      </p:sp>
      <p:sp>
        <p:nvSpPr>
          <p:cNvPr id="12" name="TextBox 11"/>
          <p:cNvSpPr txBox="1"/>
          <p:nvPr/>
        </p:nvSpPr>
        <p:spPr>
          <a:xfrm>
            <a:off x="54864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trend visible</a:t>
            </a:r>
          </a:p>
        </p:txBody>
      </p:sp>
      <p:sp>
        <p:nvSpPr>
          <p:cNvPr id="13" name="TextBox 12"/>
          <p:cNvSpPr txBox="1"/>
          <p:nvPr/>
        </p:nvSpPr>
        <p:spPr>
          <a:xfrm>
            <a:off x="548640" y="2788920"/>
            <a:ext cx="2491740" cy="274320"/>
          </a:xfrm>
          <a:prstGeom prst="rect">
            <a:avLst/>
          </a:prstGeom>
          <a:noFill/>
        </p:spPr>
        <p:txBody>
          <a:bodyPr wrap="square" lIns="36000" rIns="36000" tIns="18000" bIns="18000" anchor="t">
            <a:spAutoFit/>
          </a:bodyPr>
          <a:lstStyle/>
          <a:p>
            <a:pPr algn="l"/>
            <a:r>
              <a:rPr sz="1000" b="1" i="0">
                <a:solidFill>
                  <a:srgbClr val="008C38"/>
                </a:solidFill>
                <a:latin typeface="Arial"/>
              </a:rPr>
              <a:t>▲ baseline</a:t>
            </a:r>
          </a:p>
        </p:txBody>
      </p:sp>
      <p:sp>
        <p:nvSpPr>
          <p:cNvPr id="14" name="Rectangle 13"/>
          <p:cNvSpPr/>
          <p:nvPr/>
        </p:nvSpPr>
        <p:spPr>
          <a:xfrm>
            <a:off x="548640" y="3520439"/>
            <a:ext cx="300037" cy="182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5253" y="3429000"/>
            <a:ext cx="300037" cy="274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21867" y="3474720"/>
            <a:ext cx="300037"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58480" y="3337560"/>
            <a:ext cx="300037" cy="3657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95094" y="3383279"/>
            <a:ext cx="300037" cy="3200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31707" y="3246120"/>
            <a:ext cx="300037"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8321" y="3291839"/>
            <a:ext cx="300037"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04934" y="3200400"/>
            <a:ext cx="300037"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6898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68980" y="1508760"/>
            <a:ext cx="91440" cy="2423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51860" y="1600200"/>
            <a:ext cx="2491740" cy="274320"/>
          </a:xfrm>
          <a:prstGeom prst="rect">
            <a:avLst/>
          </a:prstGeom>
          <a:noFill/>
        </p:spPr>
        <p:txBody>
          <a:bodyPr wrap="square" lIns="36000" rIns="36000" tIns="18000" bIns="18000" anchor="t">
            <a:spAutoFit/>
          </a:bodyPr>
          <a:lstStyle/>
          <a:p>
            <a:pPr algn="l"/>
            <a:r>
              <a:rPr sz="900" b="1" i="0">
                <a:solidFill>
                  <a:srgbClr val="008950"/>
                </a:solidFill>
                <a:latin typeface="Arial"/>
              </a:rPr>
              <a:t>DoR PASS RATE</a:t>
            </a:r>
          </a:p>
        </p:txBody>
      </p:sp>
      <p:sp>
        <p:nvSpPr>
          <p:cNvPr id="25" name="TextBox 24"/>
          <p:cNvSpPr txBox="1"/>
          <p:nvPr/>
        </p:nvSpPr>
        <p:spPr>
          <a:xfrm>
            <a:off x="345186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accepted at first submit</a:t>
            </a:r>
          </a:p>
        </p:txBody>
      </p:sp>
      <p:sp>
        <p:nvSpPr>
          <p:cNvPr id="26" name="TextBox 25"/>
          <p:cNvSpPr txBox="1"/>
          <p:nvPr/>
        </p:nvSpPr>
        <p:spPr>
          <a:xfrm>
            <a:off x="345186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 70 %</a:t>
            </a:r>
          </a:p>
        </p:txBody>
      </p:sp>
      <p:sp>
        <p:nvSpPr>
          <p:cNvPr id="27" name="TextBox 26"/>
          <p:cNvSpPr txBox="1"/>
          <p:nvPr/>
        </p:nvSpPr>
        <p:spPr>
          <a:xfrm>
            <a:off x="3451860" y="2788920"/>
            <a:ext cx="2491740" cy="274320"/>
          </a:xfrm>
          <a:prstGeom prst="rect">
            <a:avLst/>
          </a:prstGeom>
          <a:noFill/>
        </p:spPr>
        <p:txBody>
          <a:bodyPr wrap="square" lIns="36000" rIns="36000" tIns="18000" bIns="18000" anchor="t">
            <a:spAutoFit/>
          </a:bodyPr>
          <a:lstStyle/>
          <a:p>
            <a:pPr algn="l"/>
            <a:r>
              <a:rPr sz="1000" b="1" i="0">
                <a:solidFill>
                  <a:srgbClr val="008950"/>
                </a:solidFill>
                <a:latin typeface="Arial"/>
              </a:rPr>
              <a:t>target ≥ 70 %</a:t>
            </a:r>
          </a:p>
        </p:txBody>
      </p:sp>
      <p:sp>
        <p:nvSpPr>
          <p:cNvPr id="28" name="Rectangle 27"/>
          <p:cNvSpPr/>
          <p:nvPr/>
        </p:nvSpPr>
        <p:spPr>
          <a:xfrm>
            <a:off x="3451860" y="3520439"/>
            <a:ext cx="300037" cy="182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88473" y="3429000"/>
            <a:ext cx="300037" cy="274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25087" y="3474720"/>
            <a:ext cx="300037" cy="2286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61700" y="3337560"/>
            <a:ext cx="300037" cy="3657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98314" y="3383279"/>
            <a:ext cx="300037" cy="3200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134927" y="3246120"/>
            <a:ext cx="300037" cy="4572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71541" y="3291839"/>
            <a:ext cx="300037" cy="4114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8154" y="3200400"/>
            <a:ext cx="300037"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7220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72200" y="1508760"/>
            <a:ext cx="91440" cy="2423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1600200"/>
            <a:ext cx="2491740" cy="274320"/>
          </a:xfrm>
          <a:prstGeom prst="rect">
            <a:avLst/>
          </a:prstGeom>
          <a:noFill/>
        </p:spPr>
        <p:txBody>
          <a:bodyPr wrap="square" lIns="36000" rIns="36000" tIns="18000" bIns="18000" anchor="t">
            <a:spAutoFit/>
          </a:bodyPr>
          <a:lstStyle/>
          <a:p>
            <a:pPr algn="l"/>
            <a:r>
              <a:rPr sz="900" b="1" i="0">
                <a:solidFill>
                  <a:srgbClr val="2C578B"/>
                </a:solidFill>
                <a:latin typeface="Arial"/>
              </a:rPr>
              <a:t>PHASE 2 LEAD TIME</a:t>
            </a:r>
          </a:p>
        </p:txBody>
      </p:sp>
      <p:sp>
        <p:nvSpPr>
          <p:cNvPr id="39" name="TextBox 38"/>
          <p:cNvSpPr txBox="1"/>
          <p:nvPr/>
        </p:nvSpPr>
        <p:spPr>
          <a:xfrm>
            <a:off x="635508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Reviewing → DoR pass (days · P50)</a:t>
            </a:r>
          </a:p>
        </p:txBody>
      </p:sp>
      <p:sp>
        <p:nvSpPr>
          <p:cNvPr id="40" name="TextBox 39"/>
          <p:cNvSpPr txBox="1"/>
          <p:nvPr/>
        </p:nvSpPr>
        <p:spPr>
          <a:xfrm>
            <a:off x="635508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 10 d</a:t>
            </a:r>
          </a:p>
        </p:txBody>
      </p:sp>
      <p:sp>
        <p:nvSpPr>
          <p:cNvPr id="41" name="TextBox 40"/>
          <p:cNvSpPr txBox="1"/>
          <p:nvPr/>
        </p:nvSpPr>
        <p:spPr>
          <a:xfrm>
            <a:off x="6355080" y="2788920"/>
            <a:ext cx="2491740" cy="274320"/>
          </a:xfrm>
          <a:prstGeom prst="rect">
            <a:avLst/>
          </a:prstGeom>
          <a:noFill/>
        </p:spPr>
        <p:txBody>
          <a:bodyPr wrap="square" lIns="36000" rIns="36000" tIns="18000" bIns="18000" anchor="t">
            <a:spAutoFit/>
          </a:bodyPr>
          <a:lstStyle/>
          <a:p>
            <a:pPr algn="l"/>
            <a:r>
              <a:rPr sz="1000" b="1" i="0">
                <a:solidFill>
                  <a:srgbClr val="2C578B"/>
                </a:solidFill>
                <a:latin typeface="Arial"/>
              </a:rPr>
              <a:t>target ≤ 10 d</a:t>
            </a:r>
          </a:p>
        </p:txBody>
      </p:sp>
      <p:sp>
        <p:nvSpPr>
          <p:cNvPr id="42" name="Rectangle 41"/>
          <p:cNvSpPr/>
          <p:nvPr/>
        </p:nvSpPr>
        <p:spPr>
          <a:xfrm>
            <a:off x="6355080" y="3520439"/>
            <a:ext cx="300037" cy="182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691693" y="3429000"/>
            <a:ext cx="300037" cy="274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28307" y="3474720"/>
            <a:ext cx="300037"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64920" y="3337560"/>
            <a:ext cx="30003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01534" y="3383279"/>
            <a:ext cx="300037"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38147" y="3246120"/>
            <a:ext cx="300037"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74761" y="3291839"/>
            <a:ext cx="30003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711374" y="3200400"/>
            <a:ext cx="300037"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07542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075420" y="1508760"/>
            <a:ext cx="91440" cy="24231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58300" y="1600200"/>
            <a:ext cx="2491740" cy="274320"/>
          </a:xfrm>
          <a:prstGeom prst="rect">
            <a:avLst/>
          </a:prstGeom>
          <a:noFill/>
        </p:spPr>
        <p:txBody>
          <a:bodyPr wrap="square" lIns="36000" rIns="36000" tIns="18000" bIns="18000" anchor="t">
            <a:spAutoFit/>
          </a:bodyPr>
          <a:lstStyle/>
          <a:p>
            <a:pPr algn="l"/>
            <a:r>
              <a:rPr sz="900" b="1" i="0">
                <a:solidFill>
                  <a:srgbClr val="1B3C66"/>
                </a:solidFill>
                <a:latin typeface="Arial"/>
              </a:rPr>
              <a:t>CHANNEL ADOPTION</a:t>
            </a:r>
          </a:p>
        </p:txBody>
      </p:sp>
      <p:sp>
        <p:nvSpPr>
          <p:cNvPr id="53" name="TextBox 52"/>
          <p:cNvSpPr txBox="1"/>
          <p:nvPr/>
        </p:nvSpPr>
        <p:spPr>
          <a:xfrm>
            <a:off x="925830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via single front door</a:t>
            </a:r>
          </a:p>
        </p:txBody>
      </p:sp>
      <p:sp>
        <p:nvSpPr>
          <p:cNvPr id="54" name="TextBox 53"/>
          <p:cNvSpPr txBox="1"/>
          <p:nvPr/>
        </p:nvSpPr>
        <p:spPr>
          <a:xfrm>
            <a:off x="925830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 90 %</a:t>
            </a:r>
          </a:p>
        </p:txBody>
      </p:sp>
      <p:sp>
        <p:nvSpPr>
          <p:cNvPr id="55" name="TextBox 54"/>
          <p:cNvSpPr txBox="1"/>
          <p:nvPr/>
        </p:nvSpPr>
        <p:spPr>
          <a:xfrm>
            <a:off x="9258300" y="2788920"/>
            <a:ext cx="2491740" cy="274320"/>
          </a:xfrm>
          <a:prstGeom prst="rect">
            <a:avLst/>
          </a:prstGeom>
          <a:noFill/>
        </p:spPr>
        <p:txBody>
          <a:bodyPr wrap="square" lIns="36000" rIns="36000" tIns="18000" bIns="18000" anchor="t">
            <a:spAutoFit/>
          </a:bodyPr>
          <a:lstStyle/>
          <a:p>
            <a:pPr algn="l"/>
            <a:r>
              <a:rPr sz="1000" b="1" i="0">
                <a:solidFill>
                  <a:srgbClr val="1B3C66"/>
                </a:solidFill>
                <a:latin typeface="Arial"/>
              </a:rPr>
              <a:t>target month 6</a:t>
            </a:r>
          </a:p>
        </p:txBody>
      </p:sp>
      <p:sp>
        <p:nvSpPr>
          <p:cNvPr id="56" name="Rectangle 55"/>
          <p:cNvSpPr/>
          <p:nvPr/>
        </p:nvSpPr>
        <p:spPr>
          <a:xfrm>
            <a:off x="9258300" y="3520439"/>
            <a:ext cx="300037" cy="182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594913" y="3429000"/>
            <a:ext cx="300037" cy="2743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31527" y="3474720"/>
            <a:ext cx="300037" cy="2286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268140" y="3337560"/>
            <a:ext cx="300037" cy="3657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604754" y="3383279"/>
            <a:ext cx="300037" cy="3200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941367" y="3246120"/>
            <a:ext cx="300037" cy="4572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1277981" y="3291839"/>
            <a:ext cx="300037" cy="4114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1614594" y="3200400"/>
            <a:ext cx="300037"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36576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65760" y="4114800"/>
            <a:ext cx="91440" cy="2240279"/>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 y="4206240"/>
            <a:ext cx="3459480" cy="274320"/>
          </a:xfrm>
          <a:prstGeom prst="rect">
            <a:avLst/>
          </a:prstGeom>
          <a:noFill/>
        </p:spPr>
        <p:txBody>
          <a:bodyPr wrap="square" lIns="36000" rIns="36000" tIns="18000" bIns="18000" anchor="t">
            <a:spAutoFit/>
          </a:bodyPr>
          <a:lstStyle/>
          <a:p>
            <a:pPr algn="l"/>
            <a:r>
              <a:rPr sz="1000" b="1" i="0">
                <a:solidFill>
                  <a:srgbClr val="B03535"/>
                </a:solidFill>
                <a:latin typeface="Arial"/>
              </a:rPr>
              <a:t>EXPEDITE SHARE</a:t>
            </a:r>
          </a:p>
        </p:txBody>
      </p:sp>
      <p:sp>
        <p:nvSpPr>
          <p:cNvPr id="67" name="TextBox 66"/>
          <p:cNvSpPr txBox="1"/>
          <p:nvPr/>
        </p:nvSpPr>
        <p:spPr>
          <a:xfrm>
            <a:off x="54864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 of throughput</a:t>
            </a:r>
          </a:p>
        </p:txBody>
      </p:sp>
      <p:sp>
        <p:nvSpPr>
          <p:cNvPr id="68" name="TextBox 67"/>
          <p:cNvSpPr txBox="1"/>
          <p:nvPr/>
        </p:nvSpPr>
        <p:spPr>
          <a:xfrm>
            <a:off x="54864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 20 %</a:t>
            </a:r>
          </a:p>
        </p:txBody>
      </p:sp>
      <p:sp>
        <p:nvSpPr>
          <p:cNvPr id="69" name="TextBox 68"/>
          <p:cNvSpPr txBox="1"/>
          <p:nvPr/>
        </p:nvSpPr>
        <p:spPr>
          <a:xfrm>
            <a:off x="548640" y="5394960"/>
            <a:ext cx="3459480" cy="274320"/>
          </a:xfrm>
          <a:prstGeom prst="rect">
            <a:avLst/>
          </a:prstGeom>
          <a:noFill/>
        </p:spPr>
        <p:txBody>
          <a:bodyPr wrap="square" lIns="36000" rIns="36000" tIns="18000" bIns="18000" anchor="t">
            <a:spAutoFit/>
          </a:bodyPr>
          <a:lstStyle/>
          <a:p>
            <a:pPr algn="l"/>
            <a:r>
              <a:rPr sz="1000" b="1" i="0">
                <a:solidFill>
                  <a:srgbClr val="B03535"/>
                </a:solidFill>
                <a:latin typeface="Arial"/>
              </a:rPr>
              <a:t>cap 20 %</a:t>
            </a:r>
          </a:p>
        </p:txBody>
      </p:sp>
      <p:sp>
        <p:nvSpPr>
          <p:cNvPr id="70" name="Rectangle 69"/>
          <p:cNvSpPr/>
          <p:nvPr/>
        </p:nvSpPr>
        <p:spPr>
          <a:xfrm>
            <a:off x="548640" y="6080759"/>
            <a:ext cx="421005" cy="1828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06221" y="5989320"/>
            <a:ext cx="421005" cy="2743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463802" y="6035040"/>
            <a:ext cx="421005" cy="2286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921382" y="5897879"/>
            <a:ext cx="421005" cy="36576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378964" y="5943600"/>
            <a:ext cx="421005" cy="32004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836545" y="5806440"/>
            <a:ext cx="421005" cy="4572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294125" y="5852159"/>
            <a:ext cx="421005" cy="411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751706" y="5760720"/>
            <a:ext cx="421005" cy="5029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423672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236720" y="4114800"/>
            <a:ext cx="91440" cy="2240279"/>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419600" y="420624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DUPLICATION RATE</a:t>
            </a:r>
          </a:p>
        </p:txBody>
      </p:sp>
      <p:sp>
        <p:nvSpPr>
          <p:cNvPr id="81" name="TextBox 80"/>
          <p:cNvSpPr txBox="1"/>
          <p:nvPr/>
        </p:nvSpPr>
        <p:spPr>
          <a:xfrm>
            <a:off x="441960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 submissions matched</a:t>
            </a:r>
          </a:p>
        </p:txBody>
      </p:sp>
      <p:sp>
        <p:nvSpPr>
          <p:cNvPr id="82" name="TextBox 81"/>
          <p:cNvSpPr txBox="1"/>
          <p:nvPr/>
        </p:nvSpPr>
        <p:spPr>
          <a:xfrm>
            <a:off x="441960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 trend</a:t>
            </a:r>
          </a:p>
        </p:txBody>
      </p:sp>
      <p:sp>
        <p:nvSpPr>
          <p:cNvPr id="83" name="TextBox 82"/>
          <p:cNvSpPr txBox="1"/>
          <p:nvPr/>
        </p:nvSpPr>
        <p:spPr>
          <a:xfrm>
            <a:off x="4419600" y="539496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target down</a:t>
            </a:r>
          </a:p>
        </p:txBody>
      </p:sp>
      <p:sp>
        <p:nvSpPr>
          <p:cNvPr id="84" name="Rectangle 83"/>
          <p:cNvSpPr/>
          <p:nvPr/>
        </p:nvSpPr>
        <p:spPr>
          <a:xfrm>
            <a:off x="4419600" y="6080759"/>
            <a:ext cx="421005" cy="1828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877181" y="5989320"/>
            <a:ext cx="421005" cy="2743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334762" y="6035040"/>
            <a:ext cx="421005" cy="2286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92343" y="5897879"/>
            <a:ext cx="421005" cy="36576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249924" y="5943600"/>
            <a:ext cx="421005"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707505" y="5806440"/>
            <a:ext cx="421005" cy="4572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165086" y="5852159"/>
            <a:ext cx="421005" cy="4114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22667" y="5760720"/>
            <a:ext cx="421005" cy="5029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810768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107680" y="4114800"/>
            <a:ext cx="91440" cy="2240279"/>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290560" y="420624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STATUS VISIBILITY</a:t>
            </a:r>
          </a:p>
        </p:txBody>
      </p:sp>
      <p:sp>
        <p:nvSpPr>
          <p:cNvPr id="95" name="TextBox 94"/>
          <p:cNvSpPr txBox="1"/>
          <p:nvPr/>
        </p:nvSpPr>
        <p:spPr>
          <a:xfrm>
            <a:off x="829056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 with live status</a:t>
            </a:r>
          </a:p>
        </p:txBody>
      </p:sp>
      <p:sp>
        <p:nvSpPr>
          <p:cNvPr id="96" name="TextBox 95"/>
          <p:cNvSpPr txBox="1"/>
          <p:nvPr/>
        </p:nvSpPr>
        <p:spPr>
          <a:xfrm>
            <a:off x="829056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100 %</a:t>
            </a:r>
          </a:p>
        </p:txBody>
      </p:sp>
      <p:sp>
        <p:nvSpPr>
          <p:cNvPr id="97" name="TextBox 96"/>
          <p:cNvSpPr txBox="1"/>
          <p:nvPr/>
        </p:nvSpPr>
        <p:spPr>
          <a:xfrm>
            <a:off x="8290560" y="539496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target 100 %</a:t>
            </a:r>
          </a:p>
        </p:txBody>
      </p:sp>
      <p:sp>
        <p:nvSpPr>
          <p:cNvPr id="98" name="Rectangle 97"/>
          <p:cNvSpPr/>
          <p:nvPr/>
        </p:nvSpPr>
        <p:spPr>
          <a:xfrm>
            <a:off x="8290560" y="6080759"/>
            <a:ext cx="421005" cy="1828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748141" y="5989320"/>
            <a:ext cx="421005" cy="2743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205722" y="6035040"/>
            <a:ext cx="421005" cy="228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663302" y="5897879"/>
            <a:ext cx="421005" cy="36576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0120884" y="5943600"/>
            <a:ext cx="421005" cy="3200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0578465" y="5806440"/>
            <a:ext cx="421005"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036046" y="5852159"/>
            <a:ext cx="421005" cy="4114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493626" y="5760720"/>
            <a:ext cx="421005" cy="5029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365760" y="5852160"/>
            <a:ext cx="11475720" cy="45720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365760" y="5852160"/>
            <a:ext cx="91440" cy="4572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48640" y="59070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109" name="TextBox 108"/>
          <p:cNvSpPr txBox="1"/>
          <p:nvPr/>
        </p:nvSpPr>
        <p:spPr>
          <a:xfrm>
            <a:off x="548640" y="60716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These seven KPIs are the contract — if any one drifts, the funnel is leaking.</a:t>
            </a:r>
          </a:p>
        </p:txBody>
      </p:sp>
      <p:sp>
        <p:nvSpPr>
          <p:cNvPr id="110" name="TextBox 109"/>
          <p:cNvSpPr txBox="1"/>
          <p:nvPr/>
        </p:nvSpPr>
        <p:spPr>
          <a:xfrm>
            <a:off x="548640" y="6355080"/>
            <a:ext cx="11201400" cy="-91439"/>
          </a:xfrm>
          <a:prstGeom prst="rect">
            <a:avLst/>
          </a:prstGeom>
          <a:noFill/>
        </p:spPr>
        <p:txBody>
          <a:bodyPr wrap="square" lIns="36000" rIns="36000" tIns="18000" bIns="18000" anchor="t">
            <a:spAutoFit/>
          </a:bodyPr>
          <a:lstStyle/>
          <a:p>
            <a:pPr algn="l"/>
            <a:r>
              <a:rPr sz="800" b="0" i="0">
                <a:solidFill>
                  <a:srgbClr val="526077"/>
                </a:solidFill>
                <a:latin typeface="Arial"/>
              </a:rPr>
              <a:t>Live dashboard means leakage is visible the next day, not the next quarter · same KPIs reviewed for Demand Management apply through Phase 2</a:t>
            </a:r>
          </a:p>
        </p:txBody>
      </p:sp>
      <p:sp>
        <p:nvSpPr>
          <p:cNvPr id="111" name="TextBox 11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22 / 29</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PERFORMANCE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CYCLE TIME + PREDICTABILITY: 12-MONTH ROLLING · CS VS ITBA · TARGET OVERLAY · VARIANCE COMMENTARY MONTHLY</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576072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576072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81912"/>
            <a:ext cx="5486400" cy="274320"/>
          </a:xfrm>
          <a:prstGeom prst="rect">
            <a:avLst/>
          </a:prstGeom>
          <a:noFill/>
        </p:spPr>
        <p:txBody>
          <a:bodyPr wrap="square" lIns="36000" rIns="36000" tIns="18000" bIns="18000" anchor="t">
            <a:spAutoFit/>
          </a:bodyPr>
          <a:lstStyle/>
          <a:p>
            <a:pPr algn="l"/>
            <a:r>
              <a:rPr sz="1000" b="1" i="0">
                <a:solidFill>
                  <a:srgbClr val="FFFFFF"/>
                </a:solidFill>
                <a:latin typeface="Arial"/>
              </a:rPr>
              <a:t>CYCLE TIME  ·  intake → DoR pass (days · median)</a:t>
            </a:r>
          </a:p>
        </p:txBody>
      </p:sp>
      <p:sp>
        <p:nvSpPr>
          <p:cNvPr id="11" name="Rectangle 10"/>
          <p:cNvSpPr/>
          <p:nvPr/>
        </p:nvSpPr>
        <p:spPr>
          <a:xfrm>
            <a:off x="822960" y="5029200"/>
            <a:ext cx="50292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103120"/>
            <a:ext cx="15000" cy="2926079"/>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Aug</a:t>
            </a:r>
          </a:p>
        </p:txBody>
      </p:sp>
      <p:sp>
        <p:nvSpPr>
          <p:cNvPr id="14" name="TextBox 13"/>
          <p:cNvSpPr txBox="1"/>
          <p:nvPr/>
        </p:nvSpPr>
        <p:spPr>
          <a:xfrm>
            <a:off x="1143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Sep</a:t>
            </a:r>
          </a:p>
        </p:txBody>
      </p:sp>
      <p:sp>
        <p:nvSpPr>
          <p:cNvPr id="15" name="TextBox 14"/>
          <p:cNvSpPr txBox="1"/>
          <p:nvPr/>
        </p:nvSpPr>
        <p:spPr>
          <a:xfrm>
            <a:off x="1600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Oct</a:t>
            </a:r>
          </a:p>
        </p:txBody>
      </p:sp>
      <p:sp>
        <p:nvSpPr>
          <p:cNvPr id="16" name="TextBox 15"/>
          <p:cNvSpPr txBox="1"/>
          <p:nvPr/>
        </p:nvSpPr>
        <p:spPr>
          <a:xfrm>
            <a:off x="2057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Nov</a:t>
            </a:r>
          </a:p>
        </p:txBody>
      </p:sp>
      <p:sp>
        <p:nvSpPr>
          <p:cNvPr id="17" name="TextBox 16"/>
          <p:cNvSpPr txBox="1"/>
          <p:nvPr/>
        </p:nvSpPr>
        <p:spPr>
          <a:xfrm>
            <a:off x="2514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Dec</a:t>
            </a:r>
          </a:p>
        </p:txBody>
      </p:sp>
      <p:sp>
        <p:nvSpPr>
          <p:cNvPr id="18" name="TextBox 17"/>
          <p:cNvSpPr txBox="1"/>
          <p:nvPr/>
        </p:nvSpPr>
        <p:spPr>
          <a:xfrm>
            <a:off x="2971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Jan</a:t>
            </a:r>
          </a:p>
        </p:txBody>
      </p:sp>
      <p:sp>
        <p:nvSpPr>
          <p:cNvPr id="19" name="TextBox 18"/>
          <p:cNvSpPr txBox="1"/>
          <p:nvPr/>
        </p:nvSpPr>
        <p:spPr>
          <a:xfrm>
            <a:off x="3429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Feb</a:t>
            </a:r>
          </a:p>
        </p:txBody>
      </p:sp>
      <p:sp>
        <p:nvSpPr>
          <p:cNvPr id="20" name="TextBox 19"/>
          <p:cNvSpPr txBox="1"/>
          <p:nvPr/>
        </p:nvSpPr>
        <p:spPr>
          <a:xfrm>
            <a:off x="3886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Mar</a:t>
            </a:r>
          </a:p>
        </p:txBody>
      </p:sp>
      <p:sp>
        <p:nvSpPr>
          <p:cNvPr id="21" name="TextBox 20"/>
          <p:cNvSpPr txBox="1"/>
          <p:nvPr/>
        </p:nvSpPr>
        <p:spPr>
          <a:xfrm>
            <a:off x="4343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Apr</a:t>
            </a:r>
          </a:p>
        </p:txBody>
      </p:sp>
      <p:sp>
        <p:nvSpPr>
          <p:cNvPr id="22" name="TextBox 21"/>
          <p:cNvSpPr txBox="1"/>
          <p:nvPr/>
        </p:nvSpPr>
        <p:spPr>
          <a:xfrm>
            <a:off x="4800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May</a:t>
            </a:r>
          </a:p>
        </p:txBody>
      </p:sp>
      <p:sp>
        <p:nvSpPr>
          <p:cNvPr id="23" name="TextBox 22"/>
          <p:cNvSpPr txBox="1"/>
          <p:nvPr/>
        </p:nvSpPr>
        <p:spPr>
          <a:xfrm>
            <a:off x="5257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Jun</a:t>
            </a:r>
          </a:p>
        </p:txBody>
      </p:sp>
      <p:sp>
        <p:nvSpPr>
          <p:cNvPr id="24" name="TextBox 23"/>
          <p:cNvSpPr txBox="1"/>
          <p:nvPr/>
        </p:nvSpPr>
        <p:spPr>
          <a:xfrm>
            <a:off x="5715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Jul</a:t>
            </a:r>
          </a:p>
        </p:txBody>
      </p:sp>
      <p:sp>
        <p:nvSpPr>
          <p:cNvPr id="25" name="TextBox 24"/>
          <p:cNvSpPr txBox="1"/>
          <p:nvPr/>
        </p:nvSpPr>
        <p:spPr>
          <a:xfrm>
            <a:off x="411480" y="495604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10</a:t>
            </a:r>
          </a:p>
        </p:txBody>
      </p:sp>
      <p:sp>
        <p:nvSpPr>
          <p:cNvPr id="26" name="Rectangle 25"/>
          <p:cNvSpPr/>
          <p:nvPr/>
        </p:nvSpPr>
        <p:spPr>
          <a:xfrm>
            <a:off x="822960" y="502920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22452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15</a:t>
            </a:r>
          </a:p>
        </p:txBody>
      </p:sp>
      <p:sp>
        <p:nvSpPr>
          <p:cNvPr id="28" name="Rectangle 27"/>
          <p:cNvSpPr/>
          <p:nvPr/>
        </p:nvSpPr>
        <p:spPr>
          <a:xfrm>
            <a:off x="822960" y="429768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349300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20</a:t>
            </a:r>
          </a:p>
        </p:txBody>
      </p:sp>
      <p:sp>
        <p:nvSpPr>
          <p:cNvPr id="30" name="Rectangle 29"/>
          <p:cNvSpPr/>
          <p:nvPr/>
        </p:nvSpPr>
        <p:spPr>
          <a:xfrm>
            <a:off x="822960" y="356616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276148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25</a:t>
            </a:r>
          </a:p>
        </p:txBody>
      </p:sp>
      <p:sp>
        <p:nvSpPr>
          <p:cNvPr id="32" name="Rectangle 31"/>
          <p:cNvSpPr/>
          <p:nvPr/>
        </p:nvSpPr>
        <p:spPr>
          <a:xfrm>
            <a:off x="822960" y="283464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202996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30</a:t>
            </a:r>
          </a:p>
        </p:txBody>
      </p:sp>
      <p:sp>
        <p:nvSpPr>
          <p:cNvPr id="34" name="Rectangle 33"/>
          <p:cNvSpPr/>
          <p:nvPr/>
        </p:nvSpPr>
        <p:spPr>
          <a:xfrm>
            <a:off x="822960" y="210312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 y="3858768"/>
            <a:ext cx="5029200"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0" y="3694176"/>
            <a:ext cx="91440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18d</a:t>
            </a:r>
          </a:p>
        </p:txBody>
      </p:sp>
      <p:cxnSp>
        <p:nvCxnSpPr>
          <p:cNvPr id="37" name="Connector 36"/>
          <p:cNvCxnSpPr/>
          <p:nvPr/>
        </p:nvCxnSpPr>
        <p:spPr>
          <a:xfrm>
            <a:off x="822960" y="239572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77240" y="235000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1280160" y="2688336"/>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234439" y="264261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flipV="1">
            <a:off x="1737360" y="283464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691639" y="293522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194560" y="2834640"/>
            <a:ext cx="457200" cy="438912"/>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2148840" y="278892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2651760" y="3273552"/>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2606040" y="322783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3108960" y="3419856"/>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3063240" y="337413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3566160" y="356616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3520440" y="352044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4023360" y="3712464"/>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3977640" y="366674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44805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44348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flipV="1">
            <a:off x="49377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4892040" y="395935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5394960" y="385876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3492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806440" y="410565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822960" y="210312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777240" y="205740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280160" y="2249424"/>
            <a:ext cx="457200" cy="292608"/>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1234439" y="220370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flipV="1">
            <a:off x="1737360" y="239572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691639" y="249631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2194560" y="2395728"/>
            <a:ext cx="457200" cy="438912"/>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2148840" y="235000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2651760" y="283464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2606040" y="278892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3108960" y="2980944"/>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3063240" y="293522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3566160" y="312724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3520440" y="308152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4023360" y="3273552"/>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3977640" y="322783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4480560" y="3419856"/>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4434840" y="3374136"/>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4937760" y="356616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4892040" y="352044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Connector 79"/>
          <p:cNvCxnSpPr/>
          <p:nvPr/>
        </p:nvCxnSpPr>
        <p:spPr>
          <a:xfrm>
            <a:off x="5394960" y="3712464"/>
            <a:ext cx="457200" cy="0"/>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53492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8064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22960" y="5148071"/>
            <a:ext cx="274320" cy="182880"/>
          </a:xfrm>
          <a:prstGeom prst="rect">
            <a:avLst/>
          </a:prstGeom>
          <a:noFill/>
        </p:spPr>
        <p:txBody>
          <a:bodyPr wrap="square" lIns="36000" rIns="36000" tIns="18000" bIns="18000" anchor="t">
            <a:spAutoFit/>
          </a:bodyPr>
          <a:lstStyle/>
          <a:p>
            <a:pPr algn="l"/>
            <a:r>
              <a:rPr sz="1400" b="1" i="0">
                <a:solidFill>
                  <a:srgbClr val="008C38"/>
                </a:solidFill>
                <a:latin typeface="Arial"/>
              </a:rPr>
              <a:t>●</a:t>
            </a:r>
          </a:p>
        </p:txBody>
      </p:sp>
      <p:sp>
        <p:nvSpPr>
          <p:cNvPr id="84" name="TextBox 83"/>
          <p:cNvSpPr txBox="1"/>
          <p:nvPr/>
        </p:nvSpPr>
        <p:spPr>
          <a:xfrm>
            <a:off x="105156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CS</a:t>
            </a:r>
          </a:p>
        </p:txBody>
      </p:sp>
      <p:sp>
        <p:nvSpPr>
          <p:cNvPr id="85" name="TextBox 84"/>
          <p:cNvSpPr txBox="1"/>
          <p:nvPr/>
        </p:nvSpPr>
        <p:spPr>
          <a:xfrm>
            <a:off x="1463040" y="5148071"/>
            <a:ext cx="274320" cy="182880"/>
          </a:xfrm>
          <a:prstGeom prst="rect">
            <a:avLst/>
          </a:prstGeom>
          <a:noFill/>
        </p:spPr>
        <p:txBody>
          <a:bodyPr wrap="square" lIns="36000" rIns="36000" tIns="18000" bIns="18000" anchor="t">
            <a:spAutoFit/>
          </a:bodyPr>
          <a:lstStyle/>
          <a:p>
            <a:pPr algn="l"/>
            <a:r>
              <a:rPr sz="1400" b="1" i="0">
                <a:solidFill>
                  <a:srgbClr val="2C578B"/>
                </a:solidFill>
                <a:latin typeface="Arial"/>
              </a:rPr>
              <a:t>●</a:t>
            </a:r>
          </a:p>
        </p:txBody>
      </p:sp>
      <p:sp>
        <p:nvSpPr>
          <p:cNvPr id="86" name="TextBox 85"/>
          <p:cNvSpPr txBox="1"/>
          <p:nvPr/>
        </p:nvSpPr>
        <p:spPr>
          <a:xfrm>
            <a:off x="169164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ITBA</a:t>
            </a:r>
          </a:p>
        </p:txBody>
      </p:sp>
      <p:sp>
        <p:nvSpPr>
          <p:cNvPr id="87" name="TextBox 86"/>
          <p:cNvSpPr txBox="1"/>
          <p:nvPr/>
        </p:nvSpPr>
        <p:spPr>
          <a:xfrm>
            <a:off x="4754880" y="5166359"/>
            <a:ext cx="1280160" cy="182880"/>
          </a:xfrm>
          <a:prstGeom prst="rect">
            <a:avLst/>
          </a:prstGeom>
          <a:noFill/>
        </p:spPr>
        <p:txBody>
          <a:bodyPr wrap="square" lIns="36000" rIns="36000" tIns="18000" bIns="18000" anchor="t">
            <a:spAutoFit/>
          </a:bodyPr>
          <a:lstStyle/>
          <a:p>
            <a:pPr algn="r"/>
            <a:r>
              <a:rPr sz="900" b="1" i="0">
                <a:solidFill>
                  <a:srgbClr val="2C3E50"/>
                </a:solidFill>
                <a:latin typeface="Arial"/>
              </a:rPr>
              <a:t>CS 16d  ·  ITBA 19d</a:t>
            </a:r>
          </a:p>
        </p:txBody>
      </p:sp>
      <p:sp>
        <p:nvSpPr>
          <p:cNvPr id="88" name="Rounded Rectangle 87"/>
          <p:cNvSpPr/>
          <p:nvPr/>
        </p:nvSpPr>
        <p:spPr>
          <a:xfrm>
            <a:off x="6309360" y="1508760"/>
            <a:ext cx="5513831"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09360" y="1508760"/>
            <a:ext cx="551383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446520" y="1581912"/>
            <a:ext cx="5239512" cy="274320"/>
          </a:xfrm>
          <a:prstGeom prst="rect">
            <a:avLst/>
          </a:prstGeom>
          <a:noFill/>
        </p:spPr>
        <p:txBody>
          <a:bodyPr wrap="square" lIns="36000" rIns="36000" tIns="18000" bIns="18000" anchor="t">
            <a:spAutoFit/>
          </a:bodyPr>
          <a:lstStyle/>
          <a:p>
            <a:pPr algn="l"/>
            <a:r>
              <a:rPr sz="1000" b="1" i="0">
                <a:solidFill>
                  <a:srgbClr val="FFFFFF"/>
                </a:solidFill>
                <a:latin typeface="Arial"/>
              </a:rPr>
              <a:t>PLANNING PREDICTABILITY  ·  planned vs delivered (commit %)</a:t>
            </a:r>
          </a:p>
        </p:txBody>
      </p:sp>
      <p:sp>
        <p:nvSpPr>
          <p:cNvPr id="91" name="Rectangle 90"/>
          <p:cNvSpPr/>
          <p:nvPr/>
        </p:nvSpPr>
        <p:spPr>
          <a:xfrm>
            <a:off x="6858000" y="5029200"/>
            <a:ext cx="4690871"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949440" y="2980944"/>
            <a:ext cx="315239" cy="2048255"/>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949440" y="2779776"/>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70%</a:t>
            </a:r>
          </a:p>
        </p:txBody>
      </p:sp>
      <p:sp>
        <p:nvSpPr>
          <p:cNvPr id="94" name="Rectangle 93"/>
          <p:cNvSpPr/>
          <p:nvPr/>
        </p:nvSpPr>
        <p:spPr>
          <a:xfrm>
            <a:off x="7337831" y="3127248"/>
            <a:ext cx="315239" cy="190195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337831" y="2926080"/>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65%</a:t>
            </a:r>
          </a:p>
        </p:txBody>
      </p:sp>
      <p:sp>
        <p:nvSpPr>
          <p:cNvPr id="96" name="TextBox 95"/>
          <p:cNvSpPr txBox="1"/>
          <p:nvPr/>
        </p:nvSpPr>
        <p:spPr>
          <a:xfrm>
            <a:off x="6858000"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Q4 25</a:t>
            </a:r>
          </a:p>
        </p:txBody>
      </p:sp>
      <p:sp>
        <p:nvSpPr>
          <p:cNvPr id="97" name="Rectangle 96"/>
          <p:cNvSpPr/>
          <p:nvPr/>
        </p:nvSpPr>
        <p:spPr>
          <a:xfrm>
            <a:off x="8122157" y="2834640"/>
            <a:ext cx="315239" cy="2194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122157" y="2633472"/>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75%</a:t>
            </a:r>
          </a:p>
        </p:txBody>
      </p:sp>
      <p:sp>
        <p:nvSpPr>
          <p:cNvPr id="99" name="Rectangle 98"/>
          <p:cNvSpPr/>
          <p:nvPr/>
        </p:nvSpPr>
        <p:spPr>
          <a:xfrm>
            <a:off x="8510549" y="2922422"/>
            <a:ext cx="315239" cy="210677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510549" y="272125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72%</a:t>
            </a:r>
          </a:p>
        </p:txBody>
      </p:sp>
      <p:sp>
        <p:nvSpPr>
          <p:cNvPr id="101" name="TextBox 100"/>
          <p:cNvSpPr txBox="1"/>
          <p:nvPr/>
        </p:nvSpPr>
        <p:spPr>
          <a:xfrm>
            <a:off x="8030717"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Q1 26</a:t>
            </a:r>
          </a:p>
        </p:txBody>
      </p:sp>
      <p:sp>
        <p:nvSpPr>
          <p:cNvPr id="102" name="Rectangle 101"/>
          <p:cNvSpPr/>
          <p:nvPr/>
        </p:nvSpPr>
        <p:spPr>
          <a:xfrm>
            <a:off x="9294876" y="2688336"/>
            <a:ext cx="315239" cy="2340863"/>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294876" y="2487168"/>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80%</a:t>
            </a:r>
          </a:p>
        </p:txBody>
      </p:sp>
      <p:sp>
        <p:nvSpPr>
          <p:cNvPr id="104" name="Rectangle 103"/>
          <p:cNvSpPr/>
          <p:nvPr/>
        </p:nvSpPr>
        <p:spPr>
          <a:xfrm>
            <a:off x="9683267" y="2746857"/>
            <a:ext cx="315239" cy="228234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683267" y="2545689"/>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78%</a:t>
            </a:r>
          </a:p>
        </p:txBody>
      </p:sp>
      <p:sp>
        <p:nvSpPr>
          <p:cNvPr id="106" name="TextBox 105"/>
          <p:cNvSpPr txBox="1"/>
          <p:nvPr/>
        </p:nvSpPr>
        <p:spPr>
          <a:xfrm>
            <a:off x="9203436"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Q2 26</a:t>
            </a:r>
          </a:p>
        </p:txBody>
      </p:sp>
      <p:sp>
        <p:nvSpPr>
          <p:cNvPr id="107" name="Rectangle 106"/>
          <p:cNvSpPr/>
          <p:nvPr/>
        </p:nvSpPr>
        <p:spPr>
          <a:xfrm>
            <a:off x="10467594" y="2512771"/>
            <a:ext cx="315239" cy="251642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467594" y="2311603"/>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86%</a:t>
            </a:r>
          </a:p>
        </p:txBody>
      </p:sp>
      <p:sp>
        <p:nvSpPr>
          <p:cNvPr id="109" name="Rectangle 108"/>
          <p:cNvSpPr/>
          <p:nvPr/>
        </p:nvSpPr>
        <p:spPr>
          <a:xfrm>
            <a:off x="10855985" y="2571292"/>
            <a:ext cx="315239" cy="245790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855985" y="237012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84%</a:t>
            </a:r>
          </a:p>
        </p:txBody>
      </p:sp>
      <p:sp>
        <p:nvSpPr>
          <p:cNvPr id="111" name="TextBox 110"/>
          <p:cNvSpPr txBox="1"/>
          <p:nvPr/>
        </p:nvSpPr>
        <p:spPr>
          <a:xfrm>
            <a:off x="10376154"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Q3 26</a:t>
            </a:r>
          </a:p>
        </p:txBody>
      </p:sp>
      <p:sp>
        <p:nvSpPr>
          <p:cNvPr id="112" name="Rectangle 111"/>
          <p:cNvSpPr/>
          <p:nvPr/>
        </p:nvSpPr>
        <p:spPr>
          <a:xfrm>
            <a:off x="6858000" y="2395728"/>
            <a:ext cx="4690871"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817351" y="2212848"/>
            <a:ext cx="73152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90%</a:t>
            </a:r>
          </a:p>
        </p:txBody>
      </p:sp>
      <p:sp>
        <p:nvSpPr>
          <p:cNvPr id="114" name="Rounded Rectangle 113"/>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117" name="TextBox 116"/>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Cycle time trending toward target · predictability up 16pp YoY · ITBA 3 days behind CS due to SAP regression cycles.</a:t>
            </a:r>
          </a:p>
        </p:txBody>
      </p:sp>
      <p:sp>
        <p:nvSpPr>
          <p:cNvPr id="118" name="TextBox 117"/>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Heather + VP Vitor review monthly · variance &gt;5pp triggers root-cause analysis at next Gate 2 · CS Q3 hit 86% commit predictability vs ITBA 84% · gap closing as SAP regression bench is formalized</a:t>
            </a:r>
          </a:p>
        </p:txBody>
      </p:sp>
      <p:sp>
        <p:nvSpPr>
          <p:cNvPr id="119" name="TextBox 11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23 / 29</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PERFORMANCE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MONTHLY REPORT TO VP VITOR: ROADMAP + OUTCOMES + VARIANCE + ASKS · CS AND ITBA SHOWN SIDE-BY-SIDE · FEEDS QUARTERLY BRP DIGEST</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114757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114757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81912"/>
            <a:ext cx="7315200" cy="274320"/>
          </a:xfrm>
          <a:prstGeom prst="rect">
            <a:avLst/>
          </a:prstGeom>
          <a:noFill/>
        </p:spPr>
        <p:txBody>
          <a:bodyPr wrap="square" lIns="36000" rIns="36000" tIns="18000" bIns="18000" anchor="t">
            <a:spAutoFit/>
          </a:bodyPr>
          <a:lstStyle/>
          <a:p>
            <a:pPr algn="l"/>
            <a:r>
              <a:rPr sz="1200" b="1" i="0">
                <a:solidFill>
                  <a:srgbClr val="FFFFFF"/>
                </a:solidFill>
                <a:latin typeface="Arial"/>
              </a:rPr>
              <a:t>DIGITAL PRODUCTS  ·  Phase 2 Monthly Report  ·  Q3 2026</a:t>
            </a:r>
          </a:p>
        </p:txBody>
      </p:sp>
      <p:sp>
        <p:nvSpPr>
          <p:cNvPr id="11" name="TextBox 10"/>
          <p:cNvSpPr txBox="1"/>
          <p:nvPr/>
        </p:nvSpPr>
        <p:spPr>
          <a:xfrm>
            <a:off x="8641080" y="1627631"/>
            <a:ext cx="3017520" cy="201168"/>
          </a:xfrm>
          <a:prstGeom prst="rect">
            <a:avLst/>
          </a:prstGeom>
          <a:noFill/>
        </p:spPr>
        <p:txBody>
          <a:bodyPr wrap="square" lIns="36000" rIns="36000" tIns="18000" bIns="18000" anchor="t">
            <a:spAutoFit/>
          </a:bodyPr>
          <a:lstStyle/>
          <a:p>
            <a:pPr algn="r"/>
            <a:r>
              <a:rPr sz="800" b="0" i="1">
                <a:solidFill>
                  <a:srgbClr val="F6FAFD"/>
                </a:solidFill>
                <a:latin typeface="Arial"/>
              </a:rPr>
              <a:t>Reviewed: Heather LaJoie · VP Vitor Cruz</a:t>
            </a:r>
          </a:p>
        </p:txBody>
      </p:sp>
      <p:sp>
        <p:nvSpPr>
          <p:cNvPr id="12" name="Rounded Rectangle 11"/>
          <p:cNvSpPr/>
          <p:nvPr/>
        </p:nvSpPr>
        <p:spPr>
          <a:xfrm>
            <a:off x="5486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03120"/>
            <a:ext cx="54864"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48839"/>
            <a:ext cx="2434590" cy="164592"/>
          </a:xfrm>
          <a:prstGeom prst="rect">
            <a:avLst/>
          </a:prstGeom>
          <a:noFill/>
        </p:spPr>
        <p:txBody>
          <a:bodyPr wrap="square" lIns="36000" rIns="36000" tIns="18000" bIns="18000" anchor="t">
            <a:spAutoFit/>
          </a:bodyPr>
          <a:lstStyle/>
          <a:p>
            <a:pPr algn="l"/>
            <a:r>
              <a:rPr sz="700" b="1" i="0">
                <a:solidFill>
                  <a:srgbClr val="008C38"/>
                </a:solidFill>
                <a:latin typeface="Arial"/>
              </a:rPr>
              <a:t>BV THROUGHPUT</a:t>
            </a:r>
          </a:p>
        </p:txBody>
      </p:sp>
      <p:sp>
        <p:nvSpPr>
          <p:cNvPr id="15" name="TextBox 14"/>
          <p:cNvSpPr txBox="1"/>
          <p:nvPr/>
        </p:nvSpPr>
        <p:spPr>
          <a:xfrm>
            <a:off x="6858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$ 2.4M</a:t>
            </a:r>
          </a:p>
        </p:txBody>
      </p:sp>
      <p:sp>
        <p:nvSpPr>
          <p:cNvPr id="16" name="TextBox 15"/>
          <p:cNvSpPr txBox="1"/>
          <p:nvPr/>
        </p:nvSpPr>
        <p:spPr>
          <a:xfrm>
            <a:off x="685800" y="2606039"/>
            <a:ext cx="2434590" cy="201168"/>
          </a:xfrm>
          <a:prstGeom prst="rect">
            <a:avLst/>
          </a:prstGeom>
          <a:noFill/>
        </p:spPr>
        <p:txBody>
          <a:bodyPr wrap="square" lIns="36000" rIns="36000" tIns="18000" bIns="18000" anchor="t">
            <a:spAutoFit/>
          </a:bodyPr>
          <a:lstStyle/>
          <a:p>
            <a:pPr algn="l"/>
            <a:r>
              <a:rPr sz="800" b="1" i="0">
                <a:solidFill>
                  <a:srgbClr val="008C38"/>
                </a:solidFill>
                <a:latin typeface="Arial"/>
              </a:rPr>
              <a:t>+18% YoY</a:t>
            </a:r>
          </a:p>
        </p:txBody>
      </p:sp>
      <p:sp>
        <p:nvSpPr>
          <p:cNvPr id="17" name="Rounded Rectangle 16"/>
          <p:cNvSpPr/>
          <p:nvPr/>
        </p:nvSpPr>
        <p:spPr>
          <a:xfrm>
            <a:off x="33489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48990" y="2103120"/>
            <a:ext cx="54864"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6150" y="2148839"/>
            <a:ext cx="2434590" cy="164592"/>
          </a:xfrm>
          <a:prstGeom prst="rect">
            <a:avLst/>
          </a:prstGeom>
          <a:noFill/>
        </p:spPr>
        <p:txBody>
          <a:bodyPr wrap="square" lIns="36000" rIns="36000" tIns="18000" bIns="18000" anchor="t">
            <a:spAutoFit/>
          </a:bodyPr>
          <a:lstStyle/>
          <a:p>
            <a:pPr algn="l"/>
            <a:r>
              <a:rPr sz="700" b="1" i="0">
                <a:solidFill>
                  <a:srgbClr val="2C578B"/>
                </a:solidFill>
                <a:latin typeface="Arial"/>
              </a:rPr>
              <a:t>CYCLE TIME</a:t>
            </a:r>
          </a:p>
        </p:txBody>
      </p:sp>
      <p:sp>
        <p:nvSpPr>
          <p:cNvPr id="20" name="TextBox 19"/>
          <p:cNvSpPr txBox="1"/>
          <p:nvPr/>
        </p:nvSpPr>
        <p:spPr>
          <a:xfrm>
            <a:off x="34861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18 days</a:t>
            </a:r>
          </a:p>
        </p:txBody>
      </p:sp>
      <p:sp>
        <p:nvSpPr>
          <p:cNvPr id="21" name="TextBox 20"/>
          <p:cNvSpPr txBox="1"/>
          <p:nvPr/>
        </p:nvSpPr>
        <p:spPr>
          <a:xfrm>
            <a:off x="3486150" y="2606039"/>
            <a:ext cx="2434590" cy="201168"/>
          </a:xfrm>
          <a:prstGeom prst="rect">
            <a:avLst/>
          </a:prstGeom>
          <a:noFill/>
        </p:spPr>
        <p:txBody>
          <a:bodyPr wrap="square" lIns="36000" rIns="36000" tIns="18000" bIns="18000" anchor="t">
            <a:spAutoFit/>
          </a:bodyPr>
          <a:lstStyle/>
          <a:p>
            <a:pPr algn="l"/>
            <a:r>
              <a:rPr sz="800" b="1" i="0">
                <a:solidFill>
                  <a:srgbClr val="2C578B"/>
                </a:solidFill>
                <a:latin typeface="Arial"/>
              </a:rPr>
              <a:t>-4d MoM</a:t>
            </a:r>
          </a:p>
        </p:txBody>
      </p:sp>
      <p:sp>
        <p:nvSpPr>
          <p:cNvPr id="22" name="Rounded Rectangle 21"/>
          <p:cNvSpPr/>
          <p:nvPr/>
        </p:nvSpPr>
        <p:spPr>
          <a:xfrm>
            <a:off x="61493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9340" y="2103120"/>
            <a:ext cx="54864" cy="7772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86500" y="2148839"/>
            <a:ext cx="2434590" cy="164592"/>
          </a:xfrm>
          <a:prstGeom prst="rect">
            <a:avLst/>
          </a:prstGeom>
          <a:noFill/>
        </p:spPr>
        <p:txBody>
          <a:bodyPr wrap="square" lIns="36000" rIns="36000" tIns="18000" bIns="18000" anchor="t">
            <a:spAutoFit/>
          </a:bodyPr>
          <a:lstStyle/>
          <a:p>
            <a:pPr algn="l"/>
            <a:r>
              <a:rPr sz="700" b="1" i="0">
                <a:solidFill>
                  <a:srgbClr val="4F914F"/>
                </a:solidFill>
                <a:latin typeface="Arial"/>
              </a:rPr>
              <a:t>PREDICTABILITY</a:t>
            </a:r>
          </a:p>
        </p:txBody>
      </p:sp>
      <p:sp>
        <p:nvSpPr>
          <p:cNvPr id="25" name="TextBox 24"/>
          <p:cNvSpPr txBox="1"/>
          <p:nvPr/>
        </p:nvSpPr>
        <p:spPr>
          <a:xfrm>
            <a:off x="62865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86 %</a:t>
            </a:r>
          </a:p>
        </p:txBody>
      </p:sp>
      <p:sp>
        <p:nvSpPr>
          <p:cNvPr id="26" name="TextBox 25"/>
          <p:cNvSpPr txBox="1"/>
          <p:nvPr/>
        </p:nvSpPr>
        <p:spPr>
          <a:xfrm>
            <a:off x="6286500" y="2606039"/>
            <a:ext cx="2434590" cy="201168"/>
          </a:xfrm>
          <a:prstGeom prst="rect">
            <a:avLst/>
          </a:prstGeom>
          <a:noFill/>
        </p:spPr>
        <p:txBody>
          <a:bodyPr wrap="square" lIns="36000" rIns="36000" tIns="18000" bIns="18000" anchor="t">
            <a:spAutoFit/>
          </a:bodyPr>
          <a:lstStyle/>
          <a:p>
            <a:pPr algn="l"/>
            <a:r>
              <a:rPr sz="800" b="1" i="0">
                <a:solidFill>
                  <a:srgbClr val="4F914F"/>
                </a:solidFill>
                <a:latin typeface="Arial"/>
              </a:rPr>
              <a:t>+5pp YoY</a:t>
            </a:r>
          </a:p>
        </p:txBody>
      </p:sp>
      <p:sp>
        <p:nvSpPr>
          <p:cNvPr id="27" name="Rounded Rectangle 26"/>
          <p:cNvSpPr/>
          <p:nvPr/>
        </p:nvSpPr>
        <p:spPr>
          <a:xfrm>
            <a:off x="89496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49690" y="2103120"/>
            <a:ext cx="54864" cy="7772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6850" y="2148839"/>
            <a:ext cx="2434590" cy="164592"/>
          </a:xfrm>
          <a:prstGeom prst="rect">
            <a:avLst/>
          </a:prstGeom>
          <a:noFill/>
        </p:spPr>
        <p:txBody>
          <a:bodyPr wrap="square" lIns="36000" rIns="36000" tIns="18000" bIns="18000" anchor="t">
            <a:spAutoFit/>
          </a:bodyPr>
          <a:lstStyle/>
          <a:p>
            <a:pPr algn="l"/>
            <a:r>
              <a:rPr sz="700" b="1" i="0">
                <a:solidFill>
                  <a:srgbClr val="E98B2F"/>
                </a:solidFill>
                <a:latin typeface="Arial"/>
              </a:rPr>
              <a:t>PAIN VELOCITY</a:t>
            </a:r>
          </a:p>
        </p:txBody>
      </p:sp>
      <p:sp>
        <p:nvSpPr>
          <p:cNvPr id="30" name="TextBox 29"/>
          <p:cNvSpPr txBox="1"/>
          <p:nvPr/>
        </p:nvSpPr>
        <p:spPr>
          <a:xfrm>
            <a:off x="90868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2.18</a:t>
            </a:r>
          </a:p>
        </p:txBody>
      </p:sp>
      <p:sp>
        <p:nvSpPr>
          <p:cNvPr id="31" name="TextBox 30"/>
          <p:cNvSpPr txBox="1"/>
          <p:nvPr/>
        </p:nvSpPr>
        <p:spPr>
          <a:xfrm>
            <a:off x="9086850" y="2606039"/>
            <a:ext cx="2434590" cy="201168"/>
          </a:xfrm>
          <a:prstGeom prst="rect">
            <a:avLst/>
          </a:prstGeom>
          <a:noFill/>
        </p:spPr>
        <p:txBody>
          <a:bodyPr wrap="square" lIns="36000" rIns="36000" tIns="18000" bIns="18000" anchor="t">
            <a:spAutoFit/>
          </a:bodyPr>
          <a:lstStyle/>
          <a:p>
            <a:pPr algn="l"/>
            <a:r>
              <a:rPr sz="800" b="1" i="0">
                <a:solidFill>
                  <a:srgbClr val="E98B2F"/>
                </a:solidFill>
                <a:latin typeface="Arial"/>
              </a:rPr>
              <a:t>→ flat</a:t>
            </a:r>
          </a:p>
        </p:txBody>
      </p:sp>
      <p:sp>
        <p:nvSpPr>
          <p:cNvPr id="32" name="TextBox 31"/>
          <p:cNvSpPr txBox="1"/>
          <p:nvPr/>
        </p:nvSpPr>
        <p:spPr>
          <a:xfrm>
            <a:off x="548640" y="3063239"/>
            <a:ext cx="11201400" cy="182880"/>
          </a:xfrm>
          <a:prstGeom prst="rect">
            <a:avLst/>
          </a:prstGeom>
          <a:noFill/>
        </p:spPr>
        <p:txBody>
          <a:bodyPr wrap="square" lIns="36000" rIns="36000" tIns="18000" bIns="18000" anchor="t">
            <a:spAutoFit/>
          </a:bodyPr>
          <a:lstStyle/>
          <a:p>
            <a:pPr algn="l"/>
            <a:r>
              <a:rPr sz="900" b="1" i="0">
                <a:solidFill>
                  <a:srgbClr val="0F2A47"/>
                </a:solidFill>
                <a:latin typeface="Arial"/>
              </a:rPr>
              <a:t>ROADMAP  ·  Q3 commits + Q4 plans + 2027 hypotheses</a:t>
            </a:r>
          </a:p>
        </p:txBody>
      </p:sp>
      <p:sp>
        <p:nvSpPr>
          <p:cNvPr id="33" name="Rectangle 32"/>
          <p:cNvSpPr/>
          <p:nvPr/>
        </p:nvSpPr>
        <p:spPr>
          <a:xfrm>
            <a:off x="548640" y="3291839"/>
            <a:ext cx="2740914"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Q3 26</a:t>
            </a:r>
          </a:p>
        </p:txBody>
      </p:sp>
      <p:sp>
        <p:nvSpPr>
          <p:cNvPr id="35" name="Rectangle 34"/>
          <p:cNvSpPr/>
          <p:nvPr/>
        </p:nvSpPr>
        <p:spPr>
          <a:xfrm>
            <a:off x="3326130" y="3291839"/>
            <a:ext cx="2740914"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2613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Q4 26</a:t>
            </a:r>
          </a:p>
        </p:txBody>
      </p:sp>
      <p:sp>
        <p:nvSpPr>
          <p:cNvPr id="37" name="Rectangle 36"/>
          <p:cNvSpPr/>
          <p:nvPr/>
        </p:nvSpPr>
        <p:spPr>
          <a:xfrm>
            <a:off x="610362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0362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Q1 27</a:t>
            </a:r>
          </a:p>
        </p:txBody>
      </p:sp>
      <p:sp>
        <p:nvSpPr>
          <p:cNvPr id="39" name="Rectangle 38"/>
          <p:cNvSpPr/>
          <p:nvPr/>
        </p:nvSpPr>
        <p:spPr>
          <a:xfrm>
            <a:off x="888111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8111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Q2 27</a:t>
            </a:r>
          </a:p>
        </p:txBody>
      </p:sp>
      <p:sp>
        <p:nvSpPr>
          <p:cNvPr id="41" name="Rounded Rectangle 40"/>
          <p:cNvSpPr/>
          <p:nvPr/>
        </p:nvSpPr>
        <p:spPr>
          <a:xfrm>
            <a:off x="548640" y="3566159"/>
            <a:ext cx="5554980"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602735"/>
            <a:ext cx="5372100" cy="182880"/>
          </a:xfrm>
          <a:prstGeom prst="rect">
            <a:avLst/>
          </a:prstGeom>
          <a:noFill/>
        </p:spPr>
        <p:txBody>
          <a:bodyPr wrap="square" lIns="36000" rIns="36000" tIns="18000" bIns="18000" anchor="ctr">
            <a:spAutoFit/>
          </a:bodyPr>
          <a:lstStyle/>
          <a:p>
            <a:pPr algn="l"/>
            <a:r>
              <a:rPr sz="700" b="1" i="0">
                <a:solidFill>
                  <a:srgbClr val="FFFFFF"/>
                </a:solidFill>
                <a:latin typeface="Arial"/>
              </a:rPr>
              <a:t>Genesys script overhaul</a:t>
            </a:r>
          </a:p>
        </p:txBody>
      </p:sp>
      <p:sp>
        <p:nvSpPr>
          <p:cNvPr id="43" name="Rounded Rectangle 42"/>
          <p:cNvSpPr/>
          <p:nvPr/>
        </p:nvSpPr>
        <p:spPr>
          <a:xfrm>
            <a:off x="11750040" y="3584447"/>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50040" y="3584447"/>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45" name="Rounded Rectangle 44"/>
          <p:cNvSpPr/>
          <p:nvPr/>
        </p:nvSpPr>
        <p:spPr>
          <a:xfrm>
            <a:off x="1104138" y="3858768"/>
            <a:ext cx="2777490" cy="256032"/>
          </a:xfrm>
          <a:prstGeom prst="roundRect">
            <a:avLst>
              <a:gd name="adj" fmla="val 4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95578" y="3895344"/>
            <a:ext cx="2594610" cy="182880"/>
          </a:xfrm>
          <a:prstGeom prst="rect">
            <a:avLst/>
          </a:prstGeom>
          <a:noFill/>
        </p:spPr>
        <p:txBody>
          <a:bodyPr wrap="square" lIns="36000" rIns="36000" tIns="18000" bIns="18000" anchor="ctr">
            <a:spAutoFit/>
          </a:bodyPr>
          <a:lstStyle/>
          <a:p>
            <a:pPr algn="l"/>
            <a:r>
              <a:rPr sz="700" b="1" i="0">
                <a:solidFill>
                  <a:srgbClr val="FFFFFF"/>
                </a:solidFill>
                <a:latin typeface="Arial"/>
              </a:rPr>
              <a:t>PUC tariff banner Q3</a:t>
            </a:r>
          </a:p>
        </p:txBody>
      </p:sp>
      <p:sp>
        <p:nvSpPr>
          <p:cNvPr id="47" name="Rounded Rectangle 46"/>
          <p:cNvSpPr/>
          <p:nvPr/>
        </p:nvSpPr>
        <p:spPr>
          <a:xfrm>
            <a:off x="11750040" y="3877055"/>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750040" y="3877055"/>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49" name="Rounded Rectangle 48"/>
          <p:cNvSpPr/>
          <p:nvPr/>
        </p:nvSpPr>
        <p:spPr>
          <a:xfrm>
            <a:off x="1104138" y="4151375"/>
            <a:ext cx="4999482"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95578" y="4187951"/>
            <a:ext cx="4816602" cy="182880"/>
          </a:xfrm>
          <a:prstGeom prst="rect">
            <a:avLst/>
          </a:prstGeom>
          <a:noFill/>
        </p:spPr>
        <p:txBody>
          <a:bodyPr wrap="square" lIns="36000" rIns="36000" tIns="18000" bIns="18000" anchor="ctr">
            <a:spAutoFit/>
          </a:bodyPr>
          <a:lstStyle/>
          <a:p>
            <a:pPr algn="l"/>
            <a:r>
              <a:rPr sz="700" b="1" i="0">
                <a:solidFill>
                  <a:srgbClr val="FFFFFF"/>
                </a:solidFill>
                <a:latin typeface="Arial"/>
              </a:rPr>
              <a:t>Billing cycle 14→5 days</a:t>
            </a:r>
          </a:p>
        </p:txBody>
      </p:sp>
      <p:sp>
        <p:nvSpPr>
          <p:cNvPr id="51" name="Rounded Rectangle 50"/>
          <p:cNvSpPr/>
          <p:nvPr/>
        </p:nvSpPr>
        <p:spPr>
          <a:xfrm>
            <a:off x="11750040" y="4169663"/>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750040" y="4169663"/>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3" name="Rounded Rectangle 52"/>
          <p:cNvSpPr/>
          <p:nvPr/>
        </p:nvSpPr>
        <p:spPr>
          <a:xfrm>
            <a:off x="4992624" y="4443983"/>
            <a:ext cx="4999481"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84064" y="4480559"/>
            <a:ext cx="4816601" cy="182880"/>
          </a:xfrm>
          <a:prstGeom prst="rect">
            <a:avLst/>
          </a:prstGeom>
          <a:noFill/>
        </p:spPr>
        <p:txBody>
          <a:bodyPr wrap="square" lIns="36000" rIns="36000" tIns="18000" bIns="18000" anchor="ctr">
            <a:spAutoFit/>
          </a:bodyPr>
          <a:lstStyle/>
          <a:p>
            <a:pPr algn="l"/>
            <a:r>
              <a:rPr sz="700" b="1" i="0">
                <a:solidFill>
                  <a:srgbClr val="FFFFFF"/>
                </a:solidFill>
                <a:latin typeface="Arial"/>
              </a:rPr>
              <a:t>Audit framework refresh</a:t>
            </a:r>
          </a:p>
        </p:txBody>
      </p:sp>
      <p:sp>
        <p:nvSpPr>
          <p:cNvPr id="55" name="Rounded Rectangle 54"/>
          <p:cNvSpPr/>
          <p:nvPr/>
        </p:nvSpPr>
        <p:spPr>
          <a:xfrm>
            <a:off x="11750040" y="4462271"/>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750040" y="4462271"/>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7" name="Rounded Rectangle 56"/>
          <p:cNvSpPr/>
          <p:nvPr/>
        </p:nvSpPr>
        <p:spPr>
          <a:xfrm>
            <a:off x="7770114" y="4736592"/>
            <a:ext cx="3332987"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61554" y="4773168"/>
            <a:ext cx="3150107" cy="182880"/>
          </a:xfrm>
          <a:prstGeom prst="rect">
            <a:avLst/>
          </a:prstGeom>
          <a:noFill/>
        </p:spPr>
        <p:txBody>
          <a:bodyPr wrap="square" lIns="36000" rIns="36000" tIns="18000" bIns="18000" anchor="ctr">
            <a:spAutoFit/>
          </a:bodyPr>
          <a:lstStyle/>
          <a:p>
            <a:pPr algn="l"/>
            <a:r>
              <a:rPr sz="700" b="1" i="0">
                <a:solidFill>
                  <a:srgbClr val="FFFFFF"/>
                </a:solidFill>
                <a:latin typeface="Arial"/>
              </a:rPr>
              <a:t>S/4HANA migration plan</a:t>
            </a:r>
          </a:p>
        </p:txBody>
      </p:sp>
      <p:sp>
        <p:nvSpPr>
          <p:cNvPr id="59" name="Rounded Rectangle 58"/>
          <p:cNvSpPr/>
          <p:nvPr/>
        </p:nvSpPr>
        <p:spPr>
          <a:xfrm>
            <a:off x="11750040" y="4754879"/>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750040" y="4754879"/>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61" name="Rounded Rectangle 60"/>
          <p:cNvSpPr/>
          <p:nvPr/>
        </p:nvSpPr>
        <p:spPr>
          <a:xfrm>
            <a:off x="548640" y="5120640"/>
            <a:ext cx="5463540" cy="8229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48640" y="5120640"/>
            <a:ext cx="91440" cy="8229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5175503"/>
            <a:ext cx="5189220" cy="182880"/>
          </a:xfrm>
          <a:prstGeom prst="rect">
            <a:avLst/>
          </a:prstGeom>
          <a:noFill/>
        </p:spPr>
        <p:txBody>
          <a:bodyPr wrap="square" lIns="36000" rIns="36000" tIns="18000" bIns="18000" anchor="t">
            <a:spAutoFit/>
          </a:bodyPr>
          <a:lstStyle/>
          <a:p>
            <a:pPr algn="l"/>
            <a:r>
              <a:rPr sz="800" b="1" i="0">
                <a:solidFill>
                  <a:srgbClr val="006B3F"/>
                </a:solidFill>
                <a:latin typeface="Arial"/>
              </a:rPr>
              <a:t>VARIANCE COMMENTARY</a:t>
            </a:r>
          </a:p>
        </p:txBody>
      </p:sp>
      <p:sp>
        <p:nvSpPr>
          <p:cNvPr id="64" name="TextBox 63"/>
          <p:cNvSpPr txBox="1"/>
          <p:nvPr/>
        </p:nvSpPr>
        <p:spPr>
          <a:xfrm>
            <a:off x="68580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CS hit 86% predictability — best quarter on record</a:t>
            </a:r>
          </a:p>
          <a:p>
            <a:pPr algn="l"/>
            <a:r>
              <a:rPr sz="800" b="0" i="0">
                <a:solidFill>
                  <a:srgbClr val="2C3E50"/>
                </a:solidFill>
                <a:latin typeface="Arial"/>
              </a:rPr>
              <a:t>▪ ITBA 3 days slower cycle time due to SAP regression bench formalization</a:t>
            </a:r>
          </a:p>
          <a:p>
            <a:pPr algn="l"/>
            <a:r>
              <a:rPr sz="800" b="0" i="0">
                <a:solidFill>
                  <a:srgbClr val="2C3E50"/>
                </a:solidFill>
                <a:latin typeface="Arial"/>
              </a:rPr>
              <a:t>▪ Capacity Q4 fully booked · early flag from middle managers</a:t>
            </a:r>
          </a:p>
        </p:txBody>
      </p:sp>
      <p:sp>
        <p:nvSpPr>
          <p:cNvPr id="65" name="Rounded Rectangle 64"/>
          <p:cNvSpPr/>
          <p:nvPr/>
        </p:nvSpPr>
        <p:spPr>
          <a:xfrm>
            <a:off x="6195060" y="5120640"/>
            <a:ext cx="5463540" cy="8229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95060" y="5120640"/>
            <a:ext cx="91440" cy="8229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32220" y="5175503"/>
            <a:ext cx="5189220" cy="182880"/>
          </a:xfrm>
          <a:prstGeom prst="rect">
            <a:avLst/>
          </a:prstGeom>
          <a:noFill/>
        </p:spPr>
        <p:txBody>
          <a:bodyPr wrap="square" lIns="36000" rIns="36000" tIns="18000" bIns="18000" anchor="t">
            <a:spAutoFit/>
          </a:bodyPr>
          <a:lstStyle/>
          <a:p>
            <a:pPr algn="l"/>
            <a:r>
              <a:rPr sz="800" b="1" i="0">
                <a:solidFill>
                  <a:srgbClr val="2C578B"/>
                </a:solidFill>
                <a:latin typeface="Arial"/>
              </a:rPr>
              <a:t>ASKS TO VP</a:t>
            </a:r>
          </a:p>
        </p:txBody>
      </p:sp>
      <p:sp>
        <p:nvSpPr>
          <p:cNvPr id="68" name="TextBox 67"/>
          <p:cNvSpPr txBox="1"/>
          <p:nvPr/>
        </p:nvSpPr>
        <p:spPr>
          <a:xfrm>
            <a:off x="633222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Approve hire #5 of new PM for Networks IT VS</a:t>
            </a:r>
          </a:p>
          <a:p>
            <a:pPr algn="l"/>
            <a:r>
              <a:rPr sz="800" b="0" i="0">
                <a:solidFill>
                  <a:srgbClr val="2C3E50"/>
                </a:solidFill>
                <a:latin typeface="Arial"/>
              </a:rPr>
              <a:t>▪ Confirm Audit framework deadline (Q1 27 or earlier?)</a:t>
            </a:r>
          </a:p>
          <a:p>
            <a:pPr algn="l"/>
            <a:r>
              <a:rPr sz="800" b="0" i="0">
                <a:solidFill>
                  <a:srgbClr val="2C3E50"/>
                </a:solidFill>
                <a:latin typeface="Arial"/>
              </a:rPr>
              <a:t>▪ Greenlight S/4HANA Discovery vendor RFP</a:t>
            </a:r>
          </a:p>
        </p:txBody>
      </p:sp>
      <p:sp>
        <p:nvSpPr>
          <p:cNvPr id="69" name="TextBox 6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24 / 29</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SIZES + TRACKS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SIZE DICTATES THE PATH: S GOES DIRECT · M AUTO-SPLITS TO 3 STORIES · L IS MULTI-QUARTER · XL OUT OF SCOPE</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91440" cy="1417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1851660"/>
            <a:ext cx="731520" cy="7315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5166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S</a:t>
            </a:r>
          </a:p>
        </p:txBody>
      </p:sp>
      <p:sp>
        <p:nvSpPr>
          <p:cNvPr id="12" name="TextBox 11"/>
          <p:cNvSpPr txBox="1"/>
          <p:nvPr/>
        </p:nvSpPr>
        <p:spPr>
          <a:xfrm>
            <a:off x="502920" y="263347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 5 SP · ~1 week</a:t>
            </a:r>
          </a:p>
        </p:txBody>
      </p:sp>
      <p:sp>
        <p:nvSpPr>
          <p:cNvPr id="13" name="Rounded Rectangle 12"/>
          <p:cNvSpPr/>
          <p:nvPr/>
        </p:nvSpPr>
        <p:spPr>
          <a:xfrm>
            <a:off x="150876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Story</a:t>
            </a:r>
          </a:p>
        </p:txBody>
      </p:sp>
      <p:sp>
        <p:nvSpPr>
          <p:cNvPr id="15" name="TextBox 14"/>
          <p:cNvSpPr txBox="1"/>
          <p:nvPr/>
        </p:nvSpPr>
        <p:spPr>
          <a:xfrm>
            <a:off x="150876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S → Story directly · no parent</a:t>
            </a:r>
          </a:p>
        </p:txBody>
      </p:sp>
      <p:sp>
        <p:nvSpPr>
          <p:cNvPr id="16" name="TextBox 15"/>
          <p:cNvSpPr txBox="1"/>
          <p:nvPr/>
        </p:nvSpPr>
        <p:spPr>
          <a:xfrm>
            <a:off x="3627881"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17" name="Rounded Rectangle 16"/>
          <p:cNvSpPr/>
          <p:nvPr/>
        </p:nvSpPr>
        <p:spPr>
          <a:xfrm>
            <a:off x="371475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1475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Squad refinement</a:t>
            </a:r>
          </a:p>
        </p:txBody>
      </p:sp>
      <p:sp>
        <p:nvSpPr>
          <p:cNvPr id="19" name="TextBox 18"/>
          <p:cNvSpPr txBox="1"/>
          <p:nvPr/>
        </p:nvSpPr>
        <p:spPr>
          <a:xfrm>
            <a:off x="371475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Squad PM owns</a:t>
            </a:r>
          </a:p>
        </p:txBody>
      </p:sp>
      <p:sp>
        <p:nvSpPr>
          <p:cNvPr id="20" name="TextBox 19"/>
          <p:cNvSpPr txBox="1"/>
          <p:nvPr/>
        </p:nvSpPr>
        <p:spPr>
          <a:xfrm>
            <a:off x="583387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21" name="Rounded Rectangle 20"/>
          <p:cNvSpPr/>
          <p:nvPr/>
        </p:nvSpPr>
        <p:spPr>
          <a:xfrm>
            <a:off x="592074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2074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check</a:t>
            </a:r>
          </a:p>
        </p:txBody>
      </p:sp>
      <p:sp>
        <p:nvSpPr>
          <p:cNvPr id="23" name="TextBox 22"/>
          <p:cNvSpPr txBox="1"/>
          <p:nvPr/>
        </p:nvSpPr>
        <p:spPr>
          <a:xfrm>
            <a:off x="592074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a:t>
            </a:r>
          </a:p>
        </p:txBody>
      </p:sp>
      <p:sp>
        <p:nvSpPr>
          <p:cNvPr id="24" name="TextBox 23"/>
          <p:cNvSpPr txBox="1"/>
          <p:nvPr/>
        </p:nvSpPr>
        <p:spPr>
          <a:xfrm>
            <a:off x="803986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25" name="Rounded Rectangle 24"/>
          <p:cNvSpPr/>
          <p:nvPr/>
        </p:nvSpPr>
        <p:spPr>
          <a:xfrm>
            <a:off x="8126729"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6729"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Pull</a:t>
            </a:r>
          </a:p>
        </p:txBody>
      </p:sp>
      <p:sp>
        <p:nvSpPr>
          <p:cNvPr id="27" name="TextBox 26"/>
          <p:cNvSpPr txBox="1"/>
          <p:nvPr/>
        </p:nvSpPr>
        <p:spPr>
          <a:xfrm>
            <a:off x="8126729"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in current iteration</a:t>
            </a:r>
          </a:p>
        </p:txBody>
      </p:sp>
      <p:sp>
        <p:nvSpPr>
          <p:cNvPr id="28" name="TextBox 27"/>
          <p:cNvSpPr txBox="1"/>
          <p:nvPr/>
        </p:nvSpPr>
        <p:spPr>
          <a:xfrm>
            <a:off x="1508760" y="2377439"/>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BYPASSES Portfolio Board · enters Team Kanban directly</a:t>
            </a:r>
          </a:p>
        </p:txBody>
      </p:sp>
      <p:sp>
        <p:nvSpPr>
          <p:cNvPr id="29" name="Rounded Rectangle 28"/>
          <p:cNvSpPr/>
          <p:nvPr/>
        </p:nvSpPr>
        <p:spPr>
          <a:xfrm>
            <a:off x="1508760" y="2606039"/>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08760" y="2606039"/>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31" name="TextBox 30"/>
          <p:cNvSpPr txBox="1"/>
          <p:nvPr/>
        </p:nvSpPr>
        <p:spPr>
          <a:xfrm>
            <a:off x="21031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page-load fix</a:t>
            </a:r>
          </a:p>
        </p:txBody>
      </p:sp>
      <p:sp>
        <p:nvSpPr>
          <p:cNvPr id="32" name="Rounded Rectangle 31"/>
          <p:cNvSpPr/>
          <p:nvPr/>
        </p:nvSpPr>
        <p:spPr>
          <a:xfrm>
            <a:off x="6217920" y="2606039"/>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2606039"/>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34" name="TextBox 33"/>
          <p:cNvSpPr txBox="1"/>
          <p:nvPr/>
        </p:nvSpPr>
        <p:spPr>
          <a:xfrm>
            <a:off x="69037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master-data fix</a:t>
            </a:r>
          </a:p>
        </p:txBody>
      </p:sp>
      <p:sp>
        <p:nvSpPr>
          <p:cNvPr id="35" name="Rounded Rectangle 34"/>
          <p:cNvSpPr/>
          <p:nvPr/>
        </p:nvSpPr>
        <p:spPr>
          <a:xfrm>
            <a:off x="365760" y="301752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017520"/>
            <a:ext cx="91440" cy="1417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94360" y="3360420"/>
            <a:ext cx="731520" cy="731520"/>
          </a:xfrm>
          <a:prstGeom prst="ellipse">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336042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M</a:t>
            </a:r>
          </a:p>
        </p:txBody>
      </p:sp>
      <p:sp>
        <p:nvSpPr>
          <p:cNvPr id="39" name="TextBox 38"/>
          <p:cNvSpPr txBox="1"/>
          <p:nvPr/>
        </p:nvSpPr>
        <p:spPr>
          <a:xfrm>
            <a:off x="502920" y="4142231"/>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5–20 SP · ~1–2 weeks</a:t>
            </a:r>
          </a:p>
        </p:txBody>
      </p:sp>
      <p:sp>
        <p:nvSpPr>
          <p:cNvPr id="40" name="Rounded Rectangle 39"/>
          <p:cNvSpPr/>
          <p:nvPr/>
        </p:nvSpPr>
        <p:spPr>
          <a:xfrm>
            <a:off x="150876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0876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A5 auto-Epic</a:t>
            </a:r>
          </a:p>
        </p:txBody>
      </p:sp>
      <p:sp>
        <p:nvSpPr>
          <p:cNvPr id="42" name="TextBox 41"/>
          <p:cNvSpPr txBox="1"/>
          <p:nvPr/>
        </p:nvSpPr>
        <p:spPr>
          <a:xfrm>
            <a:off x="150876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M → Epic + child Stories</a:t>
            </a:r>
          </a:p>
        </p:txBody>
      </p:sp>
      <p:sp>
        <p:nvSpPr>
          <p:cNvPr id="43" name="TextBox 42"/>
          <p:cNvSpPr txBox="1"/>
          <p:nvPr/>
        </p:nvSpPr>
        <p:spPr>
          <a:xfrm>
            <a:off x="3627881"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4" name="Rounded Rectangle 43"/>
          <p:cNvSpPr/>
          <p:nvPr/>
        </p:nvSpPr>
        <p:spPr>
          <a:xfrm>
            <a:off x="371475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1475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46" name="TextBox 45"/>
          <p:cNvSpPr txBox="1"/>
          <p:nvPr/>
        </p:nvSpPr>
        <p:spPr>
          <a:xfrm>
            <a:off x="371475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47" name="TextBox 46"/>
          <p:cNvSpPr txBox="1"/>
          <p:nvPr/>
        </p:nvSpPr>
        <p:spPr>
          <a:xfrm>
            <a:off x="583387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8" name="Rounded Rectangle 47"/>
          <p:cNvSpPr/>
          <p:nvPr/>
        </p:nvSpPr>
        <p:spPr>
          <a:xfrm>
            <a:off x="592074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2074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Architect NFR pre-check</a:t>
            </a:r>
          </a:p>
        </p:txBody>
      </p:sp>
      <p:sp>
        <p:nvSpPr>
          <p:cNvPr id="50" name="TextBox 49"/>
          <p:cNvSpPr txBox="1"/>
          <p:nvPr/>
        </p:nvSpPr>
        <p:spPr>
          <a:xfrm>
            <a:off x="592074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1-pass review</a:t>
            </a:r>
          </a:p>
        </p:txBody>
      </p:sp>
      <p:sp>
        <p:nvSpPr>
          <p:cNvPr id="51" name="TextBox 50"/>
          <p:cNvSpPr txBox="1"/>
          <p:nvPr/>
        </p:nvSpPr>
        <p:spPr>
          <a:xfrm>
            <a:off x="803986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52" name="Rounded Rectangle 51"/>
          <p:cNvSpPr/>
          <p:nvPr/>
        </p:nvSpPr>
        <p:spPr>
          <a:xfrm>
            <a:off x="8126729"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26729"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per Story</a:t>
            </a:r>
          </a:p>
        </p:txBody>
      </p:sp>
      <p:sp>
        <p:nvSpPr>
          <p:cNvPr id="54" name="TextBox 53"/>
          <p:cNvSpPr txBox="1"/>
          <p:nvPr/>
        </p:nvSpPr>
        <p:spPr>
          <a:xfrm>
            <a:off x="8126729"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 each</a:t>
            </a:r>
          </a:p>
        </p:txBody>
      </p:sp>
      <p:sp>
        <p:nvSpPr>
          <p:cNvPr id="55" name="TextBox 54"/>
          <p:cNvSpPr txBox="1"/>
          <p:nvPr/>
        </p:nvSpPr>
        <p:spPr>
          <a:xfrm>
            <a:off x="1508760" y="388620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GOES THROUGH Portfolio Board · Gate 2 approval · Squad pulls Stories sequentially</a:t>
            </a:r>
          </a:p>
        </p:txBody>
      </p:sp>
      <p:sp>
        <p:nvSpPr>
          <p:cNvPr id="56" name="Rounded Rectangle 55"/>
          <p:cNvSpPr/>
          <p:nvPr/>
        </p:nvSpPr>
        <p:spPr>
          <a:xfrm>
            <a:off x="1508760" y="411480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08760" y="411480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8" name="TextBox 57"/>
          <p:cNvSpPr txBox="1"/>
          <p:nvPr/>
        </p:nvSpPr>
        <p:spPr>
          <a:xfrm>
            <a:off x="21031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Genesys integration tweak</a:t>
            </a:r>
          </a:p>
        </p:txBody>
      </p:sp>
      <p:sp>
        <p:nvSpPr>
          <p:cNvPr id="59" name="Rounded Rectangle 58"/>
          <p:cNvSpPr/>
          <p:nvPr/>
        </p:nvSpPr>
        <p:spPr>
          <a:xfrm>
            <a:off x="6217920" y="411480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17920" y="411480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61" name="TextBox 60"/>
          <p:cNvSpPr txBox="1"/>
          <p:nvPr/>
        </p:nvSpPr>
        <p:spPr>
          <a:xfrm>
            <a:off x="69037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enhancement</a:t>
            </a:r>
          </a:p>
        </p:txBody>
      </p:sp>
      <p:sp>
        <p:nvSpPr>
          <p:cNvPr id="62" name="Rounded Rectangle 61"/>
          <p:cNvSpPr/>
          <p:nvPr/>
        </p:nvSpPr>
        <p:spPr>
          <a:xfrm>
            <a:off x="365760" y="452628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5760" y="4526280"/>
            <a:ext cx="91440" cy="1417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94360" y="4869180"/>
            <a:ext cx="731520" cy="7315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486918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L</a:t>
            </a:r>
          </a:p>
        </p:txBody>
      </p:sp>
      <p:sp>
        <p:nvSpPr>
          <p:cNvPr id="66" name="TextBox 65"/>
          <p:cNvSpPr txBox="1"/>
          <p:nvPr/>
        </p:nvSpPr>
        <p:spPr>
          <a:xfrm>
            <a:off x="502920" y="565099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20–60 SP · ~2–4 weeks</a:t>
            </a:r>
          </a:p>
        </p:txBody>
      </p:sp>
      <p:sp>
        <p:nvSpPr>
          <p:cNvPr id="67" name="Rounded Rectangle 66"/>
          <p:cNvSpPr/>
          <p:nvPr/>
        </p:nvSpPr>
        <p:spPr>
          <a:xfrm>
            <a:off x="1508760"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508760"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Initiative shape</a:t>
            </a:r>
          </a:p>
        </p:txBody>
      </p:sp>
      <p:sp>
        <p:nvSpPr>
          <p:cNvPr id="69" name="TextBox 68"/>
          <p:cNvSpPr txBox="1"/>
          <p:nvPr/>
        </p:nvSpPr>
        <p:spPr>
          <a:xfrm>
            <a:off x="1508760"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L → Initiative · default Stories · Epics if &gt; 3 months</a:t>
            </a:r>
          </a:p>
        </p:txBody>
      </p:sp>
      <p:sp>
        <p:nvSpPr>
          <p:cNvPr id="70" name="TextBox 69"/>
          <p:cNvSpPr txBox="1"/>
          <p:nvPr/>
        </p:nvSpPr>
        <p:spPr>
          <a:xfrm>
            <a:off x="3186683"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1" name="Rounded Rectangle 70"/>
          <p:cNvSpPr/>
          <p:nvPr/>
        </p:nvSpPr>
        <p:spPr>
          <a:xfrm>
            <a:off x="3273551"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73551"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73" name="TextBox 72"/>
          <p:cNvSpPr txBox="1"/>
          <p:nvPr/>
        </p:nvSpPr>
        <p:spPr>
          <a:xfrm>
            <a:off x="3273551"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74" name="TextBox 73"/>
          <p:cNvSpPr txBox="1"/>
          <p:nvPr/>
        </p:nvSpPr>
        <p:spPr>
          <a:xfrm>
            <a:off x="4951475"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5" name="Rounded Rectangle 74"/>
          <p:cNvSpPr/>
          <p:nvPr/>
        </p:nvSpPr>
        <p:spPr>
          <a:xfrm>
            <a:off x="5038344"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38344"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Full architecture review</a:t>
            </a:r>
          </a:p>
        </p:txBody>
      </p:sp>
      <p:sp>
        <p:nvSpPr>
          <p:cNvPr id="77" name="TextBox 76"/>
          <p:cNvSpPr txBox="1"/>
          <p:nvPr/>
        </p:nvSpPr>
        <p:spPr>
          <a:xfrm>
            <a:off x="5038344"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FULL NFR pass</a:t>
            </a:r>
          </a:p>
        </p:txBody>
      </p:sp>
      <p:sp>
        <p:nvSpPr>
          <p:cNvPr id="78" name="TextBox 77"/>
          <p:cNvSpPr txBox="1"/>
          <p:nvPr/>
        </p:nvSpPr>
        <p:spPr>
          <a:xfrm>
            <a:off x="6716268"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9" name="Rounded Rectangle 78"/>
          <p:cNvSpPr/>
          <p:nvPr/>
        </p:nvSpPr>
        <p:spPr>
          <a:xfrm>
            <a:off x="6803136"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803136"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Multi-quarter capacity</a:t>
            </a:r>
          </a:p>
        </p:txBody>
      </p:sp>
      <p:sp>
        <p:nvSpPr>
          <p:cNvPr id="81" name="TextBox 80"/>
          <p:cNvSpPr txBox="1"/>
          <p:nvPr/>
        </p:nvSpPr>
        <p:spPr>
          <a:xfrm>
            <a:off x="6803136"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Director approves at Gate 2</a:t>
            </a:r>
          </a:p>
        </p:txBody>
      </p:sp>
      <p:sp>
        <p:nvSpPr>
          <p:cNvPr id="82" name="TextBox 81"/>
          <p:cNvSpPr txBox="1"/>
          <p:nvPr/>
        </p:nvSpPr>
        <p:spPr>
          <a:xfrm>
            <a:off x="8481060"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83" name="Rounded Rectangle 82"/>
          <p:cNvSpPr/>
          <p:nvPr/>
        </p:nvSpPr>
        <p:spPr>
          <a:xfrm>
            <a:off x="8567928"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567928"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phased</a:t>
            </a:r>
          </a:p>
        </p:txBody>
      </p:sp>
      <p:sp>
        <p:nvSpPr>
          <p:cNvPr id="85" name="TextBox 84"/>
          <p:cNvSpPr txBox="1"/>
          <p:nvPr/>
        </p:nvSpPr>
        <p:spPr>
          <a:xfrm>
            <a:off x="8567928"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early Stories first</a:t>
            </a:r>
          </a:p>
        </p:txBody>
      </p:sp>
      <p:sp>
        <p:nvSpPr>
          <p:cNvPr id="86" name="TextBox 85"/>
          <p:cNvSpPr txBox="1"/>
          <p:nvPr/>
        </p:nvSpPr>
        <p:spPr>
          <a:xfrm>
            <a:off x="1508760" y="539496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GOES THROUGH Portfolio Board · full Gate 2 · Squad pulls phased Stories</a:t>
            </a:r>
          </a:p>
        </p:txBody>
      </p:sp>
      <p:sp>
        <p:nvSpPr>
          <p:cNvPr id="87" name="Rounded Rectangle 86"/>
          <p:cNvSpPr/>
          <p:nvPr/>
        </p:nvSpPr>
        <p:spPr>
          <a:xfrm>
            <a:off x="1508760" y="562356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508760" y="562356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89" name="TextBox 88"/>
          <p:cNvSpPr txBox="1"/>
          <p:nvPr/>
        </p:nvSpPr>
        <p:spPr>
          <a:xfrm>
            <a:off x="21031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platform migration</a:t>
            </a:r>
          </a:p>
        </p:txBody>
      </p:sp>
      <p:sp>
        <p:nvSpPr>
          <p:cNvPr id="90" name="Rounded Rectangle 89"/>
          <p:cNvSpPr/>
          <p:nvPr/>
        </p:nvSpPr>
        <p:spPr>
          <a:xfrm>
            <a:off x="6217920" y="562356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217920" y="562356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92" name="TextBox 91"/>
          <p:cNvSpPr txBox="1"/>
          <p:nvPr/>
        </p:nvSpPr>
        <p:spPr>
          <a:xfrm>
            <a:off x="69037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S/4HANA migration</a:t>
            </a:r>
          </a:p>
        </p:txBody>
      </p:sp>
      <p:sp>
        <p:nvSpPr>
          <p:cNvPr id="93" name="Rounded Rectangle 92"/>
          <p:cNvSpPr/>
          <p:nvPr/>
        </p:nvSpPr>
        <p:spPr>
          <a:xfrm>
            <a:off x="365760" y="6172200"/>
            <a:ext cx="11475720" cy="310896"/>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65760" y="6172200"/>
            <a:ext cx="91440" cy="310896"/>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2920" y="6172200"/>
            <a:ext cx="11338560" cy="310896"/>
          </a:xfrm>
          <a:prstGeom prst="rect">
            <a:avLst/>
          </a:prstGeom>
          <a:noFill/>
        </p:spPr>
        <p:txBody>
          <a:bodyPr wrap="square" lIns="36000" rIns="36000" tIns="18000" bIns="18000" anchor="ctr">
            <a:spAutoFit/>
          </a:bodyPr>
          <a:lstStyle/>
          <a:p>
            <a:pPr algn="l"/>
            <a:r>
              <a:rPr sz="900" b="1" i="1">
                <a:solidFill>
                  <a:srgbClr val="F08629"/>
                </a:solidFill>
                <a:latin typeface="Arial"/>
              </a:rPr>
              <a:t>XL initiatives → PPM Now (out of scope here) · we accept S · M · L only</a:t>
            </a:r>
          </a:p>
        </p:txBody>
      </p:sp>
      <p:sp>
        <p:nvSpPr>
          <p:cNvPr id="96" name="TextBox 9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25 / 29</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SIZES + TRACKS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DISCOVERY UPSTREAM · DELIVERY IS OURS: PHASE 0/1 RUN BY DOMAIN OR VENDOR · PHASE 2/3/4 OUR ORANGE BAND · DOR IS THE BRIDGE</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365760" y="1508760"/>
            <a:ext cx="11475720" cy="16916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08760"/>
            <a:ext cx="182880" cy="169164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18488"/>
            <a:ext cx="4572000" cy="274320"/>
          </a:xfrm>
          <a:prstGeom prst="rect">
            <a:avLst/>
          </a:prstGeom>
          <a:noFill/>
        </p:spPr>
        <p:txBody>
          <a:bodyPr wrap="square" lIns="36000" rIns="36000" tIns="18000" bIns="18000" anchor="t">
            <a:spAutoFit/>
          </a:bodyPr>
          <a:lstStyle/>
          <a:p>
            <a:pPr algn="l"/>
            <a:r>
              <a:rPr sz="1400" b="1" i="0">
                <a:solidFill>
                  <a:srgbClr val="6B778C"/>
                </a:solidFill>
                <a:latin typeface="Arial"/>
              </a:rPr>
              <a:t>DISCOVERY  ·  upstream</a:t>
            </a:r>
          </a:p>
        </p:txBody>
      </p:sp>
      <p:sp>
        <p:nvSpPr>
          <p:cNvPr id="11" name="Rounded Rectangle 10"/>
          <p:cNvSpPr/>
          <p:nvPr/>
        </p:nvSpPr>
        <p:spPr>
          <a:xfrm>
            <a:off x="2926080" y="1673351"/>
            <a:ext cx="1463040" cy="219456"/>
          </a:xfrm>
          <a:prstGeom prst="roundRect">
            <a:avLst>
              <a:gd name="adj" fmla="val 30000"/>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673351"/>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DOMAIN / VENDOR — NOT US</a:t>
            </a:r>
          </a:p>
        </p:txBody>
      </p:sp>
      <p:sp>
        <p:nvSpPr>
          <p:cNvPr id="13" name="TextBox 12"/>
          <p:cNvSpPr txBox="1"/>
          <p:nvPr/>
        </p:nvSpPr>
        <p:spPr>
          <a:xfrm>
            <a:off x="640080" y="1920240"/>
            <a:ext cx="10058400" cy="182880"/>
          </a:xfrm>
          <a:prstGeom prst="rect">
            <a:avLst/>
          </a:prstGeom>
          <a:noFill/>
        </p:spPr>
        <p:txBody>
          <a:bodyPr wrap="square" lIns="36000" rIns="36000" tIns="18000" bIns="18000" anchor="t">
            <a:spAutoFit/>
          </a:bodyPr>
          <a:lstStyle/>
          <a:p>
            <a:pPr algn="l"/>
            <a:r>
              <a:rPr sz="900" b="0" i="1">
                <a:solidFill>
                  <a:srgbClr val="6B778C"/>
                </a:solidFill>
                <a:latin typeface="Arial"/>
              </a:rPr>
              <a:t>Run by domain product team or vendor · validates problem before our intake form</a:t>
            </a:r>
          </a:p>
        </p:txBody>
      </p:sp>
      <p:sp>
        <p:nvSpPr>
          <p:cNvPr id="14" name="Rounded Rectangle 13"/>
          <p:cNvSpPr/>
          <p:nvPr/>
        </p:nvSpPr>
        <p:spPr>
          <a:xfrm>
            <a:off x="64008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0  ·  PROBLEM SHAPING</a:t>
            </a:r>
          </a:p>
        </p:txBody>
      </p:sp>
      <p:sp>
        <p:nvSpPr>
          <p:cNvPr id="16" name="TextBox 15"/>
          <p:cNvSpPr txBox="1"/>
          <p:nvPr/>
        </p:nvSpPr>
        <p:spPr>
          <a:xfrm>
            <a:off x="77724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Problem statement · users / personas · value hypothesis · risk hypothesis  ·  produced by domain / vendor</a:t>
            </a:r>
          </a:p>
        </p:txBody>
      </p:sp>
      <p:sp>
        <p:nvSpPr>
          <p:cNvPr id="17" name="TextBox 16"/>
          <p:cNvSpPr txBox="1"/>
          <p:nvPr/>
        </p:nvSpPr>
        <p:spPr>
          <a:xfrm>
            <a:off x="6048756" y="2468880"/>
            <a:ext cx="201168" cy="457200"/>
          </a:xfrm>
          <a:prstGeom prst="rect">
            <a:avLst/>
          </a:prstGeom>
          <a:noFill/>
        </p:spPr>
        <p:txBody>
          <a:bodyPr wrap="square" lIns="36000" rIns="36000" tIns="18000" bIns="18000" anchor="ctr">
            <a:spAutoFit/>
          </a:bodyPr>
          <a:lstStyle/>
          <a:p>
            <a:pPr algn="ctr"/>
            <a:r>
              <a:rPr sz="1800" b="1" i="0">
                <a:solidFill>
                  <a:srgbClr val="6B778C"/>
                </a:solidFill>
                <a:latin typeface="Arial"/>
              </a:rPr>
              <a:t>→</a:t>
            </a:r>
          </a:p>
        </p:txBody>
      </p:sp>
      <p:sp>
        <p:nvSpPr>
          <p:cNvPr id="18" name="Rounded Rectangle 17"/>
          <p:cNvSpPr/>
          <p:nvPr/>
        </p:nvSpPr>
        <p:spPr>
          <a:xfrm>
            <a:off x="628650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6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1  ·  MATERIALIZATION</a:t>
            </a:r>
          </a:p>
        </p:txBody>
      </p:sp>
      <p:sp>
        <p:nvSpPr>
          <p:cNvPr id="20" name="TextBox 19"/>
          <p:cNvSpPr txBox="1"/>
          <p:nvPr/>
        </p:nvSpPr>
        <p:spPr>
          <a:xfrm>
            <a:off x="642366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Solution shape · vendor model · roadmap · NFRs draft · budget  ·  ready to hand off</a:t>
            </a:r>
          </a:p>
        </p:txBody>
      </p:sp>
      <p:sp>
        <p:nvSpPr>
          <p:cNvPr id="21" name="Rounded Rectangle 20"/>
          <p:cNvSpPr/>
          <p:nvPr/>
        </p:nvSpPr>
        <p:spPr>
          <a:xfrm>
            <a:off x="3931920" y="3291840"/>
            <a:ext cx="4297680" cy="457200"/>
          </a:xfrm>
          <a:prstGeom prst="roundRect">
            <a:avLst>
              <a:gd name="adj" fmla="val 2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3291840"/>
            <a:ext cx="4297680" cy="457200"/>
          </a:xfrm>
          <a:prstGeom prst="rect">
            <a:avLst/>
          </a:prstGeom>
          <a:noFill/>
        </p:spPr>
        <p:txBody>
          <a:bodyPr wrap="square" lIns="36000" rIns="36000" tIns="18000" bIns="18000" anchor="ctr">
            <a:spAutoFit/>
          </a:bodyPr>
          <a:lstStyle/>
          <a:p>
            <a:pPr algn="ctr"/>
            <a:r>
              <a:rPr sz="1100" b="1" i="0">
                <a:solidFill>
                  <a:srgbClr val="FFFFFF"/>
                </a:solidFill>
                <a:latin typeface="Arial"/>
              </a:rPr>
              <a:t>DoR  ·  the bridge between worlds</a:t>
            </a:r>
          </a:p>
        </p:txBody>
      </p:sp>
      <p:sp>
        <p:nvSpPr>
          <p:cNvPr id="23" name="TextBox 22"/>
          <p:cNvSpPr txBox="1"/>
          <p:nvPr/>
        </p:nvSpPr>
        <p:spPr>
          <a:xfrm>
            <a:off x="5943600" y="2999232"/>
            <a:ext cx="274320" cy="274320"/>
          </a:xfrm>
          <a:prstGeom prst="rect">
            <a:avLst/>
          </a:prstGeom>
          <a:noFill/>
        </p:spPr>
        <p:txBody>
          <a:bodyPr wrap="square" lIns="36000" rIns="36000" tIns="18000" bIns="18000" anchor="ctr">
            <a:spAutoFit/>
          </a:bodyPr>
          <a:lstStyle/>
          <a:p>
            <a:pPr algn="ctr"/>
            <a:r>
              <a:rPr sz="1800" b="1" i="0">
                <a:solidFill>
                  <a:srgbClr val="006B3F"/>
                </a:solidFill>
                <a:latin typeface="Arial"/>
              </a:rPr>
              <a:t>↓</a:t>
            </a:r>
          </a:p>
        </p:txBody>
      </p:sp>
      <p:sp>
        <p:nvSpPr>
          <p:cNvPr id="24" name="Rounded Rectangle 23"/>
          <p:cNvSpPr/>
          <p:nvPr/>
        </p:nvSpPr>
        <p:spPr>
          <a:xfrm>
            <a:off x="365760" y="3840480"/>
            <a:ext cx="11475720" cy="1691640"/>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840480"/>
            <a:ext cx="182880" cy="1691640"/>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950208"/>
            <a:ext cx="4572000" cy="274320"/>
          </a:xfrm>
          <a:prstGeom prst="rect">
            <a:avLst/>
          </a:prstGeom>
          <a:noFill/>
        </p:spPr>
        <p:txBody>
          <a:bodyPr wrap="square" lIns="36000" rIns="36000" tIns="18000" bIns="18000" anchor="t">
            <a:spAutoFit/>
          </a:bodyPr>
          <a:lstStyle/>
          <a:p>
            <a:pPr algn="l"/>
            <a:r>
              <a:rPr sz="1400" b="1" i="0">
                <a:solidFill>
                  <a:srgbClr val="F08629"/>
                </a:solidFill>
                <a:latin typeface="Arial"/>
              </a:rPr>
              <a:t>DELIVERY  ·  Digital Products squads</a:t>
            </a:r>
          </a:p>
        </p:txBody>
      </p:sp>
      <p:sp>
        <p:nvSpPr>
          <p:cNvPr id="27" name="Rounded Rectangle 26"/>
          <p:cNvSpPr/>
          <p:nvPr/>
        </p:nvSpPr>
        <p:spPr>
          <a:xfrm>
            <a:off x="4937760" y="4005072"/>
            <a:ext cx="1463040" cy="219456"/>
          </a:xfrm>
          <a:prstGeom prst="roundRect">
            <a:avLst>
              <a:gd name="adj" fmla="val 30000"/>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0" y="4005072"/>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OUR ZONE — ALMOST ALWAYS</a:t>
            </a:r>
          </a:p>
        </p:txBody>
      </p:sp>
      <p:sp>
        <p:nvSpPr>
          <p:cNvPr id="29" name="TextBox 28"/>
          <p:cNvSpPr txBox="1"/>
          <p:nvPr/>
        </p:nvSpPr>
        <p:spPr>
          <a:xfrm>
            <a:off x="640080" y="4251960"/>
            <a:ext cx="10058400" cy="182880"/>
          </a:xfrm>
          <a:prstGeom prst="rect">
            <a:avLst/>
          </a:prstGeom>
          <a:noFill/>
        </p:spPr>
        <p:txBody>
          <a:bodyPr wrap="square" lIns="36000" rIns="36000" tIns="18000" bIns="18000" anchor="t">
            <a:spAutoFit/>
          </a:bodyPr>
          <a:lstStyle/>
          <a:p>
            <a:pPr algn="l"/>
            <a:r>
              <a:rPr sz="900" b="0" i="1">
                <a:solidFill>
                  <a:srgbClr val="F08629"/>
                </a:solidFill>
                <a:latin typeface="Arial"/>
              </a:rPr>
              <a:t>Phases 2–4 · we own pull · iteration · UAT · release · hypercare</a:t>
            </a:r>
          </a:p>
        </p:txBody>
      </p:sp>
      <p:sp>
        <p:nvSpPr>
          <p:cNvPr id="30" name="Rounded Rectangle 29"/>
          <p:cNvSpPr/>
          <p:nvPr/>
        </p:nvSpPr>
        <p:spPr>
          <a:xfrm>
            <a:off x="64008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2  ·  BUILD</a:t>
            </a:r>
          </a:p>
        </p:txBody>
      </p:sp>
      <p:sp>
        <p:nvSpPr>
          <p:cNvPr id="32" name="TextBox 31"/>
          <p:cNvSpPr txBox="1"/>
          <p:nvPr/>
        </p:nvSpPr>
        <p:spPr>
          <a:xfrm>
            <a:off x="77724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squad pulls Stories · iterations · DoD per Story</a:t>
            </a:r>
          </a:p>
        </p:txBody>
      </p:sp>
      <p:sp>
        <p:nvSpPr>
          <p:cNvPr id="33" name="TextBox 32"/>
          <p:cNvSpPr txBox="1"/>
          <p:nvPr/>
        </p:nvSpPr>
        <p:spPr>
          <a:xfrm>
            <a:off x="417576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4" name="Rounded Rectangle 33"/>
          <p:cNvSpPr/>
          <p:nvPr/>
        </p:nvSpPr>
        <p:spPr>
          <a:xfrm>
            <a:off x="440436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4152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3  ·  TEST + UAT</a:t>
            </a:r>
          </a:p>
        </p:txBody>
      </p:sp>
      <p:sp>
        <p:nvSpPr>
          <p:cNvPr id="36" name="TextBox 35"/>
          <p:cNvSpPr txBox="1"/>
          <p:nvPr/>
        </p:nvSpPr>
        <p:spPr>
          <a:xfrm>
            <a:off x="454152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internal QA + Sponsor UAT · acceptance criteria validated</a:t>
            </a:r>
          </a:p>
        </p:txBody>
      </p:sp>
      <p:sp>
        <p:nvSpPr>
          <p:cNvPr id="37" name="TextBox 36"/>
          <p:cNvSpPr txBox="1"/>
          <p:nvPr/>
        </p:nvSpPr>
        <p:spPr>
          <a:xfrm>
            <a:off x="794004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8" name="Rounded Rectangle 37"/>
          <p:cNvSpPr/>
          <p:nvPr/>
        </p:nvSpPr>
        <p:spPr>
          <a:xfrm>
            <a:off x="816864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0580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4  ·  RELEASE</a:t>
            </a:r>
          </a:p>
        </p:txBody>
      </p:sp>
      <p:sp>
        <p:nvSpPr>
          <p:cNvPr id="40" name="TextBox 39"/>
          <p:cNvSpPr txBox="1"/>
          <p:nvPr/>
        </p:nvSpPr>
        <p:spPr>
          <a:xfrm>
            <a:off x="830580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hypercare · feedback loop · Measure &amp; Learn</a:t>
            </a:r>
          </a:p>
        </p:txBody>
      </p:sp>
      <p:sp>
        <p:nvSpPr>
          <p:cNvPr id="41" name="Rounded Rectangle 40"/>
          <p:cNvSpPr/>
          <p:nvPr/>
        </p:nvSpPr>
        <p:spPr>
          <a:xfrm>
            <a:off x="365760" y="5623560"/>
            <a:ext cx="56464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5760" y="562356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5678424"/>
            <a:ext cx="5372100" cy="201168"/>
          </a:xfrm>
          <a:prstGeom prst="rect">
            <a:avLst/>
          </a:prstGeom>
          <a:noFill/>
        </p:spPr>
        <p:txBody>
          <a:bodyPr wrap="square" lIns="36000" rIns="36000" tIns="18000" bIns="18000" anchor="t">
            <a:spAutoFit/>
          </a:bodyPr>
          <a:lstStyle/>
          <a:p>
            <a:pPr algn="l"/>
            <a:r>
              <a:rPr sz="1000" b="1" i="0">
                <a:solidFill>
                  <a:srgbClr val="006B3F"/>
                </a:solidFill>
                <a:latin typeface="Arial"/>
              </a:rPr>
              <a:t>CS  ·  vendor-led Discovery (SaaS-heavy)</a:t>
            </a:r>
          </a:p>
        </p:txBody>
      </p:sp>
      <p:sp>
        <p:nvSpPr>
          <p:cNvPr id="44" name="TextBox 43"/>
          <p:cNvSpPr txBox="1"/>
          <p:nvPr/>
        </p:nvSpPr>
        <p:spPr>
          <a:xfrm>
            <a:off x="5029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Genesys · CIS · Smart Meter platforms — vendor runs Discovery · Heather oversees vendor relationships</a:t>
            </a:r>
          </a:p>
        </p:txBody>
      </p:sp>
      <p:sp>
        <p:nvSpPr>
          <p:cNvPr id="45" name="Rounded Rectangle 44"/>
          <p:cNvSpPr/>
          <p:nvPr/>
        </p:nvSpPr>
        <p:spPr>
          <a:xfrm>
            <a:off x="6195060" y="5623560"/>
            <a:ext cx="5646420" cy="77724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95060" y="5623560"/>
            <a:ext cx="91440"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32220" y="5678424"/>
            <a:ext cx="5372100" cy="201168"/>
          </a:xfrm>
          <a:prstGeom prst="rect">
            <a:avLst/>
          </a:prstGeom>
          <a:noFill/>
        </p:spPr>
        <p:txBody>
          <a:bodyPr wrap="square" lIns="36000" rIns="36000" tIns="18000" bIns="18000" anchor="t">
            <a:spAutoFit/>
          </a:bodyPr>
          <a:lstStyle/>
          <a:p>
            <a:pPr algn="l"/>
            <a:r>
              <a:rPr sz="1000" b="1" i="0">
                <a:solidFill>
                  <a:srgbClr val="2C578B"/>
                </a:solidFill>
                <a:latin typeface="Arial"/>
              </a:rPr>
              <a:t>ITBA  ·  domain-led Discovery (SAP-heavy)</a:t>
            </a:r>
          </a:p>
        </p:txBody>
      </p:sp>
      <p:sp>
        <p:nvSpPr>
          <p:cNvPr id="48" name="TextBox 47"/>
          <p:cNvSpPr txBox="1"/>
          <p:nvPr/>
        </p:nvSpPr>
        <p:spPr>
          <a:xfrm>
            <a:off x="63322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SAP CoE · vendor portals · custom builds (Networks IT) — domain teams run Discovery · Architect leads NFR alignment</a:t>
            </a:r>
          </a:p>
        </p:txBody>
      </p:sp>
      <p:sp>
        <p:nvSpPr>
          <p:cNvPr id="49" name="TextBox 4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26 / 29</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SIZES + TRACKS</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EXISTING-INITIATIVE SHORTCUT: PARENT AND NEW ASK MUST BE IN THE SAME AREA (CS OR ITBA) · BYPASS GATE 2 ONLY WHEN PARENT IMPLEMENTING · SQUAD PM ACCEPTS IN 48H</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ounded Rectangle 7"/>
          <p:cNvSpPr/>
          <p:nvPr/>
        </p:nvSpPr>
        <p:spPr>
          <a:xfrm>
            <a:off x="4937760" y="1188720"/>
            <a:ext cx="2331720" cy="73152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WHAT IS THE PARENT</a:t>
            </a:r>
          </a:p>
        </p:txBody>
      </p:sp>
      <p:sp>
        <p:nvSpPr>
          <p:cNvPr id="10" name="TextBox 9"/>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INITIATIVE STATUS?</a:t>
            </a:r>
          </a:p>
        </p:txBody>
      </p:sp>
      <p:cxnSp>
        <p:nvCxnSpPr>
          <p:cNvPr id="11" name="Connector 10"/>
          <p:cNvCxnSpPr/>
          <p:nvPr/>
        </p:nvCxnSpPr>
        <p:spPr>
          <a:xfrm flipH="1">
            <a:off x="1440180" y="1920240"/>
            <a:ext cx="466344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576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FUNNEL</a:t>
            </a:r>
          </a:p>
        </p:txBody>
      </p:sp>
      <p:sp>
        <p:nvSpPr>
          <p:cNvPr id="14" name="Rounded Rectangle 13"/>
          <p:cNvSpPr/>
          <p:nvPr/>
        </p:nvSpPr>
        <p:spPr>
          <a:xfrm>
            <a:off x="36576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16" name="Connector 15"/>
          <p:cNvCxnSpPr/>
          <p:nvPr/>
        </p:nvCxnSpPr>
        <p:spPr>
          <a:xfrm flipH="1">
            <a:off x="3771900" y="1920240"/>
            <a:ext cx="233172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69748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748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REVIEWING</a:t>
            </a:r>
          </a:p>
        </p:txBody>
      </p:sp>
      <p:sp>
        <p:nvSpPr>
          <p:cNvPr id="19" name="Rounded Rectangle 18"/>
          <p:cNvSpPr/>
          <p:nvPr/>
        </p:nvSpPr>
        <p:spPr>
          <a:xfrm>
            <a:off x="269748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748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21" name="Connector 20"/>
          <p:cNvCxnSpPr/>
          <p:nvPr/>
        </p:nvCxnSpPr>
        <p:spPr>
          <a:xfrm>
            <a:off x="6103620" y="1920240"/>
            <a:ext cx="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2920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ANALYZING</a:t>
            </a:r>
          </a:p>
        </p:txBody>
      </p:sp>
      <p:sp>
        <p:nvSpPr>
          <p:cNvPr id="24" name="Rounded Rectangle 23"/>
          <p:cNvSpPr/>
          <p:nvPr/>
        </p:nvSpPr>
        <p:spPr>
          <a:xfrm>
            <a:off x="502920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26" name="Connector 25"/>
          <p:cNvCxnSpPr/>
          <p:nvPr/>
        </p:nvCxnSpPr>
        <p:spPr>
          <a:xfrm>
            <a:off x="6103620" y="1920240"/>
            <a:ext cx="2331720" cy="36576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60920" y="2286000"/>
            <a:ext cx="21488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6092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BACKLOG</a:t>
            </a:r>
          </a:p>
        </p:txBody>
      </p:sp>
      <p:sp>
        <p:nvSpPr>
          <p:cNvPr id="29" name="Rounded Rectangle 28"/>
          <p:cNvSpPr/>
          <p:nvPr/>
        </p:nvSpPr>
        <p:spPr>
          <a:xfrm>
            <a:off x="736092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0920" y="2880360"/>
            <a:ext cx="2148840" cy="365760"/>
          </a:xfrm>
          <a:prstGeom prst="rect">
            <a:avLst/>
          </a:prstGeom>
          <a:noFill/>
        </p:spPr>
        <p:txBody>
          <a:bodyPr wrap="square" lIns="36000" rIns="36000" tIns="18000" bIns="18000" anchor="ctr">
            <a:spAutoFit/>
          </a:bodyPr>
          <a:lstStyle/>
          <a:p>
            <a:pPr algn="ctr"/>
            <a:r>
              <a:rPr sz="800" b="1" i="0">
                <a:solidFill>
                  <a:srgbClr val="E98B2F"/>
                </a:solidFill>
                <a:latin typeface="Arial"/>
              </a:rPr>
              <a:t>ACCEPT (cautious)</a:t>
            </a:r>
          </a:p>
        </p:txBody>
      </p:sp>
      <p:cxnSp>
        <p:nvCxnSpPr>
          <p:cNvPr id="31" name="Connector 30"/>
          <p:cNvCxnSpPr/>
          <p:nvPr/>
        </p:nvCxnSpPr>
        <p:spPr>
          <a:xfrm>
            <a:off x="6103620" y="1920240"/>
            <a:ext cx="4663440" cy="365760"/>
          </a:xfrm>
          <a:prstGeom prst="line">
            <a:avLst/>
          </a:prstGeom>
          <a:ln w="19050">
            <a:solidFill>
              <a:srgbClr val="008C38"/>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692640" y="2286000"/>
            <a:ext cx="2148840"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264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IMPLEMENTING</a:t>
            </a:r>
          </a:p>
        </p:txBody>
      </p:sp>
      <p:sp>
        <p:nvSpPr>
          <p:cNvPr id="34" name="Rounded Rectangle 33"/>
          <p:cNvSpPr/>
          <p:nvPr/>
        </p:nvSpPr>
        <p:spPr>
          <a:xfrm>
            <a:off x="969264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0" y="2880360"/>
            <a:ext cx="2148840" cy="365760"/>
          </a:xfrm>
          <a:prstGeom prst="rect">
            <a:avLst/>
          </a:prstGeom>
          <a:noFill/>
        </p:spPr>
        <p:txBody>
          <a:bodyPr wrap="square" lIns="36000" rIns="36000" tIns="18000" bIns="18000" anchor="ctr">
            <a:spAutoFit/>
          </a:bodyPr>
          <a:lstStyle/>
          <a:p>
            <a:pPr algn="ctr"/>
            <a:r>
              <a:rPr sz="800" b="1" i="0">
                <a:solidFill>
                  <a:srgbClr val="008C38"/>
                </a:solidFill>
                <a:latin typeface="Arial"/>
              </a:rPr>
              <a:t>ACCEPT (preferred)</a:t>
            </a:r>
          </a:p>
        </p:txBody>
      </p:sp>
      <p:sp>
        <p:nvSpPr>
          <p:cNvPr id="36" name="Rounded Rectangle 35"/>
          <p:cNvSpPr/>
          <p:nvPr/>
        </p:nvSpPr>
        <p:spPr>
          <a:xfrm>
            <a:off x="36576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44018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5720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39" name="TextBox 38"/>
          <p:cNvSpPr txBox="1"/>
          <p:nvPr/>
        </p:nvSpPr>
        <p:spPr>
          <a:xfrm>
            <a:off x="45720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40" name="TextBox 39"/>
          <p:cNvSpPr txBox="1"/>
          <p:nvPr/>
        </p:nvSpPr>
        <p:spPr>
          <a:xfrm>
            <a:off x="45720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41" name="TextBox 40"/>
          <p:cNvSpPr txBox="1"/>
          <p:nvPr/>
        </p:nvSpPr>
        <p:spPr>
          <a:xfrm>
            <a:off x="45720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normal flow</a:t>
            </a:r>
          </a:p>
        </p:txBody>
      </p:sp>
      <p:sp>
        <p:nvSpPr>
          <p:cNvPr id="42" name="TextBox 41"/>
          <p:cNvSpPr txBox="1"/>
          <p:nvPr/>
        </p:nvSpPr>
        <p:spPr>
          <a:xfrm>
            <a:off x="45720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43" name="TextBox 42"/>
          <p:cNvSpPr txBox="1"/>
          <p:nvPr/>
        </p:nvSpPr>
        <p:spPr>
          <a:xfrm>
            <a:off x="45720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44" name="TextBox 43"/>
          <p:cNvSpPr txBox="1"/>
          <p:nvPr/>
        </p:nvSpPr>
        <p:spPr>
          <a:xfrm>
            <a:off x="45720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45" name="TextBox 44"/>
          <p:cNvSpPr txBox="1"/>
          <p:nvPr/>
        </p:nvSpPr>
        <p:spPr>
          <a:xfrm>
            <a:off x="45720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46" name="Rounded Rectangle 45"/>
          <p:cNvSpPr/>
          <p:nvPr/>
        </p:nvSpPr>
        <p:spPr>
          <a:xfrm>
            <a:off x="269748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377190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78892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49" name="TextBox 48"/>
          <p:cNvSpPr txBox="1"/>
          <p:nvPr/>
        </p:nvSpPr>
        <p:spPr>
          <a:xfrm>
            <a:off x="278892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50" name="TextBox 49"/>
          <p:cNvSpPr txBox="1"/>
          <p:nvPr/>
        </p:nvSpPr>
        <p:spPr>
          <a:xfrm>
            <a:off x="278892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51" name="TextBox 50"/>
          <p:cNvSpPr txBox="1"/>
          <p:nvPr/>
        </p:nvSpPr>
        <p:spPr>
          <a:xfrm>
            <a:off x="278892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attach reference</a:t>
            </a:r>
          </a:p>
        </p:txBody>
      </p:sp>
      <p:sp>
        <p:nvSpPr>
          <p:cNvPr id="52" name="TextBox 51"/>
          <p:cNvSpPr txBox="1"/>
          <p:nvPr/>
        </p:nvSpPr>
        <p:spPr>
          <a:xfrm>
            <a:off x="278892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53" name="TextBox 52"/>
          <p:cNvSpPr txBox="1"/>
          <p:nvPr/>
        </p:nvSpPr>
        <p:spPr>
          <a:xfrm>
            <a:off x="278892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54" name="TextBox 53"/>
          <p:cNvSpPr txBox="1"/>
          <p:nvPr/>
        </p:nvSpPr>
        <p:spPr>
          <a:xfrm>
            <a:off x="278892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55" name="TextBox 54"/>
          <p:cNvSpPr txBox="1"/>
          <p:nvPr/>
        </p:nvSpPr>
        <p:spPr>
          <a:xfrm>
            <a:off x="278892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56" name="Rounded Rectangle 55"/>
          <p:cNvSpPr/>
          <p:nvPr/>
        </p:nvSpPr>
        <p:spPr>
          <a:xfrm>
            <a:off x="502920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10362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2064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59" name="TextBox 58"/>
          <p:cNvSpPr txBox="1"/>
          <p:nvPr/>
        </p:nvSpPr>
        <p:spPr>
          <a:xfrm>
            <a:off x="512064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 Architect</a:t>
            </a:r>
          </a:p>
        </p:txBody>
      </p:sp>
      <p:sp>
        <p:nvSpPr>
          <p:cNvPr id="60" name="TextBox 59"/>
          <p:cNvSpPr txBox="1"/>
          <p:nvPr/>
        </p:nvSpPr>
        <p:spPr>
          <a:xfrm>
            <a:off x="512064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61" name="TextBox 60"/>
          <p:cNvSpPr txBox="1"/>
          <p:nvPr/>
        </p:nvSpPr>
        <p:spPr>
          <a:xfrm>
            <a:off x="512064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standalone · let</a:t>
            </a:r>
          </a:p>
          <a:p>
            <a:pPr algn="l"/>
            <a:r>
              <a:rPr sz="800" b="0" i="0">
                <a:solidFill>
                  <a:srgbClr val="2C3E50"/>
                </a:solidFill>
                <a:latin typeface="Arial"/>
              </a:rPr>
              <a:t>Pain Score compete</a:t>
            </a:r>
          </a:p>
        </p:txBody>
      </p:sp>
      <p:sp>
        <p:nvSpPr>
          <p:cNvPr id="62" name="TextBox 61"/>
          <p:cNvSpPr txBox="1"/>
          <p:nvPr/>
        </p:nvSpPr>
        <p:spPr>
          <a:xfrm>
            <a:off x="512064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63" name="TextBox 62"/>
          <p:cNvSpPr txBox="1"/>
          <p:nvPr/>
        </p:nvSpPr>
        <p:spPr>
          <a:xfrm>
            <a:off x="512064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64" name="TextBox 63"/>
          <p:cNvSpPr txBox="1"/>
          <p:nvPr/>
        </p:nvSpPr>
        <p:spPr>
          <a:xfrm>
            <a:off x="512064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65" name="TextBox 64"/>
          <p:cNvSpPr txBox="1"/>
          <p:nvPr/>
        </p:nvSpPr>
        <p:spPr>
          <a:xfrm>
            <a:off x="512064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Gate 2</a:t>
            </a:r>
          </a:p>
        </p:txBody>
      </p:sp>
      <p:sp>
        <p:nvSpPr>
          <p:cNvPr id="66" name="Rounded Rectangle 65"/>
          <p:cNvSpPr/>
          <p:nvPr/>
        </p:nvSpPr>
        <p:spPr>
          <a:xfrm>
            <a:off x="736092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8435340" y="3246120"/>
            <a:ext cx="0" cy="274320"/>
          </a:xfrm>
          <a:prstGeom prst="line">
            <a:avLst/>
          </a:prstGeom>
          <a:ln w="12700">
            <a:solidFill>
              <a:srgbClr val="E98B2F"/>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45236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69" name="TextBox 68"/>
          <p:cNvSpPr txBox="1"/>
          <p:nvPr/>
        </p:nvSpPr>
        <p:spPr>
          <a:xfrm>
            <a:off x="7452360" y="3739896"/>
            <a:ext cx="1965960" cy="201168"/>
          </a:xfrm>
          <a:prstGeom prst="rect">
            <a:avLst/>
          </a:prstGeom>
          <a:noFill/>
        </p:spPr>
        <p:txBody>
          <a:bodyPr wrap="square" lIns="36000" rIns="36000" tIns="18000" bIns="18000" anchor="t">
            <a:spAutoFit/>
          </a:bodyPr>
          <a:lstStyle/>
          <a:p>
            <a:pPr algn="l"/>
            <a:r>
              <a:rPr sz="900" b="1" i="0">
                <a:solidFill>
                  <a:srgbClr val="E98B2F"/>
                </a:solidFill>
                <a:latin typeface="Arial"/>
              </a:rPr>
              <a:t>PM (Squad)</a:t>
            </a:r>
          </a:p>
        </p:txBody>
      </p:sp>
      <p:sp>
        <p:nvSpPr>
          <p:cNvPr id="70" name="TextBox 69"/>
          <p:cNvSpPr txBox="1"/>
          <p:nvPr/>
        </p:nvSpPr>
        <p:spPr>
          <a:xfrm>
            <a:off x="745236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71" name="TextBox 70"/>
          <p:cNvSpPr txBox="1"/>
          <p:nvPr/>
        </p:nvSpPr>
        <p:spPr>
          <a:xfrm>
            <a:off x="745236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re-baseline scope</a:t>
            </a:r>
          </a:p>
        </p:txBody>
      </p:sp>
      <p:sp>
        <p:nvSpPr>
          <p:cNvPr id="72" name="TextBox 71"/>
          <p:cNvSpPr txBox="1"/>
          <p:nvPr/>
        </p:nvSpPr>
        <p:spPr>
          <a:xfrm>
            <a:off x="745236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73" name="TextBox 72"/>
          <p:cNvSpPr txBox="1"/>
          <p:nvPr/>
        </p:nvSpPr>
        <p:spPr>
          <a:xfrm>
            <a:off x="745236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74" name="TextBox 73"/>
          <p:cNvSpPr txBox="1"/>
          <p:nvPr/>
        </p:nvSpPr>
        <p:spPr>
          <a:xfrm>
            <a:off x="745236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75" name="TextBox 74"/>
          <p:cNvSpPr txBox="1"/>
          <p:nvPr/>
        </p:nvSpPr>
        <p:spPr>
          <a:xfrm>
            <a:off x="745236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76" name="Rounded Rectangle 75"/>
          <p:cNvSpPr/>
          <p:nvPr/>
        </p:nvSpPr>
        <p:spPr>
          <a:xfrm>
            <a:off x="969264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10767060" y="3246120"/>
            <a:ext cx="0" cy="274320"/>
          </a:xfrm>
          <a:prstGeom prst="line">
            <a:avLst/>
          </a:prstGeom>
          <a:ln w="12700">
            <a:solidFill>
              <a:srgbClr val="008C38"/>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978408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79" name="TextBox 78"/>
          <p:cNvSpPr txBox="1"/>
          <p:nvPr/>
        </p:nvSpPr>
        <p:spPr>
          <a:xfrm>
            <a:off x="9784080" y="3739896"/>
            <a:ext cx="1965960" cy="201168"/>
          </a:xfrm>
          <a:prstGeom prst="rect">
            <a:avLst/>
          </a:prstGeom>
          <a:noFill/>
        </p:spPr>
        <p:txBody>
          <a:bodyPr wrap="square" lIns="36000" rIns="36000" tIns="18000" bIns="18000" anchor="t">
            <a:spAutoFit/>
          </a:bodyPr>
          <a:lstStyle/>
          <a:p>
            <a:pPr algn="l"/>
            <a:r>
              <a:rPr sz="900" b="1" i="0">
                <a:solidFill>
                  <a:srgbClr val="008C38"/>
                </a:solidFill>
                <a:latin typeface="Arial"/>
              </a:rPr>
              <a:t>PM (Squad)</a:t>
            </a:r>
          </a:p>
        </p:txBody>
      </p:sp>
      <p:sp>
        <p:nvSpPr>
          <p:cNvPr id="80" name="TextBox 79"/>
          <p:cNvSpPr txBox="1"/>
          <p:nvPr/>
        </p:nvSpPr>
        <p:spPr>
          <a:xfrm>
            <a:off x="978408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81" name="TextBox 80"/>
          <p:cNvSpPr txBox="1"/>
          <p:nvPr/>
        </p:nvSpPr>
        <p:spPr>
          <a:xfrm>
            <a:off x="978408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DoR fast-track</a:t>
            </a:r>
          </a:p>
        </p:txBody>
      </p:sp>
      <p:sp>
        <p:nvSpPr>
          <p:cNvPr id="82" name="TextBox 81"/>
          <p:cNvSpPr txBox="1"/>
          <p:nvPr/>
        </p:nvSpPr>
        <p:spPr>
          <a:xfrm>
            <a:off x="978408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83" name="TextBox 82"/>
          <p:cNvSpPr txBox="1"/>
          <p:nvPr/>
        </p:nvSpPr>
        <p:spPr>
          <a:xfrm>
            <a:off x="978408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84" name="TextBox 83"/>
          <p:cNvSpPr txBox="1"/>
          <p:nvPr/>
        </p:nvSpPr>
        <p:spPr>
          <a:xfrm>
            <a:off x="978408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85" name="TextBox 84"/>
          <p:cNvSpPr txBox="1"/>
          <p:nvPr/>
        </p:nvSpPr>
        <p:spPr>
          <a:xfrm>
            <a:off x="978408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86" name="Rounded Rectangle 85"/>
          <p:cNvSpPr/>
          <p:nvPr/>
        </p:nvSpPr>
        <p:spPr>
          <a:xfrm>
            <a:off x="365760" y="5989320"/>
            <a:ext cx="11475720" cy="36576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65760" y="5989320"/>
            <a:ext cx="91440" cy="3657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8640" y="6044183"/>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89" name="TextBox 88"/>
          <p:cNvSpPr txBox="1"/>
          <p:nvPr/>
        </p:nvSpPr>
        <p:spPr>
          <a:xfrm>
            <a:off x="548640" y="620877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Rule of thumb · only Implementing parent gives the shortcut its full value (DoR fast-track).</a:t>
            </a:r>
          </a:p>
        </p:txBody>
      </p:sp>
      <p:sp>
        <p:nvSpPr>
          <p:cNvPr id="90" name="TextBox 89"/>
          <p:cNvSpPr txBox="1"/>
          <p:nvPr/>
        </p:nvSpPr>
        <p:spPr>
          <a:xfrm>
            <a:off x="548640" y="6492240"/>
            <a:ext cx="11201400" cy="-182879"/>
          </a:xfrm>
          <a:prstGeom prst="rect">
            <a:avLst/>
          </a:prstGeom>
          <a:noFill/>
        </p:spPr>
        <p:txBody>
          <a:bodyPr wrap="square" lIns="36000" rIns="36000" tIns="18000" bIns="18000" anchor="t">
            <a:spAutoFit/>
          </a:bodyPr>
          <a:lstStyle/>
          <a:p>
            <a:pPr algn="l"/>
            <a:r>
              <a:rPr sz="800" b="0" i="0">
                <a:solidFill>
                  <a:srgbClr val="526077"/>
                </a:solidFill>
                <a:latin typeface="Arial"/>
              </a:rPr>
              <a:t/>
            </a:r>
          </a:p>
        </p:txBody>
      </p:sp>
      <p:sp>
        <p:nvSpPr>
          <p:cNvPr id="91" name="TextBox 9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27 / 29</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CLOSURE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DAY 1 CHANGES PER ROLE: SIX ROLES CHANGE · ALL KEEP THEIR REPORTING LINE · BRS PAIRING GOES LIVE · 90-DAY RAMP</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ectangle 7"/>
          <p:cNvSpPr/>
          <p:nvPr/>
        </p:nvSpPr>
        <p:spPr>
          <a:xfrm>
            <a:off x="365760" y="1508760"/>
            <a:ext cx="21031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600200"/>
            <a:ext cx="2103120" cy="274320"/>
          </a:xfrm>
          <a:prstGeom prst="rect">
            <a:avLst/>
          </a:prstGeom>
          <a:noFill/>
        </p:spPr>
        <p:txBody>
          <a:bodyPr wrap="square" lIns="36000" rIns="36000" tIns="18000" bIns="18000" anchor="t">
            <a:spAutoFit/>
          </a:bodyPr>
          <a:lstStyle/>
          <a:p>
            <a:pPr algn="ctr"/>
            <a:r>
              <a:rPr sz="1000" b="1" i="0">
                <a:solidFill>
                  <a:srgbClr val="FFFFFF"/>
                </a:solidFill>
                <a:latin typeface="Arial"/>
              </a:rPr>
              <a:t>ROLE</a:t>
            </a:r>
          </a:p>
        </p:txBody>
      </p:sp>
      <p:sp>
        <p:nvSpPr>
          <p:cNvPr id="10" name="Rectangle 9"/>
          <p:cNvSpPr/>
          <p:nvPr/>
        </p:nvSpPr>
        <p:spPr>
          <a:xfrm>
            <a:off x="2468879" y="1508760"/>
            <a:ext cx="3087624"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79"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NEW</a:t>
            </a:r>
          </a:p>
        </p:txBody>
      </p:sp>
      <p:sp>
        <p:nvSpPr>
          <p:cNvPr id="12" name="Rectangle 11"/>
          <p:cNvSpPr/>
          <p:nvPr/>
        </p:nvSpPr>
        <p:spPr>
          <a:xfrm>
            <a:off x="5593080" y="1508760"/>
            <a:ext cx="3087624"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930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PRESERVED</a:t>
            </a:r>
          </a:p>
        </p:txBody>
      </p:sp>
      <p:sp>
        <p:nvSpPr>
          <p:cNvPr id="14" name="Rectangle 13"/>
          <p:cNvSpPr/>
          <p:nvPr/>
        </p:nvSpPr>
        <p:spPr>
          <a:xfrm>
            <a:off x="8717280" y="1508760"/>
            <a:ext cx="3087624"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172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90-DAY RAMP</a:t>
            </a:r>
          </a:p>
        </p:txBody>
      </p:sp>
      <p:sp>
        <p:nvSpPr>
          <p:cNvPr id="16" name="Rectangle 15"/>
          <p:cNvSpPr/>
          <p:nvPr/>
        </p:nvSpPr>
        <p:spPr>
          <a:xfrm>
            <a:off x="365760" y="196596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19659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0574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Heather LaJoie</a:t>
            </a:r>
          </a:p>
          <a:p>
            <a:pPr algn="l"/>
            <a:r>
              <a:rPr sz="850" b="1" i="0">
                <a:solidFill>
                  <a:srgbClr val="2C3E50"/>
                </a:solidFill>
                <a:latin typeface="Arial"/>
              </a:rPr>
              <a:t>Director · Product</a:t>
            </a:r>
          </a:p>
        </p:txBody>
      </p:sp>
      <p:sp>
        <p:nvSpPr>
          <p:cNvPr id="19" name="Rectangle 18"/>
          <p:cNvSpPr/>
          <p:nvPr/>
        </p:nvSpPr>
        <p:spPr>
          <a:xfrm>
            <a:off x="2468879"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Lead Product Management practice · mentor new PMs · BRS pairing · liaison Digital CoE BRP</a:t>
            </a:r>
          </a:p>
        </p:txBody>
      </p:sp>
      <p:sp>
        <p:nvSpPr>
          <p:cNvPr id="21" name="Rectangle 20"/>
          <p:cNvSpPr/>
          <p:nvPr/>
        </p:nvSpPr>
        <p:spPr>
          <a:xfrm>
            <a:off x="55930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84519"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CCC director duties · existing Sponsor relationships · compensation</a:t>
            </a:r>
          </a:p>
        </p:txBody>
      </p:sp>
      <p:sp>
        <p:nvSpPr>
          <p:cNvPr id="23" name="Rectangle 22"/>
          <p:cNvSpPr/>
          <p:nvPr/>
        </p:nvSpPr>
        <p:spPr>
          <a:xfrm>
            <a:off x="87172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087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PMs onboarded by W12 · first quarterly metrics review with Vitor</a:t>
            </a:r>
          </a:p>
        </p:txBody>
      </p:sp>
      <p:sp>
        <p:nvSpPr>
          <p:cNvPr id="25" name="Rectangle 24"/>
          <p:cNvSpPr/>
          <p:nvPr/>
        </p:nvSpPr>
        <p:spPr>
          <a:xfrm>
            <a:off x="365760" y="273558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273558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82702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Kumar Jaladanki</a:t>
            </a:r>
          </a:p>
          <a:p>
            <a:pPr algn="l"/>
            <a:r>
              <a:rPr sz="850" b="1" i="0">
                <a:solidFill>
                  <a:srgbClr val="2C3E50"/>
                </a:solidFill>
                <a:latin typeface="Arial"/>
              </a:rPr>
              <a:t>Director · CS Eng</a:t>
            </a:r>
          </a:p>
        </p:txBody>
      </p:sp>
      <p:sp>
        <p:nvSpPr>
          <p:cNvPr id="28" name="Rectangle 27"/>
          <p:cNvSpPr/>
          <p:nvPr/>
        </p:nvSpPr>
        <p:spPr>
          <a:xfrm>
            <a:off x="2468879"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603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30" name="Rectangle 29"/>
          <p:cNvSpPr/>
          <p:nvPr/>
        </p:nvSpPr>
        <p:spPr>
          <a:xfrm>
            <a:off x="55930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84519"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vendor relationships</a:t>
            </a:r>
          </a:p>
        </p:txBody>
      </p:sp>
      <p:sp>
        <p:nvSpPr>
          <p:cNvPr id="32" name="Rectangle 31"/>
          <p:cNvSpPr/>
          <p:nvPr/>
        </p:nvSpPr>
        <p:spPr>
          <a:xfrm>
            <a:off x="87172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087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4 PMs paired</a:t>
            </a:r>
          </a:p>
        </p:txBody>
      </p:sp>
      <p:sp>
        <p:nvSpPr>
          <p:cNvPr id="34" name="Rectangle 33"/>
          <p:cNvSpPr/>
          <p:nvPr/>
        </p:nvSpPr>
        <p:spPr>
          <a:xfrm>
            <a:off x="365760" y="350520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50520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359664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Carlos Garbin</a:t>
            </a:r>
          </a:p>
          <a:p>
            <a:pPr algn="l"/>
            <a:r>
              <a:rPr sz="850" b="1" i="0">
                <a:solidFill>
                  <a:srgbClr val="2C3E50"/>
                </a:solidFill>
                <a:latin typeface="Arial"/>
              </a:rPr>
              <a:t>Director · ITBA</a:t>
            </a:r>
          </a:p>
        </p:txBody>
      </p:sp>
      <p:sp>
        <p:nvSpPr>
          <p:cNvPr id="37" name="Rectangle 36"/>
          <p:cNvSpPr/>
          <p:nvPr/>
        </p:nvSpPr>
        <p:spPr>
          <a:xfrm>
            <a:off x="2468879"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603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39" name="Rectangle 38"/>
          <p:cNvSpPr/>
          <p:nvPr/>
        </p:nvSpPr>
        <p:spPr>
          <a:xfrm>
            <a:off x="55930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84519"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P&amp;T BRP relationship</a:t>
            </a:r>
          </a:p>
        </p:txBody>
      </p:sp>
      <p:sp>
        <p:nvSpPr>
          <p:cNvPr id="41" name="Rectangle 40"/>
          <p:cNvSpPr/>
          <p:nvPr/>
        </p:nvSpPr>
        <p:spPr>
          <a:xfrm>
            <a:off x="87172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087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5 PMs paired</a:t>
            </a:r>
          </a:p>
        </p:txBody>
      </p:sp>
      <p:sp>
        <p:nvSpPr>
          <p:cNvPr id="43" name="Rectangle 42"/>
          <p:cNvSpPr/>
          <p:nvPr/>
        </p:nvSpPr>
        <p:spPr>
          <a:xfrm>
            <a:off x="365760" y="427482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5760" y="427482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4366259"/>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Middle managers</a:t>
            </a:r>
          </a:p>
          <a:p>
            <a:pPr algn="l"/>
            <a:r>
              <a:rPr sz="850" b="1" i="0">
                <a:solidFill>
                  <a:srgbClr val="2C3E50"/>
                </a:solidFill>
                <a:latin typeface="Arial"/>
              </a:rPr>
              <a:t>Kumar's + Carlos's lieutenants</a:t>
            </a:r>
          </a:p>
        </p:txBody>
      </p:sp>
      <p:sp>
        <p:nvSpPr>
          <p:cNvPr id="46" name="Rectangle 45"/>
          <p:cNvSpPr/>
          <p:nvPr/>
        </p:nvSpPr>
        <p:spPr>
          <a:xfrm>
            <a:off x="2468879"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603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Hold day-to-day CoS lane reality · daily ops with PM · escalations to Director</a:t>
            </a:r>
          </a:p>
        </p:txBody>
      </p:sp>
      <p:sp>
        <p:nvSpPr>
          <p:cNvPr id="48" name="Rectangle 47"/>
          <p:cNvSpPr/>
          <p:nvPr/>
        </p:nvSpPr>
        <p:spPr>
          <a:xfrm>
            <a:off x="55930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84519"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Existing operational responsibilities · team structures · processes</a:t>
            </a:r>
          </a:p>
        </p:txBody>
      </p:sp>
      <p:sp>
        <p:nvSpPr>
          <p:cNvPr id="50" name="Rectangle 49"/>
          <p:cNvSpPr/>
          <p:nvPr/>
        </p:nvSpPr>
        <p:spPr>
          <a:xfrm>
            <a:off x="87172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8087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First Gate 2 capacity reality check · CoS adherence baseline set</a:t>
            </a:r>
          </a:p>
        </p:txBody>
      </p:sp>
      <p:sp>
        <p:nvSpPr>
          <p:cNvPr id="52" name="Rectangle 51"/>
          <p:cNvSpPr/>
          <p:nvPr/>
        </p:nvSpPr>
        <p:spPr>
          <a:xfrm>
            <a:off x="365760" y="504444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65760" y="504444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2920" y="513588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PM (per VS)</a:t>
            </a:r>
          </a:p>
          <a:p>
            <a:pPr algn="l"/>
            <a:r>
              <a:rPr sz="850" b="1" i="0">
                <a:solidFill>
                  <a:srgbClr val="2C3E50"/>
                </a:solidFill>
                <a:latin typeface="Arial"/>
              </a:rPr>
              <a:t>NEW capability</a:t>
            </a:r>
          </a:p>
        </p:txBody>
      </p:sp>
      <p:sp>
        <p:nvSpPr>
          <p:cNvPr id="55" name="Rectangle 54"/>
          <p:cNvSpPr/>
          <p:nvPr/>
        </p:nvSpPr>
        <p:spPr>
          <a:xfrm>
            <a:off x="2468879"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5603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Outcome-named refinement · weekly cadence · BRS pairing · Heather mentorship</a:t>
            </a:r>
          </a:p>
        </p:txBody>
      </p:sp>
      <p:sp>
        <p:nvSpPr>
          <p:cNvPr id="57" name="Rectangle 56"/>
          <p:cNvSpPr/>
          <p:nvPr/>
        </p:nvSpPr>
        <p:spPr>
          <a:xfrm>
            <a:off x="55930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84519"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  (NEW role)</a:t>
            </a:r>
          </a:p>
        </p:txBody>
      </p:sp>
      <p:sp>
        <p:nvSpPr>
          <p:cNvPr id="59" name="Rectangle 58"/>
          <p:cNvSpPr/>
          <p:nvPr/>
        </p:nvSpPr>
        <p:spPr>
          <a:xfrm>
            <a:off x="87172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8087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Onboarded W12 · independently leading VS by Q+1 · 5 demands scored</a:t>
            </a:r>
          </a:p>
        </p:txBody>
      </p:sp>
      <p:sp>
        <p:nvSpPr>
          <p:cNvPr id="61" name="Rectangle 60"/>
          <p:cNvSpPr/>
          <p:nvPr/>
        </p:nvSpPr>
        <p:spPr>
          <a:xfrm>
            <a:off x="365760" y="581406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65760" y="58140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59055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Architect</a:t>
            </a:r>
          </a:p>
          <a:p>
            <a:pPr algn="l"/>
            <a:r>
              <a:rPr sz="850" b="1" i="0">
                <a:solidFill>
                  <a:srgbClr val="2C3E50"/>
                </a:solidFill>
                <a:latin typeface="Arial"/>
              </a:rPr>
              <a:t>cross-VS</a:t>
            </a:r>
          </a:p>
        </p:txBody>
      </p:sp>
      <p:sp>
        <p:nvSpPr>
          <p:cNvPr id="64" name="Rectangle 63"/>
          <p:cNvSpPr/>
          <p:nvPr/>
        </p:nvSpPr>
        <p:spPr>
          <a:xfrm>
            <a:off x="2468879"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5603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Effort + Safety scoring · NFR pre-check · cross-VS feasibility log</a:t>
            </a:r>
          </a:p>
        </p:txBody>
      </p:sp>
      <p:sp>
        <p:nvSpPr>
          <p:cNvPr id="66" name="Rectangle 65"/>
          <p:cNvSpPr/>
          <p:nvPr/>
        </p:nvSpPr>
        <p:spPr>
          <a:xfrm>
            <a:off x="55930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84519"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Architecture authority · vendor architecture decisions</a:t>
            </a:r>
          </a:p>
        </p:txBody>
      </p:sp>
      <p:sp>
        <p:nvSpPr>
          <p:cNvPr id="68" name="Rectangle 67"/>
          <p:cNvSpPr/>
          <p:nvPr/>
        </p:nvSpPr>
        <p:spPr>
          <a:xfrm>
            <a:off x="87172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087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1-5 scale calibrated · NFR templates published · feasibility log live</a:t>
            </a:r>
          </a:p>
        </p:txBody>
      </p:sp>
      <p:sp>
        <p:nvSpPr>
          <p:cNvPr id="70" name="TextBox 6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28 / 29</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326880" cy="329184"/>
          </a:xfrm>
          <a:prstGeom prst="rect">
            <a:avLst/>
          </a:prstGeom>
          <a:noFill/>
        </p:spPr>
        <p:txBody>
          <a:bodyPr wrap="square" lIns="36000" rIns="36000" tIns="18000" bIns="18000" anchor="t">
            <a:spAutoFit/>
          </a:bodyPr>
          <a:lstStyle/>
          <a:p>
            <a:pPr algn="l"/>
            <a:r>
              <a:rPr sz="2400" b="1" i="0">
                <a:solidFill>
                  <a:srgbClr val="008C38"/>
                </a:solidFill>
                <a:latin typeface="IberPangea Text Medium"/>
              </a:rPr>
              <a:t>LIFECYCLE MODEL – PREPARATION &amp; PLANNING</a:t>
            </a:r>
          </a:p>
        </p:txBody>
      </p:sp>
      <p:sp>
        <p:nvSpPr>
          <p:cNvPr id="5" name="TextBox 4"/>
          <p:cNvSpPr txBox="1"/>
          <p:nvPr/>
        </p:nvSpPr>
        <p:spPr>
          <a:xfrm>
            <a:off x="365760" y="420624"/>
            <a:ext cx="9326880" cy="182880"/>
          </a:xfrm>
          <a:prstGeom prst="rect">
            <a:avLst/>
          </a:prstGeom>
          <a:noFill/>
        </p:spPr>
        <p:txBody>
          <a:bodyPr wrap="square" lIns="36000" rIns="36000" tIns="18000" bIns="18000" anchor="t">
            <a:spAutoFit/>
          </a:bodyPr>
          <a:lstStyle/>
          <a:p>
            <a:pPr algn="l"/>
            <a:r>
              <a:rPr sz="1000" b="1" i="1">
                <a:solidFill>
                  <a:srgbClr val="6B778C"/>
                </a:solidFill>
                <a:latin typeface="Arial"/>
              </a:rPr>
              <a:t>SECTION · CLOSURE</a:t>
            </a:r>
          </a:p>
        </p:txBody>
      </p:sp>
      <p:sp>
        <p:nvSpPr>
          <p:cNvPr id="6" name="TextBox 5"/>
          <p:cNvSpPr txBox="1"/>
          <p:nvPr/>
        </p:nvSpPr>
        <p:spPr>
          <a:xfrm>
            <a:off x="365760" y="621792"/>
            <a:ext cx="9326880" cy="502920"/>
          </a:xfrm>
          <a:prstGeom prst="rect">
            <a:avLst/>
          </a:prstGeom>
          <a:noFill/>
        </p:spPr>
        <p:txBody>
          <a:bodyPr wrap="square" lIns="36000" rIns="36000" tIns="18000" bIns="18000" anchor="t">
            <a:spAutoFit/>
          </a:bodyPr>
          <a:lstStyle/>
          <a:p>
            <a:pPr algn="l"/>
            <a:r>
              <a:rPr sz="1300" b="1" i="0">
                <a:solidFill>
                  <a:srgbClr val="2C3E50"/>
                </a:solidFill>
                <a:latin typeface="IberPangea Text Medium"/>
              </a:rPr>
              <a:t>PHASE 2 CLOSES · PHASE 3 NEXT: DOR-PASSED STORIES HAND OFF TO EXECUTION · WHAT WE COVERED · WHAT FLOWS OUT · 3 RISKS MANAGED</a:t>
            </a:r>
          </a:p>
        </p:txBody>
      </p:sp>
      <p:sp>
        <p:nvSpPr>
          <p:cNvPr id="7" name="TextBox 6"/>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R/G/T</a:t>
            </a:r>
          </a:p>
        </p:txBody>
      </p:sp>
      <p:sp>
        <p:nvSpPr>
          <p:cNvPr id="8" name="Rectangle 7"/>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20240" y="1600199"/>
            <a:ext cx="777240" cy="77724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1</a:t>
            </a:r>
          </a:p>
        </p:txBody>
      </p:sp>
      <p:sp>
        <p:nvSpPr>
          <p:cNvPr id="11" name="TextBox 10"/>
          <p:cNvSpPr txBox="1"/>
          <p:nvPr/>
        </p:nvSpPr>
        <p:spPr>
          <a:xfrm>
            <a:off x="457200" y="2468880"/>
            <a:ext cx="3703320" cy="201168"/>
          </a:xfrm>
          <a:prstGeom prst="rect">
            <a:avLst/>
          </a:prstGeom>
          <a:noFill/>
        </p:spPr>
        <p:txBody>
          <a:bodyPr wrap="square" lIns="36000" rIns="36000" tIns="18000" bIns="18000" anchor="t">
            <a:spAutoFit/>
          </a:bodyPr>
          <a:lstStyle/>
          <a:p>
            <a:pPr algn="ctr"/>
            <a:r>
              <a:rPr sz="1100" b="1" i="0">
                <a:solidFill>
                  <a:srgbClr val="006B3F"/>
                </a:solidFill>
                <a:latin typeface="Arial"/>
              </a:rPr>
              <a:t>DEMAND MGMT</a:t>
            </a:r>
          </a:p>
        </p:txBody>
      </p:sp>
      <p:sp>
        <p:nvSpPr>
          <p:cNvPr id="12" name="TextBox 11"/>
          <p:cNvSpPr txBox="1"/>
          <p:nvPr/>
        </p:nvSpPr>
        <p:spPr>
          <a:xfrm>
            <a:off x="457200"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complete</a:t>
            </a:r>
          </a:p>
        </p:txBody>
      </p:sp>
      <p:sp>
        <p:nvSpPr>
          <p:cNvPr id="13" name="Oval 12"/>
          <p:cNvSpPr/>
          <p:nvPr/>
        </p:nvSpPr>
        <p:spPr>
          <a:xfrm>
            <a:off x="5714999" y="1600199"/>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1499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2</a:t>
            </a:r>
          </a:p>
        </p:txBody>
      </p:sp>
      <p:sp>
        <p:nvSpPr>
          <p:cNvPr id="15" name="TextBox 14"/>
          <p:cNvSpPr txBox="1"/>
          <p:nvPr/>
        </p:nvSpPr>
        <p:spPr>
          <a:xfrm>
            <a:off x="4251959" y="2468880"/>
            <a:ext cx="3703320" cy="201168"/>
          </a:xfrm>
          <a:prstGeom prst="rect">
            <a:avLst/>
          </a:prstGeom>
          <a:noFill/>
        </p:spPr>
        <p:txBody>
          <a:bodyPr wrap="square" lIns="36000" rIns="36000" tIns="18000" bIns="18000" anchor="t">
            <a:spAutoFit/>
          </a:bodyPr>
          <a:lstStyle/>
          <a:p>
            <a:pPr algn="ctr"/>
            <a:r>
              <a:rPr sz="1100" b="1" i="0">
                <a:solidFill>
                  <a:srgbClr val="008C38"/>
                </a:solidFill>
                <a:latin typeface="Arial"/>
              </a:rPr>
              <a:t>PREP &amp; PLANNING</a:t>
            </a:r>
          </a:p>
        </p:txBody>
      </p:sp>
      <p:sp>
        <p:nvSpPr>
          <p:cNvPr id="16" name="TextBox 15"/>
          <p:cNvSpPr txBox="1"/>
          <p:nvPr/>
        </p:nvSpPr>
        <p:spPr>
          <a:xfrm>
            <a:off x="425195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covered now</a:t>
            </a:r>
          </a:p>
        </p:txBody>
      </p:sp>
      <p:sp>
        <p:nvSpPr>
          <p:cNvPr id="17" name="Rounded Rectangle 16"/>
          <p:cNvSpPr/>
          <p:nvPr/>
        </p:nvSpPr>
        <p:spPr>
          <a:xfrm>
            <a:off x="5234939" y="1307591"/>
            <a:ext cx="173736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34939" y="1307591"/>
            <a:ext cx="1737360" cy="201168"/>
          </a:xfrm>
          <a:prstGeom prst="rect">
            <a:avLst/>
          </a:prstGeom>
          <a:noFill/>
        </p:spPr>
        <p:txBody>
          <a:bodyPr wrap="square" lIns="36000" rIns="36000" tIns="18000" bIns="18000" anchor="ctr">
            <a:spAutoFit/>
          </a:bodyPr>
          <a:lstStyle/>
          <a:p>
            <a:pPr algn="ctr"/>
            <a:r>
              <a:rPr sz="800" b="1" i="0">
                <a:solidFill>
                  <a:srgbClr val="FFFFFF"/>
                </a:solidFill>
                <a:latin typeface="Arial"/>
              </a:rPr>
              <a:t>▼ JUST COVERED</a:t>
            </a:r>
          </a:p>
        </p:txBody>
      </p:sp>
      <p:sp>
        <p:nvSpPr>
          <p:cNvPr id="19" name="Oval 18"/>
          <p:cNvSpPr/>
          <p:nvPr/>
        </p:nvSpPr>
        <p:spPr>
          <a:xfrm>
            <a:off x="9509759" y="1600199"/>
            <a:ext cx="777240" cy="7772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5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3</a:t>
            </a:r>
          </a:p>
        </p:txBody>
      </p:sp>
      <p:sp>
        <p:nvSpPr>
          <p:cNvPr id="21" name="TextBox 20"/>
          <p:cNvSpPr txBox="1"/>
          <p:nvPr/>
        </p:nvSpPr>
        <p:spPr>
          <a:xfrm>
            <a:off x="8046719" y="2468880"/>
            <a:ext cx="3703320" cy="201168"/>
          </a:xfrm>
          <a:prstGeom prst="rect">
            <a:avLst/>
          </a:prstGeom>
          <a:noFill/>
        </p:spPr>
        <p:txBody>
          <a:bodyPr wrap="square" lIns="36000" rIns="36000" tIns="18000" bIns="18000" anchor="t">
            <a:spAutoFit/>
          </a:bodyPr>
          <a:lstStyle/>
          <a:p>
            <a:pPr algn="ctr"/>
            <a:r>
              <a:rPr sz="1100" b="1" i="0">
                <a:solidFill>
                  <a:srgbClr val="2C578B"/>
                </a:solidFill>
                <a:latin typeface="Arial"/>
              </a:rPr>
              <a:t>EXECUTION</a:t>
            </a:r>
          </a:p>
        </p:txBody>
      </p:sp>
      <p:sp>
        <p:nvSpPr>
          <p:cNvPr id="22" name="TextBox 21"/>
          <p:cNvSpPr txBox="1"/>
          <p:nvPr/>
        </p:nvSpPr>
        <p:spPr>
          <a:xfrm>
            <a:off x="804671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next section</a:t>
            </a:r>
          </a:p>
        </p:txBody>
      </p:sp>
      <p:sp>
        <p:nvSpPr>
          <p:cNvPr id="23" name="Rounded Rectangle 22"/>
          <p:cNvSpPr/>
          <p:nvPr/>
        </p:nvSpPr>
        <p:spPr>
          <a:xfrm>
            <a:off x="3657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423160"/>
            <a:ext cx="37033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WE COVERED  ·  Phase 2</a:t>
            </a:r>
          </a:p>
        </p:txBody>
      </p:sp>
      <p:sp>
        <p:nvSpPr>
          <p:cNvPr id="26" name="TextBox 25"/>
          <p:cNvSpPr txBox="1"/>
          <p:nvPr/>
        </p:nvSpPr>
        <p:spPr>
          <a:xfrm>
            <a:off x="502920" y="2715768"/>
            <a:ext cx="3429000" cy="182880"/>
          </a:xfrm>
          <a:prstGeom prst="rect">
            <a:avLst/>
          </a:prstGeom>
          <a:noFill/>
        </p:spPr>
        <p:txBody>
          <a:bodyPr wrap="square" lIns="36000" rIns="36000" tIns="18000" bIns="18000" anchor="t">
            <a:spAutoFit/>
          </a:bodyPr>
          <a:lstStyle/>
          <a:p>
            <a:pPr algn="l"/>
            <a:r>
              <a:rPr sz="800" b="0" i="1">
                <a:solidFill>
                  <a:srgbClr val="F2F8F4"/>
                </a:solidFill>
                <a:latin typeface="Arial"/>
              </a:rPr>
              <a:t>27 slides · 7 sections</a:t>
            </a:r>
          </a:p>
        </p:txBody>
      </p:sp>
      <p:sp>
        <p:nvSpPr>
          <p:cNvPr id="27" name="TextBox 26"/>
          <p:cNvSpPr txBox="1"/>
          <p:nvPr/>
        </p:nvSpPr>
        <p:spPr>
          <a:xfrm>
            <a:off x="530352" y="3035808"/>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OPENER</a:t>
            </a:r>
          </a:p>
        </p:txBody>
      </p:sp>
      <p:sp>
        <p:nvSpPr>
          <p:cNvPr id="28" name="TextBox 27"/>
          <p:cNvSpPr txBox="1"/>
          <p:nvPr/>
        </p:nvSpPr>
        <p:spPr>
          <a:xfrm>
            <a:off x="1783080" y="3035808"/>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Bridge from Phase 1 · 4 gaps · two-board link</a:t>
            </a:r>
          </a:p>
        </p:txBody>
      </p:sp>
      <p:sp>
        <p:nvSpPr>
          <p:cNvPr id="29" name="TextBox 28"/>
          <p:cNvSpPr txBox="1"/>
          <p:nvPr/>
        </p:nvSpPr>
        <p:spPr>
          <a:xfrm>
            <a:off x="530352" y="3486476"/>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CAPABILITIES</a:t>
            </a:r>
          </a:p>
        </p:txBody>
      </p:sp>
      <p:sp>
        <p:nvSpPr>
          <p:cNvPr id="30" name="TextBox 29"/>
          <p:cNvSpPr txBox="1"/>
          <p:nvPr/>
        </p:nvSpPr>
        <p:spPr>
          <a:xfrm>
            <a:off x="1783080" y="3486476"/>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6 capabilities · 3 muscles (Detail · Sequence · Capacity)</a:t>
            </a:r>
          </a:p>
        </p:txBody>
      </p:sp>
      <p:sp>
        <p:nvSpPr>
          <p:cNvPr id="31" name="TextBox 30"/>
          <p:cNvSpPr txBox="1"/>
          <p:nvPr/>
        </p:nvSpPr>
        <p:spPr>
          <a:xfrm>
            <a:off x="530352" y="3937145"/>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ROLES</a:t>
            </a:r>
          </a:p>
        </p:txBody>
      </p:sp>
      <p:sp>
        <p:nvSpPr>
          <p:cNvPr id="32" name="TextBox 31"/>
          <p:cNvSpPr txBox="1"/>
          <p:nvPr/>
        </p:nvSpPr>
        <p:spPr>
          <a:xfrm>
            <a:off x="1783080" y="3937145"/>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PM · Architect · Squad PM · Heather mentors · BRS pair</a:t>
            </a:r>
          </a:p>
        </p:txBody>
      </p:sp>
      <p:sp>
        <p:nvSpPr>
          <p:cNvPr id="33" name="TextBox 32"/>
          <p:cNvSpPr txBox="1"/>
          <p:nvPr/>
        </p:nvSpPr>
        <p:spPr>
          <a:xfrm>
            <a:off x="530352" y="4387813"/>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TOOLS</a:t>
            </a:r>
          </a:p>
        </p:txBody>
      </p:sp>
      <p:sp>
        <p:nvSpPr>
          <p:cNvPr id="34" name="TextBox 33"/>
          <p:cNvSpPr txBox="1"/>
          <p:nvPr/>
        </p:nvSpPr>
        <p:spPr>
          <a:xfrm>
            <a:off x="1783080" y="4387813"/>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Backlog · Roadmap · Estimation · Reporting</a:t>
            </a:r>
          </a:p>
        </p:txBody>
      </p:sp>
      <p:sp>
        <p:nvSpPr>
          <p:cNvPr id="35" name="TextBox 34"/>
          <p:cNvSpPr txBox="1"/>
          <p:nvPr/>
        </p:nvSpPr>
        <p:spPr>
          <a:xfrm>
            <a:off x="530352" y="4838482"/>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GOVERNANCE</a:t>
            </a:r>
          </a:p>
        </p:txBody>
      </p:sp>
      <p:sp>
        <p:nvSpPr>
          <p:cNvPr id="36" name="TextBox 35"/>
          <p:cNvSpPr txBox="1"/>
          <p:nvPr/>
        </p:nvSpPr>
        <p:spPr>
          <a:xfrm>
            <a:off x="1783080" y="4838482"/>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Gate 2 · prioritization criteria · Defer/Reject</a:t>
            </a:r>
          </a:p>
        </p:txBody>
      </p:sp>
      <p:sp>
        <p:nvSpPr>
          <p:cNvPr id="37" name="TextBox 36"/>
          <p:cNvSpPr txBox="1"/>
          <p:nvPr/>
        </p:nvSpPr>
        <p:spPr>
          <a:xfrm>
            <a:off x="530352" y="5289150"/>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PERFORMANCE</a:t>
            </a:r>
          </a:p>
        </p:txBody>
      </p:sp>
      <p:sp>
        <p:nvSpPr>
          <p:cNvPr id="38" name="TextBox 37"/>
          <p:cNvSpPr txBox="1"/>
          <p:nvPr/>
        </p:nvSpPr>
        <p:spPr>
          <a:xfrm>
            <a:off x="1783080" y="5289150"/>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7 metrics · cycle time · predictability · monthly review</a:t>
            </a:r>
          </a:p>
        </p:txBody>
      </p:sp>
      <p:sp>
        <p:nvSpPr>
          <p:cNvPr id="39" name="TextBox 38"/>
          <p:cNvSpPr txBox="1"/>
          <p:nvPr/>
        </p:nvSpPr>
        <p:spPr>
          <a:xfrm>
            <a:off x="530352" y="5739819"/>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SIZE FLOWS</a:t>
            </a:r>
          </a:p>
        </p:txBody>
      </p:sp>
      <p:sp>
        <p:nvSpPr>
          <p:cNvPr id="40" name="TextBox 39"/>
          <p:cNvSpPr txBox="1"/>
          <p:nvPr/>
        </p:nvSpPr>
        <p:spPr>
          <a:xfrm>
            <a:off x="1783080" y="5739819"/>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S · M · L paths · dual track · scope-add shortcut</a:t>
            </a:r>
          </a:p>
        </p:txBody>
      </p:sp>
      <p:sp>
        <p:nvSpPr>
          <p:cNvPr id="41" name="Rounded Rectangle 40"/>
          <p:cNvSpPr/>
          <p:nvPr/>
        </p:nvSpPr>
        <p:spPr>
          <a:xfrm>
            <a:off x="42519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251960" y="2423160"/>
            <a:ext cx="37033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91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FLOWS TO PHASE 3  ·  Execution input</a:t>
            </a:r>
          </a:p>
        </p:txBody>
      </p:sp>
      <p:sp>
        <p:nvSpPr>
          <p:cNvPr id="44" name="TextBox 43"/>
          <p:cNvSpPr txBox="1"/>
          <p:nvPr/>
        </p:nvSpPr>
        <p:spPr>
          <a:xfrm>
            <a:off x="4389120" y="2715768"/>
            <a:ext cx="3429000" cy="182880"/>
          </a:xfrm>
          <a:prstGeom prst="rect">
            <a:avLst/>
          </a:prstGeom>
          <a:noFill/>
        </p:spPr>
        <p:txBody>
          <a:bodyPr wrap="square" lIns="36000" rIns="36000" tIns="18000" bIns="18000" anchor="t">
            <a:spAutoFit/>
          </a:bodyPr>
          <a:lstStyle/>
          <a:p>
            <a:pPr algn="l"/>
            <a:r>
              <a:rPr sz="800" b="0" i="1">
                <a:solidFill>
                  <a:srgbClr val="F6FAFD"/>
                </a:solidFill>
                <a:latin typeface="Arial"/>
              </a:rPr>
              <a:t>DoR-passed · ready for Squad pull</a:t>
            </a:r>
          </a:p>
        </p:txBody>
      </p:sp>
      <p:sp>
        <p:nvSpPr>
          <p:cNvPr id="45" name="TextBox 44"/>
          <p:cNvSpPr txBox="1"/>
          <p:nvPr/>
        </p:nvSpPr>
        <p:spPr>
          <a:xfrm>
            <a:off x="4416552" y="3035808"/>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Initiative · Epic · Story</a:t>
            </a:r>
          </a:p>
        </p:txBody>
      </p:sp>
      <p:sp>
        <p:nvSpPr>
          <p:cNvPr id="46" name="TextBox 45"/>
          <p:cNvSpPr txBox="1"/>
          <p:nvPr/>
        </p:nvSpPr>
        <p:spPr>
          <a:xfrm>
            <a:off x="5897880" y="3035808"/>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auto-converted at Triage · INVEST at Story level</a:t>
            </a:r>
          </a:p>
        </p:txBody>
      </p:sp>
      <p:sp>
        <p:nvSpPr>
          <p:cNvPr id="47" name="TextBox 46"/>
          <p:cNvSpPr txBox="1"/>
          <p:nvPr/>
        </p:nvSpPr>
        <p:spPr>
          <a:xfrm>
            <a:off x="4416552" y="3486476"/>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NFRs documented</a:t>
            </a:r>
          </a:p>
        </p:txBody>
      </p:sp>
      <p:sp>
        <p:nvSpPr>
          <p:cNvPr id="48" name="TextBox 47"/>
          <p:cNvSpPr txBox="1"/>
          <p:nvPr/>
        </p:nvSpPr>
        <p:spPr>
          <a:xfrm>
            <a:off x="5897880" y="3486476"/>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perf · security · compliance · scale</a:t>
            </a:r>
          </a:p>
        </p:txBody>
      </p:sp>
      <p:sp>
        <p:nvSpPr>
          <p:cNvPr id="49" name="TextBox 48"/>
          <p:cNvSpPr txBox="1"/>
          <p:nvPr/>
        </p:nvSpPr>
        <p:spPr>
          <a:xfrm>
            <a:off x="4416552" y="3937145"/>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Capacity reserved</a:t>
            </a:r>
          </a:p>
        </p:txBody>
      </p:sp>
      <p:sp>
        <p:nvSpPr>
          <p:cNvPr id="50" name="TextBox 49"/>
          <p:cNvSpPr txBox="1"/>
          <p:nvPr/>
        </p:nvSpPr>
        <p:spPr>
          <a:xfrm>
            <a:off x="5897880" y="3937145"/>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fits inside CoS lane % · WIP not exceeded</a:t>
            </a:r>
          </a:p>
        </p:txBody>
      </p:sp>
      <p:sp>
        <p:nvSpPr>
          <p:cNvPr id="51" name="TextBox 50"/>
          <p:cNvSpPr txBox="1"/>
          <p:nvPr/>
        </p:nvSpPr>
        <p:spPr>
          <a:xfrm>
            <a:off x="4416552" y="4387813"/>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Acceptance criteria</a:t>
            </a:r>
          </a:p>
        </p:txBody>
      </p:sp>
      <p:sp>
        <p:nvSpPr>
          <p:cNvPr id="52" name="TextBox 51"/>
          <p:cNvSpPr txBox="1"/>
          <p:nvPr/>
        </p:nvSpPr>
        <p:spPr>
          <a:xfrm>
            <a:off x="5897880" y="4387813"/>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traceable to approved Initiative or Epic</a:t>
            </a:r>
          </a:p>
        </p:txBody>
      </p:sp>
      <p:sp>
        <p:nvSpPr>
          <p:cNvPr id="53" name="TextBox 52"/>
          <p:cNvSpPr txBox="1"/>
          <p:nvPr/>
        </p:nvSpPr>
        <p:spPr>
          <a:xfrm>
            <a:off x="4416552" y="4838482"/>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Dependencies known</a:t>
            </a:r>
          </a:p>
        </p:txBody>
      </p:sp>
      <p:sp>
        <p:nvSpPr>
          <p:cNvPr id="54" name="TextBox 53"/>
          <p:cNvSpPr txBox="1"/>
          <p:nvPr/>
        </p:nvSpPr>
        <p:spPr>
          <a:xfrm>
            <a:off x="5897880" y="4838482"/>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cross-VS · vendor · license — surfaced</a:t>
            </a:r>
          </a:p>
        </p:txBody>
      </p:sp>
      <p:sp>
        <p:nvSpPr>
          <p:cNvPr id="55" name="TextBox 54"/>
          <p:cNvSpPr txBox="1"/>
          <p:nvPr/>
        </p:nvSpPr>
        <p:spPr>
          <a:xfrm>
            <a:off x="4416552" y="5289150"/>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Roadmap entry</a:t>
            </a:r>
          </a:p>
        </p:txBody>
      </p:sp>
      <p:sp>
        <p:nvSpPr>
          <p:cNvPr id="56" name="TextBox 55"/>
          <p:cNvSpPr txBox="1"/>
          <p:nvPr/>
        </p:nvSpPr>
        <p:spPr>
          <a:xfrm>
            <a:off x="5897880" y="5289150"/>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committed band · re-balanced monthly</a:t>
            </a:r>
          </a:p>
        </p:txBody>
      </p:sp>
      <p:sp>
        <p:nvSpPr>
          <p:cNvPr id="57" name="TextBox 56"/>
          <p:cNvSpPr txBox="1"/>
          <p:nvPr/>
        </p:nvSpPr>
        <p:spPr>
          <a:xfrm>
            <a:off x="4416552" y="5739819"/>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Decision log</a:t>
            </a:r>
          </a:p>
        </p:txBody>
      </p:sp>
      <p:sp>
        <p:nvSpPr>
          <p:cNvPr id="58" name="TextBox 57"/>
          <p:cNvSpPr txBox="1"/>
          <p:nvPr/>
        </p:nvSpPr>
        <p:spPr>
          <a:xfrm>
            <a:off x="5897880" y="5739819"/>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audit trail · Defer/Reject reasons</a:t>
            </a:r>
          </a:p>
        </p:txBody>
      </p:sp>
      <p:sp>
        <p:nvSpPr>
          <p:cNvPr id="59" name="Rounded Rectangle 58"/>
          <p:cNvSpPr/>
          <p:nvPr/>
        </p:nvSpPr>
        <p:spPr>
          <a:xfrm>
            <a:off x="8138159"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138159" y="2423160"/>
            <a:ext cx="3703320" cy="5029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75319"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3 RISKS UNDER MANAGEMENT</a:t>
            </a:r>
          </a:p>
        </p:txBody>
      </p:sp>
      <p:sp>
        <p:nvSpPr>
          <p:cNvPr id="62" name="TextBox 61"/>
          <p:cNvSpPr txBox="1"/>
          <p:nvPr/>
        </p:nvSpPr>
        <p:spPr>
          <a:xfrm>
            <a:off x="8275319" y="2715768"/>
            <a:ext cx="3429000" cy="182880"/>
          </a:xfrm>
          <a:prstGeom prst="rect">
            <a:avLst/>
          </a:prstGeom>
          <a:noFill/>
        </p:spPr>
        <p:txBody>
          <a:bodyPr wrap="square" lIns="36000" rIns="36000" tIns="18000" bIns="18000" anchor="t">
            <a:spAutoFit/>
          </a:bodyPr>
          <a:lstStyle/>
          <a:p>
            <a:pPr algn="l"/>
            <a:r>
              <a:rPr sz="800" b="0" i="1">
                <a:solidFill>
                  <a:srgbClr val="FDECD4"/>
                </a:solidFill>
                <a:latin typeface="Arial"/>
              </a:rPr>
              <a:t>with named owners + mitigations</a:t>
            </a:r>
          </a:p>
        </p:txBody>
      </p:sp>
      <p:sp>
        <p:nvSpPr>
          <p:cNvPr id="63" name="TextBox 62"/>
          <p:cNvSpPr txBox="1"/>
          <p:nvPr/>
        </p:nvSpPr>
        <p:spPr>
          <a:xfrm>
            <a:off x="8302751" y="3063239"/>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PM RAMP-UP</a:t>
            </a:r>
          </a:p>
        </p:txBody>
      </p:sp>
      <p:sp>
        <p:nvSpPr>
          <p:cNvPr id="64" name="TextBox 63"/>
          <p:cNvSpPr txBox="1"/>
          <p:nvPr/>
        </p:nvSpPr>
        <p:spPr>
          <a:xfrm>
            <a:off x="8302751" y="324612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NEW Product capability · 12-week ramp · risk of slow uptake</a:t>
            </a:r>
          </a:p>
        </p:txBody>
      </p:sp>
      <p:sp>
        <p:nvSpPr>
          <p:cNvPr id="65" name="TextBox 64"/>
          <p:cNvSpPr txBox="1"/>
          <p:nvPr/>
        </p:nvSpPr>
        <p:spPr>
          <a:xfrm>
            <a:off x="8302751" y="3566159"/>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Pair with senior PM · weekly Heather check-in · BRS pairing accelerates</a:t>
            </a:r>
          </a:p>
        </p:txBody>
      </p:sp>
      <p:sp>
        <p:nvSpPr>
          <p:cNvPr id="66" name="TextBox 65"/>
          <p:cNvSpPr txBox="1"/>
          <p:nvPr/>
        </p:nvSpPr>
        <p:spPr>
          <a:xfrm>
            <a:off x="8302751" y="409956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CAPACITY OPACITY</a:t>
            </a:r>
          </a:p>
        </p:txBody>
      </p:sp>
      <p:sp>
        <p:nvSpPr>
          <p:cNvPr id="67" name="TextBox 66"/>
          <p:cNvSpPr txBox="1"/>
          <p:nvPr/>
        </p:nvSpPr>
        <p:spPr>
          <a:xfrm>
            <a:off x="8302751" y="428244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Day-to-day capacity reality may diverge from approved %</a:t>
            </a:r>
          </a:p>
        </p:txBody>
      </p:sp>
      <p:sp>
        <p:nvSpPr>
          <p:cNvPr id="68" name="TextBox 67"/>
          <p:cNvSpPr txBox="1"/>
          <p:nvPr/>
        </p:nvSpPr>
        <p:spPr>
          <a:xfrm>
            <a:off x="8302751" y="460248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Middle managers report at every Gate 2 · variance flagged at &gt;10%</a:t>
            </a:r>
          </a:p>
        </p:txBody>
      </p:sp>
      <p:sp>
        <p:nvSpPr>
          <p:cNvPr id="69" name="TextBox 68"/>
          <p:cNvSpPr txBox="1"/>
          <p:nvPr/>
        </p:nvSpPr>
        <p:spPr>
          <a:xfrm>
            <a:off x="8302751" y="513588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BRP DEPENDENCY DRIFT</a:t>
            </a:r>
          </a:p>
        </p:txBody>
      </p:sp>
      <p:sp>
        <p:nvSpPr>
          <p:cNvPr id="70" name="TextBox 69"/>
          <p:cNvSpPr txBox="1"/>
          <p:nvPr/>
        </p:nvSpPr>
        <p:spPr>
          <a:xfrm>
            <a:off x="8302751" y="531876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Inputs from P&amp;T BRP + Digital CoE BRP may shift mid-quarter</a:t>
            </a:r>
          </a:p>
        </p:txBody>
      </p:sp>
      <p:sp>
        <p:nvSpPr>
          <p:cNvPr id="71" name="TextBox 70"/>
          <p:cNvSpPr txBox="1"/>
          <p:nvPr/>
        </p:nvSpPr>
        <p:spPr>
          <a:xfrm>
            <a:off x="8302751" y="563880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Heather + Carlos pre-Gate 2 sync · resequence at next Gate 2 · audit trail</a:t>
            </a:r>
          </a:p>
        </p:txBody>
      </p:sp>
      <p:sp>
        <p:nvSpPr>
          <p:cNvPr id="72" name="TextBox 71"/>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29 / 29</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Two boards · one bridge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Portfolio decides the WHAT · Team decides the WHEN · DoR is the bridge between them</a:t>
            </a:r>
          </a:p>
        </p:txBody>
      </p:sp>
      <p:sp>
        <p:nvSpPr>
          <p:cNvPr id="4" name="Rounded Rectangle 3"/>
          <p:cNvSpPr/>
          <p:nvPr/>
        </p:nvSpPr>
        <p:spPr>
          <a:xfrm>
            <a:off x="365760" y="1188720"/>
            <a:ext cx="6858000"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88720"/>
            <a:ext cx="685800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43584"/>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PORTFOLIO BOARD  ·  cross-VS  ·  Director-level  ·  L only</a:t>
            </a:r>
          </a:p>
        </p:txBody>
      </p:sp>
      <p:sp>
        <p:nvSpPr>
          <p:cNvPr id="7" name="TextBox 6"/>
          <p:cNvSpPr txBox="1"/>
          <p:nvPr/>
        </p:nvSpPr>
        <p:spPr>
          <a:xfrm>
            <a:off x="173736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1 · weekly</a:t>
            </a:r>
          </a:p>
        </p:txBody>
      </p:sp>
      <p:sp>
        <p:nvSpPr>
          <p:cNvPr id="8" name="TextBox 7"/>
          <p:cNvSpPr txBox="1"/>
          <p:nvPr/>
        </p:nvSpPr>
        <p:spPr>
          <a:xfrm>
            <a:off x="429768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2 · monthly</a:t>
            </a:r>
          </a:p>
        </p:txBody>
      </p:sp>
      <p:sp>
        <p:nvSpPr>
          <p:cNvPr id="9" name="Rectangle 8"/>
          <p:cNvSpPr/>
          <p:nvPr/>
        </p:nvSpPr>
        <p:spPr>
          <a:xfrm>
            <a:off x="50292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Funnel</a:t>
            </a:r>
          </a:p>
        </p:txBody>
      </p:sp>
      <p:sp>
        <p:nvSpPr>
          <p:cNvPr id="11" name="Rectangle 10"/>
          <p:cNvSpPr/>
          <p:nvPr/>
        </p:nvSpPr>
        <p:spPr>
          <a:xfrm>
            <a:off x="502920" y="2212848"/>
            <a:ext cx="1066800"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06296"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6296"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Reviewing</a:t>
            </a:r>
          </a:p>
        </p:txBody>
      </p:sp>
      <p:sp>
        <p:nvSpPr>
          <p:cNvPr id="14" name="Rectangle 13"/>
          <p:cNvSpPr/>
          <p:nvPr/>
        </p:nvSpPr>
        <p:spPr>
          <a:xfrm>
            <a:off x="1606296"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09672"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9672"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Analyzing</a:t>
            </a:r>
          </a:p>
        </p:txBody>
      </p:sp>
      <p:sp>
        <p:nvSpPr>
          <p:cNvPr id="17" name="Rectangle 16"/>
          <p:cNvSpPr/>
          <p:nvPr/>
        </p:nvSpPr>
        <p:spPr>
          <a:xfrm>
            <a:off x="2709672"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13048"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13048"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Backlog</a:t>
            </a:r>
          </a:p>
        </p:txBody>
      </p:sp>
      <p:sp>
        <p:nvSpPr>
          <p:cNvPr id="20" name="Rectangle 19"/>
          <p:cNvSpPr/>
          <p:nvPr/>
        </p:nvSpPr>
        <p:spPr>
          <a:xfrm>
            <a:off x="3813048" y="2212848"/>
            <a:ext cx="1066800" cy="2907792"/>
          </a:xfrm>
          <a:prstGeom prst="rect">
            <a:avLst/>
          </a:prstGeom>
          <a:solidFill>
            <a:srgbClr val="6FC1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16424"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16424"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Implementing</a:t>
            </a:r>
          </a:p>
        </p:txBody>
      </p:sp>
      <p:sp>
        <p:nvSpPr>
          <p:cNvPr id="23" name="Rectangle 22"/>
          <p:cNvSpPr/>
          <p:nvPr/>
        </p:nvSpPr>
        <p:spPr>
          <a:xfrm>
            <a:off x="4916424" y="2212848"/>
            <a:ext cx="1066800"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1980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1980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Done</a:t>
            </a:r>
          </a:p>
        </p:txBody>
      </p:sp>
      <p:sp>
        <p:nvSpPr>
          <p:cNvPr id="26" name="Rectangle 25"/>
          <p:cNvSpPr/>
          <p:nvPr/>
        </p:nvSpPr>
        <p:spPr>
          <a:xfrm>
            <a:off x="6019800" y="2212848"/>
            <a:ext cx="1066800"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88008"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794760"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886200" y="2331720"/>
            <a:ext cx="920496"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22776" y="2377440"/>
            <a:ext cx="847344" cy="164592"/>
          </a:xfrm>
          <a:prstGeom prst="rect">
            <a:avLst/>
          </a:prstGeom>
          <a:noFill/>
        </p:spPr>
        <p:txBody>
          <a:bodyPr wrap="square" lIns="36000" rIns="36000" tIns="18000" bIns="18000" anchor="t">
            <a:spAutoFit/>
          </a:bodyPr>
          <a:lstStyle/>
          <a:p>
            <a:pPr algn="l"/>
            <a:r>
              <a:rPr sz="700" b="1" i="0">
                <a:solidFill>
                  <a:srgbClr val="6B778C"/>
                </a:solidFill>
                <a:latin typeface="Arial"/>
              </a:rPr>
              <a:t>L · Initiative</a:t>
            </a:r>
          </a:p>
        </p:txBody>
      </p:sp>
      <p:sp>
        <p:nvSpPr>
          <p:cNvPr id="31" name="TextBox 30"/>
          <p:cNvSpPr txBox="1"/>
          <p:nvPr/>
        </p:nvSpPr>
        <p:spPr>
          <a:xfrm>
            <a:off x="3922776" y="2532888"/>
            <a:ext cx="847344" cy="365760"/>
          </a:xfrm>
          <a:prstGeom prst="rect">
            <a:avLst/>
          </a:prstGeom>
          <a:noFill/>
        </p:spPr>
        <p:txBody>
          <a:bodyPr wrap="square" lIns="36000" rIns="36000" tIns="18000" bIns="18000" anchor="t">
            <a:spAutoFit/>
          </a:bodyPr>
          <a:lstStyle/>
          <a:p>
            <a:pPr algn="l"/>
            <a:r>
              <a:rPr sz="750" b="1" i="0">
                <a:solidFill>
                  <a:srgbClr val="2C3E50"/>
                </a:solidFill>
                <a:latin typeface="Arial"/>
              </a:rPr>
              <a:t>PUC tariff banner Q3</a:t>
            </a:r>
          </a:p>
        </p:txBody>
      </p:sp>
      <p:sp>
        <p:nvSpPr>
          <p:cNvPr id="32" name="Rounded Rectangle 31"/>
          <p:cNvSpPr/>
          <p:nvPr/>
        </p:nvSpPr>
        <p:spPr>
          <a:xfrm>
            <a:off x="3922776" y="2898648"/>
            <a:ext cx="640080" cy="164592"/>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22776"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Fixed-Date</a:t>
            </a:r>
          </a:p>
        </p:txBody>
      </p:sp>
      <p:sp>
        <p:nvSpPr>
          <p:cNvPr id="34" name="Rounded Rectangle 33"/>
          <p:cNvSpPr/>
          <p:nvPr/>
        </p:nvSpPr>
        <p:spPr>
          <a:xfrm>
            <a:off x="4376928" y="2377440"/>
            <a:ext cx="365760" cy="146304"/>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6928" y="2377440"/>
            <a:ext cx="365760" cy="146304"/>
          </a:xfrm>
          <a:prstGeom prst="rect">
            <a:avLst/>
          </a:prstGeom>
          <a:noFill/>
        </p:spPr>
        <p:txBody>
          <a:bodyPr wrap="square" lIns="36000" rIns="36000" tIns="18000" bIns="18000" anchor="ctr">
            <a:spAutoFit/>
          </a:bodyPr>
          <a:lstStyle/>
          <a:p>
            <a:pPr algn="ctr"/>
            <a:r>
              <a:rPr sz="600" b="1" i="0">
                <a:solidFill>
                  <a:srgbClr val="FFFFFF"/>
                </a:solidFill>
                <a:latin typeface="Arial"/>
              </a:rPr>
              <a:t>ITBA</a:t>
            </a:r>
          </a:p>
        </p:txBody>
      </p:sp>
      <p:sp>
        <p:nvSpPr>
          <p:cNvPr id="36" name="Rectangle 35"/>
          <p:cNvSpPr/>
          <p:nvPr/>
        </p:nvSpPr>
        <p:spPr>
          <a:xfrm>
            <a:off x="1606296" y="5212079"/>
            <a:ext cx="3273552"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06296" y="5212079"/>
            <a:ext cx="3273552" cy="256032"/>
          </a:xfrm>
          <a:prstGeom prst="rect">
            <a:avLst/>
          </a:prstGeom>
          <a:noFill/>
        </p:spPr>
        <p:txBody>
          <a:bodyPr wrap="square" lIns="36000" rIns="36000" tIns="18000" bIns="18000" anchor="ctr">
            <a:spAutoFit/>
          </a:bodyPr>
          <a:lstStyle/>
          <a:p>
            <a:pPr algn="ctr"/>
            <a:r>
              <a:rPr sz="800" b="1" i="0">
                <a:solidFill>
                  <a:srgbClr val="FFFFFF"/>
                </a:solidFill>
                <a:latin typeface="Arial"/>
              </a:rPr>
              <a:t>▲ PHASE 2 owns these 3 columns · Reviewing · Analyzing · Backlog (RFE)</a:t>
            </a:r>
          </a:p>
        </p:txBody>
      </p:sp>
      <p:sp>
        <p:nvSpPr>
          <p:cNvPr id="38" name="TextBox 37"/>
          <p:cNvSpPr txBox="1"/>
          <p:nvPr/>
        </p:nvSpPr>
        <p:spPr>
          <a:xfrm>
            <a:off x="502920" y="5532120"/>
            <a:ext cx="6583680" cy="182880"/>
          </a:xfrm>
          <a:prstGeom prst="rect">
            <a:avLst/>
          </a:prstGeom>
          <a:noFill/>
        </p:spPr>
        <p:txBody>
          <a:bodyPr wrap="square" lIns="36000" rIns="36000" tIns="18000" bIns="18000" anchor="t">
            <a:spAutoFit/>
          </a:bodyPr>
          <a:lstStyle/>
          <a:p>
            <a:pPr algn="l"/>
            <a:r>
              <a:rPr sz="800" b="0" i="1">
                <a:solidFill>
                  <a:srgbClr val="F08629"/>
                </a:solidFill>
                <a:latin typeface="Arial"/>
              </a:rPr>
              <a:t>S/M demands BYPASS this board · go to Team Kanban directly  ·  XL → PPM Now (out of scope)</a:t>
            </a:r>
          </a:p>
        </p:txBody>
      </p:sp>
      <p:sp>
        <p:nvSpPr>
          <p:cNvPr id="39" name="Rounded Rectangle 38"/>
          <p:cNvSpPr/>
          <p:nvPr/>
        </p:nvSpPr>
        <p:spPr>
          <a:xfrm>
            <a:off x="7406640" y="1920240"/>
            <a:ext cx="868680" cy="3200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0" y="2057400"/>
            <a:ext cx="868680" cy="274320"/>
          </a:xfrm>
          <a:prstGeom prst="rect">
            <a:avLst/>
          </a:prstGeom>
          <a:noFill/>
        </p:spPr>
        <p:txBody>
          <a:bodyPr wrap="square" lIns="36000" rIns="36000" tIns="18000" bIns="18000" anchor="t">
            <a:spAutoFit/>
          </a:bodyPr>
          <a:lstStyle/>
          <a:p>
            <a:pPr algn="ctr"/>
            <a:r>
              <a:rPr sz="1400" b="1" i="0">
                <a:solidFill>
                  <a:srgbClr val="FFFFFF"/>
                </a:solidFill>
                <a:latin typeface="Arial"/>
              </a:rPr>
              <a:t>DoR</a:t>
            </a:r>
          </a:p>
        </p:txBody>
      </p:sp>
      <p:sp>
        <p:nvSpPr>
          <p:cNvPr id="41" name="TextBox 40"/>
          <p:cNvSpPr txBox="1"/>
          <p:nvPr/>
        </p:nvSpPr>
        <p:spPr>
          <a:xfrm>
            <a:off x="7406640" y="2331720"/>
            <a:ext cx="868680" cy="182880"/>
          </a:xfrm>
          <a:prstGeom prst="rect">
            <a:avLst/>
          </a:prstGeom>
          <a:noFill/>
        </p:spPr>
        <p:txBody>
          <a:bodyPr wrap="square" lIns="36000" rIns="36000" tIns="18000" bIns="18000" anchor="t">
            <a:spAutoFit/>
          </a:bodyPr>
          <a:lstStyle/>
          <a:p>
            <a:pPr algn="ctr"/>
            <a:r>
              <a:rPr sz="900" b="1" i="0">
                <a:solidFill>
                  <a:srgbClr val="6FC18F"/>
                </a:solidFill>
                <a:latin typeface="Arial"/>
              </a:rPr>
              <a:t>GATE</a:t>
            </a:r>
          </a:p>
        </p:txBody>
      </p:sp>
      <p:sp>
        <p:nvSpPr>
          <p:cNvPr id="42" name="Oval 41"/>
          <p:cNvSpPr/>
          <p:nvPr/>
        </p:nvSpPr>
        <p:spPr>
          <a:xfrm>
            <a:off x="7749540" y="260604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49540" y="260604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4" name="Oval 43"/>
          <p:cNvSpPr/>
          <p:nvPr/>
        </p:nvSpPr>
        <p:spPr>
          <a:xfrm>
            <a:off x="7749540" y="2990088"/>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9540" y="2990088"/>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6" name="Oval 45"/>
          <p:cNvSpPr/>
          <p:nvPr/>
        </p:nvSpPr>
        <p:spPr>
          <a:xfrm>
            <a:off x="7749540" y="3374136"/>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49540" y="3374136"/>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8" name="Oval 47"/>
          <p:cNvSpPr/>
          <p:nvPr/>
        </p:nvSpPr>
        <p:spPr>
          <a:xfrm>
            <a:off x="7749540" y="3758184"/>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49540" y="3758184"/>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0" name="Oval 49"/>
          <p:cNvSpPr/>
          <p:nvPr/>
        </p:nvSpPr>
        <p:spPr>
          <a:xfrm>
            <a:off x="7749540" y="4142232"/>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49540" y="4142232"/>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2" name="Oval 51"/>
          <p:cNvSpPr/>
          <p:nvPr/>
        </p:nvSpPr>
        <p:spPr>
          <a:xfrm>
            <a:off x="7749540" y="4526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49540" y="452628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4" name="Rounded Rectangle 53"/>
          <p:cNvSpPr/>
          <p:nvPr/>
        </p:nvSpPr>
        <p:spPr>
          <a:xfrm>
            <a:off x="8458199" y="1188720"/>
            <a:ext cx="3364992"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458199" y="1188720"/>
            <a:ext cx="3364992" cy="384048"/>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95359" y="1243584"/>
            <a:ext cx="3090672" cy="274320"/>
          </a:xfrm>
          <a:prstGeom prst="rect">
            <a:avLst/>
          </a:prstGeom>
          <a:noFill/>
        </p:spPr>
        <p:txBody>
          <a:bodyPr wrap="square" lIns="36000" rIns="36000" tIns="18000" bIns="18000" anchor="t">
            <a:spAutoFit/>
          </a:bodyPr>
          <a:lstStyle/>
          <a:p>
            <a:pPr algn="l"/>
            <a:r>
              <a:rPr sz="1100" b="1" i="0">
                <a:solidFill>
                  <a:srgbClr val="FFFFFF"/>
                </a:solidFill>
                <a:latin typeface="Arial"/>
              </a:rPr>
              <a:t>TEAM KANBAN  ·  Squad-level  ·  S/M direct</a:t>
            </a:r>
          </a:p>
        </p:txBody>
      </p:sp>
      <p:sp>
        <p:nvSpPr>
          <p:cNvPr id="57" name="TextBox 56"/>
          <p:cNvSpPr txBox="1"/>
          <p:nvPr/>
        </p:nvSpPr>
        <p:spPr>
          <a:xfrm>
            <a:off x="8595359" y="1645920"/>
            <a:ext cx="3090672" cy="182880"/>
          </a:xfrm>
          <a:prstGeom prst="rect">
            <a:avLst/>
          </a:prstGeom>
          <a:noFill/>
        </p:spPr>
        <p:txBody>
          <a:bodyPr wrap="square" lIns="36000" rIns="36000" tIns="18000" bIns="18000" anchor="t">
            <a:spAutoFit/>
          </a:bodyPr>
          <a:lstStyle/>
          <a:p>
            <a:pPr algn="l"/>
            <a:r>
              <a:rPr sz="800" b="0" i="1">
                <a:solidFill>
                  <a:srgbClr val="526077"/>
                </a:solidFill>
                <a:latin typeface="Arial"/>
              </a:rPr>
              <a:t>Example · CS Billing Operations Squad</a:t>
            </a:r>
          </a:p>
        </p:txBody>
      </p:sp>
      <p:sp>
        <p:nvSpPr>
          <p:cNvPr id="58" name="Rectangle 57"/>
          <p:cNvSpPr/>
          <p:nvPr/>
        </p:nvSpPr>
        <p:spPr>
          <a:xfrm>
            <a:off x="8595359"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95359"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Backlog</a:t>
            </a:r>
          </a:p>
        </p:txBody>
      </p:sp>
      <p:sp>
        <p:nvSpPr>
          <p:cNvPr id="60" name="Rectangle 59"/>
          <p:cNvSpPr/>
          <p:nvPr/>
        </p:nvSpPr>
        <p:spPr>
          <a:xfrm>
            <a:off x="8595359" y="2212848"/>
            <a:ext cx="745236"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377172"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77172"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In Progress</a:t>
            </a:r>
          </a:p>
        </p:txBody>
      </p:sp>
      <p:sp>
        <p:nvSpPr>
          <p:cNvPr id="63" name="Rectangle 62"/>
          <p:cNvSpPr/>
          <p:nvPr/>
        </p:nvSpPr>
        <p:spPr>
          <a:xfrm>
            <a:off x="9377172" y="2212848"/>
            <a:ext cx="745236"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158984"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158984"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Review</a:t>
            </a:r>
          </a:p>
        </p:txBody>
      </p:sp>
      <p:sp>
        <p:nvSpPr>
          <p:cNvPr id="66" name="Rectangle 65"/>
          <p:cNvSpPr/>
          <p:nvPr/>
        </p:nvSpPr>
        <p:spPr>
          <a:xfrm>
            <a:off x="10158984" y="2212848"/>
            <a:ext cx="745236"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940796"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940796"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Done</a:t>
            </a:r>
          </a:p>
        </p:txBody>
      </p:sp>
      <p:sp>
        <p:nvSpPr>
          <p:cNvPr id="69" name="Rectangle 68"/>
          <p:cNvSpPr/>
          <p:nvPr/>
        </p:nvSpPr>
        <p:spPr>
          <a:xfrm>
            <a:off x="10940796" y="2212848"/>
            <a:ext cx="745236"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650224" y="2331720"/>
            <a:ext cx="635508"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686799" y="2368296"/>
            <a:ext cx="562356" cy="164592"/>
          </a:xfrm>
          <a:prstGeom prst="rect">
            <a:avLst/>
          </a:prstGeom>
          <a:noFill/>
        </p:spPr>
        <p:txBody>
          <a:bodyPr wrap="square" lIns="36000" rIns="36000" tIns="18000" bIns="18000" anchor="t">
            <a:spAutoFit/>
          </a:bodyPr>
          <a:lstStyle/>
          <a:p>
            <a:pPr algn="l"/>
            <a:r>
              <a:rPr sz="650" b="1" i="0">
                <a:solidFill>
                  <a:srgbClr val="6B778C"/>
                </a:solidFill>
                <a:latin typeface="Arial"/>
              </a:rPr>
              <a:t>S · Story</a:t>
            </a:r>
          </a:p>
        </p:txBody>
      </p:sp>
      <p:sp>
        <p:nvSpPr>
          <p:cNvPr id="72" name="TextBox 71"/>
          <p:cNvSpPr txBox="1"/>
          <p:nvPr/>
        </p:nvSpPr>
        <p:spPr>
          <a:xfrm>
            <a:off x="8686799" y="2514600"/>
            <a:ext cx="562356" cy="384048"/>
          </a:xfrm>
          <a:prstGeom prst="rect">
            <a:avLst/>
          </a:prstGeom>
          <a:noFill/>
        </p:spPr>
        <p:txBody>
          <a:bodyPr wrap="square" lIns="36000" rIns="36000" tIns="18000" bIns="18000" anchor="t">
            <a:spAutoFit/>
          </a:bodyPr>
          <a:lstStyle/>
          <a:p>
            <a:pPr algn="l"/>
            <a:r>
              <a:rPr sz="700" b="1" i="0">
                <a:solidFill>
                  <a:srgbClr val="2C3E50"/>
                </a:solidFill>
                <a:latin typeface="Arial"/>
              </a:rPr>
              <a:t>CRM page load &lt;2s</a:t>
            </a:r>
          </a:p>
        </p:txBody>
      </p:sp>
      <p:sp>
        <p:nvSpPr>
          <p:cNvPr id="73" name="Rounded Rectangle 72"/>
          <p:cNvSpPr/>
          <p:nvPr/>
        </p:nvSpPr>
        <p:spPr>
          <a:xfrm>
            <a:off x="8686799" y="2898648"/>
            <a:ext cx="640080" cy="164592"/>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86799"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Expedite</a:t>
            </a:r>
          </a:p>
        </p:txBody>
      </p:sp>
      <p:sp>
        <p:nvSpPr>
          <p:cNvPr id="75" name="Rounded Rectangle 74"/>
          <p:cNvSpPr/>
          <p:nvPr/>
        </p:nvSpPr>
        <p:spPr>
          <a:xfrm>
            <a:off x="8929116" y="2368296"/>
            <a:ext cx="274320" cy="146304"/>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929116" y="2368296"/>
            <a:ext cx="274320" cy="146304"/>
          </a:xfrm>
          <a:prstGeom prst="rect">
            <a:avLst/>
          </a:prstGeom>
          <a:noFill/>
        </p:spPr>
        <p:txBody>
          <a:bodyPr wrap="square" lIns="36000" rIns="36000" tIns="18000" bIns="18000" anchor="ctr">
            <a:spAutoFit/>
          </a:bodyPr>
          <a:lstStyle/>
          <a:p>
            <a:pPr algn="ctr"/>
            <a:r>
              <a:rPr sz="600" b="1" i="0">
                <a:solidFill>
                  <a:srgbClr val="FFFFFF"/>
                </a:solidFill>
                <a:latin typeface="Arial"/>
              </a:rPr>
              <a:t>CS</a:t>
            </a:r>
          </a:p>
        </p:txBody>
      </p:sp>
      <p:sp>
        <p:nvSpPr>
          <p:cNvPr id="77" name="TextBox 76"/>
          <p:cNvSpPr txBox="1"/>
          <p:nvPr/>
        </p:nvSpPr>
        <p:spPr>
          <a:xfrm>
            <a:off x="7360919" y="4663440"/>
            <a:ext cx="960120" cy="274320"/>
          </a:xfrm>
          <a:prstGeom prst="rect">
            <a:avLst/>
          </a:prstGeom>
          <a:noFill/>
        </p:spPr>
        <p:txBody>
          <a:bodyPr wrap="square" lIns="36000" rIns="36000" tIns="18000" bIns="18000" anchor="t">
            <a:spAutoFit/>
          </a:bodyPr>
          <a:lstStyle/>
          <a:p>
            <a:pPr algn="ctr"/>
            <a:r>
              <a:rPr sz="1000" b="1" i="0">
                <a:solidFill>
                  <a:srgbClr val="006B3F"/>
                </a:solidFill>
                <a:latin typeface="Arial"/>
              </a:rPr>
              <a:t>→ pull</a:t>
            </a:r>
          </a:p>
        </p:txBody>
      </p:sp>
      <p:sp>
        <p:nvSpPr>
          <p:cNvPr id="78" name="Rounded Rectangle 77"/>
          <p:cNvSpPr/>
          <p:nvPr/>
        </p:nvSpPr>
        <p:spPr>
          <a:xfrm>
            <a:off x="365760" y="585216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65760" y="585216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48640" y="59070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81" name="TextBox 80"/>
          <p:cNvSpPr txBox="1"/>
          <p:nvPr/>
        </p:nvSpPr>
        <p:spPr>
          <a:xfrm>
            <a:off x="548640" y="60716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Stories are pulled, not pushed — Squad PM checks DoR + WIP, then pulls when capacity allows.</a:t>
            </a:r>
          </a:p>
        </p:txBody>
      </p:sp>
      <p:sp>
        <p:nvSpPr>
          <p:cNvPr id="82" name="TextBox 81"/>
          <p:cNvSpPr txBox="1"/>
          <p:nvPr/>
        </p:nvSpPr>
        <p:spPr>
          <a:xfrm>
            <a:off x="548640" y="6355080"/>
            <a:ext cx="11201400" cy="-45719"/>
          </a:xfrm>
          <a:prstGeom prst="rect">
            <a:avLst/>
          </a:prstGeom>
          <a:noFill/>
        </p:spPr>
        <p:txBody>
          <a:bodyPr wrap="square" lIns="36000" rIns="36000" tIns="18000" bIns="18000" anchor="t">
            <a:spAutoFit/>
          </a:bodyPr>
          <a:lstStyle/>
          <a:p>
            <a:pPr algn="l"/>
            <a:r>
              <a:rPr sz="800" b="0" i="0">
                <a:solidFill>
                  <a:srgbClr val="526077"/>
                </a:solidFill>
                <a:latin typeface="Arial"/>
              </a:rPr>
              <a:t>Same flow for CS and ITBA · Owner of pull = Squad PM · ITBA squads use the same pattern (e.g., Networks IT)</a:t>
            </a:r>
          </a:p>
        </p:txBody>
      </p:sp>
      <p:sp>
        <p:nvSpPr>
          <p:cNvPr id="83" name="TextBox 82"/>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84" name="Rectangle 83"/>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86" name="Rectangle 85"/>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88" name="Rectangle 87"/>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90" name="Rectangle 89"/>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92" name="TextBox 9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3" name="TextBox 9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03 / 27</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Six capabilities · three muscles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Detail · Sequence · Capacity — every capability lives inside one of these three groups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3703320" cy="6400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DETAIL  ·  detail muscle</a:t>
            </a:r>
          </a:p>
        </p:txBody>
      </p:sp>
      <p:sp>
        <p:nvSpPr>
          <p:cNvPr id="8" name="TextBox 7"/>
          <p:cNvSpPr txBox="1"/>
          <p:nvPr/>
        </p:nvSpPr>
        <p:spPr>
          <a:xfrm>
            <a:off x="5486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Turn vague demand into shippable stories</a:t>
            </a:r>
          </a:p>
        </p:txBody>
      </p:sp>
      <p:sp>
        <p:nvSpPr>
          <p:cNvPr id="9" name="Rounded Rectangle 8"/>
          <p:cNvSpPr/>
          <p:nvPr/>
        </p:nvSpPr>
        <p:spPr>
          <a:xfrm>
            <a:off x="502920" y="22860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2860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408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Refinement</a:t>
            </a:r>
          </a:p>
        </p:txBody>
      </p:sp>
      <p:sp>
        <p:nvSpPr>
          <p:cNvPr id="12" name="TextBox 11"/>
          <p:cNvSpPr txBox="1"/>
          <p:nvPr/>
        </p:nvSpPr>
        <p:spPr>
          <a:xfrm>
            <a:off x="30632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05</a:t>
            </a:r>
          </a:p>
        </p:txBody>
      </p:sp>
      <p:sp>
        <p:nvSpPr>
          <p:cNvPr id="13" name="TextBox 12"/>
          <p:cNvSpPr txBox="1"/>
          <p:nvPr/>
        </p:nvSpPr>
        <p:spPr>
          <a:xfrm>
            <a:off x="6400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Demand → Initiative → Epic → Stories</a:t>
            </a:r>
          </a:p>
        </p:txBody>
      </p:sp>
      <p:sp>
        <p:nvSpPr>
          <p:cNvPr id="14" name="TextBox 13"/>
          <p:cNvSpPr txBox="1"/>
          <p:nvPr/>
        </p:nvSpPr>
        <p:spPr>
          <a:xfrm>
            <a:off x="6400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outcome-named, not deliverable-named</a:t>
            </a:r>
          </a:p>
        </p:txBody>
      </p:sp>
      <p:sp>
        <p:nvSpPr>
          <p:cNvPr id="15" name="TextBox 14"/>
          <p:cNvSpPr txBox="1"/>
          <p:nvPr/>
        </p:nvSpPr>
        <p:spPr>
          <a:xfrm>
            <a:off x="640080" y="29626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(Portfolio · per VS)</a:t>
            </a:r>
          </a:p>
        </p:txBody>
      </p:sp>
      <p:sp>
        <p:nvSpPr>
          <p:cNvPr id="16" name="Rounded Rectangle 15"/>
          <p:cNvSpPr/>
          <p:nvPr/>
        </p:nvSpPr>
        <p:spPr>
          <a:xfrm>
            <a:off x="502920" y="36576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6576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12463"/>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Estimation</a:t>
            </a:r>
          </a:p>
        </p:txBody>
      </p:sp>
      <p:sp>
        <p:nvSpPr>
          <p:cNvPr id="19" name="TextBox 18"/>
          <p:cNvSpPr txBox="1"/>
          <p:nvPr/>
        </p:nvSpPr>
        <p:spPr>
          <a:xfrm>
            <a:off x="30632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06</a:t>
            </a:r>
          </a:p>
        </p:txBody>
      </p:sp>
      <p:sp>
        <p:nvSpPr>
          <p:cNvPr id="20" name="TextBox 19"/>
          <p:cNvSpPr txBox="1"/>
          <p:nvPr/>
        </p:nvSpPr>
        <p:spPr>
          <a:xfrm>
            <a:off x="6400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T-shirt + Effort 1-5 + Pain Score</a:t>
            </a:r>
          </a:p>
        </p:txBody>
      </p:sp>
      <p:sp>
        <p:nvSpPr>
          <p:cNvPr id="21" name="TextBox 20"/>
          <p:cNvSpPr txBox="1"/>
          <p:nvPr/>
        </p:nvSpPr>
        <p:spPr>
          <a:xfrm>
            <a:off x="6400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CS uses 2 components · ITBA uses 3 (Safety isolated)</a:t>
            </a:r>
          </a:p>
        </p:txBody>
      </p:sp>
      <p:sp>
        <p:nvSpPr>
          <p:cNvPr id="22" name="TextBox 21"/>
          <p:cNvSpPr txBox="1"/>
          <p:nvPr/>
        </p:nvSpPr>
        <p:spPr>
          <a:xfrm>
            <a:off x="640080" y="43342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scores BV/UX · Architect scores Effort/Safety</a:t>
            </a:r>
          </a:p>
        </p:txBody>
      </p:sp>
      <p:sp>
        <p:nvSpPr>
          <p:cNvPr id="23" name="Rounded Rectangle 22"/>
          <p:cNvSpPr/>
          <p:nvPr/>
        </p:nvSpPr>
        <p:spPr>
          <a:xfrm>
            <a:off x="502920" y="50292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0292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0840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Grouping</a:t>
            </a:r>
          </a:p>
        </p:txBody>
      </p:sp>
      <p:sp>
        <p:nvSpPr>
          <p:cNvPr id="26" name="TextBox 25"/>
          <p:cNvSpPr txBox="1"/>
          <p:nvPr/>
        </p:nvSpPr>
        <p:spPr>
          <a:xfrm>
            <a:off x="30632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05</a:t>
            </a:r>
          </a:p>
        </p:txBody>
      </p:sp>
      <p:sp>
        <p:nvSpPr>
          <p:cNvPr id="27" name="TextBox 26"/>
          <p:cNvSpPr txBox="1"/>
          <p:nvPr/>
        </p:nvSpPr>
        <p:spPr>
          <a:xfrm>
            <a:off x="6400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Initiative · Epic · Story · Sub-task</a:t>
            </a:r>
          </a:p>
        </p:txBody>
      </p:sp>
      <p:sp>
        <p:nvSpPr>
          <p:cNvPr id="28" name="TextBox 27"/>
          <p:cNvSpPr txBox="1"/>
          <p:nvPr/>
        </p:nvSpPr>
        <p:spPr>
          <a:xfrm>
            <a:off x="6400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hierarchy mirrors the work breakdown</a:t>
            </a:r>
          </a:p>
        </p:txBody>
      </p:sp>
      <p:sp>
        <p:nvSpPr>
          <p:cNvPr id="29" name="TextBox 28"/>
          <p:cNvSpPr txBox="1"/>
          <p:nvPr/>
        </p:nvSpPr>
        <p:spPr>
          <a:xfrm>
            <a:off x="640080" y="57058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(Portfolio · per VS)</a:t>
            </a:r>
          </a:p>
        </p:txBody>
      </p:sp>
      <p:sp>
        <p:nvSpPr>
          <p:cNvPr id="30" name="Rounded Rectangle 29"/>
          <p:cNvSpPr/>
          <p:nvPr/>
        </p:nvSpPr>
        <p:spPr>
          <a:xfrm>
            <a:off x="42519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51960" y="1508760"/>
            <a:ext cx="3703320" cy="6400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SEQUENCE  ·  sequence muscle</a:t>
            </a:r>
          </a:p>
        </p:txBody>
      </p:sp>
      <p:sp>
        <p:nvSpPr>
          <p:cNvPr id="33" name="TextBox 32"/>
          <p:cNvSpPr txBox="1"/>
          <p:nvPr/>
        </p:nvSpPr>
        <p:spPr>
          <a:xfrm>
            <a:off x="44348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Decide what gets built when — across CS and ITBA</a:t>
            </a:r>
          </a:p>
        </p:txBody>
      </p:sp>
      <p:sp>
        <p:nvSpPr>
          <p:cNvPr id="34" name="Rounded Rectangle 33"/>
          <p:cNvSpPr/>
          <p:nvPr/>
        </p:nvSpPr>
        <p:spPr>
          <a:xfrm>
            <a:off x="4389120" y="22860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89120" y="22860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23408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Prioritization</a:t>
            </a:r>
          </a:p>
        </p:txBody>
      </p:sp>
      <p:sp>
        <p:nvSpPr>
          <p:cNvPr id="37" name="TextBox 36"/>
          <p:cNvSpPr txBox="1"/>
          <p:nvPr/>
        </p:nvSpPr>
        <p:spPr>
          <a:xfrm>
            <a:off x="69494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07</a:t>
            </a:r>
          </a:p>
        </p:txBody>
      </p:sp>
      <p:sp>
        <p:nvSpPr>
          <p:cNvPr id="38" name="TextBox 37"/>
          <p:cNvSpPr txBox="1"/>
          <p:nvPr/>
        </p:nvSpPr>
        <p:spPr>
          <a:xfrm>
            <a:off x="45262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2 overrides + Pain Score + CoS</a:t>
            </a:r>
          </a:p>
        </p:txBody>
      </p:sp>
      <p:sp>
        <p:nvSpPr>
          <p:cNvPr id="39" name="TextBox 38"/>
          <p:cNvSpPr txBox="1"/>
          <p:nvPr/>
        </p:nvSpPr>
        <p:spPr>
          <a:xfrm>
            <a:off x="45262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Type=Reg → Fixed-Date · CIT P1/P2 → Expedite</a:t>
            </a:r>
          </a:p>
        </p:txBody>
      </p:sp>
      <p:sp>
        <p:nvSpPr>
          <p:cNvPr id="40" name="TextBox 39"/>
          <p:cNvSpPr txBox="1"/>
          <p:nvPr/>
        </p:nvSpPr>
        <p:spPr>
          <a:xfrm>
            <a:off x="4526280" y="29626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proposes · Director arbitrates · VP breaks ties</a:t>
            </a:r>
          </a:p>
        </p:txBody>
      </p:sp>
      <p:sp>
        <p:nvSpPr>
          <p:cNvPr id="41" name="Rounded Rectangle 40"/>
          <p:cNvSpPr/>
          <p:nvPr/>
        </p:nvSpPr>
        <p:spPr>
          <a:xfrm>
            <a:off x="4389120" y="36576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389120" y="36576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26280" y="3712463"/>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Portfolio backlog</a:t>
            </a:r>
          </a:p>
        </p:txBody>
      </p:sp>
      <p:sp>
        <p:nvSpPr>
          <p:cNvPr id="44" name="TextBox 43"/>
          <p:cNvSpPr txBox="1"/>
          <p:nvPr/>
        </p:nvSpPr>
        <p:spPr>
          <a:xfrm>
            <a:off x="69494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08</a:t>
            </a:r>
          </a:p>
        </p:txBody>
      </p:sp>
      <p:sp>
        <p:nvSpPr>
          <p:cNvPr id="45" name="TextBox 44"/>
          <p:cNvSpPr txBox="1"/>
          <p:nvPr/>
        </p:nvSpPr>
        <p:spPr>
          <a:xfrm>
            <a:off x="45262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Cross-VS ranked list · re-ranked monthly</a:t>
            </a:r>
          </a:p>
        </p:txBody>
      </p:sp>
      <p:sp>
        <p:nvSpPr>
          <p:cNvPr id="46" name="TextBox 45"/>
          <p:cNvSpPr txBox="1"/>
          <p:nvPr/>
        </p:nvSpPr>
        <p:spPr>
          <a:xfrm>
            <a:off x="45262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Pain Score + CoS + capacity-available</a:t>
            </a:r>
          </a:p>
        </p:txBody>
      </p:sp>
      <p:sp>
        <p:nvSpPr>
          <p:cNvPr id="47" name="TextBox 46"/>
          <p:cNvSpPr txBox="1"/>
          <p:nvPr/>
        </p:nvSpPr>
        <p:spPr>
          <a:xfrm>
            <a:off x="4526280" y="43342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VS) maintains · Director approves at Gate 2</a:t>
            </a:r>
          </a:p>
        </p:txBody>
      </p:sp>
      <p:sp>
        <p:nvSpPr>
          <p:cNvPr id="48" name="Rounded Rectangle 47"/>
          <p:cNvSpPr/>
          <p:nvPr/>
        </p:nvSpPr>
        <p:spPr>
          <a:xfrm>
            <a:off x="4389120" y="50292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389120" y="50292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26280" y="50840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Roadmap (rolling wave)</a:t>
            </a:r>
          </a:p>
        </p:txBody>
      </p:sp>
      <p:sp>
        <p:nvSpPr>
          <p:cNvPr id="51" name="TextBox 50"/>
          <p:cNvSpPr txBox="1"/>
          <p:nvPr/>
        </p:nvSpPr>
        <p:spPr>
          <a:xfrm>
            <a:off x="69494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09</a:t>
            </a:r>
          </a:p>
        </p:txBody>
      </p:sp>
      <p:sp>
        <p:nvSpPr>
          <p:cNvPr id="52" name="TextBox 51"/>
          <p:cNvSpPr txBox="1"/>
          <p:nvPr/>
        </p:nvSpPr>
        <p:spPr>
          <a:xfrm>
            <a:off x="45262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3 mo committed · 3-6 planned · 6-12 hypothesized</a:t>
            </a:r>
          </a:p>
        </p:txBody>
      </p:sp>
      <p:sp>
        <p:nvSpPr>
          <p:cNvPr id="53" name="TextBox 52"/>
          <p:cNvSpPr txBox="1"/>
          <p:nvPr/>
        </p:nvSpPr>
        <p:spPr>
          <a:xfrm>
            <a:off x="45262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commits and hypotheses NEVER mixed visually</a:t>
            </a:r>
          </a:p>
        </p:txBody>
      </p:sp>
      <p:sp>
        <p:nvSpPr>
          <p:cNvPr id="54" name="TextBox 53"/>
          <p:cNvSpPr txBox="1"/>
          <p:nvPr/>
        </p:nvSpPr>
        <p:spPr>
          <a:xfrm>
            <a:off x="4526280" y="57058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VS) · re-balanced monthly at Gate 2</a:t>
            </a:r>
          </a:p>
        </p:txBody>
      </p:sp>
      <p:sp>
        <p:nvSpPr>
          <p:cNvPr id="55" name="Rounded Rectangle 54"/>
          <p:cNvSpPr/>
          <p:nvPr/>
        </p:nvSpPr>
        <p:spPr>
          <a:xfrm>
            <a:off x="81381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138160" y="1508760"/>
            <a:ext cx="3703320"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210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CAPACITY  ·  capacity muscle</a:t>
            </a:r>
          </a:p>
        </p:txBody>
      </p:sp>
      <p:sp>
        <p:nvSpPr>
          <p:cNvPr id="58" name="TextBox 57"/>
          <p:cNvSpPr txBox="1"/>
          <p:nvPr/>
        </p:nvSpPr>
        <p:spPr>
          <a:xfrm>
            <a:off x="83210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Match demand to available squad capacity — and react when reality bites</a:t>
            </a:r>
          </a:p>
        </p:txBody>
      </p:sp>
      <p:sp>
        <p:nvSpPr>
          <p:cNvPr id="59" name="Rounded Rectangle 58"/>
          <p:cNvSpPr/>
          <p:nvPr/>
        </p:nvSpPr>
        <p:spPr>
          <a:xfrm>
            <a:off x="8275320" y="22860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75320" y="22860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80" y="23408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Capacity planning</a:t>
            </a:r>
          </a:p>
        </p:txBody>
      </p:sp>
      <p:sp>
        <p:nvSpPr>
          <p:cNvPr id="62" name="TextBox 61"/>
          <p:cNvSpPr txBox="1"/>
          <p:nvPr/>
        </p:nvSpPr>
        <p:spPr>
          <a:xfrm>
            <a:off x="108356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10</a:t>
            </a:r>
          </a:p>
        </p:txBody>
      </p:sp>
      <p:sp>
        <p:nvSpPr>
          <p:cNvPr id="63" name="TextBox 62"/>
          <p:cNvSpPr txBox="1"/>
          <p:nvPr/>
        </p:nvSpPr>
        <p:spPr>
          <a:xfrm>
            <a:off x="84124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 per CoS lane · per squad · per quarter</a:t>
            </a:r>
          </a:p>
        </p:txBody>
      </p:sp>
      <p:sp>
        <p:nvSpPr>
          <p:cNvPr id="64" name="TextBox 63"/>
          <p:cNvSpPr txBox="1"/>
          <p:nvPr/>
        </p:nvSpPr>
        <p:spPr>
          <a:xfrm>
            <a:off x="84124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decided MONTHLY at Gate 2 · day-to-day with middle managers</a:t>
            </a:r>
          </a:p>
        </p:txBody>
      </p:sp>
      <p:sp>
        <p:nvSpPr>
          <p:cNvPr id="65" name="TextBox 64"/>
          <p:cNvSpPr txBox="1"/>
          <p:nvPr/>
        </p:nvSpPr>
        <p:spPr>
          <a:xfrm>
            <a:off x="8412480" y="29626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Director (approves) + Middle managers (day-to-day)</a:t>
            </a:r>
          </a:p>
        </p:txBody>
      </p:sp>
      <p:sp>
        <p:nvSpPr>
          <p:cNvPr id="66" name="Rounded Rectangle 65"/>
          <p:cNvSpPr/>
          <p:nvPr/>
        </p:nvSpPr>
        <p:spPr>
          <a:xfrm>
            <a:off x="8275320" y="36576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275320" y="36576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12480" y="3712463"/>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Forecasting + alignment</a:t>
            </a:r>
          </a:p>
        </p:txBody>
      </p:sp>
      <p:sp>
        <p:nvSpPr>
          <p:cNvPr id="69" name="TextBox 68"/>
          <p:cNvSpPr txBox="1"/>
          <p:nvPr/>
        </p:nvSpPr>
        <p:spPr>
          <a:xfrm>
            <a:off x="108356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10</a:t>
            </a:r>
          </a:p>
        </p:txBody>
      </p:sp>
      <p:sp>
        <p:nvSpPr>
          <p:cNvPr id="70" name="TextBox 69"/>
          <p:cNvSpPr txBox="1"/>
          <p:nvPr/>
        </p:nvSpPr>
        <p:spPr>
          <a:xfrm>
            <a:off x="84124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Squad capacity (FTE × velocity) FIXED quarterly</a:t>
            </a:r>
          </a:p>
        </p:txBody>
      </p:sp>
      <p:sp>
        <p:nvSpPr>
          <p:cNvPr id="71" name="TextBox 70"/>
          <p:cNvSpPr txBox="1"/>
          <p:nvPr/>
        </p:nvSpPr>
        <p:spPr>
          <a:xfrm>
            <a:off x="84124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demand vs available capacity visible at Gate 2</a:t>
            </a:r>
          </a:p>
        </p:txBody>
      </p:sp>
      <p:sp>
        <p:nvSpPr>
          <p:cNvPr id="72" name="TextBox 71"/>
          <p:cNvSpPr txBox="1"/>
          <p:nvPr/>
        </p:nvSpPr>
        <p:spPr>
          <a:xfrm>
            <a:off x="8412480" y="43342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Middle managers maintain · PM consumes</a:t>
            </a:r>
          </a:p>
        </p:txBody>
      </p:sp>
      <p:sp>
        <p:nvSpPr>
          <p:cNvPr id="73" name="Rounded Rectangle 72"/>
          <p:cNvSpPr/>
          <p:nvPr/>
        </p:nvSpPr>
        <p:spPr>
          <a:xfrm>
            <a:off x="8275320" y="50292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275320" y="50292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12480" y="50840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Work allocation + ad-hoc</a:t>
            </a:r>
          </a:p>
        </p:txBody>
      </p:sp>
      <p:sp>
        <p:nvSpPr>
          <p:cNvPr id="76" name="TextBox 75"/>
          <p:cNvSpPr txBox="1"/>
          <p:nvPr/>
        </p:nvSpPr>
        <p:spPr>
          <a:xfrm>
            <a:off x="108356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11</a:t>
            </a:r>
          </a:p>
        </p:txBody>
      </p:sp>
      <p:sp>
        <p:nvSpPr>
          <p:cNvPr id="77" name="TextBox 76"/>
          <p:cNvSpPr txBox="1"/>
          <p:nvPr/>
        </p:nvSpPr>
        <p:spPr>
          <a:xfrm>
            <a:off x="84124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Auto-Expedite (P1/P2) · scope-add · emergency</a:t>
            </a:r>
          </a:p>
        </p:txBody>
      </p:sp>
      <p:sp>
        <p:nvSpPr>
          <p:cNvPr id="78" name="TextBox 77"/>
          <p:cNvSpPr txBox="1"/>
          <p:nvPr/>
        </p:nvSpPr>
        <p:spPr>
          <a:xfrm>
            <a:off x="84124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3 channels for unplanned demand</a:t>
            </a:r>
          </a:p>
        </p:txBody>
      </p:sp>
      <p:sp>
        <p:nvSpPr>
          <p:cNvPr id="79" name="TextBox 78"/>
          <p:cNvSpPr txBox="1"/>
          <p:nvPr/>
        </p:nvSpPr>
        <p:spPr>
          <a:xfrm>
            <a:off x="8412480" y="57058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Squad PM accepts within 48h</a:t>
            </a:r>
          </a:p>
        </p:txBody>
      </p:sp>
      <p:sp>
        <p:nvSpPr>
          <p:cNvPr id="80" name="TextBox 79"/>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1" name="TextBox 8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04 / 27</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Refinement · outcome-named hierarchy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Demand → Initiative → Epic → ~3 Stories · INVEST · outcomes not deliverables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2286000"/>
            <a:ext cx="1691640" cy="566928"/>
          </a:xfrm>
          <a:prstGeom prst="roundRect">
            <a:avLst>
              <a:gd name="adj" fmla="val 6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322576"/>
            <a:ext cx="1691640" cy="201168"/>
          </a:xfrm>
          <a:prstGeom prst="rect">
            <a:avLst/>
          </a:prstGeom>
          <a:noFill/>
        </p:spPr>
        <p:txBody>
          <a:bodyPr wrap="square" lIns="36000" rIns="36000" tIns="18000" bIns="18000" anchor="t">
            <a:spAutoFit/>
          </a:bodyPr>
          <a:lstStyle/>
          <a:p>
            <a:pPr algn="ctr"/>
            <a:r>
              <a:rPr sz="1100" b="1" i="0">
                <a:solidFill>
                  <a:srgbClr val="FFFFFF"/>
                </a:solidFill>
                <a:latin typeface="Arial"/>
              </a:rPr>
              <a:t>DEMAND</a:t>
            </a:r>
          </a:p>
        </p:txBody>
      </p:sp>
      <p:sp>
        <p:nvSpPr>
          <p:cNvPr id="7" name="TextBox 6"/>
          <p:cNvSpPr txBox="1"/>
          <p:nvPr/>
        </p:nvSpPr>
        <p:spPr>
          <a:xfrm>
            <a:off x="365760" y="2532888"/>
            <a:ext cx="1691640" cy="164592"/>
          </a:xfrm>
          <a:prstGeom prst="rect">
            <a:avLst/>
          </a:prstGeom>
          <a:noFill/>
        </p:spPr>
        <p:txBody>
          <a:bodyPr wrap="square" lIns="36000" rIns="36000" tIns="18000" bIns="18000" anchor="t">
            <a:spAutoFit/>
          </a:bodyPr>
          <a:lstStyle/>
          <a:p>
            <a:pPr algn="ctr"/>
            <a:r>
              <a:rPr sz="800" b="0" i="1">
                <a:solidFill>
                  <a:srgbClr val="FFFFFF"/>
                </a:solidFill>
                <a:latin typeface="Arial"/>
              </a:rPr>
              <a:t>intake placeholder</a:t>
            </a:r>
          </a:p>
        </p:txBody>
      </p:sp>
      <p:sp>
        <p:nvSpPr>
          <p:cNvPr id="8" name="TextBox 7"/>
          <p:cNvSpPr txBox="1"/>
          <p:nvPr/>
        </p:nvSpPr>
        <p:spPr>
          <a:xfrm>
            <a:off x="365760" y="2697480"/>
            <a:ext cx="1691640" cy="164592"/>
          </a:xfrm>
          <a:prstGeom prst="rect">
            <a:avLst/>
          </a:prstGeom>
          <a:noFill/>
        </p:spPr>
        <p:txBody>
          <a:bodyPr wrap="square" lIns="36000" rIns="36000" tIns="18000" bIns="18000" anchor="t">
            <a:spAutoFit/>
          </a:bodyPr>
          <a:lstStyle/>
          <a:p>
            <a:pPr algn="ctr"/>
            <a:r>
              <a:rPr sz="700" b="1" i="0">
                <a:solidFill>
                  <a:srgbClr val="FFFFFF"/>
                </a:solidFill>
                <a:latin typeface="Arial"/>
              </a:rPr>
              <a:t>from Phase 1</a:t>
            </a:r>
          </a:p>
        </p:txBody>
      </p:sp>
      <p:sp>
        <p:nvSpPr>
          <p:cNvPr id="9" name="Rounded Rectangle 8"/>
          <p:cNvSpPr/>
          <p:nvPr/>
        </p:nvSpPr>
        <p:spPr>
          <a:xfrm>
            <a:off x="2194560" y="2286000"/>
            <a:ext cx="1783080" cy="566928"/>
          </a:xfrm>
          <a:prstGeom prst="roundRect">
            <a:avLst>
              <a:gd name="adj" fmla="val 6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4560" y="2322576"/>
            <a:ext cx="1783080" cy="201168"/>
          </a:xfrm>
          <a:prstGeom prst="rect">
            <a:avLst/>
          </a:prstGeom>
          <a:noFill/>
        </p:spPr>
        <p:txBody>
          <a:bodyPr wrap="square" lIns="36000" rIns="36000" tIns="18000" bIns="18000" anchor="t">
            <a:spAutoFit/>
          </a:bodyPr>
          <a:lstStyle/>
          <a:p>
            <a:pPr algn="ctr"/>
            <a:r>
              <a:rPr sz="1100" b="1" i="0">
                <a:solidFill>
                  <a:srgbClr val="FFFFFF"/>
                </a:solidFill>
                <a:latin typeface="Arial"/>
              </a:rPr>
              <a:t>INITIATIVE</a:t>
            </a:r>
          </a:p>
        </p:txBody>
      </p:sp>
      <p:sp>
        <p:nvSpPr>
          <p:cNvPr id="11" name="TextBox 10"/>
          <p:cNvSpPr txBox="1"/>
          <p:nvPr/>
        </p:nvSpPr>
        <p:spPr>
          <a:xfrm>
            <a:off x="2194560" y="2532888"/>
            <a:ext cx="1783080" cy="164592"/>
          </a:xfrm>
          <a:prstGeom prst="rect">
            <a:avLst/>
          </a:prstGeom>
          <a:noFill/>
        </p:spPr>
        <p:txBody>
          <a:bodyPr wrap="square" lIns="36000" rIns="36000" tIns="18000" bIns="18000" anchor="t">
            <a:spAutoFit/>
          </a:bodyPr>
          <a:lstStyle/>
          <a:p>
            <a:pPr algn="ctr"/>
            <a:r>
              <a:rPr sz="800" b="0" i="1">
                <a:solidFill>
                  <a:srgbClr val="FFFFFF"/>
                </a:solidFill>
                <a:latin typeface="Arial"/>
              </a:rPr>
              <a:t>L only · multi-quarter</a:t>
            </a:r>
          </a:p>
        </p:txBody>
      </p:sp>
      <p:sp>
        <p:nvSpPr>
          <p:cNvPr id="12" name="TextBox 11"/>
          <p:cNvSpPr txBox="1"/>
          <p:nvPr/>
        </p:nvSpPr>
        <p:spPr>
          <a:xfrm>
            <a:off x="2194560" y="2697480"/>
            <a:ext cx="178308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sp>
        <p:nvSpPr>
          <p:cNvPr id="13" name="Rounded Rectangle 12"/>
          <p:cNvSpPr/>
          <p:nvPr/>
        </p:nvSpPr>
        <p:spPr>
          <a:xfrm>
            <a:off x="4114800" y="2286000"/>
            <a:ext cx="2331720" cy="566928"/>
          </a:xfrm>
          <a:prstGeom prst="roundRect">
            <a:avLst>
              <a:gd name="adj" fmla="val 6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2322576"/>
            <a:ext cx="2331720" cy="201168"/>
          </a:xfrm>
          <a:prstGeom prst="rect">
            <a:avLst/>
          </a:prstGeom>
          <a:noFill/>
        </p:spPr>
        <p:txBody>
          <a:bodyPr wrap="square" lIns="36000" rIns="36000" tIns="18000" bIns="18000" anchor="t">
            <a:spAutoFit/>
          </a:bodyPr>
          <a:lstStyle/>
          <a:p>
            <a:pPr algn="ctr"/>
            <a:r>
              <a:rPr sz="1100" b="1" i="0">
                <a:solidFill>
                  <a:srgbClr val="FFFFFF"/>
                </a:solidFill>
                <a:latin typeface="Arial"/>
              </a:rPr>
              <a:t>EPIC</a:t>
            </a:r>
          </a:p>
        </p:txBody>
      </p:sp>
      <p:sp>
        <p:nvSpPr>
          <p:cNvPr id="15" name="TextBox 14"/>
          <p:cNvSpPr txBox="1"/>
          <p:nvPr/>
        </p:nvSpPr>
        <p:spPr>
          <a:xfrm>
            <a:off x="4114800" y="2532888"/>
            <a:ext cx="2331720" cy="164592"/>
          </a:xfrm>
          <a:prstGeom prst="rect">
            <a:avLst/>
          </a:prstGeom>
          <a:noFill/>
        </p:spPr>
        <p:txBody>
          <a:bodyPr wrap="square" lIns="36000" rIns="36000" tIns="18000" bIns="18000" anchor="t">
            <a:spAutoFit/>
          </a:bodyPr>
          <a:lstStyle/>
          <a:p>
            <a:pPr algn="ctr"/>
            <a:r>
              <a:rPr sz="800" b="0" i="1">
                <a:solidFill>
                  <a:srgbClr val="FFFFFF"/>
                </a:solidFill>
                <a:latin typeface="Arial"/>
              </a:rPr>
              <a:t>M/L · outcome holder</a:t>
            </a:r>
          </a:p>
        </p:txBody>
      </p:sp>
      <p:sp>
        <p:nvSpPr>
          <p:cNvPr id="16" name="TextBox 15"/>
          <p:cNvSpPr txBox="1"/>
          <p:nvPr/>
        </p:nvSpPr>
        <p:spPr>
          <a:xfrm>
            <a:off x="4114800" y="2697480"/>
            <a:ext cx="233172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cxnSp>
        <p:nvCxnSpPr>
          <p:cNvPr id="17" name="Connector 16"/>
          <p:cNvCxnSpPr/>
          <p:nvPr/>
        </p:nvCxnSpPr>
        <p:spPr>
          <a:xfrm>
            <a:off x="2057400" y="2569464"/>
            <a:ext cx="137160" cy="0"/>
          </a:xfrm>
          <a:prstGeom prst="line">
            <a:avLst/>
          </a:prstGeom>
          <a:ln w="25400">
            <a:solidFill>
              <a:srgbClr val="008C3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977639" y="2569464"/>
            <a:ext cx="137161" cy="0"/>
          </a:xfrm>
          <a:prstGeom prst="line">
            <a:avLst/>
          </a:prstGeom>
          <a:ln w="25400">
            <a:solidFill>
              <a:srgbClr val="1B3C6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675120" y="16002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6367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1</a:t>
            </a:r>
          </a:p>
        </p:txBody>
      </p:sp>
      <p:sp>
        <p:nvSpPr>
          <p:cNvPr id="21" name="TextBox 20"/>
          <p:cNvSpPr txBox="1"/>
          <p:nvPr/>
        </p:nvSpPr>
        <p:spPr>
          <a:xfrm>
            <a:off x="6675120" y="18470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22" name="TextBox 21"/>
          <p:cNvSpPr txBox="1"/>
          <p:nvPr/>
        </p:nvSpPr>
        <p:spPr>
          <a:xfrm>
            <a:off x="6675120" y="20116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23" name="Connector 22"/>
          <p:cNvCxnSpPr/>
          <p:nvPr/>
        </p:nvCxnSpPr>
        <p:spPr>
          <a:xfrm flipV="1">
            <a:off x="6446520" y="18836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22860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3225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2</a:t>
            </a:r>
          </a:p>
        </p:txBody>
      </p:sp>
      <p:sp>
        <p:nvSpPr>
          <p:cNvPr id="26" name="TextBox 25"/>
          <p:cNvSpPr txBox="1"/>
          <p:nvPr/>
        </p:nvSpPr>
        <p:spPr>
          <a:xfrm>
            <a:off x="6675120" y="25328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27" name="TextBox 26"/>
          <p:cNvSpPr txBox="1"/>
          <p:nvPr/>
        </p:nvSpPr>
        <p:spPr>
          <a:xfrm>
            <a:off x="6675120" y="26974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28" name="Connector 27"/>
          <p:cNvCxnSpPr/>
          <p:nvPr/>
        </p:nvCxnSpPr>
        <p:spPr>
          <a:xfrm>
            <a:off x="6446520" y="2569464"/>
            <a:ext cx="228600" cy="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675120" y="29718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30083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3</a:t>
            </a:r>
          </a:p>
        </p:txBody>
      </p:sp>
      <p:sp>
        <p:nvSpPr>
          <p:cNvPr id="31" name="TextBox 30"/>
          <p:cNvSpPr txBox="1"/>
          <p:nvPr/>
        </p:nvSpPr>
        <p:spPr>
          <a:xfrm>
            <a:off x="6675120" y="32186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32" name="TextBox 31"/>
          <p:cNvSpPr txBox="1"/>
          <p:nvPr/>
        </p:nvSpPr>
        <p:spPr>
          <a:xfrm>
            <a:off x="6675120" y="33832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33" name="Connector 32"/>
          <p:cNvCxnSpPr/>
          <p:nvPr/>
        </p:nvCxnSpPr>
        <p:spPr>
          <a:xfrm>
            <a:off x="6446520" y="25694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601200" y="1600200"/>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0" y="1600200"/>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1</a:t>
            </a:r>
          </a:p>
        </p:txBody>
      </p:sp>
      <p:cxnSp>
        <p:nvCxnSpPr>
          <p:cNvPr id="36" name="Connector 35"/>
          <p:cNvCxnSpPr/>
          <p:nvPr/>
        </p:nvCxnSpPr>
        <p:spPr>
          <a:xfrm flipV="1">
            <a:off x="9189720" y="1764792"/>
            <a:ext cx="411480" cy="118872"/>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601200" y="1984248"/>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0" y="1984248"/>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2</a:t>
            </a:r>
          </a:p>
        </p:txBody>
      </p:sp>
      <p:cxnSp>
        <p:nvCxnSpPr>
          <p:cNvPr id="39" name="Connector 38"/>
          <p:cNvCxnSpPr/>
          <p:nvPr/>
        </p:nvCxnSpPr>
        <p:spPr>
          <a:xfrm>
            <a:off x="9189720" y="1883664"/>
            <a:ext cx="411480" cy="265176"/>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601200" y="23774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1" name="TextBox 40"/>
          <p:cNvSpPr txBox="1"/>
          <p:nvPr/>
        </p:nvSpPr>
        <p:spPr>
          <a:xfrm>
            <a:off x="9601200" y="30632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2" name="Rounded Rectangle 41"/>
          <p:cNvSpPr/>
          <p:nvPr/>
        </p:nvSpPr>
        <p:spPr>
          <a:xfrm>
            <a:off x="365760" y="3931920"/>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3931920"/>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005072"/>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INVEST  ·  what every Story must satisfy at the Story level (Squad PM verifies)</a:t>
            </a:r>
          </a:p>
        </p:txBody>
      </p:sp>
      <p:sp>
        <p:nvSpPr>
          <p:cNvPr id="45" name="Oval 44"/>
          <p:cNvSpPr/>
          <p:nvPr/>
        </p:nvSpPr>
        <p:spPr>
          <a:xfrm>
            <a:off x="12336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336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I</a:t>
            </a:r>
          </a:p>
        </p:txBody>
      </p:sp>
      <p:sp>
        <p:nvSpPr>
          <p:cNvPr id="47" name="TextBox 46"/>
          <p:cNvSpPr txBox="1"/>
          <p:nvPr/>
        </p:nvSpPr>
        <p:spPr>
          <a:xfrm>
            <a:off x="5029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Independent</a:t>
            </a:r>
          </a:p>
        </p:txBody>
      </p:sp>
      <p:sp>
        <p:nvSpPr>
          <p:cNvPr id="48" name="Oval 47"/>
          <p:cNvSpPr/>
          <p:nvPr/>
        </p:nvSpPr>
        <p:spPr>
          <a:xfrm>
            <a:off x="311581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11581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N</a:t>
            </a:r>
          </a:p>
        </p:txBody>
      </p:sp>
      <p:sp>
        <p:nvSpPr>
          <p:cNvPr id="50" name="TextBox 49"/>
          <p:cNvSpPr txBox="1"/>
          <p:nvPr/>
        </p:nvSpPr>
        <p:spPr>
          <a:xfrm>
            <a:off x="238506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Negotiable</a:t>
            </a:r>
          </a:p>
        </p:txBody>
      </p:sp>
      <p:sp>
        <p:nvSpPr>
          <p:cNvPr id="51" name="Oval 50"/>
          <p:cNvSpPr/>
          <p:nvPr/>
        </p:nvSpPr>
        <p:spPr>
          <a:xfrm>
            <a:off x="499795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9795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V</a:t>
            </a:r>
          </a:p>
        </p:txBody>
      </p:sp>
      <p:sp>
        <p:nvSpPr>
          <p:cNvPr id="53" name="TextBox 52"/>
          <p:cNvSpPr txBox="1"/>
          <p:nvPr/>
        </p:nvSpPr>
        <p:spPr>
          <a:xfrm>
            <a:off x="426719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Valuable</a:t>
            </a:r>
          </a:p>
        </p:txBody>
      </p:sp>
      <p:sp>
        <p:nvSpPr>
          <p:cNvPr id="54" name="Oval 53"/>
          <p:cNvSpPr/>
          <p:nvPr/>
        </p:nvSpPr>
        <p:spPr>
          <a:xfrm>
            <a:off x="6880097"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80097"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E</a:t>
            </a:r>
          </a:p>
        </p:txBody>
      </p:sp>
      <p:sp>
        <p:nvSpPr>
          <p:cNvPr id="56" name="TextBox 55"/>
          <p:cNvSpPr txBox="1"/>
          <p:nvPr/>
        </p:nvSpPr>
        <p:spPr>
          <a:xfrm>
            <a:off x="614933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Estimable</a:t>
            </a:r>
          </a:p>
        </p:txBody>
      </p:sp>
      <p:sp>
        <p:nvSpPr>
          <p:cNvPr id="57" name="Oval 56"/>
          <p:cNvSpPr/>
          <p:nvPr/>
        </p:nvSpPr>
        <p:spPr>
          <a:xfrm>
            <a:off x="876223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76223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S</a:t>
            </a:r>
          </a:p>
        </p:txBody>
      </p:sp>
      <p:sp>
        <p:nvSpPr>
          <p:cNvPr id="59" name="TextBox 58"/>
          <p:cNvSpPr txBox="1"/>
          <p:nvPr/>
        </p:nvSpPr>
        <p:spPr>
          <a:xfrm>
            <a:off x="803148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Small (≤5 SP)</a:t>
            </a:r>
          </a:p>
        </p:txBody>
      </p:sp>
      <p:sp>
        <p:nvSpPr>
          <p:cNvPr id="60" name="Oval 59"/>
          <p:cNvSpPr/>
          <p:nvPr/>
        </p:nvSpPr>
        <p:spPr>
          <a:xfrm>
            <a:off x="106443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6443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T</a:t>
            </a:r>
          </a:p>
        </p:txBody>
      </p:sp>
      <p:sp>
        <p:nvSpPr>
          <p:cNvPr id="62" name="TextBox 61"/>
          <p:cNvSpPr txBox="1"/>
          <p:nvPr/>
        </p:nvSpPr>
        <p:spPr>
          <a:xfrm>
            <a:off x="99136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Testable</a:t>
            </a:r>
          </a:p>
        </p:txBody>
      </p:sp>
      <p:sp>
        <p:nvSpPr>
          <p:cNvPr id="63" name="Rounded Rectangle 62"/>
          <p:cNvSpPr/>
          <p:nvPr/>
        </p:nvSpPr>
        <p:spPr>
          <a:xfrm>
            <a:off x="3657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65760" y="4983480"/>
            <a:ext cx="564642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29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CS  ·  outcomes named in customer language</a:t>
            </a:r>
          </a:p>
        </p:txBody>
      </p:sp>
      <p:sp>
        <p:nvSpPr>
          <p:cNvPr id="66" name="TextBox 65"/>
          <p:cNvSpPr txBox="1"/>
          <p:nvPr/>
        </p:nvSpPr>
        <p:spPr>
          <a:xfrm>
            <a:off x="5029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"reduce time-to-resolve by 30%"  ·  "NPS +5 points"  ·  "deflect 15% of inbound calls"</a:t>
            </a:r>
          </a:p>
        </p:txBody>
      </p:sp>
      <p:sp>
        <p:nvSpPr>
          <p:cNvPr id="67" name="TextBox 66"/>
          <p:cNvSpPr txBox="1"/>
          <p:nvPr/>
        </p:nvSpPr>
        <p:spPr>
          <a:xfrm>
            <a:off x="5029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"add CSV export feature"  ·  "build new dashboard"  ·  "upgrade Genesys to v9"</a:t>
            </a:r>
          </a:p>
        </p:txBody>
      </p:sp>
      <p:sp>
        <p:nvSpPr>
          <p:cNvPr id="68" name="Rounded Rectangle 67"/>
          <p:cNvSpPr/>
          <p:nvPr/>
        </p:nvSpPr>
        <p:spPr>
          <a:xfrm>
            <a:off x="61950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95060" y="4983480"/>
            <a:ext cx="5646420"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322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ITBA  ·  outcomes named in business language</a:t>
            </a:r>
          </a:p>
        </p:txBody>
      </p:sp>
      <p:sp>
        <p:nvSpPr>
          <p:cNvPr id="71" name="TextBox 70"/>
          <p:cNvSpPr txBox="1"/>
          <p:nvPr/>
        </p:nvSpPr>
        <p:spPr>
          <a:xfrm>
            <a:off x="63322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"close month-end 2 days faster"  ·  "audit pass without findings"  ·  "$2M cost avoided"</a:t>
            </a:r>
          </a:p>
        </p:txBody>
      </p:sp>
      <p:sp>
        <p:nvSpPr>
          <p:cNvPr id="72" name="TextBox 71"/>
          <p:cNvSpPr txBox="1"/>
          <p:nvPr/>
        </p:nvSpPr>
        <p:spPr>
          <a:xfrm>
            <a:off x="63322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"upgrade SAP module"  ·  "build new portal"  ·  "add audit field"</a:t>
            </a:r>
          </a:p>
        </p:txBody>
      </p:sp>
      <p:sp>
        <p:nvSpPr>
          <p:cNvPr id="73" name="TextBox 7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4" name="TextBox 7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05 / 27</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Pain Score · effort first, then formula</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STEP 1 Architect estimates Effort  ·  STEP 2 BV/UX/Safety scored  ·  STEP 3 Pain Score auto-computes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6464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CS  ·  Pain Score formula</a:t>
            </a:r>
          </a:p>
        </p:txBody>
      </p:sp>
      <p:sp>
        <p:nvSpPr>
          <p:cNvPr id="8" name="TextBox 7"/>
          <p:cNvSpPr txBox="1"/>
          <p:nvPr/>
        </p:nvSpPr>
        <p:spPr>
          <a:xfrm>
            <a:off x="502920" y="1463040"/>
            <a:ext cx="5372100" cy="182880"/>
          </a:xfrm>
          <a:prstGeom prst="rect">
            <a:avLst/>
          </a:prstGeom>
          <a:noFill/>
        </p:spPr>
        <p:txBody>
          <a:bodyPr wrap="square" lIns="36000" rIns="36000" tIns="18000" bIns="18000" anchor="t">
            <a:spAutoFit/>
          </a:bodyPr>
          <a:lstStyle/>
          <a:p>
            <a:pPr algn="l"/>
            <a:r>
              <a:rPr sz="800" b="0" i="1">
                <a:solidFill>
                  <a:srgbClr val="F2F8F4"/>
                </a:solidFill>
                <a:latin typeface="Arial"/>
              </a:rPr>
              <a:t>finalized at Analyzing · auto-computed (Automation A4)</a:t>
            </a:r>
          </a:p>
        </p:txBody>
      </p:sp>
      <p:sp>
        <p:nvSpPr>
          <p:cNvPr id="9" name="Rounded Rectangle 8"/>
          <p:cNvSpPr/>
          <p:nvPr/>
        </p:nvSpPr>
        <p:spPr>
          <a:xfrm>
            <a:off x="548640" y="1828800"/>
            <a:ext cx="5280660" cy="91440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5097780" cy="274320"/>
          </a:xfrm>
          <a:prstGeom prst="rect">
            <a:avLst/>
          </a:prstGeom>
          <a:noFill/>
        </p:spPr>
        <p:txBody>
          <a:bodyPr wrap="square" lIns="36000" rIns="36000" tIns="18000" bIns="18000" anchor="t">
            <a:spAutoFit/>
          </a:bodyPr>
          <a:lstStyle/>
          <a:p>
            <a:pPr algn="l"/>
            <a:r>
              <a:rPr sz="800" b="1" i="0">
                <a:solidFill>
                  <a:srgbClr val="006B3F"/>
                </a:solidFill>
                <a:latin typeface="Arial"/>
              </a:rPr>
              <a:t>FORMULA</a:t>
            </a:r>
          </a:p>
        </p:txBody>
      </p:sp>
      <p:sp>
        <p:nvSpPr>
          <p:cNvPr id="12" name="TextBox 11"/>
          <p:cNvSpPr txBox="1"/>
          <p:nvPr/>
        </p:nvSpPr>
        <p:spPr>
          <a:xfrm>
            <a:off x="7315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0.40 + UX · 0.60) / Effort</a:t>
            </a:r>
          </a:p>
        </p:txBody>
      </p:sp>
      <p:sp>
        <p:nvSpPr>
          <p:cNvPr id="13" name="Rounded Rectangle 12"/>
          <p:cNvSpPr/>
          <p:nvPr/>
        </p:nvSpPr>
        <p:spPr>
          <a:xfrm>
            <a:off x="5486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15" name="Rounded Rectangle 14"/>
          <p:cNvSpPr/>
          <p:nvPr/>
        </p:nvSpPr>
        <p:spPr>
          <a:xfrm>
            <a:off x="640080" y="3154679"/>
            <a:ext cx="1005840" cy="29260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40%</a:t>
            </a:r>
          </a:p>
        </p:txBody>
      </p:sp>
      <p:sp>
        <p:nvSpPr>
          <p:cNvPr id="17" name="Rounded Rectangle 16"/>
          <p:cNvSpPr/>
          <p:nvPr/>
        </p:nvSpPr>
        <p:spPr>
          <a:xfrm>
            <a:off x="1737360" y="3154679"/>
            <a:ext cx="1005840" cy="292608"/>
          </a:xfrm>
          <a:prstGeom prst="roundRect">
            <a:avLst>
              <a:gd name="adj" fmla="val 30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73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60%</a:t>
            </a:r>
          </a:p>
        </p:txBody>
      </p:sp>
      <p:sp>
        <p:nvSpPr>
          <p:cNvPr id="19" name="Rounded Rectangle 18"/>
          <p:cNvSpPr/>
          <p:nvPr/>
        </p:nvSpPr>
        <p:spPr>
          <a:xfrm>
            <a:off x="2834639" y="3154679"/>
            <a:ext cx="1005840" cy="292608"/>
          </a:xfrm>
          <a:prstGeom prst="roundRect">
            <a:avLst>
              <a:gd name="adj" fmla="val 30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4639"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no Safety —</a:t>
            </a:r>
          </a:p>
        </p:txBody>
      </p:sp>
      <p:sp>
        <p:nvSpPr>
          <p:cNvPr id="21" name="Rounded Rectangle 20"/>
          <p:cNvSpPr/>
          <p:nvPr/>
        </p:nvSpPr>
        <p:spPr>
          <a:xfrm>
            <a:off x="548640" y="3794760"/>
            <a:ext cx="5280660" cy="100584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867912"/>
            <a:ext cx="5097780" cy="182880"/>
          </a:xfrm>
          <a:prstGeom prst="rect">
            <a:avLst/>
          </a:prstGeom>
          <a:noFill/>
        </p:spPr>
        <p:txBody>
          <a:bodyPr wrap="square" lIns="36000" rIns="36000" tIns="18000" bIns="18000" anchor="t">
            <a:spAutoFit/>
          </a:bodyPr>
          <a:lstStyle/>
          <a:p>
            <a:pPr algn="l"/>
            <a:r>
              <a:rPr sz="800" b="1" i="0">
                <a:solidFill>
                  <a:srgbClr val="006B3F"/>
                </a:solidFill>
                <a:latin typeface="Arial"/>
              </a:rPr>
              <a:t>WHO SCORES WHAT  ·  1-5 scale defined by Architect</a:t>
            </a:r>
          </a:p>
        </p:txBody>
      </p:sp>
      <p:sp>
        <p:nvSpPr>
          <p:cNvPr id="23" name="TextBox 22"/>
          <p:cNvSpPr txBox="1"/>
          <p:nvPr/>
        </p:nvSpPr>
        <p:spPr>
          <a:xfrm>
            <a:off x="640080" y="4069080"/>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PM (per VS)</a:t>
            </a:r>
          </a:p>
        </p:txBody>
      </p:sp>
      <p:sp>
        <p:nvSpPr>
          <p:cNvPr id="24" name="TextBox 23"/>
          <p:cNvSpPr txBox="1"/>
          <p:nvPr/>
        </p:nvSpPr>
        <p:spPr>
          <a:xfrm>
            <a:off x="2697479"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25" name="TextBox 24"/>
          <p:cNvSpPr txBox="1"/>
          <p:nvPr/>
        </p:nvSpPr>
        <p:spPr>
          <a:xfrm>
            <a:off x="640080" y="4270248"/>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Architect</a:t>
            </a:r>
          </a:p>
        </p:txBody>
      </p:sp>
      <p:sp>
        <p:nvSpPr>
          <p:cNvPr id="26" name="TextBox 25"/>
          <p:cNvSpPr txBox="1"/>
          <p:nvPr/>
        </p:nvSpPr>
        <p:spPr>
          <a:xfrm>
            <a:off x="2697479"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(1-5) at Analyzing</a:t>
            </a:r>
          </a:p>
        </p:txBody>
      </p:sp>
      <p:sp>
        <p:nvSpPr>
          <p:cNvPr id="27" name="TextBox 26"/>
          <p:cNvSpPr txBox="1"/>
          <p:nvPr/>
        </p:nvSpPr>
        <p:spPr>
          <a:xfrm>
            <a:off x="640080" y="4471416"/>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OPCOmult auto</a:t>
            </a:r>
          </a:p>
        </p:txBody>
      </p:sp>
      <p:sp>
        <p:nvSpPr>
          <p:cNvPr id="28" name="TextBox 27"/>
          <p:cNvSpPr txBox="1"/>
          <p:nvPr/>
        </p:nvSpPr>
        <p:spPr>
          <a:xfrm>
            <a:off x="2697479"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29" name="TextBox 28"/>
          <p:cNvSpPr txBox="1"/>
          <p:nvPr/>
        </p:nvSpPr>
        <p:spPr>
          <a:xfrm>
            <a:off x="640080" y="4672583"/>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No Safety</a:t>
            </a:r>
          </a:p>
        </p:txBody>
      </p:sp>
      <p:sp>
        <p:nvSpPr>
          <p:cNvPr id="30" name="TextBox 29"/>
          <p:cNvSpPr txBox="1"/>
          <p:nvPr/>
        </p:nvSpPr>
        <p:spPr>
          <a:xfrm>
            <a:off x="2697479" y="4672583"/>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CS doesn't have field crew · isolated from formula</a:t>
            </a:r>
          </a:p>
        </p:txBody>
      </p:sp>
      <p:sp>
        <p:nvSpPr>
          <p:cNvPr id="31" name="Rounded Rectangle 30"/>
          <p:cNvSpPr/>
          <p:nvPr/>
        </p:nvSpPr>
        <p:spPr>
          <a:xfrm>
            <a:off x="5486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34" name="TextBox 33"/>
          <p:cNvSpPr txBox="1"/>
          <p:nvPr/>
        </p:nvSpPr>
        <p:spPr>
          <a:xfrm>
            <a:off x="6858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BV=4 · UX=5 · OPCOmult=1.3 · Effort=3</a:t>
            </a:r>
          </a:p>
        </p:txBody>
      </p:sp>
      <p:sp>
        <p:nvSpPr>
          <p:cNvPr id="35" name="TextBox 34"/>
          <p:cNvSpPr txBox="1"/>
          <p:nvPr/>
        </p:nvSpPr>
        <p:spPr>
          <a:xfrm>
            <a:off x="685800" y="5440680"/>
            <a:ext cx="5143500" cy="365760"/>
          </a:xfrm>
          <a:prstGeom prst="rect">
            <a:avLst/>
          </a:prstGeom>
          <a:noFill/>
        </p:spPr>
        <p:txBody>
          <a:bodyPr wrap="square" lIns="36000" rIns="36000" tIns="18000" bIns="18000" anchor="t">
            <a:spAutoFit/>
          </a:bodyPr>
          <a:lstStyle/>
          <a:p>
            <a:pPr algn="l"/>
            <a:r>
              <a:rPr sz="1000" b="1" i="0">
                <a:solidFill>
                  <a:srgbClr val="008C38"/>
                </a:solidFill>
                <a:latin typeface="Arial"/>
              </a:rPr>
              <a:t>Pain Score = (4 · 1.3 · 0.40 + 5 · 0.60) / 3 = 2.43</a:t>
            </a:r>
          </a:p>
        </p:txBody>
      </p:sp>
      <p:sp>
        <p:nvSpPr>
          <p:cNvPr id="36" name="Rounded Rectangle 35"/>
          <p:cNvSpPr/>
          <p:nvPr/>
        </p:nvSpPr>
        <p:spPr>
          <a:xfrm>
            <a:off x="61950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5060" y="1188720"/>
            <a:ext cx="56464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322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ITBA  ·  Pain Score formula</a:t>
            </a:r>
          </a:p>
        </p:txBody>
      </p:sp>
      <p:sp>
        <p:nvSpPr>
          <p:cNvPr id="39" name="TextBox 38"/>
          <p:cNvSpPr txBox="1"/>
          <p:nvPr/>
        </p:nvSpPr>
        <p:spPr>
          <a:xfrm>
            <a:off x="6332220" y="1463040"/>
            <a:ext cx="5372100" cy="182880"/>
          </a:xfrm>
          <a:prstGeom prst="rect">
            <a:avLst/>
          </a:prstGeom>
          <a:noFill/>
        </p:spPr>
        <p:txBody>
          <a:bodyPr wrap="square" lIns="36000" rIns="36000" tIns="18000" bIns="18000" anchor="t">
            <a:spAutoFit/>
          </a:bodyPr>
          <a:lstStyle/>
          <a:p>
            <a:pPr algn="l"/>
            <a:r>
              <a:rPr sz="800" b="0" i="1">
                <a:solidFill>
                  <a:srgbClr val="F6FAFD"/>
                </a:solidFill>
                <a:latin typeface="Arial"/>
              </a:rPr>
              <a:t>finalized at Analyzing · auto-computed (Automation A4)</a:t>
            </a:r>
          </a:p>
        </p:txBody>
      </p:sp>
      <p:sp>
        <p:nvSpPr>
          <p:cNvPr id="40" name="Rounded Rectangle 39"/>
          <p:cNvSpPr/>
          <p:nvPr/>
        </p:nvSpPr>
        <p:spPr>
          <a:xfrm>
            <a:off x="6377940" y="1828800"/>
            <a:ext cx="5280660" cy="91440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7940" y="18288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60820" y="1920240"/>
            <a:ext cx="5097780" cy="274320"/>
          </a:xfrm>
          <a:prstGeom prst="rect">
            <a:avLst/>
          </a:prstGeom>
          <a:noFill/>
        </p:spPr>
        <p:txBody>
          <a:bodyPr wrap="square" lIns="36000" rIns="36000" tIns="18000" bIns="18000" anchor="t">
            <a:spAutoFit/>
          </a:bodyPr>
          <a:lstStyle/>
          <a:p>
            <a:pPr algn="l"/>
            <a:r>
              <a:rPr sz="800" b="1" i="0">
                <a:solidFill>
                  <a:srgbClr val="1B3C66"/>
                </a:solidFill>
                <a:latin typeface="Arial"/>
              </a:rPr>
              <a:t>FORMULA</a:t>
            </a:r>
          </a:p>
        </p:txBody>
      </p:sp>
      <p:sp>
        <p:nvSpPr>
          <p:cNvPr id="43" name="TextBox 42"/>
          <p:cNvSpPr txBox="1"/>
          <p:nvPr/>
        </p:nvSpPr>
        <p:spPr>
          <a:xfrm>
            <a:off x="65608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w₁ + UX · w₂ + Safety · w₃) / Effort</a:t>
            </a:r>
          </a:p>
        </p:txBody>
      </p:sp>
      <p:sp>
        <p:nvSpPr>
          <p:cNvPr id="44" name="Rounded Rectangle 43"/>
          <p:cNvSpPr/>
          <p:nvPr/>
        </p:nvSpPr>
        <p:spPr>
          <a:xfrm>
            <a:off x="63779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46" name="Rounded Rectangle 45"/>
          <p:cNvSpPr/>
          <p:nvPr/>
        </p:nvSpPr>
        <p:spPr>
          <a:xfrm>
            <a:off x="6469380" y="3154679"/>
            <a:ext cx="1005840" cy="29260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93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w₁ 0.45</a:t>
            </a:r>
          </a:p>
        </p:txBody>
      </p:sp>
      <p:sp>
        <p:nvSpPr>
          <p:cNvPr id="48" name="Rounded Rectangle 47"/>
          <p:cNvSpPr/>
          <p:nvPr/>
        </p:nvSpPr>
        <p:spPr>
          <a:xfrm>
            <a:off x="7566660" y="3154679"/>
            <a:ext cx="1005840" cy="292608"/>
          </a:xfrm>
          <a:prstGeom prst="roundRect">
            <a:avLst>
              <a:gd name="adj" fmla="val 30000"/>
            </a:avLst>
          </a:prstGeom>
          <a:solidFill>
            <a:srgbClr val="7E9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5666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w₂ 0.30</a:t>
            </a:r>
          </a:p>
        </p:txBody>
      </p:sp>
      <p:sp>
        <p:nvSpPr>
          <p:cNvPr id="50" name="Rounded Rectangle 49"/>
          <p:cNvSpPr/>
          <p:nvPr/>
        </p:nvSpPr>
        <p:spPr>
          <a:xfrm>
            <a:off x="8663940" y="3154679"/>
            <a:ext cx="1005840" cy="292608"/>
          </a:xfrm>
          <a:prstGeom prst="roundRect">
            <a:avLst>
              <a:gd name="adj" fmla="val 30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66394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Safety w₃ 0.25</a:t>
            </a:r>
          </a:p>
        </p:txBody>
      </p:sp>
      <p:sp>
        <p:nvSpPr>
          <p:cNvPr id="52" name="Rounded Rectangle 51"/>
          <p:cNvSpPr/>
          <p:nvPr/>
        </p:nvSpPr>
        <p:spPr>
          <a:xfrm>
            <a:off x="6377940" y="3794760"/>
            <a:ext cx="5280660" cy="100584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69380" y="3867912"/>
            <a:ext cx="5097780" cy="182880"/>
          </a:xfrm>
          <a:prstGeom prst="rect">
            <a:avLst/>
          </a:prstGeom>
          <a:noFill/>
        </p:spPr>
        <p:txBody>
          <a:bodyPr wrap="square" lIns="36000" rIns="36000" tIns="18000" bIns="18000" anchor="t">
            <a:spAutoFit/>
          </a:bodyPr>
          <a:lstStyle/>
          <a:p>
            <a:pPr algn="l"/>
            <a:r>
              <a:rPr sz="800" b="1" i="0">
                <a:solidFill>
                  <a:srgbClr val="1B3C66"/>
                </a:solidFill>
                <a:latin typeface="Arial"/>
              </a:rPr>
              <a:t>WHO SCORES WHAT  ·  1-5 scale defined by Architect</a:t>
            </a:r>
          </a:p>
        </p:txBody>
      </p:sp>
      <p:sp>
        <p:nvSpPr>
          <p:cNvPr id="54" name="TextBox 53"/>
          <p:cNvSpPr txBox="1"/>
          <p:nvPr/>
        </p:nvSpPr>
        <p:spPr>
          <a:xfrm>
            <a:off x="6469380" y="4069080"/>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PM (per VS)</a:t>
            </a:r>
          </a:p>
        </p:txBody>
      </p:sp>
      <p:sp>
        <p:nvSpPr>
          <p:cNvPr id="55" name="TextBox 54"/>
          <p:cNvSpPr txBox="1"/>
          <p:nvPr/>
        </p:nvSpPr>
        <p:spPr>
          <a:xfrm>
            <a:off x="8526780"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56" name="TextBox 55"/>
          <p:cNvSpPr txBox="1"/>
          <p:nvPr/>
        </p:nvSpPr>
        <p:spPr>
          <a:xfrm>
            <a:off x="6469380" y="4270248"/>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Architect</a:t>
            </a:r>
          </a:p>
        </p:txBody>
      </p:sp>
      <p:sp>
        <p:nvSpPr>
          <p:cNvPr id="57" name="TextBox 56"/>
          <p:cNvSpPr txBox="1"/>
          <p:nvPr/>
        </p:nvSpPr>
        <p:spPr>
          <a:xfrm>
            <a:off x="8526780"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 Safety (1-5) at Analyzing</a:t>
            </a:r>
          </a:p>
        </p:txBody>
      </p:sp>
      <p:sp>
        <p:nvSpPr>
          <p:cNvPr id="58" name="TextBox 57"/>
          <p:cNvSpPr txBox="1"/>
          <p:nvPr/>
        </p:nvSpPr>
        <p:spPr>
          <a:xfrm>
            <a:off x="6469380" y="4471416"/>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Safety isolated</a:t>
            </a:r>
          </a:p>
        </p:txBody>
      </p:sp>
      <p:sp>
        <p:nvSpPr>
          <p:cNvPr id="59" name="TextBox 58"/>
          <p:cNvSpPr txBox="1"/>
          <p:nvPr/>
        </p:nvSpPr>
        <p:spPr>
          <a:xfrm>
            <a:off x="8526780"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NOT buried in BV</a:t>
            </a:r>
          </a:p>
        </p:txBody>
      </p:sp>
      <p:sp>
        <p:nvSpPr>
          <p:cNvPr id="60" name="TextBox 59"/>
          <p:cNvSpPr txBox="1"/>
          <p:nvPr/>
        </p:nvSpPr>
        <p:spPr>
          <a:xfrm>
            <a:off x="6469380" y="4672583"/>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OPCOmult auto</a:t>
            </a:r>
          </a:p>
        </p:txBody>
      </p:sp>
      <p:sp>
        <p:nvSpPr>
          <p:cNvPr id="61" name="TextBox 60"/>
          <p:cNvSpPr txBox="1"/>
          <p:nvPr/>
        </p:nvSpPr>
        <p:spPr>
          <a:xfrm>
            <a:off x="8526780" y="4672583"/>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62" name="Rounded Rectangle 61"/>
          <p:cNvSpPr/>
          <p:nvPr/>
        </p:nvSpPr>
        <p:spPr>
          <a:xfrm>
            <a:off x="63779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3779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151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65" name="TextBox 64"/>
          <p:cNvSpPr txBox="1"/>
          <p:nvPr/>
        </p:nvSpPr>
        <p:spPr>
          <a:xfrm>
            <a:off x="65151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BV=5 · UX=3 · Safety=4 · OPCOmult=1.6 · Effort=4</a:t>
            </a:r>
          </a:p>
        </p:txBody>
      </p:sp>
      <p:sp>
        <p:nvSpPr>
          <p:cNvPr id="66" name="TextBox 65"/>
          <p:cNvSpPr txBox="1"/>
          <p:nvPr/>
        </p:nvSpPr>
        <p:spPr>
          <a:xfrm>
            <a:off x="6515100" y="5440680"/>
            <a:ext cx="5143500" cy="365760"/>
          </a:xfrm>
          <a:prstGeom prst="rect">
            <a:avLst/>
          </a:prstGeom>
          <a:noFill/>
        </p:spPr>
        <p:txBody>
          <a:bodyPr wrap="square" lIns="36000" rIns="36000" tIns="18000" bIns="18000" anchor="t">
            <a:spAutoFit/>
          </a:bodyPr>
          <a:lstStyle/>
          <a:p>
            <a:pPr algn="l"/>
            <a:r>
              <a:rPr sz="1000" b="1" i="0">
                <a:solidFill>
                  <a:srgbClr val="2C578B"/>
                </a:solidFill>
                <a:latin typeface="Arial"/>
              </a:rPr>
              <a:t>Pain Score = (5 · 1.6 · 0.45 + 3 · 0.30 + 4 · 0.25) / 4 = 1.38</a:t>
            </a:r>
          </a:p>
        </p:txBody>
      </p:sp>
      <p:sp>
        <p:nvSpPr>
          <p:cNvPr id="67" name="TextBox 6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8" name="TextBox 6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06 / 27</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Prioritization is layered</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Two overrides protect critical work · Pain Score sequences the rest · CoS lane caps it</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54480"/>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19072"/>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19072"/>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1</a:t>
            </a:r>
          </a:p>
        </p:txBody>
      </p:sp>
      <p:sp>
        <p:nvSpPr>
          <p:cNvPr id="9" name="TextBox 8"/>
          <p:cNvSpPr txBox="1"/>
          <p:nvPr/>
        </p:nvSpPr>
        <p:spPr>
          <a:xfrm>
            <a:off x="1234440" y="1609344"/>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1  ·  TYPE = REGULATORY</a:t>
            </a:r>
          </a:p>
        </p:txBody>
      </p:sp>
      <p:sp>
        <p:nvSpPr>
          <p:cNvPr id="10" name="TextBox 9"/>
          <p:cNvSpPr txBox="1"/>
          <p:nvPr/>
        </p:nvSpPr>
        <p:spPr>
          <a:xfrm>
            <a:off x="1234440" y="182880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Type field set to Regulatory (at Reviewing)</a:t>
            </a:r>
          </a:p>
        </p:txBody>
      </p:sp>
      <p:sp>
        <p:nvSpPr>
          <p:cNvPr id="11" name="TextBox 10"/>
          <p:cNvSpPr txBox="1"/>
          <p:nvPr/>
        </p:nvSpPr>
        <p:spPr>
          <a:xfrm>
            <a:off x="1234440" y="201168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A3 sets CoS = Fixed-Date · deadline pinned · enters Fixed-Date lane</a:t>
            </a:r>
          </a:p>
        </p:txBody>
      </p:sp>
      <p:sp>
        <p:nvSpPr>
          <p:cNvPr id="12" name="TextBox 11"/>
          <p:cNvSpPr txBox="1"/>
          <p:nvPr/>
        </p:nvSpPr>
        <p:spPr>
          <a:xfrm>
            <a:off x="1234440" y="2194560"/>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first: regulatory deadlines are absolute · cannot be missed</a:t>
            </a:r>
          </a:p>
        </p:txBody>
      </p:sp>
      <p:sp>
        <p:nvSpPr>
          <p:cNvPr id="13" name="Rounded Rectangle 12"/>
          <p:cNvSpPr/>
          <p:nvPr/>
        </p:nvSpPr>
        <p:spPr>
          <a:xfrm>
            <a:off x="365760" y="2478024"/>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478024"/>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8640" y="2642616"/>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642616"/>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2</a:t>
            </a:r>
          </a:p>
        </p:txBody>
      </p:sp>
      <p:sp>
        <p:nvSpPr>
          <p:cNvPr id="17" name="TextBox 16"/>
          <p:cNvSpPr txBox="1"/>
          <p:nvPr/>
        </p:nvSpPr>
        <p:spPr>
          <a:xfrm>
            <a:off x="1234440" y="2532888"/>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2  ·  CIT = P1 / P2  (CS only)</a:t>
            </a:r>
          </a:p>
        </p:txBody>
      </p:sp>
      <p:sp>
        <p:nvSpPr>
          <p:cNvPr id="18" name="TextBox 17"/>
          <p:cNvSpPr txBox="1"/>
          <p:nvPr/>
        </p:nvSpPr>
        <p:spPr>
          <a:xfrm>
            <a:off x="1234440" y="275234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Customer Impact Tier set to P1 or P2 at Funnel</a:t>
            </a:r>
          </a:p>
        </p:txBody>
      </p:sp>
      <p:sp>
        <p:nvSpPr>
          <p:cNvPr id="19" name="TextBox 18"/>
          <p:cNvSpPr txBox="1"/>
          <p:nvPr/>
        </p:nvSpPr>
        <p:spPr>
          <a:xfrm>
            <a:off x="1234440" y="293522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A2 sets CoS = Expedite · WIP-1 lane · jumps the queue regardless of Pain Score</a:t>
            </a:r>
          </a:p>
        </p:txBody>
      </p:sp>
      <p:sp>
        <p:nvSpPr>
          <p:cNvPr id="20" name="TextBox 19"/>
          <p:cNvSpPr txBox="1"/>
          <p:nvPr/>
        </p:nvSpPr>
        <p:spPr>
          <a:xfrm>
            <a:off x="1234440" y="3118104"/>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second: customer-facing critical events take precedence</a:t>
            </a:r>
          </a:p>
        </p:txBody>
      </p:sp>
      <p:sp>
        <p:nvSpPr>
          <p:cNvPr id="21" name="Rounded Rectangle 20"/>
          <p:cNvSpPr/>
          <p:nvPr/>
        </p:nvSpPr>
        <p:spPr>
          <a:xfrm>
            <a:off x="365760" y="3401568"/>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401568"/>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48640" y="356616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566160"/>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3</a:t>
            </a:r>
          </a:p>
        </p:txBody>
      </p:sp>
      <p:sp>
        <p:nvSpPr>
          <p:cNvPr id="25" name="TextBox 24"/>
          <p:cNvSpPr txBox="1"/>
          <p:nvPr/>
        </p:nvSpPr>
        <p:spPr>
          <a:xfrm>
            <a:off x="1234440" y="3456432"/>
            <a:ext cx="10469880" cy="228600"/>
          </a:xfrm>
          <a:prstGeom prst="rect">
            <a:avLst/>
          </a:prstGeom>
          <a:noFill/>
        </p:spPr>
        <p:txBody>
          <a:bodyPr wrap="square" lIns="36000" rIns="36000" tIns="18000" bIns="18000" anchor="t">
            <a:spAutoFit/>
          </a:bodyPr>
          <a:lstStyle/>
          <a:p>
            <a:pPr algn="l"/>
            <a:r>
              <a:rPr sz="1100" b="1" i="0">
                <a:solidFill>
                  <a:srgbClr val="008C38"/>
                </a:solidFill>
                <a:latin typeface="Arial"/>
              </a:rPr>
              <a:t>PAIN SCORE  ·  numeric ranking</a:t>
            </a:r>
          </a:p>
        </p:txBody>
      </p:sp>
      <p:sp>
        <p:nvSpPr>
          <p:cNvPr id="26" name="TextBox 25"/>
          <p:cNvSpPr txBox="1"/>
          <p:nvPr/>
        </p:nvSpPr>
        <p:spPr>
          <a:xfrm>
            <a:off x="1234440" y="3675887"/>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Computed: A4 auto-computes when BV/UX/Effort/Safety populated </a:t>
            </a:r>
          </a:p>
        </p:txBody>
      </p:sp>
      <p:sp>
        <p:nvSpPr>
          <p:cNvPr id="27" name="TextBox 26"/>
          <p:cNvSpPr txBox="1"/>
          <p:nvPr/>
        </p:nvSpPr>
        <p:spPr>
          <a:xfrm>
            <a:off x="1234440" y="3858768"/>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CS = (BV·OPCOmult·0.40 + UX·0.60) / Effort  ·  ITBA = (BV·OPCOmult·0.45 + UX·0.30 + Safety·0.25) / Effort</a:t>
            </a:r>
          </a:p>
        </p:txBody>
      </p:sp>
      <p:sp>
        <p:nvSpPr>
          <p:cNvPr id="28" name="TextBox 27"/>
          <p:cNvSpPr txBox="1"/>
          <p:nvPr/>
        </p:nvSpPr>
        <p:spPr>
          <a:xfrm>
            <a:off x="1234440" y="4041648"/>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Higher score = higher pain = earlier sequence</a:t>
            </a:r>
          </a:p>
        </p:txBody>
      </p:sp>
      <p:sp>
        <p:nvSpPr>
          <p:cNvPr id="29" name="Rounded Rectangle 28"/>
          <p:cNvSpPr/>
          <p:nvPr/>
        </p:nvSpPr>
        <p:spPr>
          <a:xfrm>
            <a:off x="365760" y="4325112"/>
            <a:ext cx="11475720" cy="86868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4325112"/>
            <a:ext cx="91440"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48640" y="4489704"/>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489704"/>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4</a:t>
            </a:r>
          </a:p>
        </p:txBody>
      </p:sp>
      <p:sp>
        <p:nvSpPr>
          <p:cNvPr id="33" name="TextBox 32"/>
          <p:cNvSpPr txBox="1"/>
          <p:nvPr/>
        </p:nvSpPr>
        <p:spPr>
          <a:xfrm>
            <a:off x="1234440" y="4379976"/>
            <a:ext cx="10469880" cy="228600"/>
          </a:xfrm>
          <a:prstGeom prst="rect">
            <a:avLst/>
          </a:prstGeom>
          <a:noFill/>
        </p:spPr>
        <p:txBody>
          <a:bodyPr wrap="square" lIns="36000" rIns="36000" tIns="18000" bIns="18000" anchor="t">
            <a:spAutoFit/>
          </a:bodyPr>
          <a:lstStyle/>
          <a:p>
            <a:pPr algn="l"/>
            <a:r>
              <a:rPr sz="1100" b="1" i="0">
                <a:solidFill>
                  <a:srgbClr val="2C578B"/>
                </a:solidFill>
                <a:latin typeface="Arial"/>
              </a:rPr>
              <a:t>CAPACITY FLOOR  ·  CoS lane availability</a:t>
            </a:r>
          </a:p>
        </p:txBody>
      </p:sp>
      <p:sp>
        <p:nvSpPr>
          <p:cNvPr id="34" name="TextBox 33"/>
          <p:cNvSpPr txBox="1"/>
          <p:nvPr/>
        </p:nvSpPr>
        <p:spPr>
          <a:xfrm>
            <a:off x="1234440" y="459943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Even with high Pain Score, item must fit inside CoS lane capacity %</a:t>
            </a:r>
          </a:p>
        </p:txBody>
      </p:sp>
      <p:sp>
        <p:nvSpPr>
          <p:cNvPr id="35" name="TextBox 34"/>
          <p:cNvSpPr txBox="1"/>
          <p:nvPr/>
        </p:nvSpPr>
        <p:spPr>
          <a:xfrm>
            <a:off x="1234440" y="478231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If lane at WIP cap → next-rank item picks up · waiting items re-evaluated next cycle</a:t>
            </a:r>
          </a:p>
        </p:txBody>
      </p:sp>
      <p:sp>
        <p:nvSpPr>
          <p:cNvPr id="36" name="TextBox 35"/>
          <p:cNvSpPr txBox="1"/>
          <p:nvPr/>
        </p:nvSpPr>
        <p:spPr>
          <a:xfrm>
            <a:off x="1234440" y="4965192"/>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Decided monthly at Gate 2 by Director + middle managers</a:t>
            </a:r>
          </a:p>
        </p:txBody>
      </p:sp>
      <p:sp>
        <p:nvSpPr>
          <p:cNvPr id="37" name="Rounded Rectangle 36"/>
          <p:cNvSpPr/>
          <p:nvPr/>
        </p:nvSpPr>
        <p:spPr>
          <a:xfrm>
            <a:off x="365760" y="5166360"/>
            <a:ext cx="11475720" cy="114300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5166360"/>
            <a:ext cx="91440" cy="1143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2212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40" name="TextBox 39"/>
          <p:cNvSpPr txBox="1"/>
          <p:nvPr/>
        </p:nvSpPr>
        <p:spPr>
          <a:xfrm>
            <a:off x="548640" y="53858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Two items with the same Pain Score? The override layer + capacity floor decide — never just the number.</a:t>
            </a:r>
          </a:p>
        </p:txBody>
      </p:sp>
      <p:sp>
        <p:nvSpPr>
          <p:cNvPr id="41" name="TextBox 40"/>
          <p:cNvSpPr txBox="1"/>
          <p:nvPr/>
        </p:nvSpPr>
        <p:spPr>
          <a:xfrm>
            <a:off x="548640" y="5669280"/>
            <a:ext cx="11201400" cy="594360"/>
          </a:xfrm>
          <a:prstGeom prst="rect">
            <a:avLst/>
          </a:prstGeom>
          <a:noFill/>
        </p:spPr>
        <p:txBody>
          <a:bodyPr wrap="square" lIns="36000" rIns="36000" tIns="18000" bIns="18000" anchor="t">
            <a:spAutoFit/>
          </a:bodyPr>
          <a:lstStyle/>
          <a:p>
            <a:pPr algn="l"/>
            <a:r>
              <a:rPr sz="800" b="0" i="0">
                <a:solidFill>
                  <a:srgbClr val="526077"/>
                </a:solidFill>
                <a:latin typeface="Arial"/>
              </a:rPr>
              <a:t>Example · Pain 2.4 each: "Regulatory tariff change (ITBA)" wins over "CRM perf optimization (CS)" because Type=Regulatory triggers Override 1 → Fixed-Date lane (deadline-bound). The CS item competes inside Standard lane on Pain Score alone.</a:t>
            </a:r>
          </a:p>
        </p:txBody>
      </p:sp>
      <p:sp>
        <p:nvSpPr>
          <p:cNvPr id="42" name="TextBox 4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3" name="TextBox 4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07 / 27</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Backlog is re-ranked monthly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Same Pain Score · capacity changes the order · re-baselined every quarter</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7132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713232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6858000" cy="274320"/>
          </a:xfrm>
          <a:prstGeom prst="rect">
            <a:avLst/>
          </a:prstGeom>
          <a:noFill/>
        </p:spPr>
        <p:txBody>
          <a:bodyPr wrap="square" lIns="36000" rIns="36000" tIns="18000" bIns="18000" anchor="t">
            <a:spAutoFit/>
          </a:bodyPr>
          <a:lstStyle/>
          <a:p>
            <a:pPr algn="l"/>
            <a:r>
              <a:rPr sz="1100" b="1" i="0">
                <a:solidFill>
                  <a:srgbClr val="FFFFFF"/>
                </a:solidFill>
                <a:latin typeface="Arial"/>
              </a:rPr>
              <a:t>BACKLOG (Ready For Execution)  ·  cross-VS ranked  ·  Q3 snapshot</a:t>
            </a:r>
          </a:p>
        </p:txBody>
      </p:sp>
      <p:sp>
        <p:nvSpPr>
          <p:cNvPr id="8" name="TextBox 7"/>
          <p:cNvSpPr txBox="1"/>
          <p:nvPr/>
        </p:nvSpPr>
        <p:spPr>
          <a:xfrm>
            <a:off x="457200" y="2011680"/>
            <a:ext cx="502920" cy="182880"/>
          </a:xfrm>
          <a:prstGeom prst="rect">
            <a:avLst/>
          </a:prstGeom>
          <a:noFill/>
        </p:spPr>
        <p:txBody>
          <a:bodyPr wrap="square" lIns="36000" rIns="36000" tIns="18000" bIns="18000" anchor="t">
            <a:spAutoFit/>
          </a:bodyPr>
          <a:lstStyle/>
          <a:p>
            <a:pPr algn="l"/>
            <a:r>
              <a:rPr sz="700" b="1" i="0">
                <a:solidFill>
                  <a:srgbClr val="6B778C"/>
                </a:solidFill>
                <a:latin typeface="Arial"/>
              </a:rPr>
              <a:t>RANK</a:t>
            </a:r>
          </a:p>
        </p:txBody>
      </p:sp>
      <p:sp>
        <p:nvSpPr>
          <p:cNvPr id="9" name="TextBox 8"/>
          <p:cNvSpPr txBox="1"/>
          <p:nvPr/>
        </p:nvSpPr>
        <p:spPr>
          <a:xfrm>
            <a:off x="960120" y="2011680"/>
            <a:ext cx="3520440" cy="182880"/>
          </a:xfrm>
          <a:prstGeom prst="rect">
            <a:avLst/>
          </a:prstGeom>
          <a:noFill/>
        </p:spPr>
        <p:txBody>
          <a:bodyPr wrap="square" lIns="36000" rIns="36000" tIns="18000" bIns="18000" anchor="t">
            <a:spAutoFit/>
          </a:bodyPr>
          <a:lstStyle/>
          <a:p>
            <a:pPr algn="l"/>
            <a:r>
              <a:rPr sz="700" b="1" i="0">
                <a:solidFill>
                  <a:srgbClr val="6B778C"/>
                </a:solidFill>
                <a:latin typeface="Arial"/>
              </a:rPr>
              <a:t>DEMAND</a:t>
            </a:r>
          </a:p>
        </p:txBody>
      </p:sp>
      <p:sp>
        <p:nvSpPr>
          <p:cNvPr id="10" name="TextBox 9"/>
          <p:cNvSpPr txBox="1"/>
          <p:nvPr/>
        </p:nvSpPr>
        <p:spPr>
          <a:xfrm>
            <a:off x="4480560" y="2011680"/>
            <a:ext cx="640080" cy="182880"/>
          </a:xfrm>
          <a:prstGeom prst="rect">
            <a:avLst/>
          </a:prstGeom>
          <a:noFill/>
        </p:spPr>
        <p:txBody>
          <a:bodyPr wrap="square" lIns="36000" rIns="36000" tIns="18000" bIns="18000" anchor="t">
            <a:spAutoFit/>
          </a:bodyPr>
          <a:lstStyle/>
          <a:p>
            <a:pPr algn="l"/>
            <a:r>
              <a:rPr sz="700" b="1" i="0">
                <a:solidFill>
                  <a:srgbClr val="6B778C"/>
                </a:solidFill>
                <a:latin typeface="Arial"/>
              </a:rPr>
              <a:t>AREA</a:t>
            </a:r>
          </a:p>
        </p:txBody>
      </p:sp>
      <p:sp>
        <p:nvSpPr>
          <p:cNvPr id="11" name="TextBox 10"/>
          <p:cNvSpPr txBox="1"/>
          <p:nvPr/>
        </p:nvSpPr>
        <p:spPr>
          <a:xfrm>
            <a:off x="5120640" y="2011680"/>
            <a:ext cx="685800" cy="182880"/>
          </a:xfrm>
          <a:prstGeom prst="rect">
            <a:avLst/>
          </a:prstGeom>
          <a:noFill/>
        </p:spPr>
        <p:txBody>
          <a:bodyPr wrap="square" lIns="36000" rIns="36000" tIns="18000" bIns="18000" anchor="t">
            <a:spAutoFit/>
          </a:bodyPr>
          <a:lstStyle/>
          <a:p>
            <a:pPr algn="l"/>
            <a:r>
              <a:rPr sz="700" b="1" i="0">
                <a:solidFill>
                  <a:srgbClr val="6B778C"/>
                </a:solidFill>
                <a:latin typeface="Arial"/>
              </a:rPr>
              <a:t>PAIN</a:t>
            </a:r>
          </a:p>
        </p:txBody>
      </p:sp>
      <p:sp>
        <p:nvSpPr>
          <p:cNvPr id="12" name="TextBox 11"/>
          <p:cNvSpPr txBox="1"/>
          <p:nvPr/>
        </p:nvSpPr>
        <p:spPr>
          <a:xfrm>
            <a:off x="5806440" y="2011680"/>
            <a:ext cx="1005840" cy="182880"/>
          </a:xfrm>
          <a:prstGeom prst="rect">
            <a:avLst/>
          </a:prstGeom>
          <a:noFill/>
        </p:spPr>
        <p:txBody>
          <a:bodyPr wrap="square" lIns="36000" rIns="36000" tIns="18000" bIns="18000" anchor="t">
            <a:spAutoFit/>
          </a:bodyPr>
          <a:lstStyle/>
          <a:p>
            <a:pPr algn="l"/>
            <a:r>
              <a:rPr sz="700" b="1" i="0">
                <a:solidFill>
                  <a:srgbClr val="6B778C"/>
                </a:solidFill>
                <a:latin typeface="Arial"/>
              </a:rPr>
              <a:t>CoS</a:t>
            </a:r>
          </a:p>
        </p:txBody>
      </p:sp>
      <p:sp>
        <p:nvSpPr>
          <p:cNvPr id="13" name="TextBox 12"/>
          <p:cNvSpPr txBox="1"/>
          <p:nvPr/>
        </p:nvSpPr>
        <p:spPr>
          <a:xfrm>
            <a:off x="6812280" y="2011680"/>
            <a:ext cx="502920" cy="182880"/>
          </a:xfrm>
          <a:prstGeom prst="rect">
            <a:avLst/>
          </a:prstGeom>
          <a:noFill/>
        </p:spPr>
        <p:txBody>
          <a:bodyPr wrap="square" lIns="36000" rIns="36000" tIns="18000" bIns="18000" anchor="t">
            <a:spAutoFit/>
          </a:bodyPr>
          <a:lstStyle/>
          <a:p>
            <a:pPr algn="l"/>
            <a:r>
              <a:rPr sz="700" b="1" i="0">
                <a:solidFill>
                  <a:srgbClr val="6B778C"/>
                </a:solidFill>
                <a:latin typeface="Arial"/>
              </a:rPr>
              <a:t>SIZE</a:t>
            </a:r>
          </a:p>
        </p:txBody>
      </p:sp>
      <p:sp>
        <p:nvSpPr>
          <p:cNvPr id="14" name="Rectangle 13"/>
          <p:cNvSpPr/>
          <p:nvPr/>
        </p:nvSpPr>
        <p:spPr>
          <a:xfrm>
            <a:off x="457200" y="2212848"/>
            <a:ext cx="694944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386584"/>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01</a:t>
            </a:r>
          </a:p>
        </p:txBody>
      </p:sp>
      <p:sp>
        <p:nvSpPr>
          <p:cNvPr id="16" name="TextBox 15"/>
          <p:cNvSpPr txBox="1"/>
          <p:nvPr/>
        </p:nvSpPr>
        <p:spPr>
          <a:xfrm>
            <a:off x="960120" y="2386584"/>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PUC tariff banner Q3 (regulatory deadline)</a:t>
            </a:r>
          </a:p>
        </p:txBody>
      </p:sp>
      <p:sp>
        <p:nvSpPr>
          <p:cNvPr id="17" name="Rounded Rectangle 16"/>
          <p:cNvSpPr/>
          <p:nvPr/>
        </p:nvSpPr>
        <p:spPr>
          <a:xfrm>
            <a:off x="4480560" y="2434590"/>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434590"/>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19" name="TextBox 18"/>
          <p:cNvSpPr txBox="1"/>
          <p:nvPr/>
        </p:nvSpPr>
        <p:spPr>
          <a:xfrm>
            <a:off x="5120640" y="2386584"/>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20" name="Rounded Rectangle 19"/>
          <p:cNvSpPr/>
          <p:nvPr/>
        </p:nvSpPr>
        <p:spPr>
          <a:xfrm>
            <a:off x="5806440" y="2434590"/>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06440" y="243459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22" name="Rounded Rectangle 21"/>
          <p:cNvSpPr/>
          <p:nvPr/>
        </p:nvSpPr>
        <p:spPr>
          <a:xfrm>
            <a:off x="6812280" y="2434590"/>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243459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24" name="Rectangle 23"/>
          <p:cNvSpPr/>
          <p:nvPr/>
        </p:nvSpPr>
        <p:spPr>
          <a:xfrm>
            <a:off x="457200" y="2738628"/>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793492"/>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02</a:t>
            </a:r>
          </a:p>
        </p:txBody>
      </p:sp>
      <p:sp>
        <p:nvSpPr>
          <p:cNvPr id="26" name="TextBox 25"/>
          <p:cNvSpPr txBox="1"/>
          <p:nvPr/>
        </p:nvSpPr>
        <p:spPr>
          <a:xfrm>
            <a:off x="960120" y="2793492"/>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CRM page load &lt;2s on Genesys</a:t>
            </a:r>
          </a:p>
        </p:txBody>
      </p:sp>
      <p:sp>
        <p:nvSpPr>
          <p:cNvPr id="27" name="Rounded Rectangle 26"/>
          <p:cNvSpPr/>
          <p:nvPr/>
        </p:nvSpPr>
        <p:spPr>
          <a:xfrm>
            <a:off x="4480560" y="2841498"/>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2841498"/>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29" name="TextBox 28"/>
          <p:cNvSpPr txBox="1"/>
          <p:nvPr/>
        </p:nvSpPr>
        <p:spPr>
          <a:xfrm>
            <a:off x="5120640" y="2793492"/>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2.10</a:t>
            </a:r>
          </a:p>
        </p:txBody>
      </p:sp>
      <p:sp>
        <p:nvSpPr>
          <p:cNvPr id="30" name="Rounded Rectangle 29"/>
          <p:cNvSpPr/>
          <p:nvPr/>
        </p:nvSpPr>
        <p:spPr>
          <a:xfrm>
            <a:off x="5806440" y="2841498"/>
            <a:ext cx="868680" cy="18288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06440" y="284149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Expedite</a:t>
            </a:r>
          </a:p>
        </p:txBody>
      </p:sp>
      <p:sp>
        <p:nvSpPr>
          <p:cNvPr id="32" name="Rounded Rectangle 31"/>
          <p:cNvSpPr/>
          <p:nvPr/>
        </p:nvSpPr>
        <p:spPr>
          <a:xfrm>
            <a:off x="6812280" y="2841498"/>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2280" y="284149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34" name="TextBox 33"/>
          <p:cNvSpPr txBox="1"/>
          <p:nvPr/>
        </p:nvSpPr>
        <p:spPr>
          <a:xfrm>
            <a:off x="457200" y="3200400"/>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03</a:t>
            </a:r>
          </a:p>
        </p:txBody>
      </p:sp>
      <p:sp>
        <p:nvSpPr>
          <p:cNvPr id="35" name="TextBox 34"/>
          <p:cNvSpPr txBox="1"/>
          <p:nvPr/>
        </p:nvSpPr>
        <p:spPr>
          <a:xfrm>
            <a:off x="960120" y="3200400"/>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Reduce billing-correction cycle 14→5 days</a:t>
            </a:r>
          </a:p>
        </p:txBody>
      </p:sp>
      <p:sp>
        <p:nvSpPr>
          <p:cNvPr id="36" name="Rounded Rectangle 35"/>
          <p:cNvSpPr/>
          <p:nvPr/>
        </p:nvSpPr>
        <p:spPr>
          <a:xfrm>
            <a:off x="4480560" y="3248406"/>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3248406"/>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38" name="TextBox 37"/>
          <p:cNvSpPr txBox="1"/>
          <p:nvPr/>
        </p:nvSpPr>
        <p:spPr>
          <a:xfrm>
            <a:off x="5120640" y="3200400"/>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2.43</a:t>
            </a:r>
          </a:p>
        </p:txBody>
      </p:sp>
      <p:sp>
        <p:nvSpPr>
          <p:cNvPr id="39" name="Rounded Rectangle 38"/>
          <p:cNvSpPr/>
          <p:nvPr/>
        </p:nvSpPr>
        <p:spPr>
          <a:xfrm>
            <a:off x="5806440" y="3248406"/>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324840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41" name="Rounded Rectangle 40"/>
          <p:cNvSpPr/>
          <p:nvPr/>
        </p:nvSpPr>
        <p:spPr>
          <a:xfrm>
            <a:off x="6812280" y="3248406"/>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12280" y="324840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43" name="Rectangle 42"/>
          <p:cNvSpPr/>
          <p:nvPr/>
        </p:nvSpPr>
        <p:spPr>
          <a:xfrm>
            <a:off x="457200" y="3552444"/>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3607308"/>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04</a:t>
            </a:r>
          </a:p>
        </p:txBody>
      </p:sp>
      <p:sp>
        <p:nvSpPr>
          <p:cNvPr id="45" name="TextBox 44"/>
          <p:cNvSpPr txBox="1"/>
          <p:nvPr/>
        </p:nvSpPr>
        <p:spPr>
          <a:xfrm>
            <a:off x="960120" y="3607308"/>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SAP FI year-end close acceleration</a:t>
            </a:r>
          </a:p>
        </p:txBody>
      </p:sp>
      <p:sp>
        <p:nvSpPr>
          <p:cNvPr id="46" name="Rounded Rectangle 45"/>
          <p:cNvSpPr/>
          <p:nvPr/>
        </p:nvSpPr>
        <p:spPr>
          <a:xfrm>
            <a:off x="4480560" y="3655313"/>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80560" y="3655313"/>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48" name="TextBox 47"/>
          <p:cNvSpPr txBox="1"/>
          <p:nvPr/>
        </p:nvSpPr>
        <p:spPr>
          <a:xfrm>
            <a:off x="5120640" y="3607308"/>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2.20</a:t>
            </a:r>
          </a:p>
        </p:txBody>
      </p:sp>
      <p:sp>
        <p:nvSpPr>
          <p:cNvPr id="49" name="Rounded Rectangle 48"/>
          <p:cNvSpPr/>
          <p:nvPr/>
        </p:nvSpPr>
        <p:spPr>
          <a:xfrm>
            <a:off x="5806440" y="3655313"/>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06440" y="3655313"/>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51" name="Rounded Rectangle 50"/>
          <p:cNvSpPr/>
          <p:nvPr/>
        </p:nvSpPr>
        <p:spPr>
          <a:xfrm>
            <a:off x="6812280" y="3655313"/>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12280" y="3655313"/>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53" name="TextBox 52"/>
          <p:cNvSpPr txBox="1"/>
          <p:nvPr/>
        </p:nvSpPr>
        <p:spPr>
          <a:xfrm>
            <a:off x="457200" y="4014215"/>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05</a:t>
            </a:r>
          </a:p>
        </p:txBody>
      </p:sp>
      <p:sp>
        <p:nvSpPr>
          <p:cNvPr id="54" name="TextBox 53"/>
          <p:cNvSpPr txBox="1"/>
          <p:nvPr/>
        </p:nvSpPr>
        <p:spPr>
          <a:xfrm>
            <a:off x="960120" y="4014215"/>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Self-service password reset (multi-OPCO)</a:t>
            </a:r>
          </a:p>
        </p:txBody>
      </p:sp>
      <p:sp>
        <p:nvSpPr>
          <p:cNvPr id="55" name="Rounded Rectangle 54"/>
          <p:cNvSpPr/>
          <p:nvPr/>
        </p:nvSpPr>
        <p:spPr>
          <a:xfrm>
            <a:off x="4480560" y="4062222"/>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80560" y="4062222"/>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7" name="TextBox 56"/>
          <p:cNvSpPr txBox="1"/>
          <p:nvPr/>
        </p:nvSpPr>
        <p:spPr>
          <a:xfrm>
            <a:off x="5120640" y="4014215"/>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58" name="Rounded Rectangle 57"/>
          <p:cNvSpPr/>
          <p:nvPr/>
        </p:nvSpPr>
        <p:spPr>
          <a:xfrm>
            <a:off x="5806440" y="4062222"/>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06440" y="406222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60" name="Rounded Rectangle 59"/>
          <p:cNvSpPr/>
          <p:nvPr/>
        </p:nvSpPr>
        <p:spPr>
          <a:xfrm>
            <a:off x="6812280" y="4062222"/>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12280" y="406222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62" name="Rectangle 61"/>
          <p:cNvSpPr/>
          <p:nvPr/>
        </p:nvSpPr>
        <p:spPr>
          <a:xfrm>
            <a:off x="457200" y="4366260"/>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421124"/>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06</a:t>
            </a:r>
          </a:p>
        </p:txBody>
      </p:sp>
      <p:sp>
        <p:nvSpPr>
          <p:cNvPr id="64" name="TextBox 63"/>
          <p:cNvSpPr txBox="1"/>
          <p:nvPr/>
        </p:nvSpPr>
        <p:spPr>
          <a:xfrm>
            <a:off x="960120" y="4421124"/>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Audit framework refresh (regulatory)</a:t>
            </a:r>
          </a:p>
        </p:txBody>
      </p:sp>
      <p:sp>
        <p:nvSpPr>
          <p:cNvPr id="65" name="Rounded Rectangle 64"/>
          <p:cNvSpPr/>
          <p:nvPr/>
        </p:nvSpPr>
        <p:spPr>
          <a:xfrm>
            <a:off x="4480560" y="4469130"/>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80560" y="4469130"/>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67" name="TextBox 66"/>
          <p:cNvSpPr txBox="1"/>
          <p:nvPr/>
        </p:nvSpPr>
        <p:spPr>
          <a:xfrm>
            <a:off x="5120640" y="4421124"/>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1.85</a:t>
            </a:r>
          </a:p>
        </p:txBody>
      </p:sp>
      <p:sp>
        <p:nvSpPr>
          <p:cNvPr id="68" name="Rounded Rectangle 67"/>
          <p:cNvSpPr/>
          <p:nvPr/>
        </p:nvSpPr>
        <p:spPr>
          <a:xfrm>
            <a:off x="5806440" y="4469130"/>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06440" y="446913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70" name="Rounded Rectangle 69"/>
          <p:cNvSpPr/>
          <p:nvPr/>
        </p:nvSpPr>
        <p:spPr>
          <a:xfrm>
            <a:off x="6812280" y="4469130"/>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12280" y="446913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72" name="TextBox 71"/>
          <p:cNvSpPr txBox="1"/>
          <p:nvPr/>
        </p:nvSpPr>
        <p:spPr>
          <a:xfrm>
            <a:off x="457200" y="4828032"/>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07</a:t>
            </a:r>
          </a:p>
        </p:txBody>
      </p:sp>
      <p:sp>
        <p:nvSpPr>
          <p:cNvPr id="73" name="TextBox 72"/>
          <p:cNvSpPr txBox="1"/>
          <p:nvPr/>
        </p:nvSpPr>
        <p:spPr>
          <a:xfrm>
            <a:off x="960120" y="4828032"/>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GIS layer migration · scope-add</a:t>
            </a:r>
          </a:p>
        </p:txBody>
      </p:sp>
      <p:sp>
        <p:nvSpPr>
          <p:cNvPr id="74" name="Rounded Rectangle 73"/>
          <p:cNvSpPr/>
          <p:nvPr/>
        </p:nvSpPr>
        <p:spPr>
          <a:xfrm>
            <a:off x="4480560" y="4876038"/>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480560" y="4876038"/>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76" name="TextBox 75"/>
          <p:cNvSpPr txBox="1"/>
          <p:nvPr/>
        </p:nvSpPr>
        <p:spPr>
          <a:xfrm>
            <a:off x="5120640" y="4828032"/>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1.80</a:t>
            </a:r>
          </a:p>
        </p:txBody>
      </p:sp>
      <p:sp>
        <p:nvSpPr>
          <p:cNvPr id="77" name="Rounded Rectangle 76"/>
          <p:cNvSpPr/>
          <p:nvPr/>
        </p:nvSpPr>
        <p:spPr>
          <a:xfrm>
            <a:off x="5806440" y="4876038"/>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806440" y="487603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79" name="Rounded Rectangle 78"/>
          <p:cNvSpPr/>
          <p:nvPr/>
        </p:nvSpPr>
        <p:spPr>
          <a:xfrm>
            <a:off x="6812280" y="4876038"/>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812280" y="487603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81" name="Rectangle 80"/>
          <p:cNvSpPr/>
          <p:nvPr/>
        </p:nvSpPr>
        <p:spPr>
          <a:xfrm>
            <a:off x="457200" y="5180076"/>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7200" y="5234940"/>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08</a:t>
            </a:r>
          </a:p>
        </p:txBody>
      </p:sp>
      <p:sp>
        <p:nvSpPr>
          <p:cNvPr id="83" name="TextBox 82"/>
          <p:cNvSpPr txBox="1"/>
          <p:nvPr/>
        </p:nvSpPr>
        <p:spPr>
          <a:xfrm>
            <a:off x="960120" y="5234940"/>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Networks IT data backbone (cross-VS)</a:t>
            </a:r>
          </a:p>
        </p:txBody>
      </p:sp>
      <p:sp>
        <p:nvSpPr>
          <p:cNvPr id="84" name="Rounded Rectangle 83"/>
          <p:cNvSpPr/>
          <p:nvPr/>
        </p:nvSpPr>
        <p:spPr>
          <a:xfrm>
            <a:off x="4480560" y="5282946"/>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80560" y="5282946"/>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86" name="TextBox 85"/>
          <p:cNvSpPr txBox="1"/>
          <p:nvPr/>
        </p:nvSpPr>
        <p:spPr>
          <a:xfrm>
            <a:off x="5120640" y="5234940"/>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1.65</a:t>
            </a:r>
          </a:p>
        </p:txBody>
      </p:sp>
      <p:sp>
        <p:nvSpPr>
          <p:cNvPr id="87" name="Rounded Rectangle 86"/>
          <p:cNvSpPr/>
          <p:nvPr/>
        </p:nvSpPr>
        <p:spPr>
          <a:xfrm>
            <a:off x="5806440" y="5282946"/>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806440" y="528294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89" name="Rounded Rectangle 88"/>
          <p:cNvSpPr/>
          <p:nvPr/>
        </p:nvSpPr>
        <p:spPr>
          <a:xfrm>
            <a:off x="6812280" y="5282946"/>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812280" y="528294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91" name="TextBox 90"/>
          <p:cNvSpPr txBox="1"/>
          <p:nvPr/>
        </p:nvSpPr>
        <p:spPr>
          <a:xfrm>
            <a:off x="457200" y="5641848"/>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09</a:t>
            </a:r>
          </a:p>
        </p:txBody>
      </p:sp>
      <p:sp>
        <p:nvSpPr>
          <p:cNvPr id="92" name="TextBox 91"/>
          <p:cNvSpPr txBox="1"/>
          <p:nvPr/>
        </p:nvSpPr>
        <p:spPr>
          <a:xfrm>
            <a:off x="960120" y="5641848"/>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Smart Meter event analytics platform</a:t>
            </a:r>
          </a:p>
        </p:txBody>
      </p:sp>
      <p:sp>
        <p:nvSpPr>
          <p:cNvPr id="93" name="Rounded Rectangle 92"/>
          <p:cNvSpPr/>
          <p:nvPr/>
        </p:nvSpPr>
        <p:spPr>
          <a:xfrm>
            <a:off x="4480560" y="5689854"/>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480560" y="5689854"/>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95" name="TextBox 94"/>
          <p:cNvSpPr txBox="1"/>
          <p:nvPr/>
        </p:nvSpPr>
        <p:spPr>
          <a:xfrm>
            <a:off x="5120640" y="5641848"/>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1.55</a:t>
            </a:r>
          </a:p>
        </p:txBody>
      </p:sp>
      <p:sp>
        <p:nvSpPr>
          <p:cNvPr id="96" name="Rounded Rectangle 95"/>
          <p:cNvSpPr/>
          <p:nvPr/>
        </p:nvSpPr>
        <p:spPr>
          <a:xfrm>
            <a:off x="5806440" y="5689854"/>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806440" y="5689854"/>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98" name="Rounded Rectangle 97"/>
          <p:cNvSpPr/>
          <p:nvPr/>
        </p:nvSpPr>
        <p:spPr>
          <a:xfrm>
            <a:off x="6812280" y="5689854"/>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812280" y="5689854"/>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100" name="Rectangle 99"/>
          <p:cNvSpPr/>
          <p:nvPr/>
        </p:nvSpPr>
        <p:spPr>
          <a:xfrm>
            <a:off x="457200" y="5993892"/>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7200" y="6048756"/>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10</a:t>
            </a:r>
          </a:p>
        </p:txBody>
      </p:sp>
      <p:sp>
        <p:nvSpPr>
          <p:cNvPr id="102" name="TextBox 101"/>
          <p:cNvSpPr txBox="1"/>
          <p:nvPr/>
        </p:nvSpPr>
        <p:spPr>
          <a:xfrm>
            <a:off x="960120" y="6048756"/>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SAP Basis kernel patch Q2 (tech debt)</a:t>
            </a:r>
          </a:p>
        </p:txBody>
      </p:sp>
      <p:sp>
        <p:nvSpPr>
          <p:cNvPr id="103" name="Rounded Rectangle 102"/>
          <p:cNvSpPr/>
          <p:nvPr/>
        </p:nvSpPr>
        <p:spPr>
          <a:xfrm>
            <a:off x="4480560" y="6096762"/>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480560" y="6096762"/>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105" name="TextBox 104"/>
          <p:cNvSpPr txBox="1"/>
          <p:nvPr/>
        </p:nvSpPr>
        <p:spPr>
          <a:xfrm>
            <a:off x="5120640" y="6048756"/>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0.95</a:t>
            </a:r>
          </a:p>
        </p:txBody>
      </p:sp>
      <p:sp>
        <p:nvSpPr>
          <p:cNvPr id="106" name="Rounded Rectangle 105"/>
          <p:cNvSpPr/>
          <p:nvPr/>
        </p:nvSpPr>
        <p:spPr>
          <a:xfrm>
            <a:off x="5806440" y="6096762"/>
            <a:ext cx="8686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806440" y="609676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Intangible</a:t>
            </a:r>
          </a:p>
        </p:txBody>
      </p:sp>
      <p:sp>
        <p:nvSpPr>
          <p:cNvPr id="108" name="Rounded Rectangle 107"/>
          <p:cNvSpPr/>
          <p:nvPr/>
        </p:nvSpPr>
        <p:spPr>
          <a:xfrm>
            <a:off x="6812280" y="6096762"/>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812280" y="609676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110" name="Rounded Rectangle 109"/>
          <p:cNvSpPr/>
          <p:nvPr/>
        </p:nvSpPr>
        <p:spPr>
          <a:xfrm>
            <a:off x="7680959" y="1508760"/>
            <a:ext cx="414223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680959" y="1508760"/>
            <a:ext cx="414223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818119" y="1581912"/>
            <a:ext cx="3867912" cy="274320"/>
          </a:xfrm>
          <a:prstGeom prst="rect">
            <a:avLst/>
          </a:prstGeom>
          <a:noFill/>
        </p:spPr>
        <p:txBody>
          <a:bodyPr wrap="square" lIns="36000" rIns="36000" tIns="18000" bIns="18000" anchor="t">
            <a:spAutoFit/>
          </a:bodyPr>
          <a:lstStyle/>
          <a:p>
            <a:pPr algn="l"/>
            <a:r>
              <a:rPr sz="1100" b="1" i="0">
                <a:solidFill>
                  <a:srgbClr val="FFFFFF"/>
                </a:solidFill>
                <a:latin typeface="Arial"/>
              </a:rPr>
              <a:t>RE-RANKING  ·  monthly @ Gate 2</a:t>
            </a:r>
          </a:p>
        </p:txBody>
      </p:sp>
      <p:sp>
        <p:nvSpPr>
          <p:cNvPr id="113" name="TextBox 112"/>
          <p:cNvSpPr txBox="1"/>
          <p:nvPr/>
        </p:nvSpPr>
        <p:spPr>
          <a:xfrm>
            <a:off x="7818119" y="2093976"/>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WHO MAINTAINS</a:t>
            </a:r>
          </a:p>
        </p:txBody>
      </p:sp>
      <p:sp>
        <p:nvSpPr>
          <p:cNvPr id="114" name="TextBox 113"/>
          <p:cNvSpPr txBox="1"/>
          <p:nvPr/>
        </p:nvSpPr>
        <p:spPr>
          <a:xfrm>
            <a:off x="7818119" y="2276856"/>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PM (Portfolio · per VS) keeps within-VS rank fresh weekly · Director arbitrates cross-VS at Gate 2</a:t>
            </a:r>
          </a:p>
        </p:txBody>
      </p:sp>
      <p:sp>
        <p:nvSpPr>
          <p:cNvPr id="115" name="TextBox 114"/>
          <p:cNvSpPr txBox="1"/>
          <p:nvPr/>
        </p:nvSpPr>
        <p:spPr>
          <a:xfrm>
            <a:off x="7818119" y="2980944"/>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WHEN IT CHANGES</a:t>
            </a:r>
          </a:p>
        </p:txBody>
      </p:sp>
      <p:sp>
        <p:nvSpPr>
          <p:cNvPr id="116" name="TextBox 115"/>
          <p:cNvSpPr txBox="1"/>
          <p:nvPr/>
        </p:nvSpPr>
        <p:spPr>
          <a:xfrm>
            <a:off x="7818119" y="3163824"/>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Monthly at Gate 2 (always) + ad-hoc when (1) new P1/P2 lands · (2) regulatory deadline shifts · (3) capacity changes</a:t>
            </a:r>
          </a:p>
        </p:txBody>
      </p:sp>
      <p:sp>
        <p:nvSpPr>
          <p:cNvPr id="117" name="TextBox 116"/>
          <p:cNvSpPr txBox="1"/>
          <p:nvPr/>
        </p:nvSpPr>
        <p:spPr>
          <a:xfrm>
            <a:off x="7818119" y="3867911"/>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WHAT CAN MOVE AN ITEM</a:t>
            </a:r>
          </a:p>
        </p:txBody>
      </p:sp>
      <p:sp>
        <p:nvSpPr>
          <p:cNvPr id="118" name="TextBox 117"/>
          <p:cNvSpPr txBox="1"/>
          <p:nvPr/>
        </p:nvSpPr>
        <p:spPr>
          <a:xfrm>
            <a:off x="7818119" y="4050791"/>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 Pain Score increase (re-scoring)</a:t>
            </a:r>
          </a:p>
          <a:p>
            <a:pPr algn="l"/>
            <a:r>
              <a:rPr sz="850" b="0" i="0">
                <a:solidFill>
                  <a:srgbClr val="2C3E50"/>
                </a:solidFill>
                <a:latin typeface="Arial"/>
              </a:rPr>
              <a:t>▪ Override trigger (Reg/CIT)</a:t>
            </a:r>
          </a:p>
          <a:p>
            <a:pPr algn="l"/>
            <a:r>
              <a:rPr sz="850" b="0" i="0">
                <a:solidFill>
                  <a:srgbClr val="2C3E50"/>
                </a:solidFill>
                <a:latin typeface="Arial"/>
              </a:rPr>
              <a:t>▪ Capacity newly available</a:t>
            </a:r>
          </a:p>
          <a:p>
            <a:pPr algn="l"/>
            <a:r>
              <a:rPr sz="850" b="0" i="0">
                <a:solidFill>
                  <a:srgbClr val="2C3E50"/>
                </a:solidFill>
                <a:latin typeface="Arial"/>
              </a:rPr>
              <a:t>▪ Cross-VS dependency unblocked</a:t>
            </a:r>
          </a:p>
        </p:txBody>
      </p:sp>
      <p:sp>
        <p:nvSpPr>
          <p:cNvPr id="119" name="TextBox 118"/>
          <p:cNvSpPr txBox="1"/>
          <p:nvPr/>
        </p:nvSpPr>
        <p:spPr>
          <a:xfrm>
            <a:off x="7818119" y="4754879"/>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WHAT NEVER MOVES IT</a:t>
            </a:r>
          </a:p>
        </p:txBody>
      </p:sp>
      <p:sp>
        <p:nvSpPr>
          <p:cNvPr id="120" name="TextBox 119"/>
          <p:cNvSpPr txBox="1"/>
          <p:nvPr/>
        </p:nvSpPr>
        <p:spPr>
          <a:xfrm>
            <a:off x="7818119" y="4937759"/>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 Sponsor pressure outside Gate 2</a:t>
            </a:r>
          </a:p>
          <a:p>
            <a:pPr algn="l"/>
            <a:r>
              <a:rPr sz="850" b="0" i="0">
                <a:solidFill>
                  <a:srgbClr val="2C3E50"/>
                </a:solidFill>
                <a:latin typeface="Arial"/>
              </a:rPr>
              <a:t>▪ "Squeaky-wheel" requests</a:t>
            </a:r>
          </a:p>
          <a:p>
            <a:pPr algn="l"/>
            <a:r>
              <a:rPr sz="850" b="0" i="0">
                <a:solidFill>
                  <a:srgbClr val="2C3E50"/>
                </a:solidFill>
                <a:latin typeface="Arial"/>
              </a:rPr>
              <a:t>▪ Director preference without Pain Score support</a:t>
            </a:r>
          </a:p>
        </p:txBody>
      </p:sp>
      <p:sp>
        <p:nvSpPr>
          <p:cNvPr id="121" name="TextBox 120"/>
          <p:cNvSpPr txBox="1"/>
          <p:nvPr/>
        </p:nvSpPr>
        <p:spPr>
          <a:xfrm>
            <a:off x="7818119" y="5641847"/>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AUDIT TRAIL</a:t>
            </a:r>
          </a:p>
        </p:txBody>
      </p:sp>
      <p:sp>
        <p:nvSpPr>
          <p:cNvPr id="122" name="TextBox 121"/>
          <p:cNvSpPr txBox="1"/>
          <p:nvPr/>
        </p:nvSpPr>
        <p:spPr>
          <a:xfrm>
            <a:off x="7818119" y="5824727"/>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Every re-rank logged with reason + decider · visible to VP Vitor + middle managers</a:t>
            </a:r>
          </a:p>
        </p:txBody>
      </p:sp>
      <p:sp>
        <p:nvSpPr>
          <p:cNvPr id="123" name="TextBox 122"/>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24" name="Rectangle 123"/>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26" name="Rectangle 125"/>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28" name="Rectangle 127"/>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30" name="Rectangle 129"/>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32" name="TextBox 13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33" name="TextBox 13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08 / 27</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Rolling-wave roadmap</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3 mo committed · 3-6 planned · 6-12 hypothesized · re-balanced monthly · cross-aligned quarterly</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1645920" y="1554480"/>
            <a:ext cx="2512314" cy="29260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Q3 2026</a:t>
            </a:r>
          </a:p>
        </p:txBody>
      </p:sp>
      <p:sp>
        <p:nvSpPr>
          <p:cNvPr id="7" name="Rectangle 6"/>
          <p:cNvSpPr/>
          <p:nvPr/>
        </p:nvSpPr>
        <p:spPr>
          <a:xfrm>
            <a:off x="4194810" y="1554480"/>
            <a:ext cx="2512314"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9481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Q4 2026</a:t>
            </a:r>
          </a:p>
        </p:txBody>
      </p:sp>
      <p:sp>
        <p:nvSpPr>
          <p:cNvPr id="9" name="Rectangle 8"/>
          <p:cNvSpPr/>
          <p:nvPr/>
        </p:nvSpPr>
        <p:spPr>
          <a:xfrm>
            <a:off x="674370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4370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Q1 2027</a:t>
            </a:r>
          </a:p>
        </p:txBody>
      </p:sp>
      <p:sp>
        <p:nvSpPr>
          <p:cNvPr id="11" name="Rectangle 10"/>
          <p:cNvSpPr/>
          <p:nvPr/>
        </p:nvSpPr>
        <p:spPr>
          <a:xfrm>
            <a:off x="929259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9259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Q2 2027</a:t>
            </a:r>
          </a:p>
        </p:txBody>
      </p:sp>
      <p:sp>
        <p:nvSpPr>
          <p:cNvPr id="13" name="TextBox 12"/>
          <p:cNvSpPr txBox="1"/>
          <p:nvPr/>
        </p:nvSpPr>
        <p:spPr>
          <a:xfrm>
            <a:off x="1645920" y="1883664"/>
            <a:ext cx="2548890" cy="182880"/>
          </a:xfrm>
          <a:prstGeom prst="rect">
            <a:avLst/>
          </a:prstGeom>
          <a:noFill/>
        </p:spPr>
        <p:txBody>
          <a:bodyPr wrap="square" lIns="36000" rIns="36000" tIns="18000" bIns="18000" anchor="t">
            <a:spAutoFit/>
          </a:bodyPr>
          <a:lstStyle/>
          <a:p>
            <a:pPr algn="ctr"/>
            <a:r>
              <a:rPr sz="800" b="1" i="0">
                <a:solidFill>
                  <a:srgbClr val="006B3F"/>
                </a:solidFill>
                <a:latin typeface="Arial"/>
              </a:rPr>
              <a:t>COMMITTED</a:t>
            </a:r>
          </a:p>
        </p:txBody>
      </p:sp>
      <p:sp>
        <p:nvSpPr>
          <p:cNvPr id="14" name="TextBox 13"/>
          <p:cNvSpPr txBox="1"/>
          <p:nvPr/>
        </p:nvSpPr>
        <p:spPr>
          <a:xfrm>
            <a:off x="4194810" y="1883664"/>
            <a:ext cx="2548890" cy="182880"/>
          </a:xfrm>
          <a:prstGeom prst="rect">
            <a:avLst/>
          </a:prstGeom>
          <a:noFill/>
        </p:spPr>
        <p:txBody>
          <a:bodyPr wrap="square" lIns="36000" rIns="36000" tIns="18000" bIns="18000" anchor="t">
            <a:spAutoFit/>
          </a:bodyPr>
          <a:lstStyle/>
          <a:p>
            <a:pPr algn="ctr"/>
            <a:r>
              <a:rPr sz="800" b="1" i="0">
                <a:solidFill>
                  <a:srgbClr val="2C578B"/>
                </a:solidFill>
                <a:latin typeface="Arial"/>
              </a:rPr>
              <a:t>PLANNED</a:t>
            </a:r>
          </a:p>
        </p:txBody>
      </p:sp>
      <p:sp>
        <p:nvSpPr>
          <p:cNvPr id="15" name="TextBox 14"/>
          <p:cNvSpPr txBox="1"/>
          <p:nvPr/>
        </p:nvSpPr>
        <p:spPr>
          <a:xfrm>
            <a:off x="6743700" y="1883664"/>
            <a:ext cx="5097780" cy="182880"/>
          </a:xfrm>
          <a:prstGeom prst="rect">
            <a:avLst/>
          </a:prstGeom>
          <a:noFill/>
        </p:spPr>
        <p:txBody>
          <a:bodyPr wrap="square" lIns="36000" rIns="36000" tIns="18000" bIns="18000" anchor="t">
            <a:spAutoFit/>
          </a:bodyPr>
          <a:lstStyle/>
          <a:p>
            <a:pPr algn="ctr"/>
            <a:r>
              <a:rPr sz="800" b="1" i="0">
                <a:solidFill>
                  <a:srgbClr val="6B778C"/>
                </a:solidFill>
                <a:latin typeface="Arial"/>
              </a:rPr>
              <a:t>HYPOTHESIZED</a:t>
            </a:r>
          </a:p>
        </p:txBody>
      </p:sp>
      <p:sp>
        <p:nvSpPr>
          <p:cNvPr id="16" name="Rectangle 15"/>
          <p:cNvSpPr/>
          <p:nvPr/>
        </p:nvSpPr>
        <p:spPr>
          <a:xfrm>
            <a:off x="365760" y="215798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215798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20370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19" name="TextBox 18"/>
          <p:cNvSpPr txBox="1"/>
          <p:nvPr/>
        </p:nvSpPr>
        <p:spPr>
          <a:xfrm>
            <a:off x="502920" y="2377439"/>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20" name="Rectangle 19"/>
          <p:cNvSpPr/>
          <p:nvPr/>
        </p:nvSpPr>
        <p:spPr>
          <a:xfrm>
            <a:off x="1645920" y="215798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9481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74370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9259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45920" y="2212848"/>
            <a:ext cx="5607558" cy="173736"/>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82496" y="224485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47088" y="2249424"/>
            <a:ext cx="5333238" cy="100584"/>
          </a:xfrm>
          <a:prstGeom prst="rect">
            <a:avLst/>
          </a:prstGeom>
          <a:noFill/>
        </p:spPr>
        <p:txBody>
          <a:bodyPr wrap="square" lIns="36000" rIns="36000" tIns="18000" bIns="18000" anchor="ctr">
            <a:spAutoFit/>
          </a:bodyPr>
          <a:lstStyle/>
          <a:p>
            <a:pPr algn="l"/>
            <a:r>
              <a:rPr sz="750" b="1" i="0">
                <a:solidFill>
                  <a:srgbClr val="FFFFFF"/>
                </a:solidFill>
                <a:latin typeface="Arial"/>
              </a:rPr>
              <a:t>Genesys script overhaul</a:t>
            </a:r>
          </a:p>
        </p:txBody>
      </p:sp>
      <p:sp>
        <p:nvSpPr>
          <p:cNvPr id="27" name="Rounded Rectangle 26"/>
          <p:cNvSpPr/>
          <p:nvPr/>
        </p:nvSpPr>
        <p:spPr>
          <a:xfrm>
            <a:off x="2665476" y="2441448"/>
            <a:ext cx="2039112" cy="173736"/>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702052" y="2473452"/>
            <a:ext cx="109728" cy="10972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66644" y="2478024"/>
            <a:ext cx="1764792" cy="100584"/>
          </a:xfrm>
          <a:prstGeom prst="rect">
            <a:avLst/>
          </a:prstGeom>
          <a:noFill/>
        </p:spPr>
        <p:txBody>
          <a:bodyPr wrap="square" lIns="36000" rIns="36000" tIns="18000" bIns="18000" anchor="ctr">
            <a:spAutoFit/>
          </a:bodyPr>
          <a:lstStyle/>
          <a:p>
            <a:pPr algn="l"/>
            <a:r>
              <a:rPr sz="750" b="1" i="0">
                <a:solidFill>
                  <a:srgbClr val="FFFFFF"/>
                </a:solidFill>
                <a:latin typeface="Arial"/>
              </a:rPr>
              <a:t>CRM page load &lt;2s</a:t>
            </a:r>
          </a:p>
        </p:txBody>
      </p:sp>
      <p:sp>
        <p:nvSpPr>
          <p:cNvPr id="30" name="Rectangle 29"/>
          <p:cNvSpPr/>
          <p:nvPr/>
        </p:nvSpPr>
        <p:spPr>
          <a:xfrm>
            <a:off x="365760" y="279806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79806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84378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33" name="TextBox 32"/>
          <p:cNvSpPr txBox="1"/>
          <p:nvPr/>
        </p:nvSpPr>
        <p:spPr>
          <a:xfrm>
            <a:off x="502920" y="301752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34" name="Rectangle 33"/>
          <p:cNvSpPr/>
          <p:nvPr/>
        </p:nvSpPr>
        <p:spPr>
          <a:xfrm>
            <a:off x="1645920" y="279806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9481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74370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9259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155698" y="2852928"/>
            <a:ext cx="4588002" cy="173736"/>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192274" y="288493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56866" y="2889504"/>
            <a:ext cx="4313682" cy="100584"/>
          </a:xfrm>
          <a:prstGeom prst="rect">
            <a:avLst/>
          </a:prstGeom>
          <a:noFill/>
        </p:spPr>
        <p:txBody>
          <a:bodyPr wrap="square" lIns="36000" rIns="36000" tIns="18000" bIns="18000" anchor="ctr">
            <a:spAutoFit/>
          </a:bodyPr>
          <a:lstStyle/>
          <a:p>
            <a:pPr algn="l"/>
            <a:r>
              <a:rPr sz="750" b="1" i="0">
                <a:solidFill>
                  <a:srgbClr val="FFFFFF"/>
                </a:solidFill>
                <a:latin typeface="Arial"/>
              </a:rPr>
              <a:t>Billing cycle 14→5 days</a:t>
            </a:r>
          </a:p>
        </p:txBody>
      </p:sp>
      <p:sp>
        <p:nvSpPr>
          <p:cNvPr id="41" name="Rounded Rectangle 40"/>
          <p:cNvSpPr/>
          <p:nvPr/>
        </p:nvSpPr>
        <p:spPr>
          <a:xfrm>
            <a:off x="3175254" y="3081528"/>
            <a:ext cx="3058668" cy="173736"/>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211830" y="311353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76422" y="3118104"/>
            <a:ext cx="2784348" cy="100584"/>
          </a:xfrm>
          <a:prstGeom prst="rect">
            <a:avLst/>
          </a:prstGeom>
          <a:noFill/>
        </p:spPr>
        <p:txBody>
          <a:bodyPr wrap="square" lIns="36000" rIns="36000" tIns="18000" bIns="18000" anchor="ctr">
            <a:spAutoFit/>
          </a:bodyPr>
          <a:lstStyle/>
          <a:p>
            <a:pPr algn="l"/>
            <a:r>
              <a:rPr sz="750" b="1" i="0">
                <a:solidFill>
                  <a:srgbClr val="FFFFFF"/>
                </a:solidFill>
                <a:latin typeface="Arial"/>
              </a:rPr>
              <a:t>Self-service password</a:t>
            </a:r>
          </a:p>
        </p:txBody>
      </p:sp>
      <p:sp>
        <p:nvSpPr>
          <p:cNvPr id="44" name="Rectangle 43"/>
          <p:cNvSpPr/>
          <p:nvPr/>
        </p:nvSpPr>
        <p:spPr>
          <a:xfrm>
            <a:off x="365760" y="343814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5760" y="343814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348386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47" name="TextBox 46"/>
          <p:cNvSpPr txBox="1"/>
          <p:nvPr/>
        </p:nvSpPr>
        <p:spPr>
          <a:xfrm>
            <a:off x="502920" y="365760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48" name="Rectangle 47"/>
          <p:cNvSpPr/>
          <p:nvPr/>
        </p:nvSpPr>
        <p:spPr>
          <a:xfrm>
            <a:off x="1645920" y="343814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19481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4370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29259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724144" y="3493008"/>
            <a:ext cx="5607557" cy="4023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760720" y="363931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25312" y="3529584"/>
            <a:ext cx="5333238" cy="329184"/>
          </a:xfrm>
          <a:prstGeom prst="rect">
            <a:avLst/>
          </a:prstGeom>
          <a:noFill/>
        </p:spPr>
        <p:txBody>
          <a:bodyPr wrap="square" lIns="36000" rIns="36000" tIns="18000" bIns="18000" anchor="ctr">
            <a:spAutoFit/>
          </a:bodyPr>
          <a:lstStyle/>
          <a:p>
            <a:pPr algn="l"/>
            <a:r>
              <a:rPr sz="750" b="1" i="0">
                <a:solidFill>
                  <a:srgbClr val="FFFFFF"/>
                </a:solidFill>
                <a:latin typeface="Arial"/>
              </a:rPr>
              <a:t>Smart Meter analytics</a:t>
            </a:r>
          </a:p>
        </p:txBody>
      </p:sp>
      <p:sp>
        <p:nvSpPr>
          <p:cNvPr id="55" name="Rectangle 54"/>
          <p:cNvSpPr/>
          <p:nvPr/>
        </p:nvSpPr>
        <p:spPr>
          <a:xfrm>
            <a:off x="365760" y="407822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65760" y="407822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412394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58" name="TextBox 57"/>
          <p:cNvSpPr txBox="1"/>
          <p:nvPr/>
        </p:nvSpPr>
        <p:spPr>
          <a:xfrm>
            <a:off x="502920" y="429768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59" name="Rectangle 58"/>
          <p:cNvSpPr/>
          <p:nvPr/>
        </p:nvSpPr>
        <p:spPr>
          <a:xfrm>
            <a:off x="1645920" y="407822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19481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74370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29259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155698" y="4133087"/>
            <a:ext cx="2548890" cy="17373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192274" y="4165091"/>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56866" y="4169663"/>
            <a:ext cx="2274570" cy="100584"/>
          </a:xfrm>
          <a:prstGeom prst="rect">
            <a:avLst/>
          </a:prstGeom>
          <a:noFill/>
        </p:spPr>
        <p:txBody>
          <a:bodyPr wrap="square" lIns="36000" rIns="36000" tIns="18000" bIns="18000" anchor="ctr">
            <a:spAutoFit/>
          </a:bodyPr>
          <a:lstStyle/>
          <a:p>
            <a:pPr algn="l"/>
            <a:r>
              <a:rPr sz="750" b="1" i="0">
                <a:solidFill>
                  <a:srgbClr val="FFFFFF"/>
                </a:solidFill>
                <a:latin typeface="Arial"/>
              </a:rPr>
              <a:t>PUC tariff banner Q3</a:t>
            </a:r>
          </a:p>
        </p:txBody>
      </p:sp>
      <p:sp>
        <p:nvSpPr>
          <p:cNvPr id="66" name="Rounded Rectangle 65"/>
          <p:cNvSpPr/>
          <p:nvPr/>
        </p:nvSpPr>
        <p:spPr>
          <a:xfrm>
            <a:off x="5724144" y="4361688"/>
            <a:ext cx="4588002" cy="1737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760720" y="4393692"/>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925312" y="4398264"/>
            <a:ext cx="4313682" cy="100584"/>
          </a:xfrm>
          <a:prstGeom prst="rect">
            <a:avLst/>
          </a:prstGeom>
          <a:noFill/>
        </p:spPr>
        <p:txBody>
          <a:bodyPr wrap="square" lIns="36000" rIns="36000" tIns="18000" bIns="18000" anchor="ctr">
            <a:spAutoFit/>
          </a:bodyPr>
          <a:lstStyle/>
          <a:p>
            <a:pPr algn="l"/>
            <a:r>
              <a:rPr sz="750" b="1" i="0">
                <a:solidFill>
                  <a:srgbClr val="FFFFFF"/>
                </a:solidFill>
                <a:latin typeface="Arial"/>
              </a:rPr>
              <a:t>Audit framework refresh</a:t>
            </a:r>
          </a:p>
        </p:txBody>
      </p:sp>
      <p:sp>
        <p:nvSpPr>
          <p:cNvPr id="69" name="Rectangle 68"/>
          <p:cNvSpPr/>
          <p:nvPr/>
        </p:nvSpPr>
        <p:spPr>
          <a:xfrm>
            <a:off x="365760" y="471830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65760" y="471830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20" y="476402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72" name="TextBox 71"/>
          <p:cNvSpPr txBox="1"/>
          <p:nvPr/>
        </p:nvSpPr>
        <p:spPr>
          <a:xfrm>
            <a:off x="502920" y="493776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73" name="Rectangle 72"/>
          <p:cNvSpPr/>
          <p:nvPr/>
        </p:nvSpPr>
        <p:spPr>
          <a:xfrm>
            <a:off x="1645920" y="471830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19481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74370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29259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4704588" y="4773168"/>
            <a:ext cx="3058668" cy="17373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741164" y="4805172"/>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905756" y="4809744"/>
            <a:ext cx="2784348" cy="100584"/>
          </a:xfrm>
          <a:prstGeom prst="rect">
            <a:avLst/>
          </a:prstGeom>
          <a:noFill/>
        </p:spPr>
        <p:txBody>
          <a:bodyPr wrap="square" lIns="36000" rIns="36000" tIns="18000" bIns="18000" anchor="ctr">
            <a:spAutoFit/>
          </a:bodyPr>
          <a:lstStyle/>
          <a:p>
            <a:pPr algn="l"/>
            <a:r>
              <a:rPr sz="750" b="1" i="0">
                <a:solidFill>
                  <a:srgbClr val="FFFFFF"/>
                </a:solidFill>
                <a:latin typeface="Arial"/>
              </a:rPr>
              <a:t>Networks data backbone</a:t>
            </a:r>
          </a:p>
        </p:txBody>
      </p:sp>
      <p:sp>
        <p:nvSpPr>
          <p:cNvPr id="80" name="Rounded Rectangle 79"/>
          <p:cNvSpPr/>
          <p:nvPr/>
        </p:nvSpPr>
        <p:spPr>
          <a:xfrm>
            <a:off x="8273034" y="5001768"/>
            <a:ext cx="3058667" cy="1737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309610" y="503377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474202" y="5038344"/>
            <a:ext cx="2784347" cy="100584"/>
          </a:xfrm>
          <a:prstGeom prst="rect">
            <a:avLst/>
          </a:prstGeom>
          <a:noFill/>
        </p:spPr>
        <p:txBody>
          <a:bodyPr wrap="square" lIns="36000" rIns="36000" tIns="18000" bIns="18000" anchor="ctr">
            <a:spAutoFit/>
          </a:bodyPr>
          <a:lstStyle/>
          <a:p>
            <a:pPr algn="l"/>
            <a:r>
              <a:rPr sz="750" b="1" i="0">
                <a:solidFill>
                  <a:srgbClr val="FFFFFF"/>
                </a:solidFill>
                <a:latin typeface="Arial"/>
              </a:rPr>
              <a:t>S/4HANA migration plan</a:t>
            </a:r>
          </a:p>
        </p:txBody>
      </p:sp>
      <p:sp>
        <p:nvSpPr>
          <p:cNvPr id="83" name="Rectangle 82"/>
          <p:cNvSpPr/>
          <p:nvPr/>
        </p:nvSpPr>
        <p:spPr>
          <a:xfrm>
            <a:off x="365760" y="535838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65760" y="535838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2920" y="540410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86" name="TextBox 85"/>
          <p:cNvSpPr txBox="1"/>
          <p:nvPr/>
        </p:nvSpPr>
        <p:spPr>
          <a:xfrm>
            <a:off x="502920" y="557784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87" name="Rectangle 86"/>
          <p:cNvSpPr/>
          <p:nvPr/>
        </p:nvSpPr>
        <p:spPr>
          <a:xfrm>
            <a:off x="1645920" y="535838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19481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74370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29259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2665476" y="5413248"/>
            <a:ext cx="2039112" cy="402336"/>
          </a:xfrm>
          <a:prstGeom prst="roundRect">
            <a:avLst>
              <a:gd name="adj" fmla="val 4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702052" y="5559552"/>
            <a:ext cx="109728" cy="109728"/>
          </a:xfrm>
          <a:prstGeom prst="ellipse">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66644" y="5449824"/>
            <a:ext cx="1764792" cy="329184"/>
          </a:xfrm>
          <a:prstGeom prst="rect">
            <a:avLst/>
          </a:prstGeom>
          <a:noFill/>
        </p:spPr>
        <p:txBody>
          <a:bodyPr wrap="square" lIns="36000" rIns="36000" tIns="18000" bIns="18000" anchor="ctr">
            <a:spAutoFit/>
          </a:bodyPr>
          <a:lstStyle/>
          <a:p>
            <a:pPr algn="l"/>
            <a:r>
              <a:rPr sz="750" b="1" i="0">
                <a:solidFill>
                  <a:srgbClr val="FFFFFF"/>
                </a:solidFill>
                <a:latin typeface="Arial"/>
              </a:rPr>
              <a:t>SAP Basis patch Q2</a:t>
            </a:r>
          </a:p>
        </p:txBody>
      </p:sp>
      <p:sp>
        <p:nvSpPr>
          <p:cNvPr id="94" name="Rounded Rectangle 93"/>
          <p:cNvSpPr/>
          <p:nvPr/>
        </p:nvSpPr>
        <p:spPr>
          <a:xfrm>
            <a:off x="365760" y="5532120"/>
            <a:ext cx="114757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65760" y="553212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02920" y="5586983"/>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PLANNING CYCLES  ·  monthly + quarterly + ad-hoc</a:t>
            </a:r>
          </a:p>
        </p:txBody>
      </p:sp>
      <p:sp>
        <p:nvSpPr>
          <p:cNvPr id="97" name="TextBox 96"/>
          <p:cNvSpPr txBox="1"/>
          <p:nvPr/>
        </p:nvSpPr>
        <p:spPr>
          <a:xfrm>
            <a:off x="50292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Monthly · Gate 2</a:t>
            </a:r>
          </a:p>
        </p:txBody>
      </p:sp>
      <p:sp>
        <p:nvSpPr>
          <p:cNvPr id="98" name="TextBox 97"/>
          <p:cNvSpPr txBox="1"/>
          <p:nvPr/>
        </p:nvSpPr>
        <p:spPr>
          <a:xfrm>
            <a:off x="50292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90 min · VP Vitor chairs · re-balance roadmap · approve capacity %</a:t>
            </a:r>
          </a:p>
        </p:txBody>
      </p:sp>
      <p:sp>
        <p:nvSpPr>
          <p:cNvPr id="99" name="TextBox 98"/>
          <p:cNvSpPr txBox="1"/>
          <p:nvPr/>
        </p:nvSpPr>
        <p:spPr>
          <a:xfrm>
            <a:off x="4267199"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Quarterly · Big Room</a:t>
            </a:r>
          </a:p>
        </p:txBody>
      </p:sp>
      <p:sp>
        <p:nvSpPr>
          <p:cNvPr id="100" name="TextBox 99"/>
          <p:cNvSpPr txBox="1"/>
          <p:nvPr/>
        </p:nvSpPr>
        <p:spPr>
          <a:xfrm>
            <a:off x="4267199"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½ day · realigns Backlog reorder + Implementing commitments cross-portfolio</a:t>
            </a:r>
          </a:p>
        </p:txBody>
      </p:sp>
      <p:sp>
        <p:nvSpPr>
          <p:cNvPr id="101" name="TextBox 100"/>
          <p:cNvSpPr txBox="1"/>
          <p:nvPr/>
        </p:nvSpPr>
        <p:spPr>
          <a:xfrm>
            <a:off x="803148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Ad-hoc · re-rank</a:t>
            </a:r>
          </a:p>
        </p:txBody>
      </p:sp>
      <p:sp>
        <p:nvSpPr>
          <p:cNvPr id="102" name="TextBox 101"/>
          <p:cNvSpPr txBox="1"/>
          <p:nvPr/>
        </p:nvSpPr>
        <p:spPr>
          <a:xfrm>
            <a:off x="803148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P1/P2 land · regulatory deadline shifts · capacity changes</a:t>
            </a:r>
          </a:p>
        </p:txBody>
      </p:sp>
      <p:sp>
        <p:nvSpPr>
          <p:cNvPr id="103" name="TextBox 102"/>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04" name="Rectangle 103"/>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06" name="Rectangle 105"/>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08" name="Rectangle 107"/>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10" name="Rectangle 109"/>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12" name="TextBox 11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13" name="TextBox 11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09 / 27</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Capacity reserved per CoS lane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9 squads × 4 lanes · % set monthly at Gate 2 · day-to-day held by middle managers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417320"/>
            <a:ext cx="11475720" cy="384048"/>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9144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72184"/>
            <a:ext cx="11338560" cy="182880"/>
          </a:xfrm>
          <a:prstGeom prst="rect">
            <a:avLst/>
          </a:prstGeom>
          <a:noFill/>
        </p:spPr>
        <p:txBody>
          <a:bodyPr wrap="square" lIns="36000" rIns="36000" tIns="18000" bIns="18000" anchor="t">
            <a:spAutoFit/>
          </a:bodyPr>
          <a:lstStyle/>
          <a:p>
            <a:pPr algn="l"/>
            <a:r>
              <a:rPr sz="850" b="1" i="0">
                <a:solidFill>
                  <a:srgbClr val="2C578B"/>
                </a:solidFill>
                <a:latin typeface="Arial"/>
              </a:rPr>
              <a:t>OWNERSHIP  ·  3 voices · 1 decision</a:t>
            </a:r>
          </a:p>
        </p:txBody>
      </p:sp>
      <p:sp>
        <p:nvSpPr>
          <p:cNvPr id="8" name="TextBox 7"/>
          <p:cNvSpPr txBox="1"/>
          <p:nvPr/>
        </p:nvSpPr>
        <p:spPr>
          <a:xfrm>
            <a:off x="502920" y="1618488"/>
            <a:ext cx="11338560" cy="182880"/>
          </a:xfrm>
          <a:prstGeom prst="rect">
            <a:avLst/>
          </a:prstGeom>
          <a:noFill/>
        </p:spPr>
        <p:txBody>
          <a:bodyPr wrap="square" lIns="36000" rIns="36000" tIns="18000" bIns="18000" anchor="t">
            <a:spAutoFit/>
          </a:bodyPr>
          <a:lstStyle/>
          <a:p>
            <a:pPr algn="l"/>
            <a:r>
              <a:rPr sz="800" b="0" i="0">
                <a:solidFill>
                  <a:srgbClr val="2C3E50"/>
                </a:solidFill>
                <a:latin typeface="Arial"/>
              </a:rPr>
              <a:t>Director (Heather · Kumar · Carlos) approves at Gate 2  ·  Middle managers (Kumar's + Carlos's lieutenants) hold day-to-day reality  ·  PM (per VS) consumes</a:t>
            </a:r>
          </a:p>
        </p:txBody>
      </p:sp>
      <p:sp>
        <p:nvSpPr>
          <p:cNvPr id="9" name="Rectangle 8"/>
          <p:cNvSpPr/>
          <p:nvPr/>
        </p:nvSpPr>
        <p:spPr>
          <a:xfrm>
            <a:off x="365760" y="2011680"/>
            <a:ext cx="219456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011680"/>
            <a:ext cx="2194560" cy="384048"/>
          </a:xfrm>
          <a:prstGeom prst="rect">
            <a:avLst/>
          </a:prstGeom>
          <a:noFill/>
        </p:spPr>
        <p:txBody>
          <a:bodyPr wrap="square" lIns="36000" rIns="36000" tIns="18000" bIns="18000" anchor="ctr">
            <a:spAutoFit/>
          </a:bodyPr>
          <a:lstStyle/>
          <a:p>
            <a:pPr algn="ctr"/>
            <a:r>
              <a:rPr sz="900" b="1" i="0">
                <a:solidFill>
                  <a:srgbClr val="FFFFFF"/>
                </a:solidFill>
                <a:latin typeface="Arial"/>
              </a:rPr>
              <a:t>SQUAD  ·  per Value Stream</a:t>
            </a:r>
          </a:p>
        </p:txBody>
      </p:sp>
      <p:sp>
        <p:nvSpPr>
          <p:cNvPr id="11" name="Rectangle 10"/>
          <p:cNvSpPr/>
          <p:nvPr/>
        </p:nvSpPr>
        <p:spPr>
          <a:xfrm>
            <a:off x="2560320" y="2011680"/>
            <a:ext cx="2032254" cy="384048"/>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STANDARD</a:t>
            </a:r>
          </a:p>
        </p:txBody>
      </p:sp>
      <p:sp>
        <p:nvSpPr>
          <p:cNvPr id="13" name="TextBox 12"/>
          <p:cNvSpPr txBox="1"/>
          <p:nvPr/>
        </p:nvSpPr>
        <p:spPr>
          <a:xfrm>
            <a:off x="256032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3-4</a:t>
            </a:r>
          </a:p>
        </p:txBody>
      </p:sp>
      <p:sp>
        <p:nvSpPr>
          <p:cNvPr id="14" name="Rectangle 13"/>
          <p:cNvSpPr/>
          <p:nvPr/>
        </p:nvSpPr>
        <p:spPr>
          <a:xfrm>
            <a:off x="4629150" y="2011680"/>
            <a:ext cx="2032254" cy="384048"/>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915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FIXED-DATE</a:t>
            </a:r>
          </a:p>
        </p:txBody>
      </p:sp>
      <p:sp>
        <p:nvSpPr>
          <p:cNvPr id="16" name="TextBox 15"/>
          <p:cNvSpPr txBox="1"/>
          <p:nvPr/>
        </p:nvSpPr>
        <p:spPr>
          <a:xfrm>
            <a:off x="462915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2</a:t>
            </a:r>
          </a:p>
        </p:txBody>
      </p:sp>
      <p:sp>
        <p:nvSpPr>
          <p:cNvPr id="17" name="Rectangle 16"/>
          <p:cNvSpPr/>
          <p:nvPr/>
        </p:nvSpPr>
        <p:spPr>
          <a:xfrm>
            <a:off x="6697980" y="2011680"/>
            <a:ext cx="2032254" cy="384048"/>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798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EXPEDITE</a:t>
            </a:r>
          </a:p>
        </p:txBody>
      </p:sp>
      <p:sp>
        <p:nvSpPr>
          <p:cNvPr id="19" name="TextBox 18"/>
          <p:cNvSpPr txBox="1"/>
          <p:nvPr/>
        </p:nvSpPr>
        <p:spPr>
          <a:xfrm>
            <a:off x="669798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0" name="Rectangle 19"/>
          <p:cNvSpPr/>
          <p:nvPr/>
        </p:nvSpPr>
        <p:spPr>
          <a:xfrm>
            <a:off x="8766810" y="2011680"/>
            <a:ext cx="2032254" cy="384048"/>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681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INTANGIBLE</a:t>
            </a:r>
          </a:p>
        </p:txBody>
      </p:sp>
      <p:sp>
        <p:nvSpPr>
          <p:cNvPr id="22" name="TextBox 21"/>
          <p:cNvSpPr txBox="1"/>
          <p:nvPr/>
        </p:nvSpPr>
        <p:spPr>
          <a:xfrm>
            <a:off x="876681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3" name="Rectangle 22"/>
          <p:cNvSpPr/>
          <p:nvPr/>
        </p:nvSpPr>
        <p:spPr>
          <a:xfrm>
            <a:off x="10835640" y="2011680"/>
            <a:ext cx="100584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40" y="2011680"/>
            <a:ext cx="1005840" cy="384048"/>
          </a:xfrm>
          <a:prstGeom prst="rect">
            <a:avLst/>
          </a:prstGeom>
          <a:noFill/>
        </p:spPr>
        <p:txBody>
          <a:bodyPr wrap="square" lIns="36000" rIns="36000" tIns="18000" bIns="18000" anchor="ctr">
            <a:spAutoFit/>
          </a:bodyPr>
          <a:lstStyle/>
          <a:p>
            <a:pPr algn="ctr"/>
            <a:r>
              <a:rPr sz="900" b="1" i="0">
                <a:solidFill>
                  <a:srgbClr val="FFFFFF"/>
                </a:solidFill>
                <a:latin typeface="Arial"/>
              </a:rPr>
              <a:t>FTE</a:t>
            </a:r>
          </a:p>
        </p:txBody>
      </p:sp>
      <p:sp>
        <p:nvSpPr>
          <p:cNvPr id="25" name="Rectangle 24"/>
          <p:cNvSpPr/>
          <p:nvPr/>
        </p:nvSpPr>
        <p:spPr>
          <a:xfrm>
            <a:off x="365760" y="2395728"/>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2395728"/>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43230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28" name="TextBox 27"/>
          <p:cNvSpPr txBox="1"/>
          <p:nvPr/>
        </p:nvSpPr>
        <p:spPr>
          <a:xfrm>
            <a:off x="502920" y="259689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29" name="Rectangle 28"/>
          <p:cNvSpPr/>
          <p:nvPr/>
        </p:nvSpPr>
        <p:spPr>
          <a:xfrm>
            <a:off x="256032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65176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51760" y="249631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032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33" name="Rectangle 32"/>
          <p:cNvSpPr/>
          <p:nvPr/>
        </p:nvSpPr>
        <p:spPr>
          <a:xfrm>
            <a:off x="462915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2059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20590" y="2496312"/>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2915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37" name="Rectangle 36"/>
          <p:cNvSpPr/>
          <p:nvPr/>
        </p:nvSpPr>
        <p:spPr>
          <a:xfrm>
            <a:off x="669798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78942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789420" y="2496312"/>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798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41" name="Rectangle 40"/>
          <p:cNvSpPr/>
          <p:nvPr/>
        </p:nvSpPr>
        <p:spPr>
          <a:xfrm>
            <a:off x="876681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85825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58250" y="2496312"/>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6681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45" name="Rectangle 44"/>
          <p:cNvSpPr/>
          <p:nvPr/>
        </p:nvSpPr>
        <p:spPr>
          <a:xfrm>
            <a:off x="10835640" y="2395728"/>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835640" y="239572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47" name="Rectangle 46"/>
          <p:cNvSpPr/>
          <p:nvPr/>
        </p:nvSpPr>
        <p:spPr>
          <a:xfrm>
            <a:off x="365760" y="2779776"/>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5760" y="2779776"/>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281635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50" name="TextBox 49"/>
          <p:cNvSpPr txBox="1"/>
          <p:nvPr/>
        </p:nvSpPr>
        <p:spPr>
          <a:xfrm>
            <a:off x="502920" y="2980944"/>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51" name="Rectangle 50"/>
          <p:cNvSpPr/>
          <p:nvPr/>
        </p:nvSpPr>
        <p:spPr>
          <a:xfrm>
            <a:off x="256032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5176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651760" y="288036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6032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55" name="Rectangle 54"/>
          <p:cNvSpPr/>
          <p:nvPr/>
        </p:nvSpPr>
        <p:spPr>
          <a:xfrm>
            <a:off x="462915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2059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20590" y="288036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2915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59" name="Rectangle 58"/>
          <p:cNvSpPr/>
          <p:nvPr/>
        </p:nvSpPr>
        <p:spPr>
          <a:xfrm>
            <a:off x="669798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8942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789420" y="288036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9798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63" name="Rectangle 62"/>
          <p:cNvSpPr/>
          <p:nvPr/>
        </p:nvSpPr>
        <p:spPr>
          <a:xfrm>
            <a:off x="876681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85825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858250" y="288036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6681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67" name="Rectangle 66"/>
          <p:cNvSpPr/>
          <p:nvPr/>
        </p:nvSpPr>
        <p:spPr>
          <a:xfrm>
            <a:off x="10835640" y="2779776"/>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835640" y="277977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69" name="Rectangle 68"/>
          <p:cNvSpPr/>
          <p:nvPr/>
        </p:nvSpPr>
        <p:spPr>
          <a:xfrm>
            <a:off x="365760" y="3163824"/>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65760" y="3163824"/>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20" y="320040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Field Operations (CS)</a:t>
            </a:r>
          </a:p>
        </p:txBody>
      </p:sp>
      <p:sp>
        <p:nvSpPr>
          <p:cNvPr id="72" name="TextBox 71"/>
          <p:cNvSpPr txBox="1"/>
          <p:nvPr/>
        </p:nvSpPr>
        <p:spPr>
          <a:xfrm>
            <a:off x="502920" y="3364992"/>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73" name="Rectangle 72"/>
          <p:cNvSpPr/>
          <p:nvPr/>
        </p:nvSpPr>
        <p:spPr>
          <a:xfrm>
            <a:off x="256032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65176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651760" y="326440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56032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77" name="Rectangle 76"/>
          <p:cNvSpPr/>
          <p:nvPr/>
        </p:nvSpPr>
        <p:spPr>
          <a:xfrm>
            <a:off x="462915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72059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720590" y="3264408"/>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62915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81" name="Rectangle 80"/>
          <p:cNvSpPr/>
          <p:nvPr/>
        </p:nvSpPr>
        <p:spPr>
          <a:xfrm>
            <a:off x="669798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78942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789420" y="3264408"/>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69798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85" name="Rectangle 84"/>
          <p:cNvSpPr/>
          <p:nvPr/>
        </p:nvSpPr>
        <p:spPr>
          <a:xfrm>
            <a:off x="876681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85825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858250" y="326440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76681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89" name="Rectangle 88"/>
          <p:cNvSpPr/>
          <p:nvPr/>
        </p:nvSpPr>
        <p:spPr>
          <a:xfrm>
            <a:off x="10835640" y="3163824"/>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835640" y="316382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91" name="Rectangle 90"/>
          <p:cNvSpPr/>
          <p:nvPr/>
        </p:nvSpPr>
        <p:spPr>
          <a:xfrm>
            <a:off x="365760" y="3547872"/>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65760" y="3547872"/>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02920" y="358444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94" name="TextBox 93"/>
          <p:cNvSpPr txBox="1"/>
          <p:nvPr/>
        </p:nvSpPr>
        <p:spPr>
          <a:xfrm>
            <a:off x="502920" y="374903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95" name="Rectangle 94"/>
          <p:cNvSpPr/>
          <p:nvPr/>
        </p:nvSpPr>
        <p:spPr>
          <a:xfrm>
            <a:off x="256032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65176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651760" y="3648456"/>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56032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99" name="Rectangle 98"/>
          <p:cNvSpPr/>
          <p:nvPr/>
        </p:nvSpPr>
        <p:spPr>
          <a:xfrm>
            <a:off x="462915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472059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720590" y="3648456"/>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62915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103" name="Rectangle 102"/>
          <p:cNvSpPr/>
          <p:nvPr/>
        </p:nvSpPr>
        <p:spPr>
          <a:xfrm>
            <a:off x="669798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78942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789420" y="3648456"/>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69798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07" name="Rectangle 106"/>
          <p:cNvSpPr/>
          <p:nvPr/>
        </p:nvSpPr>
        <p:spPr>
          <a:xfrm>
            <a:off x="876681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85825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858250" y="3648456"/>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76681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11" name="Rectangle 110"/>
          <p:cNvSpPr/>
          <p:nvPr/>
        </p:nvSpPr>
        <p:spPr>
          <a:xfrm>
            <a:off x="10835640" y="3547872"/>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835640" y="354787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6</a:t>
            </a:r>
          </a:p>
        </p:txBody>
      </p:sp>
      <p:sp>
        <p:nvSpPr>
          <p:cNvPr id="113" name="Rectangle 112"/>
          <p:cNvSpPr/>
          <p:nvPr/>
        </p:nvSpPr>
        <p:spPr>
          <a:xfrm>
            <a:off x="365760" y="3931920"/>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65760" y="3931920"/>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02920" y="3968496"/>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116" name="TextBox 115"/>
          <p:cNvSpPr txBox="1"/>
          <p:nvPr/>
        </p:nvSpPr>
        <p:spPr>
          <a:xfrm>
            <a:off x="502920" y="4133087"/>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17" name="Rectangle 116"/>
          <p:cNvSpPr/>
          <p:nvPr/>
        </p:nvSpPr>
        <p:spPr>
          <a:xfrm>
            <a:off x="256032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265176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2651760" y="4032504"/>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56032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121" name="Rectangle 120"/>
          <p:cNvSpPr/>
          <p:nvPr/>
        </p:nvSpPr>
        <p:spPr>
          <a:xfrm>
            <a:off x="462915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472059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4720590" y="4032504"/>
            <a:ext cx="807529"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62915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45%</a:t>
            </a:r>
          </a:p>
        </p:txBody>
      </p:sp>
      <p:sp>
        <p:nvSpPr>
          <p:cNvPr id="125" name="Rectangle 124"/>
          <p:cNvSpPr/>
          <p:nvPr/>
        </p:nvSpPr>
        <p:spPr>
          <a:xfrm>
            <a:off x="669798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78942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6789420" y="4032504"/>
            <a:ext cx="89725"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69798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a:t>
            </a:r>
          </a:p>
        </p:txBody>
      </p:sp>
      <p:sp>
        <p:nvSpPr>
          <p:cNvPr id="129" name="Rectangle 128"/>
          <p:cNvSpPr/>
          <p:nvPr/>
        </p:nvSpPr>
        <p:spPr>
          <a:xfrm>
            <a:off x="876681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885825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8858250" y="4032504"/>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876681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33" name="Rectangle 132"/>
          <p:cNvSpPr/>
          <p:nvPr/>
        </p:nvSpPr>
        <p:spPr>
          <a:xfrm>
            <a:off x="10835640" y="3931920"/>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835640" y="3931920"/>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10</a:t>
            </a:r>
          </a:p>
        </p:txBody>
      </p:sp>
      <p:sp>
        <p:nvSpPr>
          <p:cNvPr id="135" name="Rectangle 134"/>
          <p:cNvSpPr/>
          <p:nvPr/>
        </p:nvSpPr>
        <p:spPr>
          <a:xfrm>
            <a:off x="365760" y="4315968"/>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365760" y="4315968"/>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02920" y="435254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138" name="TextBox 137"/>
          <p:cNvSpPr txBox="1"/>
          <p:nvPr/>
        </p:nvSpPr>
        <p:spPr>
          <a:xfrm>
            <a:off x="502920" y="451713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39" name="Rectangle 138"/>
          <p:cNvSpPr/>
          <p:nvPr/>
        </p:nvSpPr>
        <p:spPr>
          <a:xfrm>
            <a:off x="256032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265176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651760" y="441655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56032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143" name="Rectangle 142"/>
          <p:cNvSpPr/>
          <p:nvPr/>
        </p:nvSpPr>
        <p:spPr>
          <a:xfrm>
            <a:off x="462915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72059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4720590" y="4416552"/>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62915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147" name="Rectangle 146"/>
          <p:cNvSpPr/>
          <p:nvPr/>
        </p:nvSpPr>
        <p:spPr>
          <a:xfrm>
            <a:off x="669798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678942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789420" y="4416552"/>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69798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51" name="Rectangle 150"/>
          <p:cNvSpPr/>
          <p:nvPr/>
        </p:nvSpPr>
        <p:spPr>
          <a:xfrm>
            <a:off x="876681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85825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8858250" y="4416552"/>
            <a:ext cx="269176"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76681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55" name="Rectangle 154"/>
          <p:cNvSpPr/>
          <p:nvPr/>
        </p:nvSpPr>
        <p:spPr>
          <a:xfrm>
            <a:off x="10835640" y="4315968"/>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0835640" y="431596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157" name="Rectangle 156"/>
          <p:cNvSpPr/>
          <p:nvPr/>
        </p:nvSpPr>
        <p:spPr>
          <a:xfrm>
            <a:off x="365760" y="4700016"/>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65760" y="4700016"/>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02920" y="473659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Renewables IT</a:t>
            </a:r>
          </a:p>
        </p:txBody>
      </p:sp>
      <p:sp>
        <p:nvSpPr>
          <p:cNvPr id="160" name="TextBox 159"/>
          <p:cNvSpPr txBox="1"/>
          <p:nvPr/>
        </p:nvSpPr>
        <p:spPr>
          <a:xfrm>
            <a:off x="502920" y="4901183"/>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61" name="Rectangle 160"/>
          <p:cNvSpPr/>
          <p:nvPr/>
        </p:nvSpPr>
        <p:spPr>
          <a:xfrm>
            <a:off x="256032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265176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2651760" y="480060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256032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165" name="Rectangle 164"/>
          <p:cNvSpPr/>
          <p:nvPr/>
        </p:nvSpPr>
        <p:spPr>
          <a:xfrm>
            <a:off x="462915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72059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720590" y="480060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62915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69" name="Rectangle 168"/>
          <p:cNvSpPr/>
          <p:nvPr/>
        </p:nvSpPr>
        <p:spPr>
          <a:xfrm>
            <a:off x="669798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678942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6789420" y="480060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69798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73" name="Rectangle 172"/>
          <p:cNvSpPr/>
          <p:nvPr/>
        </p:nvSpPr>
        <p:spPr>
          <a:xfrm>
            <a:off x="876681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885825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8858250" y="480060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876681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77" name="Rectangle 176"/>
          <p:cNvSpPr/>
          <p:nvPr/>
        </p:nvSpPr>
        <p:spPr>
          <a:xfrm>
            <a:off x="10835640" y="4700016"/>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0835640" y="470001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179" name="Rectangle 178"/>
          <p:cNvSpPr/>
          <p:nvPr/>
        </p:nvSpPr>
        <p:spPr>
          <a:xfrm>
            <a:off x="365760" y="5084064"/>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365760" y="5084064"/>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502920" y="512064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182" name="TextBox 181"/>
          <p:cNvSpPr txBox="1"/>
          <p:nvPr/>
        </p:nvSpPr>
        <p:spPr>
          <a:xfrm>
            <a:off x="502920" y="5285231"/>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83" name="Rectangle 182"/>
          <p:cNvSpPr/>
          <p:nvPr/>
        </p:nvSpPr>
        <p:spPr>
          <a:xfrm>
            <a:off x="256032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265176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2651760" y="518464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256032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187" name="Rectangle 186"/>
          <p:cNvSpPr/>
          <p:nvPr/>
        </p:nvSpPr>
        <p:spPr>
          <a:xfrm>
            <a:off x="462915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472059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720590" y="5184648"/>
            <a:ext cx="538353"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462915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30%</a:t>
            </a:r>
          </a:p>
        </p:txBody>
      </p:sp>
      <p:sp>
        <p:nvSpPr>
          <p:cNvPr id="191" name="Rectangle 190"/>
          <p:cNvSpPr/>
          <p:nvPr/>
        </p:nvSpPr>
        <p:spPr>
          <a:xfrm>
            <a:off x="669798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678942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6789420" y="5184648"/>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69798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95" name="Rectangle 194"/>
          <p:cNvSpPr/>
          <p:nvPr/>
        </p:nvSpPr>
        <p:spPr>
          <a:xfrm>
            <a:off x="876681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885825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8858250" y="518464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876681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99" name="Rectangle 198"/>
          <p:cNvSpPr/>
          <p:nvPr/>
        </p:nvSpPr>
        <p:spPr>
          <a:xfrm>
            <a:off x="10835640" y="5084064"/>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835640" y="508406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201" name="Rectangle 200"/>
          <p:cNvSpPr/>
          <p:nvPr/>
        </p:nvSpPr>
        <p:spPr>
          <a:xfrm>
            <a:off x="365760" y="5468112"/>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365760" y="5468112"/>
            <a:ext cx="91440" cy="365759"/>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502920" y="550468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Enabling Team</a:t>
            </a:r>
          </a:p>
        </p:txBody>
      </p:sp>
      <p:sp>
        <p:nvSpPr>
          <p:cNvPr id="204" name="TextBox 203"/>
          <p:cNvSpPr txBox="1"/>
          <p:nvPr/>
        </p:nvSpPr>
        <p:spPr>
          <a:xfrm>
            <a:off x="502920" y="566927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BOTH</a:t>
            </a:r>
          </a:p>
        </p:txBody>
      </p:sp>
      <p:sp>
        <p:nvSpPr>
          <p:cNvPr id="205" name="Rectangle 204"/>
          <p:cNvSpPr/>
          <p:nvPr/>
        </p:nvSpPr>
        <p:spPr>
          <a:xfrm>
            <a:off x="256032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265176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2651760" y="5568696"/>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256032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209" name="Rectangle 208"/>
          <p:cNvSpPr/>
          <p:nvPr/>
        </p:nvSpPr>
        <p:spPr>
          <a:xfrm>
            <a:off x="462915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472059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4720590" y="5568696"/>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462915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13" name="Rectangle 212"/>
          <p:cNvSpPr/>
          <p:nvPr/>
        </p:nvSpPr>
        <p:spPr>
          <a:xfrm>
            <a:off x="669798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78942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6789420" y="5568696"/>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69798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17" name="Rectangle 216"/>
          <p:cNvSpPr/>
          <p:nvPr/>
        </p:nvSpPr>
        <p:spPr>
          <a:xfrm>
            <a:off x="876681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885825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8858250" y="5568696"/>
            <a:ext cx="358902"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76681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21" name="Rectangle 220"/>
          <p:cNvSpPr/>
          <p:nvPr/>
        </p:nvSpPr>
        <p:spPr>
          <a:xfrm>
            <a:off x="10835640" y="5468112"/>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10835640" y="546811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5</a:t>
            </a:r>
          </a:p>
        </p:txBody>
      </p:sp>
      <p:sp>
        <p:nvSpPr>
          <p:cNvPr id="223" name="Rounded Rectangle 222"/>
          <p:cNvSpPr/>
          <p:nvPr/>
        </p:nvSpPr>
        <p:spPr>
          <a:xfrm>
            <a:off x="365760" y="5440680"/>
            <a:ext cx="11475720" cy="86868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365760" y="544068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548640" y="549554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226" name="TextBox 225"/>
          <p:cNvSpPr txBox="1"/>
          <p:nvPr/>
        </p:nvSpPr>
        <p:spPr>
          <a:xfrm>
            <a:off x="548640" y="56601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Capacity reality lives with middle managers — not with the Director who approves the % at Gate 2.</a:t>
            </a:r>
          </a:p>
        </p:txBody>
      </p:sp>
      <p:sp>
        <p:nvSpPr>
          <p:cNvPr id="227" name="TextBox 226"/>
          <p:cNvSpPr txBox="1"/>
          <p:nvPr/>
        </p:nvSpPr>
        <p:spPr>
          <a:xfrm>
            <a:off x="548640" y="5943600"/>
            <a:ext cx="11201400" cy="320040"/>
          </a:xfrm>
          <a:prstGeom prst="rect">
            <a:avLst/>
          </a:prstGeom>
          <a:noFill/>
        </p:spPr>
        <p:txBody>
          <a:bodyPr wrap="square" lIns="36000" rIns="36000" tIns="18000" bIns="18000" anchor="t">
            <a:spAutoFit/>
          </a:bodyPr>
          <a:lstStyle/>
          <a:p>
            <a:pPr algn="l"/>
            <a:r>
              <a:rPr sz="800" b="0" i="0">
                <a:solidFill>
                  <a:srgbClr val="526077"/>
                </a:solidFill>
                <a:latin typeface="Arial"/>
              </a:rPr>
              <a:t>Director sets policy (% per CoS lane) once a month · Middle managers (Kumar's + Carlos's lieutenants) flex day-to-day within that envelope · PM (per VS) consumes the capacity for refinement and pull · misalignment caught at next Gate 2 with audit trail</a:t>
            </a:r>
          </a:p>
        </p:txBody>
      </p:sp>
      <p:sp>
        <p:nvSpPr>
          <p:cNvPr id="228" name="TextBox 227"/>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229" name="Rectangle 228"/>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231" name="Rectangle 230"/>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233" name="Rectangle 232"/>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235" name="Rectangle 234"/>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237" name="TextBox 23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238" name="TextBox 23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10 / 27</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Unplanned demand · 3 channels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Auto-Expedite (P1/P2) · scope-add shortcut · emergency lane · Squad PM accepts within 48h</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3703320" cy="59436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1  ·  AUTO-EXPEDITE</a:t>
            </a:r>
          </a:p>
        </p:txBody>
      </p:sp>
      <p:sp>
        <p:nvSpPr>
          <p:cNvPr id="8" name="TextBox 7"/>
          <p:cNvSpPr txBox="1"/>
          <p:nvPr/>
        </p:nvSpPr>
        <p:spPr>
          <a:xfrm>
            <a:off x="5029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P1 / P2 Customer Impact Tier (CS only)</a:t>
            </a:r>
          </a:p>
        </p:txBody>
      </p:sp>
      <p:sp>
        <p:nvSpPr>
          <p:cNvPr id="9" name="TextBox 8"/>
          <p:cNvSpPr txBox="1"/>
          <p:nvPr/>
        </p:nvSpPr>
        <p:spPr>
          <a:xfrm>
            <a:off x="502920" y="2240280"/>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TRIGGER</a:t>
            </a:r>
          </a:p>
        </p:txBody>
      </p:sp>
      <p:sp>
        <p:nvSpPr>
          <p:cNvPr id="10" name="TextBox 9"/>
          <p:cNvSpPr txBox="1"/>
          <p:nvPr/>
        </p:nvSpPr>
        <p:spPr>
          <a:xfrm>
            <a:off x="5029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Sponsor sets CIT = P1 or P2 at Funnel</a:t>
            </a:r>
          </a:p>
        </p:txBody>
      </p:sp>
      <p:sp>
        <p:nvSpPr>
          <p:cNvPr id="11" name="TextBox 10"/>
          <p:cNvSpPr txBox="1"/>
          <p:nvPr/>
        </p:nvSpPr>
        <p:spPr>
          <a:xfrm>
            <a:off x="502920" y="2841171"/>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AUTOMATION</a:t>
            </a:r>
          </a:p>
        </p:txBody>
      </p:sp>
      <p:sp>
        <p:nvSpPr>
          <p:cNvPr id="12" name="TextBox 11"/>
          <p:cNvSpPr txBox="1"/>
          <p:nvPr/>
        </p:nvSpPr>
        <p:spPr>
          <a:xfrm>
            <a:off x="5029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A2 fires automatically · sets CoS = Expedite</a:t>
            </a:r>
          </a:p>
        </p:txBody>
      </p:sp>
      <p:sp>
        <p:nvSpPr>
          <p:cNvPr id="13" name="TextBox 12"/>
          <p:cNvSpPr txBox="1"/>
          <p:nvPr/>
        </p:nvSpPr>
        <p:spPr>
          <a:xfrm>
            <a:off x="502920" y="3442062"/>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LANE</a:t>
            </a:r>
          </a:p>
        </p:txBody>
      </p:sp>
      <p:sp>
        <p:nvSpPr>
          <p:cNvPr id="14" name="TextBox 13"/>
          <p:cNvSpPr txBox="1"/>
          <p:nvPr/>
        </p:nvSpPr>
        <p:spPr>
          <a:xfrm>
            <a:off x="5029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Expedite · WIP-1 · jumps the queue</a:t>
            </a:r>
          </a:p>
        </p:txBody>
      </p:sp>
      <p:sp>
        <p:nvSpPr>
          <p:cNvPr id="15" name="TextBox 14"/>
          <p:cNvSpPr txBox="1"/>
          <p:nvPr/>
        </p:nvSpPr>
        <p:spPr>
          <a:xfrm>
            <a:off x="502920" y="4042954"/>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OWNER</a:t>
            </a:r>
          </a:p>
        </p:txBody>
      </p:sp>
      <p:sp>
        <p:nvSpPr>
          <p:cNvPr id="16" name="TextBox 15"/>
          <p:cNvSpPr txBox="1"/>
          <p:nvPr/>
        </p:nvSpPr>
        <p:spPr>
          <a:xfrm>
            <a:off x="5029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Squad PM accepts immediately</a:t>
            </a:r>
          </a:p>
        </p:txBody>
      </p:sp>
      <p:sp>
        <p:nvSpPr>
          <p:cNvPr id="17" name="TextBox 16"/>
          <p:cNvSpPr txBox="1"/>
          <p:nvPr/>
        </p:nvSpPr>
        <p:spPr>
          <a:xfrm>
            <a:off x="502920" y="4643845"/>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EXAMPLE</a:t>
            </a:r>
          </a:p>
        </p:txBody>
      </p:sp>
      <p:sp>
        <p:nvSpPr>
          <p:cNvPr id="18" name="TextBox 17"/>
          <p:cNvSpPr txBox="1"/>
          <p:nvPr/>
        </p:nvSpPr>
        <p:spPr>
          <a:xfrm>
            <a:off x="5029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Genesys queue routing failure during peak hours</a:t>
            </a:r>
          </a:p>
        </p:txBody>
      </p:sp>
      <p:sp>
        <p:nvSpPr>
          <p:cNvPr id="19" name="TextBox 18"/>
          <p:cNvSpPr txBox="1"/>
          <p:nvPr/>
        </p:nvSpPr>
        <p:spPr>
          <a:xfrm>
            <a:off x="502920" y="5244737"/>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SLA</a:t>
            </a:r>
          </a:p>
        </p:txBody>
      </p:sp>
      <p:sp>
        <p:nvSpPr>
          <p:cNvPr id="20" name="TextBox 19"/>
          <p:cNvSpPr txBox="1"/>
          <p:nvPr/>
        </p:nvSpPr>
        <p:spPr>
          <a:xfrm>
            <a:off x="5029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Acknowledge ≤4h · plan ≤8h · resolve ≤24h</a:t>
            </a:r>
          </a:p>
        </p:txBody>
      </p:sp>
      <p:sp>
        <p:nvSpPr>
          <p:cNvPr id="21" name="TextBox 20"/>
          <p:cNvSpPr txBox="1"/>
          <p:nvPr/>
        </p:nvSpPr>
        <p:spPr>
          <a:xfrm>
            <a:off x="502920" y="5845628"/>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AUDIT</a:t>
            </a:r>
          </a:p>
        </p:txBody>
      </p:sp>
      <p:sp>
        <p:nvSpPr>
          <p:cNvPr id="22" name="TextBox 21"/>
          <p:cNvSpPr txBox="1"/>
          <p:nvPr/>
        </p:nvSpPr>
        <p:spPr>
          <a:xfrm>
            <a:off x="5029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All P1/P2 events logged · reviewed at next Gate 2</a:t>
            </a:r>
          </a:p>
        </p:txBody>
      </p:sp>
      <p:sp>
        <p:nvSpPr>
          <p:cNvPr id="23" name="Rounded Rectangle 22"/>
          <p:cNvSpPr/>
          <p:nvPr/>
        </p:nvSpPr>
        <p:spPr>
          <a:xfrm>
            <a:off x="42519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1508760"/>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2  ·  SCOPE-ADD</a:t>
            </a:r>
          </a:p>
        </p:txBody>
      </p:sp>
      <p:sp>
        <p:nvSpPr>
          <p:cNvPr id="26" name="TextBox 25"/>
          <p:cNvSpPr txBox="1"/>
          <p:nvPr/>
        </p:nvSpPr>
        <p:spPr>
          <a:xfrm>
            <a:off x="43891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Demand-on-existing-Initiative shortcut</a:t>
            </a:r>
          </a:p>
        </p:txBody>
      </p:sp>
      <p:sp>
        <p:nvSpPr>
          <p:cNvPr id="27" name="TextBox 26"/>
          <p:cNvSpPr txBox="1"/>
          <p:nvPr/>
        </p:nvSpPr>
        <p:spPr>
          <a:xfrm>
            <a:off x="4389120" y="224028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TRIGGER</a:t>
            </a:r>
          </a:p>
        </p:txBody>
      </p:sp>
      <p:sp>
        <p:nvSpPr>
          <p:cNvPr id="28" name="TextBox 27"/>
          <p:cNvSpPr txBox="1"/>
          <p:nvPr/>
        </p:nvSpPr>
        <p:spPr>
          <a:xfrm>
            <a:off x="43891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New ask scopes-into Initiative already in Implementing</a:t>
            </a:r>
          </a:p>
        </p:txBody>
      </p:sp>
      <p:sp>
        <p:nvSpPr>
          <p:cNvPr id="29" name="TextBox 28"/>
          <p:cNvSpPr txBox="1"/>
          <p:nvPr/>
        </p:nvSpPr>
        <p:spPr>
          <a:xfrm>
            <a:off x="4389120" y="2841171"/>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30" name="TextBox 29"/>
          <p:cNvSpPr txBox="1"/>
          <p:nvPr/>
        </p:nvSpPr>
        <p:spPr>
          <a:xfrm>
            <a:off x="43891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Squad PM evaluates within 48h</a:t>
            </a:r>
          </a:p>
        </p:txBody>
      </p:sp>
      <p:sp>
        <p:nvSpPr>
          <p:cNvPr id="31" name="TextBox 30"/>
          <p:cNvSpPr txBox="1"/>
          <p:nvPr/>
        </p:nvSpPr>
        <p:spPr>
          <a:xfrm>
            <a:off x="4389120" y="3442062"/>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DECISION</a:t>
            </a:r>
          </a:p>
        </p:txBody>
      </p:sp>
      <p:sp>
        <p:nvSpPr>
          <p:cNvPr id="32" name="TextBox 31"/>
          <p:cNvSpPr txBox="1"/>
          <p:nvPr/>
        </p:nvSpPr>
        <p:spPr>
          <a:xfrm>
            <a:off x="43891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ACCEPT (preferred when parent Implementing)</a:t>
            </a:r>
          </a:p>
          <a:p>
            <a:pPr algn="l"/>
            <a:r>
              <a:rPr sz="800" b="0" i="0">
                <a:solidFill>
                  <a:srgbClr val="2C3E50"/>
                </a:solidFill>
                <a:latin typeface="Arial"/>
              </a:rPr>
              <a:t>REJECT (when parent earlier — submit standalone)</a:t>
            </a:r>
          </a:p>
        </p:txBody>
      </p:sp>
      <p:sp>
        <p:nvSpPr>
          <p:cNvPr id="33" name="TextBox 32"/>
          <p:cNvSpPr txBox="1"/>
          <p:nvPr/>
        </p:nvSpPr>
        <p:spPr>
          <a:xfrm>
            <a:off x="4389120" y="4042954"/>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PATH</a:t>
            </a:r>
          </a:p>
        </p:txBody>
      </p:sp>
      <p:sp>
        <p:nvSpPr>
          <p:cNvPr id="34" name="TextBox 33"/>
          <p:cNvSpPr txBox="1"/>
          <p:nvPr/>
        </p:nvSpPr>
        <p:spPr>
          <a:xfrm>
            <a:off x="43891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Story added under existing Epic · DoR fast-track</a:t>
            </a:r>
          </a:p>
        </p:txBody>
      </p:sp>
      <p:sp>
        <p:nvSpPr>
          <p:cNvPr id="35" name="TextBox 34"/>
          <p:cNvSpPr txBox="1"/>
          <p:nvPr/>
        </p:nvSpPr>
        <p:spPr>
          <a:xfrm>
            <a:off x="4389120" y="4643845"/>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CoS IMPACT</a:t>
            </a:r>
          </a:p>
        </p:txBody>
      </p:sp>
      <p:sp>
        <p:nvSpPr>
          <p:cNvPr id="36" name="TextBox 35"/>
          <p:cNvSpPr txBox="1"/>
          <p:nvPr/>
        </p:nvSpPr>
        <p:spPr>
          <a:xfrm>
            <a:off x="43891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Inherits parent CoS · stays in same lane</a:t>
            </a:r>
          </a:p>
        </p:txBody>
      </p:sp>
      <p:sp>
        <p:nvSpPr>
          <p:cNvPr id="37" name="TextBox 36"/>
          <p:cNvSpPr txBox="1"/>
          <p:nvPr/>
        </p:nvSpPr>
        <p:spPr>
          <a:xfrm>
            <a:off x="4389120" y="5244737"/>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EXAMPLE</a:t>
            </a:r>
          </a:p>
        </p:txBody>
      </p:sp>
      <p:sp>
        <p:nvSpPr>
          <p:cNvPr id="38" name="TextBox 37"/>
          <p:cNvSpPr txBox="1"/>
          <p:nvPr/>
        </p:nvSpPr>
        <p:spPr>
          <a:xfrm>
            <a:off x="43891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CRM project live · add CSV export to reconciliation report</a:t>
            </a:r>
          </a:p>
        </p:txBody>
      </p:sp>
      <p:sp>
        <p:nvSpPr>
          <p:cNvPr id="39" name="TextBox 38"/>
          <p:cNvSpPr txBox="1"/>
          <p:nvPr/>
        </p:nvSpPr>
        <p:spPr>
          <a:xfrm>
            <a:off x="4389120" y="5845628"/>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BYPASS</a:t>
            </a:r>
          </a:p>
        </p:txBody>
      </p:sp>
      <p:sp>
        <p:nvSpPr>
          <p:cNvPr id="40" name="TextBox 39"/>
          <p:cNvSpPr txBox="1"/>
          <p:nvPr/>
        </p:nvSpPr>
        <p:spPr>
          <a:xfrm>
            <a:off x="43891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No new Gate 2 · audit logged at parent Initiative</a:t>
            </a:r>
          </a:p>
        </p:txBody>
      </p:sp>
      <p:sp>
        <p:nvSpPr>
          <p:cNvPr id="41" name="Rounded Rectangle 40"/>
          <p:cNvSpPr/>
          <p:nvPr/>
        </p:nvSpPr>
        <p:spPr>
          <a:xfrm>
            <a:off x="81381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138160" y="1508760"/>
            <a:ext cx="3703320"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753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3  ·  EMERGENCY</a:t>
            </a:r>
          </a:p>
        </p:txBody>
      </p:sp>
      <p:sp>
        <p:nvSpPr>
          <p:cNvPr id="44" name="TextBox 43"/>
          <p:cNvSpPr txBox="1"/>
          <p:nvPr/>
        </p:nvSpPr>
        <p:spPr>
          <a:xfrm>
            <a:off x="82753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Production Support outages · regulatory deadline shifts</a:t>
            </a:r>
          </a:p>
        </p:txBody>
      </p:sp>
      <p:sp>
        <p:nvSpPr>
          <p:cNvPr id="45" name="TextBox 44"/>
          <p:cNvSpPr txBox="1"/>
          <p:nvPr/>
        </p:nvSpPr>
        <p:spPr>
          <a:xfrm>
            <a:off x="8275320" y="2240280"/>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TRIGGER</a:t>
            </a:r>
          </a:p>
        </p:txBody>
      </p:sp>
      <p:sp>
        <p:nvSpPr>
          <p:cNvPr id="46" name="TextBox 45"/>
          <p:cNvSpPr txBox="1"/>
          <p:nvPr/>
        </p:nvSpPr>
        <p:spPr>
          <a:xfrm>
            <a:off x="82753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Production outage OR external regulatory shift OR safety incident</a:t>
            </a:r>
          </a:p>
        </p:txBody>
      </p:sp>
      <p:sp>
        <p:nvSpPr>
          <p:cNvPr id="47" name="TextBox 46"/>
          <p:cNvSpPr txBox="1"/>
          <p:nvPr/>
        </p:nvSpPr>
        <p:spPr>
          <a:xfrm>
            <a:off x="8275320" y="2841171"/>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OWNER</a:t>
            </a:r>
          </a:p>
        </p:txBody>
      </p:sp>
      <p:sp>
        <p:nvSpPr>
          <p:cNvPr id="48" name="TextBox 47"/>
          <p:cNvSpPr txBox="1"/>
          <p:nvPr/>
        </p:nvSpPr>
        <p:spPr>
          <a:xfrm>
            <a:off x="82753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(relevant area) + Architect on-call</a:t>
            </a:r>
          </a:p>
        </p:txBody>
      </p:sp>
      <p:sp>
        <p:nvSpPr>
          <p:cNvPr id="49" name="TextBox 48"/>
          <p:cNvSpPr txBox="1"/>
          <p:nvPr/>
        </p:nvSpPr>
        <p:spPr>
          <a:xfrm>
            <a:off x="8275320" y="3442062"/>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PATH</a:t>
            </a:r>
          </a:p>
        </p:txBody>
      </p:sp>
      <p:sp>
        <p:nvSpPr>
          <p:cNvPr id="50" name="TextBox 49"/>
          <p:cNvSpPr txBox="1"/>
          <p:nvPr/>
        </p:nvSpPr>
        <p:spPr>
          <a:xfrm>
            <a:off x="82753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 to Squad · skip Funnel · ServiceNow-side handles incidents</a:t>
            </a:r>
          </a:p>
        </p:txBody>
      </p:sp>
      <p:sp>
        <p:nvSpPr>
          <p:cNvPr id="51" name="TextBox 50"/>
          <p:cNvSpPr txBox="1"/>
          <p:nvPr/>
        </p:nvSpPr>
        <p:spPr>
          <a:xfrm>
            <a:off x="8275320" y="4042954"/>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LANE</a:t>
            </a:r>
          </a:p>
        </p:txBody>
      </p:sp>
      <p:sp>
        <p:nvSpPr>
          <p:cNvPr id="52" name="TextBox 51"/>
          <p:cNvSpPr txBox="1"/>
          <p:nvPr/>
        </p:nvSpPr>
        <p:spPr>
          <a:xfrm>
            <a:off x="82753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Expedite or Fixed-Date depending on type</a:t>
            </a:r>
          </a:p>
        </p:txBody>
      </p:sp>
      <p:sp>
        <p:nvSpPr>
          <p:cNvPr id="53" name="TextBox 52"/>
          <p:cNvSpPr txBox="1"/>
          <p:nvPr/>
        </p:nvSpPr>
        <p:spPr>
          <a:xfrm>
            <a:off x="8275320" y="4643845"/>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CoS IMPACT</a:t>
            </a:r>
          </a:p>
        </p:txBody>
      </p:sp>
      <p:sp>
        <p:nvSpPr>
          <p:cNvPr id="54" name="TextBox 53"/>
          <p:cNvSpPr txBox="1"/>
          <p:nvPr/>
        </p:nvSpPr>
        <p:spPr>
          <a:xfrm>
            <a:off x="82753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Pre-empts existing WIP if needed (Director call)</a:t>
            </a:r>
          </a:p>
        </p:txBody>
      </p:sp>
      <p:sp>
        <p:nvSpPr>
          <p:cNvPr id="55" name="TextBox 54"/>
          <p:cNvSpPr txBox="1"/>
          <p:nvPr/>
        </p:nvSpPr>
        <p:spPr>
          <a:xfrm>
            <a:off x="8275320" y="5244737"/>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EXAMPLE</a:t>
            </a:r>
          </a:p>
        </p:txBody>
      </p:sp>
      <p:sp>
        <p:nvSpPr>
          <p:cNvPr id="56" name="TextBox 55"/>
          <p:cNvSpPr txBox="1"/>
          <p:nvPr/>
        </p:nvSpPr>
        <p:spPr>
          <a:xfrm>
            <a:off x="82753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PUC issues new regulatory directive with 30-day deadline</a:t>
            </a:r>
          </a:p>
        </p:txBody>
      </p:sp>
      <p:sp>
        <p:nvSpPr>
          <p:cNvPr id="57" name="TextBox 56"/>
          <p:cNvSpPr txBox="1"/>
          <p:nvPr/>
        </p:nvSpPr>
        <p:spPr>
          <a:xfrm>
            <a:off x="8275320" y="5845628"/>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AUDIT</a:t>
            </a:r>
          </a:p>
        </p:txBody>
      </p:sp>
      <p:sp>
        <p:nvSpPr>
          <p:cNvPr id="58" name="TextBox 57"/>
          <p:cNvSpPr txBox="1"/>
          <p:nvPr/>
        </p:nvSpPr>
        <p:spPr>
          <a:xfrm>
            <a:off x="82753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signs off · post-mortem at next Gate 2</a:t>
            </a:r>
          </a:p>
        </p:txBody>
      </p:sp>
      <p:sp>
        <p:nvSpPr>
          <p:cNvPr id="59" name="TextBox 5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0" name="TextBox 5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11 / 27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Three roles · one cast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PM (per VS) · Architect · Squad PM — Heather sets the Product standard across CS and ITBA</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2286000" y="1417320"/>
            <a:ext cx="75895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468880" y="1463040"/>
            <a:ext cx="502920" cy="50292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1463040"/>
            <a:ext cx="502920" cy="502920"/>
          </a:xfrm>
          <a:prstGeom prst="rect">
            <a:avLst/>
          </a:prstGeom>
          <a:noFill/>
        </p:spPr>
        <p:txBody>
          <a:bodyPr wrap="square" lIns="36000" rIns="36000" tIns="18000" bIns="18000" anchor="ctr">
            <a:spAutoFit/>
          </a:bodyPr>
          <a:lstStyle/>
          <a:p>
            <a:pPr algn="ctr"/>
            <a:r>
              <a:rPr sz="1100" b="1" i="0">
                <a:solidFill>
                  <a:srgbClr val="FFFFFF"/>
                </a:solidFill>
                <a:latin typeface="Arial"/>
              </a:rPr>
              <a:t>HK</a:t>
            </a:r>
          </a:p>
        </p:txBody>
      </p:sp>
      <p:sp>
        <p:nvSpPr>
          <p:cNvPr id="9" name="TextBox 8"/>
          <p:cNvSpPr txBox="1"/>
          <p:nvPr/>
        </p:nvSpPr>
        <p:spPr>
          <a:xfrm>
            <a:off x="3108960" y="1472184"/>
            <a:ext cx="6583680" cy="201168"/>
          </a:xfrm>
          <a:prstGeom prst="rect">
            <a:avLst/>
          </a:prstGeom>
          <a:noFill/>
        </p:spPr>
        <p:txBody>
          <a:bodyPr wrap="square" lIns="36000" rIns="36000" tIns="18000" bIns="18000" anchor="t">
            <a:spAutoFit/>
          </a:bodyPr>
          <a:lstStyle/>
          <a:p>
            <a:pPr algn="l"/>
            <a:r>
              <a:rPr sz="1200" b="1" i="0">
                <a:solidFill>
                  <a:srgbClr val="006B3F"/>
                </a:solidFill>
                <a:latin typeface="Arial"/>
              </a:rPr>
              <a:t>HEATHER LaJOIE  ·  Director · Product (NEW capability for Avangrid)</a:t>
            </a:r>
          </a:p>
        </p:txBody>
      </p:sp>
      <p:sp>
        <p:nvSpPr>
          <p:cNvPr id="10" name="TextBox 9"/>
          <p:cNvSpPr txBox="1"/>
          <p:nvPr/>
        </p:nvSpPr>
        <p:spPr>
          <a:xfrm>
            <a:off x="3108960" y="1691640"/>
            <a:ext cx="6583680" cy="274320"/>
          </a:xfrm>
          <a:prstGeom prst="rect">
            <a:avLst/>
          </a:prstGeom>
          <a:noFill/>
        </p:spPr>
        <p:txBody>
          <a:bodyPr wrap="square" lIns="36000" rIns="36000" tIns="18000" bIns="18000" anchor="t">
            <a:spAutoFit/>
          </a:bodyPr>
          <a:lstStyle/>
          <a:p>
            <a:pPr algn="l"/>
            <a:r>
              <a:rPr sz="850" b="0" i="1">
                <a:solidFill>
                  <a:srgbClr val="2C3E50"/>
                </a:solidFill>
                <a:latin typeface="Arial"/>
              </a:rPr>
              <a:t>Spans CS and ITBA · leads + mentors new Product capability · liaison to Digital CoE BRP · co-Director at Gate 2</a:t>
            </a:r>
          </a:p>
        </p:txBody>
      </p:sp>
      <p:sp>
        <p:nvSpPr>
          <p:cNvPr id="11" name="Rounded Rectangle 10"/>
          <p:cNvSpPr/>
          <p:nvPr/>
        </p:nvSpPr>
        <p:spPr>
          <a:xfrm>
            <a:off x="3657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920240"/>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PM (Portfolio · per VS)</a:t>
            </a:r>
          </a:p>
        </p:txBody>
      </p:sp>
      <p:sp>
        <p:nvSpPr>
          <p:cNvPr id="14" name="TextBox 13"/>
          <p:cNvSpPr txBox="1"/>
          <p:nvPr/>
        </p:nvSpPr>
        <p:spPr>
          <a:xfrm>
            <a:off x="5029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PMs · per VS · NEW capability across CS + ITBA</a:t>
            </a:r>
          </a:p>
        </p:txBody>
      </p:sp>
      <p:sp>
        <p:nvSpPr>
          <p:cNvPr id="15" name="TextBox 14"/>
          <p:cNvSpPr txBox="1"/>
          <p:nvPr/>
        </p:nvSpPr>
        <p:spPr>
          <a:xfrm>
            <a:off x="502920" y="26517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OWNS</a:t>
            </a:r>
          </a:p>
        </p:txBody>
      </p:sp>
      <p:sp>
        <p:nvSpPr>
          <p:cNvPr id="16" name="TextBox 15"/>
          <p:cNvSpPr txBox="1"/>
          <p:nvPr/>
        </p:nvSpPr>
        <p:spPr>
          <a:xfrm>
            <a:off x="5029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Refinement · Portfolio backlog rank within VS · Roadmap entries</a:t>
            </a:r>
          </a:p>
        </p:txBody>
      </p:sp>
      <p:sp>
        <p:nvSpPr>
          <p:cNvPr id="17" name="TextBox 16"/>
          <p:cNvSpPr txBox="1"/>
          <p:nvPr/>
        </p:nvSpPr>
        <p:spPr>
          <a:xfrm>
            <a:off x="502920" y="323850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PRODUCES</a:t>
            </a:r>
          </a:p>
        </p:txBody>
      </p:sp>
      <p:sp>
        <p:nvSpPr>
          <p:cNvPr id="18" name="TextBox 17"/>
          <p:cNvSpPr txBox="1"/>
          <p:nvPr/>
        </p:nvSpPr>
        <p:spPr>
          <a:xfrm>
            <a:off x="5029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Outcome-named Stories · INVEST-compliant · acceptance criteria split</a:t>
            </a:r>
          </a:p>
        </p:txBody>
      </p:sp>
      <p:sp>
        <p:nvSpPr>
          <p:cNvPr id="19" name="TextBox 18"/>
          <p:cNvSpPr txBox="1"/>
          <p:nvPr/>
        </p:nvSpPr>
        <p:spPr>
          <a:xfrm>
            <a:off x="502920" y="382524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MEETS</a:t>
            </a:r>
          </a:p>
        </p:txBody>
      </p:sp>
      <p:sp>
        <p:nvSpPr>
          <p:cNvPr id="20" name="TextBox 19"/>
          <p:cNvSpPr txBox="1"/>
          <p:nvPr/>
        </p:nvSpPr>
        <p:spPr>
          <a:xfrm>
            <a:off x="5029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(PM + Architect + Squad)  ·  Bi-weekly grooming  ·  Monthly Gate 2 prep</a:t>
            </a:r>
          </a:p>
        </p:txBody>
      </p:sp>
      <p:sp>
        <p:nvSpPr>
          <p:cNvPr id="21" name="TextBox 20"/>
          <p:cNvSpPr txBox="1"/>
          <p:nvPr/>
        </p:nvSpPr>
        <p:spPr>
          <a:xfrm>
            <a:off x="502920" y="441198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ACCOUNTABLE FOR</a:t>
            </a:r>
          </a:p>
        </p:txBody>
      </p:sp>
      <p:sp>
        <p:nvSpPr>
          <p:cNvPr id="22" name="TextBox 21"/>
          <p:cNvSpPr txBox="1"/>
          <p:nvPr/>
        </p:nvSpPr>
        <p:spPr>
          <a:xfrm>
            <a:off x="5029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 framing · NOT delivery (Squad PM owns) · NOT capacity (Director owns)</a:t>
            </a:r>
          </a:p>
        </p:txBody>
      </p:sp>
      <p:sp>
        <p:nvSpPr>
          <p:cNvPr id="23" name="TextBox 22"/>
          <p:cNvSpPr txBox="1"/>
          <p:nvPr/>
        </p:nvSpPr>
        <p:spPr>
          <a:xfrm>
            <a:off x="502920" y="499872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ONBOARDING + RAMP</a:t>
            </a:r>
          </a:p>
        </p:txBody>
      </p:sp>
      <p:sp>
        <p:nvSpPr>
          <p:cNvPr id="24" name="TextBox 23"/>
          <p:cNvSpPr txBox="1"/>
          <p:nvPr/>
        </p:nvSpPr>
        <p:spPr>
          <a:xfrm>
            <a:off x="5029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12-week onboarding · mentored by Heather · paired with BRS counterpart</a:t>
            </a:r>
          </a:p>
        </p:txBody>
      </p:sp>
      <p:sp>
        <p:nvSpPr>
          <p:cNvPr id="25" name="TextBox 24"/>
          <p:cNvSpPr txBox="1"/>
          <p:nvPr/>
        </p:nvSpPr>
        <p:spPr>
          <a:xfrm>
            <a:off x="502920" y="55854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WHO IS THIS PERSON</a:t>
            </a:r>
          </a:p>
        </p:txBody>
      </p:sp>
      <p:sp>
        <p:nvSpPr>
          <p:cNvPr id="26" name="TextBox 25"/>
          <p:cNvSpPr txBox="1"/>
          <p:nvPr/>
        </p:nvSpPr>
        <p:spPr>
          <a:xfrm>
            <a:off x="5029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individual contributor · product-mindset · domain literacy</a:t>
            </a:r>
          </a:p>
        </p:txBody>
      </p:sp>
      <p:sp>
        <p:nvSpPr>
          <p:cNvPr id="27" name="Rounded Rectangle 26"/>
          <p:cNvSpPr/>
          <p:nvPr/>
        </p:nvSpPr>
        <p:spPr>
          <a:xfrm>
            <a:off x="42519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51960" y="1920240"/>
            <a:ext cx="370332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ARCHITECT  ·  cross-VS</a:t>
            </a:r>
          </a:p>
        </p:txBody>
      </p:sp>
      <p:sp>
        <p:nvSpPr>
          <p:cNvPr id="30" name="TextBox 29"/>
          <p:cNvSpPr txBox="1"/>
          <p:nvPr/>
        </p:nvSpPr>
        <p:spPr>
          <a:xfrm>
            <a:off x="43891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architect per area (CS + ITBA) · cross-VS feasibility</a:t>
            </a:r>
          </a:p>
        </p:txBody>
      </p:sp>
      <p:sp>
        <p:nvSpPr>
          <p:cNvPr id="31" name="TextBox 30"/>
          <p:cNvSpPr txBox="1"/>
          <p:nvPr/>
        </p:nvSpPr>
        <p:spPr>
          <a:xfrm>
            <a:off x="4389120" y="26517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32" name="TextBox 31"/>
          <p:cNvSpPr txBox="1"/>
          <p:nvPr/>
        </p:nvSpPr>
        <p:spPr>
          <a:xfrm>
            <a:off x="43891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scoring (1-5) · Safety scoring (ITBA · 1-5) · NFR pre-check</a:t>
            </a:r>
          </a:p>
        </p:txBody>
      </p:sp>
      <p:sp>
        <p:nvSpPr>
          <p:cNvPr id="33" name="TextBox 32"/>
          <p:cNvSpPr txBox="1"/>
          <p:nvPr/>
        </p:nvSpPr>
        <p:spPr>
          <a:xfrm>
            <a:off x="4389120" y="323850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PRODUCES</a:t>
            </a:r>
          </a:p>
        </p:txBody>
      </p:sp>
      <p:sp>
        <p:nvSpPr>
          <p:cNvPr id="34" name="TextBox 33"/>
          <p:cNvSpPr txBox="1"/>
          <p:nvPr/>
        </p:nvSpPr>
        <p:spPr>
          <a:xfrm>
            <a:off x="43891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Architecture position note per Initiative · cross-VS dependency map</a:t>
            </a:r>
          </a:p>
        </p:txBody>
      </p:sp>
      <p:sp>
        <p:nvSpPr>
          <p:cNvPr id="35" name="TextBox 34"/>
          <p:cNvSpPr txBox="1"/>
          <p:nvPr/>
        </p:nvSpPr>
        <p:spPr>
          <a:xfrm>
            <a:off x="4389120" y="382524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MEETS</a:t>
            </a:r>
          </a:p>
        </p:txBody>
      </p:sp>
      <p:sp>
        <p:nvSpPr>
          <p:cNvPr id="36" name="TextBox 35"/>
          <p:cNvSpPr txBox="1"/>
          <p:nvPr/>
        </p:nvSpPr>
        <p:spPr>
          <a:xfrm>
            <a:off x="43891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(alongside PM)  ·  Architecture review on demand  ·  Monthly Gate 2</a:t>
            </a:r>
          </a:p>
        </p:txBody>
      </p:sp>
      <p:sp>
        <p:nvSpPr>
          <p:cNvPr id="37" name="TextBox 36"/>
          <p:cNvSpPr txBox="1"/>
          <p:nvPr/>
        </p:nvSpPr>
        <p:spPr>
          <a:xfrm>
            <a:off x="4389120" y="441198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ACCOUNTABLE FOR</a:t>
            </a:r>
          </a:p>
        </p:txBody>
      </p:sp>
      <p:sp>
        <p:nvSpPr>
          <p:cNvPr id="38" name="TextBox 37"/>
          <p:cNvSpPr txBox="1"/>
          <p:nvPr/>
        </p:nvSpPr>
        <p:spPr>
          <a:xfrm>
            <a:off x="43891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NFRs (perf · security · compliance · scale) · vendor model · cross-VS deps</a:t>
            </a:r>
          </a:p>
        </p:txBody>
      </p:sp>
      <p:sp>
        <p:nvSpPr>
          <p:cNvPr id="39" name="TextBox 38"/>
          <p:cNvSpPr txBox="1"/>
          <p:nvPr/>
        </p:nvSpPr>
        <p:spPr>
          <a:xfrm>
            <a:off x="4389120" y="499872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DEFINES SCALE 1-5</a:t>
            </a:r>
          </a:p>
        </p:txBody>
      </p:sp>
      <p:sp>
        <p:nvSpPr>
          <p:cNvPr id="40" name="TextBox 39"/>
          <p:cNvSpPr txBox="1"/>
          <p:nvPr/>
        </p:nvSpPr>
        <p:spPr>
          <a:xfrm>
            <a:off x="43891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1=hours · 2=days · 3=weeks · 4=quarter · 5=multi-quarter</a:t>
            </a:r>
          </a:p>
        </p:txBody>
      </p:sp>
      <p:sp>
        <p:nvSpPr>
          <p:cNvPr id="41" name="TextBox 40"/>
          <p:cNvSpPr txBox="1"/>
          <p:nvPr/>
        </p:nvSpPr>
        <p:spPr>
          <a:xfrm>
            <a:off x="4389120" y="55854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WHO IS THIS PERSON</a:t>
            </a:r>
          </a:p>
        </p:txBody>
      </p:sp>
      <p:sp>
        <p:nvSpPr>
          <p:cNvPr id="42" name="TextBox 41"/>
          <p:cNvSpPr txBox="1"/>
          <p:nvPr/>
        </p:nvSpPr>
        <p:spPr>
          <a:xfrm>
            <a:off x="43891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architect · 8+ years · vendor + in-house experience</a:t>
            </a:r>
          </a:p>
        </p:txBody>
      </p:sp>
      <p:sp>
        <p:nvSpPr>
          <p:cNvPr id="43" name="Rounded Rectangle 42"/>
          <p:cNvSpPr/>
          <p:nvPr/>
        </p:nvSpPr>
        <p:spPr>
          <a:xfrm>
            <a:off x="81381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38160" y="1920240"/>
            <a:ext cx="3703320"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3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SQUAD PM</a:t>
            </a:r>
          </a:p>
        </p:txBody>
      </p:sp>
      <p:sp>
        <p:nvSpPr>
          <p:cNvPr id="46" name="TextBox 45"/>
          <p:cNvSpPr txBox="1"/>
          <p:nvPr/>
        </p:nvSpPr>
        <p:spPr>
          <a:xfrm>
            <a:off x="82753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per squad · 9 squads (4 CS + 5 ITBA) + 1 Enabling</a:t>
            </a:r>
          </a:p>
        </p:txBody>
      </p:sp>
      <p:sp>
        <p:nvSpPr>
          <p:cNvPr id="47" name="TextBox 46"/>
          <p:cNvSpPr txBox="1"/>
          <p:nvPr/>
        </p:nvSpPr>
        <p:spPr>
          <a:xfrm>
            <a:off x="8275320" y="26517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48" name="TextBox 47"/>
          <p:cNvSpPr txBox="1"/>
          <p:nvPr/>
        </p:nvSpPr>
        <p:spPr>
          <a:xfrm>
            <a:off x="82753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 check · pull from CoS lane · WIP discipline · daily ops</a:t>
            </a:r>
          </a:p>
        </p:txBody>
      </p:sp>
      <p:sp>
        <p:nvSpPr>
          <p:cNvPr id="49" name="TextBox 48"/>
          <p:cNvSpPr txBox="1"/>
          <p:nvPr/>
        </p:nvSpPr>
        <p:spPr>
          <a:xfrm>
            <a:off x="8275320" y="323850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PRODUCES</a:t>
            </a:r>
          </a:p>
        </p:txBody>
      </p:sp>
      <p:sp>
        <p:nvSpPr>
          <p:cNvPr id="50" name="TextBox 49"/>
          <p:cNvSpPr txBox="1"/>
          <p:nvPr/>
        </p:nvSpPr>
        <p:spPr>
          <a:xfrm>
            <a:off x="82753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DoR-passed pull queue · iteration-level commitments · cycle-time data</a:t>
            </a:r>
          </a:p>
        </p:txBody>
      </p:sp>
      <p:sp>
        <p:nvSpPr>
          <p:cNvPr id="51" name="TextBox 50"/>
          <p:cNvSpPr txBox="1"/>
          <p:nvPr/>
        </p:nvSpPr>
        <p:spPr>
          <a:xfrm>
            <a:off x="8275320" y="382524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MEETS</a:t>
            </a:r>
          </a:p>
        </p:txBody>
      </p:sp>
      <p:sp>
        <p:nvSpPr>
          <p:cNvPr id="52" name="TextBox 51"/>
          <p:cNvSpPr txBox="1"/>
          <p:nvPr/>
        </p:nvSpPr>
        <p:spPr>
          <a:xfrm>
            <a:off x="82753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Daily standup  ·  Weekly refinement (with PM + Architect)  ·  Bi-weekly retro</a:t>
            </a:r>
          </a:p>
        </p:txBody>
      </p:sp>
      <p:sp>
        <p:nvSpPr>
          <p:cNvPr id="53" name="TextBox 52"/>
          <p:cNvSpPr txBox="1"/>
          <p:nvPr/>
        </p:nvSpPr>
        <p:spPr>
          <a:xfrm>
            <a:off x="8275320" y="441198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ACCOUNTABLE FOR</a:t>
            </a:r>
          </a:p>
        </p:txBody>
      </p:sp>
      <p:sp>
        <p:nvSpPr>
          <p:cNvPr id="54" name="TextBox 53"/>
          <p:cNvSpPr txBox="1"/>
          <p:nvPr/>
        </p:nvSpPr>
        <p:spPr>
          <a:xfrm>
            <a:off x="82753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Single gate to Execution · pull discipline · NOT prioritization (PM owns)</a:t>
            </a:r>
          </a:p>
        </p:txBody>
      </p:sp>
      <p:sp>
        <p:nvSpPr>
          <p:cNvPr id="55" name="TextBox 54"/>
          <p:cNvSpPr txBox="1"/>
          <p:nvPr/>
        </p:nvSpPr>
        <p:spPr>
          <a:xfrm>
            <a:off x="8275320" y="499872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ESCALATES TO</a:t>
            </a:r>
          </a:p>
        </p:txBody>
      </p:sp>
      <p:sp>
        <p:nvSpPr>
          <p:cNvPr id="56" name="TextBox 55"/>
          <p:cNvSpPr txBox="1"/>
          <p:nvPr/>
        </p:nvSpPr>
        <p:spPr>
          <a:xfrm>
            <a:off x="82753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PM (per VS) on outcome drift · Architect on NFR breach · Director on capacity</a:t>
            </a:r>
          </a:p>
        </p:txBody>
      </p:sp>
      <p:sp>
        <p:nvSpPr>
          <p:cNvPr id="57" name="TextBox 56"/>
          <p:cNvSpPr txBox="1"/>
          <p:nvPr/>
        </p:nvSpPr>
        <p:spPr>
          <a:xfrm>
            <a:off x="8275320" y="55854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WHO IS THIS PERSON</a:t>
            </a:r>
          </a:p>
        </p:txBody>
      </p:sp>
      <p:sp>
        <p:nvSpPr>
          <p:cNvPr id="58" name="TextBox 57"/>
          <p:cNvSpPr txBox="1"/>
          <p:nvPr/>
        </p:nvSpPr>
        <p:spPr>
          <a:xfrm>
            <a:off x="82753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Embedded delivery lead · Scrum/Kanban background · 5+ years</a:t>
            </a:r>
          </a:p>
        </p:txBody>
      </p:sp>
      <p:sp>
        <p:nvSpPr>
          <p:cNvPr id="59" name="TextBox 5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0" name="TextBox 5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12 / 27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PM onboarding · NEW capability · 12-week ramp</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Pair with BRS counterpart · Heather mentors · standalone by Day 90</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1508760"/>
            <a:ext cx="114757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81912"/>
            <a:ext cx="11338560" cy="237744"/>
          </a:xfrm>
          <a:prstGeom prst="rect">
            <a:avLst/>
          </a:prstGeom>
          <a:noFill/>
        </p:spPr>
        <p:txBody>
          <a:bodyPr wrap="square" lIns="36000" rIns="36000" tIns="18000" bIns="18000" anchor="t">
            <a:spAutoFit/>
          </a:bodyPr>
          <a:lstStyle/>
          <a:p>
            <a:pPr algn="l"/>
            <a:r>
              <a:rPr sz="1100" b="1" i="0">
                <a:solidFill>
                  <a:srgbClr val="FFFFFF"/>
                </a:solidFill>
                <a:latin typeface="Arial"/>
              </a:rPr>
              <a:t>PM ONBOARDING  ·  12 weeks · paired with BRS counterpart</a:t>
            </a:r>
          </a:p>
        </p:txBody>
      </p:sp>
      <p:sp>
        <p:nvSpPr>
          <p:cNvPr id="7" name="Rounded Rectangle 6"/>
          <p:cNvSpPr/>
          <p:nvPr/>
        </p:nvSpPr>
        <p:spPr>
          <a:xfrm>
            <a:off x="502920"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011680"/>
            <a:ext cx="91440" cy="1325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1-3</a:t>
            </a:r>
          </a:p>
        </p:txBody>
      </p:sp>
      <p:sp>
        <p:nvSpPr>
          <p:cNvPr id="10" name="TextBox 9"/>
          <p:cNvSpPr txBox="1"/>
          <p:nvPr/>
        </p:nvSpPr>
        <p:spPr>
          <a:xfrm>
            <a:off x="685800" y="2258568"/>
            <a:ext cx="2471166" cy="274320"/>
          </a:xfrm>
          <a:prstGeom prst="rect">
            <a:avLst/>
          </a:prstGeom>
          <a:noFill/>
        </p:spPr>
        <p:txBody>
          <a:bodyPr wrap="square" lIns="36000" rIns="36000" tIns="18000" bIns="18000" anchor="t">
            <a:spAutoFit/>
          </a:bodyPr>
          <a:lstStyle/>
          <a:p>
            <a:pPr algn="l"/>
            <a:r>
              <a:rPr sz="1400" b="1" i="0">
                <a:solidFill>
                  <a:srgbClr val="008C38"/>
                </a:solidFill>
                <a:latin typeface="Arial"/>
              </a:rPr>
              <a:t>ORIENT</a:t>
            </a:r>
          </a:p>
        </p:txBody>
      </p:sp>
      <p:sp>
        <p:nvSpPr>
          <p:cNvPr id="11" name="TextBox 10"/>
          <p:cNvSpPr txBox="1"/>
          <p:nvPr/>
        </p:nvSpPr>
        <p:spPr>
          <a:xfrm>
            <a:off x="685800"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Shadow Heather · meet Sponsors · learn taxonomy · observe Gate 2</a:t>
            </a:r>
          </a:p>
        </p:txBody>
      </p:sp>
      <p:sp>
        <p:nvSpPr>
          <p:cNvPr id="12" name="Rounded Rectangle 11"/>
          <p:cNvSpPr/>
          <p:nvPr/>
        </p:nvSpPr>
        <p:spPr>
          <a:xfrm>
            <a:off x="3321558"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21558" y="2011680"/>
            <a:ext cx="91440" cy="1325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4438"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4-6</a:t>
            </a:r>
          </a:p>
        </p:txBody>
      </p:sp>
      <p:sp>
        <p:nvSpPr>
          <p:cNvPr id="15" name="TextBox 14"/>
          <p:cNvSpPr txBox="1"/>
          <p:nvPr/>
        </p:nvSpPr>
        <p:spPr>
          <a:xfrm>
            <a:off x="3504438" y="2258568"/>
            <a:ext cx="2471166" cy="274320"/>
          </a:xfrm>
          <a:prstGeom prst="rect">
            <a:avLst/>
          </a:prstGeom>
          <a:noFill/>
        </p:spPr>
        <p:txBody>
          <a:bodyPr wrap="square" lIns="36000" rIns="36000" tIns="18000" bIns="18000" anchor="t">
            <a:spAutoFit/>
          </a:bodyPr>
          <a:lstStyle/>
          <a:p>
            <a:pPr algn="l"/>
            <a:r>
              <a:rPr sz="1400" b="1" i="0">
                <a:solidFill>
                  <a:srgbClr val="008950"/>
                </a:solidFill>
                <a:latin typeface="Arial"/>
              </a:rPr>
              <a:t>PAIR</a:t>
            </a:r>
          </a:p>
        </p:txBody>
      </p:sp>
      <p:sp>
        <p:nvSpPr>
          <p:cNvPr id="16" name="TextBox 15"/>
          <p:cNvSpPr txBox="1"/>
          <p:nvPr/>
        </p:nvSpPr>
        <p:spPr>
          <a:xfrm>
            <a:off x="3504438"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Co-refine with senior PM · score 5 demands with Architect · run first DoR</a:t>
            </a:r>
          </a:p>
        </p:txBody>
      </p:sp>
      <p:sp>
        <p:nvSpPr>
          <p:cNvPr id="17" name="Rounded Rectangle 16"/>
          <p:cNvSpPr/>
          <p:nvPr/>
        </p:nvSpPr>
        <p:spPr>
          <a:xfrm>
            <a:off x="6140196"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40196" y="2011680"/>
            <a:ext cx="91440" cy="1325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3076"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7-9</a:t>
            </a:r>
          </a:p>
        </p:txBody>
      </p:sp>
      <p:sp>
        <p:nvSpPr>
          <p:cNvPr id="20" name="TextBox 19"/>
          <p:cNvSpPr txBox="1"/>
          <p:nvPr/>
        </p:nvSpPr>
        <p:spPr>
          <a:xfrm>
            <a:off x="6323076" y="2258568"/>
            <a:ext cx="2471166" cy="274320"/>
          </a:xfrm>
          <a:prstGeom prst="rect">
            <a:avLst/>
          </a:prstGeom>
          <a:noFill/>
        </p:spPr>
        <p:txBody>
          <a:bodyPr wrap="square" lIns="36000" rIns="36000" tIns="18000" bIns="18000" anchor="t">
            <a:spAutoFit/>
          </a:bodyPr>
          <a:lstStyle/>
          <a:p>
            <a:pPr algn="l"/>
            <a:r>
              <a:rPr sz="1400" b="1" i="0">
                <a:solidFill>
                  <a:srgbClr val="2C578B"/>
                </a:solidFill>
                <a:latin typeface="Arial"/>
              </a:rPr>
              <a:t>OWN</a:t>
            </a:r>
          </a:p>
        </p:txBody>
      </p:sp>
      <p:sp>
        <p:nvSpPr>
          <p:cNvPr id="21" name="TextBox 20"/>
          <p:cNvSpPr txBox="1"/>
          <p:nvPr/>
        </p:nvSpPr>
        <p:spPr>
          <a:xfrm>
            <a:off x="6323076"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Own VS backlog · run weekly refinement · prepare Gate 2 deck</a:t>
            </a:r>
          </a:p>
        </p:txBody>
      </p:sp>
      <p:sp>
        <p:nvSpPr>
          <p:cNvPr id="22" name="Rounded Rectangle 21"/>
          <p:cNvSpPr/>
          <p:nvPr/>
        </p:nvSpPr>
        <p:spPr>
          <a:xfrm>
            <a:off x="8958834"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58834" y="2011680"/>
            <a:ext cx="91440" cy="1325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1714"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10-12</a:t>
            </a:r>
          </a:p>
        </p:txBody>
      </p:sp>
      <p:sp>
        <p:nvSpPr>
          <p:cNvPr id="25" name="TextBox 24"/>
          <p:cNvSpPr txBox="1"/>
          <p:nvPr/>
        </p:nvSpPr>
        <p:spPr>
          <a:xfrm>
            <a:off x="9141714" y="2258568"/>
            <a:ext cx="2471166" cy="274320"/>
          </a:xfrm>
          <a:prstGeom prst="rect">
            <a:avLst/>
          </a:prstGeom>
          <a:noFill/>
        </p:spPr>
        <p:txBody>
          <a:bodyPr wrap="square" lIns="36000" rIns="36000" tIns="18000" bIns="18000" anchor="t">
            <a:spAutoFit/>
          </a:bodyPr>
          <a:lstStyle/>
          <a:p>
            <a:pPr algn="l"/>
            <a:r>
              <a:rPr sz="1400" b="1" i="0">
                <a:solidFill>
                  <a:srgbClr val="1B3C66"/>
                </a:solidFill>
                <a:latin typeface="Arial"/>
              </a:rPr>
              <a:t>EVALUATE</a:t>
            </a:r>
          </a:p>
        </p:txBody>
      </p:sp>
      <p:sp>
        <p:nvSpPr>
          <p:cNvPr id="26" name="TextBox 25"/>
          <p:cNvSpPr txBox="1"/>
          <p:nvPr/>
        </p:nvSpPr>
        <p:spPr>
          <a:xfrm>
            <a:off x="9141714"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Heather reviews outcome quality · BRS feedback · pass = standalone</a:t>
            </a:r>
          </a:p>
        </p:txBody>
      </p:sp>
      <p:sp>
        <p:nvSpPr>
          <p:cNvPr id="27" name="Rounded Rectangle 26"/>
          <p:cNvSpPr/>
          <p:nvPr/>
        </p:nvSpPr>
        <p:spPr>
          <a:xfrm>
            <a:off x="3657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337560"/>
            <a:ext cx="56464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PM (Portfolio · per VS)  ·  the NEW Product role</a:t>
            </a:r>
          </a:p>
        </p:txBody>
      </p:sp>
      <p:sp>
        <p:nvSpPr>
          <p:cNvPr id="30" name="TextBox 29"/>
          <p:cNvSpPr txBox="1"/>
          <p:nvPr/>
        </p:nvSpPr>
        <p:spPr>
          <a:xfrm>
            <a:off x="502920" y="384048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31" name="TextBox 30"/>
          <p:cNvSpPr txBox="1"/>
          <p:nvPr/>
        </p:nvSpPr>
        <p:spPr>
          <a:xfrm>
            <a:off x="1691640" y="3858768"/>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Outcome framing · refinement · Pain Score (BV/UX) · roadmap</a:t>
            </a:r>
          </a:p>
        </p:txBody>
      </p:sp>
      <p:sp>
        <p:nvSpPr>
          <p:cNvPr id="32" name="TextBox 31"/>
          <p:cNvSpPr txBox="1"/>
          <p:nvPr/>
        </p:nvSpPr>
        <p:spPr>
          <a:xfrm>
            <a:off x="502920" y="411480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CADENCE</a:t>
            </a:r>
          </a:p>
        </p:txBody>
      </p:sp>
      <p:sp>
        <p:nvSpPr>
          <p:cNvPr id="33" name="TextBox 32"/>
          <p:cNvSpPr txBox="1"/>
          <p:nvPr/>
        </p:nvSpPr>
        <p:spPr>
          <a:xfrm>
            <a:off x="1691640" y="413308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Daily within VS  ·  weekly refinement  ·  monthly Gate 2</a:t>
            </a:r>
          </a:p>
        </p:txBody>
      </p:sp>
      <p:sp>
        <p:nvSpPr>
          <p:cNvPr id="34" name="TextBox 33"/>
          <p:cNvSpPr txBox="1"/>
          <p:nvPr/>
        </p:nvSpPr>
        <p:spPr>
          <a:xfrm>
            <a:off x="502920" y="438912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REPORTS</a:t>
            </a:r>
          </a:p>
        </p:txBody>
      </p:sp>
      <p:sp>
        <p:nvSpPr>
          <p:cNvPr id="35" name="TextBox 34"/>
          <p:cNvSpPr txBox="1"/>
          <p:nvPr/>
        </p:nvSpPr>
        <p:spPr>
          <a:xfrm>
            <a:off x="1691640" y="440740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To Heather (Director Product)</a:t>
            </a:r>
          </a:p>
        </p:txBody>
      </p:sp>
      <p:sp>
        <p:nvSpPr>
          <p:cNvPr id="36" name="TextBox 35"/>
          <p:cNvSpPr txBox="1"/>
          <p:nvPr/>
        </p:nvSpPr>
        <p:spPr>
          <a:xfrm>
            <a:off x="502920" y="466344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SKILL</a:t>
            </a:r>
          </a:p>
        </p:txBody>
      </p:sp>
      <p:sp>
        <p:nvSpPr>
          <p:cNvPr id="37" name="TextBox 36"/>
          <p:cNvSpPr txBox="1"/>
          <p:nvPr/>
        </p:nvSpPr>
        <p:spPr>
          <a:xfrm>
            <a:off x="1691640" y="468172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Product mindset · outcome-driven · domain literacy</a:t>
            </a:r>
          </a:p>
        </p:txBody>
      </p:sp>
      <p:sp>
        <p:nvSpPr>
          <p:cNvPr id="38" name="TextBox 37"/>
          <p:cNvSpPr txBox="1"/>
          <p:nvPr/>
        </p:nvSpPr>
        <p:spPr>
          <a:xfrm>
            <a:off x="6048756" y="4000500"/>
            <a:ext cx="182880"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39" name="Rounded Rectangle 38"/>
          <p:cNvSpPr/>
          <p:nvPr/>
        </p:nvSpPr>
        <p:spPr>
          <a:xfrm>
            <a:off x="61950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95060" y="3337560"/>
            <a:ext cx="564642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322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BRS  ·  Business Relationship Steward</a:t>
            </a:r>
          </a:p>
        </p:txBody>
      </p:sp>
      <p:sp>
        <p:nvSpPr>
          <p:cNvPr id="42" name="TextBox 41"/>
          <p:cNvSpPr txBox="1"/>
          <p:nvPr/>
        </p:nvSpPr>
        <p:spPr>
          <a:xfrm>
            <a:off x="6332220" y="384048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43" name="TextBox 42"/>
          <p:cNvSpPr txBox="1"/>
          <p:nvPr/>
        </p:nvSpPr>
        <p:spPr>
          <a:xfrm>
            <a:off x="7520940" y="3858768"/>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Process owner counterpart · value stream advocacy · outcome challenge</a:t>
            </a:r>
          </a:p>
        </p:txBody>
      </p:sp>
      <p:sp>
        <p:nvSpPr>
          <p:cNvPr id="44" name="TextBox 43"/>
          <p:cNvSpPr txBox="1"/>
          <p:nvPr/>
        </p:nvSpPr>
        <p:spPr>
          <a:xfrm>
            <a:off x="6332220" y="411480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5" name="TextBox 44"/>
          <p:cNvSpPr txBox="1"/>
          <p:nvPr/>
        </p:nvSpPr>
        <p:spPr>
          <a:xfrm>
            <a:off x="7520940" y="413308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Weekly with PM  ·  monthly at Gate 2  ·  quarterly with VP Vitor</a:t>
            </a:r>
          </a:p>
        </p:txBody>
      </p:sp>
      <p:sp>
        <p:nvSpPr>
          <p:cNvPr id="46" name="TextBox 45"/>
          <p:cNvSpPr txBox="1"/>
          <p:nvPr/>
        </p:nvSpPr>
        <p:spPr>
          <a:xfrm>
            <a:off x="6332220" y="438912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REPORTS</a:t>
            </a:r>
          </a:p>
        </p:txBody>
      </p:sp>
      <p:sp>
        <p:nvSpPr>
          <p:cNvPr id="47" name="TextBox 46"/>
          <p:cNvSpPr txBox="1"/>
          <p:nvPr/>
        </p:nvSpPr>
        <p:spPr>
          <a:xfrm>
            <a:off x="7520940" y="440740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To business unit Director (CS or ITBA side)</a:t>
            </a:r>
          </a:p>
        </p:txBody>
      </p:sp>
      <p:sp>
        <p:nvSpPr>
          <p:cNvPr id="48" name="TextBox 47"/>
          <p:cNvSpPr txBox="1"/>
          <p:nvPr/>
        </p:nvSpPr>
        <p:spPr>
          <a:xfrm>
            <a:off x="6332220" y="466344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SKILL</a:t>
            </a:r>
          </a:p>
        </p:txBody>
      </p:sp>
      <p:sp>
        <p:nvSpPr>
          <p:cNvPr id="49" name="TextBox 48"/>
          <p:cNvSpPr txBox="1"/>
          <p:nvPr/>
        </p:nvSpPr>
        <p:spPr>
          <a:xfrm>
            <a:off x="7520940" y="468172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Business process mastery · stakeholder mgmt · governance fluency</a:t>
            </a:r>
          </a:p>
        </p:txBody>
      </p:sp>
      <p:sp>
        <p:nvSpPr>
          <p:cNvPr id="50" name="Rounded Rectangle 49"/>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3" name="TextBox 52"/>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PM and BRS are partners — PM owns the WHAT (product outcomes), BRS owns the WHY (business value).</a:t>
            </a:r>
          </a:p>
        </p:txBody>
      </p:sp>
      <p:sp>
        <p:nvSpPr>
          <p:cNvPr id="54" name="TextBox 53"/>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Together they ensure each Initiative ties an outcome to a business case · neither role alone is sufficient · both attend Gate 2 · both sign off on roadmap commits</a:t>
            </a:r>
          </a:p>
        </p:txBody>
      </p:sp>
      <p:sp>
        <p:nvSpPr>
          <p:cNvPr id="55" name="TextBox 54"/>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56" name="TextBox 5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13 / 27</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RACI · who does what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8 activities × 8 roles · PM responsible for refinement · Squad PM accountable for DoR</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1508760"/>
            <a:ext cx="3291840" cy="5943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600200"/>
            <a:ext cx="3291840" cy="411480"/>
          </a:xfrm>
          <a:prstGeom prst="rect">
            <a:avLst/>
          </a:prstGeom>
          <a:noFill/>
        </p:spPr>
        <p:txBody>
          <a:bodyPr wrap="square" lIns="36000" rIns="36000" tIns="18000" bIns="18000" anchor="ctr">
            <a:spAutoFit/>
          </a:bodyPr>
          <a:lstStyle/>
          <a:p>
            <a:pPr algn="ctr"/>
            <a:r>
              <a:rPr sz="1100" b="1" i="0">
                <a:solidFill>
                  <a:srgbClr val="FFFFFF"/>
                </a:solidFill>
                <a:latin typeface="Arial"/>
              </a:rPr>
              <a:t>ACTIVITY</a:t>
            </a:r>
          </a:p>
        </p:txBody>
      </p:sp>
      <p:sp>
        <p:nvSpPr>
          <p:cNvPr id="7" name="Rectangle 6"/>
          <p:cNvSpPr/>
          <p:nvPr/>
        </p:nvSpPr>
        <p:spPr>
          <a:xfrm>
            <a:off x="3657600" y="1508760"/>
            <a:ext cx="1004697"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VP</a:t>
            </a:r>
          </a:p>
        </p:txBody>
      </p:sp>
      <p:sp>
        <p:nvSpPr>
          <p:cNvPr id="9" name="TextBox 8"/>
          <p:cNvSpPr txBox="1"/>
          <p:nvPr/>
        </p:nvSpPr>
        <p:spPr>
          <a:xfrm>
            <a:off x="365760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Vitor</a:t>
            </a:r>
          </a:p>
        </p:txBody>
      </p:sp>
      <p:sp>
        <p:nvSpPr>
          <p:cNvPr id="10" name="Rectangle 9"/>
          <p:cNvSpPr/>
          <p:nvPr/>
        </p:nvSpPr>
        <p:spPr>
          <a:xfrm>
            <a:off x="4680585"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058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PROD</a:t>
            </a:r>
          </a:p>
        </p:txBody>
      </p:sp>
      <p:sp>
        <p:nvSpPr>
          <p:cNvPr id="12" name="TextBox 11"/>
          <p:cNvSpPr txBox="1"/>
          <p:nvPr/>
        </p:nvSpPr>
        <p:spPr>
          <a:xfrm>
            <a:off x="468058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Heather</a:t>
            </a:r>
          </a:p>
        </p:txBody>
      </p:sp>
      <p:sp>
        <p:nvSpPr>
          <p:cNvPr id="13" name="Rectangle 12"/>
          <p:cNvSpPr/>
          <p:nvPr/>
        </p:nvSpPr>
        <p:spPr>
          <a:xfrm>
            <a:off x="5703570"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0357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CS</a:t>
            </a:r>
          </a:p>
        </p:txBody>
      </p:sp>
      <p:sp>
        <p:nvSpPr>
          <p:cNvPr id="15" name="TextBox 14"/>
          <p:cNvSpPr txBox="1"/>
          <p:nvPr/>
        </p:nvSpPr>
        <p:spPr>
          <a:xfrm>
            <a:off x="570357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Kumar</a:t>
            </a:r>
          </a:p>
        </p:txBody>
      </p:sp>
      <p:sp>
        <p:nvSpPr>
          <p:cNvPr id="16" name="Rectangle 15"/>
          <p:cNvSpPr/>
          <p:nvPr/>
        </p:nvSpPr>
        <p:spPr>
          <a:xfrm>
            <a:off x="6726555" y="1508760"/>
            <a:ext cx="1004697"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655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ITBA</a:t>
            </a:r>
          </a:p>
        </p:txBody>
      </p:sp>
      <p:sp>
        <p:nvSpPr>
          <p:cNvPr id="18" name="TextBox 17"/>
          <p:cNvSpPr txBox="1"/>
          <p:nvPr/>
        </p:nvSpPr>
        <p:spPr>
          <a:xfrm>
            <a:off x="672655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Carlos</a:t>
            </a:r>
          </a:p>
        </p:txBody>
      </p:sp>
      <p:sp>
        <p:nvSpPr>
          <p:cNvPr id="19" name="Rectangle 18"/>
          <p:cNvSpPr/>
          <p:nvPr/>
        </p:nvSpPr>
        <p:spPr>
          <a:xfrm>
            <a:off x="7749540" y="1508760"/>
            <a:ext cx="1004697" cy="59436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4954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MIDDLE MGR</a:t>
            </a:r>
          </a:p>
        </p:txBody>
      </p:sp>
      <p:sp>
        <p:nvSpPr>
          <p:cNvPr id="21" name="TextBox 20"/>
          <p:cNvSpPr txBox="1"/>
          <p:nvPr/>
        </p:nvSpPr>
        <p:spPr>
          <a:xfrm>
            <a:off x="774954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day-to-day</a:t>
            </a:r>
          </a:p>
        </p:txBody>
      </p:sp>
      <p:sp>
        <p:nvSpPr>
          <p:cNvPr id="22" name="Rectangle 21"/>
          <p:cNvSpPr/>
          <p:nvPr/>
        </p:nvSpPr>
        <p:spPr>
          <a:xfrm>
            <a:off x="8772525" y="1508760"/>
            <a:ext cx="1004697"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252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PM (per VS)</a:t>
            </a:r>
          </a:p>
        </p:txBody>
      </p:sp>
      <p:sp>
        <p:nvSpPr>
          <p:cNvPr id="24" name="TextBox 23"/>
          <p:cNvSpPr txBox="1"/>
          <p:nvPr/>
        </p:nvSpPr>
        <p:spPr>
          <a:xfrm>
            <a:off x="877252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NEW</a:t>
            </a:r>
          </a:p>
        </p:txBody>
      </p:sp>
      <p:sp>
        <p:nvSpPr>
          <p:cNvPr id="25" name="Rectangle 24"/>
          <p:cNvSpPr/>
          <p:nvPr/>
        </p:nvSpPr>
        <p:spPr>
          <a:xfrm>
            <a:off x="9795510" y="1508760"/>
            <a:ext cx="1004697"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9551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ARCHITECT</a:t>
            </a:r>
          </a:p>
        </p:txBody>
      </p:sp>
      <p:sp>
        <p:nvSpPr>
          <p:cNvPr id="27" name="TextBox 26"/>
          <p:cNvSpPr txBox="1"/>
          <p:nvPr/>
        </p:nvSpPr>
        <p:spPr>
          <a:xfrm>
            <a:off x="979551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cross-VS</a:t>
            </a:r>
          </a:p>
        </p:txBody>
      </p:sp>
      <p:sp>
        <p:nvSpPr>
          <p:cNvPr id="28" name="Rectangle 27"/>
          <p:cNvSpPr/>
          <p:nvPr/>
        </p:nvSpPr>
        <p:spPr>
          <a:xfrm>
            <a:off x="10818495" y="1508760"/>
            <a:ext cx="1004697"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1849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SQUAD PM</a:t>
            </a:r>
          </a:p>
        </p:txBody>
      </p:sp>
      <p:sp>
        <p:nvSpPr>
          <p:cNvPr id="30" name="TextBox 29"/>
          <p:cNvSpPr txBox="1"/>
          <p:nvPr/>
        </p:nvSpPr>
        <p:spPr>
          <a:xfrm>
            <a:off x="1081849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per squad</a:t>
            </a:r>
          </a:p>
        </p:txBody>
      </p:sp>
      <p:sp>
        <p:nvSpPr>
          <p:cNvPr id="31" name="Rectangle 30"/>
          <p:cNvSpPr/>
          <p:nvPr/>
        </p:nvSpPr>
        <p:spPr>
          <a:xfrm>
            <a:off x="365760" y="2103120"/>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194560"/>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Refinement (Demand → Initiative → Epic → Story)</a:t>
            </a:r>
          </a:p>
        </p:txBody>
      </p:sp>
      <p:sp>
        <p:nvSpPr>
          <p:cNvPr id="33" name="Rectangle 32"/>
          <p:cNvSpPr/>
          <p:nvPr/>
        </p:nvSpPr>
        <p:spPr>
          <a:xfrm>
            <a:off x="365760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96792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36" name="Rectangle 35"/>
          <p:cNvSpPr/>
          <p:nvPr/>
        </p:nvSpPr>
        <p:spPr>
          <a:xfrm>
            <a:off x="468058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99090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8058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39" name="Rectangle 38"/>
          <p:cNvSpPr/>
          <p:nvPr/>
        </p:nvSpPr>
        <p:spPr>
          <a:xfrm>
            <a:off x="570357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01389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0357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2" name="Rectangle 41"/>
          <p:cNvSpPr/>
          <p:nvPr/>
        </p:nvSpPr>
        <p:spPr>
          <a:xfrm>
            <a:off x="672655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036879"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2655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5" name="Rectangle 44"/>
          <p:cNvSpPr/>
          <p:nvPr/>
        </p:nvSpPr>
        <p:spPr>
          <a:xfrm>
            <a:off x="774954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05986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4954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8" name="Rectangle 47"/>
          <p:cNvSpPr/>
          <p:nvPr/>
        </p:nvSpPr>
        <p:spPr>
          <a:xfrm>
            <a:off x="877252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082849" y="218198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7252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51" name="Rectangle 50"/>
          <p:cNvSpPr/>
          <p:nvPr/>
        </p:nvSpPr>
        <p:spPr>
          <a:xfrm>
            <a:off x="979551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105834"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9551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54" name="Rectangle 53"/>
          <p:cNvSpPr/>
          <p:nvPr/>
        </p:nvSpPr>
        <p:spPr>
          <a:xfrm>
            <a:off x="1081849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2881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1849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57" name="Rectangle 56"/>
          <p:cNvSpPr/>
          <p:nvPr/>
        </p:nvSpPr>
        <p:spPr>
          <a:xfrm>
            <a:off x="365760" y="266318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2920" y="275462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Pre-estimation (BV · UX · Effort · Safety)</a:t>
            </a:r>
          </a:p>
        </p:txBody>
      </p:sp>
      <p:sp>
        <p:nvSpPr>
          <p:cNvPr id="59" name="Rectangle 58"/>
          <p:cNvSpPr/>
          <p:nvPr/>
        </p:nvSpPr>
        <p:spPr>
          <a:xfrm>
            <a:off x="365760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96792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5760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2" name="Rectangle 61"/>
          <p:cNvSpPr/>
          <p:nvPr/>
        </p:nvSpPr>
        <p:spPr>
          <a:xfrm>
            <a:off x="468058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99090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8058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5" name="Rectangle 64"/>
          <p:cNvSpPr/>
          <p:nvPr/>
        </p:nvSpPr>
        <p:spPr>
          <a:xfrm>
            <a:off x="570357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01389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70357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8" name="Rectangle 67"/>
          <p:cNvSpPr/>
          <p:nvPr/>
        </p:nvSpPr>
        <p:spPr>
          <a:xfrm>
            <a:off x="672655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03687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72655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1" name="Rectangle 70"/>
          <p:cNvSpPr/>
          <p:nvPr/>
        </p:nvSpPr>
        <p:spPr>
          <a:xfrm>
            <a:off x="774954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05986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4954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4" name="Rectangle 73"/>
          <p:cNvSpPr/>
          <p:nvPr/>
        </p:nvSpPr>
        <p:spPr>
          <a:xfrm>
            <a:off x="877252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082849" y="274205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7252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77" name="Rectangle 76"/>
          <p:cNvSpPr/>
          <p:nvPr/>
        </p:nvSpPr>
        <p:spPr>
          <a:xfrm>
            <a:off x="979551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105834" y="2742057"/>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79551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80" name="Rectangle 79"/>
          <p:cNvSpPr/>
          <p:nvPr/>
        </p:nvSpPr>
        <p:spPr>
          <a:xfrm>
            <a:off x="1081849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112881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81849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83" name="Rectangle 82"/>
          <p:cNvSpPr/>
          <p:nvPr/>
        </p:nvSpPr>
        <p:spPr>
          <a:xfrm>
            <a:off x="365760" y="322325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331469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Pain Score computation</a:t>
            </a:r>
          </a:p>
        </p:txBody>
      </p:sp>
      <p:sp>
        <p:nvSpPr>
          <p:cNvPr id="85" name="Rectangle 84"/>
          <p:cNvSpPr/>
          <p:nvPr/>
        </p:nvSpPr>
        <p:spPr>
          <a:xfrm>
            <a:off x="365760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96792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65760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88" name="Rectangle 87"/>
          <p:cNvSpPr/>
          <p:nvPr/>
        </p:nvSpPr>
        <p:spPr>
          <a:xfrm>
            <a:off x="468058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99090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68058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1" name="Rectangle 90"/>
          <p:cNvSpPr/>
          <p:nvPr/>
        </p:nvSpPr>
        <p:spPr>
          <a:xfrm>
            <a:off x="570357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01389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70357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4" name="Rectangle 93"/>
          <p:cNvSpPr/>
          <p:nvPr/>
        </p:nvSpPr>
        <p:spPr>
          <a:xfrm>
            <a:off x="672655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03687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2655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7" name="Rectangle 96"/>
          <p:cNvSpPr/>
          <p:nvPr/>
        </p:nvSpPr>
        <p:spPr>
          <a:xfrm>
            <a:off x="774954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05986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74954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0" name="Rectangle 99"/>
          <p:cNvSpPr/>
          <p:nvPr/>
        </p:nvSpPr>
        <p:spPr>
          <a:xfrm>
            <a:off x="877252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082849" y="330212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77252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03" name="Rectangle 102"/>
          <p:cNvSpPr/>
          <p:nvPr/>
        </p:nvSpPr>
        <p:spPr>
          <a:xfrm>
            <a:off x="979551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10583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79551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6" name="Rectangle 105"/>
          <p:cNvSpPr/>
          <p:nvPr/>
        </p:nvSpPr>
        <p:spPr>
          <a:xfrm>
            <a:off x="1081849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112881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81849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9" name="Rectangle 108"/>
          <p:cNvSpPr/>
          <p:nvPr/>
        </p:nvSpPr>
        <p:spPr>
          <a:xfrm>
            <a:off x="365760" y="378332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02920" y="387476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Architecture review (NFRs · vendor · deps)</a:t>
            </a:r>
          </a:p>
        </p:txBody>
      </p:sp>
      <p:sp>
        <p:nvSpPr>
          <p:cNvPr id="111" name="Rectangle 110"/>
          <p:cNvSpPr/>
          <p:nvPr/>
        </p:nvSpPr>
        <p:spPr>
          <a:xfrm>
            <a:off x="365760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96792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65760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14" name="Rectangle 113"/>
          <p:cNvSpPr/>
          <p:nvPr/>
        </p:nvSpPr>
        <p:spPr>
          <a:xfrm>
            <a:off x="468058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99090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68058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17" name="Rectangle 116"/>
          <p:cNvSpPr/>
          <p:nvPr/>
        </p:nvSpPr>
        <p:spPr>
          <a:xfrm>
            <a:off x="570357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601389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70357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0" name="Rectangle 119"/>
          <p:cNvSpPr/>
          <p:nvPr/>
        </p:nvSpPr>
        <p:spPr>
          <a:xfrm>
            <a:off x="672655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03687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72655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3" name="Rectangle 122"/>
          <p:cNvSpPr/>
          <p:nvPr/>
        </p:nvSpPr>
        <p:spPr>
          <a:xfrm>
            <a:off x="774954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05986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74954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6" name="Rectangle 125"/>
          <p:cNvSpPr/>
          <p:nvPr/>
        </p:nvSpPr>
        <p:spPr>
          <a:xfrm>
            <a:off x="877252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908284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77252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29" name="Rectangle 128"/>
          <p:cNvSpPr/>
          <p:nvPr/>
        </p:nvSpPr>
        <p:spPr>
          <a:xfrm>
            <a:off x="979551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105834" y="386219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9551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132" name="Rectangle 131"/>
          <p:cNvSpPr/>
          <p:nvPr/>
        </p:nvSpPr>
        <p:spPr>
          <a:xfrm>
            <a:off x="1081849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112881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81849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35" name="Rectangle 134"/>
          <p:cNvSpPr/>
          <p:nvPr/>
        </p:nvSpPr>
        <p:spPr>
          <a:xfrm>
            <a:off x="365760" y="434339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502920" y="443483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Capacity allocation (% per CoS lane)</a:t>
            </a:r>
          </a:p>
        </p:txBody>
      </p:sp>
      <p:sp>
        <p:nvSpPr>
          <p:cNvPr id="137" name="Rectangle 136"/>
          <p:cNvSpPr/>
          <p:nvPr/>
        </p:nvSpPr>
        <p:spPr>
          <a:xfrm>
            <a:off x="365760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96792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65760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40" name="Rectangle 139"/>
          <p:cNvSpPr/>
          <p:nvPr/>
        </p:nvSpPr>
        <p:spPr>
          <a:xfrm>
            <a:off x="468058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90909" y="442226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68058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43" name="Rectangle 142"/>
          <p:cNvSpPr/>
          <p:nvPr/>
        </p:nvSpPr>
        <p:spPr>
          <a:xfrm>
            <a:off x="570357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013894"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70357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46" name="Rectangle 145"/>
          <p:cNvSpPr/>
          <p:nvPr/>
        </p:nvSpPr>
        <p:spPr>
          <a:xfrm>
            <a:off x="672655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7036879"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72655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49" name="Rectangle 148"/>
          <p:cNvSpPr/>
          <p:nvPr/>
        </p:nvSpPr>
        <p:spPr>
          <a:xfrm>
            <a:off x="774954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059864" y="442226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74954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52" name="Rectangle 151"/>
          <p:cNvSpPr/>
          <p:nvPr/>
        </p:nvSpPr>
        <p:spPr>
          <a:xfrm>
            <a:off x="877252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908284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77252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55" name="Rectangle 154"/>
          <p:cNvSpPr/>
          <p:nvPr/>
        </p:nvSpPr>
        <p:spPr>
          <a:xfrm>
            <a:off x="979551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010583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79551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58" name="Rectangle 157"/>
          <p:cNvSpPr/>
          <p:nvPr/>
        </p:nvSpPr>
        <p:spPr>
          <a:xfrm>
            <a:off x="1081849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1112881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81849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1" name="Rectangle 160"/>
          <p:cNvSpPr/>
          <p:nvPr/>
        </p:nvSpPr>
        <p:spPr>
          <a:xfrm>
            <a:off x="365760" y="490346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02920" y="499490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Roadmap rolling-wave maintenance</a:t>
            </a:r>
          </a:p>
        </p:txBody>
      </p:sp>
      <p:sp>
        <p:nvSpPr>
          <p:cNvPr id="163" name="Rectangle 162"/>
          <p:cNvSpPr/>
          <p:nvPr/>
        </p:nvSpPr>
        <p:spPr>
          <a:xfrm>
            <a:off x="365760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96792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365760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6" name="Rectangle 165"/>
          <p:cNvSpPr/>
          <p:nvPr/>
        </p:nvSpPr>
        <p:spPr>
          <a:xfrm>
            <a:off x="468058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990909" y="498233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68058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69" name="Rectangle 168"/>
          <p:cNvSpPr/>
          <p:nvPr/>
        </p:nvSpPr>
        <p:spPr>
          <a:xfrm>
            <a:off x="570357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1389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70357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2" name="Rectangle 171"/>
          <p:cNvSpPr/>
          <p:nvPr/>
        </p:nvSpPr>
        <p:spPr>
          <a:xfrm>
            <a:off x="672655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7036879"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72655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5" name="Rectangle 174"/>
          <p:cNvSpPr/>
          <p:nvPr/>
        </p:nvSpPr>
        <p:spPr>
          <a:xfrm>
            <a:off x="774954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805986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774954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78" name="Rectangle 177"/>
          <p:cNvSpPr/>
          <p:nvPr/>
        </p:nvSpPr>
        <p:spPr>
          <a:xfrm>
            <a:off x="877252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9082849" y="498233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877252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81" name="Rectangle 180"/>
          <p:cNvSpPr/>
          <p:nvPr/>
        </p:nvSpPr>
        <p:spPr>
          <a:xfrm>
            <a:off x="979551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010583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79551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84" name="Rectangle 183"/>
          <p:cNvSpPr/>
          <p:nvPr/>
        </p:nvSpPr>
        <p:spPr>
          <a:xfrm>
            <a:off x="1081849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11128819"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081849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87" name="Rectangle 186"/>
          <p:cNvSpPr/>
          <p:nvPr/>
        </p:nvSpPr>
        <p:spPr>
          <a:xfrm>
            <a:off x="365760" y="546353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502920" y="555497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Defer / Reject decision</a:t>
            </a:r>
          </a:p>
        </p:txBody>
      </p:sp>
      <p:sp>
        <p:nvSpPr>
          <p:cNvPr id="189" name="Rectangle 188"/>
          <p:cNvSpPr/>
          <p:nvPr/>
        </p:nvSpPr>
        <p:spPr>
          <a:xfrm>
            <a:off x="365760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396792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365760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92" name="Rectangle 191"/>
          <p:cNvSpPr/>
          <p:nvPr/>
        </p:nvSpPr>
        <p:spPr>
          <a:xfrm>
            <a:off x="468058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99090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468058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95" name="Rectangle 194"/>
          <p:cNvSpPr/>
          <p:nvPr/>
        </p:nvSpPr>
        <p:spPr>
          <a:xfrm>
            <a:off x="570357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6013894"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570357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198" name="Rectangle 197"/>
          <p:cNvSpPr/>
          <p:nvPr/>
        </p:nvSpPr>
        <p:spPr>
          <a:xfrm>
            <a:off x="672655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36879"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72655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01" name="Rectangle 200"/>
          <p:cNvSpPr/>
          <p:nvPr/>
        </p:nvSpPr>
        <p:spPr>
          <a:xfrm>
            <a:off x="774954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805986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74954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04" name="Rectangle 203"/>
          <p:cNvSpPr/>
          <p:nvPr/>
        </p:nvSpPr>
        <p:spPr>
          <a:xfrm>
            <a:off x="877252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908284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877252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07" name="Rectangle 206"/>
          <p:cNvSpPr/>
          <p:nvPr/>
        </p:nvSpPr>
        <p:spPr>
          <a:xfrm>
            <a:off x="979551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10105834"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979551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10" name="Rectangle 209"/>
          <p:cNvSpPr/>
          <p:nvPr/>
        </p:nvSpPr>
        <p:spPr>
          <a:xfrm>
            <a:off x="1081849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11128819"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81849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13" name="Rectangle 212"/>
          <p:cNvSpPr/>
          <p:nvPr/>
        </p:nvSpPr>
        <p:spPr>
          <a:xfrm>
            <a:off x="365760" y="602360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502920" y="611504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DoR check + handoff to Squad</a:t>
            </a:r>
          </a:p>
        </p:txBody>
      </p:sp>
      <p:sp>
        <p:nvSpPr>
          <p:cNvPr id="215" name="Rectangle 214"/>
          <p:cNvSpPr/>
          <p:nvPr/>
        </p:nvSpPr>
        <p:spPr>
          <a:xfrm>
            <a:off x="365760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396792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365760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18" name="Rectangle 217"/>
          <p:cNvSpPr/>
          <p:nvPr/>
        </p:nvSpPr>
        <p:spPr>
          <a:xfrm>
            <a:off x="468058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499090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468058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1" name="Rectangle 220"/>
          <p:cNvSpPr/>
          <p:nvPr/>
        </p:nvSpPr>
        <p:spPr>
          <a:xfrm>
            <a:off x="570357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601389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570357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4" name="Rectangle 223"/>
          <p:cNvSpPr/>
          <p:nvPr/>
        </p:nvSpPr>
        <p:spPr>
          <a:xfrm>
            <a:off x="672655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703687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672655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7" name="Rectangle 226"/>
          <p:cNvSpPr/>
          <p:nvPr/>
        </p:nvSpPr>
        <p:spPr>
          <a:xfrm>
            <a:off x="774954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05986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774954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30" name="Rectangle 229"/>
          <p:cNvSpPr/>
          <p:nvPr/>
        </p:nvSpPr>
        <p:spPr>
          <a:xfrm>
            <a:off x="877252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9082849"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877252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33" name="Rectangle 232"/>
          <p:cNvSpPr/>
          <p:nvPr/>
        </p:nvSpPr>
        <p:spPr>
          <a:xfrm>
            <a:off x="979551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10105834"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79551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36" name="Rectangle 235"/>
          <p:cNvSpPr/>
          <p:nvPr/>
        </p:nvSpPr>
        <p:spPr>
          <a:xfrm>
            <a:off x="1081849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11128819" y="610247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1081849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39" name="TextBox 238"/>
          <p:cNvSpPr txBox="1"/>
          <p:nvPr/>
        </p:nvSpPr>
        <p:spPr>
          <a:xfrm>
            <a:off x="365760" y="6446520"/>
            <a:ext cx="1371600" cy="164592"/>
          </a:xfrm>
          <a:prstGeom prst="rect">
            <a:avLst/>
          </a:prstGeom>
          <a:noFill/>
        </p:spPr>
        <p:txBody>
          <a:bodyPr wrap="square" lIns="36000" rIns="36000" tIns="18000" bIns="18000" anchor="t">
            <a:spAutoFit/>
          </a:bodyPr>
          <a:lstStyle/>
          <a:p>
            <a:pPr algn="l"/>
            <a:r>
              <a:rPr sz="800" b="1" i="0">
                <a:solidFill>
                  <a:srgbClr val="6B778C"/>
                </a:solidFill>
                <a:latin typeface="Arial"/>
              </a:rPr>
              <a:t>RACI</a:t>
            </a:r>
          </a:p>
        </p:txBody>
      </p:sp>
      <p:sp>
        <p:nvSpPr>
          <p:cNvPr id="240" name="Oval 239"/>
          <p:cNvSpPr/>
          <p:nvPr/>
        </p:nvSpPr>
        <p:spPr>
          <a:xfrm>
            <a:off x="1645920" y="6464807"/>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184708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R · Responsible</a:t>
            </a:r>
          </a:p>
        </p:txBody>
      </p:sp>
      <p:sp>
        <p:nvSpPr>
          <p:cNvPr id="242" name="Oval 241"/>
          <p:cNvSpPr/>
          <p:nvPr/>
        </p:nvSpPr>
        <p:spPr>
          <a:xfrm>
            <a:off x="3840480" y="6464807"/>
            <a:ext cx="146304" cy="146304"/>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404164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A · Accountable</a:t>
            </a:r>
          </a:p>
        </p:txBody>
      </p:sp>
      <p:sp>
        <p:nvSpPr>
          <p:cNvPr id="244" name="Oval 243"/>
          <p:cNvSpPr/>
          <p:nvPr/>
        </p:nvSpPr>
        <p:spPr>
          <a:xfrm>
            <a:off x="6035040" y="6464807"/>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6236207"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C · Consulted</a:t>
            </a:r>
          </a:p>
        </p:txBody>
      </p:sp>
      <p:sp>
        <p:nvSpPr>
          <p:cNvPr id="246" name="Oval 245"/>
          <p:cNvSpPr/>
          <p:nvPr/>
        </p:nvSpPr>
        <p:spPr>
          <a:xfrm>
            <a:off x="8229600" y="6464807"/>
            <a:ext cx="146304" cy="146304"/>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843076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I · Informed</a:t>
            </a:r>
          </a:p>
        </p:txBody>
      </p:sp>
      <p:sp>
        <p:nvSpPr>
          <p:cNvPr id="248" name="TextBox 24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249" name="TextBox 24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14 / 27</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Four tool families · live dashboards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Backlog · Roadmap · Estimation · Reporting — Heather + VP Vitor see real-time status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273177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01  ·  BACKLOG + PORTFOLIO</a:t>
            </a:r>
          </a:p>
        </p:txBody>
      </p:sp>
      <p:sp>
        <p:nvSpPr>
          <p:cNvPr id="8" name="TextBox 7"/>
          <p:cNvSpPr txBox="1"/>
          <p:nvPr/>
        </p:nvSpPr>
        <p:spPr>
          <a:xfrm>
            <a:off x="5029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Single source of truth for demand state</a:t>
            </a:r>
          </a:p>
        </p:txBody>
      </p:sp>
      <p:sp>
        <p:nvSpPr>
          <p:cNvPr id="9" name="TextBox 8"/>
          <p:cNvSpPr txBox="1"/>
          <p:nvPr/>
        </p:nvSpPr>
        <p:spPr>
          <a:xfrm>
            <a:off x="502920" y="2240280"/>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WHAT IT DOES</a:t>
            </a:r>
          </a:p>
        </p:txBody>
      </p:sp>
      <p:sp>
        <p:nvSpPr>
          <p:cNvPr id="10" name="TextBox 9"/>
          <p:cNvSpPr txBox="1"/>
          <p:nvPr/>
        </p:nvSpPr>
        <p:spPr>
          <a:xfrm>
            <a:off x="5029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Portfolio Board · Backlog ranking · status workflow · audit log</a:t>
            </a:r>
          </a:p>
        </p:txBody>
      </p:sp>
      <p:sp>
        <p:nvSpPr>
          <p:cNvPr id="11" name="TextBox 10"/>
          <p:cNvSpPr txBox="1"/>
          <p:nvPr/>
        </p:nvSpPr>
        <p:spPr>
          <a:xfrm>
            <a:off x="502920" y="2843784"/>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CADENCE</a:t>
            </a:r>
          </a:p>
        </p:txBody>
      </p:sp>
      <p:sp>
        <p:nvSpPr>
          <p:cNvPr id="12" name="TextBox 11"/>
          <p:cNvSpPr txBox="1"/>
          <p:nvPr/>
        </p:nvSpPr>
        <p:spPr>
          <a:xfrm>
            <a:off x="5029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a:t>
            </a:r>
          </a:p>
        </p:txBody>
      </p:sp>
      <p:sp>
        <p:nvSpPr>
          <p:cNvPr id="13" name="TextBox 12"/>
          <p:cNvSpPr txBox="1"/>
          <p:nvPr/>
        </p:nvSpPr>
        <p:spPr>
          <a:xfrm>
            <a:off x="502920" y="3447288"/>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AUDIENCE</a:t>
            </a:r>
          </a:p>
        </p:txBody>
      </p:sp>
      <p:sp>
        <p:nvSpPr>
          <p:cNvPr id="14" name="TextBox 13"/>
          <p:cNvSpPr txBox="1"/>
          <p:nvPr/>
        </p:nvSpPr>
        <p:spPr>
          <a:xfrm>
            <a:off x="5029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(per VS) · Director · VP Vitor</a:t>
            </a:r>
          </a:p>
        </p:txBody>
      </p:sp>
      <p:sp>
        <p:nvSpPr>
          <p:cNvPr id="15" name="TextBox 14"/>
          <p:cNvSpPr txBox="1"/>
          <p:nvPr/>
        </p:nvSpPr>
        <p:spPr>
          <a:xfrm>
            <a:off x="502920" y="4050792"/>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KEY VIEW</a:t>
            </a:r>
          </a:p>
        </p:txBody>
      </p:sp>
      <p:sp>
        <p:nvSpPr>
          <p:cNvPr id="16" name="TextBox 15"/>
          <p:cNvSpPr txBox="1"/>
          <p:nvPr/>
        </p:nvSpPr>
        <p:spPr>
          <a:xfrm>
            <a:off x="5029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Cross-VS Backlog ranked by Pain Score + CoS</a:t>
            </a:r>
          </a:p>
        </p:txBody>
      </p:sp>
      <p:sp>
        <p:nvSpPr>
          <p:cNvPr id="17" name="TextBox 16"/>
          <p:cNvSpPr txBox="1"/>
          <p:nvPr/>
        </p:nvSpPr>
        <p:spPr>
          <a:xfrm>
            <a:off x="502920" y="4654296"/>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INTEGRATION</a:t>
            </a:r>
          </a:p>
        </p:txBody>
      </p:sp>
      <p:sp>
        <p:nvSpPr>
          <p:cNvPr id="18" name="TextBox 17"/>
          <p:cNvSpPr txBox="1"/>
          <p:nvPr/>
        </p:nvSpPr>
        <p:spPr>
          <a:xfrm>
            <a:off x="5029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Feeds Roadmap + Capacity + Reporting tools</a:t>
            </a:r>
          </a:p>
        </p:txBody>
      </p:sp>
      <p:sp>
        <p:nvSpPr>
          <p:cNvPr id="19" name="Rounded Rectangle 18"/>
          <p:cNvSpPr/>
          <p:nvPr/>
        </p:nvSpPr>
        <p:spPr>
          <a:xfrm>
            <a:off x="32804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80410" y="1508760"/>
            <a:ext cx="2731770"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175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02  ·  ROADMAP + PLANNING</a:t>
            </a:r>
          </a:p>
        </p:txBody>
      </p:sp>
      <p:sp>
        <p:nvSpPr>
          <p:cNvPr id="22" name="TextBox 21"/>
          <p:cNvSpPr txBox="1"/>
          <p:nvPr/>
        </p:nvSpPr>
        <p:spPr>
          <a:xfrm>
            <a:off x="34175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Rolling-wave timeline · per VS</a:t>
            </a:r>
          </a:p>
        </p:txBody>
      </p:sp>
      <p:sp>
        <p:nvSpPr>
          <p:cNvPr id="23" name="TextBox 22"/>
          <p:cNvSpPr txBox="1"/>
          <p:nvPr/>
        </p:nvSpPr>
        <p:spPr>
          <a:xfrm>
            <a:off x="3417570" y="2240280"/>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WHAT IT DOES</a:t>
            </a:r>
          </a:p>
        </p:txBody>
      </p:sp>
      <p:sp>
        <p:nvSpPr>
          <p:cNvPr id="24" name="TextBox 23"/>
          <p:cNvSpPr txBox="1"/>
          <p:nvPr/>
        </p:nvSpPr>
        <p:spPr>
          <a:xfrm>
            <a:off x="34175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Timeline view · 3·6·12 mo bands · committed vs hypothesized</a:t>
            </a:r>
          </a:p>
        </p:txBody>
      </p:sp>
      <p:sp>
        <p:nvSpPr>
          <p:cNvPr id="25" name="TextBox 24"/>
          <p:cNvSpPr txBox="1"/>
          <p:nvPr/>
        </p:nvSpPr>
        <p:spPr>
          <a:xfrm>
            <a:off x="3417570" y="2843784"/>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CADENCE</a:t>
            </a:r>
          </a:p>
        </p:txBody>
      </p:sp>
      <p:sp>
        <p:nvSpPr>
          <p:cNvPr id="26" name="TextBox 25"/>
          <p:cNvSpPr txBox="1"/>
          <p:nvPr/>
        </p:nvSpPr>
        <p:spPr>
          <a:xfrm>
            <a:off x="34175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Updated weekly · re-balanced monthly @ Gate 2</a:t>
            </a:r>
          </a:p>
        </p:txBody>
      </p:sp>
      <p:sp>
        <p:nvSpPr>
          <p:cNvPr id="27" name="TextBox 26"/>
          <p:cNvSpPr txBox="1"/>
          <p:nvPr/>
        </p:nvSpPr>
        <p:spPr>
          <a:xfrm>
            <a:off x="3417570" y="3447288"/>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AUDIENCE</a:t>
            </a:r>
          </a:p>
        </p:txBody>
      </p:sp>
      <p:sp>
        <p:nvSpPr>
          <p:cNvPr id="28" name="TextBox 27"/>
          <p:cNvSpPr txBox="1"/>
          <p:nvPr/>
        </p:nvSpPr>
        <p:spPr>
          <a:xfrm>
            <a:off x="34175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Director · VP Vitor · BRS counterparts</a:t>
            </a:r>
          </a:p>
        </p:txBody>
      </p:sp>
      <p:sp>
        <p:nvSpPr>
          <p:cNvPr id="29" name="TextBox 28"/>
          <p:cNvSpPr txBox="1"/>
          <p:nvPr/>
        </p:nvSpPr>
        <p:spPr>
          <a:xfrm>
            <a:off x="3417570" y="4050792"/>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KEY VIEW</a:t>
            </a:r>
          </a:p>
        </p:txBody>
      </p:sp>
      <p:sp>
        <p:nvSpPr>
          <p:cNvPr id="30" name="TextBox 29"/>
          <p:cNvSpPr txBox="1"/>
          <p:nvPr/>
        </p:nvSpPr>
        <p:spPr>
          <a:xfrm>
            <a:off x="34175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Per-VS timeline + cross-VS dependencies overlay</a:t>
            </a:r>
          </a:p>
        </p:txBody>
      </p:sp>
      <p:sp>
        <p:nvSpPr>
          <p:cNvPr id="31" name="TextBox 30"/>
          <p:cNvSpPr txBox="1"/>
          <p:nvPr/>
        </p:nvSpPr>
        <p:spPr>
          <a:xfrm>
            <a:off x="3417570" y="4654296"/>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INTEGRATION</a:t>
            </a:r>
          </a:p>
        </p:txBody>
      </p:sp>
      <p:sp>
        <p:nvSpPr>
          <p:cNvPr id="32" name="TextBox 31"/>
          <p:cNvSpPr txBox="1"/>
          <p:nvPr/>
        </p:nvSpPr>
        <p:spPr>
          <a:xfrm>
            <a:off x="34175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Reads from Backlog · feeds capacity reservations</a:t>
            </a:r>
          </a:p>
        </p:txBody>
      </p:sp>
      <p:sp>
        <p:nvSpPr>
          <p:cNvPr id="33" name="Rounded Rectangle 32"/>
          <p:cNvSpPr/>
          <p:nvPr/>
        </p:nvSpPr>
        <p:spPr>
          <a:xfrm>
            <a:off x="61950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95060" y="1508760"/>
            <a:ext cx="273177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322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03  ·  ESTIMATION + CAPACITY</a:t>
            </a:r>
          </a:p>
        </p:txBody>
      </p:sp>
      <p:sp>
        <p:nvSpPr>
          <p:cNvPr id="36" name="TextBox 35"/>
          <p:cNvSpPr txBox="1"/>
          <p:nvPr/>
        </p:nvSpPr>
        <p:spPr>
          <a:xfrm>
            <a:off x="63322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Pain Score · Effort · CoS lane utilization</a:t>
            </a:r>
          </a:p>
        </p:txBody>
      </p:sp>
      <p:sp>
        <p:nvSpPr>
          <p:cNvPr id="37" name="TextBox 36"/>
          <p:cNvSpPr txBox="1"/>
          <p:nvPr/>
        </p:nvSpPr>
        <p:spPr>
          <a:xfrm>
            <a:off x="6332220" y="2240280"/>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WHAT IT DOES</a:t>
            </a:r>
          </a:p>
        </p:txBody>
      </p:sp>
      <p:sp>
        <p:nvSpPr>
          <p:cNvPr id="38" name="TextBox 37"/>
          <p:cNvSpPr txBox="1"/>
          <p:nvPr/>
        </p:nvSpPr>
        <p:spPr>
          <a:xfrm>
            <a:off x="63322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Score panel · capacity matrix · WIP tracker · forecasting</a:t>
            </a:r>
          </a:p>
        </p:txBody>
      </p:sp>
      <p:sp>
        <p:nvSpPr>
          <p:cNvPr id="39" name="TextBox 38"/>
          <p:cNvSpPr txBox="1"/>
          <p:nvPr/>
        </p:nvSpPr>
        <p:spPr>
          <a:xfrm>
            <a:off x="6332220" y="2843784"/>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0" name="TextBox 39"/>
          <p:cNvSpPr txBox="1"/>
          <p:nvPr/>
        </p:nvSpPr>
        <p:spPr>
          <a:xfrm>
            <a:off x="63322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on score · monthly on capacity %</a:t>
            </a:r>
          </a:p>
        </p:txBody>
      </p:sp>
      <p:sp>
        <p:nvSpPr>
          <p:cNvPr id="41" name="TextBox 40"/>
          <p:cNvSpPr txBox="1"/>
          <p:nvPr/>
        </p:nvSpPr>
        <p:spPr>
          <a:xfrm>
            <a:off x="6332220" y="3447288"/>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AUDIENCE</a:t>
            </a:r>
          </a:p>
        </p:txBody>
      </p:sp>
      <p:sp>
        <p:nvSpPr>
          <p:cNvPr id="42" name="TextBox 41"/>
          <p:cNvSpPr txBox="1"/>
          <p:nvPr/>
        </p:nvSpPr>
        <p:spPr>
          <a:xfrm>
            <a:off x="63322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 Architect · Squad PM · Middle managers</a:t>
            </a:r>
          </a:p>
        </p:txBody>
      </p:sp>
      <p:sp>
        <p:nvSpPr>
          <p:cNvPr id="43" name="TextBox 42"/>
          <p:cNvSpPr txBox="1"/>
          <p:nvPr/>
        </p:nvSpPr>
        <p:spPr>
          <a:xfrm>
            <a:off x="6332220" y="4050792"/>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KEY VIEW</a:t>
            </a:r>
          </a:p>
        </p:txBody>
      </p:sp>
      <p:sp>
        <p:nvSpPr>
          <p:cNvPr id="44" name="TextBox 43"/>
          <p:cNvSpPr txBox="1"/>
          <p:nvPr/>
        </p:nvSpPr>
        <p:spPr>
          <a:xfrm>
            <a:off x="63322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Squad × CoS lane utilization · capacity forecast Q+1</a:t>
            </a:r>
          </a:p>
        </p:txBody>
      </p:sp>
      <p:sp>
        <p:nvSpPr>
          <p:cNvPr id="45" name="TextBox 44"/>
          <p:cNvSpPr txBox="1"/>
          <p:nvPr/>
        </p:nvSpPr>
        <p:spPr>
          <a:xfrm>
            <a:off x="6332220" y="4654296"/>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INTEGRATION</a:t>
            </a:r>
          </a:p>
        </p:txBody>
      </p:sp>
      <p:sp>
        <p:nvSpPr>
          <p:cNvPr id="46" name="TextBox 45"/>
          <p:cNvSpPr txBox="1"/>
          <p:nvPr/>
        </p:nvSpPr>
        <p:spPr>
          <a:xfrm>
            <a:off x="63322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Pain Score auto-computed · feeds Reporting</a:t>
            </a:r>
          </a:p>
        </p:txBody>
      </p:sp>
      <p:sp>
        <p:nvSpPr>
          <p:cNvPr id="47" name="Rounded Rectangle 46"/>
          <p:cNvSpPr/>
          <p:nvPr/>
        </p:nvSpPr>
        <p:spPr>
          <a:xfrm>
            <a:off x="91097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09710" y="1508760"/>
            <a:ext cx="2731770"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468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04  ·  REPORTING + DASHBOARDS</a:t>
            </a:r>
          </a:p>
        </p:txBody>
      </p:sp>
      <p:sp>
        <p:nvSpPr>
          <p:cNvPr id="50" name="TextBox 49"/>
          <p:cNvSpPr txBox="1"/>
          <p:nvPr/>
        </p:nvSpPr>
        <p:spPr>
          <a:xfrm>
            <a:off x="92468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Heather + Vitor real-time view</a:t>
            </a:r>
          </a:p>
        </p:txBody>
      </p:sp>
      <p:sp>
        <p:nvSpPr>
          <p:cNvPr id="51" name="TextBox 50"/>
          <p:cNvSpPr txBox="1"/>
          <p:nvPr/>
        </p:nvSpPr>
        <p:spPr>
          <a:xfrm>
            <a:off x="9246870" y="2240280"/>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WHAT IT DOES</a:t>
            </a:r>
          </a:p>
        </p:txBody>
      </p:sp>
      <p:sp>
        <p:nvSpPr>
          <p:cNvPr id="52" name="TextBox 51"/>
          <p:cNvSpPr txBox="1"/>
          <p:nvPr/>
        </p:nvSpPr>
        <p:spPr>
          <a:xfrm>
            <a:off x="92468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7 metrics · trend charts · variance commentary · exceptions</a:t>
            </a:r>
          </a:p>
        </p:txBody>
      </p:sp>
      <p:sp>
        <p:nvSpPr>
          <p:cNvPr id="53" name="TextBox 52"/>
          <p:cNvSpPr txBox="1"/>
          <p:nvPr/>
        </p:nvSpPr>
        <p:spPr>
          <a:xfrm>
            <a:off x="9246870" y="2843784"/>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CADENCE</a:t>
            </a:r>
          </a:p>
        </p:txBody>
      </p:sp>
      <p:sp>
        <p:nvSpPr>
          <p:cNvPr id="54" name="TextBox 53"/>
          <p:cNvSpPr txBox="1"/>
          <p:nvPr/>
        </p:nvSpPr>
        <p:spPr>
          <a:xfrm>
            <a:off x="92468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 monthly review at Gate 2</a:t>
            </a:r>
          </a:p>
        </p:txBody>
      </p:sp>
      <p:sp>
        <p:nvSpPr>
          <p:cNvPr id="55" name="TextBox 54"/>
          <p:cNvSpPr txBox="1"/>
          <p:nvPr/>
        </p:nvSpPr>
        <p:spPr>
          <a:xfrm>
            <a:off x="9246870" y="3447288"/>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AUDIENCE</a:t>
            </a:r>
          </a:p>
        </p:txBody>
      </p:sp>
      <p:sp>
        <p:nvSpPr>
          <p:cNvPr id="56" name="TextBox 55"/>
          <p:cNvSpPr txBox="1"/>
          <p:nvPr/>
        </p:nvSpPr>
        <p:spPr>
          <a:xfrm>
            <a:off x="92468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VP Vitor · Heather · Directors · BRS</a:t>
            </a:r>
          </a:p>
        </p:txBody>
      </p:sp>
      <p:sp>
        <p:nvSpPr>
          <p:cNvPr id="57" name="TextBox 56"/>
          <p:cNvSpPr txBox="1"/>
          <p:nvPr/>
        </p:nvSpPr>
        <p:spPr>
          <a:xfrm>
            <a:off x="9246870" y="4050792"/>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KEY VIEW</a:t>
            </a:r>
          </a:p>
        </p:txBody>
      </p:sp>
      <p:sp>
        <p:nvSpPr>
          <p:cNvPr id="58" name="TextBox 57"/>
          <p:cNvSpPr txBox="1"/>
          <p:nvPr/>
        </p:nvSpPr>
        <p:spPr>
          <a:xfrm>
            <a:off x="92468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Demand × capacity · cycle time · planning predictability</a:t>
            </a:r>
          </a:p>
        </p:txBody>
      </p:sp>
      <p:sp>
        <p:nvSpPr>
          <p:cNvPr id="59" name="TextBox 58"/>
          <p:cNvSpPr txBox="1"/>
          <p:nvPr/>
        </p:nvSpPr>
        <p:spPr>
          <a:xfrm>
            <a:off x="9246870" y="4654296"/>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INTEGRATION</a:t>
            </a:r>
          </a:p>
        </p:txBody>
      </p:sp>
      <p:sp>
        <p:nvSpPr>
          <p:cNvPr id="60" name="TextBox 59"/>
          <p:cNvSpPr txBox="1"/>
          <p:nvPr/>
        </p:nvSpPr>
        <p:spPr>
          <a:xfrm>
            <a:off x="92468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Aggregates from Backlog + Roadmap + Capacity tools</a:t>
            </a:r>
          </a:p>
        </p:txBody>
      </p:sp>
      <p:sp>
        <p:nvSpPr>
          <p:cNvPr id="61" name="Rounded Rectangle 60"/>
          <p:cNvSpPr/>
          <p:nvPr/>
        </p:nvSpPr>
        <p:spPr>
          <a:xfrm>
            <a:off x="365760" y="5257800"/>
            <a:ext cx="11475720" cy="10515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65760" y="5257800"/>
            <a:ext cx="91440" cy="1051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5312664"/>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EXECUTIVE DASHBOARD  ·  Heather + VP Vitor  ·  always live</a:t>
            </a:r>
          </a:p>
        </p:txBody>
      </p:sp>
      <p:sp>
        <p:nvSpPr>
          <p:cNvPr id="64" name="Rounded Rectangle 63"/>
          <p:cNvSpPr/>
          <p:nvPr/>
        </p:nvSpPr>
        <p:spPr>
          <a:xfrm>
            <a:off x="50292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2920" y="5550408"/>
            <a:ext cx="54864" cy="6858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2648" y="5586984"/>
            <a:ext cx="2548889" cy="182880"/>
          </a:xfrm>
          <a:prstGeom prst="rect">
            <a:avLst/>
          </a:prstGeom>
          <a:noFill/>
        </p:spPr>
        <p:txBody>
          <a:bodyPr wrap="square" lIns="36000" rIns="36000" tIns="18000" bIns="18000" anchor="t">
            <a:spAutoFit/>
          </a:bodyPr>
          <a:lstStyle/>
          <a:p>
            <a:pPr algn="l"/>
            <a:r>
              <a:rPr sz="850" b="1" i="0">
                <a:solidFill>
                  <a:srgbClr val="008C38"/>
                </a:solidFill>
                <a:latin typeface="Arial"/>
              </a:rPr>
              <a:t>BV THROUGHPUT</a:t>
            </a:r>
          </a:p>
        </p:txBody>
      </p:sp>
      <p:sp>
        <p:nvSpPr>
          <p:cNvPr id="67" name="TextBox 66"/>
          <p:cNvSpPr txBox="1"/>
          <p:nvPr/>
        </p:nvSpPr>
        <p:spPr>
          <a:xfrm>
            <a:off x="61264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delivered / quarter</a:t>
            </a:r>
          </a:p>
        </p:txBody>
      </p:sp>
      <p:sp>
        <p:nvSpPr>
          <p:cNvPr id="68" name="TextBox 67"/>
          <p:cNvSpPr txBox="1"/>
          <p:nvPr/>
        </p:nvSpPr>
        <p:spPr>
          <a:xfrm>
            <a:off x="612648" y="5971032"/>
            <a:ext cx="2548889" cy="201168"/>
          </a:xfrm>
          <a:prstGeom prst="rect">
            <a:avLst/>
          </a:prstGeom>
          <a:noFill/>
        </p:spPr>
        <p:txBody>
          <a:bodyPr wrap="square" lIns="36000" rIns="36000" tIns="18000" bIns="18000" anchor="t">
            <a:spAutoFit/>
          </a:bodyPr>
          <a:lstStyle/>
          <a:p>
            <a:pPr algn="l"/>
            <a:r>
              <a:rPr sz="1100" b="0" i="0">
                <a:solidFill>
                  <a:srgbClr val="008C38"/>
                </a:solidFill>
                <a:latin typeface="Arial"/>
              </a:rPr>
              <a:t>▎▎▎▎▎▎▎▎ ▏▏▏</a:t>
            </a:r>
          </a:p>
        </p:txBody>
      </p:sp>
      <p:sp>
        <p:nvSpPr>
          <p:cNvPr id="69" name="Rounded Rectangle 68"/>
          <p:cNvSpPr/>
          <p:nvPr/>
        </p:nvSpPr>
        <p:spPr>
          <a:xfrm>
            <a:off x="332613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326130" y="5550408"/>
            <a:ext cx="54864" cy="6858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35858" y="5586984"/>
            <a:ext cx="2548889" cy="182880"/>
          </a:xfrm>
          <a:prstGeom prst="rect">
            <a:avLst/>
          </a:prstGeom>
          <a:noFill/>
        </p:spPr>
        <p:txBody>
          <a:bodyPr wrap="square" lIns="36000" rIns="36000" tIns="18000" bIns="18000" anchor="t">
            <a:spAutoFit/>
          </a:bodyPr>
          <a:lstStyle/>
          <a:p>
            <a:pPr algn="l"/>
            <a:r>
              <a:rPr sz="850" b="1" i="0">
                <a:solidFill>
                  <a:srgbClr val="008950"/>
                </a:solidFill>
                <a:latin typeface="Arial"/>
              </a:rPr>
              <a:t>PAIN VELOCITY</a:t>
            </a:r>
          </a:p>
        </p:txBody>
      </p:sp>
      <p:sp>
        <p:nvSpPr>
          <p:cNvPr id="72" name="TextBox 71"/>
          <p:cNvSpPr txBox="1"/>
          <p:nvPr/>
        </p:nvSpPr>
        <p:spPr>
          <a:xfrm>
            <a:off x="343585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avg score completed</a:t>
            </a:r>
          </a:p>
        </p:txBody>
      </p:sp>
      <p:sp>
        <p:nvSpPr>
          <p:cNvPr id="73" name="TextBox 72"/>
          <p:cNvSpPr txBox="1"/>
          <p:nvPr/>
        </p:nvSpPr>
        <p:spPr>
          <a:xfrm>
            <a:off x="3435858" y="5971032"/>
            <a:ext cx="2548889" cy="201168"/>
          </a:xfrm>
          <a:prstGeom prst="rect">
            <a:avLst/>
          </a:prstGeom>
          <a:noFill/>
        </p:spPr>
        <p:txBody>
          <a:bodyPr wrap="square" lIns="36000" rIns="36000" tIns="18000" bIns="18000" anchor="t">
            <a:spAutoFit/>
          </a:bodyPr>
          <a:lstStyle/>
          <a:p>
            <a:pPr algn="l"/>
            <a:r>
              <a:rPr sz="1100" b="0" i="0">
                <a:solidFill>
                  <a:srgbClr val="008950"/>
                </a:solidFill>
                <a:latin typeface="Arial"/>
              </a:rPr>
              <a:t>▎▎▎▎▎▎▎▎ ▏▏▏</a:t>
            </a:r>
          </a:p>
        </p:txBody>
      </p:sp>
      <p:sp>
        <p:nvSpPr>
          <p:cNvPr id="74" name="Rounded Rectangle 73"/>
          <p:cNvSpPr/>
          <p:nvPr/>
        </p:nvSpPr>
        <p:spPr>
          <a:xfrm>
            <a:off x="614934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149340" y="5550408"/>
            <a:ext cx="54864" cy="6858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59068" y="5586984"/>
            <a:ext cx="2548889" cy="182880"/>
          </a:xfrm>
          <a:prstGeom prst="rect">
            <a:avLst/>
          </a:prstGeom>
          <a:noFill/>
        </p:spPr>
        <p:txBody>
          <a:bodyPr wrap="square" lIns="36000" rIns="36000" tIns="18000" bIns="18000" anchor="t">
            <a:spAutoFit/>
          </a:bodyPr>
          <a:lstStyle/>
          <a:p>
            <a:pPr algn="l"/>
            <a:r>
              <a:rPr sz="850" b="1" i="0">
                <a:solidFill>
                  <a:srgbClr val="2C578B"/>
                </a:solidFill>
                <a:latin typeface="Arial"/>
              </a:rPr>
              <a:t>CYCLE TIME</a:t>
            </a:r>
          </a:p>
        </p:txBody>
      </p:sp>
      <p:sp>
        <p:nvSpPr>
          <p:cNvPr id="77" name="TextBox 76"/>
          <p:cNvSpPr txBox="1"/>
          <p:nvPr/>
        </p:nvSpPr>
        <p:spPr>
          <a:xfrm>
            <a:off x="625906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intake → release</a:t>
            </a:r>
          </a:p>
        </p:txBody>
      </p:sp>
      <p:sp>
        <p:nvSpPr>
          <p:cNvPr id="78" name="TextBox 77"/>
          <p:cNvSpPr txBox="1"/>
          <p:nvPr/>
        </p:nvSpPr>
        <p:spPr>
          <a:xfrm>
            <a:off x="6259068" y="5971032"/>
            <a:ext cx="2548889" cy="201168"/>
          </a:xfrm>
          <a:prstGeom prst="rect">
            <a:avLst/>
          </a:prstGeom>
          <a:noFill/>
        </p:spPr>
        <p:txBody>
          <a:bodyPr wrap="square" lIns="36000" rIns="36000" tIns="18000" bIns="18000" anchor="t">
            <a:spAutoFit/>
          </a:bodyPr>
          <a:lstStyle/>
          <a:p>
            <a:pPr algn="l"/>
            <a:r>
              <a:rPr sz="1100" b="0" i="0">
                <a:solidFill>
                  <a:srgbClr val="2C578B"/>
                </a:solidFill>
                <a:latin typeface="Arial"/>
              </a:rPr>
              <a:t>▎▎▎▎▎▎▎▎ ▏▏▏</a:t>
            </a:r>
          </a:p>
        </p:txBody>
      </p:sp>
      <p:sp>
        <p:nvSpPr>
          <p:cNvPr id="79" name="Rounded Rectangle 78"/>
          <p:cNvSpPr/>
          <p:nvPr/>
        </p:nvSpPr>
        <p:spPr>
          <a:xfrm>
            <a:off x="897255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972550" y="5550408"/>
            <a:ext cx="54864" cy="6858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082278" y="5586984"/>
            <a:ext cx="2548889" cy="182880"/>
          </a:xfrm>
          <a:prstGeom prst="rect">
            <a:avLst/>
          </a:prstGeom>
          <a:noFill/>
        </p:spPr>
        <p:txBody>
          <a:bodyPr wrap="square" lIns="36000" rIns="36000" tIns="18000" bIns="18000" anchor="t">
            <a:spAutoFit/>
          </a:bodyPr>
          <a:lstStyle/>
          <a:p>
            <a:pPr algn="l"/>
            <a:r>
              <a:rPr sz="850" b="1" i="0">
                <a:solidFill>
                  <a:srgbClr val="1B3C66"/>
                </a:solidFill>
                <a:latin typeface="Arial"/>
              </a:rPr>
              <a:t>CoS ADHERENCE</a:t>
            </a:r>
          </a:p>
        </p:txBody>
      </p:sp>
      <p:sp>
        <p:nvSpPr>
          <p:cNvPr id="82" name="TextBox 81"/>
          <p:cNvSpPr txBox="1"/>
          <p:nvPr/>
        </p:nvSpPr>
        <p:spPr>
          <a:xfrm>
            <a:off x="908227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in correct lane</a:t>
            </a:r>
          </a:p>
        </p:txBody>
      </p:sp>
      <p:sp>
        <p:nvSpPr>
          <p:cNvPr id="83" name="TextBox 82"/>
          <p:cNvSpPr txBox="1"/>
          <p:nvPr/>
        </p:nvSpPr>
        <p:spPr>
          <a:xfrm>
            <a:off x="9082278" y="5971032"/>
            <a:ext cx="2548889" cy="201168"/>
          </a:xfrm>
          <a:prstGeom prst="rect">
            <a:avLst/>
          </a:prstGeom>
          <a:noFill/>
        </p:spPr>
        <p:txBody>
          <a:bodyPr wrap="square" lIns="36000" rIns="36000" tIns="18000" bIns="18000" anchor="t">
            <a:spAutoFit/>
          </a:bodyPr>
          <a:lstStyle/>
          <a:p>
            <a:pPr algn="l"/>
            <a:r>
              <a:rPr sz="1100" b="0" i="0">
                <a:solidFill>
                  <a:srgbClr val="1B3C66"/>
                </a:solidFill>
                <a:latin typeface="Arial"/>
              </a:rPr>
              <a:t>▎▎▎▎▎▎▎▎ ▏▏▏</a:t>
            </a:r>
          </a:p>
        </p:txBody>
      </p:sp>
      <p:sp>
        <p:nvSpPr>
          <p:cNvPr id="84" name="TextBox 8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5" name="TextBox 8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15 / 27</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Gate 2 · the only forum</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Monthly · 90 min · VP Vitor chairs · 3 Directors vote · audit-trail every decision</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6858000"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685800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GATE 2  ·  Portfolio Decision Forum</a:t>
            </a:r>
          </a:p>
        </p:txBody>
      </p:sp>
      <p:sp>
        <p:nvSpPr>
          <p:cNvPr id="8" name="Rounded Rectangle 7"/>
          <p:cNvSpPr/>
          <p:nvPr/>
        </p:nvSpPr>
        <p:spPr>
          <a:xfrm>
            <a:off x="1645919" y="2286000"/>
            <a:ext cx="4297680" cy="1737360"/>
          </a:xfrm>
          <a:prstGeom prst="roundRect">
            <a:avLst>
              <a:gd name="adj" fmla="val 50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19" y="3017520"/>
            <a:ext cx="4297680" cy="274320"/>
          </a:xfrm>
          <a:prstGeom prst="rect">
            <a:avLst/>
          </a:prstGeom>
          <a:noFill/>
        </p:spPr>
        <p:txBody>
          <a:bodyPr wrap="square" lIns="36000" rIns="36000" tIns="18000" bIns="18000" anchor="t">
            <a:spAutoFit/>
          </a:bodyPr>
          <a:lstStyle/>
          <a:p>
            <a:pPr algn="ctr"/>
            <a:r>
              <a:rPr sz="1100" b="1" i="0">
                <a:solidFill>
                  <a:srgbClr val="6B778C"/>
                </a:solidFill>
                <a:latin typeface="Arial"/>
              </a:rPr>
              <a:t>Gate 2 · monthly · 90 min</a:t>
            </a:r>
          </a:p>
        </p:txBody>
      </p:sp>
      <p:sp>
        <p:nvSpPr>
          <p:cNvPr id="10" name="Oval 9"/>
          <p:cNvSpPr/>
          <p:nvPr/>
        </p:nvSpPr>
        <p:spPr>
          <a:xfrm>
            <a:off x="3520440" y="1828800"/>
            <a:ext cx="502920" cy="502920"/>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82880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VV</a:t>
            </a:r>
          </a:p>
        </p:txBody>
      </p:sp>
      <p:sp>
        <p:nvSpPr>
          <p:cNvPr id="12" name="TextBox 11"/>
          <p:cNvSpPr txBox="1"/>
          <p:nvPr/>
        </p:nvSpPr>
        <p:spPr>
          <a:xfrm>
            <a:off x="3154680" y="233172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VP Vitor</a:t>
            </a:r>
          </a:p>
        </p:txBody>
      </p:sp>
      <p:sp>
        <p:nvSpPr>
          <p:cNvPr id="13" name="TextBox 12"/>
          <p:cNvSpPr txBox="1"/>
          <p:nvPr/>
        </p:nvSpPr>
        <p:spPr>
          <a:xfrm>
            <a:off x="3154680" y="247802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chairs</a:t>
            </a:r>
          </a:p>
        </p:txBody>
      </p:sp>
      <p:sp>
        <p:nvSpPr>
          <p:cNvPr id="14" name="Oval 13"/>
          <p:cNvSpPr/>
          <p:nvPr/>
        </p:nvSpPr>
        <p:spPr>
          <a:xfrm>
            <a:off x="1142999" y="246888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HK</a:t>
            </a:r>
          </a:p>
        </p:txBody>
      </p:sp>
      <p:sp>
        <p:nvSpPr>
          <p:cNvPr id="16" name="TextBox 15"/>
          <p:cNvSpPr txBox="1"/>
          <p:nvPr/>
        </p:nvSpPr>
        <p:spPr>
          <a:xfrm>
            <a:off x="77723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Heather</a:t>
            </a:r>
          </a:p>
        </p:txBody>
      </p:sp>
      <p:sp>
        <p:nvSpPr>
          <p:cNvPr id="17" name="TextBox 16"/>
          <p:cNvSpPr txBox="1"/>
          <p:nvPr/>
        </p:nvSpPr>
        <p:spPr>
          <a:xfrm>
            <a:off x="77723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Product</a:t>
            </a:r>
          </a:p>
        </p:txBody>
      </p:sp>
      <p:sp>
        <p:nvSpPr>
          <p:cNvPr id="18" name="Oval 17"/>
          <p:cNvSpPr/>
          <p:nvPr/>
        </p:nvSpPr>
        <p:spPr>
          <a:xfrm>
            <a:off x="1142999" y="329184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2999"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KJ</a:t>
            </a:r>
          </a:p>
        </p:txBody>
      </p:sp>
      <p:sp>
        <p:nvSpPr>
          <p:cNvPr id="20" name="TextBox 19"/>
          <p:cNvSpPr txBox="1"/>
          <p:nvPr/>
        </p:nvSpPr>
        <p:spPr>
          <a:xfrm>
            <a:off x="77723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Kumar</a:t>
            </a:r>
          </a:p>
        </p:txBody>
      </p:sp>
      <p:sp>
        <p:nvSpPr>
          <p:cNvPr id="21" name="TextBox 20"/>
          <p:cNvSpPr txBox="1"/>
          <p:nvPr/>
        </p:nvSpPr>
        <p:spPr>
          <a:xfrm>
            <a:off x="77723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CS</a:t>
            </a:r>
          </a:p>
        </p:txBody>
      </p:sp>
      <p:sp>
        <p:nvSpPr>
          <p:cNvPr id="22" name="Oval 21"/>
          <p:cNvSpPr/>
          <p:nvPr/>
        </p:nvSpPr>
        <p:spPr>
          <a:xfrm>
            <a:off x="5989320" y="2468880"/>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CG</a:t>
            </a:r>
          </a:p>
        </p:txBody>
      </p:sp>
      <p:sp>
        <p:nvSpPr>
          <p:cNvPr id="24" name="TextBox 23"/>
          <p:cNvSpPr txBox="1"/>
          <p:nvPr/>
        </p:nvSpPr>
        <p:spPr>
          <a:xfrm>
            <a:off x="562355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Carlos</a:t>
            </a:r>
          </a:p>
        </p:txBody>
      </p:sp>
      <p:sp>
        <p:nvSpPr>
          <p:cNvPr id="25" name="TextBox 24"/>
          <p:cNvSpPr txBox="1"/>
          <p:nvPr/>
        </p:nvSpPr>
        <p:spPr>
          <a:xfrm>
            <a:off x="562355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ITBA</a:t>
            </a:r>
          </a:p>
        </p:txBody>
      </p:sp>
      <p:sp>
        <p:nvSpPr>
          <p:cNvPr id="26" name="Oval 25"/>
          <p:cNvSpPr/>
          <p:nvPr/>
        </p:nvSpPr>
        <p:spPr>
          <a:xfrm>
            <a:off x="5989320" y="3291840"/>
            <a:ext cx="502920" cy="502920"/>
          </a:xfrm>
          <a:prstGeom prst="ellipse">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MM</a:t>
            </a:r>
          </a:p>
        </p:txBody>
      </p:sp>
      <p:sp>
        <p:nvSpPr>
          <p:cNvPr id="28" name="TextBox 27"/>
          <p:cNvSpPr txBox="1"/>
          <p:nvPr/>
        </p:nvSpPr>
        <p:spPr>
          <a:xfrm>
            <a:off x="562355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Middle mgrs</a:t>
            </a:r>
          </a:p>
        </p:txBody>
      </p:sp>
      <p:sp>
        <p:nvSpPr>
          <p:cNvPr id="29" name="TextBox 28"/>
          <p:cNvSpPr txBox="1"/>
          <p:nvPr/>
        </p:nvSpPr>
        <p:spPr>
          <a:xfrm>
            <a:off x="562355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advise</a:t>
            </a:r>
          </a:p>
        </p:txBody>
      </p:sp>
      <p:sp>
        <p:nvSpPr>
          <p:cNvPr id="30" name="Oval 29"/>
          <p:cNvSpPr/>
          <p:nvPr/>
        </p:nvSpPr>
        <p:spPr>
          <a:xfrm>
            <a:off x="3520440" y="4160520"/>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20440" y="416052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PA</a:t>
            </a:r>
          </a:p>
        </p:txBody>
      </p:sp>
      <p:sp>
        <p:nvSpPr>
          <p:cNvPr id="32" name="TextBox 31"/>
          <p:cNvSpPr txBox="1"/>
          <p:nvPr/>
        </p:nvSpPr>
        <p:spPr>
          <a:xfrm>
            <a:off x="3154680" y="466344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PMs + Architect</a:t>
            </a:r>
          </a:p>
        </p:txBody>
      </p:sp>
      <p:sp>
        <p:nvSpPr>
          <p:cNvPr id="33" name="TextBox 32"/>
          <p:cNvSpPr txBox="1"/>
          <p:nvPr/>
        </p:nvSpPr>
        <p:spPr>
          <a:xfrm>
            <a:off x="3154680" y="480974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support</a:t>
            </a:r>
          </a:p>
        </p:txBody>
      </p:sp>
      <p:sp>
        <p:nvSpPr>
          <p:cNvPr id="34" name="TextBox 33"/>
          <p:cNvSpPr txBox="1"/>
          <p:nvPr/>
        </p:nvSpPr>
        <p:spPr>
          <a:xfrm>
            <a:off x="548640" y="4343400"/>
            <a:ext cx="6583680" cy="182880"/>
          </a:xfrm>
          <a:prstGeom prst="rect">
            <a:avLst/>
          </a:prstGeom>
          <a:noFill/>
        </p:spPr>
        <p:txBody>
          <a:bodyPr wrap="square" lIns="36000" rIns="36000" tIns="18000" bIns="18000" anchor="t">
            <a:spAutoFit/>
          </a:bodyPr>
          <a:lstStyle/>
          <a:p>
            <a:pPr algn="l"/>
            <a:r>
              <a:rPr sz="800" b="1" i="0">
                <a:solidFill>
                  <a:srgbClr val="6B778C"/>
                </a:solidFill>
                <a:latin typeface="Arial"/>
              </a:rPr>
              <a:t>AGENDA  ·  90 min</a:t>
            </a:r>
          </a:p>
        </p:txBody>
      </p:sp>
      <p:sp>
        <p:nvSpPr>
          <p:cNvPr id="35" name="Rectangle 34"/>
          <p:cNvSpPr/>
          <p:nvPr/>
        </p:nvSpPr>
        <p:spPr>
          <a:xfrm>
            <a:off x="548640" y="457200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57200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00-15</a:t>
            </a:r>
          </a:p>
        </p:txBody>
      </p:sp>
      <p:sp>
        <p:nvSpPr>
          <p:cNvPr id="37" name="TextBox 36"/>
          <p:cNvSpPr txBox="1"/>
          <p:nvPr/>
        </p:nvSpPr>
        <p:spPr>
          <a:xfrm>
            <a:off x="1508760" y="460857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Capacity reality check  ·  middle managers report</a:t>
            </a:r>
          </a:p>
        </p:txBody>
      </p:sp>
      <p:sp>
        <p:nvSpPr>
          <p:cNvPr id="38" name="Rectangle 37"/>
          <p:cNvSpPr/>
          <p:nvPr/>
        </p:nvSpPr>
        <p:spPr>
          <a:xfrm>
            <a:off x="548640" y="484632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84632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15-35</a:t>
            </a:r>
          </a:p>
        </p:txBody>
      </p:sp>
      <p:sp>
        <p:nvSpPr>
          <p:cNvPr id="40" name="TextBox 39"/>
          <p:cNvSpPr txBox="1"/>
          <p:nvPr/>
        </p:nvSpPr>
        <p:spPr>
          <a:xfrm>
            <a:off x="1508760" y="488289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Backlog re-rank cross-VS  ·  Pain Score + CoS</a:t>
            </a:r>
          </a:p>
        </p:txBody>
      </p:sp>
      <p:sp>
        <p:nvSpPr>
          <p:cNvPr id="41" name="Rectangle 40"/>
          <p:cNvSpPr/>
          <p:nvPr/>
        </p:nvSpPr>
        <p:spPr>
          <a:xfrm>
            <a:off x="548640" y="512064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12064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35-55</a:t>
            </a:r>
          </a:p>
        </p:txBody>
      </p:sp>
      <p:sp>
        <p:nvSpPr>
          <p:cNvPr id="43" name="TextBox 42"/>
          <p:cNvSpPr txBox="1"/>
          <p:nvPr/>
        </p:nvSpPr>
        <p:spPr>
          <a:xfrm>
            <a:off x="1508760" y="515721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Defer/Reject decisions  ·  audit-logged</a:t>
            </a:r>
          </a:p>
        </p:txBody>
      </p:sp>
      <p:sp>
        <p:nvSpPr>
          <p:cNvPr id="44" name="Rectangle 43"/>
          <p:cNvSpPr/>
          <p:nvPr/>
        </p:nvSpPr>
        <p:spPr>
          <a:xfrm>
            <a:off x="548640" y="539495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39495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55-75</a:t>
            </a:r>
          </a:p>
        </p:txBody>
      </p:sp>
      <p:sp>
        <p:nvSpPr>
          <p:cNvPr id="46" name="TextBox 45"/>
          <p:cNvSpPr txBox="1"/>
          <p:nvPr/>
        </p:nvSpPr>
        <p:spPr>
          <a:xfrm>
            <a:off x="1508760" y="543153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Roadmap rolling-wave realignment  ·  commits vs hypotheses</a:t>
            </a:r>
          </a:p>
        </p:txBody>
      </p:sp>
      <p:sp>
        <p:nvSpPr>
          <p:cNvPr id="47" name="Rectangle 46"/>
          <p:cNvSpPr/>
          <p:nvPr/>
        </p:nvSpPr>
        <p:spPr>
          <a:xfrm>
            <a:off x="548640" y="566927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66927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75-85</a:t>
            </a:r>
          </a:p>
        </p:txBody>
      </p:sp>
      <p:sp>
        <p:nvSpPr>
          <p:cNvPr id="49" name="TextBox 48"/>
          <p:cNvSpPr txBox="1"/>
          <p:nvPr/>
        </p:nvSpPr>
        <p:spPr>
          <a:xfrm>
            <a:off x="1508760" y="570585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Cross-VS dependencies  ·  blockers · escalations</a:t>
            </a:r>
          </a:p>
        </p:txBody>
      </p:sp>
      <p:sp>
        <p:nvSpPr>
          <p:cNvPr id="50" name="Rectangle 49"/>
          <p:cNvSpPr/>
          <p:nvPr/>
        </p:nvSpPr>
        <p:spPr>
          <a:xfrm>
            <a:off x="548640" y="594359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594359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85-90</a:t>
            </a:r>
          </a:p>
        </p:txBody>
      </p:sp>
      <p:sp>
        <p:nvSpPr>
          <p:cNvPr id="52" name="TextBox 51"/>
          <p:cNvSpPr txBox="1"/>
          <p:nvPr/>
        </p:nvSpPr>
        <p:spPr>
          <a:xfrm>
            <a:off x="1508760" y="598017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BRP outputs digest  ·  feeds quarterly priorities to P&amp;T + CoE BRPs</a:t>
            </a:r>
          </a:p>
        </p:txBody>
      </p:sp>
      <p:sp>
        <p:nvSpPr>
          <p:cNvPr id="53" name="Rounded Rectangle 52"/>
          <p:cNvSpPr/>
          <p:nvPr/>
        </p:nvSpPr>
        <p:spPr>
          <a:xfrm>
            <a:off x="7406640" y="1508760"/>
            <a:ext cx="4416552"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406640" y="1508760"/>
            <a:ext cx="441655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43800" y="1581912"/>
            <a:ext cx="4142232" cy="274320"/>
          </a:xfrm>
          <a:prstGeom prst="rect">
            <a:avLst/>
          </a:prstGeom>
          <a:noFill/>
        </p:spPr>
        <p:txBody>
          <a:bodyPr wrap="square" lIns="36000" rIns="36000" tIns="18000" bIns="18000" anchor="t">
            <a:spAutoFit/>
          </a:bodyPr>
          <a:lstStyle/>
          <a:p>
            <a:pPr algn="l"/>
            <a:r>
              <a:rPr sz="1100" b="1" i="0">
                <a:solidFill>
                  <a:srgbClr val="FFFFFF"/>
                </a:solidFill>
                <a:latin typeface="Arial"/>
              </a:rPr>
              <a:t>PRINCIPLES</a:t>
            </a:r>
          </a:p>
        </p:txBody>
      </p:sp>
      <p:sp>
        <p:nvSpPr>
          <p:cNvPr id="56" name="Rounded Rectangle 55"/>
          <p:cNvSpPr/>
          <p:nvPr/>
        </p:nvSpPr>
        <p:spPr>
          <a:xfrm>
            <a:off x="7543800" y="210312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43800" y="210312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ONE FORUM</a:t>
            </a:r>
          </a:p>
        </p:txBody>
      </p:sp>
      <p:sp>
        <p:nvSpPr>
          <p:cNvPr id="58" name="TextBox 57"/>
          <p:cNvSpPr txBox="1"/>
          <p:nvPr/>
        </p:nvSpPr>
        <p:spPr>
          <a:xfrm>
            <a:off x="7543800" y="237744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All Phase-2 decisions land here · no parallel committee</a:t>
            </a:r>
          </a:p>
        </p:txBody>
      </p:sp>
      <p:sp>
        <p:nvSpPr>
          <p:cNvPr id="59" name="Rounded Rectangle 58"/>
          <p:cNvSpPr/>
          <p:nvPr/>
        </p:nvSpPr>
        <p:spPr>
          <a:xfrm>
            <a:off x="7543800" y="279654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43800" y="279654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3-VOICE</a:t>
            </a:r>
          </a:p>
        </p:txBody>
      </p:sp>
      <p:sp>
        <p:nvSpPr>
          <p:cNvPr id="61" name="TextBox 60"/>
          <p:cNvSpPr txBox="1"/>
          <p:nvPr/>
        </p:nvSpPr>
        <p:spPr>
          <a:xfrm>
            <a:off x="7543800" y="307086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Kumar + Carlos must concur · VP breaks ties</a:t>
            </a:r>
          </a:p>
        </p:txBody>
      </p:sp>
      <p:sp>
        <p:nvSpPr>
          <p:cNvPr id="62" name="Rounded Rectangle 61"/>
          <p:cNvSpPr/>
          <p:nvPr/>
        </p:nvSpPr>
        <p:spPr>
          <a:xfrm>
            <a:off x="7543800" y="348996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43800" y="348996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AUDIT</a:t>
            </a:r>
          </a:p>
        </p:txBody>
      </p:sp>
      <p:sp>
        <p:nvSpPr>
          <p:cNvPr id="64" name="TextBox 63"/>
          <p:cNvSpPr txBox="1"/>
          <p:nvPr/>
        </p:nvSpPr>
        <p:spPr>
          <a:xfrm>
            <a:off x="7543800" y="376428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Every Defer/Reject + re-rank logged with reason · visible to all</a:t>
            </a:r>
          </a:p>
        </p:txBody>
      </p:sp>
      <p:sp>
        <p:nvSpPr>
          <p:cNvPr id="65" name="Rounded Rectangle 64"/>
          <p:cNvSpPr/>
          <p:nvPr/>
        </p:nvSpPr>
        <p:spPr>
          <a:xfrm>
            <a:off x="7543800" y="418337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543800" y="418337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METRICS</a:t>
            </a:r>
          </a:p>
        </p:txBody>
      </p:sp>
      <p:sp>
        <p:nvSpPr>
          <p:cNvPr id="67" name="TextBox 66"/>
          <p:cNvSpPr txBox="1"/>
          <p:nvPr/>
        </p:nvSpPr>
        <p:spPr>
          <a:xfrm>
            <a:off x="7543800" y="445770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VP Vitor metrics drive performance review</a:t>
            </a:r>
          </a:p>
        </p:txBody>
      </p:sp>
      <p:sp>
        <p:nvSpPr>
          <p:cNvPr id="68" name="Rounded Rectangle 67"/>
          <p:cNvSpPr/>
          <p:nvPr/>
        </p:nvSpPr>
        <p:spPr>
          <a:xfrm>
            <a:off x="7543800" y="487679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43800" y="487679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BRP COUPLING</a:t>
            </a:r>
          </a:p>
        </p:txBody>
      </p:sp>
      <p:sp>
        <p:nvSpPr>
          <p:cNvPr id="70" name="TextBox 69"/>
          <p:cNvSpPr txBox="1"/>
          <p:nvPr/>
        </p:nvSpPr>
        <p:spPr>
          <a:xfrm>
            <a:off x="7543800" y="515112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Outputs feed quarterly digest to P&amp;T BRP + Digital CoE BRP</a:t>
            </a:r>
          </a:p>
        </p:txBody>
      </p:sp>
      <p:sp>
        <p:nvSpPr>
          <p:cNvPr id="71" name="Rounded Rectangle 70"/>
          <p:cNvSpPr/>
          <p:nvPr/>
        </p:nvSpPr>
        <p:spPr>
          <a:xfrm>
            <a:off x="7543800" y="557021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43800" y="557021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NO PARALLEL</a:t>
            </a:r>
          </a:p>
        </p:txBody>
      </p:sp>
      <p:sp>
        <p:nvSpPr>
          <p:cNvPr id="73" name="TextBox 72"/>
          <p:cNvSpPr txBox="1"/>
          <p:nvPr/>
        </p:nvSpPr>
        <p:spPr>
          <a:xfrm>
            <a:off x="7543800" y="5844539"/>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No quarterly event of our own · couples to existing</a:t>
            </a:r>
          </a:p>
        </p:txBody>
      </p:sp>
      <p:sp>
        <p:nvSpPr>
          <p:cNvPr id="74" name="TextBox 7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5" name="TextBox 7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16 / 27</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Prioritization criteria · 5 layers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Value · Risk · Effort · OPCO scope · Overrides — same logic CS+ITBA · different inputs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2185416"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01</a:t>
            </a:r>
          </a:p>
        </p:txBody>
      </p:sp>
      <p:sp>
        <p:nvSpPr>
          <p:cNvPr id="8" name="TextBox 7"/>
          <p:cNvSpPr txBox="1"/>
          <p:nvPr/>
        </p:nvSpPr>
        <p:spPr>
          <a:xfrm>
            <a:off x="1143000"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VALUE</a:t>
            </a:r>
          </a:p>
        </p:txBody>
      </p:sp>
      <p:sp>
        <p:nvSpPr>
          <p:cNvPr id="9" name="TextBox 8"/>
          <p:cNvSpPr txBox="1"/>
          <p:nvPr/>
        </p:nvSpPr>
        <p:spPr>
          <a:xfrm>
            <a:off x="1143000"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BV (1-5)  +  UX (1-5)</a:t>
            </a:r>
          </a:p>
        </p:txBody>
      </p:sp>
      <p:sp>
        <p:nvSpPr>
          <p:cNvPr id="10" name="TextBox 9"/>
          <p:cNvSpPr txBox="1"/>
          <p:nvPr/>
        </p:nvSpPr>
        <p:spPr>
          <a:xfrm>
            <a:off x="502920" y="24231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11" name="TextBox 10"/>
          <p:cNvSpPr txBox="1"/>
          <p:nvPr/>
        </p:nvSpPr>
        <p:spPr>
          <a:xfrm>
            <a:off x="502920"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PM (per VS) scores at Analyzing</a:t>
            </a:r>
          </a:p>
        </p:txBody>
      </p:sp>
      <p:sp>
        <p:nvSpPr>
          <p:cNvPr id="12" name="TextBox 11"/>
          <p:cNvSpPr txBox="1"/>
          <p:nvPr/>
        </p:nvSpPr>
        <p:spPr>
          <a:xfrm>
            <a:off x="502920" y="31089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DETAIL</a:t>
            </a:r>
          </a:p>
        </p:txBody>
      </p:sp>
      <p:sp>
        <p:nvSpPr>
          <p:cNvPr id="13" name="TextBox 12"/>
          <p:cNvSpPr txBox="1"/>
          <p:nvPr/>
        </p:nvSpPr>
        <p:spPr>
          <a:xfrm>
            <a:off x="502920"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ITBA: BV weight 0.45 · CS: BV weight 0.40</a:t>
            </a:r>
          </a:p>
          <a:p>
            <a:pPr algn="l"/>
            <a:r>
              <a:rPr sz="800" b="0" i="0">
                <a:solidFill>
                  <a:srgbClr val="2C3E50"/>
                </a:solidFill>
                <a:latin typeface="Arial"/>
              </a:rPr>
              <a:t>ITBA: UX weight 0.30 · CS: UX weight 0.60</a:t>
            </a:r>
          </a:p>
        </p:txBody>
      </p:sp>
      <p:sp>
        <p:nvSpPr>
          <p:cNvPr id="14" name="Rounded Rectangle 13"/>
          <p:cNvSpPr/>
          <p:nvPr/>
        </p:nvSpPr>
        <p:spPr>
          <a:xfrm>
            <a:off x="2688336"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88336" y="1508760"/>
            <a:ext cx="2185416"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25496"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02</a:t>
            </a:r>
          </a:p>
        </p:txBody>
      </p:sp>
      <p:sp>
        <p:nvSpPr>
          <p:cNvPr id="17" name="TextBox 16"/>
          <p:cNvSpPr txBox="1"/>
          <p:nvPr/>
        </p:nvSpPr>
        <p:spPr>
          <a:xfrm>
            <a:off x="3465576"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RISK</a:t>
            </a:r>
          </a:p>
        </p:txBody>
      </p:sp>
      <p:sp>
        <p:nvSpPr>
          <p:cNvPr id="18" name="TextBox 17"/>
          <p:cNvSpPr txBox="1"/>
          <p:nvPr/>
        </p:nvSpPr>
        <p:spPr>
          <a:xfrm>
            <a:off x="3465576"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Safety (1-5) · ITBA only</a:t>
            </a:r>
          </a:p>
        </p:txBody>
      </p:sp>
      <p:sp>
        <p:nvSpPr>
          <p:cNvPr id="19" name="TextBox 18"/>
          <p:cNvSpPr txBox="1"/>
          <p:nvPr/>
        </p:nvSpPr>
        <p:spPr>
          <a:xfrm>
            <a:off x="2825496" y="24231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OWNER</a:t>
            </a:r>
          </a:p>
        </p:txBody>
      </p:sp>
      <p:sp>
        <p:nvSpPr>
          <p:cNvPr id="20" name="TextBox 19"/>
          <p:cNvSpPr txBox="1"/>
          <p:nvPr/>
        </p:nvSpPr>
        <p:spPr>
          <a:xfrm>
            <a:off x="2825496"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21" name="TextBox 20"/>
          <p:cNvSpPr txBox="1"/>
          <p:nvPr/>
        </p:nvSpPr>
        <p:spPr>
          <a:xfrm>
            <a:off x="2825496" y="31089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DETAIL</a:t>
            </a:r>
          </a:p>
        </p:txBody>
      </p:sp>
      <p:sp>
        <p:nvSpPr>
          <p:cNvPr id="22" name="TextBox 21"/>
          <p:cNvSpPr txBox="1"/>
          <p:nvPr/>
        </p:nvSpPr>
        <p:spPr>
          <a:xfrm>
            <a:off x="2825496"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isolated from BV</a:t>
            </a:r>
          </a:p>
          <a:p>
            <a:pPr algn="l"/>
            <a:r>
              <a:rPr sz="800" b="0" i="0">
                <a:solidFill>
                  <a:srgbClr val="2C3E50"/>
                </a:solidFill>
                <a:latin typeface="Arial"/>
              </a:rPr>
              <a:t>Weight 0.25 (ITBA) · 0 (CS)</a:t>
            </a:r>
          </a:p>
        </p:txBody>
      </p:sp>
      <p:sp>
        <p:nvSpPr>
          <p:cNvPr id="23" name="Rounded Rectangle 22"/>
          <p:cNvSpPr/>
          <p:nvPr/>
        </p:nvSpPr>
        <p:spPr>
          <a:xfrm>
            <a:off x="5010912"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10912" y="1508760"/>
            <a:ext cx="2185416" cy="7772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48072"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03</a:t>
            </a:r>
          </a:p>
        </p:txBody>
      </p:sp>
      <p:sp>
        <p:nvSpPr>
          <p:cNvPr id="26" name="TextBox 25"/>
          <p:cNvSpPr txBox="1"/>
          <p:nvPr/>
        </p:nvSpPr>
        <p:spPr>
          <a:xfrm>
            <a:off x="5788152"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EFFORT</a:t>
            </a:r>
          </a:p>
        </p:txBody>
      </p:sp>
      <p:sp>
        <p:nvSpPr>
          <p:cNvPr id="27" name="TextBox 26"/>
          <p:cNvSpPr txBox="1"/>
          <p:nvPr/>
        </p:nvSpPr>
        <p:spPr>
          <a:xfrm>
            <a:off x="5788152"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1-5 scale · Architect-defined</a:t>
            </a:r>
          </a:p>
        </p:txBody>
      </p:sp>
      <p:sp>
        <p:nvSpPr>
          <p:cNvPr id="28" name="TextBox 27"/>
          <p:cNvSpPr txBox="1"/>
          <p:nvPr/>
        </p:nvSpPr>
        <p:spPr>
          <a:xfrm>
            <a:off x="5148072" y="24231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OWNER</a:t>
            </a:r>
          </a:p>
        </p:txBody>
      </p:sp>
      <p:sp>
        <p:nvSpPr>
          <p:cNvPr id="29" name="TextBox 28"/>
          <p:cNvSpPr txBox="1"/>
          <p:nvPr/>
        </p:nvSpPr>
        <p:spPr>
          <a:xfrm>
            <a:off x="5148072"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30" name="TextBox 29"/>
          <p:cNvSpPr txBox="1"/>
          <p:nvPr/>
        </p:nvSpPr>
        <p:spPr>
          <a:xfrm>
            <a:off x="5148072" y="31089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DETAIL</a:t>
            </a:r>
          </a:p>
        </p:txBody>
      </p:sp>
      <p:sp>
        <p:nvSpPr>
          <p:cNvPr id="31" name="TextBox 30"/>
          <p:cNvSpPr txBox="1"/>
          <p:nvPr/>
        </p:nvSpPr>
        <p:spPr>
          <a:xfrm>
            <a:off x="5148072"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1=hours · 2=days · 3=weeks</a:t>
            </a:r>
          </a:p>
          <a:p>
            <a:pPr algn="l"/>
            <a:r>
              <a:rPr sz="800" b="0" i="0">
                <a:solidFill>
                  <a:srgbClr val="2C3E50"/>
                </a:solidFill>
                <a:latin typeface="Arial"/>
              </a:rPr>
              <a:t>4=quarter · 5=multi-quarter</a:t>
            </a:r>
          </a:p>
        </p:txBody>
      </p:sp>
      <p:sp>
        <p:nvSpPr>
          <p:cNvPr id="32" name="Rounded Rectangle 31"/>
          <p:cNvSpPr/>
          <p:nvPr/>
        </p:nvSpPr>
        <p:spPr>
          <a:xfrm>
            <a:off x="7333488"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33488" y="1508760"/>
            <a:ext cx="2185416" cy="7772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0648"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04</a:t>
            </a:r>
          </a:p>
        </p:txBody>
      </p:sp>
      <p:sp>
        <p:nvSpPr>
          <p:cNvPr id="35" name="TextBox 34"/>
          <p:cNvSpPr txBox="1"/>
          <p:nvPr/>
        </p:nvSpPr>
        <p:spPr>
          <a:xfrm>
            <a:off x="8110727"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OPCO SCOPE</a:t>
            </a:r>
          </a:p>
        </p:txBody>
      </p:sp>
      <p:sp>
        <p:nvSpPr>
          <p:cNvPr id="36" name="TextBox 35"/>
          <p:cNvSpPr txBox="1"/>
          <p:nvPr/>
        </p:nvSpPr>
        <p:spPr>
          <a:xfrm>
            <a:off x="8110727"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OPCOmult automatic</a:t>
            </a:r>
          </a:p>
        </p:txBody>
      </p:sp>
      <p:sp>
        <p:nvSpPr>
          <p:cNvPr id="37" name="TextBox 36"/>
          <p:cNvSpPr txBox="1"/>
          <p:nvPr/>
        </p:nvSpPr>
        <p:spPr>
          <a:xfrm>
            <a:off x="7470648" y="24231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OWNER</a:t>
            </a:r>
          </a:p>
        </p:txBody>
      </p:sp>
      <p:sp>
        <p:nvSpPr>
          <p:cNvPr id="38" name="TextBox 37"/>
          <p:cNvSpPr txBox="1"/>
          <p:nvPr/>
        </p:nvSpPr>
        <p:spPr>
          <a:xfrm>
            <a:off x="7470648"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from OPCO field at Funnel</a:t>
            </a:r>
          </a:p>
        </p:txBody>
      </p:sp>
      <p:sp>
        <p:nvSpPr>
          <p:cNvPr id="39" name="TextBox 38"/>
          <p:cNvSpPr txBox="1"/>
          <p:nvPr/>
        </p:nvSpPr>
        <p:spPr>
          <a:xfrm>
            <a:off x="7470648" y="31089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DETAIL</a:t>
            </a:r>
          </a:p>
        </p:txBody>
      </p:sp>
      <p:sp>
        <p:nvSpPr>
          <p:cNvPr id="40" name="TextBox 39"/>
          <p:cNvSpPr txBox="1"/>
          <p:nvPr/>
        </p:nvSpPr>
        <p:spPr>
          <a:xfrm>
            <a:off x="7470648"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1.0 (1 OPCO) · 1.3 (2-4 regional)</a:t>
            </a:r>
          </a:p>
          <a:p>
            <a:pPr algn="l"/>
            <a:r>
              <a:rPr sz="800" b="0" i="0">
                <a:solidFill>
                  <a:srgbClr val="2C3E50"/>
                </a:solidFill>
                <a:latin typeface="Arial"/>
              </a:rPr>
              <a:t>1.6 (5+ enterprise)</a:t>
            </a:r>
          </a:p>
        </p:txBody>
      </p:sp>
      <p:sp>
        <p:nvSpPr>
          <p:cNvPr id="41" name="Rounded Rectangle 40"/>
          <p:cNvSpPr/>
          <p:nvPr/>
        </p:nvSpPr>
        <p:spPr>
          <a:xfrm>
            <a:off x="9656064"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656064" y="1508760"/>
            <a:ext cx="2185416" cy="77724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93224"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05</a:t>
            </a:r>
          </a:p>
        </p:txBody>
      </p:sp>
      <p:sp>
        <p:nvSpPr>
          <p:cNvPr id="44" name="TextBox 43"/>
          <p:cNvSpPr txBox="1"/>
          <p:nvPr/>
        </p:nvSpPr>
        <p:spPr>
          <a:xfrm>
            <a:off x="10433304"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OVERRIDES</a:t>
            </a:r>
          </a:p>
        </p:txBody>
      </p:sp>
      <p:sp>
        <p:nvSpPr>
          <p:cNvPr id="45" name="TextBox 44"/>
          <p:cNvSpPr txBox="1"/>
          <p:nvPr/>
        </p:nvSpPr>
        <p:spPr>
          <a:xfrm>
            <a:off x="10433304"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Type=Reg → Fixed-Date</a:t>
            </a:r>
          </a:p>
          <a:p>
            <a:pPr algn="l"/>
            <a:r>
              <a:rPr sz="850" b="0" i="0">
                <a:solidFill>
                  <a:srgbClr val="FFFFFF"/>
                </a:solidFill>
                <a:latin typeface="Arial"/>
              </a:rPr>
              <a:t>CIT P1/P2 → Expedite</a:t>
            </a:r>
          </a:p>
        </p:txBody>
      </p:sp>
      <p:sp>
        <p:nvSpPr>
          <p:cNvPr id="46" name="TextBox 45"/>
          <p:cNvSpPr txBox="1"/>
          <p:nvPr/>
        </p:nvSpPr>
        <p:spPr>
          <a:xfrm>
            <a:off x="9793224" y="24231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OWNER</a:t>
            </a:r>
          </a:p>
        </p:txBody>
      </p:sp>
      <p:sp>
        <p:nvSpPr>
          <p:cNvPr id="47" name="TextBox 46"/>
          <p:cNvSpPr txBox="1"/>
          <p:nvPr/>
        </p:nvSpPr>
        <p:spPr>
          <a:xfrm>
            <a:off x="9793224"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 A2 + A3 fire</a:t>
            </a:r>
          </a:p>
        </p:txBody>
      </p:sp>
      <p:sp>
        <p:nvSpPr>
          <p:cNvPr id="48" name="TextBox 47"/>
          <p:cNvSpPr txBox="1"/>
          <p:nvPr/>
        </p:nvSpPr>
        <p:spPr>
          <a:xfrm>
            <a:off x="9793224" y="31089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DETAIL</a:t>
            </a:r>
          </a:p>
        </p:txBody>
      </p:sp>
      <p:sp>
        <p:nvSpPr>
          <p:cNvPr id="49" name="TextBox 48"/>
          <p:cNvSpPr txBox="1"/>
          <p:nvPr/>
        </p:nvSpPr>
        <p:spPr>
          <a:xfrm>
            <a:off x="9793224"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Bypass Pain Score ranking</a:t>
            </a:r>
          </a:p>
          <a:p>
            <a:pPr algn="l"/>
            <a:r>
              <a:rPr sz="800" b="0" i="0">
                <a:solidFill>
                  <a:srgbClr val="2C3E50"/>
                </a:solidFill>
                <a:latin typeface="Arial"/>
              </a:rPr>
              <a:t>Protect deadline-bound + critical</a:t>
            </a:r>
          </a:p>
        </p:txBody>
      </p:sp>
      <p:sp>
        <p:nvSpPr>
          <p:cNvPr id="50" name="Rounded Rectangle 49"/>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3" name="TextBox 52"/>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Tie-break rule: Pain Score equal? Then CoS lane &gt; capacity available &gt; Sponsor seniority — never "squeaky-wheel".</a:t>
            </a:r>
          </a:p>
        </p:txBody>
      </p:sp>
      <p:sp>
        <p:nvSpPr>
          <p:cNvPr id="54" name="TextBox 53"/>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Example · two demands at Pain 2.4: regulatory with Fixed-Date wins over Standard CS · if both Standard, the one fitting current capacity wins · if both fit, the one with named Director Sponsor wins · audit logged at Gate 2</a:t>
            </a:r>
          </a:p>
        </p:txBody>
      </p:sp>
      <p:sp>
        <p:nvSpPr>
          <p:cNvPr id="55" name="TextBox 54"/>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56" name="TextBox 5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17 / 27</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Demand × Capacity · the balance check</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Pending cards vs available FTE per CoS lane · gap visible · escalation triggered at every Gate 2</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534924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34924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5074920" cy="274320"/>
          </a:xfrm>
          <a:prstGeom prst="rect">
            <a:avLst/>
          </a:prstGeom>
          <a:noFill/>
        </p:spPr>
        <p:txBody>
          <a:bodyPr wrap="square" lIns="36000" rIns="36000" tIns="18000" bIns="18000" anchor="t">
            <a:spAutoFit/>
          </a:bodyPr>
          <a:lstStyle/>
          <a:p>
            <a:pPr algn="l"/>
            <a:r>
              <a:rPr sz="1100" b="1" i="0">
                <a:solidFill>
                  <a:srgbClr val="FFFFFF"/>
                </a:solidFill>
                <a:latin typeface="Arial"/>
              </a:rPr>
              <a:t>PENDING DEMAND  ·  in Backlog (RFE)</a:t>
            </a:r>
          </a:p>
        </p:txBody>
      </p:sp>
      <p:sp>
        <p:nvSpPr>
          <p:cNvPr id="8" name="Rounded Rectangle 7"/>
          <p:cNvSpPr/>
          <p:nvPr/>
        </p:nvSpPr>
        <p:spPr>
          <a:xfrm>
            <a:off x="502920" y="2103120"/>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11" name="Rectangle 10"/>
          <p:cNvSpPr/>
          <p:nvPr/>
        </p:nvSpPr>
        <p:spPr>
          <a:xfrm>
            <a:off x="1874519" y="228600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19" y="2286000"/>
            <a:ext cx="333755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2194560"/>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18</a:t>
            </a:r>
          </a:p>
        </p:txBody>
      </p:sp>
      <p:sp>
        <p:nvSpPr>
          <p:cNvPr id="14" name="Rounded Rectangle 13"/>
          <p:cNvSpPr/>
          <p:nvPr/>
        </p:nvSpPr>
        <p:spPr>
          <a:xfrm>
            <a:off x="502920" y="317753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17" name="Rectangle 16"/>
          <p:cNvSpPr/>
          <p:nvPr/>
        </p:nvSpPr>
        <p:spPr>
          <a:xfrm>
            <a:off x="1874519" y="336042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74519" y="3360420"/>
            <a:ext cx="1297939"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326897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7</a:t>
            </a:r>
          </a:p>
        </p:txBody>
      </p:sp>
      <p:sp>
        <p:nvSpPr>
          <p:cNvPr id="20" name="Rounded Rectangle 19"/>
          <p:cNvSpPr/>
          <p:nvPr/>
        </p:nvSpPr>
        <p:spPr>
          <a:xfrm>
            <a:off x="502920" y="425195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23" name="Rectangle 22"/>
          <p:cNvSpPr/>
          <p:nvPr/>
        </p:nvSpPr>
        <p:spPr>
          <a:xfrm>
            <a:off x="1874519" y="443484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74519" y="4434840"/>
            <a:ext cx="370839"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0" y="434339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2</a:t>
            </a:r>
          </a:p>
        </p:txBody>
      </p:sp>
      <p:sp>
        <p:nvSpPr>
          <p:cNvPr id="26" name="Rounded Rectangle 25"/>
          <p:cNvSpPr/>
          <p:nvPr/>
        </p:nvSpPr>
        <p:spPr>
          <a:xfrm>
            <a:off x="502920" y="532637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4864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29" name="Rectangle 28"/>
          <p:cNvSpPr/>
          <p:nvPr/>
        </p:nvSpPr>
        <p:spPr>
          <a:xfrm>
            <a:off x="1874519" y="5509259"/>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74519" y="5509259"/>
            <a:ext cx="741679"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0" y="541781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4</a:t>
            </a:r>
          </a:p>
        </p:txBody>
      </p:sp>
      <p:sp>
        <p:nvSpPr>
          <p:cNvPr id="32" name="Rounded Rectangle 31"/>
          <p:cNvSpPr/>
          <p:nvPr/>
        </p:nvSpPr>
        <p:spPr>
          <a:xfrm>
            <a:off x="5897880" y="1508760"/>
            <a:ext cx="592531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97880" y="1508760"/>
            <a:ext cx="5925312"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1581912"/>
            <a:ext cx="5650992" cy="274320"/>
          </a:xfrm>
          <a:prstGeom prst="rect">
            <a:avLst/>
          </a:prstGeom>
          <a:noFill/>
        </p:spPr>
        <p:txBody>
          <a:bodyPr wrap="square" lIns="36000" rIns="36000" tIns="18000" bIns="18000" anchor="t">
            <a:spAutoFit/>
          </a:bodyPr>
          <a:lstStyle/>
          <a:p>
            <a:pPr algn="l"/>
            <a:r>
              <a:rPr sz="1100" b="1" i="0">
                <a:solidFill>
                  <a:srgbClr val="FFFFFF"/>
                </a:solidFill>
                <a:latin typeface="Arial"/>
              </a:rPr>
              <a:t>AVAILABLE CAPACITY  ·  next 30 days</a:t>
            </a:r>
          </a:p>
        </p:txBody>
      </p:sp>
      <p:sp>
        <p:nvSpPr>
          <p:cNvPr id="35" name="Rounded Rectangle 34"/>
          <p:cNvSpPr/>
          <p:nvPr/>
        </p:nvSpPr>
        <p:spPr>
          <a:xfrm>
            <a:off x="6035040" y="2103120"/>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08076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38" name="Rectangle 37"/>
          <p:cNvSpPr/>
          <p:nvPr/>
        </p:nvSpPr>
        <p:spPr>
          <a:xfrm>
            <a:off x="7406640" y="228600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06640" y="2286000"/>
            <a:ext cx="234817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2194560"/>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60%</a:t>
            </a:r>
          </a:p>
        </p:txBody>
      </p:sp>
      <p:sp>
        <p:nvSpPr>
          <p:cNvPr id="41" name="TextBox 40"/>
          <p:cNvSpPr txBox="1"/>
          <p:nvPr/>
        </p:nvSpPr>
        <p:spPr>
          <a:xfrm>
            <a:off x="7406640" y="2903220"/>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38 SP/wk</a:t>
            </a:r>
          </a:p>
        </p:txBody>
      </p:sp>
      <p:sp>
        <p:nvSpPr>
          <p:cNvPr id="42" name="Rounded Rectangle 41"/>
          <p:cNvSpPr/>
          <p:nvPr/>
        </p:nvSpPr>
        <p:spPr>
          <a:xfrm>
            <a:off x="6035040" y="317753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08076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8076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45" name="Rectangle 44"/>
          <p:cNvSpPr/>
          <p:nvPr/>
        </p:nvSpPr>
        <p:spPr>
          <a:xfrm>
            <a:off x="7406640" y="336042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406640" y="3360420"/>
            <a:ext cx="782726"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98079" y="326897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20%</a:t>
            </a:r>
          </a:p>
        </p:txBody>
      </p:sp>
      <p:sp>
        <p:nvSpPr>
          <p:cNvPr id="48" name="TextBox 47"/>
          <p:cNvSpPr txBox="1"/>
          <p:nvPr/>
        </p:nvSpPr>
        <p:spPr>
          <a:xfrm>
            <a:off x="7406640" y="397763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13 SP/wk</a:t>
            </a:r>
          </a:p>
        </p:txBody>
      </p:sp>
      <p:sp>
        <p:nvSpPr>
          <p:cNvPr id="49" name="Rounded Rectangle 48"/>
          <p:cNvSpPr/>
          <p:nvPr/>
        </p:nvSpPr>
        <p:spPr>
          <a:xfrm>
            <a:off x="6035040" y="425195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08076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8076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52" name="Rectangle 51"/>
          <p:cNvSpPr/>
          <p:nvPr/>
        </p:nvSpPr>
        <p:spPr>
          <a:xfrm>
            <a:off x="7406640" y="443484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406640" y="4434840"/>
            <a:ext cx="391363"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98079" y="434339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55" name="TextBox 54"/>
          <p:cNvSpPr txBox="1"/>
          <p:nvPr/>
        </p:nvSpPr>
        <p:spPr>
          <a:xfrm>
            <a:off x="7406640" y="505205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56" name="Rounded Rectangle 55"/>
          <p:cNvSpPr/>
          <p:nvPr/>
        </p:nvSpPr>
        <p:spPr>
          <a:xfrm>
            <a:off x="6035040" y="532637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08076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08076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59" name="Rectangle 58"/>
          <p:cNvSpPr/>
          <p:nvPr/>
        </p:nvSpPr>
        <p:spPr>
          <a:xfrm>
            <a:off x="7406640" y="5509259"/>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06640" y="5509259"/>
            <a:ext cx="391363"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98079" y="541781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62" name="TextBox 61"/>
          <p:cNvSpPr txBox="1"/>
          <p:nvPr/>
        </p:nvSpPr>
        <p:spPr>
          <a:xfrm>
            <a:off x="7406640" y="612647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63" name="Rounded Rectangle 62"/>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66" name="TextBox 65"/>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Gap = 7 Fixed-Date items vs 13 SP/wk capacity → 2-week burn-down · 0 escalation needed.</a:t>
            </a:r>
          </a:p>
        </p:txBody>
      </p:sp>
      <p:sp>
        <p:nvSpPr>
          <p:cNvPr id="67" name="TextBox 66"/>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Director (Heather + Kumar + Carlos) reviews this at every Gate 2 · if pending &gt; 4× weekly capacity, escalation to VP Vitor for capacity reallocation OR Defer/Reject decision</a:t>
            </a:r>
          </a:p>
        </p:txBody>
      </p:sp>
      <p:sp>
        <p:nvSpPr>
          <p:cNvPr id="68" name="TextBox 67"/>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69" name="Rectangle 68"/>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71" name="Rectangle 70"/>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73" name="Rectangle 72"/>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75" name="Rectangle 74"/>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77" name="TextBox 7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8" name="TextBox 7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18 / 27</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Defer or Reject · 3 triggers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Capacity full · Strategic mismatch · Sponsor unconfirmed — Director decides at Gate 2 · audit log</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4937760" y="1188720"/>
            <a:ext cx="2331720" cy="68580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DEMAND ARRIVES AT</a:t>
            </a:r>
          </a:p>
        </p:txBody>
      </p:sp>
      <p:sp>
        <p:nvSpPr>
          <p:cNvPr id="7" name="TextBox 6"/>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GATE 2 CHECK</a:t>
            </a:r>
          </a:p>
        </p:txBody>
      </p:sp>
      <p:cxnSp>
        <p:nvCxnSpPr>
          <p:cNvPr id="8" name="Connector 7"/>
          <p:cNvCxnSpPr/>
          <p:nvPr/>
        </p:nvCxnSpPr>
        <p:spPr>
          <a:xfrm flipH="1">
            <a:off x="2125980" y="1874519"/>
            <a:ext cx="3977640" cy="731521"/>
          </a:xfrm>
          <a:prstGeom prst="line">
            <a:avLst/>
          </a:prstGeom>
          <a:ln w="25400">
            <a:solidFill>
              <a:srgbClr val="E98B2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 y="2606040"/>
            <a:ext cx="35204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CAPACITY FULL?</a:t>
            </a:r>
          </a:p>
        </p:txBody>
      </p:sp>
      <p:sp>
        <p:nvSpPr>
          <p:cNvPr id="11" name="TextBox 10"/>
          <p:cNvSpPr txBox="1"/>
          <p:nvPr/>
        </p:nvSpPr>
        <p:spPr>
          <a:xfrm>
            <a:off x="36576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Lane WIP at cap · no slot for next quarter</a:t>
            </a:r>
          </a:p>
        </p:txBody>
      </p:sp>
      <p:cxnSp>
        <p:nvCxnSpPr>
          <p:cNvPr id="12" name="Connector 11"/>
          <p:cNvCxnSpPr/>
          <p:nvPr/>
        </p:nvCxnSpPr>
        <p:spPr>
          <a:xfrm flipH="1">
            <a:off x="5920740" y="1874519"/>
            <a:ext cx="182880" cy="731521"/>
          </a:xfrm>
          <a:prstGeom prst="line">
            <a:avLst/>
          </a:prstGeom>
          <a:ln w="25400">
            <a:solidFill>
              <a:srgbClr val="2C578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160520" y="2606040"/>
            <a:ext cx="3520440"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STRATEGIC MISMATCH?</a:t>
            </a:r>
          </a:p>
        </p:txBody>
      </p:sp>
      <p:sp>
        <p:nvSpPr>
          <p:cNvPr id="15" name="TextBox 14"/>
          <p:cNvSpPr txBox="1"/>
          <p:nvPr/>
        </p:nvSpPr>
        <p:spPr>
          <a:xfrm>
            <a:off x="416052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BRP outputs deprioritize this area</a:t>
            </a:r>
          </a:p>
        </p:txBody>
      </p:sp>
      <p:cxnSp>
        <p:nvCxnSpPr>
          <p:cNvPr id="16" name="Connector 15"/>
          <p:cNvCxnSpPr/>
          <p:nvPr/>
        </p:nvCxnSpPr>
        <p:spPr>
          <a:xfrm>
            <a:off x="6103620" y="1874519"/>
            <a:ext cx="3611880" cy="731521"/>
          </a:xfrm>
          <a:prstGeom prst="line">
            <a:avLst/>
          </a:prstGeom>
          <a:ln w="25400">
            <a:solidFill>
              <a:srgbClr val="B0353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55280" y="2606040"/>
            <a:ext cx="3520440" cy="502920"/>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SPONSOR UNCONFIRMED?</a:t>
            </a:r>
          </a:p>
        </p:txBody>
      </p:sp>
      <p:sp>
        <p:nvSpPr>
          <p:cNvPr id="19" name="TextBox 18"/>
          <p:cNvSpPr txBox="1"/>
          <p:nvPr/>
        </p:nvSpPr>
        <p:spPr>
          <a:xfrm>
            <a:off x="795528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Sponsor not named · UAT path unsigned</a:t>
            </a:r>
          </a:p>
        </p:txBody>
      </p:sp>
      <p:cxnSp>
        <p:nvCxnSpPr>
          <p:cNvPr id="20" name="Connector 19"/>
          <p:cNvCxnSpPr/>
          <p:nvPr/>
        </p:nvCxnSpPr>
        <p:spPr>
          <a:xfrm>
            <a:off x="2125980" y="3108960"/>
            <a:ext cx="0" cy="22860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6576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337560"/>
            <a:ext cx="91440" cy="1371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392424"/>
            <a:ext cx="3246120" cy="228600"/>
          </a:xfrm>
          <a:prstGeom prst="rect">
            <a:avLst/>
          </a:prstGeom>
          <a:noFill/>
        </p:spPr>
        <p:txBody>
          <a:bodyPr wrap="square" lIns="36000" rIns="36000" tIns="18000" bIns="18000" anchor="t">
            <a:spAutoFit/>
          </a:bodyPr>
          <a:lstStyle/>
          <a:p>
            <a:pPr algn="l"/>
            <a:r>
              <a:rPr sz="1000" b="1" i="0">
                <a:solidFill>
                  <a:srgbClr val="E98B2F"/>
                </a:solidFill>
                <a:latin typeface="Arial"/>
              </a:rPr>
              <a:t>DEFER  ·  to next quarter</a:t>
            </a:r>
          </a:p>
        </p:txBody>
      </p:sp>
      <p:sp>
        <p:nvSpPr>
          <p:cNvPr id="24" name="TextBox 23"/>
          <p:cNvSpPr txBox="1"/>
          <p:nvPr/>
        </p:nvSpPr>
        <p:spPr>
          <a:xfrm>
            <a:off x="54864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stays in Backlog · re-ranked next Gate 2 · Sponsor notified</a:t>
            </a:r>
          </a:p>
        </p:txBody>
      </p:sp>
      <p:sp>
        <p:nvSpPr>
          <p:cNvPr id="25" name="TextBox 24"/>
          <p:cNvSpPr txBox="1"/>
          <p:nvPr/>
        </p:nvSpPr>
        <p:spPr>
          <a:xfrm>
            <a:off x="54864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Most common · low cost · keeps optionality</a:t>
            </a:r>
          </a:p>
        </p:txBody>
      </p:sp>
      <p:cxnSp>
        <p:nvCxnSpPr>
          <p:cNvPr id="26" name="Connector 25"/>
          <p:cNvCxnSpPr/>
          <p:nvPr/>
        </p:nvCxnSpPr>
        <p:spPr>
          <a:xfrm>
            <a:off x="5920740" y="3108960"/>
            <a:ext cx="0" cy="228600"/>
          </a:xfrm>
          <a:prstGeom prst="line">
            <a:avLst/>
          </a:prstGeom>
          <a:ln w="19050">
            <a:solidFill>
              <a:srgbClr val="2C578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16052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60520" y="3337560"/>
            <a:ext cx="91440" cy="1371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400" y="3392424"/>
            <a:ext cx="3246120" cy="228600"/>
          </a:xfrm>
          <a:prstGeom prst="rect">
            <a:avLst/>
          </a:prstGeom>
          <a:noFill/>
        </p:spPr>
        <p:txBody>
          <a:bodyPr wrap="square" lIns="36000" rIns="36000" tIns="18000" bIns="18000" anchor="t">
            <a:spAutoFit/>
          </a:bodyPr>
          <a:lstStyle/>
          <a:p>
            <a:pPr algn="l"/>
            <a:r>
              <a:rPr sz="1000" b="1" i="0">
                <a:solidFill>
                  <a:srgbClr val="2C578B"/>
                </a:solidFill>
                <a:latin typeface="Arial"/>
              </a:rPr>
              <a:t>DEFER  ·  to next BRP cycle</a:t>
            </a:r>
          </a:p>
        </p:txBody>
      </p:sp>
      <p:sp>
        <p:nvSpPr>
          <p:cNvPr id="30" name="TextBox 29"/>
          <p:cNvSpPr txBox="1"/>
          <p:nvPr/>
        </p:nvSpPr>
        <p:spPr>
          <a:xfrm>
            <a:off x="434340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parked · waiting on strategic alignment · BRS counterpart notified</a:t>
            </a:r>
          </a:p>
        </p:txBody>
      </p:sp>
      <p:sp>
        <p:nvSpPr>
          <p:cNvPr id="31" name="TextBox 30"/>
          <p:cNvSpPr txBox="1"/>
          <p:nvPr/>
        </p:nvSpPr>
        <p:spPr>
          <a:xfrm>
            <a:off x="434340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 BRS escalate via P&amp;T or Digital CoE BRP</a:t>
            </a:r>
          </a:p>
        </p:txBody>
      </p:sp>
      <p:cxnSp>
        <p:nvCxnSpPr>
          <p:cNvPr id="32" name="Connector 31"/>
          <p:cNvCxnSpPr/>
          <p:nvPr/>
        </p:nvCxnSpPr>
        <p:spPr>
          <a:xfrm>
            <a:off x="9715500" y="3108960"/>
            <a:ext cx="0" cy="228600"/>
          </a:xfrm>
          <a:prstGeom prst="line">
            <a:avLst/>
          </a:prstGeom>
          <a:ln w="19050">
            <a:solidFill>
              <a:srgbClr val="B03535"/>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95528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55280" y="3337560"/>
            <a:ext cx="91440" cy="13716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3392424"/>
            <a:ext cx="3246120" cy="228600"/>
          </a:xfrm>
          <a:prstGeom prst="rect">
            <a:avLst/>
          </a:prstGeom>
          <a:noFill/>
        </p:spPr>
        <p:txBody>
          <a:bodyPr wrap="square" lIns="36000" rIns="36000" tIns="18000" bIns="18000" anchor="t">
            <a:spAutoFit/>
          </a:bodyPr>
          <a:lstStyle/>
          <a:p>
            <a:pPr algn="l"/>
            <a:r>
              <a:rPr sz="1000" b="1" i="0">
                <a:solidFill>
                  <a:srgbClr val="B03535"/>
                </a:solidFill>
                <a:latin typeface="Arial"/>
              </a:rPr>
              <a:t>REJECT  ·  back to Sponsor</a:t>
            </a:r>
          </a:p>
        </p:txBody>
      </p:sp>
      <p:sp>
        <p:nvSpPr>
          <p:cNvPr id="36" name="TextBox 35"/>
          <p:cNvSpPr txBox="1"/>
          <p:nvPr/>
        </p:nvSpPr>
        <p:spPr>
          <a:xfrm>
            <a:off x="813816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closed · Sponsor must re-submit when criteria met</a:t>
            </a:r>
          </a:p>
        </p:txBody>
      </p:sp>
      <p:sp>
        <p:nvSpPr>
          <p:cNvPr id="37" name="TextBox 36"/>
          <p:cNvSpPr txBox="1"/>
          <p:nvPr/>
        </p:nvSpPr>
        <p:spPr>
          <a:xfrm>
            <a:off x="813816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re-confirms acceptance criteria + UAT path · re-enters Funnel</a:t>
            </a:r>
          </a:p>
        </p:txBody>
      </p:sp>
      <p:sp>
        <p:nvSpPr>
          <p:cNvPr id="38" name="Rounded Rectangle 37"/>
          <p:cNvSpPr/>
          <p:nvPr/>
        </p:nvSpPr>
        <p:spPr>
          <a:xfrm>
            <a:off x="365760" y="4937760"/>
            <a:ext cx="11475720" cy="1005840"/>
          </a:xfrm>
          <a:prstGeom prst="roundRect">
            <a:avLst>
              <a:gd name="adj" fmla="val 4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4992624"/>
            <a:ext cx="11338560" cy="201168"/>
          </a:xfrm>
          <a:prstGeom prst="rect">
            <a:avLst/>
          </a:prstGeom>
          <a:noFill/>
        </p:spPr>
        <p:txBody>
          <a:bodyPr wrap="square" lIns="36000" rIns="36000" tIns="18000" bIns="18000" anchor="t">
            <a:spAutoFit/>
          </a:bodyPr>
          <a:lstStyle/>
          <a:p>
            <a:pPr algn="l"/>
            <a:r>
              <a:rPr sz="1000" b="1" i="0">
                <a:solidFill>
                  <a:srgbClr val="FFFFFF"/>
                </a:solidFill>
                <a:latin typeface="Arial"/>
              </a:rPr>
              <a:t>AUDIT TRAIL  ·  every Defer/Reject logged in the Decision Log</a:t>
            </a:r>
          </a:p>
        </p:txBody>
      </p:sp>
      <p:sp>
        <p:nvSpPr>
          <p:cNvPr id="40" name="TextBox 39"/>
          <p:cNvSpPr txBox="1"/>
          <p:nvPr/>
        </p:nvSpPr>
        <p:spPr>
          <a:xfrm>
            <a:off x="502920" y="5212080"/>
            <a:ext cx="11338560" cy="594360"/>
          </a:xfrm>
          <a:prstGeom prst="rect">
            <a:avLst/>
          </a:prstGeom>
          <a:noFill/>
        </p:spPr>
        <p:txBody>
          <a:bodyPr wrap="square" lIns="36000" rIns="36000" tIns="18000" bIns="18000" anchor="t">
            <a:spAutoFit/>
          </a:bodyPr>
          <a:lstStyle/>
          <a:p>
            <a:pPr algn="l"/>
            <a:r>
              <a:rPr sz="850" b="0" i="0">
                <a:solidFill>
                  <a:srgbClr val="F6FAFD"/>
                </a:solidFill>
                <a:latin typeface="Arial"/>
              </a:rPr>
              <a:t>Demand ID + title + Sponsor  ·  Trigger (Capacity / Strategic / Sponsor)  ·  Decision (Defer-Quarter / Defer-BRP / Reject)  ·  Decider (Director name)  ·  Date + Gate 2 session reference</a:t>
            </a:r>
          </a:p>
        </p:txBody>
      </p:sp>
      <p:sp>
        <p:nvSpPr>
          <p:cNvPr id="41" name="TextBox 40"/>
          <p:cNvSpPr txBox="1"/>
          <p:nvPr/>
        </p:nvSpPr>
        <p:spPr>
          <a:xfrm>
            <a:off x="502920" y="5577840"/>
            <a:ext cx="11338560" cy="274320"/>
          </a:xfrm>
          <a:prstGeom prst="rect">
            <a:avLst/>
          </a:prstGeom>
          <a:noFill/>
        </p:spPr>
        <p:txBody>
          <a:bodyPr wrap="square" lIns="36000" rIns="36000" tIns="18000" bIns="18000" anchor="t">
            <a:spAutoFit/>
          </a:bodyPr>
          <a:lstStyle/>
          <a:p>
            <a:pPr algn="l"/>
            <a:r>
              <a:rPr sz="800" b="0" i="1">
                <a:solidFill>
                  <a:srgbClr val="F6FAFD"/>
                </a:solidFill>
                <a:latin typeface="Arial"/>
              </a:rPr>
              <a:t>Visible to · VP Vitor + Director trio + middle managers + Sponsors of affected items + BRS</a:t>
            </a:r>
          </a:p>
        </p:txBody>
      </p:sp>
      <p:sp>
        <p:nvSpPr>
          <p:cNvPr id="42" name="TextBox 4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3" name="TextBox 4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19 / 27</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Seven performance metrics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Agreed with Heather + VP Vitor · reviewed monthly at Gate 2 · drives Director performance review</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91440" cy="2423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00200"/>
            <a:ext cx="2491740" cy="274320"/>
          </a:xfrm>
          <a:prstGeom prst="rect">
            <a:avLst/>
          </a:prstGeom>
          <a:noFill/>
        </p:spPr>
        <p:txBody>
          <a:bodyPr wrap="square" lIns="36000" rIns="36000" tIns="18000" bIns="18000" anchor="t">
            <a:spAutoFit/>
          </a:bodyPr>
          <a:lstStyle/>
          <a:p>
            <a:pPr algn="l"/>
            <a:r>
              <a:rPr sz="900" b="1" i="0">
                <a:solidFill>
                  <a:srgbClr val="008C38"/>
                </a:solidFill>
                <a:latin typeface="Arial"/>
              </a:rPr>
              <a:t>BV THROUGHPUT</a:t>
            </a:r>
          </a:p>
        </p:txBody>
      </p:sp>
      <p:sp>
        <p:nvSpPr>
          <p:cNvPr id="8" name="TextBox 7"/>
          <p:cNvSpPr txBox="1"/>
          <p:nvPr/>
        </p:nvSpPr>
        <p:spPr>
          <a:xfrm>
            <a:off x="54864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$M delivered / quarter</a:t>
            </a:r>
          </a:p>
        </p:txBody>
      </p:sp>
      <p:sp>
        <p:nvSpPr>
          <p:cNvPr id="9" name="TextBox 8"/>
          <p:cNvSpPr txBox="1"/>
          <p:nvPr/>
        </p:nvSpPr>
        <p:spPr>
          <a:xfrm>
            <a:off x="54864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$ 2.4M / Q3</a:t>
            </a:r>
          </a:p>
        </p:txBody>
      </p:sp>
      <p:sp>
        <p:nvSpPr>
          <p:cNvPr id="10" name="TextBox 9"/>
          <p:cNvSpPr txBox="1"/>
          <p:nvPr/>
        </p:nvSpPr>
        <p:spPr>
          <a:xfrm>
            <a:off x="548640" y="2788920"/>
            <a:ext cx="2491740" cy="274320"/>
          </a:xfrm>
          <a:prstGeom prst="rect">
            <a:avLst/>
          </a:prstGeom>
          <a:noFill/>
        </p:spPr>
        <p:txBody>
          <a:bodyPr wrap="square" lIns="36000" rIns="36000" tIns="18000" bIns="18000" anchor="t">
            <a:spAutoFit/>
          </a:bodyPr>
          <a:lstStyle/>
          <a:p>
            <a:pPr algn="l"/>
            <a:r>
              <a:rPr sz="1000" b="1" i="0">
                <a:solidFill>
                  <a:srgbClr val="008C38"/>
                </a:solidFill>
                <a:latin typeface="Arial"/>
              </a:rPr>
              <a:t>↑ 18%</a:t>
            </a:r>
          </a:p>
        </p:txBody>
      </p:sp>
      <p:sp>
        <p:nvSpPr>
          <p:cNvPr id="11" name="Rectangle 10"/>
          <p:cNvSpPr/>
          <p:nvPr/>
        </p:nvSpPr>
        <p:spPr>
          <a:xfrm>
            <a:off x="548640" y="3520439"/>
            <a:ext cx="300037" cy="182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5253" y="3429000"/>
            <a:ext cx="300037" cy="274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21867" y="3474720"/>
            <a:ext cx="300037"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58480" y="3337560"/>
            <a:ext cx="300037" cy="3657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95094" y="3383279"/>
            <a:ext cx="300037" cy="3200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31707" y="3246120"/>
            <a:ext cx="300037"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8321" y="3291839"/>
            <a:ext cx="300037"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4934" y="3200400"/>
            <a:ext cx="300037"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6898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68980" y="1508760"/>
            <a:ext cx="91440" cy="2423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1860" y="1600200"/>
            <a:ext cx="2491740" cy="274320"/>
          </a:xfrm>
          <a:prstGeom prst="rect">
            <a:avLst/>
          </a:prstGeom>
          <a:noFill/>
        </p:spPr>
        <p:txBody>
          <a:bodyPr wrap="square" lIns="36000" rIns="36000" tIns="18000" bIns="18000" anchor="t">
            <a:spAutoFit/>
          </a:bodyPr>
          <a:lstStyle/>
          <a:p>
            <a:pPr algn="l"/>
            <a:r>
              <a:rPr sz="900" b="1" i="0">
                <a:solidFill>
                  <a:srgbClr val="008950"/>
                </a:solidFill>
                <a:latin typeface="Arial"/>
              </a:rPr>
              <a:t>PAIN VELOCITY</a:t>
            </a:r>
          </a:p>
        </p:txBody>
      </p:sp>
      <p:sp>
        <p:nvSpPr>
          <p:cNvPr id="22" name="TextBox 21"/>
          <p:cNvSpPr txBox="1"/>
          <p:nvPr/>
        </p:nvSpPr>
        <p:spPr>
          <a:xfrm>
            <a:off x="345186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avg Pain Score completed / mo</a:t>
            </a:r>
          </a:p>
        </p:txBody>
      </p:sp>
      <p:sp>
        <p:nvSpPr>
          <p:cNvPr id="23" name="TextBox 22"/>
          <p:cNvSpPr txBox="1"/>
          <p:nvPr/>
        </p:nvSpPr>
        <p:spPr>
          <a:xfrm>
            <a:off x="345186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2.18 avg</a:t>
            </a:r>
          </a:p>
        </p:txBody>
      </p:sp>
      <p:sp>
        <p:nvSpPr>
          <p:cNvPr id="24" name="TextBox 23"/>
          <p:cNvSpPr txBox="1"/>
          <p:nvPr/>
        </p:nvSpPr>
        <p:spPr>
          <a:xfrm>
            <a:off x="3451860" y="2788920"/>
            <a:ext cx="2491740" cy="274320"/>
          </a:xfrm>
          <a:prstGeom prst="rect">
            <a:avLst/>
          </a:prstGeom>
          <a:noFill/>
        </p:spPr>
        <p:txBody>
          <a:bodyPr wrap="square" lIns="36000" rIns="36000" tIns="18000" bIns="18000" anchor="t">
            <a:spAutoFit/>
          </a:bodyPr>
          <a:lstStyle/>
          <a:p>
            <a:pPr algn="l"/>
            <a:r>
              <a:rPr sz="1000" b="1" i="0">
                <a:solidFill>
                  <a:srgbClr val="008950"/>
                </a:solidFill>
                <a:latin typeface="Arial"/>
              </a:rPr>
              <a:t>→ flat</a:t>
            </a:r>
          </a:p>
        </p:txBody>
      </p:sp>
      <p:sp>
        <p:nvSpPr>
          <p:cNvPr id="25" name="Rectangle 24"/>
          <p:cNvSpPr/>
          <p:nvPr/>
        </p:nvSpPr>
        <p:spPr>
          <a:xfrm>
            <a:off x="3451860" y="3520439"/>
            <a:ext cx="300037" cy="182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788473" y="3429000"/>
            <a:ext cx="300037" cy="274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25087" y="3474720"/>
            <a:ext cx="300037" cy="2286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61700" y="3337560"/>
            <a:ext cx="300037" cy="3657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98314" y="3383279"/>
            <a:ext cx="300037" cy="3200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34927" y="3246120"/>
            <a:ext cx="300037" cy="4572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71541" y="3291839"/>
            <a:ext cx="300037" cy="4114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08154" y="3200400"/>
            <a:ext cx="300037"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7220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1508760"/>
            <a:ext cx="91440" cy="2423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1600200"/>
            <a:ext cx="2491740" cy="274320"/>
          </a:xfrm>
          <a:prstGeom prst="rect">
            <a:avLst/>
          </a:prstGeom>
          <a:noFill/>
        </p:spPr>
        <p:txBody>
          <a:bodyPr wrap="square" lIns="36000" rIns="36000" tIns="18000" bIns="18000" anchor="t">
            <a:spAutoFit/>
          </a:bodyPr>
          <a:lstStyle/>
          <a:p>
            <a:pPr algn="l"/>
            <a:r>
              <a:rPr sz="900" b="1" i="0">
                <a:solidFill>
                  <a:srgbClr val="2C578B"/>
                </a:solidFill>
                <a:latin typeface="Arial"/>
              </a:rPr>
              <a:t>GATE 2 ACCEPTANCE RATE</a:t>
            </a:r>
          </a:p>
        </p:txBody>
      </p:sp>
      <p:sp>
        <p:nvSpPr>
          <p:cNvPr id="36" name="TextBox 35"/>
          <p:cNvSpPr txBox="1"/>
          <p:nvPr/>
        </p:nvSpPr>
        <p:spPr>
          <a:xfrm>
            <a:off x="635508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submitted that pass Gate 2</a:t>
            </a:r>
          </a:p>
        </p:txBody>
      </p:sp>
      <p:sp>
        <p:nvSpPr>
          <p:cNvPr id="37" name="TextBox 36"/>
          <p:cNvSpPr txBox="1"/>
          <p:nvPr/>
        </p:nvSpPr>
        <p:spPr>
          <a:xfrm>
            <a:off x="635508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72 %</a:t>
            </a:r>
          </a:p>
        </p:txBody>
      </p:sp>
      <p:sp>
        <p:nvSpPr>
          <p:cNvPr id="38" name="TextBox 37"/>
          <p:cNvSpPr txBox="1"/>
          <p:nvPr/>
        </p:nvSpPr>
        <p:spPr>
          <a:xfrm>
            <a:off x="6355080" y="2788920"/>
            <a:ext cx="2491740" cy="274320"/>
          </a:xfrm>
          <a:prstGeom prst="rect">
            <a:avLst/>
          </a:prstGeom>
          <a:noFill/>
        </p:spPr>
        <p:txBody>
          <a:bodyPr wrap="square" lIns="36000" rIns="36000" tIns="18000" bIns="18000" anchor="t">
            <a:spAutoFit/>
          </a:bodyPr>
          <a:lstStyle/>
          <a:p>
            <a:pPr algn="l"/>
            <a:r>
              <a:rPr sz="1000" b="1" i="0">
                <a:solidFill>
                  <a:srgbClr val="2C578B"/>
                </a:solidFill>
                <a:latin typeface="Arial"/>
              </a:rPr>
              <a:t>↑ 8pp</a:t>
            </a:r>
          </a:p>
        </p:txBody>
      </p:sp>
      <p:sp>
        <p:nvSpPr>
          <p:cNvPr id="39" name="Rectangle 38"/>
          <p:cNvSpPr/>
          <p:nvPr/>
        </p:nvSpPr>
        <p:spPr>
          <a:xfrm>
            <a:off x="6355080" y="3520439"/>
            <a:ext cx="300037" cy="182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91693" y="3429000"/>
            <a:ext cx="300037" cy="274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28307" y="3474720"/>
            <a:ext cx="300037"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64920" y="3337560"/>
            <a:ext cx="30003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01534" y="3383279"/>
            <a:ext cx="300037"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38147" y="3246120"/>
            <a:ext cx="300037"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374761" y="3291839"/>
            <a:ext cx="30003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711374" y="3200400"/>
            <a:ext cx="300037"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07542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75420" y="1508760"/>
            <a:ext cx="91440" cy="24231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58300" y="1600200"/>
            <a:ext cx="2491740" cy="274320"/>
          </a:xfrm>
          <a:prstGeom prst="rect">
            <a:avLst/>
          </a:prstGeom>
          <a:noFill/>
        </p:spPr>
        <p:txBody>
          <a:bodyPr wrap="square" lIns="36000" rIns="36000" tIns="18000" bIns="18000" anchor="t">
            <a:spAutoFit/>
          </a:bodyPr>
          <a:lstStyle/>
          <a:p>
            <a:pPr algn="l"/>
            <a:r>
              <a:rPr sz="900" b="1" i="0">
                <a:solidFill>
                  <a:srgbClr val="1B3C66"/>
                </a:solidFill>
                <a:latin typeface="Arial"/>
              </a:rPr>
              <a:t>CoS ADHERENCE</a:t>
            </a:r>
          </a:p>
        </p:txBody>
      </p:sp>
      <p:sp>
        <p:nvSpPr>
          <p:cNvPr id="50" name="TextBox 49"/>
          <p:cNvSpPr txBox="1"/>
          <p:nvPr/>
        </p:nvSpPr>
        <p:spPr>
          <a:xfrm>
            <a:off x="925830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in correct CoS lane</a:t>
            </a:r>
          </a:p>
        </p:txBody>
      </p:sp>
      <p:sp>
        <p:nvSpPr>
          <p:cNvPr id="51" name="TextBox 50"/>
          <p:cNvSpPr txBox="1"/>
          <p:nvPr/>
        </p:nvSpPr>
        <p:spPr>
          <a:xfrm>
            <a:off x="925830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94 %</a:t>
            </a:r>
          </a:p>
        </p:txBody>
      </p:sp>
      <p:sp>
        <p:nvSpPr>
          <p:cNvPr id="52" name="TextBox 51"/>
          <p:cNvSpPr txBox="1"/>
          <p:nvPr/>
        </p:nvSpPr>
        <p:spPr>
          <a:xfrm>
            <a:off x="9258300" y="2788920"/>
            <a:ext cx="2491740" cy="274320"/>
          </a:xfrm>
          <a:prstGeom prst="rect">
            <a:avLst/>
          </a:prstGeom>
          <a:noFill/>
        </p:spPr>
        <p:txBody>
          <a:bodyPr wrap="square" lIns="36000" rIns="36000" tIns="18000" bIns="18000" anchor="t">
            <a:spAutoFit/>
          </a:bodyPr>
          <a:lstStyle/>
          <a:p>
            <a:pPr algn="l"/>
            <a:r>
              <a:rPr sz="1000" b="1" i="0">
                <a:solidFill>
                  <a:srgbClr val="1B3C66"/>
                </a:solidFill>
                <a:latin typeface="Arial"/>
              </a:rPr>
              <a:t>↑ 3pp</a:t>
            </a:r>
          </a:p>
        </p:txBody>
      </p:sp>
      <p:sp>
        <p:nvSpPr>
          <p:cNvPr id="53" name="Rectangle 52"/>
          <p:cNvSpPr/>
          <p:nvPr/>
        </p:nvSpPr>
        <p:spPr>
          <a:xfrm>
            <a:off x="9258300" y="3520439"/>
            <a:ext cx="300037" cy="182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94913" y="3429000"/>
            <a:ext cx="300037" cy="2743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931527" y="3474720"/>
            <a:ext cx="300037" cy="2286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268140" y="3337560"/>
            <a:ext cx="300037" cy="3657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604754" y="3383279"/>
            <a:ext cx="300037" cy="3200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941367" y="3246120"/>
            <a:ext cx="300037" cy="4572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277981" y="3291839"/>
            <a:ext cx="300037" cy="4114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1614594" y="3200400"/>
            <a:ext cx="300037"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36576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65760" y="4114800"/>
            <a:ext cx="91440" cy="2240279"/>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06240"/>
            <a:ext cx="3459480" cy="274320"/>
          </a:xfrm>
          <a:prstGeom prst="rect">
            <a:avLst/>
          </a:prstGeom>
          <a:noFill/>
        </p:spPr>
        <p:txBody>
          <a:bodyPr wrap="square" lIns="36000" rIns="36000" tIns="18000" bIns="18000" anchor="t">
            <a:spAutoFit/>
          </a:bodyPr>
          <a:lstStyle/>
          <a:p>
            <a:pPr algn="l"/>
            <a:r>
              <a:rPr sz="1000" b="1" i="0">
                <a:solidFill>
                  <a:srgbClr val="4F914F"/>
                </a:solidFill>
                <a:latin typeface="Arial"/>
              </a:rPr>
              <a:t>CYCLE TIME</a:t>
            </a:r>
          </a:p>
        </p:txBody>
      </p:sp>
      <p:sp>
        <p:nvSpPr>
          <p:cNvPr id="64" name="TextBox 63"/>
          <p:cNvSpPr txBox="1"/>
          <p:nvPr/>
        </p:nvSpPr>
        <p:spPr>
          <a:xfrm>
            <a:off x="54864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intake → DoR pass (days · median)</a:t>
            </a:r>
          </a:p>
        </p:txBody>
      </p:sp>
      <p:sp>
        <p:nvSpPr>
          <p:cNvPr id="65" name="TextBox 64"/>
          <p:cNvSpPr txBox="1"/>
          <p:nvPr/>
        </p:nvSpPr>
        <p:spPr>
          <a:xfrm>
            <a:off x="54864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18 days</a:t>
            </a:r>
          </a:p>
        </p:txBody>
      </p:sp>
      <p:sp>
        <p:nvSpPr>
          <p:cNvPr id="66" name="TextBox 65"/>
          <p:cNvSpPr txBox="1"/>
          <p:nvPr/>
        </p:nvSpPr>
        <p:spPr>
          <a:xfrm>
            <a:off x="548640" y="5394960"/>
            <a:ext cx="3459480" cy="274320"/>
          </a:xfrm>
          <a:prstGeom prst="rect">
            <a:avLst/>
          </a:prstGeom>
          <a:noFill/>
        </p:spPr>
        <p:txBody>
          <a:bodyPr wrap="square" lIns="36000" rIns="36000" tIns="18000" bIns="18000" anchor="t">
            <a:spAutoFit/>
          </a:bodyPr>
          <a:lstStyle/>
          <a:p>
            <a:pPr algn="l"/>
            <a:r>
              <a:rPr sz="1000" b="1" i="0">
                <a:solidFill>
                  <a:srgbClr val="4F914F"/>
                </a:solidFill>
                <a:latin typeface="Arial"/>
              </a:rPr>
              <a:t>↓ 4d</a:t>
            </a:r>
          </a:p>
        </p:txBody>
      </p:sp>
      <p:sp>
        <p:nvSpPr>
          <p:cNvPr id="67" name="Rectangle 66"/>
          <p:cNvSpPr/>
          <p:nvPr/>
        </p:nvSpPr>
        <p:spPr>
          <a:xfrm>
            <a:off x="548640" y="6080759"/>
            <a:ext cx="421005" cy="18288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06221" y="5989320"/>
            <a:ext cx="421005" cy="2743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463802" y="6035040"/>
            <a:ext cx="421005" cy="22860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921382" y="5897879"/>
            <a:ext cx="421005" cy="36576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378964" y="5943600"/>
            <a:ext cx="421005" cy="3200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836545" y="5806440"/>
            <a:ext cx="421005" cy="45720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294125" y="5852159"/>
            <a:ext cx="421005" cy="41148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751706" y="5760720"/>
            <a:ext cx="421005" cy="5029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23672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236720" y="4114800"/>
            <a:ext cx="91440" cy="2240279"/>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419600" y="420624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 PLANNED vs UNPLANNED</a:t>
            </a:r>
          </a:p>
        </p:txBody>
      </p:sp>
      <p:sp>
        <p:nvSpPr>
          <p:cNvPr id="78" name="TextBox 77"/>
          <p:cNvSpPr txBox="1"/>
          <p:nvPr/>
        </p:nvSpPr>
        <p:spPr>
          <a:xfrm>
            <a:off x="441960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planned demand share</a:t>
            </a:r>
          </a:p>
        </p:txBody>
      </p:sp>
      <p:sp>
        <p:nvSpPr>
          <p:cNvPr id="79" name="TextBox 78"/>
          <p:cNvSpPr txBox="1"/>
          <p:nvPr/>
        </p:nvSpPr>
        <p:spPr>
          <a:xfrm>
            <a:off x="441960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78 %</a:t>
            </a:r>
          </a:p>
        </p:txBody>
      </p:sp>
      <p:sp>
        <p:nvSpPr>
          <p:cNvPr id="80" name="TextBox 79"/>
          <p:cNvSpPr txBox="1"/>
          <p:nvPr/>
        </p:nvSpPr>
        <p:spPr>
          <a:xfrm>
            <a:off x="4419600" y="539496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 2pp</a:t>
            </a:r>
          </a:p>
        </p:txBody>
      </p:sp>
      <p:sp>
        <p:nvSpPr>
          <p:cNvPr id="81" name="Rectangle 80"/>
          <p:cNvSpPr/>
          <p:nvPr/>
        </p:nvSpPr>
        <p:spPr>
          <a:xfrm>
            <a:off x="4419600" y="6080759"/>
            <a:ext cx="421005" cy="1828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877181" y="5989320"/>
            <a:ext cx="421005" cy="2743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334762" y="6035040"/>
            <a:ext cx="421005" cy="2286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792343" y="5897879"/>
            <a:ext cx="421005" cy="36576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249924" y="5943600"/>
            <a:ext cx="421005"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707505" y="5806440"/>
            <a:ext cx="421005" cy="4572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165086" y="5852159"/>
            <a:ext cx="421005" cy="4114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622667" y="5760720"/>
            <a:ext cx="421005" cy="5029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810768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107680" y="4114800"/>
            <a:ext cx="91440" cy="2240279"/>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90560" y="420624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PLANNING PREDICTABILITY</a:t>
            </a:r>
          </a:p>
        </p:txBody>
      </p:sp>
      <p:sp>
        <p:nvSpPr>
          <p:cNvPr id="92" name="TextBox 91"/>
          <p:cNvSpPr txBox="1"/>
          <p:nvPr/>
        </p:nvSpPr>
        <p:spPr>
          <a:xfrm>
            <a:off x="829056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planned vs delivered (commit %)</a:t>
            </a:r>
          </a:p>
        </p:txBody>
      </p:sp>
      <p:sp>
        <p:nvSpPr>
          <p:cNvPr id="93" name="TextBox 92"/>
          <p:cNvSpPr txBox="1"/>
          <p:nvPr/>
        </p:nvSpPr>
        <p:spPr>
          <a:xfrm>
            <a:off x="829056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86 %</a:t>
            </a:r>
          </a:p>
        </p:txBody>
      </p:sp>
      <p:sp>
        <p:nvSpPr>
          <p:cNvPr id="94" name="TextBox 93"/>
          <p:cNvSpPr txBox="1"/>
          <p:nvPr/>
        </p:nvSpPr>
        <p:spPr>
          <a:xfrm>
            <a:off x="8290560" y="539496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 5pp</a:t>
            </a:r>
          </a:p>
        </p:txBody>
      </p:sp>
      <p:sp>
        <p:nvSpPr>
          <p:cNvPr id="95" name="Rectangle 94"/>
          <p:cNvSpPr/>
          <p:nvPr/>
        </p:nvSpPr>
        <p:spPr>
          <a:xfrm>
            <a:off x="8290560" y="6080759"/>
            <a:ext cx="421005" cy="1828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748141" y="5989320"/>
            <a:ext cx="421005" cy="2743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205722" y="6035040"/>
            <a:ext cx="421005" cy="228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663302" y="5897879"/>
            <a:ext cx="421005" cy="36576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0120884" y="5943600"/>
            <a:ext cx="421005" cy="3200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0578465" y="5806440"/>
            <a:ext cx="421005"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036046" y="5852159"/>
            <a:ext cx="421005" cy="4114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493626" y="5760720"/>
            <a:ext cx="421005" cy="5029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04" name="TextBox 10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20 / 27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Cycle time + predictability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12-month rolling · CS vs ITBA · target overlay · variance commentary monthly</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576072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76072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5486400" cy="274320"/>
          </a:xfrm>
          <a:prstGeom prst="rect">
            <a:avLst/>
          </a:prstGeom>
          <a:noFill/>
        </p:spPr>
        <p:txBody>
          <a:bodyPr wrap="square" lIns="36000" rIns="36000" tIns="18000" bIns="18000" anchor="t">
            <a:spAutoFit/>
          </a:bodyPr>
          <a:lstStyle/>
          <a:p>
            <a:pPr algn="l"/>
            <a:r>
              <a:rPr sz="1000" b="1" i="0">
                <a:solidFill>
                  <a:srgbClr val="FFFFFF"/>
                </a:solidFill>
                <a:latin typeface="Arial"/>
              </a:rPr>
              <a:t>CYCLE TIME  ·  intake → DoR pass (days · median)</a:t>
            </a:r>
          </a:p>
        </p:txBody>
      </p:sp>
      <p:sp>
        <p:nvSpPr>
          <p:cNvPr id="8" name="Rectangle 7"/>
          <p:cNvSpPr/>
          <p:nvPr/>
        </p:nvSpPr>
        <p:spPr>
          <a:xfrm>
            <a:off x="822960" y="5029200"/>
            <a:ext cx="50292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103120"/>
            <a:ext cx="15000" cy="2926079"/>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Aug</a:t>
            </a:r>
          </a:p>
        </p:txBody>
      </p:sp>
      <p:sp>
        <p:nvSpPr>
          <p:cNvPr id="11" name="TextBox 10"/>
          <p:cNvSpPr txBox="1"/>
          <p:nvPr/>
        </p:nvSpPr>
        <p:spPr>
          <a:xfrm>
            <a:off x="1143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Sep</a:t>
            </a:r>
          </a:p>
        </p:txBody>
      </p:sp>
      <p:sp>
        <p:nvSpPr>
          <p:cNvPr id="12" name="TextBox 11"/>
          <p:cNvSpPr txBox="1"/>
          <p:nvPr/>
        </p:nvSpPr>
        <p:spPr>
          <a:xfrm>
            <a:off x="1600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Oct</a:t>
            </a:r>
          </a:p>
        </p:txBody>
      </p:sp>
      <p:sp>
        <p:nvSpPr>
          <p:cNvPr id="13" name="TextBox 12"/>
          <p:cNvSpPr txBox="1"/>
          <p:nvPr/>
        </p:nvSpPr>
        <p:spPr>
          <a:xfrm>
            <a:off x="2057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Nov</a:t>
            </a:r>
          </a:p>
        </p:txBody>
      </p:sp>
      <p:sp>
        <p:nvSpPr>
          <p:cNvPr id="14" name="TextBox 13"/>
          <p:cNvSpPr txBox="1"/>
          <p:nvPr/>
        </p:nvSpPr>
        <p:spPr>
          <a:xfrm>
            <a:off x="2514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Dec</a:t>
            </a:r>
          </a:p>
        </p:txBody>
      </p:sp>
      <p:sp>
        <p:nvSpPr>
          <p:cNvPr id="15" name="TextBox 14"/>
          <p:cNvSpPr txBox="1"/>
          <p:nvPr/>
        </p:nvSpPr>
        <p:spPr>
          <a:xfrm>
            <a:off x="2971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Jan</a:t>
            </a:r>
          </a:p>
        </p:txBody>
      </p:sp>
      <p:sp>
        <p:nvSpPr>
          <p:cNvPr id="16" name="TextBox 15"/>
          <p:cNvSpPr txBox="1"/>
          <p:nvPr/>
        </p:nvSpPr>
        <p:spPr>
          <a:xfrm>
            <a:off x="3429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Feb</a:t>
            </a:r>
          </a:p>
        </p:txBody>
      </p:sp>
      <p:sp>
        <p:nvSpPr>
          <p:cNvPr id="17" name="TextBox 16"/>
          <p:cNvSpPr txBox="1"/>
          <p:nvPr/>
        </p:nvSpPr>
        <p:spPr>
          <a:xfrm>
            <a:off x="3886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Mar</a:t>
            </a:r>
          </a:p>
        </p:txBody>
      </p:sp>
      <p:sp>
        <p:nvSpPr>
          <p:cNvPr id="18" name="TextBox 17"/>
          <p:cNvSpPr txBox="1"/>
          <p:nvPr/>
        </p:nvSpPr>
        <p:spPr>
          <a:xfrm>
            <a:off x="4343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Apr</a:t>
            </a:r>
          </a:p>
        </p:txBody>
      </p:sp>
      <p:sp>
        <p:nvSpPr>
          <p:cNvPr id="19" name="TextBox 18"/>
          <p:cNvSpPr txBox="1"/>
          <p:nvPr/>
        </p:nvSpPr>
        <p:spPr>
          <a:xfrm>
            <a:off x="4800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May</a:t>
            </a:r>
          </a:p>
        </p:txBody>
      </p:sp>
      <p:sp>
        <p:nvSpPr>
          <p:cNvPr id="20" name="TextBox 19"/>
          <p:cNvSpPr txBox="1"/>
          <p:nvPr/>
        </p:nvSpPr>
        <p:spPr>
          <a:xfrm>
            <a:off x="5257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Jun</a:t>
            </a:r>
          </a:p>
        </p:txBody>
      </p:sp>
      <p:sp>
        <p:nvSpPr>
          <p:cNvPr id="21" name="TextBox 20"/>
          <p:cNvSpPr txBox="1"/>
          <p:nvPr/>
        </p:nvSpPr>
        <p:spPr>
          <a:xfrm>
            <a:off x="5715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Jul</a:t>
            </a:r>
          </a:p>
        </p:txBody>
      </p:sp>
      <p:sp>
        <p:nvSpPr>
          <p:cNvPr id="22" name="TextBox 21"/>
          <p:cNvSpPr txBox="1"/>
          <p:nvPr/>
        </p:nvSpPr>
        <p:spPr>
          <a:xfrm>
            <a:off x="411480" y="495604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10</a:t>
            </a:r>
          </a:p>
        </p:txBody>
      </p:sp>
      <p:sp>
        <p:nvSpPr>
          <p:cNvPr id="23" name="Rectangle 22"/>
          <p:cNvSpPr/>
          <p:nvPr/>
        </p:nvSpPr>
        <p:spPr>
          <a:xfrm>
            <a:off x="822960" y="502920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422452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15</a:t>
            </a:r>
          </a:p>
        </p:txBody>
      </p:sp>
      <p:sp>
        <p:nvSpPr>
          <p:cNvPr id="25" name="Rectangle 24"/>
          <p:cNvSpPr/>
          <p:nvPr/>
        </p:nvSpPr>
        <p:spPr>
          <a:xfrm>
            <a:off x="822960" y="429768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349300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20</a:t>
            </a:r>
          </a:p>
        </p:txBody>
      </p:sp>
      <p:sp>
        <p:nvSpPr>
          <p:cNvPr id="27" name="Rectangle 26"/>
          <p:cNvSpPr/>
          <p:nvPr/>
        </p:nvSpPr>
        <p:spPr>
          <a:xfrm>
            <a:off x="822960" y="356616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76148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25</a:t>
            </a:r>
          </a:p>
        </p:txBody>
      </p:sp>
      <p:sp>
        <p:nvSpPr>
          <p:cNvPr id="29" name="Rectangle 28"/>
          <p:cNvSpPr/>
          <p:nvPr/>
        </p:nvSpPr>
        <p:spPr>
          <a:xfrm>
            <a:off x="822960" y="283464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02996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30</a:t>
            </a:r>
          </a:p>
        </p:txBody>
      </p:sp>
      <p:sp>
        <p:nvSpPr>
          <p:cNvPr id="31" name="Rectangle 30"/>
          <p:cNvSpPr/>
          <p:nvPr/>
        </p:nvSpPr>
        <p:spPr>
          <a:xfrm>
            <a:off x="822960" y="210312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 y="3858768"/>
            <a:ext cx="5029200"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3694176"/>
            <a:ext cx="91440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18d</a:t>
            </a:r>
          </a:p>
        </p:txBody>
      </p:sp>
      <p:cxnSp>
        <p:nvCxnSpPr>
          <p:cNvPr id="34" name="Connector 33"/>
          <p:cNvCxnSpPr/>
          <p:nvPr/>
        </p:nvCxnSpPr>
        <p:spPr>
          <a:xfrm>
            <a:off x="822960" y="239572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77240" y="235000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280160" y="2688336"/>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1234439" y="264261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V="1">
            <a:off x="1737360" y="283464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691639" y="293522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2194560" y="2834640"/>
            <a:ext cx="457200" cy="438912"/>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2148840" y="278892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651760" y="3273552"/>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2606040" y="322783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3108960" y="3419856"/>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3063240" y="337413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3566160" y="356616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3520440" y="352044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023360" y="3712464"/>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3977640" y="366674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44805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44348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V="1">
            <a:off x="49377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4892040" y="395935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394960" y="385876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53492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806440" y="410565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822960" y="210312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77240" y="205740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1280160" y="2249424"/>
            <a:ext cx="457200" cy="292608"/>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234439" y="220370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flipV="1">
            <a:off x="1737360" y="239572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691639" y="249631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2194560" y="2395728"/>
            <a:ext cx="457200" cy="438912"/>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2148840" y="235000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2651760" y="283464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2606040" y="278892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3108960" y="2980944"/>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3063240" y="293522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3566160" y="312724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3520440" y="308152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4023360" y="3273552"/>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3977640" y="322783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4480560" y="3419856"/>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4434840" y="3374136"/>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4937760" y="356616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4892040" y="352044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5394960" y="3712464"/>
            <a:ext cx="457200" cy="0"/>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53492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58064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2960" y="5148071"/>
            <a:ext cx="274320" cy="182880"/>
          </a:xfrm>
          <a:prstGeom prst="rect">
            <a:avLst/>
          </a:prstGeom>
          <a:noFill/>
        </p:spPr>
        <p:txBody>
          <a:bodyPr wrap="square" lIns="36000" rIns="36000" tIns="18000" bIns="18000" anchor="t">
            <a:spAutoFit/>
          </a:bodyPr>
          <a:lstStyle/>
          <a:p>
            <a:pPr algn="l"/>
            <a:r>
              <a:rPr sz="1400" b="1" i="0">
                <a:solidFill>
                  <a:srgbClr val="008C38"/>
                </a:solidFill>
                <a:latin typeface="Arial"/>
              </a:rPr>
              <a:t>●</a:t>
            </a:r>
          </a:p>
        </p:txBody>
      </p:sp>
      <p:sp>
        <p:nvSpPr>
          <p:cNvPr id="81" name="TextBox 80"/>
          <p:cNvSpPr txBox="1"/>
          <p:nvPr/>
        </p:nvSpPr>
        <p:spPr>
          <a:xfrm>
            <a:off x="105156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CS</a:t>
            </a:r>
          </a:p>
        </p:txBody>
      </p:sp>
      <p:sp>
        <p:nvSpPr>
          <p:cNvPr id="82" name="TextBox 81"/>
          <p:cNvSpPr txBox="1"/>
          <p:nvPr/>
        </p:nvSpPr>
        <p:spPr>
          <a:xfrm>
            <a:off x="1463040" y="5148071"/>
            <a:ext cx="274320" cy="182880"/>
          </a:xfrm>
          <a:prstGeom prst="rect">
            <a:avLst/>
          </a:prstGeom>
          <a:noFill/>
        </p:spPr>
        <p:txBody>
          <a:bodyPr wrap="square" lIns="36000" rIns="36000" tIns="18000" bIns="18000" anchor="t">
            <a:spAutoFit/>
          </a:bodyPr>
          <a:lstStyle/>
          <a:p>
            <a:pPr algn="l"/>
            <a:r>
              <a:rPr sz="1400" b="1" i="0">
                <a:solidFill>
                  <a:srgbClr val="2C578B"/>
                </a:solidFill>
                <a:latin typeface="Arial"/>
              </a:rPr>
              <a:t>●</a:t>
            </a:r>
          </a:p>
        </p:txBody>
      </p:sp>
      <p:sp>
        <p:nvSpPr>
          <p:cNvPr id="83" name="TextBox 82"/>
          <p:cNvSpPr txBox="1"/>
          <p:nvPr/>
        </p:nvSpPr>
        <p:spPr>
          <a:xfrm>
            <a:off x="169164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ITBA</a:t>
            </a:r>
          </a:p>
        </p:txBody>
      </p:sp>
      <p:sp>
        <p:nvSpPr>
          <p:cNvPr id="84" name="TextBox 83"/>
          <p:cNvSpPr txBox="1"/>
          <p:nvPr/>
        </p:nvSpPr>
        <p:spPr>
          <a:xfrm>
            <a:off x="4754880" y="5166359"/>
            <a:ext cx="1280160" cy="182880"/>
          </a:xfrm>
          <a:prstGeom prst="rect">
            <a:avLst/>
          </a:prstGeom>
          <a:noFill/>
        </p:spPr>
        <p:txBody>
          <a:bodyPr wrap="square" lIns="36000" rIns="36000" tIns="18000" bIns="18000" anchor="t">
            <a:spAutoFit/>
          </a:bodyPr>
          <a:lstStyle/>
          <a:p>
            <a:pPr algn="r"/>
            <a:r>
              <a:rPr sz="900" b="1" i="0">
                <a:solidFill>
                  <a:srgbClr val="2C3E50"/>
                </a:solidFill>
                <a:latin typeface="Arial"/>
              </a:rPr>
              <a:t>CS 16d  ·  ITBA 19d</a:t>
            </a:r>
          </a:p>
        </p:txBody>
      </p:sp>
      <p:sp>
        <p:nvSpPr>
          <p:cNvPr id="85" name="Rounded Rectangle 84"/>
          <p:cNvSpPr/>
          <p:nvPr/>
        </p:nvSpPr>
        <p:spPr>
          <a:xfrm>
            <a:off x="6309360" y="1508760"/>
            <a:ext cx="5513831"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309360" y="1508760"/>
            <a:ext cx="551383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46520" y="1581912"/>
            <a:ext cx="5239512" cy="274320"/>
          </a:xfrm>
          <a:prstGeom prst="rect">
            <a:avLst/>
          </a:prstGeom>
          <a:noFill/>
        </p:spPr>
        <p:txBody>
          <a:bodyPr wrap="square" lIns="36000" rIns="36000" tIns="18000" bIns="18000" anchor="t">
            <a:spAutoFit/>
          </a:bodyPr>
          <a:lstStyle/>
          <a:p>
            <a:pPr algn="l"/>
            <a:r>
              <a:rPr sz="1000" b="1" i="0">
                <a:solidFill>
                  <a:srgbClr val="FFFFFF"/>
                </a:solidFill>
                <a:latin typeface="Arial"/>
              </a:rPr>
              <a:t>PLANNING PREDICTABILITY  ·  planned vs delivered (commit %)</a:t>
            </a:r>
          </a:p>
        </p:txBody>
      </p:sp>
      <p:sp>
        <p:nvSpPr>
          <p:cNvPr id="88" name="Rectangle 87"/>
          <p:cNvSpPr/>
          <p:nvPr/>
        </p:nvSpPr>
        <p:spPr>
          <a:xfrm>
            <a:off x="6858000" y="5029200"/>
            <a:ext cx="4690871"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949440" y="2980944"/>
            <a:ext cx="315239" cy="2048255"/>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949440" y="2779776"/>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70%</a:t>
            </a:r>
          </a:p>
        </p:txBody>
      </p:sp>
      <p:sp>
        <p:nvSpPr>
          <p:cNvPr id="91" name="Rectangle 90"/>
          <p:cNvSpPr/>
          <p:nvPr/>
        </p:nvSpPr>
        <p:spPr>
          <a:xfrm>
            <a:off x="7337831" y="3127248"/>
            <a:ext cx="315239" cy="190195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337831" y="2926080"/>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65%</a:t>
            </a:r>
          </a:p>
        </p:txBody>
      </p:sp>
      <p:sp>
        <p:nvSpPr>
          <p:cNvPr id="93" name="TextBox 92"/>
          <p:cNvSpPr txBox="1"/>
          <p:nvPr/>
        </p:nvSpPr>
        <p:spPr>
          <a:xfrm>
            <a:off x="6858000"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Q4 25</a:t>
            </a:r>
          </a:p>
        </p:txBody>
      </p:sp>
      <p:sp>
        <p:nvSpPr>
          <p:cNvPr id="94" name="Rectangle 93"/>
          <p:cNvSpPr/>
          <p:nvPr/>
        </p:nvSpPr>
        <p:spPr>
          <a:xfrm>
            <a:off x="8122157" y="2834640"/>
            <a:ext cx="315239" cy="2194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122157" y="2633472"/>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75%</a:t>
            </a:r>
          </a:p>
        </p:txBody>
      </p:sp>
      <p:sp>
        <p:nvSpPr>
          <p:cNvPr id="96" name="Rectangle 95"/>
          <p:cNvSpPr/>
          <p:nvPr/>
        </p:nvSpPr>
        <p:spPr>
          <a:xfrm>
            <a:off x="8510549" y="2922422"/>
            <a:ext cx="315239" cy="210677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510549" y="272125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72%</a:t>
            </a:r>
          </a:p>
        </p:txBody>
      </p:sp>
      <p:sp>
        <p:nvSpPr>
          <p:cNvPr id="98" name="TextBox 97"/>
          <p:cNvSpPr txBox="1"/>
          <p:nvPr/>
        </p:nvSpPr>
        <p:spPr>
          <a:xfrm>
            <a:off x="8030717"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Q1 26</a:t>
            </a:r>
          </a:p>
        </p:txBody>
      </p:sp>
      <p:sp>
        <p:nvSpPr>
          <p:cNvPr id="99" name="Rectangle 98"/>
          <p:cNvSpPr/>
          <p:nvPr/>
        </p:nvSpPr>
        <p:spPr>
          <a:xfrm>
            <a:off x="9294876" y="2688336"/>
            <a:ext cx="315239" cy="2340863"/>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294876" y="2487168"/>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80%</a:t>
            </a:r>
          </a:p>
        </p:txBody>
      </p:sp>
      <p:sp>
        <p:nvSpPr>
          <p:cNvPr id="101" name="Rectangle 100"/>
          <p:cNvSpPr/>
          <p:nvPr/>
        </p:nvSpPr>
        <p:spPr>
          <a:xfrm>
            <a:off x="9683267" y="2746857"/>
            <a:ext cx="315239" cy="228234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683267" y="2545689"/>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78%</a:t>
            </a:r>
          </a:p>
        </p:txBody>
      </p:sp>
      <p:sp>
        <p:nvSpPr>
          <p:cNvPr id="103" name="TextBox 102"/>
          <p:cNvSpPr txBox="1"/>
          <p:nvPr/>
        </p:nvSpPr>
        <p:spPr>
          <a:xfrm>
            <a:off x="9203436"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Q2 26</a:t>
            </a:r>
          </a:p>
        </p:txBody>
      </p:sp>
      <p:sp>
        <p:nvSpPr>
          <p:cNvPr id="104" name="Rectangle 103"/>
          <p:cNvSpPr/>
          <p:nvPr/>
        </p:nvSpPr>
        <p:spPr>
          <a:xfrm>
            <a:off x="10467594" y="2512771"/>
            <a:ext cx="315239" cy="251642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467594" y="2311603"/>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86%</a:t>
            </a:r>
          </a:p>
        </p:txBody>
      </p:sp>
      <p:sp>
        <p:nvSpPr>
          <p:cNvPr id="106" name="Rectangle 105"/>
          <p:cNvSpPr/>
          <p:nvPr/>
        </p:nvSpPr>
        <p:spPr>
          <a:xfrm>
            <a:off x="10855985" y="2571292"/>
            <a:ext cx="315239" cy="245790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855985" y="237012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84%</a:t>
            </a:r>
          </a:p>
        </p:txBody>
      </p:sp>
      <p:sp>
        <p:nvSpPr>
          <p:cNvPr id="108" name="TextBox 107"/>
          <p:cNvSpPr txBox="1"/>
          <p:nvPr/>
        </p:nvSpPr>
        <p:spPr>
          <a:xfrm>
            <a:off x="10376154"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Q3 26</a:t>
            </a:r>
          </a:p>
        </p:txBody>
      </p:sp>
      <p:sp>
        <p:nvSpPr>
          <p:cNvPr id="109" name="Rectangle 108"/>
          <p:cNvSpPr/>
          <p:nvPr/>
        </p:nvSpPr>
        <p:spPr>
          <a:xfrm>
            <a:off x="6858000" y="2395728"/>
            <a:ext cx="4690871"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817351" y="2212848"/>
            <a:ext cx="73152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90%</a:t>
            </a:r>
          </a:p>
        </p:txBody>
      </p:sp>
      <p:sp>
        <p:nvSpPr>
          <p:cNvPr id="111" name="Rounded Rectangle 110"/>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114" name="TextBox 113"/>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Cycle time trending toward target · predictability up 16pp YoY · ITBA 3 days behind CS due to SAP regression cycles.</a:t>
            </a:r>
          </a:p>
        </p:txBody>
      </p:sp>
      <p:sp>
        <p:nvSpPr>
          <p:cNvPr id="115" name="TextBox 114"/>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Heather + VP Vitor review monthly · variance &gt;5pp triggers root-cause analysis at next Gate 2 · CS Q3 hit 86% commit predictability vs ITBA 84% · gap closing as SAP regression bench is formalized</a:t>
            </a:r>
          </a:p>
        </p:txBody>
      </p:sp>
      <p:sp>
        <p:nvSpPr>
          <p:cNvPr id="116" name="TextBox 11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17" name="TextBox 11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21 / 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Monthly report to VP Vitor</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Roadmap + outcomes + variance + asks · single-page view · feeds quarterly BRP digest</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114757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14757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81912"/>
            <a:ext cx="7315200" cy="274320"/>
          </a:xfrm>
          <a:prstGeom prst="rect">
            <a:avLst/>
          </a:prstGeom>
          <a:noFill/>
        </p:spPr>
        <p:txBody>
          <a:bodyPr wrap="square" lIns="36000" rIns="36000" tIns="18000" bIns="18000" anchor="t">
            <a:spAutoFit/>
          </a:bodyPr>
          <a:lstStyle/>
          <a:p>
            <a:pPr algn="l"/>
            <a:r>
              <a:rPr sz="1200" b="1" i="0">
                <a:solidFill>
                  <a:srgbClr val="FFFFFF"/>
                </a:solidFill>
                <a:latin typeface="Arial"/>
              </a:rPr>
              <a:t>DIGITAL PRODUCTS  ·  Phase 2 Monthly Report  ·  Q3 2026</a:t>
            </a:r>
          </a:p>
        </p:txBody>
      </p:sp>
      <p:sp>
        <p:nvSpPr>
          <p:cNvPr id="8" name="TextBox 7"/>
          <p:cNvSpPr txBox="1"/>
          <p:nvPr/>
        </p:nvSpPr>
        <p:spPr>
          <a:xfrm>
            <a:off x="8641080" y="1627631"/>
            <a:ext cx="3017520" cy="201168"/>
          </a:xfrm>
          <a:prstGeom prst="rect">
            <a:avLst/>
          </a:prstGeom>
          <a:noFill/>
        </p:spPr>
        <p:txBody>
          <a:bodyPr wrap="square" lIns="36000" rIns="36000" tIns="18000" bIns="18000" anchor="t">
            <a:spAutoFit/>
          </a:bodyPr>
          <a:lstStyle/>
          <a:p>
            <a:pPr algn="r"/>
            <a:r>
              <a:rPr sz="800" b="0" i="1">
                <a:solidFill>
                  <a:srgbClr val="F6FAFD"/>
                </a:solidFill>
                <a:latin typeface="Arial"/>
              </a:rPr>
              <a:t>Reviewed: Heather LaJoie · VP Vitor Cruz</a:t>
            </a:r>
          </a:p>
        </p:txBody>
      </p:sp>
      <p:sp>
        <p:nvSpPr>
          <p:cNvPr id="9" name="Rounded Rectangle 8"/>
          <p:cNvSpPr/>
          <p:nvPr/>
        </p:nvSpPr>
        <p:spPr>
          <a:xfrm>
            <a:off x="5486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54864"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48839"/>
            <a:ext cx="2434590" cy="164592"/>
          </a:xfrm>
          <a:prstGeom prst="rect">
            <a:avLst/>
          </a:prstGeom>
          <a:noFill/>
        </p:spPr>
        <p:txBody>
          <a:bodyPr wrap="square" lIns="36000" rIns="36000" tIns="18000" bIns="18000" anchor="t">
            <a:spAutoFit/>
          </a:bodyPr>
          <a:lstStyle/>
          <a:p>
            <a:pPr algn="l"/>
            <a:r>
              <a:rPr sz="700" b="1" i="0">
                <a:solidFill>
                  <a:srgbClr val="008C38"/>
                </a:solidFill>
                <a:latin typeface="Arial"/>
              </a:rPr>
              <a:t>BV THROUGHPUT</a:t>
            </a:r>
          </a:p>
        </p:txBody>
      </p:sp>
      <p:sp>
        <p:nvSpPr>
          <p:cNvPr id="12" name="TextBox 11"/>
          <p:cNvSpPr txBox="1"/>
          <p:nvPr/>
        </p:nvSpPr>
        <p:spPr>
          <a:xfrm>
            <a:off x="6858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$ 2.4M</a:t>
            </a:r>
          </a:p>
        </p:txBody>
      </p:sp>
      <p:sp>
        <p:nvSpPr>
          <p:cNvPr id="13" name="TextBox 12"/>
          <p:cNvSpPr txBox="1"/>
          <p:nvPr/>
        </p:nvSpPr>
        <p:spPr>
          <a:xfrm>
            <a:off x="685800" y="2606039"/>
            <a:ext cx="2434590" cy="201168"/>
          </a:xfrm>
          <a:prstGeom prst="rect">
            <a:avLst/>
          </a:prstGeom>
          <a:noFill/>
        </p:spPr>
        <p:txBody>
          <a:bodyPr wrap="square" lIns="36000" rIns="36000" tIns="18000" bIns="18000" anchor="t">
            <a:spAutoFit/>
          </a:bodyPr>
          <a:lstStyle/>
          <a:p>
            <a:pPr algn="l"/>
            <a:r>
              <a:rPr sz="800" b="1" i="0">
                <a:solidFill>
                  <a:srgbClr val="008C38"/>
                </a:solidFill>
                <a:latin typeface="Arial"/>
              </a:rPr>
              <a:t>+18% YoY</a:t>
            </a:r>
          </a:p>
        </p:txBody>
      </p:sp>
      <p:sp>
        <p:nvSpPr>
          <p:cNvPr id="14" name="Rounded Rectangle 13"/>
          <p:cNvSpPr/>
          <p:nvPr/>
        </p:nvSpPr>
        <p:spPr>
          <a:xfrm>
            <a:off x="33489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8990" y="2103120"/>
            <a:ext cx="54864"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6150" y="2148839"/>
            <a:ext cx="2434590" cy="164592"/>
          </a:xfrm>
          <a:prstGeom prst="rect">
            <a:avLst/>
          </a:prstGeom>
          <a:noFill/>
        </p:spPr>
        <p:txBody>
          <a:bodyPr wrap="square" lIns="36000" rIns="36000" tIns="18000" bIns="18000" anchor="t">
            <a:spAutoFit/>
          </a:bodyPr>
          <a:lstStyle/>
          <a:p>
            <a:pPr algn="l"/>
            <a:r>
              <a:rPr sz="700" b="1" i="0">
                <a:solidFill>
                  <a:srgbClr val="2C578B"/>
                </a:solidFill>
                <a:latin typeface="Arial"/>
              </a:rPr>
              <a:t>CYCLE TIME</a:t>
            </a:r>
          </a:p>
        </p:txBody>
      </p:sp>
      <p:sp>
        <p:nvSpPr>
          <p:cNvPr id="17" name="TextBox 16"/>
          <p:cNvSpPr txBox="1"/>
          <p:nvPr/>
        </p:nvSpPr>
        <p:spPr>
          <a:xfrm>
            <a:off x="34861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18 days</a:t>
            </a:r>
          </a:p>
        </p:txBody>
      </p:sp>
      <p:sp>
        <p:nvSpPr>
          <p:cNvPr id="18" name="TextBox 17"/>
          <p:cNvSpPr txBox="1"/>
          <p:nvPr/>
        </p:nvSpPr>
        <p:spPr>
          <a:xfrm>
            <a:off x="3486150" y="2606039"/>
            <a:ext cx="2434590" cy="201168"/>
          </a:xfrm>
          <a:prstGeom prst="rect">
            <a:avLst/>
          </a:prstGeom>
          <a:noFill/>
        </p:spPr>
        <p:txBody>
          <a:bodyPr wrap="square" lIns="36000" rIns="36000" tIns="18000" bIns="18000" anchor="t">
            <a:spAutoFit/>
          </a:bodyPr>
          <a:lstStyle/>
          <a:p>
            <a:pPr algn="l"/>
            <a:r>
              <a:rPr sz="800" b="1" i="0">
                <a:solidFill>
                  <a:srgbClr val="2C578B"/>
                </a:solidFill>
                <a:latin typeface="Arial"/>
              </a:rPr>
              <a:t>-4d MoM</a:t>
            </a:r>
          </a:p>
        </p:txBody>
      </p:sp>
      <p:sp>
        <p:nvSpPr>
          <p:cNvPr id="19" name="Rounded Rectangle 18"/>
          <p:cNvSpPr/>
          <p:nvPr/>
        </p:nvSpPr>
        <p:spPr>
          <a:xfrm>
            <a:off x="61493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9340" y="2103120"/>
            <a:ext cx="54864" cy="7772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86500" y="2148839"/>
            <a:ext cx="2434590" cy="164592"/>
          </a:xfrm>
          <a:prstGeom prst="rect">
            <a:avLst/>
          </a:prstGeom>
          <a:noFill/>
        </p:spPr>
        <p:txBody>
          <a:bodyPr wrap="square" lIns="36000" rIns="36000" tIns="18000" bIns="18000" anchor="t">
            <a:spAutoFit/>
          </a:bodyPr>
          <a:lstStyle/>
          <a:p>
            <a:pPr algn="l"/>
            <a:r>
              <a:rPr sz="700" b="1" i="0">
                <a:solidFill>
                  <a:srgbClr val="4F914F"/>
                </a:solidFill>
                <a:latin typeface="Arial"/>
              </a:rPr>
              <a:t>PREDICTABILITY</a:t>
            </a:r>
          </a:p>
        </p:txBody>
      </p:sp>
      <p:sp>
        <p:nvSpPr>
          <p:cNvPr id="22" name="TextBox 21"/>
          <p:cNvSpPr txBox="1"/>
          <p:nvPr/>
        </p:nvSpPr>
        <p:spPr>
          <a:xfrm>
            <a:off x="62865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86 %</a:t>
            </a:r>
          </a:p>
        </p:txBody>
      </p:sp>
      <p:sp>
        <p:nvSpPr>
          <p:cNvPr id="23" name="TextBox 22"/>
          <p:cNvSpPr txBox="1"/>
          <p:nvPr/>
        </p:nvSpPr>
        <p:spPr>
          <a:xfrm>
            <a:off x="6286500" y="2606039"/>
            <a:ext cx="2434590" cy="201168"/>
          </a:xfrm>
          <a:prstGeom prst="rect">
            <a:avLst/>
          </a:prstGeom>
          <a:noFill/>
        </p:spPr>
        <p:txBody>
          <a:bodyPr wrap="square" lIns="36000" rIns="36000" tIns="18000" bIns="18000" anchor="t">
            <a:spAutoFit/>
          </a:bodyPr>
          <a:lstStyle/>
          <a:p>
            <a:pPr algn="l"/>
            <a:r>
              <a:rPr sz="800" b="1" i="0">
                <a:solidFill>
                  <a:srgbClr val="4F914F"/>
                </a:solidFill>
                <a:latin typeface="Arial"/>
              </a:rPr>
              <a:t>+5pp YoY</a:t>
            </a:r>
          </a:p>
        </p:txBody>
      </p:sp>
      <p:sp>
        <p:nvSpPr>
          <p:cNvPr id="24" name="Rounded Rectangle 23"/>
          <p:cNvSpPr/>
          <p:nvPr/>
        </p:nvSpPr>
        <p:spPr>
          <a:xfrm>
            <a:off x="89496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49690" y="2103120"/>
            <a:ext cx="54864" cy="7772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86850" y="2148839"/>
            <a:ext cx="2434590" cy="164592"/>
          </a:xfrm>
          <a:prstGeom prst="rect">
            <a:avLst/>
          </a:prstGeom>
          <a:noFill/>
        </p:spPr>
        <p:txBody>
          <a:bodyPr wrap="square" lIns="36000" rIns="36000" tIns="18000" bIns="18000" anchor="t">
            <a:spAutoFit/>
          </a:bodyPr>
          <a:lstStyle/>
          <a:p>
            <a:pPr algn="l"/>
            <a:r>
              <a:rPr sz="700" b="1" i="0">
                <a:solidFill>
                  <a:srgbClr val="E98B2F"/>
                </a:solidFill>
                <a:latin typeface="Arial"/>
              </a:rPr>
              <a:t>PAIN VELOCITY</a:t>
            </a:r>
          </a:p>
        </p:txBody>
      </p:sp>
      <p:sp>
        <p:nvSpPr>
          <p:cNvPr id="27" name="TextBox 26"/>
          <p:cNvSpPr txBox="1"/>
          <p:nvPr/>
        </p:nvSpPr>
        <p:spPr>
          <a:xfrm>
            <a:off x="90868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2.18</a:t>
            </a:r>
          </a:p>
        </p:txBody>
      </p:sp>
      <p:sp>
        <p:nvSpPr>
          <p:cNvPr id="28" name="TextBox 27"/>
          <p:cNvSpPr txBox="1"/>
          <p:nvPr/>
        </p:nvSpPr>
        <p:spPr>
          <a:xfrm>
            <a:off x="9086850" y="2606039"/>
            <a:ext cx="2434590" cy="201168"/>
          </a:xfrm>
          <a:prstGeom prst="rect">
            <a:avLst/>
          </a:prstGeom>
          <a:noFill/>
        </p:spPr>
        <p:txBody>
          <a:bodyPr wrap="square" lIns="36000" rIns="36000" tIns="18000" bIns="18000" anchor="t">
            <a:spAutoFit/>
          </a:bodyPr>
          <a:lstStyle/>
          <a:p>
            <a:pPr algn="l"/>
            <a:r>
              <a:rPr sz="800" b="1" i="0">
                <a:solidFill>
                  <a:srgbClr val="E98B2F"/>
                </a:solidFill>
                <a:latin typeface="Arial"/>
              </a:rPr>
              <a:t>→ flat</a:t>
            </a:r>
          </a:p>
        </p:txBody>
      </p:sp>
      <p:sp>
        <p:nvSpPr>
          <p:cNvPr id="29" name="TextBox 28"/>
          <p:cNvSpPr txBox="1"/>
          <p:nvPr/>
        </p:nvSpPr>
        <p:spPr>
          <a:xfrm>
            <a:off x="548640" y="3063239"/>
            <a:ext cx="11201400" cy="182880"/>
          </a:xfrm>
          <a:prstGeom prst="rect">
            <a:avLst/>
          </a:prstGeom>
          <a:noFill/>
        </p:spPr>
        <p:txBody>
          <a:bodyPr wrap="square" lIns="36000" rIns="36000" tIns="18000" bIns="18000" anchor="t">
            <a:spAutoFit/>
          </a:bodyPr>
          <a:lstStyle/>
          <a:p>
            <a:pPr algn="l"/>
            <a:r>
              <a:rPr sz="900" b="1" i="0">
                <a:solidFill>
                  <a:srgbClr val="0F2A47"/>
                </a:solidFill>
                <a:latin typeface="Arial"/>
              </a:rPr>
              <a:t>ROADMAP  ·  Q3 commits + Q4 plans + 2027 hypotheses</a:t>
            </a:r>
          </a:p>
        </p:txBody>
      </p:sp>
      <p:sp>
        <p:nvSpPr>
          <p:cNvPr id="30" name="Rectangle 29"/>
          <p:cNvSpPr/>
          <p:nvPr/>
        </p:nvSpPr>
        <p:spPr>
          <a:xfrm>
            <a:off x="548640" y="3291839"/>
            <a:ext cx="2740914"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Q3 26</a:t>
            </a:r>
          </a:p>
        </p:txBody>
      </p:sp>
      <p:sp>
        <p:nvSpPr>
          <p:cNvPr id="32" name="Rectangle 31"/>
          <p:cNvSpPr/>
          <p:nvPr/>
        </p:nvSpPr>
        <p:spPr>
          <a:xfrm>
            <a:off x="3326130" y="3291839"/>
            <a:ext cx="2740914"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2613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Q4 26</a:t>
            </a:r>
          </a:p>
        </p:txBody>
      </p:sp>
      <p:sp>
        <p:nvSpPr>
          <p:cNvPr id="34" name="Rectangle 33"/>
          <p:cNvSpPr/>
          <p:nvPr/>
        </p:nvSpPr>
        <p:spPr>
          <a:xfrm>
            <a:off x="610362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0362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Q1 27</a:t>
            </a:r>
          </a:p>
        </p:txBody>
      </p:sp>
      <p:sp>
        <p:nvSpPr>
          <p:cNvPr id="36" name="Rectangle 35"/>
          <p:cNvSpPr/>
          <p:nvPr/>
        </p:nvSpPr>
        <p:spPr>
          <a:xfrm>
            <a:off x="888111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8111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Q2 27</a:t>
            </a:r>
          </a:p>
        </p:txBody>
      </p:sp>
      <p:sp>
        <p:nvSpPr>
          <p:cNvPr id="38" name="Rounded Rectangle 37"/>
          <p:cNvSpPr/>
          <p:nvPr/>
        </p:nvSpPr>
        <p:spPr>
          <a:xfrm>
            <a:off x="548640" y="3566159"/>
            <a:ext cx="5554980"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3602735"/>
            <a:ext cx="5372100" cy="182880"/>
          </a:xfrm>
          <a:prstGeom prst="rect">
            <a:avLst/>
          </a:prstGeom>
          <a:noFill/>
        </p:spPr>
        <p:txBody>
          <a:bodyPr wrap="square" lIns="36000" rIns="36000" tIns="18000" bIns="18000" anchor="ctr">
            <a:spAutoFit/>
          </a:bodyPr>
          <a:lstStyle/>
          <a:p>
            <a:pPr algn="l"/>
            <a:r>
              <a:rPr sz="700" b="1" i="0">
                <a:solidFill>
                  <a:srgbClr val="FFFFFF"/>
                </a:solidFill>
                <a:latin typeface="Arial"/>
              </a:rPr>
              <a:t>Genesys script overhaul</a:t>
            </a:r>
          </a:p>
        </p:txBody>
      </p:sp>
      <p:sp>
        <p:nvSpPr>
          <p:cNvPr id="40" name="Rounded Rectangle 39"/>
          <p:cNvSpPr/>
          <p:nvPr/>
        </p:nvSpPr>
        <p:spPr>
          <a:xfrm>
            <a:off x="11750040" y="3584447"/>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50040" y="3584447"/>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42" name="Rounded Rectangle 41"/>
          <p:cNvSpPr/>
          <p:nvPr/>
        </p:nvSpPr>
        <p:spPr>
          <a:xfrm>
            <a:off x="1104138" y="3858768"/>
            <a:ext cx="2777490" cy="256032"/>
          </a:xfrm>
          <a:prstGeom prst="roundRect">
            <a:avLst>
              <a:gd name="adj" fmla="val 4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95578" y="3895344"/>
            <a:ext cx="2594610" cy="182880"/>
          </a:xfrm>
          <a:prstGeom prst="rect">
            <a:avLst/>
          </a:prstGeom>
          <a:noFill/>
        </p:spPr>
        <p:txBody>
          <a:bodyPr wrap="square" lIns="36000" rIns="36000" tIns="18000" bIns="18000" anchor="ctr">
            <a:spAutoFit/>
          </a:bodyPr>
          <a:lstStyle/>
          <a:p>
            <a:pPr algn="l"/>
            <a:r>
              <a:rPr sz="700" b="1" i="0">
                <a:solidFill>
                  <a:srgbClr val="FFFFFF"/>
                </a:solidFill>
                <a:latin typeface="Arial"/>
              </a:rPr>
              <a:t>PUC tariff banner Q3</a:t>
            </a:r>
          </a:p>
        </p:txBody>
      </p:sp>
      <p:sp>
        <p:nvSpPr>
          <p:cNvPr id="44" name="Rounded Rectangle 43"/>
          <p:cNvSpPr/>
          <p:nvPr/>
        </p:nvSpPr>
        <p:spPr>
          <a:xfrm>
            <a:off x="11750040" y="3877055"/>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750040" y="3877055"/>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46" name="Rounded Rectangle 45"/>
          <p:cNvSpPr/>
          <p:nvPr/>
        </p:nvSpPr>
        <p:spPr>
          <a:xfrm>
            <a:off x="1104138" y="4151375"/>
            <a:ext cx="4999482"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95578" y="4187951"/>
            <a:ext cx="4816602" cy="182880"/>
          </a:xfrm>
          <a:prstGeom prst="rect">
            <a:avLst/>
          </a:prstGeom>
          <a:noFill/>
        </p:spPr>
        <p:txBody>
          <a:bodyPr wrap="square" lIns="36000" rIns="36000" tIns="18000" bIns="18000" anchor="ctr">
            <a:spAutoFit/>
          </a:bodyPr>
          <a:lstStyle/>
          <a:p>
            <a:pPr algn="l"/>
            <a:r>
              <a:rPr sz="700" b="1" i="0">
                <a:solidFill>
                  <a:srgbClr val="FFFFFF"/>
                </a:solidFill>
                <a:latin typeface="Arial"/>
              </a:rPr>
              <a:t>Billing cycle 14→5 days</a:t>
            </a:r>
          </a:p>
        </p:txBody>
      </p:sp>
      <p:sp>
        <p:nvSpPr>
          <p:cNvPr id="48" name="Rounded Rectangle 47"/>
          <p:cNvSpPr/>
          <p:nvPr/>
        </p:nvSpPr>
        <p:spPr>
          <a:xfrm>
            <a:off x="11750040" y="4169663"/>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750040" y="4169663"/>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0" name="Rounded Rectangle 49"/>
          <p:cNvSpPr/>
          <p:nvPr/>
        </p:nvSpPr>
        <p:spPr>
          <a:xfrm>
            <a:off x="4992624" y="4443983"/>
            <a:ext cx="4999481"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84064" y="4480559"/>
            <a:ext cx="4816601" cy="182880"/>
          </a:xfrm>
          <a:prstGeom prst="rect">
            <a:avLst/>
          </a:prstGeom>
          <a:noFill/>
        </p:spPr>
        <p:txBody>
          <a:bodyPr wrap="square" lIns="36000" rIns="36000" tIns="18000" bIns="18000" anchor="ctr">
            <a:spAutoFit/>
          </a:bodyPr>
          <a:lstStyle/>
          <a:p>
            <a:pPr algn="l"/>
            <a:r>
              <a:rPr sz="700" b="1" i="0">
                <a:solidFill>
                  <a:srgbClr val="FFFFFF"/>
                </a:solidFill>
                <a:latin typeface="Arial"/>
              </a:rPr>
              <a:t>Audit framework refresh</a:t>
            </a:r>
          </a:p>
        </p:txBody>
      </p:sp>
      <p:sp>
        <p:nvSpPr>
          <p:cNvPr id="52" name="Rounded Rectangle 51"/>
          <p:cNvSpPr/>
          <p:nvPr/>
        </p:nvSpPr>
        <p:spPr>
          <a:xfrm>
            <a:off x="11750040" y="4462271"/>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750040" y="4462271"/>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4" name="Rounded Rectangle 53"/>
          <p:cNvSpPr/>
          <p:nvPr/>
        </p:nvSpPr>
        <p:spPr>
          <a:xfrm>
            <a:off x="7770114" y="4736592"/>
            <a:ext cx="3332987"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61554" y="4773168"/>
            <a:ext cx="3150107" cy="182880"/>
          </a:xfrm>
          <a:prstGeom prst="rect">
            <a:avLst/>
          </a:prstGeom>
          <a:noFill/>
        </p:spPr>
        <p:txBody>
          <a:bodyPr wrap="square" lIns="36000" rIns="36000" tIns="18000" bIns="18000" anchor="ctr">
            <a:spAutoFit/>
          </a:bodyPr>
          <a:lstStyle/>
          <a:p>
            <a:pPr algn="l"/>
            <a:r>
              <a:rPr sz="700" b="1" i="0">
                <a:solidFill>
                  <a:srgbClr val="FFFFFF"/>
                </a:solidFill>
                <a:latin typeface="Arial"/>
              </a:rPr>
              <a:t>S/4HANA migration plan</a:t>
            </a:r>
          </a:p>
        </p:txBody>
      </p:sp>
      <p:sp>
        <p:nvSpPr>
          <p:cNvPr id="56" name="Rounded Rectangle 55"/>
          <p:cNvSpPr/>
          <p:nvPr/>
        </p:nvSpPr>
        <p:spPr>
          <a:xfrm>
            <a:off x="11750040" y="4754879"/>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750040" y="4754879"/>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8" name="Rounded Rectangle 57"/>
          <p:cNvSpPr/>
          <p:nvPr/>
        </p:nvSpPr>
        <p:spPr>
          <a:xfrm>
            <a:off x="548640" y="5120640"/>
            <a:ext cx="5463540" cy="8229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48640" y="5120640"/>
            <a:ext cx="91440" cy="8229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5800" y="5175503"/>
            <a:ext cx="5189220" cy="182880"/>
          </a:xfrm>
          <a:prstGeom prst="rect">
            <a:avLst/>
          </a:prstGeom>
          <a:noFill/>
        </p:spPr>
        <p:txBody>
          <a:bodyPr wrap="square" lIns="36000" rIns="36000" tIns="18000" bIns="18000" anchor="t">
            <a:spAutoFit/>
          </a:bodyPr>
          <a:lstStyle/>
          <a:p>
            <a:pPr algn="l"/>
            <a:r>
              <a:rPr sz="800" b="1" i="0">
                <a:solidFill>
                  <a:srgbClr val="006B3F"/>
                </a:solidFill>
                <a:latin typeface="Arial"/>
              </a:rPr>
              <a:t>VARIANCE COMMENTARY</a:t>
            </a:r>
          </a:p>
        </p:txBody>
      </p:sp>
      <p:sp>
        <p:nvSpPr>
          <p:cNvPr id="61" name="TextBox 60"/>
          <p:cNvSpPr txBox="1"/>
          <p:nvPr/>
        </p:nvSpPr>
        <p:spPr>
          <a:xfrm>
            <a:off x="68580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CS hit 86% predictability — best quarter on record</a:t>
            </a:r>
          </a:p>
          <a:p>
            <a:pPr algn="l"/>
            <a:r>
              <a:rPr sz="800" b="0" i="0">
                <a:solidFill>
                  <a:srgbClr val="2C3E50"/>
                </a:solidFill>
                <a:latin typeface="Arial"/>
              </a:rPr>
              <a:t>▪ ITBA 3 days slower cycle time due to SAP regression bench formalization</a:t>
            </a:r>
          </a:p>
          <a:p>
            <a:pPr algn="l"/>
            <a:r>
              <a:rPr sz="800" b="0" i="0">
                <a:solidFill>
                  <a:srgbClr val="2C3E50"/>
                </a:solidFill>
                <a:latin typeface="Arial"/>
              </a:rPr>
              <a:t>▪ Capacity Q4 fully booked · early flag from middle managers</a:t>
            </a:r>
          </a:p>
        </p:txBody>
      </p:sp>
      <p:sp>
        <p:nvSpPr>
          <p:cNvPr id="62" name="Rounded Rectangle 61"/>
          <p:cNvSpPr/>
          <p:nvPr/>
        </p:nvSpPr>
        <p:spPr>
          <a:xfrm>
            <a:off x="6195060" y="5120640"/>
            <a:ext cx="5463540" cy="8229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95060" y="5120640"/>
            <a:ext cx="91440" cy="8229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32220" y="5175503"/>
            <a:ext cx="5189220" cy="182880"/>
          </a:xfrm>
          <a:prstGeom prst="rect">
            <a:avLst/>
          </a:prstGeom>
          <a:noFill/>
        </p:spPr>
        <p:txBody>
          <a:bodyPr wrap="square" lIns="36000" rIns="36000" tIns="18000" bIns="18000" anchor="t">
            <a:spAutoFit/>
          </a:bodyPr>
          <a:lstStyle/>
          <a:p>
            <a:pPr algn="l"/>
            <a:r>
              <a:rPr sz="800" b="1" i="0">
                <a:solidFill>
                  <a:srgbClr val="2C578B"/>
                </a:solidFill>
                <a:latin typeface="Arial"/>
              </a:rPr>
              <a:t>ASKS TO VP</a:t>
            </a:r>
          </a:p>
        </p:txBody>
      </p:sp>
      <p:sp>
        <p:nvSpPr>
          <p:cNvPr id="65" name="TextBox 64"/>
          <p:cNvSpPr txBox="1"/>
          <p:nvPr/>
        </p:nvSpPr>
        <p:spPr>
          <a:xfrm>
            <a:off x="633222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Approve hire #5 of new PM for Networks IT VS</a:t>
            </a:r>
          </a:p>
          <a:p>
            <a:pPr algn="l"/>
            <a:r>
              <a:rPr sz="800" b="0" i="0">
                <a:solidFill>
                  <a:srgbClr val="2C3E50"/>
                </a:solidFill>
                <a:latin typeface="Arial"/>
              </a:rPr>
              <a:t>▪ Confirm Audit framework deadline (Q1 27 or earlier?)</a:t>
            </a:r>
          </a:p>
          <a:p>
            <a:pPr algn="l"/>
            <a:r>
              <a:rPr sz="800" b="0" i="0">
                <a:solidFill>
                  <a:srgbClr val="2C3E50"/>
                </a:solidFill>
                <a:latin typeface="Arial"/>
              </a:rPr>
              <a:t>▪ Greenlight S/4HANA Discovery vendor RFP</a:t>
            </a:r>
          </a:p>
        </p:txBody>
      </p:sp>
      <p:sp>
        <p:nvSpPr>
          <p:cNvPr id="66" name="TextBox 6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7" name="TextBox 6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22 / 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Size dictates the path</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 goes direct · M auto-splits to 3 Stories · L is multi-quarter · XL out of scope</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91440" cy="1417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1851660"/>
            <a:ext cx="731520" cy="7315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5166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S</a:t>
            </a:r>
          </a:p>
        </p:txBody>
      </p:sp>
      <p:sp>
        <p:nvSpPr>
          <p:cNvPr id="9" name="TextBox 8"/>
          <p:cNvSpPr txBox="1"/>
          <p:nvPr/>
        </p:nvSpPr>
        <p:spPr>
          <a:xfrm>
            <a:off x="502920" y="263347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 5 SP · ~1 week</a:t>
            </a:r>
          </a:p>
        </p:txBody>
      </p:sp>
      <p:sp>
        <p:nvSpPr>
          <p:cNvPr id="10" name="Rounded Rectangle 9"/>
          <p:cNvSpPr/>
          <p:nvPr/>
        </p:nvSpPr>
        <p:spPr>
          <a:xfrm>
            <a:off x="150876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Story</a:t>
            </a:r>
          </a:p>
        </p:txBody>
      </p:sp>
      <p:sp>
        <p:nvSpPr>
          <p:cNvPr id="12" name="TextBox 11"/>
          <p:cNvSpPr txBox="1"/>
          <p:nvPr/>
        </p:nvSpPr>
        <p:spPr>
          <a:xfrm>
            <a:off x="150876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no Epic · no Initiative</a:t>
            </a:r>
          </a:p>
        </p:txBody>
      </p:sp>
      <p:sp>
        <p:nvSpPr>
          <p:cNvPr id="13" name="TextBox 12"/>
          <p:cNvSpPr txBox="1"/>
          <p:nvPr/>
        </p:nvSpPr>
        <p:spPr>
          <a:xfrm>
            <a:off x="3627881"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14" name="Rounded Rectangle 13"/>
          <p:cNvSpPr/>
          <p:nvPr/>
        </p:nvSpPr>
        <p:spPr>
          <a:xfrm>
            <a:off x="371475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1475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Squad refinement</a:t>
            </a:r>
          </a:p>
        </p:txBody>
      </p:sp>
      <p:sp>
        <p:nvSpPr>
          <p:cNvPr id="16" name="TextBox 15"/>
          <p:cNvSpPr txBox="1"/>
          <p:nvPr/>
        </p:nvSpPr>
        <p:spPr>
          <a:xfrm>
            <a:off x="371475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Squad PM owns</a:t>
            </a:r>
          </a:p>
        </p:txBody>
      </p:sp>
      <p:sp>
        <p:nvSpPr>
          <p:cNvPr id="17" name="TextBox 16"/>
          <p:cNvSpPr txBox="1"/>
          <p:nvPr/>
        </p:nvSpPr>
        <p:spPr>
          <a:xfrm>
            <a:off x="583387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18" name="Rounded Rectangle 17"/>
          <p:cNvSpPr/>
          <p:nvPr/>
        </p:nvSpPr>
        <p:spPr>
          <a:xfrm>
            <a:off x="592074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2074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check</a:t>
            </a:r>
          </a:p>
        </p:txBody>
      </p:sp>
      <p:sp>
        <p:nvSpPr>
          <p:cNvPr id="20" name="TextBox 19"/>
          <p:cNvSpPr txBox="1"/>
          <p:nvPr/>
        </p:nvSpPr>
        <p:spPr>
          <a:xfrm>
            <a:off x="592074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a:t>
            </a:r>
          </a:p>
        </p:txBody>
      </p:sp>
      <p:sp>
        <p:nvSpPr>
          <p:cNvPr id="21" name="TextBox 20"/>
          <p:cNvSpPr txBox="1"/>
          <p:nvPr/>
        </p:nvSpPr>
        <p:spPr>
          <a:xfrm>
            <a:off x="803986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22" name="Rounded Rectangle 21"/>
          <p:cNvSpPr/>
          <p:nvPr/>
        </p:nvSpPr>
        <p:spPr>
          <a:xfrm>
            <a:off x="8126729"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6729"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Pull</a:t>
            </a:r>
          </a:p>
        </p:txBody>
      </p:sp>
      <p:sp>
        <p:nvSpPr>
          <p:cNvPr id="24" name="TextBox 23"/>
          <p:cNvSpPr txBox="1"/>
          <p:nvPr/>
        </p:nvSpPr>
        <p:spPr>
          <a:xfrm>
            <a:off x="8126729"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in current iteration</a:t>
            </a:r>
          </a:p>
        </p:txBody>
      </p:sp>
      <p:sp>
        <p:nvSpPr>
          <p:cNvPr id="25" name="TextBox 24"/>
          <p:cNvSpPr txBox="1"/>
          <p:nvPr/>
        </p:nvSpPr>
        <p:spPr>
          <a:xfrm>
            <a:off x="1508760" y="2377439"/>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BYPASSES Portfolio Board · enters Team Kanban directly</a:t>
            </a:r>
          </a:p>
        </p:txBody>
      </p:sp>
      <p:sp>
        <p:nvSpPr>
          <p:cNvPr id="26" name="Rounded Rectangle 25"/>
          <p:cNvSpPr/>
          <p:nvPr/>
        </p:nvSpPr>
        <p:spPr>
          <a:xfrm>
            <a:off x="1508760" y="2606039"/>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2606039"/>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28" name="TextBox 27"/>
          <p:cNvSpPr txBox="1"/>
          <p:nvPr/>
        </p:nvSpPr>
        <p:spPr>
          <a:xfrm>
            <a:off x="21031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page-load fix</a:t>
            </a:r>
          </a:p>
        </p:txBody>
      </p:sp>
      <p:sp>
        <p:nvSpPr>
          <p:cNvPr id="29" name="Rounded Rectangle 28"/>
          <p:cNvSpPr/>
          <p:nvPr/>
        </p:nvSpPr>
        <p:spPr>
          <a:xfrm>
            <a:off x="6217920" y="2606039"/>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2606039"/>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31" name="TextBox 30"/>
          <p:cNvSpPr txBox="1"/>
          <p:nvPr/>
        </p:nvSpPr>
        <p:spPr>
          <a:xfrm>
            <a:off x="69037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master-data fix</a:t>
            </a:r>
          </a:p>
        </p:txBody>
      </p:sp>
      <p:sp>
        <p:nvSpPr>
          <p:cNvPr id="32" name="Rounded Rectangle 31"/>
          <p:cNvSpPr/>
          <p:nvPr/>
        </p:nvSpPr>
        <p:spPr>
          <a:xfrm>
            <a:off x="365760" y="301752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 y="3017520"/>
            <a:ext cx="91440" cy="1417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94360" y="3360420"/>
            <a:ext cx="731520" cy="731520"/>
          </a:xfrm>
          <a:prstGeom prst="ellipse">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36042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M</a:t>
            </a:r>
          </a:p>
        </p:txBody>
      </p:sp>
      <p:sp>
        <p:nvSpPr>
          <p:cNvPr id="36" name="TextBox 35"/>
          <p:cNvSpPr txBox="1"/>
          <p:nvPr/>
        </p:nvSpPr>
        <p:spPr>
          <a:xfrm>
            <a:off x="502920" y="4142231"/>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5–20 SP · ~1–2 weeks</a:t>
            </a:r>
          </a:p>
        </p:txBody>
      </p:sp>
      <p:sp>
        <p:nvSpPr>
          <p:cNvPr id="37" name="Rounded Rectangle 36"/>
          <p:cNvSpPr/>
          <p:nvPr/>
        </p:nvSpPr>
        <p:spPr>
          <a:xfrm>
            <a:off x="150876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876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A5 auto-Epic</a:t>
            </a:r>
          </a:p>
        </p:txBody>
      </p:sp>
      <p:sp>
        <p:nvSpPr>
          <p:cNvPr id="39" name="TextBox 38"/>
          <p:cNvSpPr txBox="1"/>
          <p:nvPr/>
        </p:nvSpPr>
        <p:spPr>
          <a:xfrm>
            <a:off x="150876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Epic + 3 placeholder Stories</a:t>
            </a:r>
          </a:p>
        </p:txBody>
      </p:sp>
      <p:sp>
        <p:nvSpPr>
          <p:cNvPr id="40" name="TextBox 39"/>
          <p:cNvSpPr txBox="1"/>
          <p:nvPr/>
        </p:nvSpPr>
        <p:spPr>
          <a:xfrm>
            <a:off x="3627881"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1" name="Rounded Rectangle 40"/>
          <p:cNvSpPr/>
          <p:nvPr/>
        </p:nvSpPr>
        <p:spPr>
          <a:xfrm>
            <a:off x="371475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1475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43" name="TextBox 42"/>
          <p:cNvSpPr txBox="1"/>
          <p:nvPr/>
        </p:nvSpPr>
        <p:spPr>
          <a:xfrm>
            <a:off x="371475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44" name="TextBox 43"/>
          <p:cNvSpPr txBox="1"/>
          <p:nvPr/>
        </p:nvSpPr>
        <p:spPr>
          <a:xfrm>
            <a:off x="583387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5" name="Rounded Rectangle 44"/>
          <p:cNvSpPr/>
          <p:nvPr/>
        </p:nvSpPr>
        <p:spPr>
          <a:xfrm>
            <a:off x="592074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2074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Architect NFR pre-check</a:t>
            </a:r>
          </a:p>
        </p:txBody>
      </p:sp>
      <p:sp>
        <p:nvSpPr>
          <p:cNvPr id="47" name="TextBox 46"/>
          <p:cNvSpPr txBox="1"/>
          <p:nvPr/>
        </p:nvSpPr>
        <p:spPr>
          <a:xfrm>
            <a:off x="592074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1-pass review</a:t>
            </a:r>
          </a:p>
        </p:txBody>
      </p:sp>
      <p:sp>
        <p:nvSpPr>
          <p:cNvPr id="48" name="TextBox 47"/>
          <p:cNvSpPr txBox="1"/>
          <p:nvPr/>
        </p:nvSpPr>
        <p:spPr>
          <a:xfrm>
            <a:off x="803986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9" name="Rounded Rectangle 48"/>
          <p:cNvSpPr/>
          <p:nvPr/>
        </p:nvSpPr>
        <p:spPr>
          <a:xfrm>
            <a:off x="8126729"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26729"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per Story</a:t>
            </a:r>
          </a:p>
        </p:txBody>
      </p:sp>
      <p:sp>
        <p:nvSpPr>
          <p:cNvPr id="51" name="TextBox 50"/>
          <p:cNvSpPr txBox="1"/>
          <p:nvPr/>
        </p:nvSpPr>
        <p:spPr>
          <a:xfrm>
            <a:off x="8126729"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 each</a:t>
            </a:r>
          </a:p>
        </p:txBody>
      </p:sp>
      <p:sp>
        <p:nvSpPr>
          <p:cNvPr id="52" name="TextBox 51"/>
          <p:cNvSpPr txBox="1"/>
          <p:nvPr/>
        </p:nvSpPr>
        <p:spPr>
          <a:xfrm>
            <a:off x="1508760" y="388620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BYPASSES Portfolio Board · flag to portfolio for visibility · Squad pulls Stories sequentially</a:t>
            </a:r>
          </a:p>
        </p:txBody>
      </p:sp>
      <p:sp>
        <p:nvSpPr>
          <p:cNvPr id="53" name="Rounded Rectangle 52"/>
          <p:cNvSpPr/>
          <p:nvPr/>
        </p:nvSpPr>
        <p:spPr>
          <a:xfrm>
            <a:off x="1508760" y="411480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08760" y="411480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5" name="TextBox 54"/>
          <p:cNvSpPr txBox="1"/>
          <p:nvPr/>
        </p:nvSpPr>
        <p:spPr>
          <a:xfrm>
            <a:off x="21031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Genesys integration tweak</a:t>
            </a:r>
          </a:p>
        </p:txBody>
      </p:sp>
      <p:sp>
        <p:nvSpPr>
          <p:cNvPr id="56" name="Rounded Rectangle 55"/>
          <p:cNvSpPr/>
          <p:nvPr/>
        </p:nvSpPr>
        <p:spPr>
          <a:xfrm>
            <a:off x="6217920" y="411480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0" y="411480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8" name="TextBox 57"/>
          <p:cNvSpPr txBox="1"/>
          <p:nvPr/>
        </p:nvSpPr>
        <p:spPr>
          <a:xfrm>
            <a:off x="69037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enhancement</a:t>
            </a:r>
          </a:p>
        </p:txBody>
      </p:sp>
      <p:sp>
        <p:nvSpPr>
          <p:cNvPr id="59" name="Rounded Rectangle 58"/>
          <p:cNvSpPr/>
          <p:nvPr/>
        </p:nvSpPr>
        <p:spPr>
          <a:xfrm>
            <a:off x="365760" y="452628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5760" y="4526280"/>
            <a:ext cx="91440" cy="1417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94360" y="4869180"/>
            <a:ext cx="731520" cy="7315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 y="486918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L</a:t>
            </a:r>
          </a:p>
        </p:txBody>
      </p:sp>
      <p:sp>
        <p:nvSpPr>
          <p:cNvPr id="63" name="TextBox 62"/>
          <p:cNvSpPr txBox="1"/>
          <p:nvPr/>
        </p:nvSpPr>
        <p:spPr>
          <a:xfrm>
            <a:off x="502920" y="565099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20–60 SP · ~2–4 weeks</a:t>
            </a:r>
          </a:p>
        </p:txBody>
      </p:sp>
      <p:sp>
        <p:nvSpPr>
          <p:cNvPr id="64" name="Rounded Rectangle 63"/>
          <p:cNvSpPr/>
          <p:nvPr/>
        </p:nvSpPr>
        <p:spPr>
          <a:xfrm>
            <a:off x="1508760"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08760"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Initiative shape</a:t>
            </a:r>
          </a:p>
        </p:txBody>
      </p:sp>
      <p:sp>
        <p:nvSpPr>
          <p:cNvPr id="66" name="TextBox 65"/>
          <p:cNvSpPr txBox="1"/>
          <p:nvPr/>
        </p:nvSpPr>
        <p:spPr>
          <a:xfrm>
            <a:off x="1508760"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Epic(s) + Stories</a:t>
            </a:r>
          </a:p>
        </p:txBody>
      </p:sp>
      <p:sp>
        <p:nvSpPr>
          <p:cNvPr id="67" name="TextBox 66"/>
          <p:cNvSpPr txBox="1"/>
          <p:nvPr/>
        </p:nvSpPr>
        <p:spPr>
          <a:xfrm>
            <a:off x="3186683"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68" name="Rounded Rectangle 67"/>
          <p:cNvSpPr/>
          <p:nvPr/>
        </p:nvSpPr>
        <p:spPr>
          <a:xfrm>
            <a:off x="3273551"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73551"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70" name="TextBox 69"/>
          <p:cNvSpPr txBox="1"/>
          <p:nvPr/>
        </p:nvSpPr>
        <p:spPr>
          <a:xfrm>
            <a:off x="3273551"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71" name="TextBox 70"/>
          <p:cNvSpPr txBox="1"/>
          <p:nvPr/>
        </p:nvSpPr>
        <p:spPr>
          <a:xfrm>
            <a:off x="4951475"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2" name="Rounded Rectangle 71"/>
          <p:cNvSpPr/>
          <p:nvPr/>
        </p:nvSpPr>
        <p:spPr>
          <a:xfrm>
            <a:off x="5038344"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38344"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Full architecture review</a:t>
            </a:r>
          </a:p>
        </p:txBody>
      </p:sp>
      <p:sp>
        <p:nvSpPr>
          <p:cNvPr id="74" name="TextBox 73"/>
          <p:cNvSpPr txBox="1"/>
          <p:nvPr/>
        </p:nvSpPr>
        <p:spPr>
          <a:xfrm>
            <a:off x="5038344"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FULL NFR pass</a:t>
            </a:r>
          </a:p>
        </p:txBody>
      </p:sp>
      <p:sp>
        <p:nvSpPr>
          <p:cNvPr id="75" name="TextBox 74"/>
          <p:cNvSpPr txBox="1"/>
          <p:nvPr/>
        </p:nvSpPr>
        <p:spPr>
          <a:xfrm>
            <a:off x="6716268"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6" name="Rounded Rectangle 75"/>
          <p:cNvSpPr/>
          <p:nvPr/>
        </p:nvSpPr>
        <p:spPr>
          <a:xfrm>
            <a:off x="6803136"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803136"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Multi-quarter capacity</a:t>
            </a:r>
          </a:p>
        </p:txBody>
      </p:sp>
      <p:sp>
        <p:nvSpPr>
          <p:cNvPr id="78" name="TextBox 77"/>
          <p:cNvSpPr txBox="1"/>
          <p:nvPr/>
        </p:nvSpPr>
        <p:spPr>
          <a:xfrm>
            <a:off x="6803136"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Director approves at Gate 2</a:t>
            </a:r>
          </a:p>
        </p:txBody>
      </p:sp>
      <p:sp>
        <p:nvSpPr>
          <p:cNvPr id="79" name="TextBox 78"/>
          <p:cNvSpPr txBox="1"/>
          <p:nvPr/>
        </p:nvSpPr>
        <p:spPr>
          <a:xfrm>
            <a:off x="8481060"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80" name="Rounded Rectangle 79"/>
          <p:cNvSpPr/>
          <p:nvPr/>
        </p:nvSpPr>
        <p:spPr>
          <a:xfrm>
            <a:off x="8567928"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567928"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phased</a:t>
            </a:r>
          </a:p>
        </p:txBody>
      </p:sp>
      <p:sp>
        <p:nvSpPr>
          <p:cNvPr id="82" name="TextBox 81"/>
          <p:cNvSpPr txBox="1"/>
          <p:nvPr/>
        </p:nvSpPr>
        <p:spPr>
          <a:xfrm>
            <a:off x="8567928"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early Stories first</a:t>
            </a:r>
          </a:p>
        </p:txBody>
      </p:sp>
      <p:sp>
        <p:nvSpPr>
          <p:cNvPr id="83" name="TextBox 82"/>
          <p:cNvSpPr txBox="1"/>
          <p:nvPr/>
        </p:nvSpPr>
        <p:spPr>
          <a:xfrm>
            <a:off x="1508760" y="539496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GOES THROUGH Portfolio Board · full Gate 2 · Squad pulls phased Stories</a:t>
            </a:r>
          </a:p>
        </p:txBody>
      </p:sp>
      <p:sp>
        <p:nvSpPr>
          <p:cNvPr id="84" name="Rounded Rectangle 83"/>
          <p:cNvSpPr/>
          <p:nvPr/>
        </p:nvSpPr>
        <p:spPr>
          <a:xfrm>
            <a:off x="1508760" y="562356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508760" y="562356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86" name="TextBox 85"/>
          <p:cNvSpPr txBox="1"/>
          <p:nvPr/>
        </p:nvSpPr>
        <p:spPr>
          <a:xfrm>
            <a:off x="21031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platform migration</a:t>
            </a:r>
          </a:p>
        </p:txBody>
      </p:sp>
      <p:sp>
        <p:nvSpPr>
          <p:cNvPr id="87" name="Rounded Rectangle 86"/>
          <p:cNvSpPr/>
          <p:nvPr/>
        </p:nvSpPr>
        <p:spPr>
          <a:xfrm>
            <a:off x="6217920" y="562356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217920" y="562356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89" name="TextBox 88"/>
          <p:cNvSpPr txBox="1"/>
          <p:nvPr/>
        </p:nvSpPr>
        <p:spPr>
          <a:xfrm>
            <a:off x="69037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S/4HANA migration</a:t>
            </a:r>
          </a:p>
        </p:txBody>
      </p:sp>
      <p:sp>
        <p:nvSpPr>
          <p:cNvPr id="90" name="Rounded Rectangle 89"/>
          <p:cNvSpPr/>
          <p:nvPr/>
        </p:nvSpPr>
        <p:spPr>
          <a:xfrm>
            <a:off x="365760" y="6172200"/>
            <a:ext cx="11475720" cy="310896"/>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65760" y="6172200"/>
            <a:ext cx="91440" cy="310896"/>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2920" y="6172200"/>
            <a:ext cx="11338560" cy="310896"/>
          </a:xfrm>
          <a:prstGeom prst="rect">
            <a:avLst/>
          </a:prstGeom>
          <a:noFill/>
        </p:spPr>
        <p:txBody>
          <a:bodyPr wrap="square" lIns="36000" rIns="36000" tIns="18000" bIns="18000" anchor="ctr">
            <a:spAutoFit/>
          </a:bodyPr>
          <a:lstStyle/>
          <a:p>
            <a:pPr algn="l"/>
            <a:r>
              <a:rPr sz="900" b="1" i="1">
                <a:solidFill>
                  <a:srgbClr val="F08629"/>
                </a:solidFill>
                <a:latin typeface="Arial"/>
              </a:rPr>
              <a:t>XL initiatives → PPM Now (out of scope here) · we accept S · M · L only</a:t>
            </a:r>
          </a:p>
        </p:txBody>
      </p:sp>
      <p:sp>
        <p:nvSpPr>
          <p:cNvPr id="93" name="TextBox 9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4" name="TextBox 9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23 / 27</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Discovery upstream · Delivery is ours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Phase 0/1 run by domain or vendor · Phase 2/3/4 our orange band · DoR is the bridge</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11475720" cy="16916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82880" cy="169164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18488"/>
            <a:ext cx="4572000" cy="274320"/>
          </a:xfrm>
          <a:prstGeom prst="rect">
            <a:avLst/>
          </a:prstGeom>
          <a:noFill/>
        </p:spPr>
        <p:txBody>
          <a:bodyPr wrap="square" lIns="36000" rIns="36000" tIns="18000" bIns="18000" anchor="t">
            <a:spAutoFit/>
          </a:bodyPr>
          <a:lstStyle/>
          <a:p>
            <a:pPr algn="l"/>
            <a:r>
              <a:rPr sz="1400" b="1" i="0">
                <a:solidFill>
                  <a:srgbClr val="6B778C"/>
                </a:solidFill>
                <a:latin typeface="Arial"/>
              </a:rPr>
              <a:t>DISCOVERY  ·  upstream</a:t>
            </a:r>
          </a:p>
        </p:txBody>
      </p:sp>
      <p:sp>
        <p:nvSpPr>
          <p:cNvPr id="8" name="Rounded Rectangle 7"/>
          <p:cNvSpPr/>
          <p:nvPr/>
        </p:nvSpPr>
        <p:spPr>
          <a:xfrm>
            <a:off x="2926080" y="1673351"/>
            <a:ext cx="1463040" cy="219456"/>
          </a:xfrm>
          <a:prstGeom prst="roundRect">
            <a:avLst>
              <a:gd name="adj" fmla="val 30000"/>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1673351"/>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DOMAIN / VENDOR — NOT US</a:t>
            </a:r>
          </a:p>
        </p:txBody>
      </p:sp>
      <p:sp>
        <p:nvSpPr>
          <p:cNvPr id="10" name="TextBox 9"/>
          <p:cNvSpPr txBox="1"/>
          <p:nvPr/>
        </p:nvSpPr>
        <p:spPr>
          <a:xfrm>
            <a:off x="640080" y="1920240"/>
            <a:ext cx="10058400" cy="182880"/>
          </a:xfrm>
          <a:prstGeom prst="rect">
            <a:avLst/>
          </a:prstGeom>
          <a:noFill/>
        </p:spPr>
        <p:txBody>
          <a:bodyPr wrap="square" lIns="36000" rIns="36000" tIns="18000" bIns="18000" anchor="t">
            <a:spAutoFit/>
          </a:bodyPr>
          <a:lstStyle/>
          <a:p>
            <a:pPr algn="l"/>
            <a:r>
              <a:rPr sz="900" b="0" i="1">
                <a:solidFill>
                  <a:srgbClr val="6B778C"/>
                </a:solidFill>
                <a:latin typeface="Arial"/>
              </a:rPr>
              <a:t>Run by domain product team or vendor · validates problem before our intake form</a:t>
            </a:r>
          </a:p>
        </p:txBody>
      </p:sp>
      <p:sp>
        <p:nvSpPr>
          <p:cNvPr id="11" name="Rounded Rectangle 10"/>
          <p:cNvSpPr/>
          <p:nvPr/>
        </p:nvSpPr>
        <p:spPr>
          <a:xfrm>
            <a:off x="64008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0  ·  PROBLEM SHAPING</a:t>
            </a:r>
          </a:p>
        </p:txBody>
      </p:sp>
      <p:sp>
        <p:nvSpPr>
          <p:cNvPr id="13" name="TextBox 12"/>
          <p:cNvSpPr txBox="1"/>
          <p:nvPr/>
        </p:nvSpPr>
        <p:spPr>
          <a:xfrm>
            <a:off x="77724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Problem statement · users / personas · value hypothesis · risk hypothesis  ·  produced by domain / vendor</a:t>
            </a:r>
          </a:p>
        </p:txBody>
      </p:sp>
      <p:sp>
        <p:nvSpPr>
          <p:cNvPr id="14" name="TextBox 13"/>
          <p:cNvSpPr txBox="1"/>
          <p:nvPr/>
        </p:nvSpPr>
        <p:spPr>
          <a:xfrm>
            <a:off x="6048756" y="2468880"/>
            <a:ext cx="201168" cy="457200"/>
          </a:xfrm>
          <a:prstGeom prst="rect">
            <a:avLst/>
          </a:prstGeom>
          <a:noFill/>
        </p:spPr>
        <p:txBody>
          <a:bodyPr wrap="square" lIns="36000" rIns="36000" tIns="18000" bIns="18000" anchor="ctr">
            <a:spAutoFit/>
          </a:bodyPr>
          <a:lstStyle/>
          <a:p>
            <a:pPr algn="ctr"/>
            <a:r>
              <a:rPr sz="1800" b="1" i="0">
                <a:solidFill>
                  <a:srgbClr val="6B778C"/>
                </a:solidFill>
                <a:latin typeface="Arial"/>
              </a:rPr>
              <a:t>→</a:t>
            </a:r>
          </a:p>
        </p:txBody>
      </p:sp>
      <p:sp>
        <p:nvSpPr>
          <p:cNvPr id="15" name="Rounded Rectangle 14"/>
          <p:cNvSpPr/>
          <p:nvPr/>
        </p:nvSpPr>
        <p:spPr>
          <a:xfrm>
            <a:off x="628650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366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1  ·  MATERIALIZATION</a:t>
            </a:r>
          </a:p>
        </p:txBody>
      </p:sp>
      <p:sp>
        <p:nvSpPr>
          <p:cNvPr id="17" name="TextBox 16"/>
          <p:cNvSpPr txBox="1"/>
          <p:nvPr/>
        </p:nvSpPr>
        <p:spPr>
          <a:xfrm>
            <a:off x="642366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Solution shape · vendor model · roadmap · NFRs draft · budget  ·  ready to hand off</a:t>
            </a:r>
          </a:p>
        </p:txBody>
      </p:sp>
      <p:sp>
        <p:nvSpPr>
          <p:cNvPr id="18" name="Rounded Rectangle 17"/>
          <p:cNvSpPr/>
          <p:nvPr/>
        </p:nvSpPr>
        <p:spPr>
          <a:xfrm>
            <a:off x="3931920" y="3291840"/>
            <a:ext cx="4297680" cy="457200"/>
          </a:xfrm>
          <a:prstGeom prst="roundRect">
            <a:avLst>
              <a:gd name="adj" fmla="val 2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3291840"/>
            <a:ext cx="4297680" cy="457200"/>
          </a:xfrm>
          <a:prstGeom prst="rect">
            <a:avLst/>
          </a:prstGeom>
          <a:noFill/>
        </p:spPr>
        <p:txBody>
          <a:bodyPr wrap="square" lIns="36000" rIns="36000" tIns="18000" bIns="18000" anchor="ctr">
            <a:spAutoFit/>
          </a:bodyPr>
          <a:lstStyle/>
          <a:p>
            <a:pPr algn="ctr"/>
            <a:r>
              <a:rPr sz="1100" b="1" i="0">
                <a:solidFill>
                  <a:srgbClr val="FFFFFF"/>
                </a:solidFill>
                <a:latin typeface="Arial"/>
              </a:rPr>
              <a:t>DoR  ·  the bridge between worlds</a:t>
            </a:r>
          </a:p>
        </p:txBody>
      </p:sp>
      <p:sp>
        <p:nvSpPr>
          <p:cNvPr id="20" name="TextBox 19"/>
          <p:cNvSpPr txBox="1"/>
          <p:nvPr/>
        </p:nvSpPr>
        <p:spPr>
          <a:xfrm>
            <a:off x="5943600" y="2999232"/>
            <a:ext cx="274320" cy="274320"/>
          </a:xfrm>
          <a:prstGeom prst="rect">
            <a:avLst/>
          </a:prstGeom>
          <a:noFill/>
        </p:spPr>
        <p:txBody>
          <a:bodyPr wrap="square" lIns="36000" rIns="36000" tIns="18000" bIns="18000" anchor="ctr">
            <a:spAutoFit/>
          </a:bodyPr>
          <a:lstStyle/>
          <a:p>
            <a:pPr algn="ctr"/>
            <a:r>
              <a:rPr sz="1800" b="1" i="0">
                <a:solidFill>
                  <a:srgbClr val="006B3F"/>
                </a:solidFill>
                <a:latin typeface="Arial"/>
              </a:rPr>
              <a:t>↓</a:t>
            </a:r>
          </a:p>
        </p:txBody>
      </p:sp>
      <p:sp>
        <p:nvSpPr>
          <p:cNvPr id="21" name="Rounded Rectangle 20"/>
          <p:cNvSpPr/>
          <p:nvPr/>
        </p:nvSpPr>
        <p:spPr>
          <a:xfrm>
            <a:off x="365760" y="3840480"/>
            <a:ext cx="11475720" cy="1691640"/>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840480"/>
            <a:ext cx="182880" cy="1691640"/>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950208"/>
            <a:ext cx="4572000" cy="274320"/>
          </a:xfrm>
          <a:prstGeom prst="rect">
            <a:avLst/>
          </a:prstGeom>
          <a:noFill/>
        </p:spPr>
        <p:txBody>
          <a:bodyPr wrap="square" lIns="36000" rIns="36000" tIns="18000" bIns="18000" anchor="t">
            <a:spAutoFit/>
          </a:bodyPr>
          <a:lstStyle/>
          <a:p>
            <a:pPr algn="l"/>
            <a:r>
              <a:rPr sz="1400" b="1" i="0">
                <a:solidFill>
                  <a:srgbClr val="F08629"/>
                </a:solidFill>
                <a:latin typeface="Arial"/>
              </a:rPr>
              <a:t>DELIVERY  ·  Digital Products squads</a:t>
            </a:r>
          </a:p>
        </p:txBody>
      </p:sp>
      <p:sp>
        <p:nvSpPr>
          <p:cNvPr id="24" name="Rounded Rectangle 23"/>
          <p:cNvSpPr/>
          <p:nvPr/>
        </p:nvSpPr>
        <p:spPr>
          <a:xfrm>
            <a:off x="4937760" y="4005072"/>
            <a:ext cx="1463040" cy="219456"/>
          </a:xfrm>
          <a:prstGeom prst="roundRect">
            <a:avLst>
              <a:gd name="adj" fmla="val 30000"/>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0" y="4005072"/>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OUR ZONE — ALMOST ALWAYS</a:t>
            </a:r>
          </a:p>
        </p:txBody>
      </p:sp>
      <p:sp>
        <p:nvSpPr>
          <p:cNvPr id="26" name="TextBox 25"/>
          <p:cNvSpPr txBox="1"/>
          <p:nvPr/>
        </p:nvSpPr>
        <p:spPr>
          <a:xfrm>
            <a:off x="640080" y="4251960"/>
            <a:ext cx="10058400" cy="182880"/>
          </a:xfrm>
          <a:prstGeom prst="rect">
            <a:avLst/>
          </a:prstGeom>
          <a:noFill/>
        </p:spPr>
        <p:txBody>
          <a:bodyPr wrap="square" lIns="36000" rIns="36000" tIns="18000" bIns="18000" anchor="t">
            <a:spAutoFit/>
          </a:bodyPr>
          <a:lstStyle/>
          <a:p>
            <a:pPr algn="l"/>
            <a:r>
              <a:rPr sz="900" b="0" i="1">
                <a:solidFill>
                  <a:srgbClr val="F08629"/>
                </a:solidFill>
                <a:latin typeface="Arial"/>
              </a:rPr>
              <a:t>Phases 2–4 · we own pull · iteration · UAT · release · hypercare</a:t>
            </a:r>
          </a:p>
        </p:txBody>
      </p:sp>
      <p:sp>
        <p:nvSpPr>
          <p:cNvPr id="27" name="Rounded Rectangle 26"/>
          <p:cNvSpPr/>
          <p:nvPr/>
        </p:nvSpPr>
        <p:spPr>
          <a:xfrm>
            <a:off x="64008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2  ·  BUILD</a:t>
            </a:r>
          </a:p>
        </p:txBody>
      </p:sp>
      <p:sp>
        <p:nvSpPr>
          <p:cNvPr id="29" name="TextBox 28"/>
          <p:cNvSpPr txBox="1"/>
          <p:nvPr/>
        </p:nvSpPr>
        <p:spPr>
          <a:xfrm>
            <a:off x="77724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squad pulls Stories · iterations · DoD per Story</a:t>
            </a:r>
          </a:p>
        </p:txBody>
      </p:sp>
      <p:sp>
        <p:nvSpPr>
          <p:cNvPr id="30" name="TextBox 29"/>
          <p:cNvSpPr txBox="1"/>
          <p:nvPr/>
        </p:nvSpPr>
        <p:spPr>
          <a:xfrm>
            <a:off x="417576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1" name="Rounded Rectangle 30"/>
          <p:cNvSpPr/>
          <p:nvPr/>
        </p:nvSpPr>
        <p:spPr>
          <a:xfrm>
            <a:off x="440436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4152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3  ·  TEST + UAT</a:t>
            </a:r>
          </a:p>
        </p:txBody>
      </p:sp>
      <p:sp>
        <p:nvSpPr>
          <p:cNvPr id="33" name="TextBox 32"/>
          <p:cNvSpPr txBox="1"/>
          <p:nvPr/>
        </p:nvSpPr>
        <p:spPr>
          <a:xfrm>
            <a:off x="454152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internal QA + Sponsor UAT · acceptance criteria validated</a:t>
            </a:r>
          </a:p>
        </p:txBody>
      </p:sp>
      <p:sp>
        <p:nvSpPr>
          <p:cNvPr id="34" name="TextBox 33"/>
          <p:cNvSpPr txBox="1"/>
          <p:nvPr/>
        </p:nvSpPr>
        <p:spPr>
          <a:xfrm>
            <a:off x="794004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5" name="Rounded Rectangle 34"/>
          <p:cNvSpPr/>
          <p:nvPr/>
        </p:nvSpPr>
        <p:spPr>
          <a:xfrm>
            <a:off x="816864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0580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4  ·  RELEASE</a:t>
            </a:r>
          </a:p>
        </p:txBody>
      </p:sp>
      <p:sp>
        <p:nvSpPr>
          <p:cNvPr id="37" name="TextBox 36"/>
          <p:cNvSpPr txBox="1"/>
          <p:nvPr/>
        </p:nvSpPr>
        <p:spPr>
          <a:xfrm>
            <a:off x="830580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hypercare · feedback loop · Measure &amp; Learn</a:t>
            </a:r>
          </a:p>
        </p:txBody>
      </p:sp>
      <p:sp>
        <p:nvSpPr>
          <p:cNvPr id="38" name="Rounded Rectangle 37"/>
          <p:cNvSpPr/>
          <p:nvPr/>
        </p:nvSpPr>
        <p:spPr>
          <a:xfrm>
            <a:off x="365760" y="5623560"/>
            <a:ext cx="56464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562356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678424"/>
            <a:ext cx="5372100" cy="201168"/>
          </a:xfrm>
          <a:prstGeom prst="rect">
            <a:avLst/>
          </a:prstGeom>
          <a:noFill/>
        </p:spPr>
        <p:txBody>
          <a:bodyPr wrap="square" lIns="36000" rIns="36000" tIns="18000" bIns="18000" anchor="t">
            <a:spAutoFit/>
          </a:bodyPr>
          <a:lstStyle/>
          <a:p>
            <a:pPr algn="l"/>
            <a:r>
              <a:rPr sz="1000" b="1" i="0">
                <a:solidFill>
                  <a:srgbClr val="006B3F"/>
                </a:solidFill>
                <a:latin typeface="Arial"/>
              </a:rPr>
              <a:t>CS  ·  vendor-led Discovery (SaaS-heavy)</a:t>
            </a:r>
          </a:p>
        </p:txBody>
      </p:sp>
      <p:sp>
        <p:nvSpPr>
          <p:cNvPr id="41" name="TextBox 40"/>
          <p:cNvSpPr txBox="1"/>
          <p:nvPr/>
        </p:nvSpPr>
        <p:spPr>
          <a:xfrm>
            <a:off x="5029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Genesys · CIS · Smart Meter platforms — vendor runs Discovery · Heather oversees vendor relationships</a:t>
            </a:r>
          </a:p>
        </p:txBody>
      </p:sp>
      <p:sp>
        <p:nvSpPr>
          <p:cNvPr id="42" name="Rounded Rectangle 41"/>
          <p:cNvSpPr/>
          <p:nvPr/>
        </p:nvSpPr>
        <p:spPr>
          <a:xfrm>
            <a:off x="6195060" y="5623560"/>
            <a:ext cx="5646420" cy="77724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5060" y="5623560"/>
            <a:ext cx="91440"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32220" y="5678424"/>
            <a:ext cx="5372100" cy="201168"/>
          </a:xfrm>
          <a:prstGeom prst="rect">
            <a:avLst/>
          </a:prstGeom>
          <a:noFill/>
        </p:spPr>
        <p:txBody>
          <a:bodyPr wrap="square" lIns="36000" rIns="36000" tIns="18000" bIns="18000" anchor="t">
            <a:spAutoFit/>
          </a:bodyPr>
          <a:lstStyle/>
          <a:p>
            <a:pPr algn="l"/>
            <a:r>
              <a:rPr sz="1000" b="1" i="0">
                <a:solidFill>
                  <a:srgbClr val="2C578B"/>
                </a:solidFill>
                <a:latin typeface="Arial"/>
              </a:rPr>
              <a:t>ITBA  ·  domain-led Discovery (SAP-heavy)</a:t>
            </a:r>
          </a:p>
        </p:txBody>
      </p:sp>
      <p:sp>
        <p:nvSpPr>
          <p:cNvPr id="45" name="TextBox 44"/>
          <p:cNvSpPr txBox="1"/>
          <p:nvPr/>
        </p:nvSpPr>
        <p:spPr>
          <a:xfrm>
            <a:off x="63322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SAP CoE · vendor portals · custom builds (Networks IT) — domain teams run Discovery · Architect leads NFR alignment</a:t>
            </a:r>
          </a:p>
        </p:txBody>
      </p:sp>
      <p:sp>
        <p:nvSpPr>
          <p:cNvPr id="46" name="TextBox 4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7" name="TextBox 4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24 / 27</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Existing-Initiative shortcut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Bypass Gate 2 only when parent Implementing · Squad PM accepts in 48h · audit trail</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4937760" y="1188720"/>
            <a:ext cx="2331720" cy="73152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WHAT IS THE PARENT</a:t>
            </a:r>
          </a:p>
        </p:txBody>
      </p:sp>
      <p:sp>
        <p:nvSpPr>
          <p:cNvPr id="7" name="TextBox 6"/>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INITIATIVE STATUS?</a:t>
            </a:r>
          </a:p>
        </p:txBody>
      </p:sp>
      <p:cxnSp>
        <p:nvCxnSpPr>
          <p:cNvPr id="8" name="Connector 7"/>
          <p:cNvCxnSpPr/>
          <p:nvPr/>
        </p:nvCxnSpPr>
        <p:spPr>
          <a:xfrm flipH="1">
            <a:off x="1440180" y="1920240"/>
            <a:ext cx="466344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FUNNEL</a:t>
            </a:r>
          </a:p>
        </p:txBody>
      </p:sp>
      <p:sp>
        <p:nvSpPr>
          <p:cNvPr id="11" name="Rounded Rectangle 10"/>
          <p:cNvSpPr/>
          <p:nvPr/>
        </p:nvSpPr>
        <p:spPr>
          <a:xfrm>
            <a:off x="36576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13" name="Connector 12"/>
          <p:cNvCxnSpPr/>
          <p:nvPr/>
        </p:nvCxnSpPr>
        <p:spPr>
          <a:xfrm flipH="1">
            <a:off x="3771900" y="1920240"/>
            <a:ext cx="233172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9748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8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REVIEWING</a:t>
            </a:r>
          </a:p>
        </p:txBody>
      </p:sp>
      <p:sp>
        <p:nvSpPr>
          <p:cNvPr id="16" name="Rounded Rectangle 15"/>
          <p:cNvSpPr/>
          <p:nvPr/>
        </p:nvSpPr>
        <p:spPr>
          <a:xfrm>
            <a:off x="269748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8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18" name="Connector 17"/>
          <p:cNvCxnSpPr/>
          <p:nvPr/>
        </p:nvCxnSpPr>
        <p:spPr>
          <a:xfrm>
            <a:off x="6103620" y="1920240"/>
            <a:ext cx="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2920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ANALYZING</a:t>
            </a:r>
          </a:p>
        </p:txBody>
      </p:sp>
      <p:sp>
        <p:nvSpPr>
          <p:cNvPr id="21" name="Rounded Rectangle 20"/>
          <p:cNvSpPr/>
          <p:nvPr/>
        </p:nvSpPr>
        <p:spPr>
          <a:xfrm>
            <a:off x="502920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23" name="Connector 22"/>
          <p:cNvCxnSpPr/>
          <p:nvPr/>
        </p:nvCxnSpPr>
        <p:spPr>
          <a:xfrm>
            <a:off x="6103620" y="1920240"/>
            <a:ext cx="2331720" cy="36576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60920" y="2286000"/>
            <a:ext cx="21488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BACKLOG</a:t>
            </a:r>
          </a:p>
        </p:txBody>
      </p:sp>
      <p:sp>
        <p:nvSpPr>
          <p:cNvPr id="26" name="Rounded Rectangle 25"/>
          <p:cNvSpPr/>
          <p:nvPr/>
        </p:nvSpPr>
        <p:spPr>
          <a:xfrm>
            <a:off x="736092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0920" y="2880360"/>
            <a:ext cx="2148840" cy="365760"/>
          </a:xfrm>
          <a:prstGeom prst="rect">
            <a:avLst/>
          </a:prstGeom>
          <a:noFill/>
        </p:spPr>
        <p:txBody>
          <a:bodyPr wrap="square" lIns="36000" rIns="36000" tIns="18000" bIns="18000" anchor="ctr">
            <a:spAutoFit/>
          </a:bodyPr>
          <a:lstStyle/>
          <a:p>
            <a:pPr algn="ctr"/>
            <a:r>
              <a:rPr sz="800" b="1" i="0">
                <a:solidFill>
                  <a:srgbClr val="E98B2F"/>
                </a:solidFill>
                <a:latin typeface="Arial"/>
              </a:rPr>
              <a:t>ACCEPT (cautious)</a:t>
            </a:r>
          </a:p>
        </p:txBody>
      </p:sp>
      <p:cxnSp>
        <p:nvCxnSpPr>
          <p:cNvPr id="28" name="Connector 27"/>
          <p:cNvCxnSpPr/>
          <p:nvPr/>
        </p:nvCxnSpPr>
        <p:spPr>
          <a:xfrm>
            <a:off x="6103620" y="1920240"/>
            <a:ext cx="4663440" cy="365760"/>
          </a:xfrm>
          <a:prstGeom prst="line">
            <a:avLst/>
          </a:prstGeom>
          <a:ln w="19050">
            <a:solidFill>
              <a:srgbClr val="008C38"/>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692640" y="2286000"/>
            <a:ext cx="2148840"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IMPLEMENTING</a:t>
            </a:r>
          </a:p>
        </p:txBody>
      </p:sp>
      <p:sp>
        <p:nvSpPr>
          <p:cNvPr id="31" name="Rounded Rectangle 30"/>
          <p:cNvSpPr/>
          <p:nvPr/>
        </p:nvSpPr>
        <p:spPr>
          <a:xfrm>
            <a:off x="969264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0" y="2880360"/>
            <a:ext cx="2148840" cy="365760"/>
          </a:xfrm>
          <a:prstGeom prst="rect">
            <a:avLst/>
          </a:prstGeom>
          <a:noFill/>
        </p:spPr>
        <p:txBody>
          <a:bodyPr wrap="square" lIns="36000" rIns="36000" tIns="18000" bIns="18000" anchor="ctr">
            <a:spAutoFit/>
          </a:bodyPr>
          <a:lstStyle/>
          <a:p>
            <a:pPr algn="ctr"/>
            <a:r>
              <a:rPr sz="800" b="1" i="0">
                <a:solidFill>
                  <a:srgbClr val="008C38"/>
                </a:solidFill>
                <a:latin typeface="Arial"/>
              </a:rPr>
              <a:t>ACCEPT (preferred)</a:t>
            </a:r>
          </a:p>
        </p:txBody>
      </p:sp>
      <p:sp>
        <p:nvSpPr>
          <p:cNvPr id="33" name="Rounded Rectangle 32"/>
          <p:cNvSpPr/>
          <p:nvPr/>
        </p:nvSpPr>
        <p:spPr>
          <a:xfrm>
            <a:off x="36576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44018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5720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36" name="TextBox 35"/>
          <p:cNvSpPr txBox="1"/>
          <p:nvPr/>
        </p:nvSpPr>
        <p:spPr>
          <a:xfrm>
            <a:off x="45720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37" name="TextBox 36"/>
          <p:cNvSpPr txBox="1"/>
          <p:nvPr/>
        </p:nvSpPr>
        <p:spPr>
          <a:xfrm>
            <a:off x="45720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38" name="TextBox 37"/>
          <p:cNvSpPr txBox="1"/>
          <p:nvPr/>
        </p:nvSpPr>
        <p:spPr>
          <a:xfrm>
            <a:off x="45720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normal flow</a:t>
            </a:r>
          </a:p>
        </p:txBody>
      </p:sp>
      <p:sp>
        <p:nvSpPr>
          <p:cNvPr id="39" name="TextBox 38"/>
          <p:cNvSpPr txBox="1"/>
          <p:nvPr/>
        </p:nvSpPr>
        <p:spPr>
          <a:xfrm>
            <a:off x="45720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40" name="TextBox 39"/>
          <p:cNvSpPr txBox="1"/>
          <p:nvPr/>
        </p:nvSpPr>
        <p:spPr>
          <a:xfrm>
            <a:off x="45720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41" name="TextBox 40"/>
          <p:cNvSpPr txBox="1"/>
          <p:nvPr/>
        </p:nvSpPr>
        <p:spPr>
          <a:xfrm>
            <a:off x="45720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42" name="TextBox 41"/>
          <p:cNvSpPr txBox="1"/>
          <p:nvPr/>
        </p:nvSpPr>
        <p:spPr>
          <a:xfrm>
            <a:off x="45720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43" name="Rounded Rectangle 42"/>
          <p:cNvSpPr/>
          <p:nvPr/>
        </p:nvSpPr>
        <p:spPr>
          <a:xfrm>
            <a:off x="269748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377190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78892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46" name="TextBox 45"/>
          <p:cNvSpPr txBox="1"/>
          <p:nvPr/>
        </p:nvSpPr>
        <p:spPr>
          <a:xfrm>
            <a:off x="278892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47" name="TextBox 46"/>
          <p:cNvSpPr txBox="1"/>
          <p:nvPr/>
        </p:nvSpPr>
        <p:spPr>
          <a:xfrm>
            <a:off x="278892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48" name="TextBox 47"/>
          <p:cNvSpPr txBox="1"/>
          <p:nvPr/>
        </p:nvSpPr>
        <p:spPr>
          <a:xfrm>
            <a:off x="278892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attach reference</a:t>
            </a:r>
          </a:p>
        </p:txBody>
      </p:sp>
      <p:sp>
        <p:nvSpPr>
          <p:cNvPr id="49" name="TextBox 48"/>
          <p:cNvSpPr txBox="1"/>
          <p:nvPr/>
        </p:nvSpPr>
        <p:spPr>
          <a:xfrm>
            <a:off x="278892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50" name="TextBox 49"/>
          <p:cNvSpPr txBox="1"/>
          <p:nvPr/>
        </p:nvSpPr>
        <p:spPr>
          <a:xfrm>
            <a:off x="278892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51" name="TextBox 50"/>
          <p:cNvSpPr txBox="1"/>
          <p:nvPr/>
        </p:nvSpPr>
        <p:spPr>
          <a:xfrm>
            <a:off x="278892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52" name="TextBox 51"/>
          <p:cNvSpPr txBox="1"/>
          <p:nvPr/>
        </p:nvSpPr>
        <p:spPr>
          <a:xfrm>
            <a:off x="278892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53" name="Rounded Rectangle 52"/>
          <p:cNvSpPr/>
          <p:nvPr/>
        </p:nvSpPr>
        <p:spPr>
          <a:xfrm>
            <a:off x="502920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610362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12064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56" name="TextBox 55"/>
          <p:cNvSpPr txBox="1"/>
          <p:nvPr/>
        </p:nvSpPr>
        <p:spPr>
          <a:xfrm>
            <a:off x="512064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 Architect</a:t>
            </a:r>
          </a:p>
        </p:txBody>
      </p:sp>
      <p:sp>
        <p:nvSpPr>
          <p:cNvPr id="57" name="TextBox 56"/>
          <p:cNvSpPr txBox="1"/>
          <p:nvPr/>
        </p:nvSpPr>
        <p:spPr>
          <a:xfrm>
            <a:off x="512064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58" name="TextBox 57"/>
          <p:cNvSpPr txBox="1"/>
          <p:nvPr/>
        </p:nvSpPr>
        <p:spPr>
          <a:xfrm>
            <a:off x="512064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standalone · let</a:t>
            </a:r>
          </a:p>
          <a:p>
            <a:pPr algn="l"/>
            <a:r>
              <a:rPr sz="800" b="0" i="0">
                <a:solidFill>
                  <a:srgbClr val="2C3E50"/>
                </a:solidFill>
                <a:latin typeface="Arial"/>
              </a:rPr>
              <a:t>Pain Score compete</a:t>
            </a:r>
          </a:p>
        </p:txBody>
      </p:sp>
      <p:sp>
        <p:nvSpPr>
          <p:cNvPr id="59" name="TextBox 58"/>
          <p:cNvSpPr txBox="1"/>
          <p:nvPr/>
        </p:nvSpPr>
        <p:spPr>
          <a:xfrm>
            <a:off x="512064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60" name="TextBox 59"/>
          <p:cNvSpPr txBox="1"/>
          <p:nvPr/>
        </p:nvSpPr>
        <p:spPr>
          <a:xfrm>
            <a:off x="512064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61" name="TextBox 60"/>
          <p:cNvSpPr txBox="1"/>
          <p:nvPr/>
        </p:nvSpPr>
        <p:spPr>
          <a:xfrm>
            <a:off x="512064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62" name="TextBox 61"/>
          <p:cNvSpPr txBox="1"/>
          <p:nvPr/>
        </p:nvSpPr>
        <p:spPr>
          <a:xfrm>
            <a:off x="512064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Gate 2</a:t>
            </a:r>
          </a:p>
        </p:txBody>
      </p:sp>
      <p:sp>
        <p:nvSpPr>
          <p:cNvPr id="63" name="Rounded Rectangle 62"/>
          <p:cNvSpPr/>
          <p:nvPr/>
        </p:nvSpPr>
        <p:spPr>
          <a:xfrm>
            <a:off x="736092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8435340" y="3246120"/>
            <a:ext cx="0" cy="274320"/>
          </a:xfrm>
          <a:prstGeom prst="line">
            <a:avLst/>
          </a:prstGeom>
          <a:ln w="12700">
            <a:solidFill>
              <a:srgbClr val="E98B2F"/>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745236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66" name="TextBox 65"/>
          <p:cNvSpPr txBox="1"/>
          <p:nvPr/>
        </p:nvSpPr>
        <p:spPr>
          <a:xfrm>
            <a:off x="7452360" y="3739896"/>
            <a:ext cx="1965960" cy="201168"/>
          </a:xfrm>
          <a:prstGeom prst="rect">
            <a:avLst/>
          </a:prstGeom>
          <a:noFill/>
        </p:spPr>
        <p:txBody>
          <a:bodyPr wrap="square" lIns="36000" rIns="36000" tIns="18000" bIns="18000" anchor="t">
            <a:spAutoFit/>
          </a:bodyPr>
          <a:lstStyle/>
          <a:p>
            <a:pPr algn="l"/>
            <a:r>
              <a:rPr sz="900" b="1" i="0">
                <a:solidFill>
                  <a:srgbClr val="E98B2F"/>
                </a:solidFill>
                <a:latin typeface="Arial"/>
              </a:rPr>
              <a:t>Squad PM</a:t>
            </a:r>
          </a:p>
        </p:txBody>
      </p:sp>
      <p:sp>
        <p:nvSpPr>
          <p:cNvPr id="67" name="TextBox 66"/>
          <p:cNvSpPr txBox="1"/>
          <p:nvPr/>
        </p:nvSpPr>
        <p:spPr>
          <a:xfrm>
            <a:off x="745236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68" name="TextBox 67"/>
          <p:cNvSpPr txBox="1"/>
          <p:nvPr/>
        </p:nvSpPr>
        <p:spPr>
          <a:xfrm>
            <a:off x="745236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re-baseline scope</a:t>
            </a:r>
          </a:p>
        </p:txBody>
      </p:sp>
      <p:sp>
        <p:nvSpPr>
          <p:cNvPr id="69" name="TextBox 68"/>
          <p:cNvSpPr txBox="1"/>
          <p:nvPr/>
        </p:nvSpPr>
        <p:spPr>
          <a:xfrm>
            <a:off x="745236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70" name="TextBox 69"/>
          <p:cNvSpPr txBox="1"/>
          <p:nvPr/>
        </p:nvSpPr>
        <p:spPr>
          <a:xfrm>
            <a:off x="745236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71" name="TextBox 70"/>
          <p:cNvSpPr txBox="1"/>
          <p:nvPr/>
        </p:nvSpPr>
        <p:spPr>
          <a:xfrm>
            <a:off x="745236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72" name="TextBox 71"/>
          <p:cNvSpPr txBox="1"/>
          <p:nvPr/>
        </p:nvSpPr>
        <p:spPr>
          <a:xfrm>
            <a:off x="745236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73" name="Rounded Rectangle 72"/>
          <p:cNvSpPr/>
          <p:nvPr/>
        </p:nvSpPr>
        <p:spPr>
          <a:xfrm>
            <a:off x="969264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10767060" y="3246120"/>
            <a:ext cx="0" cy="274320"/>
          </a:xfrm>
          <a:prstGeom prst="line">
            <a:avLst/>
          </a:prstGeom>
          <a:ln w="12700">
            <a:solidFill>
              <a:srgbClr val="008C38"/>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8408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76" name="TextBox 75"/>
          <p:cNvSpPr txBox="1"/>
          <p:nvPr/>
        </p:nvSpPr>
        <p:spPr>
          <a:xfrm>
            <a:off x="9784080" y="3739896"/>
            <a:ext cx="1965960" cy="201168"/>
          </a:xfrm>
          <a:prstGeom prst="rect">
            <a:avLst/>
          </a:prstGeom>
          <a:noFill/>
        </p:spPr>
        <p:txBody>
          <a:bodyPr wrap="square" lIns="36000" rIns="36000" tIns="18000" bIns="18000" anchor="t">
            <a:spAutoFit/>
          </a:bodyPr>
          <a:lstStyle/>
          <a:p>
            <a:pPr algn="l"/>
            <a:r>
              <a:rPr sz="900" b="1" i="0">
                <a:solidFill>
                  <a:srgbClr val="008C38"/>
                </a:solidFill>
                <a:latin typeface="Arial"/>
              </a:rPr>
              <a:t>Squad PM</a:t>
            </a:r>
          </a:p>
        </p:txBody>
      </p:sp>
      <p:sp>
        <p:nvSpPr>
          <p:cNvPr id="77" name="TextBox 76"/>
          <p:cNvSpPr txBox="1"/>
          <p:nvPr/>
        </p:nvSpPr>
        <p:spPr>
          <a:xfrm>
            <a:off x="978408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78" name="TextBox 77"/>
          <p:cNvSpPr txBox="1"/>
          <p:nvPr/>
        </p:nvSpPr>
        <p:spPr>
          <a:xfrm>
            <a:off x="978408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DoR fast-track</a:t>
            </a:r>
          </a:p>
        </p:txBody>
      </p:sp>
      <p:sp>
        <p:nvSpPr>
          <p:cNvPr id="79" name="TextBox 78"/>
          <p:cNvSpPr txBox="1"/>
          <p:nvPr/>
        </p:nvSpPr>
        <p:spPr>
          <a:xfrm>
            <a:off x="978408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80" name="TextBox 79"/>
          <p:cNvSpPr txBox="1"/>
          <p:nvPr/>
        </p:nvSpPr>
        <p:spPr>
          <a:xfrm>
            <a:off x="978408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81" name="TextBox 80"/>
          <p:cNvSpPr txBox="1"/>
          <p:nvPr/>
        </p:nvSpPr>
        <p:spPr>
          <a:xfrm>
            <a:off x="978408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82" name="TextBox 81"/>
          <p:cNvSpPr txBox="1"/>
          <p:nvPr/>
        </p:nvSpPr>
        <p:spPr>
          <a:xfrm>
            <a:off x="978408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83" name="Rounded Rectangle 82"/>
          <p:cNvSpPr/>
          <p:nvPr/>
        </p:nvSpPr>
        <p:spPr>
          <a:xfrm>
            <a:off x="365760" y="5989320"/>
            <a:ext cx="11475720" cy="36576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65760" y="5989320"/>
            <a:ext cx="91440" cy="3657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8640" y="6044183"/>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86" name="TextBox 85"/>
          <p:cNvSpPr txBox="1"/>
          <p:nvPr/>
        </p:nvSpPr>
        <p:spPr>
          <a:xfrm>
            <a:off x="548640" y="620877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Rule of thumb · only Implementing parent gives the shortcut its full value (DoR fast-track).</a:t>
            </a:r>
          </a:p>
        </p:txBody>
      </p:sp>
      <p:sp>
        <p:nvSpPr>
          <p:cNvPr id="87" name="TextBox 86"/>
          <p:cNvSpPr txBox="1"/>
          <p:nvPr/>
        </p:nvSpPr>
        <p:spPr>
          <a:xfrm>
            <a:off x="548640" y="6492240"/>
            <a:ext cx="11201400" cy="-182879"/>
          </a:xfrm>
          <a:prstGeom prst="rect">
            <a:avLst/>
          </a:prstGeom>
          <a:noFill/>
        </p:spPr>
        <p:txBody>
          <a:bodyPr wrap="square" lIns="36000" rIns="36000" tIns="18000" bIns="18000" anchor="t">
            <a:spAutoFit/>
          </a:bodyPr>
          <a:lstStyle/>
          <a:p>
            <a:pPr algn="l"/>
            <a:r>
              <a:rPr sz="800" b="0" i="0">
                <a:solidFill>
                  <a:srgbClr val="526077"/>
                </a:solidFill>
                <a:latin typeface="Arial"/>
              </a:rPr>
              <a:t/>
            </a:r>
          </a:p>
        </p:txBody>
      </p:sp>
      <p:sp>
        <p:nvSpPr>
          <p:cNvPr id="88" name="TextBox 8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9" name="TextBox 8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25 / 27</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Day 1 changes per role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Six roles change · all keep their reporting line · BRS pairing goes live · 90-day ramp</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1508760"/>
            <a:ext cx="21031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600200"/>
            <a:ext cx="2103120" cy="274320"/>
          </a:xfrm>
          <a:prstGeom prst="rect">
            <a:avLst/>
          </a:prstGeom>
          <a:noFill/>
        </p:spPr>
        <p:txBody>
          <a:bodyPr wrap="square" lIns="36000" rIns="36000" tIns="18000" bIns="18000" anchor="t">
            <a:spAutoFit/>
          </a:bodyPr>
          <a:lstStyle/>
          <a:p>
            <a:pPr algn="ctr"/>
            <a:r>
              <a:rPr sz="1000" b="1" i="0">
                <a:solidFill>
                  <a:srgbClr val="FFFFFF"/>
                </a:solidFill>
                <a:latin typeface="Arial"/>
              </a:rPr>
              <a:t>ROLE</a:t>
            </a:r>
          </a:p>
        </p:txBody>
      </p:sp>
      <p:sp>
        <p:nvSpPr>
          <p:cNvPr id="7" name="Rectangle 6"/>
          <p:cNvSpPr/>
          <p:nvPr/>
        </p:nvSpPr>
        <p:spPr>
          <a:xfrm>
            <a:off x="2468879" y="1508760"/>
            <a:ext cx="3087624"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79"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NEW</a:t>
            </a:r>
          </a:p>
        </p:txBody>
      </p:sp>
      <p:sp>
        <p:nvSpPr>
          <p:cNvPr id="9" name="Rectangle 8"/>
          <p:cNvSpPr/>
          <p:nvPr/>
        </p:nvSpPr>
        <p:spPr>
          <a:xfrm>
            <a:off x="5593080" y="1508760"/>
            <a:ext cx="3087624"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930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PRESERVED</a:t>
            </a:r>
          </a:p>
        </p:txBody>
      </p:sp>
      <p:sp>
        <p:nvSpPr>
          <p:cNvPr id="11" name="Rectangle 10"/>
          <p:cNvSpPr/>
          <p:nvPr/>
        </p:nvSpPr>
        <p:spPr>
          <a:xfrm>
            <a:off x="8717280" y="1508760"/>
            <a:ext cx="3087624"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172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90-DAY RAMP</a:t>
            </a:r>
          </a:p>
        </p:txBody>
      </p:sp>
      <p:sp>
        <p:nvSpPr>
          <p:cNvPr id="13" name="Rectangle 12"/>
          <p:cNvSpPr/>
          <p:nvPr/>
        </p:nvSpPr>
        <p:spPr>
          <a:xfrm>
            <a:off x="365760" y="196596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9659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0574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Heather LaJoie</a:t>
            </a:r>
          </a:p>
          <a:p>
            <a:pPr algn="l"/>
            <a:r>
              <a:rPr sz="850" b="1" i="0">
                <a:solidFill>
                  <a:srgbClr val="2C3E50"/>
                </a:solidFill>
                <a:latin typeface="Arial"/>
              </a:rPr>
              <a:t>Director · Product</a:t>
            </a:r>
          </a:p>
        </p:txBody>
      </p:sp>
      <p:sp>
        <p:nvSpPr>
          <p:cNvPr id="16" name="Rectangle 15"/>
          <p:cNvSpPr/>
          <p:nvPr/>
        </p:nvSpPr>
        <p:spPr>
          <a:xfrm>
            <a:off x="2468879"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Lead Product Management practice · mentor new PMs · BRS pairing · liaison Digital CoE BRP</a:t>
            </a:r>
          </a:p>
        </p:txBody>
      </p:sp>
      <p:sp>
        <p:nvSpPr>
          <p:cNvPr id="18" name="Rectangle 17"/>
          <p:cNvSpPr/>
          <p:nvPr/>
        </p:nvSpPr>
        <p:spPr>
          <a:xfrm>
            <a:off x="55930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84519"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CCC director duties · existing Sponsor relationships · compensation</a:t>
            </a:r>
          </a:p>
        </p:txBody>
      </p:sp>
      <p:sp>
        <p:nvSpPr>
          <p:cNvPr id="20" name="Rectangle 19"/>
          <p:cNvSpPr/>
          <p:nvPr/>
        </p:nvSpPr>
        <p:spPr>
          <a:xfrm>
            <a:off x="87172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087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PMs onboarded by W12 · first quarterly metrics review with Vitor</a:t>
            </a:r>
          </a:p>
        </p:txBody>
      </p:sp>
      <p:sp>
        <p:nvSpPr>
          <p:cNvPr id="22" name="Rectangle 21"/>
          <p:cNvSpPr/>
          <p:nvPr/>
        </p:nvSpPr>
        <p:spPr>
          <a:xfrm>
            <a:off x="365760" y="273558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73558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82702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Kumar Jaladanki</a:t>
            </a:r>
          </a:p>
          <a:p>
            <a:pPr algn="l"/>
            <a:r>
              <a:rPr sz="850" b="1" i="0">
                <a:solidFill>
                  <a:srgbClr val="2C3E50"/>
                </a:solidFill>
                <a:latin typeface="Arial"/>
              </a:rPr>
              <a:t>Director · CS Eng</a:t>
            </a:r>
          </a:p>
        </p:txBody>
      </p:sp>
      <p:sp>
        <p:nvSpPr>
          <p:cNvPr id="25" name="Rectangle 24"/>
          <p:cNvSpPr/>
          <p:nvPr/>
        </p:nvSpPr>
        <p:spPr>
          <a:xfrm>
            <a:off x="2468879"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27" name="Rectangle 26"/>
          <p:cNvSpPr/>
          <p:nvPr/>
        </p:nvSpPr>
        <p:spPr>
          <a:xfrm>
            <a:off x="55930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4519"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vendor relationships</a:t>
            </a:r>
          </a:p>
        </p:txBody>
      </p:sp>
      <p:sp>
        <p:nvSpPr>
          <p:cNvPr id="29" name="Rectangle 28"/>
          <p:cNvSpPr/>
          <p:nvPr/>
        </p:nvSpPr>
        <p:spPr>
          <a:xfrm>
            <a:off x="87172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087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4 PMs paired</a:t>
            </a:r>
          </a:p>
        </p:txBody>
      </p:sp>
      <p:sp>
        <p:nvSpPr>
          <p:cNvPr id="31" name="Rectangle 30"/>
          <p:cNvSpPr/>
          <p:nvPr/>
        </p:nvSpPr>
        <p:spPr>
          <a:xfrm>
            <a:off x="365760" y="350520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350520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59664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Carlos Garbin</a:t>
            </a:r>
          </a:p>
          <a:p>
            <a:pPr algn="l"/>
            <a:r>
              <a:rPr sz="850" b="1" i="0">
                <a:solidFill>
                  <a:srgbClr val="2C3E50"/>
                </a:solidFill>
                <a:latin typeface="Arial"/>
              </a:rPr>
              <a:t>Director · ITBA</a:t>
            </a:r>
          </a:p>
        </p:txBody>
      </p:sp>
      <p:sp>
        <p:nvSpPr>
          <p:cNvPr id="34" name="Rectangle 33"/>
          <p:cNvSpPr/>
          <p:nvPr/>
        </p:nvSpPr>
        <p:spPr>
          <a:xfrm>
            <a:off x="2468879"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36" name="Rectangle 35"/>
          <p:cNvSpPr/>
          <p:nvPr/>
        </p:nvSpPr>
        <p:spPr>
          <a:xfrm>
            <a:off x="55930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84519"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P&amp;T BRP relationship</a:t>
            </a:r>
          </a:p>
        </p:txBody>
      </p:sp>
      <p:sp>
        <p:nvSpPr>
          <p:cNvPr id="38" name="Rectangle 37"/>
          <p:cNvSpPr/>
          <p:nvPr/>
        </p:nvSpPr>
        <p:spPr>
          <a:xfrm>
            <a:off x="87172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087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5 PMs paired</a:t>
            </a:r>
          </a:p>
        </p:txBody>
      </p:sp>
      <p:sp>
        <p:nvSpPr>
          <p:cNvPr id="40" name="Rectangle 39"/>
          <p:cNvSpPr/>
          <p:nvPr/>
        </p:nvSpPr>
        <p:spPr>
          <a:xfrm>
            <a:off x="365760" y="427482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427482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4366259"/>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Middle managers</a:t>
            </a:r>
          </a:p>
          <a:p>
            <a:pPr algn="l"/>
            <a:r>
              <a:rPr sz="850" b="1" i="0">
                <a:solidFill>
                  <a:srgbClr val="2C3E50"/>
                </a:solidFill>
                <a:latin typeface="Arial"/>
              </a:rPr>
              <a:t>Kumar's + Carlos's lieutenants</a:t>
            </a:r>
          </a:p>
        </p:txBody>
      </p:sp>
      <p:sp>
        <p:nvSpPr>
          <p:cNvPr id="43" name="Rectangle 42"/>
          <p:cNvSpPr/>
          <p:nvPr/>
        </p:nvSpPr>
        <p:spPr>
          <a:xfrm>
            <a:off x="2468879"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03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Hold day-to-day CoS lane reality · daily ops with PM · escalations to Director</a:t>
            </a:r>
          </a:p>
        </p:txBody>
      </p:sp>
      <p:sp>
        <p:nvSpPr>
          <p:cNvPr id="45" name="Rectangle 44"/>
          <p:cNvSpPr/>
          <p:nvPr/>
        </p:nvSpPr>
        <p:spPr>
          <a:xfrm>
            <a:off x="55930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84519"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Existing operational responsibilities · team structures · processes</a:t>
            </a:r>
          </a:p>
        </p:txBody>
      </p:sp>
      <p:sp>
        <p:nvSpPr>
          <p:cNvPr id="47" name="Rectangle 46"/>
          <p:cNvSpPr/>
          <p:nvPr/>
        </p:nvSpPr>
        <p:spPr>
          <a:xfrm>
            <a:off x="87172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087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First Gate 2 capacity reality check · CoS adherence baseline set</a:t>
            </a:r>
          </a:p>
        </p:txBody>
      </p:sp>
      <p:sp>
        <p:nvSpPr>
          <p:cNvPr id="49" name="Rectangle 48"/>
          <p:cNvSpPr/>
          <p:nvPr/>
        </p:nvSpPr>
        <p:spPr>
          <a:xfrm>
            <a:off x="365760" y="504444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5760" y="504444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513588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PM (per VS)</a:t>
            </a:r>
          </a:p>
          <a:p>
            <a:pPr algn="l"/>
            <a:r>
              <a:rPr sz="850" b="1" i="0">
                <a:solidFill>
                  <a:srgbClr val="2C3E50"/>
                </a:solidFill>
                <a:latin typeface="Arial"/>
              </a:rPr>
              <a:t>NEW capability</a:t>
            </a:r>
          </a:p>
        </p:txBody>
      </p:sp>
      <p:sp>
        <p:nvSpPr>
          <p:cNvPr id="52" name="Rectangle 51"/>
          <p:cNvSpPr/>
          <p:nvPr/>
        </p:nvSpPr>
        <p:spPr>
          <a:xfrm>
            <a:off x="2468879"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603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Outcome-named refinement · weekly cadence · BRS pairing · Heather mentorship</a:t>
            </a:r>
          </a:p>
        </p:txBody>
      </p:sp>
      <p:sp>
        <p:nvSpPr>
          <p:cNvPr id="54" name="Rectangle 53"/>
          <p:cNvSpPr/>
          <p:nvPr/>
        </p:nvSpPr>
        <p:spPr>
          <a:xfrm>
            <a:off x="55930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84519"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  (NEW role)</a:t>
            </a:r>
          </a:p>
        </p:txBody>
      </p:sp>
      <p:sp>
        <p:nvSpPr>
          <p:cNvPr id="56" name="Rectangle 55"/>
          <p:cNvSpPr/>
          <p:nvPr/>
        </p:nvSpPr>
        <p:spPr>
          <a:xfrm>
            <a:off x="87172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8087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Onboarded W12 · independently leading VS by Q+1 · 5 demands scored</a:t>
            </a:r>
          </a:p>
        </p:txBody>
      </p:sp>
      <p:sp>
        <p:nvSpPr>
          <p:cNvPr id="58" name="Rectangle 57"/>
          <p:cNvSpPr/>
          <p:nvPr/>
        </p:nvSpPr>
        <p:spPr>
          <a:xfrm>
            <a:off x="365760" y="581406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5760" y="58140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59055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Architect</a:t>
            </a:r>
          </a:p>
          <a:p>
            <a:pPr algn="l"/>
            <a:r>
              <a:rPr sz="850" b="1" i="0">
                <a:solidFill>
                  <a:srgbClr val="2C3E50"/>
                </a:solidFill>
                <a:latin typeface="Arial"/>
              </a:rPr>
              <a:t>cross-VS</a:t>
            </a:r>
          </a:p>
        </p:txBody>
      </p:sp>
      <p:sp>
        <p:nvSpPr>
          <p:cNvPr id="61" name="Rectangle 60"/>
          <p:cNvSpPr/>
          <p:nvPr/>
        </p:nvSpPr>
        <p:spPr>
          <a:xfrm>
            <a:off x="2468879"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5603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Effort + Safety scoring · NFR pre-check · cross-VS feasibility log</a:t>
            </a:r>
          </a:p>
        </p:txBody>
      </p:sp>
      <p:sp>
        <p:nvSpPr>
          <p:cNvPr id="63" name="Rectangle 62"/>
          <p:cNvSpPr/>
          <p:nvPr/>
        </p:nvSpPr>
        <p:spPr>
          <a:xfrm>
            <a:off x="55930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84519"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Architecture authority · vendor architecture decisions</a:t>
            </a:r>
          </a:p>
        </p:txBody>
      </p:sp>
      <p:sp>
        <p:nvSpPr>
          <p:cNvPr id="65" name="Rectangle 64"/>
          <p:cNvSpPr/>
          <p:nvPr/>
        </p:nvSpPr>
        <p:spPr>
          <a:xfrm>
            <a:off x="87172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087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1-5 scale calibrated · NFR templates published · feasibility log live</a:t>
            </a:r>
          </a:p>
        </p:txBody>
      </p:sp>
      <p:sp>
        <p:nvSpPr>
          <p:cNvPr id="67" name="TextBox 6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8" name="TextBox 6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26 / 27</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Phase 2 closes · Phase 3 next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DoR-passed Stories hand off to Execution · what we covered · what flows out · 3 risks managed</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20240" y="1600199"/>
            <a:ext cx="777240" cy="77724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0240"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1</a:t>
            </a:r>
          </a:p>
        </p:txBody>
      </p:sp>
      <p:sp>
        <p:nvSpPr>
          <p:cNvPr id="8" name="TextBox 7"/>
          <p:cNvSpPr txBox="1"/>
          <p:nvPr/>
        </p:nvSpPr>
        <p:spPr>
          <a:xfrm>
            <a:off x="457200" y="2468880"/>
            <a:ext cx="3703320" cy="201168"/>
          </a:xfrm>
          <a:prstGeom prst="rect">
            <a:avLst/>
          </a:prstGeom>
          <a:noFill/>
        </p:spPr>
        <p:txBody>
          <a:bodyPr wrap="square" lIns="36000" rIns="36000" tIns="18000" bIns="18000" anchor="t">
            <a:spAutoFit/>
          </a:bodyPr>
          <a:lstStyle/>
          <a:p>
            <a:pPr algn="ctr"/>
            <a:r>
              <a:rPr sz="1100" b="1" i="0">
                <a:solidFill>
                  <a:srgbClr val="006B3F"/>
                </a:solidFill>
                <a:latin typeface="Arial"/>
              </a:rPr>
              <a:t>DEMAND MGMT</a:t>
            </a:r>
          </a:p>
        </p:txBody>
      </p:sp>
      <p:sp>
        <p:nvSpPr>
          <p:cNvPr id="9" name="TextBox 8"/>
          <p:cNvSpPr txBox="1"/>
          <p:nvPr/>
        </p:nvSpPr>
        <p:spPr>
          <a:xfrm>
            <a:off x="457200"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complete</a:t>
            </a:r>
          </a:p>
        </p:txBody>
      </p:sp>
      <p:sp>
        <p:nvSpPr>
          <p:cNvPr id="10" name="Oval 9"/>
          <p:cNvSpPr/>
          <p:nvPr/>
        </p:nvSpPr>
        <p:spPr>
          <a:xfrm>
            <a:off x="5714999" y="1600199"/>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499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2</a:t>
            </a:r>
          </a:p>
        </p:txBody>
      </p:sp>
      <p:sp>
        <p:nvSpPr>
          <p:cNvPr id="12" name="TextBox 11"/>
          <p:cNvSpPr txBox="1"/>
          <p:nvPr/>
        </p:nvSpPr>
        <p:spPr>
          <a:xfrm>
            <a:off x="4251959" y="2468880"/>
            <a:ext cx="3703320" cy="201168"/>
          </a:xfrm>
          <a:prstGeom prst="rect">
            <a:avLst/>
          </a:prstGeom>
          <a:noFill/>
        </p:spPr>
        <p:txBody>
          <a:bodyPr wrap="square" lIns="36000" rIns="36000" tIns="18000" bIns="18000" anchor="t">
            <a:spAutoFit/>
          </a:bodyPr>
          <a:lstStyle/>
          <a:p>
            <a:pPr algn="ctr"/>
            <a:r>
              <a:rPr sz="1100" b="1" i="0">
                <a:solidFill>
                  <a:srgbClr val="008C38"/>
                </a:solidFill>
                <a:latin typeface="Arial"/>
              </a:rPr>
              <a:t>PREP &amp; PLANNING</a:t>
            </a:r>
          </a:p>
        </p:txBody>
      </p:sp>
      <p:sp>
        <p:nvSpPr>
          <p:cNvPr id="13" name="TextBox 12"/>
          <p:cNvSpPr txBox="1"/>
          <p:nvPr/>
        </p:nvSpPr>
        <p:spPr>
          <a:xfrm>
            <a:off x="425195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covered now</a:t>
            </a:r>
          </a:p>
        </p:txBody>
      </p:sp>
      <p:sp>
        <p:nvSpPr>
          <p:cNvPr id="14" name="Rounded Rectangle 13"/>
          <p:cNvSpPr/>
          <p:nvPr/>
        </p:nvSpPr>
        <p:spPr>
          <a:xfrm>
            <a:off x="5234939" y="1307591"/>
            <a:ext cx="173736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4939" y="1307591"/>
            <a:ext cx="1737360" cy="201168"/>
          </a:xfrm>
          <a:prstGeom prst="rect">
            <a:avLst/>
          </a:prstGeom>
          <a:noFill/>
        </p:spPr>
        <p:txBody>
          <a:bodyPr wrap="square" lIns="36000" rIns="36000" tIns="18000" bIns="18000" anchor="ctr">
            <a:spAutoFit/>
          </a:bodyPr>
          <a:lstStyle/>
          <a:p>
            <a:pPr algn="ctr"/>
            <a:r>
              <a:rPr sz="800" b="1" i="0">
                <a:solidFill>
                  <a:srgbClr val="FFFFFF"/>
                </a:solidFill>
                <a:latin typeface="Arial"/>
              </a:rPr>
              <a:t>▼ JUST COVERED</a:t>
            </a:r>
          </a:p>
        </p:txBody>
      </p:sp>
      <p:sp>
        <p:nvSpPr>
          <p:cNvPr id="16" name="Oval 15"/>
          <p:cNvSpPr/>
          <p:nvPr/>
        </p:nvSpPr>
        <p:spPr>
          <a:xfrm>
            <a:off x="9509759" y="1600199"/>
            <a:ext cx="777240" cy="7772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5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3</a:t>
            </a:r>
          </a:p>
        </p:txBody>
      </p:sp>
      <p:sp>
        <p:nvSpPr>
          <p:cNvPr id="18" name="TextBox 17"/>
          <p:cNvSpPr txBox="1"/>
          <p:nvPr/>
        </p:nvSpPr>
        <p:spPr>
          <a:xfrm>
            <a:off x="8046719" y="2468880"/>
            <a:ext cx="3703320" cy="201168"/>
          </a:xfrm>
          <a:prstGeom prst="rect">
            <a:avLst/>
          </a:prstGeom>
          <a:noFill/>
        </p:spPr>
        <p:txBody>
          <a:bodyPr wrap="square" lIns="36000" rIns="36000" tIns="18000" bIns="18000" anchor="t">
            <a:spAutoFit/>
          </a:bodyPr>
          <a:lstStyle/>
          <a:p>
            <a:pPr algn="ctr"/>
            <a:r>
              <a:rPr sz="1100" b="1" i="0">
                <a:solidFill>
                  <a:srgbClr val="2C578B"/>
                </a:solidFill>
                <a:latin typeface="Arial"/>
              </a:rPr>
              <a:t>EXECUTION</a:t>
            </a:r>
          </a:p>
        </p:txBody>
      </p:sp>
      <p:sp>
        <p:nvSpPr>
          <p:cNvPr id="19" name="TextBox 18"/>
          <p:cNvSpPr txBox="1"/>
          <p:nvPr/>
        </p:nvSpPr>
        <p:spPr>
          <a:xfrm>
            <a:off x="804671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next section</a:t>
            </a:r>
          </a:p>
        </p:txBody>
      </p:sp>
      <p:sp>
        <p:nvSpPr>
          <p:cNvPr id="20" name="Rounded Rectangle 19"/>
          <p:cNvSpPr/>
          <p:nvPr/>
        </p:nvSpPr>
        <p:spPr>
          <a:xfrm>
            <a:off x="3657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423160"/>
            <a:ext cx="37033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WE COVERED  ·  Phase 2</a:t>
            </a:r>
          </a:p>
        </p:txBody>
      </p:sp>
      <p:sp>
        <p:nvSpPr>
          <p:cNvPr id="23" name="TextBox 22"/>
          <p:cNvSpPr txBox="1"/>
          <p:nvPr/>
        </p:nvSpPr>
        <p:spPr>
          <a:xfrm>
            <a:off x="502920" y="2715768"/>
            <a:ext cx="3429000" cy="182880"/>
          </a:xfrm>
          <a:prstGeom prst="rect">
            <a:avLst/>
          </a:prstGeom>
          <a:noFill/>
        </p:spPr>
        <p:txBody>
          <a:bodyPr wrap="square" lIns="36000" rIns="36000" tIns="18000" bIns="18000" anchor="t">
            <a:spAutoFit/>
          </a:bodyPr>
          <a:lstStyle/>
          <a:p>
            <a:pPr algn="l"/>
            <a:r>
              <a:rPr sz="800" b="0" i="1">
                <a:solidFill>
                  <a:srgbClr val="F2F8F4"/>
                </a:solidFill>
                <a:latin typeface="Arial"/>
              </a:rPr>
              <a:t>27 slides · 7 sections</a:t>
            </a:r>
          </a:p>
        </p:txBody>
      </p:sp>
      <p:sp>
        <p:nvSpPr>
          <p:cNvPr id="24" name="TextBox 23"/>
          <p:cNvSpPr txBox="1"/>
          <p:nvPr/>
        </p:nvSpPr>
        <p:spPr>
          <a:xfrm>
            <a:off x="530352" y="3035808"/>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OPENER</a:t>
            </a:r>
          </a:p>
        </p:txBody>
      </p:sp>
      <p:sp>
        <p:nvSpPr>
          <p:cNvPr id="25" name="TextBox 24"/>
          <p:cNvSpPr txBox="1"/>
          <p:nvPr/>
        </p:nvSpPr>
        <p:spPr>
          <a:xfrm>
            <a:off x="1783080" y="3035808"/>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Bridge from Phase 1 · 4 gaps · two-board link</a:t>
            </a:r>
          </a:p>
        </p:txBody>
      </p:sp>
      <p:sp>
        <p:nvSpPr>
          <p:cNvPr id="26" name="TextBox 25"/>
          <p:cNvSpPr txBox="1"/>
          <p:nvPr/>
        </p:nvSpPr>
        <p:spPr>
          <a:xfrm>
            <a:off x="530352" y="3486476"/>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CAPABILITIES</a:t>
            </a:r>
          </a:p>
        </p:txBody>
      </p:sp>
      <p:sp>
        <p:nvSpPr>
          <p:cNvPr id="27" name="TextBox 26"/>
          <p:cNvSpPr txBox="1"/>
          <p:nvPr/>
        </p:nvSpPr>
        <p:spPr>
          <a:xfrm>
            <a:off x="1783080" y="3486476"/>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6 capabilities · 3 muscles (Detail · Sequence · Capacity)</a:t>
            </a:r>
          </a:p>
        </p:txBody>
      </p:sp>
      <p:sp>
        <p:nvSpPr>
          <p:cNvPr id="28" name="TextBox 27"/>
          <p:cNvSpPr txBox="1"/>
          <p:nvPr/>
        </p:nvSpPr>
        <p:spPr>
          <a:xfrm>
            <a:off x="530352" y="3937145"/>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ROLES</a:t>
            </a:r>
          </a:p>
        </p:txBody>
      </p:sp>
      <p:sp>
        <p:nvSpPr>
          <p:cNvPr id="29" name="TextBox 28"/>
          <p:cNvSpPr txBox="1"/>
          <p:nvPr/>
        </p:nvSpPr>
        <p:spPr>
          <a:xfrm>
            <a:off x="1783080" y="3937145"/>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PM · Architect · Squad PM · Heather mentors · BRS pair</a:t>
            </a:r>
          </a:p>
        </p:txBody>
      </p:sp>
      <p:sp>
        <p:nvSpPr>
          <p:cNvPr id="30" name="TextBox 29"/>
          <p:cNvSpPr txBox="1"/>
          <p:nvPr/>
        </p:nvSpPr>
        <p:spPr>
          <a:xfrm>
            <a:off x="530352" y="4387813"/>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TOOLS</a:t>
            </a:r>
          </a:p>
        </p:txBody>
      </p:sp>
      <p:sp>
        <p:nvSpPr>
          <p:cNvPr id="31" name="TextBox 30"/>
          <p:cNvSpPr txBox="1"/>
          <p:nvPr/>
        </p:nvSpPr>
        <p:spPr>
          <a:xfrm>
            <a:off x="1783080" y="4387813"/>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Backlog · Roadmap · Estimation · Reporting</a:t>
            </a:r>
          </a:p>
        </p:txBody>
      </p:sp>
      <p:sp>
        <p:nvSpPr>
          <p:cNvPr id="32" name="TextBox 31"/>
          <p:cNvSpPr txBox="1"/>
          <p:nvPr/>
        </p:nvSpPr>
        <p:spPr>
          <a:xfrm>
            <a:off x="530352" y="4838482"/>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GOVERNANCE</a:t>
            </a:r>
          </a:p>
        </p:txBody>
      </p:sp>
      <p:sp>
        <p:nvSpPr>
          <p:cNvPr id="33" name="TextBox 32"/>
          <p:cNvSpPr txBox="1"/>
          <p:nvPr/>
        </p:nvSpPr>
        <p:spPr>
          <a:xfrm>
            <a:off x="1783080" y="4838482"/>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Gate 2 · prioritization criteria · Defer/Reject</a:t>
            </a:r>
          </a:p>
        </p:txBody>
      </p:sp>
      <p:sp>
        <p:nvSpPr>
          <p:cNvPr id="34" name="TextBox 33"/>
          <p:cNvSpPr txBox="1"/>
          <p:nvPr/>
        </p:nvSpPr>
        <p:spPr>
          <a:xfrm>
            <a:off x="530352" y="5289150"/>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PERFORMANCE</a:t>
            </a:r>
          </a:p>
        </p:txBody>
      </p:sp>
      <p:sp>
        <p:nvSpPr>
          <p:cNvPr id="35" name="TextBox 34"/>
          <p:cNvSpPr txBox="1"/>
          <p:nvPr/>
        </p:nvSpPr>
        <p:spPr>
          <a:xfrm>
            <a:off x="1783080" y="5289150"/>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7 metrics · cycle time · predictability · monthly review</a:t>
            </a:r>
          </a:p>
        </p:txBody>
      </p:sp>
      <p:sp>
        <p:nvSpPr>
          <p:cNvPr id="36" name="TextBox 35"/>
          <p:cNvSpPr txBox="1"/>
          <p:nvPr/>
        </p:nvSpPr>
        <p:spPr>
          <a:xfrm>
            <a:off x="530352" y="5739819"/>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SIZE FLOWS</a:t>
            </a:r>
          </a:p>
        </p:txBody>
      </p:sp>
      <p:sp>
        <p:nvSpPr>
          <p:cNvPr id="37" name="TextBox 36"/>
          <p:cNvSpPr txBox="1"/>
          <p:nvPr/>
        </p:nvSpPr>
        <p:spPr>
          <a:xfrm>
            <a:off x="1783080" y="5739819"/>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S · M · L paths · dual track · scope-add shortcut</a:t>
            </a:r>
          </a:p>
        </p:txBody>
      </p:sp>
      <p:sp>
        <p:nvSpPr>
          <p:cNvPr id="38" name="Rounded Rectangle 37"/>
          <p:cNvSpPr/>
          <p:nvPr/>
        </p:nvSpPr>
        <p:spPr>
          <a:xfrm>
            <a:off x="42519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51960" y="2423160"/>
            <a:ext cx="37033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891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FLOWS TO PHASE 3  ·  Execution input</a:t>
            </a:r>
          </a:p>
        </p:txBody>
      </p:sp>
      <p:sp>
        <p:nvSpPr>
          <p:cNvPr id="41" name="TextBox 40"/>
          <p:cNvSpPr txBox="1"/>
          <p:nvPr/>
        </p:nvSpPr>
        <p:spPr>
          <a:xfrm>
            <a:off x="4389120" y="2715768"/>
            <a:ext cx="3429000" cy="182880"/>
          </a:xfrm>
          <a:prstGeom prst="rect">
            <a:avLst/>
          </a:prstGeom>
          <a:noFill/>
        </p:spPr>
        <p:txBody>
          <a:bodyPr wrap="square" lIns="36000" rIns="36000" tIns="18000" bIns="18000" anchor="t">
            <a:spAutoFit/>
          </a:bodyPr>
          <a:lstStyle/>
          <a:p>
            <a:pPr algn="l"/>
            <a:r>
              <a:rPr sz="800" b="0" i="1">
                <a:solidFill>
                  <a:srgbClr val="F6FAFD"/>
                </a:solidFill>
                <a:latin typeface="Arial"/>
              </a:rPr>
              <a:t>DoR-passed · ready for Squad pull</a:t>
            </a:r>
          </a:p>
        </p:txBody>
      </p:sp>
      <p:sp>
        <p:nvSpPr>
          <p:cNvPr id="42" name="TextBox 41"/>
          <p:cNvSpPr txBox="1"/>
          <p:nvPr/>
        </p:nvSpPr>
        <p:spPr>
          <a:xfrm>
            <a:off x="4416552" y="3035808"/>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Stories ≤ 5 SP</a:t>
            </a:r>
          </a:p>
        </p:txBody>
      </p:sp>
      <p:sp>
        <p:nvSpPr>
          <p:cNvPr id="43" name="TextBox 42"/>
          <p:cNvSpPr txBox="1"/>
          <p:nvPr/>
        </p:nvSpPr>
        <p:spPr>
          <a:xfrm>
            <a:off x="5897880" y="3035808"/>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INVEST-compliant · acceptance criteria split</a:t>
            </a:r>
          </a:p>
        </p:txBody>
      </p:sp>
      <p:sp>
        <p:nvSpPr>
          <p:cNvPr id="44" name="TextBox 43"/>
          <p:cNvSpPr txBox="1"/>
          <p:nvPr/>
        </p:nvSpPr>
        <p:spPr>
          <a:xfrm>
            <a:off x="4416552" y="3486476"/>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NFRs documented</a:t>
            </a:r>
          </a:p>
        </p:txBody>
      </p:sp>
      <p:sp>
        <p:nvSpPr>
          <p:cNvPr id="45" name="TextBox 44"/>
          <p:cNvSpPr txBox="1"/>
          <p:nvPr/>
        </p:nvSpPr>
        <p:spPr>
          <a:xfrm>
            <a:off x="5897880" y="3486476"/>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perf · security · compliance · scale</a:t>
            </a:r>
          </a:p>
        </p:txBody>
      </p:sp>
      <p:sp>
        <p:nvSpPr>
          <p:cNvPr id="46" name="TextBox 45"/>
          <p:cNvSpPr txBox="1"/>
          <p:nvPr/>
        </p:nvSpPr>
        <p:spPr>
          <a:xfrm>
            <a:off x="4416552" y="3937145"/>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Capacity reserved</a:t>
            </a:r>
          </a:p>
        </p:txBody>
      </p:sp>
      <p:sp>
        <p:nvSpPr>
          <p:cNvPr id="47" name="TextBox 46"/>
          <p:cNvSpPr txBox="1"/>
          <p:nvPr/>
        </p:nvSpPr>
        <p:spPr>
          <a:xfrm>
            <a:off x="5897880" y="3937145"/>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fits inside CoS lane % · WIP not exceeded</a:t>
            </a:r>
          </a:p>
        </p:txBody>
      </p:sp>
      <p:sp>
        <p:nvSpPr>
          <p:cNvPr id="48" name="TextBox 47"/>
          <p:cNvSpPr txBox="1"/>
          <p:nvPr/>
        </p:nvSpPr>
        <p:spPr>
          <a:xfrm>
            <a:off x="4416552" y="4387813"/>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Sponsor signed off</a:t>
            </a:r>
          </a:p>
        </p:txBody>
      </p:sp>
      <p:sp>
        <p:nvSpPr>
          <p:cNvPr id="49" name="TextBox 48"/>
          <p:cNvSpPr txBox="1"/>
          <p:nvPr/>
        </p:nvSpPr>
        <p:spPr>
          <a:xfrm>
            <a:off x="5897880" y="4387813"/>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named user accepted UAT path</a:t>
            </a:r>
          </a:p>
        </p:txBody>
      </p:sp>
      <p:sp>
        <p:nvSpPr>
          <p:cNvPr id="50" name="TextBox 49"/>
          <p:cNvSpPr txBox="1"/>
          <p:nvPr/>
        </p:nvSpPr>
        <p:spPr>
          <a:xfrm>
            <a:off x="4416552" y="4838482"/>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Dependencies known</a:t>
            </a:r>
          </a:p>
        </p:txBody>
      </p:sp>
      <p:sp>
        <p:nvSpPr>
          <p:cNvPr id="51" name="TextBox 50"/>
          <p:cNvSpPr txBox="1"/>
          <p:nvPr/>
        </p:nvSpPr>
        <p:spPr>
          <a:xfrm>
            <a:off x="5897880" y="4838482"/>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cross-VS · vendor · license — surfaced</a:t>
            </a:r>
          </a:p>
        </p:txBody>
      </p:sp>
      <p:sp>
        <p:nvSpPr>
          <p:cNvPr id="52" name="TextBox 51"/>
          <p:cNvSpPr txBox="1"/>
          <p:nvPr/>
        </p:nvSpPr>
        <p:spPr>
          <a:xfrm>
            <a:off x="4416552" y="5289150"/>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Roadmap entry</a:t>
            </a:r>
          </a:p>
        </p:txBody>
      </p:sp>
      <p:sp>
        <p:nvSpPr>
          <p:cNvPr id="53" name="TextBox 52"/>
          <p:cNvSpPr txBox="1"/>
          <p:nvPr/>
        </p:nvSpPr>
        <p:spPr>
          <a:xfrm>
            <a:off x="5897880" y="5289150"/>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committed band · re-balanced monthly</a:t>
            </a:r>
          </a:p>
        </p:txBody>
      </p:sp>
      <p:sp>
        <p:nvSpPr>
          <p:cNvPr id="54" name="TextBox 53"/>
          <p:cNvSpPr txBox="1"/>
          <p:nvPr/>
        </p:nvSpPr>
        <p:spPr>
          <a:xfrm>
            <a:off x="4416552" y="5739819"/>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Decision log</a:t>
            </a:r>
          </a:p>
        </p:txBody>
      </p:sp>
      <p:sp>
        <p:nvSpPr>
          <p:cNvPr id="55" name="TextBox 54"/>
          <p:cNvSpPr txBox="1"/>
          <p:nvPr/>
        </p:nvSpPr>
        <p:spPr>
          <a:xfrm>
            <a:off x="5897880" y="5739819"/>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audit trail · Defer/Reject reasons</a:t>
            </a:r>
          </a:p>
        </p:txBody>
      </p:sp>
      <p:sp>
        <p:nvSpPr>
          <p:cNvPr id="56" name="Rounded Rectangle 55"/>
          <p:cNvSpPr/>
          <p:nvPr/>
        </p:nvSpPr>
        <p:spPr>
          <a:xfrm>
            <a:off x="8138159"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138159" y="2423160"/>
            <a:ext cx="3703320" cy="5029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75319"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3 RISKS UNDER MANAGEMENT</a:t>
            </a:r>
          </a:p>
        </p:txBody>
      </p:sp>
      <p:sp>
        <p:nvSpPr>
          <p:cNvPr id="59" name="TextBox 58"/>
          <p:cNvSpPr txBox="1"/>
          <p:nvPr/>
        </p:nvSpPr>
        <p:spPr>
          <a:xfrm>
            <a:off x="8275319" y="2715768"/>
            <a:ext cx="3429000" cy="182880"/>
          </a:xfrm>
          <a:prstGeom prst="rect">
            <a:avLst/>
          </a:prstGeom>
          <a:noFill/>
        </p:spPr>
        <p:txBody>
          <a:bodyPr wrap="square" lIns="36000" rIns="36000" tIns="18000" bIns="18000" anchor="t">
            <a:spAutoFit/>
          </a:bodyPr>
          <a:lstStyle/>
          <a:p>
            <a:pPr algn="l"/>
            <a:r>
              <a:rPr sz="800" b="0" i="1">
                <a:solidFill>
                  <a:srgbClr val="FDECD4"/>
                </a:solidFill>
                <a:latin typeface="Arial"/>
              </a:rPr>
              <a:t>with named owners + mitigations</a:t>
            </a:r>
          </a:p>
        </p:txBody>
      </p:sp>
      <p:sp>
        <p:nvSpPr>
          <p:cNvPr id="60" name="TextBox 59"/>
          <p:cNvSpPr txBox="1"/>
          <p:nvPr/>
        </p:nvSpPr>
        <p:spPr>
          <a:xfrm>
            <a:off x="8302751" y="3063239"/>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PM RAMP-UP</a:t>
            </a:r>
          </a:p>
        </p:txBody>
      </p:sp>
      <p:sp>
        <p:nvSpPr>
          <p:cNvPr id="61" name="TextBox 60"/>
          <p:cNvSpPr txBox="1"/>
          <p:nvPr/>
        </p:nvSpPr>
        <p:spPr>
          <a:xfrm>
            <a:off x="8302751" y="324612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NEW Product capability · 12-week ramp · risk of slow uptake</a:t>
            </a:r>
          </a:p>
        </p:txBody>
      </p:sp>
      <p:sp>
        <p:nvSpPr>
          <p:cNvPr id="62" name="TextBox 61"/>
          <p:cNvSpPr txBox="1"/>
          <p:nvPr/>
        </p:nvSpPr>
        <p:spPr>
          <a:xfrm>
            <a:off x="8302751" y="3566159"/>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Pair with senior PM · weekly Heather check-in · BRS pairing accelerates</a:t>
            </a:r>
          </a:p>
        </p:txBody>
      </p:sp>
      <p:sp>
        <p:nvSpPr>
          <p:cNvPr id="63" name="TextBox 62"/>
          <p:cNvSpPr txBox="1"/>
          <p:nvPr/>
        </p:nvSpPr>
        <p:spPr>
          <a:xfrm>
            <a:off x="8302751" y="409956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CAPACITY OPACITY</a:t>
            </a:r>
          </a:p>
        </p:txBody>
      </p:sp>
      <p:sp>
        <p:nvSpPr>
          <p:cNvPr id="64" name="TextBox 63"/>
          <p:cNvSpPr txBox="1"/>
          <p:nvPr/>
        </p:nvSpPr>
        <p:spPr>
          <a:xfrm>
            <a:off x="8302751" y="428244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Day-to-day capacity reality may diverge from approved %</a:t>
            </a:r>
          </a:p>
        </p:txBody>
      </p:sp>
      <p:sp>
        <p:nvSpPr>
          <p:cNvPr id="65" name="TextBox 64"/>
          <p:cNvSpPr txBox="1"/>
          <p:nvPr/>
        </p:nvSpPr>
        <p:spPr>
          <a:xfrm>
            <a:off x="8302751" y="460248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Middle managers report at every Gate 2 · variance flagged at &gt;10%</a:t>
            </a:r>
          </a:p>
        </p:txBody>
      </p:sp>
      <p:sp>
        <p:nvSpPr>
          <p:cNvPr id="66" name="TextBox 65"/>
          <p:cNvSpPr txBox="1"/>
          <p:nvPr/>
        </p:nvSpPr>
        <p:spPr>
          <a:xfrm>
            <a:off x="8302751" y="513588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BRP DEPENDENCY DRIFT</a:t>
            </a:r>
          </a:p>
        </p:txBody>
      </p:sp>
      <p:sp>
        <p:nvSpPr>
          <p:cNvPr id="67" name="TextBox 66"/>
          <p:cNvSpPr txBox="1"/>
          <p:nvPr/>
        </p:nvSpPr>
        <p:spPr>
          <a:xfrm>
            <a:off x="8302751" y="531876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Inputs from P&amp;T BRP + Digital CoE BRP may shift mid-quarter</a:t>
            </a:r>
          </a:p>
        </p:txBody>
      </p:sp>
      <p:sp>
        <p:nvSpPr>
          <p:cNvPr id="68" name="TextBox 67"/>
          <p:cNvSpPr txBox="1"/>
          <p:nvPr/>
        </p:nvSpPr>
        <p:spPr>
          <a:xfrm>
            <a:off x="8302751" y="563880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Heather + Carlos pre-Gate 2 sync · resequence at next Gate 2 · audit trail</a:t>
            </a:r>
          </a:p>
        </p:txBody>
      </p:sp>
      <p:sp>
        <p:nvSpPr>
          <p:cNvPr id="69" name="TextBox 6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0" name="TextBox 6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27 / 27</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Iberdrola Covers">
  <a:themeElements>
    <a:clrScheme name="Iberdrola 2023">
      <a:dk1>
        <a:srgbClr val="3A3734"/>
      </a:dk1>
      <a:lt1>
        <a:srgbClr val="FFFFFF"/>
      </a:lt1>
      <a:dk2>
        <a:srgbClr val="00402A"/>
      </a:dk2>
      <a:lt2>
        <a:srgbClr val="DCEBE1"/>
      </a:lt2>
      <a:accent1>
        <a:srgbClr val="008C38"/>
      </a:accent1>
      <a:accent2>
        <a:srgbClr val="00A343"/>
      </a:accent2>
      <a:accent3>
        <a:srgbClr val="26BF64"/>
      </a:accent3>
      <a:accent4>
        <a:srgbClr val="5BD38C"/>
      </a:accent4>
      <a:accent5>
        <a:srgbClr val="0792E5"/>
      </a:accent5>
      <a:accent6>
        <a:srgbClr val="E3850D"/>
      </a:accent6>
      <a:hlink>
        <a:srgbClr val="008C38"/>
      </a:hlink>
      <a:folHlink>
        <a:srgbClr val="008C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093016-33D5-45A0-B683-FF7CD53E7678}">
  <ds:schemaRefs>
    <ds:schemaRef ds:uri="9af8d66c-8f78-4f3a-ae1c-6e82e7ed62c7"/>
    <ds:schemaRef ds:uri="http://schemas.microsoft.com/office/2006/documentManagement/types"/>
    <ds:schemaRef ds:uri="http://purl.org/dc/elements/1.1/"/>
    <ds:schemaRef ds:uri="http://purl.org/dc/dcmitype/"/>
    <ds:schemaRef ds:uri="4b464e96-be12-433e-8722-39d5a0f59d28"/>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78A84201-CA03-4CAE-8BA6-CF5F85EB608E}">
  <ds:schemaRefs>
    <ds:schemaRef ds:uri="http://schemas.microsoft.com/sharepoint/v3/contenttype/forms"/>
  </ds:schemaRefs>
</ds:datastoreItem>
</file>

<file path=customXml/itemProps3.xml><?xml version="1.0" encoding="utf-8"?>
<ds:datastoreItem xmlns:ds="http://schemas.openxmlformats.org/officeDocument/2006/customXml" ds:itemID="{CA9B4E8F-3AD5-47DC-A8E1-C941A28E3EE3}">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otalTime>1224</TotalTime>
  <Words>19655</Words>
  <Application>Microsoft Macintosh PowerPoint</Application>
  <PresentationFormat>Widescreen</PresentationFormat>
  <Paragraphs>3212</Paragraphs>
  <Slides>79</Slides>
  <Notes>51</Notes>
  <HiddenSlides>20</HiddenSlides>
  <MMClips>0</MMClips>
  <ScaleCrop>false</ScaleCrop>
  <HeadingPairs>
    <vt:vector size="6" baseType="variant">
      <vt:variant>
        <vt:lpstr>Fontes usadas</vt:lpstr>
      </vt:variant>
      <vt:variant>
        <vt:i4>14</vt:i4>
      </vt:variant>
      <vt:variant>
        <vt:lpstr>Tema</vt:lpstr>
      </vt:variant>
      <vt:variant>
        <vt:i4>4</vt:i4>
      </vt:variant>
      <vt:variant>
        <vt:lpstr>Títulos de slides</vt:lpstr>
      </vt:variant>
      <vt:variant>
        <vt:i4>79</vt:i4>
      </vt:variant>
    </vt:vector>
  </HeadingPairs>
  <TitlesOfParts>
    <vt:vector size="97" baseType="lpstr">
      <vt:lpstr>Aptos</vt:lpstr>
      <vt:lpstr>Aptos Display</vt:lpstr>
      <vt:lpstr>Arial</vt:lpstr>
      <vt:lpstr>Calibri</vt:lpstr>
      <vt:lpstr>Century Gothic</vt:lpstr>
      <vt:lpstr>Helvetica Neue</vt:lpstr>
      <vt:lpstr>IberPangea Text</vt:lpstr>
      <vt:lpstr>IberPangea Text Light</vt:lpstr>
      <vt:lpstr>IberPangea Text Medium</vt:lpstr>
      <vt:lpstr>Inter</vt:lpstr>
      <vt:lpstr>Lato</vt:lpstr>
      <vt:lpstr>Lato Light</vt:lpstr>
      <vt:lpstr>Montserrat</vt:lpstr>
      <vt:lpstr>Noto Sans</vt:lpstr>
      <vt:lpstr>Tema de Office</vt:lpstr>
      <vt:lpstr>office theme</vt:lpstr>
      <vt:lpstr>1_Office Theme</vt:lpstr>
      <vt:lpstr>1_Iberdrola Covers</vt:lpstr>
      <vt:lpstr>LIFECYCLE END-TO-END PROCESS  May 2026</vt:lpstr>
      <vt:lpstr>LIFECYCLE END-TO-END PROCESS  May 2026</vt:lpstr>
      <vt:lpstr>LIFECYCLE END-TO-END PROCESS  May 2026</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LIFECYCLE END-TO-END PROCESS  May 2026</vt:lpstr>
      <vt:lpstr>LIFECYCLE END-TO-END PROCESS  May 2026</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April 2026</vt:lpstr>
      <vt:lpstr>LIFECYCLE END-TO-END PROCESS  May 2026</vt:lpstr>
      <vt:lpstr>LIFECYCLE END-TO-END PROCESS  May 2026</vt:lpstr>
      <vt:lpstr>LIFECYCLE END-TO-END PROCESS  May 2026</vt:lpstr>
      <vt:lpstr>LIFECYCLE END-TO-END PROCESS  May 2026</vt:lpstr>
      <vt:lpstr>Apresentação do PowerPoint</vt:lpstr>
      <vt:lpstr>Apresentação do PowerPoint</vt:lpstr>
      <vt:lpstr>BIG ROOM PLANNING CYCLE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NTT Data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Alfredo Soto Cuellar</dc:creator>
  <cp:lastModifiedBy>Gustavo Castellano</cp:lastModifiedBy>
  <cp:revision>2</cp:revision>
  <dcterms:created xsi:type="dcterms:W3CDTF">2026-04-28T23:46:52Z</dcterms:created>
  <dcterms:modified xsi:type="dcterms:W3CDTF">2026-05-07T13:02:19Z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