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76D6022F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A6F16-3653-42A3-75BE-9E5891C38EA9}" name="Ana Sancha Medina" initials="AS" userId="S::asanmedi@emeal.nttdata.com::cb6b4da7-f127-491d-b2b3-c84b2f80c538" providerId="AD"/>
  <p188:author id="{08AA367A-3FE0-CE15-1CF5-256A1C107FE1}" name="Alfredo Soto Cuellar" initials="AS" userId="S::asotocue@emeal.nttdata.com::a1af1438-e027-44e1-b6a1-e184226576bb" providerId="AD"/>
  <p188:author id="{67DB39AB-BC3E-8A02-7D4E-C00B2BD6237D}" name="Gustavo Castellano" initials="GC" userId="S::gucastel@emeal.nttdata.com::a9cf1106-c481-4d5c-8dce-a3913bae123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57F46-7AB9-4868-8E2E-A4CF9D23EE51}" v="2" dt="2026-04-24T22:35:53.362"/>
    <p1510:client id="{D4690340-A7CE-41AB-A9A7-685E7290211F}" v="9" dt="2026-04-24T21:35:21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101_76D602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2FFE40-AF4A-4C0E-82D8-DE9C2F532169}" authorId="{022A6F16-3653-42A3-75BE-9E5891C38EA9}" created="2026-04-24T21:28:25.349">
    <pc:sldMkLst xmlns:pc="http://schemas.microsoft.com/office/powerpoint/2013/main/command">
      <pc:docMk/>
      <pc:sldMk cId="1993736751" sldId="257"/>
    </pc:sldMkLst>
    <p188:txBody>
      <a:bodyPr/>
      <a:lstStyle/>
      <a:p>
        <a:r>
          <a:rPr lang="en-US"/>
          <a:t>Demand Management: Prácticas clave
Single front door de demanda (Incidentes, mejoras, regulatory, innovación, deuda técnica)
Demand shaping (Conversaciones estructuradas problema–impacto–valor, no aceptar “soluciones” directamente)
Clasificación por tipo de producto: 
Run / Grow / Transform
Core SAP vs extensiones / satélites
Discovery ligero pero formal: Problem statement, Usuarios/personas, Hipótesis de valor y riesgo
Value &amp; prioritization framework: 
Business value, riesgo, urgencia regulatoria, Cost of delay</a:t>
        </a:r>
      </a:p>
    </p188:txBody>
  </p188:cm>
  <p188:cm id="{9CE84503-232B-4029-8E14-0DC4D8824C3E}" authorId="{022A6F16-3653-42A3-75BE-9E5891C38EA9}" created="2026-04-24T21:29:56.783">
    <pc:sldMkLst xmlns:pc="http://schemas.microsoft.com/office/powerpoint/2013/main/command">
      <pc:docMk/>
      <pc:sldMk cId="1993736751" sldId="257"/>
    </pc:sldMkLst>
    <p188:txBody>
      <a:bodyPr/>
      <a:lstStyle/>
      <a:p>
        <a:r>
          <a:rPr lang="en-US"/>
          <a:t>Preparation &amp; Planning: Product &amp; 
Prácticas clave
-Definición clara de productos
Productos ≠ aplicaciones
Ej.: “Order to Cash SAP” ≠ “SAP SD”
-Product vision &amp; outcome definition
-Outcomes esperados (no solo entregables)
-Roadmapping continuo. Rolling wave (3–6–12 meses) - Diferenciar compromisos vs hipótesis</a:t>
        </a:r>
      </a:p>
    </p188:txBody>
  </p188:cm>
  <p188:cm id="{8E32143C-72E6-4748-BDFC-C51073296EBF}" authorId="{022A6F16-3653-42A3-75BE-9E5891C38EA9}" created="2026-04-24T21:31:33.674">
    <pc:sldMkLst xmlns:pc="http://schemas.microsoft.com/office/powerpoint/2013/main/command">
      <pc:docMk/>
      <pc:sldMk cId="1993736751" sldId="257"/>
    </pc:sldMkLst>
    <p188:txBody>
      <a:bodyPr/>
      <a:lstStyle/>
      <a:p>
        <a:r>
          <a:rPr lang="en-US"/>
          <a:t>Preparation &amp; Planning:  Product Design &amp; Architecture Alignment
Fundamental en SAP para evitar que Product ≠ Architecture.
Prácticas clave: Dual track
Discovery (qué y por qué)
Delivery (cómo y cuándo)
Business process design: E2E processes (O2C, P2P, R2R…)
Non‑functional requirements: Performance, seguridad, compliance, escalabilidad</a:t>
        </a:r>
      </a:p>
    </p188:txBody>
  </p188:cm>
  <p188:cm id="{57B35EF3-4BE5-4D01-8D3F-993932B79357}" authorId="{022A6F16-3653-42A3-75BE-9E5891C38EA9}" created="2026-04-24T21:33:11.5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93736751" sldId="257"/>
      <ac:grpSpMk id="58" creationId="{8D8AAF41-01FF-FECE-0A4A-566970A2C819}"/>
    </ac:deMkLst>
    <p188:txBody>
      <a:bodyPr/>
      <a:lstStyle/>
      <a:p>
        <a:r>
          <a:rPr lang="en-US"/>
          <a:t>Execution: Prácticas clave
Product teams estables: PO, Tech Lead, equipo delivery
Backlog management por producto
Flow‑based delivery (when)
Scrum / Kanban / híbrido
Dependency management: Entre productos SAP, Con proveedores / integradores</a:t>
        </a:r>
      </a:p>
    </p188:txBody>
  </p188:cm>
  <p188:cm id="{F3BD41C8-AE18-4DF6-AFD1-989D12024F7A}" authorId="{022A6F16-3653-42A3-75BE-9E5891C38EA9}" created="2026-04-24T21:33:49.5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93736751" sldId="257"/>
      <ac:grpSpMk id="58" creationId="{8D8AAF41-01FF-FECE-0A4A-566970A2C819}"/>
    </ac:deMkLst>
    <p188:txBody>
      <a:bodyPr/>
      <a:lstStyle/>
      <a:p>
        <a:r>
          <a:rPr lang="es-MX"/>
          <a:t>Deployment: Hypercare y feedback loop - Medir impacto tras release
Deployment = Measure &amp; Learn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7D4EC-9B40-E340-BEA7-010E000B6DB3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E1FB-C71A-F748-BC6C-7000C50F6B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83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5" descr="Avangrid - Wikipedia">
            <a:extLst>
              <a:ext uri="{FF2B5EF4-FFF2-40B4-BE49-F238E27FC236}">
                <a16:creationId xmlns:a16="http://schemas.microsoft.com/office/drawing/2014/main" id="{9E8BB4E7-F584-ED7D-8585-F1AA20191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985" y="6372758"/>
            <a:ext cx="1379835" cy="48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NTT DATA Global Logo">
            <a:extLst>
              <a:ext uri="{FF2B5EF4-FFF2-40B4-BE49-F238E27FC236}">
                <a16:creationId xmlns:a16="http://schemas.microsoft.com/office/drawing/2014/main" id="{272C0B10-ACCC-95C0-DB27-4119369CEF15}"/>
              </a:ext>
            </a:extLst>
          </p:cNvPr>
          <p:cNvSpPr/>
          <p:nvPr userDrawn="1"/>
        </p:nvSpPr>
        <p:spPr bwMode="black">
          <a:xfrm>
            <a:off x="11070727" y="6508881"/>
            <a:ext cx="950287" cy="212997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76D6022F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o 57">
            <a:extLst>
              <a:ext uri="{FF2B5EF4-FFF2-40B4-BE49-F238E27FC236}">
                <a16:creationId xmlns:a16="http://schemas.microsoft.com/office/drawing/2014/main" id="{8D8AAF41-01FF-FECE-0A4A-566970A2C819}"/>
              </a:ext>
            </a:extLst>
          </p:cNvPr>
          <p:cNvGrpSpPr/>
          <p:nvPr/>
        </p:nvGrpSpPr>
        <p:grpSpPr>
          <a:xfrm>
            <a:off x="140923" y="56643"/>
            <a:ext cx="11910156" cy="6570783"/>
            <a:chOff x="140923" y="436340"/>
            <a:chExt cx="11910156" cy="597343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F4BDB180-35EE-7A57-A864-A7E5FE357CDB}"/>
                </a:ext>
              </a:extLst>
            </p:cNvPr>
            <p:cNvSpPr/>
            <p:nvPr/>
          </p:nvSpPr>
          <p:spPr>
            <a:xfrm>
              <a:off x="140925" y="436340"/>
              <a:ext cx="2913203" cy="24997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>
                  <a:latin typeface="Arial" panose="020B0604020202020204" pitchFamily="34" charset="0"/>
                  <a:cs typeface="Arial" panose="020B0604020202020204" pitchFamily="34" charset="0"/>
                </a:rPr>
                <a:t>DEMAND MANAGEMENT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8D02BCE-B519-AF1B-E977-E9F538A20DCB}"/>
                </a:ext>
              </a:extLst>
            </p:cNvPr>
            <p:cNvSpPr/>
            <p:nvPr/>
          </p:nvSpPr>
          <p:spPr>
            <a:xfrm>
              <a:off x="140923" y="72669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CAPABILITIES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6327896-BF4A-1C6F-96A3-711BE87A7210}"/>
                </a:ext>
              </a:extLst>
            </p:cNvPr>
            <p:cNvSpPr/>
            <p:nvPr/>
          </p:nvSpPr>
          <p:spPr>
            <a:xfrm>
              <a:off x="140923" y="1008870"/>
              <a:ext cx="2913203" cy="140464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intake channels (formal and informal)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registration and logging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Channel consolidation level (single vs multiple entry points)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Standard intake formats or templates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classification (type, size, urgency)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Differentiation between run, change, regulatory, and innovation demand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value definition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Availability of acceptance criteria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Technical feasibility input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Triage and initial validation activities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routing and assignment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Handling of urgent or exception requests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visibility and tracking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Identification of duplicate or overlapping demand 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2D50277-CC6C-2D1F-7196-3B69DD2007AB}"/>
                </a:ext>
              </a:extLst>
            </p:cNvPr>
            <p:cNvSpPr/>
            <p:nvPr/>
          </p:nvSpPr>
          <p:spPr>
            <a:xfrm>
              <a:off x="140923" y="2482840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ROLES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F254025-5F7B-E680-3D82-9A3D51721776}"/>
                </a:ext>
              </a:extLst>
            </p:cNvPr>
            <p:cNvSpPr/>
            <p:nvPr/>
          </p:nvSpPr>
          <p:spPr>
            <a:xfrm>
              <a:off x="140923" y="2765015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requestors / stakeholders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or demand managers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Architects or technical reviewers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C690EB29-3997-259A-9481-1EED99AE9C55}"/>
                </a:ext>
              </a:extLst>
            </p:cNvPr>
            <p:cNvSpPr/>
            <p:nvPr/>
          </p:nvSpPr>
          <p:spPr>
            <a:xfrm>
              <a:off x="140923" y="3285872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TOOLS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A88FFA16-9E8C-180F-C2E6-7A8600715841}"/>
                </a:ext>
              </a:extLst>
            </p:cNvPr>
            <p:cNvSpPr/>
            <p:nvPr/>
          </p:nvSpPr>
          <p:spPr>
            <a:xfrm>
              <a:off x="140923" y="3568048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capture tools Demand tracking and backlog tools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Communication channels Documentation tools for capturing request details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Reporting or visibility tools</a:t>
              </a:r>
              <a:endParaRPr lang="en-US" sz="700" b="1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F7AA309A-EFF6-A78A-0177-838E6F1D0067}"/>
                </a:ext>
              </a:extLst>
            </p:cNvPr>
            <p:cNvSpPr/>
            <p:nvPr/>
          </p:nvSpPr>
          <p:spPr>
            <a:xfrm>
              <a:off x="140923" y="408890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GOVERNANCE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C6C98AD2-825F-E7AB-6102-FCDD78D4E621}"/>
                </a:ext>
              </a:extLst>
            </p:cNvPr>
            <p:cNvSpPr/>
            <p:nvPr/>
          </p:nvSpPr>
          <p:spPr>
            <a:xfrm>
              <a:off x="140923" y="4371080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review forums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Decision-making practices for accepting, rejecting, or redirecting demand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Escalation mechanisms for urgent or conflicting requests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intake guidelines or policies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Alignment mechanisms with business stakeholders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Oversight of demand inflow and backlog health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CC6E548-DEF8-2B85-CCD2-FFE88CEFDE4A}"/>
                </a:ext>
              </a:extLst>
            </p:cNvPr>
            <p:cNvSpPr/>
            <p:nvPr/>
          </p:nvSpPr>
          <p:spPr>
            <a:xfrm>
              <a:off x="140923" y="5284001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E5EE6CE-4BF8-34A8-C566-1DF4A018C78D}"/>
                </a:ext>
              </a:extLst>
            </p:cNvPr>
            <p:cNvSpPr/>
            <p:nvPr/>
          </p:nvSpPr>
          <p:spPr>
            <a:xfrm>
              <a:off x="140923" y="5566177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volume and inflow trends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quality (completeness, clarity)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Triage lead time% of demand entering through formal channels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 of urgent or bypassed requests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duplication or overlap indicators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Visibility and traceability of demand status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A85CD2A5-B769-F15D-4F5C-65632E311004}"/>
                </a:ext>
              </a:extLst>
            </p:cNvPr>
            <p:cNvSpPr/>
            <p:nvPr/>
          </p:nvSpPr>
          <p:spPr>
            <a:xfrm>
              <a:off x="3133327" y="436340"/>
              <a:ext cx="2913203" cy="24997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>
                  <a:latin typeface="Arial" panose="020B0604020202020204" pitchFamily="34" charset="0"/>
                  <a:cs typeface="Arial" panose="020B0604020202020204" pitchFamily="34" charset="0"/>
                </a:rPr>
                <a:t>PREPARATION &amp; PLANNING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1667602-ED58-E6E4-48E2-DB2747F2EA57}"/>
                </a:ext>
              </a:extLst>
            </p:cNvPr>
            <p:cNvSpPr/>
            <p:nvPr/>
          </p:nvSpPr>
          <p:spPr>
            <a:xfrm>
              <a:off x="3133325" y="72669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CAPABILITIES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8C573E15-8F9F-AEBC-20FC-C23B2791C19A}"/>
                </a:ext>
              </a:extLst>
            </p:cNvPr>
            <p:cNvSpPr/>
            <p:nvPr/>
          </p:nvSpPr>
          <p:spPr>
            <a:xfrm>
              <a:off x="3133325" y="1008870"/>
              <a:ext cx="2913203" cy="140464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consolidation and portfolio structuring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prioritization mechanisms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 of value, risk, and effort considerations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Portfolio backlog management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Roadmap definition (short / mid / long term)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Planning cycles (e.g., monthly, quarterly)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Effort estimation practices (high-level and detailed)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Capacity planning and forecasting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Alignment between demand and available capacity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allocation to teams / squads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Handling of unplanned or ad-hoc demand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Grouping and structuring of work (epics, features, initiatives) 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D97E351-84DA-CC39-D07E-D83B348CD5A9}"/>
                </a:ext>
              </a:extLst>
            </p:cNvPr>
            <p:cNvSpPr/>
            <p:nvPr/>
          </p:nvSpPr>
          <p:spPr>
            <a:xfrm>
              <a:off x="3133325" y="2482840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ROLES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9054BDFB-799E-36DC-A0A1-0648932EE1CF}"/>
                </a:ext>
              </a:extLst>
            </p:cNvPr>
            <p:cNvSpPr/>
            <p:nvPr/>
          </p:nvSpPr>
          <p:spPr>
            <a:xfrm>
              <a:off x="3133325" y="2765015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managers / product owners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Technical leads / architects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stakeholders 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24E823B6-AD29-F213-D3D6-54E09A2BDEB9}"/>
                </a:ext>
              </a:extLst>
            </p:cNvPr>
            <p:cNvSpPr/>
            <p:nvPr/>
          </p:nvSpPr>
          <p:spPr>
            <a:xfrm>
              <a:off x="3133325" y="3285872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TOOLS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357B456-2397-84F3-0BEA-CA3A88168DA8}"/>
                </a:ext>
              </a:extLst>
            </p:cNvPr>
            <p:cNvSpPr/>
            <p:nvPr/>
          </p:nvSpPr>
          <p:spPr>
            <a:xfrm>
              <a:off x="3133325" y="3568048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Backlog and portfolio management tools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Roadmapping</a:t>
              </a: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planning tools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Estimation and capacity planning tools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Reporting and visualization tools 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03DBB336-CF8B-F1D6-5927-8967811A22D8}"/>
                </a:ext>
              </a:extLst>
            </p:cNvPr>
            <p:cNvSpPr/>
            <p:nvPr/>
          </p:nvSpPr>
          <p:spPr>
            <a:xfrm>
              <a:off x="3133325" y="408890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GOVERNANCE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F48320F0-1075-C065-A6C2-F7D3F62F7E3B}"/>
                </a:ext>
              </a:extLst>
            </p:cNvPr>
            <p:cNvSpPr/>
            <p:nvPr/>
          </p:nvSpPr>
          <p:spPr>
            <a:xfrm>
              <a:off x="3133325" y="4371080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Portfolio review forums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Prioritization and planning decision-making practices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Alignment mechanisms between business and technology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prioritization criteria and guidelines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Oversight of demand vs capacity balance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Decision practices for deferring or rejecting demand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Cross-area coordination mechanisms (if multiple OPCOs / domains) 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BDE5C897-8A32-71C7-708A-2ED5245B6880}"/>
                </a:ext>
              </a:extLst>
            </p:cNvPr>
            <p:cNvSpPr/>
            <p:nvPr/>
          </p:nvSpPr>
          <p:spPr>
            <a:xfrm>
              <a:off x="3133325" y="5284001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8B9D2DBE-5B31-3788-1A5D-29A31A016BAB}"/>
                </a:ext>
              </a:extLst>
            </p:cNvPr>
            <p:cNvSpPr/>
            <p:nvPr/>
          </p:nvSpPr>
          <p:spPr>
            <a:xfrm>
              <a:off x="3133325" y="5566177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vs capacity visibility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Prioritization cycle time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 of demand planned vs unplanned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Alignment between planned and committed work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Planning predictability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Portfolio balance (e.g., run vs change vs regulatory)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Visibility of roadmap and planning outcomes 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7A34BEA-0BDA-660F-A6DF-394490E30EAD}"/>
                </a:ext>
              </a:extLst>
            </p:cNvPr>
            <p:cNvSpPr/>
            <p:nvPr/>
          </p:nvSpPr>
          <p:spPr>
            <a:xfrm>
              <a:off x="6125728" y="436340"/>
              <a:ext cx="2913203" cy="24997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>
                  <a:latin typeface="Arial" panose="020B0604020202020204" pitchFamily="34" charset="0"/>
                  <a:cs typeface="Arial" panose="020B0604020202020204" pitchFamily="34" charset="0"/>
                </a:rPr>
                <a:t>EXECUTION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9427BBC-7357-4F02-6675-DFECF4C63833}"/>
                </a:ext>
              </a:extLst>
            </p:cNvPr>
            <p:cNvSpPr/>
            <p:nvPr/>
          </p:nvSpPr>
          <p:spPr>
            <a:xfrm>
              <a:off x="6125727" y="72669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CAPABILITIES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DCD7B171-7E66-04BC-AFD5-BB0C47000717}"/>
                </a:ext>
              </a:extLst>
            </p:cNvPr>
            <p:cNvSpPr/>
            <p:nvPr/>
          </p:nvSpPr>
          <p:spPr>
            <a:xfrm>
              <a:off x="6125727" y="1008870"/>
              <a:ext cx="2913203" cy="140464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Intake of work from prioritized backlog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breakdown (epics, stories, tasks)Sprint / iteration management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prioritization at team level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Ready (or equivalent readiness practices)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Done (or completion criteria)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Development and build practices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Testing practices (unit, integration, functional, UAT)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Defect management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Dependency management (intra- and inter-team)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Cross-team coordination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progress tracking and visibility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Documentation of functional and technical aspects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873AFA94-3833-9C29-6C4E-263ECD213D89}"/>
                </a:ext>
              </a:extLst>
            </p:cNvPr>
            <p:cNvSpPr/>
            <p:nvPr/>
          </p:nvSpPr>
          <p:spPr>
            <a:xfrm>
              <a:off x="6125727" y="2482840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ROLES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508FC605-7A9F-EEBB-7CC7-3EF12FC0AF20}"/>
                </a:ext>
              </a:extLst>
            </p:cNvPr>
            <p:cNvSpPr/>
            <p:nvPr/>
          </p:nvSpPr>
          <p:spPr>
            <a:xfrm>
              <a:off x="6125727" y="2765015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Delivery teams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Technical leads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Scrum masters / delivery managers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owners / business representatives 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8185864B-CEBE-C100-6C91-90AAD0A5F5BC}"/>
                </a:ext>
              </a:extLst>
            </p:cNvPr>
            <p:cNvSpPr/>
            <p:nvPr/>
          </p:nvSpPr>
          <p:spPr>
            <a:xfrm>
              <a:off x="6125727" y="3285872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TOOLS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A2AFB2C1-3499-FFDC-C3FE-6D1BFBC91FDE}"/>
                </a:ext>
              </a:extLst>
            </p:cNvPr>
            <p:cNvSpPr/>
            <p:nvPr/>
          </p:nvSpPr>
          <p:spPr>
            <a:xfrm>
              <a:off x="6125727" y="3568048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management tools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Collaboration and communication tools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Documentation tools</a:t>
              </a:r>
              <a:endParaRPr lang="en-US" sz="700" b="1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26430243-0612-D531-4005-228386CF8DB7}"/>
                </a:ext>
              </a:extLst>
            </p:cNvPr>
            <p:cNvSpPr/>
            <p:nvPr/>
          </p:nvSpPr>
          <p:spPr>
            <a:xfrm>
              <a:off x="6125727" y="4088905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GOVERNANCE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1BE9AD9B-2580-3A7F-3818-99EA264F166A}"/>
                </a:ext>
              </a:extLst>
            </p:cNvPr>
            <p:cNvSpPr/>
            <p:nvPr/>
          </p:nvSpPr>
          <p:spPr>
            <a:xfrm>
              <a:off x="6125727" y="4371080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Delivery review forums (e.g., sprint reviews, demos)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Issue and risk escalation practices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Oversight of delivery progress and performance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delivery standards and guidelines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Coordination mechanisms across teams or domains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Alignment with business during execution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F2686C63-57F4-C63B-399E-B07C7501FAEC}"/>
                </a:ext>
              </a:extLst>
            </p:cNvPr>
            <p:cNvSpPr/>
            <p:nvPr/>
          </p:nvSpPr>
          <p:spPr>
            <a:xfrm>
              <a:off x="6125727" y="5284001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FBAD352E-08AB-7AC9-970D-DA911F545B00}"/>
                </a:ext>
              </a:extLst>
            </p:cNvPr>
            <p:cNvSpPr/>
            <p:nvPr/>
          </p:nvSpPr>
          <p:spPr>
            <a:xfrm>
              <a:off x="6125727" y="5566177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Velocity / throughput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Lead time and cycle time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Predictability (planned vs delivered)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Defect rates and quality indicators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in progress (WIP) levels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Dependency-related delays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Visibility of execution progress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103E3C6E-5D8A-7A4B-BA7F-EFE96110B9DE}"/>
                </a:ext>
              </a:extLst>
            </p:cNvPr>
            <p:cNvSpPr/>
            <p:nvPr/>
          </p:nvSpPr>
          <p:spPr>
            <a:xfrm>
              <a:off x="9137876" y="436340"/>
              <a:ext cx="2913203" cy="24997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noProof="0">
                  <a:latin typeface="Arial" panose="020B0604020202020204" pitchFamily="34" charset="0"/>
                  <a:cs typeface="Arial" panose="020B0604020202020204" pitchFamily="34" charset="0"/>
                </a:rPr>
                <a:t>DEPLOYMENT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42ED981-3DB5-4AD9-2DDD-78ADE3614905}"/>
                </a:ext>
              </a:extLst>
            </p:cNvPr>
            <p:cNvSpPr/>
            <p:nvPr/>
          </p:nvSpPr>
          <p:spPr>
            <a:xfrm>
              <a:off x="9137873" y="726696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CAPABILITIES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62D9340B-6735-1EE5-7F46-C31E37ECCB4C}"/>
                </a:ext>
              </a:extLst>
            </p:cNvPr>
            <p:cNvSpPr/>
            <p:nvPr/>
          </p:nvSpPr>
          <p:spPr>
            <a:xfrm>
              <a:off x="9137873" y="1008871"/>
              <a:ext cx="2913203" cy="140464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planning and scheduling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coordination across teams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management practices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Deployment execution (manual or automated)Environment management (dev, test, prod)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Rollback and recovery capabilities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 and sign-off processes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Post-deployment verification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Hypercare and stabilization support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Transition to operations and support teams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556F8F3E-86A9-0B1B-3CC5-8B2BA98CF977}"/>
                </a:ext>
              </a:extLst>
            </p:cNvPr>
            <p:cNvSpPr/>
            <p:nvPr/>
          </p:nvSpPr>
          <p:spPr>
            <a:xfrm>
              <a:off x="9137873" y="2482841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ROLES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DD743998-A764-DF27-719C-E1368DC4C8C2}"/>
                </a:ext>
              </a:extLst>
            </p:cNvPr>
            <p:cNvSpPr/>
            <p:nvPr/>
          </p:nvSpPr>
          <p:spPr>
            <a:xfrm>
              <a:off x="9137873" y="2765016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managers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Operations / support teams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Delivery teams (as contributors to release)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stakeholders (for validation / sign-off)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B92FDCE9-E54B-A5E1-6B2A-48A2A760FFC7}"/>
                </a:ext>
              </a:extLst>
            </p:cNvPr>
            <p:cNvSpPr/>
            <p:nvPr/>
          </p:nvSpPr>
          <p:spPr>
            <a:xfrm>
              <a:off x="9137873" y="3285873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TOOLS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99E5AFAF-56C5-B89F-13F9-3D797E7EBF4F}"/>
                </a:ext>
              </a:extLst>
            </p:cNvPr>
            <p:cNvSpPr/>
            <p:nvPr/>
          </p:nvSpPr>
          <p:spPr>
            <a:xfrm>
              <a:off x="9137873" y="3568049"/>
              <a:ext cx="2913203" cy="4515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and deployment tools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 and alerting tools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Incident and support management tools</a:t>
              </a:r>
              <a:endParaRPr lang="en-US" sz="700" b="1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654B17EE-B79E-8DC6-12C9-B31A5648919C}"/>
                </a:ext>
              </a:extLst>
            </p:cNvPr>
            <p:cNvSpPr/>
            <p:nvPr/>
          </p:nvSpPr>
          <p:spPr>
            <a:xfrm>
              <a:off x="9137873" y="4088906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GOVERNANCE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93E8B0D-9CD8-62C2-D47D-C07DCF916D8B}"/>
                </a:ext>
              </a:extLst>
            </p:cNvPr>
            <p:cNvSpPr/>
            <p:nvPr/>
          </p:nvSpPr>
          <p:spPr>
            <a:xfrm>
              <a:off x="9137873" y="4371081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and change approval forums (e.g., CAB or equivalents)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Decision-making practices for release readiness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Oversight of deployment risks and impacts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Definition of deployment and change policies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Coordination between delivery and operations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mechanisms for production changes</a:t>
              </a: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0658769A-B192-5A41-DDB6-9CD4E6CB4F5A}"/>
                </a:ext>
              </a:extLst>
            </p:cNvPr>
            <p:cNvSpPr/>
            <p:nvPr/>
          </p:nvSpPr>
          <p:spPr>
            <a:xfrm>
              <a:off x="9137873" y="5284002"/>
              <a:ext cx="2913203" cy="21285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1" noProof="0"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372AEE07-5DEC-140A-A131-4EEA8861D6CD}"/>
                </a:ext>
              </a:extLst>
            </p:cNvPr>
            <p:cNvSpPr/>
            <p:nvPr/>
          </p:nvSpPr>
          <p:spPr>
            <a:xfrm>
              <a:off x="9137873" y="5566178"/>
              <a:ext cx="2913203" cy="8436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2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Deployment success rate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Incidents and defects post-release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 to recover from failures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Release frequency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Stability of deployed solutions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Effectiveness of </a:t>
              </a:r>
              <a:r>
                <a:rPr lang="en-US" sz="700" noProof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hypercare</a:t>
              </a: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period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70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Visibility of release outcomes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37367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7929D2-F60E-4383-BC2D-AB901AA6F4D0}">
  <we:reference id="WA200010001" version="1.0.0.1" store="pt-br" storeType="omex"/>
  <we:alternateReferences>
    <we:reference id="WA200010001" version="1.0.0.1" store="omex" storeType="omex"/>
  </we:alternateReferences>
  <we:properties>
    <we:property name="claude.fileId" value="&quot;39acb17f-4649-4d5a-a1fb-4c73a1b9363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_x00ed_s xmlns="4b464e96-be12-433e-8722-39d5a0f59d28" xsi:nil="true"/>
    <Fuente xmlns="4b464e96-be12-433e-8722-39d5a0f59d28" xsi:nil="true"/>
    <lcf76f155ced4ddcb4097134ff3c332f xmlns="4b464e96-be12-433e-8722-39d5a0f59d28">
      <Terms xmlns="http://schemas.microsoft.com/office/infopath/2007/PartnerControls"/>
    </lcf76f155ced4ddcb4097134ff3c332f>
    <TaxCatchAll xmlns="9af8d66c-8f78-4f3a-ae1c-6e82e7ed62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BF3122F7F4D498EB3A12D7FC443DA" ma:contentTypeVersion="15" ma:contentTypeDescription="Create a new document." ma:contentTypeScope="" ma:versionID="54fd3935055be7f2473d3bcccc4c41fe">
  <xsd:schema xmlns:xsd="http://www.w3.org/2001/XMLSchema" xmlns:xs="http://www.w3.org/2001/XMLSchema" xmlns:p="http://schemas.microsoft.com/office/2006/metadata/properties" xmlns:ns2="4b464e96-be12-433e-8722-39d5a0f59d28" xmlns:ns3="9af8d66c-8f78-4f3a-ae1c-6e82e7ed62c7" targetNamespace="http://schemas.microsoft.com/office/2006/metadata/properties" ma:root="true" ma:fieldsID="15c832138d5a3dd2e20aed558ae63bd2" ns2:_="" ns3:_="">
    <xsd:import namespace="4b464e96-be12-433e-8722-39d5a0f59d28"/>
    <xsd:import namespace="9af8d66c-8f78-4f3a-ae1c-6e82e7ed62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uente" minOccurs="0"/>
                <xsd:element ref="ns2:Pa_x00ed_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64e96-be12-433e-8722-39d5a0f59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uente" ma:index="20" nillable="true" ma:displayName="Compartido por" ma:format="Dropdown" ma:internalName="Fuente">
      <xsd:simpleType>
        <xsd:restriction base="dms:Text">
          <xsd:maxLength value="255"/>
        </xsd:restriction>
      </xsd:simpleType>
    </xsd:element>
    <xsd:element name="Pa_x00ed_s" ma:index="21" nillable="true" ma:displayName="País" ma:format="Dropdown" ma:internalName="Pa_x00ed_s">
      <xsd:simpleType>
        <xsd:restriction base="dms:Text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66c-8f78-4f3a-ae1c-6e82e7ed62c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ad7c53e-bc4f-4e24-99ba-65f21ed5e662}" ma:internalName="TaxCatchAll" ma:showField="CatchAllData" ma:web="9af8d66c-8f78-4f3a-ae1c-6e82e7ed62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240A12-37A4-4EA9-B7BE-A326A5FEE75C}">
  <ds:schemaRefs>
    <ds:schemaRef ds:uri="4b464e96-be12-433e-8722-39d5a0f59d28"/>
    <ds:schemaRef ds:uri="9af8d66c-8f78-4f3a-ae1c-6e82e7ed62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8E69A5-9AC3-4456-9765-483B3C7A6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716480-6FA4-4D3D-8DA1-9128B8DAB10E}">
  <ds:schemaRefs>
    <ds:schemaRef ds:uri="4b464e96-be12-433e-8722-39d5a0f59d28"/>
    <ds:schemaRef ds:uri="9af8d66c-8f78-4f3a-ae1c-6e82e7ed62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736</Words>
  <Application>Microsoft Macintosh PowerPoint</Application>
  <PresentationFormat>Widescreen</PresentationFormat>
  <Paragraphs>150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Castellano</cp:lastModifiedBy>
  <cp:revision>3</cp:revision>
  <dcterms:created xsi:type="dcterms:W3CDTF">2013-01-27T09:14:16Z</dcterms:created>
  <dcterms:modified xsi:type="dcterms:W3CDTF">2026-04-25T23:29:24Z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0x01010024ABF3122F7F4D498EB3A12D7FC443DA</vt:lpwstr>
  </property>
  <property fmtid="{D5CDD505-2E9C-101B-9397-08002B2CF9AE}" pid="3" name="MediaServiceImageTags">
    <vt:lpwstr/>
  </property>
</Properties>
</file>