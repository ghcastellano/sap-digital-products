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79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471"/>
    <p:restoredTop sz="94610"/>
  </p:normalViewPr>
  <p:slideViewPr>
    <p:cSldViewPr snapToGrid="0" snapToObjects="1">
      <p:cViewPr>
        <p:scale>
          <a:sx n="189" d="100"/>
          <a:sy n="189" d="100"/>
        </p:scale>
        <p:origin x="173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86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31520" cy="54864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Project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Product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Product Management &amp; Why It Matters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Session  |  1 Hour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05840" cy="4572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3716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261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Why Product?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77440" y="15179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forces driving the transformation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901952"/>
            <a:ext cx="1005840" cy="4572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9019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993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77440" y="1883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Product Management?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377440" y="21396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Mindset, roles, and core principles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2523744"/>
            <a:ext cx="1005840" cy="4572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31520" y="25237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6151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77440" y="2505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at the Core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377440" y="27614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approach to solving real problems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1520" y="3145536"/>
            <a:ext cx="1005840" cy="4572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31520" y="31455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23697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77440" y="3127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Frameworks &amp; Practices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2377440" y="33832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delivery, OKRs, and roadmaps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31520" y="3767328"/>
            <a:ext cx="1005840" cy="4572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31520" y="3767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85876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377440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SAP Product CoE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2377440" y="40050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product thinking into your SAP organization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31520" y="4389120"/>
            <a:ext cx="1005840" cy="4572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731520" y="4389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48056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377440" y="43708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Next Steps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2377440" y="46268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can help you on this journey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Shift</a:t>
            </a:r>
            <a:endParaRPr lang="en-US" sz="3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Project to Product?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Mindset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us here won't get us there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4008" cy="1280160"/>
          </a:xfrm>
          <a:prstGeom prst="rect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over Outcome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delivering features rather than creating value for customers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55448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554480"/>
            <a:ext cx="64008" cy="1280160"/>
          </a:xfrm>
          <a:prstGeom prst="rect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737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Teams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assembled for a project then disbanded, losing knowledge and momentum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1520" y="3108960"/>
            <a:ext cx="64008" cy="1280160"/>
          </a:xfrm>
          <a:prstGeom prst="rect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Scope &amp; Dates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locked early; no room to adapt as you learn from the market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31089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46320" y="3108960"/>
            <a:ext cx="64008" cy="1280160"/>
          </a:xfrm>
          <a:prstGeom prst="rect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91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Culture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passed between silos; nobody owns the full customer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Mindset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fundamentally different way of creating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over Output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success by customer and business impact, not features shipped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55448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55448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737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Teams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teams that own a product area and grow expertise over time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1520" y="310896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Discovery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learn, adapt and iterate based on real user feedback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31089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46320" y="310896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91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Ownership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own the full lifecycle from idea to measurable impact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vs. Product at a Glance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scope 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customer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time, on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outcomes (OKRs)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Temporary, assembled per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Persistent, cross-functional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upfront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Iterative, evidence-based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 drives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Manager + empowered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Post-mortem at the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discovery &amp;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3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Management?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your product?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your user?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097280" y="1737360"/>
            <a:ext cx="6949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73152" cy="11887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is the practice of discovering what creates real value for customers and the business, then guiding cross-functional teams to deliver that value iteratively.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3291840"/>
            <a:ext cx="21031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429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customers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this?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3291840"/>
            <a:ext cx="21031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4290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this?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3291840"/>
            <a:ext cx="21031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4290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03504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Manager Role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business strategy, user needs, and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490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Strategy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where the product is heading and why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77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Advocacy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understand user problems and needs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28016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build next based on evidence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233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959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Leadership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28016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engineering, design, and business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303520" y="1508760"/>
            <a:ext cx="3383280" cy="32004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7373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577840" y="27432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Manager is NOT a project manager with a new title.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own the "what" and "why" — while empowering the team to figure out the "how".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Thinking</a:t>
            </a:r>
            <a:endParaRPr lang="en-US" sz="3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Core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Design Thinking?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human-centered approach to innovation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" cy="10058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starts with empathy — understanding real people and their real problems — before jumping to solutions. It's the engine that powers great product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64008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1089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703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First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understand users before defining problems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20440" y="292608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20440" y="2926080"/>
            <a:ext cx="64008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1089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703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Often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703320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test ideas quickly and cheaply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292608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09360" y="2926080"/>
            <a:ext cx="64008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1089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3703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Always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92240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adapt, and refine based on feedback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Phases of Design Thinking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417320"/>
            <a:ext cx="6858000" cy="0"/>
          </a:xfrm>
          <a:prstGeom prst="line">
            <a:avLst/>
          </a:prstGeom>
          <a:noFill/>
          <a:ln w="3810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252728"/>
            <a:ext cx="320040" cy="320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1463040" cy="54864"/>
          </a:xfrm>
          <a:prstGeom prst="rect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interview users to understand needs, pain points, and context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548640" cy="5486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1252728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86000" y="19202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286000" y="1920240"/>
            <a:ext cx="1463040" cy="54864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28600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377440" y="251460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insights into a clear problem statement worth solving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251960" y="1143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1252728"/>
            <a:ext cx="320040" cy="320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931920" y="19202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931920" y="1920240"/>
            <a:ext cx="1463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93192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023360" y="251460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wide range of creative solutions without judgment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897880" y="1143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1252728"/>
            <a:ext cx="320040" cy="320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577840" y="19202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577840" y="1920240"/>
            <a:ext cx="146304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57784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69280" y="251460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low-fidelity models to make ideas tangible and testable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543800" y="1143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1252728"/>
            <a:ext cx="320040" cy="3200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223760" y="19202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223760" y="1920240"/>
            <a:ext cx="146304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722376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315200" y="251460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prototypes in front of users, gather feedback, and iterate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linear — teams loop back as they learn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Thinking Meets Product Thinking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disciplines, one goal: creating value through understanding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279597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270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21488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understand the user?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prototype &amp; test ideas?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iterate on feedback?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657600" cy="279597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2704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120640" y="21488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outcome do we want to achieve?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business case?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success?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prioritize &amp; roadmap?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653" y="4375159"/>
            <a:ext cx="7498694" cy="320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297353" y="437515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Solve the right problem, for the right user, in the right way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Frameworks</a:t>
            </a:r>
            <a:endParaRPr lang="en-US" sz="3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Practices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Track: Discovery &amp; Delivery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engines of a product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7490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361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148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problems deeply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assumptions before building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experiments &amp; prototypes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interviews, data, and observation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risk of building the wrong thing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37490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361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148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incrementally in small batches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valuable increments frequently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impact with real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based on feedback and metrics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speed to learn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Strategy: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Aligning Teams Around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487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48740"/>
            <a:ext cx="64008" cy="109728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9446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qualitative, inspiring goal that gives direction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Results: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measurable outcomes that tell you if you achieved the 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7680960" cy="19202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0632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Become the #1 platform our users recommend to peers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45920" y="3566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Increase NPS from 32 to 55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KR2: Reduce time-to-value from 14 days to 3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KR3: Grow organic referrals by 40%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Outcome-Based Roadmaps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feature lists to strategic bets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146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redesign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 dashboard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 program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55448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514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21945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analytics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 v2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experiments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514600" cy="457200"/>
          </a:xfrm>
          <a:prstGeom prst="rect">
            <a:avLst/>
          </a:prstGeom>
          <a:solidFill>
            <a:srgbClr val="5A6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1945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expansion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Frameworks &amp; Practices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toolkit for every stage of product discovery — from framing to measuring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914400"/>
            <a:ext cx="118872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914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651760" y="914400"/>
            <a:ext cx="118872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914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886200" y="914400"/>
            <a:ext cx="118872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86200" y="914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Definition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20640" y="914400"/>
            <a:ext cx="118872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914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355080" y="914400"/>
            <a:ext cx="118872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914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589520" y="914400"/>
            <a:ext cx="118872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914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Learning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1417320"/>
            <a:ext cx="8412480" cy="1097280"/>
          </a:xfrm>
          <a:prstGeom prst="rect">
            <a:avLst/>
          </a:prstGeom>
          <a:solidFill>
            <a:srgbClr val="2E8B5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417320"/>
            <a:ext cx="960120" cy="109728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141732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8412480" cy="1097280"/>
          </a:xfrm>
          <a:prstGeom prst="rect">
            <a:avLst/>
          </a:prstGeom>
          <a:solidFill>
            <a:srgbClr val="F9A8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960120" cy="109728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065A82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960120" cy="10972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7947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481328" y="1490472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81328" y="1490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Mapping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481328" y="1892808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81328" y="1892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Funnel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715768" y="1490472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15768" y="1490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Co-creation Workshops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715768" y="1892808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15768" y="1892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Sprint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950208" y="1490472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50208" y="1490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to Win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950208" y="1892808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50208" y="1892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184648" y="1490472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84648" y="1490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Agile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184648" y="1892808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84648" y="1892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Habits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419088" y="1490472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19088" y="1490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LPM Prioritization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419088" y="1892808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19088" y="1892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Kanban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53528" y="1490472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53528" y="1490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Start Frmwk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7653528" y="1892808"/>
            <a:ext cx="1097280" cy="347472"/>
          </a:xfrm>
          <a:prstGeom prst="rect">
            <a:avLst/>
          </a:prstGeom>
          <a:solidFill>
            <a:srgbClr val="2E8B57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53528" y="1892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481328" y="2679192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481328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481328" y="3081528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481328" y="3081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Mapping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715768" y="2679192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15768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715768" y="3081528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15768" y="3081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Diamond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950208" y="2679192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950208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950208" y="3081528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950208" y="3081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Opp. Solution Tree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184648" y="2679192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184648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Startup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5184648" y="3081528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184648" y="3081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Trio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419088" y="2679192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19088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(Outcomes)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6419088" y="3081528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19088" y="3081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7653528" y="2679192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653528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Loop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7653528" y="3081528"/>
            <a:ext cx="1097280" cy="347472"/>
          </a:xfrm>
          <a:prstGeom prst="rect">
            <a:avLst/>
          </a:prstGeom>
          <a:solidFill>
            <a:srgbClr val="E88A1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653528" y="3081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Tree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1481328" y="3867912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481328" y="3867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481328" y="4270248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481328" y="4270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Gemba / Shadow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2715768" y="3867912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715768" y="3867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Crazy 8's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2715768" y="4270248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715768" y="4270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Brainwriting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3950208" y="3867912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950208" y="3867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3950208" y="4270248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950208" y="4270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Mapping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5184648" y="3867912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184648" y="3867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of Oz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184648" y="4270248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184648" y="4270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6419088" y="3867912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419088" y="3867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/ RICE Scoring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6419088" y="4270248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419088" y="4270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WSJF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7653528" y="3867912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653528" y="3867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7653528" y="4270248"/>
            <a:ext cx="1097280" cy="347472"/>
          </a:xfrm>
          <a:prstGeom prst="rect">
            <a:avLst/>
          </a:prstGeom>
          <a:solidFill>
            <a:srgbClr val="065A8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7653528" y="4270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Reviews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5486400" cy="54864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SAP</a:t>
            </a:r>
            <a:endParaRPr lang="en-US" sz="3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CoE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SAP Product CoE?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" cy="109728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Product-oriented Center of Excellence treats each SAP solution area as a product — with dedicated teams, clear ownership, continuous improvement, and measurable business outcomes.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657600" cy="411480"/>
          </a:xfrm>
          <a:prstGeom prst="rect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SAP CoE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Ticket-driven support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to business requests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system stability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uptime &amp; SLA compliance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65760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Product-Oriented SAP CoE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3154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Outcome-driven product teams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discovery of user needs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business value creation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adoption, efficiency &amp; ROI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Treating SAP Solutions as Products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SAP domain area becomes a product with an owner, users, and outcomes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HCM 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People Experience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HR teams &amp; employees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Faster hiring, better engagement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150876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50876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45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2103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Financial Intelligence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Finance &amp; controlling teams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Real-time close, better decisions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2004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1520" y="320040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37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SCM 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Supply Chain Visibility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Planners &amp; operations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Reduced lead time, less waste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46320" y="32004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46320" y="320040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337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Digital Platform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Developers &amp; business users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Faster innovation, fewer silos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Product CoE: Team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4572000" cy="59436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SAP Product CoE / Chief Product Owner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83080" y="1783080"/>
            <a:ext cx="0" cy="320040"/>
          </a:xfrm>
          <a:prstGeom prst="line">
            <a:avLst/>
          </a:prstGeom>
          <a:noFill/>
          <a:ln w="2540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060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Controlling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Product Owner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Analyst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/ Fiori Developer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(shared)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0" cy="320040"/>
          </a:xfrm>
          <a:prstGeom prst="line">
            <a:avLst/>
          </a:prstGeom>
          <a:noFill/>
          <a:ln w="2540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29000" y="210312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26060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7432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Product Owner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Analyst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Developer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(shared)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1783080"/>
            <a:ext cx="0" cy="320040"/>
          </a:xfrm>
          <a:prstGeom prst="line">
            <a:avLst/>
          </a:prstGeom>
          <a:noFill/>
          <a:ln w="2540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26060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HR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7432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Product Owner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Analyst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/ BTP Developer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(shared)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Thinking in Your SAP CoE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human-centered design to SAP initiatives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discovery interviews with actual SAP users (warehouse staff, finance clerks) before scoping any project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20440" y="146304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20440" y="146304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6002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Fiori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0332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clickable Fiori mockups to validate workflows with users before development starts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146304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146304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002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Measure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changes to a small group first, measure adoption and satisfaction, then scale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20040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1520" y="320040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337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4400" y="3840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regular user feedback sessions into every sprint — not just at go-live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520440" y="320040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520440" y="320040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3375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703320" y="3840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SAP consultants and analysts in empathy mapping, journey mapping, and prototyping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309360" y="320040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09360" y="320040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3375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92240" y="3840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design sprints to align business and IT on priorities before committing to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Product CoE: Maturity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417320"/>
            <a:ext cx="6675120" cy="0"/>
          </a:xfrm>
          <a:prstGeom prst="line">
            <a:avLst/>
          </a:prstGeom>
          <a:noFill/>
          <a:ln w="3810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1143000"/>
            <a:ext cx="548640" cy="548640"/>
          </a:xfrm>
          <a:prstGeom prst="ellipse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9278" y="1965960"/>
            <a:ext cx="1737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9278" y="1965960"/>
            <a:ext cx="1737360" cy="54864"/>
          </a:xfrm>
          <a:prstGeom prst="rect">
            <a:avLst/>
          </a:prstGeom>
          <a:solidFill>
            <a:srgbClr val="E85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927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438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buys in to product thinking for SAP; pilot team identified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548640" cy="5486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99518" y="1965960"/>
            <a:ext cx="1737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99518" y="1965960"/>
            <a:ext cx="1737360" cy="54864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9951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36678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SAP product team formed; product strategy; discovery rituals introduced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1143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19758" y="1965960"/>
            <a:ext cx="1737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9758" y="19659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975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56918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product teams across SAP domains; design thinking embedded; product ops established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1143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39998" y="1965960"/>
            <a:ext cx="1737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39998" y="1965960"/>
            <a:ext cx="173736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3999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77158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culture is the norm; data-driven decisions; continuous user research &amp; experimentation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resonates with your SAP organization's challenges?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the biggest opportunity?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5661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your SAP users currently experience the solutions you support?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if your CoE operated as a product organization?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design thinking make the biggest impact in your SAP landscape?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1463040"/>
            <a:ext cx="2194560" cy="54864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from project to product starts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single conversation.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what matters —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Can Help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 to accelerate your SAP product transformation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514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64008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Strategy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current CoE maturity, define the vision, and create a tailored transformation plan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20440" y="1508760"/>
            <a:ext cx="2514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20440" y="1508760"/>
            <a:ext cx="64008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Design &amp; Coaching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4904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structure SAP product teams, define roles, and coach Product Owners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514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1508760"/>
            <a:ext cx="64008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916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Workshops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3796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workshops to build discovery habits and user empathy within SAP teams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200400"/>
            <a:ext cx="2514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1520" y="3200400"/>
            <a:ext cx="64008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832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Support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6012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alongside your SAP teams during the transition to build real capability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520440" y="3200400"/>
            <a:ext cx="2514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520440" y="3200400"/>
            <a:ext cx="64008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3832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5196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Governance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74904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outcome-based metrics, portfolio reviews, and product governance for SAP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309360" y="3200400"/>
            <a:ext cx="2514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09360" y="3200400"/>
            <a:ext cx="64008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3832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Alignment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53796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coaching and stakeholder sessions to sustain the cultural shift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1653</Words>
  <Application>Microsoft Macintosh PowerPoint</Application>
  <PresentationFormat>On-screen Show (16:9)</PresentationFormat>
  <Paragraphs>372</Paragraphs>
  <Slides>27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Project to Product – What is Product Management?</dc:title>
  <dc:subject>PptxGenJS Presentation</dc:subject>
  <dc:creator>Bruno Lopes Mello</dc:creator>
  <cp:lastModifiedBy>Lopes Mello, Bruno</cp:lastModifiedBy>
  <cp:revision>4</cp:revision>
  <dcterms:created xsi:type="dcterms:W3CDTF">2026-04-05T17:09:05Z</dcterms:created>
  <dcterms:modified xsi:type="dcterms:W3CDTF">2026-04-06T18:53:18Z</dcterms:modified>
</cp:coreProperties>
</file>