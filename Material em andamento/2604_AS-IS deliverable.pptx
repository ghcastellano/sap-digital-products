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1B_296D12D8.xml" ContentType="application/vnd.ms-powerpoint.comments+xml"/>
  <Override PartName="/ppt/comments/modernComment_7FFFFFFA_0.xml" ContentType="application/vnd.ms-powerpoint.comments+xml"/>
  <Override PartName="/ppt/media/image10.svg" ContentType="image/svg+xml"/>
  <Override PartName="/ppt/media/image11.svg" ContentType="image/svg+xml"/>
  <Override PartName="/ppt/media/image2.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4.svg" ContentType="image/svg+xml"/>
  <Override PartName="/ppt/media/image41.svg" ContentType="image/svg+xml"/>
  <Override PartName="/ppt/media/image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1" r:id="rId5"/>
  </p:sldMasterIdLst>
  <p:notesMasterIdLst>
    <p:notesMasterId r:id="rId50"/>
  </p:notesMasterIdLst>
  <p:sldIdLst>
    <p:sldId id="281" r:id="rId6"/>
    <p:sldId id="2147483642" r:id="rId7"/>
    <p:sldId id="265" r:id="rId8"/>
    <p:sldId id="303" r:id="rId9"/>
    <p:sldId id="307" r:id="rId10"/>
    <p:sldId id="256" r:id="rId11"/>
    <p:sldId id="278" r:id="rId12"/>
    <p:sldId id="263" r:id="rId13"/>
    <p:sldId id="262" r:id="rId14"/>
    <p:sldId id="264" r:id="rId15"/>
    <p:sldId id="272" r:id="rId16"/>
    <p:sldId id="288" r:id="rId17"/>
    <p:sldId id="279" r:id="rId18"/>
    <p:sldId id="280" r:id="rId19"/>
    <p:sldId id="282" r:id="rId20"/>
    <p:sldId id="266" r:id="rId21"/>
    <p:sldId id="275" r:id="rId22"/>
    <p:sldId id="267" r:id="rId23"/>
    <p:sldId id="276" r:id="rId24"/>
    <p:sldId id="277" r:id="rId25"/>
    <p:sldId id="268" r:id="rId26"/>
    <p:sldId id="260" r:id="rId27"/>
    <p:sldId id="283" r:id="rId28"/>
    <p:sldId id="284" r:id="rId29"/>
    <p:sldId id="290" r:id="rId59"/>
    <p:sldId id="274" r:id="rId30"/>
    <p:sldId id="286" r:id="rId31"/>
    <p:sldId id="287" r:id="rId32"/>
    <p:sldId id="292" r:id="rId33"/>
    <p:sldId id="258" r:id="rId34"/>
    <p:sldId id="259" r:id="rId35"/>
    <p:sldId id="257" r:id="rId36"/>
    <p:sldId id="261" r:id="rId37"/>
    <p:sldId id="271" r:id="rId57"/>
    <p:sldId id="289" r:id="rId58"/>
    <p:sldId id="2147483647" r:id="rId38"/>
    <p:sldId id="285" r:id="rId39"/>
    <p:sldId id="269" r:id="rId40"/>
    <p:sldId id="273" r:id="rId41"/>
    <p:sldId id="270" r:id="rId42"/>
    <p:sldId id="298" r:id="rId43"/>
    <p:sldId id="299" r:id="rId44"/>
    <p:sldId id="300" r:id="rId45"/>
    <p:sldId id="301" r:id="rId46"/>
    <p:sldId id="302" r:id="rId47"/>
    <p:sldId id="304" r:id="rId48"/>
    <p:sldId id="30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9552545F-FFD9-F585-C825-74C37019A3E8}" name="Yunuen Vargas Hernandez" initials="YV" userId="S::yvargash@emeal.nttdata.com::6f284162-b591-4518-8c03-e513a024376c" providerId="AD"/>
  <p188:author id="{9297B66B-BF4D-3E4E-6DF1-E7277526F4AB}" name="Javier Bahena Pacheco" initials="JB" userId="S::jbahenap@emeal.nttdata.com::d59fb837-d627-4f1d-9976-d501d2a3c3bb" providerId="AD"/>
  <p188:author id="{08AA367A-3FE0-CE15-1CF5-256A1C107FE1}" name="Alfredo Soto Cuellar" initials="AS" userId="S::asotocue@emeal.nttdata.com::a1af1438-e027-44e1-b6a1-e184226576bb" providerId="AD"/>
  <p188:author id="{CA625C93-23F8-CB07-D18D-605E643B4C39}" name="Daniel Belmar Garcia" initials="DB" userId="S::dbelmarg@emeal.nttdata.com::20dc0f96-9476-4833-838f-6bd444f49ced"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C4328"/>
    <a:srgbClr val="747474"/>
    <a:srgbClr val="3B7D23"/>
    <a:srgbClr val="156082"/>
    <a:srgbClr val="6785C1"/>
    <a:srgbClr val="E4E6EA"/>
    <a:srgbClr val="00A443"/>
    <a:srgbClr val="0B76A0"/>
    <a:srgbClr val="0DA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22F2B-899D-416B-821F-6F67DC0D92EA}" v="1091" dt="2026-04-22T14:56:24.518"/>
    <p1510:client id="{2CADDD55-4A07-8647-8A8A-2907C0306AA7}" v="579" dt="2026-04-22T14:51:58.732"/>
    <p1510:client id="{498AF1C9-824D-B999-8AC1-771EE1FAB6AA}" v="313" dt="2026-04-22T13:12:46.990"/>
    <p1510:client id="{A0EE5C6D-3C33-446D-8396-231463663BF9}" v="1325" dt="2026-04-22T14:46:27.634"/>
    <p1510:client id="{FBE66761-9E50-4B36-B0F8-11B09A9B8D4E}" v="1998" dt="2026-04-22T14:54:40.589"/>
    <p1510:client id="{FCA8771A-004C-3C72-AD4B-A0243A4BDE01}" v="88" dt="2026-04-22T14:15:21.1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5/10/relationships/revisionInfo" Target="revisionInfo.xml"/><Relationship Id="rId56" Type="http://schemas.microsoft.com/office/2018/10/relationships/authors" Target="authors.xml"/><Relationship Id="rId57" Type="http://schemas.openxmlformats.org/officeDocument/2006/relationships/slide" Target="slides/slide34.xml"/><Relationship Id="rId58" Type="http://schemas.openxmlformats.org/officeDocument/2006/relationships/slide" Target="slides/slide35.xml"/><Relationship Id="rId59" Type="http://schemas.openxmlformats.org/officeDocument/2006/relationships/slide" Target="slides/slide25.xml"/></Relationships>
</file>

<file path=ppt/comments/modernComment_7FFFFFFA_0.xml><?xml version="1.0" encoding="utf-8"?>
<p188:cmLst xmlns:a="http://schemas.openxmlformats.org/drawingml/2006/main" xmlns:r="http://schemas.openxmlformats.org/officeDocument/2006/relationships" xmlns:p188="http://schemas.microsoft.com/office/powerpoint/2018/8/main">
  <p188:cm id="{9E877802-F35D-4EC6-8BB1-A1CBB6F916EE}" authorId="{CA625C93-23F8-CB07-D18D-605E643B4C39}" status="resolved" created="2026-04-15T13:47:24.941" complete="100000">
    <ac:deMkLst xmlns:ac="http://schemas.microsoft.com/office/drawing/2013/main/command">
      <pc:docMk xmlns:pc="http://schemas.microsoft.com/office/powerpoint/2013/main/command"/>
      <pc:sldMk xmlns:pc="http://schemas.microsoft.com/office/powerpoint/2013/main/command" cId="0" sldId="2147483642"/>
      <ac:grpSpMk id="26" creationId="{A758B53D-F9CA-BB4E-90A8-8590E5F1DCB9}"/>
    </ac:deMkLst>
    <p188:txBody>
      <a:bodyPr/>
      <a:lstStyle/>
      <a:p>
        <a:r>
          <a:rPr lang="en-US"/>
          <a:t>Pondria los puntos 4, 5 y 6 como parte de un solo punto que sea el 4. Currant state analytis que después se abrá en esos tres puntos (roles, value steam (aquí incluir auna parte de cómo es el demand map (sources &amp; channels) , governance)
Agregaría como puntos adicionales en el índice;
5. Project portfolio lands scape
6. Inisghts and key definitions for to-be model</a:t>
        </a:r>
      </a:p>
    </p188:txBody>
  </p188:cm>
</p188:cmLst>
</file>

<file path=ppt/comments/modernComment_11B_296D12D8.xml><?xml version="1.0" encoding="utf-8"?>
<p188:cmLst xmlns:a="http://schemas.openxmlformats.org/drawingml/2006/main" xmlns:r="http://schemas.openxmlformats.org/officeDocument/2006/relationships" xmlns:p188="http://schemas.microsoft.com/office/powerpoint/2018/8/main">
  <p188:cm id="{DDB28C5E-80FA-45CA-A73F-B26A9751F8E9}" authorId="{CA625C93-23F8-CB07-D18D-605E643B4C39}" created="2026-04-20T21:25:32.527" startDate="2026-04-20T21:25:32.527" dueDate="2026-04-20T21:25:32.527" assignedTo="{67DB39AB-BC3E-8A02-7D4E-C00B2BD6237D}" title="@Gustavo Castellano we need to be more specific about the types of demands for each department (comment copied from other Alfredos comment)">
    <pc:sldMkLst xmlns:pc="http://schemas.microsoft.com/office/powerpoint/2013/main/command">
      <pc:docMk/>
      <pc:sldMk cId="695014104" sldId="283"/>
    </pc:sldMkLst>
    <p188:txBody>
      <a:bodyPr/>
      <a:lstStyle/>
      <a:p>
        <a:r>
          <a:rPr lang="en-US"/>
          <a:t>[@Gustavo Castellano]  we need to be more specific about the types of demands for each department (comment copied from other Alfredos comment)</a:t>
        </a:r>
      </a:p>
    </p188:txBody>
    <p188:extLst>
      <p:ext xmlns:p="http://schemas.openxmlformats.org/presentationml/2006/main" uri="{5BB2D875-25FF-4072-B9AC-8F64D62656EB}">
        <p228:taskDetails xmlns:p228="http://schemas.microsoft.com/office/powerpoint/2022/08/main">
          <p228:history>
            <p228:event time="2026-04-20T21:25:32.527" id="{B8394D11-DD9F-436D-952F-D54E669ADA50}">
              <p228:atrbtn authorId="{CA625C93-23F8-CB07-D18D-605E643B4C39}"/>
              <p228:anchr>
                <p228:comment id="{DDB28C5E-80FA-45CA-A73F-B26A9751F8E9}"/>
              </p228:anchr>
              <p228:add/>
            </p228:event>
            <p228:event time="2026-04-20T21:25:32.527" id="{6EB9EE43-D225-4A94-9A0D-F427AFBDFF0F}">
              <p228:atrbtn authorId="{CA625C93-23F8-CB07-D18D-605E643B4C39}"/>
              <p228:anchr>
                <p228:comment id="{DDB28C5E-80FA-45CA-A73F-B26A9751F8E9}"/>
              </p228:anchr>
              <p228:asgn authorId="{67DB39AB-BC3E-8A02-7D4E-C00B2BD6237D}"/>
            </p228:event>
            <p228:event time="2026-04-20T21:25:32.527" id="{8ACC2DE5-D32C-456F-992D-7BD7E6AFF15E}">
              <p228:atrbtn authorId="{CA625C93-23F8-CB07-D18D-605E643B4C39}"/>
              <p228:anchr>
                <p228:comment id="{DDB28C5E-80FA-45CA-A73F-B26A9751F8E9}"/>
              </p228:anchr>
              <p228:title val="@Gustavo Castellano we need to be more specific about the types of demands for each department (comment copied from other Alfredos comment)"/>
            </p228:event>
            <p228:event time="2026-04-20T21:25:32.527" id="{4A6A313B-2C61-4C67-B9BF-DD31250E0C11}">
              <p228:atrbtn authorId="{CA625C93-23F8-CB07-D18D-605E643B4C39}"/>
              <p228:anchr>
                <p228:comment id="{DDB28C5E-80FA-45CA-A73F-B26A9751F8E9}"/>
              </p228:anchr>
              <p228:date stDt="2026-04-20T21:25:32.527" endDt="2026-04-20T21:25:32.527"/>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B6E4-9D7D-44D1-BA09-91501786EAA6}"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FED2-9709-4FC9-ABC4-AA1D773337AA}" type="slidenum">
              <a:rPr lang="en-US" smtClean="0"/>
              <a:t>‹nº›</a:t>
            </a:fld>
            <a:endParaRPr lang="en-US"/>
          </a:p>
        </p:txBody>
      </p:sp>
    </p:spTree>
    <p:extLst>
      <p:ext uri="{BB962C8B-B14F-4D97-AF65-F5344CB8AC3E}">
        <p14:creationId xmlns:p14="http://schemas.microsoft.com/office/powerpoint/2010/main" val="2052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3ABF52DC-EC59-4DE1-BAC7-23B3848E6B8A}" type="slidenum">
              <a:rPr lang="en-US" smtClean="0"/>
              <a:pPr/>
              <a:t>2</a:t>
            </a:fld>
            <a:endParaRPr lang="en-US"/>
          </a:p>
        </p:txBody>
      </p:sp>
    </p:spTree>
    <p:extLst>
      <p:ext uri="{BB962C8B-B14F-4D97-AF65-F5344CB8AC3E}">
        <p14:creationId xmlns:p14="http://schemas.microsoft.com/office/powerpoint/2010/main" val="70205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2384-1DCB-795E-0069-51A25363BD2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A81D00-352B-570F-13D1-ACE5510891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0B852B-2514-C80E-7190-5BD0E7A0F294}"/>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9D02A187-F5A6-CA73-B9F9-9DF0C6C08171}"/>
              </a:ext>
            </a:extLst>
          </p:cNvPr>
          <p:cNvSpPr>
            <a:spLocks noGrp="1"/>
          </p:cNvSpPr>
          <p:nvPr>
            <p:ph type="sldNum" sz="quarter" idx="5"/>
          </p:nvPr>
        </p:nvSpPr>
        <p:spPr/>
        <p:txBody>
          <a:bodyPr/>
          <a:lstStyle/>
          <a:p>
            <a:fld id="{3ABF52DC-EC59-4DE1-BAC7-23B3848E6B8A}" type="slidenum">
              <a:rPr lang="en-US" smtClean="0"/>
              <a:pPr/>
              <a:t>3</a:t>
            </a:fld>
            <a:endParaRPr lang="en-US"/>
          </a:p>
        </p:txBody>
      </p:sp>
    </p:spTree>
    <p:extLst>
      <p:ext uri="{BB962C8B-B14F-4D97-AF65-F5344CB8AC3E}">
        <p14:creationId xmlns:p14="http://schemas.microsoft.com/office/powerpoint/2010/main" val="1179314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6A6F7-A420-A3A1-C050-3D3331A35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7B969-1BA4-2005-286C-2048C5BAEE9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B2FB85-BD6C-2D21-4A6C-AAE358CA80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DD62F8-D009-978B-87C0-BDA4C5A60A24}"/>
              </a:ext>
            </a:extLst>
          </p:cNvPr>
          <p:cNvSpPr>
            <a:spLocks noGrp="1"/>
          </p:cNvSpPr>
          <p:nvPr>
            <p:ph type="sldNum" sz="quarter" idx="5"/>
          </p:nvPr>
        </p:nvSpPr>
        <p:spPr/>
        <p:txBody>
          <a:bodyPr/>
          <a:lstStyle/>
          <a:p>
            <a:fld id="{F5EA62C3-F454-4F5D-AAB0-802A83F207C1}" type="slidenum">
              <a:rPr lang="en-US" smtClean="0"/>
              <a:t>4</a:t>
            </a:fld>
            <a:endParaRPr lang="en-US"/>
          </a:p>
        </p:txBody>
      </p:sp>
    </p:spTree>
    <p:extLst>
      <p:ext uri="{BB962C8B-B14F-4D97-AF65-F5344CB8AC3E}">
        <p14:creationId xmlns:p14="http://schemas.microsoft.com/office/powerpoint/2010/main" val="131470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2E6B-5079-950A-3224-A778F547E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F194C-D620-495A-6CB3-0C2E5CE3004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DFC7BF9-F47B-D4C8-7FBE-AD6971C06C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836995-C371-2109-F166-F771CC11BB3A}"/>
              </a:ext>
            </a:extLst>
          </p:cNvPr>
          <p:cNvSpPr>
            <a:spLocks noGrp="1"/>
          </p:cNvSpPr>
          <p:nvPr>
            <p:ph type="sldNum" sz="quarter" idx="5"/>
          </p:nvPr>
        </p:nvSpPr>
        <p:spPr/>
        <p:txBody>
          <a:bodyPr/>
          <a:lstStyle/>
          <a:p>
            <a:fld id="{F5EA62C3-F454-4F5D-AAB0-802A83F207C1}" type="slidenum">
              <a:rPr lang="en-US" smtClean="0"/>
              <a:t>5</a:t>
            </a:fld>
            <a:endParaRPr lang="en-US"/>
          </a:p>
        </p:txBody>
      </p:sp>
    </p:spTree>
    <p:extLst>
      <p:ext uri="{BB962C8B-B14F-4D97-AF65-F5344CB8AC3E}">
        <p14:creationId xmlns:p14="http://schemas.microsoft.com/office/powerpoint/2010/main" val="104964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DBA0-99F3-4BBA-43C0-C5D0E884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231E9-6A85-24D3-BA92-3A4216B4F4E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076016-0AF4-07CC-76E3-9BA0FB5E0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95D46C-16AD-455A-6E45-43DBB3B3CC91}"/>
              </a:ext>
            </a:extLst>
          </p:cNvPr>
          <p:cNvSpPr>
            <a:spLocks noGrp="1"/>
          </p:cNvSpPr>
          <p:nvPr>
            <p:ph type="sldNum" sz="quarter" idx="5"/>
          </p:nvPr>
        </p:nvSpPr>
        <p:spPr/>
        <p:txBody>
          <a:bodyPr/>
          <a:lstStyle/>
          <a:p>
            <a:fld id="{F5EA62C3-F454-4F5D-AAB0-802A83F207C1}" type="slidenum">
              <a:rPr lang="en-US" smtClean="0"/>
              <a:t>6</a:t>
            </a:fld>
            <a:endParaRPr lang="en-US"/>
          </a:p>
        </p:txBody>
      </p:sp>
    </p:spTree>
    <p:extLst>
      <p:ext uri="{BB962C8B-B14F-4D97-AF65-F5344CB8AC3E}">
        <p14:creationId xmlns:p14="http://schemas.microsoft.com/office/powerpoint/2010/main" val="66886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004-A54B-93D9-D2E2-EFCA7C4D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1BEB8-DB41-C79B-9CCC-64136FA0F2F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3E262F-27DE-D28B-56B1-9A3B60C10165}"/>
              </a:ext>
            </a:extLst>
          </p:cNvPr>
          <p:cNvSpPr>
            <a:spLocks noGrp="1"/>
          </p:cNvSpPr>
          <p:nvPr>
            <p:ph type="body" idx="1"/>
          </p:nvPr>
        </p:nvSpPr>
        <p:spPr/>
        <p:txBody>
          <a:bodyPr/>
          <a:lstStyle/>
          <a:p>
            <a:r>
              <a:rPr lang="en-US"/>
              <a:t>*1.Diferencial, </a:t>
            </a:r>
            <a:r>
              <a:rPr lang="en-US" err="1"/>
              <a:t>en</a:t>
            </a:r>
            <a:r>
              <a:rPr lang="en-US"/>
              <a:t> </a:t>
            </a:r>
            <a:r>
              <a:rPr lang="en-US" err="1"/>
              <a:t>que</a:t>
            </a:r>
            <a:r>
              <a:rPr lang="en-US"/>
              <a:t> </a:t>
            </a:r>
            <a:r>
              <a:rPr lang="en-US" err="1"/>
              <a:t>cosas</a:t>
            </a:r>
            <a:r>
              <a:rPr lang="en-US"/>
              <a:t> se </a:t>
            </a:r>
            <a:r>
              <a:rPr lang="en-US" err="1"/>
              <a:t>enfoca</a:t>
            </a:r>
            <a:r>
              <a:rPr lang="en-US"/>
              <a:t> </a:t>
            </a:r>
            <a:r>
              <a:rPr lang="en-US" err="1"/>
              <a:t>cada</a:t>
            </a:r>
            <a:r>
              <a:rPr lang="en-US"/>
              <a:t> </a:t>
            </a:r>
            <a:r>
              <a:rPr lang="en-US" err="1"/>
              <a:t>área</a:t>
            </a:r>
            <a:r>
              <a:rPr lang="en-US"/>
              <a:t> (</a:t>
            </a:r>
            <a:r>
              <a:rPr lang="en-US" err="1"/>
              <a:t>Proposito</a:t>
            </a:r>
            <a:r>
              <a:rPr lang="en-US"/>
              <a:t> de </a:t>
            </a:r>
            <a:r>
              <a:rPr lang="en-US" err="1"/>
              <a:t>negocio</a:t>
            </a:r>
            <a:r>
              <a:rPr lang="en-US"/>
              <a:t> de </a:t>
            </a:r>
            <a:r>
              <a:rPr lang="en-US" err="1"/>
              <a:t>cada</a:t>
            </a:r>
            <a:r>
              <a:rPr lang="en-US"/>
              <a:t> depo)</a:t>
            </a:r>
            <a:br>
              <a:rPr lang="en-US"/>
            </a:br>
            <a:r>
              <a:rPr lang="en-US"/>
              <a:t>*2.Falta </a:t>
            </a:r>
            <a:r>
              <a:rPr lang="en-US" err="1"/>
              <a:t>en</a:t>
            </a:r>
            <a:r>
              <a:rPr lang="en-US"/>
              <a:t> Heather </a:t>
            </a:r>
            <a:r>
              <a:rPr lang="en-US" err="1"/>
              <a:t>agregar</a:t>
            </a:r>
            <a:r>
              <a:rPr lang="en-US"/>
              <a:t> 2 FTE </a:t>
            </a:r>
            <a:r>
              <a:rPr lang="en-US" err="1"/>
              <a:t>que</a:t>
            </a:r>
            <a:r>
              <a:rPr lang="en-US"/>
              <a:t> </a:t>
            </a:r>
            <a:r>
              <a:rPr lang="en-US" err="1"/>
              <a:t>estan</a:t>
            </a:r>
            <a:r>
              <a:rPr lang="en-US"/>
              <a:t> </a:t>
            </a:r>
            <a:r>
              <a:rPr lang="en-US" err="1"/>
              <a:t>pendientes</a:t>
            </a:r>
            <a:r>
              <a:rPr lang="en-US"/>
              <a:t> de </a:t>
            </a:r>
            <a:r>
              <a:rPr lang="en-US" err="1"/>
              <a:t>nombre</a:t>
            </a:r>
            <a:br>
              <a:rPr lang="en-US"/>
            </a:br>
            <a:endParaRPr lang="en-US"/>
          </a:p>
        </p:txBody>
      </p:sp>
      <p:sp>
        <p:nvSpPr>
          <p:cNvPr id="4" name="Slide Number Placeholder 3">
            <a:extLst>
              <a:ext uri="{FF2B5EF4-FFF2-40B4-BE49-F238E27FC236}">
                <a16:creationId xmlns:a16="http://schemas.microsoft.com/office/drawing/2014/main" id="{67ED26A5-5261-C7A1-1B44-D1C8499C4A8F}"/>
              </a:ext>
            </a:extLst>
          </p:cNvPr>
          <p:cNvSpPr>
            <a:spLocks noGrp="1"/>
          </p:cNvSpPr>
          <p:nvPr>
            <p:ph type="sldNum" sz="quarter" idx="5"/>
          </p:nvPr>
        </p:nvSpPr>
        <p:spPr/>
        <p:txBody>
          <a:bodyPr/>
          <a:lstStyle/>
          <a:p>
            <a:fld id="{F5EA62C3-F454-4F5D-AAB0-802A83F207C1}" type="slidenum">
              <a:rPr lang="en-US" smtClean="0"/>
              <a:t>7</a:t>
            </a:fld>
            <a:endParaRPr lang="en-US"/>
          </a:p>
        </p:txBody>
      </p:sp>
    </p:spTree>
    <p:extLst>
      <p:ext uri="{BB962C8B-B14F-4D97-AF65-F5344CB8AC3E}">
        <p14:creationId xmlns:p14="http://schemas.microsoft.com/office/powerpoint/2010/main" val="2289899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4BB07-25EB-A203-F0E7-BA887CA55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02FE68-C8DC-BCA6-5B03-AEF65EF9B24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ECDA3BB-9991-A71A-6080-8FBA925BDB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A06B6A-B1DB-58D4-29E5-6C3798398978}"/>
              </a:ext>
            </a:extLst>
          </p:cNvPr>
          <p:cNvSpPr>
            <a:spLocks noGrp="1"/>
          </p:cNvSpPr>
          <p:nvPr>
            <p:ph type="sldNum" sz="quarter" idx="5"/>
          </p:nvPr>
        </p:nvSpPr>
        <p:spPr/>
        <p:txBody>
          <a:bodyPr/>
          <a:lstStyle/>
          <a:p>
            <a:fld id="{F5EA62C3-F454-4F5D-AAB0-802A83F207C1}" type="slidenum">
              <a:rPr lang="en-US" smtClean="0"/>
              <a:t>10</a:t>
            </a:fld>
            <a:endParaRPr lang="en-US"/>
          </a:p>
        </p:txBody>
      </p:sp>
    </p:spTree>
    <p:extLst>
      <p:ext uri="{BB962C8B-B14F-4D97-AF65-F5344CB8AC3E}">
        <p14:creationId xmlns:p14="http://schemas.microsoft.com/office/powerpoint/2010/main" val="1776454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85A1-DDB0-5DEC-CB10-B93517CF1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FE6-065F-59C1-4151-8518020E024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C4B5FB2-BA18-7CDE-2A0C-25B85FBD0A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C0B821-D9F5-C46B-28D6-E5856E6A7DBE}"/>
              </a:ext>
            </a:extLst>
          </p:cNvPr>
          <p:cNvSpPr>
            <a:spLocks noGrp="1"/>
          </p:cNvSpPr>
          <p:nvPr>
            <p:ph type="sldNum" sz="quarter" idx="5"/>
          </p:nvPr>
        </p:nvSpPr>
        <p:spPr/>
        <p:txBody>
          <a:bodyPr/>
          <a:lstStyle/>
          <a:p>
            <a:fld id="{F5EA62C3-F454-4F5D-AAB0-802A83F207C1}" type="slidenum">
              <a:rPr lang="en-US" smtClean="0"/>
              <a:t>11</a:t>
            </a:fld>
            <a:endParaRPr lang="en-US"/>
          </a:p>
        </p:txBody>
      </p:sp>
    </p:spTree>
    <p:extLst>
      <p:ext uri="{BB962C8B-B14F-4D97-AF65-F5344CB8AC3E}">
        <p14:creationId xmlns:p14="http://schemas.microsoft.com/office/powerpoint/2010/main" val="3938323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2CD6-79B5-0AAA-644E-33DF705D7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616F2-46EB-1B74-A069-AB05F2E8A6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906ACAC-3461-2A33-6E43-3FB430B5E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44BF7-772F-E5D8-FEA7-7E45DEAE4477}"/>
              </a:ext>
            </a:extLst>
          </p:cNvPr>
          <p:cNvSpPr>
            <a:spLocks noGrp="1"/>
          </p:cNvSpPr>
          <p:nvPr>
            <p:ph type="sldNum" sz="quarter" idx="5"/>
          </p:nvPr>
        </p:nvSpPr>
        <p:spPr/>
        <p:txBody>
          <a:bodyPr/>
          <a:lstStyle/>
          <a:p>
            <a:fld id="{F5EA62C3-F454-4F5D-AAB0-802A83F207C1}" type="slidenum">
              <a:rPr lang="en-US" smtClean="0"/>
              <a:t>12</a:t>
            </a:fld>
            <a:endParaRPr lang="en-US"/>
          </a:p>
        </p:txBody>
      </p:sp>
    </p:spTree>
    <p:extLst>
      <p:ext uri="{BB962C8B-B14F-4D97-AF65-F5344CB8AC3E}">
        <p14:creationId xmlns:p14="http://schemas.microsoft.com/office/powerpoint/2010/main" val="1971331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39A31-29E9-64A6-349F-271D47D56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AEF08-ACD9-337D-5551-2860247B7D3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46ED4F2-33AC-2042-EB79-C7C4922001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3A276F-EC5B-1C7E-EFAD-4DD9451AB306}"/>
              </a:ext>
            </a:extLst>
          </p:cNvPr>
          <p:cNvSpPr>
            <a:spLocks noGrp="1"/>
          </p:cNvSpPr>
          <p:nvPr>
            <p:ph type="sldNum" sz="quarter" idx="5"/>
          </p:nvPr>
        </p:nvSpPr>
        <p:spPr/>
        <p:txBody>
          <a:bodyPr/>
          <a:lstStyle/>
          <a:p>
            <a:fld id="{F5EA62C3-F454-4F5D-AAB0-802A83F207C1}" type="slidenum">
              <a:rPr lang="en-US" smtClean="0"/>
              <a:t>13</a:t>
            </a:fld>
            <a:endParaRPr lang="en-US"/>
          </a:p>
        </p:txBody>
      </p:sp>
    </p:spTree>
    <p:extLst>
      <p:ext uri="{BB962C8B-B14F-4D97-AF65-F5344CB8AC3E}">
        <p14:creationId xmlns:p14="http://schemas.microsoft.com/office/powerpoint/2010/main" val="518945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F7B30-FBD5-7920-F77C-8DE9F651C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DF4DC-6A1B-7D36-5B56-E9D6B108D9C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D629B8E-E767-EA49-B2C5-5B884A0509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7E3DF0-FCFC-B762-41B9-9DE78375C091}"/>
              </a:ext>
            </a:extLst>
          </p:cNvPr>
          <p:cNvSpPr>
            <a:spLocks noGrp="1"/>
          </p:cNvSpPr>
          <p:nvPr>
            <p:ph type="sldNum" sz="quarter" idx="5"/>
          </p:nvPr>
        </p:nvSpPr>
        <p:spPr/>
        <p:txBody>
          <a:bodyPr/>
          <a:lstStyle/>
          <a:p>
            <a:fld id="{F5EA62C3-F454-4F5D-AAB0-802A83F207C1}" type="slidenum">
              <a:rPr lang="en-US" smtClean="0"/>
              <a:t>14</a:t>
            </a:fld>
            <a:endParaRPr lang="en-US"/>
          </a:p>
        </p:txBody>
      </p:sp>
    </p:spTree>
    <p:extLst>
      <p:ext uri="{BB962C8B-B14F-4D97-AF65-F5344CB8AC3E}">
        <p14:creationId xmlns:p14="http://schemas.microsoft.com/office/powerpoint/2010/main" val="2817022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F84F-10A1-27CD-4AED-474606F63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4965E-BE39-97FB-AA1D-FCFC55D848C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21EA953-42AA-CCB9-D68D-9C832FED78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DA9704-4FB6-B7A5-8D2B-D8847554CEB0}"/>
              </a:ext>
            </a:extLst>
          </p:cNvPr>
          <p:cNvSpPr>
            <a:spLocks noGrp="1"/>
          </p:cNvSpPr>
          <p:nvPr>
            <p:ph type="sldNum" sz="quarter" idx="5"/>
          </p:nvPr>
        </p:nvSpPr>
        <p:spPr/>
        <p:txBody>
          <a:bodyPr/>
          <a:lstStyle/>
          <a:p>
            <a:fld id="{F5EA62C3-F454-4F5D-AAB0-802A83F207C1}" type="slidenum">
              <a:rPr lang="en-US" smtClean="0"/>
              <a:t>15</a:t>
            </a:fld>
            <a:endParaRPr lang="en-US"/>
          </a:p>
        </p:txBody>
      </p:sp>
    </p:spTree>
    <p:extLst>
      <p:ext uri="{BB962C8B-B14F-4D97-AF65-F5344CB8AC3E}">
        <p14:creationId xmlns:p14="http://schemas.microsoft.com/office/powerpoint/2010/main" val="3742667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B41DA-796D-8098-865E-9FA4A323FF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A85BC6-4B6E-8DA3-9560-E0FEFAD9A65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EF161A-4CBE-B5F1-E971-B83FC6163410}"/>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324A35D9-E343-EE1B-BD0A-25C6A7F53FCF}"/>
              </a:ext>
            </a:extLst>
          </p:cNvPr>
          <p:cNvSpPr>
            <a:spLocks noGrp="1"/>
          </p:cNvSpPr>
          <p:nvPr>
            <p:ph type="sldNum" sz="quarter" idx="5"/>
          </p:nvPr>
        </p:nvSpPr>
        <p:spPr/>
        <p:txBody>
          <a:bodyPr/>
          <a:lstStyle/>
          <a:p>
            <a:fld id="{3ABF52DC-EC59-4DE1-BAC7-23B3848E6B8A}" type="slidenum">
              <a:rPr lang="en-US" smtClean="0"/>
              <a:pPr/>
              <a:t>16</a:t>
            </a:fld>
            <a:endParaRPr lang="en-US"/>
          </a:p>
        </p:txBody>
      </p:sp>
    </p:spTree>
    <p:extLst>
      <p:ext uri="{BB962C8B-B14F-4D97-AF65-F5344CB8AC3E}">
        <p14:creationId xmlns:p14="http://schemas.microsoft.com/office/powerpoint/2010/main" val="3526728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BB0B-4837-EFC1-E637-8CE54988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5F2CC-4A85-451B-0698-8D49F7F09E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33179C7-B911-C3CD-8725-E8B8731D4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9AEFD-4D09-4D52-5D70-766FBBEF599B}"/>
              </a:ext>
            </a:extLst>
          </p:cNvPr>
          <p:cNvSpPr>
            <a:spLocks noGrp="1"/>
          </p:cNvSpPr>
          <p:nvPr>
            <p:ph type="sldNum" sz="quarter" idx="5"/>
          </p:nvPr>
        </p:nvSpPr>
        <p:spPr/>
        <p:txBody>
          <a:bodyPr/>
          <a:lstStyle/>
          <a:p>
            <a:fld id="{F5EA62C3-F454-4F5D-AAB0-802A83F207C1}" type="slidenum">
              <a:rPr lang="en-US" smtClean="0"/>
              <a:t>17</a:t>
            </a:fld>
            <a:endParaRPr lang="en-US"/>
          </a:p>
        </p:txBody>
      </p:sp>
    </p:spTree>
    <p:extLst>
      <p:ext uri="{BB962C8B-B14F-4D97-AF65-F5344CB8AC3E}">
        <p14:creationId xmlns:p14="http://schemas.microsoft.com/office/powerpoint/2010/main" val="3372869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57C48-A826-E2F5-1FBB-E8CDA6F639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4FD73F-DF8E-D282-C77E-94D000ADB2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046E0A-3D84-18E1-F560-AD98AC86DBF9}"/>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D52585A-492F-E1DC-F60A-55A7D7615D1E}"/>
              </a:ext>
            </a:extLst>
          </p:cNvPr>
          <p:cNvSpPr>
            <a:spLocks noGrp="1"/>
          </p:cNvSpPr>
          <p:nvPr>
            <p:ph type="sldNum" sz="quarter" idx="5"/>
          </p:nvPr>
        </p:nvSpPr>
        <p:spPr/>
        <p:txBody>
          <a:bodyPr/>
          <a:lstStyle/>
          <a:p>
            <a:fld id="{3ABF52DC-EC59-4DE1-BAC7-23B3848E6B8A}" type="slidenum">
              <a:rPr lang="en-US" smtClean="0"/>
              <a:pPr/>
              <a:t>18</a:t>
            </a:fld>
            <a:endParaRPr lang="en-US"/>
          </a:p>
        </p:txBody>
      </p:sp>
    </p:spTree>
    <p:extLst>
      <p:ext uri="{BB962C8B-B14F-4D97-AF65-F5344CB8AC3E}">
        <p14:creationId xmlns:p14="http://schemas.microsoft.com/office/powerpoint/2010/main" val="3431046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8A2-9DD5-31A6-BEFE-FEA96CEF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B5D2C-0B5C-468E-1944-64F8910E9C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7194E67-1FEA-2533-A124-B882CFDC1923}"/>
              </a:ext>
            </a:extLst>
          </p:cNvPr>
          <p:cNvSpPr>
            <a:spLocks noGrp="1"/>
          </p:cNvSpPr>
          <p:nvPr>
            <p:ph type="body" idx="1"/>
          </p:nvPr>
        </p:nvSpPr>
        <p:spPr/>
        <p:txBody>
          <a:bodyPr/>
          <a:lstStyle/>
          <a:p>
            <a:r>
              <a:rPr lang="en-US"/>
              <a:t>*</a:t>
            </a:r>
            <a:r>
              <a:rPr lang="en-US" err="1"/>
              <a:t>Dejar</a:t>
            </a:r>
            <a:r>
              <a:rPr lang="en-US"/>
              <a:t> </a:t>
            </a:r>
            <a:r>
              <a:rPr lang="en-US" err="1"/>
              <a:t>esta</a:t>
            </a:r>
            <a:r>
              <a:rPr lang="en-US"/>
              <a:t> lamina </a:t>
            </a:r>
            <a:r>
              <a:rPr lang="en-US" err="1"/>
              <a:t>pero</a:t>
            </a:r>
            <a:r>
              <a:rPr lang="en-US"/>
              <a:t> </a:t>
            </a:r>
            <a:r>
              <a:rPr lang="en-US" err="1"/>
              <a:t>cambiarla</a:t>
            </a:r>
            <a:r>
              <a:rPr lang="en-US"/>
              <a:t> al </a:t>
            </a:r>
            <a:r>
              <a:rPr lang="en-US" err="1"/>
              <a:t>formato</a:t>
            </a:r>
            <a:r>
              <a:rPr lang="en-US"/>
              <a:t>. </a:t>
            </a:r>
            <a:br>
              <a:rPr lang="en-US"/>
            </a:br>
            <a:r>
              <a:rPr lang="en-US"/>
              <a:t>Y </a:t>
            </a:r>
            <a:r>
              <a:rPr lang="en-US" err="1"/>
              <a:t>poner</a:t>
            </a:r>
            <a:r>
              <a:rPr lang="en-US"/>
              <a:t> un </a:t>
            </a:r>
            <a:r>
              <a:rPr lang="en-US" err="1"/>
              <a:t>comentario</a:t>
            </a:r>
            <a:r>
              <a:rPr lang="en-US"/>
              <a:t> de  </a:t>
            </a:r>
            <a:r>
              <a:rPr lang="en-US" err="1"/>
              <a:t>por</a:t>
            </a:r>
            <a:r>
              <a:rPr lang="en-US"/>
              <a:t> </a:t>
            </a:r>
            <a:r>
              <a:rPr lang="en-US" err="1"/>
              <a:t>que</a:t>
            </a:r>
            <a:r>
              <a:rPr lang="en-US"/>
              <a:t> </a:t>
            </a:r>
            <a:r>
              <a:rPr lang="en-US" err="1"/>
              <a:t>los</a:t>
            </a:r>
            <a:r>
              <a:rPr lang="en-US"/>
              <a:t> pasos del 2 al 5 </a:t>
            </a:r>
            <a:r>
              <a:rPr lang="en-US" err="1"/>
              <a:t>estan</a:t>
            </a:r>
            <a:r>
              <a:rPr lang="en-US"/>
              <a:t> </a:t>
            </a:r>
            <a:r>
              <a:rPr lang="en-US" err="1"/>
              <a:t>detras</a:t>
            </a:r>
            <a:r>
              <a:rPr lang="en-US"/>
              <a:t> y es </a:t>
            </a:r>
            <a:r>
              <a:rPr lang="en-US" err="1"/>
              <a:t>por</a:t>
            </a:r>
            <a:r>
              <a:rPr lang="en-US"/>
              <a:t> </a:t>
            </a:r>
            <a:r>
              <a:rPr lang="en-US" err="1"/>
              <a:t>que</a:t>
            </a:r>
            <a:r>
              <a:rPr lang="en-US"/>
              <a:t> </a:t>
            </a:r>
            <a:r>
              <a:rPr lang="en-US" err="1"/>
              <a:t>estan</a:t>
            </a:r>
            <a:r>
              <a:rPr lang="en-US"/>
              <a:t> fuera del </a:t>
            </a:r>
            <a:r>
              <a:rPr lang="en-US" err="1"/>
              <a:t>alcance</a:t>
            </a:r>
            <a:r>
              <a:rPr lang="en-US"/>
              <a:t> de </a:t>
            </a:r>
            <a:r>
              <a:rPr lang="en-US" err="1"/>
              <a:t>este</a:t>
            </a:r>
            <a:r>
              <a:rPr lang="en-US"/>
              <a:t> </a:t>
            </a:r>
            <a:r>
              <a:rPr lang="en-US" err="1"/>
              <a:t>documento</a:t>
            </a:r>
            <a:r>
              <a:rPr lang="en-US"/>
              <a:t>.</a:t>
            </a:r>
          </a:p>
        </p:txBody>
      </p:sp>
      <p:sp>
        <p:nvSpPr>
          <p:cNvPr id="4" name="Slide Number Placeholder 3">
            <a:extLst>
              <a:ext uri="{FF2B5EF4-FFF2-40B4-BE49-F238E27FC236}">
                <a16:creationId xmlns:a16="http://schemas.microsoft.com/office/drawing/2014/main" id="{BFCF3F73-CEA7-537B-0955-154787286D8F}"/>
              </a:ext>
            </a:extLst>
          </p:cNvPr>
          <p:cNvSpPr>
            <a:spLocks noGrp="1"/>
          </p:cNvSpPr>
          <p:nvPr>
            <p:ph type="sldNum" sz="quarter" idx="5"/>
          </p:nvPr>
        </p:nvSpPr>
        <p:spPr/>
        <p:txBody>
          <a:bodyPr/>
          <a:lstStyle/>
          <a:p>
            <a:fld id="{F5EA62C3-F454-4F5D-AAB0-802A83F207C1}" type="slidenum">
              <a:rPr lang="en-US" smtClean="0"/>
              <a:t>19</a:t>
            </a:fld>
            <a:endParaRPr lang="en-US"/>
          </a:p>
        </p:txBody>
      </p:sp>
    </p:spTree>
    <p:extLst>
      <p:ext uri="{BB962C8B-B14F-4D97-AF65-F5344CB8AC3E}">
        <p14:creationId xmlns:p14="http://schemas.microsoft.com/office/powerpoint/2010/main" val="2737499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3E38-F7F2-3286-45DE-E952C2C8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85DA1-771D-BCA9-2156-7CE0A6B6743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43CAD4-A4A4-6142-2C0E-3845343F9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B2963-5420-7FFB-EABE-14FD296B6465}"/>
              </a:ext>
            </a:extLst>
          </p:cNvPr>
          <p:cNvSpPr>
            <a:spLocks noGrp="1"/>
          </p:cNvSpPr>
          <p:nvPr>
            <p:ph type="sldNum" sz="quarter" idx="5"/>
          </p:nvPr>
        </p:nvSpPr>
        <p:spPr/>
        <p:txBody>
          <a:bodyPr/>
          <a:lstStyle/>
          <a:p>
            <a:fld id="{F5EA62C3-F454-4F5D-AAB0-802A83F207C1}" type="slidenum">
              <a:rPr lang="en-US" smtClean="0"/>
              <a:t>20</a:t>
            </a:fld>
            <a:endParaRPr lang="en-US"/>
          </a:p>
        </p:txBody>
      </p:sp>
    </p:spTree>
    <p:extLst>
      <p:ext uri="{BB962C8B-B14F-4D97-AF65-F5344CB8AC3E}">
        <p14:creationId xmlns:p14="http://schemas.microsoft.com/office/powerpoint/2010/main" val="699983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E0D91-70A6-01C9-DB0A-861662451F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01CE59-440B-808B-E060-83CCC743C22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2F1ADE-4F82-7099-D831-7392D36B6CE2}"/>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CF6369F2-C1A9-3092-B861-C733C430CC16}"/>
              </a:ext>
            </a:extLst>
          </p:cNvPr>
          <p:cNvSpPr>
            <a:spLocks noGrp="1"/>
          </p:cNvSpPr>
          <p:nvPr>
            <p:ph type="sldNum" sz="quarter" idx="5"/>
          </p:nvPr>
        </p:nvSpPr>
        <p:spPr/>
        <p:txBody>
          <a:bodyPr/>
          <a:lstStyle/>
          <a:p>
            <a:fld id="{3ABF52DC-EC59-4DE1-BAC7-23B3848E6B8A}" type="slidenum">
              <a:rPr lang="en-US" smtClean="0"/>
              <a:pPr/>
              <a:t>21</a:t>
            </a:fld>
            <a:endParaRPr lang="en-US"/>
          </a:p>
        </p:txBody>
      </p:sp>
    </p:spTree>
    <p:extLst>
      <p:ext uri="{BB962C8B-B14F-4D97-AF65-F5344CB8AC3E}">
        <p14:creationId xmlns:p14="http://schemas.microsoft.com/office/powerpoint/2010/main" val="1380100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6597-9CDC-F6DA-9ECF-1926A100E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5B6DD-9736-E45B-DD99-1F5C8392B2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3E0C7E-B5B0-D81F-595E-BD5180657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0B8A5-7560-A74E-D2A7-6F2596E5B858}"/>
              </a:ext>
            </a:extLst>
          </p:cNvPr>
          <p:cNvSpPr>
            <a:spLocks noGrp="1"/>
          </p:cNvSpPr>
          <p:nvPr>
            <p:ph type="sldNum" sz="quarter" idx="5"/>
          </p:nvPr>
        </p:nvSpPr>
        <p:spPr/>
        <p:txBody>
          <a:bodyPr/>
          <a:lstStyle/>
          <a:p>
            <a:fld id="{F5EA62C3-F454-4F5D-AAB0-802A83F207C1}" type="slidenum">
              <a:rPr lang="en-US" smtClean="0"/>
              <a:t>22</a:t>
            </a:fld>
            <a:endParaRPr lang="en-US"/>
          </a:p>
        </p:txBody>
      </p:sp>
    </p:spTree>
    <p:extLst>
      <p:ext uri="{BB962C8B-B14F-4D97-AF65-F5344CB8AC3E}">
        <p14:creationId xmlns:p14="http://schemas.microsoft.com/office/powerpoint/2010/main" val="1899542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70609-B3C9-E3B9-5BC7-6F7458FD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231-BCD8-1ED7-0D74-B9C10F41AB2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C7CC1DD-1A6C-B9A9-433E-EED872830BEE}"/>
              </a:ext>
            </a:extLst>
          </p:cNvPr>
          <p:cNvSpPr>
            <a:spLocks noGrp="1"/>
          </p:cNvSpPr>
          <p:nvPr>
            <p:ph type="body" idx="1"/>
          </p:nvPr>
        </p:nvSpPr>
        <p:spPr/>
        <p:txBody>
          <a:bodyPr/>
          <a:lstStyle/>
          <a:p>
            <a:r>
              <a:rPr lang="en-US" err="1"/>
              <a:t>Explicar</a:t>
            </a:r>
            <a:r>
              <a:rPr lang="en-US"/>
              <a:t> la base del </a:t>
            </a:r>
            <a:r>
              <a:rPr lang="en-US" err="1"/>
              <a:t>ciclo</a:t>
            </a:r>
            <a:r>
              <a:rPr lang="en-US"/>
              <a:t> de </a:t>
            </a:r>
            <a:r>
              <a:rPr lang="en-US" err="1"/>
              <a:t>vida</a:t>
            </a:r>
            <a:r>
              <a:rPr lang="en-US"/>
              <a:t> y </a:t>
            </a:r>
            <a:r>
              <a:rPr lang="en-US" err="1"/>
              <a:t>los</a:t>
            </a:r>
            <a:r>
              <a:rPr lang="en-US"/>
              <a:t> </a:t>
            </a:r>
            <a:r>
              <a:rPr lang="en-US" err="1"/>
              <a:t>niveles</a:t>
            </a:r>
            <a:r>
              <a:rPr lang="en-US"/>
              <a:t> de </a:t>
            </a:r>
            <a:r>
              <a:rPr lang="en-US" err="1"/>
              <a:t>madures</a:t>
            </a:r>
            <a:r>
              <a:rPr lang="en-US"/>
              <a:t>.</a:t>
            </a:r>
            <a:br>
              <a:rPr lang="en-US"/>
            </a:br>
            <a:r>
              <a:rPr lang="en-US"/>
              <a:t>*Validar </a:t>
            </a:r>
            <a:r>
              <a:rPr lang="en-US" err="1"/>
              <a:t>transversalmente</a:t>
            </a:r>
            <a:r>
              <a:rPr lang="en-US"/>
              <a:t> </a:t>
            </a:r>
            <a:r>
              <a:rPr lang="en-US" err="1"/>
              <a:t>que</a:t>
            </a:r>
            <a:r>
              <a:rPr lang="en-US"/>
              <a:t> </a:t>
            </a:r>
            <a:r>
              <a:rPr lang="en-US" err="1"/>
              <a:t>los</a:t>
            </a:r>
            <a:r>
              <a:rPr lang="en-US"/>
              <a:t> </a:t>
            </a:r>
            <a:r>
              <a:rPr lang="en-US" err="1"/>
              <a:t>niveles</a:t>
            </a:r>
            <a:r>
              <a:rPr lang="en-US"/>
              <a:t> de </a:t>
            </a:r>
            <a:r>
              <a:rPr lang="en-US" err="1"/>
              <a:t>madures</a:t>
            </a:r>
            <a:r>
              <a:rPr lang="en-US"/>
              <a:t> </a:t>
            </a:r>
            <a:r>
              <a:rPr lang="en-US" err="1"/>
              <a:t>esten</a:t>
            </a:r>
            <a:r>
              <a:rPr lang="en-US"/>
              <a:t> </a:t>
            </a:r>
            <a:r>
              <a:rPr lang="en-US" err="1"/>
              <a:t>estandarizados</a:t>
            </a:r>
            <a:r>
              <a:rPr lang="en-US"/>
              <a:t> para </a:t>
            </a:r>
            <a:r>
              <a:rPr lang="en-US" err="1"/>
              <a:t>toda</a:t>
            </a:r>
            <a:r>
              <a:rPr lang="en-US"/>
              <a:t> la lamina</a:t>
            </a:r>
          </a:p>
        </p:txBody>
      </p:sp>
      <p:sp>
        <p:nvSpPr>
          <p:cNvPr id="4" name="Slide Number Placeholder 3">
            <a:extLst>
              <a:ext uri="{FF2B5EF4-FFF2-40B4-BE49-F238E27FC236}">
                <a16:creationId xmlns:a16="http://schemas.microsoft.com/office/drawing/2014/main" id="{E63156C4-CAB0-1453-8432-178449142280}"/>
              </a:ext>
            </a:extLst>
          </p:cNvPr>
          <p:cNvSpPr>
            <a:spLocks noGrp="1"/>
          </p:cNvSpPr>
          <p:nvPr>
            <p:ph type="sldNum" sz="quarter" idx="5"/>
          </p:nvPr>
        </p:nvSpPr>
        <p:spPr/>
        <p:txBody>
          <a:bodyPr/>
          <a:lstStyle/>
          <a:p>
            <a:fld id="{F5EA62C3-F454-4F5D-AAB0-802A83F207C1}" type="slidenum">
              <a:rPr lang="en-US" smtClean="0"/>
              <a:t>23</a:t>
            </a:fld>
            <a:endParaRPr lang="en-US"/>
          </a:p>
        </p:txBody>
      </p:sp>
    </p:spTree>
    <p:extLst>
      <p:ext uri="{BB962C8B-B14F-4D97-AF65-F5344CB8AC3E}">
        <p14:creationId xmlns:p14="http://schemas.microsoft.com/office/powerpoint/2010/main" val="2055732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CFC2F-1037-8377-A445-DF27580E2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38AD7-78F4-768F-6FDA-9E8B45FE9F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E2F32CE-5B3C-3007-3300-557B2FECE0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10C385-E4DE-59F2-5EA3-AF11C4C1D4B0}"/>
              </a:ext>
            </a:extLst>
          </p:cNvPr>
          <p:cNvSpPr>
            <a:spLocks noGrp="1"/>
          </p:cNvSpPr>
          <p:nvPr>
            <p:ph type="sldNum" sz="quarter" idx="5"/>
          </p:nvPr>
        </p:nvSpPr>
        <p:spPr/>
        <p:txBody>
          <a:bodyPr/>
          <a:lstStyle/>
          <a:p>
            <a:fld id="{F5EA62C3-F454-4F5D-AAB0-802A83F207C1}" type="slidenum">
              <a:rPr lang="en-US" smtClean="0"/>
              <a:t>24</a:t>
            </a:fld>
            <a:endParaRPr lang="en-US"/>
          </a:p>
        </p:txBody>
      </p:sp>
    </p:spTree>
    <p:extLst>
      <p:ext uri="{BB962C8B-B14F-4D97-AF65-F5344CB8AC3E}">
        <p14:creationId xmlns:p14="http://schemas.microsoft.com/office/powerpoint/2010/main" val="2708989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7FB0-93F7-CDE7-78D2-DA421AD95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EFF1-3331-5BBA-12EB-4587524F8E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6D6CCE9-54F6-62C5-C33D-5DA47852A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7E29F-AF6B-96AB-F3FD-D711DDE1D200}"/>
              </a:ext>
            </a:extLst>
          </p:cNvPr>
          <p:cNvSpPr>
            <a:spLocks noGrp="1"/>
          </p:cNvSpPr>
          <p:nvPr>
            <p:ph type="sldNum" sz="quarter" idx="5"/>
          </p:nvPr>
        </p:nvSpPr>
        <p:spPr/>
        <p:txBody>
          <a:bodyPr/>
          <a:lstStyle/>
          <a:p>
            <a:fld id="{F5EA62C3-F454-4F5D-AAB0-802A83F207C1}" type="slidenum">
              <a:rPr lang="en-US" smtClean="0"/>
              <a:t>26</a:t>
            </a:fld>
            <a:endParaRPr lang="en-US"/>
          </a:p>
        </p:txBody>
      </p:sp>
    </p:spTree>
    <p:extLst>
      <p:ext uri="{BB962C8B-B14F-4D97-AF65-F5344CB8AC3E}">
        <p14:creationId xmlns:p14="http://schemas.microsoft.com/office/powerpoint/2010/main" val="625683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445ED-30BD-C10D-F0A2-596657099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2AD7D-8847-F169-902D-D43E6BE3839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354243B-C9FE-37B6-1AE0-5717740941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271B05-6A32-7424-4BF2-D0FC49B2452F}"/>
              </a:ext>
            </a:extLst>
          </p:cNvPr>
          <p:cNvSpPr>
            <a:spLocks noGrp="1"/>
          </p:cNvSpPr>
          <p:nvPr>
            <p:ph type="sldNum" sz="quarter" idx="5"/>
          </p:nvPr>
        </p:nvSpPr>
        <p:spPr/>
        <p:txBody>
          <a:bodyPr/>
          <a:lstStyle/>
          <a:p>
            <a:fld id="{F5EA62C3-F454-4F5D-AAB0-802A83F207C1}" type="slidenum">
              <a:rPr lang="en-US" smtClean="0"/>
              <a:t>27</a:t>
            </a:fld>
            <a:endParaRPr lang="en-US"/>
          </a:p>
        </p:txBody>
      </p:sp>
    </p:spTree>
    <p:extLst>
      <p:ext uri="{BB962C8B-B14F-4D97-AF65-F5344CB8AC3E}">
        <p14:creationId xmlns:p14="http://schemas.microsoft.com/office/powerpoint/2010/main" val="8637482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A8AE-2FFB-C9A1-A989-56DE6196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2BA5A-DA2B-C894-CBCB-5D08CB55B5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D651ADF-F1A4-6F16-08AB-7A9443B0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919E09-B3E9-57BF-14F9-E6E196389A20}"/>
              </a:ext>
            </a:extLst>
          </p:cNvPr>
          <p:cNvSpPr>
            <a:spLocks noGrp="1"/>
          </p:cNvSpPr>
          <p:nvPr>
            <p:ph type="sldNum" sz="quarter" idx="5"/>
          </p:nvPr>
        </p:nvSpPr>
        <p:spPr/>
        <p:txBody>
          <a:bodyPr/>
          <a:lstStyle/>
          <a:p>
            <a:fld id="{F5EA62C3-F454-4F5D-AAB0-802A83F207C1}" type="slidenum">
              <a:rPr lang="en-US" smtClean="0"/>
              <a:t>29</a:t>
            </a:fld>
            <a:endParaRPr lang="en-US"/>
          </a:p>
        </p:txBody>
      </p:sp>
    </p:spTree>
    <p:extLst>
      <p:ext uri="{BB962C8B-B14F-4D97-AF65-F5344CB8AC3E}">
        <p14:creationId xmlns:p14="http://schemas.microsoft.com/office/powerpoint/2010/main" val="1750809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CAF0-F13B-1815-0211-266F7821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E86F9-19FE-683A-1D36-25911FE9397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30D374-8624-203B-651D-5EB01E3C7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22B88-0741-D4E1-F6D7-6526656A73E1}"/>
              </a:ext>
            </a:extLst>
          </p:cNvPr>
          <p:cNvSpPr>
            <a:spLocks noGrp="1"/>
          </p:cNvSpPr>
          <p:nvPr>
            <p:ph type="sldNum" sz="quarter" idx="5"/>
          </p:nvPr>
        </p:nvSpPr>
        <p:spPr/>
        <p:txBody>
          <a:bodyPr/>
          <a:lstStyle/>
          <a:p>
            <a:fld id="{F5EA62C3-F454-4F5D-AAB0-802A83F207C1}" type="slidenum">
              <a:rPr lang="en-US" smtClean="0"/>
              <a:t>30</a:t>
            </a:fld>
            <a:endParaRPr lang="en-US"/>
          </a:p>
        </p:txBody>
      </p:sp>
    </p:spTree>
    <p:extLst>
      <p:ext uri="{BB962C8B-B14F-4D97-AF65-F5344CB8AC3E}">
        <p14:creationId xmlns:p14="http://schemas.microsoft.com/office/powerpoint/2010/main" val="717264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F244-7CD1-FE3D-33AB-12DA1A11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0C605-E225-608E-1D44-6C3CA66E6A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C758D9-FF5E-DC2D-2ABE-75E4CFCD61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C5C42-1E21-7A4F-2EE6-B570E56E0459}"/>
              </a:ext>
            </a:extLst>
          </p:cNvPr>
          <p:cNvSpPr>
            <a:spLocks noGrp="1"/>
          </p:cNvSpPr>
          <p:nvPr>
            <p:ph type="sldNum" sz="quarter" idx="5"/>
          </p:nvPr>
        </p:nvSpPr>
        <p:spPr/>
        <p:txBody>
          <a:bodyPr/>
          <a:lstStyle/>
          <a:p>
            <a:fld id="{F5EA62C3-F454-4F5D-AAB0-802A83F207C1}" type="slidenum">
              <a:rPr lang="en-US" smtClean="0"/>
              <a:t>31</a:t>
            </a:fld>
            <a:endParaRPr lang="en-US"/>
          </a:p>
        </p:txBody>
      </p:sp>
    </p:spTree>
    <p:extLst>
      <p:ext uri="{BB962C8B-B14F-4D97-AF65-F5344CB8AC3E}">
        <p14:creationId xmlns:p14="http://schemas.microsoft.com/office/powerpoint/2010/main" val="1541682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B3D8-D91E-3977-E2BD-C4735852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4112A-4FBE-605A-B8F2-3E8C59DA0D1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5DD39E9-4D96-78A7-6784-40B4AD2088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FE1B29-B3EF-4BFE-3EA9-024390626378}"/>
              </a:ext>
            </a:extLst>
          </p:cNvPr>
          <p:cNvSpPr>
            <a:spLocks noGrp="1"/>
          </p:cNvSpPr>
          <p:nvPr>
            <p:ph type="sldNum" sz="quarter" idx="5"/>
          </p:nvPr>
        </p:nvSpPr>
        <p:spPr/>
        <p:txBody>
          <a:bodyPr/>
          <a:lstStyle/>
          <a:p>
            <a:fld id="{F5EA62C3-F454-4F5D-AAB0-802A83F207C1}" type="slidenum">
              <a:rPr lang="en-US" smtClean="0"/>
              <a:t>32</a:t>
            </a:fld>
            <a:endParaRPr lang="en-US"/>
          </a:p>
        </p:txBody>
      </p:sp>
    </p:spTree>
    <p:extLst>
      <p:ext uri="{BB962C8B-B14F-4D97-AF65-F5344CB8AC3E}">
        <p14:creationId xmlns:p14="http://schemas.microsoft.com/office/powerpoint/2010/main" val="3070144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7058-A32E-53C5-D936-3048FC901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CF1C-84D7-18E2-A161-F90F6F4EB9A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BC2F8A4-1EB6-1075-A220-5D89C0D53F75}"/>
              </a:ext>
            </a:extLst>
          </p:cNvPr>
          <p:cNvSpPr>
            <a:spLocks noGrp="1"/>
          </p:cNvSpPr>
          <p:nvPr>
            <p:ph type="body" idx="1"/>
          </p:nvPr>
        </p:nvSpPr>
        <p:spPr/>
        <p:txBody>
          <a:bodyPr/>
          <a:lstStyle/>
          <a:p>
            <a:r>
              <a:rPr lang="en-US"/>
              <a:t>*Poner Tambien lo </a:t>
            </a:r>
            <a:r>
              <a:rPr lang="en-US" err="1"/>
              <a:t>externo</a:t>
            </a:r>
            <a:r>
              <a:rPr lang="en-US"/>
              <a:t> (</a:t>
            </a:r>
            <a:r>
              <a:rPr lang="en-US" err="1"/>
              <a:t>Proveedores</a:t>
            </a:r>
            <a:r>
              <a:rPr lang="en-US"/>
              <a:t>, </a:t>
            </a:r>
            <a:r>
              <a:rPr lang="en-US" err="1"/>
              <a:t>etc</a:t>
            </a:r>
            <a:r>
              <a:rPr lang="en-US"/>
              <a:t>)</a:t>
            </a:r>
          </a:p>
          <a:p>
            <a:endParaRPr lang="en-US"/>
          </a:p>
        </p:txBody>
      </p:sp>
      <p:sp>
        <p:nvSpPr>
          <p:cNvPr id="4" name="Slide Number Placeholder 3">
            <a:extLst>
              <a:ext uri="{FF2B5EF4-FFF2-40B4-BE49-F238E27FC236}">
                <a16:creationId xmlns:a16="http://schemas.microsoft.com/office/drawing/2014/main" id="{EB74BD6D-CE53-8FD9-94F9-0F0E17715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569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F6643-2713-9DBE-DF3E-7D974CA5A1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7578B6-0D7B-AA08-3628-F89A6474D1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41A979-8CE5-CC50-20CC-4823D7D47D83}"/>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523914F-EBF8-97D1-B129-0A8C0EACEBCA}"/>
              </a:ext>
            </a:extLst>
          </p:cNvPr>
          <p:cNvSpPr>
            <a:spLocks noGrp="1"/>
          </p:cNvSpPr>
          <p:nvPr>
            <p:ph type="sldNum" sz="quarter" idx="5"/>
          </p:nvPr>
        </p:nvSpPr>
        <p:spPr/>
        <p:txBody>
          <a:bodyPr/>
          <a:lstStyle/>
          <a:p>
            <a:fld id="{3ABF52DC-EC59-4DE1-BAC7-23B3848E6B8A}" type="slidenum">
              <a:rPr lang="en-US" smtClean="0"/>
              <a:pPr/>
              <a:t>35</a:t>
            </a:fld>
            <a:endParaRPr lang="en-US"/>
          </a:p>
        </p:txBody>
      </p:sp>
    </p:spTree>
    <p:extLst>
      <p:ext uri="{BB962C8B-B14F-4D97-AF65-F5344CB8AC3E}">
        <p14:creationId xmlns:p14="http://schemas.microsoft.com/office/powerpoint/2010/main" val="2714189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116EF-94F0-4B6F-4639-505467A668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E21B1-C7A0-9FE8-B685-0649ABCA25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1BF7917-D63D-32B3-4267-7AEBD51452EF}"/>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0E6EED33-D0C9-CA94-8BB6-701639CB7187}"/>
              </a:ext>
            </a:extLst>
          </p:cNvPr>
          <p:cNvSpPr>
            <a:spLocks noGrp="1"/>
          </p:cNvSpPr>
          <p:nvPr>
            <p:ph type="sldNum" sz="quarter" idx="5"/>
          </p:nvPr>
        </p:nvSpPr>
        <p:spPr/>
        <p:txBody>
          <a:bodyPr/>
          <a:lstStyle/>
          <a:p>
            <a:fld id="{3ABF52DC-EC59-4DE1-BAC7-23B3848E6B8A}" type="slidenum">
              <a:rPr lang="en-US" smtClean="0"/>
              <a:pPr/>
              <a:t>37</a:t>
            </a:fld>
            <a:endParaRPr lang="en-US"/>
          </a:p>
        </p:txBody>
      </p:sp>
    </p:spTree>
    <p:extLst>
      <p:ext uri="{BB962C8B-B14F-4D97-AF65-F5344CB8AC3E}">
        <p14:creationId xmlns:p14="http://schemas.microsoft.com/office/powerpoint/2010/main" val="27760393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*Modelo Hibrido: Modelo de referencia. </a:t>
            </a:r>
            <a:br>
              <a:rPr lang="es-MX"/>
            </a:br>
            <a:r>
              <a:rPr lang="es-MX"/>
              <a:t>*Agregar el timeline. En el executive </a:t>
            </a:r>
            <a:r>
              <a:rPr lang="es-MX" err="1"/>
              <a:t>summary</a:t>
            </a:r>
            <a:r>
              <a:rPr lang="es-MX"/>
              <a:t>.</a:t>
            </a:r>
            <a:br>
              <a:rPr lang="es-MX"/>
            </a:br>
            <a:r>
              <a:rPr lang="es-MX"/>
              <a:t>*Dani nos ayuda en la </a:t>
            </a:r>
            <a:r>
              <a:rPr lang="es-MX" err="1"/>
              <a:t>press</a:t>
            </a:r>
            <a:r>
              <a:rPr lang="es-MX"/>
              <a:t> hay que meterlo en las </a:t>
            </a:r>
            <a:r>
              <a:rPr lang="es-MX" err="1"/>
              <a:t>Dailies</a:t>
            </a:r>
            <a:r>
              <a:rPr lang="es-MX"/>
              <a:t>.</a:t>
            </a:r>
            <a:br>
              <a:rPr lang="es-MX"/>
            </a:br>
            <a:br>
              <a:rPr lang="es-MX"/>
            </a:br>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44</a:t>
            </a:fld>
            <a:endParaRPr lang="en-US"/>
          </a:p>
        </p:txBody>
      </p:sp>
    </p:spTree>
    <p:extLst>
      <p:ext uri="{BB962C8B-B14F-4D97-AF65-F5344CB8AC3E}">
        <p14:creationId xmlns:p14="http://schemas.microsoft.com/office/powerpoint/2010/main" val="2673921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22/04/2026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2458232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8918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059966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ver">
    <p:bg>
      <p:bgRef idx="1001">
        <a:schemeClr val="bg1"/>
      </p:bgRef>
    </p:bg>
    <p:spTree>
      <p:nvGrpSpPr>
        <p:cNvPr id="1" name=""/>
        <p:cNvGrpSpPr/>
        <p:nvPr/>
      </p:nvGrpSpPr>
      <p:grpSpPr>
        <a:xfrm>
          <a:off x="0" y="0"/>
          <a:ext cx="0" cy="0"/>
          <a:chOff x="0" y="0"/>
          <a:chExt cx="0" cy="0"/>
        </a:xfrm>
      </p:grpSpPr>
      <p:sp>
        <p:nvSpPr>
          <p:cNvPr id="4" name="Marcador de texto 12">
            <a:extLst>
              <a:ext uri="{FF2B5EF4-FFF2-40B4-BE49-F238E27FC236}">
                <a16:creationId xmlns:a16="http://schemas.microsoft.com/office/drawing/2014/main" id="{02C6E78E-94C2-B86A-43B0-C98F58009059}"/>
              </a:ext>
            </a:extLst>
          </p:cNvPr>
          <p:cNvSpPr>
            <a:spLocks noGrp="1"/>
          </p:cNvSpPr>
          <p:nvPr>
            <p:ph type="body" sz="quarter" idx="10" hasCustomPrompt="1"/>
          </p:nvPr>
        </p:nvSpPr>
        <p:spPr>
          <a:xfrm>
            <a:off x="3719512" y="1527134"/>
            <a:ext cx="8066088" cy="443328"/>
          </a:xfrm>
          <a:prstGeom prst="rect">
            <a:avLst/>
          </a:prstGeom>
        </p:spPr>
        <p:txBody>
          <a:bodyPr lIns="0" anchor="b" anchorCtr="0"/>
          <a:lstStyle>
            <a:lvl1pPr marL="0" indent="0">
              <a:lnSpc>
                <a:spcPct val="100000"/>
              </a:lnSpc>
              <a:spcBef>
                <a:spcPts val="0"/>
              </a:spcBef>
              <a:buNone/>
              <a:defRPr sz="2000" b="0" i="0">
                <a:solidFill>
                  <a:schemeClr val="tx1">
                    <a:lumMod val="60000"/>
                    <a:lumOff val="40000"/>
                  </a:schemeClr>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s-ES"/>
              <a:t>Presentation subtitle</a:t>
            </a:r>
          </a:p>
        </p:txBody>
      </p:sp>
      <p:sp>
        <p:nvSpPr>
          <p:cNvPr id="2" name="Título 14">
            <a:extLst>
              <a:ext uri="{FF2B5EF4-FFF2-40B4-BE49-F238E27FC236}">
                <a16:creationId xmlns:a16="http://schemas.microsoft.com/office/drawing/2014/main" id="{EE43D0D4-53D9-E48B-97B4-161635A2CFA7}"/>
              </a:ext>
            </a:extLst>
          </p:cNvPr>
          <p:cNvSpPr>
            <a:spLocks noGrp="1"/>
          </p:cNvSpPr>
          <p:nvPr>
            <p:ph type="title" hasCustomPrompt="1"/>
          </p:nvPr>
        </p:nvSpPr>
        <p:spPr>
          <a:xfrm>
            <a:off x="3719513" y="2730572"/>
            <a:ext cx="8066087" cy="909841"/>
          </a:xfrm>
          <a:prstGeom prst="rect">
            <a:avLst/>
          </a:prstGeom>
        </p:spPr>
        <p:txBody>
          <a:bodyPr lIns="0" anchor="t">
            <a:noAutofit/>
          </a:bodyPr>
          <a:lstStyle>
            <a:lvl1pPr>
              <a:lnSpc>
                <a:spcPct val="80000"/>
              </a:lnSpc>
              <a:defRPr sz="4400" b="1" i="0" spc="-150">
                <a:solidFill>
                  <a:schemeClr val="accent1"/>
                </a:solidFill>
                <a:latin typeface="+mj-lt"/>
                <a:ea typeface="IberPangea Text" panose="020B0404000000000000" pitchFamily="34" charset="0"/>
                <a:cs typeface="IberPangea Text" panose="020B0404000000000000" pitchFamily="34" charset="0"/>
              </a:defRPr>
            </a:lvl1pPr>
          </a:lstStyle>
          <a:p>
            <a:r>
              <a:rPr lang="es-ES"/>
              <a:t>Presentation </a:t>
            </a:r>
            <a:r>
              <a:rPr lang="es-ES" err="1"/>
              <a:t>Title</a:t>
            </a:r>
            <a:endParaRPr lang="es-ES"/>
          </a:p>
        </p:txBody>
      </p:sp>
      <p:cxnSp>
        <p:nvCxnSpPr>
          <p:cNvPr id="22" name="Conector recto 17">
            <a:extLst>
              <a:ext uri="{FF2B5EF4-FFF2-40B4-BE49-F238E27FC236}">
                <a16:creationId xmlns:a16="http://schemas.microsoft.com/office/drawing/2014/main" id="{E6BFB2A2-D551-503C-6002-FDD2DD5E20A0}"/>
              </a:ext>
            </a:extLst>
          </p:cNvPr>
          <p:cNvCxnSpPr>
            <a:cxnSpLocks/>
          </p:cNvCxnSpPr>
          <p:nvPr/>
        </p:nvCxnSpPr>
        <p:spPr>
          <a:xfrm>
            <a:off x="395847" y="2312570"/>
            <a:ext cx="1138893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Gráfico 2">
            <a:extLst>
              <a:ext uri="{FF2B5EF4-FFF2-40B4-BE49-F238E27FC236}">
                <a16:creationId xmlns:a16="http://schemas.microsoft.com/office/drawing/2014/main" id="{D7A58FAF-2A85-4439-D987-87A26EAC372B}"/>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256343" y="1402510"/>
            <a:ext cx="3257824" cy="750695"/>
          </a:xfrm>
          <a:prstGeom prst="rect">
            <a:avLst/>
          </a:prstGeom>
        </p:spPr>
      </p:pic>
    </p:spTree>
    <p:extLst>
      <p:ext uri="{BB962C8B-B14F-4D97-AF65-F5344CB8AC3E}">
        <p14:creationId xmlns:p14="http://schemas.microsoft.com/office/powerpoint/2010/main" val="65317594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22/04/2026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87424469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Green">
    <p:bg>
      <p:bgPr>
        <a:solidFill>
          <a:schemeClr val="accent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5A792B81-F3CB-42B6-4C44-02DD4B91D2F1}"/>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07FADB92-7184-0633-1361-C74F0B54DB66}"/>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01FC3207-CC84-D465-4921-ED4DF38B310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C20E5765-22A1-207D-F6C2-B0FAC3D374C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39180021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Divider Green">
    <p:bg>
      <p:bgPr>
        <a:solidFill>
          <a:schemeClr val="accent5"/>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27B614D0-9608-BAF4-A121-9EE0297FD782}"/>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4A01FDC8-402A-CF0C-317A-BBF89E7C6913}"/>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8BE9981B-089B-F65E-207A-E42AB73A5B76}"/>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98272DF2-4963-4767-F77D-AD9D18C4F0E7}"/>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3619730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ivider Green">
    <p:bg>
      <p:bgPr>
        <a:solidFill>
          <a:schemeClr val="accent5">
            <a:lumMod val="75000"/>
          </a:schemeClr>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355341" y="438865"/>
            <a:ext cx="9289413" cy="3016075"/>
          </a:xfrm>
          <a:prstGeom prst="rect">
            <a:avLst/>
          </a:prstGeom>
        </p:spPr>
        <p:txBody>
          <a:bodyPr lIns="0" anchor="t">
            <a:normAutofit/>
          </a:bodyPr>
          <a:lstStyle>
            <a:lvl1pPr>
              <a:lnSpc>
                <a:spcPct val="80000"/>
              </a:lnSpc>
              <a:defRPr sz="7000" b="1" i="0" spc="-150">
                <a:solidFill>
                  <a:schemeClr val="bg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3" name="TextBox 2">
            <a:extLst>
              <a:ext uri="{FF2B5EF4-FFF2-40B4-BE49-F238E27FC236}">
                <a16:creationId xmlns:a16="http://schemas.microsoft.com/office/drawing/2014/main" id="{10BB7A11-3EF6-0DC2-8445-70CAD5E94FC7}"/>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4" name="Grupo 3">
            <a:extLst>
              <a:ext uri="{FF2B5EF4-FFF2-40B4-BE49-F238E27FC236}">
                <a16:creationId xmlns:a16="http://schemas.microsoft.com/office/drawing/2014/main" id="{F6B9B181-D4CA-2A83-6EC9-032D02A44F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91FF17BF-DD64-310B-A2E8-BC57D86B1AF4}"/>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E1D418F4-1A0B-15E9-0FEF-C6C8DCF9171A}"/>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0F658400-AFEC-E739-A8A4-AB7B4A8C42D1}"/>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590804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
    <p:bg>
      <p:bgRef idx="1001">
        <a:schemeClr val="bg1"/>
      </p:bgRef>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E9E5E572-ACA6-848C-1471-C2088F7E0DC4}"/>
              </a:ext>
            </a:extLst>
          </p:cNvPr>
          <p:cNvSpPr>
            <a:spLocks noGrp="1"/>
          </p:cNvSpPr>
          <p:nvPr>
            <p:ph type="body" sz="quarter" idx="20" hasCustomPrompt="1"/>
          </p:nvPr>
        </p:nvSpPr>
        <p:spPr>
          <a:xfrm>
            <a:off x="356400" y="439200"/>
            <a:ext cx="9289413" cy="3016075"/>
          </a:xfrm>
          <a:prstGeom prst="rect">
            <a:avLst/>
          </a:prstGeom>
        </p:spPr>
        <p:txBody>
          <a:bodyPr lIns="0" anchor="t">
            <a:normAutofit/>
          </a:bodyPr>
          <a:lstStyle>
            <a:lvl1pPr>
              <a:lnSpc>
                <a:spcPct val="80000"/>
              </a:lnSpc>
              <a:defRPr sz="7000" b="1" i="0" spc="-150">
                <a:solidFill>
                  <a:schemeClr val="accent1"/>
                </a:solidFill>
                <a:latin typeface="+mj-lt"/>
                <a:ea typeface="IberPangea Text" panose="020B0404000000000000" pitchFamily="34" charset="0"/>
                <a:cs typeface="IberPangea Text" panose="020B0404000000000000" pitchFamily="34" charset="0"/>
              </a:defRPr>
            </a:lvl1pPr>
          </a:lstStyle>
          <a:p>
            <a:pPr lvl="0"/>
            <a:r>
              <a:rPr lang="en-US" noProof="0"/>
              <a:t>Divider title</a:t>
            </a:r>
          </a:p>
        </p:txBody>
      </p:sp>
      <p:sp>
        <p:nvSpPr>
          <p:cNvPr id="16" name="TextBox 15">
            <a:extLst>
              <a:ext uri="{FF2B5EF4-FFF2-40B4-BE49-F238E27FC236}">
                <a16:creationId xmlns:a16="http://schemas.microsoft.com/office/drawing/2014/main" id="{D4FFA5EA-9D96-A3B7-5DD4-A4D9BED659C6}"/>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17" name="Grupo 16">
            <a:extLst>
              <a:ext uri="{FF2B5EF4-FFF2-40B4-BE49-F238E27FC236}">
                <a16:creationId xmlns:a16="http://schemas.microsoft.com/office/drawing/2014/main" id="{024106F7-F3F5-322B-340A-A0B5B5B14FA0}"/>
              </a:ext>
            </a:extLst>
          </p:cNvPr>
          <p:cNvGrpSpPr/>
          <p:nvPr/>
        </p:nvGrpSpPr>
        <p:grpSpPr>
          <a:xfrm>
            <a:off x="11064803" y="243963"/>
            <a:ext cx="473773" cy="432461"/>
            <a:chOff x="5465909" y="2845257"/>
            <a:chExt cx="729516" cy="665904"/>
          </a:xfrm>
        </p:grpSpPr>
        <p:sp>
          <p:nvSpPr>
            <p:cNvPr id="18" name="Forma libre: forma 17">
              <a:extLst>
                <a:ext uri="{FF2B5EF4-FFF2-40B4-BE49-F238E27FC236}">
                  <a16:creationId xmlns:a16="http://schemas.microsoft.com/office/drawing/2014/main" id="{4D910D61-F022-6774-2592-7417D66FAB2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925907EA-B88B-F8B9-010F-94CA64A50B71}"/>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0BDF54D-155A-AB37-29BA-BA264F8705B7}"/>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45224028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ymbol">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ECADF309-5276-4BCA-840A-5331B411185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2574" y="2622552"/>
            <a:ext cx="1706063" cy="1612900"/>
          </a:xfrm>
          <a:prstGeom prst="rect">
            <a:avLst/>
          </a:prstGeom>
        </p:spPr>
      </p:pic>
    </p:spTree>
    <p:extLst>
      <p:ext uri="{BB962C8B-B14F-4D97-AF65-F5344CB8AC3E}">
        <p14:creationId xmlns:p14="http://schemas.microsoft.com/office/powerpoint/2010/main" val="2507223342"/>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Logo">
    <p:bg>
      <p:bgPr>
        <a:solidFill>
          <a:schemeClr val="bg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17C244DD-AAF1-8228-278E-6247B6BAA300}"/>
              </a:ext>
            </a:extLst>
          </p:cNvPr>
          <p:cNvGrpSpPr/>
          <p:nvPr/>
        </p:nvGrpSpPr>
        <p:grpSpPr>
          <a:xfrm>
            <a:off x="4496068" y="3036081"/>
            <a:ext cx="3199864" cy="1278273"/>
            <a:chOff x="10709665" y="301762"/>
            <a:chExt cx="1082567" cy="432461"/>
          </a:xfrm>
        </p:grpSpPr>
        <p:sp>
          <p:nvSpPr>
            <p:cNvPr id="16" name="Forma libre 163">
              <a:extLst>
                <a:ext uri="{FF2B5EF4-FFF2-40B4-BE49-F238E27FC236}">
                  <a16:creationId xmlns:a16="http://schemas.microsoft.com/office/drawing/2014/main" id="{79BDF630-4C31-EEC5-7782-76B85E36EAB9}"/>
                </a:ext>
              </a:extLst>
            </p:cNvPr>
            <p:cNvSpPr/>
            <p:nvPr/>
          </p:nvSpPr>
          <p:spPr>
            <a:xfrm>
              <a:off x="11039633" y="364114"/>
              <a:ext cx="132622" cy="141132"/>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solidFill>
              <a:srgbClr val="00A443"/>
            </a:solidFill>
            <a:ln w="4485" cap="flat">
              <a:noFill/>
              <a:prstDash val="solid"/>
              <a:miter/>
            </a:ln>
          </p:spPr>
          <p:txBody>
            <a:bodyPr rtlCol="0" anchor="ctr"/>
            <a:lstStyle/>
            <a:p>
              <a:endParaRPr lang="es-ES_tradnl"/>
            </a:p>
          </p:txBody>
        </p:sp>
        <p:sp>
          <p:nvSpPr>
            <p:cNvPr id="17" name="Forma libre 164">
              <a:extLst>
                <a:ext uri="{FF2B5EF4-FFF2-40B4-BE49-F238E27FC236}">
                  <a16:creationId xmlns:a16="http://schemas.microsoft.com/office/drawing/2014/main" id="{03EB5C4F-659A-EAF9-1A48-EC4793FB35BF}"/>
                </a:ext>
              </a:extLst>
            </p:cNvPr>
            <p:cNvSpPr/>
            <p:nvPr/>
          </p:nvSpPr>
          <p:spPr>
            <a:xfrm>
              <a:off x="11159160" y="402802"/>
              <a:ext cx="100548" cy="102625"/>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solidFill>
              <a:srgbClr val="00A443"/>
            </a:solidFill>
            <a:ln w="4485" cap="flat">
              <a:noFill/>
              <a:prstDash val="solid"/>
              <a:miter/>
            </a:ln>
          </p:spPr>
          <p:txBody>
            <a:bodyPr rtlCol="0" anchor="ctr"/>
            <a:lstStyle/>
            <a:p>
              <a:endParaRPr lang="es-ES_tradnl"/>
            </a:p>
          </p:txBody>
        </p:sp>
        <p:sp>
          <p:nvSpPr>
            <p:cNvPr id="18" name="Forma libre 165">
              <a:extLst>
                <a:ext uri="{FF2B5EF4-FFF2-40B4-BE49-F238E27FC236}">
                  <a16:creationId xmlns:a16="http://schemas.microsoft.com/office/drawing/2014/main" id="{4D3FC74B-62F1-EEE5-5210-1BF87ECF958F}"/>
                </a:ext>
              </a:extLst>
            </p:cNvPr>
            <p:cNvSpPr/>
            <p:nvPr/>
          </p:nvSpPr>
          <p:spPr>
            <a:xfrm>
              <a:off x="11260890" y="400806"/>
              <a:ext cx="90878" cy="10669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solidFill>
              <a:srgbClr val="00A443"/>
            </a:solidFill>
            <a:ln w="4485" cap="flat">
              <a:noFill/>
              <a:prstDash val="solid"/>
              <a:miter/>
            </a:ln>
          </p:spPr>
          <p:txBody>
            <a:bodyPr rtlCol="0" anchor="ctr"/>
            <a:lstStyle/>
            <a:p>
              <a:endParaRPr lang="es-ES_tradnl"/>
            </a:p>
          </p:txBody>
        </p:sp>
        <p:sp>
          <p:nvSpPr>
            <p:cNvPr id="19" name="Forma libre 166">
              <a:extLst>
                <a:ext uri="{FF2B5EF4-FFF2-40B4-BE49-F238E27FC236}">
                  <a16:creationId xmlns:a16="http://schemas.microsoft.com/office/drawing/2014/main" id="{0B75B6BD-A879-7358-397B-F220DC219E46}"/>
                </a:ext>
              </a:extLst>
            </p:cNvPr>
            <p:cNvSpPr/>
            <p:nvPr/>
          </p:nvSpPr>
          <p:spPr>
            <a:xfrm>
              <a:off x="11371157" y="400803"/>
              <a:ext cx="88040" cy="104474"/>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solidFill>
              <a:srgbClr val="00A443"/>
            </a:solidFill>
            <a:ln w="4485" cap="flat">
              <a:noFill/>
              <a:prstDash val="solid"/>
              <a:miter/>
            </a:ln>
          </p:spPr>
          <p:txBody>
            <a:bodyPr rtlCol="0" anchor="ctr"/>
            <a:lstStyle/>
            <a:p>
              <a:endParaRPr lang="es-ES_tradnl"/>
            </a:p>
          </p:txBody>
        </p:sp>
        <p:sp>
          <p:nvSpPr>
            <p:cNvPr id="20" name="Forma libre 167">
              <a:extLst>
                <a:ext uri="{FF2B5EF4-FFF2-40B4-BE49-F238E27FC236}">
                  <a16:creationId xmlns:a16="http://schemas.microsoft.com/office/drawing/2014/main" id="{A7FE316F-39DA-3077-2147-59CCE508BEF0}"/>
                </a:ext>
              </a:extLst>
            </p:cNvPr>
            <p:cNvSpPr/>
            <p:nvPr/>
          </p:nvSpPr>
          <p:spPr>
            <a:xfrm>
              <a:off x="11472902" y="400789"/>
              <a:ext cx="98722" cy="140357"/>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solidFill>
              <a:srgbClr val="00A443"/>
            </a:solidFill>
            <a:ln w="4485" cap="flat">
              <a:noFill/>
              <a:prstDash val="solid"/>
              <a:miter/>
            </a:ln>
          </p:spPr>
          <p:txBody>
            <a:bodyPr rtlCol="0" anchor="ctr"/>
            <a:lstStyle/>
            <a:p>
              <a:endParaRPr lang="es-ES_tradnl"/>
            </a:p>
          </p:txBody>
        </p:sp>
        <p:sp>
          <p:nvSpPr>
            <p:cNvPr id="21" name="Forma libre 168">
              <a:extLst>
                <a:ext uri="{FF2B5EF4-FFF2-40B4-BE49-F238E27FC236}">
                  <a16:creationId xmlns:a16="http://schemas.microsoft.com/office/drawing/2014/main" id="{EC410FB2-853F-D2D2-36C6-FE812A27B186}"/>
                </a:ext>
              </a:extLst>
            </p:cNvPr>
            <p:cNvSpPr/>
            <p:nvPr/>
          </p:nvSpPr>
          <p:spPr>
            <a:xfrm>
              <a:off x="11591573" y="400808"/>
              <a:ext cx="53503" cy="104437"/>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solidFill>
              <a:srgbClr val="00A443"/>
            </a:solidFill>
            <a:ln w="4485" cap="flat">
              <a:noFill/>
              <a:prstDash val="solid"/>
              <a:miter/>
            </a:ln>
          </p:spPr>
          <p:txBody>
            <a:bodyPr rtlCol="0" anchor="ctr"/>
            <a:lstStyle/>
            <a:p>
              <a:endParaRPr lang="es-ES_tradnl"/>
            </a:p>
          </p:txBody>
        </p:sp>
        <p:sp>
          <p:nvSpPr>
            <p:cNvPr id="22" name="Forma libre 169">
              <a:extLst>
                <a:ext uri="{FF2B5EF4-FFF2-40B4-BE49-F238E27FC236}">
                  <a16:creationId xmlns:a16="http://schemas.microsoft.com/office/drawing/2014/main" id="{B04AC523-F4A8-14E7-9FD2-3C11E1220EA5}"/>
                </a:ext>
              </a:extLst>
            </p:cNvPr>
            <p:cNvSpPr/>
            <p:nvPr/>
          </p:nvSpPr>
          <p:spPr>
            <a:xfrm>
              <a:off x="11656200" y="402823"/>
              <a:ext cx="19788" cy="102412"/>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solidFill>
              <a:srgbClr val="00A443"/>
            </a:solidFill>
            <a:ln w="4485" cap="flat">
              <a:noFill/>
              <a:prstDash val="solid"/>
              <a:miter/>
            </a:ln>
          </p:spPr>
          <p:txBody>
            <a:bodyPr rtlCol="0" anchor="ctr"/>
            <a:lstStyle/>
            <a:p>
              <a:endParaRPr lang="es-ES_tradnl"/>
            </a:p>
          </p:txBody>
        </p:sp>
        <p:sp>
          <p:nvSpPr>
            <p:cNvPr id="23" name="Forma libre 170">
              <a:extLst>
                <a:ext uri="{FF2B5EF4-FFF2-40B4-BE49-F238E27FC236}">
                  <a16:creationId xmlns:a16="http://schemas.microsoft.com/office/drawing/2014/main" id="{70F9271C-C5F2-1D1B-93A1-BF100980532E}"/>
                </a:ext>
              </a:extLst>
            </p:cNvPr>
            <p:cNvSpPr/>
            <p:nvPr/>
          </p:nvSpPr>
          <p:spPr>
            <a:xfrm>
              <a:off x="11652553" y="359481"/>
              <a:ext cx="27284" cy="26014"/>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solidFill>
              <a:srgbClr val="00A443"/>
            </a:solidFill>
            <a:ln w="4485" cap="flat">
              <a:noFill/>
              <a:prstDash val="solid"/>
              <a:miter/>
            </a:ln>
          </p:spPr>
          <p:txBody>
            <a:bodyPr rtlCol="0" anchor="ctr"/>
            <a:lstStyle/>
            <a:p>
              <a:endParaRPr lang="es-ES_tradnl"/>
            </a:p>
          </p:txBody>
        </p:sp>
        <p:sp>
          <p:nvSpPr>
            <p:cNvPr id="24" name="Forma libre 171">
              <a:extLst>
                <a:ext uri="{FF2B5EF4-FFF2-40B4-BE49-F238E27FC236}">
                  <a16:creationId xmlns:a16="http://schemas.microsoft.com/office/drawing/2014/main" id="{65E06613-7BEC-BC37-FD26-66D57C5E9704}"/>
                </a:ext>
              </a:extLst>
            </p:cNvPr>
            <p:cNvSpPr/>
            <p:nvPr/>
          </p:nvSpPr>
          <p:spPr>
            <a:xfrm>
              <a:off x="11690901" y="364114"/>
              <a:ext cx="101331" cy="143125"/>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solidFill>
              <a:srgbClr val="00A443"/>
            </a:solidFill>
            <a:ln w="4485" cap="flat">
              <a:noFill/>
              <a:prstDash val="solid"/>
              <a:miter/>
            </a:ln>
          </p:spPr>
          <p:txBody>
            <a:bodyPr rtlCol="0" anchor="ctr"/>
            <a:lstStyle/>
            <a:p>
              <a:endParaRPr lang="es-ES_tradnl"/>
            </a:p>
          </p:txBody>
        </p:sp>
        <p:sp>
          <p:nvSpPr>
            <p:cNvPr id="25" name="Forma libre 172">
              <a:extLst>
                <a:ext uri="{FF2B5EF4-FFF2-40B4-BE49-F238E27FC236}">
                  <a16:creationId xmlns:a16="http://schemas.microsoft.com/office/drawing/2014/main" id="{7295208D-70DA-1256-5E07-6D9947B2698D}"/>
                </a:ext>
              </a:extLst>
            </p:cNvPr>
            <p:cNvSpPr/>
            <p:nvPr/>
          </p:nvSpPr>
          <p:spPr>
            <a:xfrm>
              <a:off x="10866114" y="301762"/>
              <a:ext cx="134370" cy="215067"/>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solidFill>
              <a:srgbClr val="FF9C1A"/>
            </a:solidFill>
            <a:ln w="4485" cap="flat">
              <a:noFill/>
              <a:prstDash val="solid"/>
              <a:miter/>
            </a:ln>
          </p:spPr>
          <p:txBody>
            <a:bodyPr rtlCol="0" anchor="ctr"/>
            <a:lstStyle/>
            <a:p>
              <a:endParaRPr lang="es-ES_tradnl"/>
            </a:p>
          </p:txBody>
        </p:sp>
        <p:sp>
          <p:nvSpPr>
            <p:cNvPr id="26" name="Forma libre 173">
              <a:extLst>
                <a:ext uri="{FF2B5EF4-FFF2-40B4-BE49-F238E27FC236}">
                  <a16:creationId xmlns:a16="http://schemas.microsoft.com/office/drawing/2014/main" id="{A65AF5CA-F9DF-186A-ADFA-450BC8787E58}"/>
                </a:ext>
              </a:extLst>
            </p:cNvPr>
            <p:cNvSpPr/>
            <p:nvPr/>
          </p:nvSpPr>
          <p:spPr>
            <a:xfrm>
              <a:off x="10787879" y="301762"/>
              <a:ext cx="128488" cy="215058"/>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solidFill>
              <a:srgbClr val="0DA9FF"/>
            </a:solidFill>
            <a:ln w="4485" cap="flat">
              <a:noFill/>
              <a:prstDash val="solid"/>
              <a:miter/>
            </a:ln>
          </p:spPr>
          <p:txBody>
            <a:bodyPr rtlCol="0" anchor="ctr"/>
            <a:lstStyle/>
            <a:p>
              <a:endParaRPr lang="es-ES_tradnl"/>
            </a:p>
          </p:txBody>
        </p:sp>
        <p:sp>
          <p:nvSpPr>
            <p:cNvPr id="27" name="Forma libre 174">
              <a:extLst>
                <a:ext uri="{FF2B5EF4-FFF2-40B4-BE49-F238E27FC236}">
                  <a16:creationId xmlns:a16="http://schemas.microsoft.com/office/drawing/2014/main" id="{935C75CF-FEA8-A686-353D-F920B6DC84A0}"/>
                </a:ext>
              </a:extLst>
            </p:cNvPr>
            <p:cNvSpPr/>
            <p:nvPr/>
          </p:nvSpPr>
          <p:spPr>
            <a:xfrm>
              <a:off x="10709665" y="301762"/>
              <a:ext cx="128477" cy="265750"/>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solidFill>
              <a:srgbClr val="00A443"/>
            </a:solidFill>
            <a:ln w="4485" cap="flat">
              <a:noFill/>
              <a:prstDash val="solid"/>
              <a:miter/>
            </a:ln>
          </p:spPr>
          <p:txBody>
            <a:bodyPr rtlCol="0" anchor="ctr"/>
            <a:lstStyle/>
            <a:p>
              <a:endParaRPr lang="es-ES_tradnl"/>
            </a:p>
          </p:txBody>
        </p:sp>
        <p:sp>
          <p:nvSpPr>
            <p:cNvPr id="28" name="Forma libre 176">
              <a:extLst>
                <a:ext uri="{FF2B5EF4-FFF2-40B4-BE49-F238E27FC236}">
                  <a16:creationId xmlns:a16="http://schemas.microsoft.com/office/drawing/2014/main" id="{AE336FA8-5A1F-79BB-06C8-FB7D108CBB84}"/>
                </a:ext>
              </a:extLst>
            </p:cNvPr>
            <p:cNvSpPr/>
            <p:nvPr/>
          </p:nvSpPr>
          <p:spPr>
            <a:xfrm>
              <a:off x="11053102" y="570151"/>
              <a:ext cx="55069" cy="59585"/>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solidFill>
              <a:srgbClr val="00A443"/>
            </a:solidFill>
            <a:ln w="4485" cap="flat">
              <a:noFill/>
              <a:prstDash val="solid"/>
              <a:miter/>
            </a:ln>
          </p:spPr>
          <p:txBody>
            <a:bodyPr rtlCol="0" anchor="ctr"/>
            <a:lstStyle/>
            <a:p>
              <a:endParaRPr lang="es-ES_tradnl"/>
            </a:p>
          </p:txBody>
        </p:sp>
        <p:sp>
          <p:nvSpPr>
            <p:cNvPr id="29" name="Forma libre 177">
              <a:extLst>
                <a:ext uri="{FF2B5EF4-FFF2-40B4-BE49-F238E27FC236}">
                  <a16:creationId xmlns:a16="http://schemas.microsoft.com/office/drawing/2014/main" id="{0EBD83F9-496B-9ADB-4DF7-2C98A06EA5F6}"/>
                </a:ext>
              </a:extLst>
            </p:cNvPr>
            <p:cNvSpPr/>
            <p:nvPr/>
          </p:nvSpPr>
          <p:spPr>
            <a:xfrm>
              <a:off x="11132978" y="586021"/>
              <a:ext cx="60316" cy="43715"/>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solidFill>
              <a:srgbClr val="00A443"/>
            </a:solidFill>
            <a:ln w="4485" cap="flat">
              <a:noFill/>
              <a:prstDash val="solid"/>
              <a:miter/>
            </a:ln>
          </p:spPr>
          <p:txBody>
            <a:bodyPr rtlCol="0" anchor="ctr"/>
            <a:lstStyle/>
            <a:p>
              <a:endParaRPr lang="es-ES_tradnl"/>
            </a:p>
          </p:txBody>
        </p:sp>
        <p:sp>
          <p:nvSpPr>
            <p:cNvPr id="30" name="Forma libre 178">
              <a:extLst>
                <a:ext uri="{FF2B5EF4-FFF2-40B4-BE49-F238E27FC236}">
                  <a16:creationId xmlns:a16="http://schemas.microsoft.com/office/drawing/2014/main" id="{89D34BA6-9A0E-5DBB-A399-5307C2059632}"/>
                </a:ext>
              </a:extLst>
            </p:cNvPr>
            <p:cNvSpPr/>
            <p:nvPr/>
          </p:nvSpPr>
          <p:spPr>
            <a:xfrm>
              <a:off x="11200328" y="585980"/>
              <a:ext cx="40248" cy="44572"/>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solidFill>
              <a:srgbClr val="00A443"/>
            </a:solidFill>
            <a:ln w="4485" cap="flat">
              <a:noFill/>
              <a:prstDash val="solid"/>
              <a:miter/>
            </a:ln>
          </p:spPr>
          <p:txBody>
            <a:bodyPr rtlCol="0" anchor="ctr"/>
            <a:lstStyle/>
            <a:p>
              <a:endParaRPr lang="es-ES_tradnl"/>
            </a:p>
          </p:txBody>
        </p:sp>
        <p:sp>
          <p:nvSpPr>
            <p:cNvPr id="31" name="Forma libre 179">
              <a:extLst>
                <a:ext uri="{FF2B5EF4-FFF2-40B4-BE49-F238E27FC236}">
                  <a16:creationId xmlns:a16="http://schemas.microsoft.com/office/drawing/2014/main" id="{2AC49B72-A870-CAB8-DCE9-89F20C05BCE0}"/>
                </a:ext>
              </a:extLst>
            </p:cNvPr>
            <p:cNvSpPr/>
            <p:nvPr/>
          </p:nvSpPr>
          <p:spPr>
            <a:xfrm>
              <a:off x="11247880" y="586021"/>
              <a:ext cx="60316" cy="43758"/>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solidFill>
              <a:srgbClr val="00A443"/>
            </a:solidFill>
            <a:ln w="4485" cap="flat">
              <a:noFill/>
              <a:prstDash val="solid"/>
              <a:miter/>
            </a:ln>
          </p:spPr>
          <p:txBody>
            <a:bodyPr rtlCol="0" anchor="ctr"/>
            <a:lstStyle/>
            <a:p>
              <a:endParaRPr lang="es-ES_tradnl"/>
            </a:p>
          </p:txBody>
        </p:sp>
        <p:sp>
          <p:nvSpPr>
            <p:cNvPr id="32" name="Forma libre 180">
              <a:extLst>
                <a:ext uri="{FF2B5EF4-FFF2-40B4-BE49-F238E27FC236}">
                  <a16:creationId xmlns:a16="http://schemas.microsoft.com/office/drawing/2014/main" id="{13739F88-8895-FC93-D7BB-E013185583C7}"/>
                </a:ext>
              </a:extLst>
            </p:cNvPr>
            <p:cNvSpPr/>
            <p:nvPr/>
          </p:nvSpPr>
          <p:spPr>
            <a:xfrm>
              <a:off x="11317356" y="570151"/>
              <a:ext cx="42287" cy="60361"/>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solidFill>
              <a:srgbClr val="00A443"/>
            </a:solidFill>
            <a:ln w="4485" cap="flat">
              <a:noFill/>
              <a:prstDash val="solid"/>
              <a:miter/>
            </a:ln>
          </p:spPr>
          <p:txBody>
            <a:bodyPr rtlCol="0" anchor="ctr"/>
            <a:lstStyle/>
            <a:p>
              <a:endParaRPr lang="es-ES_tradnl"/>
            </a:p>
          </p:txBody>
        </p:sp>
        <p:sp>
          <p:nvSpPr>
            <p:cNvPr id="33" name="Forma libre 181">
              <a:extLst>
                <a:ext uri="{FF2B5EF4-FFF2-40B4-BE49-F238E27FC236}">
                  <a16:creationId xmlns:a16="http://schemas.microsoft.com/office/drawing/2014/main" id="{1914303B-8D1F-1324-4D37-42C83C460DC7}"/>
                </a:ext>
              </a:extLst>
            </p:cNvPr>
            <p:cNvSpPr/>
            <p:nvPr/>
          </p:nvSpPr>
          <p:spPr>
            <a:xfrm>
              <a:off x="11364832" y="585980"/>
              <a:ext cx="40291" cy="44572"/>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solidFill>
              <a:srgbClr val="00A443"/>
            </a:solidFill>
            <a:ln w="4485" cap="flat">
              <a:noFill/>
              <a:prstDash val="solid"/>
              <a:miter/>
            </a:ln>
          </p:spPr>
          <p:txBody>
            <a:bodyPr rtlCol="0" anchor="ctr"/>
            <a:lstStyle/>
            <a:p>
              <a:endParaRPr lang="es-ES_tradnl"/>
            </a:p>
          </p:txBody>
        </p:sp>
        <p:sp>
          <p:nvSpPr>
            <p:cNvPr id="34" name="Forma libre 182">
              <a:extLst>
                <a:ext uri="{FF2B5EF4-FFF2-40B4-BE49-F238E27FC236}">
                  <a16:creationId xmlns:a16="http://schemas.microsoft.com/office/drawing/2014/main" id="{51E1C3AD-5ECE-817A-C9D4-6378252E0DD9}"/>
                </a:ext>
              </a:extLst>
            </p:cNvPr>
            <p:cNvSpPr/>
            <p:nvPr/>
          </p:nvSpPr>
          <p:spPr>
            <a:xfrm>
              <a:off x="11412320" y="585982"/>
              <a:ext cx="21908" cy="43711"/>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solidFill>
              <a:srgbClr val="00A443"/>
            </a:solidFill>
            <a:ln w="4485" cap="flat">
              <a:noFill/>
              <a:prstDash val="solid"/>
              <a:miter/>
            </a:ln>
          </p:spPr>
          <p:txBody>
            <a:bodyPr rtlCol="0" anchor="ctr"/>
            <a:lstStyle/>
            <a:p>
              <a:endParaRPr lang="es-ES_tradnl"/>
            </a:p>
          </p:txBody>
        </p:sp>
        <p:sp>
          <p:nvSpPr>
            <p:cNvPr id="35" name="Forma libre 183">
              <a:extLst>
                <a:ext uri="{FF2B5EF4-FFF2-40B4-BE49-F238E27FC236}">
                  <a16:creationId xmlns:a16="http://schemas.microsoft.com/office/drawing/2014/main" id="{C290246E-3A22-B65E-6C2E-8EC160A89CD8}"/>
                </a:ext>
              </a:extLst>
            </p:cNvPr>
            <p:cNvSpPr/>
            <p:nvPr/>
          </p:nvSpPr>
          <p:spPr>
            <a:xfrm>
              <a:off x="11457752" y="585980"/>
              <a:ext cx="43316" cy="44610"/>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solidFill>
              <a:srgbClr val="00A443"/>
            </a:solidFill>
            <a:ln w="4485" cap="flat">
              <a:noFill/>
              <a:prstDash val="solid"/>
              <a:miter/>
            </a:ln>
          </p:spPr>
          <p:txBody>
            <a:bodyPr rtlCol="0" anchor="ctr"/>
            <a:lstStyle/>
            <a:p>
              <a:endParaRPr lang="es-ES_tradnl"/>
            </a:p>
          </p:txBody>
        </p:sp>
        <p:sp>
          <p:nvSpPr>
            <p:cNvPr id="36" name="Forma libre 184">
              <a:extLst>
                <a:ext uri="{FF2B5EF4-FFF2-40B4-BE49-F238E27FC236}">
                  <a16:creationId xmlns:a16="http://schemas.microsoft.com/office/drawing/2014/main" id="{F4082C9A-D55B-4307-50E0-49FD42CC0BEE}"/>
                </a:ext>
              </a:extLst>
            </p:cNvPr>
            <p:cNvSpPr/>
            <p:nvPr/>
          </p:nvSpPr>
          <p:spPr>
            <a:xfrm>
              <a:off x="11503119" y="569640"/>
              <a:ext cx="24636" cy="60096"/>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solidFill>
              <a:srgbClr val="00A443"/>
            </a:solidFill>
            <a:ln w="4485" cap="flat">
              <a:noFill/>
              <a:prstDash val="solid"/>
              <a:miter/>
            </a:ln>
          </p:spPr>
          <p:txBody>
            <a:bodyPr rtlCol="0" anchor="ctr"/>
            <a:lstStyle/>
            <a:p>
              <a:endParaRPr lang="es-ES_tradnl"/>
            </a:p>
          </p:txBody>
        </p:sp>
        <p:sp>
          <p:nvSpPr>
            <p:cNvPr id="37" name="Forma libre 185">
              <a:extLst>
                <a:ext uri="{FF2B5EF4-FFF2-40B4-BE49-F238E27FC236}">
                  <a16:creationId xmlns:a16="http://schemas.microsoft.com/office/drawing/2014/main" id="{DFCA3CBE-AD13-DC70-8B22-23610ED7DBE1}"/>
                </a:ext>
              </a:extLst>
            </p:cNvPr>
            <p:cNvSpPr/>
            <p:nvPr/>
          </p:nvSpPr>
          <p:spPr>
            <a:xfrm>
              <a:off x="11549397" y="572619"/>
              <a:ext cx="25489" cy="57124"/>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solidFill>
              <a:srgbClr val="00A443"/>
            </a:solidFill>
            <a:ln w="4485" cap="flat">
              <a:noFill/>
              <a:prstDash val="solid"/>
              <a:miter/>
            </a:ln>
          </p:spPr>
          <p:txBody>
            <a:bodyPr rtlCol="0" anchor="ctr"/>
            <a:lstStyle/>
            <a:p>
              <a:endParaRPr lang="es-ES_tradnl"/>
            </a:p>
          </p:txBody>
        </p:sp>
        <p:sp>
          <p:nvSpPr>
            <p:cNvPr id="38" name="Forma libre 186">
              <a:extLst>
                <a:ext uri="{FF2B5EF4-FFF2-40B4-BE49-F238E27FC236}">
                  <a16:creationId xmlns:a16="http://schemas.microsoft.com/office/drawing/2014/main" id="{109CEB74-38ED-C025-B106-457CA78E3B5E}"/>
                </a:ext>
              </a:extLst>
            </p:cNvPr>
            <p:cNvSpPr/>
            <p:nvPr/>
          </p:nvSpPr>
          <p:spPr>
            <a:xfrm>
              <a:off x="11580533" y="570151"/>
              <a:ext cx="36554" cy="59585"/>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solidFill>
              <a:srgbClr val="00A443"/>
            </a:solidFill>
            <a:ln w="4485" cap="flat">
              <a:noFill/>
              <a:prstDash val="solid"/>
              <a:miter/>
            </a:ln>
          </p:spPr>
          <p:txBody>
            <a:bodyPr rtlCol="0" anchor="ctr"/>
            <a:lstStyle/>
            <a:p>
              <a:endParaRPr lang="es-ES_tradnl"/>
            </a:p>
          </p:txBody>
        </p:sp>
        <p:sp>
          <p:nvSpPr>
            <p:cNvPr id="39" name="Forma libre 187">
              <a:extLst>
                <a:ext uri="{FF2B5EF4-FFF2-40B4-BE49-F238E27FC236}">
                  <a16:creationId xmlns:a16="http://schemas.microsoft.com/office/drawing/2014/main" id="{AC234EA1-BC20-2903-1D2D-AE31018C0E26}"/>
                </a:ext>
              </a:extLst>
            </p:cNvPr>
            <p:cNvSpPr/>
            <p:nvPr/>
          </p:nvSpPr>
          <p:spPr>
            <a:xfrm>
              <a:off x="11624195" y="585938"/>
              <a:ext cx="40290" cy="44572"/>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solidFill>
              <a:srgbClr val="00A443"/>
            </a:solidFill>
            <a:ln w="4485" cap="flat">
              <a:noFill/>
              <a:prstDash val="solid"/>
              <a:miter/>
            </a:ln>
          </p:spPr>
          <p:txBody>
            <a:bodyPr rtlCol="0" anchor="ctr"/>
            <a:lstStyle/>
            <a:p>
              <a:endParaRPr lang="es-ES_tradnl"/>
            </a:p>
          </p:txBody>
        </p:sp>
        <p:sp>
          <p:nvSpPr>
            <p:cNvPr id="40" name="Forma libre 188">
              <a:extLst>
                <a:ext uri="{FF2B5EF4-FFF2-40B4-BE49-F238E27FC236}">
                  <a16:creationId xmlns:a16="http://schemas.microsoft.com/office/drawing/2014/main" id="{E5A19B89-4F90-D125-18A6-9256BBF43DC6}"/>
                </a:ext>
              </a:extLst>
            </p:cNvPr>
            <p:cNvSpPr/>
            <p:nvPr/>
          </p:nvSpPr>
          <p:spPr>
            <a:xfrm>
              <a:off x="11058558" y="660592"/>
              <a:ext cx="7672" cy="59585"/>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solidFill>
              <a:srgbClr val="00A443"/>
            </a:solidFill>
            <a:ln w="4485" cap="flat">
              <a:noFill/>
              <a:prstDash val="solid"/>
              <a:miter/>
            </a:ln>
          </p:spPr>
          <p:txBody>
            <a:bodyPr rtlCol="0" anchor="ctr"/>
            <a:lstStyle/>
            <a:p>
              <a:endParaRPr lang="es-ES_tradnl"/>
            </a:p>
          </p:txBody>
        </p:sp>
        <p:sp>
          <p:nvSpPr>
            <p:cNvPr id="41" name="Forma libre 189">
              <a:extLst>
                <a:ext uri="{FF2B5EF4-FFF2-40B4-BE49-F238E27FC236}">
                  <a16:creationId xmlns:a16="http://schemas.microsoft.com/office/drawing/2014/main" id="{D8261F0F-7751-50F4-A841-150B8957EA2B}"/>
                </a:ext>
              </a:extLst>
            </p:cNvPr>
            <p:cNvSpPr/>
            <p:nvPr/>
          </p:nvSpPr>
          <p:spPr>
            <a:xfrm>
              <a:off x="11076630" y="660593"/>
              <a:ext cx="42415" cy="60361"/>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solidFill>
              <a:srgbClr val="00A443"/>
            </a:solidFill>
            <a:ln w="4485" cap="flat">
              <a:noFill/>
              <a:prstDash val="solid"/>
              <a:miter/>
            </a:ln>
          </p:spPr>
          <p:txBody>
            <a:bodyPr rtlCol="0" anchor="ctr"/>
            <a:lstStyle/>
            <a:p>
              <a:endParaRPr lang="es-ES_tradnl"/>
            </a:p>
          </p:txBody>
        </p:sp>
        <p:sp>
          <p:nvSpPr>
            <p:cNvPr id="42" name="Forma libre 190">
              <a:extLst>
                <a:ext uri="{FF2B5EF4-FFF2-40B4-BE49-F238E27FC236}">
                  <a16:creationId xmlns:a16="http://schemas.microsoft.com/office/drawing/2014/main" id="{0FF948B0-7056-8FFF-9441-D117BE47A240}"/>
                </a:ext>
              </a:extLst>
            </p:cNvPr>
            <p:cNvSpPr/>
            <p:nvPr/>
          </p:nvSpPr>
          <p:spPr>
            <a:xfrm>
              <a:off x="11124192" y="676422"/>
              <a:ext cx="40248" cy="44572"/>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solidFill>
              <a:srgbClr val="00A443"/>
            </a:solidFill>
            <a:ln w="4485" cap="flat">
              <a:noFill/>
              <a:prstDash val="solid"/>
              <a:miter/>
            </a:ln>
          </p:spPr>
          <p:txBody>
            <a:bodyPr rtlCol="0" anchor="ctr"/>
            <a:lstStyle/>
            <a:p>
              <a:endParaRPr lang="es-ES_tradnl"/>
            </a:p>
          </p:txBody>
        </p:sp>
        <p:sp>
          <p:nvSpPr>
            <p:cNvPr id="43" name="Forma libre 191">
              <a:extLst>
                <a:ext uri="{FF2B5EF4-FFF2-40B4-BE49-F238E27FC236}">
                  <a16:creationId xmlns:a16="http://schemas.microsoft.com/office/drawing/2014/main" id="{C40643E7-ECEB-5BEC-2C1D-0C73C897D6EC}"/>
                </a:ext>
              </a:extLst>
            </p:cNvPr>
            <p:cNvSpPr/>
            <p:nvPr/>
          </p:nvSpPr>
          <p:spPr>
            <a:xfrm>
              <a:off x="11171669" y="676424"/>
              <a:ext cx="21908" cy="43668"/>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solidFill>
              <a:srgbClr val="00A443"/>
            </a:solidFill>
            <a:ln w="4485" cap="flat">
              <a:noFill/>
              <a:prstDash val="solid"/>
              <a:miter/>
            </a:ln>
          </p:spPr>
          <p:txBody>
            <a:bodyPr rtlCol="0" anchor="ctr"/>
            <a:lstStyle/>
            <a:p>
              <a:endParaRPr lang="es-ES_tradnl"/>
            </a:p>
          </p:txBody>
        </p:sp>
        <p:sp>
          <p:nvSpPr>
            <p:cNvPr id="44" name="Forma libre 192">
              <a:extLst>
                <a:ext uri="{FF2B5EF4-FFF2-40B4-BE49-F238E27FC236}">
                  <a16:creationId xmlns:a16="http://schemas.microsoft.com/office/drawing/2014/main" id="{13524F6B-C5D1-D146-043D-3B935B1E34F1}"/>
                </a:ext>
              </a:extLst>
            </p:cNvPr>
            <p:cNvSpPr/>
            <p:nvPr/>
          </p:nvSpPr>
          <p:spPr>
            <a:xfrm>
              <a:off x="11195191" y="660635"/>
              <a:ext cx="42331" cy="60361"/>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solidFill>
              <a:srgbClr val="00A443"/>
            </a:solidFill>
            <a:ln w="4485" cap="flat">
              <a:noFill/>
              <a:prstDash val="solid"/>
              <a:miter/>
            </a:ln>
          </p:spPr>
          <p:txBody>
            <a:bodyPr rtlCol="0" anchor="ctr"/>
            <a:lstStyle/>
            <a:p>
              <a:endParaRPr lang="es-ES_tradnl"/>
            </a:p>
          </p:txBody>
        </p:sp>
        <p:sp>
          <p:nvSpPr>
            <p:cNvPr id="45" name="Forma libre 193">
              <a:extLst>
                <a:ext uri="{FF2B5EF4-FFF2-40B4-BE49-F238E27FC236}">
                  <a16:creationId xmlns:a16="http://schemas.microsoft.com/office/drawing/2014/main" id="{DFC953A6-16F6-B098-1989-A2CC235D36FD}"/>
                </a:ext>
              </a:extLst>
            </p:cNvPr>
            <p:cNvSpPr/>
            <p:nvPr/>
          </p:nvSpPr>
          <p:spPr>
            <a:xfrm>
              <a:off x="11246974" y="676424"/>
              <a:ext cx="21908" cy="43711"/>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solidFill>
              <a:srgbClr val="00A443"/>
            </a:solidFill>
            <a:ln w="4485" cap="flat">
              <a:noFill/>
              <a:prstDash val="solid"/>
              <a:miter/>
            </a:ln>
          </p:spPr>
          <p:txBody>
            <a:bodyPr rtlCol="0" anchor="ctr"/>
            <a:lstStyle/>
            <a:p>
              <a:endParaRPr lang="es-ES_tradnl"/>
            </a:p>
          </p:txBody>
        </p:sp>
        <p:sp>
          <p:nvSpPr>
            <p:cNvPr id="46" name="Forma libre 194">
              <a:extLst>
                <a:ext uri="{FF2B5EF4-FFF2-40B4-BE49-F238E27FC236}">
                  <a16:creationId xmlns:a16="http://schemas.microsoft.com/office/drawing/2014/main" id="{9901C5CB-E85B-6B72-D5D8-EB0C87ECF31A}"/>
                </a:ext>
              </a:extLst>
            </p:cNvPr>
            <p:cNvSpPr/>
            <p:nvPr/>
          </p:nvSpPr>
          <p:spPr>
            <a:xfrm>
              <a:off x="11270401" y="676422"/>
              <a:ext cx="43316" cy="44610"/>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solidFill>
              <a:srgbClr val="00A443"/>
            </a:solidFill>
            <a:ln w="4485" cap="flat">
              <a:noFill/>
              <a:prstDash val="solid"/>
              <a:miter/>
            </a:ln>
          </p:spPr>
          <p:txBody>
            <a:bodyPr rtlCol="0" anchor="ctr"/>
            <a:lstStyle/>
            <a:p>
              <a:endParaRPr lang="es-ES_tradnl"/>
            </a:p>
          </p:txBody>
        </p:sp>
        <p:sp>
          <p:nvSpPr>
            <p:cNvPr id="47" name="Forma libre 195">
              <a:extLst>
                <a:ext uri="{FF2B5EF4-FFF2-40B4-BE49-F238E27FC236}">
                  <a16:creationId xmlns:a16="http://schemas.microsoft.com/office/drawing/2014/main" id="{D0C9A3BF-369C-EEAB-05CB-1E5BF5333563}"/>
                </a:ext>
              </a:extLst>
            </p:cNvPr>
            <p:cNvSpPr/>
            <p:nvPr/>
          </p:nvSpPr>
          <p:spPr>
            <a:xfrm>
              <a:off x="11320849" y="660550"/>
              <a:ext cx="15772" cy="59591"/>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solidFill>
              <a:srgbClr val="00A443"/>
            </a:solidFill>
            <a:ln w="4485" cap="flat">
              <a:noFill/>
              <a:prstDash val="solid"/>
              <a:miter/>
            </a:ln>
          </p:spPr>
          <p:txBody>
            <a:bodyPr rtlCol="0" anchor="ctr"/>
            <a:lstStyle/>
            <a:p>
              <a:endParaRPr lang="es-ES_tradnl"/>
            </a:p>
          </p:txBody>
        </p:sp>
        <p:sp>
          <p:nvSpPr>
            <p:cNvPr id="48" name="Forma libre 196">
              <a:extLst>
                <a:ext uri="{FF2B5EF4-FFF2-40B4-BE49-F238E27FC236}">
                  <a16:creationId xmlns:a16="http://schemas.microsoft.com/office/drawing/2014/main" id="{19AC7364-13B1-0B59-E665-3519226DF684}"/>
                </a:ext>
              </a:extLst>
            </p:cNvPr>
            <p:cNvSpPr/>
            <p:nvPr/>
          </p:nvSpPr>
          <p:spPr>
            <a:xfrm>
              <a:off x="11339877" y="676379"/>
              <a:ext cx="37776" cy="44683"/>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solidFill>
              <a:srgbClr val="00A443"/>
            </a:solidFill>
            <a:ln w="4485" cap="flat">
              <a:noFill/>
              <a:prstDash val="solid"/>
              <a:miter/>
            </a:ln>
          </p:spPr>
          <p:txBody>
            <a:bodyPr rtlCol="0" anchor="ctr"/>
            <a:lstStyle/>
            <a:p>
              <a:endParaRPr lang="es-ES_tradnl"/>
            </a:p>
          </p:txBody>
        </p:sp>
        <p:sp>
          <p:nvSpPr>
            <p:cNvPr id="49" name="Forma libre 197">
              <a:extLst>
                <a:ext uri="{FF2B5EF4-FFF2-40B4-BE49-F238E27FC236}">
                  <a16:creationId xmlns:a16="http://schemas.microsoft.com/office/drawing/2014/main" id="{FBE48767-1469-B755-0792-42DE016F663D}"/>
                </a:ext>
              </a:extLst>
            </p:cNvPr>
            <p:cNvSpPr/>
            <p:nvPr/>
          </p:nvSpPr>
          <p:spPr>
            <a:xfrm>
              <a:off x="11404928" y="659740"/>
              <a:ext cx="57295" cy="61209"/>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solidFill>
              <a:srgbClr val="00A443"/>
            </a:solidFill>
            <a:ln w="4485" cap="flat">
              <a:noFill/>
              <a:prstDash val="solid"/>
              <a:miter/>
            </a:ln>
          </p:spPr>
          <p:txBody>
            <a:bodyPr rtlCol="0" anchor="ctr"/>
            <a:lstStyle/>
            <a:p>
              <a:endParaRPr lang="es-ES_tradnl"/>
            </a:p>
          </p:txBody>
        </p:sp>
        <p:sp>
          <p:nvSpPr>
            <p:cNvPr id="50" name="Forma libre 198">
              <a:extLst>
                <a:ext uri="{FF2B5EF4-FFF2-40B4-BE49-F238E27FC236}">
                  <a16:creationId xmlns:a16="http://schemas.microsoft.com/office/drawing/2014/main" id="{95FE947C-202D-974A-262B-7BC22147AFC6}"/>
                </a:ext>
              </a:extLst>
            </p:cNvPr>
            <p:cNvSpPr/>
            <p:nvPr/>
          </p:nvSpPr>
          <p:spPr>
            <a:xfrm>
              <a:off x="11469819" y="676423"/>
              <a:ext cx="21908" cy="4371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solidFill>
              <a:srgbClr val="00A443"/>
            </a:solidFill>
            <a:ln w="4485" cap="flat">
              <a:noFill/>
              <a:prstDash val="solid"/>
              <a:miter/>
            </a:ln>
          </p:spPr>
          <p:txBody>
            <a:bodyPr rtlCol="0" anchor="ctr"/>
            <a:lstStyle/>
            <a:p>
              <a:endParaRPr lang="es-ES_tradnl"/>
            </a:p>
          </p:txBody>
        </p:sp>
        <p:sp>
          <p:nvSpPr>
            <p:cNvPr id="51" name="Forma libre 199">
              <a:extLst>
                <a:ext uri="{FF2B5EF4-FFF2-40B4-BE49-F238E27FC236}">
                  <a16:creationId xmlns:a16="http://schemas.microsoft.com/office/drawing/2014/main" id="{5CFAB2B7-E503-7381-54C4-37C3080B6431}"/>
                </a:ext>
              </a:extLst>
            </p:cNvPr>
            <p:cNvSpPr/>
            <p:nvPr/>
          </p:nvSpPr>
          <p:spPr>
            <a:xfrm>
              <a:off x="11493246" y="676422"/>
              <a:ext cx="43316" cy="44610"/>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solidFill>
              <a:srgbClr val="00A443"/>
            </a:solidFill>
            <a:ln w="4485" cap="flat">
              <a:noFill/>
              <a:prstDash val="solid"/>
              <a:miter/>
            </a:ln>
          </p:spPr>
          <p:txBody>
            <a:bodyPr rtlCol="0" anchor="ctr"/>
            <a:lstStyle/>
            <a:p>
              <a:endParaRPr lang="es-ES_tradnl"/>
            </a:p>
          </p:txBody>
        </p:sp>
        <p:sp>
          <p:nvSpPr>
            <p:cNvPr id="52" name="Forma libre 200">
              <a:extLst>
                <a:ext uri="{FF2B5EF4-FFF2-40B4-BE49-F238E27FC236}">
                  <a16:creationId xmlns:a16="http://schemas.microsoft.com/office/drawing/2014/main" id="{19C9BD8F-1350-A325-9F3F-1E52FEDD706F}"/>
                </a:ext>
              </a:extLst>
            </p:cNvPr>
            <p:cNvSpPr/>
            <p:nvPr/>
          </p:nvSpPr>
          <p:spPr>
            <a:xfrm>
              <a:off x="11543133" y="677191"/>
              <a:ext cx="36588" cy="43797"/>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solidFill>
              <a:srgbClr val="00A443"/>
            </a:solidFill>
            <a:ln w="4485" cap="flat">
              <a:noFill/>
              <a:prstDash val="solid"/>
              <a:miter/>
            </a:ln>
          </p:spPr>
          <p:txBody>
            <a:bodyPr rtlCol="0" anchor="ctr"/>
            <a:lstStyle/>
            <a:p>
              <a:endParaRPr lang="es-ES_tradnl"/>
            </a:p>
          </p:txBody>
        </p:sp>
        <p:sp>
          <p:nvSpPr>
            <p:cNvPr id="53" name="Forma libre 201">
              <a:extLst>
                <a:ext uri="{FF2B5EF4-FFF2-40B4-BE49-F238E27FC236}">
                  <a16:creationId xmlns:a16="http://schemas.microsoft.com/office/drawing/2014/main" id="{C91BC748-7AAC-F451-EF31-7CD3A6D24209}"/>
                </a:ext>
              </a:extLst>
            </p:cNvPr>
            <p:cNvSpPr/>
            <p:nvPr/>
          </p:nvSpPr>
          <p:spPr>
            <a:xfrm>
              <a:off x="11588738" y="676416"/>
              <a:ext cx="42330" cy="57807"/>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solidFill>
              <a:srgbClr val="00A443"/>
            </a:solidFill>
            <a:ln w="4485" cap="flat">
              <a:noFill/>
              <a:prstDash val="solid"/>
              <a:miter/>
            </a:ln>
          </p:spPr>
          <p:txBody>
            <a:bodyPr rtlCol="0" anchor="ctr"/>
            <a:lstStyle/>
            <a:p>
              <a:endParaRPr lang="es-ES_tradnl"/>
            </a:p>
          </p:txBody>
        </p:sp>
      </p:grpSp>
    </p:spTree>
    <p:extLst>
      <p:ext uri="{BB962C8B-B14F-4D97-AF65-F5344CB8AC3E}">
        <p14:creationId xmlns:p14="http://schemas.microsoft.com/office/powerpoint/2010/main" val="212671886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ymbol Green">
    <p:bg>
      <p:bgPr>
        <a:solidFill>
          <a:schemeClr val="accent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876BB3C-AA57-D420-4861-FBD3D021574B}"/>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246491" y="2622552"/>
            <a:ext cx="1706064" cy="1612900"/>
          </a:xfrm>
          <a:prstGeom prst="rect">
            <a:avLst/>
          </a:prstGeom>
        </p:spPr>
      </p:pic>
    </p:spTree>
    <p:extLst>
      <p:ext uri="{BB962C8B-B14F-4D97-AF65-F5344CB8AC3E}">
        <p14:creationId xmlns:p14="http://schemas.microsoft.com/office/powerpoint/2010/main" val="5658561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Logo Green">
    <p:bg>
      <p:bgPr>
        <a:solidFill>
          <a:schemeClr val="accent1"/>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44A5684A-99D4-90FA-C12A-589CFF68A16B}"/>
              </a:ext>
            </a:extLst>
          </p:cNvPr>
          <p:cNvGrpSpPr/>
          <p:nvPr/>
        </p:nvGrpSpPr>
        <p:grpSpPr>
          <a:xfrm>
            <a:off x="4496068" y="3036081"/>
            <a:ext cx="3199864" cy="1278273"/>
            <a:chOff x="10709665" y="301762"/>
            <a:chExt cx="1082567" cy="432461"/>
          </a:xfrm>
          <a:solidFill>
            <a:schemeClr val="bg1"/>
          </a:solidFill>
        </p:grpSpPr>
        <p:sp>
          <p:nvSpPr>
            <p:cNvPr id="16" name="Forma libre 163">
              <a:extLst>
                <a:ext uri="{FF2B5EF4-FFF2-40B4-BE49-F238E27FC236}">
                  <a16:creationId xmlns:a16="http://schemas.microsoft.com/office/drawing/2014/main" id="{20EE8F42-D2FD-240A-68E7-B75F4BD92081}"/>
                </a:ext>
              </a:extLst>
            </p:cNvPr>
            <p:cNvSpPr/>
            <p:nvPr/>
          </p:nvSpPr>
          <p:spPr>
            <a:xfrm>
              <a:off x="11039633" y="364114"/>
              <a:ext cx="132622" cy="141132"/>
            </a:xfrm>
            <a:custGeom>
              <a:avLst/>
              <a:gdLst>
                <a:gd name="connsiteX0" fmla="*/ 236399 w 558508"/>
                <a:gd name="connsiteY0" fmla="*/ 0 h 594344"/>
                <a:gd name="connsiteX1" fmla="*/ 0 w 558508"/>
                <a:gd name="connsiteY1" fmla="*/ 594344 h 594344"/>
                <a:gd name="connsiteX2" fmla="*/ 90961 w 558508"/>
                <a:gd name="connsiteY2" fmla="*/ 594344 h 594344"/>
                <a:gd name="connsiteX3" fmla="*/ 156074 w 558508"/>
                <a:gd name="connsiteY3" fmla="*/ 424519 h 594344"/>
                <a:gd name="connsiteX4" fmla="*/ 399518 w 558508"/>
                <a:gd name="connsiteY4" fmla="*/ 424519 h 594344"/>
                <a:gd name="connsiteX5" fmla="*/ 464272 w 558508"/>
                <a:gd name="connsiteY5" fmla="*/ 594344 h 594344"/>
                <a:gd name="connsiteX6" fmla="*/ 558508 w 558508"/>
                <a:gd name="connsiteY6" fmla="*/ 594344 h 594344"/>
                <a:gd name="connsiteX7" fmla="*/ 321391 w 558508"/>
                <a:gd name="connsiteY7" fmla="*/ 0 h 594344"/>
                <a:gd name="connsiteX8" fmla="*/ 184703 w 558508"/>
                <a:gd name="connsiteY8" fmla="*/ 349822 h 594344"/>
                <a:gd name="connsiteX9" fmla="*/ 253361 w 558508"/>
                <a:gd name="connsiteY9" fmla="*/ 170587 h 594344"/>
                <a:gd name="connsiteX10" fmla="*/ 278042 w 558508"/>
                <a:gd name="connsiteY10" fmla="*/ 106914 h 594344"/>
                <a:gd name="connsiteX11" fmla="*/ 302723 w 558508"/>
                <a:gd name="connsiteY11" fmla="*/ 170587 h 594344"/>
                <a:gd name="connsiteX12" fmla="*/ 371022 w 558508"/>
                <a:gd name="connsiteY12" fmla="*/ 349822 h 594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508" h="594344">
                  <a:moveTo>
                    <a:pt x="236399" y="0"/>
                  </a:moveTo>
                  <a:lnTo>
                    <a:pt x="0" y="594344"/>
                  </a:lnTo>
                  <a:lnTo>
                    <a:pt x="90961" y="594344"/>
                  </a:lnTo>
                  <a:lnTo>
                    <a:pt x="156074" y="424519"/>
                  </a:lnTo>
                  <a:lnTo>
                    <a:pt x="399518" y="424519"/>
                  </a:lnTo>
                  <a:lnTo>
                    <a:pt x="464272" y="594344"/>
                  </a:lnTo>
                  <a:lnTo>
                    <a:pt x="558508" y="594344"/>
                  </a:lnTo>
                  <a:lnTo>
                    <a:pt x="321391" y="0"/>
                  </a:lnTo>
                  <a:close/>
                  <a:moveTo>
                    <a:pt x="184703" y="349822"/>
                  </a:moveTo>
                  <a:lnTo>
                    <a:pt x="253361" y="170587"/>
                  </a:lnTo>
                  <a:cubicBezTo>
                    <a:pt x="259586" y="154725"/>
                    <a:pt x="267811" y="133499"/>
                    <a:pt x="278042" y="106914"/>
                  </a:cubicBezTo>
                  <a:cubicBezTo>
                    <a:pt x="288215" y="133530"/>
                    <a:pt x="296441" y="154756"/>
                    <a:pt x="302723" y="170587"/>
                  </a:cubicBezTo>
                  <a:lnTo>
                    <a:pt x="371022" y="349822"/>
                  </a:lnTo>
                  <a:close/>
                </a:path>
              </a:pathLst>
            </a:custGeom>
            <a:grpFill/>
            <a:ln w="4485" cap="flat">
              <a:noFill/>
              <a:prstDash val="solid"/>
              <a:miter/>
            </a:ln>
          </p:spPr>
          <p:txBody>
            <a:bodyPr rtlCol="0" anchor="ctr"/>
            <a:lstStyle/>
            <a:p>
              <a:endParaRPr lang="es-ES_tradnl"/>
            </a:p>
          </p:txBody>
        </p:sp>
        <p:sp>
          <p:nvSpPr>
            <p:cNvPr id="17" name="Forma libre 164">
              <a:extLst>
                <a:ext uri="{FF2B5EF4-FFF2-40B4-BE49-F238E27FC236}">
                  <a16:creationId xmlns:a16="http://schemas.microsoft.com/office/drawing/2014/main" id="{EC4F375F-AAAB-0A84-48DB-BDABE4A3FFF1}"/>
                </a:ext>
              </a:extLst>
            </p:cNvPr>
            <p:cNvSpPr/>
            <p:nvPr/>
          </p:nvSpPr>
          <p:spPr>
            <a:xfrm>
              <a:off x="11159160" y="402802"/>
              <a:ext cx="100548" cy="102625"/>
            </a:xfrm>
            <a:custGeom>
              <a:avLst/>
              <a:gdLst>
                <a:gd name="connsiteX0" fmla="*/ 235501 w 423435"/>
                <a:gd name="connsiteY0" fmla="*/ 259891 h 432180"/>
                <a:gd name="connsiteX1" fmla="*/ 225315 w 423435"/>
                <a:gd name="connsiteY1" fmla="*/ 287493 h 432180"/>
                <a:gd name="connsiteX2" fmla="*/ 212571 w 423435"/>
                <a:gd name="connsiteY2" fmla="*/ 316798 h 432180"/>
                <a:gd name="connsiteX3" fmla="*/ 201935 w 423435"/>
                <a:gd name="connsiteY3" fmla="*/ 287493 h 432180"/>
                <a:gd name="connsiteX4" fmla="*/ 191300 w 423435"/>
                <a:gd name="connsiteY4" fmla="*/ 259891 h 432180"/>
                <a:gd name="connsiteX5" fmla="*/ 90961 w 423435"/>
                <a:gd name="connsiteY5" fmla="*/ 0 h 432180"/>
                <a:gd name="connsiteX6" fmla="*/ 0 w 423435"/>
                <a:gd name="connsiteY6" fmla="*/ 0 h 432180"/>
                <a:gd name="connsiteX7" fmla="*/ 173440 w 423435"/>
                <a:gd name="connsiteY7" fmla="*/ 432181 h 432180"/>
                <a:gd name="connsiteX8" fmla="*/ 250848 w 423435"/>
                <a:gd name="connsiteY8" fmla="*/ 432181 h 432180"/>
                <a:gd name="connsiteX9" fmla="*/ 423436 w 423435"/>
                <a:gd name="connsiteY9" fmla="*/ 0 h 432180"/>
                <a:gd name="connsiteX10" fmla="*/ 334988 w 423435"/>
                <a:gd name="connsiteY10" fmla="*/ 0 h 43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435" h="432180">
                  <a:moveTo>
                    <a:pt x="235501" y="259891"/>
                  </a:moveTo>
                  <a:cubicBezTo>
                    <a:pt x="232136" y="269525"/>
                    <a:pt x="228725" y="278756"/>
                    <a:pt x="225315" y="287493"/>
                  </a:cubicBezTo>
                  <a:cubicBezTo>
                    <a:pt x="221904" y="296231"/>
                    <a:pt x="217686" y="306044"/>
                    <a:pt x="212571" y="316798"/>
                  </a:cubicBezTo>
                  <a:cubicBezTo>
                    <a:pt x="208590" y="306044"/>
                    <a:pt x="205045" y="296276"/>
                    <a:pt x="201935" y="287493"/>
                  </a:cubicBezTo>
                  <a:cubicBezTo>
                    <a:pt x="198794" y="278532"/>
                    <a:pt x="195249" y="269570"/>
                    <a:pt x="191300" y="259891"/>
                  </a:cubicBezTo>
                  <a:lnTo>
                    <a:pt x="90961" y="0"/>
                  </a:lnTo>
                  <a:lnTo>
                    <a:pt x="0" y="0"/>
                  </a:lnTo>
                  <a:lnTo>
                    <a:pt x="173440" y="432181"/>
                  </a:lnTo>
                  <a:lnTo>
                    <a:pt x="250848" y="432181"/>
                  </a:lnTo>
                  <a:lnTo>
                    <a:pt x="423436" y="0"/>
                  </a:lnTo>
                  <a:lnTo>
                    <a:pt x="334988" y="0"/>
                  </a:lnTo>
                  <a:close/>
                </a:path>
              </a:pathLst>
            </a:custGeom>
            <a:grpFill/>
            <a:ln w="4485" cap="flat">
              <a:noFill/>
              <a:prstDash val="solid"/>
              <a:miter/>
            </a:ln>
          </p:spPr>
          <p:txBody>
            <a:bodyPr rtlCol="0" anchor="ctr"/>
            <a:lstStyle/>
            <a:p>
              <a:endParaRPr lang="es-ES_tradnl"/>
            </a:p>
          </p:txBody>
        </p:sp>
        <p:sp>
          <p:nvSpPr>
            <p:cNvPr id="18" name="Forma libre 165">
              <a:extLst>
                <a:ext uri="{FF2B5EF4-FFF2-40B4-BE49-F238E27FC236}">
                  <a16:creationId xmlns:a16="http://schemas.microsoft.com/office/drawing/2014/main" id="{868A3B11-7FA3-C870-FC67-95D010EDE42E}"/>
                </a:ext>
              </a:extLst>
            </p:cNvPr>
            <p:cNvSpPr/>
            <p:nvPr/>
          </p:nvSpPr>
          <p:spPr>
            <a:xfrm>
              <a:off x="11260890" y="400806"/>
              <a:ext cx="90878" cy="106690"/>
            </a:xfrm>
            <a:custGeom>
              <a:avLst/>
              <a:gdLst>
                <a:gd name="connsiteX0" fmla="*/ 323640 w 382711"/>
                <a:gd name="connsiteY0" fmla="*/ 40354 h 449300"/>
                <a:gd name="connsiteX1" fmla="*/ 262431 w 382711"/>
                <a:gd name="connsiteY1" fmla="*/ 9794 h 449300"/>
                <a:gd name="connsiteX2" fmla="*/ 189734 w 382711"/>
                <a:gd name="connsiteY2" fmla="*/ 26 h 449300"/>
                <a:gd name="connsiteX3" fmla="*/ 84279 w 382711"/>
                <a:gd name="connsiteY3" fmla="*/ 25925 h 449300"/>
                <a:gd name="connsiteX4" fmla="*/ 14679 w 382711"/>
                <a:gd name="connsiteY4" fmla="*/ 104430 h 449300"/>
                <a:gd name="connsiteX5" fmla="*/ 80016 w 382711"/>
                <a:gd name="connsiteY5" fmla="*/ 141935 h 449300"/>
                <a:gd name="connsiteX6" fmla="*/ 120403 w 382711"/>
                <a:gd name="connsiteY6" fmla="*/ 92645 h 449300"/>
                <a:gd name="connsiteX7" fmla="*/ 188029 w 382711"/>
                <a:gd name="connsiteY7" fmla="*/ 74722 h 449300"/>
                <a:gd name="connsiteX8" fmla="*/ 243539 w 382711"/>
                <a:gd name="connsiteY8" fmla="*/ 84938 h 449300"/>
                <a:gd name="connsiteX9" fmla="*/ 283926 w 382711"/>
                <a:gd name="connsiteY9" fmla="*/ 118052 h 449300"/>
                <a:gd name="connsiteX10" fmla="*/ 299228 w 382711"/>
                <a:gd name="connsiteY10" fmla="*/ 178320 h 449300"/>
                <a:gd name="connsiteX11" fmla="*/ 299228 w 382711"/>
                <a:gd name="connsiteY11" fmla="*/ 226445 h 449300"/>
                <a:gd name="connsiteX12" fmla="*/ 289894 w 382711"/>
                <a:gd name="connsiteY12" fmla="*/ 217483 h 449300"/>
                <a:gd name="connsiteX13" fmla="*/ 174253 w 382711"/>
                <a:gd name="connsiteY13" fmla="*/ 182711 h 449300"/>
                <a:gd name="connsiteX14" fmla="*/ 85805 w 382711"/>
                <a:gd name="connsiteY14" fmla="*/ 197991 h 449300"/>
                <a:gd name="connsiteX15" fmla="*/ 22981 w 382711"/>
                <a:gd name="connsiteY15" fmla="*/ 243427 h 449300"/>
                <a:gd name="connsiteX16" fmla="*/ 22577 w 382711"/>
                <a:gd name="connsiteY16" fmla="*/ 388160 h 449300"/>
                <a:gd name="connsiteX17" fmla="*/ 83786 w 382711"/>
                <a:gd name="connsiteY17" fmla="*/ 433596 h 449300"/>
                <a:gd name="connsiteX18" fmla="*/ 170079 w 382711"/>
                <a:gd name="connsiteY18" fmla="*/ 449279 h 449300"/>
                <a:gd name="connsiteX19" fmla="*/ 288234 w 382711"/>
                <a:gd name="connsiteY19" fmla="*/ 413208 h 449300"/>
                <a:gd name="connsiteX20" fmla="*/ 303581 w 382711"/>
                <a:gd name="connsiteY20" fmla="*/ 397077 h 449300"/>
                <a:gd name="connsiteX21" fmla="*/ 303581 w 382711"/>
                <a:gd name="connsiteY21" fmla="*/ 439959 h 449300"/>
                <a:gd name="connsiteX22" fmla="*/ 382650 w 382711"/>
                <a:gd name="connsiteY22" fmla="*/ 439959 h 449300"/>
                <a:gd name="connsiteX23" fmla="*/ 382650 w 382711"/>
                <a:gd name="connsiteY23" fmla="*/ 170658 h 449300"/>
                <a:gd name="connsiteX24" fmla="*/ 366495 w 382711"/>
                <a:gd name="connsiteY24" fmla="*/ 93407 h 449300"/>
                <a:gd name="connsiteX25" fmla="*/ 323640 w 382711"/>
                <a:gd name="connsiteY25" fmla="*/ 40354 h 449300"/>
                <a:gd name="connsiteX26" fmla="*/ 271361 w 382711"/>
                <a:gd name="connsiteY26" fmla="*/ 366786 h 449300"/>
                <a:gd name="connsiteX27" fmla="*/ 194805 w 382711"/>
                <a:gd name="connsiteY27" fmla="*/ 384709 h 449300"/>
                <a:gd name="connsiteX28" fmla="*/ 117038 w 382711"/>
                <a:gd name="connsiteY28" fmla="*/ 366786 h 449300"/>
                <a:gd name="connsiteX29" fmla="*/ 85985 w 382711"/>
                <a:gd name="connsiteY29" fmla="*/ 315032 h 449300"/>
                <a:gd name="connsiteX30" fmla="*/ 117038 w 382711"/>
                <a:gd name="connsiteY30" fmla="*/ 261933 h 449300"/>
                <a:gd name="connsiteX31" fmla="*/ 194805 w 382711"/>
                <a:gd name="connsiteY31" fmla="*/ 244547 h 449300"/>
                <a:gd name="connsiteX32" fmla="*/ 271361 w 382711"/>
                <a:gd name="connsiteY32" fmla="*/ 262471 h 449300"/>
                <a:gd name="connsiteX33" fmla="*/ 301876 w 382711"/>
                <a:gd name="connsiteY33" fmla="*/ 315032 h 449300"/>
                <a:gd name="connsiteX34" fmla="*/ 271361 w 382711"/>
                <a:gd name="connsiteY34" fmla="*/ 366786 h 44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82711" h="449300">
                  <a:moveTo>
                    <a:pt x="323640" y="40354"/>
                  </a:moveTo>
                  <a:cubicBezTo>
                    <a:pt x="305407" y="26310"/>
                    <a:pt x="284622" y="15933"/>
                    <a:pt x="262431" y="9794"/>
                  </a:cubicBezTo>
                  <a:cubicBezTo>
                    <a:pt x="238769" y="3194"/>
                    <a:pt x="214303" y="-91"/>
                    <a:pt x="189734" y="26"/>
                  </a:cubicBezTo>
                  <a:cubicBezTo>
                    <a:pt x="152937" y="-543"/>
                    <a:pt x="116616" y="8378"/>
                    <a:pt x="84279" y="25925"/>
                  </a:cubicBezTo>
                  <a:cubicBezTo>
                    <a:pt x="52872" y="43499"/>
                    <a:pt x="28339" y="71169"/>
                    <a:pt x="14679" y="104430"/>
                  </a:cubicBezTo>
                  <a:lnTo>
                    <a:pt x="80016" y="141935"/>
                  </a:lnTo>
                  <a:cubicBezTo>
                    <a:pt x="87959" y="121677"/>
                    <a:pt x="102090" y="104430"/>
                    <a:pt x="120403" y="92645"/>
                  </a:cubicBezTo>
                  <a:cubicBezTo>
                    <a:pt x="138833" y="80695"/>
                    <a:pt x="161374" y="74722"/>
                    <a:pt x="188029" y="74722"/>
                  </a:cubicBezTo>
                  <a:cubicBezTo>
                    <a:pt x="207020" y="74498"/>
                    <a:pt x="225876" y="77966"/>
                    <a:pt x="243539" y="84938"/>
                  </a:cubicBezTo>
                  <a:cubicBezTo>
                    <a:pt x="260075" y="91592"/>
                    <a:pt x="274175" y="103149"/>
                    <a:pt x="283926" y="118052"/>
                  </a:cubicBezTo>
                  <a:cubicBezTo>
                    <a:pt x="294099" y="133345"/>
                    <a:pt x="299197" y="153438"/>
                    <a:pt x="299228" y="178320"/>
                  </a:cubicBezTo>
                  <a:lnTo>
                    <a:pt x="299228" y="226445"/>
                  </a:lnTo>
                  <a:cubicBezTo>
                    <a:pt x="296280" y="223290"/>
                    <a:pt x="293166" y="220301"/>
                    <a:pt x="289894" y="217483"/>
                  </a:cubicBezTo>
                  <a:cubicBezTo>
                    <a:pt x="263239" y="194303"/>
                    <a:pt x="224692" y="182711"/>
                    <a:pt x="174253" y="182711"/>
                  </a:cubicBezTo>
                  <a:cubicBezTo>
                    <a:pt x="144079" y="182317"/>
                    <a:pt x="114094" y="187497"/>
                    <a:pt x="85805" y="197991"/>
                  </a:cubicBezTo>
                  <a:cubicBezTo>
                    <a:pt x="60971" y="206881"/>
                    <a:pt x="39185" y="222640"/>
                    <a:pt x="22981" y="243427"/>
                  </a:cubicBezTo>
                  <a:cubicBezTo>
                    <a:pt x="-7511" y="286820"/>
                    <a:pt x="-7673" y="344596"/>
                    <a:pt x="22577" y="388160"/>
                  </a:cubicBezTo>
                  <a:cubicBezTo>
                    <a:pt x="38431" y="408610"/>
                    <a:pt x="59603" y="424329"/>
                    <a:pt x="83786" y="433596"/>
                  </a:cubicBezTo>
                  <a:cubicBezTo>
                    <a:pt x="111258" y="444363"/>
                    <a:pt x="140570" y="449687"/>
                    <a:pt x="170079" y="449279"/>
                  </a:cubicBezTo>
                  <a:cubicBezTo>
                    <a:pt x="221088" y="449279"/>
                    <a:pt x="260470" y="437257"/>
                    <a:pt x="288234" y="413208"/>
                  </a:cubicBezTo>
                  <a:cubicBezTo>
                    <a:pt x="293857" y="408337"/>
                    <a:pt x="298995" y="402933"/>
                    <a:pt x="303581" y="397077"/>
                  </a:cubicBezTo>
                  <a:lnTo>
                    <a:pt x="303581" y="439959"/>
                  </a:lnTo>
                  <a:lnTo>
                    <a:pt x="382650" y="439959"/>
                  </a:lnTo>
                  <a:lnTo>
                    <a:pt x="382650" y="170658"/>
                  </a:lnTo>
                  <a:cubicBezTo>
                    <a:pt x="383368" y="144001"/>
                    <a:pt x="377835" y="117550"/>
                    <a:pt x="366495" y="93407"/>
                  </a:cubicBezTo>
                  <a:cubicBezTo>
                    <a:pt x="356407" y="72719"/>
                    <a:pt x="341756" y="54580"/>
                    <a:pt x="323640" y="40354"/>
                  </a:cubicBezTo>
                  <a:close/>
                  <a:moveTo>
                    <a:pt x="271361" y="366786"/>
                  </a:moveTo>
                  <a:cubicBezTo>
                    <a:pt x="250930" y="378736"/>
                    <a:pt x="225410" y="384709"/>
                    <a:pt x="194805" y="384709"/>
                  </a:cubicBezTo>
                  <a:cubicBezTo>
                    <a:pt x="163662" y="384709"/>
                    <a:pt x="137738" y="378736"/>
                    <a:pt x="117038" y="366786"/>
                  </a:cubicBezTo>
                  <a:cubicBezTo>
                    <a:pt x="96337" y="354835"/>
                    <a:pt x="85985" y="337584"/>
                    <a:pt x="85985" y="315032"/>
                  </a:cubicBezTo>
                  <a:cubicBezTo>
                    <a:pt x="85056" y="292793"/>
                    <a:pt x="97185" y="272051"/>
                    <a:pt x="117038" y="261933"/>
                  </a:cubicBezTo>
                  <a:cubicBezTo>
                    <a:pt x="137711" y="250372"/>
                    <a:pt x="163631" y="244579"/>
                    <a:pt x="194805" y="244547"/>
                  </a:cubicBezTo>
                  <a:cubicBezTo>
                    <a:pt x="225468" y="244547"/>
                    <a:pt x="250988" y="250520"/>
                    <a:pt x="271361" y="262471"/>
                  </a:cubicBezTo>
                  <a:cubicBezTo>
                    <a:pt x="290747" y="272741"/>
                    <a:pt x="302585" y="293133"/>
                    <a:pt x="301876" y="315032"/>
                  </a:cubicBezTo>
                  <a:cubicBezTo>
                    <a:pt x="301876" y="337673"/>
                    <a:pt x="291703" y="354925"/>
                    <a:pt x="271361" y="366786"/>
                  </a:cubicBezTo>
                  <a:close/>
                </a:path>
              </a:pathLst>
            </a:custGeom>
            <a:grpFill/>
            <a:ln w="4485" cap="flat">
              <a:noFill/>
              <a:prstDash val="solid"/>
              <a:miter/>
            </a:ln>
          </p:spPr>
          <p:txBody>
            <a:bodyPr rtlCol="0" anchor="ctr"/>
            <a:lstStyle/>
            <a:p>
              <a:endParaRPr lang="es-ES_tradnl"/>
            </a:p>
          </p:txBody>
        </p:sp>
        <p:sp>
          <p:nvSpPr>
            <p:cNvPr id="19" name="Forma libre 166">
              <a:extLst>
                <a:ext uri="{FF2B5EF4-FFF2-40B4-BE49-F238E27FC236}">
                  <a16:creationId xmlns:a16="http://schemas.microsoft.com/office/drawing/2014/main" id="{995CC614-F00B-8FD7-8356-3D1BAD0AF233}"/>
                </a:ext>
              </a:extLst>
            </p:cNvPr>
            <p:cNvSpPr/>
            <p:nvPr/>
          </p:nvSpPr>
          <p:spPr>
            <a:xfrm>
              <a:off x="11371157" y="400803"/>
              <a:ext cx="88040" cy="104474"/>
            </a:xfrm>
            <a:custGeom>
              <a:avLst/>
              <a:gdLst>
                <a:gd name="connsiteX0" fmla="*/ 293300 w 370759"/>
                <a:gd name="connsiteY0" fmla="*/ 20424 h 439968"/>
                <a:gd name="connsiteX1" fmla="*/ 210865 w 370759"/>
                <a:gd name="connsiteY1" fmla="*/ 36 h 439968"/>
                <a:gd name="connsiteX2" fmla="*/ 127937 w 370759"/>
                <a:gd name="connsiteY2" fmla="*/ 23381 h 439968"/>
                <a:gd name="connsiteX3" fmla="*/ 83062 w 370759"/>
                <a:gd name="connsiteY3" fmla="*/ 72313 h 439968"/>
                <a:gd name="connsiteX4" fmla="*/ 83062 w 370759"/>
                <a:gd name="connsiteY4" fmla="*/ 8505 h 439968"/>
                <a:gd name="connsiteX5" fmla="*/ 0 w 370759"/>
                <a:gd name="connsiteY5" fmla="*/ 8505 h 439968"/>
                <a:gd name="connsiteX6" fmla="*/ 0 w 370759"/>
                <a:gd name="connsiteY6" fmla="*/ 439835 h 439968"/>
                <a:gd name="connsiteX7" fmla="*/ 83287 w 370759"/>
                <a:gd name="connsiteY7" fmla="*/ 439835 h 439968"/>
                <a:gd name="connsiteX8" fmla="*/ 83287 w 370759"/>
                <a:gd name="connsiteY8" fmla="*/ 184424 h 439968"/>
                <a:gd name="connsiteX9" fmla="*/ 113488 w 370759"/>
                <a:gd name="connsiteY9" fmla="*/ 103320 h 439968"/>
                <a:gd name="connsiteX10" fmla="*/ 191300 w 370759"/>
                <a:gd name="connsiteY10" fmla="*/ 74015 h 439968"/>
                <a:gd name="connsiteX11" fmla="*/ 260182 w 370759"/>
                <a:gd name="connsiteY11" fmla="*/ 102917 h 439968"/>
                <a:gd name="connsiteX12" fmla="*/ 286524 w 370759"/>
                <a:gd name="connsiteY12" fmla="*/ 181019 h 439968"/>
                <a:gd name="connsiteX13" fmla="*/ 286524 w 370759"/>
                <a:gd name="connsiteY13" fmla="*/ 439969 h 439968"/>
                <a:gd name="connsiteX14" fmla="*/ 370708 w 370759"/>
                <a:gd name="connsiteY14" fmla="*/ 439969 h 439968"/>
                <a:gd name="connsiteX15" fmla="*/ 370708 w 370759"/>
                <a:gd name="connsiteY15" fmla="*/ 167307 h 439968"/>
                <a:gd name="connsiteX16" fmla="*/ 349886 w 370759"/>
                <a:gd name="connsiteY16" fmla="*/ 78586 h 439968"/>
                <a:gd name="connsiteX17" fmla="*/ 293300 w 370759"/>
                <a:gd name="connsiteY17" fmla="*/ 20424 h 4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759" h="439968">
                  <a:moveTo>
                    <a:pt x="293300" y="20424"/>
                  </a:moveTo>
                  <a:cubicBezTo>
                    <a:pt x="268111" y="6466"/>
                    <a:pt x="239666" y="-569"/>
                    <a:pt x="210865" y="36"/>
                  </a:cubicBezTo>
                  <a:cubicBezTo>
                    <a:pt x="181589" y="-13"/>
                    <a:pt x="152874" y="8066"/>
                    <a:pt x="127937" y="23381"/>
                  </a:cubicBezTo>
                  <a:cubicBezTo>
                    <a:pt x="108753" y="35256"/>
                    <a:pt x="93227" y="52189"/>
                    <a:pt x="83062" y="72313"/>
                  </a:cubicBezTo>
                  <a:lnTo>
                    <a:pt x="83062" y="8505"/>
                  </a:lnTo>
                  <a:lnTo>
                    <a:pt x="0" y="8505"/>
                  </a:lnTo>
                  <a:lnTo>
                    <a:pt x="0" y="439835"/>
                  </a:lnTo>
                  <a:lnTo>
                    <a:pt x="83287" y="439835"/>
                  </a:lnTo>
                  <a:lnTo>
                    <a:pt x="83287" y="184424"/>
                  </a:lnTo>
                  <a:cubicBezTo>
                    <a:pt x="83287" y="149890"/>
                    <a:pt x="93352" y="122857"/>
                    <a:pt x="113488" y="103320"/>
                  </a:cubicBezTo>
                  <a:cubicBezTo>
                    <a:pt x="133623" y="83784"/>
                    <a:pt x="159560" y="74015"/>
                    <a:pt x="191300" y="74015"/>
                  </a:cubicBezTo>
                  <a:cubicBezTo>
                    <a:pt x="219602" y="74015"/>
                    <a:pt x="242560" y="83649"/>
                    <a:pt x="260182" y="102917"/>
                  </a:cubicBezTo>
                  <a:cubicBezTo>
                    <a:pt x="277805" y="122185"/>
                    <a:pt x="286582" y="148219"/>
                    <a:pt x="286524" y="181019"/>
                  </a:cubicBezTo>
                  <a:lnTo>
                    <a:pt x="286524" y="439969"/>
                  </a:lnTo>
                  <a:lnTo>
                    <a:pt x="370708" y="439969"/>
                  </a:lnTo>
                  <a:lnTo>
                    <a:pt x="370708" y="167307"/>
                  </a:lnTo>
                  <a:cubicBezTo>
                    <a:pt x="371444" y="136447"/>
                    <a:pt x="364278" y="105906"/>
                    <a:pt x="349886" y="78586"/>
                  </a:cubicBezTo>
                  <a:cubicBezTo>
                    <a:pt x="336855" y="54286"/>
                    <a:pt x="317245" y="34135"/>
                    <a:pt x="293300" y="20424"/>
                  </a:cubicBezTo>
                  <a:close/>
                </a:path>
              </a:pathLst>
            </a:custGeom>
            <a:grpFill/>
            <a:ln w="4485" cap="flat">
              <a:noFill/>
              <a:prstDash val="solid"/>
              <a:miter/>
            </a:ln>
          </p:spPr>
          <p:txBody>
            <a:bodyPr rtlCol="0" anchor="ctr"/>
            <a:lstStyle/>
            <a:p>
              <a:endParaRPr lang="es-ES_tradnl"/>
            </a:p>
          </p:txBody>
        </p:sp>
        <p:sp>
          <p:nvSpPr>
            <p:cNvPr id="20" name="Forma libre 167">
              <a:extLst>
                <a:ext uri="{FF2B5EF4-FFF2-40B4-BE49-F238E27FC236}">
                  <a16:creationId xmlns:a16="http://schemas.microsoft.com/office/drawing/2014/main" id="{D57AFBD0-848B-A88F-7578-31D129F52898}"/>
                </a:ext>
              </a:extLst>
            </p:cNvPr>
            <p:cNvSpPr/>
            <p:nvPr/>
          </p:nvSpPr>
          <p:spPr>
            <a:xfrm>
              <a:off x="11472902" y="400789"/>
              <a:ext cx="98722" cy="140357"/>
            </a:xfrm>
            <a:custGeom>
              <a:avLst/>
              <a:gdLst>
                <a:gd name="connsiteX0" fmla="*/ 331652 w 415746"/>
                <a:gd name="connsiteY0" fmla="*/ 81022 h 591083"/>
                <a:gd name="connsiteX1" fmla="*/ 322273 w 415746"/>
                <a:gd name="connsiteY1" fmla="*/ 65876 h 591083"/>
                <a:gd name="connsiteX2" fmla="*/ 269994 w 415746"/>
                <a:gd name="connsiteY2" fmla="*/ 17931 h 591083"/>
                <a:gd name="connsiteX3" fmla="*/ 192182 w 415746"/>
                <a:gd name="connsiteY3" fmla="*/ 7 h 591083"/>
                <a:gd name="connsiteX4" fmla="*/ 115895 w 415746"/>
                <a:gd name="connsiteY4" fmla="*/ 15287 h 591083"/>
                <a:gd name="connsiteX5" fmla="*/ 54686 w 415746"/>
                <a:gd name="connsiteY5" fmla="*/ 58169 h 591083"/>
                <a:gd name="connsiteX6" fmla="*/ 14299 w 415746"/>
                <a:gd name="connsiteY6" fmla="*/ 123097 h 591083"/>
                <a:gd name="connsiteX7" fmla="*/ 29 w 415746"/>
                <a:gd name="connsiteY7" fmla="*/ 204739 h 591083"/>
                <a:gd name="connsiteX8" fmla="*/ 25518 w 415746"/>
                <a:gd name="connsiteY8" fmla="*/ 309591 h 591083"/>
                <a:gd name="connsiteX9" fmla="*/ 94400 w 415746"/>
                <a:gd name="connsiteY9" fmla="*/ 382630 h 591083"/>
                <a:gd name="connsiteX10" fmla="*/ 192182 w 415746"/>
                <a:gd name="connsiteY10" fmla="*/ 409515 h 591083"/>
                <a:gd name="connsiteX11" fmla="*/ 269994 w 415746"/>
                <a:gd name="connsiteY11" fmla="*/ 391233 h 591083"/>
                <a:gd name="connsiteX12" fmla="*/ 322273 w 415746"/>
                <a:gd name="connsiteY12" fmla="*/ 343288 h 591083"/>
                <a:gd name="connsiteX13" fmla="*/ 331652 w 415746"/>
                <a:gd name="connsiteY13" fmla="*/ 328366 h 591083"/>
                <a:gd name="connsiteX14" fmla="*/ 331652 w 415746"/>
                <a:gd name="connsiteY14" fmla="*/ 389127 h 591083"/>
                <a:gd name="connsiteX15" fmla="*/ 313702 w 415746"/>
                <a:gd name="connsiteY15" fmla="*/ 460015 h 591083"/>
                <a:gd name="connsiteX16" fmla="*/ 266135 w 415746"/>
                <a:gd name="connsiteY16" fmla="*/ 502717 h 591083"/>
                <a:gd name="connsiteX17" fmla="*/ 200663 w 415746"/>
                <a:gd name="connsiteY17" fmla="*/ 517146 h 591083"/>
                <a:gd name="connsiteX18" fmla="*/ 125812 w 415746"/>
                <a:gd name="connsiteY18" fmla="*/ 497206 h 591083"/>
                <a:gd name="connsiteX19" fmla="*/ 70572 w 415746"/>
                <a:gd name="connsiteY19" fmla="*/ 441598 h 591083"/>
                <a:gd name="connsiteX20" fmla="*/ 11876 w 415746"/>
                <a:gd name="connsiteY20" fmla="*/ 488289 h 591083"/>
                <a:gd name="connsiteX21" fmla="*/ 62046 w 415746"/>
                <a:gd name="connsiteY21" fmla="*/ 546854 h 591083"/>
                <a:gd name="connsiteX22" fmla="*/ 127114 w 415746"/>
                <a:gd name="connsiteY22" fmla="*/ 580416 h 591083"/>
                <a:gd name="connsiteX23" fmla="*/ 199811 w 415746"/>
                <a:gd name="connsiteY23" fmla="*/ 591035 h 591083"/>
                <a:gd name="connsiteX24" fmla="*/ 311189 w 415746"/>
                <a:gd name="connsiteY24" fmla="*/ 567242 h 591083"/>
                <a:gd name="connsiteX25" fmla="*/ 387700 w 415746"/>
                <a:gd name="connsiteY25" fmla="*/ 497206 h 591083"/>
                <a:gd name="connsiteX26" fmla="*/ 415747 w 415746"/>
                <a:gd name="connsiteY26" fmla="*/ 384691 h 591083"/>
                <a:gd name="connsiteX27" fmla="*/ 415747 w 415746"/>
                <a:gd name="connsiteY27" fmla="*/ 8566 h 591083"/>
                <a:gd name="connsiteX28" fmla="*/ 331652 w 415746"/>
                <a:gd name="connsiteY28" fmla="*/ 8566 h 591083"/>
                <a:gd name="connsiteX29" fmla="*/ 317202 w 415746"/>
                <a:gd name="connsiteY29" fmla="*/ 271369 h 591083"/>
                <a:gd name="connsiteX30" fmla="*/ 273405 w 415746"/>
                <a:gd name="connsiteY30" fmla="*/ 317209 h 591083"/>
                <a:gd name="connsiteX31" fmla="*/ 145423 w 415746"/>
                <a:gd name="connsiteY31" fmla="*/ 317209 h 591083"/>
                <a:gd name="connsiteX32" fmla="*/ 101221 w 415746"/>
                <a:gd name="connsiteY32" fmla="*/ 271369 h 591083"/>
                <a:gd name="connsiteX33" fmla="*/ 85067 w 415746"/>
                <a:gd name="connsiteY33" fmla="*/ 204694 h 591083"/>
                <a:gd name="connsiteX34" fmla="*/ 101221 w 415746"/>
                <a:gd name="connsiteY34" fmla="*/ 137212 h 591083"/>
                <a:gd name="connsiteX35" fmla="*/ 145423 w 415746"/>
                <a:gd name="connsiteY35" fmla="*/ 91372 h 591083"/>
                <a:gd name="connsiteX36" fmla="*/ 273405 w 415746"/>
                <a:gd name="connsiteY36" fmla="*/ 91372 h 591083"/>
                <a:gd name="connsiteX37" fmla="*/ 317202 w 415746"/>
                <a:gd name="connsiteY37" fmla="*/ 137212 h 591083"/>
                <a:gd name="connsiteX38" fmla="*/ 333447 w 415746"/>
                <a:gd name="connsiteY38" fmla="*/ 204739 h 591083"/>
                <a:gd name="connsiteX39" fmla="*/ 317202 w 415746"/>
                <a:gd name="connsiteY39" fmla="*/ 271369 h 59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15746" h="591083">
                  <a:moveTo>
                    <a:pt x="331652" y="81022"/>
                  </a:moveTo>
                  <a:cubicBezTo>
                    <a:pt x="328735" y="75869"/>
                    <a:pt x="325594" y="70805"/>
                    <a:pt x="322273" y="65876"/>
                  </a:cubicBezTo>
                  <a:cubicBezTo>
                    <a:pt x="308896" y="45986"/>
                    <a:pt x="290978" y="29554"/>
                    <a:pt x="269994" y="17931"/>
                  </a:cubicBezTo>
                  <a:cubicBezTo>
                    <a:pt x="248724" y="5980"/>
                    <a:pt x="222786" y="7"/>
                    <a:pt x="192182" y="7"/>
                  </a:cubicBezTo>
                  <a:cubicBezTo>
                    <a:pt x="165966" y="-221"/>
                    <a:pt x="139993" y="4981"/>
                    <a:pt x="115895" y="15287"/>
                  </a:cubicBezTo>
                  <a:cubicBezTo>
                    <a:pt x="92749" y="25217"/>
                    <a:pt x="71914" y="39815"/>
                    <a:pt x="54686" y="58169"/>
                  </a:cubicBezTo>
                  <a:cubicBezTo>
                    <a:pt x="37140" y="76998"/>
                    <a:pt x="23423" y="99048"/>
                    <a:pt x="14299" y="123097"/>
                  </a:cubicBezTo>
                  <a:cubicBezTo>
                    <a:pt x="4499" y="149189"/>
                    <a:pt x="-339" y="176877"/>
                    <a:pt x="29" y="204739"/>
                  </a:cubicBezTo>
                  <a:cubicBezTo>
                    <a:pt x="-576" y="241289"/>
                    <a:pt x="8197" y="277387"/>
                    <a:pt x="25518" y="309591"/>
                  </a:cubicBezTo>
                  <a:cubicBezTo>
                    <a:pt x="41668" y="339546"/>
                    <a:pt x="65425" y="364733"/>
                    <a:pt x="94400" y="382630"/>
                  </a:cubicBezTo>
                  <a:cubicBezTo>
                    <a:pt x="123789" y="400647"/>
                    <a:pt x="157696" y="409972"/>
                    <a:pt x="192182" y="409515"/>
                  </a:cubicBezTo>
                  <a:cubicBezTo>
                    <a:pt x="222786" y="409515"/>
                    <a:pt x="248724" y="403421"/>
                    <a:pt x="269994" y="391233"/>
                  </a:cubicBezTo>
                  <a:cubicBezTo>
                    <a:pt x="290856" y="379444"/>
                    <a:pt x="308739" y="363044"/>
                    <a:pt x="322273" y="343288"/>
                  </a:cubicBezTo>
                  <a:cubicBezTo>
                    <a:pt x="325594" y="338448"/>
                    <a:pt x="328735" y="333474"/>
                    <a:pt x="331652" y="328366"/>
                  </a:cubicBezTo>
                  <a:lnTo>
                    <a:pt x="331652" y="389127"/>
                  </a:lnTo>
                  <a:cubicBezTo>
                    <a:pt x="331652" y="417446"/>
                    <a:pt x="325670" y="441074"/>
                    <a:pt x="313702" y="460015"/>
                  </a:cubicBezTo>
                  <a:cubicBezTo>
                    <a:pt x="302232" y="478476"/>
                    <a:pt x="285732" y="493290"/>
                    <a:pt x="266135" y="502717"/>
                  </a:cubicBezTo>
                  <a:cubicBezTo>
                    <a:pt x="245699" y="512450"/>
                    <a:pt x="223303" y="517383"/>
                    <a:pt x="200663" y="517146"/>
                  </a:cubicBezTo>
                  <a:cubicBezTo>
                    <a:pt x="174349" y="517522"/>
                    <a:pt x="148443" y="510622"/>
                    <a:pt x="125812" y="497206"/>
                  </a:cubicBezTo>
                  <a:cubicBezTo>
                    <a:pt x="103196" y="483364"/>
                    <a:pt x="84250" y="464294"/>
                    <a:pt x="70572" y="441598"/>
                  </a:cubicBezTo>
                  <a:lnTo>
                    <a:pt x="11876" y="488289"/>
                  </a:lnTo>
                  <a:cubicBezTo>
                    <a:pt x="24535" y="510944"/>
                    <a:pt x="41592" y="530857"/>
                    <a:pt x="62046" y="546854"/>
                  </a:cubicBezTo>
                  <a:cubicBezTo>
                    <a:pt x="81485" y="561941"/>
                    <a:pt x="103541" y="573318"/>
                    <a:pt x="127114" y="580416"/>
                  </a:cubicBezTo>
                  <a:cubicBezTo>
                    <a:pt x="150696" y="587482"/>
                    <a:pt x="175188" y="591062"/>
                    <a:pt x="199811" y="591035"/>
                  </a:cubicBezTo>
                  <a:cubicBezTo>
                    <a:pt x="238277" y="591788"/>
                    <a:pt x="276398" y="583647"/>
                    <a:pt x="311189" y="567242"/>
                  </a:cubicBezTo>
                  <a:cubicBezTo>
                    <a:pt x="342987" y="551846"/>
                    <a:pt x="369580" y="527501"/>
                    <a:pt x="387700" y="497206"/>
                  </a:cubicBezTo>
                  <a:cubicBezTo>
                    <a:pt x="406399" y="466346"/>
                    <a:pt x="415747" y="428841"/>
                    <a:pt x="415747" y="384691"/>
                  </a:cubicBezTo>
                  <a:lnTo>
                    <a:pt x="415747" y="8566"/>
                  </a:lnTo>
                  <a:lnTo>
                    <a:pt x="331652" y="8566"/>
                  </a:lnTo>
                  <a:close/>
                  <a:moveTo>
                    <a:pt x="317202" y="271369"/>
                  </a:moveTo>
                  <a:cubicBezTo>
                    <a:pt x="306980" y="290292"/>
                    <a:pt x="291853" y="306123"/>
                    <a:pt x="273405" y="317209"/>
                  </a:cubicBezTo>
                  <a:cubicBezTo>
                    <a:pt x="233601" y="339255"/>
                    <a:pt x="185226" y="339255"/>
                    <a:pt x="145423" y="317209"/>
                  </a:cubicBezTo>
                  <a:cubicBezTo>
                    <a:pt x="126773" y="306244"/>
                    <a:pt x="111489" y="290391"/>
                    <a:pt x="101221" y="271369"/>
                  </a:cubicBezTo>
                  <a:cubicBezTo>
                    <a:pt x="90218" y="250887"/>
                    <a:pt x="84654" y="227932"/>
                    <a:pt x="85067" y="204694"/>
                  </a:cubicBezTo>
                  <a:cubicBezTo>
                    <a:pt x="84591" y="181192"/>
                    <a:pt x="90155" y="157958"/>
                    <a:pt x="101221" y="137212"/>
                  </a:cubicBezTo>
                  <a:cubicBezTo>
                    <a:pt x="111489" y="118190"/>
                    <a:pt x="126773" y="102337"/>
                    <a:pt x="145423" y="91372"/>
                  </a:cubicBezTo>
                  <a:cubicBezTo>
                    <a:pt x="185213" y="69268"/>
                    <a:pt x="233615" y="69268"/>
                    <a:pt x="273405" y="91372"/>
                  </a:cubicBezTo>
                  <a:cubicBezTo>
                    <a:pt x="291853" y="102458"/>
                    <a:pt x="306980" y="118289"/>
                    <a:pt x="317202" y="137212"/>
                  </a:cubicBezTo>
                  <a:cubicBezTo>
                    <a:pt x="328291" y="157972"/>
                    <a:pt x="333882" y="181214"/>
                    <a:pt x="333447" y="204739"/>
                  </a:cubicBezTo>
                  <a:cubicBezTo>
                    <a:pt x="333801" y="227968"/>
                    <a:pt x="328210" y="250901"/>
                    <a:pt x="317202" y="271369"/>
                  </a:cubicBezTo>
                  <a:close/>
                </a:path>
              </a:pathLst>
            </a:custGeom>
            <a:grpFill/>
            <a:ln w="4485" cap="flat">
              <a:noFill/>
              <a:prstDash val="solid"/>
              <a:miter/>
            </a:ln>
          </p:spPr>
          <p:txBody>
            <a:bodyPr rtlCol="0" anchor="ctr"/>
            <a:lstStyle/>
            <a:p>
              <a:endParaRPr lang="es-ES_tradnl"/>
            </a:p>
          </p:txBody>
        </p:sp>
        <p:sp>
          <p:nvSpPr>
            <p:cNvPr id="21" name="Forma libre 168">
              <a:extLst>
                <a:ext uri="{FF2B5EF4-FFF2-40B4-BE49-F238E27FC236}">
                  <a16:creationId xmlns:a16="http://schemas.microsoft.com/office/drawing/2014/main" id="{D010532F-6D07-9BCF-DFBC-459BA14E2EC2}"/>
                </a:ext>
              </a:extLst>
            </p:cNvPr>
            <p:cNvSpPr/>
            <p:nvPr/>
          </p:nvSpPr>
          <p:spPr>
            <a:xfrm>
              <a:off x="11591573" y="400808"/>
              <a:ext cx="53503" cy="104437"/>
            </a:xfrm>
            <a:custGeom>
              <a:avLst/>
              <a:gdLst>
                <a:gd name="connsiteX0" fmla="*/ 132200 w 225314"/>
                <a:gd name="connsiteY0" fmla="*/ 19551 h 439813"/>
                <a:gd name="connsiteX1" fmla="*/ 83287 w 225314"/>
                <a:gd name="connsiteY1" fmla="*/ 79192 h 439813"/>
                <a:gd name="connsiteX2" fmla="*/ 83287 w 225314"/>
                <a:gd name="connsiteY2" fmla="*/ 8483 h 439813"/>
                <a:gd name="connsiteX3" fmla="*/ 0 w 225314"/>
                <a:gd name="connsiteY3" fmla="*/ 8483 h 439813"/>
                <a:gd name="connsiteX4" fmla="*/ 0 w 225314"/>
                <a:gd name="connsiteY4" fmla="*/ 439813 h 439813"/>
                <a:gd name="connsiteX5" fmla="*/ 83287 w 225314"/>
                <a:gd name="connsiteY5" fmla="*/ 439813 h 439813"/>
                <a:gd name="connsiteX6" fmla="*/ 83287 w 225314"/>
                <a:gd name="connsiteY6" fmla="*/ 209720 h 439813"/>
                <a:gd name="connsiteX7" fmla="*/ 111379 w 225314"/>
                <a:gd name="connsiteY7" fmla="*/ 121402 h 439813"/>
                <a:gd name="connsiteX8" fmla="*/ 182774 w 225314"/>
                <a:gd name="connsiteY8" fmla="*/ 88153 h 439813"/>
                <a:gd name="connsiteX9" fmla="*/ 225315 w 225314"/>
                <a:gd name="connsiteY9" fmla="*/ 88153 h 439813"/>
                <a:gd name="connsiteX10" fmla="*/ 225315 w 225314"/>
                <a:gd name="connsiteY10" fmla="*/ 14 h 439813"/>
                <a:gd name="connsiteX11" fmla="*/ 200634 w 225314"/>
                <a:gd name="connsiteY11" fmla="*/ 14 h 439813"/>
                <a:gd name="connsiteX12" fmla="*/ 132200 w 225314"/>
                <a:gd name="connsiteY12" fmla="*/ 19551 h 43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314" h="439813">
                  <a:moveTo>
                    <a:pt x="132200" y="19551"/>
                  </a:moveTo>
                  <a:cubicBezTo>
                    <a:pt x="112065" y="32425"/>
                    <a:pt x="95762" y="52306"/>
                    <a:pt x="83287" y="79192"/>
                  </a:cubicBezTo>
                  <a:lnTo>
                    <a:pt x="83287" y="8483"/>
                  </a:lnTo>
                  <a:lnTo>
                    <a:pt x="0" y="8483"/>
                  </a:lnTo>
                  <a:lnTo>
                    <a:pt x="0" y="439813"/>
                  </a:lnTo>
                  <a:lnTo>
                    <a:pt x="83287" y="439813"/>
                  </a:lnTo>
                  <a:lnTo>
                    <a:pt x="83287" y="209720"/>
                  </a:lnTo>
                  <a:cubicBezTo>
                    <a:pt x="83287" y="172945"/>
                    <a:pt x="92652" y="143506"/>
                    <a:pt x="111379" y="121402"/>
                  </a:cubicBezTo>
                  <a:cubicBezTo>
                    <a:pt x="128749" y="99893"/>
                    <a:pt x="155109" y="87616"/>
                    <a:pt x="182774" y="88153"/>
                  </a:cubicBezTo>
                  <a:lnTo>
                    <a:pt x="225315" y="88153"/>
                  </a:lnTo>
                  <a:lnTo>
                    <a:pt x="225315" y="14"/>
                  </a:lnTo>
                  <a:lnTo>
                    <a:pt x="200634" y="14"/>
                  </a:lnTo>
                  <a:cubicBezTo>
                    <a:pt x="176393" y="-357"/>
                    <a:pt x="152582" y="6440"/>
                    <a:pt x="132200" y="19551"/>
                  </a:cubicBezTo>
                  <a:close/>
                </a:path>
              </a:pathLst>
            </a:custGeom>
            <a:grpFill/>
            <a:ln w="4485" cap="flat">
              <a:noFill/>
              <a:prstDash val="solid"/>
              <a:miter/>
            </a:ln>
          </p:spPr>
          <p:txBody>
            <a:bodyPr rtlCol="0" anchor="ctr"/>
            <a:lstStyle/>
            <a:p>
              <a:endParaRPr lang="es-ES_tradnl"/>
            </a:p>
          </p:txBody>
        </p:sp>
        <p:sp>
          <p:nvSpPr>
            <p:cNvPr id="22" name="Forma libre 169">
              <a:extLst>
                <a:ext uri="{FF2B5EF4-FFF2-40B4-BE49-F238E27FC236}">
                  <a16:creationId xmlns:a16="http://schemas.microsoft.com/office/drawing/2014/main" id="{2D9C6850-A20C-1144-AFA9-D77C64CE454F}"/>
                </a:ext>
              </a:extLst>
            </p:cNvPr>
            <p:cNvSpPr/>
            <p:nvPr/>
          </p:nvSpPr>
          <p:spPr>
            <a:xfrm>
              <a:off x="11656200" y="402823"/>
              <a:ext cx="19788" cy="102412"/>
            </a:xfrm>
            <a:custGeom>
              <a:avLst/>
              <a:gdLst>
                <a:gd name="connsiteX0" fmla="*/ 0 w 83331"/>
                <a:gd name="connsiteY0" fmla="*/ 0 h 431284"/>
                <a:gd name="connsiteX1" fmla="*/ 83332 w 83331"/>
                <a:gd name="connsiteY1" fmla="*/ 0 h 431284"/>
                <a:gd name="connsiteX2" fmla="*/ 83332 w 83331"/>
                <a:gd name="connsiteY2" fmla="*/ 431285 h 431284"/>
                <a:gd name="connsiteX3" fmla="*/ 0 w 83331"/>
                <a:gd name="connsiteY3" fmla="*/ 431285 h 431284"/>
              </a:gdLst>
              <a:ahLst/>
              <a:cxnLst>
                <a:cxn ang="0">
                  <a:pos x="connsiteX0" y="connsiteY0"/>
                </a:cxn>
                <a:cxn ang="0">
                  <a:pos x="connsiteX1" y="connsiteY1"/>
                </a:cxn>
                <a:cxn ang="0">
                  <a:pos x="connsiteX2" y="connsiteY2"/>
                </a:cxn>
                <a:cxn ang="0">
                  <a:pos x="connsiteX3" y="connsiteY3"/>
                </a:cxn>
              </a:cxnLst>
              <a:rect l="l" t="t" r="r" b="b"/>
              <a:pathLst>
                <a:path w="83331" h="431284">
                  <a:moveTo>
                    <a:pt x="0" y="0"/>
                  </a:moveTo>
                  <a:lnTo>
                    <a:pt x="83332" y="0"/>
                  </a:lnTo>
                  <a:lnTo>
                    <a:pt x="83332" y="431285"/>
                  </a:lnTo>
                  <a:lnTo>
                    <a:pt x="0" y="431285"/>
                  </a:lnTo>
                  <a:close/>
                </a:path>
              </a:pathLst>
            </a:custGeom>
            <a:grpFill/>
            <a:ln w="4485" cap="flat">
              <a:noFill/>
              <a:prstDash val="solid"/>
              <a:miter/>
            </a:ln>
          </p:spPr>
          <p:txBody>
            <a:bodyPr rtlCol="0" anchor="ctr"/>
            <a:lstStyle/>
            <a:p>
              <a:endParaRPr lang="es-ES_tradnl"/>
            </a:p>
          </p:txBody>
        </p:sp>
        <p:sp>
          <p:nvSpPr>
            <p:cNvPr id="23" name="Forma libre 170">
              <a:extLst>
                <a:ext uri="{FF2B5EF4-FFF2-40B4-BE49-F238E27FC236}">
                  <a16:creationId xmlns:a16="http://schemas.microsoft.com/office/drawing/2014/main" id="{7FC7A931-9177-5317-FFAE-E82C48FAC846}"/>
                </a:ext>
              </a:extLst>
            </p:cNvPr>
            <p:cNvSpPr/>
            <p:nvPr/>
          </p:nvSpPr>
          <p:spPr>
            <a:xfrm>
              <a:off x="11652553" y="359481"/>
              <a:ext cx="27284" cy="26014"/>
            </a:xfrm>
            <a:custGeom>
              <a:avLst/>
              <a:gdLst>
                <a:gd name="connsiteX0" fmla="*/ 97841 w 114900"/>
                <a:gd name="connsiteY0" fmla="*/ 14850 h 109551"/>
                <a:gd name="connsiteX1" fmla="*/ 57005 w 114900"/>
                <a:gd name="connsiteY1" fmla="*/ 19 h 109551"/>
                <a:gd name="connsiteX2" fmla="*/ 16618 w 114900"/>
                <a:gd name="connsiteY2" fmla="*/ 14850 h 109551"/>
                <a:gd name="connsiteX3" fmla="*/ 59 w 114900"/>
                <a:gd name="connsiteY3" fmla="*/ 55178 h 109551"/>
                <a:gd name="connsiteX4" fmla="*/ 16618 w 114900"/>
                <a:gd name="connsiteY4" fmla="*/ 94655 h 109551"/>
                <a:gd name="connsiteX5" fmla="*/ 57005 w 114900"/>
                <a:gd name="connsiteY5" fmla="*/ 109531 h 109551"/>
                <a:gd name="connsiteX6" fmla="*/ 97841 w 114900"/>
                <a:gd name="connsiteY6" fmla="*/ 94655 h 109551"/>
                <a:gd name="connsiteX7" fmla="*/ 114848 w 114900"/>
                <a:gd name="connsiteY7" fmla="*/ 55178 h 109551"/>
                <a:gd name="connsiteX8" fmla="*/ 97841 w 114900"/>
                <a:gd name="connsiteY8" fmla="*/ 14850 h 10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00" h="109551">
                  <a:moveTo>
                    <a:pt x="97841" y="14850"/>
                  </a:moveTo>
                  <a:cubicBezTo>
                    <a:pt x="86564" y="4984"/>
                    <a:pt x="71998" y="-308"/>
                    <a:pt x="57005" y="19"/>
                  </a:cubicBezTo>
                  <a:cubicBezTo>
                    <a:pt x="42143" y="-358"/>
                    <a:pt x="27697" y="4948"/>
                    <a:pt x="16618" y="14850"/>
                  </a:cubicBezTo>
                  <a:cubicBezTo>
                    <a:pt x="5390" y="25183"/>
                    <a:pt x="-672" y="39952"/>
                    <a:pt x="59" y="55178"/>
                  </a:cubicBezTo>
                  <a:cubicBezTo>
                    <a:pt x="-560" y="70140"/>
                    <a:pt x="5507" y="84600"/>
                    <a:pt x="16618" y="94655"/>
                  </a:cubicBezTo>
                  <a:cubicBezTo>
                    <a:pt x="27675" y="104598"/>
                    <a:pt x="42129" y="109921"/>
                    <a:pt x="57005" y="109531"/>
                  </a:cubicBezTo>
                  <a:cubicBezTo>
                    <a:pt x="72007" y="109868"/>
                    <a:pt x="86582" y="104558"/>
                    <a:pt x="97841" y="94655"/>
                  </a:cubicBezTo>
                  <a:cubicBezTo>
                    <a:pt x="109181" y="84730"/>
                    <a:pt x="115432" y="70225"/>
                    <a:pt x="114848" y="55178"/>
                  </a:cubicBezTo>
                  <a:cubicBezTo>
                    <a:pt x="115544" y="39867"/>
                    <a:pt x="109297" y="25053"/>
                    <a:pt x="97841" y="14850"/>
                  </a:cubicBezTo>
                  <a:close/>
                </a:path>
              </a:pathLst>
            </a:custGeom>
            <a:grpFill/>
            <a:ln w="4485" cap="flat">
              <a:noFill/>
              <a:prstDash val="solid"/>
              <a:miter/>
            </a:ln>
          </p:spPr>
          <p:txBody>
            <a:bodyPr rtlCol="0" anchor="ctr"/>
            <a:lstStyle/>
            <a:p>
              <a:endParaRPr lang="es-ES_tradnl"/>
            </a:p>
          </p:txBody>
        </p:sp>
        <p:sp>
          <p:nvSpPr>
            <p:cNvPr id="24" name="Forma libre 171">
              <a:extLst>
                <a:ext uri="{FF2B5EF4-FFF2-40B4-BE49-F238E27FC236}">
                  <a16:creationId xmlns:a16="http://schemas.microsoft.com/office/drawing/2014/main" id="{C0CEECBA-1626-3297-0334-AD0424541FB5}"/>
                </a:ext>
              </a:extLst>
            </p:cNvPr>
            <p:cNvSpPr/>
            <p:nvPr/>
          </p:nvSpPr>
          <p:spPr>
            <a:xfrm>
              <a:off x="11690901" y="364114"/>
              <a:ext cx="101331" cy="143125"/>
            </a:xfrm>
            <a:custGeom>
              <a:avLst/>
              <a:gdLst>
                <a:gd name="connsiteX0" fmla="*/ 343402 w 426734"/>
                <a:gd name="connsiteY0" fmla="*/ 0 h 602739"/>
                <a:gd name="connsiteX1" fmla="*/ 343402 w 426734"/>
                <a:gd name="connsiteY1" fmla="*/ 240354 h 602739"/>
                <a:gd name="connsiteX2" fmla="*/ 335370 w 426734"/>
                <a:gd name="connsiteY2" fmla="*/ 227136 h 602739"/>
                <a:gd name="connsiteX3" fmla="*/ 279680 w 426734"/>
                <a:gd name="connsiteY3" fmla="*/ 174486 h 602739"/>
                <a:gd name="connsiteX4" fmla="*/ 198009 w 426734"/>
                <a:gd name="connsiteY4" fmla="*/ 154546 h 602739"/>
                <a:gd name="connsiteX5" fmla="*/ 119389 w 426734"/>
                <a:gd name="connsiteY5" fmla="*/ 170677 h 602739"/>
                <a:gd name="connsiteX6" fmla="*/ 56564 w 426734"/>
                <a:gd name="connsiteY6" fmla="*/ 216919 h 602739"/>
                <a:gd name="connsiteX7" fmla="*/ 14876 w 426734"/>
                <a:gd name="connsiteY7" fmla="*/ 287852 h 602739"/>
                <a:gd name="connsiteX8" fmla="*/ 23 w 426734"/>
                <a:gd name="connsiteY8" fmla="*/ 378679 h 602739"/>
                <a:gd name="connsiteX9" fmla="*/ 25960 w 426734"/>
                <a:gd name="connsiteY9" fmla="*/ 495451 h 602739"/>
                <a:gd name="connsiteX10" fmla="*/ 96862 w 426734"/>
                <a:gd name="connsiteY10" fmla="*/ 574270 h 602739"/>
                <a:gd name="connsiteX11" fmla="*/ 198009 w 426734"/>
                <a:gd name="connsiteY11" fmla="*/ 602723 h 602739"/>
                <a:gd name="connsiteX12" fmla="*/ 280084 w 426734"/>
                <a:gd name="connsiteY12" fmla="*/ 582783 h 602739"/>
                <a:gd name="connsiteX13" fmla="*/ 335773 w 426734"/>
                <a:gd name="connsiteY13" fmla="*/ 530133 h 602739"/>
                <a:gd name="connsiteX14" fmla="*/ 343402 w 426734"/>
                <a:gd name="connsiteY14" fmla="*/ 517407 h 602739"/>
                <a:gd name="connsiteX15" fmla="*/ 343402 w 426734"/>
                <a:gd name="connsiteY15" fmla="*/ 594254 h 602739"/>
                <a:gd name="connsiteX16" fmla="*/ 426734 w 426734"/>
                <a:gd name="connsiteY16" fmla="*/ 594254 h 602739"/>
                <a:gd name="connsiteX17" fmla="*/ 426734 w 426734"/>
                <a:gd name="connsiteY17" fmla="*/ 0 h 602739"/>
                <a:gd name="connsiteX18" fmla="*/ 308983 w 426734"/>
                <a:gd name="connsiteY18" fmla="*/ 488416 h 602739"/>
                <a:gd name="connsiteX19" fmla="*/ 267340 w 426734"/>
                <a:gd name="connsiteY19" fmla="*/ 518124 h 602739"/>
                <a:gd name="connsiteX20" fmla="*/ 215061 w 426734"/>
                <a:gd name="connsiteY20" fmla="*/ 528341 h 602739"/>
                <a:gd name="connsiteX21" fmla="*/ 120824 w 426734"/>
                <a:gd name="connsiteY21" fmla="*/ 488864 h 602739"/>
                <a:gd name="connsiteX22" fmla="*/ 84028 w 426734"/>
                <a:gd name="connsiteY22" fmla="*/ 378679 h 602739"/>
                <a:gd name="connsiteX23" fmla="*/ 93765 w 426734"/>
                <a:gd name="connsiteY23" fmla="*/ 315947 h 602739"/>
                <a:gd name="connsiteX24" fmla="*/ 121004 w 426734"/>
                <a:gd name="connsiteY24" fmla="*/ 269256 h 602739"/>
                <a:gd name="connsiteX25" fmla="*/ 162244 w 426734"/>
                <a:gd name="connsiteY25" fmla="*/ 239951 h 602739"/>
                <a:gd name="connsiteX26" fmla="*/ 214972 w 426734"/>
                <a:gd name="connsiteY26" fmla="*/ 230183 h 602739"/>
                <a:gd name="connsiteX27" fmla="*/ 308490 w 426734"/>
                <a:gd name="connsiteY27" fmla="*/ 269256 h 602739"/>
                <a:gd name="connsiteX28" fmla="*/ 345063 w 426734"/>
                <a:gd name="connsiteY28" fmla="*/ 378769 h 602739"/>
                <a:gd name="connsiteX29" fmla="*/ 335684 w 426734"/>
                <a:gd name="connsiteY29" fmla="*/ 441188 h 602739"/>
                <a:gd name="connsiteX30" fmla="*/ 308983 w 426734"/>
                <a:gd name="connsiteY30" fmla="*/ 488192 h 60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6734" h="602739">
                  <a:moveTo>
                    <a:pt x="343402" y="0"/>
                  </a:moveTo>
                  <a:lnTo>
                    <a:pt x="343402" y="240354"/>
                  </a:lnTo>
                  <a:cubicBezTo>
                    <a:pt x="340889" y="235874"/>
                    <a:pt x="338197" y="231393"/>
                    <a:pt x="335370" y="227136"/>
                  </a:cubicBezTo>
                  <a:cubicBezTo>
                    <a:pt x="321099" y="205551"/>
                    <a:pt x="302028" y="187534"/>
                    <a:pt x="279680" y="174486"/>
                  </a:cubicBezTo>
                  <a:cubicBezTo>
                    <a:pt x="256974" y="161222"/>
                    <a:pt x="229735" y="154577"/>
                    <a:pt x="198009" y="154546"/>
                  </a:cubicBezTo>
                  <a:cubicBezTo>
                    <a:pt x="170949" y="154281"/>
                    <a:pt x="144159" y="159779"/>
                    <a:pt x="119389" y="170677"/>
                  </a:cubicBezTo>
                  <a:cubicBezTo>
                    <a:pt x="95381" y="181413"/>
                    <a:pt x="73931" y="197186"/>
                    <a:pt x="56564" y="216919"/>
                  </a:cubicBezTo>
                  <a:cubicBezTo>
                    <a:pt x="38300" y="237711"/>
                    <a:pt x="24165" y="261782"/>
                    <a:pt x="14876" y="287852"/>
                  </a:cubicBezTo>
                  <a:cubicBezTo>
                    <a:pt x="4644" y="317022"/>
                    <a:pt x="-381" y="347770"/>
                    <a:pt x="23" y="378679"/>
                  </a:cubicBezTo>
                  <a:cubicBezTo>
                    <a:pt x="23" y="422829"/>
                    <a:pt x="8683" y="461755"/>
                    <a:pt x="25960" y="495451"/>
                  </a:cubicBezTo>
                  <a:cubicBezTo>
                    <a:pt x="41935" y="527691"/>
                    <a:pt x="66482" y="554948"/>
                    <a:pt x="96862" y="574270"/>
                  </a:cubicBezTo>
                  <a:cubicBezTo>
                    <a:pt x="127107" y="593318"/>
                    <a:pt x="162244" y="603198"/>
                    <a:pt x="198009" y="602723"/>
                  </a:cubicBezTo>
                  <a:cubicBezTo>
                    <a:pt x="229780" y="602723"/>
                    <a:pt x="257153" y="596078"/>
                    <a:pt x="280084" y="582783"/>
                  </a:cubicBezTo>
                  <a:cubicBezTo>
                    <a:pt x="302611" y="569937"/>
                    <a:pt x="321683" y="551879"/>
                    <a:pt x="335773" y="530133"/>
                  </a:cubicBezTo>
                  <a:cubicBezTo>
                    <a:pt x="338466" y="526011"/>
                    <a:pt x="340979" y="521754"/>
                    <a:pt x="343402" y="517407"/>
                  </a:cubicBezTo>
                  <a:lnTo>
                    <a:pt x="343402" y="594254"/>
                  </a:lnTo>
                  <a:lnTo>
                    <a:pt x="426734" y="594254"/>
                  </a:lnTo>
                  <a:lnTo>
                    <a:pt x="426734" y="0"/>
                  </a:lnTo>
                  <a:close/>
                  <a:moveTo>
                    <a:pt x="308983" y="488416"/>
                  </a:moveTo>
                  <a:cubicBezTo>
                    <a:pt x="297540" y="501339"/>
                    <a:pt x="283315" y="511497"/>
                    <a:pt x="267340" y="518124"/>
                  </a:cubicBezTo>
                  <a:cubicBezTo>
                    <a:pt x="250781" y="525011"/>
                    <a:pt x="233011" y="528489"/>
                    <a:pt x="215061" y="528341"/>
                  </a:cubicBezTo>
                  <a:cubicBezTo>
                    <a:pt x="176469" y="528341"/>
                    <a:pt x="145057" y="515180"/>
                    <a:pt x="120824" y="488864"/>
                  </a:cubicBezTo>
                  <a:cubicBezTo>
                    <a:pt x="96593" y="462548"/>
                    <a:pt x="84342" y="425818"/>
                    <a:pt x="84028" y="378679"/>
                  </a:cubicBezTo>
                  <a:cubicBezTo>
                    <a:pt x="83624" y="357364"/>
                    <a:pt x="86944" y="336147"/>
                    <a:pt x="93765" y="315947"/>
                  </a:cubicBezTo>
                  <a:cubicBezTo>
                    <a:pt x="99734" y="298772"/>
                    <a:pt x="108978" y="282914"/>
                    <a:pt x="121004" y="269256"/>
                  </a:cubicBezTo>
                  <a:cubicBezTo>
                    <a:pt x="132313" y="256445"/>
                    <a:pt x="146403" y="246417"/>
                    <a:pt x="162244" y="239951"/>
                  </a:cubicBezTo>
                  <a:cubicBezTo>
                    <a:pt x="179027" y="233275"/>
                    <a:pt x="196932" y="229954"/>
                    <a:pt x="214972" y="230183"/>
                  </a:cubicBezTo>
                  <a:cubicBezTo>
                    <a:pt x="252935" y="230183"/>
                    <a:pt x="284123" y="243209"/>
                    <a:pt x="308490" y="269256"/>
                  </a:cubicBezTo>
                  <a:cubicBezTo>
                    <a:pt x="332856" y="295304"/>
                    <a:pt x="345063" y="331809"/>
                    <a:pt x="345063" y="378769"/>
                  </a:cubicBezTo>
                  <a:cubicBezTo>
                    <a:pt x="345377" y="399946"/>
                    <a:pt x="342191" y="421033"/>
                    <a:pt x="335684" y="441188"/>
                  </a:cubicBezTo>
                  <a:cubicBezTo>
                    <a:pt x="330074" y="458497"/>
                    <a:pt x="320965" y="474489"/>
                    <a:pt x="308983" y="488192"/>
                  </a:cubicBezTo>
                  <a:close/>
                </a:path>
              </a:pathLst>
            </a:custGeom>
            <a:grpFill/>
            <a:ln w="4485" cap="flat">
              <a:noFill/>
              <a:prstDash val="solid"/>
              <a:miter/>
            </a:ln>
          </p:spPr>
          <p:txBody>
            <a:bodyPr rtlCol="0" anchor="ctr"/>
            <a:lstStyle/>
            <a:p>
              <a:endParaRPr lang="es-ES_tradnl"/>
            </a:p>
          </p:txBody>
        </p:sp>
        <p:sp>
          <p:nvSpPr>
            <p:cNvPr id="25" name="Forma libre 172">
              <a:extLst>
                <a:ext uri="{FF2B5EF4-FFF2-40B4-BE49-F238E27FC236}">
                  <a16:creationId xmlns:a16="http://schemas.microsoft.com/office/drawing/2014/main" id="{BAAE6168-2EDC-0554-6E85-21F1FE73F996}"/>
                </a:ext>
              </a:extLst>
            </p:cNvPr>
            <p:cNvSpPr/>
            <p:nvPr/>
          </p:nvSpPr>
          <p:spPr>
            <a:xfrm>
              <a:off x="10866114" y="301762"/>
              <a:ext cx="134370" cy="215067"/>
            </a:xfrm>
            <a:custGeom>
              <a:avLst/>
              <a:gdLst>
                <a:gd name="connsiteX0" fmla="*/ 0 w 565867"/>
                <a:gd name="connsiteY0" fmla="*/ 645695 h 905704"/>
                <a:gd name="connsiteX1" fmla="*/ 75165 w 565867"/>
                <a:gd name="connsiteY1" fmla="*/ 828336 h 905704"/>
                <a:gd name="connsiteX2" fmla="*/ 374837 w 565867"/>
                <a:gd name="connsiteY2" fmla="*/ 877357 h 905704"/>
                <a:gd name="connsiteX3" fmla="*/ 464900 w 565867"/>
                <a:gd name="connsiteY3" fmla="*/ 0 h 905704"/>
                <a:gd name="connsiteX4" fmla="*/ 0 w 565867"/>
                <a:gd name="connsiteY4" fmla="*/ 645695 h 905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867" h="905704">
                  <a:moveTo>
                    <a:pt x="0" y="645695"/>
                  </a:moveTo>
                  <a:cubicBezTo>
                    <a:pt x="-58" y="714091"/>
                    <a:pt x="26961" y="779741"/>
                    <a:pt x="75165" y="828336"/>
                  </a:cubicBezTo>
                  <a:cubicBezTo>
                    <a:pt x="168145" y="921180"/>
                    <a:pt x="294377" y="921000"/>
                    <a:pt x="374837" y="877357"/>
                  </a:cubicBezTo>
                  <a:cubicBezTo>
                    <a:pt x="473561" y="823989"/>
                    <a:pt x="694927" y="663932"/>
                    <a:pt x="464900" y="0"/>
                  </a:cubicBezTo>
                  <a:cubicBezTo>
                    <a:pt x="464810" y="313393"/>
                    <a:pt x="0" y="345252"/>
                    <a:pt x="0" y="645695"/>
                  </a:cubicBezTo>
                  <a:close/>
                </a:path>
              </a:pathLst>
            </a:custGeom>
            <a:grpFill/>
            <a:ln w="4485" cap="flat">
              <a:noFill/>
              <a:prstDash val="solid"/>
              <a:miter/>
            </a:ln>
          </p:spPr>
          <p:txBody>
            <a:bodyPr rtlCol="0" anchor="ctr"/>
            <a:lstStyle/>
            <a:p>
              <a:endParaRPr lang="es-ES_tradnl"/>
            </a:p>
          </p:txBody>
        </p:sp>
        <p:sp>
          <p:nvSpPr>
            <p:cNvPr id="26" name="Forma libre 173">
              <a:extLst>
                <a:ext uri="{FF2B5EF4-FFF2-40B4-BE49-F238E27FC236}">
                  <a16:creationId xmlns:a16="http://schemas.microsoft.com/office/drawing/2014/main" id="{7F68BA30-4127-BA8F-F195-633B3125BD9C}"/>
                </a:ext>
              </a:extLst>
            </p:cNvPr>
            <p:cNvSpPr/>
            <p:nvPr/>
          </p:nvSpPr>
          <p:spPr>
            <a:xfrm>
              <a:off x="10787879" y="301762"/>
              <a:ext cx="128488" cy="215058"/>
            </a:xfrm>
            <a:custGeom>
              <a:avLst/>
              <a:gdLst>
                <a:gd name="connsiteX0" fmla="*/ 541097 w 541096"/>
                <a:gd name="connsiteY0" fmla="*/ 274364 h 905666"/>
                <a:gd name="connsiteX1" fmla="*/ 464810 w 541096"/>
                <a:gd name="connsiteY1" fmla="*/ 0 h 905666"/>
                <a:gd name="connsiteX2" fmla="*/ 0 w 541096"/>
                <a:gd name="connsiteY2" fmla="*/ 645695 h 905666"/>
                <a:gd name="connsiteX3" fmla="*/ 75075 w 541096"/>
                <a:gd name="connsiteY3" fmla="*/ 828336 h 905666"/>
                <a:gd name="connsiteX4" fmla="*/ 374792 w 541096"/>
                <a:gd name="connsiteY4" fmla="*/ 877357 h 905666"/>
                <a:gd name="connsiteX5" fmla="*/ 541097 w 541096"/>
                <a:gd name="connsiteY5" fmla="*/ 274364 h 90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096" h="905666">
                  <a:moveTo>
                    <a:pt x="541097" y="274364"/>
                  </a:moveTo>
                  <a:cubicBezTo>
                    <a:pt x="525840" y="192230"/>
                    <a:pt x="501383" y="108124"/>
                    <a:pt x="464810" y="0"/>
                  </a:cubicBezTo>
                  <a:cubicBezTo>
                    <a:pt x="464810" y="313393"/>
                    <a:pt x="0" y="345252"/>
                    <a:pt x="0" y="645695"/>
                  </a:cubicBezTo>
                  <a:cubicBezTo>
                    <a:pt x="-81" y="714082"/>
                    <a:pt x="26902" y="779727"/>
                    <a:pt x="75075" y="828336"/>
                  </a:cubicBezTo>
                  <a:cubicBezTo>
                    <a:pt x="168055" y="921180"/>
                    <a:pt x="295274" y="920911"/>
                    <a:pt x="374792" y="877357"/>
                  </a:cubicBezTo>
                  <a:cubicBezTo>
                    <a:pt x="189640" y="680601"/>
                    <a:pt x="254977" y="452838"/>
                    <a:pt x="541097" y="274364"/>
                  </a:cubicBezTo>
                  <a:close/>
                </a:path>
              </a:pathLst>
            </a:custGeom>
            <a:grpFill/>
            <a:ln w="4485" cap="flat">
              <a:noFill/>
              <a:prstDash val="solid"/>
              <a:miter/>
            </a:ln>
          </p:spPr>
          <p:txBody>
            <a:bodyPr rtlCol="0" anchor="ctr"/>
            <a:lstStyle/>
            <a:p>
              <a:endParaRPr lang="es-ES_tradnl"/>
            </a:p>
          </p:txBody>
        </p:sp>
        <p:sp>
          <p:nvSpPr>
            <p:cNvPr id="27" name="Forma libre 174">
              <a:extLst>
                <a:ext uri="{FF2B5EF4-FFF2-40B4-BE49-F238E27FC236}">
                  <a16:creationId xmlns:a16="http://schemas.microsoft.com/office/drawing/2014/main" id="{253DE9F6-3CD4-E6DE-5564-AAB39A9FDC59}"/>
                </a:ext>
              </a:extLst>
            </p:cNvPr>
            <p:cNvSpPr/>
            <p:nvPr/>
          </p:nvSpPr>
          <p:spPr>
            <a:xfrm>
              <a:off x="10709665" y="301762"/>
              <a:ext cx="128477" cy="265750"/>
            </a:xfrm>
            <a:custGeom>
              <a:avLst/>
              <a:gdLst>
                <a:gd name="connsiteX0" fmla="*/ 541052 w 541051"/>
                <a:gd name="connsiteY0" fmla="*/ 274364 h 1119144"/>
                <a:gd name="connsiteX1" fmla="*/ 464765 w 541051"/>
                <a:gd name="connsiteY1" fmla="*/ 0 h 1119144"/>
                <a:gd name="connsiteX2" fmla="*/ 0 w 541051"/>
                <a:gd name="connsiteY2" fmla="*/ 645695 h 1119144"/>
                <a:gd name="connsiteX3" fmla="*/ 124975 w 541051"/>
                <a:gd name="connsiteY3" fmla="*/ 867633 h 1119144"/>
                <a:gd name="connsiteX4" fmla="*/ 112949 w 541051"/>
                <a:gd name="connsiteY4" fmla="*/ 1119145 h 1119144"/>
                <a:gd name="connsiteX5" fmla="*/ 172587 w 541051"/>
                <a:gd name="connsiteY5" fmla="*/ 1109242 h 1119144"/>
                <a:gd name="connsiteX6" fmla="*/ 163164 w 541051"/>
                <a:gd name="connsiteY6" fmla="*/ 886901 h 1119144"/>
                <a:gd name="connsiteX7" fmla="*/ 374567 w 541051"/>
                <a:gd name="connsiteY7" fmla="*/ 877446 h 1119144"/>
                <a:gd name="connsiteX8" fmla="*/ 541052 w 541051"/>
                <a:gd name="connsiteY8" fmla="*/ 274364 h 111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051" h="1119144">
                  <a:moveTo>
                    <a:pt x="541052" y="274364"/>
                  </a:moveTo>
                  <a:cubicBezTo>
                    <a:pt x="525795" y="192230"/>
                    <a:pt x="501293" y="108124"/>
                    <a:pt x="464765" y="0"/>
                  </a:cubicBezTo>
                  <a:cubicBezTo>
                    <a:pt x="464765" y="313393"/>
                    <a:pt x="0" y="345252"/>
                    <a:pt x="0" y="645695"/>
                  </a:cubicBezTo>
                  <a:cubicBezTo>
                    <a:pt x="0" y="799793"/>
                    <a:pt x="124975" y="867633"/>
                    <a:pt x="124975" y="867633"/>
                  </a:cubicBezTo>
                  <a:cubicBezTo>
                    <a:pt x="105536" y="950023"/>
                    <a:pt x="101457" y="1035281"/>
                    <a:pt x="112949" y="1119145"/>
                  </a:cubicBezTo>
                  <a:lnTo>
                    <a:pt x="172587" y="1109242"/>
                  </a:lnTo>
                  <a:cubicBezTo>
                    <a:pt x="143464" y="1007974"/>
                    <a:pt x="161324" y="897700"/>
                    <a:pt x="163164" y="886901"/>
                  </a:cubicBezTo>
                  <a:cubicBezTo>
                    <a:pt x="239450" y="917416"/>
                    <a:pt x="318160" y="908364"/>
                    <a:pt x="374567" y="877446"/>
                  </a:cubicBezTo>
                  <a:cubicBezTo>
                    <a:pt x="189505" y="680601"/>
                    <a:pt x="254842" y="452883"/>
                    <a:pt x="541052" y="274364"/>
                  </a:cubicBezTo>
                  <a:close/>
                </a:path>
              </a:pathLst>
            </a:custGeom>
            <a:grpFill/>
            <a:ln w="4485" cap="flat">
              <a:noFill/>
              <a:prstDash val="solid"/>
              <a:miter/>
            </a:ln>
          </p:spPr>
          <p:txBody>
            <a:bodyPr rtlCol="0" anchor="ctr"/>
            <a:lstStyle/>
            <a:p>
              <a:endParaRPr lang="es-ES_tradnl"/>
            </a:p>
          </p:txBody>
        </p:sp>
        <p:sp>
          <p:nvSpPr>
            <p:cNvPr id="28" name="Forma libre 176">
              <a:extLst>
                <a:ext uri="{FF2B5EF4-FFF2-40B4-BE49-F238E27FC236}">
                  <a16:creationId xmlns:a16="http://schemas.microsoft.com/office/drawing/2014/main" id="{75488488-D7B3-D14C-97D0-1497D6092A63}"/>
                </a:ext>
              </a:extLst>
            </p:cNvPr>
            <p:cNvSpPr/>
            <p:nvPr/>
          </p:nvSpPr>
          <p:spPr>
            <a:xfrm>
              <a:off x="11053102" y="570151"/>
              <a:ext cx="55069" cy="59585"/>
            </a:xfrm>
            <a:custGeom>
              <a:avLst/>
              <a:gdLst>
                <a:gd name="connsiteX0" fmla="*/ 62600 w 231911"/>
                <a:gd name="connsiteY0" fmla="*/ 176367 h 250929"/>
                <a:gd name="connsiteX1" fmla="*/ 168593 w 231911"/>
                <a:gd name="connsiteY1" fmla="*/ 176367 h 250929"/>
                <a:gd name="connsiteX2" fmla="*/ 197448 w 231911"/>
                <a:gd name="connsiteY2" fmla="*/ 250929 h 250929"/>
                <a:gd name="connsiteX3" fmla="*/ 231911 w 231911"/>
                <a:gd name="connsiteY3" fmla="*/ 250929 h 250929"/>
                <a:gd name="connsiteX4" fmla="*/ 131393 w 231911"/>
                <a:gd name="connsiteY4" fmla="*/ 0 h 250929"/>
                <a:gd name="connsiteX5" fmla="*/ 100519 w 231911"/>
                <a:gd name="connsiteY5" fmla="*/ 0 h 250929"/>
                <a:gd name="connsiteX6" fmla="*/ 0 w 231911"/>
                <a:gd name="connsiteY6" fmla="*/ 250929 h 250929"/>
                <a:gd name="connsiteX7" fmla="*/ 33746 w 231911"/>
                <a:gd name="connsiteY7" fmla="*/ 250929 h 250929"/>
                <a:gd name="connsiteX8" fmla="*/ 105186 w 231911"/>
                <a:gd name="connsiteY8" fmla="*/ 66317 h 250929"/>
                <a:gd name="connsiteX9" fmla="*/ 115597 w 231911"/>
                <a:gd name="connsiteY9" fmla="*/ 39790 h 250929"/>
                <a:gd name="connsiteX10" fmla="*/ 126008 w 231911"/>
                <a:gd name="connsiteY10" fmla="*/ 66317 h 250929"/>
                <a:gd name="connsiteX11" fmla="*/ 157420 w 231911"/>
                <a:gd name="connsiteY11" fmla="*/ 148048 h 250929"/>
                <a:gd name="connsiteX12" fmla="*/ 73549 w 231911"/>
                <a:gd name="connsiteY12" fmla="*/ 14804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911" h="250929">
                  <a:moveTo>
                    <a:pt x="62600" y="176367"/>
                  </a:moveTo>
                  <a:lnTo>
                    <a:pt x="168593" y="176367"/>
                  </a:lnTo>
                  <a:lnTo>
                    <a:pt x="197448" y="250929"/>
                  </a:lnTo>
                  <a:lnTo>
                    <a:pt x="231911" y="250929"/>
                  </a:lnTo>
                  <a:lnTo>
                    <a:pt x="131393" y="0"/>
                  </a:lnTo>
                  <a:lnTo>
                    <a:pt x="100519" y="0"/>
                  </a:lnTo>
                  <a:lnTo>
                    <a:pt x="0" y="250929"/>
                  </a:lnTo>
                  <a:lnTo>
                    <a:pt x="33746" y="250929"/>
                  </a:lnTo>
                  <a:close/>
                  <a:moveTo>
                    <a:pt x="105186" y="66317"/>
                  </a:moveTo>
                  <a:cubicBezTo>
                    <a:pt x="107789" y="59596"/>
                    <a:pt x="111289" y="50768"/>
                    <a:pt x="115597" y="39790"/>
                  </a:cubicBezTo>
                  <a:lnTo>
                    <a:pt x="126008" y="66317"/>
                  </a:lnTo>
                  <a:lnTo>
                    <a:pt x="157420" y="148048"/>
                  </a:lnTo>
                  <a:lnTo>
                    <a:pt x="73549" y="148048"/>
                  </a:lnTo>
                  <a:close/>
                </a:path>
              </a:pathLst>
            </a:custGeom>
            <a:grpFill/>
            <a:ln w="4485" cap="flat">
              <a:noFill/>
              <a:prstDash val="solid"/>
              <a:miter/>
            </a:ln>
          </p:spPr>
          <p:txBody>
            <a:bodyPr rtlCol="0" anchor="ctr"/>
            <a:lstStyle/>
            <a:p>
              <a:endParaRPr lang="es-ES_tradnl"/>
            </a:p>
          </p:txBody>
        </p:sp>
        <p:sp>
          <p:nvSpPr>
            <p:cNvPr id="29" name="Forma libre 177">
              <a:extLst>
                <a:ext uri="{FF2B5EF4-FFF2-40B4-BE49-F238E27FC236}">
                  <a16:creationId xmlns:a16="http://schemas.microsoft.com/office/drawing/2014/main" id="{97F8AE7F-7824-9AFD-6E70-9214F5F5B4AB}"/>
                </a:ext>
              </a:extLst>
            </p:cNvPr>
            <p:cNvSpPr/>
            <p:nvPr/>
          </p:nvSpPr>
          <p:spPr>
            <a:xfrm>
              <a:off x="11132978" y="586021"/>
              <a:ext cx="60316" cy="43715"/>
            </a:xfrm>
            <a:custGeom>
              <a:avLst/>
              <a:gdLst>
                <a:gd name="connsiteX0" fmla="*/ 212301 w 254008"/>
                <a:gd name="connsiteY0" fmla="*/ 39454 h 184096"/>
                <a:gd name="connsiteX1" fmla="*/ 223116 w 254008"/>
                <a:gd name="connsiteY1" fmla="*/ 73688 h 184096"/>
                <a:gd name="connsiteX2" fmla="*/ 223116 w 254008"/>
                <a:gd name="connsiteY2" fmla="*/ 184097 h 184096"/>
                <a:gd name="connsiteX3" fmla="*/ 253990 w 254008"/>
                <a:gd name="connsiteY3" fmla="*/ 184097 h 184096"/>
                <a:gd name="connsiteX4" fmla="*/ 253990 w 254008"/>
                <a:gd name="connsiteY4" fmla="*/ 68311 h 184096"/>
                <a:gd name="connsiteX5" fmla="*/ 245733 w 254008"/>
                <a:gd name="connsiteY5" fmla="*/ 32464 h 184096"/>
                <a:gd name="connsiteX6" fmla="*/ 223296 w 254008"/>
                <a:gd name="connsiteY6" fmla="*/ 8625 h 184096"/>
                <a:gd name="connsiteX7" fmla="*/ 190223 w 254008"/>
                <a:gd name="connsiteY7" fmla="*/ 22 h 184096"/>
                <a:gd name="connsiteX8" fmla="*/ 154907 w 254008"/>
                <a:gd name="connsiteY8" fmla="*/ 10418 h 184096"/>
                <a:gd name="connsiteX9" fmla="*/ 135521 w 254008"/>
                <a:gd name="connsiteY9" fmla="*/ 34256 h 184096"/>
                <a:gd name="connsiteX10" fmla="*/ 80774 w 254008"/>
                <a:gd name="connsiteY10" fmla="*/ 22 h 184096"/>
                <a:gd name="connsiteX11" fmla="*/ 48779 w 254008"/>
                <a:gd name="connsiteY11" fmla="*/ 8984 h 184096"/>
                <a:gd name="connsiteX12" fmla="*/ 30829 w 254008"/>
                <a:gd name="connsiteY12" fmla="*/ 29282 h 184096"/>
                <a:gd name="connsiteX13" fmla="*/ 30829 w 254008"/>
                <a:gd name="connsiteY13" fmla="*/ 3069 h 184096"/>
                <a:gd name="connsiteX14" fmla="*/ 0 w 254008"/>
                <a:gd name="connsiteY14" fmla="*/ 3069 h 184096"/>
                <a:gd name="connsiteX15" fmla="*/ 0 w 254008"/>
                <a:gd name="connsiteY15" fmla="*/ 184097 h 184096"/>
                <a:gd name="connsiteX16" fmla="*/ 30829 w 254008"/>
                <a:gd name="connsiteY16" fmla="*/ 184097 h 184096"/>
                <a:gd name="connsiteX17" fmla="*/ 30829 w 254008"/>
                <a:gd name="connsiteY17" fmla="*/ 74046 h 184096"/>
                <a:gd name="connsiteX18" fmla="*/ 36438 w 254008"/>
                <a:gd name="connsiteY18" fmla="*/ 48953 h 184096"/>
                <a:gd name="connsiteX19" fmla="*/ 51516 w 254008"/>
                <a:gd name="connsiteY19" fmla="*/ 33001 h 184096"/>
                <a:gd name="connsiteX20" fmla="*/ 73549 w 254008"/>
                <a:gd name="connsiteY20" fmla="*/ 27445 h 184096"/>
                <a:gd name="connsiteX21" fmla="*/ 101057 w 254008"/>
                <a:gd name="connsiteY21" fmla="*/ 39454 h 184096"/>
                <a:gd name="connsiteX22" fmla="*/ 111603 w 254008"/>
                <a:gd name="connsiteY22" fmla="*/ 73688 h 184096"/>
                <a:gd name="connsiteX23" fmla="*/ 111603 w 254008"/>
                <a:gd name="connsiteY23" fmla="*/ 184097 h 184096"/>
                <a:gd name="connsiteX24" fmla="*/ 142521 w 254008"/>
                <a:gd name="connsiteY24" fmla="*/ 184097 h 184096"/>
                <a:gd name="connsiteX25" fmla="*/ 142521 w 254008"/>
                <a:gd name="connsiteY25" fmla="*/ 74046 h 184096"/>
                <a:gd name="connsiteX26" fmla="*/ 154548 w 254008"/>
                <a:gd name="connsiteY26" fmla="*/ 39633 h 184096"/>
                <a:gd name="connsiteX27" fmla="*/ 185242 w 254008"/>
                <a:gd name="connsiteY27" fmla="*/ 27445 h 184096"/>
                <a:gd name="connsiteX28" fmla="*/ 212301 w 254008"/>
                <a:gd name="connsiteY28" fmla="*/ 39454 h 18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54008" h="184096">
                  <a:moveTo>
                    <a:pt x="212301" y="39454"/>
                  </a:moveTo>
                  <a:cubicBezTo>
                    <a:pt x="219513" y="47430"/>
                    <a:pt x="223116" y="58842"/>
                    <a:pt x="223116" y="73688"/>
                  </a:cubicBezTo>
                  <a:lnTo>
                    <a:pt x="223116" y="184097"/>
                  </a:lnTo>
                  <a:lnTo>
                    <a:pt x="253990" y="184097"/>
                  </a:lnTo>
                  <a:lnTo>
                    <a:pt x="253990" y="68311"/>
                  </a:lnTo>
                  <a:cubicBezTo>
                    <a:pt x="254268" y="55863"/>
                    <a:pt x="251432" y="43540"/>
                    <a:pt x="245733" y="32464"/>
                  </a:cubicBezTo>
                  <a:cubicBezTo>
                    <a:pt x="240554" y="22632"/>
                    <a:pt x="232800" y="14392"/>
                    <a:pt x="223296" y="8625"/>
                  </a:cubicBezTo>
                  <a:cubicBezTo>
                    <a:pt x="213275" y="2773"/>
                    <a:pt x="201828" y="-202"/>
                    <a:pt x="190223" y="22"/>
                  </a:cubicBezTo>
                  <a:cubicBezTo>
                    <a:pt x="177699" y="44"/>
                    <a:pt x="165443" y="3651"/>
                    <a:pt x="154907" y="10418"/>
                  </a:cubicBezTo>
                  <a:cubicBezTo>
                    <a:pt x="146085" y="16122"/>
                    <a:pt x="139299" y="24465"/>
                    <a:pt x="135521" y="34256"/>
                  </a:cubicBezTo>
                  <a:cubicBezTo>
                    <a:pt x="125842" y="12878"/>
                    <a:pt x="104261" y="-619"/>
                    <a:pt x="80774" y="22"/>
                  </a:cubicBezTo>
                  <a:cubicBezTo>
                    <a:pt x="69475" y="-81"/>
                    <a:pt x="58377" y="3024"/>
                    <a:pt x="48779" y="8984"/>
                  </a:cubicBezTo>
                  <a:cubicBezTo>
                    <a:pt x="41047" y="13980"/>
                    <a:pt x="34836" y="21001"/>
                    <a:pt x="30829" y="29282"/>
                  </a:cubicBezTo>
                  <a:lnTo>
                    <a:pt x="30829" y="3069"/>
                  </a:lnTo>
                  <a:lnTo>
                    <a:pt x="0" y="3069"/>
                  </a:lnTo>
                  <a:lnTo>
                    <a:pt x="0" y="184097"/>
                  </a:lnTo>
                  <a:lnTo>
                    <a:pt x="30829" y="184097"/>
                  </a:lnTo>
                  <a:lnTo>
                    <a:pt x="30829" y="74046"/>
                  </a:lnTo>
                  <a:cubicBezTo>
                    <a:pt x="30577" y="65344"/>
                    <a:pt x="32507" y="56723"/>
                    <a:pt x="36438" y="48953"/>
                  </a:cubicBezTo>
                  <a:cubicBezTo>
                    <a:pt x="39831" y="42303"/>
                    <a:pt x="45063" y="36765"/>
                    <a:pt x="51516" y="33001"/>
                  </a:cubicBezTo>
                  <a:cubicBezTo>
                    <a:pt x="58220" y="29192"/>
                    <a:pt x="65835" y="27270"/>
                    <a:pt x="73549" y="27445"/>
                  </a:cubicBezTo>
                  <a:cubicBezTo>
                    <a:pt x="84059" y="27113"/>
                    <a:pt x="94165" y="31522"/>
                    <a:pt x="101057" y="39454"/>
                  </a:cubicBezTo>
                  <a:cubicBezTo>
                    <a:pt x="108089" y="47430"/>
                    <a:pt x="111603" y="58842"/>
                    <a:pt x="111603" y="73688"/>
                  </a:cubicBezTo>
                  <a:lnTo>
                    <a:pt x="111603" y="184097"/>
                  </a:lnTo>
                  <a:lnTo>
                    <a:pt x="142521" y="184097"/>
                  </a:lnTo>
                  <a:lnTo>
                    <a:pt x="142521" y="74046"/>
                  </a:lnTo>
                  <a:cubicBezTo>
                    <a:pt x="142521" y="59111"/>
                    <a:pt x="146529" y="47640"/>
                    <a:pt x="154548" y="39633"/>
                  </a:cubicBezTo>
                  <a:cubicBezTo>
                    <a:pt x="162621" y="31460"/>
                    <a:pt x="173754" y="27037"/>
                    <a:pt x="185242" y="27445"/>
                  </a:cubicBezTo>
                  <a:cubicBezTo>
                    <a:pt x="195599" y="27234"/>
                    <a:pt x="205516" y="31634"/>
                    <a:pt x="212301" y="39454"/>
                  </a:cubicBezTo>
                  <a:close/>
                </a:path>
              </a:pathLst>
            </a:custGeom>
            <a:grpFill/>
            <a:ln w="4485" cap="flat">
              <a:noFill/>
              <a:prstDash val="solid"/>
              <a:miter/>
            </a:ln>
          </p:spPr>
          <p:txBody>
            <a:bodyPr rtlCol="0" anchor="ctr"/>
            <a:lstStyle/>
            <a:p>
              <a:endParaRPr lang="es-ES_tradnl"/>
            </a:p>
          </p:txBody>
        </p:sp>
        <p:sp>
          <p:nvSpPr>
            <p:cNvPr id="30" name="Forma libre 178">
              <a:extLst>
                <a:ext uri="{FF2B5EF4-FFF2-40B4-BE49-F238E27FC236}">
                  <a16:creationId xmlns:a16="http://schemas.microsoft.com/office/drawing/2014/main" id="{60181AFB-CBBB-7447-D129-D5F6E364B7D6}"/>
                </a:ext>
              </a:extLst>
            </p:cNvPr>
            <p:cNvSpPr/>
            <p:nvPr/>
          </p:nvSpPr>
          <p:spPr>
            <a:xfrm>
              <a:off x="11200328" y="585980"/>
              <a:ext cx="40248" cy="44572"/>
            </a:xfrm>
            <a:custGeom>
              <a:avLst/>
              <a:gdLst>
                <a:gd name="connsiteX0" fmla="*/ 129442 w 169496"/>
                <a:gd name="connsiteY0" fmla="*/ 11305 h 187705"/>
                <a:gd name="connsiteX1" fmla="*/ 86721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4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6" y="-260"/>
                    <a:pt x="86721" y="13"/>
                  </a:cubicBezTo>
                  <a:cubicBezTo>
                    <a:pt x="74785" y="-139"/>
                    <a:pt x="62943" y="2119"/>
                    <a:pt x="51899" y="6645"/>
                  </a:cubicBezTo>
                  <a:cubicBezTo>
                    <a:pt x="41519" y="10920"/>
                    <a:pt x="32163" y="17337"/>
                    <a:pt x="24436" y="25465"/>
                  </a:cubicBezTo>
                  <a:cubicBezTo>
                    <a:pt x="16511" y="33938"/>
                    <a:pt x="10404" y="43944"/>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92" y="161827"/>
                    <a:pt x="161038" y="152780"/>
                    <a:pt x="166239" y="142506"/>
                  </a:cubicBezTo>
                  <a:lnTo>
                    <a:pt x="142904" y="128167"/>
                  </a:lnTo>
                  <a:cubicBezTo>
                    <a:pt x="139036" y="135027"/>
                    <a:pt x="134064" y="141202"/>
                    <a:pt x="128186" y="146449"/>
                  </a:cubicBezTo>
                  <a:cubicBezTo>
                    <a:pt x="122801" y="151140"/>
                    <a:pt x="116509" y="154680"/>
                    <a:pt x="109697" y="156844"/>
                  </a:cubicBezTo>
                  <a:cubicBezTo>
                    <a:pt x="102787" y="159009"/>
                    <a:pt x="95580" y="160097"/>
                    <a:pt x="88337" y="160071"/>
                  </a:cubicBezTo>
                  <a:cubicBezTo>
                    <a:pt x="78016" y="160313"/>
                    <a:pt x="67834" y="157705"/>
                    <a:pt x="58899" y="152543"/>
                  </a:cubicBezTo>
                  <a:cubicBezTo>
                    <a:pt x="50162" y="147125"/>
                    <a:pt x="43135" y="139360"/>
                    <a:pt x="38616" y="130138"/>
                  </a:cubicBezTo>
                  <a:cubicBezTo>
                    <a:pt x="34147" y="120890"/>
                    <a:pt x="31625" y="110826"/>
                    <a:pt x="31212" y="100564"/>
                  </a:cubicBezTo>
                  <a:lnTo>
                    <a:pt x="169111" y="100564"/>
                  </a:lnTo>
                  <a:cubicBezTo>
                    <a:pt x="169371" y="99086"/>
                    <a:pt x="169492" y="97585"/>
                    <a:pt x="169470" y="96084"/>
                  </a:cubicBezTo>
                  <a:lnTo>
                    <a:pt x="169470" y="91603"/>
                  </a:lnTo>
                  <a:cubicBezTo>
                    <a:pt x="169847" y="74840"/>
                    <a:pt x="166149" y="58234"/>
                    <a:pt x="158700" y="43209"/>
                  </a:cubicBezTo>
                  <a:cubicBezTo>
                    <a:pt x="152117" y="30058"/>
                    <a:pt x="141984" y="19008"/>
                    <a:pt x="129442" y="11305"/>
                  </a:cubicBezTo>
                  <a:close/>
                  <a:moveTo>
                    <a:pt x="46155" y="44285"/>
                  </a:moveTo>
                  <a:cubicBezTo>
                    <a:pt x="50777" y="38455"/>
                    <a:pt x="56754" y="33844"/>
                    <a:pt x="63566" y="30842"/>
                  </a:cubicBezTo>
                  <a:cubicBezTo>
                    <a:pt x="70769" y="27768"/>
                    <a:pt x="78532" y="26245"/>
                    <a:pt x="86363" y="26361"/>
                  </a:cubicBezTo>
                  <a:cubicBezTo>
                    <a:pt x="100615" y="25994"/>
                    <a:pt x="114297" y="31971"/>
                    <a:pt x="123698" y="42671"/>
                  </a:cubicBezTo>
                  <a:cubicBezTo>
                    <a:pt x="131713" y="52395"/>
                    <a:pt x="136523" y="64350"/>
                    <a:pt x="137475" y="76905"/>
                  </a:cubicBezTo>
                  <a:lnTo>
                    <a:pt x="32334" y="76905"/>
                  </a:lnTo>
                  <a:cubicBezTo>
                    <a:pt x="32939" y="72962"/>
                    <a:pt x="33841" y="69068"/>
                    <a:pt x="35026" y="65255"/>
                  </a:cubicBezTo>
                  <a:cubicBezTo>
                    <a:pt x="37378" y="57629"/>
                    <a:pt x="41156" y="50513"/>
                    <a:pt x="46155" y="44285"/>
                  </a:cubicBezTo>
                  <a:close/>
                </a:path>
              </a:pathLst>
            </a:custGeom>
            <a:grpFill/>
            <a:ln w="4485" cap="flat">
              <a:noFill/>
              <a:prstDash val="solid"/>
              <a:miter/>
            </a:ln>
          </p:spPr>
          <p:txBody>
            <a:bodyPr rtlCol="0" anchor="ctr"/>
            <a:lstStyle/>
            <a:p>
              <a:endParaRPr lang="es-ES_tradnl"/>
            </a:p>
          </p:txBody>
        </p:sp>
        <p:sp>
          <p:nvSpPr>
            <p:cNvPr id="31" name="Forma libre 179">
              <a:extLst>
                <a:ext uri="{FF2B5EF4-FFF2-40B4-BE49-F238E27FC236}">
                  <a16:creationId xmlns:a16="http://schemas.microsoft.com/office/drawing/2014/main" id="{D719DC0D-DFF7-9DA8-3E49-657E052A2F3D}"/>
                </a:ext>
              </a:extLst>
            </p:cNvPr>
            <p:cNvSpPr/>
            <p:nvPr/>
          </p:nvSpPr>
          <p:spPr>
            <a:xfrm>
              <a:off x="11247880" y="586021"/>
              <a:ext cx="60316" cy="43758"/>
            </a:xfrm>
            <a:custGeom>
              <a:avLst/>
              <a:gdLst>
                <a:gd name="connsiteX0" fmla="*/ 30694 w 254008"/>
                <a:gd name="connsiteY0" fmla="*/ 74047 h 184276"/>
                <a:gd name="connsiteX1" fmla="*/ 36258 w 254008"/>
                <a:gd name="connsiteY1" fmla="*/ 48954 h 184276"/>
                <a:gd name="connsiteX2" fmla="*/ 51336 w 254008"/>
                <a:gd name="connsiteY2" fmla="*/ 33002 h 184276"/>
                <a:gd name="connsiteX3" fmla="*/ 73415 w 254008"/>
                <a:gd name="connsiteY3" fmla="*/ 27446 h 184276"/>
                <a:gd name="connsiteX4" fmla="*/ 100878 w 254008"/>
                <a:gd name="connsiteY4" fmla="*/ 39454 h 184276"/>
                <a:gd name="connsiteX5" fmla="*/ 111468 w 254008"/>
                <a:gd name="connsiteY5" fmla="*/ 73688 h 184276"/>
                <a:gd name="connsiteX6" fmla="*/ 111468 w 254008"/>
                <a:gd name="connsiteY6" fmla="*/ 184097 h 184276"/>
                <a:gd name="connsiteX7" fmla="*/ 142342 w 254008"/>
                <a:gd name="connsiteY7" fmla="*/ 184097 h 184276"/>
                <a:gd name="connsiteX8" fmla="*/ 142342 w 254008"/>
                <a:gd name="connsiteY8" fmla="*/ 74047 h 184276"/>
                <a:gd name="connsiteX9" fmla="*/ 154368 w 254008"/>
                <a:gd name="connsiteY9" fmla="*/ 39634 h 184276"/>
                <a:gd name="connsiteX10" fmla="*/ 185062 w 254008"/>
                <a:gd name="connsiteY10" fmla="*/ 27446 h 184276"/>
                <a:gd name="connsiteX11" fmla="*/ 212346 w 254008"/>
                <a:gd name="connsiteY11" fmla="*/ 39454 h 184276"/>
                <a:gd name="connsiteX12" fmla="*/ 223116 w 254008"/>
                <a:gd name="connsiteY12" fmla="*/ 73688 h 184276"/>
                <a:gd name="connsiteX13" fmla="*/ 223116 w 254008"/>
                <a:gd name="connsiteY13" fmla="*/ 184097 h 184276"/>
                <a:gd name="connsiteX14" fmla="*/ 253990 w 254008"/>
                <a:gd name="connsiteY14" fmla="*/ 184097 h 184276"/>
                <a:gd name="connsiteX15" fmla="*/ 253990 w 254008"/>
                <a:gd name="connsiteY15" fmla="*/ 68311 h 184276"/>
                <a:gd name="connsiteX16" fmla="*/ 245733 w 254008"/>
                <a:gd name="connsiteY16" fmla="*/ 32464 h 184276"/>
                <a:gd name="connsiteX17" fmla="*/ 223296 w 254008"/>
                <a:gd name="connsiteY17" fmla="*/ 8626 h 184276"/>
                <a:gd name="connsiteX18" fmla="*/ 190268 w 254008"/>
                <a:gd name="connsiteY18" fmla="*/ 23 h 184276"/>
                <a:gd name="connsiteX19" fmla="*/ 154907 w 254008"/>
                <a:gd name="connsiteY19" fmla="*/ 10418 h 184276"/>
                <a:gd name="connsiteX20" fmla="*/ 135521 w 254008"/>
                <a:gd name="connsiteY20" fmla="*/ 34257 h 184276"/>
                <a:gd name="connsiteX21" fmla="*/ 54509 w 254008"/>
                <a:gd name="connsiteY21" fmla="*/ 6040 h 184276"/>
                <a:gd name="connsiteX22" fmla="*/ 48823 w 254008"/>
                <a:gd name="connsiteY22" fmla="*/ 9164 h 184276"/>
                <a:gd name="connsiteX23" fmla="*/ 30874 w 254008"/>
                <a:gd name="connsiteY23" fmla="*/ 29462 h 184276"/>
                <a:gd name="connsiteX24" fmla="*/ 30874 w 254008"/>
                <a:gd name="connsiteY24" fmla="*/ 3249 h 184276"/>
                <a:gd name="connsiteX25" fmla="*/ 0 w 254008"/>
                <a:gd name="connsiteY25" fmla="*/ 3249 h 184276"/>
                <a:gd name="connsiteX26" fmla="*/ 0 w 254008"/>
                <a:gd name="connsiteY26" fmla="*/ 184276 h 184276"/>
                <a:gd name="connsiteX27" fmla="*/ 30874 w 254008"/>
                <a:gd name="connsiteY27" fmla="*/ 184276 h 1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4008" h="184276">
                  <a:moveTo>
                    <a:pt x="30694" y="74047"/>
                  </a:moveTo>
                  <a:cubicBezTo>
                    <a:pt x="30429" y="65349"/>
                    <a:pt x="32341" y="56724"/>
                    <a:pt x="36258" y="48954"/>
                  </a:cubicBezTo>
                  <a:cubicBezTo>
                    <a:pt x="39651" y="42304"/>
                    <a:pt x="44883" y="36766"/>
                    <a:pt x="51336" y="33002"/>
                  </a:cubicBezTo>
                  <a:cubicBezTo>
                    <a:pt x="58059" y="29189"/>
                    <a:pt x="65687" y="27271"/>
                    <a:pt x="73415" y="27446"/>
                  </a:cubicBezTo>
                  <a:cubicBezTo>
                    <a:pt x="83911" y="27118"/>
                    <a:pt x="93998" y="31532"/>
                    <a:pt x="100878" y="39454"/>
                  </a:cubicBezTo>
                  <a:cubicBezTo>
                    <a:pt x="107937" y="47430"/>
                    <a:pt x="111468" y="58843"/>
                    <a:pt x="111468" y="73688"/>
                  </a:cubicBezTo>
                  <a:lnTo>
                    <a:pt x="111468" y="184097"/>
                  </a:lnTo>
                  <a:lnTo>
                    <a:pt x="142342" y="184097"/>
                  </a:lnTo>
                  <a:lnTo>
                    <a:pt x="142342" y="74047"/>
                  </a:lnTo>
                  <a:cubicBezTo>
                    <a:pt x="142342" y="59112"/>
                    <a:pt x="146349" y="47641"/>
                    <a:pt x="154368" y="39634"/>
                  </a:cubicBezTo>
                  <a:cubicBezTo>
                    <a:pt x="162441" y="31460"/>
                    <a:pt x="173575" y="27038"/>
                    <a:pt x="185062" y="27446"/>
                  </a:cubicBezTo>
                  <a:cubicBezTo>
                    <a:pt x="195496" y="27186"/>
                    <a:pt x="205498" y="31590"/>
                    <a:pt x="212346" y="39454"/>
                  </a:cubicBezTo>
                  <a:cubicBezTo>
                    <a:pt x="219526" y="47430"/>
                    <a:pt x="223116" y="58843"/>
                    <a:pt x="223116" y="73688"/>
                  </a:cubicBezTo>
                  <a:lnTo>
                    <a:pt x="223116" y="184097"/>
                  </a:lnTo>
                  <a:lnTo>
                    <a:pt x="253990" y="184097"/>
                  </a:lnTo>
                  <a:lnTo>
                    <a:pt x="253990" y="68311"/>
                  </a:lnTo>
                  <a:cubicBezTo>
                    <a:pt x="254268" y="55863"/>
                    <a:pt x="251432" y="43541"/>
                    <a:pt x="245733" y="32464"/>
                  </a:cubicBezTo>
                  <a:cubicBezTo>
                    <a:pt x="240554" y="22633"/>
                    <a:pt x="232800" y="14393"/>
                    <a:pt x="223296" y="8626"/>
                  </a:cubicBezTo>
                  <a:cubicBezTo>
                    <a:pt x="213288" y="2778"/>
                    <a:pt x="201859" y="-197"/>
                    <a:pt x="190268" y="23"/>
                  </a:cubicBezTo>
                  <a:cubicBezTo>
                    <a:pt x="177725" y="36"/>
                    <a:pt x="165457" y="3643"/>
                    <a:pt x="154907" y="10418"/>
                  </a:cubicBezTo>
                  <a:cubicBezTo>
                    <a:pt x="146098" y="16136"/>
                    <a:pt x="139317" y="24475"/>
                    <a:pt x="135521" y="34257"/>
                  </a:cubicBezTo>
                  <a:cubicBezTo>
                    <a:pt x="120955" y="4127"/>
                    <a:pt x="84683" y="-8509"/>
                    <a:pt x="54509" y="6040"/>
                  </a:cubicBezTo>
                  <a:cubicBezTo>
                    <a:pt x="52557" y="6977"/>
                    <a:pt x="50659" y="8021"/>
                    <a:pt x="48823" y="9164"/>
                  </a:cubicBezTo>
                  <a:cubicBezTo>
                    <a:pt x="41082" y="14151"/>
                    <a:pt x="34867" y="21172"/>
                    <a:pt x="30874" y="29462"/>
                  </a:cubicBezTo>
                  <a:lnTo>
                    <a:pt x="30874" y="3249"/>
                  </a:lnTo>
                  <a:lnTo>
                    <a:pt x="0" y="3249"/>
                  </a:lnTo>
                  <a:lnTo>
                    <a:pt x="0" y="184276"/>
                  </a:lnTo>
                  <a:lnTo>
                    <a:pt x="30874" y="184276"/>
                  </a:lnTo>
                  <a:close/>
                </a:path>
              </a:pathLst>
            </a:custGeom>
            <a:grpFill/>
            <a:ln w="4485" cap="flat">
              <a:noFill/>
              <a:prstDash val="solid"/>
              <a:miter/>
            </a:ln>
          </p:spPr>
          <p:txBody>
            <a:bodyPr rtlCol="0" anchor="ctr"/>
            <a:lstStyle/>
            <a:p>
              <a:endParaRPr lang="es-ES_tradnl"/>
            </a:p>
          </p:txBody>
        </p:sp>
        <p:sp>
          <p:nvSpPr>
            <p:cNvPr id="32" name="Forma libre 180">
              <a:extLst>
                <a:ext uri="{FF2B5EF4-FFF2-40B4-BE49-F238E27FC236}">
                  <a16:creationId xmlns:a16="http://schemas.microsoft.com/office/drawing/2014/main" id="{9792603F-71D5-9B66-4052-244FEC75D201}"/>
                </a:ext>
              </a:extLst>
            </p:cNvPr>
            <p:cNvSpPr/>
            <p:nvPr/>
          </p:nvSpPr>
          <p:spPr>
            <a:xfrm>
              <a:off x="11317356" y="570151"/>
              <a:ext cx="42287" cy="60361"/>
            </a:xfrm>
            <a:custGeom>
              <a:avLst/>
              <a:gdLst>
                <a:gd name="connsiteX0" fmla="*/ 153830 w 178083"/>
                <a:gd name="connsiteY0" fmla="*/ 227987 h 254195"/>
                <a:gd name="connsiteX1" fmla="*/ 171780 w 178083"/>
                <a:gd name="connsiteY1" fmla="*/ 198234 h 254195"/>
                <a:gd name="connsiteX2" fmla="*/ 178062 w 178083"/>
                <a:gd name="connsiteY2" fmla="*/ 160236 h 254195"/>
                <a:gd name="connsiteX3" fmla="*/ 167113 w 178083"/>
                <a:gd name="connsiteY3" fmla="*/ 111484 h 254195"/>
                <a:gd name="connsiteX4" fmla="*/ 137137 w 178083"/>
                <a:gd name="connsiteY4" fmla="*/ 78505 h 254195"/>
                <a:gd name="connsiteX5" fmla="*/ 94057 w 178083"/>
                <a:gd name="connsiteY5" fmla="*/ 66675 h 254195"/>
                <a:gd name="connsiteX6" fmla="*/ 59953 w 178083"/>
                <a:gd name="connsiteY6" fmla="*/ 74741 h 254195"/>
                <a:gd name="connsiteX7" fmla="*/ 36079 w 178083"/>
                <a:gd name="connsiteY7" fmla="*/ 96249 h 254195"/>
                <a:gd name="connsiteX8" fmla="*/ 30874 w 178083"/>
                <a:gd name="connsiteY8" fmla="*/ 104628 h 254195"/>
                <a:gd name="connsiteX9" fmla="*/ 30874 w 178083"/>
                <a:gd name="connsiteY9" fmla="*/ 0 h 254195"/>
                <a:gd name="connsiteX10" fmla="*/ 0 w 178083"/>
                <a:gd name="connsiteY10" fmla="*/ 0 h 254195"/>
                <a:gd name="connsiteX11" fmla="*/ 0 w 178083"/>
                <a:gd name="connsiteY11" fmla="*/ 250929 h 254195"/>
                <a:gd name="connsiteX12" fmla="*/ 30874 w 178083"/>
                <a:gd name="connsiteY12" fmla="*/ 250929 h 254195"/>
                <a:gd name="connsiteX13" fmla="*/ 30874 w 178083"/>
                <a:gd name="connsiteY13" fmla="*/ 216337 h 254195"/>
                <a:gd name="connsiteX14" fmla="*/ 35900 w 178083"/>
                <a:gd name="connsiteY14" fmla="*/ 224582 h 254195"/>
                <a:gd name="connsiteX15" fmla="*/ 94236 w 178083"/>
                <a:gd name="connsiteY15" fmla="*/ 254156 h 254195"/>
                <a:gd name="connsiteX16" fmla="*/ 127444 w 178083"/>
                <a:gd name="connsiteY16" fmla="*/ 247345 h 254195"/>
                <a:gd name="connsiteX17" fmla="*/ 153830 w 178083"/>
                <a:gd name="connsiteY17" fmla="*/ 227987 h 254195"/>
                <a:gd name="connsiteX18" fmla="*/ 88493 w 178083"/>
                <a:gd name="connsiteY18" fmla="*/ 226195 h 254195"/>
                <a:gd name="connsiteX19" fmla="*/ 46311 w 178083"/>
                <a:gd name="connsiteY19" fmla="*/ 208809 h 254195"/>
                <a:gd name="connsiteX20" fmla="*/ 29976 w 178083"/>
                <a:gd name="connsiteY20" fmla="*/ 160236 h 254195"/>
                <a:gd name="connsiteX21" fmla="*/ 34464 w 178083"/>
                <a:gd name="connsiteY21" fmla="*/ 132813 h 254195"/>
                <a:gd name="connsiteX22" fmla="*/ 46670 w 178083"/>
                <a:gd name="connsiteY22" fmla="*/ 112022 h 254195"/>
                <a:gd name="connsiteX23" fmla="*/ 65158 w 178083"/>
                <a:gd name="connsiteY23" fmla="*/ 98938 h 254195"/>
                <a:gd name="connsiteX24" fmla="*/ 88672 w 178083"/>
                <a:gd name="connsiteY24" fmla="*/ 94457 h 254195"/>
                <a:gd name="connsiteX25" fmla="*/ 130495 w 178083"/>
                <a:gd name="connsiteY25" fmla="*/ 111843 h 254195"/>
                <a:gd name="connsiteX26" fmla="*/ 146830 w 178083"/>
                <a:gd name="connsiteY26" fmla="*/ 160057 h 254195"/>
                <a:gd name="connsiteX27" fmla="*/ 142701 w 178083"/>
                <a:gd name="connsiteY27" fmla="*/ 187838 h 254195"/>
                <a:gd name="connsiteX28" fmla="*/ 130675 w 178083"/>
                <a:gd name="connsiteY28" fmla="*/ 208630 h 254195"/>
                <a:gd name="connsiteX29" fmla="*/ 112007 w 178083"/>
                <a:gd name="connsiteY29" fmla="*/ 221535 h 254195"/>
                <a:gd name="connsiteX30" fmla="*/ 88268 w 178083"/>
                <a:gd name="connsiteY30" fmla="*/ 226374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083" h="254195">
                  <a:moveTo>
                    <a:pt x="153830" y="227987"/>
                  </a:moveTo>
                  <a:cubicBezTo>
                    <a:pt x="161701" y="219335"/>
                    <a:pt x="167795" y="209226"/>
                    <a:pt x="171780" y="198234"/>
                  </a:cubicBezTo>
                  <a:cubicBezTo>
                    <a:pt x="176083" y="186033"/>
                    <a:pt x="178210" y="173173"/>
                    <a:pt x="178062" y="160236"/>
                  </a:cubicBezTo>
                  <a:cubicBezTo>
                    <a:pt x="178399" y="143343"/>
                    <a:pt x="174643" y="126616"/>
                    <a:pt x="167113" y="111484"/>
                  </a:cubicBezTo>
                  <a:cubicBezTo>
                    <a:pt x="160323" y="97965"/>
                    <a:pt x="149957" y="86557"/>
                    <a:pt x="137137" y="78505"/>
                  </a:cubicBezTo>
                  <a:cubicBezTo>
                    <a:pt x="124195" y="70551"/>
                    <a:pt x="109252" y="66447"/>
                    <a:pt x="94057" y="66675"/>
                  </a:cubicBezTo>
                  <a:cubicBezTo>
                    <a:pt x="82179" y="66357"/>
                    <a:pt x="70426" y="69140"/>
                    <a:pt x="59953" y="74741"/>
                  </a:cubicBezTo>
                  <a:cubicBezTo>
                    <a:pt x="50470" y="80015"/>
                    <a:pt x="42308" y="87368"/>
                    <a:pt x="36079" y="96249"/>
                  </a:cubicBezTo>
                  <a:cubicBezTo>
                    <a:pt x="34177" y="98933"/>
                    <a:pt x="32440" y="101734"/>
                    <a:pt x="30874" y="104628"/>
                  </a:cubicBezTo>
                  <a:lnTo>
                    <a:pt x="30874" y="0"/>
                  </a:lnTo>
                  <a:lnTo>
                    <a:pt x="0" y="0"/>
                  </a:lnTo>
                  <a:lnTo>
                    <a:pt x="0" y="250929"/>
                  </a:lnTo>
                  <a:lnTo>
                    <a:pt x="30874" y="250929"/>
                  </a:lnTo>
                  <a:lnTo>
                    <a:pt x="30874" y="216337"/>
                  </a:lnTo>
                  <a:cubicBezTo>
                    <a:pt x="32395" y="219178"/>
                    <a:pt x="34069" y="221929"/>
                    <a:pt x="35900" y="224582"/>
                  </a:cubicBezTo>
                  <a:cubicBezTo>
                    <a:pt x="48972" y="243787"/>
                    <a:pt x="70996" y="254953"/>
                    <a:pt x="94236" y="254156"/>
                  </a:cubicBezTo>
                  <a:cubicBezTo>
                    <a:pt x="105662" y="254259"/>
                    <a:pt x="116983" y="251933"/>
                    <a:pt x="127444" y="247345"/>
                  </a:cubicBezTo>
                  <a:cubicBezTo>
                    <a:pt x="137460" y="242738"/>
                    <a:pt x="146435" y="236151"/>
                    <a:pt x="153830" y="227987"/>
                  </a:cubicBezTo>
                  <a:close/>
                  <a:moveTo>
                    <a:pt x="88493" y="226195"/>
                  </a:moveTo>
                  <a:cubicBezTo>
                    <a:pt x="72580" y="226732"/>
                    <a:pt x="57211" y="220401"/>
                    <a:pt x="46311" y="208809"/>
                  </a:cubicBezTo>
                  <a:cubicBezTo>
                    <a:pt x="35393" y="197217"/>
                    <a:pt x="29945" y="181028"/>
                    <a:pt x="29976" y="160236"/>
                  </a:cubicBezTo>
                  <a:cubicBezTo>
                    <a:pt x="29873" y="150907"/>
                    <a:pt x="31390" y="141627"/>
                    <a:pt x="34464" y="132813"/>
                  </a:cubicBezTo>
                  <a:cubicBezTo>
                    <a:pt x="37111" y="125142"/>
                    <a:pt x="41258" y="118076"/>
                    <a:pt x="46670" y="112022"/>
                  </a:cubicBezTo>
                  <a:cubicBezTo>
                    <a:pt x="51731" y="106287"/>
                    <a:pt x="58063" y="101810"/>
                    <a:pt x="65158" y="98938"/>
                  </a:cubicBezTo>
                  <a:cubicBezTo>
                    <a:pt x="72630" y="95927"/>
                    <a:pt x="80617" y="94408"/>
                    <a:pt x="88672" y="94457"/>
                  </a:cubicBezTo>
                  <a:cubicBezTo>
                    <a:pt x="104472" y="93964"/>
                    <a:pt x="119716" y="100300"/>
                    <a:pt x="130495" y="111843"/>
                  </a:cubicBezTo>
                  <a:cubicBezTo>
                    <a:pt x="141355" y="123403"/>
                    <a:pt x="146798" y="139476"/>
                    <a:pt x="146830" y="160057"/>
                  </a:cubicBezTo>
                  <a:cubicBezTo>
                    <a:pt x="146951" y="169480"/>
                    <a:pt x="145555" y="178859"/>
                    <a:pt x="142701" y="187838"/>
                  </a:cubicBezTo>
                  <a:cubicBezTo>
                    <a:pt x="140228" y="195550"/>
                    <a:pt x="136127" y="202639"/>
                    <a:pt x="130675" y="208630"/>
                  </a:cubicBezTo>
                  <a:cubicBezTo>
                    <a:pt x="125438" y="214204"/>
                    <a:pt x="119075" y="218600"/>
                    <a:pt x="112007" y="221535"/>
                  </a:cubicBezTo>
                  <a:cubicBezTo>
                    <a:pt x="104499" y="224725"/>
                    <a:pt x="96427" y="226370"/>
                    <a:pt x="88268" y="226374"/>
                  </a:cubicBezTo>
                  <a:close/>
                </a:path>
              </a:pathLst>
            </a:custGeom>
            <a:grpFill/>
            <a:ln w="4485" cap="flat">
              <a:noFill/>
              <a:prstDash val="solid"/>
              <a:miter/>
            </a:ln>
          </p:spPr>
          <p:txBody>
            <a:bodyPr rtlCol="0" anchor="ctr"/>
            <a:lstStyle/>
            <a:p>
              <a:endParaRPr lang="es-ES_tradnl"/>
            </a:p>
          </p:txBody>
        </p:sp>
        <p:sp>
          <p:nvSpPr>
            <p:cNvPr id="33" name="Forma libre 181">
              <a:extLst>
                <a:ext uri="{FF2B5EF4-FFF2-40B4-BE49-F238E27FC236}">
                  <a16:creationId xmlns:a16="http://schemas.microsoft.com/office/drawing/2014/main" id="{B89C1984-68FF-6B97-26B2-04617EAF43A1}"/>
                </a:ext>
              </a:extLst>
            </p:cNvPr>
            <p:cNvSpPr/>
            <p:nvPr/>
          </p:nvSpPr>
          <p:spPr>
            <a:xfrm>
              <a:off x="11364832" y="585980"/>
              <a:ext cx="40291" cy="44572"/>
            </a:xfrm>
            <a:custGeom>
              <a:avLst/>
              <a:gdLst>
                <a:gd name="connsiteX0" fmla="*/ 128320 w 169675"/>
                <a:gd name="connsiteY0" fmla="*/ 146628 h 187705"/>
                <a:gd name="connsiteX1" fmla="*/ 109832 w 169675"/>
                <a:gd name="connsiteY1" fmla="*/ 157024 h 187705"/>
                <a:gd name="connsiteX2" fmla="*/ 88472 w 169675"/>
                <a:gd name="connsiteY2" fmla="*/ 160250 h 187705"/>
                <a:gd name="connsiteX3" fmla="*/ 59034 w 169675"/>
                <a:gd name="connsiteY3" fmla="*/ 152722 h 187705"/>
                <a:gd name="connsiteX4" fmla="*/ 38751 w 169675"/>
                <a:gd name="connsiteY4" fmla="*/ 130318 h 187705"/>
                <a:gd name="connsiteX5" fmla="*/ 31346 w 169675"/>
                <a:gd name="connsiteY5" fmla="*/ 100744 h 187705"/>
                <a:gd name="connsiteX6" fmla="*/ 169291 w 169675"/>
                <a:gd name="connsiteY6" fmla="*/ 100744 h 187705"/>
                <a:gd name="connsiteX7" fmla="*/ 169650 w 169675"/>
                <a:gd name="connsiteY7" fmla="*/ 96263 h 187705"/>
                <a:gd name="connsiteX8" fmla="*/ 169650 w 169675"/>
                <a:gd name="connsiteY8" fmla="*/ 91782 h 187705"/>
                <a:gd name="connsiteX9" fmla="*/ 158880 w 169675"/>
                <a:gd name="connsiteY9" fmla="*/ 43388 h 187705"/>
                <a:gd name="connsiteX10" fmla="*/ 129442 w 169675"/>
                <a:gd name="connsiteY10" fmla="*/ 11305 h 187705"/>
                <a:gd name="connsiteX11" fmla="*/ 86721 w 169675"/>
                <a:gd name="connsiteY11" fmla="*/ 13 h 187705"/>
                <a:gd name="connsiteX12" fmla="*/ 51899 w 169675"/>
                <a:gd name="connsiteY12" fmla="*/ 6645 h 187705"/>
                <a:gd name="connsiteX13" fmla="*/ 24436 w 169675"/>
                <a:gd name="connsiteY13" fmla="*/ 25465 h 187705"/>
                <a:gd name="connsiteX14" fmla="*/ 6486 w 169675"/>
                <a:gd name="connsiteY14" fmla="*/ 54859 h 187705"/>
                <a:gd name="connsiteX15" fmla="*/ 24 w 169675"/>
                <a:gd name="connsiteY15" fmla="*/ 93574 h 187705"/>
                <a:gd name="connsiteX16" fmla="*/ 11512 w 169675"/>
                <a:gd name="connsiteY16" fmla="*/ 142864 h 187705"/>
                <a:gd name="connsiteX17" fmla="*/ 87799 w 169675"/>
                <a:gd name="connsiteY17" fmla="*/ 187673 h 187705"/>
                <a:gd name="connsiteX18" fmla="*/ 117775 w 169675"/>
                <a:gd name="connsiteY18" fmla="*/ 183192 h 187705"/>
                <a:gd name="connsiteX19" fmla="*/ 144699 w 169675"/>
                <a:gd name="connsiteY19" fmla="*/ 169032 h 187705"/>
                <a:gd name="connsiteX20" fmla="*/ 166239 w 169675"/>
                <a:gd name="connsiteY20" fmla="*/ 142506 h 187705"/>
                <a:gd name="connsiteX21" fmla="*/ 142904 w 169675"/>
                <a:gd name="connsiteY21" fmla="*/ 128167 h 187705"/>
                <a:gd name="connsiteX22" fmla="*/ 128320 w 169675"/>
                <a:gd name="connsiteY22" fmla="*/ 146628 h 187705"/>
                <a:gd name="connsiteX23" fmla="*/ 46110 w 169675"/>
                <a:gd name="connsiteY23" fmla="*/ 44285 h 187705"/>
                <a:gd name="connsiteX24" fmla="*/ 63521 w 169675"/>
                <a:gd name="connsiteY24" fmla="*/ 30842 h 187705"/>
                <a:gd name="connsiteX25" fmla="*/ 86318 w 169675"/>
                <a:gd name="connsiteY25" fmla="*/ 26361 h 187705"/>
                <a:gd name="connsiteX26" fmla="*/ 123653 w 169675"/>
                <a:gd name="connsiteY26" fmla="*/ 42671 h 187705"/>
                <a:gd name="connsiteX27" fmla="*/ 137430 w 169675"/>
                <a:gd name="connsiteY27" fmla="*/ 76905 h 187705"/>
                <a:gd name="connsiteX28" fmla="*/ 32289 w 169675"/>
                <a:gd name="connsiteY28" fmla="*/ 76905 h 187705"/>
                <a:gd name="connsiteX29" fmla="*/ 34981 w 169675"/>
                <a:gd name="connsiteY29" fmla="*/ 65255 h 187705"/>
                <a:gd name="connsiteX30" fmla="*/ 46110 w 169675"/>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5" h="187705">
                  <a:moveTo>
                    <a:pt x="128320" y="146628"/>
                  </a:moveTo>
                  <a:cubicBezTo>
                    <a:pt x="122935" y="151319"/>
                    <a:pt x="116644" y="154859"/>
                    <a:pt x="109832" y="157024"/>
                  </a:cubicBezTo>
                  <a:cubicBezTo>
                    <a:pt x="102921" y="159188"/>
                    <a:pt x="95714" y="160277"/>
                    <a:pt x="88472" y="160250"/>
                  </a:cubicBezTo>
                  <a:cubicBezTo>
                    <a:pt x="78151" y="160496"/>
                    <a:pt x="67964" y="157893"/>
                    <a:pt x="59034" y="152722"/>
                  </a:cubicBezTo>
                  <a:cubicBezTo>
                    <a:pt x="50288" y="147318"/>
                    <a:pt x="43256" y="139553"/>
                    <a:pt x="38751" y="130318"/>
                  </a:cubicBezTo>
                  <a:cubicBezTo>
                    <a:pt x="34259" y="121078"/>
                    <a:pt x="31737" y="111005"/>
                    <a:pt x="31346" y="100744"/>
                  </a:cubicBezTo>
                  <a:lnTo>
                    <a:pt x="169291" y="100744"/>
                  </a:lnTo>
                  <a:cubicBezTo>
                    <a:pt x="169551" y="99265"/>
                    <a:pt x="169672" y="97764"/>
                    <a:pt x="169650" y="96263"/>
                  </a:cubicBezTo>
                  <a:lnTo>
                    <a:pt x="169650" y="91782"/>
                  </a:lnTo>
                  <a:cubicBezTo>
                    <a:pt x="170027" y="75019"/>
                    <a:pt x="166329" y="58413"/>
                    <a:pt x="158880" y="43388"/>
                  </a:cubicBezTo>
                  <a:cubicBezTo>
                    <a:pt x="152274" y="30147"/>
                    <a:pt x="142074" y="19030"/>
                    <a:pt x="129442" y="11305"/>
                  </a:cubicBezTo>
                  <a:cubicBezTo>
                    <a:pt x="116532" y="3647"/>
                    <a:pt x="101736" y="-260"/>
                    <a:pt x="86721" y="13"/>
                  </a:cubicBezTo>
                  <a:cubicBezTo>
                    <a:pt x="74785" y="-143"/>
                    <a:pt x="62938" y="2115"/>
                    <a:pt x="51899" y="6645"/>
                  </a:cubicBezTo>
                  <a:cubicBezTo>
                    <a:pt x="41519" y="10920"/>
                    <a:pt x="32163" y="17337"/>
                    <a:pt x="24436" y="25465"/>
                  </a:cubicBezTo>
                  <a:cubicBezTo>
                    <a:pt x="16502" y="33934"/>
                    <a:pt x="10390" y="43940"/>
                    <a:pt x="6486" y="54859"/>
                  </a:cubicBezTo>
                  <a:cubicBezTo>
                    <a:pt x="2016"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4" y="128167"/>
                  </a:lnTo>
                  <a:cubicBezTo>
                    <a:pt x="139077" y="135072"/>
                    <a:pt x="134154" y="141305"/>
                    <a:pt x="128320" y="146628"/>
                  </a:cubicBezTo>
                  <a:close/>
                  <a:moveTo>
                    <a:pt x="46110" y="44285"/>
                  </a:moveTo>
                  <a:cubicBezTo>
                    <a:pt x="50723" y="38446"/>
                    <a:pt x="56700" y="33831"/>
                    <a:pt x="63521" y="30842"/>
                  </a:cubicBezTo>
                  <a:cubicBezTo>
                    <a:pt x="70724" y="27768"/>
                    <a:pt x="78487" y="26245"/>
                    <a:pt x="86318" y="26361"/>
                  </a:cubicBezTo>
                  <a:cubicBezTo>
                    <a:pt x="100570" y="25994"/>
                    <a:pt x="114252" y="31971"/>
                    <a:pt x="123653" y="42671"/>
                  </a:cubicBezTo>
                  <a:cubicBezTo>
                    <a:pt x="131668" y="52395"/>
                    <a:pt x="136478" y="64350"/>
                    <a:pt x="137430" y="76905"/>
                  </a:cubicBezTo>
                  <a:lnTo>
                    <a:pt x="32289" y="76905"/>
                  </a:lnTo>
                  <a:cubicBezTo>
                    <a:pt x="32877" y="72958"/>
                    <a:pt x="33774" y="69059"/>
                    <a:pt x="34981" y="65255"/>
                  </a:cubicBezTo>
                  <a:cubicBezTo>
                    <a:pt x="37319" y="57620"/>
                    <a:pt x="41098" y="50504"/>
                    <a:pt x="46110" y="44285"/>
                  </a:cubicBezTo>
                  <a:close/>
                </a:path>
              </a:pathLst>
            </a:custGeom>
            <a:grpFill/>
            <a:ln w="4485" cap="flat">
              <a:noFill/>
              <a:prstDash val="solid"/>
              <a:miter/>
            </a:ln>
          </p:spPr>
          <p:txBody>
            <a:bodyPr rtlCol="0" anchor="ctr"/>
            <a:lstStyle/>
            <a:p>
              <a:endParaRPr lang="es-ES_tradnl"/>
            </a:p>
          </p:txBody>
        </p:sp>
        <p:sp>
          <p:nvSpPr>
            <p:cNvPr id="34" name="Forma libre 182">
              <a:extLst>
                <a:ext uri="{FF2B5EF4-FFF2-40B4-BE49-F238E27FC236}">
                  <a16:creationId xmlns:a16="http://schemas.microsoft.com/office/drawing/2014/main" id="{19D47D5A-A778-901C-DEE9-F9E54930FC4A}"/>
                </a:ext>
              </a:extLst>
            </p:cNvPr>
            <p:cNvSpPr/>
            <p:nvPr/>
          </p:nvSpPr>
          <p:spPr>
            <a:xfrm>
              <a:off x="11412320" y="585982"/>
              <a:ext cx="21908" cy="43711"/>
            </a:xfrm>
            <a:custGeom>
              <a:avLst/>
              <a:gdLst>
                <a:gd name="connsiteX0" fmla="*/ 30873 w 92261"/>
                <a:gd name="connsiteY0" fmla="*/ 87113 h 184079"/>
                <a:gd name="connsiteX1" fmla="*/ 43259 w 92261"/>
                <a:gd name="connsiteY1" fmla="*/ 47502 h 184079"/>
                <a:gd name="connsiteX2" fmla="*/ 75030 w 92261"/>
                <a:gd name="connsiteY2" fmla="*/ 32626 h 184079"/>
                <a:gd name="connsiteX3" fmla="*/ 92262 w 92261"/>
                <a:gd name="connsiteY3" fmla="*/ 32626 h 184079"/>
                <a:gd name="connsiteX4" fmla="*/ 92262 w 92261"/>
                <a:gd name="connsiteY4" fmla="*/ 5 h 184079"/>
                <a:gd name="connsiteX5" fmla="*/ 81492 w 92261"/>
                <a:gd name="connsiteY5" fmla="*/ 5 h 184079"/>
                <a:gd name="connsiteX6" fmla="*/ 51875 w 92261"/>
                <a:gd name="connsiteY6" fmla="*/ 8608 h 184079"/>
                <a:gd name="connsiteX7" fmla="*/ 30873 w 92261"/>
                <a:gd name="connsiteY7" fmla="*/ 34418 h 184079"/>
                <a:gd name="connsiteX8" fmla="*/ 30873 w 92261"/>
                <a:gd name="connsiteY8" fmla="*/ 3052 h 184079"/>
                <a:gd name="connsiteX9" fmla="*/ 0 w 92261"/>
                <a:gd name="connsiteY9" fmla="*/ 3052 h 184079"/>
                <a:gd name="connsiteX10" fmla="*/ 0 w 92261"/>
                <a:gd name="connsiteY10" fmla="*/ 184080 h 184079"/>
                <a:gd name="connsiteX11" fmla="*/ 30873 w 92261"/>
                <a:gd name="connsiteY11" fmla="*/ 184080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261" h="184079">
                  <a:moveTo>
                    <a:pt x="30873" y="87113"/>
                  </a:moveTo>
                  <a:cubicBezTo>
                    <a:pt x="30146" y="72860"/>
                    <a:pt x="34540" y="58812"/>
                    <a:pt x="43259" y="47502"/>
                  </a:cubicBezTo>
                  <a:cubicBezTo>
                    <a:pt x="50928" y="37841"/>
                    <a:pt x="62690" y="32335"/>
                    <a:pt x="75030" y="32626"/>
                  </a:cubicBezTo>
                  <a:lnTo>
                    <a:pt x="92262" y="32626"/>
                  </a:lnTo>
                  <a:lnTo>
                    <a:pt x="92262" y="5"/>
                  </a:lnTo>
                  <a:lnTo>
                    <a:pt x="81492" y="5"/>
                  </a:lnTo>
                  <a:cubicBezTo>
                    <a:pt x="70982" y="-138"/>
                    <a:pt x="60670" y="2859"/>
                    <a:pt x="51875" y="8608"/>
                  </a:cubicBezTo>
                  <a:cubicBezTo>
                    <a:pt x="42577" y="15061"/>
                    <a:pt x="35294" y="24009"/>
                    <a:pt x="30873" y="34418"/>
                  </a:cubicBezTo>
                  <a:lnTo>
                    <a:pt x="30873" y="3052"/>
                  </a:lnTo>
                  <a:lnTo>
                    <a:pt x="0" y="3052"/>
                  </a:lnTo>
                  <a:lnTo>
                    <a:pt x="0" y="184080"/>
                  </a:lnTo>
                  <a:lnTo>
                    <a:pt x="30873" y="184080"/>
                  </a:lnTo>
                  <a:close/>
                </a:path>
              </a:pathLst>
            </a:custGeom>
            <a:grpFill/>
            <a:ln w="4485" cap="flat">
              <a:noFill/>
              <a:prstDash val="solid"/>
              <a:miter/>
            </a:ln>
          </p:spPr>
          <p:txBody>
            <a:bodyPr rtlCol="0" anchor="ctr"/>
            <a:lstStyle/>
            <a:p>
              <a:endParaRPr lang="es-ES_tradnl"/>
            </a:p>
          </p:txBody>
        </p:sp>
        <p:sp>
          <p:nvSpPr>
            <p:cNvPr id="35" name="Forma libre 183">
              <a:extLst>
                <a:ext uri="{FF2B5EF4-FFF2-40B4-BE49-F238E27FC236}">
                  <a16:creationId xmlns:a16="http://schemas.microsoft.com/office/drawing/2014/main" id="{87E1A9F5-48E1-F486-DBFA-B0002FBE01C1}"/>
                </a:ext>
              </a:extLst>
            </p:cNvPr>
            <p:cNvSpPr/>
            <p:nvPr/>
          </p:nvSpPr>
          <p:spPr>
            <a:xfrm>
              <a:off x="11457752" y="585980"/>
              <a:ext cx="43316" cy="44610"/>
            </a:xfrm>
            <a:custGeom>
              <a:avLst/>
              <a:gdLst>
                <a:gd name="connsiteX0" fmla="*/ 127644 w 182416"/>
                <a:gd name="connsiteY0" fmla="*/ 181041 h 187864"/>
                <a:gd name="connsiteX1" fmla="*/ 156544 w 182416"/>
                <a:gd name="connsiteY1" fmla="*/ 161683 h 187864"/>
                <a:gd name="connsiteX2" fmla="*/ 175570 w 182416"/>
                <a:gd name="connsiteY2" fmla="*/ 131930 h 187864"/>
                <a:gd name="connsiteX3" fmla="*/ 182391 w 182416"/>
                <a:gd name="connsiteY3" fmla="*/ 93574 h 187864"/>
                <a:gd name="connsiteX4" fmla="*/ 170544 w 182416"/>
                <a:gd name="connsiteY4" fmla="*/ 44643 h 187864"/>
                <a:gd name="connsiteX5" fmla="*/ 138055 w 182416"/>
                <a:gd name="connsiteY5" fmla="*/ 11842 h 187864"/>
                <a:gd name="connsiteX6" fmla="*/ 91206 w 182416"/>
                <a:gd name="connsiteY6" fmla="*/ 13 h 187864"/>
                <a:gd name="connsiteX7" fmla="*/ 55307 w 182416"/>
                <a:gd name="connsiteY7" fmla="*/ 6645 h 187864"/>
                <a:gd name="connsiteX8" fmla="*/ 26228 w 182416"/>
                <a:gd name="connsiteY8" fmla="*/ 25823 h 187864"/>
                <a:gd name="connsiteX9" fmla="*/ 6842 w 182416"/>
                <a:gd name="connsiteY9" fmla="*/ 55755 h 187864"/>
                <a:gd name="connsiteX10" fmla="*/ 21 w 182416"/>
                <a:gd name="connsiteY10" fmla="*/ 93574 h 187864"/>
                <a:gd name="connsiteX11" fmla="*/ 11868 w 182416"/>
                <a:gd name="connsiteY11" fmla="*/ 142863 h 187864"/>
                <a:gd name="connsiteX12" fmla="*/ 44357 w 182416"/>
                <a:gd name="connsiteY12" fmla="*/ 176022 h 187864"/>
                <a:gd name="connsiteX13" fmla="*/ 91206 w 182416"/>
                <a:gd name="connsiteY13" fmla="*/ 187851 h 187864"/>
                <a:gd name="connsiteX14" fmla="*/ 127644 w 182416"/>
                <a:gd name="connsiteY14" fmla="*/ 181041 h 187864"/>
                <a:gd name="connsiteX15" fmla="*/ 39331 w 182416"/>
                <a:gd name="connsiteY15" fmla="*/ 129242 h 187864"/>
                <a:gd name="connsiteX16" fmla="*/ 31613 w 182416"/>
                <a:gd name="connsiteY16" fmla="*/ 93395 h 187864"/>
                <a:gd name="connsiteX17" fmla="*/ 36101 w 182416"/>
                <a:gd name="connsiteY17" fmla="*/ 65792 h 187864"/>
                <a:gd name="connsiteX18" fmla="*/ 48665 w 182416"/>
                <a:gd name="connsiteY18" fmla="*/ 45001 h 187864"/>
                <a:gd name="connsiteX19" fmla="*/ 67692 w 182416"/>
                <a:gd name="connsiteY19" fmla="*/ 32096 h 187864"/>
                <a:gd name="connsiteX20" fmla="*/ 91206 w 182416"/>
                <a:gd name="connsiteY20" fmla="*/ 27615 h 187864"/>
                <a:gd name="connsiteX21" fmla="*/ 121901 w 182416"/>
                <a:gd name="connsiteY21" fmla="*/ 35502 h 187864"/>
                <a:gd name="connsiteX22" fmla="*/ 143261 w 182416"/>
                <a:gd name="connsiteY22" fmla="*/ 57906 h 187864"/>
                <a:gd name="connsiteX23" fmla="*/ 151159 w 182416"/>
                <a:gd name="connsiteY23" fmla="*/ 93036 h 187864"/>
                <a:gd name="connsiteX24" fmla="*/ 146671 w 182416"/>
                <a:gd name="connsiteY24" fmla="*/ 120818 h 187864"/>
                <a:gd name="connsiteX25" fmla="*/ 134106 w 182416"/>
                <a:gd name="connsiteY25" fmla="*/ 141788 h 187864"/>
                <a:gd name="connsiteX26" fmla="*/ 115080 w 182416"/>
                <a:gd name="connsiteY26" fmla="*/ 154872 h 187864"/>
                <a:gd name="connsiteX27" fmla="*/ 91206 w 182416"/>
                <a:gd name="connsiteY27" fmla="*/ 159353 h 187864"/>
                <a:gd name="connsiteX28" fmla="*/ 60692 w 182416"/>
                <a:gd name="connsiteY28" fmla="*/ 151467 h 187864"/>
                <a:gd name="connsiteX29" fmla="*/ 39331 w 182416"/>
                <a:gd name="connsiteY29" fmla="*/ 129242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27644" y="181041"/>
                  </a:moveTo>
                  <a:cubicBezTo>
                    <a:pt x="138513" y="176649"/>
                    <a:pt x="148354" y="170058"/>
                    <a:pt x="156544" y="161683"/>
                  </a:cubicBezTo>
                  <a:cubicBezTo>
                    <a:pt x="164801" y="153125"/>
                    <a:pt x="171267" y="143011"/>
                    <a:pt x="175570" y="131930"/>
                  </a:cubicBezTo>
                  <a:cubicBezTo>
                    <a:pt x="180246" y="119688"/>
                    <a:pt x="182562" y="106676"/>
                    <a:pt x="182391" y="93574"/>
                  </a:cubicBezTo>
                  <a:cubicBezTo>
                    <a:pt x="182782" y="76511"/>
                    <a:pt x="178698" y="59645"/>
                    <a:pt x="170544" y="44643"/>
                  </a:cubicBezTo>
                  <a:cubicBezTo>
                    <a:pt x="162929" y="30940"/>
                    <a:pt x="151693" y="19594"/>
                    <a:pt x="138055" y="11842"/>
                  </a:cubicBezTo>
                  <a:cubicBezTo>
                    <a:pt x="123763" y="3822"/>
                    <a:pt x="107595" y="-260"/>
                    <a:pt x="91206" y="13"/>
                  </a:cubicBezTo>
                  <a:cubicBezTo>
                    <a:pt x="78924" y="-81"/>
                    <a:pt x="66741" y="2168"/>
                    <a:pt x="55307" y="6645"/>
                  </a:cubicBezTo>
                  <a:cubicBezTo>
                    <a:pt x="44366" y="10919"/>
                    <a:pt x="34458" y="17453"/>
                    <a:pt x="26228" y="25823"/>
                  </a:cubicBezTo>
                  <a:cubicBezTo>
                    <a:pt x="17765" y="34354"/>
                    <a:pt x="11164" y="44548"/>
                    <a:pt x="6842" y="55755"/>
                  </a:cubicBezTo>
                  <a:cubicBezTo>
                    <a:pt x="2216" y="67822"/>
                    <a:pt x="-100" y="80651"/>
                    <a:pt x="21" y="93574"/>
                  </a:cubicBezTo>
                  <a:cubicBezTo>
                    <a:pt x="-333" y="110744"/>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lose/>
                  <a:moveTo>
                    <a:pt x="39331" y="129242"/>
                  </a:moveTo>
                  <a:cubicBezTo>
                    <a:pt x="33893" y="118093"/>
                    <a:pt x="31241" y="105793"/>
                    <a:pt x="31613" y="93395"/>
                  </a:cubicBezTo>
                  <a:cubicBezTo>
                    <a:pt x="31456" y="84003"/>
                    <a:pt x="32973" y="74655"/>
                    <a:pt x="36101" y="65792"/>
                  </a:cubicBezTo>
                  <a:cubicBezTo>
                    <a:pt x="38838" y="58085"/>
                    <a:pt x="43110" y="51010"/>
                    <a:pt x="48665" y="45001"/>
                  </a:cubicBezTo>
                  <a:cubicBezTo>
                    <a:pt x="53956" y="39324"/>
                    <a:pt x="60458" y="34914"/>
                    <a:pt x="67692" y="32096"/>
                  </a:cubicBezTo>
                  <a:cubicBezTo>
                    <a:pt x="75177" y="29130"/>
                    <a:pt x="83156" y="27611"/>
                    <a:pt x="91206" y="27615"/>
                  </a:cubicBezTo>
                  <a:cubicBezTo>
                    <a:pt x="101967" y="27409"/>
                    <a:pt x="112576" y="30138"/>
                    <a:pt x="121901" y="35502"/>
                  </a:cubicBezTo>
                  <a:cubicBezTo>
                    <a:pt x="130983" y="40825"/>
                    <a:pt x="138383" y="48590"/>
                    <a:pt x="143261" y="57906"/>
                  </a:cubicBezTo>
                  <a:cubicBezTo>
                    <a:pt x="148776" y="68781"/>
                    <a:pt x="151486" y="80853"/>
                    <a:pt x="151159" y="93036"/>
                  </a:cubicBezTo>
                  <a:cubicBezTo>
                    <a:pt x="151307" y="102486"/>
                    <a:pt x="149786" y="111892"/>
                    <a:pt x="146671" y="120818"/>
                  </a:cubicBezTo>
                  <a:cubicBezTo>
                    <a:pt x="143956" y="128587"/>
                    <a:pt x="139680" y="135725"/>
                    <a:pt x="134106" y="141788"/>
                  </a:cubicBezTo>
                  <a:cubicBezTo>
                    <a:pt x="128789" y="147474"/>
                    <a:pt x="122296" y="151937"/>
                    <a:pt x="115080" y="154872"/>
                  </a:cubicBezTo>
                  <a:cubicBezTo>
                    <a:pt x="107491" y="157901"/>
                    <a:pt x="99383" y="159425"/>
                    <a:pt x="91206" y="159353"/>
                  </a:cubicBezTo>
                  <a:cubicBezTo>
                    <a:pt x="80513" y="159488"/>
                    <a:pt x="69976" y="156768"/>
                    <a:pt x="60692" y="151467"/>
                  </a:cubicBezTo>
                  <a:cubicBezTo>
                    <a:pt x="51591" y="146246"/>
                    <a:pt x="44182" y="138535"/>
                    <a:pt x="39331" y="129242"/>
                  </a:cubicBezTo>
                  <a:close/>
                </a:path>
              </a:pathLst>
            </a:custGeom>
            <a:grpFill/>
            <a:ln w="4485" cap="flat">
              <a:noFill/>
              <a:prstDash val="solid"/>
              <a:miter/>
            </a:ln>
          </p:spPr>
          <p:txBody>
            <a:bodyPr rtlCol="0" anchor="ctr"/>
            <a:lstStyle/>
            <a:p>
              <a:endParaRPr lang="es-ES_tradnl"/>
            </a:p>
          </p:txBody>
        </p:sp>
        <p:sp>
          <p:nvSpPr>
            <p:cNvPr id="36" name="Forma libre 184">
              <a:extLst>
                <a:ext uri="{FF2B5EF4-FFF2-40B4-BE49-F238E27FC236}">
                  <a16:creationId xmlns:a16="http://schemas.microsoft.com/office/drawing/2014/main" id="{95906685-B8A9-84B0-5A13-A9B0FEA75B46}"/>
                </a:ext>
              </a:extLst>
            </p:cNvPr>
            <p:cNvSpPr/>
            <p:nvPr/>
          </p:nvSpPr>
          <p:spPr>
            <a:xfrm>
              <a:off x="11503119" y="569640"/>
              <a:ext cx="24636" cy="60096"/>
            </a:xfrm>
            <a:custGeom>
              <a:avLst/>
              <a:gdLst>
                <a:gd name="connsiteX0" fmla="*/ 30156 w 103749"/>
                <a:gd name="connsiteY0" fmla="*/ 253080 h 253080"/>
                <a:gd name="connsiteX1" fmla="*/ 61029 w 103749"/>
                <a:gd name="connsiteY1" fmla="*/ 253080 h 253080"/>
                <a:gd name="connsiteX2" fmla="*/ 61029 w 103749"/>
                <a:gd name="connsiteY2" fmla="*/ 98221 h 253080"/>
                <a:gd name="connsiteX3" fmla="*/ 103750 w 103749"/>
                <a:gd name="connsiteY3" fmla="*/ 98221 h 253080"/>
                <a:gd name="connsiteX4" fmla="*/ 103750 w 103749"/>
                <a:gd name="connsiteY4" fmla="*/ 72053 h 253080"/>
                <a:gd name="connsiteX5" fmla="*/ 61029 w 103749"/>
                <a:gd name="connsiteY5" fmla="*/ 72053 h 253080"/>
                <a:gd name="connsiteX6" fmla="*/ 61029 w 103749"/>
                <a:gd name="connsiteY6" fmla="*/ 54846 h 253080"/>
                <a:gd name="connsiteX7" fmla="*/ 66773 w 103749"/>
                <a:gd name="connsiteY7" fmla="*/ 34413 h 253080"/>
                <a:gd name="connsiteX8" fmla="*/ 85441 w 103749"/>
                <a:gd name="connsiteY8" fmla="*/ 27244 h 253080"/>
                <a:gd name="connsiteX9" fmla="*/ 103750 w 103749"/>
                <a:gd name="connsiteY9" fmla="*/ 27244 h 253080"/>
                <a:gd name="connsiteX10" fmla="*/ 103750 w 103749"/>
                <a:gd name="connsiteY10" fmla="*/ 0 h 253080"/>
                <a:gd name="connsiteX11" fmla="*/ 82210 w 103749"/>
                <a:gd name="connsiteY11" fmla="*/ 0 h 253080"/>
                <a:gd name="connsiteX12" fmla="*/ 43259 w 103749"/>
                <a:gd name="connsiteY12" fmla="*/ 14877 h 253080"/>
                <a:gd name="connsiteX13" fmla="*/ 30156 w 103749"/>
                <a:gd name="connsiteY13" fmla="*/ 53412 h 253080"/>
                <a:gd name="connsiteX14" fmla="*/ 30156 w 103749"/>
                <a:gd name="connsiteY14" fmla="*/ 72053 h 253080"/>
                <a:gd name="connsiteX15" fmla="*/ 0 w 103749"/>
                <a:gd name="connsiteY15" fmla="*/ 72053 h 253080"/>
                <a:gd name="connsiteX16" fmla="*/ 0 w 103749"/>
                <a:gd name="connsiteY16" fmla="*/ 98221 h 253080"/>
                <a:gd name="connsiteX17" fmla="*/ 30156 w 103749"/>
                <a:gd name="connsiteY17" fmla="*/ 98221 h 25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3749" h="253080">
                  <a:moveTo>
                    <a:pt x="30156" y="253080"/>
                  </a:moveTo>
                  <a:lnTo>
                    <a:pt x="61029" y="253080"/>
                  </a:lnTo>
                  <a:lnTo>
                    <a:pt x="61029" y="98221"/>
                  </a:lnTo>
                  <a:lnTo>
                    <a:pt x="103750" y="98221"/>
                  </a:lnTo>
                  <a:lnTo>
                    <a:pt x="103750" y="72053"/>
                  </a:lnTo>
                  <a:lnTo>
                    <a:pt x="61029" y="72053"/>
                  </a:lnTo>
                  <a:lnTo>
                    <a:pt x="61029" y="54846"/>
                  </a:lnTo>
                  <a:cubicBezTo>
                    <a:pt x="60558" y="47582"/>
                    <a:pt x="62587" y="40373"/>
                    <a:pt x="66773" y="34413"/>
                  </a:cubicBezTo>
                  <a:cubicBezTo>
                    <a:pt x="71526" y="29233"/>
                    <a:pt x="78436" y="26581"/>
                    <a:pt x="85441" y="27244"/>
                  </a:cubicBezTo>
                  <a:lnTo>
                    <a:pt x="103750" y="27244"/>
                  </a:lnTo>
                  <a:lnTo>
                    <a:pt x="103750" y="0"/>
                  </a:lnTo>
                  <a:lnTo>
                    <a:pt x="82210" y="0"/>
                  </a:lnTo>
                  <a:cubicBezTo>
                    <a:pt x="64978" y="0"/>
                    <a:pt x="51996" y="4960"/>
                    <a:pt x="43259" y="14877"/>
                  </a:cubicBezTo>
                  <a:cubicBezTo>
                    <a:pt x="34217" y="25631"/>
                    <a:pt x="29541" y="39382"/>
                    <a:pt x="30156" y="53412"/>
                  </a:cubicBezTo>
                  <a:lnTo>
                    <a:pt x="30156" y="72053"/>
                  </a:lnTo>
                  <a:lnTo>
                    <a:pt x="0" y="72053"/>
                  </a:lnTo>
                  <a:lnTo>
                    <a:pt x="0" y="98221"/>
                  </a:lnTo>
                  <a:lnTo>
                    <a:pt x="30156" y="98221"/>
                  </a:lnTo>
                  <a:close/>
                </a:path>
              </a:pathLst>
            </a:custGeom>
            <a:grpFill/>
            <a:ln w="4485" cap="flat">
              <a:noFill/>
              <a:prstDash val="solid"/>
              <a:miter/>
            </a:ln>
          </p:spPr>
          <p:txBody>
            <a:bodyPr rtlCol="0" anchor="ctr"/>
            <a:lstStyle/>
            <a:p>
              <a:endParaRPr lang="es-ES_tradnl"/>
            </a:p>
          </p:txBody>
        </p:sp>
        <p:sp>
          <p:nvSpPr>
            <p:cNvPr id="37" name="Forma libre 185">
              <a:extLst>
                <a:ext uri="{FF2B5EF4-FFF2-40B4-BE49-F238E27FC236}">
                  <a16:creationId xmlns:a16="http://schemas.microsoft.com/office/drawing/2014/main" id="{34A21EE7-A0DB-085C-A775-06C95906A521}"/>
                </a:ext>
              </a:extLst>
            </p:cNvPr>
            <p:cNvSpPr/>
            <p:nvPr/>
          </p:nvSpPr>
          <p:spPr>
            <a:xfrm>
              <a:off x="11549397" y="572619"/>
              <a:ext cx="25489" cy="57124"/>
            </a:xfrm>
            <a:custGeom>
              <a:avLst/>
              <a:gdLst>
                <a:gd name="connsiteX0" fmla="*/ 33746 w 107340"/>
                <a:gd name="connsiteY0" fmla="*/ 187122 h 240566"/>
                <a:gd name="connsiteX1" fmla="*/ 39490 w 107340"/>
                <a:gd name="connsiteY1" fmla="*/ 214903 h 240566"/>
                <a:gd name="connsiteX2" fmla="*/ 56901 w 107340"/>
                <a:gd name="connsiteY2" fmla="*/ 233723 h 240566"/>
                <a:gd name="connsiteX3" fmla="*/ 85800 w 107340"/>
                <a:gd name="connsiteY3" fmla="*/ 240534 h 240566"/>
                <a:gd name="connsiteX4" fmla="*/ 107340 w 107340"/>
                <a:gd name="connsiteY4" fmla="*/ 240534 h 240566"/>
                <a:gd name="connsiteX5" fmla="*/ 107340 w 107340"/>
                <a:gd name="connsiteY5" fmla="*/ 213290 h 240566"/>
                <a:gd name="connsiteX6" fmla="*/ 88672 w 107340"/>
                <a:gd name="connsiteY6" fmla="*/ 213290 h 240566"/>
                <a:gd name="connsiteX7" fmla="*/ 70363 w 107340"/>
                <a:gd name="connsiteY7" fmla="*/ 205941 h 240566"/>
                <a:gd name="connsiteX8" fmla="*/ 64619 w 107340"/>
                <a:gd name="connsiteY8" fmla="*/ 184612 h 240566"/>
                <a:gd name="connsiteX9" fmla="*/ 64619 w 107340"/>
                <a:gd name="connsiteY9" fmla="*/ 85675 h 240566"/>
                <a:gd name="connsiteX10" fmla="*/ 107340 w 107340"/>
                <a:gd name="connsiteY10" fmla="*/ 85675 h 240566"/>
                <a:gd name="connsiteX11" fmla="*/ 107340 w 107340"/>
                <a:gd name="connsiteY11" fmla="*/ 59506 h 240566"/>
                <a:gd name="connsiteX12" fmla="*/ 64619 w 107340"/>
                <a:gd name="connsiteY12" fmla="*/ 59506 h 240566"/>
                <a:gd name="connsiteX13" fmla="*/ 64619 w 107340"/>
                <a:gd name="connsiteY13" fmla="*/ 0 h 240566"/>
                <a:gd name="connsiteX14" fmla="*/ 33746 w 107340"/>
                <a:gd name="connsiteY14" fmla="*/ 20074 h 240566"/>
                <a:gd name="connsiteX15" fmla="*/ 33746 w 107340"/>
                <a:gd name="connsiteY15" fmla="*/ 59506 h 240566"/>
                <a:gd name="connsiteX16" fmla="*/ 0 w 107340"/>
                <a:gd name="connsiteY16" fmla="*/ 59506 h 240566"/>
                <a:gd name="connsiteX17" fmla="*/ 0 w 107340"/>
                <a:gd name="connsiteY17" fmla="*/ 85675 h 240566"/>
                <a:gd name="connsiteX18" fmla="*/ 33746 w 107340"/>
                <a:gd name="connsiteY18" fmla="*/ 85675 h 24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340" h="240566">
                  <a:moveTo>
                    <a:pt x="33746" y="187122"/>
                  </a:moveTo>
                  <a:cubicBezTo>
                    <a:pt x="33539" y="196697"/>
                    <a:pt x="35500" y="206192"/>
                    <a:pt x="39490" y="214903"/>
                  </a:cubicBezTo>
                  <a:cubicBezTo>
                    <a:pt x="43232" y="222807"/>
                    <a:pt x="49308" y="229376"/>
                    <a:pt x="56901" y="233723"/>
                  </a:cubicBezTo>
                  <a:cubicBezTo>
                    <a:pt x="65755" y="238522"/>
                    <a:pt x="75730" y="240874"/>
                    <a:pt x="85800" y="240534"/>
                  </a:cubicBezTo>
                  <a:lnTo>
                    <a:pt x="107340" y="240534"/>
                  </a:lnTo>
                  <a:lnTo>
                    <a:pt x="107340" y="213290"/>
                  </a:lnTo>
                  <a:lnTo>
                    <a:pt x="88672" y="213290"/>
                  </a:lnTo>
                  <a:cubicBezTo>
                    <a:pt x="81743" y="213895"/>
                    <a:pt x="74945" y="211166"/>
                    <a:pt x="70363" y="205941"/>
                  </a:cubicBezTo>
                  <a:cubicBezTo>
                    <a:pt x="66123" y="199668"/>
                    <a:pt x="64099" y="192163"/>
                    <a:pt x="64619" y="184612"/>
                  </a:cubicBezTo>
                  <a:lnTo>
                    <a:pt x="64619" y="85675"/>
                  </a:lnTo>
                  <a:lnTo>
                    <a:pt x="107340" y="85675"/>
                  </a:lnTo>
                  <a:lnTo>
                    <a:pt x="107340" y="59506"/>
                  </a:lnTo>
                  <a:lnTo>
                    <a:pt x="64619" y="59506"/>
                  </a:lnTo>
                  <a:lnTo>
                    <a:pt x="64619" y="0"/>
                  </a:lnTo>
                  <a:lnTo>
                    <a:pt x="33746" y="20074"/>
                  </a:lnTo>
                  <a:lnTo>
                    <a:pt x="33746" y="59506"/>
                  </a:lnTo>
                  <a:lnTo>
                    <a:pt x="0" y="59506"/>
                  </a:lnTo>
                  <a:lnTo>
                    <a:pt x="0" y="85675"/>
                  </a:lnTo>
                  <a:lnTo>
                    <a:pt x="33746" y="85675"/>
                  </a:lnTo>
                  <a:close/>
                </a:path>
              </a:pathLst>
            </a:custGeom>
            <a:grpFill/>
            <a:ln w="4485" cap="flat">
              <a:noFill/>
              <a:prstDash val="solid"/>
              <a:miter/>
            </a:ln>
          </p:spPr>
          <p:txBody>
            <a:bodyPr rtlCol="0" anchor="ctr"/>
            <a:lstStyle/>
            <a:p>
              <a:endParaRPr lang="es-ES_tradnl"/>
            </a:p>
          </p:txBody>
        </p:sp>
        <p:sp>
          <p:nvSpPr>
            <p:cNvPr id="38" name="Forma libre 186">
              <a:extLst>
                <a:ext uri="{FF2B5EF4-FFF2-40B4-BE49-F238E27FC236}">
                  <a16:creationId xmlns:a16="http://schemas.microsoft.com/office/drawing/2014/main" id="{4AF188C2-01A6-001F-505E-AD1745E1629C}"/>
                </a:ext>
              </a:extLst>
            </p:cNvPr>
            <p:cNvSpPr/>
            <p:nvPr/>
          </p:nvSpPr>
          <p:spPr>
            <a:xfrm>
              <a:off x="11580533" y="570151"/>
              <a:ext cx="36554" cy="59585"/>
            </a:xfrm>
            <a:custGeom>
              <a:avLst/>
              <a:gdLst>
                <a:gd name="connsiteX0" fmla="*/ 79697 w 153939"/>
                <a:gd name="connsiteY0" fmla="*/ 94278 h 250929"/>
                <a:gd name="connsiteX1" fmla="*/ 111109 w 153939"/>
                <a:gd name="connsiteY1" fmla="*/ 107183 h 250929"/>
                <a:gd name="connsiteX2" fmla="*/ 123136 w 153939"/>
                <a:gd name="connsiteY2" fmla="*/ 142313 h 250929"/>
                <a:gd name="connsiteX3" fmla="*/ 123136 w 153939"/>
                <a:gd name="connsiteY3" fmla="*/ 250929 h 250929"/>
                <a:gd name="connsiteX4" fmla="*/ 153920 w 153939"/>
                <a:gd name="connsiteY4" fmla="*/ 250929 h 250929"/>
                <a:gd name="connsiteX5" fmla="*/ 153920 w 153939"/>
                <a:gd name="connsiteY5" fmla="*/ 137653 h 250929"/>
                <a:gd name="connsiteX6" fmla="*/ 145304 w 153939"/>
                <a:gd name="connsiteY6" fmla="*/ 100013 h 250929"/>
                <a:gd name="connsiteX7" fmla="*/ 121251 w 153939"/>
                <a:gd name="connsiteY7" fmla="*/ 75279 h 250929"/>
                <a:gd name="connsiteX8" fmla="*/ 86069 w 153939"/>
                <a:gd name="connsiteY8" fmla="*/ 66675 h 250929"/>
                <a:gd name="connsiteX9" fmla="*/ 50888 w 153939"/>
                <a:gd name="connsiteY9" fmla="*/ 76175 h 250929"/>
                <a:gd name="connsiteX10" fmla="*/ 30784 w 153939"/>
                <a:gd name="connsiteY10" fmla="*/ 97952 h 250929"/>
                <a:gd name="connsiteX11" fmla="*/ 30784 w 153939"/>
                <a:gd name="connsiteY11" fmla="*/ 0 h 250929"/>
                <a:gd name="connsiteX12" fmla="*/ 0 w 153939"/>
                <a:gd name="connsiteY12" fmla="*/ 0 h 250929"/>
                <a:gd name="connsiteX13" fmla="*/ 0 w 153939"/>
                <a:gd name="connsiteY13" fmla="*/ 250929 h 250929"/>
                <a:gd name="connsiteX14" fmla="*/ 30874 w 153939"/>
                <a:gd name="connsiteY14" fmla="*/ 250929 h 250929"/>
                <a:gd name="connsiteX15" fmla="*/ 30874 w 153939"/>
                <a:gd name="connsiteY15" fmla="*/ 143388 h 250929"/>
                <a:gd name="connsiteX16" fmla="*/ 44336 w 153939"/>
                <a:gd name="connsiteY16" fmla="*/ 107541 h 250929"/>
                <a:gd name="connsiteX17" fmla="*/ 79697 w 153939"/>
                <a:gd name="connsiteY17" fmla="*/ 94278 h 25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939" h="250929">
                  <a:moveTo>
                    <a:pt x="79697" y="94278"/>
                  </a:moveTo>
                  <a:cubicBezTo>
                    <a:pt x="91548" y="93825"/>
                    <a:pt x="103010" y="98535"/>
                    <a:pt x="111109" y="107183"/>
                  </a:cubicBezTo>
                  <a:cubicBezTo>
                    <a:pt x="119550" y="116879"/>
                    <a:pt x="123867" y="129484"/>
                    <a:pt x="123136" y="142313"/>
                  </a:cubicBezTo>
                  <a:lnTo>
                    <a:pt x="123136" y="250929"/>
                  </a:lnTo>
                  <a:lnTo>
                    <a:pt x="153920" y="250929"/>
                  </a:lnTo>
                  <a:lnTo>
                    <a:pt x="153920" y="137653"/>
                  </a:lnTo>
                  <a:cubicBezTo>
                    <a:pt x="154216" y="124586"/>
                    <a:pt x="151254" y="111655"/>
                    <a:pt x="145304" y="100013"/>
                  </a:cubicBezTo>
                  <a:cubicBezTo>
                    <a:pt x="139896" y="89586"/>
                    <a:pt x="131527" y="80983"/>
                    <a:pt x="121251" y="75279"/>
                  </a:cubicBezTo>
                  <a:cubicBezTo>
                    <a:pt x="110468" y="69413"/>
                    <a:pt x="98347" y="66451"/>
                    <a:pt x="86069" y="66675"/>
                  </a:cubicBezTo>
                  <a:cubicBezTo>
                    <a:pt x="73702" y="66644"/>
                    <a:pt x="61554" y="69924"/>
                    <a:pt x="50888" y="76175"/>
                  </a:cubicBezTo>
                  <a:cubicBezTo>
                    <a:pt x="42209" y="81328"/>
                    <a:pt x="35222" y="88896"/>
                    <a:pt x="30784" y="97952"/>
                  </a:cubicBezTo>
                  <a:lnTo>
                    <a:pt x="30784" y="0"/>
                  </a:lnTo>
                  <a:lnTo>
                    <a:pt x="0" y="0"/>
                  </a:lnTo>
                  <a:lnTo>
                    <a:pt x="0" y="250929"/>
                  </a:lnTo>
                  <a:lnTo>
                    <a:pt x="30874" y="250929"/>
                  </a:lnTo>
                  <a:lnTo>
                    <a:pt x="30874" y="143388"/>
                  </a:lnTo>
                  <a:cubicBezTo>
                    <a:pt x="30142" y="130084"/>
                    <a:pt x="35025" y="117085"/>
                    <a:pt x="44336" y="107541"/>
                  </a:cubicBezTo>
                  <a:cubicBezTo>
                    <a:pt x="53854" y="98543"/>
                    <a:pt x="66603" y="93762"/>
                    <a:pt x="79697" y="94278"/>
                  </a:cubicBezTo>
                  <a:close/>
                </a:path>
              </a:pathLst>
            </a:custGeom>
            <a:grpFill/>
            <a:ln w="4485" cap="flat">
              <a:noFill/>
              <a:prstDash val="solid"/>
              <a:miter/>
            </a:ln>
          </p:spPr>
          <p:txBody>
            <a:bodyPr rtlCol="0" anchor="ctr"/>
            <a:lstStyle/>
            <a:p>
              <a:endParaRPr lang="es-ES_tradnl"/>
            </a:p>
          </p:txBody>
        </p:sp>
        <p:sp>
          <p:nvSpPr>
            <p:cNvPr id="39" name="Forma libre 187">
              <a:extLst>
                <a:ext uri="{FF2B5EF4-FFF2-40B4-BE49-F238E27FC236}">
                  <a16:creationId xmlns:a16="http://schemas.microsoft.com/office/drawing/2014/main" id="{9E811541-CD58-5466-FD8B-321716716248}"/>
                </a:ext>
              </a:extLst>
            </p:cNvPr>
            <p:cNvSpPr/>
            <p:nvPr/>
          </p:nvSpPr>
          <p:spPr>
            <a:xfrm>
              <a:off x="11624195" y="585938"/>
              <a:ext cx="40290" cy="44572"/>
            </a:xfrm>
            <a:custGeom>
              <a:avLst/>
              <a:gdLst>
                <a:gd name="connsiteX0" fmla="*/ 158880 w 169671"/>
                <a:gd name="connsiteY0" fmla="*/ 43388 h 187705"/>
                <a:gd name="connsiteX1" fmla="*/ 129442 w 169671"/>
                <a:gd name="connsiteY1" fmla="*/ 11305 h 187705"/>
                <a:gd name="connsiteX2" fmla="*/ 86722 w 169671"/>
                <a:gd name="connsiteY2" fmla="*/ 13 h 187705"/>
                <a:gd name="connsiteX3" fmla="*/ 51899 w 169671"/>
                <a:gd name="connsiteY3" fmla="*/ 6645 h 187705"/>
                <a:gd name="connsiteX4" fmla="*/ 24436 w 169671"/>
                <a:gd name="connsiteY4" fmla="*/ 25465 h 187705"/>
                <a:gd name="connsiteX5" fmla="*/ 6486 w 169671"/>
                <a:gd name="connsiteY5" fmla="*/ 54859 h 187705"/>
                <a:gd name="connsiteX6" fmla="*/ 24 w 169671"/>
                <a:gd name="connsiteY6" fmla="*/ 93574 h 187705"/>
                <a:gd name="connsiteX7" fmla="*/ 11512 w 169671"/>
                <a:gd name="connsiteY7" fmla="*/ 142864 h 187705"/>
                <a:gd name="connsiteX8" fmla="*/ 87799 w 169671"/>
                <a:gd name="connsiteY8" fmla="*/ 187673 h 187705"/>
                <a:gd name="connsiteX9" fmla="*/ 117775 w 169671"/>
                <a:gd name="connsiteY9" fmla="*/ 183192 h 187705"/>
                <a:gd name="connsiteX10" fmla="*/ 144699 w 169671"/>
                <a:gd name="connsiteY10" fmla="*/ 169032 h 187705"/>
                <a:gd name="connsiteX11" fmla="*/ 166239 w 169671"/>
                <a:gd name="connsiteY11" fmla="*/ 142505 h 187705"/>
                <a:gd name="connsiteX12" fmla="*/ 142905 w 169671"/>
                <a:gd name="connsiteY12" fmla="*/ 128167 h 187705"/>
                <a:gd name="connsiteX13" fmla="*/ 128186 w 169671"/>
                <a:gd name="connsiteY13" fmla="*/ 146449 h 187705"/>
                <a:gd name="connsiteX14" fmla="*/ 109697 w 169671"/>
                <a:gd name="connsiteY14" fmla="*/ 156844 h 187705"/>
                <a:gd name="connsiteX15" fmla="*/ 88337 w 169671"/>
                <a:gd name="connsiteY15" fmla="*/ 160071 h 187705"/>
                <a:gd name="connsiteX16" fmla="*/ 58899 w 169671"/>
                <a:gd name="connsiteY16" fmla="*/ 152543 h 187705"/>
                <a:gd name="connsiteX17" fmla="*/ 38616 w 169671"/>
                <a:gd name="connsiteY17" fmla="*/ 130138 h 187705"/>
                <a:gd name="connsiteX18" fmla="*/ 31212 w 169671"/>
                <a:gd name="connsiteY18" fmla="*/ 100564 h 187705"/>
                <a:gd name="connsiteX19" fmla="*/ 169291 w 169671"/>
                <a:gd name="connsiteY19" fmla="*/ 100564 h 187705"/>
                <a:gd name="connsiteX20" fmla="*/ 169650 w 169671"/>
                <a:gd name="connsiteY20" fmla="*/ 96084 h 187705"/>
                <a:gd name="connsiteX21" fmla="*/ 169650 w 169671"/>
                <a:gd name="connsiteY21" fmla="*/ 91603 h 187705"/>
                <a:gd name="connsiteX22" fmla="*/ 158880 w 169671"/>
                <a:gd name="connsiteY22" fmla="*/ 43388 h 187705"/>
                <a:gd name="connsiteX23" fmla="*/ 46155 w 169671"/>
                <a:gd name="connsiteY23" fmla="*/ 44285 h 187705"/>
                <a:gd name="connsiteX24" fmla="*/ 63567 w 169671"/>
                <a:gd name="connsiteY24" fmla="*/ 30842 h 187705"/>
                <a:gd name="connsiteX25" fmla="*/ 86363 w 169671"/>
                <a:gd name="connsiteY25" fmla="*/ 26361 h 187705"/>
                <a:gd name="connsiteX26" fmla="*/ 123698 w 169671"/>
                <a:gd name="connsiteY26" fmla="*/ 42671 h 187705"/>
                <a:gd name="connsiteX27" fmla="*/ 137475 w 169671"/>
                <a:gd name="connsiteY27" fmla="*/ 76905 h 187705"/>
                <a:gd name="connsiteX28" fmla="*/ 32334 w 169671"/>
                <a:gd name="connsiteY28" fmla="*/ 76905 h 187705"/>
                <a:gd name="connsiteX29" fmla="*/ 35026 w 169671"/>
                <a:gd name="connsiteY29" fmla="*/ 65255 h 187705"/>
                <a:gd name="connsiteX30" fmla="*/ 46335 w 169671"/>
                <a:gd name="connsiteY30" fmla="*/ 44464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671" h="187705">
                  <a:moveTo>
                    <a:pt x="158880" y="43388"/>
                  </a:moveTo>
                  <a:cubicBezTo>
                    <a:pt x="152279" y="30147"/>
                    <a:pt x="142074" y="19030"/>
                    <a:pt x="129442" y="11305"/>
                  </a:cubicBezTo>
                  <a:cubicBezTo>
                    <a:pt x="116532" y="3647"/>
                    <a:pt x="101737" y="-260"/>
                    <a:pt x="86722" y="13"/>
                  </a:cubicBezTo>
                  <a:cubicBezTo>
                    <a:pt x="74785" y="-143"/>
                    <a:pt x="62938" y="2115"/>
                    <a:pt x="51899" y="6645"/>
                  </a:cubicBezTo>
                  <a:cubicBezTo>
                    <a:pt x="41520" y="10920"/>
                    <a:pt x="32163" y="17336"/>
                    <a:pt x="24436" y="25465"/>
                  </a:cubicBezTo>
                  <a:cubicBezTo>
                    <a:pt x="16502" y="33934"/>
                    <a:pt x="10390" y="43939"/>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60" y="186167"/>
                    <a:pt x="117775" y="183192"/>
                  </a:cubicBezTo>
                  <a:cubicBezTo>
                    <a:pt x="127522" y="180113"/>
                    <a:pt x="136640" y="175314"/>
                    <a:pt x="144699" y="169032"/>
                  </a:cubicBezTo>
                  <a:cubicBezTo>
                    <a:pt x="153683" y="161818"/>
                    <a:pt x="161025" y="152776"/>
                    <a:pt x="166239" y="142505"/>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2"/>
                    <a:pt x="67834" y="157705"/>
                    <a:pt x="58899" y="152543"/>
                  </a:cubicBezTo>
                  <a:cubicBezTo>
                    <a:pt x="50154" y="147139"/>
                    <a:pt x="43122" y="139373"/>
                    <a:pt x="38616" y="130138"/>
                  </a:cubicBezTo>
                  <a:cubicBezTo>
                    <a:pt x="34124" y="120899"/>
                    <a:pt x="31602" y="110830"/>
                    <a:pt x="31212" y="100564"/>
                  </a:cubicBezTo>
                  <a:lnTo>
                    <a:pt x="169291" y="100564"/>
                  </a:lnTo>
                  <a:cubicBezTo>
                    <a:pt x="169551" y="99086"/>
                    <a:pt x="169672" y="97585"/>
                    <a:pt x="169650" y="96084"/>
                  </a:cubicBezTo>
                  <a:lnTo>
                    <a:pt x="169650" y="91603"/>
                  </a:lnTo>
                  <a:cubicBezTo>
                    <a:pt x="169995" y="74902"/>
                    <a:pt x="166302" y="58359"/>
                    <a:pt x="158880" y="43388"/>
                  </a:cubicBezTo>
                  <a:close/>
                  <a:moveTo>
                    <a:pt x="46155" y="44285"/>
                  </a:moveTo>
                  <a:cubicBezTo>
                    <a:pt x="50768" y="38446"/>
                    <a:pt x="56746" y="33831"/>
                    <a:pt x="63567" y="30842"/>
                  </a:cubicBezTo>
                  <a:cubicBezTo>
                    <a:pt x="70769" y="27768"/>
                    <a:pt x="78532" y="26245"/>
                    <a:pt x="86363" y="26361"/>
                  </a:cubicBezTo>
                  <a:cubicBezTo>
                    <a:pt x="100615" y="25994"/>
                    <a:pt x="114297" y="31971"/>
                    <a:pt x="123698" y="42671"/>
                  </a:cubicBezTo>
                  <a:cubicBezTo>
                    <a:pt x="131713" y="52395"/>
                    <a:pt x="136524" y="64350"/>
                    <a:pt x="137475" y="76905"/>
                  </a:cubicBezTo>
                  <a:lnTo>
                    <a:pt x="32334" y="76905"/>
                  </a:lnTo>
                  <a:cubicBezTo>
                    <a:pt x="32940" y="72962"/>
                    <a:pt x="33842" y="69068"/>
                    <a:pt x="35026" y="65255"/>
                  </a:cubicBezTo>
                  <a:cubicBezTo>
                    <a:pt x="37441" y="57673"/>
                    <a:pt x="41277" y="50616"/>
                    <a:pt x="46335" y="44464"/>
                  </a:cubicBezTo>
                  <a:close/>
                </a:path>
              </a:pathLst>
            </a:custGeom>
            <a:grpFill/>
            <a:ln w="4485" cap="flat">
              <a:noFill/>
              <a:prstDash val="solid"/>
              <a:miter/>
            </a:ln>
          </p:spPr>
          <p:txBody>
            <a:bodyPr rtlCol="0" anchor="ctr"/>
            <a:lstStyle/>
            <a:p>
              <a:endParaRPr lang="es-ES_tradnl"/>
            </a:p>
          </p:txBody>
        </p:sp>
        <p:sp>
          <p:nvSpPr>
            <p:cNvPr id="40" name="Forma libre 188">
              <a:extLst>
                <a:ext uri="{FF2B5EF4-FFF2-40B4-BE49-F238E27FC236}">
                  <a16:creationId xmlns:a16="http://schemas.microsoft.com/office/drawing/2014/main" id="{798A26E0-B5ED-57E8-5B08-EDA86CE700AB}"/>
                </a:ext>
              </a:extLst>
            </p:cNvPr>
            <p:cNvSpPr/>
            <p:nvPr/>
          </p:nvSpPr>
          <p:spPr>
            <a:xfrm>
              <a:off x="11058558" y="660592"/>
              <a:ext cx="7672" cy="59585"/>
            </a:xfrm>
            <a:custGeom>
              <a:avLst/>
              <a:gdLst>
                <a:gd name="connsiteX0" fmla="*/ 0 w 32309"/>
                <a:gd name="connsiteY0" fmla="*/ 0 h 250929"/>
                <a:gd name="connsiteX1" fmla="*/ 32310 w 32309"/>
                <a:gd name="connsiteY1" fmla="*/ 0 h 250929"/>
                <a:gd name="connsiteX2" fmla="*/ 32310 w 32309"/>
                <a:gd name="connsiteY2" fmla="*/ 250929 h 250929"/>
                <a:gd name="connsiteX3" fmla="*/ 0 w 32309"/>
                <a:gd name="connsiteY3" fmla="*/ 250929 h 250929"/>
              </a:gdLst>
              <a:ahLst/>
              <a:cxnLst>
                <a:cxn ang="0">
                  <a:pos x="connsiteX0" y="connsiteY0"/>
                </a:cxn>
                <a:cxn ang="0">
                  <a:pos x="connsiteX1" y="connsiteY1"/>
                </a:cxn>
                <a:cxn ang="0">
                  <a:pos x="connsiteX2" y="connsiteY2"/>
                </a:cxn>
                <a:cxn ang="0">
                  <a:pos x="connsiteX3" y="connsiteY3"/>
                </a:cxn>
              </a:cxnLst>
              <a:rect l="l" t="t" r="r" b="b"/>
              <a:pathLst>
                <a:path w="32309" h="250929">
                  <a:moveTo>
                    <a:pt x="0" y="0"/>
                  </a:moveTo>
                  <a:lnTo>
                    <a:pt x="32310" y="0"/>
                  </a:lnTo>
                  <a:lnTo>
                    <a:pt x="32310" y="250929"/>
                  </a:lnTo>
                  <a:lnTo>
                    <a:pt x="0" y="250929"/>
                  </a:lnTo>
                  <a:close/>
                </a:path>
              </a:pathLst>
            </a:custGeom>
            <a:grpFill/>
            <a:ln w="4485" cap="flat">
              <a:noFill/>
              <a:prstDash val="solid"/>
              <a:miter/>
            </a:ln>
          </p:spPr>
          <p:txBody>
            <a:bodyPr rtlCol="0" anchor="ctr"/>
            <a:lstStyle/>
            <a:p>
              <a:endParaRPr lang="es-ES_tradnl"/>
            </a:p>
          </p:txBody>
        </p:sp>
        <p:sp>
          <p:nvSpPr>
            <p:cNvPr id="41" name="Forma libre 189">
              <a:extLst>
                <a:ext uri="{FF2B5EF4-FFF2-40B4-BE49-F238E27FC236}">
                  <a16:creationId xmlns:a16="http://schemas.microsoft.com/office/drawing/2014/main" id="{E89D44F8-FCDB-8279-2AEF-9658C813292F}"/>
                </a:ext>
              </a:extLst>
            </p:cNvPr>
            <p:cNvSpPr/>
            <p:nvPr/>
          </p:nvSpPr>
          <p:spPr>
            <a:xfrm>
              <a:off x="11076630" y="660593"/>
              <a:ext cx="42415" cy="60361"/>
            </a:xfrm>
            <a:custGeom>
              <a:avLst/>
              <a:gdLst>
                <a:gd name="connsiteX0" fmla="*/ 137136 w 178621"/>
                <a:gd name="connsiteY0" fmla="*/ 78505 h 254195"/>
                <a:gd name="connsiteX1" fmla="*/ 94057 w 178621"/>
                <a:gd name="connsiteY1" fmla="*/ 66675 h 254195"/>
                <a:gd name="connsiteX2" fmla="*/ 59952 w 178621"/>
                <a:gd name="connsiteY2" fmla="*/ 74741 h 254195"/>
                <a:gd name="connsiteX3" fmla="*/ 36079 w 178621"/>
                <a:gd name="connsiteY3" fmla="*/ 96249 h 254195"/>
                <a:gd name="connsiteX4" fmla="*/ 30874 w 178621"/>
                <a:gd name="connsiteY4" fmla="*/ 104628 h 254195"/>
                <a:gd name="connsiteX5" fmla="*/ 30874 w 178621"/>
                <a:gd name="connsiteY5" fmla="*/ 0 h 254195"/>
                <a:gd name="connsiteX6" fmla="*/ 0 w 178621"/>
                <a:gd name="connsiteY6" fmla="*/ 0 h 254195"/>
                <a:gd name="connsiteX7" fmla="*/ 0 w 178621"/>
                <a:gd name="connsiteY7" fmla="*/ 250929 h 254195"/>
                <a:gd name="connsiteX8" fmla="*/ 30874 w 178621"/>
                <a:gd name="connsiteY8" fmla="*/ 250929 h 254195"/>
                <a:gd name="connsiteX9" fmla="*/ 30874 w 178621"/>
                <a:gd name="connsiteY9" fmla="*/ 216337 h 254195"/>
                <a:gd name="connsiteX10" fmla="*/ 35900 w 178621"/>
                <a:gd name="connsiteY10" fmla="*/ 224582 h 254195"/>
                <a:gd name="connsiteX11" fmla="*/ 94236 w 178621"/>
                <a:gd name="connsiteY11" fmla="*/ 254156 h 254195"/>
                <a:gd name="connsiteX12" fmla="*/ 127444 w 178621"/>
                <a:gd name="connsiteY12" fmla="*/ 247345 h 254195"/>
                <a:gd name="connsiteX13" fmla="*/ 154368 w 178621"/>
                <a:gd name="connsiteY13" fmla="*/ 227987 h 254195"/>
                <a:gd name="connsiteX14" fmla="*/ 172318 w 178621"/>
                <a:gd name="connsiteY14" fmla="*/ 198234 h 254195"/>
                <a:gd name="connsiteX15" fmla="*/ 178600 w 178621"/>
                <a:gd name="connsiteY15" fmla="*/ 160236 h 254195"/>
                <a:gd name="connsiteX16" fmla="*/ 167651 w 178621"/>
                <a:gd name="connsiteY16" fmla="*/ 111484 h 254195"/>
                <a:gd name="connsiteX17" fmla="*/ 137136 w 178621"/>
                <a:gd name="connsiteY17" fmla="*/ 78505 h 254195"/>
                <a:gd name="connsiteX18" fmla="*/ 142701 w 178621"/>
                <a:gd name="connsiteY18" fmla="*/ 188018 h 254195"/>
                <a:gd name="connsiteX19" fmla="*/ 130675 w 178621"/>
                <a:gd name="connsiteY19" fmla="*/ 208809 h 254195"/>
                <a:gd name="connsiteX20" fmla="*/ 112007 w 178621"/>
                <a:gd name="connsiteY20" fmla="*/ 221714 h 254195"/>
                <a:gd name="connsiteX21" fmla="*/ 88672 w 178621"/>
                <a:gd name="connsiteY21" fmla="*/ 226195 h 254195"/>
                <a:gd name="connsiteX22" fmla="*/ 46490 w 178621"/>
                <a:gd name="connsiteY22" fmla="*/ 208809 h 254195"/>
                <a:gd name="connsiteX23" fmla="*/ 30156 w 178621"/>
                <a:gd name="connsiteY23" fmla="*/ 160236 h 254195"/>
                <a:gd name="connsiteX24" fmla="*/ 34643 w 178621"/>
                <a:gd name="connsiteY24" fmla="*/ 132813 h 254195"/>
                <a:gd name="connsiteX25" fmla="*/ 46849 w 178621"/>
                <a:gd name="connsiteY25" fmla="*/ 112022 h 254195"/>
                <a:gd name="connsiteX26" fmla="*/ 65337 w 178621"/>
                <a:gd name="connsiteY26" fmla="*/ 98938 h 254195"/>
                <a:gd name="connsiteX27" fmla="*/ 88851 w 178621"/>
                <a:gd name="connsiteY27" fmla="*/ 94457 h 254195"/>
                <a:gd name="connsiteX28" fmla="*/ 130675 w 178621"/>
                <a:gd name="connsiteY28" fmla="*/ 111843 h 254195"/>
                <a:gd name="connsiteX29" fmla="*/ 147009 w 178621"/>
                <a:gd name="connsiteY29" fmla="*/ 160057 h 254195"/>
                <a:gd name="connsiteX30" fmla="*/ 142701 w 178621"/>
                <a:gd name="connsiteY30" fmla="*/ 188018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8621" h="254195">
                  <a:moveTo>
                    <a:pt x="137136" y="78505"/>
                  </a:moveTo>
                  <a:cubicBezTo>
                    <a:pt x="124195" y="70551"/>
                    <a:pt x="109252" y="66447"/>
                    <a:pt x="94057" y="66675"/>
                  </a:cubicBezTo>
                  <a:cubicBezTo>
                    <a:pt x="82179" y="66357"/>
                    <a:pt x="70426" y="69140"/>
                    <a:pt x="59952" y="74741"/>
                  </a:cubicBezTo>
                  <a:cubicBezTo>
                    <a:pt x="50470" y="80015"/>
                    <a:pt x="42308" y="87368"/>
                    <a:pt x="36079" y="96249"/>
                  </a:cubicBezTo>
                  <a:cubicBezTo>
                    <a:pt x="34176" y="98933"/>
                    <a:pt x="32435" y="101734"/>
                    <a:pt x="30874" y="104628"/>
                  </a:cubicBezTo>
                  <a:lnTo>
                    <a:pt x="30874" y="0"/>
                  </a:lnTo>
                  <a:lnTo>
                    <a:pt x="0" y="0"/>
                  </a:lnTo>
                  <a:lnTo>
                    <a:pt x="0" y="250929"/>
                  </a:lnTo>
                  <a:lnTo>
                    <a:pt x="30874" y="250929"/>
                  </a:lnTo>
                  <a:lnTo>
                    <a:pt x="30874" y="216337"/>
                  </a:lnTo>
                  <a:cubicBezTo>
                    <a:pt x="32395" y="219178"/>
                    <a:pt x="34073" y="221929"/>
                    <a:pt x="35900" y="224582"/>
                  </a:cubicBezTo>
                  <a:cubicBezTo>
                    <a:pt x="48972" y="243787"/>
                    <a:pt x="70996" y="254953"/>
                    <a:pt x="94236" y="254156"/>
                  </a:cubicBezTo>
                  <a:cubicBezTo>
                    <a:pt x="105661" y="254259"/>
                    <a:pt x="116983" y="251933"/>
                    <a:pt x="127444" y="247345"/>
                  </a:cubicBezTo>
                  <a:cubicBezTo>
                    <a:pt x="137648" y="242801"/>
                    <a:pt x="146816" y="236210"/>
                    <a:pt x="154368" y="227987"/>
                  </a:cubicBezTo>
                  <a:cubicBezTo>
                    <a:pt x="162239" y="219335"/>
                    <a:pt x="168333" y="209226"/>
                    <a:pt x="172318" y="198234"/>
                  </a:cubicBezTo>
                  <a:cubicBezTo>
                    <a:pt x="176622" y="186033"/>
                    <a:pt x="178749" y="173173"/>
                    <a:pt x="178600" y="160236"/>
                  </a:cubicBezTo>
                  <a:cubicBezTo>
                    <a:pt x="178937" y="143343"/>
                    <a:pt x="175181" y="126616"/>
                    <a:pt x="167651" y="111484"/>
                  </a:cubicBezTo>
                  <a:cubicBezTo>
                    <a:pt x="160714" y="97894"/>
                    <a:pt x="150155" y="86481"/>
                    <a:pt x="137136" y="78505"/>
                  </a:cubicBezTo>
                  <a:close/>
                  <a:moveTo>
                    <a:pt x="142701" y="188018"/>
                  </a:moveTo>
                  <a:cubicBezTo>
                    <a:pt x="140228" y="195729"/>
                    <a:pt x="136127" y="202818"/>
                    <a:pt x="130675" y="208809"/>
                  </a:cubicBezTo>
                  <a:cubicBezTo>
                    <a:pt x="125438" y="214383"/>
                    <a:pt x="119075" y="218779"/>
                    <a:pt x="112007" y="221714"/>
                  </a:cubicBezTo>
                  <a:cubicBezTo>
                    <a:pt x="104598" y="224730"/>
                    <a:pt x="96669" y="226249"/>
                    <a:pt x="88672" y="226195"/>
                  </a:cubicBezTo>
                  <a:cubicBezTo>
                    <a:pt x="72759" y="226737"/>
                    <a:pt x="57385" y="220401"/>
                    <a:pt x="46490" y="208809"/>
                  </a:cubicBezTo>
                  <a:cubicBezTo>
                    <a:pt x="35572" y="197217"/>
                    <a:pt x="30124" y="181028"/>
                    <a:pt x="30156" y="160236"/>
                  </a:cubicBezTo>
                  <a:cubicBezTo>
                    <a:pt x="30052" y="150907"/>
                    <a:pt x="31569" y="141627"/>
                    <a:pt x="34643" y="132813"/>
                  </a:cubicBezTo>
                  <a:cubicBezTo>
                    <a:pt x="37291" y="125142"/>
                    <a:pt x="41437" y="118076"/>
                    <a:pt x="46849" y="112022"/>
                  </a:cubicBezTo>
                  <a:cubicBezTo>
                    <a:pt x="51911" y="106287"/>
                    <a:pt x="58243" y="101810"/>
                    <a:pt x="65337" y="98938"/>
                  </a:cubicBezTo>
                  <a:cubicBezTo>
                    <a:pt x="72809" y="95927"/>
                    <a:pt x="80797" y="94408"/>
                    <a:pt x="88851" y="94457"/>
                  </a:cubicBezTo>
                  <a:cubicBezTo>
                    <a:pt x="104652" y="93964"/>
                    <a:pt x="119896" y="100300"/>
                    <a:pt x="130675" y="111843"/>
                  </a:cubicBezTo>
                  <a:cubicBezTo>
                    <a:pt x="141534" y="123403"/>
                    <a:pt x="146977" y="139476"/>
                    <a:pt x="147009" y="160057"/>
                  </a:cubicBezTo>
                  <a:cubicBezTo>
                    <a:pt x="147090" y="169548"/>
                    <a:pt x="145636" y="178989"/>
                    <a:pt x="142701" y="188018"/>
                  </a:cubicBezTo>
                  <a:close/>
                </a:path>
              </a:pathLst>
            </a:custGeom>
            <a:grpFill/>
            <a:ln w="4485" cap="flat">
              <a:noFill/>
              <a:prstDash val="solid"/>
              <a:miter/>
            </a:ln>
          </p:spPr>
          <p:txBody>
            <a:bodyPr rtlCol="0" anchor="ctr"/>
            <a:lstStyle/>
            <a:p>
              <a:endParaRPr lang="es-ES_tradnl"/>
            </a:p>
          </p:txBody>
        </p:sp>
        <p:sp>
          <p:nvSpPr>
            <p:cNvPr id="42" name="Forma libre 190">
              <a:extLst>
                <a:ext uri="{FF2B5EF4-FFF2-40B4-BE49-F238E27FC236}">
                  <a16:creationId xmlns:a16="http://schemas.microsoft.com/office/drawing/2014/main" id="{D859DFFE-A711-07A1-A7BA-20B1B18B0942}"/>
                </a:ext>
              </a:extLst>
            </p:cNvPr>
            <p:cNvSpPr/>
            <p:nvPr/>
          </p:nvSpPr>
          <p:spPr>
            <a:xfrm>
              <a:off x="11124192" y="676422"/>
              <a:ext cx="40248" cy="44572"/>
            </a:xfrm>
            <a:custGeom>
              <a:avLst/>
              <a:gdLst>
                <a:gd name="connsiteX0" fmla="*/ 129442 w 169496"/>
                <a:gd name="connsiteY0" fmla="*/ 11305 h 187705"/>
                <a:gd name="connsiteX1" fmla="*/ 86722 w 169496"/>
                <a:gd name="connsiteY1" fmla="*/ 13 h 187705"/>
                <a:gd name="connsiteX2" fmla="*/ 51899 w 169496"/>
                <a:gd name="connsiteY2" fmla="*/ 6645 h 187705"/>
                <a:gd name="connsiteX3" fmla="*/ 24436 w 169496"/>
                <a:gd name="connsiteY3" fmla="*/ 25465 h 187705"/>
                <a:gd name="connsiteX4" fmla="*/ 6486 w 169496"/>
                <a:gd name="connsiteY4" fmla="*/ 54859 h 187705"/>
                <a:gd name="connsiteX5" fmla="*/ 24 w 169496"/>
                <a:gd name="connsiteY5" fmla="*/ 93574 h 187705"/>
                <a:gd name="connsiteX6" fmla="*/ 11512 w 169496"/>
                <a:gd name="connsiteY6" fmla="*/ 142864 h 187705"/>
                <a:gd name="connsiteX7" fmla="*/ 87799 w 169496"/>
                <a:gd name="connsiteY7" fmla="*/ 187673 h 187705"/>
                <a:gd name="connsiteX8" fmla="*/ 117775 w 169496"/>
                <a:gd name="connsiteY8" fmla="*/ 183192 h 187705"/>
                <a:gd name="connsiteX9" fmla="*/ 144699 w 169496"/>
                <a:gd name="connsiteY9" fmla="*/ 169032 h 187705"/>
                <a:gd name="connsiteX10" fmla="*/ 166239 w 169496"/>
                <a:gd name="connsiteY10" fmla="*/ 142506 h 187705"/>
                <a:gd name="connsiteX11" fmla="*/ 142905 w 169496"/>
                <a:gd name="connsiteY11" fmla="*/ 128167 h 187705"/>
                <a:gd name="connsiteX12" fmla="*/ 128186 w 169496"/>
                <a:gd name="connsiteY12" fmla="*/ 146449 h 187705"/>
                <a:gd name="connsiteX13" fmla="*/ 109697 w 169496"/>
                <a:gd name="connsiteY13" fmla="*/ 156844 h 187705"/>
                <a:gd name="connsiteX14" fmla="*/ 88337 w 169496"/>
                <a:gd name="connsiteY14" fmla="*/ 160071 h 187705"/>
                <a:gd name="connsiteX15" fmla="*/ 58899 w 169496"/>
                <a:gd name="connsiteY15" fmla="*/ 152543 h 187705"/>
                <a:gd name="connsiteX16" fmla="*/ 38616 w 169496"/>
                <a:gd name="connsiteY16" fmla="*/ 130138 h 187705"/>
                <a:gd name="connsiteX17" fmla="*/ 31212 w 169496"/>
                <a:gd name="connsiteY17" fmla="*/ 100564 h 187705"/>
                <a:gd name="connsiteX18" fmla="*/ 169111 w 169496"/>
                <a:gd name="connsiteY18" fmla="*/ 100564 h 187705"/>
                <a:gd name="connsiteX19" fmla="*/ 169470 w 169496"/>
                <a:gd name="connsiteY19" fmla="*/ 96084 h 187705"/>
                <a:gd name="connsiteX20" fmla="*/ 169470 w 169496"/>
                <a:gd name="connsiteY20" fmla="*/ 91603 h 187705"/>
                <a:gd name="connsiteX21" fmla="*/ 158700 w 169496"/>
                <a:gd name="connsiteY21" fmla="*/ 43209 h 187705"/>
                <a:gd name="connsiteX22" fmla="*/ 129442 w 169496"/>
                <a:gd name="connsiteY22" fmla="*/ 11305 h 187705"/>
                <a:gd name="connsiteX23" fmla="*/ 46155 w 169496"/>
                <a:gd name="connsiteY23" fmla="*/ 44285 h 187705"/>
                <a:gd name="connsiteX24" fmla="*/ 63566 w 169496"/>
                <a:gd name="connsiteY24" fmla="*/ 30842 h 187705"/>
                <a:gd name="connsiteX25" fmla="*/ 86363 w 169496"/>
                <a:gd name="connsiteY25" fmla="*/ 26361 h 187705"/>
                <a:gd name="connsiteX26" fmla="*/ 123698 w 169496"/>
                <a:gd name="connsiteY26" fmla="*/ 42671 h 187705"/>
                <a:gd name="connsiteX27" fmla="*/ 137475 w 169496"/>
                <a:gd name="connsiteY27" fmla="*/ 76905 h 187705"/>
                <a:gd name="connsiteX28" fmla="*/ 32334 w 169496"/>
                <a:gd name="connsiteY28" fmla="*/ 76905 h 187705"/>
                <a:gd name="connsiteX29" fmla="*/ 35026 w 169496"/>
                <a:gd name="connsiteY29" fmla="*/ 65255 h 187705"/>
                <a:gd name="connsiteX30" fmla="*/ 46155 w 169496"/>
                <a:gd name="connsiteY30" fmla="*/ 44285 h 1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9496" h="187705">
                  <a:moveTo>
                    <a:pt x="129442" y="11305"/>
                  </a:moveTo>
                  <a:cubicBezTo>
                    <a:pt x="116532" y="3647"/>
                    <a:pt x="101737" y="-260"/>
                    <a:pt x="86722" y="13"/>
                  </a:cubicBezTo>
                  <a:cubicBezTo>
                    <a:pt x="74785" y="-143"/>
                    <a:pt x="62938" y="2115"/>
                    <a:pt x="51899" y="6645"/>
                  </a:cubicBezTo>
                  <a:cubicBezTo>
                    <a:pt x="41524" y="10920"/>
                    <a:pt x="32163" y="17337"/>
                    <a:pt x="24436" y="25465"/>
                  </a:cubicBezTo>
                  <a:cubicBezTo>
                    <a:pt x="16502" y="33934"/>
                    <a:pt x="10390" y="43940"/>
                    <a:pt x="6486" y="54859"/>
                  </a:cubicBezTo>
                  <a:cubicBezTo>
                    <a:pt x="2017" y="67271"/>
                    <a:pt x="-173" y="80387"/>
                    <a:pt x="24" y="93574"/>
                  </a:cubicBezTo>
                  <a:cubicBezTo>
                    <a:pt x="-348" y="110705"/>
                    <a:pt x="3601" y="127656"/>
                    <a:pt x="11512" y="142864"/>
                  </a:cubicBezTo>
                  <a:cubicBezTo>
                    <a:pt x="26240" y="171165"/>
                    <a:pt x="55870" y="188569"/>
                    <a:pt x="87799" y="187673"/>
                  </a:cubicBezTo>
                  <a:cubicBezTo>
                    <a:pt x="97958" y="187677"/>
                    <a:pt x="108059" y="186167"/>
                    <a:pt x="117775" y="183192"/>
                  </a:cubicBezTo>
                  <a:cubicBezTo>
                    <a:pt x="127522" y="180114"/>
                    <a:pt x="136640" y="175314"/>
                    <a:pt x="144699" y="169032"/>
                  </a:cubicBezTo>
                  <a:cubicBezTo>
                    <a:pt x="153670" y="161805"/>
                    <a:pt x="161011" y="152767"/>
                    <a:pt x="166239" y="142506"/>
                  </a:cubicBezTo>
                  <a:lnTo>
                    <a:pt x="142905" y="128167"/>
                  </a:lnTo>
                  <a:cubicBezTo>
                    <a:pt x="139023" y="135018"/>
                    <a:pt x="134051" y="141193"/>
                    <a:pt x="128186" y="146449"/>
                  </a:cubicBezTo>
                  <a:cubicBezTo>
                    <a:pt x="122801" y="151140"/>
                    <a:pt x="116509" y="154680"/>
                    <a:pt x="109697" y="156844"/>
                  </a:cubicBezTo>
                  <a:cubicBezTo>
                    <a:pt x="102787" y="159009"/>
                    <a:pt x="95580" y="160097"/>
                    <a:pt x="88337" y="160071"/>
                  </a:cubicBezTo>
                  <a:cubicBezTo>
                    <a:pt x="78016" y="160317"/>
                    <a:pt x="67829" y="157714"/>
                    <a:pt x="58899" y="152543"/>
                  </a:cubicBezTo>
                  <a:cubicBezTo>
                    <a:pt x="50153" y="147139"/>
                    <a:pt x="43121" y="139373"/>
                    <a:pt x="38616" y="130138"/>
                  </a:cubicBezTo>
                  <a:cubicBezTo>
                    <a:pt x="34106" y="120908"/>
                    <a:pt x="31584" y="110830"/>
                    <a:pt x="31212" y="100564"/>
                  </a:cubicBezTo>
                  <a:lnTo>
                    <a:pt x="169111" y="100564"/>
                  </a:lnTo>
                  <a:cubicBezTo>
                    <a:pt x="169371" y="99086"/>
                    <a:pt x="169493" y="97585"/>
                    <a:pt x="169470" y="96084"/>
                  </a:cubicBezTo>
                  <a:lnTo>
                    <a:pt x="169470" y="91603"/>
                  </a:lnTo>
                  <a:cubicBezTo>
                    <a:pt x="169847" y="74840"/>
                    <a:pt x="166149" y="58234"/>
                    <a:pt x="158700" y="43209"/>
                  </a:cubicBezTo>
                  <a:cubicBezTo>
                    <a:pt x="152117" y="30058"/>
                    <a:pt x="141985" y="19008"/>
                    <a:pt x="129442" y="11305"/>
                  </a:cubicBezTo>
                  <a:close/>
                  <a:moveTo>
                    <a:pt x="46155" y="44285"/>
                  </a:moveTo>
                  <a:cubicBezTo>
                    <a:pt x="50768" y="38446"/>
                    <a:pt x="56745" y="33831"/>
                    <a:pt x="63566" y="30842"/>
                  </a:cubicBezTo>
                  <a:cubicBezTo>
                    <a:pt x="70769" y="27768"/>
                    <a:pt x="78532" y="26245"/>
                    <a:pt x="86363" y="26361"/>
                  </a:cubicBezTo>
                  <a:cubicBezTo>
                    <a:pt x="100615" y="25994"/>
                    <a:pt x="114297" y="31971"/>
                    <a:pt x="123698" y="42671"/>
                  </a:cubicBezTo>
                  <a:cubicBezTo>
                    <a:pt x="131695" y="52404"/>
                    <a:pt x="136505" y="64354"/>
                    <a:pt x="137475" y="76905"/>
                  </a:cubicBezTo>
                  <a:lnTo>
                    <a:pt x="32334" y="76905"/>
                  </a:lnTo>
                  <a:cubicBezTo>
                    <a:pt x="32922" y="72958"/>
                    <a:pt x="33819" y="69059"/>
                    <a:pt x="35026" y="65255"/>
                  </a:cubicBezTo>
                  <a:cubicBezTo>
                    <a:pt x="37364" y="57620"/>
                    <a:pt x="41143" y="50504"/>
                    <a:pt x="46155" y="44285"/>
                  </a:cubicBezTo>
                  <a:close/>
                </a:path>
              </a:pathLst>
            </a:custGeom>
            <a:grpFill/>
            <a:ln w="4485" cap="flat">
              <a:noFill/>
              <a:prstDash val="solid"/>
              <a:miter/>
            </a:ln>
          </p:spPr>
          <p:txBody>
            <a:bodyPr rtlCol="0" anchor="ctr"/>
            <a:lstStyle/>
            <a:p>
              <a:endParaRPr lang="es-ES_tradnl"/>
            </a:p>
          </p:txBody>
        </p:sp>
        <p:sp>
          <p:nvSpPr>
            <p:cNvPr id="43" name="Forma libre 191">
              <a:extLst>
                <a:ext uri="{FF2B5EF4-FFF2-40B4-BE49-F238E27FC236}">
                  <a16:creationId xmlns:a16="http://schemas.microsoft.com/office/drawing/2014/main" id="{BF2FDB32-3701-B32A-7FF4-3ACB6F5012D2}"/>
                </a:ext>
              </a:extLst>
            </p:cNvPr>
            <p:cNvSpPr/>
            <p:nvPr/>
          </p:nvSpPr>
          <p:spPr>
            <a:xfrm>
              <a:off x="11171669" y="676424"/>
              <a:ext cx="21908" cy="43668"/>
            </a:xfrm>
            <a:custGeom>
              <a:avLst/>
              <a:gdLst>
                <a:gd name="connsiteX0" fmla="*/ 51965 w 92261"/>
                <a:gd name="connsiteY0" fmla="*/ 8607 h 183899"/>
                <a:gd name="connsiteX1" fmla="*/ 30964 w 92261"/>
                <a:gd name="connsiteY1" fmla="*/ 34238 h 183899"/>
                <a:gd name="connsiteX2" fmla="*/ 30964 w 92261"/>
                <a:gd name="connsiteY2" fmla="*/ 2872 h 183899"/>
                <a:gd name="connsiteX3" fmla="*/ 0 w 92261"/>
                <a:gd name="connsiteY3" fmla="*/ 2872 h 183899"/>
                <a:gd name="connsiteX4" fmla="*/ 0 w 92261"/>
                <a:gd name="connsiteY4" fmla="*/ 183899 h 183899"/>
                <a:gd name="connsiteX5" fmla="*/ 30874 w 92261"/>
                <a:gd name="connsiteY5" fmla="*/ 183899 h 183899"/>
                <a:gd name="connsiteX6" fmla="*/ 30874 w 92261"/>
                <a:gd name="connsiteY6" fmla="*/ 87112 h 183899"/>
                <a:gd name="connsiteX7" fmla="*/ 43259 w 92261"/>
                <a:gd name="connsiteY7" fmla="*/ 47501 h 183899"/>
                <a:gd name="connsiteX8" fmla="*/ 75030 w 92261"/>
                <a:gd name="connsiteY8" fmla="*/ 32625 h 183899"/>
                <a:gd name="connsiteX9" fmla="*/ 92262 w 92261"/>
                <a:gd name="connsiteY9" fmla="*/ 32625 h 183899"/>
                <a:gd name="connsiteX10" fmla="*/ 92262 w 92261"/>
                <a:gd name="connsiteY10" fmla="*/ 4 h 183899"/>
                <a:gd name="connsiteX11" fmla="*/ 81492 w 92261"/>
                <a:gd name="connsiteY11" fmla="*/ 4 h 183899"/>
                <a:gd name="connsiteX12" fmla="*/ 51965 w 92261"/>
                <a:gd name="connsiteY12" fmla="*/ 8607 h 183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3899">
                  <a:moveTo>
                    <a:pt x="51965" y="8607"/>
                  </a:moveTo>
                  <a:cubicBezTo>
                    <a:pt x="42667" y="14983"/>
                    <a:pt x="35384" y="23874"/>
                    <a:pt x="30964" y="34238"/>
                  </a:cubicBezTo>
                  <a:lnTo>
                    <a:pt x="30964" y="2872"/>
                  </a:lnTo>
                  <a:lnTo>
                    <a:pt x="0" y="2872"/>
                  </a:lnTo>
                  <a:lnTo>
                    <a:pt x="0" y="183899"/>
                  </a:lnTo>
                  <a:lnTo>
                    <a:pt x="30874" y="183899"/>
                  </a:lnTo>
                  <a:lnTo>
                    <a:pt x="30874" y="87112"/>
                  </a:lnTo>
                  <a:cubicBezTo>
                    <a:pt x="30147" y="72858"/>
                    <a:pt x="34540" y="58811"/>
                    <a:pt x="43259" y="47501"/>
                  </a:cubicBezTo>
                  <a:cubicBezTo>
                    <a:pt x="50928" y="37840"/>
                    <a:pt x="62690" y="32333"/>
                    <a:pt x="75030" y="32625"/>
                  </a:cubicBezTo>
                  <a:lnTo>
                    <a:pt x="92262" y="32625"/>
                  </a:lnTo>
                  <a:lnTo>
                    <a:pt x="92262" y="4"/>
                  </a:lnTo>
                  <a:lnTo>
                    <a:pt x="81492" y="4"/>
                  </a:lnTo>
                  <a:cubicBezTo>
                    <a:pt x="71014" y="-122"/>
                    <a:pt x="60733" y="2876"/>
                    <a:pt x="51965" y="8607"/>
                  </a:cubicBezTo>
                  <a:close/>
                </a:path>
              </a:pathLst>
            </a:custGeom>
            <a:grpFill/>
            <a:ln w="4485" cap="flat">
              <a:noFill/>
              <a:prstDash val="solid"/>
              <a:miter/>
            </a:ln>
          </p:spPr>
          <p:txBody>
            <a:bodyPr rtlCol="0" anchor="ctr"/>
            <a:lstStyle/>
            <a:p>
              <a:endParaRPr lang="es-ES_tradnl"/>
            </a:p>
          </p:txBody>
        </p:sp>
        <p:sp>
          <p:nvSpPr>
            <p:cNvPr id="44" name="Forma libre 192">
              <a:extLst>
                <a:ext uri="{FF2B5EF4-FFF2-40B4-BE49-F238E27FC236}">
                  <a16:creationId xmlns:a16="http://schemas.microsoft.com/office/drawing/2014/main" id="{6B377FD7-4820-B3A4-6117-9F0CA11C2D28}"/>
                </a:ext>
              </a:extLst>
            </p:cNvPr>
            <p:cNvSpPr/>
            <p:nvPr/>
          </p:nvSpPr>
          <p:spPr>
            <a:xfrm>
              <a:off x="11195191" y="660635"/>
              <a:ext cx="42331" cy="60361"/>
            </a:xfrm>
            <a:custGeom>
              <a:avLst/>
              <a:gdLst>
                <a:gd name="connsiteX0" fmla="*/ 147755 w 178269"/>
                <a:gd name="connsiteY0" fmla="*/ 104270 h 254195"/>
                <a:gd name="connsiteX1" fmla="*/ 142729 w 178269"/>
                <a:gd name="connsiteY1" fmla="*/ 96070 h 254195"/>
                <a:gd name="connsiteX2" fmla="*/ 84392 w 178269"/>
                <a:gd name="connsiteY2" fmla="*/ 66496 h 254195"/>
                <a:gd name="connsiteX3" fmla="*/ 51364 w 178269"/>
                <a:gd name="connsiteY3" fmla="*/ 73128 h 254195"/>
                <a:gd name="connsiteX4" fmla="*/ 24440 w 178269"/>
                <a:gd name="connsiteY4" fmla="*/ 92306 h 254195"/>
                <a:gd name="connsiteX5" fmla="*/ 6490 w 178269"/>
                <a:gd name="connsiteY5" fmla="*/ 122059 h 254195"/>
                <a:gd name="connsiteX6" fmla="*/ 28 w 178269"/>
                <a:gd name="connsiteY6" fmla="*/ 160057 h 254195"/>
                <a:gd name="connsiteX7" fmla="*/ 11336 w 178269"/>
                <a:gd name="connsiteY7" fmla="*/ 209347 h 254195"/>
                <a:gd name="connsiteX8" fmla="*/ 41492 w 178269"/>
                <a:gd name="connsiteY8" fmla="*/ 242326 h 254195"/>
                <a:gd name="connsiteX9" fmla="*/ 84033 w 178269"/>
                <a:gd name="connsiteY9" fmla="*/ 254156 h 254195"/>
                <a:gd name="connsiteX10" fmla="*/ 142370 w 178269"/>
                <a:gd name="connsiteY10" fmla="*/ 224582 h 254195"/>
                <a:gd name="connsiteX11" fmla="*/ 147396 w 178269"/>
                <a:gd name="connsiteY11" fmla="*/ 216382 h 254195"/>
                <a:gd name="connsiteX12" fmla="*/ 147396 w 178269"/>
                <a:gd name="connsiteY12" fmla="*/ 250929 h 254195"/>
                <a:gd name="connsiteX13" fmla="*/ 178269 w 178269"/>
                <a:gd name="connsiteY13" fmla="*/ 250929 h 254195"/>
                <a:gd name="connsiteX14" fmla="*/ 178269 w 178269"/>
                <a:gd name="connsiteY14" fmla="*/ 0 h 254195"/>
                <a:gd name="connsiteX15" fmla="*/ 147755 w 178269"/>
                <a:gd name="connsiteY15" fmla="*/ 0 h 254195"/>
                <a:gd name="connsiteX16" fmla="*/ 132318 w 178269"/>
                <a:gd name="connsiteY16" fmla="*/ 208630 h 254195"/>
                <a:gd name="connsiteX17" fmla="*/ 113830 w 178269"/>
                <a:gd name="connsiteY17" fmla="*/ 221535 h 254195"/>
                <a:gd name="connsiteX18" fmla="*/ 90315 w 178269"/>
                <a:gd name="connsiteY18" fmla="*/ 226016 h 254195"/>
                <a:gd name="connsiteX19" fmla="*/ 48133 w 178269"/>
                <a:gd name="connsiteY19" fmla="*/ 208630 h 254195"/>
                <a:gd name="connsiteX20" fmla="*/ 31799 w 178269"/>
                <a:gd name="connsiteY20" fmla="*/ 160057 h 254195"/>
                <a:gd name="connsiteX21" fmla="*/ 36286 w 178269"/>
                <a:gd name="connsiteY21" fmla="*/ 132634 h 254195"/>
                <a:gd name="connsiteX22" fmla="*/ 48492 w 178269"/>
                <a:gd name="connsiteY22" fmla="*/ 111843 h 254195"/>
                <a:gd name="connsiteX23" fmla="*/ 66981 w 178269"/>
                <a:gd name="connsiteY23" fmla="*/ 98759 h 254195"/>
                <a:gd name="connsiteX24" fmla="*/ 90495 w 178269"/>
                <a:gd name="connsiteY24" fmla="*/ 94278 h 254195"/>
                <a:gd name="connsiteX25" fmla="*/ 132318 w 178269"/>
                <a:gd name="connsiteY25" fmla="*/ 111664 h 254195"/>
                <a:gd name="connsiteX26" fmla="*/ 148652 w 178269"/>
                <a:gd name="connsiteY26" fmla="*/ 159878 h 254195"/>
                <a:gd name="connsiteX27" fmla="*/ 144524 w 178269"/>
                <a:gd name="connsiteY27" fmla="*/ 187659 h 254195"/>
                <a:gd name="connsiteX28" fmla="*/ 132094 w 178269"/>
                <a:gd name="connsiteY28" fmla="*/ 208630 h 25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8269" h="254195">
                  <a:moveTo>
                    <a:pt x="147755" y="104270"/>
                  </a:moveTo>
                  <a:cubicBezTo>
                    <a:pt x="146229" y="101447"/>
                    <a:pt x="144551" y="98709"/>
                    <a:pt x="142729" y="96070"/>
                  </a:cubicBezTo>
                  <a:cubicBezTo>
                    <a:pt x="129657" y="76865"/>
                    <a:pt x="107633" y="65699"/>
                    <a:pt x="84392" y="66496"/>
                  </a:cubicBezTo>
                  <a:cubicBezTo>
                    <a:pt x="73043" y="66411"/>
                    <a:pt x="61797" y="68670"/>
                    <a:pt x="51364" y="73128"/>
                  </a:cubicBezTo>
                  <a:cubicBezTo>
                    <a:pt x="41084" y="77457"/>
                    <a:pt x="31884" y="84008"/>
                    <a:pt x="24440" y="92306"/>
                  </a:cubicBezTo>
                  <a:cubicBezTo>
                    <a:pt x="16623" y="100999"/>
                    <a:pt x="10528" y="111094"/>
                    <a:pt x="6490" y="122059"/>
                  </a:cubicBezTo>
                  <a:cubicBezTo>
                    <a:pt x="2061" y="134234"/>
                    <a:pt x="-129" y="147107"/>
                    <a:pt x="28" y="160057"/>
                  </a:cubicBezTo>
                  <a:cubicBezTo>
                    <a:pt x="-371" y="177170"/>
                    <a:pt x="3515" y="194116"/>
                    <a:pt x="11336" y="209347"/>
                  </a:cubicBezTo>
                  <a:cubicBezTo>
                    <a:pt x="18301" y="222803"/>
                    <a:pt x="28703" y="234180"/>
                    <a:pt x="41492" y="242326"/>
                  </a:cubicBezTo>
                  <a:cubicBezTo>
                    <a:pt x="54241" y="250266"/>
                    <a:pt x="69009" y="254371"/>
                    <a:pt x="84033" y="254156"/>
                  </a:cubicBezTo>
                  <a:cubicBezTo>
                    <a:pt x="107273" y="254953"/>
                    <a:pt x="129298" y="243787"/>
                    <a:pt x="142370" y="224582"/>
                  </a:cubicBezTo>
                  <a:cubicBezTo>
                    <a:pt x="144183" y="221934"/>
                    <a:pt x="145861" y="219196"/>
                    <a:pt x="147396" y="216382"/>
                  </a:cubicBezTo>
                  <a:lnTo>
                    <a:pt x="147396" y="250929"/>
                  </a:lnTo>
                  <a:lnTo>
                    <a:pt x="178269" y="250929"/>
                  </a:lnTo>
                  <a:lnTo>
                    <a:pt x="178269" y="0"/>
                  </a:lnTo>
                  <a:lnTo>
                    <a:pt x="147755" y="0"/>
                  </a:lnTo>
                  <a:close/>
                  <a:moveTo>
                    <a:pt x="132318" y="208630"/>
                  </a:moveTo>
                  <a:cubicBezTo>
                    <a:pt x="127121" y="214168"/>
                    <a:pt x="120826" y="218564"/>
                    <a:pt x="113830" y="221535"/>
                  </a:cubicBezTo>
                  <a:cubicBezTo>
                    <a:pt x="106372" y="224586"/>
                    <a:pt x="98375" y="226110"/>
                    <a:pt x="90315" y="226016"/>
                  </a:cubicBezTo>
                  <a:cubicBezTo>
                    <a:pt x="74407" y="226544"/>
                    <a:pt x="59038" y="220208"/>
                    <a:pt x="48133" y="208630"/>
                  </a:cubicBezTo>
                  <a:cubicBezTo>
                    <a:pt x="37242" y="197038"/>
                    <a:pt x="31799" y="180848"/>
                    <a:pt x="31799" y="160057"/>
                  </a:cubicBezTo>
                  <a:cubicBezTo>
                    <a:pt x="31696" y="150728"/>
                    <a:pt x="33212" y="141448"/>
                    <a:pt x="36286" y="132634"/>
                  </a:cubicBezTo>
                  <a:cubicBezTo>
                    <a:pt x="38952" y="124972"/>
                    <a:pt x="43098" y="117906"/>
                    <a:pt x="48492" y="111843"/>
                  </a:cubicBezTo>
                  <a:cubicBezTo>
                    <a:pt x="53554" y="106107"/>
                    <a:pt x="59886" y="101631"/>
                    <a:pt x="66981" y="98759"/>
                  </a:cubicBezTo>
                  <a:cubicBezTo>
                    <a:pt x="74452" y="95748"/>
                    <a:pt x="82440" y="94229"/>
                    <a:pt x="90495" y="94278"/>
                  </a:cubicBezTo>
                  <a:cubicBezTo>
                    <a:pt x="106295" y="93771"/>
                    <a:pt x="121544" y="100112"/>
                    <a:pt x="132318" y="111664"/>
                  </a:cubicBezTo>
                  <a:cubicBezTo>
                    <a:pt x="143209" y="123224"/>
                    <a:pt x="148652" y="139297"/>
                    <a:pt x="148652" y="159878"/>
                  </a:cubicBezTo>
                  <a:cubicBezTo>
                    <a:pt x="148773" y="169301"/>
                    <a:pt x="147378" y="178680"/>
                    <a:pt x="144524" y="187659"/>
                  </a:cubicBezTo>
                  <a:cubicBezTo>
                    <a:pt x="141975" y="195478"/>
                    <a:pt x="137730" y="202639"/>
                    <a:pt x="132094" y="208630"/>
                  </a:cubicBezTo>
                  <a:close/>
                </a:path>
              </a:pathLst>
            </a:custGeom>
            <a:grpFill/>
            <a:ln w="4485" cap="flat">
              <a:noFill/>
              <a:prstDash val="solid"/>
              <a:miter/>
            </a:ln>
          </p:spPr>
          <p:txBody>
            <a:bodyPr rtlCol="0" anchor="ctr"/>
            <a:lstStyle/>
            <a:p>
              <a:endParaRPr lang="es-ES_tradnl"/>
            </a:p>
          </p:txBody>
        </p:sp>
        <p:sp>
          <p:nvSpPr>
            <p:cNvPr id="45" name="Forma libre 193">
              <a:extLst>
                <a:ext uri="{FF2B5EF4-FFF2-40B4-BE49-F238E27FC236}">
                  <a16:creationId xmlns:a16="http://schemas.microsoft.com/office/drawing/2014/main" id="{C711FBF5-CA39-4FF2-3887-BCEDB9BB3899}"/>
                </a:ext>
              </a:extLst>
            </p:cNvPr>
            <p:cNvSpPr/>
            <p:nvPr/>
          </p:nvSpPr>
          <p:spPr>
            <a:xfrm>
              <a:off x="11246974" y="676424"/>
              <a:ext cx="21908" cy="43711"/>
            </a:xfrm>
            <a:custGeom>
              <a:avLst/>
              <a:gdLst>
                <a:gd name="connsiteX0" fmla="*/ 51875 w 92261"/>
                <a:gd name="connsiteY0" fmla="*/ 8609 h 184079"/>
                <a:gd name="connsiteX1" fmla="*/ 30874 w 92261"/>
                <a:gd name="connsiteY1" fmla="*/ 34418 h 184079"/>
                <a:gd name="connsiteX2" fmla="*/ 30874 w 92261"/>
                <a:gd name="connsiteY2" fmla="*/ 3052 h 184079"/>
                <a:gd name="connsiteX3" fmla="*/ 0 w 92261"/>
                <a:gd name="connsiteY3" fmla="*/ 3052 h 184079"/>
                <a:gd name="connsiteX4" fmla="*/ 0 w 92261"/>
                <a:gd name="connsiteY4" fmla="*/ 184080 h 184079"/>
                <a:gd name="connsiteX5" fmla="*/ 30874 w 92261"/>
                <a:gd name="connsiteY5" fmla="*/ 184080 h 184079"/>
                <a:gd name="connsiteX6" fmla="*/ 30874 w 92261"/>
                <a:gd name="connsiteY6" fmla="*/ 87114 h 184079"/>
                <a:gd name="connsiteX7" fmla="*/ 43259 w 92261"/>
                <a:gd name="connsiteY7" fmla="*/ 47503 h 184079"/>
                <a:gd name="connsiteX8" fmla="*/ 75030 w 92261"/>
                <a:gd name="connsiteY8" fmla="*/ 32626 h 184079"/>
                <a:gd name="connsiteX9" fmla="*/ 92262 w 92261"/>
                <a:gd name="connsiteY9" fmla="*/ 32626 h 184079"/>
                <a:gd name="connsiteX10" fmla="*/ 92262 w 92261"/>
                <a:gd name="connsiteY10" fmla="*/ 5 h 184079"/>
                <a:gd name="connsiteX11" fmla="*/ 81492 w 92261"/>
                <a:gd name="connsiteY11" fmla="*/ 5 h 184079"/>
                <a:gd name="connsiteX12" fmla="*/ 51875 w 92261"/>
                <a:gd name="connsiteY12" fmla="*/ 8609 h 1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79">
                  <a:moveTo>
                    <a:pt x="51875" y="8609"/>
                  </a:moveTo>
                  <a:cubicBezTo>
                    <a:pt x="42550" y="15034"/>
                    <a:pt x="35263" y="23991"/>
                    <a:pt x="30874" y="34418"/>
                  </a:cubicBezTo>
                  <a:lnTo>
                    <a:pt x="30874" y="3052"/>
                  </a:lnTo>
                  <a:lnTo>
                    <a:pt x="0" y="3052"/>
                  </a:lnTo>
                  <a:lnTo>
                    <a:pt x="0" y="184080"/>
                  </a:lnTo>
                  <a:lnTo>
                    <a:pt x="30874" y="184080"/>
                  </a:lnTo>
                  <a:lnTo>
                    <a:pt x="30874" y="87114"/>
                  </a:lnTo>
                  <a:cubicBezTo>
                    <a:pt x="30147" y="72860"/>
                    <a:pt x="34540" y="58812"/>
                    <a:pt x="43259" y="47503"/>
                  </a:cubicBezTo>
                  <a:cubicBezTo>
                    <a:pt x="50928" y="37842"/>
                    <a:pt x="62690" y="32335"/>
                    <a:pt x="75030" y="32626"/>
                  </a:cubicBezTo>
                  <a:lnTo>
                    <a:pt x="92262" y="32626"/>
                  </a:lnTo>
                  <a:lnTo>
                    <a:pt x="92262" y="5"/>
                  </a:lnTo>
                  <a:lnTo>
                    <a:pt x="81492" y="5"/>
                  </a:lnTo>
                  <a:cubicBezTo>
                    <a:pt x="70982" y="-143"/>
                    <a:pt x="60666" y="2855"/>
                    <a:pt x="51875" y="8609"/>
                  </a:cubicBezTo>
                  <a:close/>
                </a:path>
              </a:pathLst>
            </a:custGeom>
            <a:grpFill/>
            <a:ln w="4485" cap="flat">
              <a:noFill/>
              <a:prstDash val="solid"/>
              <a:miter/>
            </a:ln>
          </p:spPr>
          <p:txBody>
            <a:bodyPr rtlCol="0" anchor="ctr"/>
            <a:lstStyle/>
            <a:p>
              <a:endParaRPr lang="es-ES_tradnl"/>
            </a:p>
          </p:txBody>
        </p:sp>
        <p:sp>
          <p:nvSpPr>
            <p:cNvPr id="46" name="Forma libre 194">
              <a:extLst>
                <a:ext uri="{FF2B5EF4-FFF2-40B4-BE49-F238E27FC236}">
                  <a16:creationId xmlns:a16="http://schemas.microsoft.com/office/drawing/2014/main" id="{66E48BFA-2086-B904-76A7-B15B8FE93523}"/>
                </a:ext>
              </a:extLst>
            </p:cNvPr>
            <p:cNvSpPr/>
            <p:nvPr/>
          </p:nvSpPr>
          <p:spPr>
            <a:xfrm>
              <a:off x="11270401" y="676422"/>
              <a:ext cx="43316" cy="44610"/>
            </a:xfrm>
            <a:custGeom>
              <a:avLst/>
              <a:gdLst>
                <a:gd name="connsiteX0" fmla="*/ 137876 w 182416"/>
                <a:gd name="connsiteY0" fmla="*/ 11842 h 187864"/>
                <a:gd name="connsiteX1" fmla="*/ 91027 w 182416"/>
                <a:gd name="connsiteY1" fmla="*/ 13 h 187864"/>
                <a:gd name="connsiteX2" fmla="*/ 55127 w 182416"/>
                <a:gd name="connsiteY2" fmla="*/ 6645 h 187864"/>
                <a:gd name="connsiteX3" fmla="*/ 26049 w 182416"/>
                <a:gd name="connsiteY3" fmla="*/ 25823 h 187864"/>
                <a:gd name="connsiteX4" fmla="*/ 6842 w 182416"/>
                <a:gd name="connsiteY4" fmla="*/ 55755 h 187864"/>
                <a:gd name="connsiteX5" fmla="*/ 21 w 182416"/>
                <a:gd name="connsiteY5" fmla="*/ 93574 h 187864"/>
                <a:gd name="connsiteX6" fmla="*/ 11868 w 182416"/>
                <a:gd name="connsiteY6" fmla="*/ 142863 h 187864"/>
                <a:gd name="connsiteX7" fmla="*/ 44357 w 182416"/>
                <a:gd name="connsiteY7" fmla="*/ 176022 h 187864"/>
                <a:gd name="connsiteX8" fmla="*/ 91206 w 182416"/>
                <a:gd name="connsiteY8" fmla="*/ 187851 h 187864"/>
                <a:gd name="connsiteX9" fmla="*/ 127644 w 182416"/>
                <a:gd name="connsiteY9" fmla="*/ 181041 h 187864"/>
                <a:gd name="connsiteX10" fmla="*/ 156544 w 182416"/>
                <a:gd name="connsiteY10" fmla="*/ 161683 h 187864"/>
                <a:gd name="connsiteX11" fmla="*/ 175571 w 182416"/>
                <a:gd name="connsiteY11" fmla="*/ 131930 h 187864"/>
                <a:gd name="connsiteX12" fmla="*/ 182391 w 182416"/>
                <a:gd name="connsiteY12" fmla="*/ 93574 h 187864"/>
                <a:gd name="connsiteX13" fmla="*/ 170544 w 182416"/>
                <a:gd name="connsiteY13" fmla="*/ 44643 h 187864"/>
                <a:gd name="connsiteX14" fmla="*/ 137876 w 182416"/>
                <a:gd name="connsiteY14" fmla="*/ 11842 h 187864"/>
                <a:gd name="connsiteX15" fmla="*/ 146492 w 182416"/>
                <a:gd name="connsiteY15" fmla="*/ 121355 h 187864"/>
                <a:gd name="connsiteX16" fmla="*/ 133927 w 182416"/>
                <a:gd name="connsiteY16" fmla="*/ 142326 h 187864"/>
                <a:gd name="connsiteX17" fmla="*/ 114900 w 182416"/>
                <a:gd name="connsiteY17" fmla="*/ 155410 h 187864"/>
                <a:gd name="connsiteX18" fmla="*/ 91027 w 182416"/>
                <a:gd name="connsiteY18" fmla="*/ 159891 h 187864"/>
                <a:gd name="connsiteX19" fmla="*/ 60512 w 182416"/>
                <a:gd name="connsiteY19" fmla="*/ 152004 h 187864"/>
                <a:gd name="connsiteX20" fmla="*/ 39152 w 182416"/>
                <a:gd name="connsiteY20" fmla="*/ 129242 h 187864"/>
                <a:gd name="connsiteX21" fmla="*/ 31433 w 182416"/>
                <a:gd name="connsiteY21" fmla="*/ 93395 h 187864"/>
                <a:gd name="connsiteX22" fmla="*/ 35921 w 182416"/>
                <a:gd name="connsiteY22" fmla="*/ 65792 h 187864"/>
                <a:gd name="connsiteX23" fmla="*/ 48486 w 182416"/>
                <a:gd name="connsiteY23" fmla="*/ 45001 h 187864"/>
                <a:gd name="connsiteX24" fmla="*/ 67513 w 182416"/>
                <a:gd name="connsiteY24" fmla="*/ 32096 h 187864"/>
                <a:gd name="connsiteX25" fmla="*/ 91027 w 182416"/>
                <a:gd name="connsiteY25" fmla="*/ 27615 h 187864"/>
                <a:gd name="connsiteX26" fmla="*/ 121721 w 182416"/>
                <a:gd name="connsiteY26" fmla="*/ 35502 h 187864"/>
                <a:gd name="connsiteX27" fmla="*/ 143081 w 182416"/>
                <a:gd name="connsiteY27" fmla="*/ 57906 h 187864"/>
                <a:gd name="connsiteX28" fmla="*/ 150979 w 182416"/>
                <a:gd name="connsiteY28" fmla="*/ 93036 h 187864"/>
                <a:gd name="connsiteX29" fmla="*/ 146492 w 182416"/>
                <a:gd name="connsiteY29" fmla="*/ 121355 h 187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4">
                  <a:moveTo>
                    <a:pt x="137876" y="11842"/>
                  </a:moveTo>
                  <a:cubicBezTo>
                    <a:pt x="123583" y="3822"/>
                    <a:pt x="107415" y="-260"/>
                    <a:pt x="91027" y="13"/>
                  </a:cubicBezTo>
                  <a:cubicBezTo>
                    <a:pt x="78745" y="-81"/>
                    <a:pt x="66561" y="2173"/>
                    <a:pt x="55127" y="6645"/>
                  </a:cubicBezTo>
                  <a:cubicBezTo>
                    <a:pt x="44187" y="10919"/>
                    <a:pt x="34279" y="17453"/>
                    <a:pt x="26049" y="25823"/>
                  </a:cubicBezTo>
                  <a:cubicBezTo>
                    <a:pt x="17648" y="34372"/>
                    <a:pt x="11110" y="44562"/>
                    <a:pt x="6842" y="55755"/>
                  </a:cubicBezTo>
                  <a:cubicBezTo>
                    <a:pt x="2216" y="67822"/>
                    <a:pt x="-100" y="80651"/>
                    <a:pt x="21" y="93574"/>
                  </a:cubicBezTo>
                  <a:cubicBezTo>
                    <a:pt x="-333" y="110749"/>
                    <a:pt x="3746" y="127723"/>
                    <a:pt x="11868" y="142863"/>
                  </a:cubicBezTo>
                  <a:cubicBezTo>
                    <a:pt x="19403" y="156714"/>
                    <a:pt x="30653" y="168198"/>
                    <a:pt x="44357" y="176022"/>
                  </a:cubicBezTo>
                  <a:cubicBezTo>
                    <a:pt x="58650" y="184043"/>
                    <a:pt x="74818" y="188125"/>
                    <a:pt x="91206" y="187851"/>
                  </a:cubicBezTo>
                  <a:cubicBezTo>
                    <a:pt x="103682" y="187973"/>
                    <a:pt x="116058" y="185660"/>
                    <a:pt x="127644" y="181041"/>
                  </a:cubicBezTo>
                  <a:cubicBezTo>
                    <a:pt x="138513" y="176649"/>
                    <a:pt x="148354" y="170058"/>
                    <a:pt x="156544" y="161683"/>
                  </a:cubicBezTo>
                  <a:cubicBezTo>
                    <a:pt x="164801" y="153125"/>
                    <a:pt x="171267" y="143011"/>
                    <a:pt x="175571" y="131930"/>
                  </a:cubicBezTo>
                  <a:cubicBezTo>
                    <a:pt x="180246" y="119688"/>
                    <a:pt x="182562" y="106676"/>
                    <a:pt x="182391" y="93574"/>
                  </a:cubicBezTo>
                  <a:cubicBezTo>
                    <a:pt x="182782" y="76511"/>
                    <a:pt x="178698" y="59645"/>
                    <a:pt x="170544" y="44643"/>
                  </a:cubicBezTo>
                  <a:cubicBezTo>
                    <a:pt x="162884" y="30918"/>
                    <a:pt x="151581" y="19567"/>
                    <a:pt x="137876" y="11842"/>
                  </a:cubicBezTo>
                  <a:close/>
                  <a:moveTo>
                    <a:pt x="146492" y="121355"/>
                  </a:moveTo>
                  <a:cubicBezTo>
                    <a:pt x="143777" y="129125"/>
                    <a:pt x="139500" y="136263"/>
                    <a:pt x="133927" y="142326"/>
                  </a:cubicBezTo>
                  <a:cubicBezTo>
                    <a:pt x="128609" y="148012"/>
                    <a:pt x="122116" y="152475"/>
                    <a:pt x="114900" y="155410"/>
                  </a:cubicBezTo>
                  <a:cubicBezTo>
                    <a:pt x="107312" y="158439"/>
                    <a:pt x="99203" y="159962"/>
                    <a:pt x="91027" y="159891"/>
                  </a:cubicBezTo>
                  <a:cubicBezTo>
                    <a:pt x="80333" y="160025"/>
                    <a:pt x="69797" y="157305"/>
                    <a:pt x="60512" y="152004"/>
                  </a:cubicBezTo>
                  <a:cubicBezTo>
                    <a:pt x="51335" y="146641"/>
                    <a:pt x="43918" y="138732"/>
                    <a:pt x="39152" y="129242"/>
                  </a:cubicBezTo>
                  <a:cubicBezTo>
                    <a:pt x="33713" y="118093"/>
                    <a:pt x="31061" y="105793"/>
                    <a:pt x="31433" y="93395"/>
                  </a:cubicBezTo>
                  <a:cubicBezTo>
                    <a:pt x="31276" y="84003"/>
                    <a:pt x="32793" y="74655"/>
                    <a:pt x="35921" y="65792"/>
                  </a:cubicBezTo>
                  <a:cubicBezTo>
                    <a:pt x="38658" y="58085"/>
                    <a:pt x="42930" y="51010"/>
                    <a:pt x="48486" y="45001"/>
                  </a:cubicBezTo>
                  <a:cubicBezTo>
                    <a:pt x="53776" y="39324"/>
                    <a:pt x="60279" y="34914"/>
                    <a:pt x="67513" y="32096"/>
                  </a:cubicBezTo>
                  <a:cubicBezTo>
                    <a:pt x="74998" y="29130"/>
                    <a:pt x="82976" y="27611"/>
                    <a:pt x="91027" y="27615"/>
                  </a:cubicBezTo>
                  <a:cubicBezTo>
                    <a:pt x="101788" y="27409"/>
                    <a:pt x="112396" y="30138"/>
                    <a:pt x="121721" y="35502"/>
                  </a:cubicBezTo>
                  <a:cubicBezTo>
                    <a:pt x="130804" y="40825"/>
                    <a:pt x="138203" y="48590"/>
                    <a:pt x="143081" y="57906"/>
                  </a:cubicBezTo>
                  <a:cubicBezTo>
                    <a:pt x="148596" y="68781"/>
                    <a:pt x="151307" y="80853"/>
                    <a:pt x="150979" y="93036"/>
                  </a:cubicBezTo>
                  <a:cubicBezTo>
                    <a:pt x="151190" y="102666"/>
                    <a:pt x="149669" y="112259"/>
                    <a:pt x="146492" y="121355"/>
                  </a:cubicBezTo>
                  <a:close/>
                </a:path>
              </a:pathLst>
            </a:custGeom>
            <a:grpFill/>
            <a:ln w="4485" cap="flat">
              <a:noFill/>
              <a:prstDash val="solid"/>
              <a:miter/>
            </a:ln>
          </p:spPr>
          <p:txBody>
            <a:bodyPr rtlCol="0" anchor="ctr"/>
            <a:lstStyle/>
            <a:p>
              <a:endParaRPr lang="es-ES_tradnl"/>
            </a:p>
          </p:txBody>
        </p:sp>
        <p:sp>
          <p:nvSpPr>
            <p:cNvPr id="47" name="Forma libre 195">
              <a:extLst>
                <a:ext uri="{FF2B5EF4-FFF2-40B4-BE49-F238E27FC236}">
                  <a16:creationId xmlns:a16="http://schemas.microsoft.com/office/drawing/2014/main" id="{4A554B34-1883-82FA-61FF-302213C02685}"/>
                </a:ext>
              </a:extLst>
            </p:cNvPr>
            <p:cNvSpPr/>
            <p:nvPr/>
          </p:nvSpPr>
          <p:spPr>
            <a:xfrm>
              <a:off x="11320849" y="660550"/>
              <a:ext cx="15772" cy="59591"/>
            </a:xfrm>
            <a:custGeom>
              <a:avLst/>
              <a:gdLst>
                <a:gd name="connsiteX0" fmla="*/ 35907 w 66422"/>
                <a:gd name="connsiteY0" fmla="*/ 217592 h 250952"/>
                <a:gd name="connsiteX1" fmla="*/ 31420 w 66422"/>
                <a:gd name="connsiteY1" fmla="*/ 200743 h 250952"/>
                <a:gd name="connsiteX2" fmla="*/ 31420 w 66422"/>
                <a:gd name="connsiteY2" fmla="*/ 0 h 250952"/>
                <a:gd name="connsiteX3" fmla="*/ 8 w 66422"/>
                <a:gd name="connsiteY3" fmla="*/ 0 h 250952"/>
                <a:gd name="connsiteX4" fmla="*/ 8 w 66422"/>
                <a:gd name="connsiteY4" fmla="*/ 202536 h 250952"/>
                <a:gd name="connsiteX5" fmla="*/ 5034 w 66422"/>
                <a:gd name="connsiteY5" fmla="*/ 227450 h 250952"/>
                <a:gd name="connsiteX6" fmla="*/ 20830 w 66422"/>
                <a:gd name="connsiteY6" fmla="*/ 244656 h 250952"/>
                <a:gd name="connsiteX7" fmla="*/ 47036 w 66422"/>
                <a:gd name="connsiteY7" fmla="*/ 250929 h 250952"/>
                <a:gd name="connsiteX8" fmla="*/ 66422 w 66422"/>
                <a:gd name="connsiteY8" fmla="*/ 250929 h 250952"/>
                <a:gd name="connsiteX9" fmla="*/ 66422 w 66422"/>
                <a:gd name="connsiteY9" fmla="*/ 223865 h 250952"/>
                <a:gd name="connsiteX10" fmla="*/ 51344 w 66422"/>
                <a:gd name="connsiteY10" fmla="*/ 223865 h 250952"/>
                <a:gd name="connsiteX11" fmla="*/ 35907 w 66422"/>
                <a:gd name="connsiteY11" fmla="*/ 217592 h 25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2" h="250952">
                  <a:moveTo>
                    <a:pt x="35907" y="217592"/>
                  </a:moveTo>
                  <a:cubicBezTo>
                    <a:pt x="32609" y="212618"/>
                    <a:pt x="31030" y="206699"/>
                    <a:pt x="31420" y="200743"/>
                  </a:cubicBezTo>
                  <a:lnTo>
                    <a:pt x="31420" y="0"/>
                  </a:lnTo>
                  <a:lnTo>
                    <a:pt x="8" y="0"/>
                  </a:lnTo>
                  <a:lnTo>
                    <a:pt x="8" y="202536"/>
                  </a:lnTo>
                  <a:cubicBezTo>
                    <a:pt x="-131" y="211103"/>
                    <a:pt x="1583" y="219604"/>
                    <a:pt x="5034" y="227450"/>
                  </a:cubicBezTo>
                  <a:cubicBezTo>
                    <a:pt x="8373" y="234691"/>
                    <a:pt x="13896" y="240704"/>
                    <a:pt x="20830" y="244656"/>
                  </a:cubicBezTo>
                  <a:cubicBezTo>
                    <a:pt x="28849" y="249038"/>
                    <a:pt x="37895" y="251203"/>
                    <a:pt x="47036" y="250929"/>
                  </a:cubicBezTo>
                  <a:lnTo>
                    <a:pt x="66422" y="250929"/>
                  </a:lnTo>
                  <a:lnTo>
                    <a:pt x="66422" y="223865"/>
                  </a:lnTo>
                  <a:lnTo>
                    <a:pt x="51344" y="223865"/>
                  </a:lnTo>
                  <a:cubicBezTo>
                    <a:pt x="45502" y="224290"/>
                    <a:pt x="39794" y="221969"/>
                    <a:pt x="35907" y="217592"/>
                  </a:cubicBezTo>
                  <a:close/>
                </a:path>
              </a:pathLst>
            </a:custGeom>
            <a:grpFill/>
            <a:ln w="4485" cap="flat">
              <a:noFill/>
              <a:prstDash val="solid"/>
              <a:miter/>
            </a:ln>
          </p:spPr>
          <p:txBody>
            <a:bodyPr rtlCol="0" anchor="ctr"/>
            <a:lstStyle/>
            <a:p>
              <a:endParaRPr lang="es-ES_tradnl"/>
            </a:p>
          </p:txBody>
        </p:sp>
        <p:sp>
          <p:nvSpPr>
            <p:cNvPr id="48" name="Forma libre 196">
              <a:extLst>
                <a:ext uri="{FF2B5EF4-FFF2-40B4-BE49-F238E27FC236}">
                  <a16:creationId xmlns:a16="http://schemas.microsoft.com/office/drawing/2014/main" id="{9AC049AA-1BD4-33F1-F224-5BFD9267E309}"/>
                </a:ext>
              </a:extLst>
            </p:cNvPr>
            <p:cNvSpPr/>
            <p:nvPr/>
          </p:nvSpPr>
          <p:spPr>
            <a:xfrm>
              <a:off x="11339877" y="676379"/>
              <a:ext cx="37776" cy="44683"/>
            </a:xfrm>
            <a:custGeom>
              <a:avLst/>
              <a:gdLst>
                <a:gd name="connsiteX0" fmla="*/ 134285 w 159083"/>
                <a:gd name="connsiteY0" fmla="*/ 16505 h 188171"/>
                <a:gd name="connsiteX1" fmla="*/ 108797 w 159083"/>
                <a:gd name="connsiteY1" fmla="*/ 3958 h 188171"/>
                <a:gd name="connsiteX2" fmla="*/ 79179 w 159083"/>
                <a:gd name="connsiteY2" fmla="*/ 15 h 188171"/>
                <a:gd name="connsiteX3" fmla="*/ 35023 w 159083"/>
                <a:gd name="connsiteY3" fmla="*/ 11127 h 188171"/>
                <a:gd name="connsiteX4" fmla="*/ 6662 w 159083"/>
                <a:gd name="connsiteY4" fmla="*/ 44107 h 188171"/>
                <a:gd name="connsiteX5" fmla="*/ 31074 w 159083"/>
                <a:gd name="connsiteY5" fmla="*/ 57549 h 188171"/>
                <a:gd name="connsiteX6" fmla="*/ 49024 w 159083"/>
                <a:gd name="connsiteY6" fmla="*/ 35862 h 188171"/>
                <a:gd name="connsiteX7" fmla="*/ 78820 w 159083"/>
                <a:gd name="connsiteY7" fmla="*/ 27796 h 188171"/>
                <a:gd name="connsiteX8" fmla="*/ 103232 w 159083"/>
                <a:gd name="connsiteY8" fmla="*/ 32277 h 188171"/>
                <a:gd name="connsiteX9" fmla="*/ 121182 w 159083"/>
                <a:gd name="connsiteY9" fmla="*/ 46975 h 188171"/>
                <a:gd name="connsiteX10" fmla="*/ 128182 w 159083"/>
                <a:gd name="connsiteY10" fmla="*/ 74398 h 188171"/>
                <a:gd name="connsiteX11" fmla="*/ 128182 w 159083"/>
                <a:gd name="connsiteY11" fmla="*/ 96802 h 188171"/>
                <a:gd name="connsiteX12" fmla="*/ 122797 w 159083"/>
                <a:gd name="connsiteY12" fmla="*/ 91380 h 188171"/>
                <a:gd name="connsiteX13" fmla="*/ 73435 w 159083"/>
                <a:gd name="connsiteY13" fmla="*/ 76683 h 188171"/>
                <a:gd name="connsiteX14" fmla="*/ 36997 w 159083"/>
                <a:gd name="connsiteY14" fmla="*/ 83135 h 188171"/>
                <a:gd name="connsiteX15" fmla="*/ 10073 w 159083"/>
                <a:gd name="connsiteY15" fmla="*/ 101955 h 188171"/>
                <a:gd name="connsiteX16" fmla="*/ 21 w 159083"/>
                <a:gd name="connsiteY16" fmla="*/ 132246 h 188171"/>
                <a:gd name="connsiteX17" fmla="*/ 9893 w 159083"/>
                <a:gd name="connsiteY17" fmla="*/ 162716 h 188171"/>
                <a:gd name="connsiteX18" fmla="*/ 36279 w 159083"/>
                <a:gd name="connsiteY18" fmla="*/ 181715 h 188171"/>
                <a:gd name="connsiteX19" fmla="*/ 72179 w 159083"/>
                <a:gd name="connsiteY19" fmla="*/ 188167 h 188171"/>
                <a:gd name="connsiteX20" fmla="*/ 122439 w 159083"/>
                <a:gd name="connsiteY20" fmla="*/ 173111 h 188171"/>
                <a:gd name="connsiteX21" fmla="*/ 128900 w 159083"/>
                <a:gd name="connsiteY21" fmla="*/ 166300 h 188171"/>
                <a:gd name="connsiteX22" fmla="*/ 128900 w 159083"/>
                <a:gd name="connsiteY22" fmla="*/ 184582 h 188171"/>
                <a:gd name="connsiteX23" fmla="*/ 159056 w 159083"/>
                <a:gd name="connsiteY23" fmla="*/ 184582 h 188171"/>
                <a:gd name="connsiteX24" fmla="*/ 159056 w 159083"/>
                <a:gd name="connsiteY24" fmla="*/ 71171 h 188171"/>
                <a:gd name="connsiteX25" fmla="*/ 152235 w 159083"/>
                <a:gd name="connsiteY25" fmla="*/ 38730 h 188171"/>
                <a:gd name="connsiteX26" fmla="*/ 134285 w 159083"/>
                <a:gd name="connsiteY26" fmla="*/ 16505 h 188171"/>
                <a:gd name="connsiteX27" fmla="*/ 115258 w 159083"/>
                <a:gd name="connsiteY27" fmla="*/ 155412 h 188171"/>
                <a:gd name="connsiteX28" fmla="*/ 80975 w 159083"/>
                <a:gd name="connsiteY28" fmla="*/ 163477 h 188171"/>
                <a:gd name="connsiteX29" fmla="*/ 45972 w 159083"/>
                <a:gd name="connsiteY29" fmla="*/ 155591 h 188171"/>
                <a:gd name="connsiteX30" fmla="*/ 34808 w 159083"/>
                <a:gd name="connsiteY30" fmla="*/ 119242 h 188171"/>
                <a:gd name="connsiteX31" fmla="*/ 45972 w 159083"/>
                <a:gd name="connsiteY31" fmla="*/ 108094 h 188171"/>
                <a:gd name="connsiteX32" fmla="*/ 80975 w 159083"/>
                <a:gd name="connsiteY32" fmla="*/ 100387 h 188171"/>
                <a:gd name="connsiteX33" fmla="*/ 115258 w 159083"/>
                <a:gd name="connsiteY33" fmla="*/ 108452 h 188171"/>
                <a:gd name="connsiteX34" fmla="*/ 125656 w 159083"/>
                <a:gd name="connsiteY34" fmla="*/ 145030 h 188171"/>
                <a:gd name="connsiteX35" fmla="*/ 115258 w 159083"/>
                <a:gd name="connsiteY35" fmla="*/ 155412 h 18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9083" h="188171">
                  <a:moveTo>
                    <a:pt x="134285" y="16505"/>
                  </a:moveTo>
                  <a:cubicBezTo>
                    <a:pt x="126679" y="10715"/>
                    <a:pt x="118023" y="6458"/>
                    <a:pt x="108797" y="3958"/>
                  </a:cubicBezTo>
                  <a:cubicBezTo>
                    <a:pt x="99153" y="1296"/>
                    <a:pt x="89186" y="-30"/>
                    <a:pt x="79179" y="15"/>
                  </a:cubicBezTo>
                  <a:cubicBezTo>
                    <a:pt x="63734" y="-272"/>
                    <a:pt x="48490" y="3564"/>
                    <a:pt x="35023" y="11127"/>
                  </a:cubicBezTo>
                  <a:cubicBezTo>
                    <a:pt x="22059" y="18548"/>
                    <a:pt x="12047" y="30189"/>
                    <a:pt x="6662" y="44107"/>
                  </a:cubicBezTo>
                  <a:lnTo>
                    <a:pt x="31074" y="57549"/>
                  </a:lnTo>
                  <a:cubicBezTo>
                    <a:pt x="34570" y="48583"/>
                    <a:pt x="40865" y="40979"/>
                    <a:pt x="49024" y="35862"/>
                  </a:cubicBezTo>
                  <a:cubicBezTo>
                    <a:pt x="57954" y="30328"/>
                    <a:pt x="68311" y="27523"/>
                    <a:pt x="78820" y="27796"/>
                  </a:cubicBezTo>
                  <a:cubicBezTo>
                    <a:pt x="87172" y="27693"/>
                    <a:pt x="95465" y="29217"/>
                    <a:pt x="103232" y="32277"/>
                  </a:cubicBezTo>
                  <a:cubicBezTo>
                    <a:pt x="110556" y="35266"/>
                    <a:pt x="116811" y="40388"/>
                    <a:pt x="121182" y="46975"/>
                  </a:cubicBezTo>
                  <a:cubicBezTo>
                    <a:pt x="126235" y="55201"/>
                    <a:pt x="128676" y="64759"/>
                    <a:pt x="128182" y="74398"/>
                  </a:cubicBezTo>
                  <a:lnTo>
                    <a:pt x="128182" y="96802"/>
                  </a:lnTo>
                  <a:cubicBezTo>
                    <a:pt x="126535" y="94853"/>
                    <a:pt x="124736" y="93038"/>
                    <a:pt x="122797" y="91380"/>
                  </a:cubicBezTo>
                  <a:cubicBezTo>
                    <a:pt x="111309" y="81554"/>
                    <a:pt x="94854" y="76651"/>
                    <a:pt x="73435" y="76683"/>
                  </a:cubicBezTo>
                  <a:cubicBezTo>
                    <a:pt x="60992" y="76553"/>
                    <a:pt x="48638" y="78744"/>
                    <a:pt x="36997" y="83135"/>
                  </a:cubicBezTo>
                  <a:cubicBezTo>
                    <a:pt x="26510" y="86913"/>
                    <a:pt x="17217" y="93405"/>
                    <a:pt x="10073" y="101955"/>
                  </a:cubicBezTo>
                  <a:cubicBezTo>
                    <a:pt x="3252" y="110554"/>
                    <a:pt x="-307" y="121281"/>
                    <a:pt x="21" y="132246"/>
                  </a:cubicBezTo>
                  <a:cubicBezTo>
                    <a:pt x="-293" y="143233"/>
                    <a:pt x="3194" y="153996"/>
                    <a:pt x="9893" y="162716"/>
                  </a:cubicBezTo>
                  <a:cubicBezTo>
                    <a:pt x="16817" y="171301"/>
                    <a:pt x="25931" y="177866"/>
                    <a:pt x="36279" y="181715"/>
                  </a:cubicBezTo>
                  <a:cubicBezTo>
                    <a:pt x="47731" y="186097"/>
                    <a:pt x="59915" y="188288"/>
                    <a:pt x="72179" y="188167"/>
                  </a:cubicBezTo>
                  <a:cubicBezTo>
                    <a:pt x="93957" y="188167"/>
                    <a:pt x="110713" y="183149"/>
                    <a:pt x="122439" y="173111"/>
                  </a:cubicBezTo>
                  <a:cubicBezTo>
                    <a:pt x="124794" y="171041"/>
                    <a:pt x="126957" y="168765"/>
                    <a:pt x="128900" y="166300"/>
                  </a:cubicBezTo>
                  <a:lnTo>
                    <a:pt x="128900" y="184582"/>
                  </a:lnTo>
                  <a:lnTo>
                    <a:pt x="159056" y="184582"/>
                  </a:lnTo>
                  <a:lnTo>
                    <a:pt x="159056" y="71171"/>
                  </a:lnTo>
                  <a:cubicBezTo>
                    <a:pt x="159370" y="59974"/>
                    <a:pt x="157032" y="48857"/>
                    <a:pt x="152235" y="38730"/>
                  </a:cubicBezTo>
                  <a:cubicBezTo>
                    <a:pt x="148044" y="30041"/>
                    <a:pt x="141901" y="22437"/>
                    <a:pt x="134285" y="16505"/>
                  </a:cubicBezTo>
                  <a:close/>
                  <a:moveTo>
                    <a:pt x="115258" y="155412"/>
                  </a:moveTo>
                  <a:cubicBezTo>
                    <a:pt x="104758" y="161107"/>
                    <a:pt x="92920" y="163894"/>
                    <a:pt x="80975" y="163477"/>
                  </a:cubicBezTo>
                  <a:cubicBezTo>
                    <a:pt x="68822" y="163872"/>
                    <a:pt x="56774" y="161156"/>
                    <a:pt x="45972" y="155591"/>
                  </a:cubicBezTo>
                  <a:cubicBezTo>
                    <a:pt x="32837" y="148632"/>
                    <a:pt x="27839" y="132358"/>
                    <a:pt x="34808" y="119242"/>
                  </a:cubicBezTo>
                  <a:cubicBezTo>
                    <a:pt x="37330" y="114493"/>
                    <a:pt x="41220" y="110612"/>
                    <a:pt x="45972" y="108094"/>
                  </a:cubicBezTo>
                  <a:cubicBezTo>
                    <a:pt x="56810" y="102632"/>
                    <a:pt x="68845" y="99983"/>
                    <a:pt x="80975" y="100387"/>
                  </a:cubicBezTo>
                  <a:cubicBezTo>
                    <a:pt x="92920" y="99970"/>
                    <a:pt x="104758" y="102757"/>
                    <a:pt x="115258" y="108452"/>
                  </a:cubicBezTo>
                  <a:cubicBezTo>
                    <a:pt x="128245" y="115684"/>
                    <a:pt x="132899" y="132062"/>
                    <a:pt x="125656" y="145030"/>
                  </a:cubicBezTo>
                  <a:cubicBezTo>
                    <a:pt x="123224" y="149385"/>
                    <a:pt x="119620" y="152983"/>
                    <a:pt x="115258" y="155412"/>
                  </a:cubicBezTo>
                  <a:close/>
                </a:path>
              </a:pathLst>
            </a:custGeom>
            <a:grpFill/>
            <a:ln w="4485" cap="flat">
              <a:noFill/>
              <a:prstDash val="solid"/>
              <a:miter/>
            </a:ln>
          </p:spPr>
          <p:txBody>
            <a:bodyPr rtlCol="0" anchor="ctr"/>
            <a:lstStyle/>
            <a:p>
              <a:endParaRPr lang="es-ES_tradnl"/>
            </a:p>
          </p:txBody>
        </p:sp>
        <p:sp>
          <p:nvSpPr>
            <p:cNvPr id="49" name="Forma libre 197">
              <a:extLst>
                <a:ext uri="{FF2B5EF4-FFF2-40B4-BE49-F238E27FC236}">
                  <a16:creationId xmlns:a16="http://schemas.microsoft.com/office/drawing/2014/main" id="{8F611774-30DE-ED06-E935-3579B3AFEBE4}"/>
                </a:ext>
              </a:extLst>
            </p:cNvPr>
            <p:cNvSpPr/>
            <p:nvPr/>
          </p:nvSpPr>
          <p:spPr>
            <a:xfrm>
              <a:off x="11404928" y="659740"/>
              <a:ext cx="57295" cy="61209"/>
            </a:xfrm>
            <a:custGeom>
              <a:avLst/>
              <a:gdLst>
                <a:gd name="connsiteX0" fmla="*/ 240337 w 241285"/>
                <a:gd name="connsiteY0" fmla="*/ 122425 h 257768"/>
                <a:gd name="connsiteX1" fmla="*/ 122586 w 241285"/>
                <a:gd name="connsiteY1" fmla="*/ 122425 h 257768"/>
                <a:gd name="connsiteX2" fmla="*/ 122586 w 241285"/>
                <a:gd name="connsiteY2" fmla="*/ 150744 h 257768"/>
                <a:gd name="connsiteX3" fmla="*/ 206456 w 241285"/>
                <a:gd name="connsiteY3" fmla="*/ 150744 h 257768"/>
                <a:gd name="connsiteX4" fmla="*/ 196180 w 241285"/>
                <a:gd name="connsiteY4" fmla="*/ 186591 h 257768"/>
                <a:gd name="connsiteX5" fmla="*/ 166922 w 241285"/>
                <a:gd name="connsiteY5" fmla="*/ 217061 h 257768"/>
                <a:gd name="connsiteX6" fmla="*/ 122586 w 241285"/>
                <a:gd name="connsiteY6" fmla="*/ 227636 h 257768"/>
                <a:gd name="connsiteX7" fmla="*/ 77711 w 241285"/>
                <a:gd name="connsiteY7" fmla="*/ 215807 h 257768"/>
                <a:gd name="connsiteX8" fmla="*/ 45402 w 241285"/>
                <a:gd name="connsiteY8" fmla="*/ 181931 h 257768"/>
                <a:gd name="connsiteX9" fmla="*/ 33375 w 241285"/>
                <a:gd name="connsiteY9" fmla="*/ 129057 h 257768"/>
                <a:gd name="connsiteX10" fmla="*/ 40196 w 241285"/>
                <a:gd name="connsiteY10" fmla="*/ 87474 h 257768"/>
                <a:gd name="connsiteX11" fmla="*/ 59223 w 241285"/>
                <a:gd name="connsiteY11" fmla="*/ 56467 h 257768"/>
                <a:gd name="connsiteX12" fmla="*/ 87763 w 241285"/>
                <a:gd name="connsiteY12" fmla="*/ 37109 h 257768"/>
                <a:gd name="connsiteX13" fmla="*/ 123663 w 241285"/>
                <a:gd name="connsiteY13" fmla="*/ 30478 h 257768"/>
                <a:gd name="connsiteX14" fmla="*/ 171050 w 241285"/>
                <a:gd name="connsiteY14" fmla="*/ 43382 h 257768"/>
                <a:gd name="connsiteX15" fmla="*/ 204796 w 241285"/>
                <a:gd name="connsiteY15" fmla="*/ 82456 h 257768"/>
                <a:gd name="connsiteX16" fmla="*/ 231721 w 241285"/>
                <a:gd name="connsiteY16" fmla="*/ 66325 h 257768"/>
                <a:gd name="connsiteX17" fmla="*/ 204078 w 241285"/>
                <a:gd name="connsiteY17" fmla="*/ 29044 h 257768"/>
                <a:gd name="connsiteX18" fmla="*/ 166563 w 241285"/>
                <a:gd name="connsiteY18" fmla="*/ 7177 h 257768"/>
                <a:gd name="connsiteX19" fmla="*/ 124022 w 241285"/>
                <a:gd name="connsiteY19" fmla="*/ 7 h 257768"/>
                <a:gd name="connsiteX20" fmla="*/ 74660 w 241285"/>
                <a:gd name="connsiteY20" fmla="*/ 8969 h 257768"/>
                <a:gd name="connsiteX21" fmla="*/ 35350 w 241285"/>
                <a:gd name="connsiteY21" fmla="*/ 34958 h 257768"/>
                <a:gd name="connsiteX22" fmla="*/ 9323 w 241285"/>
                <a:gd name="connsiteY22" fmla="*/ 75824 h 257768"/>
                <a:gd name="connsiteX23" fmla="*/ 9323 w 241285"/>
                <a:gd name="connsiteY23" fmla="*/ 182290 h 257768"/>
                <a:gd name="connsiteX24" fmla="*/ 74660 w 241285"/>
                <a:gd name="connsiteY24" fmla="*/ 248786 h 257768"/>
                <a:gd name="connsiteX25" fmla="*/ 123124 w 241285"/>
                <a:gd name="connsiteY25" fmla="*/ 257748 h 257768"/>
                <a:gd name="connsiteX26" fmla="*/ 184333 w 241285"/>
                <a:gd name="connsiteY26" fmla="*/ 242871 h 257768"/>
                <a:gd name="connsiteX27" fmla="*/ 226156 w 241285"/>
                <a:gd name="connsiteY27" fmla="*/ 200213 h 257768"/>
                <a:gd name="connsiteX28" fmla="*/ 241234 w 241285"/>
                <a:gd name="connsiteY28" fmla="*/ 133717 h 257768"/>
                <a:gd name="connsiteX29" fmla="*/ 241234 w 241285"/>
                <a:gd name="connsiteY29" fmla="*/ 127981 h 257768"/>
                <a:gd name="connsiteX30" fmla="*/ 240337 w 241285"/>
                <a:gd name="connsiteY30" fmla="*/ 122425 h 25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41285" h="257768">
                  <a:moveTo>
                    <a:pt x="240337" y="122425"/>
                  </a:moveTo>
                  <a:lnTo>
                    <a:pt x="122586" y="122425"/>
                  </a:lnTo>
                  <a:lnTo>
                    <a:pt x="122586" y="150744"/>
                  </a:lnTo>
                  <a:lnTo>
                    <a:pt x="206456" y="150744"/>
                  </a:lnTo>
                  <a:cubicBezTo>
                    <a:pt x="205290" y="163228"/>
                    <a:pt x="201807" y="175385"/>
                    <a:pt x="196180" y="186591"/>
                  </a:cubicBezTo>
                  <a:cubicBezTo>
                    <a:pt x="189651" y="199407"/>
                    <a:pt x="179469" y="210008"/>
                    <a:pt x="166922" y="217061"/>
                  </a:cubicBezTo>
                  <a:cubicBezTo>
                    <a:pt x="153307" y="224361"/>
                    <a:pt x="138032" y="228004"/>
                    <a:pt x="122586" y="227636"/>
                  </a:cubicBezTo>
                  <a:cubicBezTo>
                    <a:pt x="106835" y="227793"/>
                    <a:pt x="91331" y="223707"/>
                    <a:pt x="77711" y="215807"/>
                  </a:cubicBezTo>
                  <a:cubicBezTo>
                    <a:pt x="63984" y="207750"/>
                    <a:pt x="52793" y="196015"/>
                    <a:pt x="45402" y="181931"/>
                  </a:cubicBezTo>
                  <a:cubicBezTo>
                    <a:pt x="36997" y="165599"/>
                    <a:pt x="32859" y="147411"/>
                    <a:pt x="33375" y="129057"/>
                  </a:cubicBezTo>
                  <a:cubicBezTo>
                    <a:pt x="33128" y="114897"/>
                    <a:pt x="35440" y="100814"/>
                    <a:pt x="40196" y="87474"/>
                  </a:cubicBezTo>
                  <a:cubicBezTo>
                    <a:pt x="44320" y="75932"/>
                    <a:pt x="50796" y="65375"/>
                    <a:pt x="59223" y="56467"/>
                  </a:cubicBezTo>
                  <a:cubicBezTo>
                    <a:pt x="67229" y="48038"/>
                    <a:pt x="76967" y="41433"/>
                    <a:pt x="87763" y="37109"/>
                  </a:cubicBezTo>
                  <a:cubicBezTo>
                    <a:pt x="99179" y="32566"/>
                    <a:pt x="111376" y="30312"/>
                    <a:pt x="123663" y="30478"/>
                  </a:cubicBezTo>
                  <a:cubicBezTo>
                    <a:pt x="140365" y="30209"/>
                    <a:pt x="156798" y="34685"/>
                    <a:pt x="171050" y="43382"/>
                  </a:cubicBezTo>
                  <a:cubicBezTo>
                    <a:pt x="185783" y="52949"/>
                    <a:pt x="197486" y="66499"/>
                    <a:pt x="204796" y="82456"/>
                  </a:cubicBezTo>
                  <a:lnTo>
                    <a:pt x="231721" y="66325"/>
                  </a:lnTo>
                  <a:cubicBezTo>
                    <a:pt x="225348" y="52026"/>
                    <a:pt x="215912" y="39300"/>
                    <a:pt x="204078" y="29044"/>
                  </a:cubicBezTo>
                  <a:cubicBezTo>
                    <a:pt x="193043" y="19490"/>
                    <a:pt x="180321" y="12074"/>
                    <a:pt x="166563" y="7177"/>
                  </a:cubicBezTo>
                  <a:cubicBezTo>
                    <a:pt x="152899" y="2369"/>
                    <a:pt x="138507" y="-55"/>
                    <a:pt x="124022" y="7"/>
                  </a:cubicBezTo>
                  <a:cubicBezTo>
                    <a:pt x="107145" y="-172"/>
                    <a:pt x="90393" y="2871"/>
                    <a:pt x="74660" y="8969"/>
                  </a:cubicBezTo>
                  <a:cubicBezTo>
                    <a:pt x="59856" y="14741"/>
                    <a:pt x="46452" y="23599"/>
                    <a:pt x="35350" y="34958"/>
                  </a:cubicBezTo>
                  <a:cubicBezTo>
                    <a:pt x="23970" y="46662"/>
                    <a:pt x="15112" y="60571"/>
                    <a:pt x="9323" y="75824"/>
                  </a:cubicBezTo>
                  <a:cubicBezTo>
                    <a:pt x="-3108" y="110228"/>
                    <a:pt x="-3108" y="147886"/>
                    <a:pt x="9323" y="182290"/>
                  </a:cubicBezTo>
                  <a:cubicBezTo>
                    <a:pt x="20775" y="212639"/>
                    <a:pt x="44491" y="236773"/>
                    <a:pt x="74660" y="248786"/>
                  </a:cubicBezTo>
                  <a:cubicBezTo>
                    <a:pt x="90083" y="254867"/>
                    <a:pt x="106543" y="257914"/>
                    <a:pt x="123124" y="257748"/>
                  </a:cubicBezTo>
                  <a:cubicBezTo>
                    <a:pt x="144471" y="258138"/>
                    <a:pt x="165553" y="253012"/>
                    <a:pt x="184333" y="242871"/>
                  </a:cubicBezTo>
                  <a:cubicBezTo>
                    <a:pt x="202108" y="232982"/>
                    <a:pt x="216634" y="218168"/>
                    <a:pt x="226156" y="200213"/>
                  </a:cubicBezTo>
                  <a:cubicBezTo>
                    <a:pt x="236684" y="179660"/>
                    <a:pt x="241867" y="156794"/>
                    <a:pt x="241234" y="133717"/>
                  </a:cubicBezTo>
                  <a:cubicBezTo>
                    <a:pt x="241234" y="131790"/>
                    <a:pt x="241234" y="129863"/>
                    <a:pt x="241234" y="127981"/>
                  </a:cubicBezTo>
                  <a:cubicBezTo>
                    <a:pt x="241234" y="126100"/>
                    <a:pt x="240337" y="124128"/>
                    <a:pt x="240337" y="122425"/>
                  </a:cubicBezTo>
                  <a:close/>
                </a:path>
              </a:pathLst>
            </a:custGeom>
            <a:grpFill/>
            <a:ln w="4485" cap="flat">
              <a:noFill/>
              <a:prstDash val="solid"/>
              <a:miter/>
            </a:ln>
          </p:spPr>
          <p:txBody>
            <a:bodyPr rtlCol="0" anchor="ctr"/>
            <a:lstStyle/>
            <a:p>
              <a:endParaRPr lang="es-ES_tradnl"/>
            </a:p>
          </p:txBody>
        </p:sp>
        <p:sp>
          <p:nvSpPr>
            <p:cNvPr id="50" name="Forma libre 198">
              <a:extLst>
                <a:ext uri="{FF2B5EF4-FFF2-40B4-BE49-F238E27FC236}">
                  <a16:creationId xmlns:a16="http://schemas.microsoft.com/office/drawing/2014/main" id="{A47B18B5-236B-7711-D2EA-06595FF7213E}"/>
                </a:ext>
              </a:extLst>
            </p:cNvPr>
            <p:cNvSpPr/>
            <p:nvPr/>
          </p:nvSpPr>
          <p:spPr>
            <a:xfrm>
              <a:off x="11469819" y="676423"/>
              <a:ext cx="21908" cy="43712"/>
            </a:xfrm>
            <a:custGeom>
              <a:avLst/>
              <a:gdLst>
                <a:gd name="connsiteX0" fmla="*/ 51875 w 92261"/>
                <a:gd name="connsiteY0" fmla="*/ 8611 h 184082"/>
                <a:gd name="connsiteX1" fmla="*/ 30874 w 92261"/>
                <a:gd name="connsiteY1" fmla="*/ 34421 h 184082"/>
                <a:gd name="connsiteX2" fmla="*/ 30874 w 92261"/>
                <a:gd name="connsiteY2" fmla="*/ 3055 h 184082"/>
                <a:gd name="connsiteX3" fmla="*/ 0 w 92261"/>
                <a:gd name="connsiteY3" fmla="*/ 3055 h 184082"/>
                <a:gd name="connsiteX4" fmla="*/ 0 w 92261"/>
                <a:gd name="connsiteY4" fmla="*/ 184082 h 184082"/>
                <a:gd name="connsiteX5" fmla="*/ 30874 w 92261"/>
                <a:gd name="connsiteY5" fmla="*/ 184082 h 184082"/>
                <a:gd name="connsiteX6" fmla="*/ 30874 w 92261"/>
                <a:gd name="connsiteY6" fmla="*/ 87116 h 184082"/>
                <a:gd name="connsiteX7" fmla="*/ 43259 w 92261"/>
                <a:gd name="connsiteY7" fmla="*/ 47505 h 184082"/>
                <a:gd name="connsiteX8" fmla="*/ 75030 w 92261"/>
                <a:gd name="connsiteY8" fmla="*/ 32629 h 184082"/>
                <a:gd name="connsiteX9" fmla="*/ 92262 w 92261"/>
                <a:gd name="connsiteY9" fmla="*/ 32629 h 184082"/>
                <a:gd name="connsiteX10" fmla="*/ 92262 w 92261"/>
                <a:gd name="connsiteY10" fmla="*/ 8 h 184082"/>
                <a:gd name="connsiteX11" fmla="*/ 81672 w 92261"/>
                <a:gd name="connsiteY11" fmla="*/ 8 h 184082"/>
                <a:gd name="connsiteX12" fmla="*/ 51875 w 92261"/>
                <a:gd name="connsiteY12" fmla="*/ 8611 h 18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261" h="184082">
                  <a:moveTo>
                    <a:pt x="51875" y="8611"/>
                  </a:moveTo>
                  <a:cubicBezTo>
                    <a:pt x="42550" y="15036"/>
                    <a:pt x="35263" y="23994"/>
                    <a:pt x="30874" y="34421"/>
                  </a:cubicBezTo>
                  <a:lnTo>
                    <a:pt x="30874" y="3055"/>
                  </a:lnTo>
                  <a:lnTo>
                    <a:pt x="0" y="3055"/>
                  </a:lnTo>
                  <a:lnTo>
                    <a:pt x="0" y="184082"/>
                  </a:lnTo>
                  <a:lnTo>
                    <a:pt x="30874" y="184082"/>
                  </a:lnTo>
                  <a:lnTo>
                    <a:pt x="30874" y="87116"/>
                  </a:lnTo>
                  <a:cubicBezTo>
                    <a:pt x="30147" y="72862"/>
                    <a:pt x="34540" y="58815"/>
                    <a:pt x="43259" y="47505"/>
                  </a:cubicBezTo>
                  <a:cubicBezTo>
                    <a:pt x="50928" y="37844"/>
                    <a:pt x="62690" y="32337"/>
                    <a:pt x="75030" y="32629"/>
                  </a:cubicBezTo>
                  <a:lnTo>
                    <a:pt x="92262" y="32629"/>
                  </a:lnTo>
                  <a:lnTo>
                    <a:pt x="92262" y="8"/>
                  </a:lnTo>
                  <a:lnTo>
                    <a:pt x="81672" y="8"/>
                  </a:lnTo>
                  <a:cubicBezTo>
                    <a:pt x="71099" y="-172"/>
                    <a:pt x="60720" y="2826"/>
                    <a:pt x="51875" y="8611"/>
                  </a:cubicBezTo>
                  <a:close/>
                </a:path>
              </a:pathLst>
            </a:custGeom>
            <a:grpFill/>
            <a:ln w="4485" cap="flat">
              <a:noFill/>
              <a:prstDash val="solid"/>
              <a:miter/>
            </a:ln>
          </p:spPr>
          <p:txBody>
            <a:bodyPr rtlCol="0" anchor="ctr"/>
            <a:lstStyle/>
            <a:p>
              <a:endParaRPr lang="es-ES_tradnl"/>
            </a:p>
          </p:txBody>
        </p:sp>
        <p:sp>
          <p:nvSpPr>
            <p:cNvPr id="51" name="Forma libre 199">
              <a:extLst>
                <a:ext uri="{FF2B5EF4-FFF2-40B4-BE49-F238E27FC236}">
                  <a16:creationId xmlns:a16="http://schemas.microsoft.com/office/drawing/2014/main" id="{DC87DEFD-5EE6-EE54-E727-DABECB22637A}"/>
                </a:ext>
              </a:extLst>
            </p:cNvPr>
            <p:cNvSpPr/>
            <p:nvPr/>
          </p:nvSpPr>
          <p:spPr>
            <a:xfrm>
              <a:off x="11493246" y="676422"/>
              <a:ext cx="43316" cy="44610"/>
            </a:xfrm>
            <a:custGeom>
              <a:avLst/>
              <a:gdLst>
                <a:gd name="connsiteX0" fmla="*/ 137876 w 182416"/>
                <a:gd name="connsiteY0" fmla="*/ 11843 h 187865"/>
                <a:gd name="connsiteX1" fmla="*/ 91027 w 182416"/>
                <a:gd name="connsiteY1" fmla="*/ 14 h 187865"/>
                <a:gd name="connsiteX2" fmla="*/ 55127 w 182416"/>
                <a:gd name="connsiteY2" fmla="*/ 6645 h 187865"/>
                <a:gd name="connsiteX3" fmla="*/ 26049 w 182416"/>
                <a:gd name="connsiteY3" fmla="*/ 25824 h 187865"/>
                <a:gd name="connsiteX4" fmla="*/ 6842 w 182416"/>
                <a:gd name="connsiteY4" fmla="*/ 55756 h 187865"/>
                <a:gd name="connsiteX5" fmla="*/ 21 w 182416"/>
                <a:gd name="connsiteY5" fmla="*/ 93575 h 187865"/>
                <a:gd name="connsiteX6" fmla="*/ 11868 w 182416"/>
                <a:gd name="connsiteY6" fmla="*/ 142864 h 187865"/>
                <a:gd name="connsiteX7" fmla="*/ 44357 w 182416"/>
                <a:gd name="connsiteY7" fmla="*/ 176023 h 187865"/>
                <a:gd name="connsiteX8" fmla="*/ 91206 w 182416"/>
                <a:gd name="connsiteY8" fmla="*/ 187852 h 187865"/>
                <a:gd name="connsiteX9" fmla="*/ 127644 w 182416"/>
                <a:gd name="connsiteY9" fmla="*/ 181041 h 187865"/>
                <a:gd name="connsiteX10" fmla="*/ 156544 w 182416"/>
                <a:gd name="connsiteY10" fmla="*/ 161684 h 187865"/>
                <a:gd name="connsiteX11" fmla="*/ 175570 w 182416"/>
                <a:gd name="connsiteY11" fmla="*/ 131931 h 187865"/>
                <a:gd name="connsiteX12" fmla="*/ 182391 w 182416"/>
                <a:gd name="connsiteY12" fmla="*/ 93575 h 187865"/>
                <a:gd name="connsiteX13" fmla="*/ 170544 w 182416"/>
                <a:gd name="connsiteY13" fmla="*/ 44643 h 187865"/>
                <a:gd name="connsiteX14" fmla="*/ 137876 w 182416"/>
                <a:gd name="connsiteY14" fmla="*/ 11843 h 187865"/>
                <a:gd name="connsiteX15" fmla="*/ 146492 w 182416"/>
                <a:gd name="connsiteY15" fmla="*/ 121356 h 187865"/>
                <a:gd name="connsiteX16" fmla="*/ 133927 w 182416"/>
                <a:gd name="connsiteY16" fmla="*/ 142327 h 187865"/>
                <a:gd name="connsiteX17" fmla="*/ 114900 w 182416"/>
                <a:gd name="connsiteY17" fmla="*/ 155411 h 187865"/>
                <a:gd name="connsiteX18" fmla="*/ 91027 w 182416"/>
                <a:gd name="connsiteY18" fmla="*/ 159892 h 187865"/>
                <a:gd name="connsiteX19" fmla="*/ 60512 w 182416"/>
                <a:gd name="connsiteY19" fmla="*/ 152005 h 187865"/>
                <a:gd name="connsiteX20" fmla="*/ 39152 w 182416"/>
                <a:gd name="connsiteY20" fmla="*/ 129242 h 187865"/>
                <a:gd name="connsiteX21" fmla="*/ 31433 w 182416"/>
                <a:gd name="connsiteY21" fmla="*/ 93395 h 187865"/>
                <a:gd name="connsiteX22" fmla="*/ 35921 w 182416"/>
                <a:gd name="connsiteY22" fmla="*/ 65793 h 187865"/>
                <a:gd name="connsiteX23" fmla="*/ 48486 w 182416"/>
                <a:gd name="connsiteY23" fmla="*/ 45002 h 187865"/>
                <a:gd name="connsiteX24" fmla="*/ 67513 w 182416"/>
                <a:gd name="connsiteY24" fmla="*/ 32097 h 187865"/>
                <a:gd name="connsiteX25" fmla="*/ 91027 w 182416"/>
                <a:gd name="connsiteY25" fmla="*/ 27616 h 187865"/>
                <a:gd name="connsiteX26" fmla="*/ 121721 w 182416"/>
                <a:gd name="connsiteY26" fmla="*/ 35502 h 187865"/>
                <a:gd name="connsiteX27" fmla="*/ 143081 w 182416"/>
                <a:gd name="connsiteY27" fmla="*/ 57907 h 187865"/>
                <a:gd name="connsiteX28" fmla="*/ 150979 w 182416"/>
                <a:gd name="connsiteY28" fmla="*/ 93037 h 187865"/>
                <a:gd name="connsiteX29" fmla="*/ 146492 w 182416"/>
                <a:gd name="connsiteY29" fmla="*/ 121356 h 18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2416" h="187865">
                  <a:moveTo>
                    <a:pt x="137876" y="11843"/>
                  </a:moveTo>
                  <a:cubicBezTo>
                    <a:pt x="123588" y="3814"/>
                    <a:pt x="107420" y="-269"/>
                    <a:pt x="91027" y="14"/>
                  </a:cubicBezTo>
                  <a:cubicBezTo>
                    <a:pt x="78745" y="-80"/>
                    <a:pt x="66561" y="2174"/>
                    <a:pt x="55127" y="6645"/>
                  </a:cubicBezTo>
                  <a:cubicBezTo>
                    <a:pt x="44187" y="10920"/>
                    <a:pt x="34279" y="17453"/>
                    <a:pt x="26049" y="25824"/>
                  </a:cubicBezTo>
                  <a:cubicBezTo>
                    <a:pt x="17666" y="34387"/>
                    <a:pt x="11128" y="44572"/>
                    <a:pt x="6842" y="55756"/>
                  </a:cubicBezTo>
                  <a:cubicBezTo>
                    <a:pt x="2216" y="67823"/>
                    <a:pt x="-100" y="80652"/>
                    <a:pt x="21" y="93575"/>
                  </a:cubicBezTo>
                  <a:cubicBezTo>
                    <a:pt x="-333" y="110750"/>
                    <a:pt x="3746" y="127723"/>
                    <a:pt x="11868" y="142864"/>
                  </a:cubicBezTo>
                  <a:cubicBezTo>
                    <a:pt x="19416" y="156706"/>
                    <a:pt x="30662" y="168186"/>
                    <a:pt x="44357" y="176023"/>
                  </a:cubicBezTo>
                  <a:cubicBezTo>
                    <a:pt x="58650" y="184044"/>
                    <a:pt x="74818" y="188126"/>
                    <a:pt x="91206" y="187852"/>
                  </a:cubicBezTo>
                  <a:cubicBezTo>
                    <a:pt x="103682" y="187978"/>
                    <a:pt x="116058" y="185666"/>
                    <a:pt x="127644" y="181041"/>
                  </a:cubicBezTo>
                  <a:cubicBezTo>
                    <a:pt x="138513" y="176650"/>
                    <a:pt x="148354" y="170059"/>
                    <a:pt x="156544" y="161684"/>
                  </a:cubicBezTo>
                  <a:cubicBezTo>
                    <a:pt x="164814" y="153139"/>
                    <a:pt x="171285" y="143021"/>
                    <a:pt x="175570" y="131931"/>
                  </a:cubicBezTo>
                  <a:cubicBezTo>
                    <a:pt x="180264" y="119694"/>
                    <a:pt x="182580" y="106677"/>
                    <a:pt x="182391" y="93575"/>
                  </a:cubicBezTo>
                  <a:cubicBezTo>
                    <a:pt x="182782" y="76511"/>
                    <a:pt x="178698" y="59645"/>
                    <a:pt x="170544" y="44643"/>
                  </a:cubicBezTo>
                  <a:cubicBezTo>
                    <a:pt x="162884" y="30918"/>
                    <a:pt x="151581" y="19568"/>
                    <a:pt x="137876" y="11843"/>
                  </a:cubicBezTo>
                  <a:close/>
                  <a:moveTo>
                    <a:pt x="146492" y="121356"/>
                  </a:moveTo>
                  <a:cubicBezTo>
                    <a:pt x="143795" y="129135"/>
                    <a:pt x="139518" y="136277"/>
                    <a:pt x="133927" y="142327"/>
                  </a:cubicBezTo>
                  <a:cubicBezTo>
                    <a:pt x="128609" y="148013"/>
                    <a:pt x="122116" y="152476"/>
                    <a:pt x="114900" y="155411"/>
                  </a:cubicBezTo>
                  <a:cubicBezTo>
                    <a:pt x="107312" y="158440"/>
                    <a:pt x="99203" y="159963"/>
                    <a:pt x="91027" y="159892"/>
                  </a:cubicBezTo>
                  <a:cubicBezTo>
                    <a:pt x="80333" y="160022"/>
                    <a:pt x="69797" y="157302"/>
                    <a:pt x="60512" y="152005"/>
                  </a:cubicBezTo>
                  <a:cubicBezTo>
                    <a:pt x="51349" y="146628"/>
                    <a:pt x="43931" y="138724"/>
                    <a:pt x="39152" y="129242"/>
                  </a:cubicBezTo>
                  <a:cubicBezTo>
                    <a:pt x="33731" y="118085"/>
                    <a:pt x="31083" y="105789"/>
                    <a:pt x="31433" y="93395"/>
                  </a:cubicBezTo>
                  <a:cubicBezTo>
                    <a:pt x="31299" y="84003"/>
                    <a:pt x="32816" y="74661"/>
                    <a:pt x="35921" y="65793"/>
                  </a:cubicBezTo>
                  <a:cubicBezTo>
                    <a:pt x="38658" y="58086"/>
                    <a:pt x="42930" y="51011"/>
                    <a:pt x="48486" y="45002"/>
                  </a:cubicBezTo>
                  <a:cubicBezTo>
                    <a:pt x="53786" y="39334"/>
                    <a:pt x="60283" y="34924"/>
                    <a:pt x="67513" y="32097"/>
                  </a:cubicBezTo>
                  <a:cubicBezTo>
                    <a:pt x="74998" y="29135"/>
                    <a:pt x="82976" y="27616"/>
                    <a:pt x="91027" y="27616"/>
                  </a:cubicBezTo>
                  <a:cubicBezTo>
                    <a:pt x="101788" y="27410"/>
                    <a:pt x="112396" y="30139"/>
                    <a:pt x="121721" y="35502"/>
                  </a:cubicBezTo>
                  <a:cubicBezTo>
                    <a:pt x="130804" y="40826"/>
                    <a:pt x="138203" y="48591"/>
                    <a:pt x="143081" y="57907"/>
                  </a:cubicBezTo>
                  <a:cubicBezTo>
                    <a:pt x="148614" y="68773"/>
                    <a:pt x="151329" y="80853"/>
                    <a:pt x="150979" y="93037"/>
                  </a:cubicBezTo>
                  <a:cubicBezTo>
                    <a:pt x="151190" y="102666"/>
                    <a:pt x="149669" y="112260"/>
                    <a:pt x="146492" y="121356"/>
                  </a:cubicBezTo>
                  <a:close/>
                </a:path>
              </a:pathLst>
            </a:custGeom>
            <a:grpFill/>
            <a:ln w="4485" cap="flat">
              <a:noFill/>
              <a:prstDash val="solid"/>
              <a:miter/>
            </a:ln>
          </p:spPr>
          <p:txBody>
            <a:bodyPr rtlCol="0" anchor="ctr"/>
            <a:lstStyle/>
            <a:p>
              <a:endParaRPr lang="es-ES_tradnl"/>
            </a:p>
          </p:txBody>
        </p:sp>
        <p:sp>
          <p:nvSpPr>
            <p:cNvPr id="52" name="Forma libre 200">
              <a:extLst>
                <a:ext uri="{FF2B5EF4-FFF2-40B4-BE49-F238E27FC236}">
                  <a16:creationId xmlns:a16="http://schemas.microsoft.com/office/drawing/2014/main" id="{CC15DE5E-93F5-3600-58B1-931B103F8724}"/>
                </a:ext>
              </a:extLst>
            </p:cNvPr>
            <p:cNvSpPr/>
            <p:nvPr/>
          </p:nvSpPr>
          <p:spPr>
            <a:xfrm>
              <a:off x="11543133" y="677191"/>
              <a:ext cx="36588" cy="43797"/>
            </a:xfrm>
            <a:custGeom>
              <a:avLst/>
              <a:gdLst>
                <a:gd name="connsiteX0" fmla="*/ 123174 w 154081"/>
                <a:gd name="connsiteY0" fmla="*/ 105390 h 184441"/>
                <a:gd name="connsiteX1" fmla="*/ 110429 w 154081"/>
                <a:gd name="connsiteY1" fmla="*/ 143567 h 184441"/>
                <a:gd name="connsiteX2" fmla="*/ 77222 w 154081"/>
                <a:gd name="connsiteY2" fmla="*/ 156293 h 184441"/>
                <a:gd name="connsiteX3" fmla="*/ 44015 w 154081"/>
                <a:gd name="connsiteY3" fmla="*/ 143567 h 184441"/>
                <a:gd name="connsiteX4" fmla="*/ 30912 w 154081"/>
                <a:gd name="connsiteY4" fmla="*/ 105390 h 184441"/>
                <a:gd name="connsiteX5" fmla="*/ 30912 w 154081"/>
                <a:gd name="connsiteY5" fmla="*/ 0 h 184441"/>
                <a:gd name="connsiteX6" fmla="*/ 38 w 154081"/>
                <a:gd name="connsiteY6" fmla="*/ 0 h 184441"/>
                <a:gd name="connsiteX7" fmla="*/ 38 w 154081"/>
                <a:gd name="connsiteY7" fmla="*/ 107900 h 184441"/>
                <a:gd name="connsiteX8" fmla="*/ 10090 w 154081"/>
                <a:gd name="connsiteY8" fmla="*/ 149482 h 184441"/>
                <a:gd name="connsiteX9" fmla="*/ 37733 w 154081"/>
                <a:gd name="connsiteY9" fmla="*/ 175471 h 184441"/>
                <a:gd name="connsiteX10" fmla="*/ 77222 w 154081"/>
                <a:gd name="connsiteY10" fmla="*/ 184433 h 184441"/>
                <a:gd name="connsiteX11" fmla="*/ 116712 w 154081"/>
                <a:gd name="connsiteY11" fmla="*/ 175471 h 184441"/>
                <a:gd name="connsiteX12" fmla="*/ 143995 w 154081"/>
                <a:gd name="connsiteY12" fmla="*/ 149482 h 184441"/>
                <a:gd name="connsiteX13" fmla="*/ 154047 w 154081"/>
                <a:gd name="connsiteY13" fmla="*/ 107900 h 184441"/>
                <a:gd name="connsiteX14" fmla="*/ 154047 w 154081"/>
                <a:gd name="connsiteY14" fmla="*/ 0 h 184441"/>
                <a:gd name="connsiteX15" fmla="*/ 123174 w 154081"/>
                <a:gd name="connsiteY15" fmla="*/ 0 h 184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4081" h="184441">
                  <a:moveTo>
                    <a:pt x="123174" y="105390"/>
                  </a:moveTo>
                  <a:cubicBezTo>
                    <a:pt x="123174" y="122328"/>
                    <a:pt x="118924" y="135054"/>
                    <a:pt x="110429" y="143567"/>
                  </a:cubicBezTo>
                  <a:cubicBezTo>
                    <a:pt x="101589" y="152198"/>
                    <a:pt x="89576" y="156800"/>
                    <a:pt x="77222" y="156293"/>
                  </a:cubicBezTo>
                  <a:cubicBezTo>
                    <a:pt x="64886" y="156705"/>
                    <a:pt x="52909" y="152113"/>
                    <a:pt x="44015" y="143567"/>
                  </a:cubicBezTo>
                  <a:cubicBezTo>
                    <a:pt x="35278" y="135054"/>
                    <a:pt x="30912" y="122328"/>
                    <a:pt x="30912" y="105390"/>
                  </a:cubicBezTo>
                  <a:lnTo>
                    <a:pt x="30912" y="0"/>
                  </a:lnTo>
                  <a:lnTo>
                    <a:pt x="38" y="0"/>
                  </a:lnTo>
                  <a:lnTo>
                    <a:pt x="38" y="107900"/>
                  </a:lnTo>
                  <a:cubicBezTo>
                    <a:pt x="-406" y="122409"/>
                    <a:pt x="3067" y="136770"/>
                    <a:pt x="10090" y="149482"/>
                  </a:cubicBezTo>
                  <a:cubicBezTo>
                    <a:pt x="16507" y="160698"/>
                    <a:pt x="26132" y="169749"/>
                    <a:pt x="37733" y="175471"/>
                  </a:cubicBezTo>
                  <a:cubicBezTo>
                    <a:pt x="50010" y="181507"/>
                    <a:pt x="63535" y="184577"/>
                    <a:pt x="77222" y="184433"/>
                  </a:cubicBezTo>
                  <a:cubicBezTo>
                    <a:pt x="90913" y="184621"/>
                    <a:pt x="104447" y="181552"/>
                    <a:pt x="116712" y="175471"/>
                  </a:cubicBezTo>
                  <a:cubicBezTo>
                    <a:pt x="128146" y="169646"/>
                    <a:pt x="137628" y="160613"/>
                    <a:pt x="143995" y="149482"/>
                  </a:cubicBezTo>
                  <a:cubicBezTo>
                    <a:pt x="150996" y="136765"/>
                    <a:pt x="154469" y="122409"/>
                    <a:pt x="154047" y="107900"/>
                  </a:cubicBezTo>
                  <a:lnTo>
                    <a:pt x="154047" y="0"/>
                  </a:lnTo>
                  <a:lnTo>
                    <a:pt x="123174" y="0"/>
                  </a:lnTo>
                  <a:close/>
                </a:path>
              </a:pathLst>
            </a:custGeom>
            <a:grpFill/>
            <a:ln w="4485" cap="flat">
              <a:noFill/>
              <a:prstDash val="solid"/>
              <a:miter/>
            </a:ln>
          </p:spPr>
          <p:txBody>
            <a:bodyPr rtlCol="0" anchor="ctr"/>
            <a:lstStyle/>
            <a:p>
              <a:endParaRPr lang="es-ES_tradnl"/>
            </a:p>
          </p:txBody>
        </p:sp>
        <p:sp>
          <p:nvSpPr>
            <p:cNvPr id="53" name="Forma libre 201">
              <a:extLst>
                <a:ext uri="{FF2B5EF4-FFF2-40B4-BE49-F238E27FC236}">
                  <a16:creationId xmlns:a16="http://schemas.microsoft.com/office/drawing/2014/main" id="{6CEEB83E-713C-E918-9915-46BB2BC6634A}"/>
                </a:ext>
              </a:extLst>
            </p:cNvPr>
            <p:cNvSpPr/>
            <p:nvPr/>
          </p:nvSpPr>
          <p:spPr>
            <a:xfrm>
              <a:off x="11588738" y="676416"/>
              <a:ext cx="42330" cy="57807"/>
            </a:xfrm>
            <a:custGeom>
              <a:avLst/>
              <a:gdLst>
                <a:gd name="connsiteX0" fmla="*/ 137316 w 178264"/>
                <a:gd name="connsiteY0" fmla="*/ 11870 h 243441"/>
                <a:gd name="connsiteX1" fmla="*/ 94236 w 178264"/>
                <a:gd name="connsiteY1" fmla="*/ 40 h 243441"/>
                <a:gd name="connsiteX2" fmla="*/ 35900 w 178264"/>
                <a:gd name="connsiteY2" fmla="*/ 29614 h 243441"/>
                <a:gd name="connsiteX3" fmla="*/ 30874 w 178264"/>
                <a:gd name="connsiteY3" fmla="*/ 37814 h 243441"/>
                <a:gd name="connsiteX4" fmla="*/ 30874 w 178264"/>
                <a:gd name="connsiteY4" fmla="*/ 3266 h 243441"/>
                <a:gd name="connsiteX5" fmla="*/ 0 w 178264"/>
                <a:gd name="connsiteY5" fmla="*/ 3266 h 243441"/>
                <a:gd name="connsiteX6" fmla="*/ 0 w 178264"/>
                <a:gd name="connsiteY6" fmla="*/ 243442 h 243441"/>
                <a:gd name="connsiteX7" fmla="*/ 30874 w 178264"/>
                <a:gd name="connsiteY7" fmla="*/ 243442 h 243441"/>
                <a:gd name="connsiteX8" fmla="*/ 30874 w 178264"/>
                <a:gd name="connsiteY8" fmla="*/ 149343 h 243441"/>
                <a:gd name="connsiteX9" fmla="*/ 36079 w 178264"/>
                <a:gd name="connsiteY9" fmla="*/ 157767 h 243441"/>
                <a:gd name="connsiteX10" fmla="*/ 59952 w 178264"/>
                <a:gd name="connsiteY10" fmla="*/ 179275 h 243441"/>
                <a:gd name="connsiteX11" fmla="*/ 94057 w 178264"/>
                <a:gd name="connsiteY11" fmla="*/ 187341 h 243441"/>
                <a:gd name="connsiteX12" fmla="*/ 154009 w 178264"/>
                <a:gd name="connsiteY12" fmla="*/ 161173 h 243441"/>
                <a:gd name="connsiteX13" fmla="*/ 171959 w 178264"/>
                <a:gd name="connsiteY13" fmla="*/ 131419 h 243441"/>
                <a:gd name="connsiteX14" fmla="*/ 178241 w 178264"/>
                <a:gd name="connsiteY14" fmla="*/ 93422 h 243441"/>
                <a:gd name="connsiteX15" fmla="*/ 167292 w 178264"/>
                <a:gd name="connsiteY15" fmla="*/ 44670 h 243441"/>
                <a:gd name="connsiteX16" fmla="*/ 137316 w 178264"/>
                <a:gd name="connsiteY16" fmla="*/ 11870 h 243441"/>
                <a:gd name="connsiteX17" fmla="*/ 142880 w 178264"/>
                <a:gd name="connsiteY17" fmla="*/ 121562 h 243441"/>
                <a:gd name="connsiteX18" fmla="*/ 130854 w 178264"/>
                <a:gd name="connsiteY18" fmla="*/ 142353 h 243441"/>
                <a:gd name="connsiteX19" fmla="*/ 112186 w 178264"/>
                <a:gd name="connsiteY19" fmla="*/ 155258 h 243441"/>
                <a:gd name="connsiteX20" fmla="*/ 88851 w 178264"/>
                <a:gd name="connsiteY20" fmla="*/ 159739 h 243441"/>
                <a:gd name="connsiteX21" fmla="*/ 46669 w 178264"/>
                <a:gd name="connsiteY21" fmla="*/ 142353 h 243441"/>
                <a:gd name="connsiteX22" fmla="*/ 30335 w 178264"/>
                <a:gd name="connsiteY22" fmla="*/ 94139 h 243441"/>
                <a:gd name="connsiteX23" fmla="*/ 34822 w 178264"/>
                <a:gd name="connsiteY23" fmla="*/ 66536 h 243441"/>
                <a:gd name="connsiteX24" fmla="*/ 47028 w 178264"/>
                <a:gd name="connsiteY24" fmla="*/ 45745 h 243441"/>
                <a:gd name="connsiteX25" fmla="*/ 65517 w 178264"/>
                <a:gd name="connsiteY25" fmla="*/ 32661 h 243441"/>
                <a:gd name="connsiteX26" fmla="*/ 89031 w 178264"/>
                <a:gd name="connsiteY26" fmla="*/ 28180 h 243441"/>
                <a:gd name="connsiteX27" fmla="*/ 130854 w 178264"/>
                <a:gd name="connsiteY27" fmla="*/ 45745 h 243441"/>
                <a:gd name="connsiteX28" fmla="*/ 147188 w 178264"/>
                <a:gd name="connsiteY28" fmla="*/ 94139 h 243441"/>
                <a:gd name="connsiteX29" fmla="*/ 142656 w 178264"/>
                <a:gd name="connsiteY29" fmla="*/ 121562 h 2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264" h="243441">
                  <a:moveTo>
                    <a:pt x="137316" y="11870"/>
                  </a:moveTo>
                  <a:cubicBezTo>
                    <a:pt x="124374" y="3916"/>
                    <a:pt x="109431" y="-188"/>
                    <a:pt x="94236" y="40"/>
                  </a:cubicBezTo>
                  <a:cubicBezTo>
                    <a:pt x="70996" y="-757"/>
                    <a:pt x="48971" y="10409"/>
                    <a:pt x="35900" y="29614"/>
                  </a:cubicBezTo>
                  <a:cubicBezTo>
                    <a:pt x="34078" y="32253"/>
                    <a:pt x="32399" y="34991"/>
                    <a:pt x="30874" y="37814"/>
                  </a:cubicBezTo>
                  <a:lnTo>
                    <a:pt x="30874" y="3266"/>
                  </a:lnTo>
                  <a:lnTo>
                    <a:pt x="0" y="3266"/>
                  </a:lnTo>
                  <a:lnTo>
                    <a:pt x="0" y="243442"/>
                  </a:lnTo>
                  <a:lnTo>
                    <a:pt x="30874" y="243442"/>
                  </a:lnTo>
                  <a:lnTo>
                    <a:pt x="30874" y="149343"/>
                  </a:lnTo>
                  <a:cubicBezTo>
                    <a:pt x="32462" y="152242"/>
                    <a:pt x="34199" y="155052"/>
                    <a:pt x="36079" y="157767"/>
                  </a:cubicBezTo>
                  <a:cubicBezTo>
                    <a:pt x="42317" y="166635"/>
                    <a:pt x="50479" y="173988"/>
                    <a:pt x="59952" y="179275"/>
                  </a:cubicBezTo>
                  <a:cubicBezTo>
                    <a:pt x="70426" y="184872"/>
                    <a:pt x="82179" y="187650"/>
                    <a:pt x="94057" y="187341"/>
                  </a:cubicBezTo>
                  <a:cubicBezTo>
                    <a:pt x="116880" y="187623"/>
                    <a:pt x="138716" y="178092"/>
                    <a:pt x="154009" y="161173"/>
                  </a:cubicBezTo>
                  <a:cubicBezTo>
                    <a:pt x="161912" y="152542"/>
                    <a:pt x="168015" y="142429"/>
                    <a:pt x="171959" y="131419"/>
                  </a:cubicBezTo>
                  <a:cubicBezTo>
                    <a:pt x="176263" y="119218"/>
                    <a:pt x="178390" y="106358"/>
                    <a:pt x="178241" y="93422"/>
                  </a:cubicBezTo>
                  <a:cubicBezTo>
                    <a:pt x="178600" y="76524"/>
                    <a:pt x="174840" y="59797"/>
                    <a:pt x="167292" y="44670"/>
                  </a:cubicBezTo>
                  <a:cubicBezTo>
                    <a:pt x="160493" y="31205"/>
                    <a:pt x="150123" y="19859"/>
                    <a:pt x="137316" y="11870"/>
                  </a:cubicBezTo>
                  <a:close/>
                  <a:moveTo>
                    <a:pt x="142880" y="121562"/>
                  </a:moveTo>
                  <a:cubicBezTo>
                    <a:pt x="140376" y="129255"/>
                    <a:pt x="136275" y="136340"/>
                    <a:pt x="130854" y="142353"/>
                  </a:cubicBezTo>
                  <a:cubicBezTo>
                    <a:pt x="125698" y="148021"/>
                    <a:pt x="119312" y="152435"/>
                    <a:pt x="112186" y="155258"/>
                  </a:cubicBezTo>
                  <a:cubicBezTo>
                    <a:pt x="104768" y="158233"/>
                    <a:pt x="96848" y="159757"/>
                    <a:pt x="88851" y="159739"/>
                  </a:cubicBezTo>
                  <a:cubicBezTo>
                    <a:pt x="72944" y="160267"/>
                    <a:pt x="57574" y="153932"/>
                    <a:pt x="46669" y="142353"/>
                  </a:cubicBezTo>
                  <a:cubicBezTo>
                    <a:pt x="35778" y="130761"/>
                    <a:pt x="30335" y="114692"/>
                    <a:pt x="30335" y="94139"/>
                  </a:cubicBezTo>
                  <a:cubicBezTo>
                    <a:pt x="30245" y="84751"/>
                    <a:pt x="31762" y="75413"/>
                    <a:pt x="34822" y="66536"/>
                  </a:cubicBezTo>
                  <a:cubicBezTo>
                    <a:pt x="37434" y="58852"/>
                    <a:pt x="41585" y="51776"/>
                    <a:pt x="47028" y="45745"/>
                  </a:cubicBezTo>
                  <a:cubicBezTo>
                    <a:pt x="52162" y="40090"/>
                    <a:pt x="58471" y="35623"/>
                    <a:pt x="65517" y="32661"/>
                  </a:cubicBezTo>
                  <a:cubicBezTo>
                    <a:pt x="72970" y="29587"/>
                    <a:pt x="80967" y="28064"/>
                    <a:pt x="89031" y="28180"/>
                  </a:cubicBezTo>
                  <a:cubicBezTo>
                    <a:pt x="104867" y="27678"/>
                    <a:pt x="120138" y="34090"/>
                    <a:pt x="130854" y="45745"/>
                  </a:cubicBezTo>
                  <a:cubicBezTo>
                    <a:pt x="141745" y="57454"/>
                    <a:pt x="147188" y="73585"/>
                    <a:pt x="147188" y="94139"/>
                  </a:cubicBezTo>
                  <a:cubicBezTo>
                    <a:pt x="147166" y="103463"/>
                    <a:pt x="145636" y="112725"/>
                    <a:pt x="142656" y="121562"/>
                  </a:cubicBezTo>
                  <a:close/>
                </a:path>
              </a:pathLst>
            </a:custGeom>
            <a:grpFill/>
            <a:ln w="4485" cap="flat">
              <a:noFill/>
              <a:prstDash val="solid"/>
              <a:miter/>
            </a:ln>
          </p:spPr>
          <p:txBody>
            <a:bodyPr rtlCol="0" anchor="ctr"/>
            <a:lstStyle/>
            <a:p>
              <a:endParaRPr lang="es-ES_tradnl"/>
            </a:p>
          </p:txBody>
        </p:sp>
      </p:grpSp>
    </p:spTree>
    <p:extLst>
      <p:ext uri="{BB962C8B-B14F-4D97-AF65-F5344CB8AC3E}">
        <p14:creationId xmlns:p14="http://schemas.microsoft.com/office/powerpoint/2010/main" val="253493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olo el título">
    <p:spTree>
      <p:nvGrpSpPr>
        <p:cNvPr id="1" name=""/>
        <p:cNvGrpSpPr/>
        <p:nvPr/>
      </p:nvGrpSpPr>
      <p:grpSpPr>
        <a:xfrm>
          <a:off x="0" y="0"/>
          <a:ext cx="0" cy="0"/>
          <a:chOff x="0" y="0"/>
          <a:chExt cx="0" cy="0"/>
        </a:xfrm>
      </p:grpSpPr>
      <p:sp>
        <p:nvSpPr>
          <p:cNvPr id="3" name="Title Placeholder 3">
            <a:extLst>
              <a:ext uri="{FF2B5EF4-FFF2-40B4-BE49-F238E27FC236}">
                <a16:creationId xmlns:a16="http://schemas.microsoft.com/office/drawing/2014/main" id="{773090A3-74B6-DF5E-A131-0EF985A1679F}"/>
              </a:ext>
            </a:extLst>
          </p:cNvPr>
          <p:cNvSpPr>
            <a:spLocks noGrp="1"/>
          </p:cNvSpPr>
          <p:nvPr>
            <p:ph type="title" hasCustomPrompt="1"/>
          </p:nvPr>
        </p:nvSpPr>
        <p:spPr>
          <a:xfrm>
            <a:off x="406797" y="177981"/>
            <a:ext cx="9900000" cy="607923"/>
          </a:xfrm>
          <a:prstGeom prst="rect">
            <a:avLst/>
          </a:prstGeom>
        </p:spPr>
        <p:txBody>
          <a:bodyPr vert="horz" wrap="square" lIns="0" tIns="0" rIns="0" bIns="0" rtlCol="0" anchor="ctr" anchorCtr="0">
            <a:normAutofit/>
          </a:bodyPr>
          <a:lstStyle/>
          <a:p>
            <a:r>
              <a:rPr lang="en-GB"/>
              <a:t>Click to edit Master title style</a:t>
            </a:r>
            <a:endParaRPr lang="en-US"/>
          </a:p>
        </p:txBody>
      </p:sp>
      <p:cxnSp>
        <p:nvCxnSpPr>
          <p:cNvPr id="4" name="Conector recto 17">
            <a:extLst>
              <a:ext uri="{FF2B5EF4-FFF2-40B4-BE49-F238E27FC236}">
                <a16:creationId xmlns:a16="http://schemas.microsoft.com/office/drawing/2014/main" id="{7352B342-758D-90F1-1F6E-053615DDDFBE}"/>
              </a:ext>
            </a:extLst>
          </p:cNvPr>
          <p:cNvCxnSpPr>
            <a:cxnSpLocks/>
          </p:cNvCxnSpPr>
          <p:nvPr/>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8E89A2A1-9695-51D6-2AD0-E50B5DA31AB8}"/>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69A5F484-45B8-1D32-A00D-62D6388DBF57}"/>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88EA87F-442A-1DEA-ED09-D789A210C667}"/>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7A924F3-C25A-68F3-343F-BC9BE859CE72}"/>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363103628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47426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En blanco">
    <p:bg>
      <p:bgPr>
        <a:solidFill>
          <a:schemeClr val="accent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bg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372D40F3-6AC0-4E0D-6658-B6800E244182}"/>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68DD6422-493C-7CBE-066B-9893B9E5E49C}"/>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354E3BB0-40B3-EFED-1429-C62D43D3E1C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CB681BA-A363-8B0A-30F4-8805E2AAA62E}"/>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3932570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ítulo y tex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lvl1pPr>
              <a:defRPr>
                <a:solidFill>
                  <a:schemeClr val="tx1"/>
                </a:solidFill>
              </a:defRPr>
            </a:lvl1pPr>
            <a:lvl2pPr>
              <a:defRPr/>
            </a:lvl2pPr>
            <a:lvl3pPr>
              <a:defRPr>
                <a:solidFill>
                  <a:schemeClr val="tx1"/>
                </a:solidFill>
              </a:defRPr>
            </a:lvl3pPr>
            <a:lvl4pPr>
              <a:defRPr>
                <a:solidFill>
                  <a:schemeClr val="tx1"/>
                </a:solidFill>
              </a:defRPr>
            </a:lvl4pPr>
            <a:lvl5pPr>
              <a:defRPr>
                <a:solidFill>
                  <a:schemeClr val="tx1"/>
                </a:solidFill>
              </a:defRPr>
            </a:lvl5pPr>
          </a:lstStyle>
          <a:p>
            <a:pPr lvl="0"/>
            <a:r>
              <a:rPr lang="es-ES"/>
              <a:t>Click to edit</a:t>
            </a:r>
          </a:p>
          <a:p>
            <a:pPr lvl="1"/>
            <a:r>
              <a:rPr lang="es-ES" err="1"/>
              <a:t>Second</a:t>
            </a:r>
            <a:r>
              <a:rPr lang="es-ES"/>
              <a:t> </a:t>
            </a:r>
            <a:r>
              <a:rPr lang="es-ES" err="1"/>
              <a:t>level</a:t>
            </a:r>
            <a:endParaRPr lang="es-ES"/>
          </a:p>
          <a:p>
            <a:pPr lvl="2"/>
            <a:r>
              <a:rPr lang="es-ES"/>
              <a:t>Tercer nivel</a:t>
            </a:r>
          </a:p>
          <a:p>
            <a:pPr lvl="3"/>
            <a:r>
              <a:rPr lang="es-ES"/>
              <a:t>Cuarto nivel</a:t>
            </a:r>
          </a:p>
          <a:p>
            <a:pPr lvl="4"/>
            <a:r>
              <a:rPr lang="es-ES"/>
              <a:t>Quinto nivel</a:t>
            </a:r>
            <a:endParaRPr lang="en-US"/>
          </a:p>
        </p:txBody>
      </p:sp>
      <p:cxnSp>
        <p:nvCxnSpPr>
          <p:cNvPr id="3" name="Conector recto 17">
            <a:extLst>
              <a:ext uri="{FF2B5EF4-FFF2-40B4-BE49-F238E27FC236}">
                <a16:creationId xmlns:a16="http://schemas.microsoft.com/office/drawing/2014/main" id="{5C664801-B3C8-5E17-4F8D-85E111177931}"/>
              </a:ext>
            </a:extLst>
          </p:cNvPr>
          <p:cNvCxnSpPr>
            <a:cxnSpLocks/>
          </p:cNvCxnSpPr>
          <p:nvPr/>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8DE484A6-BB38-C8AC-340C-699A5F75C845}"/>
              </a:ext>
            </a:extLst>
          </p:cNvPr>
          <p:cNvGrpSpPr/>
          <p:nvPr/>
        </p:nvGrpSpPr>
        <p:grpSpPr>
          <a:xfrm>
            <a:off x="11064803" y="243963"/>
            <a:ext cx="473773" cy="432461"/>
            <a:chOff x="5465909" y="2845257"/>
            <a:chExt cx="729516" cy="665904"/>
          </a:xfrm>
        </p:grpSpPr>
        <p:sp>
          <p:nvSpPr>
            <p:cNvPr id="7" name="Forma libre: forma 6">
              <a:extLst>
                <a:ext uri="{FF2B5EF4-FFF2-40B4-BE49-F238E27FC236}">
                  <a16:creationId xmlns:a16="http://schemas.microsoft.com/office/drawing/2014/main" id="{D6ACC7E6-A9A9-5703-61DB-F5120C5F5821}"/>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0B26A476-A661-9EEA-88E5-C37B4AF51D0C}"/>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E33A3553-7990-D336-230B-E752D05BEBC1}"/>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
        <p:nvSpPr>
          <p:cNvPr id="4" name="Title Placeholder 3">
            <a:extLst>
              <a:ext uri="{FF2B5EF4-FFF2-40B4-BE49-F238E27FC236}">
                <a16:creationId xmlns:a16="http://schemas.microsoft.com/office/drawing/2014/main" id="{DBD61F04-BEBE-0BA2-6231-CDE2E0F6ED25}"/>
              </a:ext>
            </a:extLst>
          </p:cNvPr>
          <p:cNvSpPr>
            <a:spLocks noGrp="1"/>
          </p:cNvSpPr>
          <p:nvPr>
            <p:ph type="title" hasCustomPrompt="1"/>
          </p:nvPr>
        </p:nvSpPr>
        <p:spPr>
          <a:xfrm>
            <a:off x="406797" y="177981"/>
            <a:ext cx="9900000" cy="607923"/>
          </a:xfrm>
          <a:prstGeom prst="rect">
            <a:avLst/>
          </a:prstGeom>
        </p:spPr>
        <p:txBody>
          <a:bodyPr vert="horz" wrap="square" lIns="0" tIns="0" rIns="0" bIns="0" rtlCol="0" anchor="ctr" anchorCtr="0">
            <a:normAutofit/>
          </a:bodyPr>
          <a:lstStyle/>
          <a:p>
            <a:r>
              <a:rPr lang="en-GB"/>
              <a:t>Click to edit Master title style</a:t>
            </a:r>
            <a:endParaRPr lang="en-US"/>
          </a:p>
        </p:txBody>
      </p:sp>
    </p:spTree>
    <p:extLst>
      <p:ext uri="{BB962C8B-B14F-4D97-AF65-F5344CB8AC3E}">
        <p14:creationId xmlns:p14="http://schemas.microsoft.com/office/powerpoint/2010/main" val="2988788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able">
    <p:spTree>
      <p:nvGrpSpPr>
        <p:cNvPr id="1" name=""/>
        <p:cNvGrpSpPr/>
        <p:nvPr/>
      </p:nvGrpSpPr>
      <p:grpSpPr>
        <a:xfrm>
          <a:off x="0" y="0"/>
          <a:ext cx="0" cy="0"/>
          <a:chOff x="0" y="0"/>
          <a:chExt cx="0" cy="0"/>
        </a:xfrm>
      </p:grpSpPr>
      <p:sp>
        <p:nvSpPr>
          <p:cNvPr id="6" name="9 Marcador de texto">
            <a:extLst>
              <a:ext uri="{FF2B5EF4-FFF2-40B4-BE49-F238E27FC236}">
                <a16:creationId xmlns:a16="http://schemas.microsoft.com/office/drawing/2014/main" id="{C5730698-EE2F-48E6-829A-0F1E5E6BE097}"/>
              </a:ext>
            </a:extLst>
          </p:cNvPr>
          <p:cNvSpPr>
            <a:spLocks noGrp="1"/>
          </p:cNvSpPr>
          <p:nvPr>
            <p:ph type="body" sz="quarter" idx="13" hasCustomPrompt="1"/>
          </p:nvPr>
        </p:nvSpPr>
        <p:spPr>
          <a:xfrm>
            <a:off x="413156" y="6454774"/>
            <a:ext cx="4515526" cy="403225"/>
          </a:xfrm>
          <a:prstGeom prst="rect">
            <a:avLst/>
          </a:prstGeom>
        </p:spPr>
        <p:txBody>
          <a:bodyPr lIns="0" tIns="0" rIns="0" bIns="0" anchor="t" anchorCtr="0"/>
          <a:lstStyle>
            <a:lvl1pPr marL="0" indent="0">
              <a:buNone/>
              <a:defRPr kumimoji="0" lang="en-GB" sz="800" b="0" i="1" u="none" strike="noStrike" kern="1200" cap="none" spc="0" normalizeH="0" baseline="0" dirty="0">
                <a:ln>
                  <a:noFill/>
                </a:ln>
                <a:solidFill>
                  <a:schemeClr val="tx1"/>
                </a:solidFill>
                <a:effectLst/>
                <a:uLnTx/>
                <a:uFillTx/>
                <a:latin typeface="+mn-lt"/>
                <a:ea typeface="IberPangea Text Light" panose="020B0404000000000000" pitchFamily="34" charset="0"/>
                <a:cs typeface="IberPangea Text Light" panose="020B0404000000000000" pitchFamily="34" charset="0"/>
              </a:defRPr>
            </a:lvl1pPr>
            <a:lvl2pPr>
              <a:defRPr>
                <a:solidFill>
                  <a:srgbClr val="6B882B"/>
                </a:solidFill>
              </a:defRPr>
            </a:lvl2pPr>
            <a:lvl3pPr>
              <a:defRPr>
                <a:solidFill>
                  <a:srgbClr val="6B882B"/>
                </a:solidFill>
              </a:defRPr>
            </a:lvl3pPr>
            <a:lvl4pPr>
              <a:defRPr>
                <a:solidFill>
                  <a:srgbClr val="6B882B"/>
                </a:solidFill>
              </a:defRPr>
            </a:lvl4pPr>
            <a:lvl5pPr>
              <a:defRPr>
                <a:solidFill>
                  <a:srgbClr val="6B882B"/>
                </a:solidFill>
              </a:defRPr>
            </a:lvl5pPr>
          </a:lstStyle>
          <a:p>
            <a:pPr lvl="0"/>
            <a:r>
              <a:rPr lang="es-ES"/>
              <a:t>* </a:t>
            </a:r>
            <a:r>
              <a:rPr lang="es-ES" err="1"/>
              <a:t>Click</a:t>
            </a:r>
            <a:r>
              <a:rPr lang="es-ES"/>
              <a:t> </a:t>
            </a:r>
            <a:r>
              <a:rPr lang="es-ES" err="1"/>
              <a:t>for</a:t>
            </a:r>
            <a:r>
              <a:rPr lang="es-ES"/>
              <a:t> </a:t>
            </a:r>
            <a:r>
              <a:rPr lang="es-ES" err="1"/>
              <a:t>clarification</a:t>
            </a:r>
            <a:r>
              <a:rPr lang="es-ES"/>
              <a:t> </a:t>
            </a:r>
            <a:r>
              <a:rPr lang="es-ES" err="1"/>
              <a:t>footer</a:t>
            </a:r>
            <a:endParaRPr lang="en-GB"/>
          </a:p>
        </p:txBody>
      </p:sp>
      <p:sp>
        <p:nvSpPr>
          <p:cNvPr id="4" name="Table Placeholder 3">
            <a:extLst>
              <a:ext uri="{FF2B5EF4-FFF2-40B4-BE49-F238E27FC236}">
                <a16:creationId xmlns:a16="http://schemas.microsoft.com/office/drawing/2014/main" id="{2DB61EA2-395B-CDBE-0DDB-9404BE58EC2B}"/>
              </a:ext>
            </a:extLst>
          </p:cNvPr>
          <p:cNvSpPr>
            <a:spLocks noGrp="1"/>
          </p:cNvSpPr>
          <p:nvPr>
            <p:ph type="tbl" sz="quarter" idx="17" hasCustomPrompt="1"/>
          </p:nvPr>
        </p:nvSpPr>
        <p:spPr>
          <a:xfrm>
            <a:off x="412750" y="1147484"/>
            <a:ext cx="11372850" cy="5162829"/>
          </a:xfrm>
          <a:prstGeom prst="rect">
            <a:avLst/>
          </a:prstGeom>
        </p:spPr>
        <p:txBody>
          <a:bodyPr/>
          <a:lstStyle>
            <a:lvl1pPr>
              <a:defRPr/>
            </a:lvl1pPr>
          </a:lstStyle>
          <a:p>
            <a:r>
              <a:rPr lang="en-US"/>
              <a:t>Table</a:t>
            </a:r>
          </a:p>
        </p:txBody>
      </p:sp>
      <p:cxnSp>
        <p:nvCxnSpPr>
          <p:cNvPr id="5" name="Conector recto 17">
            <a:extLst>
              <a:ext uri="{FF2B5EF4-FFF2-40B4-BE49-F238E27FC236}">
                <a16:creationId xmlns:a16="http://schemas.microsoft.com/office/drawing/2014/main" id="{1B895156-2C9D-A9A9-A8BB-3CF98D4CD3A7}"/>
              </a:ext>
            </a:extLst>
          </p:cNvPr>
          <p:cNvCxnSpPr>
            <a:cxnSpLocks/>
          </p:cNvCxnSpPr>
          <p:nvPr/>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Grupo 6">
            <a:extLst>
              <a:ext uri="{FF2B5EF4-FFF2-40B4-BE49-F238E27FC236}">
                <a16:creationId xmlns:a16="http://schemas.microsoft.com/office/drawing/2014/main" id="{79465595-73B3-2AA9-988D-478062B34F80}"/>
              </a:ext>
            </a:extLst>
          </p:cNvPr>
          <p:cNvGrpSpPr/>
          <p:nvPr/>
        </p:nvGrpSpPr>
        <p:grpSpPr>
          <a:xfrm>
            <a:off x="11064803" y="243963"/>
            <a:ext cx="473773" cy="432461"/>
            <a:chOff x="5465909" y="2845257"/>
            <a:chExt cx="729516" cy="665904"/>
          </a:xfrm>
        </p:grpSpPr>
        <p:sp>
          <p:nvSpPr>
            <p:cNvPr id="8" name="Forma libre: forma 7">
              <a:extLst>
                <a:ext uri="{FF2B5EF4-FFF2-40B4-BE49-F238E27FC236}">
                  <a16:creationId xmlns:a16="http://schemas.microsoft.com/office/drawing/2014/main" id="{A4B250A7-A421-CFF5-2F45-44B7BCA98CE8}"/>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66FC0EAF-680B-DD87-1D4E-4E8B1FB311F4}"/>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8A685DCA-9752-3552-C2F9-C20E737E9E29}"/>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
        <p:nvSpPr>
          <p:cNvPr id="2" name="Title Placeholder 3">
            <a:extLst>
              <a:ext uri="{FF2B5EF4-FFF2-40B4-BE49-F238E27FC236}">
                <a16:creationId xmlns:a16="http://schemas.microsoft.com/office/drawing/2014/main" id="{51AE766C-E019-C15B-4909-7460876C7573}"/>
              </a:ext>
            </a:extLst>
          </p:cNvPr>
          <p:cNvSpPr>
            <a:spLocks noGrp="1"/>
          </p:cNvSpPr>
          <p:nvPr>
            <p:ph type="title" hasCustomPrompt="1"/>
          </p:nvPr>
        </p:nvSpPr>
        <p:spPr>
          <a:xfrm>
            <a:off x="406797" y="177981"/>
            <a:ext cx="9900000" cy="607923"/>
          </a:xfrm>
          <a:prstGeom prst="rect">
            <a:avLst/>
          </a:prstGeom>
        </p:spPr>
        <p:txBody>
          <a:bodyPr vert="horz" wrap="square" lIns="0" tIns="0" rIns="0" bIns="0" rtlCol="0" anchor="ctr" anchorCtr="0">
            <a:normAutofit/>
          </a:bodyPr>
          <a:lstStyle/>
          <a:p>
            <a:r>
              <a:rPr lang="en-GB"/>
              <a:t>Click to edit Master title style</a:t>
            </a:r>
            <a:endParaRPr lang="en-US"/>
          </a:p>
        </p:txBody>
      </p:sp>
    </p:spTree>
    <p:extLst>
      <p:ext uri="{BB962C8B-B14F-4D97-AF65-F5344CB8AC3E}">
        <p14:creationId xmlns:p14="http://schemas.microsoft.com/office/powerpoint/2010/main" val="376581242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Without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583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Future Blue">
    <p:bg>
      <p:bgPr>
        <a:solidFill>
          <a:srgbClr val="0072BC"/>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2A4A4756-BF09-2DAA-9B2B-7274ADF973F2}"/>
              </a:ext>
            </a:extLst>
          </p:cNvPr>
          <p:cNvSpPr/>
          <p:nvPr userDrawn="1"/>
        </p:nvSpPr>
        <p:spPr bwMode="black">
          <a:xfrm>
            <a:off x="3403471" y="2880360"/>
            <a:ext cx="5385060" cy="1097280"/>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rgbClr val="FFFFFF"/>
          </a:solidFill>
          <a:ln w="7639" cap="flat">
            <a:noFill/>
            <a:prstDash val="solid"/>
            <a:miter/>
          </a:ln>
        </p:spPr>
        <p:txBody>
          <a:bodyPr rtlCol="0" anchor="ctr"/>
          <a:lstStyle/>
          <a:p>
            <a:endParaRPr lang="en-US" sz="1800"/>
          </a:p>
        </p:txBody>
      </p:sp>
    </p:spTree>
    <p:extLst>
      <p:ext uri="{BB962C8B-B14F-4D97-AF65-F5344CB8AC3E}">
        <p14:creationId xmlns:p14="http://schemas.microsoft.com/office/powerpoint/2010/main" val="3199181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slideLayout" Target="../slideLayouts/slideLayout31.xml"/><Relationship Id="rId1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EEB6E8-1840-1DF0-1E5E-A4AEA799F050}"/>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sp>
        <p:nvSpPr>
          <p:cNvPr id="4" name="MSIPCMContentMarking" descr="{&quot;HashCode&quot;:1231056682,&quot;Placement&quot;:&quot;Footer&quot;,&quot;Top&quot;:516.65155,&quot;Left&quot;:437.819916,&quot;SlideWidth&quot;:960,&quot;SlideHeight&quot;:540}">
            <a:extLst>
              <a:ext uri="{FF2B5EF4-FFF2-40B4-BE49-F238E27FC236}">
                <a16:creationId xmlns:a16="http://schemas.microsoft.com/office/drawing/2014/main" id="{075F8B20-B5BE-EF50-EE65-77912B09B327}"/>
              </a:ext>
            </a:extLst>
          </p:cNvPr>
          <p:cNvSpPr txBox="1"/>
          <p:nvPr/>
        </p:nvSpPr>
        <p:spPr>
          <a:xfrm>
            <a:off x="5560313" y="6561475"/>
            <a:ext cx="1071374" cy="296525"/>
          </a:xfrm>
          <a:prstGeom prst="rect">
            <a:avLst/>
          </a:prstGeom>
          <a:noFill/>
        </p:spPr>
        <p:txBody>
          <a:bodyPr vert="horz" wrap="square" lIns="0" tIns="0" rIns="0" bIns="0" rtlCol="0" anchor="ctr" anchorCtr="1">
            <a:noAutofit/>
          </a:bodyPr>
          <a:lstStyle/>
          <a:p>
            <a:pPr algn="ctr">
              <a:spcBef>
                <a:spcPct val="0"/>
              </a:spcBef>
              <a:spcAft>
                <a:spcPct val="0"/>
              </a:spcAft>
            </a:pPr>
            <a:r>
              <a:rPr lang="es-ES" sz="1200">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rPr>
              <a:t>Internal Use</a:t>
            </a:r>
            <a:endParaRPr lang="es-ES" sz="1200" err="1">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endParaRPr>
          </a:p>
        </p:txBody>
      </p:sp>
    </p:spTree>
    <p:extLst>
      <p:ext uri="{BB962C8B-B14F-4D97-AF65-F5344CB8AC3E}">
        <p14:creationId xmlns:p14="http://schemas.microsoft.com/office/powerpoint/2010/main" val="27931741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8" r:id="rId16"/>
    <p:sldLayoutId id="2147483709" r:id="rId17"/>
  </p:sldLayoutIdLst>
  <p:txStyles>
    <p:titleStyle>
      <a:lvl1pPr algn="l" rtl="0" eaLnBrk="1" fontAlgn="base" hangingPunct="1">
        <a:lnSpc>
          <a:spcPct val="85000"/>
        </a:lnSpc>
        <a:spcBef>
          <a:spcPct val="0"/>
        </a:spcBef>
        <a:spcAft>
          <a:spcPct val="0"/>
        </a:spcAft>
        <a:defRPr sz="2300" b="1" i="0" kern="1200">
          <a:solidFill>
            <a:schemeClr val="accent1"/>
          </a:solidFill>
          <a:latin typeface="+mj-lt"/>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799">
          <a:solidFill>
            <a:schemeClr val="tx1"/>
          </a:solidFill>
          <a:latin typeface="Arial" pitchFamily="2" charset="77"/>
        </a:defRPr>
      </a:lvl2pPr>
      <a:lvl3pPr algn="l" rtl="0" eaLnBrk="1" fontAlgn="base" hangingPunct="1">
        <a:lnSpc>
          <a:spcPct val="90000"/>
        </a:lnSpc>
        <a:spcBef>
          <a:spcPct val="0"/>
        </a:spcBef>
        <a:spcAft>
          <a:spcPct val="0"/>
        </a:spcAft>
        <a:defRPr sz="8799">
          <a:solidFill>
            <a:schemeClr val="tx1"/>
          </a:solidFill>
          <a:latin typeface="Arial" pitchFamily="2" charset="77"/>
        </a:defRPr>
      </a:lvl3pPr>
      <a:lvl4pPr algn="l" rtl="0" eaLnBrk="1" fontAlgn="base" hangingPunct="1">
        <a:lnSpc>
          <a:spcPct val="90000"/>
        </a:lnSpc>
        <a:spcBef>
          <a:spcPct val="0"/>
        </a:spcBef>
        <a:spcAft>
          <a:spcPct val="0"/>
        </a:spcAft>
        <a:defRPr sz="8799">
          <a:solidFill>
            <a:schemeClr val="tx1"/>
          </a:solidFill>
          <a:latin typeface="Arial" pitchFamily="2" charset="77"/>
        </a:defRPr>
      </a:lvl4pPr>
      <a:lvl5pPr algn="l" rtl="0" eaLnBrk="1" fontAlgn="base" hangingPunct="1">
        <a:lnSpc>
          <a:spcPct val="90000"/>
        </a:lnSpc>
        <a:spcBef>
          <a:spcPct val="0"/>
        </a:spcBef>
        <a:spcAft>
          <a:spcPct val="0"/>
        </a:spcAft>
        <a:defRPr sz="8799">
          <a:solidFill>
            <a:schemeClr val="tx1"/>
          </a:solidFill>
          <a:latin typeface="Arial" pitchFamily="2" charset="77"/>
        </a:defRPr>
      </a:lvl5pPr>
      <a:lvl6pPr marL="914275" algn="l" rtl="0" eaLnBrk="1" fontAlgn="base" hangingPunct="1">
        <a:lnSpc>
          <a:spcPct val="90000"/>
        </a:lnSpc>
        <a:spcBef>
          <a:spcPct val="0"/>
        </a:spcBef>
        <a:spcAft>
          <a:spcPct val="0"/>
        </a:spcAft>
        <a:defRPr sz="8799">
          <a:solidFill>
            <a:schemeClr val="tx1"/>
          </a:solidFill>
          <a:latin typeface="Arial" pitchFamily="2" charset="77"/>
        </a:defRPr>
      </a:lvl6pPr>
      <a:lvl7pPr marL="1828549" algn="l" rtl="0" eaLnBrk="1" fontAlgn="base" hangingPunct="1">
        <a:lnSpc>
          <a:spcPct val="90000"/>
        </a:lnSpc>
        <a:spcBef>
          <a:spcPct val="0"/>
        </a:spcBef>
        <a:spcAft>
          <a:spcPct val="0"/>
        </a:spcAft>
        <a:defRPr sz="8799">
          <a:solidFill>
            <a:schemeClr val="tx1"/>
          </a:solidFill>
          <a:latin typeface="Arial" pitchFamily="2" charset="77"/>
        </a:defRPr>
      </a:lvl7pPr>
      <a:lvl8pPr marL="2742823" algn="l" rtl="0" eaLnBrk="1" fontAlgn="base" hangingPunct="1">
        <a:lnSpc>
          <a:spcPct val="90000"/>
        </a:lnSpc>
        <a:spcBef>
          <a:spcPct val="0"/>
        </a:spcBef>
        <a:spcAft>
          <a:spcPct val="0"/>
        </a:spcAft>
        <a:defRPr sz="8799">
          <a:solidFill>
            <a:schemeClr val="tx1"/>
          </a:solidFill>
          <a:latin typeface="Arial" pitchFamily="2" charset="77"/>
        </a:defRPr>
      </a:lvl8pPr>
      <a:lvl9pPr marL="3657097" algn="l" rtl="0" eaLnBrk="1" fontAlgn="base" hangingPunct="1">
        <a:lnSpc>
          <a:spcPct val="90000"/>
        </a:lnSpc>
        <a:spcBef>
          <a:spcPct val="0"/>
        </a:spcBef>
        <a:spcAft>
          <a:spcPct val="0"/>
        </a:spcAft>
        <a:defRPr sz="8799">
          <a:solidFill>
            <a:schemeClr val="tx1"/>
          </a:solidFill>
          <a:latin typeface="Arial" pitchFamily="2" charset="77"/>
        </a:defRPr>
      </a:lvl9pPr>
    </p:titleStyle>
    <p:bodyStyle>
      <a:lvl1pPr marL="0" indent="0" algn="l" defTabSz="331171" rtl="0" eaLnBrk="1" fontAlgn="base" hangingPunct="1">
        <a:lnSpc>
          <a:spcPct val="120000"/>
        </a:lnSpc>
        <a:spcBef>
          <a:spcPts val="0"/>
        </a:spcBef>
        <a:spcAft>
          <a:spcPts val="600"/>
        </a:spcAft>
        <a:buClr>
          <a:schemeClr val="tx1"/>
        </a:buClr>
        <a:buFontTx/>
        <a:buNone/>
        <a:defRPr sz="1100" b="0" i="0" kern="1200">
          <a:solidFill>
            <a:schemeClr val="tx1"/>
          </a:solidFill>
          <a:latin typeface="+mn-lt"/>
          <a:ea typeface="IberPangea Text Light" panose="020B0404000000000000" pitchFamily="34" charset="0"/>
          <a:cs typeface="IberPangea Text Light" panose="020B0404000000000000" pitchFamily="34" charset="0"/>
        </a:defRPr>
      </a:lvl1pPr>
      <a:lvl2pPr marL="0" indent="0" algn="l" defTabSz="331171" rtl="0" eaLnBrk="1" fontAlgn="base" hangingPunct="1">
        <a:lnSpc>
          <a:spcPct val="120000"/>
        </a:lnSpc>
        <a:spcBef>
          <a:spcPts val="0"/>
        </a:spcBef>
        <a:spcAft>
          <a:spcPts val="0"/>
        </a:spcAft>
        <a:buClr>
          <a:schemeClr val="tx1"/>
        </a:buClr>
        <a:buFont typeface="Arial"/>
        <a:buNone/>
        <a:tabLst/>
        <a:defRPr sz="1100" b="1" i="0" kern="1200">
          <a:solidFill>
            <a:schemeClr val="accent1"/>
          </a:solidFill>
          <a:latin typeface="+mn-lt"/>
          <a:ea typeface="IberPangea Text SmBold" panose="020B0504000000000000" pitchFamily="34" charset="0"/>
          <a:cs typeface="IberPangea Text SmBold" panose="020B0504000000000000" pitchFamily="34" charset="0"/>
        </a:defRPr>
      </a:lvl2pPr>
      <a:lvl3pPr marL="111125" indent="-107950" algn="l" defTabSz="331171"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3pPr>
      <a:lvl4pPr marL="231775" indent="-115888" algn="l"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4pPr>
      <a:lvl5pPr marL="357188" indent="-120650" algn="l" rtl="0" eaLnBrk="1" fontAlgn="base" hangingPunct="1">
        <a:lnSpc>
          <a:spcPct val="120000"/>
        </a:lnSpc>
        <a:spcBef>
          <a:spcPts val="0"/>
        </a:spcBef>
        <a:spcAft>
          <a:spcPts val="600"/>
        </a:spcAft>
        <a:buClr>
          <a:schemeClr val="tx1">
            <a:lumMod val="75000"/>
            <a:lumOff val="25000"/>
          </a:schemeClr>
        </a:buClr>
        <a:buFont typeface="Arial"/>
        <a:buChar char="–"/>
        <a:tabLst/>
        <a:defRPr sz="1100" b="0" i="0" kern="1200">
          <a:solidFill>
            <a:schemeClr val="tx1"/>
          </a:solidFill>
          <a:latin typeface="+mn-lt"/>
          <a:ea typeface="IberPangea Text Light" panose="020B0404000000000000" pitchFamily="34" charset="0"/>
          <a:cs typeface="IberPangea Text Light" panose="020B0404000000000000" pitchFamily="34" charset="0"/>
        </a:defRPr>
      </a:lvl5pPr>
      <a:lvl6pPr marL="154769" indent="-142863" algn="l" defTabSz="1828549" rtl="0" eaLnBrk="1" latinLnBrk="0" hangingPunct="1">
        <a:lnSpc>
          <a:spcPct val="100000"/>
        </a:lnSpc>
        <a:spcBef>
          <a:spcPts val="1000"/>
        </a:spcBef>
        <a:buClr>
          <a:schemeClr val="tx2"/>
        </a:buClr>
        <a:buSzPct val="100000"/>
        <a:buFont typeface="Arial" panose="020B0604020202020204" pitchFamily="34" charset="0"/>
        <a:buChar char="•"/>
        <a:tabLst/>
        <a:defRPr sz="10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5942783"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057"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1331" indent="-457137" algn="l" defTabSz="182854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549" rtl="0" eaLnBrk="1" latinLnBrk="0" hangingPunct="1">
        <a:defRPr sz="3600" kern="1200">
          <a:solidFill>
            <a:schemeClr val="tx1"/>
          </a:solidFill>
          <a:latin typeface="+mn-lt"/>
          <a:ea typeface="+mn-ea"/>
          <a:cs typeface="+mn-cs"/>
        </a:defRPr>
      </a:lvl1pPr>
      <a:lvl2pPr marL="914275" algn="l" defTabSz="1828549" rtl="0" eaLnBrk="1" latinLnBrk="0" hangingPunct="1">
        <a:defRPr sz="3600" kern="1200">
          <a:solidFill>
            <a:schemeClr val="tx1"/>
          </a:solidFill>
          <a:latin typeface="+mn-lt"/>
          <a:ea typeface="+mn-ea"/>
          <a:cs typeface="+mn-cs"/>
        </a:defRPr>
      </a:lvl2pPr>
      <a:lvl3pPr marL="1828549" algn="l" defTabSz="1828549" rtl="0" eaLnBrk="1" latinLnBrk="0" hangingPunct="1">
        <a:defRPr sz="3600" kern="1200">
          <a:solidFill>
            <a:schemeClr val="tx1"/>
          </a:solidFill>
          <a:latin typeface="+mn-lt"/>
          <a:ea typeface="+mn-ea"/>
          <a:cs typeface="+mn-cs"/>
        </a:defRPr>
      </a:lvl3pPr>
      <a:lvl4pPr marL="2742823" algn="l" defTabSz="1828549" rtl="0" eaLnBrk="1" latinLnBrk="0" hangingPunct="1">
        <a:defRPr sz="3600" kern="1200">
          <a:solidFill>
            <a:schemeClr val="tx1"/>
          </a:solidFill>
          <a:latin typeface="+mn-lt"/>
          <a:ea typeface="+mn-ea"/>
          <a:cs typeface="+mn-cs"/>
        </a:defRPr>
      </a:lvl4pPr>
      <a:lvl5pPr marL="3657097" algn="l" defTabSz="1828549" rtl="0" eaLnBrk="1" latinLnBrk="0" hangingPunct="1">
        <a:defRPr sz="3600" kern="1200">
          <a:solidFill>
            <a:schemeClr val="tx1"/>
          </a:solidFill>
          <a:latin typeface="+mn-lt"/>
          <a:ea typeface="+mn-ea"/>
          <a:cs typeface="+mn-cs"/>
        </a:defRPr>
      </a:lvl5pPr>
      <a:lvl6pPr marL="4571371" algn="l" defTabSz="1828549" rtl="0" eaLnBrk="1" latinLnBrk="0" hangingPunct="1">
        <a:defRPr sz="3600" kern="1200">
          <a:solidFill>
            <a:schemeClr val="tx1"/>
          </a:solidFill>
          <a:latin typeface="+mn-lt"/>
          <a:ea typeface="+mn-ea"/>
          <a:cs typeface="+mn-cs"/>
        </a:defRPr>
      </a:lvl6pPr>
      <a:lvl7pPr marL="5485646" algn="l" defTabSz="1828549" rtl="0" eaLnBrk="1" latinLnBrk="0" hangingPunct="1">
        <a:defRPr sz="3600" kern="1200">
          <a:solidFill>
            <a:schemeClr val="tx1"/>
          </a:solidFill>
          <a:latin typeface="+mn-lt"/>
          <a:ea typeface="+mn-ea"/>
          <a:cs typeface="+mn-cs"/>
        </a:defRPr>
      </a:lvl7pPr>
      <a:lvl8pPr marL="6399920" algn="l" defTabSz="1828549" rtl="0" eaLnBrk="1" latinLnBrk="0" hangingPunct="1">
        <a:defRPr sz="3600" kern="1200">
          <a:solidFill>
            <a:schemeClr val="tx1"/>
          </a:solidFill>
          <a:latin typeface="+mn-lt"/>
          <a:ea typeface="+mn-ea"/>
          <a:cs typeface="+mn-cs"/>
        </a:defRPr>
      </a:lvl8pPr>
      <a:lvl9pPr marL="7314195" algn="l" defTabSz="182854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256">
          <p15:clr>
            <a:srgbClr val="F26B43"/>
          </p15:clr>
        </p15:guide>
        <p15:guide id="3" pos="7424">
          <p15:clr>
            <a:srgbClr val="F26B43"/>
          </p15:clr>
        </p15:guide>
        <p15:guide id="5" orient="horz" pos="4066">
          <p15:clr>
            <a:srgbClr val="F26B43"/>
          </p15:clr>
        </p15:guide>
        <p15:guide id="6" pos="3908">
          <p15:clr>
            <a:srgbClr val="F26B43"/>
          </p15:clr>
        </p15:guide>
        <p15:guide id="7" pos="3772">
          <p15:clr>
            <a:srgbClr val="F26B43"/>
          </p15:clr>
        </p15:guide>
        <p15:guide id="9" orient="horz" pos="713">
          <p15:clr>
            <a:srgbClr val="F26B43"/>
          </p15:clr>
        </p15:guide>
        <p15:guide id="10" orient="horz" pos="397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jpeg"/><Relationship Id="rId4" Type="http://schemas.openxmlformats.org/officeDocument/2006/relationships/image" Target="../media/image7.png"/><Relationship Id="rId5"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microsoft.com/office/2018/10/relationships/comments" Target="../comments/modernComment_7FFFFFFA_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svg"/><Relationship Id="rId6" Type="http://schemas.openxmlformats.org/officeDocument/2006/relationships/image" Target="../media/image1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microsoft.com/office/2018/10/relationships/comments" Target="../comments/modernComment_11B_296D12D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image" Target="../media/image29.svg"/><Relationship Id="rId9" Type="http://schemas.openxmlformats.org/officeDocument/2006/relationships/image" Target="../media/image30.svg"/><Relationship Id="rId10" Type="http://schemas.openxmlformats.org/officeDocument/2006/relationships/image" Target="../media/image31.svg"/><Relationship Id="rId11" Type="http://schemas.openxmlformats.org/officeDocument/2006/relationships/image" Target="../media/image32.svg"/><Relationship Id="rId12" Type="http://schemas.openxmlformats.org/officeDocument/2006/relationships/image" Target="../media/image33.svg"/><Relationship Id="rId13" Type="http://schemas.openxmlformats.org/officeDocument/2006/relationships/image" Target="../media/image34.svg"/><Relationship Id="rId14" Type="http://schemas.openxmlformats.org/officeDocument/2006/relationships/image" Target="../media/image35.svg"/><Relationship Id="rId15" Type="http://schemas.openxmlformats.org/officeDocument/2006/relationships/image" Target="../media/image36.png"/><Relationship Id="rId16" Type="http://schemas.openxmlformats.org/officeDocument/2006/relationships/image" Target="../media/image37.png"/><Relationship Id="rId17" Type="http://schemas.openxmlformats.org/officeDocument/2006/relationships/image" Target="../media/image38.png"/><Relationship Id="rId18" Type="http://schemas.openxmlformats.org/officeDocument/2006/relationships/image" Target="../media/image39.png"/><Relationship Id="rId19"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1.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posición de imagen 16">
            <a:extLst>
              <a:ext uri="{FF2B5EF4-FFF2-40B4-BE49-F238E27FC236}">
                <a16:creationId xmlns:a16="http://schemas.microsoft.com/office/drawing/2014/main" id="{FA1F303E-4C1C-A033-7BE6-1109196C577A}"/>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prstGeom prst="roundRect">
            <a:avLst>
              <a:gd name="adj" fmla="val 0"/>
            </a:avLst>
          </a:prstGeom>
        </p:spPr>
      </p:pic>
      <p:sp>
        <p:nvSpPr>
          <p:cNvPr id="5" name="Rectangle 4">
            <a:extLst>
              <a:ext uri="{FF2B5EF4-FFF2-40B4-BE49-F238E27FC236}">
                <a16:creationId xmlns:a16="http://schemas.microsoft.com/office/drawing/2014/main" id="{C265C6E6-7198-7297-0B9C-462641DD8069}"/>
              </a:ext>
            </a:extLst>
          </p:cNvPr>
          <p:cNvSpPr/>
          <p:nvPr/>
        </p:nvSpPr>
        <p:spPr>
          <a:xfrm>
            <a:off x="-87086"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sp>
        <p:nvSpPr>
          <p:cNvPr id="4" name="Text 0">
            <a:extLst>
              <a:ext uri="{FF2B5EF4-FFF2-40B4-BE49-F238E27FC236}">
                <a16:creationId xmlns:a16="http://schemas.microsoft.com/office/drawing/2014/main" id="{824C128F-D5DF-F4AC-196E-C39349503646}"/>
              </a:ext>
            </a:extLst>
          </p:cNvPr>
          <p:cNvSpPr/>
          <p:nvPr/>
        </p:nvSpPr>
        <p:spPr>
          <a:xfrm>
            <a:off x="485209" y="547688"/>
            <a:ext cx="8174348" cy="1985962"/>
          </a:xfrm>
          <a:prstGeom prst="rect">
            <a:avLst/>
          </a:prstGeom>
          <a:noFill/>
          <a:ln/>
        </p:spPr>
        <p:txBody>
          <a:bodyPr wrap="square" lIns="0" tIns="0" rIns="0" bIns="0" rtlCol="0" anchor="t">
            <a:noAutofit/>
          </a:bodyPr>
          <a:lstStyle/>
          <a:p>
            <a:pPr>
              <a:spcBef>
                <a:spcPts val="0"/>
              </a:spcBef>
              <a:spcAft>
                <a:spcPts val="0"/>
              </a:spcAft>
              <a:defRPr/>
            </a:pPr>
            <a:endParaRPr lang="en-US" sz="3600" noProof="0">
              <a:solidFill>
                <a:schemeClr val="bg1"/>
              </a:solidFill>
              <a:latin typeface="+mj-lt"/>
              <a:ea typeface="Noto Serif" panose="02020502060505020204" pitchFamily="18" charset="0"/>
              <a:cs typeface="Noto Serif" panose="02020502060505020204" pitchFamily="18" charset="0"/>
              <a:sym typeface="Gordita Bold"/>
            </a:endParaRPr>
          </a:p>
          <a:p>
            <a:pPr>
              <a:spcBef>
                <a:spcPts val="0"/>
              </a:spcBef>
              <a:spcAft>
                <a:spcPts val="0"/>
              </a:spcAft>
              <a:defRPr/>
            </a:pPr>
            <a:r>
              <a:rPr lang="en-US" sz="5400" b="1" noProof="0">
                <a:solidFill>
                  <a:schemeClr val="bg1"/>
                </a:solidFill>
                <a:latin typeface="+mj-lt"/>
                <a:sym typeface="Gordita Bold"/>
              </a:rPr>
              <a:t>Digital Products Project</a:t>
            </a:r>
            <a:endParaRPr lang="en-US" noProof="0">
              <a:solidFill>
                <a:schemeClr val="bg1"/>
              </a:solidFill>
            </a:endParaRPr>
          </a:p>
        </p:txBody>
      </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170769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416E4954-1E92-9B65-57F4-8810E2EC9AC1}"/>
              </a:ext>
            </a:extLst>
          </p:cNvPr>
          <p:cNvGrpSpPr/>
          <p:nvPr/>
        </p:nvGrpSpPr>
        <p:grpSpPr>
          <a:xfrm>
            <a:off x="4133725" y="358821"/>
            <a:ext cx="520273" cy="520273"/>
            <a:chOff x="3199239" y="747211"/>
            <a:chExt cx="520273" cy="520273"/>
          </a:xfrm>
        </p:grpSpPr>
        <p:sp>
          <p:nvSpPr>
            <p:cNvPr id="4" name="Freeform 4"/>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1F3301AC-A0FD-D248-EB5E-1B7F99B78C50}"/>
              </a:ext>
            </a:extLst>
          </p:cNvPr>
          <p:cNvGrpSpPr/>
          <p:nvPr/>
        </p:nvGrpSpPr>
        <p:grpSpPr>
          <a:xfrm>
            <a:off x="1854199" y="2802178"/>
            <a:ext cx="9571333" cy="824754"/>
            <a:chOff x="1816102" y="2594699"/>
            <a:chExt cx="9571333" cy="824754"/>
          </a:xfrm>
        </p:grpSpPr>
        <p:sp>
          <p:nvSpPr>
            <p:cNvPr id="15" name="TextBox 15"/>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A758B53D-F9CA-BB4E-90A8-8590E5F1DCB9}"/>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0E4177D4-0389-B4F4-23E0-FA18BAE9F8F5}"/>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99C9BC83-2726-2D67-5EFE-1ABA76092A40}"/>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86F85C9F-0EC9-25D6-ACE7-E86D32E4E039}"/>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EDC27016-FAEF-3EAF-0A67-1824FCB9EEF7}"/>
              </a:ext>
            </a:extLst>
          </p:cNvPr>
          <p:cNvGrpSpPr/>
          <p:nvPr/>
        </p:nvGrpSpPr>
        <p:grpSpPr>
          <a:xfrm>
            <a:off x="1861346" y="1170058"/>
            <a:ext cx="9578128" cy="554333"/>
            <a:chOff x="1809304" y="1852249"/>
            <a:chExt cx="9578128" cy="554333"/>
          </a:xfrm>
        </p:grpSpPr>
        <p:sp>
          <p:nvSpPr>
            <p:cNvPr id="11" name="TextBox 11"/>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844E45C-F3A4-0284-E57D-FEBB262C0BE4}"/>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7984B2F-D1A2-6027-DE70-472EA307F99F}"/>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EE62A375-116B-E08E-37D6-2A9CE28474AC}"/>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FDC7516A-AC60-3B98-1C88-1019837AFD8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B91B3B4E-D3D0-1EB1-7B11-C983EBE4E921}"/>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E0AC9025-0CDC-53E1-CEB8-B2B664EEDA8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AB58281A-9DBD-263A-9D43-1C10031D677F}"/>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18D0B6FC-3499-28B9-D6D2-8C6346E7FAAA}"/>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70C6F77D-93A7-6D1F-3244-EE103BF675FD}"/>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480833D-2BFE-C6A4-B38E-C1538FEE9DB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A2BB8843-EF1C-FB64-F755-3BE24EC8CB4D}"/>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641B9F57-62A0-954E-68E6-48BFA78EC4E1}"/>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C46A3-7955-29D2-9B49-6200C43EB262}"/>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7C16390-E187-0DE1-5E3C-D6C2C9693612}"/>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116C62C6-C881-89C9-C2BE-058E36C8B0CC}"/>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F2413A1F-BD6F-C7C2-2687-EFD96B6EE7F9}"/>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5491F41-DAAF-D246-225C-1AD073B2F4F8}"/>
              </a:ext>
            </a:extLst>
          </p:cNvPr>
          <p:cNvSpPr txBox="1"/>
          <p:nvPr/>
        </p:nvSpPr>
        <p:spPr>
          <a:xfrm>
            <a:off x="1104250" y="1141030"/>
            <a:ext cx="462060" cy="524182"/>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36EF1DAD-B7E7-62B1-2EAF-351A03C0FF90}"/>
              </a:ext>
            </a:extLst>
          </p:cNvPr>
          <p:cNvSpPr txBox="1"/>
          <p:nvPr/>
        </p:nvSpPr>
        <p:spPr>
          <a:xfrm>
            <a:off x="1066701" y="2827839"/>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2A459DB-45AB-DC6C-5D3E-25EE5A958305}"/>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D6595DB9-0D3E-57A7-2EEA-E5BAA360E298}"/>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17CF170F-D6A9-1BD3-6198-AE25D3B7FDA8}"/>
                </a:ext>
              </a:extLst>
            </p:cNvPr>
            <p:cNvSpPr txBox="1"/>
            <p:nvPr/>
          </p:nvSpPr>
          <p:spPr>
            <a:xfrm>
              <a:off x="1816102" y="2983372"/>
              <a:ext cx="7868967" cy="453714"/>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C959286A-55C8-EF51-8610-87910CC92884}"/>
              </a:ext>
            </a:extLst>
          </p:cNvPr>
          <p:cNvSpPr txBox="1"/>
          <p:nvPr/>
        </p:nvSpPr>
        <p:spPr>
          <a:xfrm>
            <a:off x="1072696" y="3699805"/>
            <a:ext cx="525169"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78B57CB2-9010-9E19-B8BA-9CE42FA7878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66C6BE13-148C-4ADB-8D65-0938016FEC5B}"/>
              </a:ext>
            </a:extLst>
          </p:cNvPr>
          <p:cNvSpPr txBox="1"/>
          <p:nvPr/>
        </p:nvSpPr>
        <p:spPr>
          <a:xfrm>
            <a:off x="1091304" y="4600799"/>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90CC7102-818E-AD41-8560-1EB0B935A0E1}"/>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96897CF9-BD90-2CAE-DC74-CB3F6CCFFEEF}"/>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Current State Analysis / Demand Map</a:t>
              </a:r>
            </a:p>
          </p:txBody>
        </p:sp>
        <p:sp>
          <p:nvSpPr>
            <p:cNvPr id="17" name="TextBox 16">
              <a:extLst>
                <a:ext uri="{FF2B5EF4-FFF2-40B4-BE49-F238E27FC236}">
                  <a16:creationId xmlns:a16="http://schemas.microsoft.com/office/drawing/2014/main" id="{289DE999-5CE5-0EB9-F8CD-1AE957A6CEFC}"/>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Includes explanations for Roles and Responsibilities, Value stream Mapping and Governance Mapping</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31469401-E978-FC14-B1DF-1620B2B7C754}"/>
              </a:ext>
            </a:extLst>
          </p:cNvPr>
          <p:cNvSpPr txBox="1"/>
          <p:nvPr/>
        </p:nvSpPr>
        <p:spPr>
          <a:xfrm>
            <a:off x="1091304" y="5501791"/>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C224F0EC-942C-57B7-FACB-69287ADAC751}"/>
              </a:ext>
            </a:extLst>
          </p:cNvPr>
          <p:cNvGrpSpPr/>
          <p:nvPr/>
        </p:nvGrpSpPr>
        <p:grpSpPr>
          <a:xfrm>
            <a:off x="1861346" y="1170058"/>
            <a:ext cx="9578128" cy="560103"/>
            <a:chOff x="1809304" y="1852249"/>
            <a:chExt cx="9578128" cy="560103"/>
          </a:xfrm>
        </p:grpSpPr>
        <p:sp>
          <p:nvSpPr>
            <p:cNvPr id="11" name="TextBox 11">
              <a:extLst>
                <a:ext uri="{FF2B5EF4-FFF2-40B4-BE49-F238E27FC236}">
                  <a16:creationId xmlns:a16="http://schemas.microsoft.com/office/drawing/2014/main" id="{AF88B3C2-1006-8C29-7091-03A34A071427}"/>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F32C8FCB-1314-D1DB-B3D0-62869E4B7588}"/>
                </a:ext>
              </a:extLst>
            </p:cNvPr>
            <p:cNvSpPr txBox="1"/>
            <p:nvPr/>
          </p:nvSpPr>
          <p:spPr>
            <a:xfrm>
              <a:off x="1809304" y="2198383"/>
              <a:ext cx="7868967" cy="21396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36279405-09AD-EB3E-39D3-8FDCF4EA69B9}"/>
              </a:ext>
            </a:extLst>
          </p:cNvPr>
          <p:cNvGrpSpPr/>
          <p:nvPr/>
        </p:nvGrpSpPr>
        <p:grpSpPr>
          <a:xfrm>
            <a:off x="1847401" y="4582202"/>
            <a:ext cx="9571332" cy="608564"/>
            <a:chOff x="1809305" y="5419675"/>
            <a:chExt cx="9571332" cy="608564"/>
          </a:xfrm>
        </p:grpSpPr>
        <p:sp>
          <p:nvSpPr>
            <p:cNvPr id="9" name="TextBox 19">
              <a:extLst>
                <a:ext uri="{FF2B5EF4-FFF2-40B4-BE49-F238E27FC236}">
                  <a16:creationId xmlns:a16="http://schemas.microsoft.com/office/drawing/2014/main" id="{561B5D77-40AB-CDF1-D967-0F32EBFCDDD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C24D219A-1D0E-40F1-96FE-4F5DB1F34BCB}"/>
                </a:ext>
              </a:extLst>
            </p:cNvPr>
            <p:cNvSpPr txBox="1"/>
            <p:nvPr/>
          </p:nvSpPr>
          <p:spPr>
            <a:xfrm>
              <a:off x="1809305" y="5814270"/>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8FF968C4-3112-7FCD-C1DD-8E598CE167DB}"/>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31FF7BEC-3214-985C-A6FA-66ACFEDFA62E}"/>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220E73C6-8BBC-FA11-6123-463DEE17299C}"/>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51E4E616-DF0B-BB14-81E9-3C5A2EFF2435}"/>
              </a:ext>
            </a:extLst>
          </p:cNvPr>
          <p:cNvSpPr txBox="1"/>
          <p:nvPr/>
        </p:nvSpPr>
        <p:spPr>
          <a:xfrm>
            <a:off x="1066701" y="2006772"/>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25D3786B-318A-2711-0C5B-BB9C9FE0CC1D}"/>
              </a:ext>
            </a:extLst>
          </p:cNvPr>
          <p:cNvGrpSpPr/>
          <p:nvPr/>
        </p:nvGrpSpPr>
        <p:grpSpPr>
          <a:xfrm>
            <a:off x="1861346" y="1981111"/>
            <a:ext cx="9571333" cy="602642"/>
            <a:chOff x="1816102" y="2594699"/>
            <a:chExt cx="9571333" cy="602642"/>
          </a:xfrm>
        </p:grpSpPr>
        <p:sp>
          <p:nvSpPr>
            <p:cNvPr id="5" name="TextBox 15">
              <a:extLst>
                <a:ext uri="{FF2B5EF4-FFF2-40B4-BE49-F238E27FC236}">
                  <a16:creationId xmlns:a16="http://schemas.microsoft.com/office/drawing/2014/main" id="{8989258F-417C-A9B2-0C8C-4B5C37D7CE4D}"/>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C965FA29-1D0B-A478-0824-7699E2AF5B79}"/>
                </a:ext>
              </a:extLst>
            </p:cNvPr>
            <p:cNvSpPr txBox="1"/>
            <p:nvPr/>
          </p:nvSpPr>
          <p:spPr>
            <a:xfrm>
              <a:off x="1816102" y="2983372"/>
              <a:ext cx="7868967" cy="21396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Why we are here. Executive findings &amp; implications. Methodology (Wave 1 Step 1 sources).</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3F2DCC7A-7061-CCAE-4769-51D686BE70E6}"/>
              </a:ext>
            </a:extLst>
          </p:cNvPr>
          <p:cNvSpPr txBox="1"/>
          <p:nvPr/>
        </p:nvSpPr>
        <p:spPr>
          <a:xfrm>
            <a:off x="1063127" y="277976"/>
            <a:ext cx="3495835" cy="53585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1120676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A3571-53CD-4A0F-74DF-F1AEC9C6C12F}"/>
            </a:ext>
          </a:extLst>
        </p:cNvPr>
        <p:cNvGrpSpPr/>
        <p:nvPr/>
      </p:nvGrpSpPr>
      <p:grpSpPr>
        <a:xfrm>
          <a:off x="0" y="0"/>
          <a:ext cx="0" cy="0"/>
          <a:chOff x="0" y="0"/>
          <a:chExt cx="0" cy="0"/>
        </a:xfrm>
      </p:grpSpPr>
      <p:sp>
        <p:nvSpPr>
          <p:cNvPr id="17" name="CuadroTexto 127">
            <a:extLst>
              <a:ext uri="{FF2B5EF4-FFF2-40B4-BE49-F238E27FC236}">
                <a16:creationId xmlns:a16="http://schemas.microsoft.com/office/drawing/2014/main" id="{5F9FEEF5-2F31-DB64-85D9-A317B31FFB45}"/>
              </a:ext>
            </a:extLst>
          </p:cNvPr>
          <p:cNvSpPr txBox="1"/>
          <p:nvPr/>
        </p:nvSpPr>
        <p:spPr>
          <a:xfrm>
            <a:off x="336560" y="1349869"/>
            <a:ext cx="5360180" cy="5109562"/>
          </a:xfrm>
          <a:prstGeom prst="rect">
            <a:avLst/>
          </a:prstGeom>
          <a:noFill/>
        </p:spPr>
        <p:txBody>
          <a:bodyPr wrap="square" lIns="0" tIns="0" rIns="0" bIns="0" rtlCol="0">
            <a:noAutofit/>
          </a:bodyPr>
          <a:lstStyle/>
          <a:p>
            <a:pPr algn="ctr"/>
            <a:r>
              <a:rPr lang="en-US" sz="1400" b="1" noProof="0">
                <a:solidFill>
                  <a:schemeClr val="accent4">
                    <a:lumMod val="75000"/>
                  </a:schemeClr>
                </a:solidFill>
                <a:latin typeface="Arial" panose="020B0604020202020204" pitchFamily="34" charset="0"/>
                <a:cs typeface="Arial" panose="020B0604020202020204" pitchFamily="34" charset="0"/>
              </a:rPr>
              <a:t>Context</a:t>
            </a:r>
            <a:endParaRPr lang="en-US" sz="1200" b="1" noProof="0">
              <a:solidFill>
                <a:schemeClr val="accent4">
                  <a:lumMod val="75000"/>
                </a:schemeClr>
              </a:solidFill>
              <a:latin typeface="Arial" panose="020B0604020202020204" pitchFamily="34" charset="0"/>
              <a:cs typeface="Arial" panose="020B0604020202020204" pitchFamily="34" charset="0"/>
            </a:endParaRPr>
          </a:p>
          <a:p>
            <a:pPr algn="ctr"/>
            <a:endParaRPr lang="en-US" sz="1100" b="1" noProof="0">
              <a:solidFill>
                <a:srgbClr val="000000"/>
              </a:solidFill>
              <a:latin typeface="Arial" panose="020B0604020202020204" pitchFamily="34" charset="0"/>
              <a:cs typeface="Arial" panose="020B0604020202020204" pitchFamily="34" charset="0"/>
            </a:endParaRPr>
          </a:p>
          <a:p>
            <a:pPr algn="just"/>
            <a:r>
              <a:rPr lang="en-US" sz="1100" noProof="0">
                <a:latin typeface="Arial" panose="020B0604020202020204" pitchFamily="34" charset="0"/>
                <a:cs typeface="Arial" panose="020B0604020202020204" pitchFamily="34" charset="0"/>
              </a:rPr>
              <a:t>This project aims to define a clear and structured representation of the organization’s target operating model, focusing on the definition of roles and responsibilities across key stakeholders. It provides an end-to-end mapping of the demand management process, together with a consolidated view of governance mechanisms and the current tool portfolio supporting these activities.</a:t>
            </a:r>
          </a:p>
          <a:p>
            <a:pPr algn="just"/>
            <a:endParaRPr lang="en-US" sz="1100" noProof="0">
              <a:latin typeface="Arial" panose="020B0604020202020204" pitchFamily="34" charset="0"/>
              <a:cs typeface="Arial" panose="020B0604020202020204" pitchFamily="34" charset="0"/>
            </a:endParaRPr>
          </a:p>
          <a:p>
            <a:pPr algn="just"/>
            <a:endParaRPr lang="en-US" sz="1000" noProof="0">
              <a:solidFill>
                <a:srgbClr val="000000"/>
              </a:solidFill>
              <a:latin typeface="Arial" panose="020B0604020202020204" pitchFamily="34" charset="0"/>
              <a:ea typeface="Tahoma" panose="020B0604030504040204" pitchFamily="34" charset="0"/>
              <a:cs typeface="Arial" panose="020B0604020202020204" pitchFamily="34" charset="0"/>
            </a:endParaRPr>
          </a:p>
          <a:p>
            <a:pPr algn="ctr"/>
            <a:r>
              <a:rPr lang="en-US" sz="1400" b="1" noProof="0">
                <a:solidFill>
                  <a:schemeClr val="accent4">
                    <a:lumMod val="75000"/>
                  </a:schemeClr>
                </a:solidFill>
                <a:latin typeface="Arial" panose="020B0604020202020204" pitchFamily="34" charset="0"/>
                <a:cs typeface="Arial" panose="020B0604020202020204" pitchFamily="34" charset="0"/>
              </a:rPr>
              <a:t>Approach</a:t>
            </a:r>
            <a:endParaRPr lang="en-US" sz="1200" b="1" noProof="0">
              <a:solidFill>
                <a:schemeClr val="accent4">
                  <a:lumMod val="75000"/>
                </a:schemeClr>
              </a:solidFill>
              <a:latin typeface="Arial" panose="020B0604020202020204" pitchFamily="34" charset="0"/>
              <a:cs typeface="Arial" panose="020B0604020202020204" pitchFamily="34" charset="0"/>
            </a:endParaRPr>
          </a:p>
          <a:p>
            <a:pPr algn="ctr"/>
            <a:endParaRPr lang="en-US" sz="1200" b="1" noProof="0">
              <a:solidFill>
                <a:schemeClr val="accent4">
                  <a:lumMod val="75000"/>
                </a:schemeClr>
              </a:solidFill>
              <a:latin typeface="Arial" panose="020B0604020202020204" pitchFamily="34" charset="0"/>
              <a:cs typeface="Arial" panose="020B0604020202020204" pitchFamily="34" charset="0"/>
            </a:endParaRPr>
          </a:p>
          <a:p>
            <a:pPr algn="just"/>
            <a:r>
              <a:rPr lang="en-US" sz="1100" noProof="0">
                <a:latin typeface="Arial" panose="020B0604020202020204" pitchFamily="34" charset="0"/>
                <a:cs typeface="Arial" panose="020B0604020202020204" pitchFamily="34" charset="0"/>
              </a:rPr>
              <a:t>The analysis is grounded in learnings from previous projects and enriched through structured RFI (Request for Information) exercises conducted collaboratively with the client. This combined input enables a robust understanding of the current state and supports the design of a future-state model aligned with operational reality and strategic objectives.</a:t>
            </a:r>
          </a:p>
          <a:p>
            <a:br>
              <a:rPr lang="en-US" sz="1050" noProof="0">
                <a:latin typeface="Arial" panose="020B0604020202020204" pitchFamily="34" charset="0"/>
                <a:cs typeface="Arial" panose="020B0604020202020204" pitchFamily="34" charset="0"/>
              </a:rPr>
            </a:br>
            <a:endParaRPr lang="en-US" sz="1050" noProof="0">
              <a:latin typeface="Arial" panose="020B0604020202020204" pitchFamily="34" charset="0"/>
              <a:cs typeface="Arial" panose="020B0604020202020204" pitchFamily="34" charset="0"/>
            </a:endParaRPr>
          </a:p>
          <a:p>
            <a:pPr algn="ctr"/>
            <a:r>
              <a:rPr lang="en-US" sz="1400" b="1" noProof="0">
                <a:solidFill>
                  <a:schemeClr val="accent4">
                    <a:lumMod val="75000"/>
                  </a:schemeClr>
                </a:solidFill>
                <a:latin typeface="Arial" panose="020B0604020202020204" pitchFamily="34" charset="0"/>
                <a:cs typeface="Arial" panose="020B0604020202020204" pitchFamily="34" charset="0"/>
              </a:rPr>
              <a:t>Value</a:t>
            </a:r>
            <a:endParaRPr lang="en-US" sz="1200" b="1" noProof="0">
              <a:solidFill>
                <a:schemeClr val="accent4">
                  <a:lumMod val="75000"/>
                </a:schemeClr>
              </a:solidFill>
              <a:latin typeface="Arial" panose="020B0604020202020204" pitchFamily="34" charset="0"/>
              <a:cs typeface="Arial" panose="020B0604020202020204" pitchFamily="34" charset="0"/>
            </a:endParaRPr>
          </a:p>
          <a:p>
            <a:pPr algn="just"/>
            <a:endParaRPr lang="en-US" sz="1200" b="1" noProof="0">
              <a:solidFill>
                <a:schemeClr val="accent4">
                  <a:lumMod val="75000"/>
                </a:schemeClr>
              </a:solidFill>
              <a:latin typeface="Arial" panose="020B0604020202020204" pitchFamily="34" charset="0"/>
              <a:cs typeface="Arial" panose="020B0604020202020204" pitchFamily="34" charset="0"/>
            </a:endParaRPr>
          </a:p>
          <a:p>
            <a:pPr algn="just"/>
            <a:r>
              <a:rPr lang="en-US" sz="1100" noProof="0">
                <a:latin typeface="Arial" panose="020B0604020202020204" pitchFamily="34" charset="0"/>
                <a:cs typeface="Arial" panose="020B0604020202020204" pitchFamily="34" charset="0"/>
              </a:rPr>
              <a:t>The resulting framework illustrates how the organization can be positively impacted through the implementation of the proposed changes, driving improved clarity in governance, stronger role accountability, enhanced consistency in decision-making, and a more harmonized and efficient tool landscape.</a:t>
            </a:r>
          </a:p>
          <a:p>
            <a:pPr algn="just"/>
            <a:endParaRPr lang="en-US" sz="1050" noProof="0">
              <a:solidFill>
                <a:srgbClr val="000000"/>
              </a:solidFill>
              <a:latin typeface="Arial" panose="020B0604020202020204" pitchFamily="34" charset="0"/>
              <a:ea typeface="Tahoma" panose="020B0604030504040204" pitchFamily="34" charset="0"/>
              <a:cs typeface="Arial" panose="020B0604020202020204" pitchFamily="34" charset="0"/>
            </a:endParaRPr>
          </a:p>
          <a:p>
            <a:pPr algn="just"/>
            <a:endParaRPr lang="en-US" sz="1100" b="1" noProof="0">
              <a:solidFill>
                <a:srgbClr val="000000"/>
              </a:solidFill>
              <a:latin typeface="Arial" panose="020B0604020202020204" pitchFamily="34" charset="0"/>
              <a:ea typeface="Tahoma" panose="020B0604030504040204" pitchFamily="34" charset="0"/>
              <a:cs typeface="Arial" panose="020B0604020202020204" pitchFamily="34" charset="0"/>
            </a:endParaRPr>
          </a:p>
        </p:txBody>
      </p:sp>
      <p:cxnSp>
        <p:nvCxnSpPr>
          <p:cNvPr id="5" name="Conector recto 4">
            <a:extLst>
              <a:ext uri="{FF2B5EF4-FFF2-40B4-BE49-F238E27FC236}">
                <a16:creationId xmlns:a16="http://schemas.microsoft.com/office/drawing/2014/main" id="{7693EF36-153D-1323-7496-4934FB3CEBBB}"/>
              </a:ext>
            </a:extLst>
          </p:cNvPr>
          <p:cNvCxnSpPr/>
          <p:nvPr/>
        </p:nvCxnSpPr>
        <p:spPr>
          <a:xfrm>
            <a:off x="5889625" y="1009051"/>
            <a:ext cx="0" cy="5543549"/>
          </a:xfrm>
          <a:prstGeom prst="line">
            <a:avLst/>
          </a:prstGeom>
          <a:ln>
            <a:solidFill>
              <a:schemeClr val="accent1"/>
            </a:solidFill>
          </a:ln>
        </p:spPr>
        <p:style>
          <a:lnRef idx="3">
            <a:schemeClr val="dk1"/>
          </a:lnRef>
          <a:fillRef idx="0">
            <a:schemeClr val="dk1"/>
          </a:fillRef>
          <a:effectRef idx="2">
            <a:schemeClr val="dk1"/>
          </a:effectRef>
          <a:fontRef idx="minor">
            <a:schemeClr val="tx1"/>
          </a:fontRef>
        </p:style>
      </p:cxnSp>
      <p:pic>
        <p:nvPicPr>
          <p:cNvPr id="15" name="Picture 14">
            <a:extLst>
              <a:ext uri="{FF2B5EF4-FFF2-40B4-BE49-F238E27FC236}">
                <a16:creationId xmlns:a16="http://schemas.microsoft.com/office/drawing/2014/main" id="{E3BE7050-73D5-BABD-BAD1-578DA07FE0E5}"/>
              </a:ext>
            </a:extLst>
          </p:cNvPr>
          <p:cNvPicPr>
            <a:picLocks noChangeAspect="1"/>
          </p:cNvPicPr>
          <p:nvPr/>
        </p:nvPicPr>
        <p:blipFill>
          <a:blip r:embed="rId3"/>
          <a:stretch>
            <a:fillRect/>
          </a:stretch>
        </p:blipFill>
        <p:spPr>
          <a:xfrm>
            <a:off x="6045990" y="1620592"/>
            <a:ext cx="6062105" cy="4181974"/>
          </a:xfrm>
          <a:prstGeom prst="rect">
            <a:avLst/>
          </a:prstGeom>
          <a:effectLst>
            <a:outerShdw blurRad="50800" dist="38100" dir="5400000" algn="t" rotWithShape="0">
              <a:prstClr val="black">
                <a:alpha val="40000"/>
              </a:prstClr>
            </a:outerShdw>
            <a:softEdge rad="63500"/>
          </a:effectLst>
        </p:spPr>
      </p:pic>
      <p:sp>
        <p:nvSpPr>
          <p:cNvPr id="16" name="Título 2">
            <a:extLst>
              <a:ext uri="{FF2B5EF4-FFF2-40B4-BE49-F238E27FC236}">
                <a16:creationId xmlns:a16="http://schemas.microsoft.com/office/drawing/2014/main" id="{5CECB37E-22BA-722F-9311-83EAFCD80942}"/>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p:txBody>
      </p:sp>
      <p:pic>
        <p:nvPicPr>
          <p:cNvPr id="8" name="Graphic 7" descr="Map compass with solid fill">
            <a:extLst>
              <a:ext uri="{FF2B5EF4-FFF2-40B4-BE49-F238E27FC236}">
                <a16:creationId xmlns:a16="http://schemas.microsoft.com/office/drawing/2014/main" id="{1DB6DCBC-4C99-3F7C-1361-EFA39E35B8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55101" y="2782017"/>
            <a:ext cx="425961" cy="425961"/>
          </a:xfrm>
          <a:prstGeom prst="rect">
            <a:avLst/>
          </a:prstGeom>
        </p:spPr>
      </p:pic>
      <p:pic>
        <p:nvPicPr>
          <p:cNvPr id="11" name="Graphic 10" descr="Diamond outline">
            <a:extLst>
              <a:ext uri="{FF2B5EF4-FFF2-40B4-BE49-F238E27FC236}">
                <a16:creationId xmlns:a16="http://schemas.microsoft.com/office/drawing/2014/main" id="{E9679038-AF73-F3EE-98CE-1F14DADEF0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55101" y="4362182"/>
            <a:ext cx="425961" cy="425961"/>
          </a:xfrm>
          <a:prstGeom prst="rect">
            <a:avLst/>
          </a:prstGeom>
        </p:spPr>
      </p:pic>
      <p:pic>
        <p:nvPicPr>
          <p:cNvPr id="13" name="Graphic 12" descr="Closed book outline">
            <a:extLst>
              <a:ext uri="{FF2B5EF4-FFF2-40B4-BE49-F238E27FC236}">
                <a16:creationId xmlns:a16="http://schemas.microsoft.com/office/drawing/2014/main" id="{59706AEF-1FA1-BFC9-E801-5FF06BDD5D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65214" y="1318456"/>
            <a:ext cx="425961" cy="425961"/>
          </a:xfrm>
          <a:prstGeom prst="rect">
            <a:avLst/>
          </a:prstGeom>
        </p:spPr>
      </p:pic>
      <p:sp>
        <p:nvSpPr>
          <p:cNvPr id="6" name="Rectangle 28">
            <a:extLst>
              <a:ext uri="{FF2B5EF4-FFF2-40B4-BE49-F238E27FC236}">
                <a16:creationId xmlns:a16="http://schemas.microsoft.com/office/drawing/2014/main" id="{8972919C-71F7-5C85-1BB0-3B0B2ADE68B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C89CA9C-B0FF-0401-23B5-FCEE8045F086}"/>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05CA305-039E-CDA3-8088-52A5DC96CDB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03AAA09E-C3E9-063B-AF01-0593C0F8DC8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AD091AF-AA1A-EFD8-F357-6C02FF9EE7F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BD0C2BA-C40B-B37B-C6DF-0D71A09E570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Rectangle 64">
            <a:extLst>
              <a:ext uri="{FF2B5EF4-FFF2-40B4-BE49-F238E27FC236}">
                <a16:creationId xmlns:a16="http://schemas.microsoft.com/office/drawing/2014/main" id="{6F6DB5BA-782C-3DCE-2DE3-73C8167A413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997673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8F4B0-18B0-E02C-4BBF-3869DED2A5E2}"/>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2083E219-5C7D-F34B-8DAB-F66567597FC8}"/>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a:latin typeface="Arial" panose="020B0604020202020204" pitchFamily="34" charset="0"/>
                <a:cs typeface="Arial" panose="020B0604020202020204" pitchFamily="34" charset="0"/>
              </a:rPr>
              <a:t>CONTEXT</a:t>
            </a:r>
          </a:p>
          <a:p>
            <a:r>
              <a:rPr lang="pt-BR" sz="1200" err="1">
                <a:latin typeface="Arial"/>
              </a:rPr>
              <a:t>Why</a:t>
            </a:r>
            <a:r>
              <a:rPr lang="pt-BR" sz="1200">
                <a:latin typeface="Arial"/>
              </a:rPr>
              <a:t> </a:t>
            </a:r>
            <a:r>
              <a:rPr lang="pt-BR" sz="1200" err="1">
                <a:latin typeface="Arial"/>
              </a:rPr>
              <a:t>we’re</a:t>
            </a:r>
            <a:r>
              <a:rPr lang="pt-BR" sz="1200">
                <a:latin typeface="Arial"/>
              </a:rPr>
              <a:t> </a:t>
            </a:r>
            <a:r>
              <a:rPr lang="pt-BR" sz="1200" err="1">
                <a:latin typeface="Arial"/>
              </a:rPr>
              <a:t>here</a:t>
            </a:r>
            <a:endParaRPr lang="pt-BR" sz="1200">
              <a:latin typeface="Arial"/>
            </a:endParaRPr>
          </a:p>
        </p:txBody>
      </p:sp>
      <p:sp>
        <p:nvSpPr>
          <p:cNvPr id="3" name="Rectangle 28">
            <a:extLst>
              <a:ext uri="{FF2B5EF4-FFF2-40B4-BE49-F238E27FC236}">
                <a16:creationId xmlns:a16="http://schemas.microsoft.com/office/drawing/2014/main" id="{45D60989-6F83-8797-43F2-8C7EB375E16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956321E3-AFC2-9EB6-F97A-5FD9EF910B0D}"/>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8BCAEA16-6F52-9657-D208-18E7B5C57AB6}"/>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58514CBF-141A-44E2-6662-563077FF472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DF4BF6C6-70DF-34E7-6A43-19ABA489E47D}"/>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C449A220-5DC4-6563-6248-C716BDF4CFE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D7ECA39B-E954-D924-1D62-AE91DC50A47A}"/>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Rectangle 38">
            <a:extLst>
              <a:ext uri="{FF2B5EF4-FFF2-40B4-BE49-F238E27FC236}">
                <a16:creationId xmlns:a16="http://schemas.microsoft.com/office/drawing/2014/main" id="{D039DA57-BE50-7BCF-9ABE-E52E6ED2BC32}"/>
              </a:ext>
            </a:extLst>
          </p:cNvPr>
          <p:cNvSpPr/>
          <p:nvPr/>
        </p:nvSpPr>
        <p:spPr>
          <a:xfrm>
            <a:off x="457200" y="1924050"/>
            <a:ext cx="73152" cy="3262281"/>
          </a:xfrm>
          <a:prstGeom prst="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39">
            <a:extLst>
              <a:ext uri="{FF2B5EF4-FFF2-40B4-BE49-F238E27FC236}">
                <a16:creationId xmlns:a16="http://schemas.microsoft.com/office/drawing/2014/main" id="{A41A635F-84C9-11E4-5BCE-1098BF72AD50}"/>
              </a:ext>
            </a:extLst>
          </p:cNvPr>
          <p:cNvSpPr txBox="1"/>
          <p:nvPr/>
        </p:nvSpPr>
        <p:spPr>
          <a:xfrm>
            <a:off x="685800" y="1924050"/>
            <a:ext cx="530352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Helvetica Neue"/>
              </a:rPr>
              <a:t>WHY WE ARE HERE</a:t>
            </a:r>
          </a:p>
        </p:txBody>
      </p:sp>
      <p:sp>
        <p:nvSpPr>
          <p:cNvPr id="79" name="TextBox 78">
            <a:extLst>
              <a:ext uri="{FF2B5EF4-FFF2-40B4-BE49-F238E27FC236}">
                <a16:creationId xmlns:a16="http://schemas.microsoft.com/office/drawing/2014/main" id="{3A11BF3A-D5BE-EC93-9D3F-8073ABEC280C}"/>
              </a:ext>
            </a:extLst>
          </p:cNvPr>
          <p:cNvSpPr txBox="1"/>
          <p:nvPr/>
        </p:nvSpPr>
        <p:spPr>
          <a:xfrm>
            <a:off x="685800" y="2289810"/>
            <a:ext cx="5303520" cy="166026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  Digital Products (formerly SAP </a:t>
            </a:r>
            <a:r>
              <a:rPr lang="en-US" sz="1100" b="0" i="0" noProof="0" err="1">
                <a:solidFill>
                  <a:srgbClr val="2C3E50"/>
                </a:solidFill>
                <a:latin typeface="Helvetica Neue"/>
              </a:rPr>
              <a:t>CoE</a:t>
            </a:r>
            <a:r>
              <a:rPr lang="en-US" sz="1100" b="0" i="0" noProof="0">
                <a:solidFill>
                  <a:srgbClr val="2C3E50"/>
                </a:solidFill>
                <a:latin typeface="Helvetica Neue"/>
              </a:rPr>
              <a:t>) is being re-founded under VP Vitor Cruz, merging Applications (Carlos Garbin) and Customer Services Apps (Kumar </a:t>
            </a:r>
            <a:r>
              <a:rPr lang="en-US" sz="1100" b="0" i="0" noProof="0" err="1">
                <a:solidFill>
                  <a:srgbClr val="2C3E50"/>
                </a:solidFill>
                <a:latin typeface="Helvetica Neue"/>
              </a:rPr>
              <a:t>Jaladanki</a:t>
            </a:r>
            <a:r>
              <a:rPr lang="en-US" sz="1100" b="0" i="0" noProof="0">
                <a:solidFill>
                  <a:srgbClr val="2C3E50"/>
                </a:solidFill>
                <a:latin typeface="Helvetica Neue"/>
              </a:rPr>
              <a:t>) into one ~50-FTE organization.</a:t>
            </a:r>
          </a:p>
          <a:p>
            <a:pPr algn="l">
              <a:lnSpc>
                <a:spcPct val="110000"/>
              </a:lnSpc>
              <a:spcBef>
                <a:spcPts val="0"/>
              </a:spcBef>
              <a:spcAft>
                <a:spcPts val="0"/>
              </a:spcAft>
            </a:pPr>
            <a:endParaRPr lang="en-US" sz="1100" b="0" i="0" noProof="0">
              <a:solidFill>
                <a:srgbClr val="2C3E50"/>
              </a:solidFill>
              <a:latin typeface="Helvetica Neue"/>
            </a:endParaRPr>
          </a:p>
          <a:p>
            <a:pPr algn="l">
              <a:lnSpc>
                <a:spcPct val="110000"/>
              </a:lnSpc>
              <a:spcBef>
                <a:spcPts val="0"/>
              </a:spcBef>
              <a:spcAft>
                <a:spcPts val="0"/>
              </a:spcAft>
            </a:pPr>
            <a:r>
              <a:rPr lang="en-US" sz="1100" b="0" i="0" noProof="0">
                <a:solidFill>
                  <a:srgbClr val="2C3E50"/>
                </a:solidFill>
                <a:latin typeface="Helvetica Neue"/>
              </a:rPr>
              <a:t>▸  Demand volume has grown 30–50% across SAP and Applications in the last 24 months — with no unified intake, classification, or prioritization model in place.</a:t>
            </a:r>
          </a:p>
          <a:p>
            <a:pPr algn="l">
              <a:lnSpc>
                <a:spcPct val="110000"/>
              </a:lnSpc>
              <a:spcBef>
                <a:spcPts val="0"/>
              </a:spcBef>
              <a:spcAft>
                <a:spcPts val="0"/>
              </a:spcAft>
            </a:pPr>
            <a:endParaRPr lang="en-US" sz="1100" b="0" i="0" noProof="0">
              <a:solidFill>
                <a:srgbClr val="2C3E50"/>
              </a:solidFill>
              <a:latin typeface="Helvetica Neue"/>
            </a:endParaRPr>
          </a:p>
          <a:p>
            <a:pPr algn="l">
              <a:lnSpc>
                <a:spcPct val="110000"/>
              </a:lnSpc>
              <a:spcBef>
                <a:spcPts val="0"/>
              </a:spcBef>
              <a:spcAft>
                <a:spcPts val="0"/>
              </a:spcAft>
            </a:pPr>
            <a:r>
              <a:rPr lang="en-US" sz="1100" b="0" i="0" noProof="0">
                <a:solidFill>
                  <a:srgbClr val="2C3E50"/>
                </a:solidFill>
                <a:latin typeface="Helvetica Neue"/>
              </a:rPr>
              <a:t>▸  </a:t>
            </a:r>
            <a:r>
              <a:rPr lang="en-US" sz="1100">
                <a:solidFill>
                  <a:srgbClr val="2C3E50"/>
                </a:solidFill>
                <a:latin typeface="Helvetica Neue"/>
              </a:rPr>
              <a:t>Diagnose</a:t>
            </a:r>
            <a:r>
              <a:rPr lang="en-US" sz="1100" b="0" i="0" noProof="0">
                <a:solidFill>
                  <a:srgbClr val="2C3E50"/>
                </a:solidFill>
                <a:latin typeface="Helvetica Neue"/>
              </a:rPr>
              <a:t> the current state, design the Target Operating Model (TOM), and pilot it on one BRS project before scaling.</a:t>
            </a:r>
          </a:p>
        </p:txBody>
      </p:sp>
      <p:sp>
        <p:nvSpPr>
          <p:cNvPr id="80" name="Rectangle 79">
            <a:extLst>
              <a:ext uri="{FF2B5EF4-FFF2-40B4-BE49-F238E27FC236}">
                <a16:creationId xmlns:a16="http://schemas.microsoft.com/office/drawing/2014/main" id="{95C35789-836D-91B3-0358-717F4768E2C2}"/>
              </a:ext>
            </a:extLst>
          </p:cNvPr>
          <p:cNvSpPr/>
          <p:nvPr/>
        </p:nvSpPr>
        <p:spPr>
          <a:xfrm>
            <a:off x="6400800" y="1924050"/>
            <a:ext cx="73152" cy="326228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1" name="TextBox 80">
            <a:extLst>
              <a:ext uri="{FF2B5EF4-FFF2-40B4-BE49-F238E27FC236}">
                <a16:creationId xmlns:a16="http://schemas.microsoft.com/office/drawing/2014/main" id="{15C9E40D-C284-C074-F063-59A5340BA548}"/>
              </a:ext>
            </a:extLst>
          </p:cNvPr>
          <p:cNvSpPr txBox="1"/>
          <p:nvPr/>
        </p:nvSpPr>
        <p:spPr>
          <a:xfrm>
            <a:off x="6629400" y="1924050"/>
            <a:ext cx="50292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0A443"/>
                </a:solidFill>
                <a:latin typeface="Helvetica Neue"/>
              </a:rPr>
              <a:t>SCOPE  &amp;  WORKING MODEL</a:t>
            </a:r>
          </a:p>
        </p:txBody>
      </p:sp>
      <p:sp>
        <p:nvSpPr>
          <p:cNvPr id="82" name="TextBox 81">
            <a:extLst>
              <a:ext uri="{FF2B5EF4-FFF2-40B4-BE49-F238E27FC236}">
                <a16:creationId xmlns:a16="http://schemas.microsoft.com/office/drawing/2014/main" id="{DE43E308-1A28-59BF-19B1-363811ED914C}"/>
              </a:ext>
            </a:extLst>
          </p:cNvPr>
          <p:cNvSpPr txBox="1"/>
          <p:nvPr/>
        </p:nvSpPr>
        <p:spPr>
          <a:xfrm>
            <a:off x="6629400" y="2289810"/>
            <a:ext cx="5029200" cy="2033827"/>
          </a:xfrm>
          <a:prstGeom prst="rect">
            <a:avLst/>
          </a:prstGeom>
          <a:noFill/>
        </p:spPr>
        <p:txBody>
          <a:bodyPr wrap="square" lIns="0" tIns="0" rIns="0" bIns="0" anchor="t">
            <a:spAutoFit/>
          </a:bodyPr>
          <a:lstStyle/>
          <a:p>
            <a:pPr>
              <a:lnSpc>
                <a:spcPct val="110000"/>
              </a:lnSpc>
            </a:pPr>
            <a:r>
              <a:rPr lang="en-US" sz="1100" b="0" i="0" noProof="0">
                <a:solidFill>
                  <a:srgbClr val="2C3E50"/>
                </a:solidFill>
                <a:latin typeface="Helvetica Neue"/>
              </a:rPr>
              <a:t>▸  </a:t>
            </a:r>
            <a:r>
              <a:rPr lang="en-US" sz="1100" b="1">
                <a:solidFill>
                  <a:srgbClr val="2C3E50"/>
                </a:solidFill>
                <a:latin typeface="Helvetica Neue"/>
              </a:rPr>
              <a:t>Digital</a:t>
            </a:r>
            <a:r>
              <a:rPr lang="en-US" sz="1100" b="1" i="0" noProof="0">
                <a:solidFill>
                  <a:srgbClr val="2C3E50"/>
                </a:solidFill>
                <a:latin typeface="Helvetica Neue"/>
              </a:rPr>
              <a:t> </a:t>
            </a:r>
            <a:r>
              <a:rPr lang="en-US" sz="1100" b="1">
                <a:solidFill>
                  <a:srgbClr val="2C3E50"/>
                </a:solidFill>
                <a:latin typeface="Helvetica Neue"/>
              </a:rPr>
              <a:t>Products </a:t>
            </a:r>
            <a:r>
              <a:rPr lang="en-US" sz="1100" b="1" i="0" noProof="0">
                <a:solidFill>
                  <a:srgbClr val="2C3E50"/>
                </a:solidFill>
                <a:latin typeface="Helvetica Neue"/>
              </a:rPr>
              <a:t>in scope</a:t>
            </a:r>
            <a:r>
              <a:rPr lang="en-US" sz="1100" b="0" i="0" noProof="0">
                <a:solidFill>
                  <a:srgbClr val="2C3E50"/>
                </a:solidFill>
                <a:latin typeface="Helvetica Neue"/>
              </a:rPr>
              <a:t>: IT </a:t>
            </a:r>
            <a:r>
              <a:rPr lang="en-US" sz="1100">
                <a:solidFill>
                  <a:srgbClr val="2C3E50"/>
                </a:solidFill>
                <a:latin typeface="Helvetica Neue"/>
              </a:rPr>
              <a:t>Business Applications</a:t>
            </a:r>
            <a:r>
              <a:rPr lang="en-US" sz="1100" b="0" i="0" noProof="0">
                <a:solidFill>
                  <a:srgbClr val="2C3E50"/>
                </a:solidFill>
                <a:latin typeface="Helvetica Neue"/>
              </a:rPr>
              <a:t> (4 teams, ~26 FTE) and Customer Services</a:t>
            </a:r>
            <a:r>
              <a:rPr lang="en-US" sz="1100">
                <a:solidFill>
                  <a:srgbClr val="2C3E50"/>
                </a:solidFill>
                <a:latin typeface="Helvetica Neue"/>
              </a:rPr>
              <a:t> Apps </a:t>
            </a:r>
            <a:r>
              <a:rPr lang="en-US" sz="1100" b="0" i="0" noProof="0">
                <a:solidFill>
                  <a:srgbClr val="2C3E50"/>
                </a:solidFill>
                <a:latin typeface="Helvetica Neue"/>
              </a:rPr>
              <a:t> (5 teams, ~24 FTE, 2 Sr. Manager vacancies).</a:t>
            </a:r>
          </a:p>
          <a:p>
            <a:pPr algn="l">
              <a:lnSpc>
                <a:spcPct val="110000"/>
              </a:lnSpc>
              <a:spcBef>
                <a:spcPts val="0"/>
              </a:spcBef>
              <a:spcAft>
                <a:spcPts val="0"/>
              </a:spcAft>
            </a:pPr>
            <a:endParaRPr lang="en-US" sz="1100" b="0" i="0" noProof="0">
              <a:solidFill>
                <a:srgbClr val="2C3E50"/>
              </a:solidFill>
              <a:latin typeface="Helvetica Neue"/>
            </a:endParaRPr>
          </a:p>
          <a:p>
            <a:pPr algn="l">
              <a:lnSpc>
                <a:spcPct val="110000"/>
              </a:lnSpc>
              <a:spcBef>
                <a:spcPts val="0"/>
              </a:spcBef>
              <a:spcAft>
                <a:spcPts val="0"/>
              </a:spcAft>
            </a:pPr>
            <a:r>
              <a:rPr lang="en-US" sz="1100" b="0" i="0" noProof="0">
                <a:solidFill>
                  <a:srgbClr val="2C3E50"/>
                </a:solidFill>
                <a:latin typeface="Helvetica Neue"/>
              </a:rPr>
              <a:t>▸  </a:t>
            </a:r>
            <a:r>
              <a:rPr lang="en-US" sz="1100" b="1" i="0" noProof="0">
                <a:solidFill>
                  <a:srgbClr val="2C3E50"/>
                </a:solidFill>
                <a:latin typeface="Helvetica Neue"/>
              </a:rPr>
              <a:t>Five end-to-end stages assessed per team</a:t>
            </a:r>
            <a:r>
              <a:rPr lang="en-US" sz="1100" b="0" i="0" noProof="0">
                <a:solidFill>
                  <a:srgbClr val="2C3E50"/>
                </a:solidFill>
                <a:latin typeface="Helvetica Neue"/>
              </a:rPr>
              <a:t>: Intake → Classification → Prioritization → Portfolio → Delivery.</a:t>
            </a:r>
          </a:p>
          <a:p>
            <a:pPr algn="l">
              <a:lnSpc>
                <a:spcPct val="110000"/>
              </a:lnSpc>
              <a:spcBef>
                <a:spcPts val="0"/>
              </a:spcBef>
              <a:spcAft>
                <a:spcPts val="0"/>
              </a:spcAft>
            </a:pPr>
            <a:endParaRPr lang="en-US" sz="1100" b="0" i="0" noProof="0">
              <a:solidFill>
                <a:srgbClr val="2C3E50"/>
              </a:solidFill>
              <a:latin typeface="Helvetica Neue"/>
            </a:endParaRPr>
          </a:p>
          <a:p>
            <a:pPr>
              <a:lnSpc>
                <a:spcPct val="110000"/>
              </a:lnSpc>
            </a:pPr>
            <a:r>
              <a:rPr lang="en-US" sz="1100" b="0" i="0" noProof="0">
                <a:solidFill>
                  <a:srgbClr val="2C3E50"/>
                </a:solidFill>
                <a:latin typeface="Helvetica Neue"/>
              </a:rPr>
              <a:t>▸  </a:t>
            </a:r>
            <a:r>
              <a:rPr lang="en-US" sz="1100" b="1" i="0" noProof="0">
                <a:solidFill>
                  <a:srgbClr val="2C3E50"/>
                </a:solidFill>
                <a:latin typeface="Helvetica Neue"/>
              </a:rPr>
              <a:t>Baseline</a:t>
            </a:r>
            <a:r>
              <a:rPr lang="en-US" sz="1100" b="0" i="0" noProof="0">
                <a:solidFill>
                  <a:srgbClr val="2C3E50"/>
                </a:solidFill>
                <a:latin typeface="Helvetica Neue"/>
              </a:rPr>
              <a:t> grounded in interview </a:t>
            </a:r>
            <a:r>
              <a:rPr lang="en-US" sz="1100">
                <a:solidFill>
                  <a:srgbClr val="2C3E50"/>
                </a:solidFill>
                <a:latin typeface="Helvetica Neue"/>
              </a:rPr>
              <a:t>evidence and RFI data received from the teams.</a:t>
            </a:r>
            <a:endParaRPr lang="en-US" sz="1100" noProof="0">
              <a:solidFill>
                <a:srgbClr val="2C3E50"/>
              </a:solidFill>
              <a:latin typeface="Helvetica Neue"/>
            </a:endParaRPr>
          </a:p>
          <a:p>
            <a:pPr algn="l">
              <a:lnSpc>
                <a:spcPct val="110000"/>
              </a:lnSpc>
              <a:spcBef>
                <a:spcPts val="0"/>
              </a:spcBef>
              <a:spcAft>
                <a:spcPts val="0"/>
              </a:spcAft>
            </a:pPr>
            <a:endParaRPr lang="en-US" sz="1100" b="0" i="0" noProof="0">
              <a:solidFill>
                <a:srgbClr val="2C3E50"/>
              </a:solidFill>
              <a:latin typeface="Helvetica Neue"/>
            </a:endParaRPr>
          </a:p>
          <a:p>
            <a:pPr algn="l">
              <a:lnSpc>
                <a:spcPct val="110000"/>
              </a:lnSpc>
              <a:spcBef>
                <a:spcPts val="0"/>
              </a:spcBef>
              <a:spcAft>
                <a:spcPts val="0"/>
              </a:spcAft>
            </a:pPr>
            <a:r>
              <a:rPr lang="en-US" sz="1100" b="0" i="0" noProof="0">
                <a:solidFill>
                  <a:srgbClr val="2C3E50"/>
                </a:solidFill>
                <a:latin typeface="Helvetica Neue"/>
              </a:rPr>
              <a:t>▸  </a:t>
            </a:r>
            <a:r>
              <a:rPr lang="en-US" sz="1100" b="1" i="0" noProof="0">
                <a:solidFill>
                  <a:srgbClr val="2C3E50"/>
                </a:solidFill>
                <a:latin typeface="Helvetica Neue"/>
              </a:rPr>
              <a:t>Wave 1 delivers</a:t>
            </a:r>
            <a:r>
              <a:rPr lang="en-US" sz="1100" b="0" i="0" noProof="0">
                <a:solidFill>
                  <a:srgbClr val="2C3E50"/>
                </a:solidFill>
                <a:latin typeface="Helvetica Neue"/>
              </a:rPr>
              <a:t>: Baseline Report, Demand Map, Portfolio Landscape</a:t>
            </a:r>
            <a:r>
              <a:rPr lang="en-US" sz="1100">
                <a:solidFill>
                  <a:srgbClr val="2C3E50"/>
                </a:solidFill>
                <a:latin typeface="Helvetica Neue"/>
              </a:rPr>
              <a:t>,</a:t>
            </a:r>
            <a:r>
              <a:rPr lang="en-US" sz="1100" b="0" i="0" noProof="0">
                <a:solidFill>
                  <a:srgbClr val="2C3E50"/>
                </a:solidFill>
                <a:latin typeface="Helvetica Neue"/>
              </a:rPr>
              <a:t> Lifecycle v1.0, Jira Config v1.0, and a live BRS pilot.</a:t>
            </a:r>
          </a:p>
        </p:txBody>
      </p:sp>
      <p:sp>
        <p:nvSpPr>
          <p:cNvPr id="83" name="Rectangle 82">
            <a:extLst>
              <a:ext uri="{FF2B5EF4-FFF2-40B4-BE49-F238E27FC236}">
                <a16:creationId xmlns:a16="http://schemas.microsoft.com/office/drawing/2014/main" id="{FF75C48F-8290-8992-3EBA-AAD457307706}"/>
              </a:ext>
            </a:extLst>
          </p:cNvPr>
          <p:cNvSpPr/>
          <p:nvPr/>
        </p:nvSpPr>
        <p:spPr>
          <a:xfrm>
            <a:off x="457200" y="5646420"/>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TextBox 83">
            <a:extLst>
              <a:ext uri="{FF2B5EF4-FFF2-40B4-BE49-F238E27FC236}">
                <a16:creationId xmlns:a16="http://schemas.microsoft.com/office/drawing/2014/main" id="{A07F80AB-7FE1-7815-33FA-9E674934040F}"/>
              </a:ext>
            </a:extLst>
          </p:cNvPr>
          <p:cNvSpPr txBox="1"/>
          <p:nvPr/>
        </p:nvSpPr>
        <p:spPr>
          <a:xfrm>
            <a:off x="685800" y="581199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This deck is the Demand Map — the AS-IS current-state evidence base that feeds the TOM design in Wave 1, Step 2</a:t>
            </a:r>
          </a:p>
        </p:txBody>
      </p:sp>
      <p:sp>
        <p:nvSpPr>
          <p:cNvPr id="85" name="TextBox 84">
            <a:extLst>
              <a:ext uri="{FF2B5EF4-FFF2-40B4-BE49-F238E27FC236}">
                <a16:creationId xmlns:a16="http://schemas.microsoft.com/office/drawing/2014/main" id="{790B20A5-2418-61D8-90FC-CE1254602011}"/>
              </a:ext>
            </a:extLst>
          </p:cNvPr>
          <p:cNvSpPr txBox="1"/>
          <p:nvPr/>
        </p:nvSpPr>
        <p:spPr>
          <a:xfrm>
            <a:off x="9144000" y="6222492"/>
            <a:ext cx="2587752" cy="140488"/>
          </a:xfrm>
          <a:prstGeom prst="rect">
            <a:avLst/>
          </a:prstGeom>
          <a:noFill/>
        </p:spPr>
        <p:txBody>
          <a:bodyPr wrap="square" lIns="0" tIns="0" rIns="0" bIns="0" anchor="t">
            <a:spAutoFit/>
          </a:bodyPr>
          <a:lstStyle/>
          <a:p>
            <a:pPr algn="r">
              <a:lnSpc>
                <a:spcPct val="110000"/>
              </a:lnSpc>
              <a:spcBef>
                <a:spcPts val="0"/>
              </a:spcBef>
              <a:spcAft>
                <a:spcPts val="0"/>
              </a:spcAft>
            </a:pPr>
            <a:r>
              <a:rPr lang="en-US" sz="900" b="0" i="0" noProof="0">
                <a:solidFill>
                  <a:srgbClr val="95A5A6"/>
                </a:solidFill>
                <a:latin typeface="Helvetica Neue"/>
              </a:rPr>
              <a:t>Project Context  |  03 / 28</a:t>
            </a:r>
          </a:p>
        </p:txBody>
      </p:sp>
      <p:sp>
        <p:nvSpPr>
          <p:cNvPr id="86" name="TextBox 85">
            <a:extLst>
              <a:ext uri="{FF2B5EF4-FFF2-40B4-BE49-F238E27FC236}">
                <a16:creationId xmlns:a16="http://schemas.microsoft.com/office/drawing/2014/main" id="{74442613-19AF-28E2-07F6-AD3CD5F48223}"/>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Avangrid is consolidating SAP </a:t>
            </a:r>
            <a:r>
              <a:rPr lang="en-US" noProof="0" err="1"/>
              <a:t>CoE</a:t>
            </a:r>
            <a:r>
              <a:rPr lang="en-US" noProof="0"/>
              <a:t> and Applications into a single Digital Products organization — demand fragmentation is the structural risk the TOM must resolve.</a:t>
            </a:r>
          </a:p>
        </p:txBody>
      </p:sp>
    </p:spTree>
    <p:extLst>
      <p:ext uri="{BB962C8B-B14F-4D97-AF65-F5344CB8AC3E}">
        <p14:creationId xmlns:p14="http://schemas.microsoft.com/office/powerpoint/2010/main" val="2929227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000-E1B9-1BCA-025D-A3B5EBC554BE}"/>
            </a:ext>
          </a:extLst>
        </p:cNvPr>
        <p:cNvGrpSpPr/>
        <p:nvPr/>
      </p:nvGrpSpPr>
      <p:grpSpPr>
        <a:xfrm>
          <a:off x="0" y="0"/>
          <a:ext cx="0" cy="0"/>
          <a:chOff x="0" y="0"/>
          <a:chExt cx="0" cy="0"/>
        </a:xfrm>
      </p:grpSpPr>
      <p:sp>
        <p:nvSpPr>
          <p:cNvPr id="16" name="Título 2">
            <a:extLst>
              <a:ext uri="{FF2B5EF4-FFF2-40B4-BE49-F238E27FC236}">
                <a16:creationId xmlns:a16="http://schemas.microsoft.com/office/drawing/2014/main" id="{FDE8D4C8-009A-7DE9-FF68-16732E5E5E6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pt-BR" sz="1200" err="1">
                <a:latin typeface="Arial"/>
              </a:rPr>
              <a:t>Why</a:t>
            </a:r>
            <a:r>
              <a:rPr lang="pt-BR" sz="1200">
                <a:latin typeface="Arial"/>
              </a:rPr>
              <a:t> </a:t>
            </a:r>
            <a:r>
              <a:rPr lang="pt-BR" sz="1200" err="1">
                <a:latin typeface="Arial"/>
              </a:rPr>
              <a:t>we’re</a:t>
            </a:r>
            <a:r>
              <a:rPr lang="pt-BR" sz="1200">
                <a:latin typeface="Arial"/>
              </a:rPr>
              <a:t> </a:t>
            </a:r>
            <a:r>
              <a:rPr lang="pt-BR" sz="1200" err="1">
                <a:latin typeface="Arial"/>
              </a:rPr>
              <a:t>here</a:t>
            </a:r>
            <a:endParaRPr lang="pt-BR" sz="1200">
              <a:latin typeface="Arial"/>
            </a:endParaRPr>
          </a:p>
        </p:txBody>
      </p:sp>
      <p:sp>
        <p:nvSpPr>
          <p:cNvPr id="3" name="Rounded Rectangle 4">
            <a:extLst>
              <a:ext uri="{FF2B5EF4-FFF2-40B4-BE49-F238E27FC236}">
                <a16:creationId xmlns:a16="http://schemas.microsoft.com/office/drawing/2014/main" id="{F5369A0C-8937-163A-F835-154290811D4D}"/>
              </a:ext>
            </a:extLst>
          </p:cNvPr>
          <p:cNvSpPr/>
          <p:nvPr/>
        </p:nvSpPr>
        <p:spPr>
          <a:xfrm>
            <a:off x="676251" y="1813723"/>
            <a:ext cx="4846320" cy="411480"/>
          </a:xfrm>
          <a:prstGeom prst="roundRect">
            <a:avLst>
              <a:gd name="adj" fmla="val 5093"/>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Arial"/>
              </a:rPr>
              <a:t>THE CHALLENGE</a:t>
            </a:r>
          </a:p>
        </p:txBody>
      </p:sp>
      <p:sp>
        <p:nvSpPr>
          <p:cNvPr id="7" name="Rectangle 6">
            <a:extLst>
              <a:ext uri="{FF2B5EF4-FFF2-40B4-BE49-F238E27FC236}">
                <a16:creationId xmlns:a16="http://schemas.microsoft.com/office/drawing/2014/main" id="{1AFE1230-680C-0491-0482-3CC810D155E1}"/>
              </a:ext>
            </a:extLst>
          </p:cNvPr>
          <p:cNvSpPr/>
          <p:nvPr/>
        </p:nvSpPr>
        <p:spPr>
          <a:xfrm>
            <a:off x="676251" y="272812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39DA3797-E38B-79B8-2CC6-EB5A49FFE45C}"/>
              </a:ext>
            </a:extLst>
          </p:cNvPr>
          <p:cNvSpPr/>
          <p:nvPr/>
        </p:nvSpPr>
        <p:spPr>
          <a:xfrm>
            <a:off x="676251" y="313960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FF5F2375-76EB-1DB6-C83D-478F11F2F2A9}"/>
              </a:ext>
            </a:extLst>
          </p:cNvPr>
          <p:cNvSpPr/>
          <p:nvPr/>
        </p:nvSpPr>
        <p:spPr>
          <a:xfrm>
            <a:off x="676251" y="355108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9" name="Rectangle 18">
            <a:extLst>
              <a:ext uri="{FF2B5EF4-FFF2-40B4-BE49-F238E27FC236}">
                <a16:creationId xmlns:a16="http://schemas.microsoft.com/office/drawing/2014/main" id="{7269F305-E495-D366-6DD4-831E381EDEA3}"/>
              </a:ext>
            </a:extLst>
          </p:cNvPr>
          <p:cNvSpPr/>
          <p:nvPr/>
        </p:nvSpPr>
        <p:spPr>
          <a:xfrm>
            <a:off x="676251" y="3962563"/>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0" name="TextBox 19">
            <a:extLst>
              <a:ext uri="{FF2B5EF4-FFF2-40B4-BE49-F238E27FC236}">
                <a16:creationId xmlns:a16="http://schemas.microsoft.com/office/drawing/2014/main" id="{47E861EE-8BF2-51AF-E269-6C1FAB667A06}"/>
              </a:ext>
            </a:extLst>
          </p:cNvPr>
          <p:cNvSpPr txBox="1"/>
          <p:nvPr/>
        </p:nvSpPr>
        <p:spPr>
          <a:xfrm>
            <a:off x="5453991" y="3196124"/>
            <a:ext cx="457200" cy="548640"/>
          </a:xfrm>
          <a:prstGeom prst="rect">
            <a:avLst/>
          </a:prstGeom>
          <a:noFill/>
        </p:spPr>
        <p:txBody>
          <a:bodyPr wrap="square">
            <a:spAutoFit/>
          </a:bodyPr>
          <a:lstStyle/>
          <a:p>
            <a:pPr algn="ctr"/>
            <a:r>
              <a:rPr sz="3600" b="1">
                <a:solidFill>
                  <a:srgbClr val="00A443"/>
                </a:solidFill>
                <a:latin typeface="Arial"/>
              </a:rPr>
              <a:t>→</a:t>
            </a:r>
          </a:p>
        </p:txBody>
      </p:sp>
      <p:sp>
        <p:nvSpPr>
          <p:cNvPr id="24" name="Rounded Rectangle 16">
            <a:extLst>
              <a:ext uri="{FF2B5EF4-FFF2-40B4-BE49-F238E27FC236}">
                <a16:creationId xmlns:a16="http://schemas.microsoft.com/office/drawing/2014/main" id="{1464EF79-B848-915A-6C71-DD312F2A8850}"/>
              </a:ext>
            </a:extLst>
          </p:cNvPr>
          <p:cNvSpPr/>
          <p:nvPr/>
        </p:nvSpPr>
        <p:spPr>
          <a:xfrm>
            <a:off x="6162651" y="1813723"/>
            <a:ext cx="5151790" cy="411480"/>
          </a:xfrm>
          <a:prstGeom prst="roundRect">
            <a:avLst>
              <a:gd name="adj" fmla="val 5093"/>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Arial"/>
              </a:rPr>
              <a:t>OUR RESPONSE — 4 DIMENSIONS</a:t>
            </a:r>
          </a:p>
        </p:txBody>
      </p:sp>
      <p:sp>
        <p:nvSpPr>
          <p:cNvPr id="25" name="Rectangle 24">
            <a:extLst>
              <a:ext uri="{FF2B5EF4-FFF2-40B4-BE49-F238E27FC236}">
                <a16:creationId xmlns:a16="http://schemas.microsoft.com/office/drawing/2014/main" id="{53F686C3-35D3-DED8-348D-D1DE4BFD0F2B}"/>
              </a:ext>
            </a:extLst>
          </p:cNvPr>
          <p:cNvSpPr/>
          <p:nvPr/>
        </p:nvSpPr>
        <p:spPr>
          <a:xfrm>
            <a:off x="6162651" y="2316643"/>
            <a:ext cx="61264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13BAD558-C7E2-EC0E-C09C-6CA872934DA6}"/>
              </a:ext>
            </a:extLst>
          </p:cNvPr>
          <p:cNvSpPr/>
          <p:nvPr/>
        </p:nvSpPr>
        <p:spPr>
          <a:xfrm>
            <a:off x="6299811" y="2430943"/>
            <a:ext cx="274320" cy="274320"/>
          </a:xfrm>
          <a:prstGeom prst="ellipse">
            <a:avLst/>
          </a:prstGeom>
          <a:solidFill>
            <a:srgbClr val="00A4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716C00E8-59E4-35F8-3CB2-03F98AF16E14}"/>
              </a:ext>
            </a:extLst>
          </p:cNvPr>
          <p:cNvSpPr txBox="1"/>
          <p:nvPr/>
        </p:nvSpPr>
        <p:spPr>
          <a:xfrm>
            <a:off x="6665571" y="2385223"/>
            <a:ext cx="5532120" cy="365760"/>
          </a:xfrm>
          <a:prstGeom prst="rect">
            <a:avLst/>
          </a:prstGeom>
          <a:noFill/>
        </p:spPr>
        <p:txBody>
          <a:bodyPr wrap="square">
            <a:spAutoFit/>
          </a:bodyPr>
          <a:lstStyle/>
          <a:p>
            <a:pPr>
              <a:spcBef>
                <a:spcPts val="100"/>
              </a:spcBef>
              <a:spcAft>
                <a:spcPts val="100"/>
              </a:spcAft>
            </a:pPr>
            <a:r>
              <a:rPr sz="1300" b="1">
                <a:solidFill>
                  <a:srgbClr val="333333"/>
                </a:solidFill>
                <a:latin typeface="Arial"/>
              </a:rPr>
              <a:t>Lifecycle &amp; Strategy</a:t>
            </a:r>
          </a:p>
          <a:p>
            <a:pPr>
              <a:spcBef>
                <a:spcPts val="100"/>
              </a:spcBef>
              <a:spcAft>
                <a:spcPts val="100"/>
              </a:spcAft>
            </a:pPr>
            <a:r>
              <a:rPr sz="1100" b="0">
                <a:solidFill>
                  <a:srgbClr val="666666"/>
                </a:solidFill>
                <a:latin typeface="Arial"/>
              </a:rPr>
              <a:t>One intake → Value-based prioritization → E2E traceability</a:t>
            </a:r>
          </a:p>
        </p:txBody>
      </p:sp>
      <p:sp>
        <p:nvSpPr>
          <p:cNvPr id="28" name="Rectangle 27">
            <a:extLst>
              <a:ext uri="{FF2B5EF4-FFF2-40B4-BE49-F238E27FC236}">
                <a16:creationId xmlns:a16="http://schemas.microsoft.com/office/drawing/2014/main" id="{F917EF94-C3AB-4C32-F156-FCF57510AF34}"/>
              </a:ext>
            </a:extLst>
          </p:cNvPr>
          <p:cNvSpPr/>
          <p:nvPr/>
        </p:nvSpPr>
        <p:spPr>
          <a:xfrm>
            <a:off x="6162651" y="2819563"/>
            <a:ext cx="61264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0C9C68EE-1DBA-A6AF-E000-1796AFE3D297}"/>
              </a:ext>
            </a:extLst>
          </p:cNvPr>
          <p:cNvSpPr/>
          <p:nvPr/>
        </p:nvSpPr>
        <p:spPr>
          <a:xfrm>
            <a:off x="6299811" y="3064488"/>
            <a:ext cx="274320" cy="274320"/>
          </a:xfrm>
          <a:prstGeom prst="ellipse">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9DA47C0E-B522-392D-B3FD-62DE3AE116CD}"/>
              </a:ext>
            </a:extLst>
          </p:cNvPr>
          <p:cNvSpPr txBox="1"/>
          <p:nvPr/>
        </p:nvSpPr>
        <p:spPr>
          <a:xfrm>
            <a:off x="6665571" y="3018768"/>
            <a:ext cx="5532120" cy="365760"/>
          </a:xfrm>
          <a:prstGeom prst="rect">
            <a:avLst/>
          </a:prstGeom>
          <a:noFill/>
        </p:spPr>
        <p:txBody>
          <a:bodyPr wrap="square">
            <a:spAutoFit/>
          </a:bodyPr>
          <a:lstStyle/>
          <a:p>
            <a:pPr>
              <a:spcBef>
                <a:spcPts val="100"/>
              </a:spcBef>
              <a:spcAft>
                <a:spcPts val="100"/>
              </a:spcAft>
            </a:pPr>
            <a:r>
              <a:rPr sz="1300" b="1">
                <a:solidFill>
                  <a:srgbClr val="333333"/>
                </a:solidFill>
                <a:latin typeface="Arial"/>
              </a:rPr>
              <a:t>Tools &amp; Transparency</a:t>
            </a:r>
          </a:p>
          <a:p>
            <a:pPr>
              <a:spcBef>
                <a:spcPts val="100"/>
              </a:spcBef>
              <a:spcAft>
                <a:spcPts val="100"/>
              </a:spcAft>
            </a:pPr>
            <a:r>
              <a:rPr sz="1100" b="0">
                <a:solidFill>
                  <a:srgbClr val="666666"/>
                </a:solidFill>
                <a:latin typeface="Arial"/>
              </a:rPr>
              <a:t>Jira workflows → PPMNow visibility → Real-time dashboards</a:t>
            </a:r>
          </a:p>
        </p:txBody>
      </p:sp>
      <p:sp>
        <p:nvSpPr>
          <p:cNvPr id="31" name="Rectangle 30">
            <a:extLst>
              <a:ext uri="{FF2B5EF4-FFF2-40B4-BE49-F238E27FC236}">
                <a16:creationId xmlns:a16="http://schemas.microsoft.com/office/drawing/2014/main" id="{148B050A-66FE-69DA-9C95-FD4055DFF070}"/>
              </a:ext>
            </a:extLst>
          </p:cNvPr>
          <p:cNvSpPr/>
          <p:nvPr/>
        </p:nvSpPr>
        <p:spPr>
          <a:xfrm>
            <a:off x="6162651" y="3322483"/>
            <a:ext cx="61264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B7D8E655-CA5A-5DF7-683D-7096CFFE045B}"/>
              </a:ext>
            </a:extLst>
          </p:cNvPr>
          <p:cNvSpPr/>
          <p:nvPr/>
        </p:nvSpPr>
        <p:spPr>
          <a:xfrm>
            <a:off x="6299811" y="3607604"/>
            <a:ext cx="274320" cy="2743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F99465B1-CA58-BBF9-EE3C-6207FE65865B}"/>
              </a:ext>
            </a:extLst>
          </p:cNvPr>
          <p:cNvSpPr txBox="1"/>
          <p:nvPr/>
        </p:nvSpPr>
        <p:spPr>
          <a:xfrm>
            <a:off x="6665571" y="3561884"/>
            <a:ext cx="5532120" cy="487313"/>
          </a:xfrm>
          <a:prstGeom prst="rect">
            <a:avLst/>
          </a:prstGeom>
          <a:noFill/>
        </p:spPr>
        <p:txBody>
          <a:bodyPr wrap="square">
            <a:spAutoFit/>
          </a:bodyPr>
          <a:lstStyle/>
          <a:p>
            <a:pPr>
              <a:spcBef>
                <a:spcPts val="100"/>
              </a:spcBef>
              <a:spcAft>
                <a:spcPts val="100"/>
              </a:spcAft>
            </a:pPr>
            <a:r>
              <a:rPr sz="1300" b="1">
                <a:solidFill>
                  <a:srgbClr val="333333"/>
                </a:solidFill>
                <a:latin typeface="Arial"/>
              </a:rPr>
              <a:t>People &amp; Governance</a:t>
            </a:r>
          </a:p>
          <a:p>
            <a:pPr>
              <a:spcBef>
                <a:spcPts val="100"/>
              </a:spcBef>
              <a:spcAft>
                <a:spcPts val="100"/>
              </a:spcAft>
            </a:pPr>
            <a:r>
              <a:rPr sz="1100" b="0">
                <a:solidFill>
                  <a:srgbClr val="666666"/>
                </a:solidFill>
                <a:latin typeface="Arial"/>
              </a:rPr>
              <a:t>RACI across lifecycle → Champions per area → </a:t>
            </a:r>
            <a:r>
              <a:rPr lang="pt-BR" sz="1100" b="0">
                <a:solidFill>
                  <a:srgbClr val="666666"/>
                </a:solidFill>
                <a:latin typeface="Arial"/>
              </a:rPr>
              <a:t>Governance model</a:t>
            </a:r>
            <a:endParaRPr sz="1100" b="0">
              <a:solidFill>
                <a:srgbClr val="666666"/>
              </a:solidFill>
              <a:latin typeface="Arial"/>
            </a:endParaRPr>
          </a:p>
        </p:txBody>
      </p:sp>
      <p:sp>
        <p:nvSpPr>
          <p:cNvPr id="34" name="Rectangle 33">
            <a:extLst>
              <a:ext uri="{FF2B5EF4-FFF2-40B4-BE49-F238E27FC236}">
                <a16:creationId xmlns:a16="http://schemas.microsoft.com/office/drawing/2014/main" id="{467247D6-97CE-A402-7D18-D61B9D11134C}"/>
              </a:ext>
            </a:extLst>
          </p:cNvPr>
          <p:cNvSpPr/>
          <p:nvPr/>
        </p:nvSpPr>
        <p:spPr>
          <a:xfrm>
            <a:off x="6162651" y="3825403"/>
            <a:ext cx="6126480" cy="5029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4950FA51-F3A4-061B-5E60-D8FFEBB03F72}"/>
              </a:ext>
            </a:extLst>
          </p:cNvPr>
          <p:cNvSpPr/>
          <p:nvPr/>
        </p:nvSpPr>
        <p:spPr>
          <a:xfrm>
            <a:off x="6299811" y="4211006"/>
            <a:ext cx="274320" cy="274320"/>
          </a:xfrm>
          <a:prstGeom prst="ellipse">
            <a:avLst/>
          </a:prstGeom>
          <a:solidFill>
            <a:srgbClr val="81C7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62F710D7-B084-64DE-2B28-8430F410BD0E}"/>
              </a:ext>
            </a:extLst>
          </p:cNvPr>
          <p:cNvSpPr txBox="1"/>
          <p:nvPr/>
        </p:nvSpPr>
        <p:spPr>
          <a:xfrm>
            <a:off x="6665571" y="4165286"/>
            <a:ext cx="5532120" cy="365760"/>
          </a:xfrm>
          <a:prstGeom prst="rect">
            <a:avLst/>
          </a:prstGeom>
          <a:noFill/>
        </p:spPr>
        <p:txBody>
          <a:bodyPr wrap="square">
            <a:spAutoFit/>
          </a:bodyPr>
          <a:lstStyle/>
          <a:p>
            <a:pPr>
              <a:spcBef>
                <a:spcPts val="100"/>
              </a:spcBef>
              <a:spcAft>
                <a:spcPts val="100"/>
              </a:spcAft>
            </a:pPr>
            <a:r>
              <a:rPr sz="1300" b="1">
                <a:solidFill>
                  <a:srgbClr val="333333"/>
                </a:solidFill>
                <a:latin typeface="Arial"/>
              </a:rPr>
              <a:t>Pilot &amp; Adoption</a:t>
            </a:r>
          </a:p>
          <a:p>
            <a:pPr>
              <a:spcBef>
                <a:spcPts val="100"/>
              </a:spcBef>
              <a:spcAft>
                <a:spcPts val="100"/>
              </a:spcAft>
            </a:pPr>
            <a:r>
              <a:rPr sz="1100" b="0">
                <a:solidFill>
                  <a:srgbClr val="666666"/>
                </a:solidFill>
                <a:latin typeface="Arial"/>
              </a:rPr>
              <a:t>BRS pilot → WoW Playbook → Validated for Wave 2</a:t>
            </a:r>
          </a:p>
        </p:txBody>
      </p:sp>
      <p:sp>
        <p:nvSpPr>
          <p:cNvPr id="37" name="Rounded Rectangle 29">
            <a:extLst>
              <a:ext uri="{FF2B5EF4-FFF2-40B4-BE49-F238E27FC236}">
                <a16:creationId xmlns:a16="http://schemas.microsoft.com/office/drawing/2014/main" id="{02D6DAC7-A84E-D36A-1367-54694BAA135A}"/>
              </a:ext>
            </a:extLst>
          </p:cNvPr>
          <p:cNvSpPr/>
          <p:nvPr/>
        </p:nvSpPr>
        <p:spPr>
          <a:xfrm>
            <a:off x="715945" y="5374604"/>
            <a:ext cx="10598496" cy="411480"/>
          </a:xfrm>
          <a:prstGeom prst="roundRect">
            <a:avLst>
              <a:gd name="adj" fmla="val 9722"/>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14 weeks  •  1 pilot (BRS)  •  Built on proven assets from 4 projects  •  Scalable to all OPCOs</a:t>
            </a:r>
          </a:p>
        </p:txBody>
      </p:sp>
      <p:pic>
        <p:nvPicPr>
          <p:cNvPr id="38" name="Image 0" descr="preencoded.png">
            <a:extLst>
              <a:ext uri="{FF2B5EF4-FFF2-40B4-BE49-F238E27FC236}">
                <a16:creationId xmlns:a16="http://schemas.microsoft.com/office/drawing/2014/main" id="{CFE2780F-064E-B916-A4FF-CA878E7303B8}"/>
              </a:ext>
            </a:extLst>
          </p:cNvPr>
          <p:cNvPicPr>
            <a:picLocks noChangeAspect="1"/>
          </p:cNvPicPr>
          <p:nvPr/>
        </p:nvPicPr>
        <p:blipFill>
          <a:blip r:embed="rId3">
            <a:duotone>
              <a:prstClr val="black"/>
              <a:schemeClr val="accent1">
                <a:tint val="45000"/>
                <a:satMod val="400000"/>
              </a:schemeClr>
            </a:duotone>
          </a:blip>
          <a:srcRect l="-80" r="-80"/>
          <a:stretch/>
        </p:blipFill>
        <p:spPr>
          <a:xfrm>
            <a:off x="888030" y="2558302"/>
            <a:ext cx="340932" cy="272310"/>
          </a:xfrm>
          <a:prstGeom prst="rect">
            <a:avLst/>
          </a:prstGeom>
          <a:noFill/>
          <a:ln>
            <a:noFill/>
          </a:ln>
        </p:spPr>
      </p:pic>
      <p:sp>
        <p:nvSpPr>
          <p:cNvPr id="39" name="Text 10">
            <a:extLst>
              <a:ext uri="{FF2B5EF4-FFF2-40B4-BE49-F238E27FC236}">
                <a16:creationId xmlns:a16="http://schemas.microsoft.com/office/drawing/2014/main" id="{0E8C8AF1-2ED4-6393-EE4C-58F488E629B8}"/>
              </a:ext>
            </a:extLst>
          </p:cNvPr>
          <p:cNvSpPr txBox="1"/>
          <p:nvPr/>
        </p:nvSpPr>
        <p:spPr>
          <a:xfrm>
            <a:off x="1368399" y="2428200"/>
            <a:ext cx="3304085" cy="505663"/>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BC4328"/>
                </a:solidFill>
                <a:effectLst/>
                <a:uLnTx/>
                <a:uFillTx/>
                <a:latin typeface="Montserrat" panose="00000500000000000000" pitchFamily="2" charset="0"/>
                <a:ea typeface="Montserrat" pitchFamily="34" charset="-122"/>
                <a:cs typeface="Montserrat" pitchFamily="34" charset="-120"/>
              </a:rPr>
              <a:t>No Operational Transparency</a:t>
            </a:r>
            <a:endParaRPr kumimoji="0" lang="en-US" sz="1600" b="0" i="0" u="none" strike="noStrike" kern="1200" cap="none" spc="0" normalizeH="0" baseline="0" noProof="0">
              <a:ln>
                <a:noFill/>
              </a:ln>
              <a:solidFill>
                <a:srgbClr val="BC4328"/>
              </a:solidFill>
              <a:effectLst/>
              <a:uLnTx/>
              <a:uFillTx/>
              <a:latin typeface="Montserrat" panose="00000500000000000000" pitchFamily="2" charset="0"/>
            </a:endParaRPr>
          </a:p>
        </p:txBody>
      </p:sp>
      <p:pic>
        <p:nvPicPr>
          <p:cNvPr id="40" name="Image 2" descr="preencoded.png">
            <a:extLst>
              <a:ext uri="{FF2B5EF4-FFF2-40B4-BE49-F238E27FC236}">
                <a16:creationId xmlns:a16="http://schemas.microsoft.com/office/drawing/2014/main" id="{C1E78B21-58F6-191B-1353-97805A92E1D6}"/>
              </a:ext>
            </a:extLst>
          </p:cNvPr>
          <p:cNvPicPr>
            <a:picLocks noChangeAspect="1"/>
          </p:cNvPicPr>
          <p:nvPr/>
        </p:nvPicPr>
        <p:blipFill>
          <a:blip r:embed="rId4">
            <a:duotone>
              <a:prstClr val="black"/>
              <a:schemeClr val="accent1">
                <a:tint val="45000"/>
                <a:satMod val="400000"/>
              </a:schemeClr>
            </a:duotone>
          </a:blip>
          <a:srcRect l="-80" r="-80"/>
          <a:stretch/>
        </p:blipFill>
        <p:spPr>
          <a:xfrm>
            <a:off x="908333" y="3311571"/>
            <a:ext cx="355052" cy="283588"/>
          </a:xfrm>
          <a:prstGeom prst="rect">
            <a:avLst/>
          </a:prstGeom>
          <a:noFill/>
          <a:ln>
            <a:noFill/>
          </a:ln>
        </p:spPr>
      </p:pic>
      <p:sp>
        <p:nvSpPr>
          <p:cNvPr id="41" name="Text 20">
            <a:extLst>
              <a:ext uri="{FF2B5EF4-FFF2-40B4-BE49-F238E27FC236}">
                <a16:creationId xmlns:a16="http://schemas.microsoft.com/office/drawing/2014/main" id="{D778AA26-3EEC-1B51-D074-E9FAE76BE202}"/>
              </a:ext>
            </a:extLst>
          </p:cNvPr>
          <p:cNvSpPr txBox="1"/>
          <p:nvPr/>
        </p:nvSpPr>
        <p:spPr>
          <a:xfrm>
            <a:off x="1366122" y="3202980"/>
            <a:ext cx="3480198"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a:t>No Standardized Value Criteria</a:t>
            </a:r>
          </a:p>
        </p:txBody>
      </p:sp>
      <p:pic>
        <p:nvPicPr>
          <p:cNvPr id="42" name="Image 4" descr="preencoded.png">
            <a:extLst>
              <a:ext uri="{FF2B5EF4-FFF2-40B4-BE49-F238E27FC236}">
                <a16:creationId xmlns:a16="http://schemas.microsoft.com/office/drawing/2014/main" id="{CE2B7AC5-D784-B8AB-4EC2-94C48DA7A78C}"/>
              </a:ext>
            </a:extLst>
          </p:cNvPr>
          <p:cNvPicPr>
            <a:picLocks noChangeAspect="1"/>
          </p:cNvPicPr>
          <p:nvPr/>
        </p:nvPicPr>
        <p:blipFill>
          <a:blip r:embed="rId5">
            <a:duotone>
              <a:prstClr val="black"/>
              <a:schemeClr val="accent1">
                <a:tint val="45000"/>
                <a:satMod val="400000"/>
              </a:schemeClr>
            </a:duotone>
          </a:blip>
          <a:srcRect/>
          <a:stretch/>
        </p:blipFill>
        <p:spPr>
          <a:xfrm>
            <a:off x="988815" y="4073596"/>
            <a:ext cx="274570" cy="274570"/>
          </a:xfrm>
          <a:prstGeom prst="rect">
            <a:avLst/>
          </a:prstGeom>
          <a:noFill/>
          <a:ln>
            <a:noFill/>
          </a:ln>
        </p:spPr>
      </p:pic>
      <p:sp>
        <p:nvSpPr>
          <p:cNvPr id="43" name="Text 30">
            <a:extLst>
              <a:ext uri="{FF2B5EF4-FFF2-40B4-BE49-F238E27FC236}">
                <a16:creationId xmlns:a16="http://schemas.microsoft.com/office/drawing/2014/main" id="{B643BA67-1B12-8C15-8564-AEA46F39D8AF}"/>
              </a:ext>
            </a:extLst>
          </p:cNvPr>
          <p:cNvSpPr txBox="1"/>
          <p:nvPr/>
        </p:nvSpPr>
        <p:spPr>
          <a:xfrm>
            <a:off x="1366121" y="3964557"/>
            <a:ext cx="3115444"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a:t>Operational Fragmentation</a:t>
            </a:r>
          </a:p>
        </p:txBody>
      </p:sp>
      <p:sp>
        <p:nvSpPr>
          <p:cNvPr id="45" name="TextBox 44">
            <a:extLst>
              <a:ext uri="{FF2B5EF4-FFF2-40B4-BE49-F238E27FC236}">
                <a16:creationId xmlns:a16="http://schemas.microsoft.com/office/drawing/2014/main" id="{7F0A1BBA-4819-F003-E72F-67B4E9057161}"/>
              </a:ext>
            </a:extLst>
          </p:cNvPr>
          <p:cNvSpPr txBox="1"/>
          <p:nvPr/>
        </p:nvSpPr>
        <p:spPr>
          <a:xfrm>
            <a:off x="458724" y="928644"/>
            <a:ext cx="11133201"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stStyle>
          <a:p>
            <a:r>
              <a:rPr lang="en-US"/>
              <a:t>Digital Products is growing 30-50% — but without a unified operating model, growth creates chaos. We analyzed 4 existing Avangrid projects and will reuse what works across four dimensions.</a:t>
            </a:r>
          </a:p>
        </p:txBody>
      </p:sp>
    </p:spTree>
    <p:extLst>
      <p:ext uri="{BB962C8B-B14F-4D97-AF65-F5344CB8AC3E}">
        <p14:creationId xmlns:p14="http://schemas.microsoft.com/office/powerpoint/2010/main" val="1026412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927C-F737-F357-2263-FC79C04C3890}"/>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F60AC100-EA94-445B-7CDE-BAF55C2B3CBE}"/>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6AD6F699-671D-D97D-A9AD-BCB729AECC7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B10A3F45-458E-97BA-2EF3-44715442B49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9CBE970F-B1EA-0A9C-8718-0B31D2929D3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7337EEEA-D725-3197-8F6C-32472057047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3C4AC189-A755-BC6F-DB43-3FACE44C6B1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09C3DC64-D084-4F99-9DCA-81E41A5E7AD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D3941731-8A14-39B8-23E0-686087DE80CD}"/>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0BA0E19A-FFE6-166C-86DF-3DF8E8238F92}"/>
              </a:ext>
            </a:extLst>
          </p:cNvPr>
          <p:cNvSpPr/>
          <p:nvPr/>
        </p:nvSpPr>
        <p:spPr>
          <a:xfrm>
            <a:off x="466725" y="1435436"/>
            <a:ext cx="11115675"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TextBox 19">
            <a:extLst>
              <a:ext uri="{FF2B5EF4-FFF2-40B4-BE49-F238E27FC236}">
                <a16:creationId xmlns:a16="http://schemas.microsoft.com/office/drawing/2014/main" id="{10F30EF9-ACC5-760D-A73C-7A06C8D33565}"/>
              </a:ext>
            </a:extLst>
          </p:cNvPr>
          <p:cNvSpPr txBox="1"/>
          <p:nvPr/>
        </p:nvSpPr>
        <p:spPr>
          <a:xfrm>
            <a:off x="5029200" y="1540478"/>
            <a:ext cx="2103120" cy="292837"/>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Helvetica Neue"/>
              </a:rPr>
              <a:t>Vitor Cruz</a:t>
            </a:r>
          </a:p>
          <a:p>
            <a:pPr algn="ctr">
              <a:lnSpc>
                <a:spcPct val="110000"/>
              </a:lnSpc>
              <a:spcBef>
                <a:spcPts val="0"/>
              </a:spcBef>
              <a:spcAft>
                <a:spcPts val="0"/>
              </a:spcAft>
            </a:pPr>
            <a:r>
              <a:rPr lang="en-US" sz="900" b="1" i="0" noProof="0">
                <a:solidFill>
                  <a:schemeClr val="bg1"/>
                </a:solidFill>
                <a:latin typeface="Helvetica Neue"/>
              </a:rPr>
              <a:t>VP — IT Business Solutions Delivery</a:t>
            </a:r>
          </a:p>
        </p:txBody>
      </p:sp>
      <p:sp>
        <p:nvSpPr>
          <p:cNvPr id="27" name="Rectangle 26">
            <a:extLst>
              <a:ext uri="{FF2B5EF4-FFF2-40B4-BE49-F238E27FC236}">
                <a16:creationId xmlns:a16="http://schemas.microsoft.com/office/drawing/2014/main" id="{F843EBDA-6CDE-11CD-C5A1-D8B1B007C12D}"/>
              </a:ext>
            </a:extLst>
          </p:cNvPr>
          <p:cNvSpPr/>
          <p:nvPr/>
        </p:nvSpPr>
        <p:spPr>
          <a:xfrm>
            <a:off x="1403331" y="2083417"/>
            <a:ext cx="2734492"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35">
            <a:extLst>
              <a:ext uri="{FF2B5EF4-FFF2-40B4-BE49-F238E27FC236}">
                <a16:creationId xmlns:a16="http://schemas.microsoft.com/office/drawing/2014/main" id="{1D153E7A-B9BE-2318-60C7-1956C7BDDB20}"/>
              </a:ext>
            </a:extLst>
          </p:cNvPr>
          <p:cNvSpPr txBox="1"/>
          <p:nvPr/>
        </p:nvSpPr>
        <p:spPr>
          <a:xfrm>
            <a:off x="1513059" y="2164915"/>
            <a:ext cx="2604444" cy="325410"/>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1000" b="1" i="0" noProof="0">
                <a:solidFill>
                  <a:schemeClr val="bg1"/>
                </a:solidFill>
                <a:latin typeface="Helvetica Neue"/>
              </a:rPr>
              <a:t>Carlos Garbin  —  Director IT Business Applications  (~26 FTE)</a:t>
            </a:r>
          </a:p>
        </p:txBody>
      </p:sp>
      <p:sp>
        <p:nvSpPr>
          <p:cNvPr id="39" name="Rectangle 38">
            <a:extLst>
              <a:ext uri="{FF2B5EF4-FFF2-40B4-BE49-F238E27FC236}">
                <a16:creationId xmlns:a16="http://schemas.microsoft.com/office/drawing/2014/main" id="{164A4B0F-994E-105E-AB52-A0EF35E6428E}"/>
              </a:ext>
            </a:extLst>
          </p:cNvPr>
          <p:cNvSpPr/>
          <p:nvPr/>
        </p:nvSpPr>
        <p:spPr>
          <a:xfrm>
            <a:off x="7749209" y="2095636"/>
            <a:ext cx="2734492"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bg1"/>
              </a:solidFill>
            </a:endParaRPr>
          </a:p>
        </p:txBody>
      </p:sp>
      <p:sp>
        <p:nvSpPr>
          <p:cNvPr id="40" name="TextBox 39">
            <a:extLst>
              <a:ext uri="{FF2B5EF4-FFF2-40B4-BE49-F238E27FC236}">
                <a16:creationId xmlns:a16="http://schemas.microsoft.com/office/drawing/2014/main" id="{CB05D540-6431-2701-D1D5-FFAF183F976C}"/>
              </a:ext>
            </a:extLst>
          </p:cNvPr>
          <p:cNvSpPr txBox="1"/>
          <p:nvPr/>
        </p:nvSpPr>
        <p:spPr>
          <a:xfrm>
            <a:off x="7749209" y="2177134"/>
            <a:ext cx="2734492" cy="325410"/>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chemeClr val="bg1"/>
                </a:solidFill>
                <a:latin typeface="Helvetica Neue"/>
              </a:rPr>
              <a:t>Kumar </a:t>
            </a:r>
            <a:r>
              <a:rPr lang="en-US" sz="1000" b="1" i="0" noProof="0" err="1">
                <a:solidFill>
                  <a:schemeClr val="bg1"/>
                </a:solidFill>
                <a:latin typeface="Helvetica Neue"/>
              </a:rPr>
              <a:t>Jaladanki</a:t>
            </a:r>
            <a:r>
              <a:rPr lang="en-US" sz="1000" b="1" i="0" noProof="0">
                <a:solidFill>
                  <a:schemeClr val="bg1"/>
                </a:solidFill>
                <a:latin typeface="Helvetica Neue"/>
              </a:rPr>
              <a:t>  —  Director Customer Services Apps  (~24 FTE)</a:t>
            </a:r>
          </a:p>
        </p:txBody>
      </p:sp>
      <p:sp>
        <p:nvSpPr>
          <p:cNvPr id="47" name="Rectangle 46">
            <a:extLst>
              <a:ext uri="{FF2B5EF4-FFF2-40B4-BE49-F238E27FC236}">
                <a16:creationId xmlns:a16="http://schemas.microsoft.com/office/drawing/2014/main" id="{9E40F849-BE3B-9616-4007-2EE85940E874}"/>
              </a:ext>
            </a:extLst>
          </p:cNvPr>
          <p:cNvSpPr/>
          <p:nvPr/>
        </p:nvSpPr>
        <p:spPr>
          <a:xfrm>
            <a:off x="1403331" y="2769217"/>
            <a:ext cx="58928" cy="50887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Rectangle 55">
            <a:extLst>
              <a:ext uri="{FF2B5EF4-FFF2-40B4-BE49-F238E27FC236}">
                <a16:creationId xmlns:a16="http://schemas.microsoft.com/office/drawing/2014/main" id="{C34F132B-DCFC-F7DF-29ED-AEBC6AEB4303}"/>
              </a:ext>
            </a:extLst>
          </p:cNvPr>
          <p:cNvSpPr/>
          <p:nvPr/>
        </p:nvSpPr>
        <p:spPr>
          <a:xfrm>
            <a:off x="1540491" y="2769217"/>
            <a:ext cx="2655389" cy="50887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5" name="TextBox 64">
            <a:extLst>
              <a:ext uri="{FF2B5EF4-FFF2-40B4-BE49-F238E27FC236}">
                <a16:creationId xmlns:a16="http://schemas.microsoft.com/office/drawing/2014/main" id="{9AAC5F6A-7DF6-90B0-09E9-B19EBF0FE054}"/>
              </a:ext>
            </a:extLst>
          </p:cNvPr>
          <p:cNvSpPr txBox="1"/>
          <p:nvPr/>
        </p:nvSpPr>
        <p:spPr>
          <a:xfrm>
            <a:off x="1631931" y="2814936"/>
            <a:ext cx="1394823"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Bruno Moreto</a:t>
            </a:r>
          </a:p>
        </p:txBody>
      </p:sp>
      <p:sp>
        <p:nvSpPr>
          <p:cNvPr id="79" name="TextBox 78">
            <a:extLst>
              <a:ext uri="{FF2B5EF4-FFF2-40B4-BE49-F238E27FC236}">
                <a16:creationId xmlns:a16="http://schemas.microsoft.com/office/drawing/2014/main" id="{0F3C29DB-BD23-D602-DCF4-A8FBEEF67E88}"/>
              </a:ext>
            </a:extLst>
          </p:cNvPr>
          <p:cNvSpPr txBox="1"/>
          <p:nvPr/>
        </p:nvSpPr>
        <p:spPr>
          <a:xfrm>
            <a:off x="1631931" y="3070969"/>
            <a:ext cx="1394823"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Electric &amp; Gas Ops</a:t>
            </a:r>
          </a:p>
        </p:txBody>
      </p:sp>
      <p:sp>
        <p:nvSpPr>
          <p:cNvPr id="80" name="Rounded Rectangle 13">
            <a:extLst>
              <a:ext uri="{FF2B5EF4-FFF2-40B4-BE49-F238E27FC236}">
                <a16:creationId xmlns:a16="http://schemas.microsoft.com/office/drawing/2014/main" id="{E41FA41A-5817-2ADB-5BC3-62F76DA818D4}"/>
              </a:ext>
            </a:extLst>
          </p:cNvPr>
          <p:cNvSpPr/>
          <p:nvPr/>
        </p:nvSpPr>
        <p:spPr>
          <a:xfrm>
            <a:off x="3780770" y="2897233"/>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1" name="TextBox 80">
            <a:extLst>
              <a:ext uri="{FF2B5EF4-FFF2-40B4-BE49-F238E27FC236}">
                <a16:creationId xmlns:a16="http://schemas.microsoft.com/office/drawing/2014/main" id="{BA28A9A0-DE30-E444-5B8C-03449EDE02D0}"/>
              </a:ext>
            </a:extLst>
          </p:cNvPr>
          <p:cNvSpPr txBox="1"/>
          <p:nvPr/>
        </p:nvSpPr>
        <p:spPr>
          <a:xfrm>
            <a:off x="3786666" y="2978808"/>
            <a:ext cx="34036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7 FTE</a:t>
            </a:r>
          </a:p>
        </p:txBody>
      </p:sp>
      <p:sp>
        <p:nvSpPr>
          <p:cNvPr id="82" name="TextBox 81">
            <a:extLst>
              <a:ext uri="{FF2B5EF4-FFF2-40B4-BE49-F238E27FC236}">
                <a16:creationId xmlns:a16="http://schemas.microsoft.com/office/drawing/2014/main" id="{FAC9FA2B-84D9-484A-C2E0-C6B35BEF4B77}"/>
              </a:ext>
            </a:extLst>
          </p:cNvPr>
          <p:cNvSpPr txBox="1"/>
          <p:nvPr/>
        </p:nvSpPr>
        <p:spPr>
          <a:xfrm>
            <a:off x="4466571" y="2910036"/>
            <a:ext cx="100656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0F1C50"/>
                </a:solidFill>
                <a:latin typeface="Helvetica Neue"/>
              </a:rPr>
              <a:t>G&amp;E Champion: Andrew McGibbon</a:t>
            </a:r>
          </a:p>
        </p:txBody>
      </p:sp>
      <p:sp>
        <p:nvSpPr>
          <p:cNvPr id="83" name="Rectangle 82">
            <a:extLst>
              <a:ext uri="{FF2B5EF4-FFF2-40B4-BE49-F238E27FC236}">
                <a16:creationId xmlns:a16="http://schemas.microsoft.com/office/drawing/2014/main" id="{940DE772-1EAE-CA35-0963-8693A9E1F69F}"/>
              </a:ext>
            </a:extLst>
          </p:cNvPr>
          <p:cNvSpPr/>
          <p:nvPr/>
        </p:nvSpPr>
        <p:spPr>
          <a:xfrm>
            <a:off x="1403331" y="3391009"/>
            <a:ext cx="58928" cy="50887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Rectangle 83">
            <a:extLst>
              <a:ext uri="{FF2B5EF4-FFF2-40B4-BE49-F238E27FC236}">
                <a16:creationId xmlns:a16="http://schemas.microsoft.com/office/drawing/2014/main" id="{E9A66747-A33F-99C3-EA77-3F3795E1E786}"/>
              </a:ext>
            </a:extLst>
          </p:cNvPr>
          <p:cNvSpPr/>
          <p:nvPr/>
        </p:nvSpPr>
        <p:spPr>
          <a:xfrm>
            <a:off x="1540491" y="3391009"/>
            <a:ext cx="2655389" cy="50887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5" name="TextBox 84">
            <a:extLst>
              <a:ext uri="{FF2B5EF4-FFF2-40B4-BE49-F238E27FC236}">
                <a16:creationId xmlns:a16="http://schemas.microsoft.com/office/drawing/2014/main" id="{9A6206E1-499B-B776-BE44-FC52FBB14C75}"/>
              </a:ext>
            </a:extLst>
          </p:cNvPr>
          <p:cNvSpPr txBox="1"/>
          <p:nvPr/>
        </p:nvSpPr>
        <p:spPr>
          <a:xfrm>
            <a:off x="1631931" y="3436729"/>
            <a:ext cx="1394823"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George Porto</a:t>
            </a:r>
          </a:p>
        </p:txBody>
      </p:sp>
      <p:sp>
        <p:nvSpPr>
          <p:cNvPr id="86" name="TextBox 85">
            <a:extLst>
              <a:ext uri="{FF2B5EF4-FFF2-40B4-BE49-F238E27FC236}">
                <a16:creationId xmlns:a16="http://schemas.microsoft.com/office/drawing/2014/main" id="{42EEF0D4-06AC-57D5-3BF6-05EC03099828}"/>
              </a:ext>
            </a:extLst>
          </p:cNvPr>
          <p:cNvSpPr txBox="1"/>
          <p:nvPr/>
        </p:nvSpPr>
        <p:spPr>
          <a:xfrm>
            <a:off x="1631931" y="3692760"/>
            <a:ext cx="1394823"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GIS &amp; OSG</a:t>
            </a:r>
          </a:p>
        </p:txBody>
      </p:sp>
      <p:sp>
        <p:nvSpPr>
          <p:cNvPr id="87" name="Rounded Rectangle 20">
            <a:extLst>
              <a:ext uri="{FF2B5EF4-FFF2-40B4-BE49-F238E27FC236}">
                <a16:creationId xmlns:a16="http://schemas.microsoft.com/office/drawing/2014/main" id="{3D08A442-5D58-8D36-898F-455FA3FB1E2B}"/>
              </a:ext>
            </a:extLst>
          </p:cNvPr>
          <p:cNvSpPr/>
          <p:nvPr/>
        </p:nvSpPr>
        <p:spPr>
          <a:xfrm>
            <a:off x="3780770" y="3519025"/>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8" name="TextBox 87">
            <a:extLst>
              <a:ext uri="{FF2B5EF4-FFF2-40B4-BE49-F238E27FC236}">
                <a16:creationId xmlns:a16="http://schemas.microsoft.com/office/drawing/2014/main" id="{D8CEB0CD-9374-4076-DC9B-5AB99DC8CC76}"/>
              </a:ext>
            </a:extLst>
          </p:cNvPr>
          <p:cNvSpPr txBox="1"/>
          <p:nvPr/>
        </p:nvSpPr>
        <p:spPr>
          <a:xfrm>
            <a:off x="3786666" y="3600600"/>
            <a:ext cx="34036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6 FTE</a:t>
            </a:r>
          </a:p>
        </p:txBody>
      </p:sp>
      <p:sp>
        <p:nvSpPr>
          <p:cNvPr id="89" name="TextBox 88">
            <a:extLst>
              <a:ext uri="{FF2B5EF4-FFF2-40B4-BE49-F238E27FC236}">
                <a16:creationId xmlns:a16="http://schemas.microsoft.com/office/drawing/2014/main" id="{03D94FE9-944D-05CD-6DE7-C418D103F838}"/>
              </a:ext>
            </a:extLst>
          </p:cNvPr>
          <p:cNvSpPr txBox="1"/>
          <p:nvPr/>
        </p:nvSpPr>
        <p:spPr>
          <a:xfrm>
            <a:off x="4466571" y="3539086"/>
            <a:ext cx="100656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0F1C50"/>
                </a:solidFill>
                <a:latin typeface="Helvetica Neue"/>
              </a:rPr>
              <a:t>GIS Champion: George Porto</a:t>
            </a:r>
          </a:p>
        </p:txBody>
      </p:sp>
      <p:sp>
        <p:nvSpPr>
          <p:cNvPr id="90" name="Rectangle 89">
            <a:extLst>
              <a:ext uri="{FF2B5EF4-FFF2-40B4-BE49-F238E27FC236}">
                <a16:creationId xmlns:a16="http://schemas.microsoft.com/office/drawing/2014/main" id="{55AD8F59-3EAF-DC60-15E3-4301AB953D2B}"/>
              </a:ext>
            </a:extLst>
          </p:cNvPr>
          <p:cNvSpPr/>
          <p:nvPr/>
        </p:nvSpPr>
        <p:spPr>
          <a:xfrm>
            <a:off x="1403331" y="4012801"/>
            <a:ext cx="58928" cy="50887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1" name="Rectangle 90">
            <a:extLst>
              <a:ext uri="{FF2B5EF4-FFF2-40B4-BE49-F238E27FC236}">
                <a16:creationId xmlns:a16="http://schemas.microsoft.com/office/drawing/2014/main" id="{EA249954-9106-E548-DC20-18B11F7F8F3E}"/>
              </a:ext>
            </a:extLst>
          </p:cNvPr>
          <p:cNvSpPr/>
          <p:nvPr/>
        </p:nvSpPr>
        <p:spPr>
          <a:xfrm>
            <a:off x="1540491" y="4012801"/>
            <a:ext cx="2655389" cy="50887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2" name="TextBox 91">
            <a:extLst>
              <a:ext uri="{FF2B5EF4-FFF2-40B4-BE49-F238E27FC236}">
                <a16:creationId xmlns:a16="http://schemas.microsoft.com/office/drawing/2014/main" id="{96274045-445E-9496-DC8F-A71CAE7509E4}"/>
              </a:ext>
            </a:extLst>
          </p:cNvPr>
          <p:cNvSpPr txBox="1"/>
          <p:nvPr/>
        </p:nvSpPr>
        <p:spPr>
          <a:xfrm>
            <a:off x="1631931" y="4058521"/>
            <a:ext cx="1394823"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Sarath </a:t>
            </a:r>
            <a:r>
              <a:rPr lang="en-US" sz="1100" b="1" i="0" noProof="0" err="1">
                <a:solidFill>
                  <a:srgbClr val="0F1C50"/>
                </a:solidFill>
                <a:latin typeface="Helvetica Neue"/>
              </a:rPr>
              <a:t>Garikapati</a:t>
            </a:r>
            <a:endParaRPr lang="en-US" sz="1100" b="1" i="0" noProof="0">
              <a:solidFill>
                <a:srgbClr val="0F1C50"/>
              </a:solidFill>
              <a:latin typeface="Helvetica Neue"/>
            </a:endParaRPr>
          </a:p>
        </p:txBody>
      </p:sp>
      <p:sp>
        <p:nvSpPr>
          <p:cNvPr id="93" name="TextBox 92">
            <a:extLst>
              <a:ext uri="{FF2B5EF4-FFF2-40B4-BE49-F238E27FC236}">
                <a16:creationId xmlns:a16="http://schemas.microsoft.com/office/drawing/2014/main" id="{E9C82096-5AB3-AE36-0458-14D8A5D8F4EA}"/>
              </a:ext>
            </a:extLst>
          </p:cNvPr>
          <p:cNvSpPr txBox="1"/>
          <p:nvPr/>
        </p:nvSpPr>
        <p:spPr>
          <a:xfrm>
            <a:off x="1631931" y="4314553"/>
            <a:ext cx="1394823"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Corporate Applications</a:t>
            </a:r>
          </a:p>
        </p:txBody>
      </p:sp>
      <p:sp>
        <p:nvSpPr>
          <p:cNvPr id="94" name="Rounded Rectangle 27">
            <a:extLst>
              <a:ext uri="{FF2B5EF4-FFF2-40B4-BE49-F238E27FC236}">
                <a16:creationId xmlns:a16="http://schemas.microsoft.com/office/drawing/2014/main" id="{60C8B683-A3F5-B785-44A3-C08FBBA7DB82}"/>
              </a:ext>
            </a:extLst>
          </p:cNvPr>
          <p:cNvSpPr/>
          <p:nvPr/>
        </p:nvSpPr>
        <p:spPr>
          <a:xfrm>
            <a:off x="3780770" y="4140817"/>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5" name="TextBox 94">
            <a:extLst>
              <a:ext uri="{FF2B5EF4-FFF2-40B4-BE49-F238E27FC236}">
                <a16:creationId xmlns:a16="http://schemas.microsoft.com/office/drawing/2014/main" id="{2E9DD177-08FA-B504-A8CC-EE67B410FC8F}"/>
              </a:ext>
            </a:extLst>
          </p:cNvPr>
          <p:cNvSpPr txBox="1"/>
          <p:nvPr/>
        </p:nvSpPr>
        <p:spPr>
          <a:xfrm>
            <a:off x="3786666" y="4222392"/>
            <a:ext cx="34036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8 FTE</a:t>
            </a:r>
          </a:p>
        </p:txBody>
      </p:sp>
      <p:sp>
        <p:nvSpPr>
          <p:cNvPr id="96" name="TextBox 95">
            <a:extLst>
              <a:ext uri="{FF2B5EF4-FFF2-40B4-BE49-F238E27FC236}">
                <a16:creationId xmlns:a16="http://schemas.microsoft.com/office/drawing/2014/main" id="{AE652F80-755D-58ED-9636-6531A91FD973}"/>
              </a:ext>
            </a:extLst>
          </p:cNvPr>
          <p:cNvSpPr txBox="1"/>
          <p:nvPr/>
        </p:nvSpPr>
        <p:spPr>
          <a:xfrm>
            <a:off x="4466571" y="4084702"/>
            <a:ext cx="100656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0F1C50"/>
                </a:solidFill>
                <a:latin typeface="Helvetica Neue"/>
              </a:rPr>
              <a:t>Corporate Champion: Amit Patel</a:t>
            </a:r>
          </a:p>
        </p:txBody>
      </p:sp>
      <p:sp>
        <p:nvSpPr>
          <p:cNvPr id="97" name="Rectangle 96">
            <a:extLst>
              <a:ext uri="{FF2B5EF4-FFF2-40B4-BE49-F238E27FC236}">
                <a16:creationId xmlns:a16="http://schemas.microsoft.com/office/drawing/2014/main" id="{883A6C0A-06A2-D8BF-D338-FAA845CD017F}"/>
              </a:ext>
            </a:extLst>
          </p:cNvPr>
          <p:cNvSpPr/>
          <p:nvPr/>
        </p:nvSpPr>
        <p:spPr>
          <a:xfrm>
            <a:off x="1403331" y="4634593"/>
            <a:ext cx="58928" cy="50887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8" name="Rectangle 97">
            <a:extLst>
              <a:ext uri="{FF2B5EF4-FFF2-40B4-BE49-F238E27FC236}">
                <a16:creationId xmlns:a16="http://schemas.microsoft.com/office/drawing/2014/main" id="{858F5AC0-D34C-DF5A-30B0-75363387426E}"/>
              </a:ext>
            </a:extLst>
          </p:cNvPr>
          <p:cNvSpPr/>
          <p:nvPr/>
        </p:nvSpPr>
        <p:spPr>
          <a:xfrm>
            <a:off x="1540491" y="4634593"/>
            <a:ext cx="2655389" cy="50887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9" name="TextBox 98">
            <a:extLst>
              <a:ext uri="{FF2B5EF4-FFF2-40B4-BE49-F238E27FC236}">
                <a16:creationId xmlns:a16="http://schemas.microsoft.com/office/drawing/2014/main" id="{2704EC51-DCD6-51DF-EE76-C04AD0BD46AD}"/>
              </a:ext>
            </a:extLst>
          </p:cNvPr>
          <p:cNvSpPr txBox="1"/>
          <p:nvPr/>
        </p:nvSpPr>
        <p:spPr>
          <a:xfrm>
            <a:off x="1631931" y="4680313"/>
            <a:ext cx="1394823"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Vanessa Colombo</a:t>
            </a:r>
          </a:p>
        </p:txBody>
      </p:sp>
      <p:sp>
        <p:nvSpPr>
          <p:cNvPr id="100" name="TextBox 99">
            <a:extLst>
              <a:ext uri="{FF2B5EF4-FFF2-40B4-BE49-F238E27FC236}">
                <a16:creationId xmlns:a16="http://schemas.microsoft.com/office/drawing/2014/main" id="{AE15457C-A45A-64A1-5E8D-2B2131525EBA}"/>
              </a:ext>
            </a:extLst>
          </p:cNvPr>
          <p:cNvSpPr txBox="1"/>
          <p:nvPr/>
        </p:nvSpPr>
        <p:spPr>
          <a:xfrm>
            <a:off x="1631931" y="4936345"/>
            <a:ext cx="1394823"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Global SAP — Iberdrola</a:t>
            </a:r>
          </a:p>
          <a:p>
            <a:pPr algn="l">
              <a:lnSpc>
                <a:spcPct val="110000"/>
              </a:lnSpc>
              <a:spcBef>
                <a:spcPts val="0"/>
              </a:spcBef>
              <a:spcAft>
                <a:spcPts val="0"/>
              </a:spcAft>
            </a:pPr>
            <a:r>
              <a:rPr lang="en-US" sz="1000" b="0" i="0" noProof="0">
                <a:solidFill>
                  <a:srgbClr val="2C3E50"/>
                </a:solidFill>
                <a:latin typeface="Helvetica Neue"/>
              </a:rPr>
              <a:t>FI, PO, Budget (Spain)</a:t>
            </a:r>
          </a:p>
        </p:txBody>
      </p:sp>
      <p:sp>
        <p:nvSpPr>
          <p:cNvPr id="101" name="Rounded Rectangle 34">
            <a:extLst>
              <a:ext uri="{FF2B5EF4-FFF2-40B4-BE49-F238E27FC236}">
                <a16:creationId xmlns:a16="http://schemas.microsoft.com/office/drawing/2014/main" id="{09EC34E7-9B95-215B-AD92-2614BF85F5E1}"/>
              </a:ext>
            </a:extLst>
          </p:cNvPr>
          <p:cNvSpPr/>
          <p:nvPr/>
        </p:nvSpPr>
        <p:spPr>
          <a:xfrm>
            <a:off x="3780770" y="4762609"/>
            <a:ext cx="340360"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2" name="TextBox 101">
            <a:extLst>
              <a:ext uri="{FF2B5EF4-FFF2-40B4-BE49-F238E27FC236}">
                <a16:creationId xmlns:a16="http://schemas.microsoft.com/office/drawing/2014/main" id="{CDD2AE5C-762D-954E-12FF-238B9F75C65B}"/>
              </a:ext>
            </a:extLst>
          </p:cNvPr>
          <p:cNvSpPr txBox="1"/>
          <p:nvPr/>
        </p:nvSpPr>
        <p:spPr>
          <a:xfrm>
            <a:off x="3786666" y="4844184"/>
            <a:ext cx="34036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5 FTE</a:t>
            </a:r>
          </a:p>
        </p:txBody>
      </p:sp>
      <p:sp>
        <p:nvSpPr>
          <p:cNvPr id="103" name="TextBox 102">
            <a:extLst>
              <a:ext uri="{FF2B5EF4-FFF2-40B4-BE49-F238E27FC236}">
                <a16:creationId xmlns:a16="http://schemas.microsoft.com/office/drawing/2014/main" id="{1DFDFA29-189E-98D2-0DCB-EED18914C959}"/>
              </a:ext>
            </a:extLst>
          </p:cNvPr>
          <p:cNvSpPr txBox="1"/>
          <p:nvPr/>
        </p:nvSpPr>
        <p:spPr>
          <a:xfrm>
            <a:off x="4466571" y="4699237"/>
            <a:ext cx="100656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0F1C50"/>
                </a:solidFill>
                <a:latin typeface="Helvetica Neue"/>
              </a:rPr>
              <a:t>Global SAP Champion: Michael Dubois</a:t>
            </a:r>
          </a:p>
        </p:txBody>
      </p:sp>
      <p:sp>
        <p:nvSpPr>
          <p:cNvPr id="104" name="Rectangle 103">
            <a:extLst>
              <a:ext uri="{FF2B5EF4-FFF2-40B4-BE49-F238E27FC236}">
                <a16:creationId xmlns:a16="http://schemas.microsoft.com/office/drawing/2014/main" id="{7E595531-5177-5003-E8A8-18E7725A129F}"/>
              </a:ext>
            </a:extLst>
          </p:cNvPr>
          <p:cNvSpPr/>
          <p:nvPr/>
        </p:nvSpPr>
        <p:spPr>
          <a:xfrm>
            <a:off x="7749209" y="2781436"/>
            <a:ext cx="58928" cy="406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62FF972F-6742-E143-F5D3-6B102582166F}"/>
              </a:ext>
            </a:extLst>
          </p:cNvPr>
          <p:cNvSpPr/>
          <p:nvPr/>
        </p:nvSpPr>
        <p:spPr>
          <a:xfrm>
            <a:off x="7868081" y="2781436"/>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6" name="TextBox 105">
            <a:extLst>
              <a:ext uri="{FF2B5EF4-FFF2-40B4-BE49-F238E27FC236}">
                <a16:creationId xmlns:a16="http://schemas.microsoft.com/office/drawing/2014/main" id="{148E9004-518A-8BAB-4F6C-A98977AD27BD}"/>
              </a:ext>
            </a:extLst>
          </p:cNvPr>
          <p:cNvSpPr txBox="1"/>
          <p:nvPr/>
        </p:nvSpPr>
        <p:spPr>
          <a:xfrm>
            <a:off x="7959521" y="2808867"/>
            <a:ext cx="1236618"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Ivelisse Velazquez</a:t>
            </a:r>
          </a:p>
        </p:txBody>
      </p:sp>
      <p:sp>
        <p:nvSpPr>
          <p:cNvPr id="107" name="TextBox 106">
            <a:extLst>
              <a:ext uri="{FF2B5EF4-FFF2-40B4-BE49-F238E27FC236}">
                <a16:creationId xmlns:a16="http://schemas.microsoft.com/office/drawing/2014/main" id="{6FCBEAE6-589A-388F-4B7B-5CFE4D1D8613}"/>
              </a:ext>
            </a:extLst>
          </p:cNvPr>
          <p:cNvSpPr txBox="1"/>
          <p:nvPr/>
        </p:nvSpPr>
        <p:spPr>
          <a:xfrm>
            <a:off x="7959521" y="3010036"/>
            <a:ext cx="123661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FICA, Billing &amp; Collection</a:t>
            </a:r>
          </a:p>
        </p:txBody>
      </p:sp>
      <p:sp>
        <p:nvSpPr>
          <p:cNvPr id="108" name="Rounded Rectangle 41">
            <a:extLst>
              <a:ext uri="{FF2B5EF4-FFF2-40B4-BE49-F238E27FC236}">
                <a16:creationId xmlns:a16="http://schemas.microsoft.com/office/drawing/2014/main" id="{925DF9E3-3296-A355-39C1-8A654EDDC1CD}"/>
              </a:ext>
            </a:extLst>
          </p:cNvPr>
          <p:cNvSpPr/>
          <p:nvPr/>
        </p:nvSpPr>
        <p:spPr>
          <a:xfrm>
            <a:off x="10126649" y="2872876"/>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9" name="TextBox 108">
            <a:extLst>
              <a:ext uri="{FF2B5EF4-FFF2-40B4-BE49-F238E27FC236}">
                <a16:creationId xmlns:a16="http://schemas.microsoft.com/office/drawing/2014/main" id="{CC49231B-1D79-1108-A566-53C56FEC0518}"/>
              </a:ext>
            </a:extLst>
          </p:cNvPr>
          <p:cNvSpPr txBox="1"/>
          <p:nvPr/>
        </p:nvSpPr>
        <p:spPr>
          <a:xfrm>
            <a:off x="10126649" y="2940326"/>
            <a:ext cx="309155"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8 FTE</a:t>
            </a:r>
          </a:p>
        </p:txBody>
      </p:sp>
      <p:sp>
        <p:nvSpPr>
          <p:cNvPr id="110" name="TextBox 109">
            <a:extLst>
              <a:ext uri="{FF2B5EF4-FFF2-40B4-BE49-F238E27FC236}">
                <a16:creationId xmlns:a16="http://schemas.microsoft.com/office/drawing/2014/main" id="{8264C208-0CDD-C919-6356-03AF8893F904}"/>
              </a:ext>
            </a:extLst>
          </p:cNvPr>
          <p:cNvSpPr txBox="1"/>
          <p:nvPr/>
        </p:nvSpPr>
        <p:spPr>
          <a:xfrm>
            <a:off x="10766729" y="2900047"/>
            <a:ext cx="1006566" cy="26032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SAP Champion: Stephanie</a:t>
            </a:r>
          </a:p>
        </p:txBody>
      </p:sp>
      <p:sp>
        <p:nvSpPr>
          <p:cNvPr id="111" name="Rectangle 110">
            <a:extLst>
              <a:ext uri="{FF2B5EF4-FFF2-40B4-BE49-F238E27FC236}">
                <a16:creationId xmlns:a16="http://schemas.microsoft.com/office/drawing/2014/main" id="{B6BF4FF3-BB0A-8348-D613-96C0D4CCF48B}"/>
              </a:ext>
            </a:extLst>
          </p:cNvPr>
          <p:cNvSpPr/>
          <p:nvPr/>
        </p:nvSpPr>
        <p:spPr>
          <a:xfrm>
            <a:off x="7749209" y="3293500"/>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F8014F1E-AF2B-0677-EB3F-D864670FA010}"/>
              </a:ext>
            </a:extLst>
          </p:cNvPr>
          <p:cNvSpPr/>
          <p:nvPr/>
        </p:nvSpPr>
        <p:spPr>
          <a:xfrm>
            <a:off x="7868081" y="3293500"/>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3" name="TextBox 112">
            <a:extLst>
              <a:ext uri="{FF2B5EF4-FFF2-40B4-BE49-F238E27FC236}">
                <a16:creationId xmlns:a16="http://schemas.microsoft.com/office/drawing/2014/main" id="{780A31B3-307F-64C8-A38A-25995253BBA4}"/>
              </a:ext>
            </a:extLst>
          </p:cNvPr>
          <p:cNvSpPr txBox="1"/>
          <p:nvPr/>
        </p:nvSpPr>
        <p:spPr>
          <a:xfrm>
            <a:off x="7959521" y="3320931"/>
            <a:ext cx="1236618"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TBD (vacant)</a:t>
            </a:r>
          </a:p>
        </p:txBody>
      </p:sp>
      <p:sp>
        <p:nvSpPr>
          <p:cNvPr id="114" name="TextBox 113">
            <a:extLst>
              <a:ext uri="{FF2B5EF4-FFF2-40B4-BE49-F238E27FC236}">
                <a16:creationId xmlns:a16="http://schemas.microsoft.com/office/drawing/2014/main" id="{725FF288-58B6-2A0C-38B2-C4E5610E69F6}"/>
              </a:ext>
            </a:extLst>
          </p:cNvPr>
          <p:cNvSpPr txBox="1"/>
          <p:nvPr/>
        </p:nvSpPr>
        <p:spPr>
          <a:xfrm>
            <a:off x="7959521" y="3522100"/>
            <a:ext cx="1236618" cy="260328"/>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CRM &amp; Contact Center Ops</a:t>
            </a:r>
          </a:p>
        </p:txBody>
      </p:sp>
      <p:sp>
        <p:nvSpPr>
          <p:cNvPr id="115" name="Rounded Rectangle 48">
            <a:extLst>
              <a:ext uri="{FF2B5EF4-FFF2-40B4-BE49-F238E27FC236}">
                <a16:creationId xmlns:a16="http://schemas.microsoft.com/office/drawing/2014/main" id="{01FC1DE3-4116-1709-F577-4434D819855E}"/>
              </a:ext>
            </a:extLst>
          </p:cNvPr>
          <p:cNvSpPr/>
          <p:nvPr/>
        </p:nvSpPr>
        <p:spPr>
          <a:xfrm>
            <a:off x="10126649" y="3384940"/>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6" name="TextBox 115">
            <a:extLst>
              <a:ext uri="{FF2B5EF4-FFF2-40B4-BE49-F238E27FC236}">
                <a16:creationId xmlns:a16="http://schemas.microsoft.com/office/drawing/2014/main" id="{F65DA037-3C04-2004-A1BD-B42264C2672C}"/>
              </a:ext>
            </a:extLst>
          </p:cNvPr>
          <p:cNvSpPr txBox="1"/>
          <p:nvPr/>
        </p:nvSpPr>
        <p:spPr>
          <a:xfrm>
            <a:off x="10126649" y="3452390"/>
            <a:ext cx="309155"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4 FTE</a:t>
            </a:r>
          </a:p>
        </p:txBody>
      </p:sp>
      <p:sp>
        <p:nvSpPr>
          <p:cNvPr id="117" name="TextBox 116">
            <a:extLst>
              <a:ext uri="{FF2B5EF4-FFF2-40B4-BE49-F238E27FC236}">
                <a16:creationId xmlns:a16="http://schemas.microsoft.com/office/drawing/2014/main" id="{044D8F7C-689B-CB2E-9852-8A741D45DCBE}"/>
              </a:ext>
            </a:extLst>
          </p:cNvPr>
          <p:cNvSpPr txBox="1"/>
          <p:nvPr/>
        </p:nvSpPr>
        <p:spPr>
          <a:xfrm>
            <a:off x="10766729" y="3412111"/>
            <a:ext cx="1006566" cy="26032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BC4328"/>
                </a:solidFill>
                <a:latin typeface="Helvetica Neue"/>
              </a:rPr>
              <a:t>Org vacancy — leadership gap</a:t>
            </a:r>
          </a:p>
        </p:txBody>
      </p:sp>
      <p:sp>
        <p:nvSpPr>
          <p:cNvPr id="118" name="Rectangle 117">
            <a:extLst>
              <a:ext uri="{FF2B5EF4-FFF2-40B4-BE49-F238E27FC236}">
                <a16:creationId xmlns:a16="http://schemas.microsoft.com/office/drawing/2014/main" id="{E30B091D-D391-52F2-9ECB-58C9DE14E738}"/>
              </a:ext>
            </a:extLst>
          </p:cNvPr>
          <p:cNvSpPr/>
          <p:nvPr/>
        </p:nvSpPr>
        <p:spPr>
          <a:xfrm>
            <a:off x="7749209" y="3805564"/>
            <a:ext cx="58928" cy="406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9" name="Rectangle 118">
            <a:extLst>
              <a:ext uri="{FF2B5EF4-FFF2-40B4-BE49-F238E27FC236}">
                <a16:creationId xmlns:a16="http://schemas.microsoft.com/office/drawing/2014/main" id="{D73FCBC9-6406-B5F9-0462-02229F20581D}"/>
              </a:ext>
            </a:extLst>
          </p:cNvPr>
          <p:cNvSpPr/>
          <p:nvPr/>
        </p:nvSpPr>
        <p:spPr>
          <a:xfrm>
            <a:off x="7868081" y="3805564"/>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0" name="TextBox 119">
            <a:extLst>
              <a:ext uri="{FF2B5EF4-FFF2-40B4-BE49-F238E27FC236}">
                <a16:creationId xmlns:a16="http://schemas.microsoft.com/office/drawing/2014/main" id="{CC3EB9AD-044B-72BB-CFB8-080535545559}"/>
              </a:ext>
            </a:extLst>
          </p:cNvPr>
          <p:cNvSpPr txBox="1"/>
          <p:nvPr/>
        </p:nvSpPr>
        <p:spPr>
          <a:xfrm>
            <a:off x="7959521" y="3832996"/>
            <a:ext cx="1236618"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Vincent Lam</a:t>
            </a:r>
          </a:p>
        </p:txBody>
      </p:sp>
      <p:sp>
        <p:nvSpPr>
          <p:cNvPr id="121" name="TextBox 120">
            <a:extLst>
              <a:ext uri="{FF2B5EF4-FFF2-40B4-BE49-F238E27FC236}">
                <a16:creationId xmlns:a16="http://schemas.microsoft.com/office/drawing/2014/main" id="{AB80BCEA-862E-F05D-390D-2895A823D364}"/>
              </a:ext>
            </a:extLst>
          </p:cNvPr>
          <p:cNvSpPr txBox="1"/>
          <p:nvPr/>
        </p:nvSpPr>
        <p:spPr>
          <a:xfrm>
            <a:off x="7959521" y="4034164"/>
            <a:ext cx="1236618" cy="260328"/>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Device &amp; Metering (Avangrid)</a:t>
            </a:r>
          </a:p>
        </p:txBody>
      </p:sp>
      <p:sp>
        <p:nvSpPr>
          <p:cNvPr id="122" name="Rounded Rectangle 55">
            <a:extLst>
              <a:ext uri="{FF2B5EF4-FFF2-40B4-BE49-F238E27FC236}">
                <a16:creationId xmlns:a16="http://schemas.microsoft.com/office/drawing/2014/main" id="{BD04AEFD-9B25-43A4-9B75-879419932408}"/>
              </a:ext>
            </a:extLst>
          </p:cNvPr>
          <p:cNvSpPr/>
          <p:nvPr/>
        </p:nvSpPr>
        <p:spPr>
          <a:xfrm>
            <a:off x="10126649" y="3897003"/>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3" name="TextBox 122">
            <a:extLst>
              <a:ext uri="{FF2B5EF4-FFF2-40B4-BE49-F238E27FC236}">
                <a16:creationId xmlns:a16="http://schemas.microsoft.com/office/drawing/2014/main" id="{9616EBA6-862F-F6B2-9EFF-60F545E68AC6}"/>
              </a:ext>
            </a:extLst>
          </p:cNvPr>
          <p:cNvSpPr txBox="1"/>
          <p:nvPr/>
        </p:nvSpPr>
        <p:spPr>
          <a:xfrm>
            <a:off x="10126649" y="3964453"/>
            <a:ext cx="309155"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8 FTE</a:t>
            </a:r>
          </a:p>
        </p:txBody>
      </p:sp>
      <p:sp>
        <p:nvSpPr>
          <p:cNvPr id="124" name="TextBox 123">
            <a:extLst>
              <a:ext uri="{FF2B5EF4-FFF2-40B4-BE49-F238E27FC236}">
                <a16:creationId xmlns:a16="http://schemas.microsoft.com/office/drawing/2014/main" id="{4C07CCE8-62AC-FF0F-CAC9-668961737CA2}"/>
              </a:ext>
            </a:extLst>
          </p:cNvPr>
          <p:cNvSpPr txBox="1"/>
          <p:nvPr/>
        </p:nvSpPr>
        <p:spPr>
          <a:xfrm>
            <a:off x="10766729" y="3849207"/>
            <a:ext cx="1006566" cy="395749"/>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2E7D32"/>
                </a:solidFill>
                <a:latin typeface="Helvetica Neue"/>
              </a:rPr>
              <a:t>Smart Metering Champion: Iram Chowdhury</a:t>
            </a:r>
          </a:p>
        </p:txBody>
      </p:sp>
      <p:sp>
        <p:nvSpPr>
          <p:cNvPr id="125" name="Rectangle 124">
            <a:extLst>
              <a:ext uri="{FF2B5EF4-FFF2-40B4-BE49-F238E27FC236}">
                <a16:creationId xmlns:a16="http://schemas.microsoft.com/office/drawing/2014/main" id="{0DAADC4D-28CD-7DF0-3D0F-A2128C7D9C11}"/>
              </a:ext>
            </a:extLst>
          </p:cNvPr>
          <p:cNvSpPr/>
          <p:nvPr/>
        </p:nvSpPr>
        <p:spPr>
          <a:xfrm>
            <a:off x="7749209" y="4317628"/>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26A196EA-75B4-E845-BDF7-C3A06C19F5E8}"/>
              </a:ext>
            </a:extLst>
          </p:cNvPr>
          <p:cNvSpPr/>
          <p:nvPr/>
        </p:nvSpPr>
        <p:spPr>
          <a:xfrm>
            <a:off x="7868081" y="4317628"/>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7" name="TextBox 126">
            <a:extLst>
              <a:ext uri="{FF2B5EF4-FFF2-40B4-BE49-F238E27FC236}">
                <a16:creationId xmlns:a16="http://schemas.microsoft.com/office/drawing/2014/main" id="{5179606C-4286-AA18-EA99-FD54CBFBEA16}"/>
              </a:ext>
            </a:extLst>
          </p:cNvPr>
          <p:cNvSpPr txBox="1"/>
          <p:nvPr/>
        </p:nvSpPr>
        <p:spPr>
          <a:xfrm>
            <a:off x="7959521" y="4345060"/>
            <a:ext cx="1236618"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Open (vacant)</a:t>
            </a:r>
          </a:p>
        </p:txBody>
      </p:sp>
      <p:sp>
        <p:nvSpPr>
          <p:cNvPr id="128" name="TextBox 127">
            <a:extLst>
              <a:ext uri="{FF2B5EF4-FFF2-40B4-BE49-F238E27FC236}">
                <a16:creationId xmlns:a16="http://schemas.microsoft.com/office/drawing/2014/main" id="{9848A21B-A0C0-568D-205B-3FD4A9EF30A9}"/>
              </a:ext>
            </a:extLst>
          </p:cNvPr>
          <p:cNvSpPr txBox="1"/>
          <p:nvPr/>
        </p:nvSpPr>
        <p:spPr>
          <a:xfrm>
            <a:off x="7959521" y="4546228"/>
            <a:ext cx="123661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SAP &amp; CS Architecture</a:t>
            </a:r>
          </a:p>
        </p:txBody>
      </p:sp>
      <p:sp>
        <p:nvSpPr>
          <p:cNvPr id="129" name="Rounded Rectangle 62">
            <a:extLst>
              <a:ext uri="{FF2B5EF4-FFF2-40B4-BE49-F238E27FC236}">
                <a16:creationId xmlns:a16="http://schemas.microsoft.com/office/drawing/2014/main" id="{2BF3CC0D-69F5-6FDC-99DE-A5C8C4C15402}"/>
              </a:ext>
            </a:extLst>
          </p:cNvPr>
          <p:cNvSpPr/>
          <p:nvPr/>
        </p:nvSpPr>
        <p:spPr>
          <a:xfrm>
            <a:off x="10126649" y="4409068"/>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0" name="TextBox 129">
            <a:extLst>
              <a:ext uri="{FF2B5EF4-FFF2-40B4-BE49-F238E27FC236}">
                <a16:creationId xmlns:a16="http://schemas.microsoft.com/office/drawing/2014/main" id="{3F0C75B0-1944-36D5-6D4A-77A73275FE1F}"/>
              </a:ext>
            </a:extLst>
          </p:cNvPr>
          <p:cNvSpPr txBox="1"/>
          <p:nvPr/>
        </p:nvSpPr>
        <p:spPr>
          <a:xfrm>
            <a:off x="10126649" y="4476518"/>
            <a:ext cx="309155"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2 FTE</a:t>
            </a:r>
          </a:p>
        </p:txBody>
      </p:sp>
      <p:sp>
        <p:nvSpPr>
          <p:cNvPr id="131" name="TextBox 130">
            <a:extLst>
              <a:ext uri="{FF2B5EF4-FFF2-40B4-BE49-F238E27FC236}">
                <a16:creationId xmlns:a16="http://schemas.microsoft.com/office/drawing/2014/main" id="{DBA9505C-42F1-4EC3-B202-947DA431ED73}"/>
              </a:ext>
            </a:extLst>
          </p:cNvPr>
          <p:cNvSpPr txBox="1"/>
          <p:nvPr/>
        </p:nvSpPr>
        <p:spPr>
          <a:xfrm>
            <a:off x="10766729" y="4436239"/>
            <a:ext cx="1006566" cy="26032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BC4328"/>
                </a:solidFill>
                <a:latin typeface="Helvetica Neue"/>
              </a:rPr>
              <a:t>Org vacancy — leadership gap</a:t>
            </a:r>
          </a:p>
        </p:txBody>
      </p:sp>
      <p:sp>
        <p:nvSpPr>
          <p:cNvPr id="132" name="Rectangle 131">
            <a:extLst>
              <a:ext uri="{FF2B5EF4-FFF2-40B4-BE49-F238E27FC236}">
                <a16:creationId xmlns:a16="http://schemas.microsoft.com/office/drawing/2014/main" id="{32267DBF-3162-9A16-6A2F-0CA7E50F6784}"/>
              </a:ext>
            </a:extLst>
          </p:cNvPr>
          <p:cNvSpPr/>
          <p:nvPr/>
        </p:nvSpPr>
        <p:spPr>
          <a:xfrm>
            <a:off x="7749209" y="4829692"/>
            <a:ext cx="58928" cy="406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3" name="Rectangle 132">
            <a:extLst>
              <a:ext uri="{FF2B5EF4-FFF2-40B4-BE49-F238E27FC236}">
                <a16:creationId xmlns:a16="http://schemas.microsoft.com/office/drawing/2014/main" id="{3F00BFB5-D605-6901-BD36-254B18FA75FD}"/>
              </a:ext>
            </a:extLst>
          </p:cNvPr>
          <p:cNvSpPr/>
          <p:nvPr/>
        </p:nvSpPr>
        <p:spPr>
          <a:xfrm>
            <a:off x="7868081" y="4829692"/>
            <a:ext cx="2655389" cy="406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4" name="TextBox 133">
            <a:extLst>
              <a:ext uri="{FF2B5EF4-FFF2-40B4-BE49-F238E27FC236}">
                <a16:creationId xmlns:a16="http://schemas.microsoft.com/office/drawing/2014/main" id="{FF49B69C-5188-9899-1A27-D34344177707}"/>
              </a:ext>
            </a:extLst>
          </p:cNvPr>
          <p:cNvSpPr txBox="1"/>
          <p:nvPr/>
        </p:nvSpPr>
        <p:spPr>
          <a:xfrm>
            <a:off x="7959521" y="4857124"/>
            <a:ext cx="1236618"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Nagi Reddy</a:t>
            </a:r>
          </a:p>
        </p:txBody>
      </p:sp>
      <p:sp>
        <p:nvSpPr>
          <p:cNvPr id="135" name="TextBox 134">
            <a:extLst>
              <a:ext uri="{FF2B5EF4-FFF2-40B4-BE49-F238E27FC236}">
                <a16:creationId xmlns:a16="http://schemas.microsoft.com/office/drawing/2014/main" id="{46D0A62F-5248-6661-9F4D-331E25075777}"/>
              </a:ext>
            </a:extLst>
          </p:cNvPr>
          <p:cNvSpPr txBox="1"/>
          <p:nvPr/>
        </p:nvSpPr>
        <p:spPr>
          <a:xfrm>
            <a:off x="7959521" y="5058292"/>
            <a:ext cx="123661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SAP Basis</a:t>
            </a:r>
          </a:p>
        </p:txBody>
      </p:sp>
      <p:sp>
        <p:nvSpPr>
          <p:cNvPr id="136" name="Rounded Rectangle 69">
            <a:extLst>
              <a:ext uri="{FF2B5EF4-FFF2-40B4-BE49-F238E27FC236}">
                <a16:creationId xmlns:a16="http://schemas.microsoft.com/office/drawing/2014/main" id="{6C08BE1A-64E2-CF3E-8074-99751A778540}"/>
              </a:ext>
            </a:extLst>
          </p:cNvPr>
          <p:cNvSpPr/>
          <p:nvPr/>
        </p:nvSpPr>
        <p:spPr>
          <a:xfrm>
            <a:off x="10126649" y="4921132"/>
            <a:ext cx="309155" cy="245292"/>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7" name="TextBox 136">
            <a:extLst>
              <a:ext uri="{FF2B5EF4-FFF2-40B4-BE49-F238E27FC236}">
                <a16:creationId xmlns:a16="http://schemas.microsoft.com/office/drawing/2014/main" id="{80AEDC6D-F87C-ECC9-9743-14B312C0FD32}"/>
              </a:ext>
            </a:extLst>
          </p:cNvPr>
          <p:cNvSpPr txBox="1"/>
          <p:nvPr/>
        </p:nvSpPr>
        <p:spPr>
          <a:xfrm>
            <a:off x="10126649" y="4988582"/>
            <a:ext cx="309155"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2 FTE</a:t>
            </a:r>
          </a:p>
        </p:txBody>
      </p:sp>
      <p:sp>
        <p:nvSpPr>
          <p:cNvPr id="138" name="TextBox 137">
            <a:extLst>
              <a:ext uri="{FF2B5EF4-FFF2-40B4-BE49-F238E27FC236}">
                <a16:creationId xmlns:a16="http://schemas.microsoft.com/office/drawing/2014/main" id="{B2C407BC-9CDE-B280-7FAA-948EA7E91367}"/>
              </a:ext>
            </a:extLst>
          </p:cNvPr>
          <p:cNvSpPr txBox="1"/>
          <p:nvPr/>
        </p:nvSpPr>
        <p:spPr>
          <a:xfrm>
            <a:off x="10766729" y="4948303"/>
            <a:ext cx="1006566" cy="26032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Scope: Platform / infrastructure</a:t>
            </a:r>
          </a:p>
        </p:txBody>
      </p:sp>
      <p:sp>
        <p:nvSpPr>
          <p:cNvPr id="139" name="Rectangle 138">
            <a:extLst>
              <a:ext uri="{FF2B5EF4-FFF2-40B4-BE49-F238E27FC236}">
                <a16:creationId xmlns:a16="http://schemas.microsoft.com/office/drawing/2014/main" id="{8149480B-C761-264D-103B-1E2793B9BB60}"/>
              </a:ext>
            </a:extLst>
          </p:cNvPr>
          <p:cNvSpPr/>
          <p:nvPr/>
        </p:nvSpPr>
        <p:spPr>
          <a:xfrm>
            <a:off x="4137823" y="6560178"/>
            <a:ext cx="228600" cy="2286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TextBox 139">
            <a:extLst>
              <a:ext uri="{FF2B5EF4-FFF2-40B4-BE49-F238E27FC236}">
                <a16:creationId xmlns:a16="http://schemas.microsoft.com/office/drawing/2014/main" id="{F52C6630-D669-A48E-A2E9-80E565F4521F}"/>
              </a:ext>
            </a:extLst>
          </p:cNvPr>
          <p:cNvSpPr txBox="1"/>
          <p:nvPr/>
        </p:nvSpPr>
        <p:spPr>
          <a:xfrm>
            <a:off x="4425205" y="6574548"/>
            <a:ext cx="1807029"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2C3E50"/>
                </a:solidFill>
                <a:latin typeface="Helvetica Neue"/>
              </a:rPr>
              <a:t>Area champion identified (5)</a:t>
            </a:r>
          </a:p>
        </p:txBody>
      </p:sp>
      <p:sp>
        <p:nvSpPr>
          <p:cNvPr id="145" name="Rectangle 144">
            <a:extLst>
              <a:ext uri="{FF2B5EF4-FFF2-40B4-BE49-F238E27FC236}">
                <a16:creationId xmlns:a16="http://schemas.microsoft.com/office/drawing/2014/main" id="{DE91348F-3D88-9F72-EF4B-563C19740480}"/>
              </a:ext>
            </a:extLst>
          </p:cNvPr>
          <p:cNvSpPr/>
          <p:nvPr/>
        </p:nvSpPr>
        <p:spPr>
          <a:xfrm>
            <a:off x="465235" y="5977509"/>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TextBox 145">
            <a:extLst>
              <a:ext uri="{FF2B5EF4-FFF2-40B4-BE49-F238E27FC236}">
                <a16:creationId xmlns:a16="http://schemas.microsoft.com/office/drawing/2014/main" id="{A9563AFB-E1F9-9340-FD9B-04DD73CFCC91}"/>
              </a:ext>
            </a:extLst>
          </p:cNvPr>
          <p:cNvSpPr txBox="1"/>
          <p:nvPr/>
        </p:nvSpPr>
        <p:spPr>
          <a:xfrm>
            <a:off x="687324" y="6124030"/>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Two Sr. Manager vacancies leave Customer Services running at 60% leadership coverage — a structural risk the TOM must address before scaling</a:t>
            </a:r>
          </a:p>
        </p:txBody>
      </p:sp>
      <p:sp>
        <p:nvSpPr>
          <p:cNvPr id="148" name="TextBox 147">
            <a:extLst>
              <a:ext uri="{FF2B5EF4-FFF2-40B4-BE49-F238E27FC236}">
                <a16:creationId xmlns:a16="http://schemas.microsoft.com/office/drawing/2014/main" id="{85F78EB4-AFC4-2153-882E-1203D6BD9292}"/>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Digital Products spans two director branches (~50 FTE) across nine sub-teams — with two Sr. Manager positions currently vacant.</a:t>
            </a:r>
          </a:p>
          <a:p>
            <a:pPr algn="just"/>
            <a:endParaRPr lang="en-US" noProof="0"/>
          </a:p>
        </p:txBody>
      </p:sp>
      <p:sp>
        <p:nvSpPr>
          <p:cNvPr id="6" name="Rectángulo 5">
            <a:extLst>
              <a:ext uri="{FF2B5EF4-FFF2-40B4-BE49-F238E27FC236}">
                <a16:creationId xmlns:a16="http://schemas.microsoft.com/office/drawing/2014/main" id="{C79E4D8B-2CBE-4A0C-52F7-1771A3A5396E}"/>
              </a:ext>
            </a:extLst>
          </p:cNvPr>
          <p:cNvSpPr/>
          <p:nvPr/>
        </p:nvSpPr>
        <p:spPr>
          <a:xfrm>
            <a:off x="12515797" y="1280777"/>
            <a:ext cx="1920240" cy="254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Where</a:t>
            </a:r>
            <a:r>
              <a:rPr lang="es-MX"/>
              <a:t> </a:t>
            </a:r>
            <a:r>
              <a:rPr lang="es-MX" err="1"/>
              <a:t>is</a:t>
            </a:r>
            <a:r>
              <a:rPr lang="es-MX"/>
              <a:t> </a:t>
            </a:r>
            <a:r>
              <a:rPr lang="es-MX" err="1"/>
              <a:t>Product</a:t>
            </a:r>
            <a:r>
              <a:rPr lang="es-MX"/>
              <a:t> Management? </a:t>
            </a:r>
            <a:r>
              <a:rPr lang="es-MX" err="1"/>
              <a:t>We</a:t>
            </a:r>
            <a:r>
              <a:rPr lang="es-MX"/>
              <a:t> </a:t>
            </a:r>
            <a:r>
              <a:rPr lang="es-MX" err="1"/>
              <a:t>should</a:t>
            </a:r>
            <a:r>
              <a:rPr lang="es-MX"/>
              <a:t> </a:t>
            </a:r>
            <a:r>
              <a:rPr lang="es-MX" err="1"/>
              <a:t>include</a:t>
            </a:r>
            <a:r>
              <a:rPr lang="es-MX"/>
              <a:t> it</a:t>
            </a:r>
          </a:p>
        </p:txBody>
      </p:sp>
      <p:sp>
        <p:nvSpPr>
          <p:cNvPr id="10" name="Rectangle 26">
            <a:extLst>
              <a:ext uri="{FF2B5EF4-FFF2-40B4-BE49-F238E27FC236}">
                <a16:creationId xmlns:a16="http://schemas.microsoft.com/office/drawing/2014/main" id="{15E22844-22A9-48A3-D37D-5C150A7BDB5C}"/>
              </a:ext>
            </a:extLst>
          </p:cNvPr>
          <p:cNvSpPr/>
          <p:nvPr/>
        </p:nvSpPr>
        <p:spPr>
          <a:xfrm>
            <a:off x="4609520" y="2076537"/>
            <a:ext cx="2410405" cy="452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a:t>Heather - PM</a:t>
            </a:r>
            <a:endParaRPr lang="en-US" noProof="0"/>
          </a:p>
        </p:txBody>
      </p:sp>
      <p:sp>
        <p:nvSpPr>
          <p:cNvPr id="149" name="Rectángulo 5">
            <a:extLst>
              <a:ext uri="{FF2B5EF4-FFF2-40B4-BE49-F238E27FC236}">
                <a16:creationId xmlns:a16="http://schemas.microsoft.com/office/drawing/2014/main" id="{E99CF2B3-67D1-6BBA-A982-EC5D5FB4E065}"/>
              </a:ext>
            </a:extLst>
          </p:cNvPr>
          <p:cNvSpPr/>
          <p:nvPr/>
        </p:nvSpPr>
        <p:spPr>
          <a:xfrm>
            <a:off x="12475691" y="3434213"/>
            <a:ext cx="1920240" cy="25400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Pm </a:t>
            </a:r>
            <a:r>
              <a:rPr lang="es-MX" err="1"/>
              <a:t>doesn’t</a:t>
            </a:r>
            <a:r>
              <a:rPr lang="es-MX"/>
              <a:t> </a:t>
            </a:r>
            <a:r>
              <a:rPr lang="es-MX" err="1"/>
              <a:t>have</a:t>
            </a:r>
            <a:r>
              <a:rPr lang="es-MX"/>
              <a:t> a  real </a:t>
            </a:r>
            <a:r>
              <a:rPr lang="es-MX" err="1"/>
              <a:t>team</a:t>
            </a:r>
            <a:r>
              <a:rPr lang="es-MX"/>
              <a:t> </a:t>
            </a:r>
            <a:r>
              <a:rPr lang="es-MX" err="1"/>
              <a:t>yet</a:t>
            </a:r>
            <a:endParaRPr lang="es-MX"/>
          </a:p>
        </p:txBody>
      </p:sp>
    </p:spTree>
    <p:extLst>
      <p:ext uri="{BB962C8B-B14F-4D97-AF65-F5344CB8AC3E}">
        <p14:creationId xmlns:p14="http://schemas.microsoft.com/office/powerpoint/2010/main" val="2126230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E38054A-AE95-7AFB-8262-93F4F7208D81}"/>
              </a:ext>
            </a:extLst>
          </p:cNvPr>
          <p:cNvSpPr/>
          <p:nvPr/>
        </p:nvSpPr>
        <p:spPr>
          <a:xfrm>
            <a:off x="965200" y="2113280"/>
            <a:ext cx="3373120" cy="2489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SAP</a:t>
            </a:r>
          </a:p>
          <a:p>
            <a:pPr algn="ctr"/>
            <a:endParaRPr lang="en-US" noProof="0"/>
          </a:p>
          <a:p>
            <a:pPr algn="ctr"/>
            <a:endParaRPr lang="en-US" noProof="0"/>
          </a:p>
        </p:txBody>
      </p:sp>
      <p:sp>
        <p:nvSpPr>
          <p:cNvPr id="3" name="Rectángulo 2">
            <a:extLst>
              <a:ext uri="{FF2B5EF4-FFF2-40B4-BE49-F238E27FC236}">
                <a16:creationId xmlns:a16="http://schemas.microsoft.com/office/drawing/2014/main" id="{4B2381AB-8DB1-62BE-2DE8-BB74470B3BFC}"/>
              </a:ext>
            </a:extLst>
          </p:cNvPr>
          <p:cNvSpPr/>
          <p:nvPr/>
        </p:nvSpPr>
        <p:spPr>
          <a:xfrm>
            <a:off x="5079196" y="847832"/>
            <a:ext cx="5975688" cy="5192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0"/>
              <a:t>Ana Sancha Medina</a:t>
            </a:r>
            <a:endParaRPr lang="en-US" noProof="0"/>
          </a:p>
          <a:p>
            <a:r>
              <a:rPr lang="en-US" noProof="0"/>
              <a:t>there is a need to create a business sense slides, what is important,</a:t>
            </a:r>
          </a:p>
          <a:p>
            <a:r>
              <a:rPr lang="en-US" noProof="0"/>
              <a:t> what is the nature of work </a:t>
            </a:r>
            <a:r>
              <a:rPr lang="en-US" noProof="0" err="1"/>
              <a:t>etc</a:t>
            </a:r>
            <a:endParaRPr lang="en-US" noProof="0"/>
          </a:p>
          <a:p>
            <a:r>
              <a:rPr lang="en-US" noProof="0"/>
              <a:t>what kind of applications they work on</a:t>
            </a:r>
          </a:p>
          <a:p>
            <a:r>
              <a:rPr lang="en-US" noProof="0"/>
              <a:t>their priorities,</a:t>
            </a:r>
          </a:p>
          <a:p>
            <a:r>
              <a:rPr lang="en-US" noProof="0"/>
              <a:t>their current way of working</a:t>
            </a:r>
          </a:p>
          <a:p>
            <a:r>
              <a:rPr lang="en-US" noProof="0"/>
              <a:t> </a:t>
            </a:r>
            <a:r>
              <a:rPr lang="en-US" noProof="0" err="1"/>
              <a:t>whot</a:t>
            </a:r>
            <a:r>
              <a:rPr lang="en-US" noProof="0"/>
              <a:t> they interact with</a:t>
            </a:r>
          </a:p>
          <a:p>
            <a:r>
              <a:rPr lang="en-US" noProof="0"/>
              <a:t>nature of work</a:t>
            </a:r>
          </a:p>
          <a:p>
            <a:r>
              <a:rPr lang="en-US" noProof="0"/>
              <a:t>Pain points</a:t>
            </a:r>
          </a:p>
        </p:txBody>
      </p:sp>
      <p:sp>
        <p:nvSpPr>
          <p:cNvPr id="4" name="Rectangle 28">
            <a:extLst>
              <a:ext uri="{FF2B5EF4-FFF2-40B4-BE49-F238E27FC236}">
                <a16:creationId xmlns:a16="http://schemas.microsoft.com/office/drawing/2014/main" id="{2FEAECFD-FB18-380D-0CF9-617751643C6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0">
            <a:extLst>
              <a:ext uri="{FF2B5EF4-FFF2-40B4-BE49-F238E27FC236}">
                <a16:creationId xmlns:a16="http://schemas.microsoft.com/office/drawing/2014/main" id="{B4DBB3A5-D759-6C84-ABDE-6B2BB08DC01D}"/>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52">
            <a:extLst>
              <a:ext uri="{FF2B5EF4-FFF2-40B4-BE49-F238E27FC236}">
                <a16:creationId xmlns:a16="http://schemas.microsoft.com/office/drawing/2014/main" id="{5598706C-6743-39E0-A297-7B1F4B8DA29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A1E1556A-32D2-5894-47F0-6EB50AC9C0C7}"/>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E79A2877-6C67-3B41-9D48-2456E95E11C4}"/>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5BB60915-6DC4-0A98-558B-B0AD57CC7A2E}"/>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CBB419A5-EDCA-303E-33C5-29566B33FE36}"/>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031110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0B284D5-422F-BE92-66BC-F795D4C41017}"/>
              </a:ext>
            </a:extLst>
          </p:cNvPr>
          <p:cNvSpPr/>
          <p:nvPr/>
        </p:nvSpPr>
        <p:spPr>
          <a:xfrm>
            <a:off x="965200" y="2113280"/>
            <a:ext cx="3373120" cy="2489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a:t>Applications teams (GIS/</a:t>
            </a:r>
            <a:r>
              <a:rPr lang="en-US" noProof="0" err="1"/>
              <a:t>Croporate</a:t>
            </a:r>
            <a:r>
              <a:rPr lang="en-US" noProof="0"/>
              <a:t>/Global SAP, G&amp;E, Metering)</a:t>
            </a:r>
          </a:p>
          <a:p>
            <a:pPr algn="ctr"/>
            <a:endParaRPr lang="en-US" noProof="0"/>
          </a:p>
          <a:p>
            <a:pPr algn="ctr"/>
            <a:endParaRPr lang="en-US" noProof="0"/>
          </a:p>
        </p:txBody>
      </p:sp>
      <p:sp>
        <p:nvSpPr>
          <p:cNvPr id="3" name="Rectángulo 2">
            <a:extLst>
              <a:ext uri="{FF2B5EF4-FFF2-40B4-BE49-F238E27FC236}">
                <a16:creationId xmlns:a16="http://schemas.microsoft.com/office/drawing/2014/main" id="{A5EEF4FF-A489-2DC2-B513-EE6175E8EDF2}"/>
              </a:ext>
            </a:extLst>
          </p:cNvPr>
          <p:cNvSpPr/>
          <p:nvPr/>
        </p:nvSpPr>
        <p:spPr>
          <a:xfrm>
            <a:off x="5079196" y="847832"/>
            <a:ext cx="5975688" cy="5192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noProof="0"/>
              <a:t>Ana Sancha Medina</a:t>
            </a:r>
            <a:endParaRPr lang="en-US" noProof="0"/>
          </a:p>
          <a:p>
            <a:r>
              <a:rPr lang="en-US" noProof="0"/>
              <a:t>there is a need to create a business sense slides, what is important,</a:t>
            </a:r>
          </a:p>
          <a:p>
            <a:r>
              <a:rPr lang="en-US" noProof="0"/>
              <a:t> what is the nature of work </a:t>
            </a:r>
            <a:r>
              <a:rPr lang="en-US" noProof="0" err="1"/>
              <a:t>etc</a:t>
            </a:r>
            <a:endParaRPr lang="en-US" noProof="0"/>
          </a:p>
          <a:p>
            <a:r>
              <a:rPr lang="en-US" noProof="0"/>
              <a:t>what kind of applications they work on</a:t>
            </a:r>
          </a:p>
          <a:p>
            <a:r>
              <a:rPr lang="en-US" noProof="0"/>
              <a:t>their priorities,</a:t>
            </a:r>
          </a:p>
          <a:p>
            <a:r>
              <a:rPr lang="en-US" noProof="0"/>
              <a:t>their current way of working</a:t>
            </a:r>
          </a:p>
          <a:p>
            <a:r>
              <a:rPr lang="en-US" noProof="0"/>
              <a:t> </a:t>
            </a:r>
            <a:r>
              <a:rPr lang="en-US" noProof="0" err="1"/>
              <a:t>whot</a:t>
            </a:r>
            <a:r>
              <a:rPr lang="en-US" noProof="0"/>
              <a:t> they interact with</a:t>
            </a:r>
          </a:p>
          <a:p>
            <a:r>
              <a:rPr lang="en-US" noProof="0"/>
              <a:t>nature of work</a:t>
            </a:r>
          </a:p>
          <a:p>
            <a:r>
              <a:rPr lang="en-US" noProof="0"/>
              <a:t>Pain points</a:t>
            </a:r>
          </a:p>
        </p:txBody>
      </p:sp>
      <p:sp>
        <p:nvSpPr>
          <p:cNvPr id="5" name="Rectangle 28">
            <a:extLst>
              <a:ext uri="{FF2B5EF4-FFF2-40B4-BE49-F238E27FC236}">
                <a16:creationId xmlns:a16="http://schemas.microsoft.com/office/drawing/2014/main" id="{49FE7AA2-E248-925D-7D07-C61A82A56D7F}"/>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C6DE9DF0-FA03-7069-B7C0-624DB0FC817D}"/>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8EE4A6B5-5665-7352-5BD3-C5E8EF02C02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1B14E897-49D3-C9E0-E2C3-9EDA11F4A20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5AA84BA4-6E50-6452-B8C8-1B7636B1330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AD8FCE86-923F-DC99-23E1-41A6A49916F5}"/>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D83278DA-97C5-E187-DF9F-4B21D3C1BF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914919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3B8D-8129-CF9E-097E-0E0A67C5DA4A}"/>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E1A4D38D-8502-9EEB-AB5E-3DF05EDE60D3}"/>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6278F46F-F723-4D3F-F4F3-363FE3C607E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26B81ACE-0D84-E429-487E-C7A81F8A7573}"/>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B8EC2456-8321-A96E-47FC-6FCF2CE8699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D8CCB9D5-7394-E1BB-6610-ACE5F528BB90}"/>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02BF2D97-2CF9-6213-FC0D-F27A4336DCCF}"/>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576397D6-A66E-CD2E-2ACC-B364092F1C21}"/>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B2515F4B-9F79-D4F4-111A-3B2DEDD8C2E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501BC0E7-9862-91C3-B74A-D4FF537CD1B9}"/>
              </a:ext>
            </a:extLst>
          </p:cNvPr>
          <p:cNvSpPr txBox="1"/>
          <p:nvPr/>
        </p:nvSpPr>
        <p:spPr>
          <a:xfrm>
            <a:off x="458724" y="932575"/>
            <a:ext cx="11274552" cy="871886"/>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Applications runs Avangrid's non-SAP operational backbone — four teams supporting Electric &amp; Gas, GIS, Corporate and Iberdrola Global SAP.</a:t>
            </a:r>
            <a:endParaRPr lang="en-US"/>
          </a:p>
        </p:txBody>
      </p:sp>
      <p:sp>
        <p:nvSpPr>
          <p:cNvPr id="6" name="Rectangle 5">
            <a:extLst>
              <a:ext uri="{FF2B5EF4-FFF2-40B4-BE49-F238E27FC236}">
                <a16:creationId xmlns:a16="http://schemas.microsoft.com/office/drawing/2014/main" id="{94120D8F-AA38-847A-5092-054DE7934312}"/>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36" name="Group 135">
            <a:extLst>
              <a:ext uri="{FF2B5EF4-FFF2-40B4-BE49-F238E27FC236}">
                <a16:creationId xmlns:a16="http://schemas.microsoft.com/office/drawing/2014/main" id="{562F8541-21DB-36AF-7A3C-63129500D007}"/>
              </a:ext>
            </a:extLst>
          </p:cNvPr>
          <p:cNvGrpSpPr/>
          <p:nvPr/>
        </p:nvGrpSpPr>
        <p:grpSpPr>
          <a:xfrm>
            <a:off x="457200" y="1562100"/>
            <a:ext cx="14420763" cy="4762500"/>
            <a:chOff x="457200" y="2271303"/>
            <a:chExt cx="14420763" cy="3220387"/>
          </a:xfrm>
        </p:grpSpPr>
        <p:sp>
          <p:nvSpPr>
            <p:cNvPr id="137" name="Rectangle 136">
              <a:extLst>
                <a:ext uri="{FF2B5EF4-FFF2-40B4-BE49-F238E27FC236}">
                  <a16:creationId xmlns:a16="http://schemas.microsoft.com/office/drawing/2014/main" id="{0D3BA6E1-07E6-1750-CA02-04E955B5C134}"/>
                </a:ext>
              </a:extLst>
            </p:cNvPr>
            <p:cNvSpPr/>
            <p:nvPr/>
          </p:nvSpPr>
          <p:spPr>
            <a:xfrm>
              <a:off x="6226342" y="4470687"/>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Rectangle 137">
              <a:extLst>
                <a:ext uri="{FF2B5EF4-FFF2-40B4-BE49-F238E27FC236}">
                  <a16:creationId xmlns:a16="http://schemas.microsoft.com/office/drawing/2014/main" id="{EB1B2833-8239-B432-0652-40C9A43733AE}"/>
                </a:ext>
              </a:extLst>
            </p:cNvPr>
            <p:cNvSpPr/>
            <p:nvPr/>
          </p:nvSpPr>
          <p:spPr>
            <a:xfrm>
              <a:off x="6226342" y="4447608"/>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9" name="Rectangle 138">
              <a:extLst>
                <a:ext uri="{FF2B5EF4-FFF2-40B4-BE49-F238E27FC236}">
                  <a16:creationId xmlns:a16="http://schemas.microsoft.com/office/drawing/2014/main" id="{E12D1322-5162-E6DF-0122-7611779E2A5A}"/>
                </a:ext>
              </a:extLst>
            </p:cNvPr>
            <p:cNvSpPr/>
            <p:nvPr/>
          </p:nvSpPr>
          <p:spPr>
            <a:xfrm>
              <a:off x="6226342"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Rectangle 139">
              <a:extLst>
                <a:ext uri="{FF2B5EF4-FFF2-40B4-BE49-F238E27FC236}">
                  <a16:creationId xmlns:a16="http://schemas.microsoft.com/office/drawing/2014/main" id="{1029BDCF-5673-2E81-5346-C9DCA3D198C8}"/>
                </a:ext>
              </a:extLst>
            </p:cNvPr>
            <p:cNvSpPr/>
            <p:nvPr/>
          </p:nvSpPr>
          <p:spPr>
            <a:xfrm>
              <a:off x="6226342"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1" name="Rectangle 140">
              <a:extLst>
                <a:ext uri="{FF2B5EF4-FFF2-40B4-BE49-F238E27FC236}">
                  <a16:creationId xmlns:a16="http://schemas.microsoft.com/office/drawing/2014/main" id="{853BD0F4-EC13-0D36-1B88-710CF5F3A18D}"/>
                </a:ext>
              </a:extLst>
            </p:cNvPr>
            <p:cNvSpPr/>
            <p:nvPr/>
          </p:nvSpPr>
          <p:spPr>
            <a:xfrm>
              <a:off x="6226342"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2" name="Rectangle 141">
              <a:extLst>
                <a:ext uri="{FF2B5EF4-FFF2-40B4-BE49-F238E27FC236}">
                  <a16:creationId xmlns:a16="http://schemas.microsoft.com/office/drawing/2014/main" id="{8BBF52BD-D065-D1B0-FF4A-72D75A084281}"/>
                </a:ext>
              </a:extLst>
            </p:cNvPr>
            <p:cNvSpPr/>
            <p:nvPr/>
          </p:nvSpPr>
          <p:spPr>
            <a:xfrm>
              <a:off x="6226342"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3" name="Rectangle 142">
              <a:extLst>
                <a:ext uri="{FF2B5EF4-FFF2-40B4-BE49-F238E27FC236}">
                  <a16:creationId xmlns:a16="http://schemas.microsoft.com/office/drawing/2014/main" id="{AE22D3EC-3BCB-0C00-34E4-17585E804B21}"/>
                </a:ext>
              </a:extLst>
            </p:cNvPr>
            <p:cNvSpPr/>
            <p:nvPr/>
          </p:nvSpPr>
          <p:spPr>
            <a:xfrm>
              <a:off x="472440" y="4476496"/>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Rectangle 143">
              <a:extLst>
                <a:ext uri="{FF2B5EF4-FFF2-40B4-BE49-F238E27FC236}">
                  <a16:creationId xmlns:a16="http://schemas.microsoft.com/office/drawing/2014/main" id="{3EEDB0BC-FDEE-267E-4266-64736B70852D}"/>
                </a:ext>
              </a:extLst>
            </p:cNvPr>
            <p:cNvSpPr/>
            <p:nvPr/>
          </p:nvSpPr>
          <p:spPr>
            <a:xfrm>
              <a:off x="472440" y="4453417"/>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Rectangle 144">
              <a:extLst>
                <a:ext uri="{FF2B5EF4-FFF2-40B4-BE49-F238E27FC236}">
                  <a16:creationId xmlns:a16="http://schemas.microsoft.com/office/drawing/2014/main" id="{9EF4DC73-34E9-A161-70C8-AAA98DCD0859}"/>
                </a:ext>
              </a:extLst>
            </p:cNvPr>
            <p:cNvSpPr/>
            <p:nvPr/>
          </p:nvSpPr>
          <p:spPr>
            <a:xfrm>
              <a:off x="472440"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Rectangle 145">
              <a:extLst>
                <a:ext uri="{FF2B5EF4-FFF2-40B4-BE49-F238E27FC236}">
                  <a16:creationId xmlns:a16="http://schemas.microsoft.com/office/drawing/2014/main" id="{822F00A0-FA30-DDC2-C96E-836B85041AC0}"/>
                </a:ext>
              </a:extLst>
            </p:cNvPr>
            <p:cNvSpPr/>
            <p:nvPr/>
          </p:nvSpPr>
          <p:spPr>
            <a:xfrm>
              <a:off x="472440"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Rectangle 146">
              <a:extLst>
                <a:ext uri="{FF2B5EF4-FFF2-40B4-BE49-F238E27FC236}">
                  <a16:creationId xmlns:a16="http://schemas.microsoft.com/office/drawing/2014/main" id="{5D5EF96A-913F-4197-2EE4-A58B98838B2C}"/>
                </a:ext>
              </a:extLst>
            </p:cNvPr>
            <p:cNvSpPr/>
            <p:nvPr/>
          </p:nvSpPr>
          <p:spPr>
            <a:xfrm>
              <a:off x="457200"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9" name="Rectangle 148">
              <a:extLst>
                <a:ext uri="{FF2B5EF4-FFF2-40B4-BE49-F238E27FC236}">
                  <a16:creationId xmlns:a16="http://schemas.microsoft.com/office/drawing/2014/main" id="{8BFB2EAD-09C4-437D-9C64-A5CE46ADC94C}"/>
                </a:ext>
              </a:extLst>
            </p:cNvPr>
            <p:cNvSpPr/>
            <p:nvPr/>
          </p:nvSpPr>
          <p:spPr>
            <a:xfrm>
              <a:off x="457200"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CAE17860-5D59-5507-F39A-42D8932A81D2}"/>
                </a:ext>
              </a:extLst>
            </p:cNvPr>
            <p:cNvSpPr txBox="1"/>
            <p:nvPr/>
          </p:nvSpPr>
          <p:spPr>
            <a:xfrm>
              <a:off x="658368" y="234837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NATURE OF WORK</a:t>
              </a:r>
            </a:p>
          </p:txBody>
        </p:sp>
        <p:sp>
          <p:nvSpPr>
            <p:cNvPr id="151" name="TextBox 150">
              <a:extLst>
                <a:ext uri="{FF2B5EF4-FFF2-40B4-BE49-F238E27FC236}">
                  <a16:creationId xmlns:a16="http://schemas.microsoft.com/office/drawing/2014/main" id="{B0B50302-3040-580F-CB11-10EEC92EDA68}"/>
                </a:ext>
              </a:extLst>
            </p:cNvPr>
            <p:cNvSpPr txBox="1"/>
            <p:nvPr/>
          </p:nvSpPr>
          <p:spPr>
            <a:xfrm>
              <a:off x="3809238" y="2372549"/>
              <a:ext cx="5257800" cy="94998"/>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Helvetica Neue"/>
                </a:rPr>
                <a:t>Operational continuity + regulated change</a:t>
              </a:r>
            </a:p>
          </p:txBody>
        </p:sp>
        <p:sp>
          <p:nvSpPr>
            <p:cNvPr id="152" name="TextBox 151">
              <a:extLst>
                <a:ext uri="{FF2B5EF4-FFF2-40B4-BE49-F238E27FC236}">
                  <a16:creationId xmlns:a16="http://schemas.microsoft.com/office/drawing/2014/main" id="{F81EFFED-4715-36C7-AC26-95D28A8CA8E8}"/>
                </a:ext>
              </a:extLst>
            </p:cNvPr>
            <p:cNvSpPr txBox="1"/>
            <p:nvPr/>
          </p:nvSpPr>
          <p:spPr>
            <a:xfrm>
              <a:off x="6400800" y="234837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APPLICATIONS IN SCOPE</a:t>
              </a:r>
            </a:p>
          </p:txBody>
        </p:sp>
        <p:sp>
          <p:nvSpPr>
            <p:cNvPr id="153" name="TextBox 152">
              <a:extLst>
                <a:ext uri="{FF2B5EF4-FFF2-40B4-BE49-F238E27FC236}">
                  <a16:creationId xmlns:a16="http://schemas.microsoft.com/office/drawing/2014/main" id="{978C2E8D-3818-A4A7-0B35-EF6762FA823F}"/>
                </a:ext>
              </a:extLst>
            </p:cNvPr>
            <p:cNvSpPr txBox="1"/>
            <p:nvPr/>
          </p:nvSpPr>
          <p:spPr>
            <a:xfrm>
              <a:off x="9620163" y="2354362"/>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Four technology domains under Carlos</a:t>
              </a:r>
            </a:p>
          </p:txBody>
        </p:sp>
        <p:sp>
          <p:nvSpPr>
            <p:cNvPr id="154" name="TextBox 153">
              <a:extLst>
                <a:ext uri="{FF2B5EF4-FFF2-40B4-BE49-F238E27FC236}">
                  <a16:creationId xmlns:a16="http://schemas.microsoft.com/office/drawing/2014/main" id="{5D115E09-4B97-3FD3-5248-1AC274DE4809}"/>
                </a:ext>
              </a:extLst>
            </p:cNvPr>
            <p:cNvSpPr txBox="1"/>
            <p:nvPr/>
          </p:nvSpPr>
          <p:spPr>
            <a:xfrm>
              <a:off x="649946" y="3406848"/>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PRIORITIES TODAY</a:t>
              </a:r>
            </a:p>
          </p:txBody>
        </p:sp>
        <p:sp>
          <p:nvSpPr>
            <p:cNvPr id="155" name="TextBox 154">
              <a:extLst>
                <a:ext uri="{FF2B5EF4-FFF2-40B4-BE49-F238E27FC236}">
                  <a16:creationId xmlns:a16="http://schemas.microsoft.com/office/drawing/2014/main" id="{668C4930-067F-CF0C-EEA5-8F8A899BB2BC}"/>
                </a:ext>
              </a:extLst>
            </p:cNvPr>
            <p:cNvSpPr txBox="1"/>
            <p:nvPr/>
          </p:nvSpPr>
          <p:spPr>
            <a:xfrm>
              <a:off x="3680460" y="3425081"/>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Break/fix first, regulatory second, strategic last</a:t>
              </a:r>
            </a:p>
          </p:txBody>
        </p:sp>
        <p:sp>
          <p:nvSpPr>
            <p:cNvPr id="156" name="TextBox 155">
              <a:extLst>
                <a:ext uri="{FF2B5EF4-FFF2-40B4-BE49-F238E27FC236}">
                  <a16:creationId xmlns:a16="http://schemas.microsoft.com/office/drawing/2014/main" id="{66242083-86AF-6012-B084-43C9E32C935E}"/>
                </a:ext>
              </a:extLst>
            </p:cNvPr>
            <p:cNvSpPr txBox="1"/>
            <p:nvPr/>
          </p:nvSpPr>
          <p:spPr>
            <a:xfrm>
              <a:off x="6400800" y="452251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BRS  /  OPCO LANDSCAPE</a:t>
              </a:r>
            </a:p>
          </p:txBody>
        </p:sp>
        <p:sp>
          <p:nvSpPr>
            <p:cNvPr id="157" name="TextBox 156">
              <a:extLst>
                <a:ext uri="{FF2B5EF4-FFF2-40B4-BE49-F238E27FC236}">
                  <a16:creationId xmlns:a16="http://schemas.microsoft.com/office/drawing/2014/main" id="{F95B8E51-4F77-F710-EBE8-B241A60C45E2}"/>
                </a:ext>
              </a:extLst>
            </p:cNvPr>
            <p:cNvSpPr txBox="1"/>
            <p:nvPr/>
          </p:nvSpPr>
          <p:spPr>
            <a:xfrm>
              <a:off x="9221002" y="4529726"/>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3 BRS groups representing 7 operating companies</a:t>
              </a:r>
            </a:p>
          </p:txBody>
        </p:sp>
        <p:sp>
          <p:nvSpPr>
            <p:cNvPr id="158" name="TextBox 157">
              <a:extLst>
                <a:ext uri="{FF2B5EF4-FFF2-40B4-BE49-F238E27FC236}">
                  <a16:creationId xmlns:a16="http://schemas.microsoft.com/office/drawing/2014/main" id="{9BAE0926-EAC0-0F34-608F-65F7A417D655}"/>
                </a:ext>
              </a:extLst>
            </p:cNvPr>
            <p:cNvSpPr txBox="1"/>
            <p:nvPr/>
          </p:nvSpPr>
          <p:spPr>
            <a:xfrm>
              <a:off x="649946" y="452902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TEAMS UNDER KUMAR</a:t>
              </a:r>
            </a:p>
          </p:txBody>
        </p:sp>
        <p:sp>
          <p:nvSpPr>
            <p:cNvPr id="159" name="TextBox 158">
              <a:extLst>
                <a:ext uri="{FF2B5EF4-FFF2-40B4-BE49-F238E27FC236}">
                  <a16:creationId xmlns:a16="http://schemas.microsoft.com/office/drawing/2014/main" id="{C6AD8649-27A2-77D7-0308-90847982AA9A}"/>
                </a:ext>
              </a:extLst>
            </p:cNvPr>
            <p:cNvSpPr txBox="1"/>
            <p:nvPr/>
          </p:nvSpPr>
          <p:spPr>
            <a:xfrm>
              <a:off x="4153542" y="4527289"/>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5 sub-teams, heterogeneous maturity</a:t>
              </a:r>
            </a:p>
          </p:txBody>
        </p:sp>
        <p:sp>
          <p:nvSpPr>
            <p:cNvPr id="160" name="TextBox 159">
              <a:extLst>
                <a:ext uri="{FF2B5EF4-FFF2-40B4-BE49-F238E27FC236}">
                  <a16:creationId xmlns:a16="http://schemas.microsoft.com/office/drawing/2014/main" id="{1346EF31-35CF-17F0-E968-047CF3CCF0E9}"/>
                </a:ext>
              </a:extLst>
            </p:cNvPr>
            <p:cNvSpPr txBox="1"/>
            <p:nvPr/>
          </p:nvSpPr>
          <p:spPr>
            <a:xfrm>
              <a:off x="6400800" y="342276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WAY OF WORKING  &amp;  INTERACTIONS</a:t>
              </a:r>
            </a:p>
          </p:txBody>
        </p:sp>
        <p:sp>
          <p:nvSpPr>
            <p:cNvPr id="161" name="TextBox 160">
              <a:extLst>
                <a:ext uri="{FF2B5EF4-FFF2-40B4-BE49-F238E27FC236}">
                  <a16:creationId xmlns:a16="http://schemas.microsoft.com/office/drawing/2014/main" id="{6934E7AC-86BD-5216-0966-F2CDCA2AEA96}"/>
                </a:ext>
              </a:extLst>
            </p:cNvPr>
            <p:cNvSpPr txBox="1"/>
            <p:nvPr/>
          </p:nvSpPr>
          <p:spPr>
            <a:xfrm>
              <a:off x="9563100" y="3427286"/>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Fragmented intake + vendor-heavy delivery</a:t>
              </a:r>
            </a:p>
          </p:txBody>
        </p:sp>
      </p:grpSp>
      <p:sp>
        <p:nvSpPr>
          <p:cNvPr id="162" name="TextBox 161">
            <a:extLst>
              <a:ext uri="{FF2B5EF4-FFF2-40B4-BE49-F238E27FC236}">
                <a16:creationId xmlns:a16="http://schemas.microsoft.com/office/drawing/2014/main" id="{05E27919-35DB-EDC8-7466-91F378DC33C4}"/>
              </a:ext>
            </a:extLst>
          </p:cNvPr>
          <p:cNvSpPr txBox="1"/>
          <p:nvPr/>
        </p:nvSpPr>
        <p:spPr>
          <a:xfrm>
            <a:off x="658368" y="2092101"/>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Keep the lights on — break/fix is the dominant pattern (GIS, G&amp;E, Corporate).</a:t>
            </a:r>
          </a:p>
          <a:p>
            <a:pPr algn="l">
              <a:lnSpc>
                <a:spcPct val="110000"/>
              </a:lnSpc>
              <a:spcBef>
                <a:spcPts val="0"/>
              </a:spcBef>
              <a:spcAft>
                <a:spcPts val="0"/>
              </a:spcAft>
            </a:pPr>
            <a:r>
              <a:rPr lang="en-US" sz="900" b="0" i="0" noProof="0">
                <a:solidFill>
                  <a:srgbClr val="2C3E50"/>
                </a:solidFill>
                <a:latin typeface="Helvetica Neue"/>
              </a:rPr>
              <a:t>▪  Large demand planned yearly via PDD; small/medium demand handled ad-hoc.</a:t>
            </a:r>
          </a:p>
          <a:p>
            <a:pPr algn="l">
              <a:lnSpc>
                <a:spcPct val="110000"/>
              </a:lnSpc>
              <a:spcBef>
                <a:spcPts val="0"/>
              </a:spcBef>
              <a:spcAft>
                <a:spcPts val="0"/>
              </a:spcAft>
            </a:pPr>
            <a:r>
              <a:rPr lang="en-US" sz="900" b="0" i="0" noProof="0">
                <a:solidFill>
                  <a:srgbClr val="2C3E50"/>
                </a:solidFill>
                <a:latin typeface="Helvetica Neue"/>
              </a:rPr>
              <a:t>▪  Regulatory and employee-facing systems (Corporate) run under continuous compliance pressure.</a:t>
            </a:r>
          </a:p>
          <a:p>
            <a:pPr algn="l">
              <a:lnSpc>
                <a:spcPct val="110000"/>
              </a:lnSpc>
              <a:spcBef>
                <a:spcPts val="0"/>
              </a:spcBef>
              <a:spcAft>
                <a:spcPts val="0"/>
              </a:spcAft>
            </a:pPr>
            <a:r>
              <a:rPr lang="en-US" sz="900" b="0" i="0" noProof="0">
                <a:solidFill>
                  <a:srgbClr val="2C3E50"/>
                </a:solidFill>
                <a:latin typeface="Helvetica Neue"/>
              </a:rPr>
              <a:t>▪  Version upgrades (</a:t>
            </a:r>
            <a:r>
              <a:rPr lang="en-US" sz="900" b="0" i="0" noProof="0" err="1">
                <a:solidFill>
                  <a:srgbClr val="2C3E50"/>
                </a:solidFill>
                <a:latin typeface="Helvetica Neue"/>
              </a:rPr>
              <a:t>Projectwise</a:t>
            </a:r>
            <a:r>
              <a:rPr lang="en-US" sz="900" b="0" i="0" noProof="0">
                <a:solidFill>
                  <a:srgbClr val="2C3E50"/>
                </a:solidFill>
                <a:latin typeface="Helvetica Neue"/>
              </a:rPr>
              <a:t>, </a:t>
            </a:r>
            <a:r>
              <a:rPr lang="en-US" sz="900" b="0" i="0" noProof="0" err="1">
                <a:solidFill>
                  <a:srgbClr val="2C3E50"/>
                </a:solidFill>
                <a:latin typeface="Helvetica Neue"/>
              </a:rPr>
              <a:t>Microstation</a:t>
            </a:r>
            <a:r>
              <a:rPr lang="en-US" sz="900" b="0" i="0" noProof="0">
                <a:solidFill>
                  <a:srgbClr val="2C3E50"/>
                </a:solidFill>
                <a:latin typeface="Helvetica Neue"/>
              </a:rPr>
              <a:t>) gate-kept by Third-Party Risk assessment.</a:t>
            </a:r>
          </a:p>
        </p:txBody>
      </p:sp>
      <p:sp>
        <p:nvSpPr>
          <p:cNvPr id="163" name="TextBox 162">
            <a:extLst>
              <a:ext uri="{FF2B5EF4-FFF2-40B4-BE49-F238E27FC236}">
                <a16:creationId xmlns:a16="http://schemas.microsoft.com/office/drawing/2014/main" id="{EC4B5779-8D0E-6751-5851-2151F47AC01C}"/>
              </a:ext>
            </a:extLst>
          </p:cNvPr>
          <p:cNvSpPr txBox="1"/>
          <p:nvPr/>
        </p:nvSpPr>
        <p:spPr>
          <a:xfrm>
            <a:off x="6409222" y="1897135"/>
            <a:ext cx="5379720" cy="1206933"/>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GIS &amp; OSG  —  SAP HANA, ARCFM, GIS web apps, data replication, SWF platform (George Porto, ~6 FTE).</a:t>
            </a:r>
          </a:p>
          <a:p>
            <a:pPr algn="l">
              <a:lnSpc>
                <a:spcPct val="110000"/>
              </a:lnSpc>
              <a:spcBef>
                <a:spcPts val="0"/>
              </a:spcBef>
              <a:spcAft>
                <a:spcPts val="0"/>
              </a:spcAft>
            </a:pPr>
            <a:r>
              <a:rPr lang="en-US" sz="900" b="0" i="0" noProof="0">
                <a:solidFill>
                  <a:srgbClr val="2C3E50"/>
                </a:solidFill>
                <a:latin typeface="Helvetica Neue"/>
              </a:rPr>
              <a:t>▪  Electric &amp; Gas Ops  —  70–90 apps, android/tablets, doc viewer, 811 gas lines (Bruno Moreto + Andrew McGibbon, ~7 FTE).</a:t>
            </a:r>
          </a:p>
          <a:p>
            <a:pPr algn="l">
              <a:lnSpc>
                <a:spcPct val="110000"/>
              </a:lnSpc>
              <a:spcBef>
                <a:spcPts val="0"/>
              </a:spcBef>
              <a:spcAft>
                <a:spcPts val="0"/>
              </a:spcAft>
            </a:pPr>
            <a:r>
              <a:rPr lang="en-US" sz="900" b="0" i="0" noProof="0">
                <a:solidFill>
                  <a:srgbClr val="2C3E50"/>
                </a:solidFill>
                <a:latin typeface="Helvetica Neue"/>
              </a:rPr>
              <a:t>▪  Corporate Applications  —  5-6 PMs, 2 tech leads, corporate + network apps, SWF tooling (Sarath + Amit, ~8 FTE).</a:t>
            </a:r>
          </a:p>
          <a:p>
            <a:pPr algn="l">
              <a:lnSpc>
                <a:spcPct val="110000"/>
              </a:lnSpc>
              <a:spcBef>
                <a:spcPts val="0"/>
              </a:spcBef>
              <a:spcAft>
                <a:spcPts val="0"/>
              </a:spcAft>
            </a:pPr>
            <a:r>
              <a:rPr lang="en-US" sz="900" b="0" i="0" noProof="0">
                <a:solidFill>
                  <a:srgbClr val="2C3E50"/>
                </a:solidFill>
                <a:latin typeface="Helvetica Neue"/>
              </a:rPr>
              <a:t>▪  Global SAP (Iberdrola)  —  FI, PO, Budget — Spain-side SAP module support (Vanessa + Michael, ~5 FTE).</a:t>
            </a:r>
          </a:p>
        </p:txBody>
      </p:sp>
      <p:sp>
        <p:nvSpPr>
          <p:cNvPr id="164" name="TextBox 163">
            <a:extLst>
              <a:ext uri="{FF2B5EF4-FFF2-40B4-BE49-F238E27FC236}">
                <a16:creationId xmlns:a16="http://schemas.microsoft.com/office/drawing/2014/main" id="{683D12CD-0D58-EE0A-90F2-70A239C9B7D0}"/>
              </a:ext>
            </a:extLst>
          </p:cNvPr>
          <p:cNvSpPr txBox="1"/>
          <p:nvPr/>
        </p:nvSpPr>
        <p:spPr>
          <a:xfrm>
            <a:off x="658368" y="3638303"/>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GIS: keep the lights on; team &amp; SWF resource management; future technology roadmap.</a:t>
            </a:r>
          </a:p>
          <a:p>
            <a:pPr algn="l">
              <a:lnSpc>
                <a:spcPct val="110000"/>
              </a:lnSpc>
              <a:spcBef>
                <a:spcPts val="0"/>
              </a:spcBef>
              <a:spcAft>
                <a:spcPts val="0"/>
              </a:spcAft>
            </a:pPr>
            <a:r>
              <a:rPr lang="en-US" sz="900" b="0" i="0" noProof="0">
                <a:solidFill>
                  <a:srgbClr val="2C3E50"/>
                </a:solidFill>
                <a:latin typeface="Helvetica Neue"/>
              </a:rPr>
              <a:t>▪  Corporate: regulatory and employee-facing systems — always priority; continuous new requirements.</a:t>
            </a:r>
          </a:p>
          <a:p>
            <a:pPr algn="l">
              <a:lnSpc>
                <a:spcPct val="110000"/>
              </a:lnSpc>
              <a:spcBef>
                <a:spcPts val="0"/>
              </a:spcBef>
              <a:spcAft>
                <a:spcPts val="0"/>
              </a:spcAft>
            </a:pPr>
            <a:r>
              <a:rPr lang="en-US" sz="900" b="0" i="0" noProof="0">
                <a:solidFill>
                  <a:srgbClr val="2C3E50"/>
                </a:solidFill>
                <a:latin typeface="Helvetica Neue"/>
              </a:rPr>
              <a:t>▪  G&amp;E: ProjectWise + </a:t>
            </a:r>
            <a:r>
              <a:rPr lang="en-US" sz="900" b="0" i="0" noProof="0" err="1">
                <a:solidFill>
                  <a:srgbClr val="2C3E50"/>
                </a:solidFill>
                <a:latin typeface="Helvetica Neue"/>
              </a:rPr>
              <a:t>Microstation</a:t>
            </a:r>
            <a:r>
              <a:rPr lang="en-US" sz="900" b="0" i="0" noProof="0">
                <a:solidFill>
                  <a:srgbClr val="2C3E50"/>
                </a:solidFill>
                <a:latin typeface="Helvetica Neue"/>
              </a:rPr>
              <a:t> upgrades; third-party risk interface; business case approvals (slow).</a:t>
            </a:r>
          </a:p>
          <a:p>
            <a:pPr algn="l">
              <a:lnSpc>
                <a:spcPct val="110000"/>
              </a:lnSpc>
              <a:spcBef>
                <a:spcPts val="0"/>
              </a:spcBef>
              <a:spcAft>
                <a:spcPts val="0"/>
              </a:spcAft>
            </a:pPr>
            <a:r>
              <a:rPr lang="en-US" sz="900" b="0" i="0" noProof="0">
                <a:solidFill>
                  <a:srgbClr val="2C3E50"/>
                </a:solidFill>
                <a:latin typeface="Helvetica Neue"/>
              </a:rPr>
              <a:t>▪  Global SAP: incident volume dominates — strategic projects slip; 1-year hiring lag amplifies load.</a:t>
            </a:r>
          </a:p>
        </p:txBody>
      </p:sp>
      <p:sp>
        <p:nvSpPr>
          <p:cNvPr id="165" name="TextBox 164">
            <a:extLst>
              <a:ext uri="{FF2B5EF4-FFF2-40B4-BE49-F238E27FC236}">
                <a16:creationId xmlns:a16="http://schemas.microsoft.com/office/drawing/2014/main" id="{022B7927-1FF7-CF08-74D9-7C345580A610}"/>
              </a:ext>
            </a:extLst>
          </p:cNvPr>
          <p:cNvSpPr txBox="1"/>
          <p:nvPr/>
        </p:nvSpPr>
        <p:spPr>
          <a:xfrm>
            <a:off x="6400800" y="3620360"/>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Inside Applications: GIS ↔ G&amp;E (shared SAP/GIS data); Corporate ↔ all teams (shared PMs).</a:t>
            </a:r>
          </a:p>
          <a:p>
            <a:pPr algn="l">
              <a:lnSpc>
                <a:spcPct val="110000"/>
              </a:lnSpc>
              <a:spcBef>
                <a:spcPts val="0"/>
              </a:spcBef>
              <a:spcAft>
                <a:spcPts val="0"/>
              </a:spcAft>
            </a:pPr>
            <a:r>
              <a:rPr lang="en-US" sz="900" b="0" i="0" noProof="0">
                <a:solidFill>
                  <a:srgbClr val="2C3E50"/>
                </a:solidFill>
                <a:latin typeface="Helvetica Neue"/>
              </a:rPr>
              <a:t>▪  With SAP branch: Global SAP ↔ Kumar's SAP (Billing, FICA); P&amp;T is the intermediary with Business.</a:t>
            </a:r>
          </a:p>
          <a:p>
            <a:pPr algn="l">
              <a:lnSpc>
                <a:spcPct val="110000"/>
              </a:lnSpc>
              <a:spcBef>
                <a:spcPts val="0"/>
              </a:spcBef>
              <a:spcAft>
                <a:spcPts val="0"/>
              </a:spcAft>
            </a:pPr>
            <a:r>
              <a:rPr lang="en-US" sz="900" b="0" i="0" noProof="0">
                <a:solidFill>
                  <a:srgbClr val="2C3E50"/>
                </a:solidFill>
                <a:latin typeface="Helvetica Neue"/>
              </a:rPr>
              <a:t>▪  With vendors: Accenture (Global SAP + Corporate), SWF / Software Factory (all teams), business vendors (G&amp;E).</a:t>
            </a:r>
          </a:p>
          <a:p>
            <a:pPr algn="l">
              <a:lnSpc>
                <a:spcPct val="110000"/>
              </a:lnSpc>
              <a:spcBef>
                <a:spcPts val="0"/>
              </a:spcBef>
              <a:spcAft>
                <a:spcPts val="0"/>
              </a:spcAft>
            </a:pPr>
            <a:r>
              <a:rPr lang="en-US" sz="900" b="0" i="0" noProof="0">
                <a:solidFill>
                  <a:srgbClr val="2C3E50"/>
                </a:solidFill>
                <a:latin typeface="Helvetica Neue"/>
              </a:rPr>
              <a:t>▪  Tools mix: Jira (</a:t>
            </a:r>
            <a:r>
              <a:rPr lang="en-US" sz="900" b="0" i="0" noProof="0" err="1">
                <a:solidFill>
                  <a:srgbClr val="2C3E50"/>
                </a:solidFill>
                <a:latin typeface="Helvetica Neue"/>
              </a:rPr>
              <a:t>misc</a:t>
            </a:r>
            <a:r>
              <a:rPr lang="en-US" sz="900" b="0" i="0" noProof="0">
                <a:solidFill>
                  <a:srgbClr val="2C3E50"/>
                </a:solidFill>
                <a:latin typeface="Helvetica Neue"/>
              </a:rPr>
              <a:t>), IT Now (incidents), PDD (large), SharePoint + Teams + OneNote + Email (PM).</a:t>
            </a:r>
          </a:p>
        </p:txBody>
      </p:sp>
    </p:spTree>
    <p:extLst>
      <p:ext uri="{BB962C8B-B14F-4D97-AF65-F5344CB8AC3E}">
        <p14:creationId xmlns:p14="http://schemas.microsoft.com/office/powerpoint/2010/main" val="878931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793-5F71-5699-117C-E263C367DB6D}"/>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553182E9-53A8-B670-3B89-53C4B2FCE37A}"/>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2E23CCBF-D339-FC17-786F-356785498E2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E1A027FB-F1D8-DD8F-1C25-88EC94E84C09}"/>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4F081BE5-F207-F6E1-C3ED-ECCDC2411A5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913CF10F-6E9F-E547-A1C7-3EBAEC5BAA8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AC1D18B4-F892-9DCA-ADC4-01452450436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8A633922-0272-5E2E-C9BB-0122EA85E75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04A21062-C9DB-B4F7-C725-52B2E18B60B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36" name="Group 135">
            <a:extLst>
              <a:ext uri="{FF2B5EF4-FFF2-40B4-BE49-F238E27FC236}">
                <a16:creationId xmlns:a16="http://schemas.microsoft.com/office/drawing/2014/main" id="{A6395D5D-354F-3279-C235-BBD66DDF500A}"/>
              </a:ext>
            </a:extLst>
          </p:cNvPr>
          <p:cNvGrpSpPr/>
          <p:nvPr/>
        </p:nvGrpSpPr>
        <p:grpSpPr>
          <a:xfrm>
            <a:off x="457200" y="1321470"/>
            <a:ext cx="14420763" cy="4762500"/>
            <a:chOff x="457200" y="2271303"/>
            <a:chExt cx="14420763" cy="3220387"/>
          </a:xfrm>
        </p:grpSpPr>
        <p:sp>
          <p:nvSpPr>
            <p:cNvPr id="137" name="Rectangle 136">
              <a:extLst>
                <a:ext uri="{FF2B5EF4-FFF2-40B4-BE49-F238E27FC236}">
                  <a16:creationId xmlns:a16="http://schemas.microsoft.com/office/drawing/2014/main" id="{53A257F7-4A04-CB8F-4FD9-2AB381609A30}"/>
                </a:ext>
              </a:extLst>
            </p:cNvPr>
            <p:cNvSpPr/>
            <p:nvPr/>
          </p:nvSpPr>
          <p:spPr>
            <a:xfrm>
              <a:off x="6226342" y="4470687"/>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Rectangle 137">
              <a:extLst>
                <a:ext uri="{FF2B5EF4-FFF2-40B4-BE49-F238E27FC236}">
                  <a16:creationId xmlns:a16="http://schemas.microsoft.com/office/drawing/2014/main" id="{0B34ACA9-FAF9-B8E7-A2F8-23E9E192E40C}"/>
                </a:ext>
              </a:extLst>
            </p:cNvPr>
            <p:cNvSpPr/>
            <p:nvPr/>
          </p:nvSpPr>
          <p:spPr>
            <a:xfrm>
              <a:off x="6226342" y="4447608"/>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9" name="Rectangle 138">
              <a:extLst>
                <a:ext uri="{FF2B5EF4-FFF2-40B4-BE49-F238E27FC236}">
                  <a16:creationId xmlns:a16="http://schemas.microsoft.com/office/drawing/2014/main" id="{6B0E2B2E-5C95-24FF-B026-0FD21EEB4E72}"/>
                </a:ext>
              </a:extLst>
            </p:cNvPr>
            <p:cNvSpPr/>
            <p:nvPr/>
          </p:nvSpPr>
          <p:spPr>
            <a:xfrm>
              <a:off x="6226342"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Rectangle 139">
              <a:extLst>
                <a:ext uri="{FF2B5EF4-FFF2-40B4-BE49-F238E27FC236}">
                  <a16:creationId xmlns:a16="http://schemas.microsoft.com/office/drawing/2014/main" id="{8425A2EC-FF37-839C-FA41-D86B69967BAE}"/>
                </a:ext>
              </a:extLst>
            </p:cNvPr>
            <p:cNvSpPr/>
            <p:nvPr/>
          </p:nvSpPr>
          <p:spPr>
            <a:xfrm>
              <a:off x="6226342"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1" name="Rectangle 140">
              <a:extLst>
                <a:ext uri="{FF2B5EF4-FFF2-40B4-BE49-F238E27FC236}">
                  <a16:creationId xmlns:a16="http://schemas.microsoft.com/office/drawing/2014/main" id="{F4DC439D-1C3F-F351-2CEA-5032C4A82F18}"/>
                </a:ext>
              </a:extLst>
            </p:cNvPr>
            <p:cNvSpPr/>
            <p:nvPr/>
          </p:nvSpPr>
          <p:spPr>
            <a:xfrm>
              <a:off x="6226342"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2" name="Rectangle 141">
              <a:extLst>
                <a:ext uri="{FF2B5EF4-FFF2-40B4-BE49-F238E27FC236}">
                  <a16:creationId xmlns:a16="http://schemas.microsoft.com/office/drawing/2014/main" id="{47F52D19-C93D-8CC7-80F8-A2F6E479ACCE}"/>
                </a:ext>
              </a:extLst>
            </p:cNvPr>
            <p:cNvSpPr/>
            <p:nvPr/>
          </p:nvSpPr>
          <p:spPr>
            <a:xfrm>
              <a:off x="6226342"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3" name="Rectangle 142">
              <a:extLst>
                <a:ext uri="{FF2B5EF4-FFF2-40B4-BE49-F238E27FC236}">
                  <a16:creationId xmlns:a16="http://schemas.microsoft.com/office/drawing/2014/main" id="{B74E5FA5-87A5-F910-FC4F-3BE5C0F08757}"/>
                </a:ext>
              </a:extLst>
            </p:cNvPr>
            <p:cNvSpPr/>
            <p:nvPr/>
          </p:nvSpPr>
          <p:spPr>
            <a:xfrm>
              <a:off x="472440" y="4476496"/>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Rectangle 143">
              <a:extLst>
                <a:ext uri="{FF2B5EF4-FFF2-40B4-BE49-F238E27FC236}">
                  <a16:creationId xmlns:a16="http://schemas.microsoft.com/office/drawing/2014/main" id="{EDA3287F-D231-27D6-481E-585160E88887}"/>
                </a:ext>
              </a:extLst>
            </p:cNvPr>
            <p:cNvSpPr/>
            <p:nvPr/>
          </p:nvSpPr>
          <p:spPr>
            <a:xfrm>
              <a:off x="472440" y="4453417"/>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Rectangle 144">
              <a:extLst>
                <a:ext uri="{FF2B5EF4-FFF2-40B4-BE49-F238E27FC236}">
                  <a16:creationId xmlns:a16="http://schemas.microsoft.com/office/drawing/2014/main" id="{9038726B-54A7-AA56-5690-F6029D8D1B0D}"/>
                </a:ext>
              </a:extLst>
            </p:cNvPr>
            <p:cNvSpPr/>
            <p:nvPr/>
          </p:nvSpPr>
          <p:spPr>
            <a:xfrm>
              <a:off x="472440"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Rectangle 145">
              <a:extLst>
                <a:ext uri="{FF2B5EF4-FFF2-40B4-BE49-F238E27FC236}">
                  <a16:creationId xmlns:a16="http://schemas.microsoft.com/office/drawing/2014/main" id="{8508E7AA-3451-4994-FA24-E7406C313441}"/>
                </a:ext>
              </a:extLst>
            </p:cNvPr>
            <p:cNvSpPr/>
            <p:nvPr/>
          </p:nvSpPr>
          <p:spPr>
            <a:xfrm>
              <a:off x="472440"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Rectangle 146">
              <a:extLst>
                <a:ext uri="{FF2B5EF4-FFF2-40B4-BE49-F238E27FC236}">
                  <a16:creationId xmlns:a16="http://schemas.microsoft.com/office/drawing/2014/main" id="{A82903FF-CB89-72C4-C000-C0470D40ADCA}"/>
                </a:ext>
              </a:extLst>
            </p:cNvPr>
            <p:cNvSpPr/>
            <p:nvPr/>
          </p:nvSpPr>
          <p:spPr>
            <a:xfrm>
              <a:off x="457200"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9" name="Rectangle 148">
              <a:extLst>
                <a:ext uri="{FF2B5EF4-FFF2-40B4-BE49-F238E27FC236}">
                  <a16:creationId xmlns:a16="http://schemas.microsoft.com/office/drawing/2014/main" id="{5BE35A4A-D2C7-2B44-66D7-27645A2E667F}"/>
                </a:ext>
              </a:extLst>
            </p:cNvPr>
            <p:cNvSpPr/>
            <p:nvPr/>
          </p:nvSpPr>
          <p:spPr>
            <a:xfrm>
              <a:off x="457200"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98A82B56-390F-40A4-6CA8-71476EC92216}"/>
                </a:ext>
              </a:extLst>
            </p:cNvPr>
            <p:cNvSpPr txBox="1"/>
            <p:nvPr/>
          </p:nvSpPr>
          <p:spPr>
            <a:xfrm>
              <a:off x="658368" y="232884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NATURE OF WORK</a:t>
              </a:r>
            </a:p>
          </p:txBody>
        </p:sp>
        <p:sp>
          <p:nvSpPr>
            <p:cNvPr id="151" name="TextBox 150">
              <a:extLst>
                <a:ext uri="{FF2B5EF4-FFF2-40B4-BE49-F238E27FC236}">
                  <a16:creationId xmlns:a16="http://schemas.microsoft.com/office/drawing/2014/main" id="{E0230735-2E46-66F2-0F4F-C9EDB0979737}"/>
                </a:ext>
              </a:extLst>
            </p:cNvPr>
            <p:cNvSpPr txBox="1"/>
            <p:nvPr/>
          </p:nvSpPr>
          <p:spPr>
            <a:xfrm>
              <a:off x="3809238" y="2353023"/>
              <a:ext cx="5257800" cy="94998"/>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Helvetica Neue"/>
                </a:rPr>
                <a:t>Operational continuity + regulated change</a:t>
              </a:r>
            </a:p>
          </p:txBody>
        </p:sp>
        <p:sp>
          <p:nvSpPr>
            <p:cNvPr id="152" name="TextBox 151">
              <a:extLst>
                <a:ext uri="{FF2B5EF4-FFF2-40B4-BE49-F238E27FC236}">
                  <a16:creationId xmlns:a16="http://schemas.microsoft.com/office/drawing/2014/main" id="{5A2EFE96-1797-DDFE-1181-B809F534C97D}"/>
                </a:ext>
              </a:extLst>
            </p:cNvPr>
            <p:cNvSpPr txBox="1"/>
            <p:nvPr/>
          </p:nvSpPr>
          <p:spPr>
            <a:xfrm>
              <a:off x="6400800" y="232884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APPLICATIONS IN SCOPE</a:t>
              </a:r>
            </a:p>
          </p:txBody>
        </p:sp>
        <p:sp>
          <p:nvSpPr>
            <p:cNvPr id="153" name="TextBox 152">
              <a:extLst>
                <a:ext uri="{FF2B5EF4-FFF2-40B4-BE49-F238E27FC236}">
                  <a16:creationId xmlns:a16="http://schemas.microsoft.com/office/drawing/2014/main" id="{4DFE3BED-ABD9-35C1-D3EF-BEBCAD0A8631}"/>
                </a:ext>
              </a:extLst>
            </p:cNvPr>
            <p:cNvSpPr txBox="1"/>
            <p:nvPr/>
          </p:nvSpPr>
          <p:spPr>
            <a:xfrm>
              <a:off x="9620163" y="2334836"/>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Four technology domains under Carlos</a:t>
              </a:r>
            </a:p>
          </p:txBody>
        </p:sp>
        <p:sp>
          <p:nvSpPr>
            <p:cNvPr id="154" name="TextBox 153">
              <a:extLst>
                <a:ext uri="{FF2B5EF4-FFF2-40B4-BE49-F238E27FC236}">
                  <a16:creationId xmlns:a16="http://schemas.microsoft.com/office/drawing/2014/main" id="{F064B1DD-1104-4277-0B15-B763E4DD9A0B}"/>
                </a:ext>
              </a:extLst>
            </p:cNvPr>
            <p:cNvSpPr txBox="1"/>
            <p:nvPr/>
          </p:nvSpPr>
          <p:spPr>
            <a:xfrm>
              <a:off x="649946" y="3406848"/>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PRIORITIES TODAY</a:t>
              </a:r>
            </a:p>
          </p:txBody>
        </p:sp>
        <p:sp>
          <p:nvSpPr>
            <p:cNvPr id="155" name="TextBox 154">
              <a:extLst>
                <a:ext uri="{FF2B5EF4-FFF2-40B4-BE49-F238E27FC236}">
                  <a16:creationId xmlns:a16="http://schemas.microsoft.com/office/drawing/2014/main" id="{E0985B67-BFE4-F72F-D213-901BBEB99772}"/>
                </a:ext>
              </a:extLst>
            </p:cNvPr>
            <p:cNvSpPr txBox="1"/>
            <p:nvPr/>
          </p:nvSpPr>
          <p:spPr>
            <a:xfrm>
              <a:off x="3680460" y="3425081"/>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Break/fix first, regulatory second, strategic last</a:t>
              </a:r>
            </a:p>
          </p:txBody>
        </p:sp>
        <p:sp>
          <p:nvSpPr>
            <p:cNvPr id="156" name="TextBox 155">
              <a:extLst>
                <a:ext uri="{FF2B5EF4-FFF2-40B4-BE49-F238E27FC236}">
                  <a16:creationId xmlns:a16="http://schemas.microsoft.com/office/drawing/2014/main" id="{0F16317E-EADD-F903-D7C7-63BD1F3C5CC4}"/>
                </a:ext>
              </a:extLst>
            </p:cNvPr>
            <p:cNvSpPr txBox="1"/>
            <p:nvPr/>
          </p:nvSpPr>
          <p:spPr>
            <a:xfrm>
              <a:off x="6400800" y="452251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BRS  /  OPCO LANDSCAPE</a:t>
              </a:r>
            </a:p>
          </p:txBody>
        </p:sp>
        <p:sp>
          <p:nvSpPr>
            <p:cNvPr id="157" name="TextBox 156">
              <a:extLst>
                <a:ext uri="{FF2B5EF4-FFF2-40B4-BE49-F238E27FC236}">
                  <a16:creationId xmlns:a16="http://schemas.microsoft.com/office/drawing/2014/main" id="{3F6909A6-D1D6-9A85-CF47-F90CBC59D0A1}"/>
                </a:ext>
              </a:extLst>
            </p:cNvPr>
            <p:cNvSpPr txBox="1"/>
            <p:nvPr/>
          </p:nvSpPr>
          <p:spPr>
            <a:xfrm>
              <a:off x="9221002" y="4529726"/>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a:t>
              </a:r>
            </a:p>
          </p:txBody>
        </p:sp>
        <p:sp>
          <p:nvSpPr>
            <p:cNvPr id="158" name="TextBox 157">
              <a:extLst>
                <a:ext uri="{FF2B5EF4-FFF2-40B4-BE49-F238E27FC236}">
                  <a16:creationId xmlns:a16="http://schemas.microsoft.com/office/drawing/2014/main" id="{4114AC28-7DF5-62B9-8FB7-ED925A3D6183}"/>
                </a:ext>
              </a:extLst>
            </p:cNvPr>
            <p:cNvSpPr txBox="1"/>
            <p:nvPr/>
          </p:nvSpPr>
          <p:spPr>
            <a:xfrm>
              <a:off x="649946" y="4529020"/>
              <a:ext cx="5257800" cy="116156"/>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TEAMS UNDER CARLOS</a:t>
              </a:r>
            </a:p>
          </p:txBody>
        </p:sp>
        <p:sp>
          <p:nvSpPr>
            <p:cNvPr id="159" name="TextBox 158">
              <a:extLst>
                <a:ext uri="{FF2B5EF4-FFF2-40B4-BE49-F238E27FC236}">
                  <a16:creationId xmlns:a16="http://schemas.microsoft.com/office/drawing/2014/main" id="{C7A8FDA7-8178-F359-C99A-CA536286CB89}"/>
                </a:ext>
              </a:extLst>
            </p:cNvPr>
            <p:cNvSpPr txBox="1"/>
            <p:nvPr/>
          </p:nvSpPr>
          <p:spPr>
            <a:xfrm>
              <a:off x="4153542" y="4527289"/>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a:t>
              </a:r>
            </a:p>
          </p:txBody>
        </p:sp>
        <p:sp>
          <p:nvSpPr>
            <p:cNvPr id="160" name="TextBox 159">
              <a:extLst>
                <a:ext uri="{FF2B5EF4-FFF2-40B4-BE49-F238E27FC236}">
                  <a16:creationId xmlns:a16="http://schemas.microsoft.com/office/drawing/2014/main" id="{6AFB3D6C-8C54-D259-E4FE-277D8B5D27FF}"/>
                </a:ext>
              </a:extLst>
            </p:cNvPr>
            <p:cNvSpPr txBox="1"/>
            <p:nvPr/>
          </p:nvSpPr>
          <p:spPr>
            <a:xfrm>
              <a:off x="6400800" y="340974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WAY OF WORKING  &amp;  INTERACTIONS</a:t>
              </a:r>
            </a:p>
          </p:txBody>
        </p:sp>
        <p:sp>
          <p:nvSpPr>
            <p:cNvPr id="161" name="TextBox 160">
              <a:extLst>
                <a:ext uri="{FF2B5EF4-FFF2-40B4-BE49-F238E27FC236}">
                  <a16:creationId xmlns:a16="http://schemas.microsoft.com/office/drawing/2014/main" id="{0AC6ED2C-25B0-114E-CDE9-7BADFAC535B3}"/>
                </a:ext>
              </a:extLst>
            </p:cNvPr>
            <p:cNvSpPr txBox="1"/>
            <p:nvPr/>
          </p:nvSpPr>
          <p:spPr>
            <a:xfrm>
              <a:off x="9563100" y="3407760"/>
              <a:ext cx="5257800" cy="94998"/>
            </a:xfrm>
            <a:prstGeom prst="rect">
              <a:avLst/>
            </a:prstGeom>
            <a:noFill/>
          </p:spPr>
          <p:txBody>
            <a:bodyPr wrap="square" lIns="0" tIns="0" rIns="0" bIns="0" anchor="t">
              <a:spAutoFit/>
            </a:bodyPr>
            <a:lstStyle/>
            <a:p>
              <a:pPr>
                <a:lnSpc>
                  <a:spcPct val="110000"/>
                </a:lnSpc>
              </a:pPr>
              <a:r>
                <a:rPr lang="en-US" sz="900" i="1">
                  <a:solidFill>
                    <a:schemeClr val="accent1"/>
                  </a:solidFill>
                  <a:latin typeface="Helvetica Neue"/>
                </a:rPr>
                <a:t>Inside-IT + vendor + business triangulation</a:t>
              </a:r>
            </a:p>
          </p:txBody>
        </p:sp>
      </p:grpSp>
      <p:sp>
        <p:nvSpPr>
          <p:cNvPr id="162" name="TextBox 161">
            <a:extLst>
              <a:ext uri="{FF2B5EF4-FFF2-40B4-BE49-F238E27FC236}">
                <a16:creationId xmlns:a16="http://schemas.microsoft.com/office/drawing/2014/main" id="{BFD11743-9991-B949-8C18-EB586784794A}"/>
              </a:ext>
            </a:extLst>
          </p:cNvPr>
          <p:cNvSpPr txBox="1"/>
          <p:nvPr/>
        </p:nvSpPr>
        <p:spPr>
          <a:xfrm>
            <a:off x="658368" y="1851471"/>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Helvetica Neue"/>
              </a:rPr>
              <a:t>▪  Keep the lights on — break/fix is the dominant pattern (GIS, G&amp;E, Corporate).</a:t>
            </a:r>
          </a:p>
          <a:p>
            <a:pPr algn="l">
              <a:lnSpc>
                <a:spcPct val="110000"/>
              </a:lnSpc>
              <a:spcBef>
                <a:spcPts val="0"/>
              </a:spcBef>
              <a:spcAft>
                <a:spcPts val="0"/>
              </a:spcAft>
            </a:pPr>
            <a:r>
              <a:rPr lang="en-US" sz="900" b="0" i="0" noProof="0">
                <a:latin typeface="Helvetica Neue"/>
              </a:rPr>
              <a:t>▪  Large demand planned yearly via PDD; small/medium demand handled ad-hoc.</a:t>
            </a:r>
          </a:p>
          <a:p>
            <a:pPr algn="l">
              <a:lnSpc>
                <a:spcPct val="110000"/>
              </a:lnSpc>
              <a:spcBef>
                <a:spcPts val="0"/>
              </a:spcBef>
              <a:spcAft>
                <a:spcPts val="0"/>
              </a:spcAft>
            </a:pPr>
            <a:r>
              <a:rPr lang="en-US" sz="900" b="0" i="0" noProof="0">
                <a:latin typeface="Helvetica Neue"/>
              </a:rPr>
              <a:t>▪  Regulatory and employee-facing systems (Corporate) run under continuous compliance pressure.</a:t>
            </a:r>
          </a:p>
          <a:p>
            <a:pPr algn="l">
              <a:lnSpc>
                <a:spcPct val="110000"/>
              </a:lnSpc>
              <a:spcBef>
                <a:spcPts val="0"/>
              </a:spcBef>
              <a:spcAft>
                <a:spcPts val="0"/>
              </a:spcAft>
            </a:pPr>
            <a:r>
              <a:rPr lang="en-US" sz="900" b="0" i="0" noProof="0">
                <a:latin typeface="Helvetica Neue"/>
              </a:rPr>
              <a:t>▪  Version upgrades (</a:t>
            </a:r>
            <a:r>
              <a:rPr lang="en-US" sz="900" b="0" i="0" noProof="0" err="1">
                <a:latin typeface="Helvetica Neue"/>
              </a:rPr>
              <a:t>Projectwise</a:t>
            </a:r>
            <a:r>
              <a:rPr lang="en-US" sz="900" b="0" i="0" noProof="0">
                <a:latin typeface="Helvetica Neue"/>
              </a:rPr>
              <a:t>, </a:t>
            </a:r>
            <a:r>
              <a:rPr lang="en-US" sz="900" b="0" i="0" noProof="0" err="1">
                <a:latin typeface="Helvetica Neue"/>
              </a:rPr>
              <a:t>Microstation</a:t>
            </a:r>
            <a:r>
              <a:rPr lang="en-US" sz="900" b="0" i="0" noProof="0">
                <a:latin typeface="Helvetica Neue"/>
              </a:rPr>
              <a:t>) gate-kept by Third-Party Risk assessment.</a:t>
            </a:r>
          </a:p>
        </p:txBody>
      </p:sp>
      <p:sp>
        <p:nvSpPr>
          <p:cNvPr id="163" name="TextBox 162">
            <a:extLst>
              <a:ext uri="{FF2B5EF4-FFF2-40B4-BE49-F238E27FC236}">
                <a16:creationId xmlns:a16="http://schemas.microsoft.com/office/drawing/2014/main" id="{A276BEEE-59CE-DFFA-CE9B-4553D4046353}"/>
              </a:ext>
            </a:extLst>
          </p:cNvPr>
          <p:cNvSpPr txBox="1"/>
          <p:nvPr/>
        </p:nvSpPr>
        <p:spPr>
          <a:xfrm>
            <a:off x="6409222" y="1656505"/>
            <a:ext cx="5379720" cy="1206933"/>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Helvetica Neue"/>
              </a:rPr>
              <a:t>▪  GIS &amp; OSG  —  SAP HANA, ARCFM, GIS web apps, data replication, SWF platform (George Porto, ~6 FTE).</a:t>
            </a:r>
          </a:p>
          <a:p>
            <a:pPr algn="l">
              <a:lnSpc>
                <a:spcPct val="110000"/>
              </a:lnSpc>
              <a:spcBef>
                <a:spcPts val="0"/>
              </a:spcBef>
              <a:spcAft>
                <a:spcPts val="0"/>
              </a:spcAft>
            </a:pPr>
            <a:r>
              <a:rPr lang="en-US" sz="900" b="0" i="0" noProof="0">
                <a:latin typeface="Helvetica Neue"/>
              </a:rPr>
              <a:t>▪  Electric &amp; Gas Ops  —  70–90 apps, android/tablets, doc viewer, 811 gas lines (Bruno Moreto + Andrew McGibbon, ~7 FTE).</a:t>
            </a:r>
          </a:p>
          <a:p>
            <a:pPr algn="l">
              <a:lnSpc>
                <a:spcPct val="110000"/>
              </a:lnSpc>
              <a:spcBef>
                <a:spcPts val="0"/>
              </a:spcBef>
              <a:spcAft>
                <a:spcPts val="0"/>
              </a:spcAft>
            </a:pPr>
            <a:r>
              <a:rPr lang="en-US" sz="900" b="0" i="0" noProof="0">
                <a:latin typeface="Helvetica Neue"/>
              </a:rPr>
              <a:t>▪  Corporate Applications  —  5-6 PMs, 2 tech leads, corporate + network apps, SWF tooling (Sarath + Amit, ~8 FTE).</a:t>
            </a:r>
          </a:p>
          <a:p>
            <a:pPr algn="l">
              <a:lnSpc>
                <a:spcPct val="110000"/>
              </a:lnSpc>
              <a:spcBef>
                <a:spcPts val="0"/>
              </a:spcBef>
              <a:spcAft>
                <a:spcPts val="0"/>
              </a:spcAft>
            </a:pPr>
            <a:r>
              <a:rPr lang="en-US" sz="900" b="0" i="0" noProof="0">
                <a:latin typeface="Helvetica Neue"/>
              </a:rPr>
              <a:t>▪  Global SAP (Iberdrola)  —  FI, PO, Budget — Spain-side SAP module support (Vanessa + Michael, ~5 FTE).</a:t>
            </a:r>
          </a:p>
        </p:txBody>
      </p:sp>
      <p:sp>
        <p:nvSpPr>
          <p:cNvPr id="164" name="TextBox 163">
            <a:extLst>
              <a:ext uri="{FF2B5EF4-FFF2-40B4-BE49-F238E27FC236}">
                <a16:creationId xmlns:a16="http://schemas.microsoft.com/office/drawing/2014/main" id="{4D2D3565-6E4E-DFC4-C63D-D0C8B23F1540}"/>
              </a:ext>
            </a:extLst>
          </p:cNvPr>
          <p:cNvSpPr txBox="1"/>
          <p:nvPr/>
        </p:nvSpPr>
        <p:spPr>
          <a:xfrm>
            <a:off x="658368" y="3397673"/>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Helvetica Neue"/>
              </a:rPr>
              <a:t>▪  GIS: keep the lights on; team &amp; SWF resource management; future technology roadmap.</a:t>
            </a:r>
          </a:p>
          <a:p>
            <a:pPr algn="l">
              <a:lnSpc>
                <a:spcPct val="110000"/>
              </a:lnSpc>
              <a:spcBef>
                <a:spcPts val="0"/>
              </a:spcBef>
              <a:spcAft>
                <a:spcPts val="0"/>
              </a:spcAft>
            </a:pPr>
            <a:r>
              <a:rPr lang="en-US" sz="900" b="0" i="0" noProof="0">
                <a:latin typeface="Helvetica Neue"/>
              </a:rPr>
              <a:t>▪  Corporate: regulatory and employee-facing systems — always priority; continuous new requirements.</a:t>
            </a:r>
          </a:p>
          <a:p>
            <a:pPr algn="l">
              <a:lnSpc>
                <a:spcPct val="110000"/>
              </a:lnSpc>
              <a:spcBef>
                <a:spcPts val="0"/>
              </a:spcBef>
              <a:spcAft>
                <a:spcPts val="0"/>
              </a:spcAft>
            </a:pPr>
            <a:r>
              <a:rPr lang="en-US" sz="900" b="0" i="0" noProof="0">
                <a:latin typeface="Helvetica Neue"/>
              </a:rPr>
              <a:t>▪  G&amp;E: ProjectWise + </a:t>
            </a:r>
            <a:r>
              <a:rPr lang="en-US" sz="900" b="0" i="0" noProof="0" err="1">
                <a:latin typeface="Helvetica Neue"/>
              </a:rPr>
              <a:t>Microstation</a:t>
            </a:r>
            <a:r>
              <a:rPr lang="en-US" sz="900" b="0" i="0" noProof="0">
                <a:latin typeface="Helvetica Neue"/>
              </a:rPr>
              <a:t> upgrades; third-party risk interface; business case approvals (slow).</a:t>
            </a:r>
          </a:p>
          <a:p>
            <a:pPr algn="l">
              <a:lnSpc>
                <a:spcPct val="110000"/>
              </a:lnSpc>
              <a:spcBef>
                <a:spcPts val="0"/>
              </a:spcBef>
              <a:spcAft>
                <a:spcPts val="0"/>
              </a:spcAft>
            </a:pPr>
            <a:r>
              <a:rPr lang="en-US" sz="900" b="0" i="0" noProof="0">
                <a:latin typeface="Helvetica Neue"/>
              </a:rPr>
              <a:t>▪  Global SAP: incident volume dominates — strategic projects slip; 1-year hiring lag amplifies load.</a:t>
            </a:r>
          </a:p>
        </p:txBody>
      </p:sp>
      <p:sp>
        <p:nvSpPr>
          <p:cNvPr id="165" name="TextBox 164">
            <a:extLst>
              <a:ext uri="{FF2B5EF4-FFF2-40B4-BE49-F238E27FC236}">
                <a16:creationId xmlns:a16="http://schemas.microsoft.com/office/drawing/2014/main" id="{1A9E9970-0ED8-1F20-FAE6-8BEA641015ED}"/>
              </a:ext>
            </a:extLst>
          </p:cNvPr>
          <p:cNvSpPr txBox="1"/>
          <p:nvPr/>
        </p:nvSpPr>
        <p:spPr>
          <a:xfrm>
            <a:off x="6400800" y="3379730"/>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Helvetica Neue"/>
              </a:rPr>
              <a:t>▪  Inside Applications: GIS ↔ G&amp;E (shared SAP/GIS data); Corporate ↔ all teams (shared PMs).</a:t>
            </a:r>
          </a:p>
          <a:p>
            <a:pPr algn="l">
              <a:lnSpc>
                <a:spcPct val="110000"/>
              </a:lnSpc>
              <a:spcBef>
                <a:spcPts val="0"/>
              </a:spcBef>
              <a:spcAft>
                <a:spcPts val="0"/>
              </a:spcAft>
            </a:pPr>
            <a:r>
              <a:rPr lang="en-US" sz="900" b="0" i="0" noProof="0">
                <a:latin typeface="Helvetica Neue"/>
              </a:rPr>
              <a:t>▪  With SAP branch: Global SAP ↔ Kumar's SAP (Billing, FICA); P&amp;T is the intermediary with Business.</a:t>
            </a:r>
          </a:p>
          <a:p>
            <a:pPr algn="l">
              <a:lnSpc>
                <a:spcPct val="110000"/>
              </a:lnSpc>
              <a:spcBef>
                <a:spcPts val="0"/>
              </a:spcBef>
              <a:spcAft>
                <a:spcPts val="0"/>
              </a:spcAft>
            </a:pPr>
            <a:r>
              <a:rPr lang="en-US" sz="900" b="0" i="0" noProof="0">
                <a:latin typeface="Helvetica Neue"/>
              </a:rPr>
              <a:t>▪  With vendors: Accenture (Global SAP + Corporate), SWF / Software Factory (all teams), business vendors (G&amp;E).</a:t>
            </a:r>
          </a:p>
          <a:p>
            <a:pPr algn="l">
              <a:lnSpc>
                <a:spcPct val="110000"/>
              </a:lnSpc>
              <a:spcBef>
                <a:spcPts val="0"/>
              </a:spcBef>
              <a:spcAft>
                <a:spcPts val="0"/>
              </a:spcAft>
            </a:pPr>
            <a:r>
              <a:rPr lang="en-US" sz="900" b="0" i="0" noProof="0">
                <a:latin typeface="Helvetica Neue"/>
              </a:rPr>
              <a:t>▪  Tools mix: Jira (</a:t>
            </a:r>
            <a:r>
              <a:rPr lang="en-US" sz="900" b="0" i="0" noProof="0" err="1">
                <a:latin typeface="Helvetica Neue"/>
              </a:rPr>
              <a:t>misc</a:t>
            </a:r>
            <a:r>
              <a:rPr lang="en-US" sz="900" b="0" i="0" noProof="0">
                <a:latin typeface="Helvetica Neue"/>
              </a:rPr>
              <a:t>), IT Now (incidents), PDD (large), SharePoint + Teams + OneNote + Email (PM).</a:t>
            </a:r>
          </a:p>
        </p:txBody>
      </p:sp>
      <p:sp>
        <p:nvSpPr>
          <p:cNvPr id="10" name="TextBox 9">
            <a:extLst>
              <a:ext uri="{FF2B5EF4-FFF2-40B4-BE49-F238E27FC236}">
                <a16:creationId xmlns:a16="http://schemas.microsoft.com/office/drawing/2014/main" id="{1E747C57-4119-EB6A-7333-EB42F4107658}"/>
              </a:ext>
            </a:extLst>
          </p:cNvPr>
          <p:cNvSpPr txBox="1"/>
          <p:nvPr/>
        </p:nvSpPr>
        <p:spPr>
          <a:xfrm>
            <a:off x="458724" y="826697"/>
            <a:ext cx="11274552" cy="455184"/>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Applications runs Avangrid's non-SAP operational backbone — four teams supporting Electric &amp; Gas, GIS, Corporate and Iberdrola Global SAP.</a:t>
            </a:r>
            <a:endParaRPr lang="en-US"/>
          </a:p>
        </p:txBody>
      </p:sp>
      <p:sp>
        <p:nvSpPr>
          <p:cNvPr id="11" name="Rectangle 10">
            <a:extLst>
              <a:ext uri="{FF2B5EF4-FFF2-40B4-BE49-F238E27FC236}">
                <a16:creationId xmlns:a16="http://schemas.microsoft.com/office/drawing/2014/main" id="{10AB34C3-1F7D-9AC3-1C31-5D3A85072C2A}"/>
              </a:ext>
            </a:extLst>
          </p:cNvPr>
          <p:cNvSpPr/>
          <p:nvPr/>
        </p:nvSpPr>
        <p:spPr>
          <a:xfrm>
            <a:off x="457200" y="5880464"/>
            <a:ext cx="1139270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31978DD7-7522-2AC3-50D5-27D9A7F82AC9}"/>
              </a:ext>
            </a:extLst>
          </p:cNvPr>
          <p:cNvSpPr txBox="1"/>
          <p:nvPr/>
        </p:nvSpPr>
        <p:spPr>
          <a:xfrm>
            <a:off x="685800" y="604603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Applications carries the structural legacy of Avangrid's IT stack — fragmentation here maps directly to the 4 intake bottlenecks surfaced later in this deck</a:t>
            </a:r>
          </a:p>
        </p:txBody>
      </p:sp>
    </p:spTree>
    <p:extLst>
      <p:ext uri="{BB962C8B-B14F-4D97-AF65-F5344CB8AC3E}">
        <p14:creationId xmlns:p14="http://schemas.microsoft.com/office/powerpoint/2010/main" val="2949244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88-8B12-E50D-3822-550D360AFC17}"/>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CFA75F5F-1EB9-4144-191A-A181F1912949}"/>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E10663A1-95A3-6A11-43CB-D592C20A7A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F6B038AA-B292-7609-69DC-C00E7B655E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D3A25A4C-2B61-80AF-4383-FCF17B37F78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072E093E-432C-FD12-498F-29B9DCE4F11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D958FC71-41E7-AB87-8657-6B8A8D4303CB}"/>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3F3E35D2-58F5-D3FB-5E0B-C17FF2A0BBD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5360DE0D-62BB-4EF4-BAEA-1A71AFFAA3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36" name="Group 135">
            <a:extLst>
              <a:ext uri="{FF2B5EF4-FFF2-40B4-BE49-F238E27FC236}">
                <a16:creationId xmlns:a16="http://schemas.microsoft.com/office/drawing/2014/main" id="{F93CDEA3-EAF8-2D17-02C1-BAB0EBD4DB29}"/>
              </a:ext>
            </a:extLst>
          </p:cNvPr>
          <p:cNvGrpSpPr/>
          <p:nvPr/>
        </p:nvGrpSpPr>
        <p:grpSpPr>
          <a:xfrm>
            <a:off x="457200" y="1321470"/>
            <a:ext cx="14420763" cy="4762500"/>
            <a:chOff x="457200" y="2271303"/>
            <a:chExt cx="14420763" cy="3220387"/>
          </a:xfrm>
        </p:grpSpPr>
        <p:sp>
          <p:nvSpPr>
            <p:cNvPr id="137" name="Rectangle 136">
              <a:extLst>
                <a:ext uri="{FF2B5EF4-FFF2-40B4-BE49-F238E27FC236}">
                  <a16:creationId xmlns:a16="http://schemas.microsoft.com/office/drawing/2014/main" id="{BC08C3A1-C083-F55B-9DE2-B742DCB28973}"/>
                </a:ext>
              </a:extLst>
            </p:cNvPr>
            <p:cNvSpPr/>
            <p:nvPr/>
          </p:nvSpPr>
          <p:spPr>
            <a:xfrm>
              <a:off x="6226342" y="4470687"/>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Rectangle 137">
              <a:extLst>
                <a:ext uri="{FF2B5EF4-FFF2-40B4-BE49-F238E27FC236}">
                  <a16:creationId xmlns:a16="http://schemas.microsoft.com/office/drawing/2014/main" id="{C097C309-AD49-6194-74D8-976444141155}"/>
                </a:ext>
              </a:extLst>
            </p:cNvPr>
            <p:cNvSpPr/>
            <p:nvPr/>
          </p:nvSpPr>
          <p:spPr>
            <a:xfrm>
              <a:off x="6226342" y="4447608"/>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9" name="Rectangle 138">
              <a:extLst>
                <a:ext uri="{FF2B5EF4-FFF2-40B4-BE49-F238E27FC236}">
                  <a16:creationId xmlns:a16="http://schemas.microsoft.com/office/drawing/2014/main" id="{27EB1502-5586-1B9F-0528-A1CAD9F6922F}"/>
                </a:ext>
              </a:extLst>
            </p:cNvPr>
            <p:cNvSpPr/>
            <p:nvPr/>
          </p:nvSpPr>
          <p:spPr>
            <a:xfrm>
              <a:off x="6226342"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Rectangle 139">
              <a:extLst>
                <a:ext uri="{FF2B5EF4-FFF2-40B4-BE49-F238E27FC236}">
                  <a16:creationId xmlns:a16="http://schemas.microsoft.com/office/drawing/2014/main" id="{87650414-C683-8872-818E-19E1F3A5A10E}"/>
                </a:ext>
              </a:extLst>
            </p:cNvPr>
            <p:cNvSpPr/>
            <p:nvPr/>
          </p:nvSpPr>
          <p:spPr>
            <a:xfrm>
              <a:off x="6226342"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1" name="Rectangle 140">
              <a:extLst>
                <a:ext uri="{FF2B5EF4-FFF2-40B4-BE49-F238E27FC236}">
                  <a16:creationId xmlns:a16="http://schemas.microsoft.com/office/drawing/2014/main" id="{AD3A390C-6D85-577A-B375-214B2885956D}"/>
                </a:ext>
              </a:extLst>
            </p:cNvPr>
            <p:cNvSpPr/>
            <p:nvPr/>
          </p:nvSpPr>
          <p:spPr>
            <a:xfrm>
              <a:off x="6226342"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2" name="Rectangle 141">
              <a:extLst>
                <a:ext uri="{FF2B5EF4-FFF2-40B4-BE49-F238E27FC236}">
                  <a16:creationId xmlns:a16="http://schemas.microsoft.com/office/drawing/2014/main" id="{8F563FE5-C383-04BA-F4D3-C6FA1FC25FF1}"/>
                </a:ext>
              </a:extLst>
            </p:cNvPr>
            <p:cNvSpPr/>
            <p:nvPr/>
          </p:nvSpPr>
          <p:spPr>
            <a:xfrm>
              <a:off x="6226342"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3" name="Rectangle 142">
              <a:extLst>
                <a:ext uri="{FF2B5EF4-FFF2-40B4-BE49-F238E27FC236}">
                  <a16:creationId xmlns:a16="http://schemas.microsoft.com/office/drawing/2014/main" id="{335A9BA0-A251-A74C-E388-7709238C48F3}"/>
                </a:ext>
              </a:extLst>
            </p:cNvPr>
            <p:cNvSpPr/>
            <p:nvPr/>
          </p:nvSpPr>
          <p:spPr>
            <a:xfrm>
              <a:off x="472440" y="4476496"/>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Rectangle 143">
              <a:extLst>
                <a:ext uri="{FF2B5EF4-FFF2-40B4-BE49-F238E27FC236}">
                  <a16:creationId xmlns:a16="http://schemas.microsoft.com/office/drawing/2014/main" id="{E7081C04-0520-8484-76DA-92177A623C41}"/>
                </a:ext>
              </a:extLst>
            </p:cNvPr>
            <p:cNvSpPr/>
            <p:nvPr/>
          </p:nvSpPr>
          <p:spPr>
            <a:xfrm>
              <a:off x="472440" y="4453417"/>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Rectangle 144">
              <a:extLst>
                <a:ext uri="{FF2B5EF4-FFF2-40B4-BE49-F238E27FC236}">
                  <a16:creationId xmlns:a16="http://schemas.microsoft.com/office/drawing/2014/main" id="{7FEC840E-E3AB-02C8-E7AD-2AEF041429B1}"/>
                </a:ext>
              </a:extLst>
            </p:cNvPr>
            <p:cNvSpPr/>
            <p:nvPr/>
          </p:nvSpPr>
          <p:spPr>
            <a:xfrm>
              <a:off x="472440" y="3368189"/>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Rectangle 145">
              <a:extLst>
                <a:ext uri="{FF2B5EF4-FFF2-40B4-BE49-F238E27FC236}">
                  <a16:creationId xmlns:a16="http://schemas.microsoft.com/office/drawing/2014/main" id="{064DEC28-6708-303A-892E-3F27520FDA0A}"/>
                </a:ext>
              </a:extLst>
            </p:cNvPr>
            <p:cNvSpPr/>
            <p:nvPr/>
          </p:nvSpPr>
          <p:spPr>
            <a:xfrm>
              <a:off x="472440" y="3345110"/>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Rectangle 146">
              <a:extLst>
                <a:ext uri="{FF2B5EF4-FFF2-40B4-BE49-F238E27FC236}">
                  <a16:creationId xmlns:a16="http://schemas.microsoft.com/office/drawing/2014/main" id="{697294D1-4F9B-9EE2-FAF5-E6AA1FD313D4}"/>
                </a:ext>
              </a:extLst>
            </p:cNvPr>
            <p:cNvSpPr/>
            <p:nvPr/>
          </p:nvSpPr>
          <p:spPr>
            <a:xfrm>
              <a:off x="457200" y="2294382"/>
              <a:ext cx="5623560" cy="1015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9" name="Rectangle 148">
              <a:extLst>
                <a:ext uri="{FF2B5EF4-FFF2-40B4-BE49-F238E27FC236}">
                  <a16:creationId xmlns:a16="http://schemas.microsoft.com/office/drawing/2014/main" id="{51C132FA-B6E9-6EFC-154A-A5FC099FE05B}"/>
                </a:ext>
              </a:extLst>
            </p:cNvPr>
            <p:cNvSpPr/>
            <p:nvPr/>
          </p:nvSpPr>
          <p:spPr>
            <a:xfrm>
              <a:off x="457200" y="2271303"/>
              <a:ext cx="5623560"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9F4E9297-3053-9685-7488-E6207E988017}"/>
                </a:ext>
              </a:extLst>
            </p:cNvPr>
            <p:cNvSpPr txBox="1"/>
            <p:nvPr/>
          </p:nvSpPr>
          <p:spPr>
            <a:xfrm>
              <a:off x="658368" y="234837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NATURE OF WORK</a:t>
              </a:r>
            </a:p>
          </p:txBody>
        </p:sp>
        <p:sp>
          <p:nvSpPr>
            <p:cNvPr id="151" name="TextBox 150">
              <a:extLst>
                <a:ext uri="{FF2B5EF4-FFF2-40B4-BE49-F238E27FC236}">
                  <a16:creationId xmlns:a16="http://schemas.microsoft.com/office/drawing/2014/main" id="{7A60BF0C-8144-5241-472C-AA7F54AAC201}"/>
                </a:ext>
              </a:extLst>
            </p:cNvPr>
            <p:cNvSpPr txBox="1"/>
            <p:nvPr/>
          </p:nvSpPr>
          <p:spPr>
            <a:xfrm>
              <a:off x="3524651" y="2351340"/>
              <a:ext cx="5257800" cy="94998"/>
            </a:xfrm>
            <a:prstGeom prst="rect">
              <a:avLst/>
            </a:prstGeom>
            <a:noFill/>
          </p:spPr>
          <p:txBody>
            <a:bodyPr wrap="square" lIns="0" tIns="0" rIns="0" bIns="0" anchor="t">
              <a:spAutoFit/>
            </a:bodyPr>
            <a:lstStyle/>
            <a:p>
              <a:pPr>
                <a:lnSpc>
                  <a:spcPct val="110000"/>
                </a:lnSpc>
              </a:pPr>
              <a:r>
                <a:rPr lang="en-US" sz="900" i="1">
                  <a:solidFill>
                    <a:schemeClr val="accent1"/>
                  </a:solidFill>
                  <a:latin typeface="Helvetica Neue"/>
                </a:rPr>
                <a:t>Customer-facing SAP + metering + contact center</a:t>
              </a:r>
            </a:p>
          </p:txBody>
        </p:sp>
        <p:sp>
          <p:nvSpPr>
            <p:cNvPr id="152" name="TextBox 151">
              <a:extLst>
                <a:ext uri="{FF2B5EF4-FFF2-40B4-BE49-F238E27FC236}">
                  <a16:creationId xmlns:a16="http://schemas.microsoft.com/office/drawing/2014/main" id="{972BADC3-3D44-9917-C81F-B1E0392B637D}"/>
                </a:ext>
              </a:extLst>
            </p:cNvPr>
            <p:cNvSpPr txBox="1"/>
            <p:nvPr/>
          </p:nvSpPr>
          <p:spPr>
            <a:xfrm>
              <a:off x="6400800" y="234837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APPLICATIONS IN SCOPE</a:t>
              </a:r>
            </a:p>
          </p:txBody>
        </p:sp>
        <p:sp>
          <p:nvSpPr>
            <p:cNvPr id="153" name="TextBox 152">
              <a:extLst>
                <a:ext uri="{FF2B5EF4-FFF2-40B4-BE49-F238E27FC236}">
                  <a16:creationId xmlns:a16="http://schemas.microsoft.com/office/drawing/2014/main" id="{C203D254-3DB3-3006-1F74-A87F852A40A0}"/>
                </a:ext>
              </a:extLst>
            </p:cNvPr>
            <p:cNvSpPr txBox="1"/>
            <p:nvPr/>
          </p:nvSpPr>
          <p:spPr>
            <a:xfrm>
              <a:off x="9620163" y="2354362"/>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a:t>
              </a:r>
            </a:p>
          </p:txBody>
        </p:sp>
        <p:sp>
          <p:nvSpPr>
            <p:cNvPr id="154" name="TextBox 153">
              <a:extLst>
                <a:ext uri="{FF2B5EF4-FFF2-40B4-BE49-F238E27FC236}">
                  <a16:creationId xmlns:a16="http://schemas.microsoft.com/office/drawing/2014/main" id="{B1956A98-16CC-9D42-2111-167AB4F7EEEC}"/>
                </a:ext>
              </a:extLst>
            </p:cNvPr>
            <p:cNvSpPr txBox="1"/>
            <p:nvPr/>
          </p:nvSpPr>
          <p:spPr>
            <a:xfrm>
              <a:off x="649946" y="3406848"/>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PRIORITIES TODAY</a:t>
              </a:r>
            </a:p>
          </p:txBody>
        </p:sp>
        <p:sp>
          <p:nvSpPr>
            <p:cNvPr id="155" name="TextBox 154">
              <a:extLst>
                <a:ext uri="{FF2B5EF4-FFF2-40B4-BE49-F238E27FC236}">
                  <a16:creationId xmlns:a16="http://schemas.microsoft.com/office/drawing/2014/main" id="{F4F3EEB2-A59E-D635-3410-2447210CCDEB}"/>
                </a:ext>
              </a:extLst>
            </p:cNvPr>
            <p:cNvSpPr txBox="1"/>
            <p:nvPr/>
          </p:nvSpPr>
          <p:spPr>
            <a:xfrm>
              <a:off x="3680460" y="3425081"/>
              <a:ext cx="5257800" cy="9499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Helvetica Neue"/>
                </a:rPr>
                <a:t>…</a:t>
              </a:r>
            </a:p>
          </p:txBody>
        </p:sp>
        <p:sp>
          <p:nvSpPr>
            <p:cNvPr id="156" name="TextBox 155">
              <a:extLst>
                <a:ext uri="{FF2B5EF4-FFF2-40B4-BE49-F238E27FC236}">
                  <a16:creationId xmlns:a16="http://schemas.microsoft.com/office/drawing/2014/main" id="{D17E171A-9D6A-EEB8-87ED-348939C411D0}"/>
                </a:ext>
              </a:extLst>
            </p:cNvPr>
            <p:cNvSpPr txBox="1"/>
            <p:nvPr/>
          </p:nvSpPr>
          <p:spPr>
            <a:xfrm>
              <a:off x="6400800" y="452251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BRS  /  OPCO LANDSCAPE</a:t>
              </a:r>
            </a:p>
          </p:txBody>
        </p:sp>
        <p:sp>
          <p:nvSpPr>
            <p:cNvPr id="157" name="TextBox 156">
              <a:extLst>
                <a:ext uri="{FF2B5EF4-FFF2-40B4-BE49-F238E27FC236}">
                  <a16:creationId xmlns:a16="http://schemas.microsoft.com/office/drawing/2014/main" id="{9A4E25A4-8C1C-1372-1FD3-29D422FE0C8D}"/>
                </a:ext>
              </a:extLst>
            </p:cNvPr>
            <p:cNvSpPr txBox="1"/>
            <p:nvPr/>
          </p:nvSpPr>
          <p:spPr>
            <a:xfrm>
              <a:off x="9221002" y="4529726"/>
              <a:ext cx="5257800" cy="94998"/>
            </a:xfrm>
            <a:prstGeom prst="rect">
              <a:avLst/>
            </a:prstGeom>
            <a:noFill/>
          </p:spPr>
          <p:txBody>
            <a:bodyPr wrap="square" lIns="0" tIns="0" rIns="0" bIns="0" anchor="t">
              <a:spAutoFit/>
            </a:bodyPr>
            <a:lstStyle/>
            <a:p>
              <a:pPr>
                <a:lnSpc>
                  <a:spcPct val="110000"/>
                </a:lnSpc>
              </a:pPr>
              <a:r>
                <a:rPr lang="en-US" sz="900" i="1">
                  <a:solidFill>
                    <a:schemeClr val="accent1"/>
                  </a:solidFill>
                  <a:latin typeface="Helvetica Neue"/>
                </a:rPr>
                <a:t>3 BRS groups representing 7 operating companies</a:t>
              </a:r>
            </a:p>
          </p:txBody>
        </p:sp>
        <p:sp>
          <p:nvSpPr>
            <p:cNvPr id="158" name="TextBox 157">
              <a:extLst>
                <a:ext uri="{FF2B5EF4-FFF2-40B4-BE49-F238E27FC236}">
                  <a16:creationId xmlns:a16="http://schemas.microsoft.com/office/drawing/2014/main" id="{8FE5C472-A9CF-C9CA-DCEC-7FE94F0A5759}"/>
                </a:ext>
              </a:extLst>
            </p:cNvPr>
            <p:cNvSpPr txBox="1"/>
            <p:nvPr/>
          </p:nvSpPr>
          <p:spPr>
            <a:xfrm>
              <a:off x="649946" y="452902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TEAMS UNDER KUMAR</a:t>
              </a:r>
            </a:p>
          </p:txBody>
        </p:sp>
        <p:sp>
          <p:nvSpPr>
            <p:cNvPr id="159" name="TextBox 158">
              <a:extLst>
                <a:ext uri="{FF2B5EF4-FFF2-40B4-BE49-F238E27FC236}">
                  <a16:creationId xmlns:a16="http://schemas.microsoft.com/office/drawing/2014/main" id="{42FC4BB0-3C4C-E590-50C3-2250B617DE41}"/>
                </a:ext>
              </a:extLst>
            </p:cNvPr>
            <p:cNvSpPr txBox="1"/>
            <p:nvPr/>
          </p:nvSpPr>
          <p:spPr>
            <a:xfrm>
              <a:off x="4153542" y="4527289"/>
              <a:ext cx="5257800" cy="94998"/>
            </a:xfrm>
            <a:prstGeom prst="rect">
              <a:avLst/>
            </a:prstGeom>
            <a:noFill/>
          </p:spPr>
          <p:txBody>
            <a:bodyPr wrap="square" lIns="0" tIns="0" rIns="0" bIns="0" anchor="t">
              <a:spAutoFit/>
            </a:bodyPr>
            <a:lstStyle/>
            <a:p>
              <a:pPr>
                <a:lnSpc>
                  <a:spcPct val="110000"/>
                </a:lnSpc>
              </a:pPr>
              <a:r>
                <a:rPr lang="en-US" sz="900" i="1">
                  <a:solidFill>
                    <a:schemeClr val="accent1"/>
                  </a:solidFill>
                  <a:latin typeface="Helvetica Neue"/>
                </a:rPr>
                <a:t>5 sub-teams, heterogeneous maturity</a:t>
              </a:r>
            </a:p>
          </p:txBody>
        </p:sp>
        <p:sp>
          <p:nvSpPr>
            <p:cNvPr id="160" name="TextBox 159">
              <a:extLst>
                <a:ext uri="{FF2B5EF4-FFF2-40B4-BE49-F238E27FC236}">
                  <a16:creationId xmlns:a16="http://schemas.microsoft.com/office/drawing/2014/main" id="{A44382EA-C2B3-65F6-E316-FD23A4A1FD37}"/>
                </a:ext>
              </a:extLst>
            </p:cNvPr>
            <p:cNvSpPr txBox="1"/>
            <p:nvPr/>
          </p:nvSpPr>
          <p:spPr>
            <a:xfrm>
              <a:off x="6400800" y="342276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WAY OF WORKING  &amp;  INTERACTIONS</a:t>
              </a:r>
            </a:p>
          </p:txBody>
        </p:sp>
        <p:sp>
          <p:nvSpPr>
            <p:cNvPr id="161" name="TextBox 160">
              <a:extLst>
                <a:ext uri="{FF2B5EF4-FFF2-40B4-BE49-F238E27FC236}">
                  <a16:creationId xmlns:a16="http://schemas.microsoft.com/office/drawing/2014/main" id="{8BCA7DEA-64C5-4701-9246-4545500D222A}"/>
                </a:ext>
              </a:extLst>
            </p:cNvPr>
            <p:cNvSpPr txBox="1"/>
            <p:nvPr/>
          </p:nvSpPr>
          <p:spPr>
            <a:xfrm>
              <a:off x="9563100" y="3427286"/>
              <a:ext cx="5257800" cy="94998"/>
            </a:xfrm>
            <a:prstGeom prst="rect">
              <a:avLst/>
            </a:prstGeom>
            <a:noFill/>
          </p:spPr>
          <p:txBody>
            <a:bodyPr wrap="square" lIns="0" tIns="0" rIns="0" bIns="0" anchor="t">
              <a:spAutoFit/>
            </a:bodyPr>
            <a:lstStyle/>
            <a:p>
              <a:pPr>
                <a:lnSpc>
                  <a:spcPct val="110000"/>
                </a:lnSpc>
              </a:pPr>
              <a:r>
                <a:rPr lang="en-US" sz="900" i="1">
                  <a:solidFill>
                    <a:schemeClr val="accent1"/>
                  </a:solidFill>
                  <a:latin typeface="Helvetica Neue"/>
                </a:rPr>
                <a:t>Fragmented intake + vendor-heavy delivery</a:t>
              </a:r>
            </a:p>
          </p:txBody>
        </p:sp>
      </p:grpSp>
      <p:sp>
        <p:nvSpPr>
          <p:cNvPr id="10" name="TextBox 9">
            <a:extLst>
              <a:ext uri="{FF2B5EF4-FFF2-40B4-BE49-F238E27FC236}">
                <a16:creationId xmlns:a16="http://schemas.microsoft.com/office/drawing/2014/main" id="{7D683193-28DC-2B5A-4AEE-5C9F4B9E6D40}"/>
              </a:ext>
            </a:extLst>
          </p:cNvPr>
          <p:cNvSpPr txBox="1"/>
          <p:nvPr/>
        </p:nvSpPr>
        <p:spPr>
          <a:xfrm>
            <a:off x="458724" y="826697"/>
            <a:ext cx="11274552" cy="424533"/>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Customer Services Apps serves 7 OPCOs across three BRS groups — with SAP (Billing, CRM, FICA, Metering) as the operational core and two Sr. Manager vacancies.</a:t>
            </a:r>
          </a:p>
        </p:txBody>
      </p:sp>
      <p:sp>
        <p:nvSpPr>
          <p:cNvPr id="11" name="Rectangle 10">
            <a:extLst>
              <a:ext uri="{FF2B5EF4-FFF2-40B4-BE49-F238E27FC236}">
                <a16:creationId xmlns:a16="http://schemas.microsoft.com/office/drawing/2014/main" id="{B29EE9D5-13C9-9AE6-8F52-6331244023FA}"/>
              </a:ext>
            </a:extLst>
          </p:cNvPr>
          <p:cNvSpPr/>
          <p:nvPr/>
        </p:nvSpPr>
        <p:spPr>
          <a:xfrm>
            <a:off x="457200" y="5880464"/>
            <a:ext cx="1139270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2F7CAB48-C129-3246-272D-D8470362D94F}"/>
              </a:ext>
            </a:extLst>
          </p:cNvPr>
          <p:cNvSpPr txBox="1"/>
          <p:nvPr/>
        </p:nvSpPr>
        <p:spPr>
          <a:xfrm>
            <a:off x="685800" y="5952933"/>
            <a:ext cx="10817352" cy="357983"/>
          </a:xfrm>
          <a:prstGeom prst="rect">
            <a:avLst/>
          </a:prstGeom>
          <a:noFill/>
        </p:spPr>
        <p:txBody>
          <a:bodyPr wrap="square" lIns="0" tIns="0" rIns="0" bIns="0" anchor="ctr">
            <a:spAutoFit/>
          </a:bodyPr>
          <a:lstStyle/>
          <a:p>
            <a:pPr>
              <a:lnSpc>
                <a:spcPct val="110000"/>
              </a:lnSpc>
            </a:pPr>
            <a:r>
              <a:rPr lang="en-US" sz="1100">
                <a:solidFill>
                  <a:srgbClr val="FFFFFF"/>
                </a:solidFill>
                <a:latin typeface="Helvetica Neue"/>
              </a:rPr>
              <a:t>Customer Services Apps carries both business-facing complexity (3 BRS × 7 OPCOs) and structural gaps (2 Sr. Manager vacancies, vendor-heavy delivery) — the TOM must address both</a:t>
            </a:r>
          </a:p>
        </p:txBody>
      </p:sp>
      <p:sp>
        <p:nvSpPr>
          <p:cNvPr id="6" name="TextBox 5">
            <a:extLst>
              <a:ext uri="{FF2B5EF4-FFF2-40B4-BE49-F238E27FC236}">
                <a16:creationId xmlns:a16="http://schemas.microsoft.com/office/drawing/2014/main" id="{57E65968-50A0-0E72-47BB-BE3D5AC500C3}"/>
              </a:ext>
            </a:extLst>
          </p:cNvPr>
          <p:cNvSpPr txBox="1"/>
          <p:nvPr/>
        </p:nvSpPr>
        <p:spPr>
          <a:xfrm>
            <a:off x="658368" y="1860301"/>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SAP (Avangrid US) — Billing, FICA, CRM, Metering — distinct from Global SAP (Iberdrola Spain).</a:t>
            </a:r>
          </a:p>
          <a:p>
            <a:pPr algn="l">
              <a:lnSpc>
                <a:spcPct val="110000"/>
              </a:lnSpc>
              <a:spcBef>
                <a:spcPts val="0"/>
              </a:spcBef>
              <a:spcAft>
                <a:spcPts val="0"/>
              </a:spcAft>
            </a:pPr>
            <a:r>
              <a:rPr lang="en-US" sz="900" b="0" i="0" noProof="0">
                <a:solidFill>
                  <a:srgbClr val="2C3E50"/>
                </a:solidFill>
                <a:latin typeface="Helvetica Neue"/>
              </a:rPr>
              <a:t>▪  Demand split across BRS (business), PMO (Travis — large projects) and IT-funded (Kumar's teams).</a:t>
            </a:r>
          </a:p>
          <a:p>
            <a:pPr algn="l">
              <a:lnSpc>
                <a:spcPct val="110000"/>
              </a:lnSpc>
              <a:spcBef>
                <a:spcPts val="0"/>
              </a:spcBef>
              <a:spcAft>
                <a:spcPts val="0"/>
              </a:spcAft>
            </a:pPr>
            <a:r>
              <a:rPr lang="en-US" sz="900" b="0" i="0" noProof="0">
                <a:solidFill>
                  <a:srgbClr val="2C3E50"/>
                </a:solidFill>
                <a:latin typeface="Helvetica Neue"/>
              </a:rPr>
              <a:t>▪  Incidents + small/medium demand dominate volume; large projects run via annual PDD.</a:t>
            </a:r>
          </a:p>
          <a:p>
            <a:pPr algn="l">
              <a:lnSpc>
                <a:spcPct val="110000"/>
              </a:lnSpc>
              <a:spcBef>
                <a:spcPts val="0"/>
              </a:spcBef>
              <a:spcAft>
                <a:spcPts val="0"/>
              </a:spcAft>
            </a:pPr>
            <a:r>
              <a:rPr lang="en-US" sz="900" b="0" i="0" noProof="0">
                <a:solidFill>
                  <a:srgbClr val="2C3E50"/>
                </a:solidFill>
                <a:latin typeface="Helvetica Neue"/>
              </a:rPr>
              <a:t>▪  Software Factory (SWF) executes; Accenture supports incidents + projects.</a:t>
            </a:r>
          </a:p>
        </p:txBody>
      </p:sp>
      <p:sp>
        <p:nvSpPr>
          <p:cNvPr id="13" name="TextBox 12">
            <a:extLst>
              <a:ext uri="{FF2B5EF4-FFF2-40B4-BE49-F238E27FC236}">
                <a16:creationId xmlns:a16="http://schemas.microsoft.com/office/drawing/2014/main" id="{1DD54C12-EE2B-27BE-F81F-D7442EDF8600}"/>
              </a:ext>
            </a:extLst>
          </p:cNvPr>
          <p:cNvSpPr txBox="1"/>
          <p:nvPr/>
        </p:nvSpPr>
        <p:spPr>
          <a:xfrm>
            <a:off x="6400800" y="4946360"/>
            <a:ext cx="5449102"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BRS UIL  —  United Illuminating, SCG, CNG, BGC (Connecticut cluster).</a:t>
            </a:r>
          </a:p>
          <a:p>
            <a:pPr algn="l">
              <a:lnSpc>
                <a:spcPct val="110000"/>
              </a:lnSpc>
              <a:spcBef>
                <a:spcPts val="0"/>
              </a:spcBef>
              <a:spcAft>
                <a:spcPts val="0"/>
              </a:spcAft>
            </a:pPr>
            <a:r>
              <a:rPr lang="en-US" sz="900" b="0" i="0" noProof="0">
                <a:solidFill>
                  <a:srgbClr val="2C3E50"/>
                </a:solidFill>
                <a:latin typeface="Helvetica Neue"/>
              </a:rPr>
              <a:t>▪  BRS CMP  —  Central Maine Power (Maine operations).</a:t>
            </a:r>
          </a:p>
          <a:p>
            <a:pPr algn="l">
              <a:lnSpc>
                <a:spcPct val="110000"/>
              </a:lnSpc>
              <a:spcBef>
                <a:spcPts val="0"/>
              </a:spcBef>
              <a:spcAft>
                <a:spcPts val="0"/>
              </a:spcAft>
            </a:pPr>
            <a:r>
              <a:rPr lang="en-US" sz="900" b="0" i="0" noProof="0">
                <a:solidFill>
                  <a:srgbClr val="2C3E50"/>
                </a:solidFill>
                <a:latin typeface="Helvetica Neue"/>
              </a:rPr>
              <a:t>▪  BRS NY  —  NYSEG + RGE (New York cluster).</a:t>
            </a:r>
          </a:p>
          <a:p>
            <a:pPr algn="l">
              <a:lnSpc>
                <a:spcPct val="110000"/>
              </a:lnSpc>
              <a:spcBef>
                <a:spcPts val="0"/>
              </a:spcBef>
              <a:spcAft>
                <a:spcPts val="0"/>
              </a:spcAft>
            </a:pPr>
            <a:r>
              <a:rPr lang="en-US" sz="900" b="0" i="0" noProof="0">
                <a:solidFill>
                  <a:srgbClr val="2C3E50"/>
                </a:solidFill>
                <a:latin typeface="Helvetica Neue"/>
              </a:rPr>
              <a:t>▪  Plus Digital </a:t>
            </a:r>
            <a:r>
              <a:rPr lang="en-US" sz="900" b="0" i="0" noProof="0" err="1">
                <a:solidFill>
                  <a:srgbClr val="2C3E50"/>
                </a:solidFill>
                <a:latin typeface="Helvetica Neue"/>
              </a:rPr>
              <a:t>CoE</a:t>
            </a:r>
            <a:r>
              <a:rPr lang="en-US" sz="900" b="0" i="0" noProof="0">
                <a:solidFill>
                  <a:srgbClr val="2C3E50"/>
                </a:solidFill>
                <a:latin typeface="Helvetica Neue"/>
              </a:rPr>
              <a:t> (customer apps / websites) and Call Center (contact interactions — Kumar).</a:t>
            </a:r>
          </a:p>
          <a:p>
            <a:pPr algn="l">
              <a:lnSpc>
                <a:spcPct val="110000"/>
              </a:lnSpc>
              <a:spcBef>
                <a:spcPts val="0"/>
              </a:spcBef>
              <a:spcAft>
                <a:spcPts val="0"/>
              </a:spcAft>
            </a:pPr>
            <a:r>
              <a:rPr lang="en-US" sz="900" b="0" i="0" noProof="0">
                <a:solidFill>
                  <a:srgbClr val="2C3E50"/>
                </a:solidFill>
                <a:latin typeface="Helvetica Neue"/>
              </a:rPr>
              <a:t>▪  Each OPCO competes for the same IT capacity — multi-OPCO prioritization is a daily pressure.</a:t>
            </a:r>
          </a:p>
        </p:txBody>
      </p:sp>
      <p:sp>
        <p:nvSpPr>
          <p:cNvPr id="14" name="TextBox 13">
            <a:extLst>
              <a:ext uri="{FF2B5EF4-FFF2-40B4-BE49-F238E27FC236}">
                <a16:creationId xmlns:a16="http://schemas.microsoft.com/office/drawing/2014/main" id="{0FD2772E-74FF-6386-5944-2F8EA3E400DC}"/>
              </a:ext>
            </a:extLst>
          </p:cNvPr>
          <p:cNvSpPr txBox="1"/>
          <p:nvPr/>
        </p:nvSpPr>
        <p:spPr>
          <a:xfrm>
            <a:off x="658368" y="4942202"/>
            <a:ext cx="52578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Ivelisse Velazquez  —  FICA, Billing &amp; Collection (~8 FTE).</a:t>
            </a:r>
          </a:p>
          <a:p>
            <a:pPr algn="l">
              <a:lnSpc>
                <a:spcPct val="110000"/>
              </a:lnSpc>
              <a:spcBef>
                <a:spcPts val="0"/>
              </a:spcBef>
              <a:spcAft>
                <a:spcPts val="0"/>
              </a:spcAft>
            </a:pPr>
            <a:r>
              <a:rPr lang="en-US" sz="900" b="0" i="0" noProof="0">
                <a:solidFill>
                  <a:srgbClr val="2C3E50"/>
                </a:solidFill>
                <a:latin typeface="Helvetica Neue"/>
              </a:rPr>
              <a:t>▪  Vincent Lam  —  Device &amp; Metering (Iram Chowdhury / Smart Metering sits here, ~8 FTE).</a:t>
            </a:r>
          </a:p>
          <a:p>
            <a:pPr algn="l">
              <a:lnSpc>
                <a:spcPct val="110000"/>
              </a:lnSpc>
              <a:spcBef>
                <a:spcPts val="0"/>
              </a:spcBef>
              <a:spcAft>
                <a:spcPts val="0"/>
              </a:spcAft>
            </a:pPr>
            <a:r>
              <a:rPr lang="en-US" sz="900" b="0" i="0" noProof="0">
                <a:solidFill>
                  <a:srgbClr val="2C3E50"/>
                </a:solidFill>
                <a:latin typeface="Helvetica Neue"/>
              </a:rPr>
              <a:t>▪  Nagi Reddy  —  SAP Basis (platform / infrastructure, ~2 FTE).</a:t>
            </a:r>
          </a:p>
          <a:p>
            <a:pPr algn="l">
              <a:lnSpc>
                <a:spcPct val="110000"/>
              </a:lnSpc>
              <a:spcBef>
                <a:spcPts val="0"/>
              </a:spcBef>
              <a:spcAft>
                <a:spcPts val="0"/>
              </a:spcAft>
            </a:pPr>
            <a:r>
              <a:rPr lang="en-US" sz="900" b="0" i="0" noProof="0">
                <a:solidFill>
                  <a:srgbClr val="2C3E50"/>
                </a:solidFill>
                <a:latin typeface="Helvetica Neue"/>
              </a:rPr>
              <a:t>▪  TBD (vacant)  —  Sr. Manager CRM &amp; Contact Center Ops (~4 FTE) — leadership gap.</a:t>
            </a:r>
          </a:p>
          <a:p>
            <a:pPr algn="l">
              <a:lnSpc>
                <a:spcPct val="110000"/>
              </a:lnSpc>
              <a:spcBef>
                <a:spcPts val="0"/>
              </a:spcBef>
              <a:spcAft>
                <a:spcPts val="0"/>
              </a:spcAft>
            </a:pPr>
            <a:r>
              <a:rPr lang="en-US" sz="900" b="0" i="0" noProof="0">
                <a:solidFill>
                  <a:srgbClr val="2C3E50"/>
                </a:solidFill>
                <a:latin typeface="Helvetica Neue"/>
              </a:rPr>
              <a:t>▪  Open (vacant)  —  Sr. Manager SAP &amp; CS Architecture (~2 FTE) — leadership gap.</a:t>
            </a:r>
          </a:p>
        </p:txBody>
      </p:sp>
      <p:sp>
        <p:nvSpPr>
          <p:cNvPr id="16" name="TextBox 15">
            <a:extLst>
              <a:ext uri="{FF2B5EF4-FFF2-40B4-BE49-F238E27FC236}">
                <a16:creationId xmlns:a16="http://schemas.microsoft.com/office/drawing/2014/main" id="{C2418FF3-B3A7-4FAD-7E56-1E77123BDDBD}"/>
              </a:ext>
            </a:extLst>
          </p:cNvPr>
          <p:cNvSpPr txBox="1"/>
          <p:nvPr/>
        </p:nvSpPr>
        <p:spPr>
          <a:xfrm>
            <a:off x="6400800" y="3373337"/>
            <a:ext cx="5257800" cy="90223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Small/medium demand via Jira; large via PPM Now (only Smart Metering consistently).</a:t>
            </a:r>
          </a:p>
          <a:p>
            <a:pPr algn="l">
              <a:lnSpc>
                <a:spcPct val="110000"/>
              </a:lnSpc>
              <a:spcBef>
                <a:spcPts val="0"/>
              </a:spcBef>
              <a:spcAft>
                <a:spcPts val="0"/>
              </a:spcAft>
            </a:pPr>
            <a:r>
              <a:rPr lang="en-US" sz="900" b="0" i="0" noProof="0">
                <a:solidFill>
                  <a:srgbClr val="2C3E50"/>
                </a:solidFill>
                <a:latin typeface="Helvetica Neue"/>
              </a:rPr>
              <a:t>▪  Incidents: IT Now; Minor requests: RITM; Major projects: SharePoint + Teams.</a:t>
            </a:r>
          </a:p>
          <a:p>
            <a:pPr algn="l">
              <a:lnSpc>
                <a:spcPct val="110000"/>
              </a:lnSpc>
              <a:spcBef>
                <a:spcPts val="0"/>
              </a:spcBef>
              <a:spcAft>
                <a:spcPts val="0"/>
              </a:spcAft>
            </a:pPr>
            <a:r>
              <a:rPr lang="en-US" sz="900" b="0" i="0" noProof="0">
                <a:solidFill>
                  <a:srgbClr val="2C3E50"/>
                </a:solidFill>
                <a:latin typeface="Helvetica Neue"/>
              </a:rPr>
              <a:t>▪  Interactions: Kumar and Travis (PMO for large projects);  BRS leads (business demand); Vanessa (Global SAP).</a:t>
            </a:r>
          </a:p>
          <a:p>
            <a:pPr algn="l">
              <a:lnSpc>
                <a:spcPct val="110000"/>
              </a:lnSpc>
              <a:spcBef>
                <a:spcPts val="0"/>
              </a:spcBef>
              <a:spcAft>
                <a:spcPts val="0"/>
              </a:spcAft>
            </a:pPr>
            <a:r>
              <a:rPr lang="en-US" sz="900" b="0" i="0" noProof="0">
                <a:solidFill>
                  <a:srgbClr val="2C3E50"/>
                </a:solidFill>
                <a:latin typeface="Helvetica Neue"/>
              </a:rPr>
              <a:t>▪  Vendor concentration: Smart Metering is 100% vendor-delivered (requirements + code); other teams rely on Accenture + SWF.</a:t>
            </a:r>
          </a:p>
        </p:txBody>
      </p:sp>
    </p:spTree>
    <p:extLst>
      <p:ext uri="{BB962C8B-B14F-4D97-AF65-F5344CB8AC3E}">
        <p14:creationId xmlns:p14="http://schemas.microsoft.com/office/powerpoint/2010/main" val="4216735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3E72F2-1EC5-52A7-3755-64171D81F295}"/>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A209585D-C4D8-2AA5-5A77-DF8C5CE8F6A8}"/>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75169116-FF65-0819-2044-B604D94412DD}"/>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8AC4E89B-1EE0-B560-4F5A-251237C6BFA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235F3742-7843-E3BE-CBE8-35FFC3D3D5F1}"/>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DE999B1A-49EF-32DF-C9FF-7AB6B94F0129}"/>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81DDFD3F-2882-DE3A-04F6-26A5D41CC49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3201FC3B-1DFC-E1F3-01B2-35D22FA4A92B}"/>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2DBDC476-2CED-6BEE-3B8A-298A5F52C46F}"/>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F4C2853F-440A-D93B-9B5E-29229B52D4D0}"/>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Applications runs Avangrid's non-SAP operational backbone — four teams supporting Electric &amp; Gas, GIS, Corporate and Iberdrola Global SAP.</a:t>
            </a:r>
          </a:p>
          <a:p>
            <a:pPr algn="just"/>
            <a:endParaRPr lang="en-US" noProof="0"/>
          </a:p>
        </p:txBody>
      </p:sp>
      <p:sp>
        <p:nvSpPr>
          <p:cNvPr id="6" name="Rectangle 5">
            <a:extLst>
              <a:ext uri="{FF2B5EF4-FFF2-40B4-BE49-F238E27FC236}">
                <a16:creationId xmlns:a16="http://schemas.microsoft.com/office/drawing/2014/main" id="{264891D1-EF7A-6A70-4C81-C1CF41050E61}"/>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11">
            <a:extLst>
              <a:ext uri="{FF2B5EF4-FFF2-40B4-BE49-F238E27FC236}">
                <a16:creationId xmlns:a16="http://schemas.microsoft.com/office/drawing/2014/main" id="{30309C2B-AB18-6EFA-A971-C6C8971D1020}"/>
              </a:ext>
            </a:extLst>
          </p:cNvPr>
          <p:cNvSpPr/>
          <p:nvPr/>
        </p:nvSpPr>
        <p:spPr>
          <a:xfrm>
            <a:off x="457200" y="1856232"/>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12">
            <a:extLst>
              <a:ext uri="{FF2B5EF4-FFF2-40B4-BE49-F238E27FC236}">
                <a16:creationId xmlns:a16="http://schemas.microsoft.com/office/drawing/2014/main" id="{00753983-6074-476C-4868-F6A2725E724D}"/>
              </a:ext>
            </a:extLst>
          </p:cNvPr>
          <p:cNvSpPr/>
          <p:nvPr/>
        </p:nvSpPr>
        <p:spPr>
          <a:xfrm>
            <a:off x="457200" y="1833154"/>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 name="TextBox 13">
            <a:extLst>
              <a:ext uri="{FF2B5EF4-FFF2-40B4-BE49-F238E27FC236}">
                <a16:creationId xmlns:a16="http://schemas.microsoft.com/office/drawing/2014/main" id="{F920D420-8E71-1286-C3ED-A0980D0A871D}"/>
              </a:ext>
            </a:extLst>
          </p:cNvPr>
          <p:cNvSpPr txBox="1"/>
          <p:nvPr/>
        </p:nvSpPr>
        <p:spPr>
          <a:xfrm>
            <a:off x="658368" y="191022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NATURE OF WORK</a:t>
            </a:r>
          </a:p>
        </p:txBody>
      </p:sp>
      <p:sp>
        <p:nvSpPr>
          <p:cNvPr id="16" name="TextBox 15">
            <a:extLst>
              <a:ext uri="{FF2B5EF4-FFF2-40B4-BE49-F238E27FC236}">
                <a16:creationId xmlns:a16="http://schemas.microsoft.com/office/drawing/2014/main" id="{E0606802-016B-8899-602B-AF08E182C290}"/>
              </a:ext>
            </a:extLst>
          </p:cNvPr>
          <p:cNvSpPr txBox="1"/>
          <p:nvPr/>
        </p:nvSpPr>
        <p:spPr>
          <a:xfrm>
            <a:off x="658368" y="2166257"/>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6785C1"/>
                </a:solidFill>
                <a:latin typeface="Helvetica Neue"/>
              </a:rPr>
              <a:t>Operational continuity + regulated change</a:t>
            </a:r>
          </a:p>
        </p:txBody>
      </p:sp>
      <p:sp>
        <p:nvSpPr>
          <p:cNvPr id="17" name="TextBox 16">
            <a:extLst>
              <a:ext uri="{FF2B5EF4-FFF2-40B4-BE49-F238E27FC236}">
                <a16:creationId xmlns:a16="http://schemas.microsoft.com/office/drawing/2014/main" id="{4527DDAC-80C8-D9E7-CB9B-399B48A0329B}"/>
              </a:ext>
            </a:extLst>
          </p:cNvPr>
          <p:cNvSpPr txBox="1"/>
          <p:nvPr/>
        </p:nvSpPr>
        <p:spPr>
          <a:xfrm>
            <a:off x="658368" y="2458865"/>
            <a:ext cx="525780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Keep the lights on — break/fix is the dominant pattern (GIS, G&amp;E, Corporate).</a:t>
            </a:r>
          </a:p>
          <a:p>
            <a:pPr algn="l">
              <a:lnSpc>
                <a:spcPct val="110000"/>
              </a:lnSpc>
              <a:spcBef>
                <a:spcPts val="0"/>
              </a:spcBef>
              <a:spcAft>
                <a:spcPts val="0"/>
              </a:spcAft>
            </a:pPr>
            <a:r>
              <a:rPr lang="en-US" sz="1000" b="0" i="0" noProof="0">
                <a:solidFill>
                  <a:srgbClr val="2C3E50"/>
                </a:solidFill>
                <a:latin typeface="Helvetica Neue"/>
              </a:rPr>
              <a:t>▪  Large demand planned yearly via PDD; small/medium demand handled ad-hoc.</a:t>
            </a:r>
          </a:p>
          <a:p>
            <a:pPr algn="l">
              <a:lnSpc>
                <a:spcPct val="110000"/>
              </a:lnSpc>
              <a:spcBef>
                <a:spcPts val="0"/>
              </a:spcBef>
              <a:spcAft>
                <a:spcPts val="0"/>
              </a:spcAft>
            </a:pPr>
            <a:r>
              <a:rPr lang="en-US" sz="1000" b="0" i="0" noProof="0">
                <a:solidFill>
                  <a:srgbClr val="2C3E50"/>
                </a:solidFill>
                <a:latin typeface="Helvetica Neue"/>
              </a:rPr>
              <a:t>▪  Regulatory and employee-facing systems (Corporate) run under continuous compliance pressure.</a:t>
            </a:r>
          </a:p>
          <a:p>
            <a:pPr algn="l">
              <a:lnSpc>
                <a:spcPct val="110000"/>
              </a:lnSpc>
              <a:spcBef>
                <a:spcPts val="0"/>
              </a:spcBef>
              <a:spcAft>
                <a:spcPts val="0"/>
              </a:spcAft>
            </a:pPr>
            <a:r>
              <a:rPr lang="en-US" sz="1000" b="0" i="0" noProof="0">
                <a:solidFill>
                  <a:srgbClr val="2C3E50"/>
                </a:solidFill>
                <a:latin typeface="Helvetica Neue"/>
              </a:rPr>
              <a:t>▪  Version upgrades (</a:t>
            </a:r>
            <a:r>
              <a:rPr lang="en-US" sz="1000" b="0" i="0" noProof="0" err="1">
                <a:solidFill>
                  <a:srgbClr val="2C3E50"/>
                </a:solidFill>
                <a:latin typeface="Helvetica Neue"/>
              </a:rPr>
              <a:t>Projectwise</a:t>
            </a:r>
            <a:r>
              <a:rPr lang="en-US" sz="1000" b="0" i="0" noProof="0">
                <a:solidFill>
                  <a:srgbClr val="2C3E50"/>
                </a:solidFill>
                <a:latin typeface="Helvetica Neue"/>
              </a:rPr>
              <a:t>, </a:t>
            </a:r>
            <a:r>
              <a:rPr lang="en-US" sz="1000" b="0" i="0" noProof="0" err="1">
                <a:solidFill>
                  <a:srgbClr val="2C3E50"/>
                </a:solidFill>
                <a:latin typeface="Helvetica Neue"/>
              </a:rPr>
              <a:t>Microstation</a:t>
            </a:r>
            <a:r>
              <a:rPr lang="en-US" sz="1000" b="0" i="0" noProof="0">
                <a:solidFill>
                  <a:srgbClr val="2C3E50"/>
                </a:solidFill>
                <a:latin typeface="Helvetica Neue"/>
              </a:rPr>
              <a:t>) gate-kept by Third-Party Risk assessment.</a:t>
            </a:r>
          </a:p>
        </p:txBody>
      </p:sp>
      <p:sp>
        <p:nvSpPr>
          <p:cNvPr id="19" name="Rectangle 18">
            <a:extLst>
              <a:ext uri="{FF2B5EF4-FFF2-40B4-BE49-F238E27FC236}">
                <a16:creationId xmlns:a16="http://schemas.microsoft.com/office/drawing/2014/main" id="{69BBD21D-6F4F-4DF3-AD4F-1D2469C2D2D3}"/>
              </a:ext>
            </a:extLst>
          </p:cNvPr>
          <p:cNvSpPr/>
          <p:nvPr/>
        </p:nvSpPr>
        <p:spPr>
          <a:xfrm>
            <a:off x="6199632" y="1856232"/>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20">
            <a:extLst>
              <a:ext uri="{FF2B5EF4-FFF2-40B4-BE49-F238E27FC236}">
                <a16:creationId xmlns:a16="http://schemas.microsoft.com/office/drawing/2014/main" id="{D0BE99FA-DB12-C202-0682-0F7F1464C2CA}"/>
              </a:ext>
            </a:extLst>
          </p:cNvPr>
          <p:cNvSpPr/>
          <p:nvPr/>
        </p:nvSpPr>
        <p:spPr>
          <a:xfrm>
            <a:off x="6199632" y="1833154"/>
            <a:ext cx="5623560" cy="365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TextBox 21">
            <a:extLst>
              <a:ext uri="{FF2B5EF4-FFF2-40B4-BE49-F238E27FC236}">
                <a16:creationId xmlns:a16="http://schemas.microsoft.com/office/drawing/2014/main" id="{541E3D10-D8C8-9A96-9D60-5C9DB1E3F0B7}"/>
              </a:ext>
            </a:extLst>
          </p:cNvPr>
          <p:cNvSpPr txBox="1"/>
          <p:nvPr/>
        </p:nvSpPr>
        <p:spPr>
          <a:xfrm>
            <a:off x="6400800" y="191022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APPLICATIONS IN SCOPE</a:t>
            </a:r>
          </a:p>
        </p:txBody>
      </p:sp>
      <p:sp>
        <p:nvSpPr>
          <p:cNvPr id="23" name="TextBox 22">
            <a:extLst>
              <a:ext uri="{FF2B5EF4-FFF2-40B4-BE49-F238E27FC236}">
                <a16:creationId xmlns:a16="http://schemas.microsoft.com/office/drawing/2014/main" id="{2D71C6AB-37C7-7A95-56C8-F548F58A2575}"/>
              </a:ext>
            </a:extLst>
          </p:cNvPr>
          <p:cNvSpPr txBox="1"/>
          <p:nvPr/>
        </p:nvSpPr>
        <p:spPr>
          <a:xfrm>
            <a:off x="6400800" y="2166257"/>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6785C1"/>
                </a:solidFill>
                <a:latin typeface="Helvetica Neue"/>
              </a:rPr>
              <a:t>Four technology domains under Carlos</a:t>
            </a:r>
          </a:p>
        </p:txBody>
      </p:sp>
      <p:sp>
        <p:nvSpPr>
          <p:cNvPr id="24" name="TextBox 23">
            <a:extLst>
              <a:ext uri="{FF2B5EF4-FFF2-40B4-BE49-F238E27FC236}">
                <a16:creationId xmlns:a16="http://schemas.microsoft.com/office/drawing/2014/main" id="{7FF83368-2C4A-381E-93B3-1D323F8A84C7}"/>
              </a:ext>
            </a:extLst>
          </p:cNvPr>
          <p:cNvSpPr txBox="1"/>
          <p:nvPr/>
        </p:nvSpPr>
        <p:spPr>
          <a:xfrm>
            <a:off x="6400800" y="2458865"/>
            <a:ext cx="5257800" cy="134107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GIS &amp; OSG  —  SAP HANA, ARCFM, GIS web apps, data replication, SWF platform (George Porto, ~6 FTE).</a:t>
            </a:r>
          </a:p>
          <a:p>
            <a:pPr algn="l">
              <a:lnSpc>
                <a:spcPct val="110000"/>
              </a:lnSpc>
              <a:spcBef>
                <a:spcPts val="0"/>
              </a:spcBef>
              <a:spcAft>
                <a:spcPts val="0"/>
              </a:spcAft>
            </a:pPr>
            <a:r>
              <a:rPr lang="en-US" sz="1000" b="0" i="0" noProof="0">
                <a:solidFill>
                  <a:srgbClr val="2C3E50"/>
                </a:solidFill>
                <a:latin typeface="Helvetica Neue"/>
              </a:rPr>
              <a:t>▪  Electric &amp; Gas Ops  —  70–90 apps, android/tablets, doc viewer, 811 gas lines (Bruno Moreto + Andrew McGibbon, ~7 FTE).</a:t>
            </a:r>
          </a:p>
          <a:p>
            <a:pPr algn="l">
              <a:lnSpc>
                <a:spcPct val="110000"/>
              </a:lnSpc>
              <a:spcBef>
                <a:spcPts val="0"/>
              </a:spcBef>
              <a:spcAft>
                <a:spcPts val="0"/>
              </a:spcAft>
            </a:pPr>
            <a:r>
              <a:rPr lang="en-US" sz="1000" b="0" i="0" noProof="0">
                <a:solidFill>
                  <a:srgbClr val="2C3E50"/>
                </a:solidFill>
                <a:latin typeface="Helvetica Neue"/>
              </a:rPr>
              <a:t>▪  Corporate Applications  —  5-6 PMs, 2 tech leads, corporate + network apps, SWF tooling (Sarath + Amit, ~8 FTE).</a:t>
            </a:r>
          </a:p>
          <a:p>
            <a:pPr algn="l">
              <a:lnSpc>
                <a:spcPct val="110000"/>
              </a:lnSpc>
              <a:spcBef>
                <a:spcPts val="0"/>
              </a:spcBef>
              <a:spcAft>
                <a:spcPts val="0"/>
              </a:spcAft>
            </a:pPr>
            <a:r>
              <a:rPr lang="en-US" sz="1000" b="0" i="0" noProof="0">
                <a:solidFill>
                  <a:srgbClr val="2C3E50"/>
                </a:solidFill>
                <a:latin typeface="Helvetica Neue"/>
              </a:rPr>
              <a:t>▪  Global SAP (Iberdrola)  —  FI, PO, Budget — Spain-side SAP module support (Vanessa + Michael, ~5 FTE).</a:t>
            </a:r>
          </a:p>
        </p:txBody>
      </p:sp>
      <p:sp>
        <p:nvSpPr>
          <p:cNvPr id="25" name="Rectangle 24">
            <a:extLst>
              <a:ext uri="{FF2B5EF4-FFF2-40B4-BE49-F238E27FC236}">
                <a16:creationId xmlns:a16="http://schemas.microsoft.com/office/drawing/2014/main" id="{846D21D5-211B-2B3A-DFAA-4BC55B826F13}"/>
              </a:ext>
            </a:extLst>
          </p:cNvPr>
          <p:cNvSpPr/>
          <p:nvPr/>
        </p:nvSpPr>
        <p:spPr>
          <a:xfrm>
            <a:off x="457200" y="3837435"/>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Rectangle 25">
            <a:extLst>
              <a:ext uri="{FF2B5EF4-FFF2-40B4-BE49-F238E27FC236}">
                <a16:creationId xmlns:a16="http://schemas.microsoft.com/office/drawing/2014/main" id="{0560CDC2-E221-4969-7B25-FD41D41C2B2F}"/>
              </a:ext>
            </a:extLst>
          </p:cNvPr>
          <p:cNvSpPr/>
          <p:nvPr/>
        </p:nvSpPr>
        <p:spPr>
          <a:xfrm>
            <a:off x="457200" y="3837435"/>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27">
            <a:extLst>
              <a:ext uri="{FF2B5EF4-FFF2-40B4-BE49-F238E27FC236}">
                <a16:creationId xmlns:a16="http://schemas.microsoft.com/office/drawing/2014/main" id="{627C9874-C20F-0B11-6234-8D7D0EEEA69F}"/>
              </a:ext>
            </a:extLst>
          </p:cNvPr>
          <p:cNvSpPr txBox="1"/>
          <p:nvPr/>
        </p:nvSpPr>
        <p:spPr>
          <a:xfrm>
            <a:off x="658368" y="394716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PRIORITIES TODAY</a:t>
            </a:r>
          </a:p>
        </p:txBody>
      </p:sp>
      <p:sp>
        <p:nvSpPr>
          <p:cNvPr id="29" name="TextBox 28">
            <a:extLst>
              <a:ext uri="{FF2B5EF4-FFF2-40B4-BE49-F238E27FC236}">
                <a16:creationId xmlns:a16="http://schemas.microsoft.com/office/drawing/2014/main" id="{CFA23C84-831B-33D8-37B7-8EB10A8103C7}"/>
              </a:ext>
            </a:extLst>
          </p:cNvPr>
          <p:cNvSpPr txBox="1"/>
          <p:nvPr/>
        </p:nvSpPr>
        <p:spPr>
          <a:xfrm>
            <a:off x="658368" y="4203195"/>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6785C1"/>
                </a:solidFill>
                <a:latin typeface="Helvetica Neue"/>
              </a:rPr>
              <a:t>Break/fix first, regulatory second, strategic last</a:t>
            </a:r>
          </a:p>
        </p:txBody>
      </p:sp>
      <p:sp>
        <p:nvSpPr>
          <p:cNvPr id="30" name="TextBox 29">
            <a:extLst>
              <a:ext uri="{FF2B5EF4-FFF2-40B4-BE49-F238E27FC236}">
                <a16:creationId xmlns:a16="http://schemas.microsoft.com/office/drawing/2014/main" id="{2BA90B8F-0A94-5326-E504-9B1AEEF443CB}"/>
              </a:ext>
            </a:extLst>
          </p:cNvPr>
          <p:cNvSpPr txBox="1"/>
          <p:nvPr/>
        </p:nvSpPr>
        <p:spPr>
          <a:xfrm>
            <a:off x="658368" y="4495803"/>
            <a:ext cx="5257800" cy="1171796"/>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GIS: keep the lights on; team &amp; SWF resource management; future technology roadmap.</a:t>
            </a:r>
          </a:p>
          <a:p>
            <a:pPr algn="l">
              <a:lnSpc>
                <a:spcPct val="110000"/>
              </a:lnSpc>
              <a:spcBef>
                <a:spcPts val="0"/>
              </a:spcBef>
              <a:spcAft>
                <a:spcPts val="0"/>
              </a:spcAft>
            </a:pPr>
            <a:r>
              <a:rPr lang="en-US" sz="1000" b="0" i="0" noProof="0">
                <a:solidFill>
                  <a:srgbClr val="2C3E50"/>
                </a:solidFill>
                <a:latin typeface="Helvetica Neue"/>
              </a:rPr>
              <a:t>▪  Corporate: regulatory and employee-facing systems — always priority; continuous new requirements.</a:t>
            </a:r>
          </a:p>
          <a:p>
            <a:pPr algn="l">
              <a:lnSpc>
                <a:spcPct val="110000"/>
              </a:lnSpc>
              <a:spcBef>
                <a:spcPts val="0"/>
              </a:spcBef>
              <a:spcAft>
                <a:spcPts val="0"/>
              </a:spcAft>
            </a:pPr>
            <a:r>
              <a:rPr lang="en-US" sz="1000" b="0" i="0" noProof="0">
                <a:solidFill>
                  <a:srgbClr val="2C3E50"/>
                </a:solidFill>
                <a:latin typeface="Helvetica Neue"/>
              </a:rPr>
              <a:t>▪  G&amp;E: ProjectWise + </a:t>
            </a:r>
            <a:r>
              <a:rPr lang="en-US" sz="1000" b="0" i="0" noProof="0" err="1">
                <a:solidFill>
                  <a:srgbClr val="2C3E50"/>
                </a:solidFill>
                <a:latin typeface="Helvetica Neue"/>
              </a:rPr>
              <a:t>Microstation</a:t>
            </a:r>
            <a:r>
              <a:rPr lang="en-US" sz="1000" b="0" i="0" noProof="0">
                <a:solidFill>
                  <a:srgbClr val="2C3E50"/>
                </a:solidFill>
                <a:latin typeface="Helvetica Neue"/>
              </a:rPr>
              <a:t> upgrades; third-party risk interface; business case approvals (slow).</a:t>
            </a:r>
          </a:p>
          <a:p>
            <a:pPr algn="l">
              <a:lnSpc>
                <a:spcPct val="110000"/>
              </a:lnSpc>
              <a:spcBef>
                <a:spcPts val="0"/>
              </a:spcBef>
              <a:spcAft>
                <a:spcPts val="0"/>
              </a:spcAft>
            </a:pPr>
            <a:r>
              <a:rPr lang="en-US" sz="1000" b="0" i="0" noProof="0">
                <a:solidFill>
                  <a:srgbClr val="2C3E50"/>
                </a:solidFill>
                <a:latin typeface="Helvetica Neue"/>
              </a:rPr>
              <a:t>▪  Global SAP: incident volume dominates — strategic projects slip; 1-year hiring lag amplifies load.</a:t>
            </a:r>
          </a:p>
        </p:txBody>
      </p:sp>
      <p:sp>
        <p:nvSpPr>
          <p:cNvPr id="31" name="Rectangle 30">
            <a:extLst>
              <a:ext uri="{FF2B5EF4-FFF2-40B4-BE49-F238E27FC236}">
                <a16:creationId xmlns:a16="http://schemas.microsoft.com/office/drawing/2014/main" id="{686B6EE1-B7BE-255B-50BF-5E74A762C749}"/>
              </a:ext>
            </a:extLst>
          </p:cNvPr>
          <p:cNvSpPr/>
          <p:nvPr/>
        </p:nvSpPr>
        <p:spPr>
          <a:xfrm>
            <a:off x="6199632" y="3837435"/>
            <a:ext cx="5623560" cy="19842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Rectangle 31">
            <a:extLst>
              <a:ext uri="{FF2B5EF4-FFF2-40B4-BE49-F238E27FC236}">
                <a16:creationId xmlns:a16="http://schemas.microsoft.com/office/drawing/2014/main" id="{E0124ED0-373B-3E67-BB77-D8E9AE8FCDF3}"/>
              </a:ext>
            </a:extLst>
          </p:cNvPr>
          <p:cNvSpPr/>
          <p:nvPr/>
        </p:nvSpPr>
        <p:spPr>
          <a:xfrm>
            <a:off x="6199632" y="3837435"/>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TextBox 32">
            <a:extLst>
              <a:ext uri="{FF2B5EF4-FFF2-40B4-BE49-F238E27FC236}">
                <a16:creationId xmlns:a16="http://schemas.microsoft.com/office/drawing/2014/main" id="{A92154DE-A764-9DB7-B8CD-204295508733}"/>
              </a:ext>
            </a:extLst>
          </p:cNvPr>
          <p:cNvSpPr txBox="1"/>
          <p:nvPr/>
        </p:nvSpPr>
        <p:spPr>
          <a:xfrm>
            <a:off x="6400800" y="394716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INTERACTIONS  &amp;  WAY OF WORKING</a:t>
            </a:r>
          </a:p>
        </p:txBody>
      </p:sp>
      <p:sp>
        <p:nvSpPr>
          <p:cNvPr id="34" name="TextBox 33">
            <a:extLst>
              <a:ext uri="{FF2B5EF4-FFF2-40B4-BE49-F238E27FC236}">
                <a16:creationId xmlns:a16="http://schemas.microsoft.com/office/drawing/2014/main" id="{3BAD4907-4255-73FB-5CCC-10CF38A9342E}"/>
              </a:ext>
            </a:extLst>
          </p:cNvPr>
          <p:cNvSpPr txBox="1"/>
          <p:nvPr/>
        </p:nvSpPr>
        <p:spPr>
          <a:xfrm>
            <a:off x="6400800" y="4203195"/>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6785C1"/>
                </a:solidFill>
                <a:latin typeface="Helvetica Neue"/>
              </a:rPr>
              <a:t>Inside-IT + vendor + business triangulation</a:t>
            </a:r>
          </a:p>
        </p:txBody>
      </p:sp>
      <p:sp>
        <p:nvSpPr>
          <p:cNvPr id="35" name="TextBox 34">
            <a:extLst>
              <a:ext uri="{FF2B5EF4-FFF2-40B4-BE49-F238E27FC236}">
                <a16:creationId xmlns:a16="http://schemas.microsoft.com/office/drawing/2014/main" id="{DF6F7541-C107-6C35-C239-481E9AF59934}"/>
              </a:ext>
            </a:extLst>
          </p:cNvPr>
          <p:cNvSpPr txBox="1"/>
          <p:nvPr/>
        </p:nvSpPr>
        <p:spPr>
          <a:xfrm>
            <a:off x="6400800" y="4495803"/>
            <a:ext cx="5257800" cy="134107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Inside Applications: GIS ↔ G&amp;E (shared SAP/GIS data); Corporate ↔ all teams (shared PMs).</a:t>
            </a:r>
          </a:p>
          <a:p>
            <a:pPr algn="l">
              <a:lnSpc>
                <a:spcPct val="110000"/>
              </a:lnSpc>
              <a:spcBef>
                <a:spcPts val="0"/>
              </a:spcBef>
              <a:spcAft>
                <a:spcPts val="0"/>
              </a:spcAft>
            </a:pPr>
            <a:r>
              <a:rPr lang="en-US" sz="1000" b="0" i="0" noProof="0">
                <a:solidFill>
                  <a:srgbClr val="2C3E50"/>
                </a:solidFill>
                <a:latin typeface="Helvetica Neue"/>
              </a:rPr>
              <a:t>▪  With SAP branch: Global SAP ↔ Kumar's SAP (Billing, FICA); P&amp;T is the intermediary with Business.</a:t>
            </a:r>
          </a:p>
          <a:p>
            <a:pPr algn="l">
              <a:lnSpc>
                <a:spcPct val="110000"/>
              </a:lnSpc>
              <a:spcBef>
                <a:spcPts val="0"/>
              </a:spcBef>
              <a:spcAft>
                <a:spcPts val="0"/>
              </a:spcAft>
            </a:pPr>
            <a:r>
              <a:rPr lang="en-US" sz="1000" b="0" i="0" noProof="0">
                <a:solidFill>
                  <a:srgbClr val="2C3E50"/>
                </a:solidFill>
                <a:latin typeface="Helvetica Neue"/>
              </a:rPr>
              <a:t>▪  With vendors: Accenture (Global SAP + Corporate), SWF / Software Factory (all teams), business vendors (G&amp;E).</a:t>
            </a:r>
          </a:p>
          <a:p>
            <a:pPr algn="l">
              <a:lnSpc>
                <a:spcPct val="110000"/>
              </a:lnSpc>
              <a:spcBef>
                <a:spcPts val="0"/>
              </a:spcBef>
              <a:spcAft>
                <a:spcPts val="0"/>
              </a:spcAft>
            </a:pPr>
            <a:r>
              <a:rPr lang="en-US" sz="1000" b="0" i="0" noProof="0">
                <a:solidFill>
                  <a:srgbClr val="2C3E50"/>
                </a:solidFill>
                <a:latin typeface="Helvetica Neue"/>
              </a:rPr>
              <a:t>▪  Tools mix: Jira (</a:t>
            </a:r>
            <a:r>
              <a:rPr lang="en-US" sz="1000" b="0" i="0" noProof="0" err="1">
                <a:solidFill>
                  <a:srgbClr val="2C3E50"/>
                </a:solidFill>
                <a:latin typeface="Helvetica Neue"/>
              </a:rPr>
              <a:t>misc</a:t>
            </a:r>
            <a:r>
              <a:rPr lang="en-US" sz="1000" b="0" i="0" noProof="0">
                <a:solidFill>
                  <a:srgbClr val="2C3E50"/>
                </a:solidFill>
                <a:latin typeface="Helvetica Neue"/>
              </a:rPr>
              <a:t>), IT Now (incidents), PDD (large), SharePoint + Teams + OneNote + Email (PM).</a:t>
            </a:r>
          </a:p>
        </p:txBody>
      </p:sp>
      <p:sp>
        <p:nvSpPr>
          <p:cNvPr id="37" name="Rectangle 36">
            <a:extLst>
              <a:ext uri="{FF2B5EF4-FFF2-40B4-BE49-F238E27FC236}">
                <a16:creationId xmlns:a16="http://schemas.microsoft.com/office/drawing/2014/main" id="{5FC66940-CACB-90D9-B2F1-7FC2CD3E2A2E}"/>
              </a:ext>
            </a:extLst>
          </p:cNvPr>
          <p:cNvSpPr/>
          <p:nvPr/>
        </p:nvSpPr>
        <p:spPr>
          <a:xfrm>
            <a:off x="457200" y="5880464"/>
            <a:ext cx="1136599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TextBox 37">
            <a:extLst>
              <a:ext uri="{FF2B5EF4-FFF2-40B4-BE49-F238E27FC236}">
                <a16:creationId xmlns:a16="http://schemas.microsoft.com/office/drawing/2014/main" id="{487BAA2F-A11D-57EE-13E8-0CB294C34FD4}"/>
              </a:ext>
            </a:extLst>
          </p:cNvPr>
          <p:cNvSpPr txBox="1"/>
          <p:nvPr/>
        </p:nvSpPr>
        <p:spPr>
          <a:xfrm>
            <a:off x="685800" y="604603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Applications carries the structural legacy of Avangrid's IT stack — fragmentation here maps directly to the 4 intake bottlenecks surfaced later in this deck</a:t>
            </a:r>
          </a:p>
        </p:txBody>
      </p:sp>
      <p:sp>
        <p:nvSpPr>
          <p:cNvPr id="41" name="Rectangle 40">
            <a:extLst>
              <a:ext uri="{FF2B5EF4-FFF2-40B4-BE49-F238E27FC236}">
                <a16:creationId xmlns:a16="http://schemas.microsoft.com/office/drawing/2014/main" id="{F0263C50-BE1A-3D18-D8F1-B0AEE9BA23FF}"/>
              </a:ext>
            </a:extLst>
          </p:cNvPr>
          <p:cNvSpPr/>
          <p:nvPr/>
        </p:nvSpPr>
        <p:spPr>
          <a:xfrm>
            <a:off x="457200" y="1371600"/>
            <a:ext cx="1136599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Rectangle 41">
            <a:extLst>
              <a:ext uri="{FF2B5EF4-FFF2-40B4-BE49-F238E27FC236}">
                <a16:creationId xmlns:a16="http://schemas.microsoft.com/office/drawing/2014/main" id="{96AEB63F-C64A-1E67-6CBA-A695C823D0FF}"/>
              </a:ext>
            </a:extLst>
          </p:cNvPr>
          <p:cNvSpPr/>
          <p:nvPr/>
        </p:nvSpPr>
        <p:spPr>
          <a:xfrm>
            <a:off x="457200" y="1435608"/>
            <a:ext cx="11365992" cy="3474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a:extLst>
              <a:ext uri="{FF2B5EF4-FFF2-40B4-BE49-F238E27FC236}">
                <a16:creationId xmlns:a16="http://schemas.microsoft.com/office/drawing/2014/main" id="{59AD5C7B-72BB-A10A-5471-307965880284}"/>
              </a:ext>
            </a:extLst>
          </p:cNvPr>
          <p:cNvSpPr txBox="1"/>
          <p:nvPr/>
        </p:nvSpPr>
        <p:spPr>
          <a:xfrm>
            <a:off x="457200" y="1523455"/>
            <a:ext cx="11365992" cy="1717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noProof="0"/>
              <a:t>BRANCH 1  —  IT BUSINESS APPLICATIONS  ·  Director: Carlos Garbin  ·  ~26 FTE  ·  4 teams</a:t>
            </a:r>
          </a:p>
        </p:txBody>
      </p:sp>
    </p:spTree>
    <p:extLst>
      <p:ext uri="{BB962C8B-B14F-4D97-AF65-F5344CB8AC3E}">
        <p14:creationId xmlns:p14="http://schemas.microsoft.com/office/powerpoint/2010/main" val="1009479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EF3244-A19B-4EC3-7A32-5277F29FB7B9}"/>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3F1742AA-3AC9-F18A-A3DE-4399FB4E0162}"/>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7F76D1EC-C91E-36F3-43EA-3E8D845E9CBF}"/>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3904C150-ED73-B670-CA6A-59C0F2BD1FE6}"/>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53407E6B-F196-9394-9D46-435681C5DF05}"/>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D326F130-02FD-61EB-8FF7-2A919E9F1F9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BD9C82B3-CFEE-AF11-ABAA-716F09DE3257}"/>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2A9A6CED-E817-384C-15BC-BF102698FCC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A500DAF1-CC06-0F24-C22B-3D918D6D7430}"/>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75D1362A-CC23-31FF-3FCC-A83B20D9EA4F}"/>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Customer Services Apps serves 7 OPCOs across three BRS groups — with SAP (Billing, CRM, FICA, Metering) as the operational core and two Sr. Manager vacancies.</a:t>
            </a:r>
          </a:p>
          <a:p>
            <a:pPr algn="just"/>
            <a:endParaRPr lang="en-US" noProof="0"/>
          </a:p>
          <a:p>
            <a:pPr algn="just"/>
            <a:endParaRPr lang="en-US" noProof="0"/>
          </a:p>
        </p:txBody>
      </p:sp>
      <p:sp>
        <p:nvSpPr>
          <p:cNvPr id="6" name="Rectangle 5">
            <a:extLst>
              <a:ext uri="{FF2B5EF4-FFF2-40B4-BE49-F238E27FC236}">
                <a16:creationId xmlns:a16="http://schemas.microsoft.com/office/drawing/2014/main" id="{224373B0-F529-6BAA-D1A2-3127D368AA46}"/>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Rectangle 40">
            <a:extLst>
              <a:ext uri="{FF2B5EF4-FFF2-40B4-BE49-F238E27FC236}">
                <a16:creationId xmlns:a16="http://schemas.microsoft.com/office/drawing/2014/main" id="{3580D3E4-8009-73DB-582B-940E1CD68C83}"/>
              </a:ext>
            </a:extLst>
          </p:cNvPr>
          <p:cNvSpPr/>
          <p:nvPr/>
        </p:nvSpPr>
        <p:spPr>
          <a:xfrm>
            <a:off x="457200" y="1371600"/>
            <a:ext cx="1136599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a:extLst>
              <a:ext uri="{FF2B5EF4-FFF2-40B4-BE49-F238E27FC236}">
                <a16:creationId xmlns:a16="http://schemas.microsoft.com/office/drawing/2014/main" id="{2B47A920-F5AA-F491-C253-AFF5E9215335}"/>
              </a:ext>
            </a:extLst>
          </p:cNvPr>
          <p:cNvSpPr/>
          <p:nvPr/>
        </p:nvSpPr>
        <p:spPr>
          <a:xfrm>
            <a:off x="457200" y="144627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9A89B1F8-4366-6AC2-4234-C768A48E6C71}"/>
              </a:ext>
            </a:extLst>
          </p:cNvPr>
          <p:cNvSpPr/>
          <p:nvPr/>
        </p:nvSpPr>
        <p:spPr>
          <a:xfrm>
            <a:off x="457200" y="1510284"/>
            <a:ext cx="11365992" cy="3474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TextBox 17">
            <a:extLst>
              <a:ext uri="{FF2B5EF4-FFF2-40B4-BE49-F238E27FC236}">
                <a16:creationId xmlns:a16="http://schemas.microsoft.com/office/drawing/2014/main" id="{BA737273-E17E-A444-4526-FD01467284CD}"/>
              </a:ext>
            </a:extLst>
          </p:cNvPr>
          <p:cNvSpPr txBox="1"/>
          <p:nvPr/>
        </p:nvSpPr>
        <p:spPr>
          <a:xfrm>
            <a:off x="458724" y="1599900"/>
            <a:ext cx="11274552" cy="1717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noProof="0"/>
              <a:t>BRANCH 2  —  CUSTOMER SERVICES APPS  ·  Director: Kumar </a:t>
            </a:r>
            <a:r>
              <a:rPr lang="en-US" sz="1600" noProof="0" err="1"/>
              <a:t>Jaladanki</a:t>
            </a:r>
            <a:r>
              <a:rPr lang="en-US" sz="1600" noProof="0"/>
              <a:t>  ·  ~24 FTE  ·  5 teams (2 Sr. Manager vacancies)</a:t>
            </a:r>
          </a:p>
        </p:txBody>
      </p:sp>
      <p:sp>
        <p:nvSpPr>
          <p:cNvPr id="20" name="Rectangle 19">
            <a:extLst>
              <a:ext uri="{FF2B5EF4-FFF2-40B4-BE49-F238E27FC236}">
                <a16:creationId xmlns:a16="http://schemas.microsoft.com/office/drawing/2014/main" id="{85D776C6-CD95-1D49-431C-B9DACA6352BC}"/>
              </a:ext>
            </a:extLst>
          </p:cNvPr>
          <p:cNvSpPr/>
          <p:nvPr/>
        </p:nvSpPr>
        <p:spPr>
          <a:xfrm>
            <a:off x="457200" y="1951372"/>
            <a:ext cx="5623560" cy="18936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Rectangle 26">
            <a:extLst>
              <a:ext uri="{FF2B5EF4-FFF2-40B4-BE49-F238E27FC236}">
                <a16:creationId xmlns:a16="http://schemas.microsoft.com/office/drawing/2014/main" id="{2E707878-AB6D-088D-D2DF-1DFA9F7F65EB}"/>
              </a:ext>
            </a:extLst>
          </p:cNvPr>
          <p:cNvSpPr/>
          <p:nvPr/>
        </p:nvSpPr>
        <p:spPr>
          <a:xfrm>
            <a:off x="457200" y="1951372"/>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35">
            <a:extLst>
              <a:ext uri="{FF2B5EF4-FFF2-40B4-BE49-F238E27FC236}">
                <a16:creationId xmlns:a16="http://schemas.microsoft.com/office/drawing/2014/main" id="{44D622B1-B05D-90DA-8CC6-A2F58FA802BC}"/>
              </a:ext>
            </a:extLst>
          </p:cNvPr>
          <p:cNvSpPr txBox="1"/>
          <p:nvPr/>
        </p:nvSpPr>
        <p:spPr>
          <a:xfrm>
            <a:off x="658368" y="20611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NATURE OF WORK</a:t>
            </a:r>
          </a:p>
        </p:txBody>
      </p:sp>
      <p:sp>
        <p:nvSpPr>
          <p:cNvPr id="39" name="TextBox 38">
            <a:extLst>
              <a:ext uri="{FF2B5EF4-FFF2-40B4-BE49-F238E27FC236}">
                <a16:creationId xmlns:a16="http://schemas.microsoft.com/office/drawing/2014/main" id="{C4927DFB-2ACC-59E7-06DC-2AE597F5D08A}"/>
              </a:ext>
            </a:extLst>
          </p:cNvPr>
          <p:cNvSpPr txBox="1"/>
          <p:nvPr/>
        </p:nvSpPr>
        <p:spPr>
          <a:xfrm>
            <a:off x="658368" y="2317132"/>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0B76A0"/>
                </a:solidFill>
                <a:latin typeface="Helvetica Neue"/>
              </a:rPr>
              <a:t>Customer-facing SAP + metering + contact center</a:t>
            </a:r>
          </a:p>
        </p:txBody>
      </p:sp>
      <p:sp>
        <p:nvSpPr>
          <p:cNvPr id="40" name="TextBox 39">
            <a:extLst>
              <a:ext uri="{FF2B5EF4-FFF2-40B4-BE49-F238E27FC236}">
                <a16:creationId xmlns:a16="http://schemas.microsoft.com/office/drawing/2014/main" id="{D7AD1360-355F-9A61-9082-21DA0D88714C}"/>
              </a:ext>
            </a:extLst>
          </p:cNvPr>
          <p:cNvSpPr txBox="1"/>
          <p:nvPr/>
        </p:nvSpPr>
        <p:spPr>
          <a:xfrm>
            <a:off x="658368" y="2609740"/>
            <a:ext cx="5257800" cy="100251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SAP (Avangrid US) — Billing, FICA, CRM, Metering — distinct from Global SAP (Iberdrola Spain).</a:t>
            </a:r>
          </a:p>
          <a:p>
            <a:pPr algn="l">
              <a:lnSpc>
                <a:spcPct val="110000"/>
              </a:lnSpc>
              <a:spcBef>
                <a:spcPts val="0"/>
              </a:spcBef>
              <a:spcAft>
                <a:spcPts val="0"/>
              </a:spcAft>
            </a:pPr>
            <a:r>
              <a:rPr lang="en-US" sz="1000" b="0" i="0" noProof="0">
                <a:solidFill>
                  <a:srgbClr val="2C3E50"/>
                </a:solidFill>
                <a:latin typeface="Helvetica Neue"/>
              </a:rPr>
              <a:t>▪  Demand split across BRS (business), PMO (Travis — large projects) and IT-funded (Kumar's teams).</a:t>
            </a:r>
          </a:p>
          <a:p>
            <a:pPr algn="l">
              <a:lnSpc>
                <a:spcPct val="110000"/>
              </a:lnSpc>
              <a:spcBef>
                <a:spcPts val="0"/>
              </a:spcBef>
              <a:spcAft>
                <a:spcPts val="0"/>
              </a:spcAft>
            </a:pPr>
            <a:r>
              <a:rPr lang="en-US" sz="1000" b="0" i="0" noProof="0">
                <a:solidFill>
                  <a:srgbClr val="2C3E50"/>
                </a:solidFill>
                <a:latin typeface="Helvetica Neue"/>
              </a:rPr>
              <a:t>▪  Incidents + small/medium demand dominate volume; large projects run via annual PDD.</a:t>
            </a:r>
          </a:p>
          <a:p>
            <a:pPr algn="l">
              <a:lnSpc>
                <a:spcPct val="110000"/>
              </a:lnSpc>
              <a:spcBef>
                <a:spcPts val="0"/>
              </a:spcBef>
              <a:spcAft>
                <a:spcPts val="0"/>
              </a:spcAft>
            </a:pPr>
            <a:r>
              <a:rPr lang="en-US" sz="1000" b="0" i="0" noProof="0">
                <a:solidFill>
                  <a:srgbClr val="2C3E50"/>
                </a:solidFill>
                <a:latin typeface="Helvetica Neue"/>
              </a:rPr>
              <a:t>▪  Software Factory (SWF) executes; Accenture supports incidents + projects.</a:t>
            </a:r>
          </a:p>
        </p:txBody>
      </p:sp>
      <p:sp>
        <p:nvSpPr>
          <p:cNvPr id="44" name="Rectangle 43">
            <a:extLst>
              <a:ext uri="{FF2B5EF4-FFF2-40B4-BE49-F238E27FC236}">
                <a16:creationId xmlns:a16="http://schemas.microsoft.com/office/drawing/2014/main" id="{DEF9D166-05E3-B0A6-B3B7-7FABAB32067E}"/>
              </a:ext>
            </a:extLst>
          </p:cNvPr>
          <p:cNvSpPr/>
          <p:nvPr/>
        </p:nvSpPr>
        <p:spPr>
          <a:xfrm>
            <a:off x="6199632" y="1951372"/>
            <a:ext cx="5623560" cy="18814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Rectangle 44">
            <a:extLst>
              <a:ext uri="{FF2B5EF4-FFF2-40B4-BE49-F238E27FC236}">
                <a16:creationId xmlns:a16="http://schemas.microsoft.com/office/drawing/2014/main" id="{71FE90B6-73D1-43EB-B50D-52A2AD46036C}"/>
              </a:ext>
            </a:extLst>
          </p:cNvPr>
          <p:cNvSpPr/>
          <p:nvPr/>
        </p:nvSpPr>
        <p:spPr>
          <a:xfrm>
            <a:off x="6199632" y="1951372"/>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45">
            <a:extLst>
              <a:ext uri="{FF2B5EF4-FFF2-40B4-BE49-F238E27FC236}">
                <a16:creationId xmlns:a16="http://schemas.microsoft.com/office/drawing/2014/main" id="{06B618AD-94CD-2827-6104-47CC30473F78}"/>
              </a:ext>
            </a:extLst>
          </p:cNvPr>
          <p:cNvSpPr txBox="1"/>
          <p:nvPr/>
        </p:nvSpPr>
        <p:spPr>
          <a:xfrm>
            <a:off x="6400800" y="20611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BRS  /  OPCO LANDSCAPE</a:t>
            </a:r>
          </a:p>
        </p:txBody>
      </p:sp>
      <p:sp>
        <p:nvSpPr>
          <p:cNvPr id="47" name="TextBox 46">
            <a:extLst>
              <a:ext uri="{FF2B5EF4-FFF2-40B4-BE49-F238E27FC236}">
                <a16:creationId xmlns:a16="http://schemas.microsoft.com/office/drawing/2014/main" id="{F1509A58-7051-1CD4-6DDC-FE88F290737D}"/>
              </a:ext>
            </a:extLst>
          </p:cNvPr>
          <p:cNvSpPr txBox="1"/>
          <p:nvPr/>
        </p:nvSpPr>
        <p:spPr>
          <a:xfrm>
            <a:off x="6400800" y="2317132"/>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0B76A0"/>
                </a:solidFill>
                <a:latin typeface="Helvetica Neue"/>
              </a:rPr>
              <a:t>3 BRS groups representing 7 operating companies</a:t>
            </a:r>
          </a:p>
        </p:txBody>
      </p:sp>
      <p:sp>
        <p:nvSpPr>
          <p:cNvPr id="48" name="TextBox 47">
            <a:extLst>
              <a:ext uri="{FF2B5EF4-FFF2-40B4-BE49-F238E27FC236}">
                <a16:creationId xmlns:a16="http://schemas.microsoft.com/office/drawing/2014/main" id="{C91CBE89-2379-3B4F-58B1-C23B70142448}"/>
              </a:ext>
            </a:extLst>
          </p:cNvPr>
          <p:cNvSpPr txBox="1"/>
          <p:nvPr/>
        </p:nvSpPr>
        <p:spPr>
          <a:xfrm>
            <a:off x="6400800" y="2609740"/>
            <a:ext cx="5257800" cy="1171796"/>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BRS UIL  —  United Illuminating, SCG, CNG, BGC (Connecticut cluster).</a:t>
            </a:r>
          </a:p>
          <a:p>
            <a:pPr algn="l">
              <a:lnSpc>
                <a:spcPct val="110000"/>
              </a:lnSpc>
              <a:spcBef>
                <a:spcPts val="0"/>
              </a:spcBef>
              <a:spcAft>
                <a:spcPts val="0"/>
              </a:spcAft>
            </a:pPr>
            <a:r>
              <a:rPr lang="en-US" sz="1000" b="0" i="0" noProof="0">
                <a:solidFill>
                  <a:srgbClr val="2C3E50"/>
                </a:solidFill>
                <a:latin typeface="Helvetica Neue"/>
              </a:rPr>
              <a:t>▪  BRS CMP  —  Central Maine Power (Maine operations).</a:t>
            </a:r>
          </a:p>
          <a:p>
            <a:pPr algn="l">
              <a:lnSpc>
                <a:spcPct val="110000"/>
              </a:lnSpc>
              <a:spcBef>
                <a:spcPts val="0"/>
              </a:spcBef>
              <a:spcAft>
                <a:spcPts val="0"/>
              </a:spcAft>
            </a:pPr>
            <a:r>
              <a:rPr lang="en-US" sz="1000" b="0" i="0" noProof="0">
                <a:solidFill>
                  <a:srgbClr val="2C3E50"/>
                </a:solidFill>
                <a:latin typeface="Helvetica Neue"/>
              </a:rPr>
              <a:t>▪  BRS NY  —  NYSEG + RGE (New York cluster).</a:t>
            </a:r>
          </a:p>
          <a:p>
            <a:pPr algn="l">
              <a:lnSpc>
                <a:spcPct val="110000"/>
              </a:lnSpc>
              <a:spcBef>
                <a:spcPts val="0"/>
              </a:spcBef>
              <a:spcAft>
                <a:spcPts val="0"/>
              </a:spcAft>
            </a:pPr>
            <a:r>
              <a:rPr lang="en-US" sz="1000" b="0" i="0" noProof="0">
                <a:solidFill>
                  <a:srgbClr val="2C3E50"/>
                </a:solidFill>
                <a:latin typeface="Helvetica Neue"/>
              </a:rPr>
              <a:t>▪  Plus Digital </a:t>
            </a:r>
            <a:r>
              <a:rPr lang="en-US" sz="1000" b="0" i="0" noProof="0" err="1">
                <a:solidFill>
                  <a:srgbClr val="2C3E50"/>
                </a:solidFill>
                <a:latin typeface="Helvetica Neue"/>
              </a:rPr>
              <a:t>CoE</a:t>
            </a:r>
            <a:r>
              <a:rPr lang="en-US" sz="1000" b="0" i="0" noProof="0">
                <a:solidFill>
                  <a:srgbClr val="2C3E50"/>
                </a:solidFill>
                <a:latin typeface="Helvetica Neue"/>
              </a:rPr>
              <a:t> (customer apps / websites) and Call Center (contact interactions — Kumar).</a:t>
            </a:r>
          </a:p>
          <a:p>
            <a:pPr algn="l">
              <a:lnSpc>
                <a:spcPct val="110000"/>
              </a:lnSpc>
              <a:spcBef>
                <a:spcPts val="0"/>
              </a:spcBef>
              <a:spcAft>
                <a:spcPts val="0"/>
              </a:spcAft>
            </a:pPr>
            <a:r>
              <a:rPr lang="en-US" sz="1000" b="0" i="0" noProof="0">
                <a:solidFill>
                  <a:srgbClr val="2C3E50"/>
                </a:solidFill>
                <a:latin typeface="Helvetica Neue"/>
              </a:rPr>
              <a:t>▪  Each OPCO competes for the same IT capacity — multi-OPCO prioritization is a daily pressure.</a:t>
            </a:r>
          </a:p>
        </p:txBody>
      </p:sp>
      <p:sp>
        <p:nvSpPr>
          <p:cNvPr id="49" name="Rectangle 48">
            <a:extLst>
              <a:ext uri="{FF2B5EF4-FFF2-40B4-BE49-F238E27FC236}">
                <a16:creationId xmlns:a16="http://schemas.microsoft.com/office/drawing/2014/main" id="{99DCCB51-21CC-A2DC-F26A-776658142F73}"/>
              </a:ext>
            </a:extLst>
          </p:cNvPr>
          <p:cNvSpPr/>
          <p:nvPr/>
        </p:nvSpPr>
        <p:spPr>
          <a:xfrm>
            <a:off x="457200" y="3879450"/>
            <a:ext cx="5623560" cy="18680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0" name="Rectangle 49">
            <a:extLst>
              <a:ext uri="{FF2B5EF4-FFF2-40B4-BE49-F238E27FC236}">
                <a16:creationId xmlns:a16="http://schemas.microsoft.com/office/drawing/2014/main" id="{148D5CBC-12ED-1DFE-66E5-0457205C58B5}"/>
              </a:ext>
            </a:extLst>
          </p:cNvPr>
          <p:cNvSpPr/>
          <p:nvPr/>
        </p:nvSpPr>
        <p:spPr>
          <a:xfrm>
            <a:off x="457200" y="3879450"/>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1" name="TextBox 50">
            <a:extLst>
              <a:ext uri="{FF2B5EF4-FFF2-40B4-BE49-F238E27FC236}">
                <a16:creationId xmlns:a16="http://schemas.microsoft.com/office/drawing/2014/main" id="{2C839A7E-5837-F19B-E318-3EEFEDCBD29E}"/>
              </a:ext>
            </a:extLst>
          </p:cNvPr>
          <p:cNvSpPr txBox="1"/>
          <p:nvPr/>
        </p:nvSpPr>
        <p:spPr>
          <a:xfrm>
            <a:off x="658368" y="3989178"/>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TEAMS UNDER KUMAR</a:t>
            </a:r>
          </a:p>
        </p:txBody>
      </p:sp>
      <p:sp>
        <p:nvSpPr>
          <p:cNvPr id="52" name="TextBox 51">
            <a:extLst>
              <a:ext uri="{FF2B5EF4-FFF2-40B4-BE49-F238E27FC236}">
                <a16:creationId xmlns:a16="http://schemas.microsoft.com/office/drawing/2014/main" id="{48AA19E5-BFBD-8DBB-C71E-D1C9EC69F4FA}"/>
              </a:ext>
            </a:extLst>
          </p:cNvPr>
          <p:cNvSpPr txBox="1"/>
          <p:nvPr/>
        </p:nvSpPr>
        <p:spPr>
          <a:xfrm>
            <a:off x="658368" y="4245210"/>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0B76A0"/>
                </a:solidFill>
                <a:latin typeface="Helvetica Neue"/>
              </a:rPr>
              <a:t>5 sub-teams, heterogeneous maturity</a:t>
            </a:r>
          </a:p>
        </p:txBody>
      </p:sp>
      <p:sp>
        <p:nvSpPr>
          <p:cNvPr id="53" name="TextBox 52">
            <a:extLst>
              <a:ext uri="{FF2B5EF4-FFF2-40B4-BE49-F238E27FC236}">
                <a16:creationId xmlns:a16="http://schemas.microsoft.com/office/drawing/2014/main" id="{55E5A4EA-74F6-10C7-8274-81056EB5A46D}"/>
              </a:ext>
            </a:extLst>
          </p:cNvPr>
          <p:cNvSpPr txBox="1"/>
          <p:nvPr/>
        </p:nvSpPr>
        <p:spPr>
          <a:xfrm>
            <a:off x="658368" y="4537818"/>
            <a:ext cx="525780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Ivelisse Velazquez  —  FICA, Billing &amp; Collection (~8 FTE).</a:t>
            </a:r>
          </a:p>
          <a:p>
            <a:pPr algn="l">
              <a:lnSpc>
                <a:spcPct val="110000"/>
              </a:lnSpc>
              <a:spcBef>
                <a:spcPts val="0"/>
              </a:spcBef>
              <a:spcAft>
                <a:spcPts val="0"/>
              </a:spcAft>
            </a:pPr>
            <a:r>
              <a:rPr lang="en-US" sz="1000" b="0" i="0" noProof="0">
                <a:solidFill>
                  <a:srgbClr val="2C3E50"/>
                </a:solidFill>
                <a:latin typeface="Helvetica Neue"/>
              </a:rPr>
              <a:t>▪  Vincent Lam  —  Device &amp; Metering (Iram Chowdhury / Smart Metering sits here, ~8 FTE).</a:t>
            </a:r>
          </a:p>
          <a:p>
            <a:pPr algn="l">
              <a:lnSpc>
                <a:spcPct val="110000"/>
              </a:lnSpc>
              <a:spcBef>
                <a:spcPts val="0"/>
              </a:spcBef>
              <a:spcAft>
                <a:spcPts val="0"/>
              </a:spcAft>
            </a:pPr>
            <a:r>
              <a:rPr lang="en-US" sz="1000" b="0" i="0" noProof="0">
                <a:solidFill>
                  <a:srgbClr val="2C3E50"/>
                </a:solidFill>
                <a:latin typeface="Helvetica Neue"/>
              </a:rPr>
              <a:t>▪  Nagi Reddy  —  SAP Basis (platform / infrastructure, ~2 FTE).</a:t>
            </a:r>
          </a:p>
          <a:p>
            <a:pPr algn="l">
              <a:lnSpc>
                <a:spcPct val="110000"/>
              </a:lnSpc>
              <a:spcBef>
                <a:spcPts val="0"/>
              </a:spcBef>
              <a:spcAft>
                <a:spcPts val="0"/>
              </a:spcAft>
            </a:pPr>
            <a:r>
              <a:rPr lang="en-US" sz="1000" b="0" i="0" noProof="0">
                <a:solidFill>
                  <a:srgbClr val="2C3E50"/>
                </a:solidFill>
                <a:latin typeface="Helvetica Neue"/>
              </a:rPr>
              <a:t>▪  TBD (vacant)  —  Sr. Manager CRM &amp; Contact Center Ops (~4 FTE) — leadership gap.</a:t>
            </a:r>
          </a:p>
          <a:p>
            <a:pPr algn="l">
              <a:lnSpc>
                <a:spcPct val="110000"/>
              </a:lnSpc>
              <a:spcBef>
                <a:spcPts val="0"/>
              </a:spcBef>
              <a:spcAft>
                <a:spcPts val="0"/>
              </a:spcAft>
            </a:pPr>
            <a:r>
              <a:rPr lang="en-US" sz="1000" b="0" i="0" noProof="0">
                <a:solidFill>
                  <a:srgbClr val="2C3E50"/>
                </a:solidFill>
                <a:latin typeface="Helvetica Neue"/>
              </a:rPr>
              <a:t>▪  Open (vacant)  —  Sr. Manager SAP &amp; CS Architecture (~2 FTE) — leadership gap.</a:t>
            </a:r>
          </a:p>
        </p:txBody>
      </p:sp>
      <p:sp>
        <p:nvSpPr>
          <p:cNvPr id="54" name="Rectangle 53">
            <a:extLst>
              <a:ext uri="{FF2B5EF4-FFF2-40B4-BE49-F238E27FC236}">
                <a16:creationId xmlns:a16="http://schemas.microsoft.com/office/drawing/2014/main" id="{7B63EF13-84A6-6277-8097-968674599BE2}"/>
              </a:ext>
            </a:extLst>
          </p:cNvPr>
          <p:cNvSpPr/>
          <p:nvPr/>
        </p:nvSpPr>
        <p:spPr>
          <a:xfrm>
            <a:off x="6199632" y="3879450"/>
            <a:ext cx="5623560" cy="18814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5" name="Rectangle 54">
            <a:extLst>
              <a:ext uri="{FF2B5EF4-FFF2-40B4-BE49-F238E27FC236}">
                <a16:creationId xmlns:a16="http://schemas.microsoft.com/office/drawing/2014/main" id="{D6BBC117-2AF0-E997-0E9D-17CE7AA2AD1E}"/>
              </a:ext>
            </a:extLst>
          </p:cNvPr>
          <p:cNvSpPr/>
          <p:nvPr/>
        </p:nvSpPr>
        <p:spPr>
          <a:xfrm>
            <a:off x="6199632" y="3879450"/>
            <a:ext cx="5623560" cy="365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TextBox 55">
            <a:extLst>
              <a:ext uri="{FF2B5EF4-FFF2-40B4-BE49-F238E27FC236}">
                <a16:creationId xmlns:a16="http://schemas.microsoft.com/office/drawing/2014/main" id="{6AC75542-AAAF-EFC6-4818-835B3A693EC9}"/>
              </a:ext>
            </a:extLst>
          </p:cNvPr>
          <p:cNvSpPr txBox="1"/>
          <p:nvPr/>
        </p:nvSpPr>
        <p:spPr>
          <a:xfrm>
            <a:off x="6400800" y="3989178"/>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3"/>
                </a:solidFill>
                <a:latin typeface="Helvetica Neue"/>
              </a:rPr>
              <a:t>WAY OF WORKING  &amp;  INTERACTIONS</a:t>
            </a:r>
          </a:p>
        </p:txBody>
      </p:sp>
      <p:sp>
        <p:nvSpPr>
          <p:cNvPr id="57" name="TextBox 56">
            <a:extLst>
              <a:ext uri="{FF2B5EF4-FFF2-40B4-BE49-F238E27FC236}">
                <a16:creationId xmlns:a16="http://schemas.microsoft.com/office/drawing/2014/main" id="{16CCB496-1051-1027-7861-25BDF62AE18C}"/>
              </a:ext>
            </a:extLst>
          </p:cNvPr>
          <p:cNvSpPr txBox="1"/>
          <p:nvPr/>
        </p:nvSpPr>
        <p:spPr>
          <a:xfrm>
            <a:off x="6400800" y="4245210"/>
            <a:ext cx="5257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0B76A0"/>
                </a:solidFill>
                <a:latin typeface="Helvetica Neue"/>
              </a:rPr>
              <a:t>Fragmented intake + vendor-heavy delivery</a:t>
            </a:r>
          </a:p>
        </p:txBody>
      </p:sp>
      <p:sp>
        <p:nvSpPr>
          <p:cNvPr id="58" name="TextBox 57">
            <a:extLst>
              <a:ext uri="{FF2B5EF4-FFF2-40B4-BE49-F238E27FC236}">
                <a16:creationId xmlns:a16="http://schemas.microsoft.com/office/drawing/2014/main" id="{A624F3E6-BBAD-D044-3D75-4929B01606B8}"/>
              </a:ext>
            </a:extLst>
          </p:cNvPr>
          <p:cNvSpPr txBox="1"/>
          <p:nvPr/>
        </p:nvSpPr>
        <p:spPr>
          <a:xfrm>
            <a:off x="6400800" y="4537818"/>
            <a:ext cx="5257800" cy="100149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Small/medium demand via Jira; large via PPM Now (only Smart Metering consistently).</a:t>
            </a:r>
          </a:p>
          <a:p>
            <a:pPr algn="l">
              <a:lnSpc>
                <a:spcPct val="110000"/>
              </a:lnSpc>
              <a:spcBef>
                <a:spcPts val="0"/>
              </a:spcBef>
              <a:spcAft>
                <a:spcPts val="0"/>
              </a:spcAft>
            </a:pPr>
            <a:r>
              <a:rPr lang="en-US" sz="1000" b="0" i="0" noProof="0">
                <a:solidFill>
                  <a:srgbClr val="2C3E50"/>
                </a:solidFill>
                <a:latin typeface="Helvetica Neue"/>
              </a:rPr>
              <a:t>▪  Incidents: IT Now; Minor requests: RITM; Major projects: SharePoint + Teams.</a:t>
            </a:r>
          </a:p>
          <a:p>
            <a:pPr algn="l">
              <a:lnSpc>
                <a:spcPct val="110000"/>
              </a:lnSpc>
              <a:spcBef>
                <a:spcPts val="0"/>
              </a:spcBef>
              <a:spcAft>
                <a:spcPts val="0"/>
              </a:spcAft>
            </a:pPr>
            <a:r>
              <a:rPr lang="en-US" sz="1000" b="0" i="0" noProof="0">
                <a:solidFill>
                  <a:srgbClr val="2C3E50"/>
                </a:solidFill>
                <a:latin typeface="Helvetica Neue"/>
              </a:rPr>
              <a:t>▪  Interactions: Kumar and Travis (PMO for large projects);  BRS leads (business demand); Vanessa (Global SAP).</a:t>
            </a:r>
          </a:p>
          <a:p>
            <a:pPr algn="l">
              <a:lnSpc>
                <a:spcPct val="110000"/>
              </a:lnSpc>
              <a:spcBef>
                <a:spcPts val="0"/>
              </a:spcBef>
              <a:spcAft>
                <a:spcPts val="0"/>
              </a:spcAft>
            </a:pPr>
            <a:r>
              <a:rPr lang="en-US" sz="1000" b="0" i="0" noProof="0">
                <a:solidFill>
                  <a:srgbClr val="2C3E50"/>
                </a:solidFill>
                <a:latin typeface="Helvetica Neue"/>
              </a:rPr>
              <a:t>▪  Vendor concentration: Smart Metering is 100% vendor-delivered (requirements + code); other teams rely on Accenture + SWF.</a:t>
            </a:r>
          </a:p>
        </p:txBody>
      </p:sp>
      <p:sp>
        <p:nvSpPr>
          <p:cNvPr id="59" name="Rectangle 58">
            <a:extLst>
              <a:ext uri="{FF2B5EF4-FFF2-40B4-BE49-F238E27FC236}">
                <a16:creationId xmlns:a16="http://schemas.microsoft.com/office/drawing/2014/main" id="{D0F4759C-880A-FB7E-1CF2-68BC16EDD7D5}"/>
              </a:ext>
            </a:extLst>
          </p:cNvPr>
          <p:cNvSpPr/>
          <p:nvPr/>
        </p:nvSpPr>
        <p:spPr>
          <a:xfrm>
            <a:off x="457200" y="5835395"/>
            <a:ext cx="1136599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TextBox 59">
            <a:extLst>
              <a:ext uri="{FF2B5EF4-FFF2-40B4-BE49-F238E27FC236}">
                <a16:creationId xmlns:a16="http://schemas.microsoft.com/office/drawing/2014/main" id="{4D07C79B-AF08-A120-40F9-23E03B2C73D5}"/>
              </a:ext>
            </a:extLst>
          </p:cNvPr>
          <p:cNvSpPr txBox="1"/>
          <p:nvPr/>
        </p:nvSpPr>
        <p:spPr>
          <a:xfrm>
            <a:off x="685800" y="5907863"/>
            <a:ext cx="10905084"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Customer Services Apps carries both business-facing complexity (3 BRS × 7 OPCOs) and structural gaps (2 Sr. Manager vacancies, vendor-heavy delivery) — the TOM must address both</a:t>
            </a:r>
          </a:p>
        </p:txBody>
      </p:sp>
      <p:sp>
        <p:nvSpPr>
          <p:cNvPr id="12" name="Rectángulo 11">
            <a:extLst>
              <a:ext uri="{FF2B5EF4-FFF2-40B4-BE49-F238E27FC236}">
                <a16:creationId xmlns:a16="http://schemas.microsoft.com/office/drawing/2014/main" id="{54C8D221-BC6A-4B01-6C5F-90EC49C38D0D}"/>
              </a:ext>
            </a:extLst>
          </p:cNvPr>
          <p:cNvSpPr/>
          <p:nvPr/>
        </p:nvSpPr>
        <p:spPr>
          <a:xfrm>
            <a:off x="10144887" y="1108818"/>
            <a:ext cx="1920240" cy="5760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err="1"/>
              <a:t>We</a:t>
            </a:r>
            <a:r>
              <a:rPr lang="es-MX"/>
              <a:t> </a:t>
            </a:r>
            <a:r>
              <a:rPr lang="es-MX" err="1"/>
              <a:t>should</a:t>
            </a:r>
            <a:r>
              <a:rPr lang="es-MX"/>
              <a:t> </a:t>
            </a:r>
            <a:r>
              <a:rPr lang="es-MX" err="1"/>
              <a:t>have</a:t>
            </a:r>
            <a:r>
              <a:rPr lang="es-MX"/>
              <a:t> </a:t>
            </a:r>
            <a:r>
              <a:rPr lang="es-MX" err="1"/>
              <a:t>the</a:t>
            </a:r>
            <a:r>
              <a:rPr lang="es-MX"/>
              <a:t> </a:t>
            </a:r>
            <a:r>
              <a:rPr lang="es-MX" err="1"/>
              <a:t>same</a:t>
            </a:r>
            <a:r>
              <a:rPr lang="es-MX"/>
              <a:t> </a:t>
            </a:r>
            <a:r>
              <a:rPr lang="es-MX" err="1"/>
              <a:t>view</a:t>
            </a:r>
            <a:r>
              <a:rPr lang="es-MX"/>
              <a:t> </a:t>
            </a:r>
            <a:r>
              <a:rPr lang="es-MX" err="1"/>
              <a:t>of</a:t>
            </a:r>
            <a:r>
              <a:rPr lang="es-MX"/>
              <a:t> </a:t>
            </a:r>
            <a:r>
              <a:rPr lang="es-MX" err="1"/>
              <a:t>the</a:t>
            </a:r>
            <a:r>
              <a:rPr lang="es-MX"/>
              <a:t> </a:t>
            </a:r>
            <a:r>
              <a:rPr lang="es-MX" err="1"/>
              <a:t>same</a:t>
            </a:r>
            <a:r>
              <a:rPr lang="es-MX"/>
              <a:t> Information </a:t>
            </a:r>
            <a:r>
              <a:rPr lang="es-MX" err="1"/>
              <a:t>for</a:t>
            </a:r>
            <a:r>
              <a:rPr lang="es-MX"/>
              <a:t> </a:t>
            </a:r>
            <a:r>
              <a:rPr lang="es-MX" err="1"/>
              <a:t>both</a:t>
            </a:r>
            <a:r>
              <a:rPr lang="es-MX"/>
              <a:t> SAP and digital </a:t>
            </a:r>
            <a:r>
              <a:rPr lang="es-MX" err="1"/>
              <a:t>applications</a:t>
            </a:r>
            <a:r>
              <a:rPr lang="es-MX"/>
              <a:t>. </a:t>
            </a:r>
            <a:r>
              <a:rPr lang="es-MX" err="1"/>
              <a:t>Estandardize</a:t>
            </a:r>
            <a:r>
              <a:rPr lang="es-MX"/>
              <a:t> </a:t>
            </a:r>
            <a:r>
              <a:rPr lang="es-MX" err="1"/>
              <a:t>the</a:t>
            </a:r>
            <a:r>
              <a:rPr lang="es-MX"/>
              <a:t> </a:t>
            </a:r>
            <a:r>
              <a:rPr lang="es-MX" err="1"/>
              <a:t>format</a:t>
            </a:r>
            <a:r>
              <a:rPr lang="es-MX"/>
              <a:t>. </a:t>
            </a:r>
          </a:p>
          <a:p>
            <a:endParaRPr lang="es-MX"/>
          </a:p>
          <a:p>
            <a:pPr marL="285750" indent="-285750">
              <a:buFont typeface="Arial" panose="020B0604020202020204" pitchFamily="34" charset="0"/>
              <a:buChar char="•"/>
            </a:pPr>
            <a:r>
              <a:rPr lang="es-MX" err="1"/>
              <a:t>Nature</a:t>
            </a:r>
            <a:r>
              <a:rPr lang="es-MX"/>
              <a:t> </a:t>
            </a:r>
            <a:r>
              <a:rPr lang="es-MX" err="1"/>
              <a:t>of</a:t>
            </a:r>
            <a:r>
              <a:rPr lang="es-MX"/>
              <a:t> </a:t>
            </a:r>
            <a:r>
              <a:rPr lang="es-MX" err="1"/>
              <a:t>work</a:t>
            </a:r>
            <a:endParaRPr lang="es-MX"/>
          </a:p>
          <a:p>
            <a:pPr marL="285750" indent="-285750">
              <a:buFont typeface="Arial" panose="020B0604020202020204" pitchFamily="34" charset="0"/>
              <a:buChar char="•"/>
            </a:pPr>
            <a:r>
              <a:rPr lang="es-MX"/>
              <a:t>Team </a:t>
            </a:r>
            <a:r>
              <a:rPr lang="es-MX" err="1"/>
              <a:t>under</a:t>
            </a:r>
            <a:r>
              <a:rPr lang="es-MX"/>
              <a:t> </a:t>
            </a:r>
            <a:r>
              <a:rPr lang="es-MX" err="1"/>
              <a:t>strcuture</a:t>
            </a:r>
            <a:endParaRPr lang="es-MX"/>
          </a:p>
          <a:p>
            <a:pPr marL="285750" indent="-285750">
              <a:buFont typeface="Arial" panose="020B0604020202020204" pitchFamily="34" charset="0"/>
              <a:buChar char="•"/>
            </a:pPr>
            <a:r>
              <a:rPr lang="es-MX" err="1"/>
              <a:t>Applications</a:t>
            </a:r>
            <a:r>
              <a:rPr lang="es-MX"/>
              <a:t> in </a:t>
            </a:r>
            <a:r>
              <a:rPr lang="es-MX" err="1"/>
              <a:t>Scope</a:t>
            </a:r>
            <a:endParaRPr lang="es-MX"/>
          </a:p>
          <a:p>
            <a:pPr marL="285750" indent="-285750">
              <a:buFont typeface="Arial" panose="020B0604020202020204" pitchFamily="34" charset="0"/>
              <a:buChar char="•"/>
            </a:pPr>
            <a:r>
              <a:rPr lang="es-MX"/>
              <a:t>WOW &amp; Itneracionts</a:t>
            </a:r>
          </a:p>
          <a:p>
            <a:pPr marL="285750" indent="-285750">
              <a:buFont typeface="Arial" panose="020B0604020202020204" pitchFamily="34" charset="0"/>
              <a:buChar char="•"/>
            </a:pPr>
            <a:r>
              <a:rPr lang="es-MX" err="1"/>
              <a:t>Priorities</a:t>
            </a:r>
            <a:endParaRPr lang="es-MX"/>
          </a:p>
          <a:p>
            <a:pPr marL="285750" indent="-285750">
              <a:buFont typeface="Arial" panose="020B0604020202020204" pitchFamily="34" charset="0"/>
              <a:buChar char="•"/>
            </a:pPr>
            <a:r>
              <a:rPr lang="es-MX" err="1"/>
              <a:t>Applications</a:t>
            </a:r>
            <a:endParaRPr lang="es-MX"/>
          </a:p>
          <a:p>
            <a:endParaRPr lang="es-MX"/>
          </a:p>
        </p:txBody>
      </p:sp>
    </p:spTree>
    <p:extLst>
      <p:ext uri="{BB962C8B-B14F-4D97-AF65-F5344CB8AC3E}">
        <p14:creationId xmlns:p14="http://schemas.microsoft.com/office/powerpoint/2010/main" val="3766582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BD75CB-0C9A-341C-081B-F3589583B8F2}"/>
            </a:ext>
          </a:extLst>
        </p:cNvPr>
        <p:cNvGrpSpPr/>
        <p:nvPr/>
      </p:nvGrpSpPr>
      <p:grpSpPr>
        <a:xfrm>
          <a:off x="0" y="0"/>
          <a:ext cx="0" cy="0"/>
          <a:chOff x="0" y="0"/>
          <a:chExt cx="0" cy="0"/>
        </a:xfrm>
      </p:grpSpPr>
      <p:sp>
        <p:nvSpPr>
          <p:cNvPr id="167" name="Rectangle 166">
            <a:extLst>
              <a:ext uri="{FF2B5EF4-FFF2-40B4-BE49-F238E27FC236}">
                <a16:creationId xmlns:a16="http://schemas.microsoft.com/office/drawing/2014/main" id="{E7A571AC-1D65-3D1B-9019-7603D94F4FDF}"/>
              </a:ext>
            </a:extLst>
          </p:cNvPr>
          <p:cNvSpPr/>
          <p:nvPr/>
        </p:nvSpPr>
        <p:spPr>
          <a:xfrm>
            <a:off x="76200" y="5965371"/>
            <a:ext cx="12042648" cy="892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ítulo 2">
            <a:extLst>
              <a:ext uri="{FF2B5EF4-FFF2-40B4-BE49-F238E27FC236}">
                <a16:creationId xmlns:a16="http://schemas.microsoft.com/office/drawing/2014/main" id="{7B5DC409-DEA4-7DA6-13AD-2C1742BDCFDD}"/>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panose="020B0604020202020204" pitchFamily="34" charset="0"/>
                <a:cs typeface="Arial" panose="020B0604020202020204" pitchFamily="34" charset="0"/>
              </a:rPr>
              <a:t>Organization</a:t>
            </a:r>
            <a:endParaRPr lang="en-US" sz="24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170B17AF-EB15-751C-7280-82DCFA1E8CB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B8DA2E32-45FB-C9D4-3498-9C9FB26CFD63}"/>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10AF574A-D774-DE69-D84E-55896428BC9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50D326E0-888E-8FC1-AA5F-18C9DAFDAED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40623744-0642-AF5B-56E0-9F8B117BDEBD}"/>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05CF170B-DA8A-8E6D-9000-30F814427101}"/>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39C5A2D9-EEF5-3904-CC94-A970FD6C65DE}"/>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8D47A1C9-A9AE-B7EC-0EA5-D9E1812AE3D9}"/>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noProof="0"/>
              <a:t>Customer Services serves 7+ business OPCOs through heterogeneous channels — BRS is the backbone, but every other OPCO has its own entry point.</a:t>
            </a:r>
          </a:p>
          <a:p>
            <a:pPr algn="just"/>
            <a:endParaRPr lang="en-US" noProof="0"/>
          </a:p>
          <a:p>
            <a:pPr algn="just"/>
            <a:endParaRPr lang="en-US" noProof="0"/>
          </a:p>
          <a:p>
            <a:pPr algn="just"/>
            <a:endParaRPr lang="en-US" noProof="0"/>
          </a:p>
        </p:txBody>
      </p:sp>
      <p:sp>
        <p:nvSpPr>
          <p:cNvPr id="6" name="Rectangle 5">
            <a:extLst>
              <a:ext uri="{FF2B5EF4-FFF2-40B4-BE49-F238E27FC236}">
                <a16:creationId xmlns:a16="http://schemas.microsoft.com/office/drawing/2014/main" id="{8B755535-BC33-5989-1F40-95F0EF6894B9}"/>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12">
            <a:extLst>
              <a:ext uri="{FF2B5EF4-FFF2-40B4-BE49-F238E27FC236}">
                <a16:creationId xmlns:a16="http://schemas.microsoft.com/office/drawing/2014/main" id="{CDEC3504-C183-164D-EAE9-66A2F41F4719}"/>
              </a:ext>
            </a:extLst>
          </p:cNvPr>
          <p:cNvSpPr/>
          <p:nvPr/>
        </p:nvSpPr>
        <p:spPr>
          <a:xfrm>
            <a:off x="457200" y="1471827"/>
            <a:ext cx="11274552"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 name="TextBox 13">
            <a:extLst>
              <a:ext uri="{FF2B5EF4-FFF2-40B4-BE49-F238E27FC236}">
                <a16:creationId xmlns:a16="http://schemas.microsoft.com/office/drawing/2014/main" id="{6B0B838E-DB63-A468-6F58-6D13B33292E4}"/>
              </a:ext>
            </a:extLst>
          </p:cNvPr>
          <p:cNvSpPr txBox="1"/>
          <p:nvPr/>
        </p:nvSpPr>
        <p:spPr>
          <a:xfrm>
            <a:off x="566928" y="1584463"/>
            <a:ext cx="1920240" cy="140488"/>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1" i="0" noProof="0">
                <a:solidFill>
                  <a:srgbClr val="FFFFFF"/>
                </a:solidFill>
                <a:latin typeface="Helvetica Neue"/>
              </a:rPr>
              <a:t>OPCO / AREA</a:t>
            </a:r>
          </a:p>
        </p:txBody>
      </p:sp>
      <p:sp>
        <p:nvSpPr>
          <p:cNvPr id="16" name="TextBox 15">
            <a:extLst>
              <a:ext uri="{FF2B5EF4-FFF2-40B4-BE49-F238E27FC236}">
                <a16:creationId xmlns:a16="http://schemas.microsoft.com/office/drawing/2014/main" id="{2BA23E21-BED3-CECE-B612-258041EE6570}"/>
              </a:ext>
            </a:extLst>
          </p:cNvPr>
          <p:cNvSpPr txBox="1"/>
          <p:nvPr/>
        </p:nvSpPr>
        <p:spPr>
          <a:xfrm>
            <a:off x="2487168" y="1584463"/>
            <a:ext cx="2468880" cy="140488"/>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1" i="0" noProof="0">
                <a:solidFill>
                  <a:srgbClr val="FFFFFF"/>
                </a:solidFill>
                <a:latin typeface="Helvetica Neue"/>
              </a:rPr>
              <a:t>PRIMARY CHANNEL</a:t>
            </a:r>
          </a:p>
        </p:txBody>
      </p:sp>
      <p:sp>
        <p:nvSpPr>
          <p:cNvPr id="17" name="TextBox 16">
            <a:extLst>
              <a:ext uri="{FF2B5EF4-FFF2-40B4-BE49-F238E27FC236}">
                <a16:creationId xmlns:a16="http://schemas.microsoft.com/office/drawing/2014/main" id="{11B9B1AF-D0A1-1842-B605-8B80E4FB560B}"/>
              </a:ext>
            </a:extLst>
          </p:cNvPr>
          <p:cNvSpPr txBox="1"/>
          <p:nvPr/>
        </p:nvSpPr>
        <p:spPr>
          <a:xfrm>
            <a:off x="4956048" y="1584463"/>
            <a:ext cx="2926080" cy="140488"/>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1" i="0" noProof="0">
                <a:solidFill>
                  <a:srgbClr val="FFFFFF"/>
                </a:solidFill>
                <a:latin typeface="Helvetica Neue"/>
              </a:rPr>
              <a:t>DEMAND PATTERN</a:t>
            </a:r>
          </a:p>
        </p:txBody>
      </p:sp>
      <p:sp>
        <p:nvSpPr>
          <p:cNvPr id="19" name="TextBox 18">
            <a:extLst>
              <a:ext uri="{FF2B5EF4-FFF2-40B4-BE49-F238E27FC236}">
                <a16:creationId xmlns:a16="http://schemas.microsoft.com/office/drawing/2014/main" id="{84383894-D4D3-B8F9-29C1-F1095790C733}"/>
              </a:ext>
            </a:extLst>
          </p:cNvPr>
          <p:cNvSpPr txBox="1"/>
          <p:nvPr/>
        </p:nvSpPr>
        <p:spPr>
          <a:xfrm>
            <a:off x="7882127" y="1584463"/>
            <a:ext cx="1783080" cy="140488"/>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1" i="0" noProof="0">
                <a:solidFill>
                  <a:srgbClr val="FFFFFF"/>
                </a:solidFill>
                <a:latin typeface="Helvetica Neue"/>
              </a:rPr>
              <a:t>CADENCE</a:t>
            </a:r>
          </a:p>
        </p:txBody>
      </p:sp>
      <p:sp>
        <p:nvSpPr>
          <p:cNvPr id="21" name="TextBox 20">
            <a:extLst>
              <a:ext uri="{FF2B5EF4-FFF2-40B4-BE49-F238E27FC236}">
                <a16:creationId xmlns:a16="http://schemas.microsoft.com/office/drawing/2014/main" id="{696CA558-6924-5E1F-4C41-A6A6ED8228FB}"/>
              </a:ext>
            </a:extLst>
          </p:cNvPr>
          <p:cNvSpPr txBox="1"/>
          <p:nvPr/>
        </p:nvSpPr>
        <p:spPr>
          <a:xfrm>
            <a:off x="9665207" y="1584463"/>
            <a:ext cx="2176272" cy="140488"/>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1" i="0" noProof="0">
                <a:solidFill>
                  <a:srgbClr val="FFFFFF"/>
                </a:solidFill>
                <a:latin typeface="Helvetica Neue"/>
              </a:rPr>
              <a:t>WHO PRIORITIZES</a:t>
            </a:r>
          </a:p>
        </p:txBody>
      </p:sp>
      <p:sp>
        <p:nvSpPr>
          <p:cNvPr id="22" name="Rectangle 21">
            <a:extLst>
              <a:ext uri="{FF2B5EF4-FFF2-40B4-BE49-F238E27FC236}">
                <a16:creationId xmlns:a16="http://schemas.microsoft.com/office/drawing/2014/main" id="{E041C47C-3342-E11F-54BE-C68E2761AAEF}"/>
              </a:ext>
            </a:extLst>
          </p:cNvPr>
          <p:cNvSpPr/>
          <p:nvPr/>
        </p:nvSpPr>
        <p:spPr>
          <a:xfrm>
            <a:off x="457200" y="1874162"/>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Rectangle 22">
            <a:extLst>
              <a:ext uri="{FF2B5EF4-FFF2-40B4-BE49-F238E27FC236}">
                <a16:creationId xmlns:a16="http://schemas.microsoft.com/office/drawing/2014/main" id="{EDA3B3A4-C130-B3E9-D72B-AEB64FB5DCDB}"/>
              </a:ext>
            </a:extLst>
          </p:cNvPr>
          <p:cNvSpPr/>
          <p:nvPr/>
        </p:nvSpPr>
        <p:spPr>
          <a:xfrm>
            <a:off x="457200" y="1874162"/>
            <a:ext cx="73152" cy="53035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23">
            <a:extLst>
              <a:ext uri="{FF2B5EF4-FFF2-40B4-BE49-F238E27FC236}">
                <a16:creationId xmlns:a16="http://schemas.microsoft.com/office/drawing/2014/main" id="{CC61261B-F296-7453-0F1F-DD91ADBC2BC6}"/>
              </a:ext>
            </a:extLst>
          </p:cNvPr>
          <p:cNvSpPr txBox="1"/>
          <p:nvPr/>
        </p:nvSpPr>
        <p:spPr>
          <a:xfrm>
            <a:off x="621792" y="2061271"/>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6785C1"/>
                </a:solidFill>
                <a:latin typeface="Helvetica Neue"/>
              </a:rPr>
              <a:t>BRS — CMP / NY</a:t>
            </a:r>
          </a:p>
        </p:txBody>
      </p:sp>
      <p:sp>
        <p:nvSpPr>
          <p:cNvPr id="25" name="TextBox 24">
            <a:extLst>
              <a:ext uri="{FF2B5EF4-FFF2-40B4-BE49-F238E27FC236}">
                <a16:creationId xmlns:a16="http://schemas.microsoft.com/office/drawing/2014/main" id="{5A737F33-2CEF-1ECB-F21F-6E949A23708B}"/>
              </a:ext>
            </a:extLst>
          </p:cNvPr>
          <p:cNvSpPr txBox="1"/>
          <p:nvPr/>
        </p:nvSpPr>
        <p:spPr>
          <a:xfrm>
            <a:off x="2487168" y="2069094"/>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BSS log → Jira (intake, all level 2)</a:t>
            </a:r>
          </a:p>
        </p:txBody>
      </p:sp>
      <p:sp>
        <p:nvSpPr>
          <p:cNvPr id="26" name="TextBox 25">
            <a:extLst>
              <a:ext uri="{FF2B5EF4-FFF2-40B4-BE49-F238E27FC236}">
                <a16:creationId xmlns:a16="http://schemas.microsoft.com/office/drawing/2014/main" id="{CD96F041-ADDC-D60E-8DDF-EE30FCBFB018}"/>
              </a:ext>
            </a:extLst>
          </p:cNvPr>
          <p:cNvSpPr txBox="1"/>
          <p:nvPr/>
        </p:nvSpPr>
        <p:spPr>
          <a:xfrm>
            <a:off x="4956048" y="2069094"/>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Low-to-critical criteria set by Business</a:t>
            </a:r>
          </a:p>
        </p:txBody>
      </p:sp>
      <p:sp>
        <p:nvSpPr>
          <p:cNvPr id="28" name="TextBox 27">
            <a:extLst>
              <a:ext uri="{FF2B5EF4-FFF2-40B4-BE49-F238E27FC236}">
                <a16:creationId xmlns:a16="http://schemas.microsoft.com/office/drawing/2014/main" id="{9BC1FBE1-396B-D48A-181E-C8F619E47DAA}"/>
              </a:ext>
            </a:extLst>
          </p:cNvPr>
          <p:cNvSpPr txBox="1"/>
          <p:nvPr/>
        </p:nvSpPr>
        <p:spPr>
          <a:xfrm>
            <a:off x="7882127" y="2069094"/>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Continuous</a:t>
            </a:r>
          </a:p>
        </p:txBody>
      </p:sp>
      <p:sp>
        <p:nvSpPr>
          <p:cNvPr id="29" name="TextBox 28">
            <a:extLst>
              <a:ext uri="{FF2B5EF4-FFF2-40B4-BE49-F238E27FC236}">
                <a16:creationId xmlns:a16="http://schemas.microsoft.com/office/drawing/2014/main" id="{CACC35EB-2D43-1C0A-7AB7-5684268460B2}"/>
              </a:ext>
            </a:extLst>
          </p:cNvPr>
          <p:cNvSpPr txBox="1"/>
          <p:nvPr/>
        </p:nvSpPr>
        <p:spPr>
          <a:xfrm>
            <a:off x="9665207" y="2069094"/>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Business shares priority</a:t>
            </a:r>
          </a:p>
        </p:txBody>
      </p:sp>
      <p:sp>
        <p:nvSpPr>
          <p:cNvPr id="30" name="Rectangle 29">
            <a:extLst>
              <a:ext uri="{FF2B5EF4-FFF2-40B4-BE49-F238E27FC236}">
                <a16:creationId xmlns:a16="http://schemas.microsoft.com/office/drawing/2014/main" id="{3DD83826-0783-71B6-4BA6-74A77353D4FC}"/>
              </a:ext>
            </a:extLst>
          </p:cNvPr>
          <p:cNvSpPr/>
          <p:nvPr/>
        </p:nvSpPr>
        <p:spPr>
          <a:xfrm>
            <a:off x="457200" y="2404515"/>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Rectangle 30">
            <a:extLst>
              <a:ext uri="{FF2B5EF4-FFF2-40B4-BE49-F238E27FC236}">
                <a16:creationId xmlns:a16="http://schemas.microsoft.com/office/drawing/2014/main" id="{0284C656-414D-3253-4878-FF6485E8873F}"/>
              </a:ext>
            </a:extLst>
          </p:cNvPr>
          <p:cNvSpPr/>
          <p:nvPr/>
        </p:nvSpPr>
        <p:spPr>
          <a:xfrm>
            <a:off x="457200" y="2404515"/>
            <a:ext cx="73152" cy="53035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TextBox 31">
            <a:extLst>
              <a:ext uri="{FF2B5EF4-FFF2-40B4-BE49-F238E27FC236}">
                <a16:creationId xmlns:a16="http://schemas.microsoft.com/office/drawing/2014/main" id="{CFCC0FB8-A8E3-6B76-C09E-C4DC46A64702}"/>
              </a:ext>
            </a:extLst>
          </p:cNvPr>
          <p:cNvSpPr txBox="1"/>
          <p:nvPr/>
        </p:nvSpPr>
        <p:spPr>
          <a:xfrm>
            <a:off x="621792" y="2591624"/>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6785C1"/>
                </a:solidFill>
                <a:latin typeface="Helvetica Neue"/>
              </a:rPr>
              <a:t>BRS — UIL</a:t>
            </a:r>
          </a:p>
        </p:txBody>
      </p:sp>
      <p:sp>
        <p:nvSpPr>
          <p:cNvPr id="33" name="TextBox 32">
            <a:extLst>
              <a:ext uri="{FF2B5EF4-FFF2-40B4-BE49-F238E27FC236}">
                <a16:creationId xmlns:a16="http://schemas.microsoft.com/office/drawing/2014/main" id="{0128CB1A-E002-E411-3F20-EE0B300002DC}"/>
              </a:ext>
            </a:extLst>
          </p:cNvPr>
          <p:cNvSpPr txBox="1"/>
          <p:nvPr/>
        </p:nvSpPr>
        <p:spPr>
          <a:xfrm>
            <a:off x="2487168" y="2599447"/>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ITNow</a:t>
            </a:r>
          </a:p>
        </p:txBody>
      </p:sp>
      <p:sp>
        <p:nvSpPr>
          <p:cNvPr id="34" name="TextBox 33">
            <a:extLst>
              <a:ext uri="{FF2B5EF4-FFF2-40B4-BE49-F238E27FC236}">
                <a16:creationId xmlns:a16="http://schemas.microsoft.com/office/drawing/2014/main" id="{C990BA81-E04B-FDE4-99E9-8C284A690C47}"/>
              </a:ext>
            </a:extLst>
          </p:cNvPr>
          <p:cNvSpPr txBox="1"/>
          <p:nvPr/>
        </p:nvSpPr>
        <p:spPr>
          <a:xfrm>
            <a:off x="4956048" y="2599447"/>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Day-to-day issues specific to UIL</a:t>
            </a:r>
          </a:p>
        </p:txBody>
      </p:sp>
      <p:sp>
        <p:nvSpPr>
          <p:cNvPr id="35" name="TextBox 34">
            <a:extLst>
              <a:ext uri="{FF2B5EF4-FFF2-40B4-BE49-F238E27FC236}">
                <a16:creationId xmlns:a16="http://schemas.microsoft.com/office/drawing/2014/main" id="{02C355AC-D6EC-E05B-C222-6AEB8700F6BC}"/>
              </a:ext>
            </a:extLst>
          </p:cNvPr>
          <p:cNvSpPr txBox="1"/>
          <p:nvPr/>
        </p:nvSpPr>
        <p:spPr>
          <a:xfrm>
            <a:off x="7882127" y="2599447"/>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Continuous</a:t>
            </a:r>
          </a:p>
        </p:txBody>
      </p:sp>
      <p:sp>
        <p:nvSpPr>
          <p:cNvPr id="37" name="TextBox 36">
            <a:extLst>
              <a:ext uri="{FF2B5EF4-FFF2-40B4-BE49-F238E27FC236}">
                <a16:creationId xmlns:a16="http://schemas.microsoft.com/office/drawing/2014/main" id="{62F1CFD0-A0D0-B7CB-99E1-BEE1ED1CF262}"/>
              </a:ext>
            </a:extLst>
          </p:cNvPr>
          <p:cNvSpPr txBox="1"/>
          <p:nvPr/>
        </p:nvSpPr>
        <p:spPr>
          <a:xfrm>
            <a:off x="9665207" y="2599447"/>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Business</a:t>
            </a:r>
          </a:p>
        </p:txBody>
      </p:sp>
      <p:sp>
        <p:nvSpPr>
          <p:cNvPr id="38" name="Rectangle 37">
            <a:extLst>
              <a:ext uri="{FF2B5EF4-FFF2-40B4-BE49-F238E27FC236}">
                <a16:creationId xmlns:a16="http://schemas.microsoft.com/office/drawing/2014/main" id="{8392CD57-DC37-F333-042C-C2613E9FBF89}"/>
              </a:ext>
            </a:extLst>
          </p:cNvPr>
          <p:cNvSpPr/>
          <p:nvPr/>
        </p:nvSpPr>
        <p:spPr>
          <a:xfrm>
            <a:off x="457200" y="2934867"/>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Rectangle 41">
            <a:extLst>
              <a:ext uri="{FF2B5EF4-FFF2-40B4-BE49-F238E27FC236}">
                <a16:creationId xmlns:a16="http://schemas.microsoft.com/office/drawing/2014/main" id="{1967CC82-AE3E-F690-EBF8-C86E972D90A6}"/>
              </a:ext>
            </a:extLst>
          </p:cNvPr>
          <p:cNvSpPr/>
          <p:nvPr/>
        </p:nvSpPr>
        <p:spPr>
          <a:xfrm>
            <a:off x="457200" y="2934867"/>
            <a:ext cx="73152" cy="53035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a:extLst>
              <a:ext uri="{FF2B5EF4-FFF2-40B4-BE49-F238E27FC236}">
                <a16:creationId xmlns:a16="http://schemas.microsoft.com/office/drawing/2014/main" id="{0A7921EC-B821-22FE-6D48-3682B4B66205}"/>
              </a:ext>
            </a:extLst>
          </p:cNvPr>
          <p:cNvSpPr txBox="1"/>
          <p:nvPr/>
        </p:nvSpPr>
        <p:spPr>
          <a:xfrm>
            <a:off x="621792" y="3121976"/>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0F1C50"/>
                </a:solidFill>
                <a:latin typeface="Helvetica Neue"/>
              </a:rPr>
              <a:t>Digital </a:t>
            </a:r>
            <a:r>
              <a:rPr lang="en-US" sz="1000" b="1" i="0" noProof="0" err="1">
                <a:solidFill>
                  <a:srgbClr val="0F1C50"/>
                </a:solidFill>
                <a:latin typeface="Helvetica Neue"/>
              </a:rPr>
              <a:t>CoE</a:t>
            </a:r>
            <a:endParaRPr lang="en-US" sz="1000" b="1" i="0" noProof="0">
              <a:solidFill>
                <a:srgbClr val="0F1C50"/>
              </a:solidFill>
              <a:latin typeface="Helvetica Neue"/>
            </a:endParaRPr>
          </a:p>
        </p:txBody>
      </p:sp>
      <p:sp>
        <p:nvSpPr>
          <p:cNvPr id="61" name="TextBox 60">
            <a:extLst>
              <a:ext uri="{FF2B5EF4-FFF2-40B4-BE49-F238E27FC236}">
                <a16:creationId xmlns:a16="http://schemas.microsoft.com/office/drawing/2014/main" id="{67538C84-6B01-11BF-59B9-DF925B771D34}"/>
              </a:ext>
            </a:extLst>
          </p:cNvPr>
          <p:cNvSpPr txBox="1"/>
          <p:nvPr/>
        </p:nvSpPr>
        <p:spPr>
          <a:xfrm>
            <a:off x="2487168" y="3053624"/>
            <a:ext cx="2359152"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Digital PMs (SAP functionals from Kumar's team)</a:t>
            </a:r>
          </a:p>
        </p:txBody>
      </p:sp>
      <p:sp>
        <p:nvSpPr>
          <p:cNvPr id="62" name="TextBox 61">
            <a:extLst>
              <a:ext uri="{FF2B5EF4-FFF2-40B4-BE49-F238E27FC236}">
                <a16:creationId xmlns:a16="http://schemas.microsoft.com/office/drawing/2014/main" id="{A47F1BA1-ECEC-B205-CF47-6A6C4FA881B5}"/>
              </a:ext>
            </a:extLst>
          </p:cNvPr>
          <p:cNvSpPr txBox="1"/>
          <p:nvPr/>
        </p:nvSpPr>
        <p:spPr>
          <a:xfrm>
            <a:off x="4956048" y="3053624"/>
            <a:ext cx="2816352"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30% BRS · 70% Internal IT · Big Room Planning visibility</a:t>
            </a:r>
          </a:p>
        </p:txBody>
      </p:sp>
      <p:sp>
        <p:nvSpPr>
          <p:cNvPr id="63" name="TextBox 62">
            <a:extLst>
              <a:ext uri="{FF2B5EF4-FFF2-40B4-BE49-F238E27FC236}">
                <a16:creationId xmlns:a16="http://schemas.microsoft.com/office/drawing/2014/main" id="{E5D1D7E6-4C0C-EF8D-992F-D88A0D06EA92}"/>
              </a:ext>
            </a:extLst>
          </p:cNvPr>
          <p:cNvSpPr txBox="1"/>
          <p:nvPr/>
        </p:nvSpPr>
        <p:spPr>
          <a:xfrm>
            <a:off x="7882127" y="3129799"/>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Quarterly BRP</a:t>
            </a:r>
          </a:p>
        </p:txBody>
      </p:sp>
      <p:sp>
        <p:nvSpPr>
          <p:cNvPr id="128" name="TextBox 127">
            <a:extLst>
              <a:ext uri="{FF2B5EF4-FFF2-40B4-BE49-F238E27FC236}">
                <a16:creationId xmlns:a16="http://schemas.microsoft.com/office/drawing/2014/main" id="{1F74384C-5483-CF06-385C-80B0EA350289}"/>
              </a:ext>
            </a:extLst>
          </p:cNvPr>
          <p:cNvSpPr txBox="1"/>
          <p:nvPr/>
        </p:nvSpPr>
        <p:spPr>
          <a:xfrm>
            <a:off x="9665207" y="3129799"/>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Heather (first layer)</a:t>
            </a:r>
          </a:p>
        </p:txBody>
      </p:sp>
      <p:sp>
        <p:nvSpPr>
          <p:cNvPr id="129" name="Rectangle 128">
            <a:extLst>
              <a:ext uri="{FF2B5EF4-FFF2-40B4-BE49-F238E27FC236}">
                <a16:creationId xmlns:a16="http://schemas.microsoft.com/office/drawing/2014/main" id="{ED705309-2A4F-0C31-71E1-60C4EE8593B2}"/>
              </a:ext>
            </a:extLst>
          </p:cNvPr>
          <p:cNvSpPr/>
          <p:nvPr/>
        </p:nvSpPr>
        <p:spPr>
          <a:xfrm>
            <a:off x="457200" y="3465219"/>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0" name="Rectangle 129">
            <a:extLst>
              <a:ext uri="{FF2B5EF4-FFF2-40B4-BE49-F238E27FC236}">
                <a16:creationId xmlns:a16="http://schemas.microsoft.com/office/drawing/2014/main" id="{2CEA77BC-DD67-88FC-14BD-1BC073AA3707}"/>
              </a:ext>
            </a:extLst>
          </p:cNvPr>
          <p:cNvSpPr/>
          <p:nvPr/>
        </p:nvSpPr>
        <p:spPr>
          <a:xfrm>
            <a:off x="457200" y="3465219"/>
            <a:ext cx="73152" cy="5303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1" name="TextBox 130">
            <a:extLst>
              <a:ext uri="{FF2B5EF4-FFF2-40B4-BE49-F238E27FC236}">
                <a16:creationId xmlns:a16="http://schemas.microsoft.com/office/drawing/2014/main" id="{F5A92406-61F8-047F-3607-192F808D9724}"/>
              </a:ext>
            </a:extLst>
          </p:cNvPr>
          <p:cNvSpPr txBox="1"/>
          <p:nvPr/>
        </p:nvSpPr>
        <p:spPr>
          <a:xfrm>
            <a:off x="621792" y="3652328"/>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BC4328"/>
                </a:solidFill>
                <a:latin typeface="Helvetica Neue"/>
              </a:rPr>
              <a:t>Data &amp; Analytics</a:t>
            </a:r>
          </a:p>
        </p:txBody>
      </p:sp>
      <p:sp>
        <p:nvSpPr>
          <p:cNvPr id="132" name="TextBox 131">
            <a:extLst>
              <a:ext uri="{FF2B5EF4-FFF2-40B4-BE49-F238E27FC236}">
                <a16:creationId xmlns:a16="http://schemas.microsoft.com/office/drawing/2014/main" id="{60B5AE5E-B4CB-9F7C-E2CA-1C1ADF4873DA}"/>
              </a:ext>
            </a:extLst>
          </p:cNvPr>
          <p:cNvSpPr txBox="1"/>
          <p:nvPr/>
        </p:nvSpPr>
        <p:spPr>
          <a:xfrm>
            <a:off x="2487168" y="3660151"/>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Direct to team (Abdulah · Meenal · Nelly)</a:t>
            </a:r>
          </a:p>
        </p:txBody>
      </p:sp>
      <p:sp>
        <p:nvSpPr>
          <p:cNvPr id="133" name="TextBox 132">
            <a:extLst>
              <a:ext uri="{FF2B5EF4-FFF2-40B4-BE49-F238E27FC236}">
                <a16:creationId xmlns:a16="http://schemas.microsoft.com/office/drawing/2014/main" id="{999FD62D-3E07-5856-F07D-4CC21A58F5AD}"/>
              </a:ext>
            </a:extLst>
          </p:cNvPr>
          <p:cNvSpPr txBox="1"/>
          <p:nvPr/>
        </p:nvSpPr>
        <p:spPr>
          <a:xfrm>
            <a:off x="4956048" y="3583976"/>
            <a:ext cx="2816352"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"I need it yesterday" · regulatory-heavy · no formal specs</a:t>
            </a:r>
          </a:p>
        </p:txBody>
      </p:sp>
      <p:sp>
        <p:nvSpPr>
          <p:cNvPr id="134" name="TextBox 133">
            <a:extLst>
              <a:ext uri="{FF2B5EF4-FFF2-40B4-BE49-F238E27FC236}">
                <a16:creationId xmlns:a16="http://schemas.microsoft.com/office/drawing/2014/main" id="{7732AD72-826E-9D73-F49C-09860A1A70A6}"/>
              </a:ext>
            </a:extLst>
          </p:cNvPr>
          <p:cNvSpPr txBox="1"/>
          <p:nvPr/>
        </p:nvSpPr>
        <p:spPr>
          <a:xfrm>
            <a:off x="7882127" y="3660151"/>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Bi-weekly</a:t>
            </a:r>
          </a:p>
        </p:txBody>
      </p:sp>
      <p:sp>
        <p:nvSpPr>
          <p:cNvPr id="135" name="TextBox 134">
            <a:extLst>
              <a:ext uri="{FF2B5EF4-FFF2-40B4-BE49-F238E27FC236}">
                <a16:creationId xmlns:a16="http://schemas.microsoft.com/office/drawing/2014/main" id="{68C24F01-B97E-8359-5AFC-8BC7AE6C8633}"/>
              </a:ext>
            </a:extLst>
          </p:cNvPr>
          <p:cNvSpPr txBox="1"/>
          <p:nvPr/>
        </p:nvSpPr>
        <p:spPr>
          <a:xfrm>
            <a:off x="9665207" y="3660151"/>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BC4328"/>
                </a:solidFill>
                <a:latin typeface="Helvetica Neue"/>
              </a:rPr>
              <a:t>No formal gate</a:t>
            </a:r>
          </a:p>
        </p:txBody>
      </p:sp>
      <p:sp>
        <p:nvSpPr>
          <p:cNvPr id="136" name="Rectangle 135">
            <a:extLst>
              <a:ext uri="{FF2B5EF4-FFF2-40B4-BE49-F238E27FC236}">
                <a16:creationId xmlns:a16="http://schemas.microsoft.com/office/drawing/2014/main" id="{E0895122-2D66-4B9B-B89E-64FEEA9DFF08}"/>
              </a:ext>
            </a:extLst>
          </p:cNvPr>
          <p:cNvSpPr/>
          <p:nvPr/>
        </p:nvSpPr>
        <p:spPr>
          <a:xfrm>
            <a:off x="457200" y="3995571"/>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7" name="Rectangle 136">
            <a:extLst>
              <a:ext uri="{FF2B5EF4-FFF2-40B4-BE49-F238E27FC236}">
                <a16:creationId xmlns:a16="http://schemas.microsoft.com/office/drawing/2014/main" id="{7E62A0EE-25CF-EB77-3EC6-388095B35F90}"/>
              </a:ext>
            </a:extLst>
          </p:cNvPr>
          <p:cNvSpPr/>
          <p:nvPr/>
        </p:nvSpPr>
        <p:spPr>
          <a:xfrm>
            <a:off x="457200" y="3995571"/>
            <a:ext cx="73152" cy="53035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TextBox 137">
            <a:extLst>
              <a:ext uri="{FF2B5EF4-FFF2-40B4-BE49-F238E27FC236}">
                <a16:creationId xmlns:a16="http://schemas.microsoft.com/office/drawing/2014/main" id="{CF21EE17-57FE-E489-A8F5-A6B574292DEE}"/>
              </a:ext>
            </a:extLst>
          </p:cNvPr>
          <p:cNvSpPr txBox="1"/>
          <p:nvPr/>
        </p:nvSpPr>
        <p:spPr>
          <a:xfrm>
            <a:off x="621792" y="4182680"/>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2E7D32"/>
                </a:solidFill>
                <a:latin typeface="Helvetica Neue"/>
              </a:rPr>
              <a:t>Infrastructure</a:t>
            </a:r>
          </a:p>
        </p:txBody>
      </p:sp>
      <p:sp>
        <p:nvSpPr>
          <p:cNvPr id="139" name="TextBox 138">
            <a:extLst>
              <a:ext uri="{FF2B5EF4-FFF2-40B4-BE49-F238E27FC236}">
                <a16:creationId xmlns:a16="http://schemas.microsoft.com/office/drawing/2014/main" id="{052E7F76-A0F4-27D9-554B-2A5CB58BC41D}"/>
              </a:ext>
            </a:extLst>
          </p:cNvPr>
          <p:cNvSpPr txBox="1"/>
          <p:nvPr/>
        </p:nvSpPr>
        <p:spPr>
          <a:xfrm>
            <a:off x="2487168" y="4190503"/>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Direct to department</a:t>
            </a:r>
          </a:p>
        </p:txBody>
      </p:sp>
      <p:sp>
        <p:nvSpPr>
          <p:cNvPr id="140" name="TextBox 139">
            <a:extLst>
              <a:ext uri="{FF2B5EF4-FFF2-40B4-BE49-F238E27FC236}">
                <a16:creationId xmlns:a16="http://schemas.microsoft.com/office/drawing/2014/main" id="{D426CB67-D05A-BF9B-488A-D927772BF069}"/>
              </a:ext>
            </a:extLst>
          </p:cNvPr>
          <p:cNvSpPr txBox="1"/>
          <p:nvPr/>
        </p:nvSpPr>
        <p:spPr>
          <a:xfrm>
            <a:off x="4956048" y="4190503"/>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Major maintenance · upgrades</a:t>
            </a:r>
          </a:p>
        </p:txBody>
      </p:sp>
      <p:sp>
        <p:nvSpPr>
          <p:cNvPr id="141" name="TextBox 140">
            <a:extLst>
              <a:ext uri="{FF2B5EF4-FFF2-40B4-BE49-F238E27FC236}">
                <a16:creationId xmlns:a16="http://schemas.microsoft.com/office/drawing/2014/main" id="{7B693A94-C5DD-9F73-7652-80500D824AA4}"/>
              </a:ext>
            </a:extLst>
          </p:cNvPr>
          <p:cNvSpPr txBox="1"/>
          <p:nvPr/>
        </p:nvSpPr>
        <p:spPr>
          <a:xfrm>
            <a:off x="7882127" y="4190503"/>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Weekly  (Sundays)</a:t>
            </a:r>
          </a:p>
        </p:txBody>
      </p:sp>
      <p:sp>
        <p:nvSpPr>
          <p:cNvPr id="142" name="TextBox 141">
            <a:extLst>
              <a:ext uri="{FF2B5EF4-FFF2-40B4-BE49-F238E27FC236}">
                <a16:creationId xmlns:a16="http://schemas.microsoft.com/office/drawing/2014/main" id="{381F014B-E7B7-50A3-6F7E-1A0FA4C20496}"/>
              </a:ext>
            </a:extLst>
          </p:cNvPr>
          <p:cNvSpPr txBox="1"/>
          <p:nvPr/>
        </p:nvSpPr>
        <p:spPr>
          <a:xfrm>
            <a:off x="9665207" y="4190503"/>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Infrastructure Leaders</a:t>
            </a:r>
          </a:p>
        </p:txBody>
      </p:sp>
      <p:sp>
        <p:nvSpPr>
          <p:cNvPr id="143" name="Rectangle 142">
            <a:extLst>
              <a:ext uri="{FF2B5EF4-FFF2-40B4-BE49-F238E27FC236}">
                <a16:creationId xmlns:a16="http://schemas.microsoft.com/office/drawing/2014/main" id="{B6C11F7B-F163-7EB7-1B9A-D422D378AC11}"/>
              </a:ext>
            </a:extLst>
          </p:cNvPr>
          <p:cNvSpPr/>
          <p:nvPr/>
        </p:nvSpPr>
        <p:spPr>
          <a:xfrm>
            <a:off x="457200" y="4525923"/>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Rectangle 143">
            <a:extLst>
              <a:ext uri="{FF2B5EF4-FFF2-40B4-BE49-F238E27FC236}">
                <a16:creationId xmlns:a16="http://schemas.microsoft.com/office/drawing/2014/main" id="{73C0FA4A-2533-40F1-9960-36A5D03CF32E}"/>
              </a:ext>
            </a:extLst>
          </p:cNvPr>
          <p:cNvSpPr/>
          <p:nvPr/>
        </p:nvSpPr>
        <p:spPr>
          <a:xfrm>
            <a:off x="457200" y="4525923"/>
            <a:ext cx="73152" cy="5303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TextBox 144">
            <a:extLst>
              <a:ext uri="{FF2B5EF4-FFF2-40B4-BE49-F238E27FC236}">
                <a16:creationId xmlns:a16="http://schemas.microsoft.com/office/drawing/2014/main" id="{758ED291-3C25-68F6-0A34-70D3899C5940}"/>
              </a:ext>
            </a:extLst>
          </p:cNvPr>
          <p:cNvSpPr txBox="1"/>
          <p:nvPr/>
        </p:nvSpPr>
        <p:spPr>
          <a:xfrm>
            <a:off x="621792" y="4713032"/>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BC4328"/>
                </a:solidFill>
                <a:latin typeface="Helvetica Neue"/>
              </a:rPr>
              <a:t>Regulatory</a:t>
            </a:r>
          </a:p>
        </p:txBody>
      </p:sp>
      <p:sp>
        <p:nvSpPr>
          <p:cNvPr id="146" name="TextBox 145">
            <a:extLst>
              <a:ext uri="{FF2B5EF4-FFF2-40B4-BE49-F238E27FC236}">
                <a16:creationId xmlns:a16="http://schemas.microsoft.com/office/drawing/2014/main" id="{310CB199-426E-5080-0A1C-F399688F9BFE}"/>
              </a:ext>
            </a:extLst>
          </p:cNvPr>
          <p:cNvSpPr txBox="1"/>
          <p:nvPr/>
        </p:nvSpPr>
        <p:spPr>
          <a:xfrm>
            <a:off x="2487168" y="4720855"/>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Managers direct · Travis PMs</a:t>
            </a:r>
          </a:p>
        </p:txBody>
      </p:sp>
      <p:sp>
        <p:nvSpPr>
          <p:cNvPr id="147" name="TextBox 146">
            <a:extLst>
              <a:ext uri="{FF2B5EF4-FFF2-40B4-BE49-F238E27FC236}">
                <a16:creationId xmlns:a16="http://schemas.microsoft.com/office/drawing/2014/main" id="{01588F5D-69BA-5D05-7671-8FC58F312D4F}"/>
              </a:ext>
            </a:extLst>
          </p:cNvPr>
          <p:cNvSpPr txBox="1"/>
          <p:nvPr/>
        </p:nvSpPr>
        <p:spPr>
          <a:xfrm>
            <a:off x="4956048" y="4720855"/>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1" i="1" noProof="0">
                <a:solidFill>
                  <a:srgbClr val="BC4328"/>
                </a:solidFill>
                <a:latin typeface="Helvetica Neue"/>
              </a:rPr>
              <a:t>URGENCY #1 — overrides everything</a:t>
            </a:r>
          </a:p>
        </p:txBody>
      </p:sp>
      <p:sp>
        <p:nvSpPr>
          <p:cNvPr id="149" name="TextBox 148">
            <a:extLst>
              <a:ext uri="{FF2B5EF4-FFF2-40B4-BE49-F238E27FC236}">
                <a16:creationId xmlns:a16="http://schemas.microsoft.com/office/drawing/2014/main" id="{C5D58B56-3022-04AA-2E66-CCA617FACC6C}"/>
              </a:ext>
            </a:extLst>
          </p:cNvPr>
          <p:cNvSpPr txBox="1"/>
          <p:nvPr/>
        </p:nvSpPr>
        <p:spPr>
          <a:xfrm>
            <a:off x="7882127" y="4720855"/>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Ad-hoc</a:t>
            </a:r>
          </a:p>
        </p:txBody>
      </p:sp>
      <p:sp>
        <p:nvSpPr>
          <p:cNvPr id="150" name="TextBox 149">
            <a:extLst>
              <a:ext uri="{FF2B5EF4-FFF2-40B4-BE49-F238E27FC236}">
                <a16:creationId xmlns:a16="http://schemas.microsoft.com/office/drawing/2014/main" id="{3F781B15-41EC-CED5-022A-870B5B2EB6AE}"/>
              </a:ext>
            </a:extLst>
          </p:cNvPr>
          <p:cNvSpPr txBox="1"/>
          <p:nvPr/>
        </p:nvSpPr>
        <p:spPr>
          <a:xfrm>
            <a:off x="9665207" y="4720855"/>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BC4328"/>
                </a:solidFill>
                <a:latin typeface="Helvetica Neue"/>
              </a:rPr>
              <a:t>Auto-priority by label</a:t>
            </a:r>
          </a:p>
        </p:txBody>
      </p:sp>
      <p:sp>
        <p:nvSpPr>
          <p:cNvPr id="151" name="Rectangle 150">
            <a:extLst>
              <a:ext uri="{FF2B5EF4-FFF2-40B4-BE49-F238E27FC236}">
                <a16:creationId xmlns:a16="http://schemas.microsoft.com/office/drawing/2014/main" id="{6899EBE1-3D11-46EC-A1CF-398CFD825ED0}"/>
              </a:ext>
            </a:extLst>
          </p:cNvPr>
          <p:cNvSpPr/>
          <p:nvPr/>
        </p:nvSpPr>
        <p:spPr>
          <a:xfrm>
            <a:off x="457200" y="5056275"/>
            <a:ext cx="11274552" cy="53035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2" name="Rectangle 151">
            <a:extLst>
              <a:ext uri="{FF2B5EF4-FFF2-40B4-BE49-F238E27FC236}">
                <a16:creationId xmlns:a16="http://schemas.microsoft.com/office/drawing/2014/main" id="{9C86309B-8663-AEC8-5530-D1BE96855218}"/>
              </a:ext>
            </a:extLst>
          </p:cNvPr>
          <p:cNvSpPr/>
          <p:nvPr/>
        </p:nvSpPr>
        <p:spPr>
          <a:xfrm>
            <a:off x="457200" y="5056275"/>
            <a:ext cx="73152" cy="53035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3" name="TextBox 152">
            <a:extLst>
              <a:ext uri="{FF2B5EF4-FFF2-40B4-BE49-F238E27FC236}">
                <a16:creationId xmlns:a16="http://schemas.microsoft.com/office/drawing/2014/main" id="{D64564D8-14F7-5AC0-FEC0-E9EBB7E9AE1A}"/>
              </a:ext>
            </a:extLst>
          </p:cNvPr>
          <p:cNvSpPr txBox="1"/>
          <p:nvPr/>
        </p:nvSpPr>
        <p:spPr>
          <a:xfrm>
            <a:off x="621792" y="5243384"/>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95A5A6"/>
                </a:solidFill>
                <a:latin typeface="Helvetica Neue"/>
              </a:rPr>
              <a:t>Procurement</a:t>
            </a:r>
          </a:p>
        </p:txBody>
      </p:sp>
      <p:sp>
        <p:nvSpPr>
          <p:cNvPr id="154" name="TextBox 153">
            <a:extLst>
              <a:ext uri="{FF2B5EF4-FFF2-40B4-BE49-F238E27FC236}">
                <a16:creationId xmlns:a16="http://schemas.microsoft.com/office/drawing/2014/main" id="{4E9454BF-E39D-2D0B-A917-AA40ADAD7304}"/>
              </a:ext>
            </a:extLst>
          </p:cNvPr>
          <p:cNvSpPr txBox="1"/>
          <p:nvPr/>
        </p:nvSpPr>
        <p:spPr>
          <a:xfrm>
            <a:off x="2487168" y="5251207"/>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Procurement liaison</a:t>
            </a:r>
          </a:p>
        </p:txBody>
      </p:sp>
      <p:sp>
        <p:nvSpPr>
          <p:cNvPr id="155" name="TextBox 154">
            <a:extLst>
              <a:ext uri="{FF2B5EF4-FFF2-40B4-BE49-F238E27FC236}">
                <a16:creationId xmlns:a16="http://schemas.microsoft.com/office/drawing/2014/main" id="{25E8DFB9-FF0A-B2F1-3A8B-A11ACED67532}"/>
              </a:ext>
            </a:extLst>
          </p:cNvPr>
          <p:cNvSpPr txBox="1"/>
          <p:nvPr/>
        </p:nvSpPr>
        <p:spPr>
          <a:xfrm>
            <a:off x="4956048" y="5251207"/>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License renewal · new vendor · ERP fixes</a:t>
            </a:r>
          </a:p>
        </p:txBody>
      </p:sp>
      <p:sp>
        <p:nvSpPr>
          <p:cNvPr id="156" name="TextBox 155">
            <a:extLst>
              <a:ext uri="{FF2B5EF4-FFF2-40B4-BE49-F238E27FC236}">
                <a16:creationId xmlns:a16="http://schemas.microsoft.com/office/drawing/2014/main" id="{21A2735C-1058-890A-00AB-6813A81253A6}"/>
              </a:ext>
            </a:extLst>
          </p:cNvPr>
          <p:cNvSpPr txBox="1"/>
          <p:nvPr/>
        </p:nvSpPr>
        <p:spPr>
          <a:xfrm>
            <a:off x="7882127" y="5251207"/>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Monthly</a:t>
            </a:r>
          </a:p>
        </p:txBody>
      </p:sp>
      <p:sp>
        <p:nvSpPr>
          <p:cNvPr id="157" name="TextBox 156">
            <a:extLst>
              <a:ext uri="{FF2B5EF4-FFF2-40B4-BE49-F238E27FC236}">
                <a16:creationId xmlns:a16="http://schemas.microsoft.com/office/drawing/2014/main" id="{4C1EDCE0-5D81-20BA-4AC7-FF29F6064995}"/>
              </a:ext>
            </a:extLst>
          </p:cNvPr>
          <p:cNvSpPr txBox="1"/>
          <p:nvPr/>
        </p:nvSpPr>
        <p:spPr>
          <a:xfrm>
            <a:off x="9665207" y="5251207"/>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Procurement + IT</a:t>
            </a:r>
          </a:p>
        </p:txBody>
      </p:sp>
      <p:sp>
        <p:nvSpPr>
          <p:cNvPr id="158" name="Rectangle 157">
            <a:extLst>
              <a:ext uri="{FF2B5EF4-FFF2-40B4-BE49-F238E27FC236}">
                <a16:creationId xmlns:a16="http://schemas.microsoft.com/office/drawing/2014/main" id="{7D700B3B-1E54-D359-10A5-C56C0CE01DCD}"/>
              </a:ext>
            </a:extLst>
          </p:cNvPr>
          <p:cNvSpPr/>
          <p:nvPr/>
        </p:nvSpPr>
        <p:spPr>
          <a:xfrm>
            <a:off x="457200" y="5586627"/>
            <a:ext cx="1127455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9" name="Rectangle 158">
            <a:extLst>
              <a:ext uri="{FF2B5EF4-FFF2-40B4-BE49-F238E27FC236}">
                <a16:creationId xmlns:a16="http://schemas.microsoft.com/office/drawing/2014/main" id="{94C7C3C5-270D-340A-60BF-E331AC0E1A0F}"/>
              </a:ext>
            </a:extLst>
          </p:cNvPr>
          <p:cNvSpPr/>
          <p:nvPr/>
        </p:nvSpPr>
        <p:spPr>
          <a:xfrm>
            <a:off x="457200" y="5586627"/>
            <a:ext cx="73152" cy="530352"/>
          </a:xfrm>
          <a:prstGeom prst="rect">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0" name="TextBox 159">
            <a:extLst>
              <a:ext uri="{FF2B5EF4-FFF2-40B4-BE49-F238E27FC236}">
                <a16:creationId xmlns:a16="http://schemas.microsoft.com/office/drawing/2014/main" id="{9CB2445C-3DEA-A4D0-2D95-1E1F67F9E14C}"/>
              </a:ext>
            </a:extLst>
          </p:cNvPr>
          <p:cNvSpPr txBox="1"/>
          <p:nvPr/>
        </p:nvSpPr>
        <p:spPr>
          <a:xfrm>
            <a:off x="621792" y="5773736"/>
            <a:ext cx="1755648" cy="156133"/>
          </a:xfrm>
          <a:prstGeom prst="rect">
            <a:avLst/>
          </a:prstGeom>
          <a:noFill/>
        </p:spPr>
        <p:txBody>
          <a:bodyPr wrap="square" lIns="0" tIns="0" rIns="0" bIns="0" anchor="ctr">
            <a:spAutoFit/>
          </a:bodyPr>
          <a:lstStyle/>
          <a:p>
            <a:pPr algn="l">
              <a:lnSpc>
                <a:spcPct val="110000"/>
              </a:lnSpc>
              <a:spcBef>
                <a:spcPts val="0"/>
              </a:spcBef>
              <a:spcAft>
                <a:spcPts val="0"/>
              </a:spcAft>
            </a:pPr>
            <a:r>
              <a:rPr lang="en-US" sz="1000" b="1" i="0" noProof="0">
                <a:solidFill>
                  <a:srgbClr val="F9A825"/>
                </a:solidFill>
                <a:latin typeface="Helvetica Neue"/>
              </a:rPr>
              <a:t>OT  (Op. Technology)</a:t>
            </a:r>
          </a:p>
        </p:txBody>
      </p:sp>
      <p:sp>
        <p:nvSpPr>
          <p:cNvPr id="161" name="TextBox 160">
            <a:extLst>
              <a:ext uri="{FF2B5EF4-FFF2-40B4-BE49-F238E27FC236}">
                <a16:creationId xmlns:a16="http://schemas.microsoft.com/office/drawing/2014/main" id="{21E3DEDD-DB9E-1CB5-AA37-B3723B285211}"/>
              </a:ext>
            </a:extLst>
          </p:cNvPr>
          <p:cNvSpPr txBox="1"/>
          <p:nvPr/>
        </p:nvSpPr>
        <p:spPr>
          <a:xfrm>
            <a:off x="2487168" y="5781559"/>
            <a:ext cx="23591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Helvetica Neue"/>
              </a:rPr>
              <a:t>Own model · sometimes Jira tickets</a:t>
            </a:r>
          </a:p>
        </p:txBody>
      </p:sp>
      <p:sp>
        <p:nvSpPr>
          <p:cNvPr id="162" name="TextBox 161">
            <a:extLst>
              <a:ext uri="{FF2B5EF4-FFF2-40B4-BE49-F238E27FC236}">
                <a16:creationId xmlns:a16="http://schemas.microsoft.com/office/drawing/2014/main" id="{DB6085DE-047C-F652-7987-154B30ECE393}"/>
              </a:ext>
            </a:extLst>
          </p:cNvPr>
          <p:cNvSpPr txBox="1"/>
          <p:nvPr/>
        </p:nvSpPr>
        <p:spPr>
          <a:xfrm>
            <a:off x="4956048" y="5781559"/>
            <a:ext cx="2816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1" noProof="0">
                <a:solidFill>
                  <a:srgbClr val="2C3E50"/>
                </a:solidFill>
                <a:latin typeface="Helvetica Neue"/>
              </a:rPr>
              <a:t>Metering-specific · per-OPCO variance</a:t>
            </a:r>
          </a:p>
        </p:txBody>
      </p:sp>
      <p:sp>
        <p:nvSpPr>
          <p:cNvPr id="163" name="TextBox 162">
            <a:extLst>
              <a:ext uri="{FF2B5EF4-FFF2-40B4-BE49-F238E27FC236}">
                <a16:creationId xmlns:a16="http://schemas.microsoft.com/office/drawing/2014/main" id="{D852799E-87A9-F02A-C3D8-E0F717A87989}"/>
              </a:ext>
            </a:extLst>
          </p:cNvPr>
          <p:cNvSpPr txBox="1"/>
          <p:nvPr/>
        </p:nvSpPr>
        <p:spPr>
          <a:xfrm>
            <a:off x="7882127" y="5781559"/>
            <a:ext cx="1673352"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6785C1"/>
                </a:solidFill>
                <a:latin typeface="Helvetica Neue"/>
              </a:rPr>
              <a:t>Annual planning</a:t>
            </a:r>
          </a:p>
        </p:txBody>
      </p:sp>
      <p:sp>
        <p:nvSpPr>
          <p:cNvPr id="164" name="TextBox 163">
            <a:extLst>
              <a:ext uri="{FF2B5EF4-FFF2-40B4-BE49-F238E27FC236}">
                <a16:creationId xmlns:a16="http://schemas.microsoft.com/office/drawing/2014/main" id="{626B6849-919C-D366-327C-270CC84F5514}"/>
              </a:ext>
            </a:extLst>
          </p:cNvPr>
          <p:cNvSpPr txBox="1"/>
          <p:nvPr/>
        </p:nvSpPr>
        <p:spPr>
          <a:xfrm>
            <a:off x="9665207" y="5781559"/>
            <a:ext cx="2066543" cy="140488"/>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BC4328"/>
                </a:solidFill>
                <a:latin typeface="Helvetica Neue"/>
              </a:rPr>
              <a:t>No standard governance</a:t>
            </a:r>
          </a:p>
        </p:txBody>
      </p:sp>
      <p:sp>
        <p:nvSpPr>
          <p:cNvPr id="165" name="Rectangle 164">
            <a:extLst>
              <a:ext uri="{FF2B5EF4-FFF2-40B4-BE49-F238E27FC236}">
                <a16:creationId xmlns:a16="http://schemas.microsoft.com/office/drawing/2014/main" id="{92102C79-572A-7DE1-17ED-745F8EECEA03}"/>
              </a:ext>
            </a:extLst>
          </p:cNvPr>
          <p:cNvSpPr/>
          <p:nvPr/>
        </p:nvSpPr>
        <p:spPr>
          <a:xfrm>
            <a:off x="457200" y="6180987"/>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6" name="TextBox 165">
            <a:extLst>
              <a:ext uri="{FF2B5EF4-FFF2-40B4-BE49-F238E27FC236}">
                <a16:creationId xmlns:a16="http://schemas.microsoft.com/office/drawing/2014/main" id="{4A69AF98-C4AC-9350-F1F5-7D4553403D69}"/>
              </a:ext>
            </a:extLst>
          </p:cNvPr>
          <p:cNvSpPr txBox="1"/>
          <p:nvPr/>
        </p:nvSpPr>
        <p:spPr>
          <a:xfrm>
            <a:off x="685800" y="6346558"/>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Eight distinct intake paths feed SAP — BRS is the only formalized channel; Regulatory auto-prioritizes; OT and Data &amp; Analytics run outside the standard process</a:t>
            </a:r>
          </a:p>
        </p:txBody>
      </p:sp>
      <p:sp>
        <p:nvSpPr>
          <p:cNvPr id="10" name="Rectángulo 9">
            <a:extLst>
              <a:ext uri="{FF2B5EF4-FFF2-40B4-BE49-F238E27FC236}">
                <a16:creationId xmlns:a16="http://schemas.microsoft.com/office/drawing/2014/main" id="{66614324-4B1C-31FC-22E2-17483A0F209F}"/>
              </a:ext>
            </a:extLst>
          </p:cNvPr>
          <p:cNvSpPr/>
          <p:nvPr/>
        </p:nvSpPr>
        <p:spPr>
          <a:xfrm>
            <a:off x="12019280" y="1645920"/>
            <a:ext cx="2377440" cy="154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Missing Digital </a:t>
            </a:r>
            <a:r>
              <a:rPr lang="es-MX" err="1"/>
              <a:t>Applications</a:t>
            </a:r>
            <a:endParaRPr lang="es-MX"/>
          </a:p>
        </p:txBody>
      </p:sp>
    </p:spTree>
    <p:extLst>
      <p:ext uri="{BB962C8B-B14F-4D97-AF65-F5344CB8AC3E}">
        <p14:creationId xmlns:p14="http://schemas.microsoft.com/office/powerpoint/2010/main" val="41376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99556-1292-7D57-0DFD-BEC8D668771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78884D0-C163-6650-2FEC-BD30E879EB21}"/>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E54F87C0-886A-6D7A-FA78-29C5DCCE55FB}"/>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FCDB172-1774-2312-54C2-2FEFF2B3D73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02D7915-C296-9196-5CC6-9F699DC4C4F7}"/>
              </a:ext>
            </a:extLst>
          </p:cNvPr>
          <p:cNvSpPr txBox="1"/>
          <p:nvPr/>
        </p:nvSpPr>
        <p:spPr>
          <a:xfrm>
            <a:off x="1077073" y="1141030"/>
            <a:ext cx="462060" cy="524182"/>
          </a:xfrm>
          <a:prstGeom prst="rect">
            <a:avLst/>
          </a:prstGeom>
        </p:spPr>
        <p:txBody>
          <a:bodyPr wrap="square" lIns="0" tIns="0" rIns="0" bIns="0" rtlCol="0" anchor="t">
            <a:spAutoFit/>
          </a:bodyPr>
          <a:lstStyle/>
          <a:p>
            <a:pPr>
              <a:lnSpc>
                <a:spcPts val="4608"/>
              </a:lnSpc>
            </a:pPr>
            <a:r>
              <a:rPr lang="en-US" sz="2400" b="1" noProof="0">
                <a:solidFill>
                  <a:schemeClr val="bg2">
                    <a:lumMod val="75000"/>
                  </a:schemeClr>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7BB90D8D-F575-5D1A-6C3B-8B698302A150}"/>
              </a:ext>
            </a:extLst>
          </p:cNvPr>
          <p:cNvSpPr txBox="1"/>
          <p:nvPr/>
        </p:nvSpPr>
        <p:spPr>
          <a:xfrm>
            <a:off x="1063128" y="2827839"/>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3EE1C457-9BD0-4D4D-3B38-17EC5E72C92B}"/>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9902C75A-5A35-A476-FA9B-3503D0335DB0}"/>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1CC50332-29C2-D538-2995-6D89EBB8CEA5}"/>
                </a:ext>
              </a:extLst>
            </p:cNvPr>
            <p:cNvSpPr txBox="1"/>
            <p:nvPr/>
          </p:nvSpPr>
          <p:spPr>
            <a:xfrm>
              <a:off x="1816102" y="2983372"/>
              <a:ext cx="7868967" cy="453714"/>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AC5A7B00-6382-278A-FDD9-34C373830C6C}"/>
              </a:ext>
            </a:extLst>
          </p:cNvPr>
          <p:cNvSpPr txBox="1"/>
          <p:nvPr/>
        </p:nvSpPr>
        <p:spPr>
          <a:xfrm>
            <a:off x="1063128" y="3699805"/>
            <a:ext cx="525169"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4EC75F8D-C38A-B0AB-D839-BD064EB6A755}"/>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248B563-F915-4845-34E7-390DCEE7F0F6}"/>
              </a:ext>
            </a:extLst>
          </p:cNvPr>
          <p:cNvSpPr txBox="1"/>
          <p:nvPr/>
        </p:nvSpPr>
        <p:spPr>
          <a:xfrm>
            <a:off x="1063128" y="4600799"/>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E1FD5798-E111-DBCE-98AB-180D3041D359}"/>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D03F20DC-4288-EDE1-CCA7-B68ABD0E9AB9}"/>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C7EBB1A-CB83-86AE-051C-C50FEE20524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Includes explanations for Roles and Responsibilities, Value stream Mapping and Governance Mapping</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E811FBD6-B4CB-DB6F-188A-40D32E43E9A5}"/>
              </a:ext>
            </a:extLst>
          </p:cNvPr>
          <p:cNvSpPr txBox="1"/>
          <p:nvPr/>
        </p:nvSpPr>
        <p:spPr>
          <a:xfrm>
            <a:off x="1063128" y="5501791"/>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CF569EA7-8C6B-7C33-D52F-F8CFB107B40F}"/>
              </a:ext>
            </a:extLst>
          </p:cNvPr>
          <p:cNvGrpSpPr/>
          <p:nvPr/>
        </p:nvGrpSpPr>
        <p:grpSpPr>
          <a:xfrm>
            <a:off x="1861346" y="1170058"/>
            <a:ext cx="9578128" cy="560103"/>
            <a:chOff x="1809304" y="1852249"/>
            <a:chExt cx="9578128" cy="560103"/>
          </a:xfrm>
        </p:grpSpPr>
        <p:sp>
          <p:nvSpPr>
            <p:cNvPr id="11" name="TextBox 11">
              <a:extLst>
                <a:ext uri="{FF2B5EF4-FFF2-40B4-BE49-F238E27FC236}">
                  <a16:creationId xmlns:a16="http://schemas.microsoft.com/office/drawing/2014/main" id="{E9D78661-4425-4D98-6AE6-E28EBA730A1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cs typeface="Arial" panose="020B0604020202020204" pitchFamily="34" charset="0"/>
                </a:rPr>
                <a:t>Context</a:t>
              </a:r>
              <a:endParaRPr lang="en-US" sz="20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88F499A0-DCB0-C2C1-A2EE-6BB51320CC49}"/>
                </a:ext>
              </a:extLst>
            </p:cNvPr>
            <p:cNvSpPr txBox="1"/>
            <p:nvPr/>
          </p:nvSpPr>
          <p:spPr>
            <a:xfrm>
              <a:off x="1809304" y="2198383"/>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cs typeface="Arial" panose="020B0604020202020204" pitchFamily="34" charset="0"/>
                </a:rPr>
                <a:t>Document summary</a:t>
              </a:r>
              <a:endParaRPr lang="en-US" sz="12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70D10239-DDF1-57ED-EDD8-5EB8888784E3}"/>
              </a:ext>
            </a:extLst>
          </p:cNvPr>
          <p:cNvGrpSpPr/>
          <p:nvPr/>
        </p:nvGrpSpPr>
        <p:grpSpPr>
          <a:xfrm>
            <a:off x="1847401" y="4582202"/>
            <a:ext cx="9571332" cy="608564"/>
            <a:chOff x="1809305" y="5419675"/>
            <a:chExt cx="9571332" cy="608564"/>
          </a:xfrm>
        </p:grpSpPr>
        <p:sp>
          <p:nvSpPr>
            <p:cNvPr id="9" name="TextBox 19">
              <a:extLst>
                <a:ext uri="{FF2B5EF4-FFF2-40B4-BE49-F238E27FC236}">
                  <a16:creationId xmlns:a16="http://schemas.microsoft.com/office/drawing/2014/main" id="{306893F4-7D1B-93B7-77D5-AF1191BF0ACF}"/>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62E0283-7940-F295-3ED1-1B98EF09034A}"/>
                </a:ext>
              </a:extLst>
            </p:cNvPr>
            <p:cNvSpPr txBox="1"/>
            <p:nvPr/>
          </p:nvSpPr>
          <p:spPr>
            <a:xfrm>
              <a:off x="1809305" y="5814270"/>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DA75AF79-DFA8-F8C0-CAEA-F7CF5AD67386}"/>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F09E127-D4F6-35DA-2883-B798AAF8632B}"/>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807F82FC-F7F1-272C-074C-7F82915CF910}"/>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CFED00CC-306C-FB78-8CE6-4A9A1EBEC33B}"/>
              </a:ext>
            </a:extLst>
          </p:cNvPr>
          <p:cNvSpPr txBox="1"/>
          <p:nvPr/>
        </p:nvSpPr>
        <p:spPr>
          <a:xfrm>
            <a:off x="1070275" y="2006772"/>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FF97EE35-4544-8AB5-6014-94C7600ED417}"/>
              </a:ext>
            </a:extLst>
          </p:cNvPr>
          <p:cNvGrpSpPr/>
          <p:nvPr/>
        </p:nvGrpSpPr>
        <p:grpSpPr>
          <a:xfrm>
            <a:off x="1861346" y="1981111"/>
            <a:ext cx="9571333" cy="602642"/>
            <a:chOff x="1816102" y="2594699"/>
            <a:chExt cx="9571333" cy="602642"/>
          </a:xfrm>
        </p:grpSpPr>
        <p:sp>
          <p:nvSpPr>
            <p:cNvPr id="5" name="TextBox 15">
              <a:extLst>
                <a:ext uri="{FF2B5EF4-FFF2-40B4-BE49-F238E27FC236}">
                  <a16:creationId xmlns:a16="http://schemas.microsoft.com/office/drawing/2014/main" id="{D1C18868-19B4-5C0C-62D6-1FC056BB305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8DDE3F72-3FE7-DA35-76E9-A1835E1EE763}"/>
                </a:ext>
              </a:extLst>
            </p:cNvPr>
            <p:cNvSpPr txBox="1"/>
            <p:nvPr/>
          </p:nvSpPr>
          <p:spPr>
            <a:xfrm>
              <a:off x="1816102" y="2983372"/>
              <a:ext cx="7868967" cy="21396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BAE8EEE6-4F73-EC3C-B764-05F2B34B7E33}"/>
              </a:ext>
            </a:extLst>
          </p:cNvPr>
          <p:cNvSpPr txBox="1"/>
          <p:nvPr/>
        </p:nvSpPr>
        <p:spPr>
          <a:xfrm>
            <a:off x="1063127" y="277976"/>
            <a:ext cx="3495835" cy="53585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688592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3A9A-310C-EAB3-5F39-863504F0BB8C}"/>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BC6AF5E7-67C5-181A-4864-F0FD9874F2D1}"/>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t>EXECUTIVE SUMMARY</a:t>
            </a:r>
            <a:endParaRPr lang="en-US" sz="1100" noProof="0"/>
          </a:p>
        </p:txBody>
      </p:sp>
      <p:sp>
        <p:nvSpPr>
          <p:cNvPr id="11" name="Rectangle 10">
            <a:extLst>
              <a:ext uri="{FF2B5EF4-FFF2-40B4-BE49-F238E27FC236}">
                <a16:creationId xmlns:a16="http://schemas.microsoft.com/office/drawing/2014/main" id="{2A0B8D80-7A0F-1C8B-9D2E-2D28F706FB99}"/>
              </a:ext>
            </a:extLst>
          </p:cNvPr>
          <p:cNvSpPr/>
          <p:nvPr/>
        </p:nvSpPr>
        <p:spPr>
          <a:xfrm>
            <a:off x="457200" y="1607824"/>
            <a:ext cx="1142999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20C8553E-B9C9-4367-C3F1-0E217AC9E23A}"/>
              </a:ext>
            </a:extLst>
          </p:cNvPr>
          <p:cNvSpPr txBox="1"/>
          <p:nvPr/>
        </p:nvSpPr>
        <p:spPr>
          <a:xfrm>
            <a:off x="731520" y="1814882"/>
            <a:ext cx="11018518" cy="390556"/>
          </a:xfrm>
          <a:prstGeom prst="rect">
            <a:avLst/>
          </a:prstGeom>
          <a:noFill/>
        </p:spPr>
        <p:txBody>
          <a:bodyPr wrap="square" lIns="137160" tIns="91440" rIns="137160" bIns="91440" anchor="ctr">
            <a:spAutoFit/>
          </a:bodyPr>
          <a:lstStyle/>
          <a:p>
            <a:pPr algn="l">
              <a:lnSpc>
                <a:spcPct val="110000"/>
              </a:lnSpc>
              <a:spcBef>
                <a:spcPts val="0"/>
              </a:spcBef>
              <a:spcAft>
                <a:spcPts val="0"/>
              </a:spcAft>
            </a:pPr>
            <a:r>
              <a:rPr sz="1100" b="1" i="1">
                <a:solidFill>
                  <a:srgbClr val="FFFFFF"/>
                </a:solidFill>
                <a:latin typeface="Calibri"/>
              </a:rPr>
              <a:t>GOVERNING THOUGHT  —  </a:t>
            </a:r>
            <a:r>
              <a:rPr sz="1050" i="1">
                <a:solidFill>
                  <a:srgbClr val="FFFFFF"/>
                </a:solidFill>
                <a:latin typeface="Calibri"/>
              </a:rPr>
              <a:t>Fragmentation is structural, not local — across flow AND capacity. Every team has a working answer for large PDD-funded demand; no team has one for small/medium demand at scale, none has formal capacity planning, and knowledge is concentrated in named individuals. The TOM must standardize the end-to-end lifecycle AND install capacity + reporting discipline across both director branches.</a:t>
            </a:r>
          </a:p>
        </p:txBody>
      </p:sp>
      <p:sp>
        <p:nvSpPr>
          <p:cNvPr id="41" name="Rectangle 40">
            <a:extLst>
              <a:ext uri="{FF2B5EF4-FFF2-40B4-BE49-F238E27FC236}">
                <a16:creationId xmlns:a16="http://schemas.microsoft.com/office/drawing/2014/main" id="{CF63F033-670A-39F1-39EB-DA68D22C314C}"/>
              </a:ext>
            </a:extLst>
          </p:cNvPr>
          <p:cNvSpPr/>
          <p:nvPr/>
        </p:nvSpPr>
        <p:spPr>
          <a:xfrm>
            <a:off x="443484" y="5794248"/>
            <a:ext cx="11443714"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a:extLst>
              <a:ext uri="{FF2B5EF4-FFF2-40B4-BE49-F238E27FC236}">
                <a16:creationId xmlns:a16="http://schemas.microsoft.com/office/drawing/2014/main" id="{A2B2CB42-B24E-5921-77C9-0C2B296AA499}"/>
              </a:ext>
            </a:extLst>
          </p:cNvPr>
          <p:cNvSpPr txBox="1"/>
          <p:nvPr/>
        </p:nvSpPr>
        <p:spPr>
          <a:xfrm>
            <a:off x="672084" y="5959819"/>
            <a:ext cx="10979654"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 rest of this deck walks the evidence per team — then consolidates bottlenecks and structural insights into the TOM scope</a:t>
            </a:r>
          </a:p>
        </p:txBody>
      </p:sp>
      <p:sp>
        <p:nvSpPr>
          <p:cNvPr id="44" name="TextBox 43">
            <a:extLst>
              <a:ext uri="{FF2B5EF4-FFF2-40B4-BE49-F238E27FC236}">
                <a16:creationId xmlns:a16="http://schemas.microsoft.com/office/drawing/2014/main" id="{B1B0F56A-663F-2D2E-94AE-C5F2FD6BD66E}"/>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l"/>
            <a:r>
              <a:rPr sz="1200" b="1">
                <a:solidFill>
                  <a:srgbClr val="1F3A68"/>
                </a:solidFill>
                <a:latin typeface="Calibri"/>
              </a:rPr>
              <a:t>Digital Products runs nine sub-teams on six disconnected intake channels — with no shared prioritization logic, two Sr. Manager vacancies in Customer Services, and knowledge concentrated in named individuals across every single team</a:t>
            </a:r>
          </a:p>
        </p:txBody>
      </p:sp>
      <p:sp>
        <p:nvSpPr>
          <p:cNvPr id="45" name="Rectangle 44"/>
          <p:cNvSpPr/>
          <p:nvPr/>
        </p:nvSpPr>
        <p:spPr>
          <a:xfrm>
            <a:off x="45720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2487168"/>
            <a:ext cx="27432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2651760"/>
            <a:ext cx="640080" cy="365760"/>
          </a:xfrm>
          <a:prstGeom prst="rect">
            <a:avLst/>
          </a:prstGeom>
          <a:noFill/>
        </p:spPr>
        <p:txBody>
          <a:bodyPr wrap="square" lIns="54864" rIns="54864" tIns="27432" bIns="27432" anchor="t">
            <a:spAutoFit/>
          </a:bodyPr>
          <a:lstStyle/>
          <a:p>
            <a:pPr algn="l"/>
            <a:r>
              <a:rPr sz="2200" b="1">
                <a:solidFill>
                  <a:srgbClr val="5EA04D"/>
                </a:solidFill>
                <a:latin typeface="Calibri"/>
              </a:rPr>
              <a:t>01</a:t>
            </a:r>
          </a:p>
        </p:txBody>
      </p:sp>
      <p:sp>
        <p:nvSpPr>
          <p:cNvPr id="48" name="TextBox 47"/>
          <p:cNvSpPr txBox="1"/>
          <p:nvPr/>
        </p:nvSpPr>
        <p:spPr>
          <a:xfrm>
            <a:off x="1280160" y="2734056"/>
            <a:ext cx="1828800" cy="292608"/>
          </a:xfrm>
          <a:prstGeom prst="rect">
            <a:avLst/>
          </a:prstGeom>
          <a:noFill/>
        </p:spPr>
        <p:txBody>
          <a:bodyPr wrap="square" lIns="54864" rIns="54864" tIns="27432" bIns="27432" anchor="t">
            <a:spAutoFit/>
          </a:bodyPr>
          <a:lstStyle/>
          <a:p>
            <a:pPr algn="l"/>
            <a:r>
              <a:rPr sz="1000" b="1">
                <a:solidFill>
                  <a:srgbClr val="5EA04D"/>
                </a:solidFill>
                <a:latin typeface="Calibri"/>
              </a:rPr>
              <a:t>INTAKE  &amp;  CLASSIFICATION</a:t>
            </a:r>
          </a:p>
        </p:txBody>
      </p:sp>
      <p:sp>
        <p:nvSpPr>
          <p:cNvPr id="49" name="TextBox 48"/>
          <p:cNvSpPr txBox="1"/>
          <p:nvPr/>
        </p:nvSpPr>
        <p:spPr>
          <a:xfrm>
            <a:off x="640080" y="331012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FINDING</a:t>
            </a:r>
          </a:p>
        </p:txBody>
      </p:sp>
      <p:sp>
        <p:nvSpPr>
          <p:cNvPr id="50" name="TextBox 49"/>
          <p:cNvSpPr txBox="1"/>
          <p:nvPr/>
        </p:nvSpPr>
        <p:spPr>
          <a:xfrm>
            <a:off x="640080" y="3511296"/>
            <a:ext cx="2377440" cy="1234440"/>
          </a:xfrm>
          <a:prstGeom prst="rect">
            <a:avLst/>
          </a:prstGeom>
          <a:noFill/>
        </p:spPr>
        <p:txBody>
          <a:bodyPr wrap="square" lIns="54864" rIns="54864" tIns="27432" bIns="27432" anchor="t">
            <a:spAutoFit/>
          </a:bodyPr>
          <a:lstStyle/>
          <a:p>
            <a:pPr algn="l"/>
            <a:r>
              <a:rPr sz="900" b="0">
                <a:solidFill>
                  <a:srgbClr val="4A4A4A"/>
                </a:solidFill>
                <a:latin typeface="Calibri"/>
              </a:rPr>
              <a:t>6+ channels active (Jira, IT Now, RITM, SharePoint, Email, Word). G&amp;E is fully email-driven; Corporate still uses Word for requirements.</a:t>
            </a:r>
          </a:p>
        </p:txBody>
      </p:sp>
      <p:sp>
        <p:nvSpPr>
          <p:cNvPr id="51" name="TextBox 50"/>
          <p:cNvSpPr txBox="1"/>
          <p:nvPr/>
        </p:nvSpPr>
        <p:spPr>
          <a:xfrm>
            <a:off x="640080" y="481888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SO WHAT</a:t>
            </a:r>
          </a:p>
        </p:txBody>
      </p:sp>
      <p:sp>
        <p:nvSpPr>
          <p:cNvPr id="52" name="TextBox 51"/>
          <p:cNvSpPr txBox="1"/>
          <p:nvPr/>
        </p:nvSpPr>
        <p:spPr>
          <a:xfrm>
            <a:off x="640080" y="5029200"/>
            <a:ext cx="2377440" cy="640080"/>
          </a:xfrm>
          <a:prstGeom prst="rect">
            <a:avLst/>
          </a:prstGeom>
          <a:noFill/>
        </p:spPr>
        <p:txBody>
          <a:bodyPr wrap="square" lIns="54864" rIns="54864" tIns="27432" bIns="27432" anchor="t">
            <a:spAutoFit/>
          </a:bodyPr>
          <a:lstStyle/>
          <a:p>
            <a:pPr algn="l"/>
            <a:r>
              <a:rPr sz="900" b="0">
                <a:solidFill>
                  <a:srgbClr val="1F3A68"/>
                </a:solidFill>
                <a:latin typeface="Calibri"/>
              </a:rPr>
              <a:t>No single front door. Volumes and duplicates are invisible.</a:t>
            </a:r>
          </a:p>
        </p:txBody>
      </p:sp>
      <p:sp>
        <p:nvSpPr>
          <p:cNvPr id="53" name="Rectangle 52"/>
          <p:cNvSpPr/>
          <p:nvPr/>
        </p:nvSpPr>
        <p:spPr>
          <a:xfrm>
            <a:off x="329184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291840" y="2487168"/>
            <a:ext cx="27432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74720" y="2651760"/>
            <a:ext cx="640080" cy="365760"/>
          </a:xfrm>
          <a:prstGeom prst="rect">
            <a:avLst/>
          </a:prstGeom>
          <a:noFill/>
        </p:spPr>
        <p:txBody>
          <a:bodyPr wrap="square" lIns="54864" rIns="54864" tIns="27432" bIns="27432" anchor="t">
            <a:spAutoFit/>
          </a:bodyPr>
          <a:lstStyle/>
          <a:p>
            <a:pPr algn="l"/>
            <a:r>
              <a:rPr sz="2200" b="1">
                <a:solidFill>
                  <a:srgbClr val="5EA04D"/>
                </a:solidFill>
                <a:latin typeface="Calibri"/>
              </a:rPr>
              <a:t>02</a:t>
            </a:r>
          </a:p>
        </p:txBody>
      </p:sp>
      <p:sp>
        <p:nvSpPr>
          <p:cNvPr id="56" name="TextBox 55"/>
          <p:cNvSpPr txBox="1"/>
          <p:nvPr/>
        </p:nvSpPr>
        <p:spPr>
          <a:xfrm>
            <a:off x="4114800" y="2734056"/>
            <a:ext cx="1828800" cy="292608"/>
          </a:xfrm>
          <a:prstGeom prst="rect">
            <a:avLst/>
          </a:prstGeom>
          <a:noFill/>
        </p:spPr>
        <p:txBody>
          <a:bodyPr wrap="square" lIns="54864" rIns="54864" tIns="27432" bIns="27432" anchor="t">
            <a:spAutoFit/>
          </a:bodyPr>
          <a:lstStyle/>
          <a:p>
            <a:pPr algn="l"/>
            <a:r>
              <a:rPr sz="1000" b="1">
                <a:solidFill>
                  <a:srgbClr val="5EA04D"/>
                </a:solidFill>
                <a:latin typeface="Calibri"/>
              </a:rPr>
              <a:t>PRIORITIZATION  &amp;  PORTFOLIO</a:t>
            </a:r>
          </a:p>
        </p:txBody>
      </p:sp>
      <p:sp>
        <p:nvSpPr>
          <p:cNvPr id="57" name="TextBox 56"/>
          <p:cNvSpPr txBox="1"/>
          <p:nvPr/>
        </p:nvSpPr>
        <p:spPr>
          <a:xfrm>
            <a:off x="3474720" y="331012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FINDING</a:t>
            </a:r>
          </a:p>
        </p:txBody>
      </p:sp>
      <p:sp>
        <p:nvSpPr>
          <p:cNvPr id="58" name="TextBox 57"/>
          <p:cNvSpPr txBox="1"/>
          <p:nvPr/>
        </p:nvSpPr>
        <p:spPr>
          <a:xfrm>
            <a:off x="3474720" y="3511296"/>
            <a:ext cx="2377440" cy="1234440"/>
          </a:xfrm>
          <a:prstGeom prst="rect">
            <a:avLst/>
          </a:prstGeom>
          <a:noFill/>
        </p:spPr>
        <p:txBody>
          <a:bodyPr wrap="square" lIns="54864" rIns="54864" tIns="27432" bIns="27432" anchor="t">
            <a:spAutoFit/>
          </a:bodyPr>
          <a:lstStyle/>
          <a:p>
            <a:pPr algn="l"/>
            <a:r>
              <a:rPr sz="900" b="0">
                <a:solidFill>
                  <a:srgbClr val="4A4A4A"/>
                </a:solidFill>
                <a:latin typeface="Calibri"/>
              </a:rPr>
              <a:t>Each team applies a different logic — PDD, impact × users, criticality, "intrinsic common sense." Only Smart Metering uses a portfolio tool (PPM Now).</a:t>
            </a:r>
          </a:p>
        </p:txBody>
      </p:sp>
      <p:sp>
        <p:nvSpPr>
          <p:cNvPr id="59" name="TextBox 58"/>
          <p:cNvSpPr txBox="1"/>
          <p:nvPr/>
        </p:nvSpPr>
        <p:spPr>
          <a:xfrm>
            <a:off x="3474720" y="481888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SO WHAT</a:t>
            </a:r>
          </a:p>
        </p:txBody>
      </p:sp>
      <p:sp>
        <p:nvSpPr>
          <p:cNvPr id="60" name="TextBox 59"/>
          <p:cNvSpPr txBox="1"/>
          <p:nvPr/>
        </p:nvSpPr>
        <p:spPr>
          <a:xfrm>
            <a:off x="3474720" y="5029200"/>
            <a:ext cx="2377440" cy="640080"/>
          </a:xfrm>
          <a:prstGeom prst="rect">
            <a:avLst/>
          </a:prstGeom>
          <a:noFill/>
        </p:spPr>
        <p:txBody>
          <a:bodyPr wrap="square" lIns="54864" rIns="54864" tIns="27432" bIns="27432" anchor="t">
            <a:spAutoFit/>
          </a:bodyPr>
          <a:lstStyle/>
          <a:p>
            <a:pPr algn="l"/>
            <a:r>
              <a:rPr sz="900" b="0">
                <a:solidFill>
                  <a:srgbClr val="1F3A68"/>
                </a:solidFill>
                <a:latin typeface="Calibri"/>
              </a:rPr>
              <a:t>Capacity cannot be reconciled across the branch. Strategic work loses to incident volume.</a:t>
            </a:r>
          </a:p>
        </p:txBody>
      </p:sp>
      <p:sp>
        <p:nvSpPr>
          <p:cNvPr id="61" name="Rectangle 60"/>
          <p:cNvSpPr/>
          <p:nvPr/>
        </p:nvSpPr>
        <p:spPr>
          <a:xfrm>
            <a:off x="612648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126480" y="2487168"/>
            <a:ext cx="27432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09360" y="2651760"/>
            <a:ext cx="640080" cy="365760"/>
          </a:xfrm>
          <a:prstGeom prst="rect">
            <a:avLst/>
          </a:prstGeom>
          <a:noFill/>
        </p:spPr>
        <p:txBody>
          <a:bodyPr wrap="square" lIns="54864" rIns="54864" tIns="27432" bIns="27432" anchor="t">
            <a:spAutoFit/>
          </a:bodyPr>
          <a:lstStyle/>
          <a:p>
            <a:pPr algn="l"/>
            <a:r>
              <a:rPr sz="2200" b="1">
                <a:solidFill>
                  <a:srgbClr val="5EA04D"/>
                </a:solidFill>
                <a:latin typeface="Calibri"/>
              </a:rPr>
              <a:t>03</a:t>
            </a:r>
          </a:p>
        </p:txBody>
      </p:sp>
      <p:sp>
        <p:nvSpPr>
          <p:cNvPr id="64" name="TextBox 63"/>
          <p:cNvSpPr txBox="1"/>
          <p:nvPr/>
        </p:nvSpPr>
        <p:spPr>
          <a:xfrm>
            <a:off x="6949440" y="2734056"/>
            <a:ext cx="1828800" cy="292608"/>
          </a:xfrm>
          <a:prstGeom prst="rect">
            <a:avLst/>
          </a:prstGeom>
          <a:noFill/>
        </p:spPr>
        <p:txBody>
          <a:bodyPr wrap="square" lIns="54864" rIns="54864" tIns="27432" bIns="27432" anchor="t">
            <a:spAutoFit/>
          </a:bodyPr>
          <a:lstStyle/>
          <a:p>
            <a:pPr algn="l"/>
            <a:r>
              <a:rPr sz="1000" b="1">
                <a:solidFill>
                  <a:srgbClr val="5EA04D"/>
                </a:solidFill>
                <a:latin typeface="Calibri"/>
              </a:rPr>
              <a:t>ORGANIZATION  &amp;  DELIVERY</a:t>
            </a:r>
          </a:p>
        </p:txBody>
      </p:sp>
      <p:sp>
        <p:nvSpPr>
          <p:cNvPr id="65" name="TextBox 64"/>
          <p:cNvSpPr txBox="1"/>
          <p:nvPr/>
        </p:nvSpPr>
        <p:spPr>
          <a:xfrm>
            <a:off x="6309360" y="331012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FINDING</a:t>
            </a:r>
          </a:p>
        </p:txBody>
      </p:sp>
      <p:sp>
        <p:nvSpPr>
          <p:cNvPr id="66" name="TextBox 65"/>
          <p:cNvSpPr txBox="1"/>
          <p:nvPr/>
        </p:nvSpPr>
        <p:spPr>
          <a:xfrm>
            <a:off x="6309360" y="3511296"/>
            <a:ext cx="2377440" cy="1234440"/>
          </a:xfrm>
          <a:prstGeom prst="rect">
            <a:avLst/>
          </a:prstGeom>
          <a:noFill/>
        </p:spPr>
        <p:txBody>
          <a:bodyPr wrap="square" lIns="54864" rIns="54864" tIns="27432" bIns="27432" anchor="t">
            <a:spAutoFit/>
          </a:bodyPr>
          <a:lstStyle/>
          <a:p>
            <a:pPr algn="l"/>
            <a:r>
              <a:rPr sz="900" b="0">
                <a:solidFill>
                  <a:srgbClr val="4A4A4A"/>
                </a:solidFill>
                <a:latin typeface="Calibri"/>
              </a:rPr>
              <a:t>Two Sr. Manager vacancies in Customer Services (CRM &amp; Contact Center Ops, SAP &amp; CS Architecture). Delivery leans heavily on Accenture + SWF + vendor muscle.</a:t>
            </a:r>
          </a:p>
        </p:txBody>
      </p:sp>
      <p:sp>
        <p:nvSpPr>
          <p:cNvPr id="67" name="TextBox 66"/>
          <p:cNvSpPr txBox="1"/>
          <p:nvPr/>
        </p:nvSpPr>
        <p:spPr>
          <a:xfrm>
            <a:off x="6309360" y="481888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SO WHAT</a:t>
            </a:r>
          </a:p>
        </p:txBody>
      </p:sp>
      <p:sp>
        <p:nvSpPr>
          <p:cNvPr id="68" name="TextBox 67"/>
          <p:cNvSpPr txBox="1"/>
          <p:nvPr/>
        </p:nvSpPr>
        <p:spPr>
          <a:xfrm>
            <a:off x="6309360" y="5029200"/>
            <a:ext cx="2377440" cy="640080"/>
          </a:xfrm>
          <a:prstGeom prst="rect">
            <a:avLst/>
          </a:prstGeom>
          <a:noFill/>
        </p:spPr>
        <p:txBody>
          <a:bodyPr wrap="square" lIns="54864" rIns="54864" tIns="27432" bIns="27432" anchor="t">
            <a:spAutoFit/>
          </a:bodyPr>
          <a:lstStyle/>
          <a:p>
            <a:pPr algn="l"/>
            <a:r>
              <a:rPr sz="900" b="0">
                <a:solidFill>
                  <a:srgbClr val="1F3A68"/>
                </a:solidFill>
                <a:latin typeface="Calibri"/>
              </a:rPr>
              <a:t>Leadership gap + vendor concentration create structural risk for scaling.</a:t>
            </a:r>
          </a:p>
        </p:txBody>
      </p:sp>
      <p:sp>
        <p:nvSpPr>
          <p:cNvPr id="69" name="Rectangle 68"/>
          <p:cNvSpPr/>
          <p:nvPr/>
        </p:nvSpPr>
        <p:spPr>
          <a:xfrm>
            <a:off x="8961120" y="2487168"/>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961120" y="2487168"/>
            <a:ext cx="27432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0" y="2651760"/>
            <a:ext cx="640080" cy="365760"/>
          </a:xfrm>
          <a:prstGeom prst="rect">
            <a:avLst/>
          </a:prstGeom>
          <a:noFill/>
        </p:spPr>
        <p:txBody>
          <a:bodyPr wrap="square" lIns="54864" rIns="54864" tIns="27432" bIns="27432" anchor="t">
            <a:spAutoFit/>
          </a:bodyPr>
          <a:lstStyle/>
          <a:p>
            <a:pPr algn="l"/>
            <a:r>
              <a:rPr sz="2200" b="1">
                <a:solidFill>
                  <a:srgbClr val="5EA04D"/>
                </a:solidFill>
                <a:latin typeface="Calibri"/>
              </a:rPr>
              <a:t>04</a:t>
            </a:r>
          </a:p>
        </p:txBody>
      </p:sp>
      <p:sp>
        <p:nvSpPr>
          <p:cNvPr id="72" name="TextBox 71"/>
          <p:cNvSpPr txBox="1"/>
          <p:nvPr/>
        </p:nvSpPr>
        <p:spPr>
          <a:xfrm>
            <a:off x="9784080" y="2734056"/>
            <a:ext cx="1828800" cy="292608"/>
          </a:xfrm>
          <a:prstGeom prst="rect">
            <a:avLst/>
          </a:prstGeom>
          <a:noFill/>
        </p:spPr>
        <p:txBody>
          <a:bodyPr wrap="square" lIns="54864" rIns="54864" tIns="27432" bIns="27432" anchor="t">
            <a:spAutoFit/>
          </a:bodyPr>
          <a:lstStyle/>
          <a:p>
            <a:pPr algn="l"/>
            <a:r>
              <a:rPr sz="1000" b="1">
                <a:solidFill>
                  <a:srgbClr val="5EA04D"/>
                </a:solidFill>
                <a:latin typeface="Calibri"/>
              </a:rPr>
              <a:t>CAPACITY  &amp;  REPORTING</a:t>
            </a:r>
          </a:p>
        </p:txBody>
      </p:sp>
      <p:sp>
        <p:nvSpPr>
          <p:cNvPr id="73" name="TextBox 72"/>
          <p:cNvSpPr txBox="1"/>
          <p:nvPr/>
        </p:nvSpPr>
        <p:spPr>
          <a:xfrm>
            <a:off x="9144000" y="331012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FINDING</a:t>
            </a:r>
          </a:p>
        </p:txBody>
      </p:sp>
      <p:sp>
        <p:nvSpPr>
          <p:cNvPr id="74" name="TextBox 73"/>
          <p:cNvSpPr txBox="1"/>
          <p:nvPr/>
        </p:nvSpPr>
        <p:spPr>
          <a:xfrm>
            <a:off x="9144000" y="3511296"/>
            <a:ext cx="2377440" cy="1234440"/>
          </a:xfrm>
          <a:prstGeom prst="rect">
            <a:avLst/>
          </a:prstGeom>
          <a:noFill/>
        </p:spPr>
        <p:txBody>
          <a:bodyPr wrap="square" lIns="54864" rIns="54864" tIns="27432" bIns="27432" anchor="t">
            <a:spAutoFit/>
          </a:bodyPr>
          <a:lstStyle/>
          <a:p>
            <a:pPr algn="l"/>
            <a:r>
              <a:rPr sz="900" b="0">
                <a:solidFill>
                  <a:srgbClr val="4A4A4A"/>
                </a:solidFill>
                <a:latin typeface="Calibri"/>
              </a:rPr>
              <a:t>4 of 6 teams lack formal capacity planning. Knowledge concentrated in named individuals in every team. 2 teams self-describe as KPI-less; only Global SAP has a single KPI (incident count).</a:t>
            </a:r>
          </a:p>
        </p:txBody>
      </p:sp>
      <p:sp>
        <p:nvSpPr>
          <p:cNvPr id="75" name="TextBox 74"/>
          <p:cNvSpPr txBox="1"/>
          <p:nvPr/>
        </p:nvSpPr>
        <p:spPr>
          <a:xfrm>
            <a:off x="9144000" y="4818888"/>
            <a:ext cx="2377440" cy="201168"/>
          </a:xfrm>
          <a:prstGeom prst="rect">
            <a:avLst/>
          </a:prstGeom>
          <a:noFill/>
        </p:spPr>
        <p:txBody>
          <a:bodyPr wrap="square" lIns="54864" rIns="54864" tIns="27432" bIns="27432" anchor="t">
            <a:spAutoFit/>
          </a:bodyPr>
          <a:lstStyle/>
          <a:p>
            <a:pPr algn="l"/>
            <a:r>
              <a:rPr sz="800" b="1">
                <a:solidFill>
                  <a:srgbClr val="1F3A68"/>
                </a:solidFill>
                <a:latin typeface="Calibri"/>
              </a:rPr>
              <a:t>SO WHAT</a:t>
            </a:r>
          </a:p>
        </p:txBody>
      </p:sp>
      <p:sp>
        <p:nvSpPr>
          <p:cNvPr id="76" name="TextBox 75"/>
          <p:cNvSpPr txBox="1"/>
          <p:nvPr/>
        </p:nvSpPr>
        <p:spPr>
          <a:xfrm>
            <a:off x="9144000" y="5029200"/>
            <a:ext cx="2377440" cy="640080"/>
          </a:xfrm>
          <a:prstGeom prst="rect">
            <a:avLst/>
          </a:prstGeom>
          <a:noFill/>
        </p:spPr>
        <p:txBody>
          <a:bodyPr wrap="square" lIns="54864" rIns="54864" tIns="27432" bIns="27432" anchor="t">
            <a:spAutoFit/>
          </a:bodyPr>
          <a:lstStyle/>
          <a:p>
            <a:pPr algn="l"/>
            <a:r>
              <a:rPr sz="900" b="0">
                <a:solidFill>
                  <a:srgbClr val="1F3A68"/>
                </a:solidFill>
                <a:latin typeface="Calibri"/>
              </a:rPr>
              <a:t>Can't measure delivery performance or reconcile demand vs capacity. Key-person risk is the single most repeated finding across the canvases.</a:t>
            </a:r>
          </a:p>
        </p:txBody>
      </p:sp>
    </p:spTree>
    <p:extLst>
      <p:ext uri="{BB962C8B-B14F-4D97-AF65-F5344CB8AC3E}">
        <p14:creationId xmlns:p14="http://schemas.microsoft.com/office/powerpoint/2010/main" val="3101332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5EA6-A73D-CE8D-07AC-37EFE8BAC990}"/>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EC5F5CB-11A6-3C2C-4A72-26ADD788D575}"/>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0CE56BC2-4A60-BAC9-07DF-4EEDB1731C0F}"/>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3C8ABFE4-B81B-E1AE-C629-CB120CF732C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D625C194-F892-F14B-1411-62D40E1BEB19}"/>
              </a:ext>
            </a:extLst>
          </p:cNvPr>
          <p:cNvSpPr txBox="1"/>
          <p:nvPr/>
        </p:nvSpPr>
        <p:spPr>
          <a:xfrm>
            <a:off x="1077073" y="1141030"/>
            <a:ext cx="462060" cy="524182"/>
          </a:xfrm>
          <a:prstGeom prst="rect">
            <a:avLst/>
          </a:prstGeom>
        </p:spPr>
        <p:txBody>
          <a:bodyPr wrap="square" lIns="0" tIns="0" rIns="0" bIns="0" rtlCol="0" anchor="t">
            <a:spAutoFit/>
          </a:bodyPr>
          <a:lstStyle/>
          <a:p>
            <a:pPr>
              <a:lnSpc>
                <a:spcPts val="4608"/>
              </a:lnSpc>
            </a:pPr>
            <a:r>
              <a:rPr lang="en-US" sz="2400" b="1" noProof="0">
                <a:solidFill>
                  <a:schemeClr val="bg2">
                    <a:lumMod val="75000"/>
                  </a:schemeClr>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B8509B42-AA04-E0F4-C0A5-F81CA8F7DD6C}"/>
              </a:ext>
            </a:extLst>
          </p:cNvPr>
          <p:cNvSpPr txBox="1"/>
          <p:nvPr/>
        </p:nvSpPr>
        <p:spPr>
          <a:xfrm>
            <a:off x="1063128" y="2827839"/>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35493683-50FF-9B7A-13FD-1F2496AFABB5}"/>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D8400B80-1765-0836-A05A-33E3CBDD8551}"/>
                </a:ext>
              </a:extLst>
            </p:cNvPr>
            <p:cNvSpPr txBox="1"/>
            <p:nvPr/>
          </p:nvSpPr>
          <p:spPr>
            <a:xfrm>
              <a:off x="1816102" y="2594699"/>
              <a:ext cx="9571333" cy="395045"/>
            </a:xfrm>
            <a:prstGeom prst="rect">
              <a:avLst/>
            </a:prstGeom>
          </p:spPr>
          <p:txBody>
            <a:bodyPr wrap="square" lIns="0" tIns="0" rIns="0" bIns="0" rtlCol="0" anchor="t">
              <a:spAutoFit/>
            </a:bodyPr>
            <a:lstStyle>
              <a:defPPr>
                <a:defRPr lang="en-US"/>
              </a:defPPr>
              <a:lvl1pPr>
                <a:lnSpc>
                  <a:spcPts val="3456"/>
                </a:lnSpc>
                <a:defRPr sz="2400">
                  <a:solidFill>
                    <a:srgbClr val="000000"/>
                  </a:solidFill>
                  <a:latin typeface="+mj-lt"/>
                  <a:ea typeface="Gordita"/>
                  <a:cs typeface="Arial" panose="020B0604020202020204" pitchFamily="34" charset="0"/>
                </a:defRPr>
              </a:lvl1pPr>
            </a:lstStyle>
            <a:p>
              <a:r>
                <a:rPr lang="en-US" sz="2000" noProof="0">
                  <a:latin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AC8C9560-AB10-9AC4-ADE3-1622CC3B22ED}"/>
                </a:ext>
              </a:extLst>
            </p:cNvPr>
            <p:cNvSpPr txBox="1"/>
            <p:nvPr/>
          </p:nvSpPr>
          <p:spPr>
            <a:xfrm>
              <a:off x="1816102" y="2983372"/>
              <a:ext cx="7868967" cy="453714"/>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836E2961-6064-9013-C588-98767571D388}"/>
              </a:ext>
            </a:extLst>
          </p:cNvPr>
          <p:cNvSpPr txBox="1"/>
          <p:nvPr/>
        </p:nvSpPr>
        <p:spPr>
          <a:xfrm>
            <a:off x="1063128" y="3699805"/>
            <a:ext cx="525169"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6EA731A8-0C02-4B00-A464-D73BF1FF9392}"/>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45217330-1993-EB6C-11E5-2868986CF80A}"/>
              </a:ext>
            </a:extLst>
          </p:cNvPr>
          <p:cNvSpPr txBox="1"/>
          <p:nvPr/>
        </p:nvSpPr>
        <p:spPr>
          <a:xfrm>
            <a:off x="1063128" y="4600799"/>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143CD251-6E62-E336-CE16-968F87097BE0}"/>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B567013D-64C3-EDD1-52FA-B87E22A1DE1E}"/>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3020F98-8A34-E2BC-3616-BD41F517EF6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Includes explanations for Roles and Responsibilities, Value stream Mapping and Governance Mapping</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EDBDB1B8-247E-496E-1A40-F23612EC99D3}"/>
              </a:ext>
            </a:extLst>
          </p:cNvPr>
          <p:cNvSpPr txBox="1"/>
          <p:nvPr/>
        </p:nvSpPr>
        <p:spPr>
          <a:xfrm>
            <a:off x="1063128" y="5501791"/>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44F9DF3D-B6E8-7E35-6E02-B85066AF90FD}"/>
              </a:ext>
            </a:extLst>
          </p:cNvPr>
          <p:cNvGrpSpPr/>
          <p:nvPr/>
        </p:nvGrpSpPr>
        <p:grpSpPr>
          <a:xfrm>
            <a:off x="1861346" y="1170058"/>
            <a:ext cx="9578128" cy="560103"/>
            <a:chOff x="1809304" y="1852249"/>
            <a:chExt cx="9578128" cy="560103"/>
          </a:xfrm>
        </p:grpSpPr>
        <p:sp>
          <p:nvSpPr>
            <p:cNvPr id="11" name="TextBox 11">
              <a:extLst>
                <a:ext uri="{FF2B5EF4-FFF2-40B4-BE49-F238E27FC236}">
                  <a16:creationId xmlns:a16="http://schemas.microsoft.com/office/drawing/2014/main" id="{4FEFE339-DCFE-666D-BC0B-57A717547387}"/>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cs typeface="Arial" panose="020B0604020202020204" pitchFamily="34" charset="0"/>
                </a:rPr>
                <a:t>Context</a:t>
              </a:r>
              <a:endParaRPr lang="en-US" sz="20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38AB6A9D-B514-2F59-B17B-7E68325479ED}"/>
                </a:ext>
              </a:extLst>
            </p:cNvPr>
            <p:cNvSpPr txBox="1"/>
            <p:nvPr/>
          </p:nvSpPr>
          <p:spPr>
            <a:xfrm>
              <a:off x="1809304" y="2198383"/>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cs typeface="Arial" panose="020B0604020202020204" pitchFamily="34" charset="0"/>
                </a:rPr>
                <a:t>Document summary</a:t>
              </a:r>
              <a:endParaRPr lang="en-US" sz="12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77F9FC68-CB43-7407-CDAA-E58537024030}"/>
              </a:ext>
            </a:extLst>
          </p:cNvPr>
          <p:cNvGrpSpPr/>
          <p:nvPr/>
        </p:nvGrpSpPr>
        <p:grpSpPr>
          <a:xfrm>
            <a:off x="1847401" y="4582202"/>
            <a:ext cx="9571332" cy="608564"/>
            <a:chOff x="1809305" y="5419675"/>
            <a:chExt cx="9571332" cy="608564"/>
          </a:xfrm>
        </p:grpSpPr>
        <p:sp>
          <p:nvSpPr>
            <p:cNvPr id="9" name="TextBox 19">
              <a:extLst>
                <a:ext uri="{FF2B5EF4-FFF2-40B4-BE49-F238E27FC236}">
                  <a16:creationId xmlns:a16="http://schemas.microsoft.com/office/drawing/2014/main" id="{A1A977AD-BE37-D386-D658-FEF4B71CD0EB}"/>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0373CE67-F4F3-EF31-46B5-BD5575BF25B7}"/>
                </a:ext>
              </a:extLst>
            </p:cNvPr>
            <p:cNvSpPr txBox="1"/>
            <p:nvPr/>
          </p:nvSpPr>
          <p:spPr>
            <a:xfrm>
              <a:off x="1809305" y="5814270"/>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D58CBC5E-13D2-5CE7-6AFF-218D87E1758D}"/>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767CF78B-F18F-2C89-27EB-BF76E30A08A3}"/>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978C3386-BDF9-F0FC-3B26-8F46422340D9}"/>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0984B26B-6D06-A25E-BE46-5C32E523D3B2}"/>
              </a:ext>
            </a:extLst>
          </p:cNvPr>
          <p:cNvSpPr txBox="1"/>
          <p:nvPr/>
        </p:nvSpPr>
        <p:spPr>
          <a:xfrm>
            <a:off x="1070275" y="2006772"/>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05286021-CB17-0BB3-38E3-6F70BCED93FA}"/>
              </a:ext>
            </a:extLst>
          </p:cNvPr>
          <p:cNvGrpSpPr/>
          <p:nvPr/>
        </p:nvGrpSpPr>
        <p:grpSpPr>
          <a:xfrm>
            <a:off x="1861346" y="1981111"/>
            <a:ext cx="9571333" cy="602642"/>
            <a:chOff x="1816102" y="2594699"/>
            <a:chExt cx="9571333" cy="602642"/>
          </a:xfrm>
        </p:grpSpPr>
        <p:sp>
          <p:nvSpPr>
            <p:cNvPr id="5" name="TextBox 15">
              <a:extLst>
                <a:ext uri="{FF2B5EF4-FFF2-40B4-BE49-F238E27FC236}">
                  <a16:creationId xmlns:a16="http://schemas.microsoft.com/office/drawing/2014/main" id="{5B6E6980-E67E-DC65-C8D7-D33B5195BFA0}"/>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60FAF3B-67F6-A1A9-B965-8ED070ECAA28}"/>
                </a:ext>
              </a:extLst>
            </p:cNvPr>
            <p:cNvSpPr txBox="1"/>
            <p:nvPr/>
          </p:nvSpPr>
          <p:spPr>
            <a:xfrm>
              <a:off x="1816102" y="2983372"/>
              <a:ext cx="7868967" cy="21396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Why we are here. Executive findings &amp; implications. Methodology (Wave 1 Step 1 sources).</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2176DE8-DFCE-0EC8-C07B-AC0004054FE0}"/>
              </a:ext>
            </a:extLst>
          </p:cNvPr>
          <p:cNvSpPr txBox="1"/>
          <p:nvPr/>
        </p:nvSpPr>
        <p:spPr>
          <a:xfrm>
            <a:off x="1063127" y="277976"/>
            <a:ext cx="3495835" cy="53585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1898688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4284B0-9335-83FB-26DD-1340D4BD5F8B}"/>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6EC9F8D2-A604-92DB-1096-C4A2D2A1C2E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METHODOLOGY</a:t>
            </a:r>
          </a:p>
        </p:txBody>
      </p:sp>
      <p:sp>
        <p:nvSpPr>
          <p:cNvPr id="3" name="Shape 54">
            <a:extLst>
              <a:ext uri="{FF2B5EF4-FFF2-40B4-BE49-F238E27FC236}">
                <a16:creationId xmlns:a16="http://schemas.microsoft.com/office/drawing/2014/main" id="{A1ABF156-89DE-44B0-5B75-88EA01B73E7B}"/>
              </a:ext>
            </a:extLst>
          </p:cNvPr>
          <p:cNvSpPr/>
          <p:nvPr/>
        </p:nvSpPr>
        <p:spPr>
          <a:xfrm>
            <a:off x="333153"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Shape 55">
            <a:extLst>
              <a:ext uri="{FF2B5EF4-FFF2-40B4-BE49-F238E27FC236}">
                <a16:creationId xmlns:a16="http://schemas.microsoft.com/office/drawing/2014/main" id="{204D85BD-E258-5D7D-F105-EFEA122BD306}"/>
              </a:ext>
            </a:extLst>
          </p:cNvPr>
          <p:cNvSpPr/>
          <p:nvPr/>
        </p:nvSpPr>
        <p:spPr>
          <a:xfrm>
            <a:off x="333158" y="1583919"/>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Shape 56">
            <a:extLst>
              <a:ext uri="{FF2B5EF4-FFF2-40B4-BE49-F238E27FC236}">
                <a16:creationId xmlns:a16="http://schemas.microsoft.com/office/drawing/2014/main" id="{5E7B06D6-0A5B-CA3C-25A9-DA7208BFD7A3}"/>
              </a:ext>
            </a:extLst>
          </p:cNvPr>
          <p:cNvSpPr/>
          <p:nvPr/>
        </p:nvSpPr>
        <p:spPr>
          <a:xfrm>
            <a:off x="575006" y="1783084"/>
            <a:ext cx="404702" cy="401271"/>
          </a:xfrm>
          <a:prstGeom prst="ellipse">
            <a:avLst/>
          </a:prstGeom>
          <a:solidFill>
            <a:srgbClr val="4299E1"/>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 57">
            <a:extLst>
              <a:ext uri="{FF2B5EF4-FFF2-40B4-BE49-F238E27FC236}">
                <a16:creationId xmlns:a16="http://schemas.microsoft.com/office/drawing/2014/main" id="{9DDCE41A-068A-7CB6-9AE3-FE3F1959FCE6}"/>
              </a:ext>
            </a:extLst>
          </p:cNvPr>
          <p:cNvSpPr txBox="1"/>
          <p:nvPr/>
        </p:nvSpPr>
        <p:spPr>
          <a:xfrm>
            <a:off x="1151307" y="1867626"/>
            <a:ext cx="1377358" cy="3246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D3748"/>
                </a:solidFill>
                <a:effectLst/>
                <a:uLnTx/>
                <a:uFillTx/>
                <a:latin typeface="Arial" panose="020B0604020202020204" pitchFamily="34" charset="0"/>
                <a:ea typeface="Montserrat" pitchFamily="34" charset="-122"/>
                <a:cs typeface="Arial" panose="020B0604020202020204" pitchFamily="34" charset="0"/>
              </a:rPr>
              <a:t>Step 1</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D3748"/>
                </a:solidFill>
                <a:effectLst/>
                <a:uLnTx/>
                <a:uFillTx/>
                <a:latin typeface="Arial" panose="020B0604020202020204" pitchFamily="34" charset="0"/>
                <a:ea typeface="Montserrat" pitchFamily="34" charset="-122"/>
                <a:cs typeface="Arial" panose="020B0604020202020204" pitchFamily="34" charset="0"/>
              </a:rPr>
              <a:t>Enablement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 59">
            <a:extLst>
              <a:ext uri="{FF2B5EF4-FFF2-40B4-BE49-F238E27FC236}">
                <a16:creationId xmlns:a16="http://schemas.microsoft.com/office/drawing/2014/main" id="{44B91682-0EE4-77F5-B3DB-EF75E090D32B}"/>
              </a:ext>
            </a:extLst>
          </p:cNvPr>
          <p:cNvSpPr txBox="1"/>
          <p:nvPr/>
        </p:nvSpPr>
        <p:spPr>
          <a:xfrm>
            <a:off x="548026"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rgbClr val="4299E1"/>
                </a:solidFill>
                <a:latin typeface="Arial" panose="020B0604020202020204" pitchFamily="34" charset="0"/>
                <a:ea typeface="Open Sans" pitchFamily="34" charset="-122"/>
                <a:cs typeface="Arial" panose="020B0604020202020204" pitchFamily="34" charset="0"/>
              </a:rPr>
              <a:t>Where are we starting from?</a:t>
            </a:r>
            <a:endParaRPr lang="en-US" sz="1100" b="1" noProof="0">
              <a:solidFill>
                <a:srgbClr val="4299E1"/>
              </a:solidFill>
              <a:latin typeface="Arial" panose="020B0604020202020204" pitchFamily="34" charset="0"/>
              <a:cs typeface="Arial" panose="020B0604020202020204" pitchFamily="34" charset="0"/>
            </a:endParaRPr>
          </a:p>
        </p:txBody>
      </p:sp>
      <p:sp>
        <p:nvSpPr>
          <p:cNvPr id="8" name="Shape 54">
            <a:extLst>
              <a:ext uri="{FF2B5EF4-FFF2-40B4-BE49-F238E27FC236}">
                <a16:creationId xmlns:a16="http://schemas.microsoft.com/office/drawing/2014/main" id="{6E58B2A8-0612-CE95-BEEC-8F34CD098932}"/>
              </a:ext>
            </a:extLst>
          </p:cNvPr>
          <p:cNvSpPr/>
          <p:nvPr/>
        </p:nvSpPr>
        <p:spPr>
          <a:xfrm>
            <a:off x="266770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Shape 55">
            <a:extLst>
              <a:ext uri="{FF2B5EF4-FFF2-40B4-BE49-F238E27FC236}">
                <a16:creationId xmlns:a16="http://schemas.microsoft.com/office/drawing/2014/main" id="{7DABEFE6-A472-596F-923D-183CEF4FAA7B}"/>
              </a:ext>
            </a:extLst>
          </p:cNvPr>
          <p:cNvSpPr/>
          <p:nvPr/>
        </p:nvSpPr>
        <p:spPr>
          <a:xfrm>
            <a:off x="2667710" y="1583919"/>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Shape 56">
            <a:extLst>
              <a:ext uri="{FF2B5EF4-FFF2-40B4-BE49-F238E27FC236}">
                <a16:creationId xmlns:a16="http://schemas.microsoft.com/office/drawing/2014/main" id="{30F7D54F-60CD-B20C-9E9C-482CD57B9C03}"/>
              </a:ext>
            </a:extLst>
          </p:cNvPr>
          <p:cNvSpPr/>
          <p:nvPr/>
        </p:nvSpPr>
        <p:spPr>
          <a:xfrm>
            <a:off x="2909559" y="1783084"/>
            <a:ext cx="404702" cy="401271"/>
          </a:xfrm>
          <a:prstGeom prst="ellipse">
            <a:avLst/>
          </a:prstGeom>
          <a:solidFill>
            <a:srgbClr val="4299E1"/>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1" name="Text 57">
            <a:extLst>
              <a:ext uri="{FF2B5EF4-FFF2-40B4-BE49-F238E27FC236}">
                <a16:creationId xmlns:a16="http://schemas.microsoft.com/office/drawing/2014/main" id="{78A36D37-4688-F837-FDA2-4023947B3729}"/>
              </a:ext>
            </a:extLst>
          </p:cNvPr>
          <p:cNvSpPr txBox="1"/>
          <p:nvPr/>
        </p:nvSpPr>
        <p:spPr>
          <a:xfrm>
            <a:off x="3485860" y="1867626"/>
            <a:ext cx="1377358" cy="324612"/>
          </a:xfrm>
          <a:prstGeom prst="rect">
            <a:avLst/>
          </a:prstGeom>
          <a:noFill/>
          <a:ln/>
        </p:spPr>
        <p:txBody>
          <a:bodyPr wrap="square" lIns="0" tIns="0" rIns="0" bIns="0" rtlCol="0" anchor="t"/>
          <a:lstStyle/>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Step 2</a:t>
            </a:r>
            <a:endParaRPr lang="en-US" sz="1000" noProof="0">
              <a:solidFill>
                <a:prstClr val="black"/>
              </a:solidFill>
              <a:latin typeface="Arial" panose="020B0604020202020204" pitchFamily="34" charset="0"/>
              <a:cs typeface="Arial" panose="020B0604020202020204" pitchFamily="34" charset="0"/>
            </a:endParaRPr>
          </a:p>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Define Lifecycle</a:t>
            </a:r>
            <a:endParaRPr lang="en-US" sz="1000" noProof="0">
              <a:solidFill>
                <a:prstClr val="black"/>
              </a:solidFill>
              <a:latin typeface="Arial" panose="020B0604020202020204" pitchFamily="34" charset="0"/>
              <a:cs typeface="Arial" panose="020B0604020202020204" pitchFamily="34" charset="0"/>
            </a:endParaRPr>
          </a:p>
        </p:txBody>
      </p:sp>
      <p:sp>
        <p:nvSpPr>
          <p:cNvPr id="12" name="Text 59">
            <a:extLst>
              <a:ext uri="{FF2B5EF4-FFF2-40B4-BE49-F238E27FC236}">
                <a16:creationId xmlns:a16="http://schemas.microsoft.com/office/drawing/2014/main" id="{738FF9EA-35D1-05D4-9674-68E2610D3E9D}"/>
              </a:ext>
            </a:extLst>
          </p:cNvPr>
          <p:cNvSpPr txBox="1"/>
          <p:nvPr/>
        </p:nvSpPr>
        <p:spPr>
          <a:xfrm>
            <a:off x="2882579"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rgbClr val="4299E1"/>
                </a:solidFill>
                <a:latin typeface="Arial" panose="020B0604020202020204" pitchFamily="34" charset="0"/>
                <a:ea typeface="Open Sans" pitchFamily="34" charset="-122"/>
                <a:cs typeface="Arial" panose="020B0604020202020204" pitchFamily="34" charset="0"/>
              </a:rPr>
              <a:t>How should we work?</a:t>
            </a:r>
            <a:endParaRPr lang="en-US" sz="1100" b="1" noProof="0">
              <a:solidFill>
                <a:srgbClr val="4299E1"/>
              </a:solidFill>
              <a:latin typeface="Arial" panose="020B0604020202020204" pitchFamily="34" charset="0"/>
              <a:cs typeface="Arial" panose="020B0604020202020204" pitchFamily="34" charset="0"/>
            </a:endParaRPr>
          </a:p>
        </p:txBody>
      </p:sp>
      <p:sp>
        <p:nvSpPr>
          <p:cNvPr id="13" name="Shape 54">
            <a:extLst>
              <a:ext uri="{FF2B5EF4-FFF2-40B4-BE49-F238E27FC236}">
                <a16:creationId xmlns:a16="http://schemas.microsoft.com/office/drawing/2014/main" id="{846BD75B-BDBC-DEFE-EE75-292450ADC853}"/>
              </a:ext>
            </a:extLst>
          </p:cNvPr>
          <p:cNvSpPr/>
          <p:nvPr/>
        </p:nvSpPr>
        <p:spPr>
          <a:xfrm>
            <a:off x="5002259"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Shape 55">
            <a:extLst>
              <a:ext uri="{FF2B5EF4-FFF2-40B4-BE49-F238E27FC236}">
                <a16:creationId xmlns:a16="http://schemas.microsoft.com/office/drawing/2014/main" id="{8FBC4532-B648-B65F-DBAE-88A1B466B7CC}"/>
              </a:ext>
            </a:extLst>
          </p:cNvPr>
          <p:cNvSpPr/>
          <p:nvPr/>
        </p:nvSpPr>
        <p:spPr>
          <a:xfrm>
            <a:off x="5002264" y="1583919"/>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Shape 56">
            <a:extLst>
              <a:ext uri="{FF2B5EF4-FFF2-40B4-BE49-F238E27FC236}">
                <a16:creationId xmlns:a16="http://schemas.microsoft.com/office/drawing/2014/main" id="{A5830849-3D5B-F4A4-E6C6-04944EB831CC}"/>
              </a:ext>
            </a:extLst>
          </p:cNvPr>
          <p:cNvSpPr/>
          <p:nvPr/>
        </p:nvSpPr>
        <p:spPr>
          <a:xfrm>
            <a:off x="5244112" y="1783084"/>
            <a:ext cx="404702" cy="401271"/>
          </a:xfrm>
          <a:prstGeom prst="ellipse">
            <a:avLst/>
          </a:prstGeom>
          <a:solidFill>
            <a:srgbClr val="4299E1"/>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6" name="Text 57">
            <a:extLst>
              <a:ext uri="{FF2B5EF4-FFF2-40B4-BE49-F238E27FC236}">
                <a16:creationId xmlns:a16="http://schemas.microsoft.com/office/drawing/2014/main" id="{5E1A9484-5F2D-B535-F17B-600CCB127413}"/>
              </a:ext>
            </a:extLst>
          </p:cNvPr>
          <p:cNvSpPr txBox="1"/>
          <p:nvPr/>
        </p:nvSpPr>
        <p:spPr>
          <a:xfrm>
            <a:off x="5751544" y="1775028"/>
            <a:ext cx="1515094" cy="324612"/>
          </a:xfrm>
          <a:prstGeom prst="rect">
            <a:avLst/>
          </a:prstGeom>
          <a:noFill/>
          <a:ln/>
        </p:spPr>
        <p:txBody>
          <a:bodyPr wrap="square" lIns="0" tIns="0" rIns="0" bIns="0" rtlCol="0" anchor="t"/>
          <a:lstStyle/>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Step 3</a:t>
            </a:r>
            <a:endParaRPr lang="en-US" sz="1000" noProof="0">
              <a:solidFill>
                <a:prstClr val="black"/>
              </a:solidFill>
              <a:latin typeface="Arial" panose="020B0604020202020204" pitchFamily="34" charset="0"/>
              <a:cs typeface="Arial" panose="020B0604020202020204" pitchFamily="34" charset="0"/>
            </a:endParaRPr>
          </a:p>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Design Tool Ecosystem</a:t>
            </a:r>
            <a:endParaRPr lang="en-US" sz="1000" noProof="0">
              <a:solidFill>
                <a:prstClr val="black"/>
              </a:solidFill>
              <a:latin typeface="Arial" panose="020B0604020202020204" pitchFamily="34" charset="0"/>
              <a:cs typeface="Arial" panose="020B0604020202020204" pitchFamily="34" charset="0"/>
            </a:endParaRPr>
          </a:p>
        </p:txBody>
      </p:sp>
      <p:sp>
        <p:nvSpPr>
          <p:cNvPr id="17" name="Text 59">
            <a:extLst>
              <a:ext uri="{FF2B5EF4-FFF2-40B4-BE49-F238E27FC236}">
                <a16:creationId xmlns:a16="http://schemas.microsoft.com/office/drawing/2014/main" id="{C41D4D37-A4E8-8914-F2B9-64BBE5990767}"/>
              </a:ext>
            </a:extLst>
          </p:cNvPr>
          <p:cNvSpPr txBox="1"/>
          <p:nvPr/>
        </p:nvSpPr>
        <p:spPr>
          <a:xfrm>
            <a:off x="5217133"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rgbClr val="4299E1"/>
                </a:solidFill>
                <a:latin typeface="Arial" panose="020B0604020202020204" pitchFamily="34" charset="0"/>
                <a:ea typeface="Open Sans" pitchFamily="34" charset="-122"/>
                <a:cs typeface="Arial" panose="020B0604020202020204" pitchFamily="34" charset="0"/>
              </a:rPr>
              <a:t>What supports the process?</a:t>
            </a:r>
            <a:endParaRPr lang="en-US" sz="1100" b="1" noProof="0">
              <a:solidFill>
                <a:srgbClr val="4299E1"/>
              </a:solidFill>
              <a:latin typeface="Arial" panose="020B0604020202020204" pitchFamily="34" charset="0"/>
              <a:cs typeface="Arial" panose="020B0604020202020204" pitchFamily="34" charset="0"/>
            </a:endParaRPr>
          </a:p>
        </p:txBody>
      </p:sp>
      <p:sp>
        <p:nvSpPr>
          <p:cNvPr id="18" name="Shape 54">
            <a:extLst>
              <a:ext uri="{FF2B5EF4-FFF2-40B4-BE49-F238E27FC236}">
                <a16:creationId xmlns:a16="http://schemas.microsoft.com/office/drawing/2014/main" id="{3FA10F24-4915-2813-9A0B-8C81677347DF}"/>
              </a:ext>
            </a:extLst>
          </p:cNvPr>
          <p:cNvSpPr/>
          <p:nvPr/>
        </p:nvSpPr>
        <p:spPr>
          <a:xfrm>
            <a:off x="7336812"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Shape 55">
            <a:extLst>
              <a:ext uri="{FF2B5EF4-FFF2-40B4-BE49-F238E27FC236}">
                <a16:creationId xmlns:a16="http://schemas.microsoft.com/office/drawing/2014/main" id="{7E4EBAB4-D88B-A0AD-6E3E-DA77AA8E76EE}"/>
              </a:ext>
            </a:extLst>
          </p:cNvPr>
          <p:cNvSpPr/>
          <p:nvPr/>
        </p:nvSpPr>
        <p:spPr>
          <a:xfrm>
            <a:off x="7336817" y="1583919"/>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Shape 56">
            <a:extLst>
              <a:ext uri="{FF2B5EF4-FFF2-40B4-BE49-F238E27FC236}">
                <a16:creationId xmlns:a16="http://schemas.microsoft.com/office/drawing/2014/main" id="{AF817F62-9F0D-C233-A1D1-F66E72AD07BE}"/>
              </a:ext>
            </a:extLst>
          </p:cNvPr>
          <p:cNvSpPr/>
          <p:nvPr/>
        </p:nvSpPr>
        <p:spPr>
          <a:xfrm>
            <a:off x="7578665" y="1783084"/>
            <a:ext cx="404702" cy="401271"/>
          </a:xfrm>
          <a:prstGeom prst="ellipse">
            <a:avLst/>
          </a:prstGeom>
          <a:solidFill>
            <a:srgbClr val="4299E1"/>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Text 57">
            <a:extLst>
              <a:ext uri="{FF2B5EF4-FFF2-40B4-BE49-F238E27FC236}">
                <a16:creationId xmlns:a16="http://schemas.microsoft.com/office/drawing/2014/main" id="{8C41045D-5EA5-623D-ABDD-08833E2360F4}"/>
              </a:ext>
            </a:extLst>
          </p:cNvPr>
          <p:cNvSpPr txBox="1"/>
          <p:nvPr/>
        </p:nvSpPr>
        <p:spPr>
          <a:xfrm>
            <a:off x="8154966" y="1775028"/>
            <a:ext cx="1377358" cy="324612"/>
          </a:xfrm>
          <a:prstGeom prst="rect">
            <a:avLst/>
          </a:prstGeom>
          <a:noFill/>
          <a:ln/>
        </p:spPr>
        <p:txBody>
          <a:bodyPr wrap="square" lIns="0" tIns="0" rIns="0" bIns="0" rtlCol="0" anchor="t"/>
          <a:lstStyle/>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Step 4</a:t>
            </a:r>
            <a:endParaRPr lang="en-US" sz="1000" noProof="0">
              <a:solidFill>
                <a:prstClr val="black"/>
              </a:solidFill>
              <a:latin typeface="Arial" panose="020B0604020202020204" pitchFamily="34" charset="0"/>
              <a:cs typeface="Arial" panose="020B0604020202020204" pitchFamily="34" charset="0"/>
            </a:endParaRPr>
          </a:p>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Pilot Execution (BRS)</a:t>
            </a:r>
            <a:endParaRPr lang="en-US" sz="1000" noProof="0">
              <a:solidFill>
                <a:prstClr val="black"/>
              </a:solidFill>
              <a:latin typeface="Arial" panose="020B0604020202020204" pitchFamily="34" charset="0"/>
              <a:cs typeface="Arial" panose="020B0604020202020204" pitchFamily="34" charset="0"/>
            </a:endParaRPr>
          </a:p>
        </p:txBody>
      </p:sp>
      <p:sp>
        <p:nvSpPr>
          <p:cNvPr id="22" name="Text 59">
            <a:extLst>
              <a:ext uri="{FF2B5EF4-FFF2-40B4-BE49-F238E27FC236}">
                <a16:creationId xmlns:a16="http://schemas.microsoft.com/office/drawing/2014/main" id="{E5AB5A6E-C871-82EC-617D-C34133CADFF3}"/>
              </a:ext>
            </a:extLst>
          </p:cNvPr>
          <p:cNvSpPr txBox="1"/>
          <p:nvPr/>
        </p:nvSpPr>
        <p:spPr>
          <a:xfrm>
            <a:off x="7551685"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rgbClr val="4299E1"/>
                </a:solidFill>
                <a:latin typeface="Arial" panose="020B0604020202020204" pitchFamily="34" charset="0"/>
                <a:ea typeface="Open Sans" pitchFamily="34" charset="-122"/>
                <a:cs typeface="Arial" panose="020B0604020202020204" pitchFamily="34" charset="0"/>
              </a:rPr>
              <a:t>Does it work in reality?</a:t>
            </a:r>
            <a:endParaRPr lang="en-US" sz="1100" b="1" noProof="0">
              <a:solidFill>
                <a:srgbClr val="4299E1"/>
              </a:solidFill>
              <a:latin typeface="Arial" panose="020B0604020202020204" pitchFamily="34" charset="0"/>
              <a:cs typeface="Arial" panose="020B0604020202020204" pitchFamily="34" charset="0"/>
            </a:endParaRPr>
          </a:p>
        </p:txBody>
      </p:sp>
      <p:sp>
        <p:nvSpPr>
          <p:cNvPr id="23" name="Shape 54">
            <a:extLst>
              <a:ext uri="{FF2B5EF4-FFF2-40B4-BE49-F238E27FC236}">
                <a16:creationId xmlns:a16="http://schemas.microsoft.com/office/drawing/2014/main" id="{B9C89038-C79B-ACEF-A820-641B604DE893}"/>
              </a:ext>
            </a:extLst>
          </p:cNvPr>
          <p:cNvSpPr/>
          <p:nvPr/>
        </p:nvSpPr>
        <p:spPr>
          <a:xfrm>
            <a:off x="967136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Shape 55">
            <a:extLst>
              <a:ext uri="{FF2B5EF4-FFF2-40B4-BE49-F238E27FC236}">
                <a16:creationId xmlns:a16="http://schemas.microsoft.com/office/drawing/2014/main" id="{2059C02F-6D03-090D-C62C-1E5204C39013}"/>
              </a:ext>
            </a:extLst>
          </p:cNvPr>
          <p:cNvSpPr/>
          <p:nvPr/>
        </p:nvSpPr>
        <p:spPr>
          <a:xfrm>
            <a:off x="9671371" y="1583919"/>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Shape 56">
            <a:extLst>
              <a:ext uri="{FF2B5EF4-FFF2-40B4-BE49-F238E27FC236}">
                <a16:creationId xmlns:a16="http://schemas.microsoft.com/office/drawing/2014/main" id="{27FA7EB5-3D23-CAD3-C2F6-3BDFF9994E9B}"/>
              </a:ext>
            </a:extLst>
          </p:cNvPr>
          <p:cNvSpPr/>
          <p:nvPr/>
        </p:nvSpPr>
        <p:spPr>
          <a:xfrm>
            <a:off x="9913219" y="1783084"/>
            <a:ext cx="404702" cy="401271"/>
          </a:xfrm>
          <a:prstGeom prst="ellipse">
            <a:avLst/>
          </a:prstGeom>
          <a:solidFill>
            <a:srgbClr val="4299E1"/>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 name="Text 57">
            <a:extLst>
              <a:ext uri="{FF2B5EF4-FFF2-40B4-BE49-F238E27FC236}">
                <a16:creationId xmlns:a16="http://schemas.microsoft.com/office/drawing/2014/main" id="{0FA59F3C-7FDF-FABA-DF4D-6B9D28D513A0}"/>
              </a:ext>
            </a:extLst>
          </p:cNvPr>
          <p:cNvSpPr txBox="1"/>
          <p:nvPr/>
        </p:nvSpPr>
        <p:spPr>
          <a:xfrm>
            <a:off x="10489520" y="1867626"/>
            <a:ext cx="1377358" cy="324612"/>
          </a:xfrm>
          <a:prstGeom prst="rect">
            <a:avLst/>
          </a:prstGeom>
          <a:noFill/>
          <a:ln/>
        </p:spPr>
        <p:txBody>
          <a:bodyPr wrap="square" lIns="0" tIns="0" rIns="0" bIns="0" rtlCol="0" anchor="t"/>
          <a:lstStyle/>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Step 5</a:t>
            </a:r>
            <a:endParaRPr lang="en-US" sz="1000" noProof="0">
              <a:solidFill>
                <a:prstClr val="black"/>
              </a:solidFill>
              <a:latin typeface="Arial" panose="020B0604020202020204" pitchFamily="34" charset="0"/>
              <a:cs typeface="Arial" panose="020B0604020202020204" pitchFamily="34" charset="0"/>
            </a:endParaRPr>
          </a:p>
          <a:p>
            <a:pPr lvl="0">
              <a:defRPr/>
            </a:pPr>
            <a:r>
              <a:rPr lang="en-US" sz="1000" b="1" noProof="0">
                <a:solidFill>
                  <a:srgbClr val="2D3748"/>
                </a:solidFill>
                <a:latin typeface="Arial" panose="020B0604020202020204" pitchFamily="34" charset="0"/>
                <a:ea typeface="Montserrat" pitchFamily="34" charset="-122"/>
                <a:cs typeface="Arial" panose="020B0604020202020204" pitchFamily="34" charset="0"/>
              </a:rPr>
              <a:t>Learn &amp; Adjust</a:t>
            </a:r>
            <a:endParaRPr lang="en-US" sz="1000" noProof="0">
              <a:solidFill>
                <a:prstClr val="black"/>
              </a:solidFill>
              <a:latin typeface="Arial" panose="020B0604020202020204" pitchFamily="34" charset="0"/>
              <a:cs typeface="Arial" panose="020B0604020202020204" pitchFamily="34" charset="0"/>
            </a:endParaRPr>
          </a:p>
        </p:txBody>
      </p:sp>
      <p:sp>
        <p:nvSpPr>
          <p:cNvPr id="27" name="Text 59">
            <a:extLst>
              <a:ext uri="{FF2B5EF4-FFF2-40B4-BE49-F238E27FC236}">
                <a16:creationId xmlns:a16="http://schemas.microsoft.com/office/drawing/2014/main" id="{89F4148D-D51C-0673-80B0-D70905326D95}"/>
              </a:ext>
            </a:extLst>
          </p:cNvPr>
          <p:cNvSpPr txBox="1"/>
          <p:nvPr/>
        </p:nvSpPr>
        <p:spPr>
          <a:xfrm>
            <a:off x="9886239" y="2382480"/>
            <a:ext cx="1851171"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defRPr/>
            </a:pPr>
            <a:r>
              <a:rPr lang="en-US" sz="1100" b="1" i="1" noProof="0">
                <a:solidFill>
                  <a:srgbClr val="4299E1"/>
                </a:solidFill>
                <a:latin typeface="Arial" panose="020B0604020202020204" pitchFamily="34" charset="0"/>
                <a:ea typeface="Open Sans" pitchFamily="34" charset="-122"/>
                <a:cs typeface="Arial" panose="020B0604020202020204" pitchFamily="34" charset="0"/>
              </a:rPr>
              <a:t>What needs refinement?</a:t>
            </a:r>
            <a:endParaRPr lang="en-US" sz="1100" b="1" noProof="0">
              <a:solidFill>
                <a:srgbClr val="4299E1"/>
              </a:solidFill>
              <a:latin typeface="Arial" panose="020B0604020202020204" pitchFamily="34" charset="0"/>
              <a:cs typeface="Arial" panose="020B0604020202020204" pitchFamily="34" charset="0"/>
            </a:endParaRPr>
          </a:p>
        </p:txBody>
      </p:sp>
      <p:sp>
        <p:nvSpPr>
          <p:cNvPr id="28" name="Shape 38">
            <a:extLst>
              <a:ext uri="{FF2B5EF4-FFF2-40B4-BE49-F238E27FC236}">
                <a16:creationId xmlns:a16="http://schemas.microsoft.com/office/drawing/2014/main" id="{5098331E-ABCE-C5C6-9E23-B6C3E5C33757}"/>
              </a:ext>
            </a:extLst>
          </p:cNvPr>
          <p:cNvSpPr/>
          <p:nvPr/>
        </p:nvSpPr>
        <p:spPr>
          <a:xfrm>
            <a:off x="5113880" y="4782900"/>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Text 39">
            <a:extLst>
              <a:ext uri="{FF2B5EF4-FFF2-40B4-BE49-F238E27FC236}">
                <a16:creationId xmlns:a16="http://schemas.microsoft.com/office/drawing/2014/main" id="{D70484D4-36E2-3BE0-B95A-15D62C1251E3}"/>
              </a:ext>
            </a:extLst>
          </p:cNvPr>
          <p:cNvSpPr txBox="1"/>
          <p:nvPr/>
        </p:nvSpPr>
        <p:spPr>
          <a:xfrm>
            <a:off x="5362429" y="4782900"/>
            <a:ext cx="825705"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0" name="Image 5" descr="preencoded.png">
            <a:extLst>
              <a:ext uri="{FF2B5EF4-FFF2-40B4-BE49-F238E27FC236}">
                <a16:creationId xmlns:a16="http://schemas.microsoft.com/office/drawing/2014/main" id="{57782DA3-792C-9EA4-AD4D-8DABFA343C5C}"/>
              </a:ext>
            </a:extLst>
          </p:cNvPr>
          <p:cNvPicPr>
            <a:picLocks noChangeAspect="1"/>
          </p:cNvPicPr>
          <p:nvPr/>
        </p:nvPicPr>
        <p:blipFill>
          <a:blip r:embed="rId3"/>
          <a:srcRect l="-1923" r="-1923"/>
          <a:stretch/>
        </p:blipFill>
        <p:spPr>
          <a:xfrm>
            <a:off x="5199833" y="4939949"/>
            <a:ext cx="123444" cy="95098"/>
          </a:xfrm>
          <a:prstGeom prst="rect">
            <a:avLst/>
          </a:prstGeom>
        </p:spPr>
      </p:pic>
      <p:sp>
        <p:nvSpPr>
          <p:cNvPr id="31" name="Text 40">
            <a:extLst>
              <a:ext uri="{FF2B5EF4-FFF2-40B4-BE49-F238E27FC236}">
                <a16:creationId xmlns:a16="http://schemas.microsoft.com/office/drawing/2014/main" id="{90157973-77A4-E66E-C517-F9F6FE356FC8}"/>
              </a:ext>
            </a:extLst>
          </p:cNvPr>
          <p:cNvSpPr txBox="1"/>
          <p:nvPr/>
        </p:nvSpPr>
        <p:spPr>
          <a:xfrm>
            <a:off x="513099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Text 41">
            <a:extLst>
              <a:ext uri="{FF2B5EF4-FFF2-40B4-BE49-F238E27FC236}">
                <a16:creationId xmlns:a16="http://schemas.microsoft.com/office/drawing/2014/main" id="{46531BFA-FD9B-8842-E23F-F8380579DB7B}"/>
              </a:ext>
            </a:extLst>
          </p:cNvPr>
          <p:cNvSpPr txBox="1"/>
          <p:nvPr/>
        </p:nvSpPr>
        <p:spPr>
          <a:xfrm>
            <a:off x="513099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Text 42">
            <a:extLst>
              <a:ext uri="{FF2B5EF4-FFF2-40B4-BE49-F238E27FC236}">
                <a16:creationId xmlns:a16="http://schemas.microsoft.com/office/drawing/2014/main" id="{AD5C3181-3325-C084-43B3-35AB31DD07CF}"/>
              </a:ext>
            </a:extLst>
          </p:cNvPr>
          <p:cNvSpPr txBox="1"/>
          <p:nvPr/>
        </p:nvSpPr>
        <p:spPr>
          <a:xfrm>
            <a:off x="513099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Text 11">
            <a:extLst>
              <a:ext uri="{FF2B5EF4-FFF2-40B4-BE49-F238E27FC236}">
                <a16:creationId xmlns:a16="http://schemas.microsoft.com/office/drawing/2014/main" id="{5E297E2A-32A3-7BA2-A97E-EC039C5D780D}"/>
              </a:ext>
            </a:extLst>
          </p:cNvPr>
          <p:cNvSpPr txBox="1"/>
          <p:nvPr/>
        </p:nvSpPr>
        <p:spPr>
          <a:xfrm>
            <a:off x="514371" y="2801981"/>
            <a:ext cx="1799311"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 12">
            <a:extLst>
              <a:ext uri="{FF2B5EF4-FFF2-40B4-BE49-F238E27FC236}">
                <a16:creationId xmlns:a16="http://schemas.microsoft.com/office/drawing/2014/main" id="{87F6EEF3-62FA-11FA-9267-B8C954DFA44C}"/>
              </a:ext>
            </a:extLst>
          </p:cNvPr>
          <p:cNvSpPr txBox="1"/>
          <p:nvPr/>
        </p:nvSpPr>
        <p:spPr>
          <a:xfrm>
            <a:off x="514371"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 13">
            <a:extLst>
              <a:ext uri="{FF2B5EF4-FFF2-40B4-BE49-F238E27FC236}">
                <a16:creationId xmlns:a16="http://schemas.microsoft.com/office/drawing/2014/main" id="{4AC81956-4A33-99E0-9A60-86F1816E7BB7}"/>
              </a:ext>
            </a:extLst>
          </p:cNvPr>
          <p:cNvSpPr txBox="1"/>
          <p:nvPr/>
        </p:nvSpPr>
        <p:spPr>
          <a:xfrm>
            <a:off x="514371"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Shape 14">
            <a:extLst>
              <a:ext uri="{FF2B5EF4-FFF2-40B4-BE49-F238E27FC236}">
                <a16:creationId xmlns:a16="http://schemas.microsoft.com/office/drawing/2014/main" id="{1F120FE9-BD1B-F0AD-03A8-A61D2B5FA577}"/>
              </a:ext>
            </a:extLst>
          </p:cNvPr>
          <p:cNvSpPr/>
          <p:nvPr/>
        </p:nvSpPr>
        <p:spPr>
          <a:xfrm>
            <a:off x="423620"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8220AC05-26A3-2249-0FA2-4BE4F9BAA6B1}"/>
              </a:ext>
            </a:extLst>
          </p:cNvPr>
          <p:cNvSpPr txBox="1"/>
          <p:nvPr/>
        </p:nvSpPr>
        <p:spPr>
          <a:xfrm>
            <a:off x="616765"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9" name="Image 1" descr="preencoded.png">
            <a:extLst>
              <a:ext uri="{FF2B5EF4-FFF2-40B4-BE49-F238E27FC236}">
                <a16:creationId xmlns:a16="http://schemas.microsoft.com/office/drawing/2014/main" id="{5A362D1F-31CC-D77E-2403-A77E790F75E0}"/>
              </a:ext>
            </a:extLst>
          </p:cNvPr>
          <p:cNvPicPr>
            <a:picLocks noChangeAspect="1"/>
          </p:cNvPicPr>
          <p:nvPr/>
        </p:nvPicPr>
        <p:blipFill>
          <a:blip r:embed="rId4"/>
          <a:srcRect l="-3205" r="-3205"/>
          <a:stretch/>
        </p:blipFill>
        <p:spPr>
          <a:xfrm>
            <a:off x="509574" y="4888951"/>
            <a:ext cx="75895" cy="95098"/>
          </a:xfrm>
          <a:prstGeom prst="rect">
            <a:avLst/>
          </a:prstGeom>
        </p:spPr>
      </p:pic>
      <p:sp>
        <p:nvSpPr>
          <p:cNvPr id="40" name="Shape 14">
            <a:extLst>
              <a:ext uri="{FF2B5EF4-FFF2-40B4-BE49-F238E27FC236}">
                <a16:creationId xmlns:a16="http://schemas.microsoft.com/office/drawing/2014/main" id="{6B3BA125-4B20-FCF0-853D-75A3F44787AC}"/>
              </a:ext>
            </a:extLst>
          </p:cNvPr>
          <p:cNvSpPr/>
          <p:nvPr/>
        </p:nvSpPr>
        <p:spPr>
          <a:xfrm>
            <a:off x="9752816"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Text 15">
            <a:extLst>
              <a:ext uri="{FF2B5EF4-FFF2-40B4-BE49-F238E27FC236}">
                <a16:creationId xmlns:a16="http://schemas.microsoft.com/office/drawing/2014/main" id="{35A1C3F6-49CE-53B0-BF43-7A70F8BEF2B8}"/>
              </a:ext>
            </a:extLst>
          </p:cNvPr>
          <p:cNvSpPr txBox="1"/>
          <p:nvPr/>
        </p:nvSpPr>
        <p:spPr>
          <a:xfrm>
            <a:off x="9945961"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Text 29">
            <a:extLst>
              <a:ext uri="{FF2B5EF4-FFF2-40B4-BE49-F238E27FC236}">
                <a16:creationId xmlns:a16="http://schemas.microsoft.com/office/drawing/2014/main" id="{4E7D7586-9202-1127-BF22-3EBCE8ACAA49}"/>
              </a:ext>
            </a:extLst>
          </p:cNvPr>
          <p:cNvSpPr txBox="1"/>
          <p:nvPr/>
        </p:nvSpPr>
        <p:spPr>
          <a:xfrm>
            <a:off x="276778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Text 30">
            <a:extLst>
              <a:ext uri="{FF2B5EF4-FFF2-40B4-BE49-F238E27FC236}">
                <a16:creationId xmlns:a16="http://schemas.microsoft.com/office/drawing/2014/main" id="{DF0E2541-9548-A454-1449-21E0E4A0FD2C}"/>
              </a:ext>
            </a:extLst>
          </p:cNvPr>
          <p:cNvSpPr txBox="1"/>
          <p:nvPr/>
        </p:nvSpPr>
        <p:spPr>
          <a:xfrm>
            <a:off x="276778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Text 31">
            <a:extLst>
              <a:ext uri="{FF2B5EF4-FFF2-40B4-BE49-F238E27FC236}">
                <a16:creationId xmlns:a16="http://schemas.microsoft.com/office/drawing/2014/main" id="{59FD0D5E-0150-CADF-024C-7D23D5AC5D51}"/>
              </a:ext>
            </a:extLst>
          </p:cNvPr>
          <p:cNvSpPr txBox="1"/>
          <p:nvPr/>
        </p:nvSpPr>
        <p:spPr>
          <a:xfrm>
            <a:off x="276778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 73">
            <a:extLst>
              <a:ext uri="{FF2B5EF4-FFF2-40B4-BE49-F238E27FC236}">
                <a16:creationId xmlns:a16="http://schemas.microsoft.com/office/drawing/2014/main" id="{EB1EB3A3-7550-D3AE-EC9B-720911AA23BD}"/>
              </a:ext>
            </a:extLst>
          </p:cNvPr>
          <p:cNvSpPr txBox="1"/>
          <p:nvPr/>
        </p:nvSpPr>
        <p:spPr>
          <a:xfrm>
            <a:off x="7382264" y="2801981"/>
            <a:ext cx="2084442"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Text 74">
            <a:extLst>
              <a:ext uri="{FF2B5EF4-FFF2-40B4-BE49-F238E27FC236}">
                <a16:creationId xmlns:a16="http://schemas.microsoft.com/office/drawing/2014/main" id="{F49F51E2-04C9-2BC5-4E42-1018A9CBE69C}"/>
              </a:ext>
            </a:extLst>
          </p:cNvPr>
          <p:cNvSpPr txBox="1"/>
          <p:nvPr/>
        </p:nvSpPr>
        <p:spPr>
          <a:xfrm>
            <a:off x="7382264" y="2974515"/>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Text 75">
            <a:extLst>
              <a:ext uri="{FF2B5EF4-FFF2-40B4-BE49-F238E27FC236}">
                <a16:creationId xmlns:a16="http://schemas.microsoft.com/office/drawing/2014/main" id="{1EE453F8-6D5D-E851-43B5-F54180FAB843}"/>
              </a:ext>
            </a:extLst>
          </p:cNvPr>
          <p:cNvSpPr txBox="1"/>
          <p:nvPr/>
        </p:nvSpPr>
        <p:spPr>
          <a:xfrm>
            <a:off x="7382264" y="3164510"/>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Text 75">
            <a:extLst>
              <a:ext uri="{FF2B5EF4-FFF2-40B4-BE49-F238E27FC236}">
                <a16:creationId xmlns:a16="http://schemas.microsoft.com/office/drawing/2014/main" id="{4A0F0601-E932-F612-2D5E-AD77B79E492F}"/>
              </a:ext>
            </a:extLst>
          </p:cNvPr>
          <p:cNvSpPr txBox="1"/>
          <p:nvPr/>
        </p:nvSpPr>
        <p:spPr>
          <a:xfrm>
            <a:off x="7382264" y="3378764"/>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9" name="Image 7" descr="preencoded.png">
            <a:extLst>
              <a:ext uri="{FF2B5EF4-FFF2-40B4-BE49-F238E27FC236}">
                <a16:creationId xmlns:a16="http://schemas.microsoft.com/office/drawing/2014/main" id="{66795554-386E-5CB8-BB0C-015E75864B7C}"/>
              </a:ext>
            </a:extLst>
          </p:cNvPr>
          <p:cNvPicPr>
            <a:picLocks noChangeAspect="1"/>
          </p:cNvPicPr>
          <p:nvPr/>
        </p:nvPicPr>
        <p:blipFill>
          <a:blip r:embed="rId5"/>
          <a:srcRect/>
          <a:stretch/>
        </p:blipFill>
        <p:spPr>
          <a:xfrm>
            <a:off x="9855859" y="4912099"/>
            <a:ext cx="95098" cy="95098"/>
          </a:xfrm>
          <a:prstGeom prst="rect">
            <a:avLst/>
          </a:prstGeom>
        </p:spPr>
      </p:pic>
      <p:sp>
        <p:nvSpPr>
          <p:cNvPr id="50" name="Text 51">
            <a:extLst>
              <a:ext uri="{FF2B5EF4-FFF2-40B4-BE49-F238E27FC236}">
                <a16:creationId xmlns:a16="http://schemas.microsoft.com/office/drawing/2014/main" id="{29199855-F1B1-90D6-30FF-CFB54B62A3A3}"/>
              </a:ext>
            </a:extLst>
          </p:cNvPr>
          <p:cNvSpPr txBox="1"/>
          <p:nvPr/>
        </p:nvSpPr>
        <p:spPr>
          <a:xfrm>
            <a:off x="9768056" y="2801981"/>
            <a:ext cx="1827426"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Text 52">
            <a:extLst>
              <a:ext uri="{FF2B5EF4-FFF2-40B4-BE49-F238E27FC236}">
                <a16:creationId xmlns:a16="http://schemas.microsoft.com/office/drawing/2014/main" id="{79FB659C-9ED5-B11F-D6B4-29B87B7E438B}"/>
              </a:ext>
            </a:extLst>
          </p:cNvPr>
          <p:cNvSpPr txBox="1"/>
          <p:nvPr/>
        </p:nvSpPr>
        <p:spPr>
          <a:xfrm>
            <a:off x="9768056"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 53">
            <a:extLst>
              <a:ext uri="{FF2B5EF4-FFF2-40B4-BE49-F238E27FC236}">
                <a16:creationId xmlns:a16="http://schemas.microsoft.com/office/drawing/2014/main" id="{0E110B77-83A0-E134-6D68-5A3A63BBAD22}"/>
              </a:ext>
            </a:extLst>
          </p:cNvPr>
          <p:cNvSpPr txBox="1"/>
          <p:nvPr/>
        </p:nvSpPr>
        <p:spPr>
          <a:xfrm>
            <a:off x="9768056"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 53">
            <a:extLst>
              <a:ext uri="{FF2B5EF4-FFF2-40B4-BE49-F238E27FC236}">
                <a16:creationId xmlns:a16="http://schemas.microsoft.com/office/drawing/2014/main" id="{8BE45AB8-6893-D907-0606-697F2FF4A24C}"/>
              </a:ext>
            </a:extLst>
          </p:cNvPr>
          <p:cNvSpPr txBox="1"/>
          <p:nvPr/>
        </p:nvSpPr>
        <p:spPr>
          <a:xfrm>
            <a:off x="9768056" y="3377879"/>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CuadroTexto 171">
            <a:extLst>
              <a:ext uri="{FF2B5EF4-FFF2-40B4-BE49-F238E27FC236}">
                <a16:creationId xmlns:a16="http://schemas.microsoft.com/office/drawing/2014/main" id="{0B86E3AD-6513-A263-D3D5-A22F0A8CC61E}"/>
              </a:ext>
            </a:extLst>
          </p:cNvPr>
          <p:cNvSpPr txBox="1"/>
          <p:nvPr/>
        </p:nvSpPr>
        <p:spPr>
          <a:xfrm>
            <a:off x="407473"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establish a fact-based understanding of the current state and identify the key gaps that must be addressed in the new model.</a:t>
            </a:r>
          </a:p>
        </p:txBody>
      </p:sp>
      <p:sp>
        <p:nvSpPr>
          <p:cNvPr id="55" name="CuadroTexto 172">
            <a:extLst>
              <a:ext uri="{FF2B5EF4-FFF2-40B4-BE49-F238E27FC236}">
                <a16:creationId xmlns:a16="http://schemas.microsoft.com/office/drawing/2014/main" id="{405208D3-DCA4-9629-68DF-72F62F2B71E6}"/>
              </a:ext>
            </a:extLst>
          </p:cNvPr>
          <p:cNvSpPr txBox="1"/>
          <p:nvPr/>
        </p:nvSpPr>
        <p:spPr>
          <a:xfrm>
            <a:off x="274202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create a clear, standardized way of working that aligns roles, decisions, and value-based prioritization end-to-end.</a:t>
            </a:r>
          </a:p>
        </p:txBody>
      </p:sp>
      <p:sp>
        <p:nvSpPr>
          <p:cNvPr id="56" name="CuadroTexto 173">
            <a:extLst>
              <a:ext uri="{FF2B5EF4-FFF2-40B4-BE49-F238E27FC236}">
                <a16:creationId xmlns:a16="http://schemas.microsoft.com/office/drawing/2014/main" id="{4B460AD4-B240-7D89-3E6D-88EAEC34F8A4}"/>
              </a:ext>
            </a:extLst>
          </p:cNvPr>
          <p:cNvSpPr txBox="1"/>
          <p:nvPr/>
        </p:nvSpPr>
        <p:spPr>
          <a:xfrm>
            <a:off x="5076579"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ensure the right tools and configurations support the new lifecycle and enable integration, visibility, and scalability.</a:t>
            </a:r>
          </a:p>
        </p:txBody>
      </p:sp>
      <p:sp>
        <p:nvSpPr>
          <p:cNvPr id="57" name="CuadroTexto 174">
            <a:extLst>
              <a:ext uri="{FF2B5EF4-FFF2-40B4-BE49-F238E27FC236}">
                <a16:creationId xmlns:a16="http://schemas.microsoft.com/office/drawing/2014/main" id="{FD462B0D-6021-D560-1C2D-9E02792B3912}"/>
              </a:ext>
            </a:extLst>
          </p:cNvPr>
          <p:cNvSpPr txBox="1"/>
          <p:nvPr/>
        </p:nvSpPr>
        <p:spPr>
          <a:xfrm>
            <a:off x="7411132"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validate the new operating model in a real project and test whether it works effectively in practice.</a:t>
            </a:r>
          </a:p>
        </p:txBody>
      </p:sp>
      <p:sp>
        <p:nvSpPr>
          <p:cNvPr id="58" name="CuadroTexto 175">
            <a:extLst>
              <a:ext uri="{FF2B5EF4-FFF2-40B4-BE49-F238E27FC236}">
                <a16:creationId xmlns:a16="http://schemas.microsoft.com/office/drawing/2014/main" id="{E9A5E354-8991-F9F1-6A19-D9809EEF5343}"/>
              </a:ext>
            </a:extLst>
          </p:cNvPr>
          <p:cNvSpPr txBox="1"/>
          <p:nvPr/>
        </p:nvSpPr>
        <p:spPr>
          <a:xfrm>
            <a:off x="974568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refine the model based on real feedback and prepare a stronger, scalable version for broader adoption.</a:t>
            </a:r>
          </a:p>
        </p:txBody>
      </p:sp>
      <p:sp>
        <p:nvSpPr>
          <p:cNvPr id="59" name="Shape 55">
            <a:extLst>
              <a:ext uri="{FF2B5EF4-FFF2-40B4-BE49-F238E27FC236}">
                <a16:creationId xmlns:a16="http://schemas.microsoft.com/office/drawing/2014/main" id="{647FF6F8-AAE1-DF9D-668D-2157BC35AC0C}"/>
              </a:ext>
            </a:extLst>
          </p:cNvPr>
          <p:cNvSpPr/>
          <p:nvPr/>
        </p:nvSpPr>
        <p:spPr>
          <a:xfrm flipV="1">
            <a:off x="867591" y="3717569"/>
            <a:ext cx="1126643" cy="123331"/>
          </a:xfrm>
          <a:prstGeom prst="triangle">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BC270A29-30C5-0D98-32B9-0042AF05DA9D}"/>
              </a:ext>
            </a:extLst>
          </p:cNvPr>
          <p:cNvSpPr/>
          <p:nvPr/>
        </p:nvSpPr>
        <p:spPr>
          <a:xfrm flipV="1">
            <a:off x="3202143" y="3717569"/>
            <a:ext cx="1126643" cy="123331"/>
          </a:xfrm>
          <a:prstGeom prst="triangle">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Shape 55">
            <a:extLst>
              <a:ext uri="{FF2B5EF4-FFF2-40B4-BE49-F238E27FC236}">
                <a16:creationId xmlns:a16="http://schemas.microsoft.com/office/drawing/2014/main" id="{36059403-B291-1A4B-7398-BC42020000A2}"/>
              </a:ext>
            </a:extLst>
          </p:cNvPr>
          <p:cNvSpPr/>
          <p:nvPr/>
        </p:nvSpPr>
        <p:spPr>
          <a:xfrm flipV="1">
            <a:off x="5536697" y="3717569"/>
            <a:ext cx="1126643" cy="123331"/>
          </a:xfrm>
          <a:prstGeom prst="triangle">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Shape 55">
            <a:extLst>
              <a:ext uri="{FF2B5EF4-FFF2-40B4-BE49-F238E27FC236}">
                <a16:creationId xmlns:a16="http://schemas.microsoft.com/office/drawing/2014/main" id="{82B4ADAB-9B02-FC23-E6F2-B5F2881777D6}"/>
              </a:ext>
            </a:extLst>
          </p:cNvPr>
          <p:cNvSpPr/>
          <p:nvPr/>
        </p:nvSpPr>
        <p:spPr>
          <a:xfrm flipV="1">
            <a:off x="7871250" y="3717569"/>
            <a:ext cx="1126643" cy="123331"/>
          </a:xfrm>
          <a:prstGeom prst="triangle">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Shape 55">
            <a:extLst>
              <a:ext uri="{FF2B5EF4-FFF2-40B4-BE49-F238E27FC236}">
                <a16:creationId xmlns:a16="http://schemas.microsoft.com/office/drawing/2014/main" id="{AB6F8939-A2FF-E537-538E-A3540342116B}"/>
              </a:ext>
            </a:extLst>
          </p:cNvPr>
          <p:cNvSpPr/>
          <p:nvPr/>
        </p:nvSpPr>
        <p:spPr>
          <a:xfrm flipV="1">
            <a:off x="10205804" y="3717569"/>
            <a:ext cx="1126643" cy="123331"/>
          </a:xfrm>
          <a:prstGeom prst="triangle">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Shape 55">
            <a:extLst>
              <a:ext uri="{FF2B5EF4-FFF2-40B4-BE49-F238E27FC236}">
                <a16:creationId xmlns:a16="http://schemas.microsoft.com/office/drawing/2014/main" id="{3154AF89-9FF3-B6AD-76CD-BB422B09CAD8}"/>
              </a:ext>
            </a:extLst>
          </p:cNvPr>
          <p:cNvSpPr/>
          <p:nvPr/>
        </p:nvSpPr>
        <p:spPr>
          <a:xfrm>
            <a:off x="333158" y="5287818"/>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Shape 55">
            <a:extLst>
              <a:ext uri="{FF2B5EF4-FFF2-40B4-BE49-F238E27FC236}">
                <a16:creationId xmlns:a16="http://schemas.microsoft.com/office/drawing/2014/main" id="{28526930-B851-0684-837A-B18A066F0D48}"/>
              </a:ext>
            </a:extLst>
          </p:cNvPr>
          <p:cNvSpPr/>
          <p:nvPr/>
        </p:nvSpPr>
        <p:spPr>
          <a:xfrm>
            <a:off x="2667710" y="5287818"/>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Shape 55">
            <a:extLst>
              <a:ext uri="{FF2B5EF4-FFF2-40B4-BE49-F238E27FC236}">
                <a16:creationId xmlns:a16="http://schemas.microsoft.com/office/drawing/2014/main" id="{7A7E212A-DEC4-38DF-424E-E91A3D2A1FA5}"/>
              </a:ext>
            </a:extLst>
          </p:cNvPr>
          <p:cNvSpPr/>
          <p:nvPr/>
        </p:nvSpPr>
        <p:spPr>
          <a:xfrm>
            <a:off x="5002264" y="5287818"/>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Shape 55">
            <a:extLst>
              <a:ext uri="{FF2B5EF4-FFF2-40B4-BE49-F238E27FC236}">
                <a16:creationId xmlns:a16="http://schemas.microsoft.com/office/drawing/2014/main" id="{D4EBE3FD-8CC5-F0D5-390B-6FFBC3CB0899}"/>
              </a:ext>
            </a:extLst>
          </p:cNvPr>
          <p:cNvSpPr/>
          <p:nvPr/>
        </p:nvSpPr>
        <p:spPr>
          <a:xfrm>
            <a:off x="7336817" y="5287818"/>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Shape 55">
            <a:extLst>
              <a:ext uri="{FF2B5EF4-FFF2-40B4-BE49-F238E27FC236}">
                <a16:creationId xmlns:a16="http://schemas.microsoft.com/office/drawing/2014/main" id="{4228A373-3D02-2DDC-D798-4369EF71C7B7}"/>
              </a:ext>
            </a:extLst>
          </p:cNvPr>
          <p:cNvSpPr/>
          <p:nvPr/>
        </p:nvSpPr>
        <p:spPr>
          <a:xfrm>
            <a:off x="9671371" y="5287818"/>
            <a:ext cx="2195509" cy="47549"/>
          </a:xfrm>
          <a:prstGeom prst="roundRect">
            <a:avLst>
              <a:gd name="adj" fmla="val 201105"/>
            </a:avLst>
          </a:prstGeom>
          <a:solidFill>
            <a:srgbClr val="4299E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9" name="Image 0" descr="preencoded.png">
            <a:extLst>
              <a:ext uri="{FF2B5EF4-FFF2-40B4-BE49-F238E27FC236}">
                <a16:creationId xmlns:a16="http://schemas.microsoft.com/office/drawing/2014/main" id="{6D5D4B0E-E74F-E11F-DC3E-B3223AD48C22}"/>
              </a:ext>
            </a:extLst>
          </p:cNvPr>
          <p:cNvPicPr>
            <a:picLocks noChangeAspect="1"/>
          </p:cNvPicPr>
          <p:nvPr/>
        </p:nvPicPr>
        <p:blipFill>
          <a:blip r:embed="rId6"/>
          <a:srcRect/>
          <a:stretch/>
        </p:blipFill>
        <p:spPr>
          <a:xfrm>
            <a:off x="645332" y="1849165"/>
            <a:ext cx="260158" cy="260158"/>
          </a:xfrm>
          <a:prstGeom prst="rect">
            <a:avLst/>
          </a:prstGeom>
          <a:noFill/>
        </p:spPr>
      </p:pic>
      <p:pic>
        <p:nvPicPr>
          <p:cNvPr id="70" name="Image 2" descr="preencoded.png">
            <a:extLst>
              <a:ext uri="{FF2B5EF4-FFF2-40B4-BE49-F238E27FC236}">
                <a16:creationId xmlns:a16="http://schemas.microsoft.com/office/drawing/2014/main" id="{4F7BE37D-2367-0F2F-341B-FD83FC54EB95}"/>
              </a:ext>
            </a:extLst>
          </p:cNvPr>
          <p:cNvPicPr>
            <a:picLocks noChangeAspect="1"/>
          </p:cNvPicPr>
          <p:nvPr/>
        </p:nvPicPr>
        <p:blipFill>
          <a:blip r:embed="rId7"/>
          <a:srcRect l="-837" r="-837"/>
          <a:stretch/>
        </p:blipFill>
        <p:spPr>
          <a:xfrm>
            <a:off x="2960424" y="1849165"/>
            <a:ext cx="297580" cy="260158"/>
          </a:xfrm>
          <a:prstGeom prst="rect">
            <a:avLst/>
          </a:prstGeom>
          <a:noFill/>
        </p:spPr>
      </p:pic>
      <p:pic>
        <p:nvPicPr>
          <p:cNvPr id="71" name="Image 4" descr="preencoded.png">
            <a:extLst>
              <a:ext uri="{FF2B5EF4-FFF2-40B4-BE49-F238E27FC236}">
                <a16:creationId xmlns:a16="http://schemas.microsoft.com/office/drawing/2014/main" id="{191BF61E-0FD1-D00F-158E-9D80D4A2192F}"/>
              </a:ext>
            </a:extLst>
          </p:cNvPr>
          <p:cNvPicPr>
            <a:picLocks noChangeAspect="1"/>
          </p:cNvPicPr>
          <p:nvPr/>
        </p:nvPicPr>
        <p:blipFill>
          <a:blip r:embed="rId8"/>
          <a:srcRect/>
          <a:stretch/>
        </p:blipFill>
        <p:spPr>
          <a:xfrm>
            <a:off x="5319643" y="1859325"/>
            <a:ext cx="260158" cy="260158"/>
          </a:xfrm>
          <a:prstGeom prst="rect">
            <a:avLst/>
          </a:prstGeom>
          <a:noFill/>
        </p:spPr>
      </p:pic>
      <p:pic>
        <p:nvPicPr>
          <p:cNvPr id="72" name="Image 6" descr="preencoded.png">
            <a:extLst>
              <a:ext uri="{FF2B5EF4-FFF2-40B4-BE49-F238E27FC236}">
                <a16:creationId xmlns:a16="http://schemas.microsoft.com/office/drawing/2014/main" id="{448A1C47-D452-76B3-B3EC-59C1AF1394A2}"/>
              </a:ext>
            </a:extLst>
          </p:cNvPr>
          <p:cNvPicPr>
            <a:picLocks noChangeAspect="1"/>
          </p:cNvPicPr>
          <p:nvPr/>
        </p:nvPicPr>
        <p:blipFill>
          <a:blip r:embed="rId9"/>
          <a:srcRect/>
          <a:stretch/>
        </p:blipFill>
        <p:spPr>
          <a:xfrm>
            <a:off x="9987757" y="1859325"/>
            <a:ext cx="260158" cy="260158"/>
          </a:xfrm>
          <a:prstGeom prst="rect">
            <a:avLst/>
          </a:prstGeom>
          <a:noFill/>
        </p:spPr>
      </p:pic>
      <p:pic>
        <p:nvPicPr>
          <p:cNvPr id="73" name="Image 10" descr="preencoded.png">
            <a:extLst>
              <a:ext uri="{FF2B5EF4-FFF2-40B4-BE49-F238E27FC236}">
                <a16:creationId xmlns:a16="http://schemas.microsoft.com/office/drawing/2014/main" id="{89C129EE-9A43-1B9A-FB87-0DBB5FDB4519}"/>
              </a:ext>
            </a:extLst>
          </p:cNvPr>
          <p:cNvPicPr>
            <a:picLocks noChangeAspect="1"/>
          </p:cNvPicPr>
          <p:nvPr/>
        </p:nvPicPr>
        <p:blipFill>
          <a:blip r:embed="rId10"/>
          <a:srcRect l="-1507" r="-1507"/>
          <a:stretch/>
        </p:blipFill>
        <p:spPr>
          <a:xfrm>
            <a:off x="7634961" y="1871151"/>
            <a:ext cx="304545" cy="236507"/>
          </a:xfrm>
          <a:prstGeom prst="rect">
            <a:avLst/>
          </a:prstGeom>
          <a:noFill/>
        </p:spPr>
      </p:pic>
      <p:sp>
        <p:nvSpPr>
          <p:cNvPr id="74" name="Text 38">
            <a:extLst>
              <a:ext uri="{FF2B5EF4-FFF2-40B4-BE49-F238E27FC236}">
                <a16:creationId xmlns:a16="http://schemas.microsoft.com/office/drawing/2014/main" id="{05D551AA-771A-FB77-A5AA-65CBCF32AC2B}"/>
              </a:ext>
            </a:extLst>
          </p:cNvPr>
          <p:cNvSpPr txBox="1"/>
          <p:nvPr/>
        </p:nvSpPr>
        <p:spPr>
          <a:xfrm>
            <a:off x="384556" y="5450362"/>
            <a:ext cx="2105863" cy="568443"/>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uLnTx/>
                <a:uFillTx/>
                <a:latin typeface="Arial" panose="020B0604020202020204" pitchFamily="34" charset="0"/>
                <a:ea typeface="Open Sans" pitchFamily="34" charset="-122"/>
                <a:cs typeface="Arial" panose="020B0604020202020204" pitchFamily="34" charset="0"/>
              </a:rPr>
              <a:t>Baseline Report</a:t>
            </a:r>
            <a:endParaRPr kumimoji="0" lang="en-US" sz="1000" i="0" u="none" strike="noStrike" kern="1200" cap="none" spc="0" normalizeH="0" baseline="0" noProof="0">
              <a:ln>
                <a:noFill/>
              </a:ln>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Demand Map</a:t>
            </a:r>
            <a:endParaRPr lang="en-US" sz="1000" noProof="0">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Project Portfolio Landscape (SAP)</a:t>
            </a:r>
            <a:endParaRPr lang="en-US" sz="1000" noProof="0">
              <a:latin typeface="Arial" panose="020B0604020202020204" pitchFamily="34" charset="0"/>
              <a:cs typeface="Arial" panose="020B0604020202020204" pitchFamily="34" charset="0"/>
            </a:endParaRPr>
          </a:p>
        </p:txBody>
      </p:sp>
      <p:sp>
        <p:nvSpPr>
          <p:cNvPr id="75" name="Text 38">
            <a:extLst>
              <a:ext uri="{FF2B5EF4-FFF2-40B4-BE49-F238E27FC236}">
                <a16:creationId xmlns:a16="http://schemas.microsoft.com/office/drawing/2014/main" id="{5942A60A-3FE4-7FDB-6758-E9531321E4D6}"/>
              </a:ext>
            </a:extLst>
          </p:cNvPr>
          <p:cNvSpPr txBox="1"/>
          <p:nvPr/>
        </p:nvSpPr>
        <p:spPr>
          <a:xfrm>
            <a:off x="2720004" y="5450362"/>
            <a:ext cx="2105863" cy="568443"/>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v1.0</a:t>
            </a:r>
          </a:p>
          <a:p>
            <a:r>
              <a:rPr lang="en-US" noProof="0">
                <a:latin typeface="Arial" panose="020B0604020202020204" pitchFamily="34" charset="0"/>
                <a:cs typeface="Arial" panose="020B0604020202020204" pitchFamily="34" charset="0"/>
              </a:rPr>
              <a:t>Demand Typology</a:t>
            </a:r>
          </a:p>
          <a:p>
            <a:r>
              <a:rPr lang="en-US" noProof="0">
                <a:latin typeface="Arial" panose="020B0604020202020204" pitchFamily="34" charset="0"/>
                <a:cs typeface="Arial" panose="020B0604020202020204" pitchFamily="34" charset="0"/>
              </a:rPr>
              <a:t>Prioritization Framework</a:t>
            </a:r>
          </a:p>
          <a:p>
            <a:r>
              <a:rPr lang="en-US" noProof="0">
                <a:latin typeface="Arial" panose="020B0604020202020204" pitchFamily="34" charset="0"/>
                <a:cs typeface="Arial" panose="020B0604020202020204" pitchFamily="34" charset="0"/>
              </a:rPr>
              <a:t>Roles &amp; RACI Matrix</a:t>
            </a:r>
          </a:p>
          <a:p>
            <a:endParaRPr lang="en-US" noProof="0">
              <a:latin typeface="Arial" panose="020B0604020202020204" pitchFamily="34" charset="0"/>
              <a:cs typeface="Arial" panose="020B0604020202020204" pitchFamily="34" charset="0"/>
            </a:endParaRPr>
          </a:p>
        </p:txBody>
      </p:sp>
      <p:sp>
        <p:nvSpPr>
          <p:cNvPr id="76" name="Text 38">
            <a:extLst>
              <a:ext uri="{FF2B5EF4-FFF2-40B4-BE49-F238E27FC236}">
                <a16:creationId xmlns:a16="http://schemas.microsoft.com/office/drawing/2014/main" id="{718E1F8E-48F2-8DBF-C814-185C042CDFF3}"/>
              </a:ext>
            </a:extLst>
          </p:cNvPr>
          <p:cNvSpPr txBox="1"/>
          <p:nvPr/>
        </p:nvSpPr>
        <p:spPr>
          <a:xfrm>
            <a:off x="5055452"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Tool Ecosystem Design</a:t>
            </a:r>
          </a:p>
          <a:p>
            <a:r>
              <a:rPr lang="en-US" noProof="0">
                <a:latin typeface="Arial" panose="020B0604020202020204" pitchFamily="34" charset="0"/>
                <a:cs typeface="Arial" panose="020B0604020202020204" pitchFamily="34" charset="0"/>
              </a:rPr>
              <a:t>Jira Configuration v1.0</a:t>
            </a:r>
          </a:p>
          <a:p>
            <a:r>
              <a:rPr lang="en-US" noProof="0">
                <a:latin typeface="Arial" panose="020B0604020202020204" pitchFamily="34" charset="0"/>
                <a:cs typeface="Arial" panose="020B0604020202020204" pitchFamily="34" charset="0"/>
              </a:rPr>
              <a:t>Portfolio Concept Blueprint</a:t>
            </a:r>
          </a:p>
        </p:txBody>
      </p:sp>
      <p:sp>
        <p:nvSpPr>
          <p:cNvPr id="77" name="Text 38">
            <a:extLst>
              <a:ext uri="{FF2B5EF4-FFF2-40B4-BE49-F238E27FC236}">
                <a16:creationId xmlns:a16="http://schemas.microsoft.com/office/drawing/2014/main" id="{0A1979A1-D4AF-CE3D-B928-778036339A47}"/>
              </a:ext>
            </a:extLst>
          </p:cNvPr>
          <p:cNvSpPr txBox="1"/>
          <p:nvPr/>
        </p:nvSpPr>
        <p:spPr>
          <a:xfrm>
            <a:off x="7390900"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Pilot Execution Report</a:t>
            </a:r>
          </a:p>
          <a:p>
            <a:r>
              <a:rPr lang="en-US" noProof="0">
                <a:latin typeface="Arial" panose="020B0604020202020204" pitchFamily="34" charset="0"/>
                <a:cs typeface="Arial" panose="020B0604020202020204" pitchFamily="34" charset="0"/>
              </a:rPr>
              <a:t>First Reporting Output</a:t>
            </a:r>
          </a:p>
          <a:p>
            <a:r>
              <a:rPr lang="en-US" noProof="0">
                <a:latin typeface="Arial" panose="020B0604020202020204" pitchFamily="34" charset="0"/>
                <a:cs typeface="Arial" panose="020B0604020202020204" pitchFamily="34" charset="0"/>
              </a:rPr>
              <a:t>Structured Feedback Log</a:t>
            </a:r>
          </a:p>
        </p:txBody>
      </p:sp>
      <p:sp>
        <p:nvSpPr>
          <p:cNvPr id="78" name="Text 38">
            <a:extLst>
              <a:ext uri="{FF2B5EF4-FFF2-40B4-BE49-F238E27FC236}">
                <a16:creationId xmlns:a16="http://schemas.microsoft.com/office/drawing/2014/main" id="{79F7EB9A-048B-D15E-9EEA-3CF040325D84}"/>
              </a:ext>
            </a:extLst>
          </p:cNvPr>
          <p:cNvSpPr txBox="1"/>
          <p:nvPr/>
        </p:nvSpPr>
        <p:spPr>
          <a:xfrm>
            <a:off x="9726349"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v2.0</a:t>
            </a:r>
          </a:p>
          <a:p>
            <a:r>
              <a:rPr lang="en-US" noProof="0">
                <a:latin typeface="Arial" panose="020B0604020202020204" pitchFamily="34" charset="0"/>
                <a:cs typeface="Arial" panose="020B0604020202020204" pitchFamily="34" charset="0"/>
              </a:rPr>
              <a:t>Jira Config v2.0</a:t>
            </a:r>
          </a:p>
          <a:p>
            <a:r>
              <a:rPr lang="en-US" noProof="0">
                <a:latin typeface="Arial" panose="020B0604020202020204" pitchFamily="34" charset="0"/>
                <a:cs typeface="Arial" panose="020B0604020202020204" pitchFamily="34" charset="0"/>
              </a:rPr>
              <a:t>Value Criteria Framework v2.0</a:t>
            </a:r>
          </a:p>
        </p:txBody>
      </p:sp>
      <p:sp>
        <p:nvSpPr>
          <p:cNvPr id="79" name="CuadroTexto 204">
            <a:extLst>
              <a:ext uri="{FF2B5EF4-FFF2-40B4-BE49-F238E27FC236}">
                <a16:creationId xmlns:a16="http://schemas.microsoft.com/office/drawing/2014/main" id="{EA2531D1-4BDD-E8FE-7F83-8AE2E71D7533}"/>
              </a:ext>
            </a:extLst>
          </p:cNvPr>
          <p:cNvSpPr txBox="1"/>
          <p:nvPr/>
        </p:nvSpPr>
        <p:spPr>
          <a:xfrm>
            <a:off x="549301" y="864643"/>
            <a:ext cx="11280749" cy="738664"/>
          </a:xfrm>
          <a:prstGeom prst="rect">
            <a:avLst/>
          </a:prstGeom>
          <a:noFill/>
        </p:spPr>
        <p:txBody>
          <a:bodyPr wrap="square">
            <a:spAutoFit/>
          </a:bodyPr>
          <a:lstStyle/>
          <a:p>
            <a:r>
              <a:rPr lang="en-US" sz="1400" b="1">
                <a:solidFill>
                  <a:schemeClr val="accent4">
                    <a:lumMod val="75000"/>
                  </a:schemeClr>
                </a:solidFill>
                <a:latin typeface="Arial" panose="020B0604020202020204" pitchFamily="34" charset="0"/>
                <a:cs typeface="Arial" panose="020B0604020202020204" pitchFamily="34" charset="0"/>
              </a:rPr>
              <a:t>Wave 1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
        <p:nvSpPr>
          <p:cNvPr id="80" name="Rectangle 28">
            <a:extLst>
              <a:ext uri="{FF2B5EF4-FFF2-40B4-BE49-F238E27FC236}">
                <a16:creationId xmlns:a16="http://schemas.microsoft.com/office/drawing/2014/main" id="{3F0C783C-A5D0-37E0-393E-945E3AB8361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1" name="Rectangle 40">
            <a:extLst>
              <a:ext uri="{FF2B5EF4-FFF2-40B4-BE49-F238E27FC236}">
                <a16:creationId xmlns:a16="http://schemas.microsoft.com/office/drawing/2014/main" id="{CC07EB39-DC8B-99A4-81BC-5B4ABC19D31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2" name="Rectangle 52">
            <a:extLst>
              <a:ext uri="{FF2B5EF4-FFF2-40B4-BE49-F238E27FC236}">
                <a16:creationId xmlns:a16="http://schemas.microsoft.com/office/drawing/2014/main" id="{3506D188-E2A2-9A88-ACC8-C0FC4DBB742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3" name="Rectangle 64">
            <a:extLst>
              <a:ext uri="{FF2B5EF4-FFF2-40B4-BE49-F238E27FC236}">
                <a16:creationId xmlns:a16="http://schemas.microsoft.com/office/drawing/2014/main" id="{C45EF9D4-ADE4-1D54-05FD-38AD0A424CD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Rectangle 64">
            <a:extLst>
              <a:ext uri="{FF2B5EF4-FFF2-40B4-BE49-F238E27FC236}">
                <a16:creationId xmlns:a16="http://schemas.microsoft.com/office/drawing/2014/main" id="{7EB61E6C-FC5C-4B3D-C8AA-C7029A1B630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5" name="Rectangle 64">
            <a:extLst>
              <a:ext uri="{FF2B5EF4-FFF2-40B4-BE49-F238E27FC236}">
                <a16:creationId xmlns:a16="http://schemas.microsoft.com/office/drawing/2014/main" id="{36A997CD-0F78-A47D-BFD9-560172FE5940}"/>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6" name="Rectangle 64">
            <a:extLst>
              <a:ext uri="{FF2B5EF4-FFF2-40B4-BE49-F238E27FC236}">
                <a16:creationId xmlns:a16="http://schemas.microsoft.com/office/drawing/2014/main" id="{D90B30BC-CABA-D6F5-27A5-6A706F5D9CF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7" name="Retângulo 86">
            <a:extLst>
              <a:ext uri="{FF2B5EF4-FFF2-40B4-BE49-F238E27FC236}">
                <a16:creationId xmlns:a16="http://schemas.microsoft.com/office/drawing/2014/main" id="{CC1F992A-1BAC-1902-EEB1-F91AC9BA3223}"/>
              </a:ext>
            </a:extLst>
          </p:cNvPr>
          <p:cNvSpPr/>
          <p:nvPr/>
        </p:nvSpPr>
        <p:spPr>
          <a:xfrm>
            <a:off x="2667706" y="1583918"/>
            <a:ext cx="9199169" cy="485841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847224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F6C1-6241-623E-B242-98B9BE95B59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15DB9F0-65DE-C635-8F5D-2BC8C3B4FF9C}"/>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a:t>METHODOLOGY</a:t>
            </a:r>
            <a:endParaRPr lang="en-US" sz="1100" noProof="0"/>
          </a:p>
        </p:txBody>
      </p:sp>
      <p:sp>
        <p:nvSpPr>
          <p:cNvPr id="3" name="Rectangle 28">
            <a:extLst>
              <a:ext uri="{FF2B5EF4-FFF2-40B4-BE49-F238E27FC236}">
                <a16:creationId xmlns:a16="http://schemas.microsoft.com/office/drawing/2014/main" id="{4F4B79E5-86E3-A48F-013F-69FD88E459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40">
            <a:extLst>
              <a:ext uri="{FF2B5EF4-FFF2-40B4-BE49-F238E27FC236}">
                <a16:creationId xmlns:a16="http://schemas.microsoft.com/office/drawing/2014/main" id="{A5FE38FC-F264-72F2-EF3E-3986F7FB3A7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52">
            <a:extLst>
              <a:ext uri="{FF2B5EF4-FFF2-40B4-BE49-F238E27FC236}">
                <a16:creationId xmlns:a16="http://schemas.microsoft.com/office/drawing/2014/main" id="{B2635F4A-9A15-E0BC-E9FF-0A1BACB07D1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4">
            <a:extLst>
              <a:ext uri="{FF2B5EF4-FFF2-40B4-BE49-F238E27FC236}">
                <a16:creationId xmlns:a16="http://schemas.microsoft.com/office/drawing/2014/main" id="{1CFB22B2-620E-F88C-D48E-B0DF1982C5A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CBF862F0-CEB0-F09F-9F7D-7004F3E7D93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903D062A-CA00-8D1F-B3F7-9F5C519A2A7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64">
            <a:extLst>
              <a:ext uri="{FF2B5EF4-FFF2-40B4-BE49-F238E27FC236}">
                <a16:creationId xmlns:a16="http://schemas.microsoft.com/office/drawing/2014/main" id="{190395E4-C9EA-FB23-C4C1-19C827231A6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B4AA586C-1B8B-1655-45AF-078013BE3628}"/>
              </a:ext>
            </a:extLst>
          </p:cNvPr>
          <p:cNvSpPr/>
          <p:nvPr/>
        </p:nvSpPr>
        <p:spPr>
          <a:xfrm>
            <a:off x="457200" y="8001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TextBox 43">
            <a:extLst>
              <a:ext uri="{FF2B5EF4-FFF2-40B4-BE49-F238E27FC236}">
                <a16:creationId xmlns:a16="http://schemas.microsoft.com/office/drawing/2014/main" id="{F9E9DACF-D65B-248D-36B9-C5BC586DD591}"/>
              </a:ext>
            </a:extLst>
          </p:cNvPr>
          <p:cNvSpPr txBox="1"/>
          <p:nvPr/>
        </p:nvSpPr>
        <p:spPr>
          <a:xfrm>
            <a:off x="458724" y="932575"/>
            <a:ext cx="11274552" cy="430887"/>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stStyle>
          <a:p>
            <a:r>
              <a:rPr lang="en-US" noProof="0"/>
              <a:t>Grounding the baseline through Stakeholder interviews, demand &amp; portfolio mapping, and demand &amp; reporting mapping before lifecycle design</a:t>
            </a:r>
          </a:p>
        </p:txBody>
      </p:sp>
      <p:sp>
        <p:nvSpPr>
          <p:cNvPr id="68" name="Rectangle 67">
            <a:extLst>
              <a:ext uri="{FF2B5EF4-FFF2-40B4-BE49-F238E27FC236}">
                <a16:creationId xmlns:a16="http://schemas.microsoft.com/office/drawing/2014/main" id="{F2DFEEA4-3B91-CAF7-5DF8-178CCA748B49}"/>
              </a:ext>
            </a:extLst>
          </p:cNvPr>
          <p:cNvSpPr/>
          <p:nvPr/>
        </p:nvSpPr>
        <p:spPr>
          <a:xfrm>
            <a:off x="2770632" y="1603248"/>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9" name="Rectangle 68">
            <a:extLst>
              <a:ext uri="{FF2B5EF4-FFF2-40B4-BE49-F238E27FC236}">
                <a16:creationId xmlns:a16="http://schemas.microsoft.com/office/drawing/2014/main" id="{F7079041-4309-7AB3-E150-0884236B168A}"/>
              </a:ext>
            </a:extLst>
          </p:cNvPr>
          <p:cNvSpPr/>
          <p:nvPr/>
        </p:nvSpPr>
        <p:spPr>
          <a:xfrm>
            <a:off x="5084064" y="1603248"/>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0" name="Rectangle 69">
            <a:extLst>
              <a:ext uri="{FF2B5EF4-FFF2-40B4-BE49-F238E27FC236}">
                <a16:creationId xmlns:a16="http://schemas.microsoft.com/office/drawing/2014/main" id="{ECFE0C02-BB32-CF03-627D-06B1006A228A}"/>
              </a:ext>
            </a:extLst>
          </p:cNvPr>
          <p:cNvSpPr/>
          <p:nvPr/>
        </p:nvSpPr>
        <p:spPr>
          <a:xfrm>
            <a:off x="7397496" y="1603248"/>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1" name="Rectangle 70">
            <a:extLst>
              <a:ext uri="{FF2B5EF4-FFF2-40B4-BE49-F238E27FC236}">
                <a16:creationId xmlns:a16="http://schemas.microsoft.com/office/drawing/2014/main" id="{C2ED932F-D815-1BF5-7826-016B9AC40D9B}"/>
              </a:ext>
            </a:extLst>
          </p:cNvPr>
          <p:cNvSpPr/>
          <p:nvPr/>
        </p:nvSpPr>
        <p:spPr>
          <a:xfrm>
            <a:off x="9710928" y="1603248"/>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2" name="Rectangle 71">
            <a:extLst>
              <a:ext uri="{FF2B5EF4-FFF2-40B4-BE49-F238E27FC236}">
                <a16:creationId xmlns:a16="http://schemas.microsoft.com/office/drawing/2014/main" id="{F8B45FBF-2C0E-A439-0DE4-D60D250D4A9D}"/>
              </a:ext>
            </a:extLst>
          </p:cNvPr>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3" name="Rectangle 72">
            <a:extLst>
              <a:ext uri="{FF2B5EF4-FFF2-40B4-BE49-F238E27FC236}">
                <a16:creationId xmlns:a16="http://schemas.microsoft.com/office/drawing/2014/main" id="{D7B7BB8F-42F0-F376-2ED3-0F2D64DF32E8}"/>
              </a:ext>
            </a:extLst>
          </p:cNvPr>
          <p:cNvSpPr/>
          <p:nvPr/>
        </p:nvSpPr>
        <p:spPr>
          <a:xfrm>
            <a:off x="457200" y="1603248"/>
            <a:ext cx="2240280"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4" name="TextBox 73">
            <a:extLst>
              <a:ext uri="{FF2B5EF4-FFF2-40B4-BE49-F238E27FC236}">
                <a16:creationId xmlns:a16="http://schemas.microsoft.com/office/drawing/2014/main" id="{7010D061-BA10-6226-FF8E-3A053473C12A}"/>
              </a:ext>
            </a:extLst>
          </p:cNvPr>
          <p:cNvSpPr txBox="1"/>
          <p:nvPr/>
        </p:nvSpPr>
        <p:spPr>
          <a:xfrm>
            <a:off x="594360" y="1694688"/>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Helvetica Neue"/>
              </a:rPr>
              <a:t>Step 01</a:t>
            </a:r>
          </a:p>
        </p:txBody>
      </p:sp>
      <p:sp>
        <p:nvSpPr>
          <p:cNvPr id="75" name="TextBox 74">
            <a:extLst>
              <a:ext uri="{FF2B5EF4-FFF2-40B4-BE49-F238E27FC236}">
                <a16:creationId xmlns:a16="http://schemas.microsoft.com/office/drawing/2014/main" id="{D522B3C0-EC1B-1310-E85C-E2441E56E5FA}"/>
              </a:ext>
            </a:extLst>
          </p:cNvPr>
          <p:cNvSpPr txBox="1"/>
          <p:nvPr/>
        </p:nvSpPr>
        <p:spPr>
          <a:xfrm>
            <a:off x="594360" y="1969007"/>
            <a:ext cx="1965960" cy="347472"/>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FFFFFF"/>
                </a:solidFill>
                <a:latin typeface="Helvetica Neue"/>
              </a:rPr>
              <a:t>Enablement</a:t>
            </a:r>
          </a:p>
        </p:txBody>
      </p:sp>
      <p:sp>
        <p:nvSpPr>
          <p:cNvPr id="76" name="TextBox 75">
            <a:extLst>
              <a:ext uri="{FF2B5EF4-FFF2-40B4-BE49-F238E27FC236}">
                <a16:creationId xmlns:a16="http://schemas.microsoft.com/office/drawing/2014/main" id="{F1696984-0870-5EB3-1B29-0F8A4143384E}"/>
              </a:ext>
            </a:extLst>
          </p:cNvPr>
          <p:cNvSpPr txBox="1"/>
          <p:nvPr/>
        </p:nvSpPr>
        <p:spPr>
          <a:xfrm>
            <a:off x="594360" y="2334767"/>
            <a:ext cx="19659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bg1"/>
                </a:solidFill>
                <a:latin typeface="Helvetica Neue"/>
              </a:rPr>
              <a:t>Where are we starting from?</a:t>
            </a:r>
          </a:p>
        </p:txBody>
      </p:sp>
      <p:sp>
        <p:nvSpPr>
          <p:cNvPr id="77" name="Right Arrow 7">
            <a:extLst>
              <a:ext uri="{FF2B5EF4-FFF2-40B4-BE49-F238E27FC236}">
                <a16:creationId xmlns:a16="http://schemas.microsoft.com/office/drawing/2014/main" id="{47B9F203-85F2-BB5E-AEDC-8299529BFF94}"/>
              </a:ext>
            </a:extLst>
          </p:cNvPr>
          <p:cNvSpPr/>
          <p:nvPr/>
        </p:nvSpPr>
        <p:spPr>
          <a:xfrm>
            <a:off x="2621661" y="2023872"/>
            <a:ext cx="237744" cy="228600"/>
          </a:xfrm>
          <a:prstGeom prst="rightArrow">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8" name="TextBox 77">
            <a:extLst>
              <a:ext uri="{FF2B5EF4-FFF2-40B4-BE49-F238E27FC236}">
                <a16:creationId xmlns:a16="http://schemas.microsoft.com/office/drawing/2014/main" id="{EEF5C717-2D66-2C14-7D51-6977DF0D8702}"/>
              </a:ext>
            </a:extLst>
          </p:cNvPr>
          <p:cNvSpPr txBox="1"/>
          <p:nvPr/>
        </p:nvSpPr>
        <p:spPr>
          <a:xfrm>
            <a:off x="2907792" y="1694688"/>
            <a:ext cx="1965960" cy="2743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Helvetica Neue"/>
              </a:rPr>
              <a:t>Step 02</a:t>
            </a:r>
          </a:p>
        </p:txBody>
      </p:sp>
      <p:sp>
        <p:nvSpPr>
          <p:cNvPr id="79" name="TextBox 78">
            <a:extLst>
              <a:ext uri="{FF2B5EF4-FFF2-40B4-BE49-F238E27FC236}">
                <a16:creationId xmlns:a16="http://schemas.microsoft.com/office/drawing/2014/main" id="{9BC9C6D0-8F68-6670-B6DA-A4CD1A086990}"/>
              </a:ext>
            </a:extLst>
          </p:cNvPr>
          <p:cNvSpPr txBox="1"/>
          <p:nvPr/>
        </p:nvSpPr>
        <p:spPr>
          <a:xfrm>
            <a:off x="2907792" y="1969007"/>
            <a:ext cx="1965960" cy="347472"/>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2C3E50"/>
                </a:solidFill>
                <a:latin typeface="Helvetica Neue"/>
              </a:rPr>
              <a:t>Define Lifecycle</a:t>
            </a:r>
          </a:p>
        </p:txBody>
      </p:sp>
      <p:sp>
        <p:nvSpPr>
          <p:cNvPr id="80" name="TextBox 79">
            <a:extLst>
              <a:ext uri="{FF2B5EF4-FFF2-40B4-BE49-F238E27FC236}">
                <a16:creationId xmlns:a16="http://schemas.microsoft.com/office/drawing/2014/main" id="{977D4088-88A0-1D38-9387-CD145AAF7167}"/>
              </a:ext>
            </a:extLst>
          </p:cNvPr>
          <p:cNvSpPr txBox="1"/>
          <p:nvPr/>
        </p:nvSpPr>
        <p:spPr>
          <a:xfrm>
            <a:off x="2907792" y="2334767"/>
            <a:ext cx="1965960" cy="36576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Helvetica Neue"/>
              </a:rPr>
              <a:t>How should we work?</a:t>
            </a:r>
          </a:p>
        </p:txBody>
      </p:sp>
      <p:sp>
        <p:nvSpPr>
          <p:cNvPr id="81" name="Right Arrow 12">
            <a:extLst>
              <a:ext uri="{FF2B5EF4-FFF2-40B4-BE49-F238E27FC236}">
                <a16:creationId xmlns:a16="http://schemas.microsoft.com/office/drawing/2014/main" id="{BFA1DBF3-0E7B-F3D4-7B12-C466D7CAE801}"/>
              </a:ext>
            </a:extLst>
          </p:cNvPr>
          <p:cNvSpPr/>
          <p:nvPr/>
        </p:nvSpPr>
        <p:spPr>
          <a:xfrm>
            <a:off x="4935093" y="2023872"/>
            <a:ext cx="237744" cy="228600"/>
          </a:xfrm>
          <a:prstGeom prst="rightArrow">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2" name="TextBox 81">
            <a:extLst>
              <a:ext uri="{FF2B5EF4-FFF2-40B4-BE49-F238E27FC236}">
                <a16:creationId xmlns:a16="http://schemas.microsoft.com/office/drawing/2014/main" id="{EC2CE458-6731-201E-A11C-9164750B9366}"/>
              </a:ext>
            </a:extLst>
          </p:cNvPr>
          <p:cNvSpPr txBox="1"/>
          <p:nvPr/>
        </p:nvSpPr>
        <p:spPr>
          <a:xfrm>
            <a:off x="5221224" y="1694688"/>
            <a:ext cx="1965960" cy="2743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Helvetica Neue"/>
              </a:rPr>
              <a:t>Step 03</a:t>
            </a:r>
          </a:p>
        </p:txBody>
      </p:sp>
      <p:sp>
        <p:nvSpPr>
          <p:cNvPr id="83" name="TextBox 82">
            <a:extLst>
              <a:ext uri="{FF2B5EF4-FFF2-40B4-BE49-F238E27FC236}">
                <a16:creationId xmlns:a16="http://schemas.microsoft.com/office/drawing/2014/main" id="{F6A90099-8A84-D8BE-781B-B8064334DD86}"/>
              </a:ext>
            </a:extLst>
          </p:cNvPr>
          <p:cNvSpPr txBox="1"/>
          <p:nvPr/>
        </p:nvSpPr>
        <p:spPr>
          <a:xfrm>
            <a:off x="5221224" y="1969007"/>
            <a:ext cx="1965960" cy="347472"/>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2C3E50"/>
                </a:solidFill>
                <a:latin typeface="Helvetica Neue"/>
              </a:rPr>
              <a:t>Design Tool Ecosystem</a:t>
            </a:r>
          </a:p>
        </p:txBody>
      </p:sp>
      <p:sp>
        <p:nvSpPr>
          <p:cNvPr id="84" name="TextBox 83">
            <a:extLst>
              <a:ext uri="{FF2B5EF4-FFF2-40B4-BE49-F238E27FC236}">
                <a16:creationId xmlns:a16="http://schemas.microsoft.com/office/drawing/2014/main" id="{34D41A8D-4C42-A9DD-26EE-3FCE5A6E0A03}"/>
              </a:ext>
            </a:extLst>
          </p:cNvPr>
          <p:cNvSpPr txBox="1"/>
          <p:nvPr/>
        </p:nvSpPr>
        <p:spPr>
          <a:xfrm>
            <a:off x="5221224" y="2334767"/>
            <a:ext cx="1965960" cy="36576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Helvetica Neue"/>
              </a:rPr>
              <a:t>What supports the process?</a:t>
            </a:r>
          </a:p>
        </p:txBody>
      </p:sp>
      <p:sp>
        <p:nvSpPr>
          <p:cNvPr id="85" name="Right Arrow 17">
            <a:extLst>
              <a:ext uri="{FF2B5EF4-FFF2-40B4-BE49-F238E27FC236}">
                <a16:creationId xmlns:a16="http://schemas.microsoft.com/office/drawing/2014/main" id="{AA7890C0-0FD2-20EE-A43F-EB1F880595BD}"/>
              </a:ext>
            </a:extLst>
          </p:cNvPr>
          <p:cNvSpPr/>
          <p:nvPr/>
        </p:nvSpPr>
        <p:spPr>
          <a:xfrm>
            <a:off x="7248525" y="2023872"/>
            <a:ext cx="237744" cy="228600"/>
          </a:xfrm>
          <a:prstGeom prst="rightArrow">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6" name="TextBox 85">
            <a:extLst>
              <a:ext uri="{FF2B5EF4-FFF2-40B4-BE49-F238E27FC236}">
                <a16:creationId xmlns:a16="http://schemas.microsoft.com/office/drawing/2014/main" id="{FE098781-32AA-4107-72E8-F8462EF6AEF3}"/>
              </a:ext>
            </a:extLst>
          </p:cNvPr>
          <p:cNvSpPr txBox="1"/>
          <p:nvPr/>
        </p:nvSpPr>
        <p:spPr>
          <a:xfrm>
            <a:off x="7534656" y="1694688"/>
            <a:ext cx="1965960" cy="2743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Helvetica Neue"/>
              </a:rPr>
              <a:t>Step 04</a:t>
            </a:r>
          </a:p>
        </p:txBody>
      </p:sp>
      <p:sp>
        <p:nvSpPr>
          <p:cNvPr id="87" name="TextBox 86">
            <a:extLst>
              <a:ext uri="{FF2B5EF4-FFF2-40B4-BE49-F238E27FC236}">
                <a16:creationId xmlns:a16="http://schemas.microsoft.com/office/drawing/2014/main" id="{BA108A81-3AD1-39A0-90A1-296516E2C964}"/>
              </a:ext>
            </a:extLst>
          </p:cNvPr>
          <p:cNvSpPr txBox="1"/>
          <p:nvPr/>
        </p:nvSpPr>
        <p:spPr>
          <a:xfrm>
            <a:off x="7534656" y="1969007"/>
            <a:ext cx="1965960" cy="347472"/>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2C3E50"/>
                </a:solidFill>
                <a:latin typeface="Helvetica Neue"/>
              </a:rPr>
              <a:t>Pilot Execution (BRS)</a:t>
            </a:r>
          </a:p>
        </p:txBody>
      </p:sp>
      <p:sp>
        <p:nvSpPr>
          <p:cNvPr id="88" name="TextBox 87">
            <a:extLst>
              <a:ext uri="{FF2B5EF4-FFF2-40B4-BE49-F238E27FC236}">
                <a16:creationId xmlns:a16="http://schemas.microsoft.com/office/drawing/2014/main" id="{793B6C56-86F4-9F2D-3663-572E711BF8C3}"/>
              </a:ext>
            </a:extLst>
          </p:cNvPr>
          <p:cNvSpPr txBox="1"/>
          <p:nvPr/>
        </p:nvSpPr>
        <p:spPr>
          <a:xfrm>
            <a:off x="7534656" y="2334767"/>
            <a:ext cx="1965960" cy="36576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Helvetica Neue"/>
              </a:rPr>
              <a:t>Does it work in reality?</a:t>
            </a:r>
          </a:p>
        </p:txBody>
      </p:sp>
      <p:sp>
        <p:nvSpPr>
          <p:cNvPr id="89" name="Right Arrow 22">
            <a:extLst>
              <a:ext uri="{FF2B5EF4-FFF2-40B4-BE49-F238E27FC236}">
                <a16:creationId xmlns:a16="http://schemas.microsoft.com/office/drawing/2014/main" id="{2DDD8581-9F76-AE52-5781-FE2C0B4839FD}"/>
              </a:ext>
            </a:extLst>
          </p:cNvPr>
          <p:cNvSpPr/>
          <p:nvPr/>
        </p:nvSpPr>
        <p:spPr>
          <a:xfrm>
            <a:off x="9561957" y="2023872"/>
            <a:ext cx="237744" cy="228600"/>
          </a:xfrm>
          <a:prstGeom prst="rightArrow">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0" name="TextBox 89">
            <a:extLst>
              <a:ext uri="{FF2B5EF4-FFF2-40B4-BE49-F238E27FC236}">
                <a16:creationId xmlns:a16="http://schemas.microsoft.com/office/drawing/2014/main" id="{CF97E9AE-B2B2-6110-C08C-7BD0FB4203B0}"/>
              </a:ext>
            </a:extLst>
          </p:cNvPr>
          <p:cNvSpPr txBox="1"/>
          <p:nvPr/>
        </p:nvSpPr>
        <p:spPr>
          <a:xfrm>
            <a:off x="9848088" y="1694688"/>
            <a:ext cx="1965960" cy="27432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Helvetica Neue"/>
              </a:rPr>
              <a:t>Step 05</a:t>
            </a:r>
          </a:p>
        </p:txBody>
      </p:sp>
      <p:sp>
        <p:nvSpPr>
          <p:cNvPr id="91" name="TextBox 90">
            <a:extLst>
              <a:ext uri="{FF2B5EF4-FFF2-40B4-BE49-F238E27FC236}">
                <a16:creationId xmlns:a16="http://schemas.microsoft.com/office/drawing/2014/main" id="{6382B055-3AE1-6CDA-64F4-99B901A3B21A}"/>
              </a:ext>
            </a:extLst>
          </p:cNvPr>
          <p:cNvSpPr txBox="1"/>
          <p:nvPr/>
        </p:nvSpPr>
        <p:spPr>
          <a:xfrm>
            <a:off x="9848088" y="1969007"/>
            <a:ext cx="1965960" cy="347472"/>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2C3E50"/>
                </a:solidFill>
                <a:latin typeface="Helvetica Neue"/>
              </a:rPr>
              <a:t>Learn &amp; Adjust</a:t>
            </a:r>
          </a:p>
        </p:txBody>
      </p:sp>
      <p:sp>
        <p:nvSpPr>
          <p:cNvPr id="92" name="TextBox 91">
            <a:extLst>
              <a:ext uri="{FF2B5EF4-FFF2-40B4-BE49-F238E27FC236}">
                <a16:creationId xmlns:a16="http://schemas.microsoft.com/office/drawing/2014/main" id="{CAC935C6-498F-C33A-EF44-3BDB7A3043BB}"/>
              </a:ext>
            </a:extLst>
          </p:cNvPr>
          <p:cNvSpPr txBox="1"/>
          <p:nvPr/>
        </p:nvSpPr>
        <p:spPr>
          <a:xfrm>
            <a:off x="9848088" y="2334767"/>
            <a:ext cx="1965960" cy="36576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95A5A6"/>
                </a:solidFill>
                <a:latin typeface="Helvetica Neue"/>
              </a:rPr>
              <a:t>What needs refinement?</a:t>
            </a:r>
          </a:p>
        </p:txBody>
      </p:sp>
      <p:sp>
        <p:nvSpPr>
          <p:cNvPr id="93" name="Rectangle 92">
            <a:extLst>
              <a:ext uri="{FF2B5EF4-FFF2-40B4-BE49-F238E27FC236}">
                <a16:creationId xmlns:a16="http://schemas.microsoft.com/office/drawing/2014/main" id="{979FA030-A4DC-509B-331C-17698492FCE1}"/>
              </a:ext>
            </a:extLst>
          </p:cNvPr>
          <p:cNvSpPr/>
          <p:nvPr/>
        </p:nvSpPr>
        <p:spPr>
          <a:xfrm>
            <a:off x="457200" y="2834640"/>
            <a:ext cx="11509248" cy="3474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4" name="TextBox 93">
            <a:extLst>
              <a:ext uri="{FF2B5EF4-FFF2-40B4-BE49-F238E27FC236}">
                <a16:creationId xmlns:a16="http://schemas.microsoft.com/office/drawing/2014/main" id="{21BEA7C6-F3B4-F5FF-2585-EDBF4677432C}"/>
              </a:ext>
            </a:extLst>
          </p:cNvPr>
          <p:cNvSpPr txBox="1"/>
          <p:nvPr/>
        </p:nvSpPr>
        <p:spPr>
          <a:xfrm>
            <a:off x="457200" y="2922487"/>
            <a:ext cx="11274552" cy="171778"/>
          </a:xfrm>
          <a:prstGeom prst="rect">
            <a:avLst/>
          </a:prstGeom>
          <a:noFill/>
        </p:spPr>
        <p:txBody>
          <a:bodyPr wrap="square" lIns="0" tIns="0" rIns="0" bIns="0" anchor="ctr">
            <a:spAutoFit/>
          </a:bodyPr>
          <a:lstStyle/>
          <a:p>
            <a:pPr algn="ctr">
              <a:lnSpc>
                <a:spcPct val="110000"/>
              </a:lnSpc>
              <a:spcBef>
                <a:spcPts val="0"/>
              </a:spcBef>
              <a:spcAft>
                <a:spcPts val="0"/>
              </a:spcAft>
            </a:pPr>
            <a:r>
              <a:rPr lang="en-US" sz="1100" b="1" i="0" noProof="0">
                <a:solidFill>
                  <a:srgbClr val="FFFFFF"/>
                </a:solidFill>
                <a:latin typeface="Helvetica Neue"/>
              </a:rPr>
              <a:t>STEP 1  —  ENABLEMENT  ·  ZOOM IN</a:t>
            </a:r>
          </a:p>
        </p:txBody>
      </p:sp>
      <p:sp>
        <p:nvSpPr>
          <p:cNvPr id="95" name="TextBox 94">
            <a:extLst>
              <a:ext uri="{FF2B5EF4-FFF2-40B4-BE49-F238E27FC236}">
                <a16:creationId xmlns:a16="http://schemas.microsoft.com/office/drawing/2014/main" id="{8DAA5A37-CCC5-AB87-CFD2-48DE1828F30D}"/>
              </a:ext>
            </a:extLst>
          </p:cNvPr>
          <p:cNvSpPr txBox="1"/>
          <p:nvPr/>
        </p:nvSpPr>
        <p:spPr>
          <a:xfrm>
            <a:off x="457200" y="3310128"/>
            <a:ext cx="68580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B76A0"/>
                </a:solidFill>
                <a:latin typeface="Helvetica Neue"/>
              </a:rPr>
              <a:t>WHAT WE DID</a:t>
            </a:r>
          </a:p>
        </p:txBody>
      </p:sp>
      <p:sp>
        <p:nvSpPr>
          <p:cNvPr id="96" name="Rectangle 95">
            <a:extLst>
              <a:ext uri="{FF2B5EF4-FFF2-40B4-BE49-F238E27FC236}">
                <a16:creationId xmlns:a16="http://schemas.microsoft.com/office/drawing/2014/main" id="{D3981AA5-DDEE-F9C0-4B98-2A403926EB53}"/>
              </a:ext>
            </a:extLst>
          </p:cNvPr>
          <p:cNvSpPr/>
          <p:nvPr/>
        </p:nvSpPr>
        <p:spPr>
          <a:xfrm>
            <a:off x="457200" y="36027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7" name="TextBox 96">
            <a:extLst>
              <a:ext uri="{FF2B5EF4-FFF2-40B4-BE49-F238E27FC236}">
                <a16:creationId xmlns:a16="http://schemas.microsoft.com/office/drawing/2014/main" id="{43A885BE-14D8-7794-0F2E-E8C14D31420F}"/>
              </a:ext>
            </a:extLst>
          </p:cNvPr>
          <p:cNvSpPr txBox="1"/>
          <p:nvPr/>
        </p:nvSpPr>
        <p:spPr>
          <a:xfrm>
            <a:off x="640080" y="3602736"/>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Helvetica Neue"/>
              </a:rPr>
              <a:t>Prior Materials Review</a:t>
            </a:r>
          </a:p>
        </p:txBody>
      </p:sp>
      <p:sp>
        <p:nvSpPr>
          <p:cNvPr id="98" name="TextBox 97">
            <a:extLst>
              <a:ext uri="{FF2B5EF4-FFF2-40B4-BE49-F238E27FC236}">
                <a16:creationId xmlns:a16="http://schemas.microsoft.com/office/drawing/2014/main" id="{204A045C-F078-2222-523C-A088F4218D7F}"/>
              </a:ext>
            </a:extLst>
          </p:cNvPr>
          <p:cNvSpPr txBox="1"/>
          <p:nvPr/>
        </p:nvSpPr>
        <p:spPr>
          <a:xfrm>
            <a:off x="640080" y="3840480"/>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60DE9C39-2A15-AB72-DFB8-B41804565A5B}"/>
              </a:ext>
            </a:extLst>
          </p:cNvPr>
          <p:cNvSpPr/>
          <p:nvPr/>
        </p:nvSpPr>
        <p:spPr>
          <a:xfrm>
            <a:off x="457200" y="437997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0" name="TextBox 99">
            <a:extLst>
              <a:ext uri="{FF2B5EF4-FFF2-40B4-BE49-F238E27FC236}">
                <a16:creationId xmlns:a16="http://schemas.microsoft.com/office/drawing/2014/main" id="{96CA6CB0-043F-E560-F0DC-100521F58760}"/>
              </a:ext>
            </a:extLst>
          </p:cNvPr>
          <p:cNvSpPr txBox="1"/>
          <p:nvPr/>
        </p:nvSpPr>
        <p:spPr>
          <a:xfrm>
            <a:off x="640080" y="4379976"/>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Helvetica Neue"/>
              </a:rPr>
              <a:t>Stakeholder Interviews</a:t>
            </a:r>
          </a:p>
        </p:txBody>
      </p:sp>
      <p:sp>
        <p:nvSpPr>
          <p:cNvPr id="101" name="TextBox 100">
            <a:extLst>
              <a:ext uri="{FF2B5EF4-FFF2-40B4-BE49-F238E27FC236}">
                <a16:creationId xmlns:a16="http://schemas.microsoft.com/office/drawing/2014/main" id="{3387EB32-73FE-57B3-8F1C-7526DB18031C}"/>
              </a:ext>
            </a:extLst>
          </p:cNvPr>
          <p:cNvSpPr txBox="1"/>
          <p:nvPr/>
        </p:nvSpPr>
        <p:spPr>
          <a:xfrm>
            <a:off x="640080" y="4617720"/>
            <a:ext cx="6492240" cy="493661"/>
          </a:xfrm>
          <a:prstGeom prst="rect">
            <a:avLst/>
          </a:prstGeom>
          <a:noFill/>
        </p:spPr>
        <p:txBody>
          <a:bodyPr wrap="square" lIns="0" tIns="0" rIns="0" bIns="0" anchor="t">
            <a:spAutoFit/>
          </a:bodyPr>
          <a:lstStyle/>
          <a:p>
            <a:pPr algn="l">
              <a:lnSpc>
                <a:spcPct val="110000"/>
              </a:lnSpc>
              <a:spcBef>
                <a:spcPts val="0"/>
              </a:spcBef>
              <a:spcAft>
                <a:spcPts val="0"/>
              </a:spcAft>
            </a:pPr>
            <a:r>
              <a:rPr lang="en-US" sz="1000" noProof="0">
                <a:solidFill>
                  <a:srgbClr val="2C3E50"/>
                </a:solidFill>
                <a:latin typeface="Helvetica Neue"/>
              </a:rPr>
              <a:t>C</a:t>
            </a:r>
            <a:r>
              <a:rPr lang="en-US" sz="1000" b="0" i="0" noProof="0">
                <a:solidFill>
                  <a:srgbClr val="2C3E50"/>
                </a:solidFill>
                <a:latin typeface="Helvetica Neue"/>
              </a:rPr>
              <a:t>hampion interviews (GIS, Corporate, G&amp;E, Global SAP, Smart Metering (IT Business Applications) and SAP (Customer Services)) + </a:t>
            </a:r>
            <a:r>
              <a:rPr lang="en-US" sz="1000">
                <a:solidFill>
                  <a:srgbClr val="2C3E50"/>
                </a:solidFill>
                <a:latin typeface="Helvetica Neue"/>
              </a:rPr>
              <a:t>Senior Management </a:t>
            </a:r>
            <a:r>
              <a:rPr lang="en-US" sz="1000" b="0" i="0" noProof="0">
                <a:solidFill>
                  <a:srgbClr val="2C3E50"/>
                </a:solidFill>
                <a:latin typeface="Helvetica Neue"/>
              </a:rPr>
              <a:t>sessions (</a:t>
            </a:r>
            <a:r>
              <a:rPr lang="en-US" sz="1000" b="0" i="0" noProof="0" err="1">
                <a:solidFill>
                  <a:srgbClr val="2C3E50"/>
                </a:solidFill>
                <a:latin typeface="Helvetica Neue"/>
              </a:rPr>
              <a:t>Vtior</a:t>
            </a:r>
            <a:r>
              <a:rPr lang="en-US" sz="1000" b="0" i="0" noProof="0">
                <a:solidFill>
                  <a:srgbClr val="2C3E50"/>
                </a:solidFill>
                <a:latin typeface="Helvetica Neue"/>
              </a:rPr>
              <a:t>, Heather, Carlos</a:t>
            </a:r>
            <a:r>
              <a:rPr lang="en-US" sz="1000" b="0" i="0">
                <a:solidFill>
                  <a:srgbClr val="2C3E50"/>
                </a:solidFill>
                <a:latin typeface="Helvetica Neue"/>
              </a:rPr>
              <a:t> &amp; </a:t>
            </a:r>
            <a:r>
              <a:rPr lang="en-US" sz="1000" b="0" i="0" noProof="0">
                <a:solidFill>
                  <a:srgbClr val="2C3E50"/>
                </a:solidFill>
                <a:latin typeface="Helvetica Neue"/>
              </a:rPr>
              <a:t>Kumar). Captured intake channels, tools, roles, pain points and aspirations per team.</a:t>
            </a:r>
          </a:p>
        </p:txBody>
      </p:sp>
      <p:sp>
        <p:nvSpPr>
          <p:cNvPr id="102" name="Rectangle 101">
            <a:extLst>
              <a:ext uri="{FF2B5EF4-FFF2-40B4-BE49-F238E27FC236}">
                <a16:creationId xmlns:a16="http://schemas.microsoft.com/office/drawing/2014/main" id="{DA0FC179-EAD1-FC08-2611-94A6352B781C}"/>
              </a:ext>
            </a:extLst>
          </p:cNvPr>
          <p:cNvSpPr/>
          <p:nvPr/>
        </p:nvSpPr>
        <p:spPr>
          <a:xfrm>
            <a:off x="457200" y="515721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3" name="TextBox 102">
            <a:extLst>
              <a:ext uri="{FF2B5EF4-FFF2-40B4-BE49-F238E27FC236}">
                <a16:creationId xmlns:a16="http://schemas.microsoft.com/office/drawing/2014/main" id="{86F86687-4B71-F8D2-A684-ED8CA93A8336}"/>
              </a:ext>
            </a:extLst>
          </p:cNvPr>
          <p:cNvSpPr txBox="1"/>
          <p:nvPr/>
        </p:nvSpPr>
        <p:spPr>
          <a:xfrm>
            <a:off x="640080" y="515721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Helvetica Neue"/>
              </a:rPr>
              <a:t>Demand &amp; Portfolio Interviews</a:t>
            </a:r>
            <a:endParaRPr lang="en-US" sz="1100" b="1" i="0" noProof="0">
              <a:solidFill>
                <a:srgbClr val="0B76A0"/>
              </a:solidFill>
              <a:latin typeface="Helvetica Neue"/>
            </a:endParaRPr>
          </a:p>
        </p:txBody>
      </p:sp>
      <p:sp>
        <p:nvSpPr>
          <p:cNvPr id="104" name="TextBox 103">
            <a:extLst>
              <a:ext uri="{FF2B5EF4-FFF2-40B4-BE49-F238E27FC236}">
                <a16:creationId xmlns:a16="http://schemas.microsoft.com/office/drawing/2014/main" id="{75C58383-D5A8-B4B0-311D-DE83EF176AA8}"/>
              </a:ext>
            </a:extLst>
          </p:cNvPr>
          <p:cNvSpPr txBox="1"/>
          <p:nvPr/>
        </p:nvSpPr>
        <p:spPr>
          <a:xfrm>
            <a:off x="640080" y="5394959"/>
            <a:ext cx="6492240" cy="155107"/>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Mapped demand typology per team across the 5 lifecycle stages. </a:t>
            </a:r>
          </a:p>
        </p:txBody>
      </p:sp>
      <p:sp>
        <p:nvSpPr>
          <p:cNvPr id="105" name="TextBox 104">
            <a:extLst>
              <a:ext uri="{FF2B5EF4-FFF2-40B4-BE49-F238E27FC236}">
                <a16:creationId xmlns:a16="http://schemas.microsoft.com/office/drawing/2014/main" id="{6108A55C-7C5B-34FE-2185-DD5450F34D2F}"/>
              </a:ext>
            </a:extLst>
          </p:cNvPr>
          <p:cNvSpPr txBox="1"/>
          <p:nvPr/>
        </p:nvSpPr>
        <p:spPr>
          <a:xfrm>
            <a:off x="7772400" y="3310128"/>
            <a:ext cx="4114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0A443"/>
                </a:solidFill>
                <a:latin typeface="Helvetica Neue"/>
              </a:rPr>
              <a:t>DELIVERABLES OF STEP 1</a:t>
            </a:r>
          </a:p>
        </p:txBody>
      </p:sp>
      <p:sp>
        <p:nvSpPr>
          <p:cNvPr id="106" name="Rectangle 105">
            <a:extLst>
              <a:ext uri="{FF2B5EF4-FFF2-40B4-BE49-F238E27FC236}">
                <a16:creationId xmlns:a16="http://schemas.microsoft.com/office/drawing/2014/main" id="{CD28CEA3-4EEE-555A-2ADB-18E3CD596A37}"/>
              </a:ext>
            </a:extLst>
          </p:cNvPr>
          <p:cNvSpPr/>
          <p:nvPr/>
        </p:nvSpPr>
        <p:spPr>
          <a:xfrm>
            <a:off x="7772400" y="3611880"/>
            <a:ext cx="4194048" cy="222679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7" name="Rectangle 106">
            <a:extLst>
              <a:ext uri="{FF2B5EF4-FFF2-40B4-BE49-F238E27FC236}">
                <a16:creationId xmlns:a16="http://schemas.microsoft.com/office/drawing/2014/main" id="{2A7D7554-02CA-2790-209C-EDAC8AC94D30}"/>
              </a:ext>
            </a:extLst>
          </p:cNvPr>
          <p:cNvSpPr/>
          <p:nvPr/>
        </p:nvSpPr>
        <p:spPr>
          <a:xfrm>
            <a:off x="7772400" y="3611879"/>
            <a:ext cx="73152" cy="222679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8" name="TextBox 107">
            <a:extLst>
              <a:ext uri="{FF2B5EF4-FFF2-40B4-BE49-F238E27FC236}">
                <a16:creationId xmlns:a16="http://schemas.microsoft.com/office/drawing/2014/main" id="{B5CE39DE-8F3E-7128-20A3-6F91EC7CE8F8}"/>
              </a:ext>
            </a:extLst>
          </p:cNvPr>
          <p:cNvSpPr txBox="1"/>
          <p:nvPr/>
        </p:nvSpPr>
        <p:spPr>
          <a:xfrm>
            <a:off x="8001000" y="3749039"/>
            <a:ext cx="3657600" cy="729239"/>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  Baseline Report (</a:t>
            </a:r>
            <a:r>
              <a:rPr lang="en-US" sz="1100" noProof="0">
                <a:solidFill>
                  <a:srgbClr val="2C3E50"/>
                </a:solidFill>
                <a:latin typeface="Helvetica Neue"/>
              </a:rPr>
              <a:t>this deck</a:t>
            </a:r>
            <a:r>
              <a:rPr lang="en-US" sz="1100" b="0" i="0" noProof="0">
                <a:solidFill>
                  <a:srgbClr val="2C3E50"/>
                </a:solidFill>
                <a:latin typeface="Helvetica Neue"/>
              </a:rPr>
              <a:t>)</a:t>
            </a:r>
          </a:p>
          <a:p>
            <a:pPr algn="l">
              <a:lnSpc>
                <a:spcPct val="110000"/>
              </a:lnSpc>
              <a:spcBef>
                <a:spcPts val="0"/>
              </a:spcBef>
              <a:spcAft>
                <a:spcPts val="0"/>
              </a:spcAft>
            </a:pPr>
            <a:endParaRPr lang="en-US" sz="1100" b="0" i="0" noProof="0">
              <a:solidFill>
                <a:srgbClr val="2C3E50"/>
              </a:solidFill>
              <a:latin typeface="Helvetica Neue"/>
            </a:endParaRPr>
          </a:p>
          <a:p>
            <a:pPr algn="l">
              <a:lnSpc>
                <a:spcPct val="110000"/>
              </a:lnSpc>
              <a:spcBef>
                <a:spcPts val="0"/>
              </a:spcBef>
              <a:spcAft>
                <a:spcPts val="0"/>
              </a:spcAft>
            </a:pPr>
            <a:r>
              <a:rPr lang="en-US" sz="1100" b="0" i="0" noProof="0">
                <a:solidFill>
                  <a:srgbClr val="2C3E50"/>
                </a:solidFill>
                <a:latin typeface="Helvetica Neue"/>
              </a:rPr>
              <a:t>▪  Champion Interview Log (6 interviews)</a:t>
            </a:r>
          </a:p>
          <a:p>
            <a:pPr algn="l">
              <a:lnSpc>
                <a:spcPct val="110000"/>
              </a:lnSpc>
              <a:spcBef>
                <a:spcPts val="0"/>
              </a:spcBef>
              <a:spcAft>
                <a:spcPts val="0"/>
              </a:spcAft>
            </a:pPr>
            <a:endParaRPr lang="en-US" sz="1100" b="0" i="0" noProof="0">
              <a:solidFill>
                <a:srgbClr val="2C3E50"/>
              </a:solidFill>
              <a:latin typeface="Helvetica Neue"/>
            </a:endParaRPr>
          </a:p>
        </p:txBody>
      </p:sp>
      <p:sp>
        <p:nvSpPr>
          <p:cNvPr id="109" name="Rectangle 108">
            <a:extLst>
              <a:ext uri="{FF2B5EF4-FFF2-40B4-BE49-F238E27FC236}">
                <a16:creationId xmlns:a16="http://schemas.microsoft.com/office/drawing/2014/main" id="{6C320ED9-99D1-2E17-641B-3BDF9519A0FD}"/>
              </a:ext>
            </a:extLst>
          </p:cNvPr>
          <p:cNvSpPr/>
          <p:nvPr/>
        </p:nvSpPr>
        <p:spPr>
          <a:xfrm>
            <a:off x="441960" y="5884392"/>
            <a:ext cx="1150924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0" name="TextBox 109">
            <a:extLst>
              <a:ext uri="{FF2B5EF4-FFF2-40B4-BE49-F238E27FC236}">
                <a16:creationId xmlns:a16="http://schemas.microsoft.com/office/drawing/2014/main" id="{321D6012-BDF0-F3DC-AB47-20EA342777EB}"/>
              </a:ext>
            </a:extLst>
          </p:cNvPr>
          <p:cNvSpPr txBox="1"/>
          <p:nvPr/>
        </p:nvSpPr>
        <p:spPr>
          <a:xfrm>
            <a:off x="670560" y="5930112"/>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 Demand Map is the evidence backbone — Step 2 (Define Lifecycle) consumes these findings to draft the Lifecycle v1.0, Demand Typology and Roles &amp; RACI</a:t>
            </a:r>
          </a:p>
        </p:txBody>
      </p:sp>
    </p:spTree>
    <p:extLst>
      <p:ext uri="{BB962C8B-B14F-4D97-AF65-F5344CB8AC3E}">
        <p14:creationId xmlns:p14="http://schemas.microsoft.com/office/powerpoint/2010/main" val="799185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4EADD-106D-4DDB-40A2-1E0A1C8D96A6}"/>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AD5B831A-C605-0C91-8845-6A78AA486A81}"/>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96342CA2-F516-439D-FF71-10838D03B427}"/>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6D47B96-0844-FD0F-527A-3868579EEDE3}"/>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369774F5-6EAF-A11C-6432-082BA0413D83}"/>
              </a:ext>
            </a:extLst>
          </p:cNvPr>
          <p:cNvSpPr txBox="1"/>
          <p:nvPr/>
        </p:nvSpPr>
        <p:spPr>
          <a:xfrm>
            <a:off x="1077073" y="1141030"/>
            <a:ext cx="462060" cy="524182"/>
          </a:xfrm>
          <a:prstGeom prst="rect">
            <a:avLst/>
          </a:prstGeom>
        </p:spPr>
        <p:txBody>
          <a:bodyPr wrap="square" lIns="0" tIns="0" rIns="0" bIns="0" rtlCol="0" anchor="t">
            <a:spAutoFit/>
          </a:bodyPr>
          <a:lstStyle/>
          <a:p>
            <a:pPr>
              <a:lnSpc>
                <a:spcPts val="4608"/>
              </a:lnSpc>
            </a:pPr>
            <a:r>
              <a:rPr lang="en-US" sz="2400" b="1" noProof="0">
                <a:solidFill>
                  <a:schemeClr val="bg2">
                    <a:lumMod val="75000"/>
                  </a:schemeClr>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F8758AB4-D3CE-2C46-5058-795201C0BC10}"/>
              </a:ext>
            </a:extLst>
          </p:cNvPr>
          <p:cNvSpPr txBox="1"/>
          <p:nvPr/>
        </p:nvSpPr>
        <p:spPr>
          <a:xfrm>
            <a:off x="1063128" y="2827839"/>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D42FEC7-0DF4-E5A4-D78D-DF7B97DFBA98}"/>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B94AC3BB-1FF7-DFD4-1CD3-8057D82CA47D}"/>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80DE838B-DEE2-576F-B9CE-33EEAFF2B587}"/>
                </a:ext>
              </a:extLst>
            </p:cNvPr>
            <p:cNvSpPr txBox="1"/>
            <p:nvPr/>
          </p:nvSpPr>
          <p:spPr>
            <a:xfrm>
              <a:off x="1816102" y="2983372"/>
              <a:ext cx="7868967" cy="453714"/>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82741486-2C2A-3FFC-4FCC-0CA3B3A86B4B}"/>
              </a:ext>
            </a:extLst>
          </p:cNvPr>
          <p:cNvSpPr txBox="1"/>
          <p:nvPr/>
        </p:nvSpPr>
        <p:spPr>
          <a:xfrm>
            <a:off x="1063128" y="3699805"/>
            <a:ext cx="525169"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8A321DED-BCF2-58B5-A171-8F17C98D1144}"/>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2CBFA872-4C1F-7C2A-98AC-BBD424F5A79C}"/>
              </a:ext>
            </a:extLst>
          </p:cNvPr>
          <p:cNvSpPr txBox="1"/>
          <p:nvPr/>
        </p:nvSpPr>
        <p:spPr>
          <a:xfrm>
            <a:off x="1063128" y="4600799"/>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7675BB8A-9AA3-E384-5B68-48ECC1C20F39}"/>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C4F5B3AF-9B72-AE08-85B9-23102627D906}"/>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Analysis/Demand MAP</a:t>
              </a:r>
            </a:p>
          </p:txBody>
        </p:sp>
        <p:sp>
          <p:nvSpPr>
            <p:cNvPr id="17" name="TextBox 16">
              <a:extLst>
                <a:ext uri="{FF2B5EF4-FFF2-40B4-BE49-F238E27FC236}">
                  <a16:creationId xmlns:a16="http://schemas.microsoft.com/office/drawing/2014/main" id="{082D1AF1-09A3-95B8-A73B-31A0113562DE}"/>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7B82202E-3437-B0D5-5392-00AD2C3FFEF2}"/>
              </a:ext>
            </a:extLst>
          </p:cNvPr>
          <p:cNvSpPr txBox="1"/>
          <p:nvPr/>
        </p:nvSpPr>
        <p:spPr>
          <a:xfrm>
            <a:off x="1063128" y="5501791"/>
            <a:ext cx="487952"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8A45AA19-493B-0659-5955-592ED92BC028}"/>
              </a:ext>
            </a:extLst>
          </p:cNvPr>
          <p:cNvGrpSpPr/>
          <p:nvPr/>
        </p:nvGrpSpPr>
        <p:grpSpPr>
          <a:xfrm>
            <a:off x="1861346" y="1170058"/>
            <a:ext cx="9578128" cy="560103"/>
            <a:chOff x="1809304" y="1852249"/>
            <a:chExt cx="9578128" cy="560103"/>
          </a:xfrm>
        </p:grpSpPr>
        <p:sp>
          <p:nvSpPr>
            <p:cNvPr id="11" name="TextBox 11">
              <a:extLst>
                <a:ext uri="{FF2B5EF4-FFF2-40B4-BE49-F238E27FC236}">
                  <a16:creationId xmlns:a16="http://schemas.microsoft.com/office/drawing/2014/main" id="{A87B27D1-42BA-CA56-608B-1B2D0F4182D7}"/>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cs typeface="Arial" panose="020B0604020202020204" pitchFamily="34" charset="0"/>
                </a:rPr>
                <a:t>Context</a:t>
              </a:r>
              <a:endParaRPr lang="en-US" sz="20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670961E8-6A83-7E98-61BD-4BFD99D52DF6}"/>
                </a:ext>
              </a:extLst>
            </p:cNvPr>
            <p:cNvSpPr txBox="1"/>
            <p:nvPr/>
          </p:nvSpPr>
          <p:spPr>
            <a:xfrm>
              <a:off x="1809304" y="2198383"/>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cs typeface="Arial" panose="020B0604020202020204" pitchFamily="34" charset="0"/>
                </a:rPr>
                <a:t>Document summary</a:t>
              </a:r>
              <a:endParaRPr lang="en-US" sz="1200" noProof="0">
                <a:solidFill>
                  <a:schemeClr val="bg2">
                    <a:lumMod val="75000"/>
                  </a:schemeClr>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BA98F0BB-B188-208B-7CD4-653611A9B426}"/>
              </a:ext>
            </a:extLst>
          </p:cNvPr>
          <p:cNvGrpSpPr/>
          <p:nvPr/>
        </p:nvGrpSpPr>
        <p:grpSpPr>
          <a:xfrm>
            <a:off x="1847401" y="4582202"/>
            <a:ext cx="9571332" cy="608564"/>
            <a:chOff x="1809305" y="5419675"/>
            <a:chExt cx="9571332" cy="608564"/>
          </a:xfrm>
        </p:grpSpPr>
        <p:sp>
          <p:nvSpPr>
            <p:cNvPr id="9" name="TextBox 19">
              <a:extLst>
                <a:ext uri="{FF2B5EF4-FFF2-40B4-BE49-F238E27FC236}">
                  <a16:creationId xmlns:a16="http://schemas.microsoft.com/office/drawing/2014/main" id="{B9A6ED15-FD3C-211D-1BD0-74F814030787}"/>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C86B47A4-FA2A-3F70-350F-B639ACAC30A9}"/>
                </a:ext>
              </a:extLst>
            </p:cNvPr>
            <p:cNvSpPr txBox="1"/>
            <p:nvPr/>
          </p:nvSpPr>
          <p:spPr>
            <a:xfrm>
              <a:off x="1809305" y="5814270"/>
              <a:ext cx="7868967" cy="213969"/>
            </a:xfrm>
            <a:prstGeom prst="rect">
              <a:avLst/>
            </a:prstGeom>
          </p:spPr>
          <p:txBody>
            <a:bodyPr wrap="square" lIns="0" tIns="0" rIns="0" bIns="0" rtlCol="0" anchor="t">
              <a:spAutoFit/>
            </a:bodyPr>
            <a:lstStyle/>
            <a:p>
              <a:pPr>
                <a:lnSpc>
                  <a:spcPts val="1820"/>
                </a:lnSpc>
              </a:pPr>
              <a:r>
                <a:rPr lang="en-US" sz="1200" noProof="0">
                  <a:solidFill>
                    <a:schemeClr val="bg2">
                      <a:lumMod val="75000"/>
                    </a:schemeClr>
                  </a:solidFill>
                  <a:latin typeface="Arial" panose="020B0604020202020204" pitchFamily="34" charset="0"/>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6C75F931-3E93-331B-5C8A-A76006E8696E}"/>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1BC42AEB-F8CE-6E5B-A1AB-2BDE8F6A60A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1CCDEB8B-521D-E9ED-47C9-9291F1C60E1E}"/>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009DC076-78F6-A640-B34B-4FAA1E289932}"/>
              </a:ext>
            </a:extLst>
          </p:cNvPr>
          <p:cNvSpPr txBox="1"/>
          <p:nvPr/>
        </p:nvSpPr>
        <p:spPr>
          <a:xfrm>
            <a:off x="1070275" y="2006772"/>
            <a:ext cx="537158" cy="52418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solidFill>
                  <a:schemeClr val="bg2">
                    <a:lumMod val="75000"/>
                  </a:schemeClr>
                </a:solidFill>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3D6C432A-20DA-B506-0C02-D9EA4B7D803A}"/>
              </a:ext>
            </a:extLst>
          </p:cNvPr>
          <p:cNvGrpSpPr/>
          <p:nvPr/>
        </p:nvGrpSpPr>
        <p:grpSpPr>
          <a:xfrm>
            <a:off x="1861346" y="1981111"/>
            <a:ext cx="9571333" cy="602642"/>
            <a:chOff x="1816102" y="2594699"/>
            <a:chExt cx="9571333" cy="602642"/>
          </a:xfrm>
        </p:grpSpPr>
        <p:sp>
          <p:nvSpPr>
            <p:cNvPr id="5" name="TextBox 15">
              <a:extLst>
                <a:ext uri="{FF2B5EF4-FFF2-40B4-BE49-F238E27FC236}">
                  <a16:creationId xmlns:a16="http://schemas.microsoft.com/office/drawing/2014/main" id="{AD9558E1-AC42-6D09-15C5-70D694D311FB}"/>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chemeClr val="bg2">
                      <a:lumMod val="75000"/>
                    </a:schemeClr>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6E33529-B2F2-3B41-6C1C-0E1A0F1F156C}"/>
                </a:ext>
              </a:extLst>
            </p:cNvPr>
            <p:cNvSpPr txBox="1"/>
            <p:nvPr/>
          </p:nvSpPr>
          <p:spPr>
            <a:xfrm>
              <a:off x="1816102" y="2983372"/>
              <a:ext cx="7868967" cy="21396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solidFill>
                    <a:schemeClr val="bg2">
                      <a:lumMod val="75000"/>
                    </a:schemeClr>
                  </a:solidFill>
                  <a:latin typeface="Arial" panose="020B0604020202020204" pitchFamily="34" charset="0"/>
                  <a:cs typeface="Arial" panose="020B0604020202020204" pitchFamily="34" charset="0"/>
                </a:rPr>
                <a:t>Why we are here. Executive findings &amp; implications. Methodology (Wave 1 Step 1 sources).</a:t>
              </a:r>
              <a:endParaRPr lang="en-US" sz="1200" noProof="0">
                <a:solidFill>
                  <a:schemeClr val="bg2">
                    <a:lumMod val="75000"/>
                  </a:schemeClr>
                </a:solidFill>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F080A916-1F94-1D70-7B57-28768B9D174E}"/>
              </a:ext>
            </a:extLst>
          </p:cNvPr>
          <p:cNvSpPr txBox="1"/>
          <p:nvPr/>
        </p:nvSpPr>
        <p:spPr>
          <a:xfrm>
            <a:off x="1063127" y="277976"/>
            <a:ext cx="3495835" cy="53585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5591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809-7900-FBE6-5AD7-D49E2E8D3EFB}"/>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9B4726B8-A11B-4006-B882-799A51537EB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algn="l"/>
            <a:r>
              <a:rPr sz="2200" b="1">
                <a:solidFill>
                  <a:srgbClr val="FFFFFF"/>
                </a:solidFill>
                <a:latin typeface="Calibri"/>
              </a:rPr>
              <a:t>BASELINE FRAMEWORK</a:t>
            </a:r>
          </a:p>
          <a:p>
            <a:pPr algn="l"/>
            <a:r>
              <a:rPr sz="1100" b="1">
                <a:solidFill>
                  <a:srgbClr val="FFFFFF"/>
                </a:solidFill>
                <a:latin typeface="Calibri"/>
              </a:rPr>
              <a:t>VALUE-STREAM MAPPING · FIVE-STAGE DEMAND LIFECYCLE</a:t>
            </a:r>
          </a:p>
        </p:txBody>
      </p:sp>
      <p:sp>
        <p:nvSpPr>
          <p:cNvPr id="165" name="TextBox 2">
            <a:extLst>
              <a:ext uri="{FF2B5EF4-FFF2-40B4-BE49-F238E27FC236}">
                <a16:creationId xmlns:a16="http://schemas.microsoft.com/office/drawing/2014/main" id="{9092D913-45B4-78A0-A020-2546C262B3B8}"/>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Across both director branches, Digital Products runs 6+ disconnected intake channels — no two teams share the same demand flow</a:t>
            </a:r>
          </a:p>
        </p:txBody>
      </p:sp>
      <p:sp>
        <p:nvSpPr>
          <p:cNvPr id="166" name="Rectangle 165"/>
          <p:cNvSpPr/>
          <p:nvPr/>
        </p:nvSpPr>
        <p:spPr>
          <a:xfrm>
            <a:off x="960120" y="2103120"/>
            <a:ext cx="329184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960120" y="2103120"/>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143000" y="2212848"/>
            <a:ext cx="2926080" cy="237744"/>
          </a:xfrm>
          <a:prstGeom prst="rect">
            <a:avLst/>
          </a:prstGeom>
          <a:noFill/>
        </p:spPr>
        <p:txBody>
          <a:bodyPr wrap="square" lIns="0" rIns="0" tIns="0" bIns="0" anchor="t">
            <a:spAutoFit/>
          </a:bodyPr>
          <a:lstStyle/>
          <a:p>
            <a:pPr algn="l">
              <a:lnSpc>
                <a:spcPct val="115000"/>
              </a:lnSpc>
              <a:spcBef>
                <a:spcPts val="0"/>
              </a:spcBef>
              <a:spcAft>
                <a:spcPts val="0"/>
              </a:spcAft>
            </a:pPr>
            <a:r>
              <a:rPr sz="1000" b="1" i="0">
                <a:solidFill>
                  <a:srgbClr val="1F4E79"/>
                </a:solidFill>
                <a:latin typeface="Arial"/>
              </a:rPr>
              <a:t>THE FRAMEWORK</a:t>
            </a:r>
          </a:p>
        </p:txBody>
      </p:sp>
      <p:sp>
        <p:nvSpPr>
          <p:cNvPr id="169" name="TextBox 168"/>
          <p:cNvSpPr txBox="1"/>
          <p:nvPr/>
        </p:nvSpPr>
        <p:spPr>
          <a:xfrm>
            <a:off x="1143000" y="2487168"/>
            <a:ext cx="2926080" cy="731520"/>
          </a:xfrm>
          <a:prstGeom prst="rect">
            <a:avLst/>
          </a:prstGeom>
          <a:noFill/>
        </p:spPr>
        <p:txBody>
          <a:bodyPr wrap="square" lIns="0" rIns="0" tIns="0" bIns="0" anchor="t">
            <a:spAutoFit/>
          </a:bodyPr>
          <a:lstStyle/>
          <a:p>
            <a:pPr algn="l">
              <a:lnSpc>
                <a:spcPct val="115000"/>
              </a:lnSpc>
              <a:spcBef>
                <a:spcPts val="0"/>
              </a:spcBef>
              <a:spcAft>
                <a:spcPts val="0"/>
              </a:spcAft>
            </a:pPr>
            <a:r>
              <a:rPr sz="900" b="0" i="0">
                <a:solidFill>
                  <a:srgbClr val="1A1A1A"/>
                </a:solidFill>
                <a:latin typeface="Arial"/>
              </a:rPr>
              <a:t>Value-Stream Mapping of the end-to-end demand lifecycle — 5 sequential stages that every demand must pass through, from the moment it arrives to the moment it is delivered.</a:t>
            </a:r>
          </a:p>
        </p:txBody>
      </p:sp>
      <p:sp>
        <p:nvSpPr>
          <p:cNvPr id="170" name="Rectangle 169"/>
          <p:cNvSpPr/>
          <p:nvPr/>
        </p:nvSpPr>
        <p:spPr>
          <a:xfrm>
            <a:off x="4370832" y="2103120"/>
            <a:ext cx="329184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4370832" y="2103120"/>
            <a:ext cx="329184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4553712" y="2212848"/>
            <a:ext cx="2926080" cy="237744"/>
          </a:xfrm>
          <a:prstGeom prst="rect">
            <a:avLst/>
          </a:prstGeom>
          <a:noFill/>
        </p:spPr>
        <p:txBody>
          <a:bodyPr wrap="square" lIns="0" rIns="0" tIns="0" bIns="0" anchor="t">
            <a:spAutoFit/>
          </a:bodyPr>
          <a:lstStyle/>
          <a:p>
            <a:pPr algn="l">
              <a:lnSpc>
                <a:spcPct val="115000"/>
              </a:lnSpc>
              <a:spcBef>
                <a:spcPts val="0"/>
              </a:spcBef>
              <a:spcAft>
                <a:spcPts val="0"/>
              </a:spcAft>
            </a:pPr>
            <a:r>
              <a:rPr sz="1000" b="1" i="0">
                <a:solidFill>
                  <a:srgbClr val="2E75B6"/>
                </a:solidFill>
                <a:latin typeface="Arial"/>
              </a:rPr>
              <a:t>WHY WE USE IT</a:t>
            </a:r>
          </a:p>
        </p:txBody>
      </p:sp>
      <p:sp>
        <p:nvSpPr>
          <p:cNvPr id="173" name="TextBox 172"/>
          <p:cNvSpPr txBox="1"/>
          <p:nvPr/>
        </p:nvSpPr>
        <p:spPr>
          <a:xfrm>
            <a:off x="4553712" y="2487168"/>
            <a:ext cx="2926080" cy="731520"/>
          </a:xfrm>
          <a:prstGeom prst="rect">
            <a:avLst/>
          </a:prstGeom>
          <a:noFill/>
        </p:spPr>
        <p:txBody>
          <a:bodyPr wrap="square" lIns="0" rIns="0" tIns="0" bIns="0" anchor="t">
            <a:spAutoFit/>
          </a:bodyPr>
          <a:lstStyle/>
          <a:p>
            <a:pPr algn="l">
              <a:lnSpc>
                <a:spcPct val="115000"/>
              </a:lnSpc>
              <a:spcBef>
                <a:spcPts val="0"/>
              </a:spcBef>
              <a:spcAft>
                <a:spcPts val="0"/>
              </a:spcAft>
            </a:pPr>
            <a:r>
              <a:rPr sz="900" b="0" i="0">
                <a:solidFill>
                  <a:srgbClr val="1A1A1A"/>
                </a:solidFill>
                <a:latin typeface="Arial"/>
              </a:rPr>
              <a:t>Provides a standardized lens to compare heterogeneous teams (6 intake channels, 6 prioritization logics) apples-to-apples — without this, every area's working answer looks locally valid but none scales.</a:t>
            </a:r>
          </a:p>
        </p:txBody>
      </p:sp>
      <p:sp>
        <p:nvSpPr>
          <p:cNvPr id="174" name="Rectangle 173"/>
          <p:cNvSpPr/>
          <p:nvPr/>
        </p:nvSpPr>
        <p:spPr>
          <a:xfrm>
            <a:off x="7781544" y="2103120"/>
            <a:ext cx="329184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7781544" y="2103120"/>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7964423" y="2212848"/>
            <a:ext cx="2926080" cy="237744"/>
          </a:xfrm>
          <a:prstGeom prst="rect">
            <a:avLst/>
          </a:prstGeom>
          <a:noFill/>
        </p:spPr>
        <p:txBody>
          <a:bodyPr wrap="square" lIns="0" rIns="0" tIns="0" bIns="0" anchor="t">
            <a:spAutoFit/>
          </a:bodyPr>
          <a:lstStyle/>
          <a:p>
            <a:pPr algn="l">
              <a:lnSpc>
                <a:spcPct val="115000"/>
              </a:lnSpc>
              <a:spcBef>
                <a:spcPts val="0"/>
              </a:spcBef>
              <a:spcAft>
                <a:spcPts val="0"/>
              </a:spcAft>
            </a:pPr>
            <a:r>
              <a:rPr sz="1000" b="1" i="0">
                <a:solidFill>
                  <a:srgbClr val="1F4E79"/>
                </a:solidFill>
                <a:latin typeface="Arial"/>
              </a:rPr>
              <a:t>WHAT IT REVEALS</a:t>
            </a:r>
          </a:p>
        </p:txBody>
      </p:sp>
      <p:sp>
        <p:nvSpPr>
          <p:cNvPr id="177" name="TextBox 176"/>
          <p:cNvSpPr txBox="1"/>
          <p:nvPr/>
        </p:nvSpPr>
        <p:spPr>
          <a:xfrm>
            <a:off x="7964423" y="2487168"/>
            <a:ext cx="2926080" cy="731520"/>
          </a:xfrm>
          <a:prstGeom prst="rect">
            <a:avLst/>
          </a:prstGeom>
          <a:noFill/>
        </p:spPr>
        <p:txBody>
          <a:bodyPr wrap="square" lIns="0" rIns="0" tIns="0" bIns="0" anchor="t">
            <a:spAutoFit/>
          </a:bodyPr>
          <a:lstStyle/>
          <a:p>
            <a:pPr algn="l">
              <a:lnSpc>
                <a:spcPct val="115000"/>
              </a:lnSpc>
              <a:spcBef>
                <a:spcPts val="0"/>
              </a:spcBef>
              <a:spcAft>
                <a:spcPts val="0"/>
              </a:spcAft>
            </a:pPr>
            <a:r>
              <a:rPr sz="900" b="0" i="0">
                <a:solidFill>
                  <a:srgbClr val="1A1A1A"/>
                </a:solidFill>
                <a:latin typeface="Arial"/>
              </a:rPr>
              <a:t>Per-stage maturity gaps per team, cross-branch fragmentation, and the specific bottlenecks the TOM must resolve — converting anecdote into structured evidence for the Baseline Report.</a:t>
            </a:r>
          </a:p>
        </p:txBody>
      </p:sp>
      <p:sp>
        <p:nvSpPr>
          <p:cNvPr id="178" name="Rectangle 177"/>
          <p:cNvSpPr/>
          <p:nvPr/>
        </p:nvSpPr>
        <p:spPr>
          <a:xfrm>
            <a:off x="960120" y="3401568"/>
            <a:ext cx="10204704" cy="7132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097280" y="3474720"/>
            <a:ext cx="2743200" cy="201168"/>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MATURITY SCALE</a:t>
            </a:r>
          </a:p>
        </p:txBody>
      </p:sp>
      <p:sp>
        <p:nvSpPr>
          <p:cNvPr id="180" name="TextBox 179"/>
          <p:cNvSpPr txBox="1"/>
          <p:nvPr/>
        </p:nvSpPr>
        <p:spPr>
          <a:xfrm>
            <a:off x="1097280" y="3703320"/>
            <a:ext cx="2743200" cy="256032"/>
          </a:xfrm>
          <a:prstGeom prst="rect">
            <a:avLst/>
          </a:prstGeom>
          <a:noFill/>
        </p:spPr>
        <p:txBody>
          <a:bodyPr wrap="square" lIns="0" rIns="0" tIns="0" bIns="0" anchor="t">
            <a:spAutoFit/>
          </a:bodyPr>
          <a:lstStyle/>
          <a:p>
            <a:pPr algn="l">
              <a:lnSpc>
                <a:spcPct val="115000"/>
              </a:lnSpc>
              <a:spcBef>
                <a:spcPts val="0"/>
              </a:spcBef>
              <a:spcAft>
                <a:spcPts val="0"/>
              </a:spcAft>
            </a:pPr>
            <a:r>
              <a:rPr sz="800" b="0" i="1">
                <a:solidFill>
                  <a:srgbClr val="CCDDEE"/>
                </a:solidFill>
                <a:latin typeface="Arial"/>
              </a:rPr>
              <a:t>Applied to every cell of the AS-IS matrix</a:t>
            </a:r>
          </a:p>
        </p:txBody>
      </p:sp>
      <p:sp>
        <p:nvSpPr>
          <p:cNvPr id="181" name="Oval 180"/>
          <p:cNvSpPr/>
          <p:nvPr/>
        </p:nvSpPr>
        <p:spPr>
          <a:xfrm>
            <a:off x="4023359" y="3538728"/>
            <a:ext cx="201168" cy="2011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4315968" y="3511296"/>
            <a:ext cx="1399032" cy="228600"/>
          </a:xfrm>
          <a:prstGeom prst="rect">
            <a:avLst/>
          </a:prstGeom>
          <a:solidFill>
            <a:srgbClr val="C0392B"/>
          </a:solidFill>
        </p:spPr>
        <p:txBody>
          <a:bodyPr wrap="square" lIns="0" rIns="0" tIns="0" bIns="0" anchor="t">
            <a:spAutoFit/>
          </a:bodyPr>
          <a:lstStyle/>
          <a:p>
            <a:pPr algn="l">
              <a:lnSpc>
                <a:spcPct val="115000"/>
              </a:lnSpc>
              <a:spcBef>
                <a:spcPts val="0"/>
              </a:spcBef>
              <a:spcAft>
                <a:spcPts val="0"/>
              </a:spcAft>
            </a:pPr>
            <a:r>
              <a:rPr sz="1000" b="1" i="0">
                <a:solidFill>
                  <a:srgbClr val="FFFFFF"/>
                </a:solidFill>
                <a:latin typeface="Arial"/>
              </a:rPr>
              <a:t>CRITICAL</a:t>
            </a:r>
          </a:p>
        </p:txBody>
      </p:sp>
      <p:sp>
        <p:nvSpPr>
          <p:cNvPr id="183" name="TextBox 182"/>
          <p:cNvSpPr txBox="1"/>
          <p:nvPr/>
        </p:nvSpPr>
        <p:spPr>
          <a:xfrm>
            <a:off x="4023359" y="3767328"/>
            <a:ext cx="1691639" cy="329184"/>
          </a:xfrm>
          <a:prstGeom prst="rect">
            <a:avLst/>
          </a:prstGeom>
          <a:noFill/>
        </p:spPr>
        <p:txBody>
          <a:bodyPr wrap="square" lIns="0" rIns="0" tIns="0" bIns="0" anchor="t">
            <a:spAutoFit/>
          </a:bodyPr>
          <a:lstStyle/>
          <a:p>
            <a:pPr algn="l">
              <a:lnSpc>
                <a:spcPct val="115000"/>
              </a:lnSpc>
              <a:spcBef>
                <a:spcPts val="0"/>
              </a:spcBef>
              <a:spcAft>
                <a:spcPts val="0"/>
              </a:spcAft>
            </a:pPr>
            <a:r>
              <a:rPr sz="700" b="0" i="0">
                <a:solidFill>
                  <a:srgbClr val="E8EEF5"/>
                </a:solidFill>
                <a:latin typeface="Arial"/>
              </a:rPr>
              <a:t>Missing or broken — requires immediate TOM redesign</a:t>
            </a:r>
          </a:p>
        </p:txBody>
      </p:sp>
      <p:sp>
        <p:nvSpPr>
          <p:cNvPr id="184" name="Oval 183"/>
          <p:cNvSpPr/>
          <p:nvPr/>
        </p:nvSpPr>
        <p:spPr>
          <a:xfrm>
            <a:off x="5833871" y="3538728"/>
            <a:ext cx="201168" cy="201168"/>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126479" y="3511296"/>
            <a:ext cx="1399032" cy="228600"/>
          </a:xfrm>
          <a:prstGeom prst="rect">
            <a:avLst/>
          </a:prstGeom>
          <a:solidFill>
            <a:srgbClr val="E67E22"/>
          </a:solidFill>
        </p:spPr>
        <p:txBody>
          <a:bodyPr wrap="square" lIns="0" rIns="0" tIns="0" bIns="0" anchor="t">
            <a:spAutoFit/>
          </a:bodyPr>
          <a:lstStyle/>
          <a:p>
            <a:pPr algn="l">
              <a:lnSpc>
                <a:spcPct val="115000"/>
              </a:lnSpc>
              <a:spcBef>
                <a:spcPts val="0"/>
              </a:spcBef>
              <a:spcAft>
                <a:spcPts val="0"/>
              </a:spcAft>
            </a:pPr>
            <a:r>
              <a:rPr sz="1000" b="1" i="0">
                <a:solidFill>
                  <a:srgbClr val="FFFFFF"/>
                </a:solidFill>
                <a:latin typeface="Arial"/>
              </a:rPr>
              <a:t>GAP</a:t>
            </a:r>
          </a:p>
        </p:txBody>
      </p:sp>
      <p:sp>
        <p:nvSpPr>
          <p:cNvPr id="186" name="TextBox 185"/>
          <p:cNvSpPr txBox="1"/>
          <p:nvPr/>
        </p:nvSpPr>
        <p:spPr>
          <a:xfrm>
            <a:off x="5833871" y="3767328"/>
            <a:ext cx="1691639" cy="329184"/>
          </a:xfrm>
          <a:prstGeom prst="rect">
            <a:avLst/>
          </a:prstGeom>
          <a:noFill/>
        </p:spPr>
        <p:txBody>
          <a:bodyPr wrap="square" lIns="0" rIns="0" tIns="0" bIns="0" anchor="t">
            <a:spAutoFit/>
          </a:bodyPr>
          <a:lstStyle/>
          <a:p>
            <a:pPr algn="l">
              <a:lnSpc>
                <a:spcPct val="115000"/>
              </a:lnSpc>
              <a:spcBef>
                <a:spcPts val="0"/>
              </a:spcBef>
              <a:spcAft>
                <a:spcPts val="0"/>
              </a:spcAft>
            </a:pPr>
            <a:r>
              <a:rPr sz="700" b="0" i="0">
                <a:solidFill>
                  <a:srgbClr val="E8EEF5"/>
                </a:solidFill>
                <a:latin typeface="Arial"/>
              </a:rPr>
              <a:t>Exists but inadequate — insufficient for current volume</a:t>
            </a:r>
          </a:p>
        </p:txBody>
      </p:sp>
      <p:sp>
        <p:nvSpPr>
          <p:cNvPr id="187" name="Oval 186"/>
          <p:cNvSpPr/>
          <p:nvPr/>
        </p:nvSpPr>
        <p:spPr>
          <a:xfrm>
            <a:off x="7644383" y="3538728"/>
            <a:ext cx="201168" cy="201168"/>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7936992" y="3511296"/>
            <a:ext cx="1399032" cy="228600"/>
          </a:xfrm>
          <a:prstGeom prst="rect">
            <a:avLst/>
          </a:prstGeom>
          <a:solidFill>
            <a:srgbClr val="F1C40F"/>
          </a:solidFill>
        </p:spPr>
        <p:txBody>
          <a:bodyPr wrap="square" lIns="0" rIns="0" tIns="0" bIns="0" anchor="t">
            <a:spAutoFit/>
          </a:bodyPr>
          <a:lstStyle/>
          <a:p>
            <a:pPr algn="l">
              <a:lnSpc>
                <a:spcPct val="115000"/>
              </a:lnSpc>
              <a:spcBef>
                <a:spcPts val="0"/>
              </a:spcBef>
              <a:spcAft>
                <a:spcPts val="0"/>
              </a:spcAft>
            </a:pPr>
            <a:r>
              <a:rPr sz="1000" b="1" i="0">
                <a:solidFill>
                  <a:srgbClr val="FFFFFF"/>
                </a:solidFill>
                <a:latin typeface="Arial"/>
              </a:rPr>
              <a:t>PARTIAL</a:t>
            </a:r>
          </a:p>
        </p:txBody>
      </p:sp>
      <p:sp>
        <p:nvSpPr>
          <p:cNvPr id="189" name="TextBox 188"/>
          <p:cNvSpPr txBox="1"/>
          <p:nvPr/>
        </p:nvSpPr>
        <p:spPr>
          <a:xfrm>
            <a:off x="7644383" y="3767328"/>
            <a:ext cx="1691639" cy="329184"/>
          </a:xfrm>
          <a:prstGeom prst="rect">
            <a:avLst/>
          </a:prstGeom>
          <a:noFill/>
        </p:spPr>
        <p:txBody>
          <a:bodyPr wrap="square" lIns="0" rIns="0" tIns="0" bIns="0" anchor="t">
            <a:spAutoFit/>
          </a:bodyPr>
          <a:lstStyle/>
          <a:p>
            <a:pPr algn="l">
              <a:lnSpc>
                <a:spcPct val="115000"/>
              </a:lnSpc>
              <a:spcBef>
                <a:spcPts val="0"/>
              </a:spcBef>
              <a:spcAft>
                <a:spcPts val="0"/>
              </a:spcAft>
            </a:pPr>
            <a:r>
              <a:rPr sz="700" b="0" i="0">
                <a:solidFill>
                  <a:srgbClr val="E8EEF5"/>
                </a:solidFill>
                <a:latin typeface="Arial"/>
              </a:rPr>
              <a:t>Functional but inconsistent across teams</a:t>
            </a:r>
          </a:p>
        </p:txBody>
      </p:sp>
      <p:sp>
        <p:nvSpPr>
          <p:cNvPr id="190" name="Oval 189"/>
          <p:cNvSpPr/>
          <p:nvPr/>
        </p:nvSpPr>
        <p:spPr>
          <a:xfrm>
            <a:off x="9454895" y="3538728"/>
            <a:ext cx="201168" cy="20116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747503" y="3511296"/>
            <a:ext cx="1399032" cy="228600"/>
          </a:xfrm>
          <a:prstGeom prst="rect">
            <a:avLst/>
          </a:prstGeom>
          <a:solidFill>
            <a:srgbClr val="27AE60"/>
          </a:solidFill>
        </p:spPr>
        <p:txBody>
          <a:bodyPr wrap="square" lIns="0" rIns="0" tIns="0" bIns="0" anchor="t">
            <a:spAutoFit/>
          </a:bodyPr>
          <a:lstStyle/>
          <a:p>
            <a:pPr algn="l">
              <a:lnSpc>
                <a:spcPct val="115000"/>
              </a:lnSpc>
              <a:spcBef>
                <a:spcPts val="0"/>
              </a:spcBef>
              <a:spcAft>
                <a:spcPts val="0"/>
              </a:spcAft>
            </a:pPr>
            <a:r>
              <a:rPr sz="1000" b="1" i="0">
                <a:solidFill>
                  <a:srgbClr val="FFFFFF"/>
                </a:solidFill>
                <a:latin typeface="Arial"/>
              </a:rPr>
              <a:t>OK</a:t>
            </a:r>
          </a:p>
        </p:txBody>
      </p:sp>
      <p:sp>
        <p:nvSpPr>
          <p:cNvPr id="192" name="TextBox 191"/>
          <p:cNvSpPr txBox="1"/>
          <p:nvPr/>
        </p:nvSpPr>
        <p:spPr>
          <a:xfrm>
            <a:off x="9454895" y="3767328"/>
            <a:ext cx="1691639" cy="329184"/>
          </a:xfrm>
          <a:prstGeom prst="rect">
            <a:avLst/>
          </a:prstGeom>
          <a:noFill/>
        </p:spPr>
        <p:txBody>
          <a:bodyPr wrap="square" lIns="0" rIns="0" tIns="0" bIns="0" anchor="t">
            <a:spAutoFit/>
          </a:bodyPr>
          <a:lstStyle/>
          <a:p>
            <a:pPr algn="l">
              <a:lnSpc>
                <a:spcPct val="115000"/>
              </a:lnSpc>
              <a:spcBef>
                <a:spcPts val="0"/>
              </a:spcBef>
              <a:spcAft>
                <a:spcPts val="0"/>
              </a:spcAft>
            </a:pPr>
            <a:r>
              <a:rPr sz="700" b="0" i="0">
                <a:solidFill>
                  <a:srgbClr val="E8EEF5"/>
                </a:solidFill>
                <a:latin typeface="Arial"/>
              </a:rPr>
              <a:t>Mature and scalable — import to TOM as-is</a:t>
            </a:r>
          </a:p>
        </p:txBody>
      </p:sp>
      <p:sp>
        <p:nvSpPr>
          <p:cNvPr id="193" name="Rectangle 192"/>
          <p:cNvSpPr/>
          <p:nvPr/>
        </p:nvSpPr>
        <p:spPr>
          <a:xfrm>
            <a:off x="960120" y="4224528"/>
            <a:ext cx="1953158" cy="8686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960120" y="4224528"/>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1051560" y="42428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01 INTAKE</a:t>
            </a:r>
          </a:p>
        </p:txBody>
      </p:sp>
      <p:sp>
        <p:nvSpPr>
          <p:cNvPr id="196" name="TextBox 195"/>
          <p:cNvSpPr txBox="1"/>
          <p:nvPr/>
        </p:nvSpPr>
        <p:spPr>
          <a:xfrm>
            <a:off x="1051560" y="44714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700" b="0" i="1">
                <a:solidFill>
                  <a:srgbClr val="2E75B6"/>
                </a:solidFill>
                <a:latin typeface="Arial"/>
              </a:rPr>
              <a:t>Channels · Sources</a:t>
            </a:r>
          </a:p>
        </p:txBody>
      </p:sp>
      <p:sp>
        <p:nvSpPr>
          <p:cNvPr id="197" name="TextBox 196"/>
          <p:cNvSpPr txBox="1"/>
          <p:nvPr/>
        </p:nvSpPr>
        <p:spPr>
          <a:xfrm>
            <a:off x="1051560" y="4663440"/>
            <a:ext cx="1770278" cy="365759"/>
          </a:xfrm>
          <a:prstGeom prst="rect">
            <a:avLst/>
          </a:prstGeom>
          <a:noFill/>
        </p:spPr>
        <p:txBody>
          <a:bodyPr wrap="square" lIns="0" rIns="0" tIns="0" bIns="0" anchor="t">
            <a:spAutoFit/>
          </a:bodyPr>
          <a:lstStyle/>
          <a:p>
            <a:pPr algn="l">
              <a:lnSpc>
                <a:spcPct val="115000"/>
              </a:lnSpc>
              <a:spcBef>
                <a:spcPts val="0"/>
              </a:spcBef>
              <a:spcAft>
                <a:spcPts val="0"/>
              </a:spcAft>
            </a:pPr>
            <a:r>
              <a:rPr sz="800" b="0" i="0">
                <a:solidFill>
                  <a:srgbClr val="1A1A1A"/>
                </a:solidFill>
                <a:latin typeface="Arial"/>
              </a:rPr>
              <a:t>How work arrives today: Jira, IT Now, Email, SharePoint, Word. Who submits, how often, what type.</a:t>
            </a:r>
          </a:p>
        </p:txBody>
      </p:sp>
      <p:sp>
        <p:nvSpPr>
          <p:cNvPr id="198" name="Rectangle 197"/>
          <p:cNvSpPr/>
          <p:nvPr/>
        </p:nvSpPr>
        <p:spPr>
          <a:xfrm>
            <a:off x="3023006" y="4224528"/>
            <a:ext cx="1953158" cy="8686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3023006" y="4224528"/>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3114446" y="42428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02 CLASSIFICATION</a:t>
            </a:r>
          </a:p>
        </p:txBody>
      </p:sp>
      <p:sp>
        <p:nvSpPr>
          <p:cNvPr id="201" name="TextBox 200"/>
          <p:cNvSpPr txBox="1"/>
          <p:nvPr/>
        </p:nvSpPr>
        <p:spPr>
          <a:xfrm>
            <a:off x="3114446" y="44714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700" b="0" i="1">
                <a:solidFill>
                  <a:srgbClr val="2E75B6"/>
                </a:solidFill>
                <a:latin typeface="Arial"/>
              </a:rPr>
              <a:t>Type · Size · Urgency</a:t>
            </a:r>
          </a:p>
        </p:txBody>
      </p:sp>
      <p:sp>
        <p:nvSpPr>
          <p:cNvPr id="202" name="TextBox 201"/>
          <p:cNvSpPr txBox="1"/>
          <p:nvPr/>
        </p:nvSpPr>
        <p:spPr>
          <a:xfrm>
            <a:off x="3114446" y="4663440"/>
            <a:ext cx="1770278" cy="365759"/>
          </a:xfrm>
          <a:prstGeom prst="rect">
            <a:avLst/>
          </a:prstGeom>
          <a:noFill/>
        </p:spPr>
        <p:txBody>
          <a:bodyPr wrap="square" lIns="0" rIns="0" tIns="0" bIns="0" anchor="t">
            <a:spAutoFit/>
          </a:bodyPr>
          <a:lstStyle/>
          <a:p>
            <a:pPr algn="l">
              <a:lnSpc>
                <a:spcPct val="115000"/>
              </a:lnSpc>
              <a:spcBef>
                <a:spcPts val="0"/>
              </a:spcBef>
              <a:spcAft>
                <a:spcPts val="0"/>
              </a:spcAft>
            </a:pPr>
            <a:r>
              <a:rPr sz="800" b="0" i="0">
                <a:solidFill>
                  <a:srgbClr val="1A1A1A"/>
                </a:solidFill>
                <a:latin typeface="Arial"/>
              </a:rPr>
              <a:t>How requests are categorized: small vs. large, regulatory flags, acceptance criteria.</a:t>
            </a:r>
          </a:p>
        </p:txBody>
      </p:sp>
      <p:sp>
        <p:nvSpPr>
          <p:cNvPr id="203" name="Rectangle 202"/>
          <p:cNvSpPr/>
          <p:nvPr/>
        </p:nvSpPr>
        <p:spPr>
          <a:xfrm>
            <a:off x="5085892" y="4224528"/>
            <a:ext cx="1953158" cy="8686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5085892" y="4224528"/>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5177332" y="42428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03 PRIORITIZATION</a:t>
            </a:r>
          </a:p>
        </p:txBody>
      </p:sp>
      <p:sp>
        <p:nvSpPr>
          <p:cNvPr id="206" name="TextBox 205"/>
          <p:cNvSpPr txBox="1"/>
          <p:nvPr/>
        </p:nvSpPr>
        <p:spPr>
          <a:xfrm>
            <a:off x="5177332" y="44714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700" b="0" i="1">
                <a:solidFill>
                  <a:srgbClr val="2E75B6"/>
                </a:solidFill>
                <a:latin typeface="Arial"/>
              </a:rPr>
              <a:t>Scoring · Criteria</a:t>
            </a:r>
          </a:p>
        </p:txBody>
      </p:sp>
      <p:sp>
        <p:nvSpPr>
          <p:cNvPr id="207" name="TextBox 206"/>
          <p:cNvSpPr txBox="1"/>
          <p:nvPr/>
        </p:nvSpPr>
        <p:spPr>
          <a:xfrm>
            <a:off x="5177332" y="4663440"/>
            <a:ext cx="1770278" cy="365759"/>
          </a:xfrm>
          <a:prstGeom prst="rect">
            <a:avLst/>
          </a:prstGeom>
          <a:noFill/>
        </p:spPr>
        <p:txBody>
          <a:bodyPr wrap="square" lIns="0" rIns="0" tIns="0" bIns="0" anchor="t">
            <a:spAutoFit/>
          </a:bodyPr>
          <a:lstStyle/>
          <a:p>
            <a:pPr algn="l">
              <a:lnSpc>
                <a:spcPct val="115000"/>
              </a:lnSpc>
              <a:spcBef>
                <a:spcPts val="0"/>
              </a:spcBef>
              <a:spcAft>
                <a:spcPts val="0"/>
              </a:spcAft>
            </a:pPr>
            <a:r>
              <a:rPr sz="800" b="0" i="0">
                <a:solidFill>
                  <a:srgbClr val="1A1A1A"/>
                </a:solidFill>
                <a:latin typeface="Arial"/>
              </a:rPr>
              <a:t>How work is ranked: who decides, which criteria apply, how conflicts are resolved.</a:t>
            </a:r>
          </a:p>
        </p:txBody>
      </p:sp>
      <p:sp>
        <p:nvSpPr>
          <p:cNvPr id="208" name="Rectangle 207"/>
          <p:cNvSpPr/>
          <p:nvPr/>
        </p:nvSpPr>
        <p:spPr>
          <a:xfrm>
            <a:off x="7148779" y="4224528"/>
            <a:ext cx="1953158" cy="8686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7148779" y="4224528"/>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240219" y="42428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04 PORTFOLIO</a:t>
            </a:r>
          </a:p>
        </p:txBody>
      </p:sp>
      <p:sp>
        <p:nvSpPr>
          <p:cNvPr id="211" name="TextBox 210"/>
          <p:cNvSpPr txBox="1"/>
          <p:nvPr/>
        </p:nvSpPr>
        <p:spPr>
          <a:xfrm>
            <a:off x="7240219" y="44714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700" b="0" i="1">
                <a:solidFill>
                  <a:srgbClr val="2E75B6"/>
                </a:solidFill>
                <a:latin typeface="Arial"/>
              </a:rPr>
              <a:t>Governance · Decision</a:t>
            </a:r>
          </a:p>
        </p:txBody>
      </p:sp>
      <p:sp>
        <p:nvSpPr>
          <p:cNvPr id="212" name="TextBox 211"/>
          <p:cNvSpPr txBox="1"/>
          <p:nvPr/>
        </p:nvSpPr>
        <p:spPr>
          <a:xfrm>
            <a:off x="7240219" y="4663440"/>
            <a:ext cx="1770278" cy="365759"/>
          </a:xfrm>
          <a:prstGeom prst="rect">
            <a:avLst/>
          </a:prstGeom>
          <a:noFill/>
        </p:spPr>
        <p:txBody>
          <a:bodyPr wrap="square" lIns="0" rIns="0" tIns="0" bIns="0" anchor="t">
            <a:spAutoFit/>
          </a:bodyPr>
          <a:lstStyle/>
          <a:p>
            <a:pPr algn="l">
              <a:lnSpc>
                <a:spcPct val="115000"/>
              </a:lnSpc>
              <a:spcBef>
                <a:spcPts val="0"/>
              </a:spcBef>
              <a:spcAft>
                <a:spcPts val="0"/>
              </a:spcAft>
            </a:pPr>
            <a:r>
              <a:rPr sz="800" b="0" i="0">
                <a:solidFill>
                  <a:srgbClr val="1A1A1A"/>
                </a:solidFill>
                <a:latin typeface="Arial"/>
              </a:rPr>
              <a:t>Where initiatives live: PDD approval, portfolio tool, funding model, steering forums.</a:t>
            </a:r>
          </a:p>
        </p:txBody>
      </p:sp>
      <p:sp>
        <p:nvSpPr>
          <p:cNvPr id="213" name="Rectangle 212"/>
          <p:cNvSpPr/>
          <p:nvPr/>
        </p:nvSpPr>
        <p:spPr>
          <a:xfrm>
            <a:off x="9211665" y="4224528"/>
            <a:ext cx="1953158" cy="868680"/>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9211665" y="4224528"/>
            <a:ext cx="195315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303105" y="42428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900" b="1" i="0">
                <a:solidFill>
                  <a:srgbClr val="FFFFFF"/>
                </a:solidFill>
                <a:latin typeface="Arial"/>
              </a:rPr>
              <a:t>05 DELIVERY</a:t>
            </a:r>
          </a:p>
        </p:txBody>
      </p:sp>
      <p:sp>
        <p:nvSpPr>
          <p:cNvPr id="216" name="TextBox 215"/>
          <p:cNvSpPr txBox="1"/>
          <p:nvPr/>
        </p:nvSpPr>
        <p:spPr>
          <a:xfrm>
            <a:off x="9303105" y="4471416"/>
            <a:ext cx="1770278" cy="182880"/>
          </a:xfrm>
          <a:prstGeom prst="rect">
            <a:avLst/>
          </a:prstGeom>
          <a:noFill/>
        </p:spPr>
        <p:txBody>
          <a:bodyPr wrap="square" lIns="0" rIns="0" tIns="0" bIns="0" anchor="t">
            <a:spAutoFit/>
          </a:bodyPr>
          <a:lstStyle/>
          <a:p>
            <a:pPr algn="l">
              <a:lnSpc>
                <a:spcPct val="115000"/>
              </a:lnSpc>
              <a:spcBef>
                <a:spcPts val="0"/>
              </a:spcBef>
              <a:spcAft>
                <a:spcPts val="0"/>
              </a:spcAft>
            </a:pPr>
            <a:r>
              <a:rPr sz="700" b="0" i="1">
                <a:solidFill>
                  <a:srgbClr val="2E75B6"/>
                </a:solidFill>
                <a:latin typeface="Arial"/>
              </a:rPr>
              <a:t>Execution · Flow</a:t>
            </a:r>
          </a:p>
        </p:txBody>
      </p:sp>
      <p:sp>
        <p:nvSpPr>
          <p:cNvPr id="217" name="TextBox 216"/>
          <p:cNvSpPr txBox="1"/>
          <p:nvPr/>
        </p:nvSpPr>
        <p:spPr>
          <a:xfrm>
            <a:off x="9303105" y="4663440"/>
            <a:ext cx="1770278" cy="365759"/>
          </a:xfrm>
          <a:prstGeom prst="rect">
            <a:avLst/>
          </a:prstGeom>
          <a:noFill/>
        </p:spPr>
        <p:txBody>
          <a:bodyPr wrap="square" lIns="0" rIns="0" tIns="0" bIns="0" anchor="t">
            <a:spAutoFit/>
          </a:bodyPr>
          <a:lstStyle/>
          <a:p>
            <a:pPr algn="l">
              <a:lnSpc>
                <a:spcPct val="115000"/>
              </a:lnSpc>
              <a:spcBef>
                <a:spcPts val="0"/>
              </a:spcBef>
              <a:spcAft>
                <a:spcPts val="0"/>
              </a:spcAft>
            </a:pPr>
            <a:r>
              <a:rPr sz="800" b="0" i="0">
                <a:solidFill>
                  <a:srgbClr val="1A1A1A"/>
                </a:solidFill>
                <a:latin typeface="Arial"/>
              </a:rPr>
              <a:t>How work gets done: internal / SWF / Accenture / Vendor mix, progress tracking, release cadence.</a:t>
            </a:r>
          </a:p>
        </p:txBody>
      </p:sp>
      <p:sp>
        <p:nvSpPr>
          <p:cNvPr id="218" name="Rectangle 217"/>
          <p:cNvSpPr/>
          <p:nvPr/>
        </p:nvSpPr>
        <p:spPr>
          <a:xfrm>
            <a:off x="457200" y="1417320"/>
            <a:ext cx="11274552" cy="502920"/>
          </a:xfrm>
          <a:prstGeom prst="rect">
            <a:avLst/>
          </a:prstGeom>
          <a:solidFill>
            <a:srgbClr val="162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594360" y="1472184"/>
            <a:ext cx="2011680" cy="384048"/>
          </a:xfrm>
          <a:prstGeom prst="rect">
            <a:avLst/>
          </a:prstGeom>
          <a:noFill/>
        </p:spPr>
        <p:txBody>
          <a:bodyPr wrap="square" lIns="54864" rIns="54864" tIns="27432" bIns="27432" anchor="ctr">
            <a:spAutoFit/>
          </a:bodyPr>
          <a:lstStyle/>
          <a:p>
            <a:pPr algn="l"/>
            <a:r>
              <a:rPr sz="900" b="1">
                <a:solidFill>
                  <a:srgbClr val="FFFFFF"/>
                </a:solidFill>
                <a:latin typeface="Calibri"/>
              </a:rPr>
              <a:t>SCOPE OF ANALYSIS</a:t>
            </a:r>
          </a:p>
        </p:txBody>
      </p:sp>
      <p:sp>
        <p:nvSpPr>
          <p:cNvPr id="220" name="TextBox 219"/>
          <p:cNvSpPr txBox="1"/>
          <p:nvPr/>
        </p:nvSpPr>
        <p:spPr>
          <a:xfrm>
            <a:off x="2743200" y="1435608"/>
            <a:ext cx="822960" cy="274320"/>
          </a:xfrm>
          <a:prstGeom prst="rect">
            <a:avLst/>
          </a:prstGeom>
          <a:noFill/>
        </p:spPr>
        <p:txBody>
          <a:bodyPr wrap="square" lIns="54864" rIns="54864" tIns="27432" bIns="27432" anchor="ctr">
            <a:spAutoFit/>
          </a:bodyPr>
          <a:lstStyle/>
          <a:p>
            <a:pPr algn="l"/>
            <a:r>
              <a:rPr sz="1400" b="1">
                <a:solidFill>
                  <a:srgbClr val="E87B1E"/>
                </a:solidFill>
                <a:latin typeface="Calibri"/>
              </a:rPr>
              <a:t>2</a:t>
            </a:r>
          </a:p>
        </p:txBody>
      </p:sp>
      <p:sp>
        <p:nvSpPr>
          <p:cNvPr id="221" name="TextBox 220"/>
          <p:cNvSpPr txBox="1"/>
          <p:nvPr/>
        </p:nvSpPr>
        <p:spPr>
          <a:xfrm>
            <a:off x="3566160" y="1463040"/>
            <a:ext cx="892454" cy="411480"/>
          </a:xfrm>
          <a:prstGeom prst="rect">
            <a:avLst/>
          </a:prstGeom>
          <a:noFill/>
        </p:spPr>
        <p:txBody>
          <a:bodyPr wrap="square" lIns="54864" rIns="54864" tIns="27432" bIns="27432" anchor="ctr">
            <a:spAutoFit/>
          </a:bodyPr>
          <a:lstStyle/>
          <a:p>
            <a:pPr algn="l"/>
            <a:r>
              <a:rPr sz="800" b="0">
                <a:solidFill>
                  <a:srgbClr val="FFFFFF"/>
                </a:solidFill>
                <a:latin typeface="Calibri"/>
              </a:rPr>
              <a:t>director branches</a:t>
            </a:r>
          </a:p>
        </p:txBody>
      </p:sp>
      <p:cxnSp>
        <p:nvCxnSpPr>
          <p:cNvPr id="222" name="Connector 221"/>
          <p:cNvCxnSpPr/>
          <p:nvPr/>
        </p:nvCxnSpPr>
        <p:spPr>
          <a:xfrm>
            <a:off x="4486046" y="1527048"/>
            <a:ext cx="0" cy="283464"/>
          </a:xfrm>
          <a:prstGeom prst="line">
            <a:avLst/>
          </a:prstGeom>
          <a:ln w="6350">
            <a:solidFill>
              <a:srgbClr val="557095"/>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4550054" y="1435608"/>
            <a:ext cx="822960" cy="274320"/>
          </a:xfrm>
          <a:prstGeom prst="rect">
            <a:avLst/>
          </a:prstGeom>
          <a:noFill/>
        </p:spPr>
        <p:txBody>
          <a:bodyPr wrap="square" lIns="54864" rIns="54864" tIns="27432" bIns="27432" anchor="ctr">
            <a:spAutoFit/>
          </a:bodyPr>
          <a:lstStyle/>
          <a:p>
            <a:pPr algn="l"/>
            <a:r>
              <a:rPr sz="1400" b="1">
                <a:solidFill>
                  <a:srgbClr val="E87B1E"/>
                </a:solidFill>
                <a:latin typeface="Calibri"/>
              </a:rPr>
              <a:t>9</a:t>
            </a:r>
          </a:p>
        </p:txBody>
      </p:sp>
      <p:sp>
        <p:nvSpPr>
          <p:cNvPr id="224" name="TextBox 223"/>
          <p:cNvSpPr txBox="1"/>
          <p:nvPr/>
        </p:nvSpPr>
        <p:spPr>
          <a:xfrm>
            <a:off x="5373014" y="1463040"/>
            <a:ext cx="892454" cy="411480"/>
          </a:xfrm>
          <a:prstGeom prst="rect">
            <a:avLst/>
          </a:prstGeom>
          <a:noFill/>
        </p:spPr>
        <p:txBody>
          <a:bodyPr wrap="square" lIns="54864" rIns="54864" tIns="27432" bIns="27432" anchor="ctr">
            <a:spAutoFit/>
          </a:bodyPr>
          <a:lstStyle/>
          <a:p>
            <a:pPr algn="l"/>
            <a:r>
              <a:rPr sz="800" b="0">
                <a:solidFill>
                  <a:srgbClr val="FFFFFF"/>
                </a:solidFill>
                <a:latin typeface="Calibri"/>
              </a:rPr>
              <a:t>sub-teams</a:t>
            </a:r>
          </a:p>
        </p:txBody>
      </p:sp>
      <p:cxnSp>
        <p:nvCxnSpPr>
          <p:cNvPr id="225" name="Connector 224"/>
          <p:cNvCxnSpPr/>
          <p:nvPr/>
        </p:nvCxnSpPr>
        <p:spPr>
          <a:xfrm>
            <a:off x="6292900" y="1527048"/>
            <a:ext cx="0" cy="283464"/>
          </a:xfrm>
          <a:prstGeom prst="line">
            <a:avLst/>
          </a:prstGeom>
          <a:ln w="6350">
            <a:solidFill>
              <a:srgbClr val="557095"/>
            </a:solidFill>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6356908" y="1435608"/>
            <a:ext cx="822960" cy="274320"/>
          </a:xfrm>
          <a:prstGeom prst="rect">
            <a:avLst/>
          </a:prstGeom>
          <a:noFill/>
        </p:spPr>
        <p:txBody>
          <a:bodyPr wrap="square" lIns="54864" rIns="54864" tIns="27432" bIns="27432" anchor="ctr">
            <a:spAutoFit/>
          </a:bodyPr>
          <a:lstStyle/>
          <a:p>
            <a:pPr algn="l"/>
            <a:r>
              <a:rPr sz="1400" b="1">
                <a:solidFill>
                  <a:srgbClr val="E87B1E"/>
                </a:solidFill>
                <a:latin typeface="Calibri"/>
              </a:rPr>
              <a:t>6+</a:t>
            </a:r>
          </a:p>
        </p:txBody>
      </p:sp>
      <p:sp>
        <p:nvSpPr>
          <p:cNvPr id="227" name="TextBox 226"/>
          <p:cNvSpPr txBox="1"/>
          <p:nvPr/>
        </p:nvSpPr>
        <p:spPr>
          <a:xfrm>
            <a:off x="7179868" y="1463040"/>
            <a:ext cx="892454" cy="411480"/>
          </a:xfrm>
          <a:prstGeom prst="rect">
            <a:avLst/>
          </a:prstGeom>
          <a:noFill/>
        </p:spPr>
        <p:txBody>
          <a:bodyPr wrap="square" lIns="54864" rIns="54864" tIns="27432" bIns="27432" anchor="ctr">
            <a:spAutoFit/>
          </a:bodyPr>
          <a:lstStyle/>
          <a:p>
            <a:pPr algn="l"/>
            <a:r>
              <a:rPr sz="800" b="0">
                <a:solidFill>
                  <a:srgbClr val="FFFFFF"/>
                </a:solidFill>
                <a:latin typeface="Calibri"/>
              </a:rPr>
              <a:t>intake channels</a:t>
            </a:r>
          </a:p>
        </p:txBody>
      </p:sp>
      <p:cxnSp>
        <p:nvCxnSpPr>
          <p:cNvPr id="228" name="Connector 227"/>
          <p:cNvCxnSpPr/>
          <p:nvPr/>
        </p:nvCxnSpPr>
        <p:spPr>
          <a:xfrm>
            <a:off x="8099755" y="1527048"/>
            <a:ext cx="0" cy="283464"/>
          </a:xfrm>
          <a:prstGeom prst="line">
            <a:avLst/>
          </a:prstGeom>
          <a:ln w="6350">
            <a:solidFill>
              <a:srgbClr val="557095"/>
            </a:solidFill>
          </a:ln>
        </p:spPr>
        <p:style>
          <a:lnRef idx="2">
            <a:schemeClr val="accent1"/>
          </a:lnRef>
          <a:fillRef idx="0">
            <a:schemeClr val="accent1"/>
          </a:fillRef>
          <a:effectRef idx="1">
            <a:schemeClr val="accent1"/>
          </a:effectRef>
          <a:fontRef idx="minor">
            <a:schemeClr val="tx1"/>
          </a:fontRef>
        </p:style>
      </p:cxnSp>
      <p:sp>
        <p:nvSpPr>
          <p:cNvPr id="229" name="TextBox 228"/>
          <p:cNvSpPr txBox="1"/>
          <p:nvPr/>
        </p:nvSpPr>
        <p:spPr>
          <a:xfrm>
            <a:off x="8163763" y="1435608"/>
            <a:ext cx="822960" cy="274320"/>
          </a:xfrm>
          <a:prstGeom prst="rect">
            <a:avLst/>
          </a:prstGeom>
          <a:noFill/>
        </p:spPr>
        <p:txBody>
          <a:bodyPr wrap="square" lIns="54864" rIns="54864" tIns="27432" bIns="27432" anchor="ctr">
            <a:spAutoFit/>
          </a:bodyPr>
          <a:lstStyle/>
          <a:p>
            <a:pPr algn="l"/>
            <a:r>
              <a:rPr sz="1400" b="1">
                <a:solidFill>
                  <a:srgbClr val="E87B1E"/>
                </a:solidFill>
                <a:latin typeface="Calibri"/>
              </a:rPr>
              <a:t>6</a:t>
            </a:r>
          </a:p>
        </p:txBody>
      </p:sp>
      <p:sp>
        <p:nvSpPr>
          <p:cNvPr id="230" name="TextBox 229"/>
          <p:cNvSpPr txBox="1"/>
          <p:nvPr/>
        </p:nvSpPr>
        <p:spPr>
          <a:xfrm>
            <a:off x="8986723" y="1463040"/>
            <a:ext cx="892454" cy="411480"/>
          </a:xfrm>
          <a:prstGeom prst="rect">
            <a:avLst/>
          </a:prstGeom>
          <a:noFill/>
        </p:spPr>
        <p:txBody>
          <a:bodyPr wrap="square" lIns="54864" rIns="54864" tIns="27432" bIns="27432" anchor="ctr">
            <a:spAutoFit/>
          </a:bodyPr>
          <a:lstStyle/>
          <a:p>
            <a:pPr algn="l"/>
            <a:r>
              <a:rPr sz="800" b="0">
                <a:solidFill>
                  <a:srgbClr val="FFFFFF"/>
                </a:solidFill>
                <a:latin typeface="Calibri"/>
              </a:rPr>
              <a:t>prioritization logics</a:t>
            </a:r>
          </a:p>
        </p:txBody>
      </p:sp>
      <p:cxnSp>
        <p:nvCxnSpPr>
          <p:cNvPr id="231" name="Connector 230"/>
          <p:cNvCxnSpPr/>
          <p:nvPr/>
        </p:nvCxnSpPr>
        <p:spPr>
          <a:xfrm>
            <a:off x="9906609" y="1527048"/>
            <a:ext cx="0" cy="283464"/>
          </a:xfrm>
          <a:prstGeom prst="line">
            <a:avLst/>
          </a:prstGeom>
          <a:ln w="6350">
            <a:solidFill>
              <a:srgbClr val="557095"/>
            </a:solidFill>
          </a:ln>
        </p:spPr>
        <p:style>
          <a:lnRef idx="2">
            <a:schemeClr val="accent1"/>
          </a:lnRef>
          <a:fillRef idx="0">
            <a:schemeClr val="accent1"/>
          </a:fillRef>
          <a:effectRef idx="1">
            <a:schemeClr val="accent1"/>
          </a:effectRef>
          <a:fontRef idx="minor">
            <a:schemeClr val="tx1"/>
          </a:fontRef>
        </p:style>
      </p:cxnSp>
      <p:sp>
        <p:nvSpPr>
          <p:cNvPr id="232" name="TextBox 231"/>
          <p:cNvSpPr txBox="1"/>
          <p:nvPr/>
        </p:nvSpPr>
        <p:spPr>
          <a:xfrm>
            <a:off x="9970617" y="1435608"/>
            <a:ext cx="822960" cy="274320"/>
          </a:xfrm>
          <a:prstGeom prst="rect">
            <a:avLst/>
          </a:prstGeom>
          <a:noFill/>
        </p:spPr>
        <p:txBody>
          <a:bodyPr wrap="square" lIns="54864" rIns="54864" tIns="27432" bIns="27432" anchor="ctr">
            <a:spAutoFit/>
          </a:bodyPr>
          <a:lstStyle/>
          <a:p>
            <a:pPr algn="l"/>
            <a:r>
              <a:rPr sz="1400" b="1">
                <a:solidFill>
                  <a:srgbClr val="E87B1E"/>
                </a:solidFill>
                <a:latin typeface="Calibri"/>
              </a:rPr>
              <a:t>1 of 9</a:t>
            </a:r>
          </a:p>
        </p:txBody>
      </p:sp>
      <p:sp>
        <p:nvSpPr>
          <p:cNvPr id="233" name="TextBox 232"/>
          <p:cNvSpPr txBox="1"/>
          <p:nvPr/>
        </p:nvSpPr>
        <p:spPr>
          <a:xfrm>
            <a:off x="10793577" y="1463040"/>
            <a:ext cx="892454" cy="411480"/>
          </a:xfrm>
          <a:prstGeom prst="rect">
            <a:avLst/>
          </a:prstGeom>
          <a:noFill/>
        </p:spPr>
        <p:txBody>
          <a:bodyPr wrap="square" lIns="54864" rIns="54864" tIns="27432" bIns="27432" anchor="ctr">
            <a:spAutoFit/>
          </a:bodyPr>
          <a:lstStyle/>
          <a:p>
            <a:pPr algn="l"/>
            <a:r>
              <a:rPr sz="800" b="0">
                <a:solidFill>
                  <a:srgbClr val="FFFFFF"/>
                </a:solidFill>
                <a:latin typeface="Calibri"/>
              </a:rPr>
              <a:t>uses a portfolio tool</a:t>
            </a:r>
          </a:p>
        </p:txBody>
      </p:sp>
    </p:spTree>
    <p:extLst>
      <p:ext uri="{BB962C8B-B14F-4D97-AF65-F5344CB8AC3E}">
        <p14:creationId xmlns:p14="http://schemas.microsoft.com/office/powerpoint/2010/main" val="1119689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173-CA64-8659-796E-D6B85CB60776}"/>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0E7D9766-A967-678C-02F2-5DD75F528F8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6AA0D9A0-906D-A9EA-513C-895876088DC1}"/>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71630FE1-4E45-08F0-B79E-414CF4DD8F0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23CDA6A1-6537-6CEF-19EA-9DDC3DB24B7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535FCDBA-F3B5-6ACF-3704-EE45D6032755}"/>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850A3C19-7072-447D-F5A5-58BCE92B6F01}"/>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BD3743C9-E031-EADE-1B1D-5F4D2DFB31A4}"/>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2EBF8B5C-5C02-9463-75FB-C276BC60E062}"/>
              </a:ext>
            </a:extLst>
          </p:cNvPr>
          <p:cNvSpPr/>
          <p:nvPr/>
        </p:nvSpPr>
        <p:spPr>
          <a:xfrm>
            <a:off x="-561976" y="3655047"/>
            <a:ext cx="504913" cy="35441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4">
            <a:extLst>
              <a:ext uri="{FF2B5EF4-FFF2-40B4-BE49-F238E27FC236}">
                <a16:creationId xmlns:a16="http://schemas.microsoft.com/office/drawing/2014/main" id="{82538E27-4DC6-881E-A8C7-EC8819E422F4}"/>
              </a:ext>
            </a:extLst>
          </p:cNvPr>
          <p:cNvSpPr/>
          <p:nvPr/>
        </p:nvSpPr>
        <p:spPr>
          <a:xfrm>
            <a:off x="1645920" y="1417320"/>
            <a:ext cx="1645920" cy="5029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TextBox 5">
            <a:extLst>
              <a:ext uri="{FF2B5EF4-FFF2-40B4-BE49-F238E27FC236}">
                <a16:creationId xmlns:a16="http://schemas.microsoft.com/office/drawing/2014/main" id="{0CD81CD8-9905-16F0-6D13-A8E3C5F7B485}"/>
              </a:ext>
            </a:extLst>
          </p:cNvPr>
          <p:cNvSpPr txBox="1"/>
          <p:nvPr/>
        </p:nvSpPr>
        <p:spPr>
          <a:xfrm>
            <a:off x="1645920" y="1444752"/>
            <a:ext cx="1645920"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Helvetica Neue"/>
              </a:rPr>
              <a:t>SOURCE</a:t>
            </a:r>
          </a:p>
        </p:txBody>
      </p:sp>
      <p:sp>
        <p:nvSpPr>
          <p:cNvPr id="16" name="TextBox 6">
            <a:extLst>
              <a:ext uri="{FF2B5EF4-FFF2-40B4-BE49-F238E27FC236}">
                <a16:creationId xmlns:a16="http://schemas.microsoft.com/office/drawing/2014/main" id="{4E515C31-8E8B-7EE9-5070-02A670B7562D}"/>
              </a:ext>
            </a:extLst>
          </p:cNvPr>
          <p:cNvSpPr txBox="1"/>
          <p:nvPr/>
        </p:nvSpPr>
        <p:spPr>
          <a:xfrm>
            <a:off x="1645920" y="1673352"/>
            <a:ext cx="1645920"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Who sends the demand</a:t>
            </a:r>
          </a:p>
        </p:txBody>
      </p:sp>
      <p:sp>
        <p:nvSpPr>
          <p:cNvPr id="17" name="Rectangle 7">
            <a:extLst>
              <a:ext uri="{FF2B5EF4-FFF2-40B4-BE49-F238E27FC236}">
                <a16:creationId xmlns:a16="http://schemas.microsoft.com/office/drawing/2014/main" id="{BC35FCD6-5D86-D5B9-E8CB-B2722ED14ABF}"/>
              </a:ext>
            </a:extLst>
          </p:cNvPr>
          <p:cNvSpPr/>
          <p:nvPr/>
        </p:nvSpPr>
        <p:spPr>
          <a:xfrm>
            <a:off x="3337560" y="1417320"/>
            <a:ext cx="1554480" cy="5029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TextBox 8">
            <a:extLst>
              <a:ext uri="{FF2B5EF4-FFF2-40B4-BE49-F238E27FC236}">
                <a16:creationId xmlns:a16="http://schemas.microsoft.com/office/drawing/2014/main" id="{DD0C99E7-803C-C239-3E01-53D4EBF42B8A}"/>
              </a:ext>
            </a:extLst>
          </p:cNvPr>
          <p:cNvSpPr txBox="1"/>
          <p:nvPr/>
        </p:nvSpPr>
        <p:spPr>
          <a:xfrm>
            <a:off x="3337560" y="1444752"/>
            <a:ext cx="1554480"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1" i="0" noProof="0">
                <a:solidFill>
                  <a:srgbClr val="FFFFFF"/>
                </a:solidFill>
                <a:latin typeface="Helvetica Neue"/>
              </a:rPr>
              <a:t>TYPES</a:t>
            </a:r>
          </a:p>
        </p:txBody>
      </p:sp>
      <p:sp>
        <p:nvSpPr>
          <p:cNvPr id="19" name="TextBox 9">
            <a:extLst>
              <a:ext uri="{FF2B5EF4-FFF2-40B4-BE49-F238E27FC236}">
                <a16:creationId xmlns:a16="http://schemas.microsoft.com/office/drawing/2014/main" id="{FA6E08A2-9C3C-908C-89BC-7E8F968954A5}"/>
              </a:ext>
            </a:extLst>
          </p:cNvPr>
          <p:cNvSpPr txBox="1"/>
          <p:nvPr/>
        </p:nvSpPr>
        <p:spPr>
          <a:xfrm>
            <a:off x="3337560" y="1673352"/>
            <a:ext cx="1554480"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What kind of demand</a:t>
            </a:r>
          </a:p>
        </p:txBody>
      </p:sp>
      <p:sp>
        <p:nvSpPr>
          <p:cNvPr id="20" name="Rectangle 10">
            <a:extLst>
              <a:ext uri="{FF2B5EF4-FFF2-40B4-BE49-F238E27FC236}">
                <a16:creationId xmlns:a16="http://schemas.microsoft.com/office/drawing/2014/main" id="{FFF5352A-6A23-06D0-8A7F-7EDB3E6E39C4}"/>
              </a:ext>
            </a:extLst>
          </p:cNvPr>
          <p:cNvSpPr/>
          <p:nvPr/>
        </p:nvSpPr>
        <p:spPr>
          <a:xfrm>
            <a:off x="4937759" y="1417320"/>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11">
            <a:extLst>
              <a:ext uri="{FF2B5EF4-FFF2-40B4-BE49-F238E27FC236}">
                <a16:creationId xmlns:a16="http://schemas.microsoft.com/office/drawing/2014/main" id="{99141712-C9C1-81F6-B575-D08AB15D88BB}"/>
              </a:ext>
            </a:extLst>
          </p:cNvPr>
          <p:cNvSpPr txBox="1"/>
          <p:nvPr/>
        </p:nvSpPr>
        <p:spPr>
          <a:xfrm>
            <a:off x="4937759" y="1444752"/>
            <a:ext cx="1358798"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800" b="1" i="0" noProof="0">
                <a:solidFill>
                  <a:srgbClr val="FFFFFF"/>
                </a:solidFill>
                <a:latin typeface="Helvetica Neue"/>
              </a:rPr>
              <a:t>01 INTAKE</a:t>
            </a:r>
          </a:p>
        </p:txBody>
      </p:sp>
      <p:sp>
        <p:nvSpPr>
          <p:cNvPr id="22" name="TextBox 12">
            <a:extLst>
              <a:ext uri="{FF2B5EF4-FFF2-40B4-BE49-F238E27FC236}">
                <a16:creationId xmlns:a16="http://schemas.microsoft.com/office/drawing/2014/main" id="{BF5E36B9-BB49-5021-A378-DCAEAF164342}"/>
              </a:ext>
            </a:extLst>
          </p:cNvPr>
          <p:cNvSpPr txBox="1"/>
          <p:nvPr/>
        </p:nvSpPr>
        <p:spPr>
          <a:xfrm>
            <a:off x="4937759" y="1673352"/>
            <a:ext cx="1358798"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Channels</a:t>
            </a:r>
          </a:p>
        </p:txBody>
      </p:sp>
      <p:sp>
        <p:nvSpPr>
          <p:cNvPr id="23" name="Rectangle 13">
            <a:extLst>
              <a:ext uri="{FF2B5EF4-FFF2-40B4-BE49-F238E27FC236}">
                <a16:creationId xmlns:a16="http://schemas.microsoft.com/office/drawing/2014/main" id="{62C059DB-4426-47E4-F5D3-2118AEAF8A4E}"/>
              </a:ext>
            </a:extLst>
          </p:cNvPr>
          <p:cNvSpPr/>
          <p:nvPr/>
        </p:nvSpPr>
        <p:spPr>
          <a:xfrm>
            <a:off x="6342278" y="1417320"/>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14">
            <a:extLst>
              <a:ext uri="{FF2B5EF4-FFF2-40B4-BE49-F238E27FC236}">
                <a16:creationId xmlns:a16="http://schemas.microsoft.com/office/drawing/2014/main" id="{EA264303-8B16-2FBE-3A23-DC8F970F4592}"/>
              </a:ext>
            </a:extLst>
          </p:cNvPr>
          <p:cNvSpPr txBox="1"/>
          <p:nvPr/>
        </p:nvSpPr>
        <p:spPr>
          <a:xfrm>
            <a:off x="6342278" y="1444752"/>
            <a:ext cx="1358798"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800" b="1" i="0" noProof="0">
                <a:solidFill>
                  <a:srgbClr val="FFFFFF"/>
                </a:solidFill>
                <a:latin typeface="Helvetica Neue"/>
              </a:rPr>
              <a:t>02 CLASSIFICATION</a:t>
            </a:r>
          </a:p>
        </p:txBody>
      </p:sp>
      <p:sp>
        <p:nvSpPr>
          <p:cNvPr id="25" name="TextBox 15">
            <a:extLst>
              <a:ext uri="{FF2B5EF4-FFF2-40B4-BE49-F238E27FC236}">
                <a16:creationId xmlns:a16="http://schemas.microsoft.com/office/drawing/2014/main" id="{D331E87C-1823-9FFB-3496-9335F342BD38}"/>
              </a:ext>
            </a:extLst>
          </p:cNvPr>
          <p:cNvSpPr txBox="1"/>
          <p:nvPr/>
        </p:nvSpPr>
        <p:spPr>
          <a:xfrm>
            <a:off x="6342278" y="1673352"/>
            <a:ext cx="1358798"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Type, Size, Urgency</a:t>
            </a:r>
          </a:p>
        </p:txBody>
      </p:sp>
      <p:sp>
        <p:nvSpPr>
          <p:cNvPr id="26" name="Rectangle 16">
            <a:extLst>
              <a:ext uri="{FF2B5EF4-FFF2-40B4-BE49-F238E27FC236}">
                <a16:creationId xmlns:a16="http://schemas.microsoft.com/office/drawing/2014/main" id="{3F162D67-B076-7128-C8E8-B079680673A6}"/>
              </a:ext>
            </a:extLst>
          </p:cNvPr>
          <p:cNvSpPr/>
          <p:nvPr/>
        </p:nvSpPr>
        <p:spPr>
          <a:xfrm>
            <a:off x="7746796" y="1417320"/>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17">
            <a:extLst>
              <a:ext uri="{FF2B5EF4-FFF2-40B4-BE49-F238E27FC236}">
                <a16:creationId xmlns:a16="http://schemas.microsoft.com/office/drawing/2014/main" id="{AC075484-7A27-9646-6378-3BDFB16FDAC4}"/>
              </a:ext>
            </a:extLst>
          </p:cNvPr>
          <p:cNvSpPr txBox="1"/>
          <p:nvPr/>
        </p:nvSpPr>
        <p:spPr>
          <a:xfrm>
            <a:off x="7746796" y="1444752"/>
            <a:ext cx="1358798"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800" b="1" i="0" noProof="0">
                <a:solidFill>
                  <a:srgbClr val="FFFFFF"/>
                </a:solidFill>
                <a:latin typeface="Helvetica Neue"/>
              </a:rPr>
              <a:t>03 PRIORITIZATION</a:t>
            </a:r>
          </a:p>
        </p:txBody>
      </p:sp>
      <p:sp>
        <p:nvSpPr>
          <p:cNvPr id="28" name="TextBox 18">
            <a:extLst>
              <a:ext uri="{FF2B5EF4-FFF2-40B4-BE49-F238E27FC236}">
                <a16:creationId xmlns:a16="http://schemas.microsoft.com/office/drawing/2014/main" id="{C90D559F-E239-8C34-CBB7-306317EE3032}"/>
              </a:ext>
            </a:extLst>
          </p:cNvPr>
          <p:cNvSpPr txBox="1"/>
          <p:nvPr/>
        </p:nvSpPr>
        <p:spPr>
          <a:xfrm>
            <a:off x="7746796" y="1673352"/>
            <a:ext cx="1358798"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Scoring &amp; Criteria</a:t>
            </a:r>
          </a:p>
        </p:txBody>
      </p:sp>
      <p:sp>
        <p:nvSpPr>
          <p:cNvPr id="29" name="Rectangle 19">
            <a:extLst>
              <a:ext uri="{FF2B5EF4-FFF2-40B4-BE49-F238E27FC236}">
                <a16:creationId xmlns:a16="http://schemas.microsoft.com/office/drawing/2014/main" id="{308F4CE6-D3F0-B8F3-9B33-99D00DA7D178}"/>
              </a:ext>
            </a:extLst>
          </p:cNvPr>
          <p:cNvSpPr/>
          <p:nvPr/>
        </p:nvSpPr>
        <p:spPr>
          <a:xfrm>
            <a:off x="9151315" y="1417320"/>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TextBox 20">
            <a:extLst>
              <a:ext uri="{FF2B5EF4-FFF2-40B4-BE49-F238E27FC236}">
                <a16:creationId xmlns:a16="http://schemas.microsoft.com/office/drawing/2014/main" id="{A9FABAF3-CEBB-E3AD-DAE8-4276B1101442}"/>
              </a:ext>
            </a:extLst>
          </p:cNvPr>
          <p:cNvSpPr txBox="1"/>
          <p:nvPr/>
        </p:nvSpPr>
        <p:spPr>
          <a:xfrm>
            <a:off x="9151315" y="1444752"/>
            <a:ext cx="1358798"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800" b="1" i="0" noProof="0">
                <a:solidFill>
                  <a:srgbClr val="FFFFFF"/>
                </a:solidFill>
                <a:latin typeface="Helvetica Neue"/>
              </a:rPr>
              <a:t>04 PORTFOLIO</a:t>
            </a:r>
          </a:p>
        </p:txBody>
      </p:sp>
      <p:sp>
        <p:nvSpPr>
          <p:cNvPr id="31" name="TextBox 21">
            <a:extLst>
              <a:ext uri="{FF2B5EF4-FFF2-40B4-BE49-F238E27FC236}">
                <a16:creationId xmlns:a16="http://schemas.microsoft.com/office/drawing/2014/main" id="{738D3DC7-4169-548C-82BE-2BA8725F9D0A}"/>
              </a:ext>
            </a:extLst>
          </p:cNvPr>
          <p:cNvSpPr txBox="1"/>
          <p:nvPr/>
        </p:nvSpPr>
        <p:spPr>
          <a:xfrm>
            <a:off x="9151315" y="1673352"/>
            <a:ext cx="1358798"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Governance</a:t>
            </a:r>
          </a:p>
        </p:txBody>
      </p:sp>
      <p:sp>
        <p:nvSpPr>
          <p:cNvPr id="32" name="Rectangle 22">
            <a:extLst>
              <a:ext uri="{FF2B5EF4-FFF2-40B4-BE49-F238E27FC236}">
                <a16:creationId xmlns:a16="http://schemas.microsoft.com/office/drawing/2014/main" id="{E740DCB9-950B-1EEC-2412-EB855FE2016F}"/>
              </a:ext>
            </a:extLst>
          </p:cNvPr>
          <p:cNvSpPr/>
          <p:nvPr/>
        </p:nvSpPr>
        <p:spPr>
          <a:xfrm>
            <a:off x="10555833" y="1417320"/>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TextBox 23">
            <a:extLst>
              <a:ext uri="{FF2B5EF4-FFF2-40B4-BE49-F238E27FC236}">
                <a16:creationId xmlns:a16="http://schemas.microsoft.com/office/drawing/2014/main" id="{36EC0BF6-A2CB-20FA-84EF-C680F60A48C0}"/>
              </a:ext>
            </a:extLst>
          </p:cNvPr>
          <p:cNvSpPr txBox="1"/>
          <p:nvPr/>
        </p:nvSpPr>
        <p:spPr>
          <a:xfrm>
            <a:off x="10555833" y="1444752"/>
            <a:ext cx="1358798" cy="246888"/>
          </a:xfrm>
          <a:prstGeom prst="rect">
            <a:avLst/>
          </a:prstGeom>
          <a:noFill/>
        </p:spPr>
        <p:txBody>
          <a:bodyPr wrap="square" lIns="0" tIns="0" rIns="0" bIns="0" anchor="t">
            <a:spAutoFit/>
          </a:bodyPr>
          <a:lstStyle/>
          <a:p>
            <a:pPr algn="ctr">
              <a:lnSpc>
                <a:spcPct val="110000"/>
              </a:lnSpc>
              <a:spcBef>
                <a:spcPts val="0"/>
              </a:spcBef>
              <a:spcAft>
                <a:spcPts val="0"/>
              </a:spcAft>
            </a:pPr>
            <a:r>
              <a:rPr lang="en-US" sz="800" b="1" i="0" noProof="0">
                <a:solidFill>
                  <a:srgbClr val="FFFFFF"/>
                </a:solidFill>
                <a:latin typeface="Helvetica Neue"/>
              </a:rPr>
              <a:t>05 DELIVERY</a:t>
            </a:r>
          </a:p>
        </p:txBody>
      </p:sp>
      <p:sp>
        <p:nvSpPr>
          <p:cNvPr id="34" name="TextBox 24">
            <a:extLst>
              <a:ext uri="{FF2B5EF4-FFF2-40B4-BE49-F238E27FC236}">
                <a16:creationId xmlns:a16="http://schemas.microsoft.com/office/drawing/2014/main" id="{9D8595F0-2400-12AE-A827-AFD3D614BD35}"/>
              </a:ext>
            </a:extLst>
          </p:cNvPr>
          <p:cNvSpPr txBox="1"/>
          <p:nvPr/>
        </p:nvSpPr>
        <p:spPr>
          <a:xfrm>
            <a:off x="10555833" y="1673352"/>
            <a:ext cx="1358798" cy="219456"/>
          </a:xfrm>
          <a:prstGeom prst="rect">
            <a:avLst/>
          </a:prstGeom>
          <a:noFill/>
        </p:spPr>
        <p:txBody>
          <a:bodyPr wrap="square" lIns="0" tIns="0" rIns="0" bIns="0" anchor="t">
            <a:spAutoFit/>
          </a:bodyPr>
          <a:lstStyle/>
          <a:p>
            <a:pPr algn="ctr">
              <a:lnSpc>
                <a:spcPct val="110000"/>
              </a:lnSpc>
              <a:spcBef>
                <a:spcPts val="0"/>
              </a:spcBef>
              <a:spcAft>
                <a:spcPts val="0"/>
              </a:spcAft>
            </a:pPr>
            <a:r>
              <a:rPr lang="en-US" sz="700" b="0" i="0" noProof="0">
                <a:solidFill>
                  <a:srgbClr val="FFFFFF"/>
                </a:solidFill>
                <a:latin typeface="Helvetica Neue"/>
              </a:rPr>
              <a:t>Execution</a:t>
            </a:r>
          </a:p>
        </p:txBody>
      </p:sp>
      <p:sp>
        <p:nvSpPr>
          <p:cNvPr id="35" name="Rectangle 25">
            <a:extLst>
              <a:ext uri="{FF2B5EF4-FFF2-40B4-BE49-F238E27FC236}">
                <a16:creationId xmlns:a16="http://schemas.microsoft.com/office/drawing/2014/main" id="{02F9258F-5F6A-5338-DCCD-90D16FF61975}"/>
              </a:ext>
            </a:extLst>
          </p:cNvPr>
          <p:cNvSpPr/>
          <p:nvPr/>
        </p:nvSpPr>
        <p:spPr>
          <a:xfrm>
            <a:off x="457200" y="1965960"/>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26">
            <a:extLst>
              <a:ext uri="{FF2B5EF4-FFF2-40B4-BE49-F238E27FC236}">
                <a16:creationId xmlns:a16="http://schemas.microsoft.com/office/drawing/2014/main" id="{2C57EBAB-E044-B4C5-469A-DBAD18E4D0D1}"/>
              </a:ext>
            </a:extLst>
          </p:cNvPr>
          <p:cNvSpPr txBox="1"/>
          <p:nvPr/>
        </p:nvSpPr>
        <p:spPr>
          <a:xfrm>
            <a:off x="458709" y="1967469"/>
            <a:ext cx="1143000" cy="548640"/>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GIS</a:t>
            </a:r>
          </a:p>
        </p:txBody>
      </p:sp>
      <p:sp>
        <p:nvSpPr>
          <p:cNvPr id="37" name="Rectangle 27">
            <a:extLst>
              <a:ext uri="{FF2B5EF4-FFF2-40B4-BE49-F238E27FC236}">
                <a16:creationId xmlns:a16="http://schemas.microsoft.com/office/drawing/2014/main" id="{D592F965-098F-99AB-4238-9D5B5BE12A42}"/>
              </a:ext>
            </a:extLst>
          </p:cNvPr>
          <p:cNvSpPr/>
          <p:nvPr/>
        </p:nvSpPr>
        <p:spPr>
          <a:xfrm>
            <a:off x="1645920" y="1965960"/>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Rectangle 29">
            <a:extLst>
              <a:ext uri="{FF2B5EF4-FFF2-40B4-BE49-F238E27FC236}">
                <a16:creationId xmlns:a16="http://schemas.microsoft.com/office/drawing/2014/main" id="{6DC78DB9-FEDD-D195-C366-D09415AE0469}"/>
              </a:ext>
            </a:extLst>
          </p:cNvPr>
          <p:cNvSpPr/>
          <p:nvPr/>
        </p:nvSpPr>
        <p:spPr>
          <a:xfrm>
            <a:off x="3337560" y="1965960"/>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30">
            <a:extLst>
              <a:ext uri="{FF2B5EF4-FFF2-40B4-BE49-F238E27FC236}">
                <a16:creationId xmlns:a16="http://schemas.microsoft.com/office/drawing/2014/main" id="{F95DE973-8DA5-99F7-C3DB-202589D9C7DB}"/>
              </a:ext>
            </a:extLst>
          </p:cNvPr>
          <p:cNvSpPr txBox="1"/>
          <p:nvPr/>
        </p:nvSpPr>
        <p:spPr>
          <a:xfrm>
            <a:off x="3410712" y="2002536"/>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Break/fix · Small · Large (PDD)</a:t>
            </a:r>
          </a:p>
        </p:txBody>
      </p:sp>
      <p:sp>
        <p:nvSpPr>
          <p:cNvPr id="41" name="Rectangle 31">
            <a:extLst>
              <a:ext uri="{FF2B5EF4-FFF2-40B4-BE49-F238E27FC236}">
                <a16:creationId xmlns:a16="http://schemas.microsoft.com/office/drawing/2014/main" id="{92451326-AB96-E659-2DE1-017AF56C6003}"/>
              </a:ext>
            </a:extLst>
          </p:cNvPr>
          <p:cNvSpPr/>
          <p:nvPr/>
        </p:nvSpPr>
        <p:spPr>
          <a:xfrm>
            <a:off x="4937759" y="196596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33">
            <a:extLst>
              <a:ext uri="{FF2B5EF4-FFF2-40B4-BE49-F238E27FC236}">
                <a16:creationId xmlns:a16="http://schemas.microsoft.com/office/drawing/2014/main" id="{832CCD28-F67E-6AD8-05E5-B87E13C89BEA}"/>
              </a:ext>
            </a:extLst>
          </p:cNvPr>
          <p:cNvSpPr txBox="1"/>
          <p:nvPr/>
        </p:nvSpPr>
        <p:spPr>
          <a:xfrm>
            <a:off x="5166359" y="2011679"/>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Jira + Email + Mtgs + IT-Now</a:t>
            </a:r>
          </a:p>
        </p:txBody>
      </p:sp>
      <p:sp>
        <p:nvSpPr>
          <p:cNvPr id="44" name="Rectangle 34">
            <a:extLst>
              <a:ext uri="{FF2B5EF4-FFF2-40B4-BE49-F238E27FC236}">
                <a16:creationId xmlns:a16="http://schemas.microsoft.com/office/drawing/2014/main" id="{8BBD21A7-103B-6B05-0D86-EDFDECB9CB8F}"/>
              </a:ext>
            </a:extLst>
          </p:cNvPr>
          <p:cNvSpPr/>
          <p:nvPr/>
        </p:nvSpPr>
        <p:spPr>
          <a:xfrm>
            <a:off x="6342278" y="196596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36">
            <a:extLst>
              <a:ext uri="{FF2B5EF4-FFF2-40B4-BE49-F238E27FC236}">
                <a16:creationId xmlns:a16="http://schemas.microsoft.com/office/drawing/2014/main" id="{B5B26174-F7EC-03C1-4C73-EC5636EECCB7}"/>
              </a:ext>
            </a:extLst>
          </p:cNvPr>
          <p:cNvSpPr txBox="1"/>
          <p:nvPr/>
        </p:nvSpPr>
        <p:spPr>
          <a:xfrm>
            <a:off x="6570878" y="2011679"/>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Small vs. PDD</a:t>
            </a:r>
          </a:p>
        </p:txBody>
      </p:sp>
      <p:sp>
        <p:nvSpPr>
          <p:cNvPr id="47" name="Rectangle 37">
            <a:extLst>
              <a:ext uri="{FF2B5EF4-FFF2-40B4-BE49-F238E27FC236}">
                <a16:creationId xmlns:a16="http://schemas.microsoft.com/office/drawing/2014/main" id="{8569FD4E-7554-63BA-51E2-C5E96F591191}"/>
              </a:ext>
            </a:extLst>
          </p:cNvPr>
          <p:cNvSpPr/>
          <p:nvPr/>
        </p:nvSpPr>
        <p:spPr>
          <a:xfrm>
            <a:off x="7746796" y="196596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39">
            <a:extLst>
              <a:ext uri="{FF2B5EF4-FFF2-40B4-BE49-F238E27FC236}">
                <a16:creationId xmlns:a16="http://schemas.microsoft.com/office/drawing/2014/main" id="{D1A65B77-C56D-5E4B-09BD-0FD083588C58}"/>
              </a:ext>
            </a:extLst>
          </p:cNvPr>
          <p:cNvSpPr txBox="1"/>
          <p:nvPr/>
        </p:nvSpPr>
        <p:spPr>
          <a:xfrm>
            <a:off x="7975396" y="2011679"/>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Business drives; P&amp;T face</a:t>
            </a:r>
          </a:p>
        </p:txBody>
      </p:sp>
      <p:sp>
        <p:nvSpPr>
          <p:cNvPr id="50" name="Rectangle 40">
            <a:extLst>
              <a:ext uri="{FF2B5EF4-FFF2-40B4-BE49-F238E27FC236}">
                <a16:creationId xmlns:a16="http://schemas.microsoft.com/office/drawing/2014/main" id="{C47CD85B-8CAA-4700-EA99-48BA7199812E}"/>
              </a:ext>
            </a:extLst>
          </p:cNvPr>
          <p:cNvSpPr/>
          <p:nvPr/>
        </p:nvSpPr>
        <p:spPr>
          <a:xfrm>
            <a:off x="9151315" y="196596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42">
            <a:extLst>
              <a:ext uri="{FF2B5EF4-FFF2-40B4-BE49-F238E27FC236}">
                <a16:creationId xmlns:a16="http://schemas.microsoft.com/office/drawing/2014/main" id="{BBBB9DCC-4A68-0A8C-A303-3E315BF13607}"/>
              </a:ext>
            </a:extLst>
          </p:cNvPr>
          <p:cNvSpPr txBox="1"/>
          <p:nvPr/>
        </p:nvSpPr>
        <p:spPr>
          <a:xfrm>
            <a:off x="9379915" y="2011679"/>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PDD approval</a:t>
            </a:r>
          </a:p>
        </p:txBody>
      </p:sp>
      <p:sp>
        <p:nvSpPr>
          <p:cNvPr id="53" name="Rectangle 43">
            <a:extLst>
              <a:ext uri="{FF2B5EF4-FFF2-40B4-BE49-F238E27FC236}">
                <a16:creationId xmlns:a16="http://schemas.microsoft.com/office/drawing/2014/main" id="{520DF026-28B2-3F4E-EE70-C904D3CE924B}"/>
              </a:ext>
            </a:extLst>
          </p:cNvPr>
          <p:cNvSpPr/>
          <p:nvPr/>
        </p:nvSpPr>
        <p:spPr>
          <a:xfrm>
            <a:off x="10555833" y="196596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5" name="TextBox 45">
            <a:extLst>
              <a:ext uri="{FF2B5EF4-FFF2-40B4-BE49-F238E27FC236}">
                <a16:creationId xmlns:a16="http://schemas.microsoft.com/office/drawing/2014/main" id="{E00BA264-DF85-FFAB-989B-ADB4C3BFA6AC}"/>
              </a:ext>
            </a:extLst>
          </p:cNvPr>
          <p:cNvSpPr txBox="1"/>
          <p:nvPr/>
        </p:nvSpPr>
        <p:spPr>
          <a:xfrm>
            <a:off x="10784433" y="2011679"/>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Internal + SWF</a:t>
            </a:r>
          </a:p>
        </p:txBody>
      </p:sp>
      <p:sp>
        <p:nvSpPr>
          <p:cNvPr id="56" name="Rectangle 46">
            <a:extLst>
              <a:ext uri="{FF2B5EF4-FFF2-40B4-BE49-F238E27FC236}">
                <a16:creationId xmlns:a16="http://schemas.microsoft.com/office/drawing/2014/main" id="{2A69769A-A621-7784-DDFE-428C22CD603B}"/>
              </a:ext>
            </a:extLst>
          </p:cNvPr>
          <p:cNvSpPr/>
          <p:nvPr/>
        </p:nvSpPr>
        <p:spPr>
          <a:xfrm>
            <a:off x="457200" y="2569464"/>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7" name="TextBox 47">
            <a:extLst>
              <a:ext uri="{FF2B5EF4-FFF2-40B4-BE49-F238E27FC236}">
                <a16:creationId xmlns:a16="http://schemas.microsoft.com/office/drawing/2014/main" id="{8B5C49D8-FB01-149E-E05F-32C516297539}"/>
              </a:ext>
            </a:extLst>
          </p:cNvPr>
          <p:cNvSpPr txBox="1"/>
          <p:nvPr/>
        </p:nvSpPr>
        <p:spPr>
          <a:xfrm>
            <a:off x="458709" y="2570973"/>
            <a:ext cx="1143000" cy="548640"/>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Corporate</a:t>
            </a:r>
          </a:p>
        </p:txBody>
      </p:sp>
      <p:sp>
        <p:nvSpPr>
          <p:cNvPr id="58" name="Rectangle 48">
            <a:extLst>
              <a:ext uri="{FF2B5EF4-FFF2-40B4-BE49-F238E27FC236}">
                <a16:creationId xmlns:a16="http://schemas.microsoft.com/office/drawing/2014/main" id="{46F00C98-1CC3-359F-7C50-A95916E6725B}"/>
              </a:ext>
            </a:extLst>
          </p:cNvPr>
          <p:cNvSpPr/>
          <p:nvPr/>
        </p:nvSpPr>
        <p:spPr>
          <a:xfrm>
            <a:off x="1645920" y="2569464"/>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9" name="TextBox 49">
            <a:extLst>
              <a:ext uri="{FF2B5EF4-FFF2-40B4-BE49-F238E27FC236}">
                <a16:creationId xmlns:a16="http://schemas.microsoft.com/office/drawing/2014/main" id="{0E2F89AF-E3E5-3814-E7E1-B071B5788FAE}"/>
              </a:ext>
            </a:extLst>
          </p:cNvPr>
          <p:cNvSpPr txBox="1"/>
          <p:nvPr/>
        </p:nvSpPr>
        <p:spPr>
          <a:xfrm>
            <a:off x="1719072" y="2606040"/>
            <a:ext cx="149961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2C3E50"/>
                </a:solidFill>
                <a:latin typeface="Helvetica Neue"/>
              </a:rPr>
              <a:t>Finance · HR · Procurement · Legal · Training · Regulatory</a:t>
            </a:r>
          </a:p>
        </p:txBody>
      </p:sp>
      <p:sp>
        <p:nvSpPr>
          <p:cNvPr id="60" name="Rectangle 50">
            <a:extLst>
              <a:ext uri="{FF2B5EF4-FFF2-40B4-BE49-F238E27FC236}">
                <a16:creationId xmlns:a16="http://schemas.microsoft.com/office/drawing/2014/main" id="{E85E7AB6-A3E1-4239-CEB5-A1F6D65A376C}"/>
              </a:ext>
            </a:extLst>
          </p:cNvPr>
          <p:cNvSpPr/>
          <p:nvPr/>
        </p:nvSpPr>
        <p:spPr>
          <a:xfrm>
            <a:off x="3337560" y="2569464"/>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1" name="TextBox 51">
            <a:extLst>
              <a:ext uri="{FF2B5EF4-FFF2-40B4-BE49-F238E27FC236}">
                <a16:creationId xmlns:a16="http://schemas.microsoft.com/office/drawing/2014/main" id="{83B9131B-954B-6E47-F6B9-B78071C49BC6}"/>
              </a:ext>
            </a:extLst>
          </p:cNvPr>
          <p:cNvSpPr txBox="1"/>
          <p:nvPr/>
        </p:nvSpPr>
        <p:spPr>
          <a:xfrm>
            <a:off x="3410712" y="2606040"/>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Regulatory · PDDs · Small/Medium</a:t>
            </a:r>
          </a:p>
        </p:txBody>
      </p:sp>
      <p:sp>
        <p:nvSpPr>
          <p:cNvPr id="62" name="Rectangle 52">
            <a:extLst>
              <a:ext uri="{FF2B5EF4-FFF2-40B4-BE49-F238E27FC236}">
                <a16:creationId xmlns:a16="http://schemas.microsoft.com/office/drawing/2014/main" id="{710B39F0-28F9-438B-E216-4AE3920779D4}"/>
              </a:ext>
            </a:extLst>
          </p:cNvPr>
          <p:cNvSpPr/>
          <p:nvPr/>
        </p:nvSpPr>
        <p:spPr>
          <a:xfrm>
            <a:off x="4937759" y="2569464"/>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4" name="TextBox 54">
            <a:extLst>
              <a:ext uri="{FF2B5EF4-FFF2-40B4-BE49-F238E27FC236}">
                <a16:creationId xmlns:a16="http://schemas.microsoft.com/office/drawing/2014/main" id="{4FDCB07F-A583-9C2F-FA41-B8D24AC5622E}"/>
              </a:ext>
            </a:extLst>
          </p:cNvPr>
          <p:cNvSpPr txBox="1"/>
          <p:nvPr/>
        </p:nvSpPr>
        <p:spPr>
          <a:xfrm>
            <a:off x="5166359" y="2615184"/>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Jira + Confluence + Word</a:t>
            </a:r>
          </a:p>
        </p:txBody>
      </p:sp>
      <p:sp>
        <p:nvSpPr>
          <p:cNvPr id="65" name="Rectangle 55">
            <a:extLst>
              <a:ext uri="{FF2B5EF4-FFF2-40B4-BE49-F238E27FC236}">
                <a16:creationId xmlns:a16="http://schemas.microsoft.com/office/drawing/2014/main" id="{CE461E9B-A842-304A-BCBA-FFB6A2BBDD95}"/>
              </a:ext>
            </a:extLst>
          </p:cNvPr>
          <p:cNvSpPr/>
          <p:nvPr/>
        </p:nvSpPr>
        <p:spPr>
          <a:xfrm>
            <a:off x="6342278" y="2569464"/>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7" name="TextBox 57">
            <a:extLst>
              <a:ext uri="{FF2B5EF4-FFF2-40B4-BE49-F238E27FC236}">
                <a16:creationId xmlns:a16="http://schemas.microsoft.com/office/drawing/2014/main" id="{E006A2F6-78D9-34E6-EC39-78F3A476D412}"/>
              </a:ext>
            </a:extLst>
          </p:cNvPr>
          <p:cNvSpPr txBox="1"/>
          <p:nvPr/>
        </p:nvSpPr>
        <p:spPr>
          <a:xfrm>
            <a:off x="6570878" y="2615184"/>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PDD driver; overlap</a:t>
            </a:r>
          </a:p>
        </p:txBody>
      </p:sp>
      <p:sp>
        <p:nvSpPr>
          <p:cNvPr id="68" name="Rectangle 58">
            <a:extLst>
              <a:ext uri="{FF2B5EF4-FFF2-40B4-BE49-F238E27FC236}">
                <a16:creationId xmlns:a16="http://schemas.microsoft.com/office/drawing/2014/main" id="{E0A227A2-D45E-E153-B2F5-7DCE2104CB9A}"/>
              </a:ext>
            </a:extLst>
          </p:cNvPr>
          <p:cNvSpPr/>
          <p:nvPr/>
        </p:nvSpPr>
        <p:spPr>
          <a:xfrm>
            <a:off x="7746796" y="2569464"/>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0" name="TextBox 60">
            <a:extLst>
              <a:ext uri="{FF2B5EF4-FFF2-40B4-BE49-F238E27FC236}">
                <a16:creationId xmlns:a16="http://schemas.microsoft.com/office/drawing/2014/main" id="{274CE241-D9E5-DCC0-99E0-ED88BF56FB71}"/>
              </a:ext>
            </a:extLst>
          </p:cNvPr>
          <p:cNvSpPr txBox="1"/>
          <p:nvPr/>
        </p:nvSpPr>
        <p:spPr>
          <a:xfrm>
            <a:off x="7975396" y="2615184"/>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PDD driver</a:t>
            </a:r>
          </a:p>
        </p:txBody>
      </p:sp>
      <p:sp>
        <p:nvSpPr>
          <p:cNvPr id="71" name="Rectangle 61">
            <a:extLst>
              <a:ext uri="{FF2B5EF4-FFF2-40B4-BE49-F238E27FC236}">
                <a16:creationId xmlns:a16="http://schemas.microsoft.com/office/drawing/2014/main" id="{9B5C8B0E-9FE2-AFD7-8638-D029A75159E1}"/>
              </a:ext>
            </a:extLst>
          </p:cNvPr>
          <p:cNvSpPr/>
          <p:nvPr/>
        </p:nvSpPr>
        <p:spPr>
          <a:xfrm>
            <a:off x="9151315" y="2569464"/>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3" name="TextBox 63">
            <a:extLst>
              <a:ext uri="{FF2B5EF4-FFF2-40B4-BE49-F238E27FC236}">
                <a16:creationId xmlns:a16="http://schemas.microsoft.com/office/drawing/2014/main" id="{F2FBC736-4DC1-F7BA-6B19-6F2C947E148D}"/>
              </a:ext>
            </a:extLst>
          </p:cNvPr>
          <p:cNvSpPr txBox="1"/>
          <p:nvPr/>
        </p:nvSpPr>
        <p:spPr>
          <a:xfrm>
            <a:off x="9379915" y="2615184"/>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PDD approval</a:t>
            </a:r>
          </a:p>
        </p:txBody>
      </p:sp>
      <p:sp>
        <p:nvSpPr>
          <p:cNvPr id="74" name="Rectangle 64">
            <a:extLst>
              <a:ext uri="{FF2B5EF4-FFF2-40B4-BE49-F238E27FC236}">
                <a16:creationId xmlns:a16="http://schemas.microsoft.com/office/drawing/2014/main" id="{D9514376-9714-B250-1401-074722C50DE0}"/>
              </a:ext>
            </a:extLst>
          </p:cNvPr>
          <p:cNvSpPr/>
          <p:nvPr/>
        </p:nvSpPr>
        <p:spPr>
          <a:xfrm>
            <a:off x="10555833" y="2569464"/>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6" name="TextBox 66">
            <a:extLst>
              <a:ext uri="{FF2B5EF4-FFF2-40B4-BE49-F238E27FC236}">
                <a16:creationId xmlns:a16="http://schemas.microsoft.com/office/drawing/2014/main" id="{047C7FA7-14C8-4515-2DE2-A00E707C3183}"/>
              </a:ext>
            </a:extLst>
          </p:cNvPr>
          <p:cNvSpPr txBox="1"/>
          <p:nvPr/>
        </p:nvSpPr>
        <p:spPr>
          <a:xfrm>
            <a:off x="10784433" y="2615184"/>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Internal + Vendor</a:t>
            </a:r>
          </a:p>
        </p:txBody>
      </p:sp>
      <p:sp>
        <p:nvSpPr>
          <p:cNvPr id="77" name="Rectangle 67">
            <a:extLst>
              <a:ext uri="{FF2B5EF4-FFF2-40B4-BE49-F238E27FC236}">
                <a16:creationId xmlns:a16="http://schemas.microsoft.com/office/drawing/2014/main" id="{91346340-FAE1-A919-0795-069933F0CFB3}"/>
              </a:ext>
            </a:extLst>
          </p:cNvPr>
          <p:cNvSpPr/>
          <p:nvPr/>
        </p:nvSpPr>
        <p:spPr>
          <a:xfrm>
            <a:off x="457200" y="3172968"/>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8" name="TextBox 68">
            <a:extLst>
              <a:ext uri="{FF2B5EF4-FFF2-40B4-BE49-F238E27FC236}">
                <a16:creationId xmlns:a16="http://schemas.microsoft.com/office/drawing/2014/main" id="{84E843B9-8090-19EB-4076-A6D3FEECE18B}"/>
              </a:ext>
            </a:extLst>
          </p:cNvPr>
          <p:cNvSpPr txBox="1"/>
          <p:nvPr/>
        </p:nvSpPr>
        <p:spPr>
          <a:xfrm>
            <a:off x="458709" y="3174477"/>
            <a:ext cx="1143000" cy="548640"/>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G&amp;E</a:t>
            </a:r>
          </a:p>
        </p:txBody>
      </p:sp>
      <p:sp>
        <p:nvSpPr>
          <p:cNvPr id="79" name="Rectangle 69">
            <a:extLst>
              <a:ext uri="{FF2B5EF4-FFF2-40B4-BE49-F238E27FC236}">
                <a16:creationId xmlns:a16="http://schemas.microsoft.com/office/drawing/2014/main" id="{453B6DBA-C755-8622-1673-068BE1E5A8FF}"/>
              </a:ext>
            </a:extLst>
          </p:cNvPr>
          <p:cNvSpPr/>
          <p:nvPr/>
        </p:nvSpPr>
        <p:spPr>
          <a:xfrm>
            <a:off x="1645920" y="3172968"/>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1" name="Rectangle 71">
            <a:extLst>
              <a:ext uri="{FF2B5EF4-FFF2-40B4-BE49-F238E27FC236}">
                <a16:creationId xmlns:a16="http://schemas.microsoft.com/office/drawing/2014/main" id="{EBB47CC1-11E4-2B5B-6EEE-2BA259521063}"/>
              </a:ext>
            </a:extLst>
          </p:cNvPr>
          <p:cNvSpPr/>
          <p:nvPr/>
        </p:nvSpPr>
        <p:spPr>
          <a:xfrm>
            <a:off x="3337560" y="3172968"/>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2" name="TextBox 72">
            <a:extLst>
              <a:ext uri="{FF2B5EF4-FFF2-40B4-BE49-F238E27FC236}">
                <a16:creationId xmlns:a16="http://schemas.microsoft.com/office/drawing/2014/main" id="{6F6209B7-96C7-43DB-11D1-F05D5E9BC2F3}"/>
              </a:ext>
            </a:extLst>
          </p:cNvPr>
          <p:cNvSpPr txBox="1"/>
          <p:nvPr/>
        </p:nvSpPr>
        <p:spPr>
          <a:xfrm>
            <a:off x="3410712" y="3209544"/>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Version upgrades · Ad-hoc</a:t>
            </a:r>
          </a:p>
        </p:txBody>
      </p:sp>
      <p:sp>
        <p:nvSpPr>
          <p:cNvPr id="83" name="Rectangle 73">
            <a:extLst>
              <a:ext uri="{FF2B5EF4-FFF2-40B4-BE49-F238E27FC236}">
                <a16:creationId xmlns:a16="http://schemas.microsoft.com/office/drawing/2014/main" id="{4F456D87-DE52-3B55-6987-D673F58ACA05}"/>
              </a:ext>
            </a:extLst>
          </p:cNvPr>
          <p:cNvSpPr/>
          <p:nvPr/>
        </p:nvSpPr>
        <p:spPr>
          <a:xfrm>
            <a:off x="4937759" y="317296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5" name="TextBox 75">
            <a:extLst>
              <a:ext uri="{FF2B5EF4-FFF2-40B4-BE49-F238E27FC236}">
                <a16:creationId xmlns:a16="http://schemas.microsoft.com/office/drawing/2014/main" id="{EB461A3A-5B8E-BFBA-72F7-3D217229F922}"/>
              </a:ext>
            </a:extLst>
          </p:cNvPr>
          <p:cNvSpPr txBox="1"/>
          <p:nvPr/>
        </p:nvSpPr>
        <p:spPr>
          <a:xfrm>
            <a:off x="5166359" y="321868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Email only (biz/vendor)</a:t>
            </a:r>
          </a:p>
        </p:txBody>
      </p:sp>
      <p:sp>
        <p:nvSpPr>
          <p:cNvPr id="86" name="Rectangle 76">
            <a:extLst>
              <a:ext uri="{FF2B5EF4-FFF2-40B4-BE49-F238E27FC236}">
                <a16:creationId xmlns:a16="http://schemas.microsoft.com/office/drawing/2014/main" id="{47FB00DA-F814-E9F5-4B5A-4612D2E71390}"/>
              </a:ext>
            </a:extLst>
          </p:cNvPr>
          <p:cNvSpPr/>
          <p:nvPr/>
        </p:nvSpPr>
        <p:spPr>
          <a:xfrm>
            <a:off x="6342278" y="317296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8" name="TextBox 78">
            <a:extLst>
              <a:ext uri="{FF2B5EF4-FFF2-40B4-BE49-F238E27FC236}">
                <a16:creationId xmlns:a16="http://schemas.microsoft.com/office/drawing/2014/main" id="{4F699A64-0969-51D3-B27D-B979450FF61B}"/>
              </a:ext>
            </a:extLst>
          </p:cNvPr>
          <p:cNvSpPr txBox="1"/>
          <p:nvPr/>
        </p:nvSpPr>
        <p:spPr>
          <a:xfrm>
            <a:off x="6570878" y="321868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Depends on nature</a:t>
            </a:r>
          </a:p>
        </p:txBody>
      </p:sp>
      <p:sp>
        <p:nvSpPr>
          <p:cNvPr id="89" name="Rectangle 79">
            <a:extLst>
              <a:ext uri="{FF2B5EF4-FFF2-40B4-BE49-F238E27FC236}">
                <a16:creationId xmlns:a16="http://schemas.microsoft.com/office/drawing/2014/main" id="{8878D795-81E0-F807-A825-E8208BCAA7EA}"/>
              </a:ext>
            </a:extLst>
          </p:cNvPr>
          <p:cNvSpPr/>
          <p:nvPr/>
        </p:nvSpPr>
        <p:spPr>
          <a:xfrm>
            <a:off x="7746796" y="317296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1" name="TextBox 81">
            <a:extLst>
              <a:ext uri="{FF2B5EF4-FFF2-40B4-BE49-F238E27FC236}">
                <a16:creationId xmlns:a16="http://schemas.microsoft.com/office/drawing/2014/main" id="{7F9EBE39-9153-ACFD-DE46-322074E5AFE8}"/>
              </a:ext>
            </a:extLst>
          </p:cNvPr>
          <p:cNvSpPr txBox="1"/>
          <p:nvPr/>
        </p:nvSpPr>
        <p:spPr>
          <a:xfrm>
            <a:off x="7975396" y="321868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Operational = urgent</a:t>
            </a:r>
          </a:p>
        </p:txBody>
      </p:sp>
      <p:sp>
        <p:nvSpPr>
          <p:cNvPr id="92" name="Rectangle 82">
            <a:extLst>
              <a:ext uri="{FF2B5EF4-FFF2-40B4-BE49-F238E27FC236}">
                <a16:creationId xmlns:a16="http://schemas.microsoft.com/office/drawing/2014/main" id="{76778AD7-489B-F943-8C00-BFA99F779F99}"/>
              </a:ext>
            </a:extLst>
          </p:cNvPr>
          <p:cNvSpPr/>
          <p:nvPr/>
        </p:nvSpPr>
        <p:spPr>
          <a:xfrm>
            <a:off x="9151315" y="317296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4" name="TextBox 84">
            <a:extLst>
              <a:ext uri="{FF2B5EF4-FFF2-40B4-BE49-F238E27FC236}">
                <a16:creationId xmlns:a16="http://schemas.microsoft.com/office/drawing/2014/main" id="{4E8C22AF-3251-B265-49E3-7DB58C750B54}"/>
              </a:ext>
            </a:extLst>
          </p:cNvPr>
          <p:cNvSpPr txBox="1"/>
          <p:nvPr/>
        </p:nvSpPr>
        <p:spPr>
          <a:xfrm>
            <a:off x="9379915" y="321868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Vendor sets timeline</a:t>
            </a:r>
          </a:p>
        </p:txBody>
      </p:sp>
      <p:sp>
        <p:nvSpPr>
          <p:cNvPr id="95" name="Rectangle 85">
            <a:extLst>
              <a:ext uri="{FF2B5EF4-FFF2-40B4-BE49-F238E27FC236}">
                <a16:creationId xmlns:a16="http://schemas.microsoft.com/office/drawing/2014/main" id="{8AE58D0E-6957-E04D-CCDB-BDB8FA500AAA}"/>
              </a:ext>
            </a:extLst>
          </p:cNvPr>
          <p:cNvSpPr/>
          <p:nvPr/>
        </p:nvSpPr>
        <p:spPr>
          <a:xfrm>
            <a:off x="10555833" y="317296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7" name="TextBox 87">
            <a:extLst>
              <a:ext uri="{FF2B5EF4-FFF2-40B4-BE49-F238E27FC236}">
                <a16:creationId xmlns:a16="http://schemas.microsoft.com/office/drawing/2014/main" id="{45142241-86A8-290C-2E8E-C1794F125AFD}"/>
              </a:ext>
            </a:extLst>
          </p:cNvPr>
          <p:cNvSpPr txBox="1"/>
          <p:nvPr/>
        </p:nvSpPr>
        <p:spPr>
          <a:xfrm>
            <a:off x="10784433" y="321868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Vendor</a:t>
            </a:r>
          </a:p>
        </p:txBody>
      </p:sp>
      <p:sp>
        <p:nvSpPr>
          <p:cNvPr id="98" name="Rectangle 88">
            <a:extLst>
              <a:ext uri="{FF2B5EF4-FFF2-40B4-BE49-F238E27FC236}">
                <a16:creationId xmlns:a16="http://schemas.microsoft.com/office/drawing/2014/main" id="{2D0C94A1-8DD6-3C3C-B6D0-058366D4485E}"/>
              </a:ext>
            </a:extLst>
          </p:cNvPr>
          <p:cNvSpPr/>
          <p:nvPr/>
        </p:nvSpPr>
        <p:spPr>
          <a:xfrm>
            <a:off x="457200" y="3776472"/>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9" name="TextBox 89">
            <a:extLst>
              <a:ext uri="{FF2B5EF4-FFF2-40B4-BE49-F238E27FC236}">
                <a16:creationId xmlns:a16="http://schemas.microsoft.com/office/drawing/2014/main" id="{14C9D6AC-CF72-5204-84D3-34646F3E430D}"/>
              </a:ext>
            </a:extLst>
          </p:cNvPr>
          <p:cNvSpPr txBox="1"/>
          <p:nvPr/>
        </p:nvSpPr>
        <p:spPr>
          <a:xfrm>
            <a:off x="458709" y="3777981"/>
            <a:ext cx="1143000" cy="548640"/>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Global SAP</a:t>
            </a:r>
          </a:p>
          <a:p>
            <a:pPr algn="ctr">
              <a:lnSpc>
                <a:spcPct val="110000"/>
              </a:lnSpc>
              <a:spcBef>
                <a:spcPts val="0"/>
              </a:spcBef>
              <a:spcAft>
                <a:spcPts val="0"/>
              </a:spcAft>
            </a:pPr>
            <a:r>
              <a:rPr lang="en-US" sz="900" b="1" i="0" noProof="0">
                <a:solidFill>
                  <a:srgbClr val="FFFFFF"/>
                </a:solidFill>
                <a:latin typeface="Helvetica Neue"/>
              </a:rPr>
              <a:t>(Iberdrola)</a:t>
            </a:r>
          </a:p>
        </p:txBody>
      </p:sp>
      <p:sp>
        <p:nvSpPr>
          <p:cNvPr id="100" name="Rectangle 90">
            <a:extLst>
              <a:ext uri="{FF2B5EF4-FFF2-40B4-BE49-F238E27FC236}">
                <a16:creationId xmlns:a16="http://schemas.microsoft.com/office/drawing/2014/main" id="{EABE64E8-6E32-1A81-2A8D-39169E82969F}"/>
              </a:ext>
            </a:extLst>
          </p:cNvPr>
          <p:cNvSpPr/>
          <p:nvPr/>
        </p:nvSpPr>
        <p:spPr>
          <a:xfrm>
            <a:off x="1645920" y="3776472"/>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1" name="TextBox 91">
            <a:extLst>
              <a:ext uri="{FF2B5EF4-FFF2-40B4-BE49-F238E27FC236}">
                <a16:creationId xmlns:a16="http://schemas.microsoft.com/office/drawing/2014/main" id="{EF69700C-AA9A-CE65-C0E0-F23149C21FBD}"/>
              </a:ext>
            </a:extLst>
          </p:cNvPr>
          <p:cNvSpPr txBox="1"/>
          <p:nvPr/>
        </p:nvSpPr>
        <p:spPr>
          <a:xfrm>
            <a:off x="1719072" y="3813048"/>
            <a:ext cx="149961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2C3E50"/>
                </a:solidFill>
                <a:latin typeface="Helvetica Neue"/>
              </a:rPr>
              <a:t>Iberdrola Finance · Controlling · Procurement · Accenture</a:t>
            </a:r>
          </a:p>
        </p:txBody>
      </p:sp>
      <p:sp>
        <p:nvSpPr>
          <p:cNvPr id="102" name="Rectangle 92">
            <a:extLst>
              <a:ext uri="{FF2B5EF4-FFF2-40B4-BE49-F238E27FC236}">
                <a16:creationId xmlns:a16="http://schemas.microsoft.com/office/drawing/2014/main" id="{A85E582E-CD9A-5429-E3D7-2C40E0948BF1}"/>
              </a:ext>
            </a:extLst>
          </p:cNvPr>
          <p:cNvSpPr/>
          <p:nvPr/>
        </p:nvSpPr>
        <p:spPr>
          <a:xfrm>
            <a:off x="3337560" y="3776472"/>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3" name="TextBox 93">
            <a:extLst>
              <a:ext uri="{FF2B5EF4-FFF2-40B4-BE49-F238E27FC236}">
                <a16:creationId xmlns:a16="http://schemas.microsoft.com/office/drawing/2014/main" id="{5D0293D9-85B9-BAE2-EF4B-279D3502FE34}"/>
              </a:ext>
            </a:extLst>
          </p:cNvPr>
          <p:cNvSpPr txBox="1"/>
          <p:nvPr/>
        </p:nvSpPr>
        <p:spPr>
          <a:xfrm>
            <a:off x="3410712" y="3813048"/>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Incidents · Small · Minor (RITM) · Major</a:t>
            </a:r>
          </a:p>
        </p:txBody>
      </p:sp>
      <p:sp>
        <p:nvSpPr>
          <p:cNvPr id="104" name="Rectangle 94">
            <a:extLst>
              <a:ext uri="{FF2B5EF4-FFF2-40B4-BE49-F238E27FC236}">
                <a16:creationId xmlns:a16="http://schemas.microsoft.com/office/drawing/2014/main" id="{A43B3F65-113F-FA86-FD7C-F0A944F0DF23}"/>
              </a:ext>
            </a:extLst>
          </p:cNvPr>
          <p:cNvSpPr/>
          <p:nvPr/>
        </p:nvSpPr>
        <p:spPr>
          <a:xfrm>
            <a:off x="4937759" y="37764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6" name="TextBox 96">
            <a:extLst>
              <a:ext uri="{FF2B5EF4-FFF2-40B4-BE49-F238E27FC236}">
                <a16:creationId xmlns:a16="http://schemas.microsoft.com/office/drawing/2014/main" id="{E0A1386D-9BC6-9F0E-0049-849F42EF3F94}"/>
              </a:ext>
            </a:extLst>
          </p:cNvPr>
          <p:cNvSpPr txBox="1"/>
          <p:nvPr/>
        </p:nvSpPr>
        <p:spPr>
          <a:xfrm>
            <a:off x="5166359" y="3822191"/>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IT Now + RITM + Jira + SP</a:t>
            </a:r>
          </a:p>
        </p:txBody>
      </p:sp>
      <p:sp>
        <p:nvSpPr>
          <p:cNvPr id="107" name="Rectangle 97">
            <a:extLst>
              <a:ext uri="{FF2B5EF4-FFF2-40B4-BE49-F238E27FC236}">
                <a16:creationId xmlns:a16="http://schemas.microsoft.com/office/drawing/2014/main" id="{38E79D6D-840A-16B7-229B-BEB0D090CC26}"/>
              </a:ext>
            </a:extLst>
          </p:cNvPr>
          <p:cNvSpPr/>
          <p:nvPr/>
        </p:nvSpPr>
        <p:spPr>
          <a:xfrm>
            <a:off x="6342278" y="37764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9" name="TextBox 99">
            <a:extLst>
              <a:ext uri="{FF2B5EF4-FFF2-40B4-BE49-F238E27FC236}">
                <a16:creationId xmlns:a16="http://schemas.microsoft.com/office/drawing/2014/main" id="{B027621F-A470-AA70-0568-C426069BF2F0}"/>
              </a:ext>
            </a:extLst>
          </p:cNvPr>
          <p:cNvSpPr txBox="1"/>
          <p:nvPr/>
        </p:nvSpPr>
        <p:spPr>
          <a:xfrm>
            <a:off x="6570878" y="3822191"/>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By type (4 channels)</a:t>
            </a:r>
          </a:p>
        </p:txBody>
      </p:sp>
      <p:sp>
        <p:nvSpPr>
          <p:cNvPr id="110" name="Rectangle 100">
            <a:extLst>
              <a:ext uri="{FF2B5EF4-FFF2-40B4-BE49-F238E27FC236}">
                <a16:creationId xmlns:a16="http://schemas.microsoft.com/office/drawing/2014/main" id="{97177DF7-2542-199C-3C73-322F109AD387}"/>
              </a:ext>
            </a:extLst>
          </p:cNvPr>
          <p:cNvSpPr/>
          <p:nvPr/>
        </p:nvSpPr>
        <p:spPr>
          <a:xfrm>
            <a:off x="7746796" y="37764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2" name="TextBox 102">
            <a:extLst>
              <a:ext uri="{FF2B5EF4-FFF2-40B4-BE49-F238E27FC236}">
                <a16:creationId xmlns:a16="http://schemas.microsoft.com/office/drawing/2014/main" id="{7C1AF695-3769-0921-26D4-76E1291A8DC0}"/>
              </a:ext>
            </a:extLst>
          </p:cNvPr>
          <p:cNvSpPr txBox="1"/>
          <p:nvPr/>
        </p:nvSpPr>
        <p:spPr>
          <a:xfrm>
            <a:off x="7975396" y="3822191"/>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Incidents first (P&amp;T)</a:t>
            </a:r>
          </a:p>
        </p:txBody>
      </p:sp>
      <p:sp>
        <p:nvSpPr>
          <p:cNvPr id="113" name="Rectangle 103">
            <a:extLst>
              <a:ext uri="{FF2B5EF4-FFF2-40B4-BE49-F238E27FC236}">
                <a16:creationId xmlns:a16="http://schemas.microsoft.com/office/drawing/2014/main" id="{849759F2-CBB8-8C53-FBA7-26A3F6C86CAF}"/>
              </a:ext>
            </a:extLst>
          </p:cNvPr>
          <p:cNvSpPr/>
          <p:nvPr/>
        </p:nvSpPr>
        <p:spPr>
          <a:xfrm>
            <a:off x="9151315" y="37764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5" name="TextBox 105">
            <a:extLst>
              <a:ext uri="{FF2B5EF4-FFF2-40B4-BE49-F238E27FC236}">
                <a16:creationId xmlns:a16="http://schemas.microsoft.com/office/drawing/2014/main" id="{5FFF73A6-50D4-9304-EE3D-C9C91AA49EC6}"/>
              </a:ext>
            </a:extLst>
          </p:cNvPr>
          <p:cNvSpPr txBox="1"/>
          <p:nvPr/>
        </p:nvSpPr>
        <p:spPr>
          <a:xfrm>
            <a:off x="9379915" y="3822191"/>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PDD / SharePoint</a:t>
            </a:r>
          </a:p>
        </p:txBody>
      </p:sp>
      <p:sp>
        <p:nvSpPr>
          <p:cNvPr id="116" name="Rectangle 106">
            <a:extLst>
              <a:ext uri="{FF2B5EF4-FFF2-40B4-BE49-F238E27FC236}">
                <a16:creationId xmlns:a16="http://schemas.microsoft.com/office/drawing/2014/main" id="{BEE1A7B2-0AA9-8BF8-2859-BED8347C2D75}"/>
              </a:ext>
            </a:extLst>
          </p:cNvPr>
          <p:cNvSpPr/>
          <p:nvPr/>
        </p:nvSpPr>
        <p:spPr>
          <a:xfrm>
            <a:off x="10555833" y="377647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8" name="TextBox 108">
            <a:extLst>
              <a:ext uri="{FF2B5EF4-FFF2-40B4-BE49-F238E27FC236}">
                <a16:creationId xmlns:a16="http://schemas.microsoft.com/office/drawing/2014/main" id="{DA98C38B-3666-6622-4069-90DBFDC38400}"/>
              </a:ext>
            </a:extLst>
          </p:cNvPr>
          <p:cNvSpPr txBox="1"/>
          <p:nvPr/>
        </p:nvSpPr>
        <p:spPr>
          <a:xfrm>
            <a:off x="10784433" y="3822191"/>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Accenture + SWF</a:t>
            </a:r>
          </a:p>
        </p:txBody>
      </p:sp>
      <p:sp>
        <p:nvSpPr>
          <p:cNvPr id="119" name="Rectangle 109">
            <a:extLst>
              <a:ext uri="{FF2B5EF4-FFF2-40B4-BE49-F238E27FC236}">
                <a16:creationId xmlns:a16="http://schemas.microsoft.com/office/drawing/2014/main" id="{4CF79E7D-A527-65E4-B256-BA646A6CC13A}"/>
              </a:ext>
            </a:extLst>
          </p:cNvPr>
          <p:cNvSpPr/>
          <p:nvPr/>
        </p:nvSpPr>
        <p:spPr>
          <a:xfrm>
            <a:off x="457199" y="4379975"/>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0" name="TextBox 110">
            <a:extLst>
              <a:ext uri="{FF2B5EF4-FFF2-40B4-BE49-F238E27FC236}">
                <a16:creationId xmlns:a16="http://schemas.microsoft.com/office/drawing/2014/main" id="{C16EF195-9FE2-CD44-4452-894CA9867838}"/>
              </a:ext>
            </a:extLst>
          </p:cNvPr>
          <p:cNvSpPr txBox="1"/>
          <p:nvPr/>
        </p:nvSpPr>
        <p:spPr>
          <a:xfrm>
            <a:off x="457200" y="4478384"/>
            <a:ext cx="64008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accent1"/>
                </a:solidFill>
                <a:latin typeface="Helvetica Neue"/>
              </a:rPr>
              <a:t>CUSTOMER SERVICES / SAP — Director Customer Services Apps</a:t>
            </a:r>
          </a:p>
        </p:txBody>
      </p:sp>
      <p:sp>
        <p:nvSpPr>
          <p:cNvPr id="121" name="Rectangle 111">
            <a:extLst>
              <a:ext uri="{FF2B5EF4-FFF2-40B4-BE49-F238E27FC236}">
                <a16:creationId xmlns:a16="http://schemas.microsoft.com/office/drawing/2014/main" id="{323807B3-7251-0322-4270-4AF3C528EEF3}"/>
              </a:ext>
            </a:extLst>
          </p:cNvPr>
          <p:cNvSpPr/>
          <p:nvPr/>
        </p:nvSpPr>
        <p:spPr>
          <a:xfrm>
            <a:off x="457200" y="4636008"/>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2" name="TextBox 112">
            <a:extLst>
              <a:ext uri="{FF2B5EF4-FFF2-40B4-BE49-F238E27FC236}">
                <a16:creationId xmlns:a16="http://schemas.microsoft.com/office/drawing/2014/main" id="{1213BCA6-3CE4-C0F7-3756-204A5D580411}"/>
              </a:ext>
            </a:extLst>
          </p:cNvPr>
          <p:cNvSpPr txBox="1"/>
          <p:nvPr/>
        </p:nvSpPr>
        <p:spPr>
          <a:xfrm>
            <a:off x="458709" y="4645061"/>
            <a:ext cx="1143000" cy="548640"/>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Smart Metering</a:t>
            </a:r>
          </a:p>
          <a:p>
            <a:pPr algn="ctr">
              <a:lnSpc>
                <a:spcPct val="110000"/>
              </a:lnSpc>
              <a:spcBef>
                <a:spcPts val="0"/>
              </a:spcBef>
              <a:spcAft>
                <a:spcPts val="0"/>
              </a:spcAft>
            </a:pPr>
            <a:r>
              <a:rPr lang="en-US" sz="900" b="1" i="0" noProof="0">
                <a:solidFill>
                  <a:srgbClr val="FFFFFF"/>
                </a:solidFill>
                <a:latin typeface="Helvetica Neue"/>
              </a:rPr>
              <a:t>(Device &amp; Metering)</a:t>
            </a:r>
          </a:p>
        </p:txBody>
      </p:sp>
      <p:sp>
        <p:nvSpPr>
          <p:cNvPr id="123" name="Rectangle 113">
            <a:extLst>
              <a:ext uri="{FF2B5EF4-FFF2-40B4-BE49-F238E27FC236}">
                <a16:creationId xmlns:a16="http://schemas.microsoft.com/office/drawing/2014/main" id="{EF3A53D6-59D0-B708-92E8-0AB2D0591730}"/>
              </a:ext>
            </a:extLst>
          </p:cNvPr>
          <p:cNvSpPr/>
          <p:nvPr/>
        </p:nvSpPr>
        <p:spPr>
          <a:xfrm>
            <a:off x="1645920" y="4636008"/>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4" name="TextBox 114">
            <a:extLst>
              <a:ext uri="{FF2B5EF4-FFF2-40B4-BE49-F238E27FC236}">
                <a16:creationId xmlns:a16="http://schemas.microsoft.com/office/drawing/2014/main" id="{F25A13CC-B0EF-9752-430A-AD4562A3704C}"/>
              </a:ext>
            </a:extLst>
          </p:cNvPr>
          <p:cNvSpPr txBox="1"/>
          <p:nvPr/>
        </p:nvSpPr>
        <p:spPr>
          <a:xfrm>
            <a:off x="1719072" y="4672584"/>
            <a:ext cx="149961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2C3E50"/>
                </a:solidFill>
                <a:latin typeface="Helvetica Neue"/>
              </a:rPr>
              <a:t>Customer Ops · Field Services · Billing · BRS · Vendors</a:t>
            </a:r>
          </a:p>
        </p:txBody>
      </p:sp>
      <p:sp>
        <p:nvSpPr>
          <p:cNvPr id="125" name="Rectangle 115">
            <a:extLst>
              <a:ext uri="{FF2B5EF4-FFF2-40B4-BE49-F238E27FC236}">
                <a16:creationId xmlns:a16="http://schemas.microsoft.com/office/drawing/2014/main" id="{F1FF5DF5-C94C-F5E2-2F71-F038562AF550}"/>
              </a:ext>
            </a:extLst>
          </p:cNvPr>
          <p:cNvSpPr/>
          <p:nvPr/>
        </p:nvSpPr>
        <p:spPr>
          <a:xfrm>
            <a:off x="3337560" y="4636008"/>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6" name="TextBox 116">
            <a:extLst>
              <a:ext uri="{FF2B5EF4-FFF2-40B4-BE49-F238E27FC236}">
                <a16:creationId xmlns:a16="http://schemas.microsoft.com/office/drawing/2014/main" id="{0C7FB0B9-55A4-6FBA-A1FC-E2F354C50D1E}"/>
              </a:ext>
            </a:extLst>
          </p:cNvPr>
          <p:cNvSpPr txBox="1"/>
          <p:nvPr/>
        </p:nvSpPr>
        <p:spPr>
          <a:xfrm>
            <a:off x="3410712" y="4672584"/>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Incidents · Large · Small</a:t>
            </a:r>
          </a:p>
        </p:txBody>
      </p:sp>
      <p:sp>
        <p:nvSpPr>
          <p:cNvPr id="127" name="Rectangle 117">
            <a:extLst>
              <a:ext uri="{FF2B5EF4-FFF2-40B4-BE49-F238E27FC236}">
                <a16:creationId xmlns:a16="http://schemas.microsoft.com/office/drawing/2014/main" id="{4BBE978D-CC8C-2B69-D8FA-85C081F6D7DB}"/>
              </a:ext>
            </a:extLst>
          </p:cNvPr>
          <p:cNvSpPr/>
          <p:nvPr/>
        </p:nvSpPr>
        <p:spPr>
          <a:xfrm>
            <a:off x="4937759" y="463600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9" name="TextBox 119">
            <a:extLst>
              <a:ext uri="{FF2B5EF4-FFF2-40B4-BE49-F238E27FC236}">
                <a16:creationId xmlns:a16="http://schemas.microsoft.com/office/drawing/2014/main" id="{96568DA1-F0B3-9D05-A43C-09DC30415CF8}"/>
              </a:ext>
            </a:extLst>
          </p:cNvPr>
          <p:cNvSpPr txBox="1"/>
          <p:nvPr/>
        </p:nvSpPr>
        <p:spPr>
          <a:xfrm>
            <a:off x="5166359" y="468172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Email (IT Now)</a:t>
            </a:r>
          </a:p>
        </p:txBody>
      </p:sp>
      <p:sp>
        <p:nvSpPr>
          <p:cNvPr id="130" name="Rectangle 120">
            <a:extLst>
              <a:ext uri="{FF2B5EF4-FFF2-40B4-BE49-F238E27FC236}">
                <a16:creationId xmlns:a16="http://schemas.microsoft.com/office/drawing/2014/main" id="{1D718933-415C-4A45-78E5-3D509ED77E10}"/>
              </a:ext>
            </a:extLst>
          </p:cNvPr>
          <p:cNvSpPr/>
          <p:nvPr/>
        </p:nvSpPr>
        <p:spPr>
          <a:xfrm>
            <a:off x="6342278" y="463600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2" name="TextBox 122">
            <a:extLst>
              <a:ext uri="{FF2B5EF4-FFF2-40B4-BE49-F238E27FC236}">
                <a16:creationId xmlns:a16="http://schemas.microsoft.com/office/drawing/2014/main" id="{7B8ACE27-A972-DBD3-E04D-164ED42D80E2}"/>
              </a:ext>
            </a:extLst>
          </p:cNvPr>
          <p:cNvSpPr txBox="1"/>
          <p:nvPr/>
        </p:nvSpPr>
        <p:spPr>
          <a:xfrm>
            <a:off x="6570878" y="468172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IT Now template</a:t>
            </a:r>
          </a:p>
        </p:txBody>
      </p:sp>
      <p:sp>
        <p:nvSpPr>
          <p:cNvPr id="133" name="Rectangle 123">
            <a:extLst>
              <a:ext uri="{FF2B5EF4-FFF2-40B4-BE49-F238E27FC236}">
                <a16:creationId xmlns:a16="http://schemas.microsoft.com/office/drawing/2014/main" id="{607E4A46-F42A-8E91-F91B-5A315977CE1F}"/>
              </a:ext>
            </a:extLst>
          </p:cNvPr>
          <p:cNvSpPr/>
          <p:nvPr/>
        </p:nvSpPr>
        <p:spPr>
          <a:xfrm>
            <a:off x="7746796" y="463600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5" name="TextBox 125">
            <a:extLst>
              <a:ext uri="{FF2B5EF4-FFF2-40B4-BE49-F238E27FC236}">
                <a16:creationId xmlns:a16="http://schemas.microsoft.com/office/drawing/2014/main" id="{715B3A88-7CD2-BCF2-2548-117136185DA3}"/>
              </a:ext>
            </a:extLst>
          </p:cNvPr>
          <p:cNvSpPr txBox="1"/>
          <p:nvPr/>
        </p:nvSpPr>
        <p:spPr>
          <a:xfrm>
            <a:off x="7975396" y="468172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Criticality + deadline</a:t>
            </a:r>
          </a:p>
        </p:txBody>
      </p:sp>
      <p:sp>
        <p:nvSpPr>
          <p:cNvPr id="136" name="Rectangle 126">
            <a:extLst>
              <a:ext uri="{FF2B5EF4-FFF2-40B4-BE49-F238E27FC236}">
                <a16:creationId xmlns:a16="http://schemas.microsoft.com/office/drawing/2014/main" id="{CE1D180F-D403-71A8-22BF-105AB1C2D07D}"/>
              </a:ext>
            </a:extLst>
          </p:cNvPr>
          <p:cNvSpPr/>
          <p:nvPr/>
        </p:nvSpPr>
        <p:spPr>
          <a:xfrm>
            <a:off x="9151315" y="463600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TextBox 128">
            <a:extLst>
              <a:ext uri="{FF2B5EF4-FFF2-40B4-BE49-F238E27FC236}">
                <a16:creationId xmlns:a16="http://schemas.microsoft.com/office/drawing/2014/main" id="{356B4E29-9586-7DAF-2684-BFD9CC11CB79}"/>
              </a:ext>
            </a:extLst>
          </p:cNvPr>
          <p:cNvSpPr txBox="1"/>
          <p:nvPr/>
        </p:nvSpPr>
        <p:spPr>
          <a:xfrm>
            <a:off x="9379915" y="468172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PPM Now + weekly mtg</a:t>
            </a:r>
          </a:p>
        </p:txBody>
      </p:sp>
      <p:sp>
        <p:nvSpPr>
          <p:cNvPr id="139" name="Rectangle 129">
            <a:extLst>
              <a:ext uri="{FF2B5EF4-FFF2-40B4-BE49-F238E27FC236}">
                <a16:creationId xmlns:a16="http://schemas.microsoft.com/office/drawing/2014/main" id="{2CCBC0D7-D04B-8845-0C28-FB82D2F7686E}"/>
              </a:ext>
            </a:extLst>
          </p:cNvPr>
          <p:cNvSpPr/>
          <p:nvPr/>
        </p:nvSpPr>
        <p:spPr>
          <a:xfrm>
            <a:off x="10555833" y="4636008"/>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1" name="TextBox 131">
            <a:extLst>
              <a:ext uri="{FF2B5EF4-FFF2-40B4-BE49-F238E27FC236}">
                <a16:creationId xmlns:a16="http://schemas.microsoft.com/office/drawing/2014/main" id="{327B1CE8-719D-525D-2A1F-85F0D3E9B9EC}"/>
              </a:ext>
            </a:extLst>
          </p:cNvPr>
          <p:cNvSpPr txBox="1"/>
          <p:nvPr/>
        </p:nvSpPr>
        <p:spPr>
          <a:xfrm>
            <a:off x="10784433" y="4681728"/>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Vendor (100%)</a:t>
            </a:r>
          </a:p>
        </p:txBody>
      </p:sp>
      <p:sp>
        <p:nvSpPr>
          <p:cNvPr id="142" name="Rectangle 132">
            <a:extLst>
              <a:ext uri="{FF2B5EF4-FFF2-40B4-BE49-F238E27FC236}">
                <a16:creationId xmlns:a16="http://schemas.microsoft.com/office/drawing/2014/main" id="{9726AD5D-3355-C070-551A-0C09EA8D31C3}"/>
              </a:ext>
            </a:extLst>
          </p:cNvPr>
          <p:cNvSpPr/>
          <p:nvPr/>
        </p:nvSpPr>
        <p:spPr>
          <a:xfrm>
            <a:off x="457200" y="5239512"/>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3" name="TextBox 133">
            <a:extLst>
              <a:ext uri="{FF2B5EF4-FFF2-40B4-BE49-F238E27FC236}">
                <a16:creationId xmlns:a16="http://schemas.microsoft.com/office/drawing/2014/main" id="{009737E6-5938-6639-9844-18C9D30E5CB8}"/>
              </a:ext>
            </a:extLst>
          </p:cNvPr>
          <p:cNvSpPr txBox="1"/>
          <p:nvPr/>
        </p:nvSpPr>
        <p:spPr>
          <a:xfrm>
            <a:off x="458709" y="5241021"/>
            <a:ext cx="1143000" cy="548640"/>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Customer Services</a:t>
            </a:r>
          </a:p>
          <a:p>
            <a:pPr algn="ctr">
              <a:lnSpc>
                <a:spcPct val="110000"/>
              </a:lnSpc>
              <a:spcBef>
                <a:spcPts val="0"/>
              </a:spcBef>
              <a:spcAft>
                <a:spcPts val="0"/>
              </a:spcAft>
            </a:pPr>
            <a:r>
              <a:rPr lang="en-US" sz="900" b="1" i="0" noProof="0">
                <a:solidFill>
                  <a:srgbClr val="FFFFFF"/>
                </a:solidFill>
                <a:latin typeface="Helvetica Neue"/>
              </a:rPr>
              <a:t>(4 teams TBC)</a:t>
            </a:r>
          </a:p>
        </p:txBody>
      </p:sp>
      <p:sp>
        <p:nvSpPr>
          <p:cNvPr id="144" name="Rectangle 134">
            <a:extLst>
              <a:ext uri="{FF2B5EF4-FFF2-40B4-BE49-F238E27FC236}">
                <a16:creationId xmlns:a16="http://schemas.microsoft.com/office/drawing/2014/main" id="{8598FF7A-C94F-8E0B-999C-E0BC08772543}"/>
              </a:ext>
            </a:extLst>
          </p:cNvPr>
          <p:cNvSpPr/>
          <p:nvPr/>
        </p:nvSpPr>
        <p:spPr>
          <a:xfrm>
            <a:off x="1645920" y="5239512"/>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TextBox 135">
            <a:extLst>
              <a:ext uri="{FF2B5EF4-FFF2-40B4-BE49-F238E27FC236}">
                <a16:creationId xmlns:a16="http://schemas.microsoft.com/office/drawing/2014/main" id="{67CD7043-2163-2956-C941-2DE9ED0BCDC2}"/>
              </a:ext>
            </a:extLst>
          </p:cNvPr>
          <p:cNvSpPr txBox="1"/>
          <p:nvPr/>
        </p:nvSpPr>
        <p:spPr>
          <a:xfrm>
            <a:off x="1719072" y="5276088"/>
            <a:ext cx="149961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2C3E50"/>
                </a:solidFill>
                <a:latin typeface="Helvetica Neue"/>
              </a:rPr>
              <a:t>7 OPCOs via BRS · CS PMO Director · Business</a:t>
            </a:r>
          </a:p>
        </p:txBody>
      </p:sp>
      <p:sp>
        <p:nvSpPr>
          <p:cNvPr id="146" name="Rectangle 136">
            <a:extLst>
              <a:ext uri="{FF2B5EF4-FFF2-40B4-BE49-F238E27FC236}">
                <a16:creationId xmlns:a16="http://schemas.microsoft.com/office/drawing/2014/main" id="{F28B7D2C-3C1A-C44C-2535-876053553496}"/>
              </a:ext>
            </a:extLst>
          </p:cNvPr>
          <p:cNvSpPr/>
          <p:nvPr/>
        </p:nvSpPr>
        <p:spPr>
          <a:xfrm>
            <a:off x="3337560" y="5239512"/>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TextBox 137">
            <a:extLst>
              <a:ext uri="{FF2B5EF4-FFF2-40B4-BE49-F238E27FC236}">
                <a16:creationId xmlns:a16="http://schemas.microsoft.com/office/drawing/2014/main" id="{FC727761-1619-B1AB-25BC-D85E2A897FEE}"/>
              </a:ext>
            </a:extLst>
          </p:cNvPr>
          <p:cNvSpPr txBox="1"/>
          <p:nvPr/>
        </p:nvSpPr>
        <p:spPr>
          <a:xfrm>
            <a:off x="3410712" y="5276088"/>
            <a:ext cx="1408176" cy="475488"/>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1" i="0" noProof="0">
                <a:solidFill>
                  <a:srgbClr val="0F1C50"/>
                </a:solidFill>
                <a:latin typeface="Helvetica Neue"/>
              </a:rPr>
              <a:t>Regulatory · Large · Small/Medium · IT-funded</a:t>
            </a:r>
          </a:p>
        </p:txBody>
      </p:sp>
      <p:sp>
        <p:nvSpPr>
          <p:cNvPr id="148" name="Rectangle 138">
            <a:extLst>
              <a:ext uri="{FF2B5EF4-FFF2-40B4-BE49-F238E27FC236}">
                <a16:creationId xmlns:a16="http://schemas.microsoft.com/office/drawing/2014/main" id="{2646C5AB-AA5F-3D91-456C-10B3E151C551}"/>
              </a:ext>
            </a:extLst>
          </p:cNvPr>
          <p:cNvSpPr/>
          <p:nvPr/>
        </p:nvSpPr>
        <p:spPr>
          <a:xfrm>
            <a:off x="4937759" y="523951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0">
            <a:extLst>
              <a:ext uri="{FF2B5EF4-FFF2-40B4-BE49-F238E27FC236}">
                <a16:creationId xmlns:a16="http://schemas.microsoft.com/office/drawing/2014/main" id="{164A7A55-B03F-B703-2D65-6DE7F3B3D773}"/>
              </a:ext>
            </a:extLst>
          </p:cNvPr>
          <p:cNvSpPr txBox="1"/>
          <p:nvPr/>
        </p:nvSpPr>
        <p:spPr>
          <a:xfrm>
            <a:off x="5166359" y="5285232"/>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Director-level only</a:t>
            </a:r>
          </a:p>
        </p:txBody>
      </p:sp>
      <p:sp>
        <p:nvSpPr>
          <p:cNvPr id="151" name="Rectangle 141">
            <a:extLst>
              <a:ext uri="{FF2B5EF4-FFF2-40B4-BE49-F238E27FC236}">
                <a16:creationId xmlns:a16="http://schemas.microsoft.com/office/drawing/2014/main" id="{28229137-B6CA-B098-FBC2-F96D3932C504}"/>
              </a:ext>
            </a:extLst>
          </p:cNvPr>
          <p:cNvSpPr/>
          <p:nvPr/>
        </p:nvSpPr>
        <p:spPr>
          <a:xfrm>
            <a:off x="6342278" y="523951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3" name="TextBox 143">
            <a:extLst>
              <a:ext uri="{FF2B5EF4-FFF2-40B4-BE49-F238E27FC236}">
                <a16:creationId xmlns:a16="http://schemas.microsoft.com/office/drawing/2014/main" id="{881CF57A-68AC-DF28-472E-072FB3276331}"/>
              </a:ext>
            </a:extLst>
          </p:cNvPr>
          <p:cNvSpPr txBox="1"/>
          <p:nvPr/>
        </p:nvSpPr>
        <p:spPr>
          <a:xfrm>
            <a:off x="6570878" y="5285232"/>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CS PMO / BRS / IT-funded</a:t>
            </a:r>
          </a:p>
        </p:txBody>
      </p:sp>
      <p:sp>
        <p:nvSpPr>
          <p:cNvPr id="154" name="Rectangle 144">
            <a:extLst>
              <a:ext uri="{FF2B5EF4-FFF2-40B4-BE49-F238E27FC236}">
                <a16:creationId xmlns:a16="http://schemas.microsoft.com/office/drawing/2014/main" id="{F9A30315-24D8-344E-21FC-A01989F10514}"/>
              </a:ext>
            </a:extLst>
          </p:cNvPr>
          <p:cNvSpPr/>
          <p:nvPr/>
        </p:nvSpPr>
        <p:spPr>
          <a:xfrm>
            <a:off x="7746796" y="523951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6" name="TextBox 146">
            <a:extLst>
              <a:ext uri="{FF2B5EF4-FFF2-40B4-BE49-F238E27FC236}">
                <a16:creationId xmlns:a16="http://schemas.microsoft.com/office/drawing/2014/main" id="{B0BE8F18-0138-E34C-B4F6-2A166D1B933B}"/>
              </a:ext>
            </a:extLst>
          </p:cNvPr>
          <p:cNvSpPr txBox="1"/>
          <p:nvPr/>
        </p:nvSpPr>
        <p:spPr>
          <a:xfrm>
            <a:off x="7975396" y="5285232"/>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"Intrinsic common sense"</a:t>
            </a:r>
          </a:p>
        </p:txBody>
      </p:sp>
      <p:sp>
        <p:nvSpPr>
          <p:cNvPr id="157" name="Rectangle 147">
            <a:extLst>
              <a:ext uri="{FF2B5EF4-FFF2-40B4-BE49-F238E27FC236}">
                <a16:creationId xmlns:a16="http://schemas.microsoft.com/office/drawing/2014/main" id="{880BA257-7036-FA59-1B5D-577C7B043E2E}"/>
              </a:ext>
            </a:extLst>
          </p:cNvPr>
          <p:cNvSpPr/>
          <p:nvPr/>
        </p:nvSpPr>
        <p:spPr>
          <a:xfrm>
            <a:off x="9151315" y="523951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9" name="TextBox 149">
            <a:extLst>
              <a:ext uri="{FF2B5EF4-FFF2-40B4-BE49-F238E27FC236}">
                <a16:creationId xmlns:a16="http://schemas.microsoft.com/office/drawing/2014/main" id="{9EA1F622-5517-7E77-73F7-9403544F8BA1}"/>
              </a:ext>
            </a:extLst>
          </p:cNvPr>
          <p:cNvSpPr txBox="1"/>
          <p:nvPr/>
        </p:nvSpPr>
        <p:spPr>
          <a:xfrm>
            <a:off x="9379915" y="5285232"/>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No branch tool</a:t>
            </a:r>
          </a:p>
        </p:txBody>
      </p:sp>
      <p:sp>
        <p:nvSpPr>
          <p:cNvPr id="160" name="Rectangle 150">
            <a:extLst>
              <a:ext uri="{FF2B5EF4-FFF2-40B4-BE49-F238E27FC236}">
                <a16:creationId xmlns:a16="http://schemas.microsoft.com/office/drawing/2014/main" id="{77A19741-5961-9AFE-9E7E-D9016384AC8E}"/>
              </a:ext>
            </a:extLst>
          </p:cNvPr>
          <p:cNvSpPr/>
          <p:nvPr/>
        </p:nvSpPr>
        <p:spPr>
          <a:xfrm>
            <a:off x="10555833" y="5239512"/>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2" name="TextBox 152">
            <a:extLst>
              <a:ext uri="{FF2B5EF4-FFF2-40B4-BE49-F238E27FC236}">
                <a16:creationId xmlns:a16="http://schemas.microsoft.com/office/drawing/2014/main" id="{D0A12F14-F543-B291-E760-AB08E3FDC2A1}"/>
              </a:ext>
            </a:extLst>
          </p:cNvPr>
          <p:cNvSpPr txBox="1"/>
          <p:nvPr/>
        </p:nvSpPr>
        <p:spPr>
          <a:xfrm>
            <a:off x="10784433" y="5285232"/>
            <a:ext cx="1084478"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0" noProof="0">
                <a:solidFill>
                  <a:srgbClr val="2C3E50"/>
                </a:solidFill>
                <a:latin typeface="Helvetica Neue"/>
              </a:rPr>
              <a:t>SWF + Accenture + Vendors</a:t>
            </a:r>
          </a:p>
        </p:txBody>
      </p:sp>
      <p:sp>
        <p:nvSpPr>
          <p:cNvPr id="163" name="Rectangle 153">
            <a:extLst>
              <a:ext uri="{FF2B5EF4-FFF2-40B4-BE49-F238E27FC236}">
                <a16:creationId xmlns:a16="http://schemas.microsoft.com/office/drawing/2014/main" id="{F8B1B18E-2507-D8EE-C6C9-44035A673AE1}"/>
              </a:ext>
            </a:extLst>
          </p:cNvPr>
          <p:cNvSpPr/>
          <p:nvPr/>
        </p:nvSpPr>
        <p:spPr>
          <a:xfrm>
            <a:off x="457200" y="5880460"/>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4" name="TextBox 154">
            <a:extLst>
              <a:ext uri="{FF2B5EF4-FFF2-40B4-BE49-F238E27FC236}">
                <a16:creationId xmlns:a16="http://schemas.microsoft.com/office/drawing/2014/main" id="{EEE6F159-DC56-06F3-46CA-11B8B1152D89}"/>
              </a:ext>
            </a:extLst>
          </p:cNvPr>
          <p:cNvSpPr txBox="1"/>
          <p:nvPr/>
        </p:nvSpPr>
        <p:spPr>
          <a:xfrm>
            <a:off x="685799" y="6046031"/>
            <a:ext cx="10992815"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Zero standardization across units: 6 different sources, 6 intake models, 6 prioritization logics, only 1 area uses a portfolio tool — fragmentation is structural, not local</a:t>
            </a:r>
          </a:p>
        </p:txBody>
      </p:sp>
      <p:sp>
        <p:nvSpPr>
          <p:cNvPr id="165" name="TextBox 2">
            <a:extLst>
              <a:ext uri="{FF2B5EF4-FFF2-40B4-BE49-F238E27FC236}">
                <a16:creationId xmlns:a16="http://schemas.microsoft.com/office/drawing/2014/main" id="{8A45A8C7-9CCF-99D2-3593-545A0D41C311}"/>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Across both director branches, Digital Products runs 6+ disconnected intake channels — no two teams share the same demand flow</a:t>
            </a:r>
          </a:p>
        </p:txBody>
      </p:sp>
      <p:sp>
        <p:nvSpPr>
          <p:cNvPr id="166" name="TextBox 165"/>
          <p:cNvSpPr txBox="1"/>
          <p:nvPr/>
        </p:nvSpPr>
        <p:spPr>
          <a:xfrm>
            <a:off x="6400800" y="1106424"/>
            <a:ext cx="731520" cy="274320"/>
          </a:xfrm>
          <a:prstGeom prst="rect">
            <a:avLst/>
          </a:prstGeom>
          <a:noFill/>
        </p:spPr>
        <p:txBody>
          <a:bodyPr wrap="square" lIns="54864" rIns="54864" tIns="27432" bIns="27432" anchor="ctr">
            <a:spAutoFit/>
          </a:bodyPr>
          <a:lstStyle/>
          <a:p>
            <a:pPr algn="l"/>
            <a:r>
              <a:rPr sz="750" b="1">
                <a:solidFill>
                  <a:srgbClr val="1F3A68"/>
                </a:solidFill>
                <a:latin typeface="Calibri"/>
              </a:rPr>
              <a:t>MATURITY:</a:t>
            </a:r>
          </a:p>
        </p:txBody>
      </p:sp>
      <p:sp>
        <p:nvSpPr>
          <p:cNvPr id="167" name="Oval 166"/>
          <p:cNvSpPr/>
          <p:nvPr/>
        </p:nvSpPr>
        <p:spPr>
          <a:xfrm>
            <a:off x="7132320" y="1179576"/>
            <a:ext cx="137160" cy="13716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296912" y="1106424"/>
            <a:ext cx="777240" cy="274320"/>
          </a:xfrm>
          <a:prstGeom prst="rect">
            <a:avLst/>
          </a:prstGeom>
          <a:solidFill>
            <a:srgbClr val="C0392B"/>
          </a:solidFill>
        </p:spPr>
        <p:txBody>
          <a:bodyPr wrap="square" lIns="54864" rIns="54864" tIns="27432" bIns="27432" anchor="ctr">
            <a:spAutoFit/>
          </a:bodyPr>
          <a:lstStyle/>
          <a:p>
            <a:pPr algn="l"/>
            <a:r>
              <a:rPr sz="750" b="1">
                <a:solidFill>
                  <a:srgbClr val="FFFFFF"/>
                </a:solidFill>
                <a:latin typeface="Calibri"/>
              </a:rPr>
              <a:t>CRITICAL</a:t>
            </a:r>
          </a:p>
        </p:txBody>
      </p:sp>
      <p:sp>
        <p:nvSpPr>
          <p:cNvPr id="169" name="Oval 168"/>
          <p:cNvSpPr/>
          <p:nvPr/>
        </p:nvSpPr>
        <p:spPr>
          <a:xfrm>
            <a:off x="8092440" y="1179576"/>
            <a:ext cx="137160" cy="13716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8257031" y="1106424"/>
            <a:ext cx="777240" cy="274320"/>
          </a:xfrm>
          <a:prstGeom prst="rect">
            <a:avLst/>
          </a:prstGeom>
          <a:solidFill>
            <a:srgbClr val="E67E22"/>
          </a:solidFill>
        </p:spPr>
        <p:txBody>
          <a:bodyPr wrap="square" lIns="54864" rIns="54864" tIns="27432" bIns="27432" anchor="ctr">
            <a:spAutoFit/>
          </a:bodyPr>
          <a:lstStyle/>
          <a:p>
            <a:pPr algn="l"/>
            <a:r>
              <a:rPr sz="750" b="1">
                <a:solidFill>
                  <a:srgbClr val="FFFFFF"/>
                </a:solidFill>
                <a:latin typeface="Calibri"/>
              </a:rPr>
              <a:t>GAP</a:t>
            </a:r>
          </a:p>
        </p:txBody>
      </p:sp>
      <p:sp>
        <p:nvSpPr>
          <p:cNvPr id="171" name="Oval 170"/>
          <p:cNvSpPr/>
          <p:nvPr/>
        </p:nvSpPr>
        <p:spPr>
          <a:xfrm>
            <a:off x="9052560" y="1179576"/>
            <a:ext cx="137160" cy="137160"/>
          </a:xfrm>
          <a:prstGeom prst="ellipse">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217152" y="1106424"/>
            <a:ext cx="777240" cy="274320"/>
          </a:xfrm>
          <a:prstGeom prst="rect">
            <a:avLst/>
          </a:prstGeom>
          <a:solidFill>
            <a:srgbClr val="F1C40F"/>
          </a:solidFill>
        </p:spPr>
        <p:txBody>
          <a:bodyPr wrap="square" lIns="54864" rIns="54864" tIns="27432" bIns="27432" anchor="ctr">
            <a:spAutoFit/>
          </a:bodyPr>
          <a:lstStyle/>
          <a:p>
            <a:pPr algn="l"/>
            <a:r>
              <a:rPr sz="750" b="1">
                <a:solidFill>
                  <a:srgbClr val="FFFFFF"/>
                </a:solidFill>
                <a:latin typeface="Calibri"/>
              </a:rPr>
              <a:t>PARTIAL</a:t>
            </a:r>
          </a:p>
        </p:txBody>
      </p:sp>
      <p:sp>
        <p:nvSpPr>
          <p:cNvPr id="173" name="Oval 172"/>
          <p:cNvSpPr/>
          <p:nvPr/>
        </p:nvSpPr>
        <p:spPr>
          <a:xfrm>
            <a:off x="10012680" y="1179576"/>
            <a:ext cx="137160" cy="1371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0177272" y="1106424"/>
            <a:ext cx="777240" cy="274320"/>
          </a:xfrm>
          <a:prstGeom prst="rect">
            <a:avLst/>
          </a:prstGeom>
          <a:solidFill>
            <a:srgbClr val="27AE60"/>
          </a:solidFill>
        </p:spPr>
        <p:txBody>
          <a:bodyPr wrap="square" lIns="54864" rIns="54864" tIns="27432" bIns="27432" anchor="ctr">
            <a:spAutoFit/>
          </a:bodyPr>
          <a:lstStyle/>
          <a:p>
            <a:pPr algn="l"/>
            <a:r>
              <a:rPr sz="750" b="1">
                <a:solidFill>
                  <a:srgbClr val="FFFFFF"/>
                </a:solidFill>
                <a:latin typeface="Calibri"/>
              </a:rPr>
              <a:t>OK</a:t>
            </a:r>
          </a:p>
        </p:txBody>
      </p:sp>
      <p:sp>
        <p:nvSpPr>
          <p:cNvPr id="175" name="Oval 174"/>
          <p:cNvSpPr/>
          <p:nvPr/>
        </p:nvSpPr>
        <p:spPr>
          <a:xfrm>
            <a:off x="4992623" y="2039112"/>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6397142" y="2039112"/>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7801660" y="2039112"/>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9206179" y="2039112"/>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10610697" y="2039112"/>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992623" y="2642616"/>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6397142" y="26426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7801660" y="2642616"/>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9206179" y="2642616"/>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0610697" y="2642616"/>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992623" y="324612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6397142" y="324612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7801660" y="324612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9206179" y="324612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10610697" y="324612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992623" y="3849624"/>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6397142" y="3849624"/>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7801660" y="384962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9206179" y="3849624"/>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10610697" y="3849624"/>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992623" y="4709160"/>
            <a:ext cx="128016" cy="128016"/>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6397142" y="4709160"/>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7801660" y="4709160"/>
            <a:ext cx="128016" cy="128016"/>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9206179" y="4709160"/>
            <a:ext cx="128016" cy="128016"/>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610697" y="4709160"/>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992623" y="53126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6397142" y="5312664"/>
            <a:ext cx="128016" cy="128016"/>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7801660" y="53126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9206179" y="53126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10610697" y="5312664"/>
            <a:ext cx="128016" cy="128016"/>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9501410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77900-E4C0-CCD4-8A7D-F348A2F45B50}"/>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805B9C57-DFAD-CB0D-2D71-F8F595D15F7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Rectangle 28">
            <a:extLst>
              <a:ext uri="{FF2B5EF4-FFF2-40B4-BE49-F238E27FC236}">
                <a16:creationId xmlns:a16="http://schemas.microsoft.com/office/drawing/2014/main" id="{E08AA2A3-0C24-4AC8-C45A-D56156A7447D}"/>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16E98FB3-3BC3-B82D-FFC2-F6AD4E161551}"/>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67A89D3F-280F-7575-192D-997633084F1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63E43D80-47CA-57B1-E5F4-DDCE09F55779}"/>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E94A6416-E8C0-C474-AFA8-F012AC60B43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556D7B65-626E-BAEE-4644-659E2AB40FE4}"/>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07DBF163-D90D-9B70-68A6-F9B6FD35FC3C}"/>
              </a:ext>
            </a:extLst>
          </p:cNvPr>
          <p:cNvSpPr/>
          <p:nvPr/>
        </p:nvSpPr>
        <p:spPr>
          <a:xfrm>
            <a:off x="-561976" y="3655047"/>
            <a:ext cx="504913" cy="35441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5" name="TextBox 2">
            <a:extLst>
              <a:ext uri="{FF2B5EF4-FFF2-40B4-BE49-F238E27FC236}">
                <a16:creationId xmlns:a16="http://schemas.microsoft.com/office/drawing/2014/main" id="{AFA8E974-3BEF-AAB1-63CC-C434D60DEB3D}"/>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Eight platforms circulate between the two branches with near-zero overlap — the toolchain is fragmented by team, not by purpose</a:t>
            </a:r>
          </a:p>
          <a:p>
            <a:endParaRPr lang="en-US"/>
          </a:p>
        </p:txBody>
      </p:sp>
      <p:sp>
        <p:nvSpPr>
          <p:cNvPr id="3" name="TextBox 2">
            <a:extLst>
              <a:ext uri="{FF2B5EF4-FFF2-40B4-BE49-F238E27FC236}">
                <a16:creationId xmlns:a16="http://schemas.microsoft.com/office/drawing/2014/main" id="{AA9B1B04-3529-4827-D71D-C47EEEFB6810}"/>
              </a:ext>
            </a:extLst>
          </p:cNvPr>
          <p:cNvSpPr txBox="1"/>
          <p:nvPr/>
        </p:nvSpPr>
        <p:spPr>
          <a:xfrm>
            <a:off x="457200" y="1371600"/>
            <a:ext cx="55778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chemeClr val="accent1"/>
                </a:solidFill>
                <a:latin typeface="Helvetica Neue"/>
              </a:rPr>
              <a:t>APPLICATIONS BRANCH — Carlos Garbin</a:t>
            </a:r>
          </a:p>
        </p:txBody>
      </p:sp>
      <p:sp>
        <p:nvSpPr>
          <p:cNvPr id="4" name="Rectangle 3">
            <a:extLst>
              <a:ext uri="{FF2B5EF4-FFF2-40B4-BE49-F238E27FC236}">
                <a16:creationId xmlns:a16="http://schemas.microsoft.com/office/drawing/2014/main" id="{F20A8B4B-A77C-3FEA-809E-BB6EFE9EF6C4}"/>
              </a:ext>
            </a:extLst>
          </p:cNvPr>
          <p:cNvSpPr/>
          <p:nvPr/>
        </p:nvSpPr>
        <p:spPr>
          <a:xfrm>
            <a:off x="45720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TextBox 8">
            <a:extLst>
              <a:ext uri="{FF2B5EF4-FFF2-40B4-BE49-F238E27FC236}">
                <a16:creationId xmlns:a16="http://schemas.microsoft.com/office/drawing/2014/main" id="{CA0A6FBC-33CF-948E-1015-B14C21EBAB32}"/>
              </a:ext>
            </a:extLst>
          </p:cNvPr>
          <p:cNvSpPr txBox="1"/>
          <p:nvPr/>
        </p:nvSpPr>
        <p:spPr>
          <a:xfrm>
            <a:off x="621792" y="1737360"/>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Jira</a:t>
            </a:r>
          </a:p>
        </p:txBody>
      </p:sp>
      <p:sp>
        <p:nvSpPr>
          <p:cNvPr id="12" name="TextBox 11">
            <a:extLst>
              <a:ext uri="{FF2B5EF4-FFF2-40B4-BE49-F238E27FC236}">
                <a16:creationId xmlns:a16="http://schemas.microsoft.com/office/drawing/2014/main" id="{7E9C480C-CBC2-BC85-43E8-5AE6DA865F47}"/>
              </a:ext>
            </a:extLst>
          </p:cNvPr>
          <p:cNvSpPr txBox="1"/>
          <p:nvPr/>
        </p:nvSpPr>
        <p:spPr>
          <a:xfrm>
            <a:off x="621792" y="196596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Small demand + improvements</a:t>
            </a:r>
          </a:p>
        </p:txBody>
      </p:sp>
      <p:sp>
        <p:nvSpPr>
          <p:cNvPr id="166" name="TextBox 165">
            <a:extLst>
              <a:ext uri="{FF2B5EF4-FFF2-40B4-BE49-F238E27FC236}">
                <a16:creationId xmlns:a16="http://schemas.microsoft.com/office/drawing/2014/main" id="{8CE10E9D-F235-6472-1314-8DC36011281F}"/>
              </a:ext>
            </a:extLst>
          </p:cNvPr>
          <p:cNvSpPr txBox="1"/>
          <p:nvPr/>
        </p:nvSpPr>
        <p:spPr>
          <a:xfrm>
            <a:off x="2514600" y="173736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 Corporate, Global SAP</a:t>
            </a:r>
          </a:p>
        </p:txBody>
      </p:sp>
      <p:sp>
        <p:nvSpPr>
          <p:cNvPr id="167" name="Rounded Rectangle 8">
            <a:extLst>
              <a:ext uri="{FF2B5EF4-FFF2-40B4-BE49-F238E27FC236}">
                <a16:creationId xmlns:a16="http://schemas.microsoft.com/office/drawing/2014/main" id="{608A94C2-D318-DC38-2BFF-251D6B57113C}"/>
              </a:ext>
            </a:extLst>
          </p:cNvPr>
          <p:cNvSpPr/>
          <p:nvPr/>
        </p:nvSpPr>
        <p:spPr>
          <a:xfrm>
            <a:off x="502920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8" name="TextBox 167">
            <a:extLst>
              <a:ext uri="{FF2B5EF4-FFF2-40B4-BE49-F238E27FC236}">
                <a16:creationId xmlns:a16="http://schemas.microsoft.com/office/drawing/2014/main" id="{97768226-F40B-8204-9FD1-D96AF6305AA8}"/>
              </a:ext>
            </a:extLst>
          </p:cNvPr>
          <p:cNvSpPr txBox="1"/>
          <p:nvPr/>
        </p:nvSpPr>
        <p:spPr>
          <a:xfrm>
            <a:off x="5029200" y="182880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169" name="Rectangle 168">
            <a:extLst>
              <a:ext uri="{FF2B5EF4-FFF2-40B4-BE49-F238E27FC236}">
                <a16:creationId xmlns:a16="http://schemas.microsoft.com/office/drawing/2014/main" id="{8359706B-FE3C-06A6-8E1C-7BF20A1685F9}"/>
              </a:ext>
            </a:extLst>
          </p:cNvPr>
          <p:cNvSpPr/>
          <p:nvPr/>
        </p:nvSpPr>
        <p:spPr>
          <a:xfrm>
            <a:off x="457200" y="2221991"/>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0" name="TextBox 169">
            <a:extLst>
              <a:ext uri="{FF2B5EF4-FFF2-40B4-BE49-F238E27FC236}">
                <a16:creationId xmlns:a16="http://schemas.microsoft.com/office/drawing/2014/main" id="{95A2061D-F148-364A-DBB7-263044A5E4FE}"/>
              </a:ext>
            </a:extLst>
          </p:cNvPr>
          <p:cNvSpPr txBox="1"/>
          <p:nvPr/>
        </p:nvSpPr>
        <p:spPr>
          <a:xfrm>
            <a:off x="621792" y="2221991"/>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IT Now</a:t>
            </a:r>
          </a:p>
        </p:txBody>
      </p:sp>
      <p:sp>
        <p:nvSpPr>
          <p:cNvPr id="171" name="TextBox 170">
            <a:extLst>
              <a:ext uri="{FF2B5EF4-FFF2-40B4-BE49-F238E27FC236}">
                <a16:creationId xmlns:a16="http://schemas.microsoft.com/office/drawing/2014/main" id="{6DE3A0AE-3DB8-37C8-447F-34B9EBC43C75}"/>
              </a:ext>
            </a:extLst>
          </p:cNvPr>
          <p:cNvSpPr txBox="1"/>
          <p:nvPr/>
        </p:nvSpPr>
        <p:spPr>
          <a:xfrm>
            <a:off x="621792" y="2450591"/>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Incidents + break/fix</a:t>
            </a:r>
          </a:p>
        </p:txBody>
      </p:sp>
      <p:sp>
        <p:nvSpPr>
          <p:cNvPr id="172" name="TextBox 171">
            <a:extLst>
              <a:ext uri="{FF2B5EF4-FFF2-40B4-BE49-F238E27FC236}">
                <a16:creationId xmlns:a16="http://schemas.microsoft.com/office/drawing/2014/main" id="{5EBA40EE-2A65-AAD4-F9CB-9A983CAA124F}"/>
              </a:ext>
            </a:extLst>
          </p:cNvPr>
          <p:cNvSpPr txBox="1"/>
          <p:nvPr/>
        </p:nvSpPr>
        <p:spPr>
          <a:xfrm>
            <a:off x="2514600" y="2221991"/>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 Global SAP</a:t>
            </a:r>
          </a:p>
        </p:txBody>
      </p:sp>
      <p:sp>
        <p:nvSpPr>
          <p:cNvPr id="173" name="Rounded Rectangle 14">
            <a:extLst>
              <a:ext uri="{FF2B5EF4-FFF2-40B4-BE49-F238E27FC236}">
                <a16:creationId xmlns:a16="http://schemas.microsoft.com/office/drawing/2014/main" id="{28E00C90-31CB-1D38-C701-AA66DF6CE9FE}"/>
              </a:ext>
            </a:extLst>
          </p:cNvPr>
          <p:cNvSpPr/>
          <p:nvPr/>
        </p:nvSpPr>
        <p:spPr>
          <a:xfrm>
            <a:off x="5029200" y="2313432"/>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4" name="TextBox 173">
            <a:extLst>
              <a:ext uri="{FF2B5EF4-FFF2-40B4-BE49-F238E27FC236}">
                <a16:creationId xmlns:a16="http://schemas.microsoft.com/office/drawing/2014/main" id="{04CBFFDB-DA17-EE5D-8C78-080744487595}"/>
              </a:ext>
            </a:extLst>
          </p:cNvPr>
          <p:cNvSpPr txBox="1"/>
          <p:nvPr/>
        </p:nvSpPr>
        <p:spPr>
          <a:xfrm>
            <a:off x="5029200" y="231343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175" name="Rectangle 174">
            <a:extLst>
              <a:ext uri="{FF2B5EF4-FFF2-40B4-BE49-F238E27FC236}">
                <a16:creationId xmlns:a16="http://schemas.microsoft.com/office/drawing/2014/main" id="{FFA02BB4-A8CD-9043-E486-26365C3FD640}"/>
              </a:ext>
            </a:extLst>
          </p:cNvPr>
          <p:cNvSpPr/>
          <p:nvPr/>
        </p:nvSpPr>
        <p:spPr>
          <a:xfrm>
            <a:off x="45720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6" name="TextBox 175">
            <a:extLst>
              <a:ext uri="{FF2B5EF4-FFF2-40B4-BE49-F238E27FC236}">
                <a16:creationId xmlns:a16="http://schemas.microsoft.com/office/drawing/2014/main" id="{10618354-9109-472B-D959-8085536F0AF2}"/>
              </a:ext>
            </a:extLst>
          </p:cNvPr>
          <p:cNvSpPr txBox="1"/>
          <p:nvPr/>
        </p:nvSpPr>
        <p:spPr>
          <a:xfrm>
            <a:off x="621792" y="270662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IT Now RITM</a:t>
            </a:r>
          </a:p>
        </p:txBody>
      </p:sp>
      <p:sp>
        <p:nvSpPr>
          <p:cNvPr id="177" name="TextBox 176">
            <a:extLst>
              <a:ext uri="{FF2B5EF4-FFF2-40B4-BE49-F238E27FC236}">
                <a16:creationId xmlns:a16="http://schemas.microsoft.com/office/drawing/2014/main" id="{6593160C-9F5A-5117-E238-2AA3FE23C901}"/>
              </a:ext>
            </a:extLst>
          </p:cNvPr>
          <p:cNvSpPr txBox="1"/>
          <p:nvPr/>
        </p:nvSpPr>
        <p:spPr>
          <a:xfrm>
            <a:off x="621792" y="293522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Minor requests</a:t>
            </a:r>
          </a:p>
        </p:txBody>
      </p:sp>
      <p:sp>
        <p:nvSpPr>
          <p:cNvPr id="178" name="TextBox 177">
            <a:extLst>
              <a:ext uri="{FF2B5EF4-FFF2-40B4-BE49-F238E27FC236}">
                <a16:creationId xmlns:a16="http://schemas.microsoft.com/office/drawing/2014/main" id="{C0AB37B5-B39D-5444-0971-297DBD83B32C}"/>
              </a:ext>
            </a:extLst>
          </p:cNvPr>
          <p:cNvSpPr txBox="1"/>
          <p:nvPr/>
        </p:nvSpPr>
        <p:spPr>
          <a:xfrm>
            <a:off x="2514600" y="270662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Global SAP</a:t>
            </a:r>
          </a:p>
        </p:txBody>
      </p:sp>
      <p:sp>
        <p:nvSpPr>
          <p:cNvPr id="179" name="Rounded Rectangle 20">
            <a:extLst>
              <a:ext uri="{FF2B5EF4-FFF2-40B4-BE49-F238E27FC236}">
                <a16:creationId xmlns:a16="http://schemas.microsoft.com/office/drawing/2014/main" id="{7B72A6FB-F0EA-540A-ED8B-B7E5E33C2B98}"/>
              </a:ext>
            </a:extLst>
          </p:cNvPr>
          <p:cNvSpPr/>
          <p:nvPr/>
        </p:nvSpPr>
        <p:spPr>
          <a:xfrm>
            <a:off x="502920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0" name="TextBox 179">
            <a:extLst>
              <a:ext uri="{FF2B5EF4-FFF2-40B4-BE49-F238E27FC236}">
                <a16:creationId xmlns:a16="http://schemas.microsoft.com/office/drawing/2014/main" id="{900BD5EE-F3B0-50B4-7310-0C8BDAE1C7F7}"/>
              </a:ext>
            </a:extLst>
          </p:cNvPr>
          <p:cNvSpPr txBox="1"/>
          <p:nvPr/>
        </p:nvSpPr>
        <p:spPr>
          <a:xfrm>
            <a:off x="5029200" y="279806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81" name="Rectangle 180">
            <a:extLst>
              <a:ext uri="{FF2B5EF4-FFF2-40B4-BE49-F238E27FC236}">
                <a16:creationId xmlns:a16="http://schemas.microsoft.com/office/drawing/2014/main" id="{577EB563-F600-D087-468B-BAF50EE59989}"/>
              </a:ext>
            </a:extLst>
          </p:cNvPr>
          <p:cNvSpPr/>
          <p:nvPr/>
        </p:nvSpPr>
        <p:spPr>
          <a:xfrm>
            <a:off x="45720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2" name="TextBox 181">
            <a:extLst>
              <a:ext uri="{FF2B5EF4-FFF2-40B4-BE49-F238E27FC236}">
                <a16:creationId xmlns:a16="http://schemas.microsoft.com/office/drawing/2014/main" id="{2D05BC7C-A36C-806E-B059-15F0E5432FB3}"/>
              </a:ext>
            </a:extLst>
          </p:cNvPr>
          <p:cNvSpPr txBox="1"/>
          <p:nvPr/>
        </p:nvSpPr>
        <p:spPr>
          <a:xfrm>
            <a:off x="621792" y="3191256"/>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SharePoint + Teams</a:t>
            </a:r>
          </a:p>
        </p:txBody>
      </p:sp>
      <p:sp>
        <p:nvSpPr>
          <p:cNvPr id="183" name="TextBox 182">
            <a:extLst>
              <a:ext uri="{FF2B5EF4-FFF2-40B4-BE49-F238E27FC236}">
                <a16:creationId xmlns:a16="http://schemas.microsoft.com/office/drawing/2014/main" id="{92880017-FAE2-FB7F-6890-87A35BCC8BA8}"/>
              </a:ext>
            </a:extLst>
          </p:cNvPr>
          <p:cNvSpPr txBox="1"/>
          <p:nvPr/>
        </p:nvSpPr>
        <p:spPr>
          <a:xfrm>
            <a:off x="621792" y="3419856"/>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Major project work</a:t>
            </a:r>
          </a:p>
        </p:txBody>
      </p:sp>
      <p:sp>
        <p:nvSpPr>
          <p:cNvPr id="184" name="TextBox 183">
            <a:extLst>
              <a:ext uri="{FF2B5EF4-FFF2-40B4-BE49-F238E27FC236}">
                <a16:creationId xmlns:a16="http://schemas.microsoft.com/office/drawing/2014/main" id="{7BE9F385-488E-8817-1377-5A960E004072}"/>
              </a:ext>
            </a:extLst>
          </p:cNvPr>
          <p:cNvSpPr txBox="1"/>
          <p:nvPr/>
        </p:nvSpPr>
        <p:spPr>
          <a:xfrm>
            <a:off x="2514600" y="3191256"/>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Global SAP</a:t>
            </a:r>
          </a:p>
        </p:txBody>
      </p:sp>
      <p:sp>
        <p:nvSpPr>
          <p:cNvPr id="185" name="Rounded Rectangle 26">
            <a:extLst>
              <a:ext uri="{FF2B5EF4-FFF2-40B4-BE49-F238E27FC236}">
                <a16:creationId xmlns:a16="http://schemas.microsoft.com/office/drawing/2014/main" id="{02A41219-56FC-45EC-AA20-2D913B1A1593}"/>
              </a:ext>
            </a:extLst>
          </p:cNvPr>
          <p:cNvSpPr/>
          <p:nvPr/>
        </p:nvSpPr>
        <p:spPr>
          <a:xfrm>
            <a:off x="502920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6" name="TextBox 185">
            <a:extLst>
              <a:ext uri="{FF2B5EF4-FFF2-40B4-BE49-F238E27FC236}">
                <a16:creationId xmlns:a16="http://schemas.microsoft.com/office/drawing/2014/main" id="{DAF84D51-159A-6E10-5D44-D74FA72BA416}"/>
              </a:ext>
            </a:extLst>
          </p:cNvPr>
          <p:cNvSpPr txBox="1"/>
          <p:nvPr/>
        </p:nvSpPr>
        <p:spPr>
          <a:xfrm>
            <a:off x="5029200" y="3282696"/>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87" name="Rectangle 186">
            <a:extLst>
              <a:ext uri="{FF2B5EF4-FFF2-40B4-BE49-F238E27FC236}">
                <a16:creationId xmlns:a16="http://schemas.microsoft.com/office/drawing/2014/main" id="{5B845FF7-BE6E-314F-A55A-CBB1083255FC}"/>
              </a:ext>
            </a:extLst>
          </p:cNvPr>
          <p:cNvSpPr/>
          <p:nvPr/>
        </p:nvSpPr>
        <p:spPr>
          <a:xfrm>
            <a:off x="457200" y="3675888"/>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8" name="TextBox 187">
            <a:extLst>
              <a:ext uri="{FF2B5EF4-FFF2-40B4-BE49-F238E27FC236}">
                <a16:creationId xmlns:a16="http://schemas.microsoft.com/office/drawing/2014/main" id="{030A676D-48CD-5AA0-A9C2-66AF8BF471A5}"/>
              </a:ext>
            </a:extLst>
          </p:cNvPr>
          <p:cNvSpPr txBox="1"/>
          <p:nvPr/>
        </p:nvSpPr>
        <p:spPr>
          <a:xfrm>
            <a:off x="621792" y="3675888"/>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Confluence</a:t>
            </a:r>
          </a:p>
        </p:txBody>
      </p:sp>
      <p:sp>
        <p:nvSpPr>
          <p:cNvPr id="189" name="TextBox 188">
            <a:extLst>
              <a:ext uri="{FF2B5EF4-FFF2-40B4-BE49-F238E27FC236}">
                <a16:creationId xmlns:a16="http://schemas.microsoft.com/office/drawing/2014/main" id="{8F81C642-4691-34EC-19EB-AE77CF02A48E}"/>
              </a:ext>
            </a:extLst>
          </p:cNvPr>
          <p:cNvSpPr txBox="1"/>
          <p:nvPr/>
        </p:nvSpPr>
        <p:spPr>
          <a:xfrm>
            <a:off x="621792" y="3904488"/>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Documentation / requirements</a:t>
            </a:r>
          </a:p>
        </p:txBody>
      </p:sp>
      <p:sp>
        <p:nvSpPr>
          <p:cNvPr id="190" name="TextBox 189">
            <a:extLst>
              <a:ext uri="{FF2B5EF4-FFF2-40B4-BE49-F238E27FC236}">
                <a16:creationId xmlns:a16="http://schemas.microsoft.com/office/drawing/2014/main" id="{4EB93C86-0FAC-0A91-3C6A-BA9301B3DB16}"/>
              </a:ext>
            </a:extLst>
          </p:cNvPr>
          <p:cNvSpPr txBox="1"/>
          <p:nvPr/>
        </p:nvSpPr>
        <p:spPr>
          <a:xfrm>
            <a:off x="2514600" y="3675888"/>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Corporate</a:t>
            </a:r>
          </a:p>
        </p:txBody>
      </p:sp>
      <p:sp>
        <p:nvSpPr>
          <p:cNvPr id="191" name="Rounded Rectangle 32">
            <a:extLst>
              <a:ext uri="{FF2B5EF4-FFF2-40B4-BE49-F238E27FC236}">
                <a16:creationId xmlns:a16="http://schemas.microsoft.com/office/drawing/2014/main" id="{43AD0042-9720-1057-A009-8CAF15F192E0}"/>
              </a:ext>
            </a:extLst>
          </p:cNvPr>
          <p:cNvSpPr/>
          <p:nvPr/>
        </p:nvSpPr>
        <p:spPr>
          <a:xfrm>
            <a:off x="5029200" y="3767328"/>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A0671EEC-69D1-D442-8001-0E372F03465E}"/>
              </a:ext>
            </a:extLst>
          </p:cNvPr>
          <p:cNvSpPr txBox="1"/>
          <p:nvPr/>
        </p:nvSpPr>
        <p:spPr>
          <a:xfrm>
            <a:off x="5029200" y="3767328"/>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193" name="Rectangle 192">
            <a:extLst>
              <a:ext uri="{FF2B5EF4-FFF2-40B4-BE49-F238E27FC236}">
                <a16:creationId xmlns:a16="http://schemas.microsoft.com/office/drawing/2014/main" id="{DC9CC9F5-E48C-F870-8ED3-F1617C6591AE}"/>
              </a:ext>
            </a:extLst>
          </p:cNvPr>
          <p:cNvSpPr/>
          <p:nvPr/>
        </p:nvSpPr>
        <p:spPr>
          <a:xfrm>
            <a:off x="457200" y="4160520"/>
            <a:ext cx="73152" cy="438912"/>
          </a:xfrm>
          <a:prstGeom prst="rect">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5172B4C4-E98A-334A-0CAC-0FC8B516D1CC}"/>
              </a:ext>
            </a:extLst>
          </p:cNvPr>
          <p:cNvSpPr txBox="1"/>
          <p:nvPr/>
        </p:nvSpPr>
        <p:spPr>
          <a:xfrm>
            <a:off x="621792" y="4160520"/>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Word</a:t>
            </a:r>
          </a:p>
        </p:txBody>
      </p:sp>
      <p:sp>
        <p:nvSpPr>
          <p:cNvPr id="195" name="TextBox 194">
            <a:extLst>
              <a:ext uri="{FF2B5EF4-FFF2-40B4-BE49-F238E27FC236}">
                <a16:creationId xmlns:a16="http://schemas.microsoft.com/office/drawing/2014/main" id="{D0FFD54C-6679-C9F9-B710-EF7C0EFBD139}"/>
              </a:ext>
            </a:extLst>
          </p:cNvPr>
          <p:cNvSpPr txBox="1"/>
          <p:nvPr/>
        </p:nvSpPr>
        <p:spPr>
          <a:xfrm>
            <a:off x="621792" y="438912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Business requirements</a:t>
            </a:r>
          </a:p>
        </p:txBody>
      </p:sp>
      <p:sp>
        <p:nvSpPr>
          <p:cNvPr id="196" name="TextBox 195">
            <a:extLst>
              <a:ext uri="{FF2B5EF4-FFF2-40B4-BE49-F238E27FC236}">
                <a16:creationId xmlns:a16="http://schemas.microsoft.com/office/drawing/2014/main" id="{7404E7F0-7FED-2E72-866A-906032B4A5FA}"/>
              </a:ext>
            </a:extLst>
          </p:cNvPr>
          <p:cNvSpPr txBox="1"/>
          <p:nvPr/>
        </p:nvSpPr>
        <p:spPr>
          <a:xfrm>
            <a:off x="2514600" y="416052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Corporate</a:t>
            </a:r>
          </a:p>
        </p:txBody>
      </p:sp>
      <p:sp>
        <p:nvSpPr>
          <p:cNvPr id="197" name="Rounded Rectangle 38">
            <a:extLst>
              <a:ext uri="{FF2B5EF4-FFF2-40B4-BE49-F238E27FC236}">
                <a16:creationId xmlns:a16="http://schemas.microsoft.com/office/drawing/2014/main" id="{6B00488F-3D54-25B3-1FCD-35D927DD4EF6}"/>
              </a:ext>
            </a:extLst>
          </p:cNvPr>
          <p:cNvSpPr/>
          <p:nvPr/>
        </p:nvSpPr>
        <p:spPr>
          <a:xfrm>
            <a:off x="5029200" y="4251960"/>
            <a:ext cx="914400" cy="274320"/>
          </a:xfrm>
          <a:prstGeom prst="roundRect">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037CBC98-CBAC-F1F6-A947-47C9EED77AFF}"/>
              </a:ext>
            </a:extLst>
          </p:cNvPr>
          <p:cNvSpPr txBox="1"/>
          <p:nvPr/>
        </p:nvSpPr>
        <p:spPr>
          <a:xfrm>
            <a:off x="5029200" y="425196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LEGACY</a:t>
            </a:r>
          </a:p>
        </p:txBody>
      </p:sp>
      <p:sp>
        <p:nvSpPr>
          <p:cNvPr id="199" name="Rectangle 198">
            <a:extLst>
              <a:ext uri="{FF2B5EF4-FFF2-40B4-BE49-F238E27FC236}">
                <a16:creationId xmlns:a16="http://schemas.microsoft.com/office/drawing/2014/main" id="{D934187F-8DD1-ECE2-1472-A7B7986509E2}"/>
              </a:ext>
            </a:extLst>
          </p:cNvPr>
          <p:cNvSpPr/>
          <p:nvPr/>
        </p:nvSpPr>
        <p:spPr>
          <a:xfrm>
            <a:off x="457200" y="4645152"/>
            <a:ext cx="73152"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036B0EEA-2D18-717E-4839-DC9C94CDEFAA}"/>
              </a:ext>
            </a:extLst>
          </p:cNvPr>
          <p:cNvSpPr txBox="1"/>
          <p:nvPr/>
        </p:nvSpPr>
        <p:spPr>
          <a:xfrm>
            <a:off x="621792" y="4645152"/>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Email + Meetings</a:t>
            </a:r>
          </a:p>
        </p:txBody>
      </p:sp>
      <p:sp>
        <p:nvSpPr>
          <p:cNvPr id="201" name="TextBox 200">
            <a:extLst>
              <a:ext uri="{FF2B5EF4-FFF2-40B4-BE49-F238E27FC236}">
                <a16:creationId xmlns:a16="http://schemas.microsoft.com/office/drawing/2014/main" id="{ECC5D455-4B16-F245-EAAD-A5BA7A2290CF}"/>
              </a:ext>
            </a:extLst>
          </p:cNvPr>
          <p:cNvSpPr txBox="1"/>
          <p:nvPr/>
        </p:nvSpPr>
        <p:spPr>
          <a:xfrm>
            <a:off x="621792" y="4873752"/>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G&amp;E intake (only channel)</a:t>
            </a:r>
          </a:p>
        </p:txBody>
      </p:sp>
      <p:sp>
        <p:nvSpPr>
          <p:cNvPr id="202" name="TextBox 201">
            <a:extLst>
              <a:ext uri="{FF2B5EF4-FFF2-40B4-BE49-F238E27FC236}">
                <a16:creationId xmlns:a16="http://schemas.microsoft.com/office/drawing/2014/main" id="{8CFD13B9-82CC-A317-FF28-69B381EEB980}"/>
              </a:ext>
            </a:extLst>
          </p:cNvPr>
          <p:cNvSpPr txBox="1"/>
          <p:nvPr/>
        </p:nvSpPr>
        <p:spPr>
          <a:xfrm>
            <a:off x="2514600" y="4645152"/>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G&amp;E</a:t>
            </a:r>
          </a:p>
        </p:txBody>
      </p:sp>
      <p:sp>
        <p:nvSpPr>
          <p:cNvPr id="203" name="Rounded Rectangle 44">
            <a:extLst>
              <a:ext uri="{FF2B5EF4-FFF2-40B4-BE49-F238E27FC236}">
                <a16:creationId xmlns:a16="http://schemas.microsoft.com/office/drawing/2014/main" id="{3686F902-D477-A76F-57C2-7E7E26FC2E0A}"/>
              </a:ext>
            </a:extLst>
          </p:cNvPr>
          <p:cNvSpPr/>
          <p:nvPr/>
        </p:nvSpPr>
        <p:spPr>
          <a:xfrm>
            <a:off x="5029200" y="4736592"/>
            <a:ext cx="914400" cy="27432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28A5E692-BBCA-BDAA-3368-6306704EBA34}"/>
              </a:ext>
            </a:extLst>
          </p:cNvPr>
          <p:cNvSpPr txBox="1"/>
          <p:nvPr/>
        </p:nvSpPr>
        <p:spPr>
          <a:xfrm>
            <a:off x="5029200" y="4736592"/>
            <a:ext cx="914400" cy="274320"/>
          </a:xfrm>
          <a:prstGeom prst="rect">
            <a:avLst/>
          </a:prstGeom>
          <a:solidFill>
            <a:srgbClr val="E67E2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05" name="Rectangle 204">
            <a:extLst>
              <a:ext uri="{FF2B5EF4-FFF2-40B4-BE49-F238E27FC236}">
                <a16:creationId xmlns:a16="http://schemas.microsoft.com/office/drawing/2014/main" id="{B4A767C7-3B53-EEFE-22E6-47F60595D920}"/>
              </a:ext>
            </a:extLst>
          </p:cNvPr>
          <p:cNvSpPr/>
          <p:nvPr/>
        </p:nvSpPr>
        <p:spPr>
          <a:xfrm>
            <a:off x="457200" y="5129784"/>
            <a:ext cx="73152" cy="438912"/>
          </a:xfrm>
          <a:prstGeom prst="rect">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7D5D6FAA-BE9B-9E0E-0EB3-5DCFF418780A}"/>
              </a:ext>
            </a:extLst>
          </p:cNvPr>
          <p:cNvSpPr txBox="1"/>
          <p:nvPr/>
        </p:nvSpPr>
        <p:spPr>
          <a:xfrm>
            <a:off x="621792" y="512978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OneNote / Spreadsheets</a:t>
            </a:r>
          </a:p>
        </p:txBody>
      </p:sp>
      <p:sp>
        <p:nvSpPr>
          <p:cNvPr id="207" name="TextBox 206">
            <a:extLst>
              <a:ext uri="{FF2B5EF4-FFF2-40B4-BE49-F238E27FC236}">
                <a16:creationId xmlns:a16="http://schemas.microsoft.com/office/drawing/2014/main" id="{24E4709E-98BD-FBD7-F511-EFEBD4BBEE9C}"/>
              </a:ext>
            </a:extLst>
          </p:cNvPr>
          <p:cNvSpPr txBox="1"/>
          <p:nvPr/>
        </p:nvSpPr>
        <p:spPr>
          <a:xfrm>
            <a:off x="621792" y="535838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Informal PM</a:t>
            </a:r>
          </a:p>
        </p:txBody>
      </p:sp>
      <p:sp>
        <p:nvSpPr>
          <p:cNvPr id="208" name="TextBox 207">
            <a:extLst>
              <a:ext uri="{FF2B5EF4-FFF2-40B4-BE49-F238E27FC236}">
                <a16:creationId xmlns:a16="http://schemas.microsoft.com/office/drawing/2014/main" id="{0CC930A2-703F-A0E3-75B8-20E35588208F}"/>
              </a:ext>
            </a:extLst>
          </p:cNvPr>
          <p:cNvSpPr txBox="1"/>
          <p:nvPr/>
        </p:nvSpPr>
        <p:spPr>
          <a:xfrm>
            <a:off x="2514600" y="512978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GIS</a:t>
            </a:r>
          </a:p>
        </p:txBody>
      </p:sp>
      <p:sp>
        <p:nvSpPr>
          <p:cNvPr id="209" name="Rounded Rectangle 50">
            <a:extLst>
              <a:ext uri="{FF2B5EF4-FFF2-40B4-BE49-F238E27FC236}">
                <a16:creationId xmlns:a16="http://schemas.microsoft.com/office/drawing/2014/main" id="{62EFDDF6-8847-6455-D1AE-E9D93ACF45AA}"/>
              </a:ext>
            </a:extLst>
          </p:cNvPr>
          <p:cNvSpPr/>
          <p:nvPr/>
        </p:nvSpPr>
        <p:spPr>
          <a:xfrm>
            <a:off x="5029200" y="5221224"/>
            <a:ext cx="914400" cy="274320"/>
          </a:xfrm>
          <a:prstGeom prst="roundRect">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2227B1CD-DF08-E16A-2BA0-3E57B1C9FDCF}"/>
              </a:ext>
            </a:extLst>
          </p:cNvPr>
          <p:cNvSpPr txBox="1"/>
          <p:nvPr/>
        </p:nvSpPr>
        <p:spPr>
          <a:xfrm>
            <a:off x="5029200" y="522122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WORKAROUND</a:t>
            </a:r>
          </a:p>
        </p:txBody>
      </p:sp>
      <p:sp>
        <p:nvSpPr>
          <p:cNvPr id="211" name="TextBox 210">
            <a:extLst>
              <a:ext uri="{FF2B5EF4-FFF2-40B4-BE49-F238E27FC236}">
                <a16:creationId xmlns:a16="http://schemas.microsoft.com/office/drawing/2014/main" id="{A4F0B4CC-8210-CDF3-3A43-95DE24413A1D}"/>
              </a:ext>
            </a:extLst>
          </p:cNvPr>
          <p:cNvSpPr txBox="1"/>
          <p:nvPr/>
        </p:nvSpPr>
        <p:spPr>
          <a:xfrm>
            <a:off x="6263640" y="1371600"/>
            <a:ext cx="5486400" cy="320040"/>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F1C50"/>
                </a:solidFill>
                <a:latin typeface="Helvetica Neue"/>
              </a:rPr>
              <a:t>CUSTOMER SERVICES / SAP — Kumar </a:t>
            </a:r>
            <a:r>
              <a:rPr lang="en-US" sz="1100" b="1" i="0" noProof="0" err="1">
                <a:solidFill>
                  <a:srgbClr val="0F1C50"/>
                </a:solidFill>
                <a:latin typeface="Helvetica Neue"/>
              </a:rPr>
              <a:t>Jaladanki</a:t>
            </a:r>
            <a:endParaRPr lang="en-US" sz="1100" b="1" i="0" noProof="0">
              <a:solidFill>
                <a:srgbClr val="0F1C50"/>
              </a:solidFill>
              <a:latin typeface="Helvetica Neue"/>
            </a:endParaRPr>
          </a:p>
        </p:txBody>
      </p:sp>
      <p:sp>
        <p:nvSpPr>
          <p:cNvPr id="212" name="Rectangle 211">
            <a:extLst>
              <a:ext uri="{FF2B5EF4-FFF2-40B4-BE49-F238E27FC236}">
                <a16:creationId xmlns:a16="http://schemas.microsoft.com/office/drawing/2014/main" id="{2773DDA4-FC31-3284-5FFD-8ECB53386BE6}"/>
              </a:ext>
            </a:extLst>
          </p:cNvPr>
          <p:cNvSpPr/>
          <p:nvPr/>
        </p:nvSpPr>
        <p:spPr>
          <a:xfrm>
            <a:off x="6263640" y="1737360"/>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3" name="TextBox 212">
            <a:extLst>
              <a:ext uri="{FF2B5EF4-FFF2-40B4-BE49-F238E27FC236}">
                <a16:creationId xmlns:a16="http://schemas.microsoft.com/office/drawing/2014/main" id="{16FFDE16-720F-5AA9-43F1-123E3841D28B}"/>
              </a:ext>
            </a:extLst>
          </p:cNvPr>
          <p:cNvSpPr txBox="1"/>
          <p:nvPr/>
        </p:nvSpPr>
        <p:spPr>
          <a:xfrm>
            <a:off x="6428232" y="1737360"/>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IT Now</a:t>
            </a:r>
          </a:p>
        </p:txBody>
      </p:sp>
      <p:sp>
        <p:nvSpPr>
          <p:cNvPr id="214" name="TextBox 213">
            <a:extLst>
              <a:ext uri="{FF2B5EF4-FFF2-40B4-BE49-F238E27FC236}">
                <a16:creationId xmlns:a16="http://schemas.microsoft.com/office/drawing/2014/main" id="{0C2981C0-6BCC-EEBF-246D-63DE1CD28549}"/>
              </a:ext>
            </a:extLst>
          </p:cNvPr>
          <p:cNvSpPr txBox="1"/>
          <p:nvPr/>
        </p:nvSpPr>
        <p:spPr>
          <a:xfrm>
            <a:off x="6428232" y="196596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Incidents (template) — Metering</a:t>
            </a:r>
          </a:p>
        </p:txBody>
      </p:sp>
      <p:sp>
        <p:nvSpPr>
          <p:cNvPr id="215" name="TextBox 214">
            <a:extLst>
              <a:ext uri="{FF2B5EF4-FFF2-40B4-BE49-F238E27FC236}">
                <a16:creationId xmlns:a16="http://schemas.microsoft.com/office/drawing/2014/main" id="{8E1C5C36-2456-CA99-587C-D7F2D2FA835B}"/>
              </a:ext>
            </a:extLst>
          </p:cNvPr>
          <p:cNvSpPr txBox="1"/>
          <p:nvPr/>
        </p:nvSpPr>
        <p:spPr>
          <a:xfrm>
            <a:off x="8321040" y="173736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16" name="Rounded Rectangle 57">
            <a:extLst>
              <a:ext uri="{FF2B5EF4-FFF2-40B4-BE49-F238E27FC236}">
                <a16:creationId xmlns:a16="http://schemas.microsoft.com/office/drawing/2014/main" id="{11DE0D76-8000-DC18-70D0-DF16747CCEE6}"/>
              </a:ext>
            </a:extLst>
          </p:cNvPr>
          <p:cNvSpPr/>
          <p:nvPr/>
        </p:nvSpPr>
        <p:spPr>
          <a:xfrm>
            <a:off x="10789920" y="1828800"/>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7" name="TextBox 216">
            <a:extLst>
              <a:ext uri="{FF2B5EF4-FFF2-40B4-BE49-F238E27FC236}">
                <a16:creationId xmlns:a16="http://schemas.microsoft.com/office/drawing/2014/main" id="{56291D16-3B8B-E0C7-5432-46B3384BDF26}"/>
              </a:ext>
            </a:extLst>
          </p:cNvPr>
          <p:cNvSpPr txBox="1"/>
          <p:nvPr/>
        </p:nvSpPr>
        <p:spPr>
          <a:xfrm>
            <a:off x="10789920" y="182880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218" name="Rectangle 217">
            <a:extLst>
              <a:ext uri="{FF2B5EF4-FFF2-40B4-BE49-F238E27FC236}">
                <a16:creationId xmlns:a16="http://schemas.microsoft.com/office/drawing/2014/main" id="{BE484B65-4149-B528-6387-B809ACAF13E1}"/>
              </a:ext>
            </a:extLst>
          </p:cNvPr>
          <p:cNvSpPr/>
          <p:nvPr/>
        </p:nvSpPr>
        <p:spPr>
          <a:xfrm>
            <a:off x="6263640" y="2221991"/>
            <a:ext cx="73152"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9" name="TextBox 218">
            <a:extLst>
              <a:ext uri="{FF2B5EF4-FFF2-40B4-BE49-F238E27FC236}">
                <a16:creationId xmlns:a16="http://schemas.microsoft.com/office/drawing/2014/main" id="{BBC0C90D-9A37-B4C7-983E-3F83FA4EF100}"/>
              </a:ext>
            </a:extLst>
          </p:cNvPr>
          <p:cNvSpPr txBox="1"/>
          <p:nvPr/>
        </p:nvSpPr>
        <p:spPr>
          <a:xfrm>
            <a:off x="6428232" y="2221991"/>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Email</a:t>
            </a:r>
          </a:p>
        </p:txBody>
      </p:sp>
      <p:sp>
        <p:nvSpPr>
          <p:cNvPr id="220" name="TextBox 219">
            <a:extLst>
              <a:ext uri="{FF2B5EF4-FFF2-40B4-BE49-F238E27FC236}">
                <a16:creationId xmlns:a16="http://schemas.microsoft.com/office/drawing/2014/main" id="{3962106A-4370-A30B-25F6-300964D0AF6D}"/>
              </a:ext>
            </a:extLst>
          </p:cNvPr>
          <p:cNvSpPr txBox="1"/>
          <p:nvPr/>
        </p:nvSpPr>
        <p:spPr>
          <a:xfrm>
            <a:off x="6428232" y="2450591"/>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Small demand (Smart Metering)</a:t>
            </a:r>
          </a:p>
        </p:txBody>
      </p:sp>
      <p:sp>
        <p:nvSpPr>
          <p:cNvPr id="221" name="TextBox 220">
            <a:extLst>
              <a:ext uri="{FF2B5EF4-FFF2-40B4-BE49-F238E27FC236}">
                <a16:creationId xmlns:a16="http://schemas.microsoft.com/office/drawing/2014/main" id="{00C1122A-0085-573F-AB41-FDC78EEA986C}"/>
              </a:ext>
            </a:extLst>
          </p:cNvPr>
          <p:cNvSpPr txBox="1"/>
          <p:nvPr/>
        </p:nvSpPr>
        <p:spPr>
          <a:xfrm>
            <a:off x="8321040" y="2221991"/>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22" name="Rounded Rectangle 63">
            <a:extLst>
              <a:ext uri="{FF2B5EF4-FFF2-40B4-BE49-F238E27FC236}">
                <a16:creationId xmlns:a16="http://schemas.microsoft.com/office/drawing/2014/main" id="{BDB5A0DE-2444-172E-5A61-3D7C13097990}"/>
              </a:ext>
            </a:extLst>
          </p:cNvPr>
          <p:cNvSpPr/>
          <p:nvPr/>
        </p:nvSpPr>
        <p:spPr>
          <a:xfrm>
            <a:off x="10789920" y="2313432"/>
            <a:ext cx="914400" cy="27432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3" name="TextBox 222">
            <a:extLst>
              <a:ext uri="{FF2B5EF4-FFF2-40B4-BE49-F238E27FC236}">
                <a16:creationId xmlns:a16="http://schemas.microsoft.com/office/drawing/2014/main" id="{348AC70E-A852-8BEF-C81F-12DAC1589021}"/>
              </a:ext>
            </a:extLst>
          </p:cNvPr>
          <p:cNvSpPr txBox="1"/>
          <p:nvPr/>
        </p:nvSpPr>
        <p:spPr>
          <a:xfrm>
            <a:off x="10789920" y="2313432"/>
            <a:ext cx="914400" cy="274320"/>
          </a:xfrm>
          <a:prstGeom prst="rect">
            <a:avLst/>
          </a:prstGeom>
          <a:solidFill>
            <a:srgbClr val="E67E2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24" name="Rectangle 223">
            <a:extLst>
              <a:ext uri="{FF2B5EF4-FFF2-40B4-BE49-F238E27FC236}">
                <a16:creationId xmlns:a16="http://schemas.microsoft.com/office/drawing/2014/main" id="{881F8F41-99E2-69E7-E0A1-C06B3EC1B3D6}"/>
              </a:ext>
            </a:extLst>
          </p:cNvPr>
          <p:cNvSpPr/>
          <p:nvPr/>
        </p:nvSpPr>
        <p:spPr>
          <a:xfrm>
            <a:off x="6263640" y="2706624"/>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5" name="TextBox 224">
            <a:extLst>
              <a:ext uri="{FF2B5EF4-FFF2-40B4-BE49-F238E27FC236}">
                <a16:creationId xmlns:a16="http://schemas.microsoft.com/office/drawing/2014/main" id="{84B97643-5F2B-7D12-B8C5-F6255BE990F8}"/>
              </a:ext>
            </a:extLst>
          </p:cNvPr>
          <p:cNvSpPr txBox="1"/>
          <p:nvPr/>
        </p:nvSpPr>
        <p:spPr>
          <a:xfrm>
            <a:off x="6428232" y="270662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Jira</a:t>
            </a:r>
          </a:p>
        </p:txBody>
      </p:sp>
      <p:sp>
        <p:nvSpPr>
          <p:cNvPr id="226" name="TextBox 225">
            <a:extLst>
              <a:ext uri="{FF2B5EF4-FFF2-40B4-BE49-F238E27FC236}">
                <a16:creationId xmlns:a16="http://schemas.microsoft.com/office/drawing/2014/main" id="{AF8F8F8A-7483-4118-83BA-C61A0CCC3608}"/>
              </a:ext>
            </a:extLst>
          </p:cNvPr>
          <p:cNvSpPr txBox="1"/>
          <p:nvPr/>
        </p:nvSpPr>
        <p:spPr>
          <a:xfrm>
            <a:off x="6428232" y="293522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Used by PMs (Smart Metering)</a:t>
            </a:r>
          </a:p>
        </p:txBody>
      </p:sp>
      <p:sp>
        <p:nvSpPr>
          <p:cNvPr id="227" name="TextBox 226">
            <a:extLst>
              <a:ext uri="{FF2B5EF4-FFF2-40B4-BE49-F238E27FC236}">
                <a16:creationId xmlns:a16="http://schemas.microsoft.com/office/drawing/2014/main" id="{D8A10F1A-BF46-17EF-5E05-6429F46ABCAD}"/>
              </a:ext>
            </a:extLst>
          </p:cNvPr>
          <p:cNvSpPr txBox="1"/>
          <p:nvPr/>
        </p:nvSpPr>
        <p:spPr>
          <a:xfrm>
            <a:off x="8321040" y="270662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28" name="Rounded Rectangle 69">
            <a:extLst>
              <a:ext uri="{FF2B5EF4-FFF2-40B4-BE49-F238E27FC236}">
                <a16:creationId xmlns:a16="http://schemas.microsoft.com/office/drawing/2014/main" id="{F7A73BD2-EEDA-6317-4BF8-F290CF8F0935}"/>
              </a:ext>
            </a:extLst>
          </p:cNvPr>
          <p:cNvSpPr/>
          <p:nvPr/>
        </p:nvSpPr>
        <p:spPr>
          <a:xfrm>
            <a:off x="10789920" y="2798064"/>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9" name="TextBox 228">
            <a:extLst>
              <a:ext uri="{FF2B5EF4-FFF2-40B4-BE49-F238E27FC236}">
                <a16:creationId xmlns:a16="http://schemas.microsoft.com/office/drawing/2014/main" id="{E8A90C07-3576-3D14-FF25-E4F2F878FE43}"/>
              </a:ext>
            </a:extLst>
          </p:cNvPr>
          <p:cNvSpPr txBox="1"/>
          <p:nvPr/>
        </p:nvSpPr>
        <p:spPr>
          <a:xfrm>
            <a:off x="10789920" y="2798064"/>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30" name="Rectangle 229">
            <a:extLst>
              <a:ext uri="{FF2B5EF4-FFF2-40B4-BE49-F238E27FC236}">
                <a16:creationId xmlns:a16="http://schemas.microsoft.com/office/drawing/2014/main" id="{063F7B1A-A1A8-F3AC-337C-203C41A8537A}"/>
              </a:ext>
            </a:extLst>
          </p:cNvPr>
          <p:cNvSpPr/>
          <p:nvPr/>
        </p:nvSpPr>
        <p:spPr>
          <a:xfrm>
            <a:off x="6263640" y="3191256"/>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1" name="TextBox 230">
            <a:extLst>
              <a:ext uri="{FF2B5EF4-FFF2-40B4-BE49-F238E27FC236}">
                <a16:creationId xmlns:a16="http://schemas.microsoft.com/office/drawing/2014/main" id="{8D89C4FB-4942-2203-97FC-1F973C5636BF}"/>
              </a:ext>
            </a:extLst>
          </p:cNvPr>
          <p:cNvSpPr txBox="1"/>
          <p:nvPr/>
        </p:nvSpPr>
        <p:spPr>
          <a:xfrm>
            <a:off x="6428232" y="3191256"/>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Confluence</a:t>
            </a:r>
          </a:p>
        </p:txBody>
      </p:sp>
      <p:sp>
        <p:nvSpPr>
          <p:cNvPr id="232" name="TextBox 231">
            <a:extLst>
              <a:ext uri="{FF2B5EF4-FFF2-40B4-BE49-F238E27FC236}">
                <a16:creationId xmlns:a16="http://schemas.microsoft.com/office/drawing/2014/main" id="{18E72EB3-296B-6639-B47B-13B733CD41F0}"/>
              </a:ext>
            </a:extLst>
          </p:cNvPr>
          <p:cNvSpPr txBox="1"/>
          <p:nvPr/>
        </p:nvSpPr>
        <p:spPr>
          <a:xfrm>
            <a:off x="6428232" y="3419856"/>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Portfolio documentation (Metering only)</a:t>
            </a:r>
          </a:p>
        </p:txBody>
      </p:sp>
      <p:sp>
        <p:nvSpPr>
          <p:cNvPr id="233" name="TextBox 232">
            <a:extLst>
              <a:ext uri="{FF2B5EF4-FFF2-40B4-BE49-F238E27FC236}">
                <a16:creationId xmlns:a16="http://schemas.microsoft.com/office/drawing/2014/main" id="{EAC34918-40CD-1D1E-AFF9-291536C7097F}"/>
              </a:ext>
            </a:extLst>
          </p:cNvPr>
          <p:cNvSpPr txBox="1"/>
          <p:nvPr/>
        </p:nvSpPr>
        <p:spPr>
          <a:xfrm>
            <a:off x="8321040" y="3191256"/>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34" name="Rounded Rectangle 75">
            <a:extLst>
              <a:ext uri="{FF2B5EF4-FFF2-40B4-BE49-F238E27FC236}">
                <a16:creationId xmlns:a16="http://schemas.microsoft.com/office/drawing/2014/main" id="{01A1AD53-3507-FD38-3EE7-643497530BF1}"/>
              </a:ext>
            </a:extLst>
          </p:cNvPr>
          <p:cNvSpPr/>
          <p:nvPr/>
        </p:nvSpPr>
        <p:spPr>
          <a:xfrm>
            <a:off x="10789920" y="3282696"/>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5" name="TextBox 234">
            <a:extLst>
              <a:ext uri="{FF2B5EF4-FFF2-40B4-BE49-F238E27FC236}">
                <a16:creationId xmlns:a16="http://schemas.microsoft.com/office/drawing/2014/main" id="{94EBEF4C-E03F-693A-282B-779FAA6BDC03}"/>
              </a:ext>
            </a:extLst>
          </p:cNvPr>
          <p:cNvSpPr txBox="1"/>
          <p:nvPr/>
        </p:nvSpPr>
        <p:spPr>
          <a:xfrm>
            <a:off x="10789920" y="3282696"/>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36" name="Rectangle 235">
            <a:extLst>
              <a:ext uri="{FF2B5EF4-FFF2-40B4-BE49-F238E27FC236}">
                <a16:creationId xmlns:a16="http://schemas.microsoft.com/office/drawing/2014/main" id="{0C8EEABF-2FE2-6602-9884-4FE24FA9656A}"/>
              </a:ext>
            </a:extLst>
          </p:cNvPr>
          <p:cNvSpPr/>
          <p:nvPr/>
        </p:nvSpPr>
        <p:spPr>
          <a:xfrm>
            <a:off x="6263640" y="3675888"/>
            <a:ext cx="73152" cy="43891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7" name="TextBox 236">
            <a:extLst>
              <a:ext uri="{FF2B5EF4-FFF2-40B4-BE49-F238E27FC236}">
                <a16:creationId xmlns:a16="http://schemas.microsoft.com/office/drawing/2014/main" id="{C4E2F6FE-451F-C839-CAD5-C6CF8781A5D3}"/>
              </a:ext>
            </a:extLst>
          </p:cNvPr>
          <p:cNvSpPr txBox="1"/>
          <p:nvPr/>
        </p:nvSpPr>
        <p:spPr>
          <a:xfrm>
            <a:off x="6428232" y="3675888"/>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PPM Now</a:t>
            </a:r>
          </a:p>
        </p:txBody>
      </p:sp>
      <p:sp>
        <p:nvSpPr>
          <p:cNvPr id="238" name="TextBox 237">
            <a:extLst>
              <a:ext uri="{FF2B5EF4-FFF2-40B4-BE49-F238E27FC236}">
                <a16:creationId xmlns:a16="http://schemas.microsoft.com/office/drawing/2014/main" id="{C13F1508-C775-668E-89C2-E448BFD6583C}"/>
              </a:ext>
            </a:extLst>
          </p:cNvPr>
          <p:cNvSpPr txBox="1"/>
          <p:nvPr/>
        </p:nvSpPr>
        <p:spPr>
          <a:xfrm>
            <a:off x="6428232" y="3904488"/>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Large projects — ONLY in Smart Metering</a:t>
            </a:r>
          </a:p>
        </p:txBody>
      </p:sp>
      <p:sp>
        <p:nvSpPr>
          <p:cNvPr id="239" name="TextBox 238">
            <a:extLst>
              <a:ext uri="{FF2B5EF4-FFF2-40B4-BE49-F238E27FC236}">
                <a16:creationId xmlns:a16="http://schemas.microsoft.com/office/drawing/2014/main" id="{C96BF8B9-0503-A339-8176-BC6D0798BC04}"/>
              </a:ext>
            </a:extLst>
          </p:cNvPr>
          <p:cNvSpPr txBox="1"/>
          <p:nvPr/>
        </p:nvSpPr>
        <p:spPr>
          <a:xfrm>
            <a:off x="8321040" y="3675888"/>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Smart Metering</a:t>
            </a:r>
          </a:p>
        </p:txBody>
      </p:sp>
      <p:sp>
        <p:nvSpPr>
          <p:cNvPr id="240" name="Rounded Rectangle 81">
            <a:extLst>
              <a:ext uri="{FF2B5EF4-FFF2-40B4-BE49-F238E27FC236}">
                <a16:creationId xmlns:a16="http://schemas.microsoft.com/office/drawing/2014/main" id="{09DE26C0-95A0-F48F-7904-F213249C8003}"/>
              </a:ext>
            </a:extLst>
          </p:cNvPr>
          <p:cNvSpPr/>
          <p:nvPr/>
        </p:nvSpPr>
        <p:spPr>
          <a:xfrm>
            <a:off x="10789920" y="3767328"/>
            <a:ext cx="914400" cy="274320"/>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1" name="TextBox 240">
            <a:extLst>
              <a:ext uri="{FF2B5EF4-FFF2-40B4-BE49-F238E27FC236}">
                <a16:creationId xmlns:a16="http://schemas.microsoft.com/office/drawing/2014/main" id="{E9F46E0A-3AE1-E2FC-2623-56344BBFE0D7}"/>
              </a:ext>
            </a:extLst>
          </p:cNvPr>
          <p:cNvSpPr txBox="1"/>
          <p:nvPr/>
        </p:nvSpPr>
        <p:spPr>
          <a:xfrm>
            <a:off x="10789920" y="3767328"/>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PRIMARY</a:t>
            </a:r>
          </a:p>
        </p:txBody>
      </p:sp>
      <p:sp>
        <p:nvSpPr>
          <p:cNvPr id="242" name="Rectangle 241">
            <a:extLst>
              <a:ext uri="{FF2B5EF4-FFF2-40B4-BE49-F238E27FC236}">
                <a16:creationId xmlns:a16="http://schemas.microsoft.com/office/drawing/2014/main" id="{D190FC8D-D732-0F3C-894D-3139615FC1D4}"/>
              </a:ext>
            </a:extLst>
          </p:cNvPr>
          <p:cNvSpPr/>
          <p:nvPr/>
        </p:nvSpPr>
        <p:spPr>
          <a:xfrm>
            <a:off x="6263640" y="4160520"/>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3" name="TextBox 242">
            <a:extLst>
              <a:ext uri="{FF2B5EF4-FFF2-40B4-BE49-F238E27FC236}">
                <a16:creationId xmlns:a16="http://schemas.microsoft.com/office/drawing/2014/main" id="{460D6F07-6AB6-6B96-3B26-4007B29F34A7}"/>
              </a:ext>
            </a:extLst>
          </p:cNvPr>
          <p:cNvSpPr txBox="1"/>
          <p:nvPr/>
        </p:nvSpPr>
        <p:spPr>
          <a:xfrm>
            <a:off x="6428232" y="4160520"/>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Travis PMO (tool TBC)</a:t>
            </a:r>
          </a:p>
        </p:txBody>
      </p:sp>
      <p:sp>
        <p:nvSpPr>
          <p:cNvPr id="244" name="TextBox 243">
            <a:extLst>
              <a:ext uri="{FF2B5EF4-FFF2-40B4-BE49-F238E27FC236}">
                <a16:creationId xmlns:a16="http://schemas.microsoft.com/office/drawing/2014/main" id="{331880E9-13B6-2E45-7613-074271DA4D22}"/>
              </a:ext>
            </a:extLst>
          </p:cNvPr>
          <p:cNvSpPr txBox="1"/>
          <p:nvPr/>
        </p:nvSpPr>
        <p:spPr>
          <a:xfrm>
            <a:off x="6428232" y="4389120"/>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Large project management</a:t>
            </a:r>
          </a:p>
        </p:txBody>
      </p:sp>
      <p:sp>
        <p:nvSpPr>
          <p:cNvPr id="245" name="TextBox 244">
            <a:extLst>
              <a:ext uri="{FF2B5EF4-FFF2-40B4-BE49-F238E27FC236}">
                <a16:creationId xmlns:a16="http://schemas.microsoft.com/office/drawing/2014/main" id="{7BA29825-A568-BDC7-74C5-1F5F011394A4}"/>
              </a:ext>
            </a:extLst>
          </p:cNvPr>
          <p:cNvSpPr txBox="1"/>
          <p:nvPr/>
        </p:nvSpPr>
        <p:spPr>
          <a:xfrm>
            <a:off x="8321040" y="4160520"/>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Branch-wide</a:t>
            </a:r>
          </a:p>
        </p:txBody>
      </p:sp>
      <p:sp>
        <p:nvSpPr>
          <p:cNvPr id="246" name="Rounded Rectangle 87">
            <a:extLst>
              <a:ext uri="{FF2B5EF4-FFF2-40B4-BE49-F238E27FC236}">
                <a16:creationId xmlns:a16="http://schemas.microsoft.com/office/drawing/2014/main" id="{80EF6E4A-EB3C-688F-1E12-88D038DDCBA9}"/>
              </a:ext>
            </a:extLst>
          </p:cNvPr>
          <p:cNvSpPr/>
          <p:nvPr/>
        </p:nvSpPr>
        <p:spPr>
          <a:xfrm>
            <a:off x="10789920" y="4251960"/>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7" name="TextBox 246">
            <a:extLst>
              <a:ext uri="{FF2B5EF4-FFF2-40B4-BE49-F238E27FC236}">
                <a16:creationId xmlns:a16="http://schemas.microsoft.com/office/drawing/2014/main" id="{DD8EF26D-D440-CF6D-61CB-BBEF3B8BC503}"/>
              </a:ext>
            </a:extLst>
          </p:cNvPr>
          <p:cNvSpPr txBox="1"/>
          <p:nvPr/>
        </p:nvSpPr>
        <p:spPr>
          <a:xfrm>
            <a:off x="10789920" y="4251960"/>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48" name="Rectangle 247">
            <a:extLst>
              <a:ext uri="{FF2B5EF4-FFF2-40B4-BE49-F238E27FC236}">
                <a16:creationId xmlns:a16="http://schemas.microsoft.com/office/drawing/2014/main" id="{65724D7D-58F9-985C-5EAD-B9CE6B376F1C}"/>
              </a:ext>
            </a:extLst>
          </p:cNvPr>
          <p:cNvSpPr/>
          <p:nvPr/>
        </p:nvSpPr>
        <p:spPr>
          <a:xfrm>
            <a:off x="6263640" y="4645152"/>
            <a:ext cx="73152" cy="438912"/>
          </a:xfrm>
          <a:prstGeom prst="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9" name="TextBox 248">
            <a:extLst>
              <a:ext uri="{FF2B5EF4-FFF2-40B4-BE49-F238E27FC236}">
                <a16:creationId xmlns:a16="http://schemas.microsoft.com/office/drawing/2014/main" id="{6231CEEF-D878-099B-C5C2-3E1151904BE4}"/>
              </a:ext>
            </a:extLst>
          </p:cNvPr>
          <p:cNvSpPr txBox="1"/>
          <p:nvPr/>
        </p:nvSpPr>
        <p:spPr>
          <a:xfrm>
            <a:off x="6428232" y="4645152"/>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SWF + Accenture</a:t>
            </a:r>
          </a:p>
        </p:txBody>
      </p:sp>
      <p:sp>
        <p:nvSpPr>
          <p:cNvPr id="250" name="TextBox 249">
            <a:extLst>
              <a:ext uri="{FF2B5EF4-FFF2-40B4-BE49-F238E27FC236}">
                <a16:creationId xmlns:a16="http://schemas.microsoft.com/office/drawing/2014/main" id="{4DC72D2C-4C1B-5930-A61D-87ABA2B27B4C}"/>
              </a:ext>
            </a:extLst>
          </p:cNvPr>
          <p:cNvSpPr txBox="1"/>
          <p:nvPr/>
        </p:nvSpPr>
        <p:spPr>
          <a:xfrm>
            <a:off x="6428232" y="4873752"/>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Build / delivery</a:t>
            </a:r>
          </a:p>
        </p:txBody>
      </p:sp>
      <p:sp>
        <p:nvSpPr>
          <p:cNvPr id="251" name="TextBox 250">
            <a:extLst>
              <a:ext uri="{FF2B5EF4-FFF2-40B4-BE49-F238E27FC236}">
                <a16:creationId xmlns:a16="http://schemas.microsoft.com/office/drawing/2014/main" id="{88F2CCB7-9D99-A6A6-A393-D409955C0176}"/>
              </a:ext>
            </a:extLst>
          </p:cNvPr>
          <p:cNvSpPr txBox="1"/>
          <p:nvPr/>
        </p:nvSpPr>
        <p:spPr>
          <a:xfrm>
            <a:off x="8321040" y="4645152"/>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Branch-wide</a:t>
            </a:r>
          </a:p>
        </p:txBody>
      </p:sp>
      <p:sp>
        <p:nvSpPr>
          <p:cNvPr id="252" name="Rounded Rectangle 93">
            <a:extLst>
              <a:ext uri="{FF2B5EF4-FFF2-40B4-BE49-F238E27FC236}">
                <a16:creationId xmlns:a16="http://schemas.microsoft.com/office/drawing/2014/main" id="{2D570AF6-D277-CBC0-6748-DF54E27C456E}"/>
              </a:ext>
            </a:extLst>
          </p:cNvPr>
          <p:cNvSpPr/>
          <p:nvPr/>
        </p:nvSpPr>
        <p:spPr>
          <a:xfrm>
            <a:off x="10789920" y="4736592"/>
            <a:ext cx="914400" cy="274320"/>
          </a:xfrm>
          <a:prstGeom prst="roundRect">
            <a:avLst/>
          </a:prstGeom>
          <a:solidFill>
            <a:srgbClr val="95A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3" name="TextBox 252">
            <a:extLst>
              <a:ext uri="{FF2B5EF4-FFF2-40B4-BE49-F238E27FC236}">
                <a16:creationId xmlns:a16="http://schemas.microsoft.com/office/drawing/2014/main" id="{079D84F3-EA21-692F-EF6C-95D2A00CB7FC}"/>
              </a:ext>
            </a:extLst>
          </p:cNvPr>
          <p:cNvSpPr txBox="1"/>
          <p:nvPr/>
        </p:nvSpPr>
        <p:spPr>
          <a:xfrm>
            <a:off x="10789920" y="4736592"/>
            <a:ext cx="9144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SPECIFIC</a:t>
            </a:r>
          </a:p>
        </p:txBody>
      </p:sp>
      <p:sp>
        <p:nvSpPr>
          <p:cNvPr id="254" name="Rectangle 253">
            <a:extLst>
              <a:ext uri="{FF2B5EF4-FFF2-40B4-BE49-F238E27FC236}">
                <a16:creationId xmlns:a16="http://schemas.microsoft.com/office/drawing/2014/main" id="{C77FABE6-41FA-DED7-CCBA-ED2EAC407527}"/>
              </a:ext>
            </a:extLst>
          </p:cNvPr>
          <p:cNvSpPr/>
          <p:nvPr/>
        </p:nvSpPr>
        <p:spPr>
          <a:xfrm>
            <a:off x="6263640" y="5129784"/>
            <a:ext cx="73152"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5" name="TextBox 254">
            <a:extLst>
              <a:ext uri="{FF2B5EF4-FFF2-40B4-BE49-F238E27FC236}">
                <a16:creationId xmlns:a16="http://schemas.microsoft.com/office/drawing/2014/main" id="{46329176-A0FE-70FD-BDC5-42BE9C779887}"/>
              </a:ext>
            </a:extLst>
          </p:cNvPr>
          <p:cNvSpPr txBox="1"/>
          <p:nvPr/>
        </p:nvSpPr>
        <p:spPr>
          <a:xfrm>
            <a:off x="6428232" y="5129784"/>
            <a:ext cx="1828800" cy="256032"/>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0F1C50"/>
                </a:solidFill>
                <a:latin typeface="Helvetica Neue"/>
              </a:rPr>
              <a:t>4 other teams — tooling not yet captured</a:t>
            </a:r>
          </a:p>
        </p:txBody>
      </p:sp>
      <p:sp>
        <p:nvSpPr>
          <p:cNvPr id="256" name="TextBox 255">
            <a:extLst>
              <a:ext uri="{FF2B5EF4-FFF2-40B4-BE49-F238E27FC236}">
                <a16:creationId xmlns:a16="http://schemas.microsoft.com/office/drawing/2014/main" id="{6C2E9CD3-E25A-01A3-F077-917CF4E9A706}"/>
              </a:ext>
            </a:extLst>
          </p:cNvPr>
          <p:cNvSpPr txBox="1"/>
          <p:nvPr/>
        </p:nvSpPr>
        <p:spPr>
          <a:xfrm>
            <a:off x="6428232" y="5358384"/>
            <a:ext cx="1828800" cy="228600"/>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0" noProof="0">
                <a:solidFill>
                  <a:srgbClr val="2C3E50"/>
                </a:solidFill>
                <a:latin typeface="Helvetica Neue"/>
              </a:rPr>
              <a:t>Ivelisse, CRM, SAP Arch, SAP Basis</a:t>
            </a:r>
          </a:p>
        </p:txBody>
      </p:sp>
      <p:sp>
        <p:nvSpPr>
          <p:cNvPr id="257" name="TextBox 256">
            <a:extLst>
              <a:ext uri="{FF2B5EF4-FFF2-40B4-BE49-F238E27FC236}">
                <a16:creationId xmlns:a16="http://schemas.microsoft.com/office/drawing/2014/main" id="{38CD66B3-4A96-36CC-9A07-58036D6F2E3E}"/>
              </a:ext>
            </a:extLst>
          </p:cNvPr>
          <p:cNvSpPr txBox="1"/>
          <p:nvPr/>
        </p:nvSpPr>
        <p:spPr>
          <a:xfrm>
            <a:off x="8321040" y="5129784"/>
            <a:ext cx="2377440" cy="457200"/>
          </a:xfrm>
          <a:prstGeom prst="rect">
            <a:avLst/>
          </a:prstGeom>
          <a:noFill/>
        </p:spPr>
        <p:txBody>
          <a:bodyPr wrap="square" lIns="0" tIns="0" rIns="0" bIns="0" anchor="ctr">
            <a:spAutoFit/>
          </a:bodyPr>
          <a:lstStyle/>
          <a:p>
            <a:pPr algn="l">
              <a:lnSpc>
                <a:spcPct val="110000"/>
              </a:lnSpc>
              <a:spcBef>
                <a:spcPts val="0"/>
              </a:spcBef>
              <a:spcAft>
                <a:spcPts val="0"/>
              </a:spcAft>
            </a:pPr>
            <a:r>
              <a:rPr lang="en-US" sz="800" b="0" i="1" noProof="0">
                <a:solidFill>
                  <a:srgbClr val="6785C1"/>
                </a:solidFill>
                <a:latin typeface="Helvetica Neue"/>
              </a:rPr>
              <a:t>TBC</a:t>
            </a:r>
          </a:p>
        </p:txBody>
      </p:sp>
      <p:sp>
        <p:nvSpPr>
          <p:cNvPr id="258" name="Rounded Rectangle 99">
            <a:extLst>
              <a:ext uri="{FF2B5EF4-FFF2-40B4-BE49-F238E27FC236}">
                <a16:creationId xmlns:a16="http://schemas.microsoft.com/office/drawing/2014/main" id="{E103BDEC-BDE5-351F-B2DB-05C206907845}"/>
              </a:ext>
            </a:extLst>
          </p:cNvPr>
          <p:cNvSpPr/>
          <p:nvPr/>
        </p:nvSpPr>
        <p:spPr>
          <a:xfrm>
            <a:off x="10789920" y="5221224"/>
            <a:ext cx="914400" cy="27432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9" name="TextBox 258">
            <a:extLst>
              <a:ext uri="{FF2B5EF4-FFF2-40B4-BE49-F238E27FC236}">
                <a16:creationId xmlns:a16="http://schemas.microsoft.com/office/drawing/2014/main" id="{B5698AB8-1BEB-9542-E6E7-B489C360F1F9}"/>
              </a:ext>
            </a:extLst>
          </p:cNvPr>
          <p:cNvSpPr txBox="1"/>
          <p:nvPr/>
        </p:nvSpPr>
        <p:spPr>
          <a:xfrm>
            <a:off x="10789920" y="5221224"/>
            <a:ext cx="914400" cy="274320"/>
          </a:xfrm>
          <a:prstGeom prst="rect">
            <a:avLst/>
          </a:prstGeom>
          <a:solidFill>
            <a:srgbClr val="E67E2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GAP</a:t>
            </a:r>
          </a:p>
        </p:txBody>
      </p:sp>
      <p:sp>
        <p:nvSpPr>
          <p:cNvPr id="260" name="Rectangle 259">
            <a:extLst>
              <a:ext uri="{FF2B5EF4-FFF2-40B4-BE49-F238E27FC236}">
                <a16:creationId xmlns:a16="http://schemas.microsoft.com/office/drawing/2014/main" id="{C2A50F05-4294-40C7-D898-8083193D47E9}"/>
              </a:ext>
            </a:extLst>
          </p:cNvPr>
          <p:cNvSpPr/>
          <p:nvPr/>
        </p:nvSpPr>
        <p:spPr>
          <a:xfrm>
            <a:off x="457200" y="5768604"/>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1" name="TextBox 260">
            <a:extLst>
              <a:ext uri="{FF2B5EF4-FFF2-40B4-BE49-F238E27FC236}">
                <a16:creationId xmlns:a16="http://schemas.microsoft.com/office/drawing/2014/main" id="{ABEED863-90D5-E804-64BF-77817227D0BA}"/>
              </a:ext>
            </a:extLst>
          </p:cNvPr>
          <p:cNvSpPr txBox="1"/>
          <p:nvPr/>
        </p:nvSpPr>
        <p:spPr>
          <a:xfrm>
            <a:off x="685800" y="5814324"/>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PPM Now exists in only 1 of 9 sub-teams — Jira is the only tool with meaningful cross-team adoption (and it's fragmented across instances)</a:t>
            </a:r>
          </a:p>
        </p:txBody>
      </p:sp>
    </p:spTree>
    <p:extLst>
      <p:ext uri="{BB962C8B-B14F-4D97-AF65-F5344CB8AC3E}">
        <p14:creationId xmlns:p14="http://schemas.microsoft.com/office/powerpoint/2010/main" val="140890185"/>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58368"/>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7315200" cy="292608"/>
          </a:xfrm>
          <a:prstGeom prst="rect">
            <a:avLst/>
          </a:prstGeom>
          <a:noFill/>
        </p:spPr>
        <p:txBody>
          <a:bodyPr wrap="square" lIns="45720" rIns="45720" tIns="18288" bIns="18288" anchor="t">
            <a:spAutoFit/>
          </a:bodyPr>
          <a:lstStyle/>
          <a:p>
            <a:pPr algn="l"/>
            <a:r>
              <a:rPr sz="2200" b="1" i="0">
                <a:solidFill>
                  <a:srgbClr val="FFFFFF"/>
                </a:solidFill>
                <a:latin typeface="Calibri"/>
              </a:rPr>
              <a:t>CURRENT STATE ANALYSIS</a:t>
            </a:r>
          </a:p>
        </p:txBody>
      </p:sp>
      <p:sp>
        <p:nvSpPr>
          <p:cNvPr id="4" name="TextBox 3"/>
          <p:cNvSpPr txBox="1"/>
          <p:nvPr/>
        </p:nvSpPr>
        <p:spPr>
          <a:xfrm>
            <a:off x="365760" y="402336"/>
            <a:ext cx="9144000" cy="219456"/>
          </a:xfrm>
          <a:prstGeom prst="rect">
            <a:avLst/>
          </a:prstGeom>
          <a:noFill/>
        </p:spPr>
        <p:txBody>
          <a:bodyPr wrap="square" lIns="45720" rIns="45720" tIns="18288" bIns="18288" anchor="t">
            <a:spAutoFit/>
          </a:bodyPr>
          <a:lstStyle/>
          <a:p>
            <a:pPr algn="l"/>
            <a:r>
              <a:rPr sz="1100" b="1" i="0">
                <a:solidFill>
                  <a:srgbClr val="FFFFFF"/>
                </a:solidFill>
                <a:latin typeface="Calibri"/>
              </a:rPr>
              <a:t>INTEGRATED DEMAND FLOW — SOURCES · CHANNELS · CLASSIFICATION · DELIVERY</a:t>
            </a:r>
          </a:p>
        </p:txBody>
      </p:sp>
      <p:sp>
        <p:nvSpPr>
          <p:cNvPr id="5" name="TextBox 4"/>
          <p:cNvSpPr txBox="1"/>
          <p:nvPr/>
        </p:nvSpPr>
        <p:spPr>
          <a:xfrm>
            <a:off x="11064240" y="201168"/>
            <a:ext cx="1005840" cy="274320"/>
          </a:xfrm>
          <a:prstGeom prst="rect">
            <a:avLst/>
          </a:prstGeom>
          <a:noFill/>
        </p:spPr>
        <p:txBody>
          <a:bodyPr wrap="square" lIns="45720" rIns="45720" tIns="18288" bIns="18288" anchor="t">
            <a:spAutoFit/>
          </a:bodyPr>
          <a:lstStyle/>
          <a:p>
            <a:pPr algn="r"/>
            <a:r>
              <a:rPr sz="1000" b="1" i="0">
                <a:solidFill>
                  <a:srgbClr val="FFFFFF"/>
                </a:solidFill>
                <a:latin typeface="Calibri"/>
              </a:rPr>
              <a:t>NTT DATA</a:t>
            </a:r>
          </a:p>
        </p:txBody>
      </p:sp>
      <p:sp>
        <p:nvSpPr>
          <p:cNvPr id="6" name="TextBox 5"/>
          <p:cNvSpPr txBox="1"/>
          <p:nvPr/>
        </p:nvSpPr>
        <p:spPr>
          <a:xfrm>
            <a:off x="457200" y="777240"/>
            <a:ext cx="11247120" cy="329184"/>
          </a:xfrm>
          <a:prstGeom prst="rect">
            <a:avLst/>
          </a:prstGeom>
          <a:noFill/>
        </p:spPr>
        <p:txBody>
          <a:bodyPr wrap="square" lIns="45720" rIns="45720" tIns="18288" bIns="18288" anchor="t">
            <a:spAutoFit/>
          </a:bodyPr>
          <a:lstStyle/>
          <a:p>
            <a:pPr algn="l"/>
            <a:r>
              <a:rPr sz="1250" b="1" i="0">
                <a:solidFill>
                  <a:srgbClr val="1F3A68"/>
                </a:solidFill>
                <a:latin typeface="Calibri"/>
              </a:rPr>
              <a:t>Six Digital Products teams interviewed in Wave 1 — confirmed channel stacks per team, three demand classes, two delivery branches</a:t>
            </a:r>
          </a:p>
        </p:txBody>
      </p:sp>
      <p:sp>
        <p:nvSpPr>
          <p:cNvPr id="7" name="TextBox 6"/>
          <p:cNvSpPr txBox="1"/>
          <p:nvPr/>
        </p:nvSpPr>
        <p:spPr>
          <a:xfrm>
            <a:off x="457200" y="1143000"/>
            <a:ext cx="1828800" cy="274320"/>
          </a:xfrm>
          <a:prstGeom prst="rect">
            <a:avLst/>
          </a:prstGeom>
          <a:noFill/>
        </p:spPr>
        <p:txBody>
          <a:bodyPr wrap="square" lIns="45720" rIns="45720" tIns="18288" bIns="18288" anchor="ctr">
            <a:spAutoFit/>
          </a:bodyPr>
          <a:lstStyle/>
          <a:p>
            <a:pPr algn="l"/>
            <a:r>
              <a:rPr sz="900" b="1" i="0">
                <a:solidFill>
                  <a:srgbClr val="1F3A68"/>
                </a:solidFill>
                <a:latin typeface="Calibri"/>
              </a:rPr>
              <a:t>CHANNEL FORMALITY:</a:t>
            </a:r>
          </a:p>
        </p:txBody>
      </p:sp>
      <p:sp>
        <p:nvSpPr>
          <p:cNvPr id="8" name="Rounded Rectangle 7"/>
          <p:cNvSpPr/>
          <p:nvPr/>
        </p:nvSpPr>
        <p:spPr>
          <a:xfrm>
            <a:off x="2377440" y="1188720"/>
            <a:ext cx="91440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FORMAL</a:t>
            </a:r>
          </a:p>
        </p:txBody>
      </p:sp>
      <p:sp>
        <p:nvSpPr>
          <p:cNvPr id="9" name="TextBox 8"/>
          <p:cNvSpPr txBox="1"/>
          <p:nvPr/>
        </p:nvSpPr>
        <p:spPr>
          <a:xfrm>
            <a:off x="3337560" y="1143000"/>
            <a:ext cx="2651760" cy="274320"/>
          </a:xfrm>
          <a:prstGeom prst="rect">
            <a:avLst/>
          </a:prstGeom>
          <a:noFill/>
        </p:spPr>
        <p:txBody>
          <a:bodyPr wrap="square" lIns="45720" rIns="45720" tIns="18288" bIns="18288" anchor="ctr">
            <a:spAutoFit/>
          </a:bodyPr>
          <a:lstStyle/>
          <a:p>
            <a:pPr algn="l"/>
            <a:r>
              <a:rPr sz="750" b="0" i="0">
                <a:solidFill>
                  <a:srgbClr val="4A4A4A"/>
                </a:solidFill>
                <a:latin typeface="Calibri"/>
              </a:rPr>
              <a:t>PPM Now · Jira · IT Now · Confluence · SharePoint · RITM</a:t>
            </a:r>
          </a:p>
        </p:txBody>
      </p:sp>
      <p:sp>
        <p:nvSpPr>
          <p:cNvPr id="10" name="Rounded Rectangle 9"/>
          <p:cNvSpPr/>
          <p:nvPr/>
        </p:nvSpPr>
        <p:spPr>
          <a:xfrm>
            <a:off x="5394960" y="1188720"/>
            <a:ext cx="91440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SEMI-FORMAL</a:t>
            </a:r>
          </a:p>
        </p:txBody>
      </p:sp>
      <p:sp>
        <p:nvSpPr>
          <p:cNvPr id="11" name="TextBox 10"/>
          <p:cNvSpPr txBox="1"/>
          <p:nvPr/>
        </p:nvSpPr>
        <p:spPr>
          <a:xfrm>
            <a:off x="6355080" y="1143000"/>
            <a:ext cx="2651760" cy="274320"/>
          </a:xfrm>
          <a:prstGeom prst="rect">
            <a:avLst/>
          </a:prstGeom>
          <a:noFill/>
        </p:spPr>
        <p:txBody>
          <a:bodyPr wrap="square" lIns="45720" rIns="45720" tIns="18288" bIns="18288" anchor="ctr">
            <a:spAutoFit/>
          </a:bodyPr>
          <a:lstStyle/>
          <a:p>
            <a:pPr algn="l"/>
            <a:r>
              <a:rPr sz="750" b="0" i="0">
                <a:solidFill>
                  <a:srgbClr val="4A4A4A"/>
                </a:solidFill>
                <a:latin typeface="Calibri"/>
              </a:rPr>
              <a:t>Teams · Kanban · Excel · Spreadsheets</a:t>
            </a:r>
          </a:p>
        </p:txBody>
      </p:sp>
      <p:sp>
        <p:nvSpPr>
          <p:cNvPr id="12" name="Rounded Rectangle 11"/>
          <p:cNvSpPr/>
          <p:nvPr/>
        </p:nvSpPr>
        <p:spPr>
          <a:xfrm>
            <a:off x="8412480" y="1188720"/>
            <a:ext cx="91440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INFORMAL</a:t>
            </a:r>
          </a:p>
        </p:txBody>
      </p:sp>
      <p:sp>
        <p:nvSpPr>
          <p:cNvPr id="13" name="TextBox 12"/>
          <p:cNvSpPr txBox="1"/>
          <p:nvPr/>
        </p:nvSpPr>
        <p:spPr>
          <a:xfrm>
            <a:off x="9372600" y="1143000"/>
            <a:ext cx="2651760" cy="274320"/>
          </a:xfrm>
          <a:prstGeom prst="rect">
            <a:avLst/>
          </a:prstGeom>
          <a:noFill/>
        </p:spPr>
        <p:txBody>
          <a:bodyPr wrap="square" lIns="45720" rIns="45720" tIns="18288" bIns="18288" anchor="ctr">
            <a:spAutoFit/>
          </a:bodyPr>
          <a:lstStyle/>
          <a:p>
            <a:pPr algn="l"/>
            <a:r>
              <a:rPr sz="750" b="0" i="0">
                <a:solidFill>
                  <a:srgbClr val="4A4A4A"/>
                </a:solidFill>
                <a:latin typeface="Calibri"/>
              </a:rPr>
              <a:t>Email · Meetings · OneNote · Word</a:t>
            </a:r>
          </a:p>
        </p:txBody>
      </p:sp>
      <p:sp>
        <p:nvSpPr>
          <p:cNvPr id="14" name="Rectangle 13"/>
          <p:cNvSpPr/>
          <p:nvPr/>
        </p:nvSpPr>
        <p:spPr>
          <a:xfrm>
            <a:off x="320040" y="1554480"/>
            <a:ext cx="1783080" cy="347472"/>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1554480"/>
            <a:ext cx="1783080" cy="347472"/>
          </a:xfrm>
          <a:prstGeom prst="rect">
            <a:avLst/>
          </a:prstGeom>
          <a:noFill/>
        </p:spPr>
        <p:txBody>
          <a:bodyPr wrap="square" lIns="45720" rIns="45720" tIns="18288" bIns="18288" anchor="ctr">
            <a:spAutoFit/>
          </a:bodyPr>
          <a:lstStyle/>
          <a:p>
            <a:pPr algn="ctr"/>
            <a:r>
              <a:rPr sz="1000" b="1" i="0">
                <a:solidFill>
                  <a:srgbClr val="FFFFFF"/>
                </a:solidFill>
                <a:latin typeface="Calibri"/>
              </a:rPr>
              <a:t>01 · SOURCES</a:t>
            </a:r>
          </a:p>
        </p:txBody>
      </p:sp>
      <p:sp>
        <p:nvSpPr>
          <p:cNvPr id="16" name="TextBox 15"/>
          <p:cNvSpPr txBox="1"/>
          <p:nvPr/>
        </p:nvSpPr>
        <p:spPr>
          <a:xfrm>
            <a:off x="320040" y="1901952"/>
            <a:ext cx="1783080" cy="201168"/>
          </a:xfrm>
          <a:prstGeom prst="rect">
            <a:avLst/>
          </a:prstGeom>
          <a:noFill/>
        </p:spPr>
        <p:txBody>
          <a:bodyPr wrap="square" lIns="45720" rIns="45720" tIns="18288" bIns="18288" anchor="t">
            <a:spAutoFit/>
          </a:bodyPr>
          <a:lstStyle/>
          <a:p>
            <a:pPr algn="ctr"/>
            <a:r>
              <a:rPr sz="750" b="0" i="1">
                <a:solidFill>
                  <a:srgbClr val="4A4A4A"/>
                </a:solidFill>
                <a:latin typeface="Calibri"/>
              </a:rPr>
              <a:t>Interviewed in Wave 1</a:t>
            </a:r>
          </a:p>
        </p:txBody>
      </p:sp>
      <p:sp>
        <p:nvSpPr>
          <p:cNvPr id="17" name="Rectangle 16"/>
          <p:cNvSpPr/>
          <p:nvPr/>
        </p:nvSpPr>
        <p:spPr>
          <a:xfrm>
            <a:off x="2194560" y="1554480"/>
            <a:ext cx="4023360" cy="34747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0" y="1554480"/>
            <a:ext cx="4023360" cy="347472"/>
          </a:xfrm>
          <a:prstGeom prst="rect">
            <a:avLst/>
          </a:prstGeom>
          <a:noFill/>
        </p:spPr>
        <p:txBody>
          <a:bodyPr wrap="square" lIns="45720" rIns="45720" tIns="18288" bIns="18288" anchor="ctr">
            <a:spAutoFit/>
          </a:bodyPr>
          <a:lstStyle/>
          <a:p>
            <a:pPr algn="ctr"/>
            <a:r>
              <a:rPr sz="1000" b="1" i="0">
                <a:solidFill>
                  <a:srgbClr val="FFFFFF"/>
                </a:solidFill>
                <a:latin typeface="Calibri"/>
              </a:rPr>
              <a:t>02 · CHANNELS</a:t>
            </a:r>
          </a:p>
        </p:txBody>
      </p:sp>
      <p:sp>
        <p:nvSpPr>
          <p:cNvPr id="19" name="TextBox 18"/>
          <p:cNvSpPr txBox="1"/>
          <p:nvPr/>
        </p:nvSpPr>
        <p:spPr>
          <a:xfrm>
            <a:off x="2194560" y="1901952"/>
            <a:ext cx="4023360" cy="201168"/>
          </a:xfrm>
          <a:prstGeom prst="rect">
            <a:avLst/>
          </a:prstGeom>
          <a:noFill/>
        </p:spPr>
        <p:txBody>
          <a:bodyPr wrap="square" lIns="45720" rIns="45720" tIns="18288" bIns="18288" anchor="t">
            <a:spAutoFit/>
          </a:bodyPr>
          <a:lstStyle/>
          <a:p>
            <a:pPr algn="ctr"/>
            <a:r>
              <a:rPr sz="750" b="0" i="1">
                <a:solidFill>
                  <a:srgbClr val="4A4A4A"/>
                </a:solidFill>
                <a:latin typeface="Calibri"/>
              </a:rPr>
              <a:t>Confirmed stack per team — color by formality</a:t>
            </a:r>
          </a:p>
        </p:txBody>
      </p:sp>
      <p:sp>
        <p:nvSpPr>
          <p:cNvPr id="20" name="Rectangle 19"/>
          <p:cNvSpPr/>
          <p:nvPr/>
        </p:nvSpPr>
        <p:spPr>
          <a:xfrm>
            <a:off x="6309360" y="1554480"/>
            <a:ext cx="2286000" cy="347472"/>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554480"/>
            <a:ext cx="2286000" cy="347472"/>
          </a:xfrm>
          <a:prstGeom prst="rect">
            <a:avLst/>
          </a:prstGeom>
          <a:noFill/>
        </p:spPr>
        <p:txBody>
          <a:bodyPr wrap="square" lIns="45720" rIns="45720" tIns="18288" bIns="18288" anchor="ctr">
            <a:spAutoFit/>
          </a:bodyPr>
          <a:lstStyle/>
          <a:p>
            <a:pPr algn="ctr"/>
            <a:r>
              <a:rPr sz="1000" b="1" i="0">
                <a:solidFill>
                  <a:srgbClr val="FFFFFF"/>
                </a:solidFill>
                <a:latin typeface="Calibri"/>
              </a:rPr>
              <a:t>03 · CLASSIFICATION</a:t>
            </a:r>
          </a:p>
        </p:txBody>
      </p:sp>
      <p:sp>
        <p:nvSpPr>
          <p:cNvPr id="22" name="TextBox 21"/>
          <p:cNvSpPr txBox="1"/>
          <p:nvPr/>
        </p:nvSpPr>
        <p:spPr>
          <a:xfrm>
            <a:off x="6309360" y="1901952"/>
            <a:ext cx="2286000" cy="201168"/>
          </a:xfrm>
          <a:prstGeom prst="rect">
            <a:avLst/>
          </a:prstGeom>
          <a:noFill/>
        </p:spPr>
        <p:txBody>
          <a:bodyPr wrap="square" lIns="45720" rIns="45720" tIns="18288" bIns="18288" anchor="t">
            <a:spAutoFit/>
          </a:bodyPr>
          <a:lstStyle/>
          <a:p>
            <a:pPr algn="ctr"/>
            <a:r>
              <a:rPr sz="750" b="0" i="1">
                <a:solidFill>
                  <a:srgbClr val="4A4A4A"/>
                </a:solidFill>
                <a:latin typeface="Calibri"/>
              </a:rPr>
              <a:t>What kind of demand</a:t>
            </a:r>
          </a:p>
        </p:txBody>
      </p:sp>
      <p:sp>
        <p:nvSpPr>
          <p:cNvPr id="23" name="Rectangle 22"/>
          <p:cNvSpPr/>
          <p:nvPr/>
        </p:nvSpPr>
        <p:spPr>
          <a:xfrm>
            <a:off x="8732520" y="1554480"/>
            <a:ext cx="3154680" cy="347472"/>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32520" y="1554480"/>
            <a:ext cx="3154680" cy="347472"/>
          </a:xfrm>
          <a:prstGeom prst="rect">
            <a:avLst/>
          </a:prstGeom>
          <a:noFill/>
        </p:spPr>
        <p:txBody>
          <a:bodyPr wrap="square" lIns="45720" rIns="45720" tIns="18288" bIns="18288" anchor="ctr">
            <a:spAutoFit/>
          </a:bodyPr>
          <a:lstStyle/>
          <a:p>
            <a:pPr algn="ctr"/>
            <a:r>
              <a:rPr sz="1000" b="1" i="0">
                <a:solidFill>
                  <a:srgbClr val="FFFFFF"/>
                </a:solidFill>
                <a:latin typeface="Calibri"/>
              </a:rPr>
              <a:t>04 · DELIVERY</a:t>
            </a:r>
          </a:p>
        </p:txBody>
      </p:sp>
      <p:sp>
        <p:nvSpPr>
          <p:cNvPr id="25" name="TextBox 24"/>
          <p:cNvSpPr txBox="1"/>
          <p:nvPr/>
        </p:nvSpPr>
        <p:spPr>
          <a:xfrm>
            <a:off x="8732520" y="1901952"/>
            <a:ext cx="3154680" cy="201168"/>
          </a:xfrm>
          <a:prstGeom prst="rect">
            <a:avLst/>
          </a:prstGeom>
          <a:noFill/>
        </p:spPr>
        <p:txBody>
          <a:bodyPr wrap="square" lIns="45720" rIns="45720" tIns="18288" bIns="18288" anchor="t">
            <a:spAutoFit/>
          </a:bodyPr>
          <a:lstStyle/>
          <a:p>
            <a:pPr algn="ctr"/>
            <a:r>
              <a:rPr sz="750" b="0" i="1">
                <a:solidFill>
                  <a:srgbClr val="4A4A4A"/>
                </a:solidFill>
                <a:latin typeface="Calibri"/>
              </a:rPr>
              <a:t>Who resolves it</a:t>
            </a:r>
          </a:p>
        </p:txBody>
      </p:sp>
      <p:sp>
        <p:nvSpPr>
          <p:cNvPr id="26" name="Rounded Rectangle 25"/>
          <p:cNvSpPr/>
          <p:nvPr/>
        </p:nvSpPr>
        <p:spPr>
          <a:xfrm>
            <a:off x="320040" y="215798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3192" y="219456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GIS</a:t>
            </a:r>
          </a:p>
        </p:txBody>
      </p:sp>
      <p:sp>
        <p:nvSpPr>
          <p:cNvPr id="28" name="TextBox 27"/>
          <p:cNvSpPr txBox="1"/>
          <p:nvPr/>
        </p:nvSpPr>
        <p:spPr>
          <a:xfrm>
            <a:off x="393192" y="248716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George Porto</a:t>
            </a:r>
          </a:p>
        </p:txBody>
      </p:sp>
      <p:sp>
        <p:nvSpPr>
          <p:cNvPr id="29" name="Rounded Rectangle 28"/>
          <p:cNvSpPr/>
          <p:nvPr/>
        </p:nvSpPr>
        <p:spPr>
          <a:xfrm>
            <a:off x="2240279" y="236296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30" name="Rounded Rectangle 29"/>
          <p:cNvSpPr/>
          <p:nvPr/>
        </p:nvSpPr>
        <p:spPr>
          <a:xfrm>
            <a:off x="3037636" y="236296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31" name="Rounded Rectangle 30"/>
          <p:cNvSpPr/>
          <p:nvPr/>
        </p:nvSpPr>
        <p:spPr>
          <a:xfrm>
            <a:off x="3834993" y="2362962"/>
            <a:ext cx="742492"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Email</a:t>
            </a:r>
          </a:p>
        </p:txBody>
      </p:sp>
      <p:sp>
        <p:nvSpPr>
          <p:cNvPr id="32" name="Rounded Rectangle 31"/>
          <p:cNvSpPr/>
          <p:nvPr/>
        </p:nvSpPr>
        <p:spPr>
          <a:xfrm>
            <a:off x="4632350" y="2362962"/>
            <a:ext cx="742492"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Meetings</a:t>
            </a:r>
          </a:p>
        </p:txBody>
      </p:sp>
      <p:sp>
        <p:nvSpPr>
          <p:cNvPr id="33" name="Rounded Rectangle 32"/>
          <p:cNvSpPr/>
          <p:nvPr/>
        </p:nvSpPr>
        <p:spPr>
          <a:xfrm>
            <a:off x="5429707" y="2362962"/>
            <a:ext cx="742492"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OneNote</a:t>
            </a:r>
          </a:p>
        </p:txBody>
      </p:sp>
      <p:sp>
        <p:nvSpPr>
          <p:cNvPr id="34" name="Rounded Rectangle 33"/>
          <p:cNvSpPr/>
          <p:nvPr/>
        </p:nvSpPr>
        <p:spPr>
          <a:xfrm>
            <a:off x="320040" y="289712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3192" y="293370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Corporate</a:t>
            </a:r>
          </a:p>
        </p:txBody>
      </p:sp>
      <p:sp>
        <p:nvSpPr>
          <p:cNvPr id="36" name="TextBox 35"/>
          <p:cNvSpPr txBox="1"/>
          <p:nvPr/>
        </p:nvSpPr>
        <p:spPr>
          <a:xfrm>
            <a:off x="393192" y="322630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Amit Patel · Sarath Garikapati</a:t>
            </a:r>
          </a:p>
        </p:txBody>
      </p:sp>
      <p:sp>
        <p:nvSpPr>
          <p:cNvPr id="37" name="Rounded Rectangle 36"/>
          <p:cNvSpPr/>
          <p:nvPr/>
        </p:nvSpPr>
        <p:spPr>
          <a:xfrm>
            <a:off x="2240279" y="3102102"/>
            <a:ext cx="1005840"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38" name="Rounded Rectangle 37"/>
          <p:cNvSpPr/>
          <p:nvPr/>
        </p:nvSpPr>
        <p:spPr>
          <a:xfrm>
            <a:off x="3300984" y="3102102"/>
            <a:ext cx="1005840"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Confluence</a:t>
            </a:r>
          </a:p>
        </p:txBody>
      </p:sp>
      <p:sp>
        <p:nvSpPr>
          <p:cNvPr id="39" name="Rounded Rectangle 38"/>
          <p:cNvSpPr/>
          <p:nvPr/>
        </p:nvSpPr>
        <p:spPr>
          <a:xfrm>
            <a:off x="4361688" y="3102102"/>
            <a:ext cx="1005840"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Word</a:t>
            </a:r>
          </a:p>
        </p:txBody>
      </p:sp>
      <p:sp>
        <p:nvSpPr>
          <p:cNvPr id="40" name="Rounded Rectangle 39"/>
          <p:cNvSpPr/>
          <p:nvPr/>
        </p:nvSpPr>
        <p:spPr>
          <a:xfrm>
            <a:off x="320040" y="363626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3192" y="367284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G&amp;E</a:t>
            </a:r>
          </a:p>
        </p:txBody>
      </p:sp>
      <p:sp>
        <p:nvSpPr>
          <p:cNvPr id="42" name="TextBox 41"/>
          <p:cNvSpPr txBox="1"/>
          <p:nvPr/>
        </p:nvSpPr>
        <p:spPr>
          <a:xfrm>
            <a:off x="393192" y="396544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Andrew McGibbon</a:t>
            </a:r>
          </a:p>
        </p:txBody>
      </p:sp>
      <p:sp>
        <p:nvSpPr>
          <p:cNvPr id="43" name="Rounded Rectangle 42"/>
          <p:cNvSpPr/>
          <p:nvPr/>
        </p:nvSpPr>
        <p:spPr>
          <a:xfrm>
            <a:off x="2240279" y="3841242"/>
            <a:ext cx="1005840"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Email</a:t>
            </a:r>
          </a:p>
        </p:txBody>
      </p:sp>
      <p:sp>
        <p:nvSpPr>
          <p:cNvPr id="44" name="Rounded Rectangle 43"/>
          <p:cNvSpPr/>
          <p:nvPr/>
        </p:nvSpPr>
        <p:spPr>
          <a:xfrm>
            <a:off x="320040" y="437540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3192" y="441198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Global SAP</a:t>
            </a:r>
          </a:p>
        </p:txBody>
      </p:sp>
      <p:sp>
        <p:nvSpPr>
          <p:cNvPr id="46" name="TextBox 45"/>
          <p:cNvSpPr txBox="1"/>
          <p:nvPr/>
        </p:nvSpPr>
        <p:spPr>
          <a:xfrm>
            <a:off x="393192" y="470458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Michael Dubois · Vanessa Colombo</a:t>
            </a:r>
          </a:p>
        </p:txBody>
      </p:sp>
      <p:sp>
        <p:nvSpPr>
          <p:cNvPr id="47" name="Rounded Rectangle 46"/>
          <p:cNvSpPr/>
          <p:nvPr/>
        </p:nvSpPr>
        <p:spPr>
          <a:xfrm>
            <a:off x="2240279" y="4580382"/>
            <a:ext cx="94183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48" name="Rounded Rectangle 47"/>
          <p:cNvSpPr/>
          <p:nvPr/>
        </p:nvSpPr>
        <p:spPr>
          <a:xfrm>
            <a:off x="3236976" y="4580382"/>
            <a:ext cx="94183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RITM</a:t>
            </a:r>
          </a:p>
        </p:txBody>
      </p:sp>
      <p:sp>
        <p:nvSpPr>
          <p:cNvPr id="49" name="Rounded Rectangle 48"/>
          <p:cNvSpPr/>
          <p:nvPr/>
        </p:nvSpPr>
        <p:spPr>
          <a:xfrm>
            <a:off x="4233672" y="4580382"/>
            <a:ext cx="94183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50" name="Rounded Rectangle 49"/>
          <p:cNvSpPr/>
          <p:nvPr/>
        </p:nvSpPr>
        <p:spPr>
          <a:xfrm>
            <a:off x="5230368" y="4580382"/>
            <a:ext cx="94183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SharePoint</a:t>
            </a:r>
          </a:p>
        </p:txBody>
      </p:sp>
      <p:sp>
        <p:nvSpPr>
          <p:cNvPr id="51" name="Rounded Rectangle 50"/>
          <p:cNvSpPr/>
          <p:nvPr/>
        </p:nvSpPr>
        <p:spPr>
          <a:xfrm>
            <a:off x="320040" y="511454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3192" y="515112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Smart Metering</a:t>
            </a:r>
          </a:p>
        </p:txBody>
      </p:sp>
      <p:sp>
        <p:nvSpPr>
          <p:cNvPr id="53" name="TextBox 52"/>
          <p:cNvSpPr txBox="1"/>
          <p:nvPr/>
        </p:nvSpPr>
        <p:spPr>
          <a:xfrm>
            <a:off x="393192" y="544372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Vincent Lam / Iram</a:t>
            </a:r>
          </a:p>
        </p:txBody>
      </p:sp>
      <p:sp>
        <p:nvSpPr>
          <p:cNvPr id="54" name="Rounded Rectangle 53"/>
          <p:cNvSpPr/>
          <p:nvPr/>
        </p:nvSpPr>
        <p:spPr>
          <a:xfrm>
            <a:off x="2240279" y="531952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55" name="Rounded Rectangle 54"/>
          <p:cNvSpPr/>
          <p:nvPr/>
        </p:nvSpPr>
        <p:spPr>
          <a:xfrm>
            <a:off x="3037636" y="5319522"/>
            <a:ext cx="742492" cy="256032"/>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Email</a:t>
            </a:r>
          </a:p>
        </p:txBody>
      </p:sp>
      <p:sp>
        <p:nvSpPr>
          <p:cNvPr id="56" name="Rounded Rectangle 55"/>
          <p:cNvSpPr/>
          <p:nvPr/>
        </p:nvSpPr>
        <p:spPr>
          <a:xfrm>
            <a:off x="3834993" y="531952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57" name="Rounded Rectangle 56"/>
          <p:cNvSpPr/>
          <p:nvPr/>
        </p:nvSpPr>
        <p:spPr>
          <a:xfrm>
            <a:off x="4632350" y="531952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Confluence</a:t>
            </a:r>
          </a:p>
        </p:txBody>
      </p:sp>
      <p:sp>
        <p:nvSpPr>
          <p:cNvPr id="58" name="Rounded Rectangle 57"/>
          <p:cNvSpPr/>
          <p:nvPr/>
        </p:nvSpPr>
        <p:spPr>
          <a:xfrm>
            <a:off x="5429707" y="5319522"/>
            <a:ext cx="742492"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PPM Now</a:t>
            </a:r>
          </a:p>
        </p:txBody>
      </p:sp>
      <p:sp>
        <p:nvSpPr>
          <p:cNvPr id="59" name="Rounded Rectangle 58"/>
          <p:cNvSpPr/>
          <p:nvPr/>
        </p:nvSpPr>
        <p:spPr>
          <a:xfrm>
            <a:off x="320040" y="5853684"/>
            <a:ext cx="1783080" cy="665988"/>
          </a:xfrm>
          <a:prstGeom prst="roundRect">
            <a:avLst>
              <a:gd name="adj" fmla="val 25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93192" y="5890260"/>
            <a:ext cx="1636776" cy="292608"/>
          </a:xfrm>
          <a:prstGeom prst="rect">
            <a:avLst/>
          </a:prstGeom>
          <a:noFill/>
        </p:spPr>
        <p:txBody>
          <a:bodyPr wrap="square" lIns="45720" rIns="45720" tIns="18288" bIns="18288" anchor="t">
            <a:spAutoFit/>
          </a:bodyPr>
          <a:lstStyle/>
          <a:p>
            <a:pPr algn="ctr"/>
            <a:r>
              <a:rPr sz="1100" b="1" i="0">
                <a:solidFill>
                  <a:srgbClr val="FFFFFF"/>
                </a:solidFill>
                <a:latin typeface="Calibri"/>
              </a:rPr>
              <a:t>CS / SAP (Kumar)</a:t>
            </a:r>
          </a:p>
        </p:txBody>
      </p:sp>
      <p:sp>
        <p:nvSpPr>
          <p:cNvPr id="61" name="TextBox 60"/>
          <p:cNvSpPr txBox="1"/>
          <p:nvPr/>
        </p:nvSpPr>
        <p:spPr>
          <a:xfrm>
            <a:off x="393192" y="6182868"/>
            <a:ext cx="1636776" cy="237744"/>
          </a:xfrm>
          <a:prstGeom prst="rect">
            <a:avLst/>
          </a:prstGeom>
          <a:noFill/>
        </p:spPr>
        <p:txBody>
          <a:bodyPr wrap="square" lIns="45720" rIns="45720" tIns="18288" bIns="18288" anchor="t">
            <a:spAutoFit/>
          </a:bodyPr>
          <a:lstStyle/>
          <a:p>
            <a:pPr algn="ctr"/>
            <a:r>
              <a:rPr sz="750" b="0" i="1">
                <a:solidFill>
                  <a:srgbClr val="B8C7DD"/>
                </a:solidFill>
                <a:latin typeface="Calibri"/>
              </a:rPr>
              <a:t>Kumar Jaladanki</a:t>
            </a:r>
          </a:p>
        </p:txBody>
      </p:sp>
      <p:sp>
        <p:nvSpPr>
          <p:cNvPr id="62" name="Rounded Rectangle 61"/>
          <p:cNvSpPr/>
          <p:nvPr/>
        </p:nvSpPr>
        <p:spPr>
          <a:xfrm>
            <a:off x="2240279" y="6058661"/>
            <a:ext cx="1005840"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63" name="Rounded Rectangle 62"/>
          <p:cNvSpPr/>
          <p:nvPr/>
        </p:nvSpPr>
        <p:spPr>
          <a:xfrm>
            <a:off x="3300984" y="6058661"/>
            <a:ext cx="1005840" cy="256032"/>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64" name="Rectangle 63"/>
          <p:cNvSpPr/>
          <p:nvPr/>
        </p:nvSpPr>
        <p:spPr>
          <a:xfrm>
            <a:off x="6309360" y="2157984"/>
            <a:ext cx="2286000" cy="1380743"/>
          </a:xfrm>
          <a:prstGeom prst="rect">
            <a:avLst/>
          </a:prstGeom>
          <a:solidFill>
            <a:srgbClr val="FFFFFF"/>
          </a:solidFill>
          <a:ln w="19050">
            <a:solidFill>
              <a:srgbClr val="274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09360" y="2157984"/>
            <a:ext cx="2286000" cy="292608"/>
          </a:xfrm>
          <a:prstGeom prst="rect">
            <a:avLst/>
          </a:prstGeom>
          <a:solidFill>
            <a:srgbClr val="274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00800" y="2176272"/>
            <a:ext cx="2103120" cy="256032"/>
          </a:xfrm>
          <a:prstGeom prst="rect">
            <a:avLst/>
          </a:prstGeom>
          <a:noFill/>
        </p:spPr>
        <p:txBody>
          <a:bodyPr wrap="square" lIns="45720" rIns="45720" tIns="18288" bIns="18288" anchor="ctr">
            <a:spAutoFit/>
          </a:bodyPr>
          <a:lstStyle/>
          <a:p>
            <a:pPr algn="ctr"/>
            <a:r>
              <a:rPr sz="1100" b="1" i="0">
                <a:solidFill>
                  <a:srgbClr val="FFFFFF"/>
                </a:solidFill>
                <a:latin typeface="Calibri"/>
              </a:rPr>
              <a:t>LARGE</a:t>
            </a:r>
          </a:p>
        </p:txBody>
      </p:sp>
      <p:sp>
        <p:nvSpPr>
          <p:cNvPr id="67" name="TextBox 66"/>
          <p:cNvSpPr txBox="1"/>
          <p:nvPr/>
        </p:nvSpPr>
        <p:spPr>
          <a:xfrm>
            <a:off x="6400800" y="2487168"/>
            <a:ext cx="2103120" cy="201168"/>
          </a:xfrm>
          <a:prstGeom prst="rect">
            <a:avLst/>
          </a:prstGeom>
          <a:noFill/>
        </p:spPr>
        <p:txBody>
          <a:bodyPr wrap="square" lIns="45720" rIns="45720" tIns="18288" bIns="18288" anchor="t">
            <a:spAutoFit/>
          </a:bodyPr>
          <a:lstStyle/>
          <a:p>
            <a:pPr algn="l"/>
            <a:r>
              <a:rPr sz="850" b="1" i="1">
                <a:solidFill>
                  <a:srgbClr val="274B7A"/>
                </a:solidFill>
                <a:latin typeface="Calibri"/>
              </a:rPr>
              <a:t>Major Projects · PDD-funded</a:t>
            </a:r>
          </a:p>
        </p:txBody>
      </p:sp>
      <p:sp>
        <p:nvSpPr>
          <p:cNvPr id="68" name="TextBox 67"/>
          <p:cNvSpPr txBox="1"/>
          <p:nvPr/>
        </p:nvSpPr>
        <p:spPr>
          <a:xfrm>
            <a:off x="6400800" y="2706624"/>
            <a:ext cx="2103120" cy="384048"/>
          </a:xfrm>
          <a:prstGeom prst="rect">
            <a:avLst/>
          </a:prstGeom>
          <a:noFill/>
        </p:spPr>
        <p:txBody>
          <a:bodyPr wrap="square" lIns="45720" rIns="45720" tIns="18288" bIns="18288" anchor="t">
            <a:spAutoFit/>
          </a:bodyPr>
          <a:lstStyle/>
          <a:p>
            <a:pPr algn="l"/>
            <a:r>
              <a:rPr sz="800" b="0" i="0">
                <a:solidFill>
                  <a:srgbClr val="4A4A4A"/>
                </a:solidFill>
                <a:latin typeface="Calibri"/>
              </a:rPr>
              <a:t>Strategic initiatives · structural changes · new SAP modules</a:t>
            </a:r>
          </a:p>
        </p:txBody>
      </p:sp>
      <p:sp>
        <p:nvSpPr>
          <p:cNvPr id="69" name="TextBox 68"/>
          <p:cNvSpPr txBox="1"/>
          <p:nvPr/>
        </p:nvSpPr>
        <p:spPr>
          <a:xfrm>
            <a:off x="6400800" y="3118104"/>
            <a:ext cx="2103120" cy="356615"/>
          </a:xfrm>
          <a:prstGeom prst="rect">
            <a:avLst/>
          </a:prstGeom>
          <a:noFill/>
        </p:spPr>
        <p:txBody>
          <a:bodyPr wrap="square" lIns="45720" rIns="45720" tIns="18288" bIns="18288" anchor="t">
            <a:spAutoFit/>
          </a:bodyPr>
          <a:lstStyle/>
          <a:p>
            <a:pPr algn="l"/>
            <a:r>
              <a:rPr sz="850" b="0" i="0">
                <a:solidFill>
                  <a:srgbClr val="4A4A4A"/>
                </a:solidFill>
                <a:latin typeface="Calibri"/>
              </a:rPr>
              <a:t>• SAP ECC Migration
• Outage Management System
• Platform replacements</a:t>
            </a:r>
          </a:p>
        </p:txBody>
      </p:sp>
      <p:sp>
        <p:nvSpPr>
          <p:cNvPr id="70" name="Rectangle 69"/>
          <p:cNvSpPr/>
          <p:nvPr/>
        </p:nvSpPr>
        <p:spPr>
          <a:xfrm>
            <a:off x="6309360" y="3648456"/>
            <a:ext cx="2286000" cy="1380743"/>
          </a:xfrm>
          <a:prstGeom prst="rect">
            <a:avLst/>
          </a:prstGeom>
          <a:solidFill>
            <a:srgbClr val="FFFFFF"/>
          </a:solidFill>
          <a:ln w="19050">
            <a:solidFill>
              <a:srgbClr val="447E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309360" y="3648456"/>
            <a:ext cx="2286000" cy="292608"/>
          </a:xfrm>
          <a:prstGeom prst="rect">
            <a:avLst/>
          </a:prstGeom>
          <a:solidFill>
            <a:srgbClr val="447E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0800" y="3666744"/>
            <a:ext cx="2103120" cy="256032"/>
          </a:xfrm>
          <a:prstGeom prst="rect">
            <a:avLst/>
          </a:prstGeom>
          <a:noFill/>
        </p:spPr>
        <p:txBody>
          <a:bodyPr wrap="square" lIns="45720" rIns="45720" tIns="18288" bIns="18288" anchor="ctr">
            <a:spAutoFit/>
          </a:bodyPr>
          <a:lstStyle/>
          <a:p>
            <a:pPr algn="ctr"/>
            <a:r>
              <a:rPr sz="1100" b="1" i="0">
                <a:solidFill>
                  <a:srgbClr val="FFFFFF"/>
                </a:solidFill>
                <a:latin typeface="Calibri"/>
              </a:rPr>
              <a:t>MEDIUM</a:t>
            </a:r>
          </a:p>
        </p:txBody>
      </p:sp>
      <p:sp>
        <p:nvSpPr>
          <p:cNvPr id="73" name="TextBox 72"/>
          <p:cNvSpPr txBox="1"/>
          <p:nvPr/>
        </p:nvSpPr>
        <p:spPr>
          <a:xfrm>
            <a:off x="6400800" y="3977640"/>
            <a:ext cx="2103120" cy="201168"/>
          </a:xfrm>
          <a:prstGeom prst="rect">
            <a:avLst/>
          </a:prstGeom>
          <a:noFill/>
        </p:spPr>
        <p:txBody>
          <a:bodyPr wrap="square" lIns="45720" rIns="45720" tIns="18288" bIns="18288" anchor="t">
            <a:spAutoFit/>
          </a:bodyPr>
          <a:lstStyle/>
          <a:p>
            <a:pPr algn="l"/>
            <a:r>
              <a:rPr sz="850" b="1" i="1">
                <a:solidFill>
                  <a:srgbClr val="447E9B"/>
                </a:solidFill>
                <a:latin typeface="Calibri"/>
              </a:rPr>
              <a:t>System Enhancements</a:t>
            </a:r>
          </a:p>
        </p:txBody>
      </p:sp>
      <p:sp>
        <p:nvSpPr>
          <p:cNvPr id="74" name="TextBox 73"/>
          <p:cNvSpPr txBox="1"/>
          <p:nvPr/>
        </p:nvSpPr>
        <p:spPr>
          <a:xfrm>
            <a:off x="6400800" y="4197096"/>
            <a:ext cx="2103120" cy="384048"/>
          </a:xfrm>
          <a:prstGeom prst="rect">
            <a:avLst/>
          </a:prstGeom>
          <a:noFill/>
        </p:spPr>
        <p:txBody>
          <a:bodyPr wrap="square" lIns="45720" rIns="45720" tIns="18288" bIns="18288" anchor="t">
            <a:spAutoFit/>
          </a:bodyPr>
          <a:lstStyle/>
          <a:p>
            <a:pPr algn="l"/>
            <a:r>
              <a:rPr sz="800" b="0" i="0">
                <a:solidFill>
                  <a:srgbClr val="4A4A4A"/>
                </a:solidFill>
                <a:latin typeface="Calibri"/>
              </a:rPr>
              <a:t>Improvements · new reports · business-rule changes</a:t>
            </a:r>
          </a:p>
        </p:txBody>
      </p:sp>
      <p:sp>
        <p:nvSpPr>
          <p:cNvPr id="75" name="TextBox 74"/>
          <p:cNvSpPr txBox="1"/>
          <p:nvPr/>
        </p:nvSpPr>
        <p:spPr>
          <a:xfrm>
            <a:off x="6400800" y="4608576"/>
            <a:ext cx="2103120" cy="356615"/>
          </a:xfrm>
          <a:prstGeom prst="rect">
            <a:avLst/>
          </a:prstGeom>
          <a:noFill/>
        </p:spPr>
        <p:txBody>
          <a:bodyPr wrap="square" lIns="45720" rIns="45720" tIns="18288" bIns="18288" anchor="t">
            <a:spAutoFit/>
          </a:bodyPr>
          <a:lstStyle/>
          <a:p>
            <a:pPr algn="l"/>
            <a:r>
              <a:rPr sz="850" b="0" i="0">
                <a:solidFill>
                  <a:srgbClr val="4A4A4A"/>
                </a:solidFill>
                <a:latin typeface="Calibri"/>
              </a:rPr>
              <a:t>• New Analytics Reports
• CX Platform Updates
• Workflow additions</a:t>
            </a:r>
          </a:p>
        </p:txBody>
      </p:sp>
      <p:sp>
        <p:nvSpPr>
          <p:cNvPr id="76" name="Rectangle 75"/>
          <p:cNvSpPr/>
          <p:nvPr/>
        </p:nvSpPr>
        <p:spPr>
          <a:xfrm>
            <a:off x="6309360" y="5138928"/>
            <a:ext cx="2286000" cy="1380743"/>
          </a:xfrm>
          <a:prstGeom prst="rect">
            <a:avLst/>
          </a:prstGeom>
          <a:solidFill>
            <a:srgbClr val="FFFFFF"/>
          </a:solidFill>
          <a:ln w="19050">
            <a:solidFill>
              <a:srgbClr val="85A9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09360" y="5138928"/>
            <a:ext cx="2286000" cy="292608"/>
          </a:xfrm>
          <a:prstGeom prst="rect">
            <a:avLst/>
          </a:prstGeom>
          <a:solidFill>
            <a:srgbClr val="85A9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0" y="5157216"/>
            <a:ext cx="2103120" cy="256032"/>
          </a:xfrm>
          <a:prstGeom prst="rect">
            <a:avLst/>
          </a:prstGeom>
          <a:noFill/>
        </p:spPr>
        <p:txBody>
          <a:bodyPr wrap="square" lIns="45720" rIns="45720" tIns="18288" bIns="18288" anchor="ctr">
            <a:spAutoFit/>
          </a:bodyPr>
          <a:lstStyle/>
          <a:p>
            <a:pPr algn="ctr"/>
            <a:r>
              <a:rPr sz="1100" b="1" i="0">
                <a:solidFill>
                  <a:srgbClr val="FFFFFF"/>
                </a:solidFill>
                <a:latin typeface="Calibri"/>
              </a:rPr>
              <a:t>SMALL</a:t>
            </a:r>
          </a:p>
        </p:txBody>
      </p:sp>
      <p:sp>
        <p:nvSpPr>
          <p:cNvPr id="79" name="TextBox 78"/>
          <p:cNvSpPr txBox="1"/>
          <p:nvPr/>
        </p:nvSpPr>
        <p:spPr>
          <a:xfrm>
            <a:off x="6400800" y="5468112"/>
            <a:ext cx="2103120" cy="201168"/>
          </a:xfrm>
          <a:prstGeom prst="rect">
            <a:avLst/>
          </a:prstGeom>
          <a:noFill/>
        </p:spPr>
        <p:txBody>
          <a:bodyPr wrap="square" lIns="45720" rIns="45720" tIns="18288" bIns="18288" anchor="t">
            <a:spAutoFit/>
          </a:bodyPr>
          <a:lstStyle/>
          <a:p>
            <a:pPr algn="l"/>
            <a:r>
              <a:rPr sz="850" b="1" i="1">
                <a:solidFill>
                  <a:srgbClr val="85A9C2"/>
                </a:solidFill>
                <a:latin typeface="Calibri"/>
              </a:rPr>
              <a:t>Production Support · BAU</a:t>
            </a:r>
          </a:p>
        </p:txBody>
      </p:sp>
      <p:sp>
        <p:nvSpPr>
          <p:cNvPr id="80" name="TextBox 79"/>
          <p:cNvSpPr txBox="1"/>
          <p:nvPr/>
        </p:nvSpPr>
        <p:spPr>
          <a:xfrm>
            <a:off x="6400800" y="5687568"/>
            <a:ext cx="2103120" cy="384048"/>
          </a:xfrm>
          <a:prstGeom prst="rect">
            <a:avLst/>
          </a:prstGeom>
          <a:noFill/>
        </p:spPr>
        <p:txBody>
          <a:bodyPr wrap="square" lIns="45720" rIns="45720" tIns="18288" bIns="18288" anchor="t">
            <a:spAutoFit/>
          </a:bodyPr>
          <a:lstStyle/>
          <a:p>
            <a:pPr algn="l"/>
            <a:r>
              <a:rPr sz="800" b="0" i="0">
                <a:solidFill>
                  <a:srgbClr val="4A4A4A"/>
                </a:solidFill>
                <a:latin typeface="Calibri"/>
              </a:rPr>
              <a:t>Bug fixes · user support · incidents · maintenance</a:t>
            </a:r>
          </a:p>
        </p:txBody>
      </p:sp>
      <p:sp>
        <p:nvSpPr>
          <p:cNvPr id="81" name="TextBox 80"/>
          <p:cNvSpPr txBox="1"/>
          <p:nvPr/>
        </p:nvSpPr>
        <p:spPr>
          <a:xfrm>
            <a:off x="6400800" y="6099048"/>
            <a:ext cx="2103120" cy="356615"/>
          </a:xfrm>
          <a:prstGeom prst="rect">
            <a:avLst/>
          </a:prstGeom>
          <a:noFill/>
        </p:spPr>
        <p:txBody>
          <a:bodyPr wrap="square" lIns="45720" rIns="45720" tIns="18288" bIns="18288" anchor="t">
            <a:spAutoFit/>
          </a:bodyPr>
          <a:lstStyle/>
          <a:p>
            <a:pPr algn="l"/>
            <a:r>
              <a:rPr sz="850" b="0" i="0">
                <a:solidFill>
                  <a:srgbClr val="4A4A4A"/>
                </a:solidFill>
                <a:latin typeface="Calibri"/>
              </a:rPr>
              <a:t>• GL Transfer Error
• Master Data Incidents
• Break/fix tickets</a:t>
            </a:r>
          </a:p>
        </p:txBody>
      </p:sp>
      <p:sp>
        <p:nvSpPr>
          <p:cNvPr id="82" name="Rectangle 81"/>
          <p:cNvSpPr/>
          <p:nvPr/>
        </p:nvSpPr>
        <p:spPr>
          <a:xfrm>
            <a:off x="8732520" y="2157984"/>
            <a:ext cx="3154680" cy="2112263"/>
          </a:xfrm>
          <a:prstGeom prst="rect">
            <a:avLst/>
          </a:prstGeom>
          <a:solidFill>
            <a:srgbClr val="FFFFFF"/>
          </a:solidFill>
          <a:ln w="1905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732520" y="2157984"/>
            <a:ext cx="3154680" cy="329184"/>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23960" y="2176272"/>
            <a:ext cx="2971800" cy="292608"/>
          </a:xfrm>
          <a:prstGeom prst="rect">
            <a:avLst/>
          </a:prstGeom>
          <a:noFill/>
        </p:spPr>
        <p:txBody>
          <a:bodyPr wrap="square" lIns="45720" rIns="45720" tIns="18288" bIns="18288" anchor="ctr">
            <a:spAutoFit/>
          </a:bodyPr>
          <a:lstStyle/>
          <a:p>
            <a:pPr algn="ctr"/>
            <a:r>
              <a:rPr sz="1000" b="1" i="0">
                <a:solidFill>
                  <a:srgbClr val="FFFFFF"/>
                </a:solidFill>
                <a:latin typeface="Calibri"/>
              </a:rPr>
              <a:t>APPLICATIONS BRANCH</a:t>
            </a:r>
          </a:p>
        </p:txBody>
      </p:sp>
      <p:sp>
        <p:nvSpPr>
          <p:cNvPr id="85" name="TextBox 84"/>
          <p:cNvSpPr txBox="1"/>
          <p:nvPr/>
        </p:nvSpPr>
        <p:spPr>
          <a:xfrm>
            <a:off x="8823960" y="2523744"/>
            <a:ext cx="2971800" cy="201168"/>
          </a:xfrm>
          <a:prstGeom prst="rect">
            <a:avLst/>
          </a:prstGeom>
          <a:noFill/>
        </p:spPr>
        <p:txBody>
          <a:bodyPr wrap="square" lIns="45720" rIns="45720" tIns="18288" bIns="18288" anchor="t">
            <a:spAutoFit/>
          </a:bodyPr>
          <a:lstStyle/>
          <a:p>
            <a:pPr algn="ctr"/>
            <a:r>
              <a:rPr sz="850" b="1" i="1">
                <a:solidFill>
                  <a:srgbClr val="1F3A68"/>
                </a:solidFill>
                <a:latin typeface="Calibri"/>
              </a:rPr>
              <a:t>Carlos Garbin · Director</a:t>
            </a:r>
          </a:p>
        </p:txBody>
      </p:sp>
      <p:sp>
        <p:nvSpPr>
          <p:cNvPr id="86" name="Rounded Rectangle 85"/>
          <p:cNvSpPr/>
          <p:nvPr/>
        </p:nvSpPr>
        <p:spPr>
          <a:xfrm>
            <a:off x="8842248" y="2816352"/>
            <a:ext cx="1188720" cy="237744"/>
          </a:xfrm>
          <a:prstGeom prst="roundRect">
            <a:avLst>
              <a:gd name="adj" fmla="val 45000"/>
            </a:avLst>
          </a:prstGeom>
          <a:solidFill>
            <a:srgbClr val="447E9B"/>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Jira</a:t>
            </a:r>
          </a:p>
        </p:txBody>
      </p:sp>
      <p:sp>
        <p:nvSpPr>
          <p:cNvPr id="87" name="TextBox 86"/>
          <p:cNvSpPr txBox="1"/>
          <p:nvPr/>
        </p:nvSpPr>
        <p:spPr>
          <a:xfrm>
            <a:off x="10104120" y="2816352"/>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Small / medium demand</a:t>
            </a:r>
          </a:p>
        </p:txBody>
      </p:sp>
      <p:sp>
        <p:nvSpPr>
          <p:cNvPr id="88" name="Rounded Rectangle 87"/>
          <p:cNvSpPr/>
          <p:nvPr/>
        </p:nvSpPr>
        <p:spPr>
          <a:xfrm>
            <a:off x="8842248" y="3127248"/>
            <a:ext cx="1188720" cy="237744"/>
          </a:xfrm>
          <a:prstGeom prst="roundRect">
            <a:avLst>
              <a:gd name="adj" fmla="val 45000"/>
            </a:avLst>
          </a:prstGeom>
          <a:solidFill>
            <a:srgbClr val="85A9C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89" name="TextBox 88"/>
          <p:cNvSpPr txBox="1"/>
          <p:nvPr/>
        </p:nvSpPr>
        <p:spPr>
          <a:xfrm>
            <a:off x="10104120" y="3127248"/>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Incidents · break/fix</a:t>
            </a:r>
          </a:p>
        </p:txBody>
      </p:sp>
      <p:sp>
        <p:nvSpPr>
          <p:cNvPr id="90" name="Rounded Rectangle 89"/>
          <p:cNvSpPr/>
          <p:nvPr/>
        </p:nvSpPr>
        <p:spPr>
          <a:xfrm>
            <a:off x="8842248" y="3438144"/>
            <a:ext cx="1188720" cy="237744"/>
          </a:xfrm>
          <a:prstGeom prst="roundRect">
            <a:avLst>
              <a:gd name="adj" fmla="val 45000"/>
            </a:avLst>
          </a:prstGeom>
          <a:solidFill>
            <a:srgbClr val="274B7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SWF · Accenture</a:t>
            </a:r>
          </a:p>
        </p:txBody>
      </p:sp>
      <p:sp>
        <p:nvSpPr>
          <p:cNvPr id="91" name="TextBox 90"/>
          <p:cNvSpPr txBox="1"/>
          <p:nvPr/>
        </p:nvSpPr>
        <p:spPr>
          <a:xfrm>
            <a:off x="10104120" y="3438144"/>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Large-project build capacity</a:t>
            </a:r>
          </a:p>
        </p:txBody>
      </p:sp>
      <p:sp>
        <p:nvSpPr>
          <p:cNvPr id="92" name="Rectangle 91"/>
          <p:cNvSpPr/>
          <p:nvPr/>
        </p:nvSpPr>
        <p:spPr>
          <a:xfrm>
            <a:off x="8732520" y="4407408"/>
            <a:ext cx="3154680" cy="2112263"/>
          </a:xfrm>
          <a:prstGeom prst="rect">
            <a:avLst/>
          </a:prstGeom>
          <a:solidFill>
            <a:srgbClr val="FFFFFF"/>
          </a:solidFill>
          <a:ln w="19050">
            <a:solidFill>
              <a:srgbClr val="2C57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732520" y="4407408"/>
            <a:ext cx="3154680" cy="329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823960" y="4425696"/>
            <a:ext cx="2971800" cy="292608"/>
          </a:xfrm>
          <a:prstGeom prst="rect">
            <a:avLst/>
          </a:prstGeom>
          <a:noFill/>
        </p:spPr>
        <p:txBody>
          <a:bodyPr wrap="square" lIns="45720" rIns="45720" tIns="18288" bIns="18288" anchor="ctr">
            <a:spAutoFit/>
          </a:bodyPr>
          <a:lstStyle/>
          <a:p>
            <a:pPr algn="ctr"/>
            <a:r>
              <a:rPr sz="1000" b="1" i="0">
                <a:solidFill>
                  <a:srgbClr val="FFFFFF"/>
                </a:solidFill>
                <a:latin typeface="Calibri"/>
              </a:rPr>
              <a:t>CUSTOMER SERVICES / SAP</a:t>
            </a:r>
          </a:p>
        </p:txBody>
      </p:sp>
      <p:sp>
        <p:nvSpPr>
          <p:cNvPr id="95" name="TextBox 94"/>
          <p:cNvSpPr txBox="1"/>
          <p:nvPr/>
        </p:nvSpPr>
        <p:spPr>
          <a:xfrm>
            <a:off x="8823960" y="4773168"/>
            <a:ext cx="2971800" cy="201168"/>
          </a:xfrm>
          <a:prstGeom prst="rect">
            <a:avLst/>
          </a:prstGeom>
          <a:noFill/>
        </p:spPr>
        <p:txBody>
          <a:bodyPr wrap="square" lIns="45720" rIns="45720" tIns="18288" bIns="18288" anchor="t">
            <a:spAutoFit/>
          </a:bodyPr>
          <a:lstStyle/>
          <a:p>
            <a:pPr algn="ctr"/>
            <a:r>
              <a:rPr sz="850" b="1" i="1">
                <a:solidFill>
                  <a:srgbClr val="2C578B"/>
                </a:solidFill>
                <a:latin typeface="Calibri"/>
              </a:rPr>
              <a:t>Kumar Jaladanki · Director</a:t>
            </a:r>
          </a:p>
        </p:txBody>
      </p:sp>
      <p:sp>
        <p:nvSpPr>
          <p:cNvPr id="96" name="Rounded Rectangle 95"/>
          <p:cNvSpPr/>
          <p:nvPr/>
        </p:nvSpPr>
        <p:spPr>
          <a:xfrm>
            <a:off x="8842248" y="5065776"/>
            <a:ext cx="1188720" cy="237744"/>
          </a:xfrm>
          <a:prstGeom prst="roundRect">
            <a:avLst>
              <a:gd name="adj" fmla="val 45000"/>
            </a:avLst>
          </a:prstGeom>
          <a:solidFill>
            <a:srgbClr val="85A9C2"/>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IT Now</a:t>
            </a:r>
          </a:p>
        </p:txBody>
      </p:sp>
      <p:sp>
        <p:nvSpPr>
          <p:cNvPr id="97" name="TextBox 96"/>
          <p:cNvSpPr txBox="1"/>
          <p:nvPr/>
        </p:nvSpPr>
        <p:spPr>
          <a:xfrm>
            <a:off x="10104120" y="5065776"/>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Front door for SAP incidents</a:t>
            </a:r>
          </a:p>
        </p:txBody>
      </p:sp>
      <p:sp>
        <p:nvSpPr>
          <p:cNvPr id="98" name="Rounded Rectangle 97"/>
          <p:cNvSpPr/>
          <p:nvPr/>
        </p:nvSpPr>
        <p:spPr>
          <a:xfrm>
            <a:off x="8842248" y="5376672"/>
            <a:ext cx="1188720" cy="237744"/>
          </a:xfrm>
          <a:prstGeom prst="roundRect">
            <a:avLst>
              <a:gd name="adj" fmla="val 45000"/>
            </a:avLst>
          </a:prstGeom>
          <a:solidFill>
            <a:srgbClr val="274B7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PPM Now</a:t>
            </a:r>
          </a:p>
        </p:txBody>
      </p:sp>
      <p:sp>
        <p:nvSpPr>
          <p:cNvPr id="99" name="TextBox 98"/>
          <p:cNvSpPr txBox="1"/>
          <p:nvPr/>
        </p:nvSpPr>
        <p:spPr>
          <a:xfrm>
            <a:off x="10104120" y="5376672"/>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Large projects — ONLY Smart Metering</a:t>
            </a:r>
          </a:p>
        </p:txBody>
      </p:sp>
      <p:sp>
        <p:nvSpPr>
          <p:cNvPr id="100" name="Rounded Rectangle 99"/>
          <p:cNvSpPr/>
          <p:nvPr/>
        </p:nvSpPr>
        <p:spPr>
          <a:xfrm>
            <a:off x="8842248" y="5687568"/>
            <a:ext cx="1188720" cy="237744"/>
          </a:xfrm>
          <a:prstGeom prst="roundRect">
            <a:avLst>
              <a:gd name="adj" fmla="val 45000"/>
            </a:avLst>
          </a:prstGeom>
          <a:solidFill>
            <a:srgbClr val="447E9B"/>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wrap="square"/>
          <a:lstStyle/>
          <a:p>
            <a:pPr algn="ctr"/>
            <a:r>
              <a:rPr sz="800" b="1" i="0">
                <a:solidFill>
                  <a:srgbClr val="FFFFFF"/>
                </a:solidFill>
                <a:latin typeface="Calibri"/>
              </a:rPr>
              <a:t>Vendor</a:t>
            </a:r>
          </a:p>
        </p:txBody>
      </p:sp>
      <p:sp>
        <p:nvSpPr>
          <p:cNvPr id="101" name="TextBox 100"/>
          <p:cNvSpPr txBox="1"/>
          <p:nvPr/>
        </p:nvSpPr>
        <p:spPr>
          <a:xfrm>
            <a:off x="10104120" y="5687568"/>
            <a:ext cx="1691640" cy="237744"/>
          </a:xfrm>
          <a:prstGeom prst="rect">
            <a:avLst/>
          </a:prstGeom>
          <a:noFill/>
        </p:spPr>
        <p:txBody>
          <a:bodyPr wrap="square" lIns="45720" rIns="45720" tIns="18288" bIns="18288" anchor="ctr">
            <a:spAutoFit/>
          </a:bodyPr>
          <a:lstStyle/>
          <a:p>
            <a:pPr algn="l"/>
            <a:r>
              <a:rPr sz="850" b="0" i="0">
                <a:solidFill>
                  <a:srgbClr val="4A4A4A"/>
                </a:solidFill>
                <a:latin typeface="Calibri"/>
              </a:rPr>
              <a:t>Smart Metering 100% vendor-delivered</a:t>
            </a:r>
          </a:p>
        </p:txBody>
      </p:sp>
      <p:sp>
        <p:nvSpPr>
          <p:cNvPr id="102" name="Right Arrow 101"/>
          <p:cNvSpPr/>
          <p:nvPr/>
        </p:nvSpPr>
        <p:spPr>
          <a:xfrm>
            <a:off x="2039112" y="1600200"/>
            <a:ext cx="128016" cy="256032"/>
          </a:xfrm>
          <a:prstGeom prst="rightArrow">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ight Arrow 102"/>
          <p:cNvSpPr/>
          <p:nvPr/>
        </p:nvSpPr>
        <p:spPr>
          <a:xfrm>
            <a:off x="6144768" y="1600200"/>
            <a:ext cx="128016" cy="256032"/>
          </a:xfrm>
          <a:prstGeom prst="rightArrow">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ight Arrow 103"/>
          <p:cNvSpPr/>
          <p:nvPr/>
        </p:nvSpPr>
        <p:spPr>
          <a:xfrm>
            <a:off x="8577072" y="1600200"/>
            <a:ext cx="128016" cy="256032"/>
          </a:xfrm>
          <a:prstGeom prst="rightArrow">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57200" y="6419088"/>
            <a:ext cx="11274552" cy="347472"/>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94360" y="6419088"/>
            <a:ext cx="10972800" cy="347472"/>
          </a:xfrm>
          <a:prstGeom prst="rect">
            <a:avLst/>
          </a:prstGeom>
          <a:noFill/>
        </p:spPr>
        <p:txBody>
          <a:bodyPr wrap="square" lIns="45720" rIns="45720" tIns="18288" bIns="18288" anchor="ctr">
            <a:spAutoFit/>
          </a:bodyPr>
          <a:lstStyle/>
          <a:p>
            <a:pPr algn="l"/>
            <a:r>
              <a:rPr sz="1000" b="1" i="0">
                <a:solidFill>
                  <a:srgbClr val="FFFFFF"/>
                </a:solidFill>
                <a:latin typeface="Calibri"/>
              </a:rPr>
              <a:t>Six teams · six different channel stacks · G&amp;E is email-only while Smart Metering has 5 channels including PPM Now — Jira appears in 5 of 6 teams but never alone; informal tools persist beside formal ones</a:t>
            </a:r>
          </a:p>
        </p:txBody>
      </p:sp>
      <p:sp>
        <p:nvSpPr>
          <p:cNvPr id="107" name="TextBox 106"/>
          <p:cNvSpPr txBox="1"/>
          <p:nvPr/>
        </p:nvSpPr>
        <p:spPr>
          <a:xfrm>
            <a:off x="365760" y="6830568"/>
            <a:ext cx="11430000" cy="201168"/>
          </a:xfrm>
          <a:prstGeom prst="rect">
            <a:avLst/>
          </a:prstGeom>
          <a:noFill/>
        </p:spPr>
        <p:txBody>
          <a:bodyPr wrap="square" lIns="45720" rIns="45720" tIns="18288" bIns="18288" anchor="t">
            <a:spAutoFit/>
          </a:bodyPr>
          <a:lstStyle/>
          <a:p>
            <a:pPr algn="l"/>
            <a:r>
              <a:rPr sz="700" b="0" i="1">
                <a:solidFill>
                  <a:srgbClr val="808080"/>
                </a:solidFill>
                <a:latin typeface="Calibri"/>
              </a:rPr>
              <a:t>Source: Wave 1 Discovery interviews (Carlos Garbin, Amit Patel, Andrew McGibbon, Vanessa Colombo, Kumar Jaladanki) · KB drill-down data   ·   © 2026 NTT DATA, Inc.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9670A-469E-04B2-35EA-664113103A02}"/>
            </a:ext>
          </a:extLst>
        </p:cNvPr>
        <p:cNvGrpSpPr/>
        <p:nvPr/>
      </p:nvGrpSpPr>
      <p:grpSpPr>
        <a:xfrm>
          <a:off x="0" y="0"/>
          <a:ext cx="0" cy="0"/>
          <a:chOff x="0" y="0"/>
          <a:chExt cx="0" cy="0"/>
        </a:xfrm>
      </p:grpSpPr>
      <p:sp>
        <p:nvSpPr>
          <p:cNvPr id="4" name="Shape 8">
            <a:extLst>
              <a:ext uri="{FF2B5EF4-FFF2-40B4-BE49-F238E27FC236}">
                <a16:creationId xmlns:a16="http://schemas.microsoft.com/office/drawing/2014/main" id="{C1B89C99-6135-0DFD-9B93-AC58B2FF2AFB}"/>
              </a:ext>
            </a:extLst>
          </p:cNvPr>
          <p:cNvSpPr/>
          <p:nvPr/>
        </p:nvSpPr>
        <p:spPr>
          <a:xfrm>
            <a:off x="0" y="6333973"/>
            <a:ext cx="12191695" cy="9144"/>
          </a:xfrm>
          <a:prstGeom prst="rect">
            <a:avLst/>
          </a:prstGeom>
          <a:solidFill>
            <a:srgbClr val="E2E8F0"/>
          </a:solidFill>
          <a:ln w="12700">
            <a:solidFill>
              <a:srgbClr val="E2E8F0">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5" name="Shape 12">
            <a:extLst>
              <a:ext uri="{FF2B5EF4-FFF2-40B4-BE49-F238E27FC236}">
                <a16:creationId xmlns:a16="http://schemas.microsoft.com/office/drawing/2014/main" id="{BD127FA8-D868-139E-DC4E-B018BD8E6B69}"/>
              </a:ext>
            </a:extLst>
          </p:cNvPr>
          <p:cNvSpPr/>
          <p:nvPr/>
        </p:nvSpPr>
        <p:spPr>
          <a:xfrm>
            <a:off x="555585" y="1005648"/>
            <a:ext cx="5393802" cy="418795"/>
          </a:xfrm>
          <a:prstGeom prst="roundRect">
            <a:avLst>
              <a:gd name="adj" fmla="val 12405"/>
            </a:avLst>
          </a:prstGeom>
          <a:solidFill>
            <a:srgbClr val="156082"/>
          </a:solidFill>
          <a:ln w="12700">
            <a:solidFill>
              <a:srgbClr val="FFFFFF">
                <a:alpha val="0"/>
              </a:srgbClr>
            </a:solidFill>
            <a:prstDash val="solid"/>
          </a:ln>
        </p:spPr>
        <p:txBody>
          <a:bodyPr anchor="ctr"/>
          <a:lstStyle/>
          <a:p>
            <a:pPr algn="ctr" defTabSz="914400">
              <a:defRPr/>
            </a:pPr>
            <a:r>
              <a:rPr lang="en-US" sz="1100" b="1" noProof="0">
                <a:solidFill>
                  <a:schemeClr val="bg1"/>
                </a:solidFill>
                <a:latin typeface="Montserrat" panose="00000500000000000000" pitchFamily="2" charset="0"/>
              </a:rPr>
              <a:t>DEMAND SOURCES</a:t>
            </a:r>
          </a:p>
        </p:txBody>
      </p:sp>
      <p:sp>
        <p:nvSpPr>
          <p:cNvPr id="6" name="Rectangle: Rounded Corners 30">
            <a:extLst>
              <a:ext uri="{FF2B5EF4-FFF2-40B4-BE49-F238E27FC236}">
                <a16:creationId xmlns:a16="http://schemas.microsoft.com/office/drawing/2014/main" id="{EA6CE7C0-CD00-DFFB-1FA9-1979690326B2}"/>
              </a:ext>
            </a:extLst>
          </p:cNvPr>
          <p:cNvSpPr/>
          <p:nvPr/>
        </p:nvSpPr>
        <p:spPr>
          <a:xfrm>
            <a:off x="10122971" y="1459003"/>
            <a:ext cx="1804870" cy="4507381"/>
          </a:xfrm>
          <a:prstGeom prst="roundRect">
            <a:avLst>
              <a:gd name="adj" fmla="val 6207"/>
            </a:avLst>
          </a:prstGeom>
          <a:solidFill>
            <a:sysClr val="window" lastClr="FFFFFF">
              <a:lumMod val="85000"/>
            </a:sys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1B3A6B"/>
              </a:solidFill>
              <a:effectLst/>
              <a:uLnTx/>
              <a:uFillTx/>
              <a:latin typeface="Montserrat" panose="00000500000000000000" pitchFamily="2" charset="0"/>
            </a:endParaRPr>
          </a:p>
        </p:txBody>
      </p:sp>
      <p:sp>
        <p:nvSpPr>
          <p:cNvPr id="7" name="Rectangle: Rounded Corners 30">
            <a:extLst>
              <a:ext uri="{FF2B5EF4-FFF2-40B4-BE49-F238E27FC236}">
                <a16:creationId xmlns:a16="http://schemas.microsoft.com/office/drawing/2014/main" id="{99A19D95-74C8-14C7-AD96-D81A7BE1FEEE}"/>
              </a:ext>
            </a:extLst>
          </p:cNvPr>
          <p:cNvSpPr/>
          <p:nvPr/>
        </p:nvSpPr>
        <p:spPr>
          <a:xfrm>
            <a:off x="10424559" y="1555117"/>
            <a:ext cx="1310242" cy="3103329"/>
          </a:xfrm>
          <a:prstGeom prst="roundRect">
            <a:avLst>
              <a:gd name="adj" fmla="val 6247"/>
            </a:avLst>
          </a:prstGeom>
          <a:solidFill>
            <a:srgbClr val="156082"/>
          </a:solidFill>
          <a:ln/>
        </p:spPr>
        <p:txBody>
          <a:bodyPr anchor="ctr"/>
          <a:lstStyle/>
          <a:p>
            <a:pPr algn="ctr" defTabSz="914400">
              <a:defRPr/>
            </a:pPr>
            <a:r>
              <a:rPr lang="en-US" sz="1600" b="1" noProof="0">
                <a:solidFill>
                  <a:prstClr val="white"/>
                </a:solidFill>
                <a:latin typeface="Montserrat" panose="00000500000000000000" pitchFamily="2" charset="0"/>
              </a:rPr>
              <a:t>SAP</a:t>
            </a:r>
          </a:p>
        </p:txBody>
      </p:sp>
      <p:sp>
        <p:nvSpPr>
          <p:cNvPr id="8" name="Rectangle: Rounded Corners 37">
            <a:extLst>
              <a:ext uri="{FF2B5EF4-FFF2-40B4-BE49-F238E27FC236}">
                <a16:creationId xmlns:a16="http://schemas.microsoft.com/office/drawing/2014/main" id="{C5DA1EE8-C068-4EAE-7DF3-C82040FEFAC2}"/>
              </a:ext>
            </a:extLst>
          </p:cNvPr>
          <p:cNvSpPr/>
          <p:nvPr/>
        </p:nvSpPr>
        <p:spPr>
          <a:xfrm>
            <a:off x="10424559" y="4739469"/>
            <a:ext cx="1310242" cy="1129128"/>
          </a:xfrm>
          <a:prstGeom prst="roundRect">
            <a:avLst/>
          </a:prstGeom>
          <a:solidFill>
            <a:srgbClr val="747474"/>
          </a:solidFill>
          <a:ln/>
        </p:spPr>
        <p:txBody>
          <a:bodyPr anchor="ctr"/>
          <a:lstStyle/>
          <a:p>
            <a:pPr algn="ctr" defTabSz="914400">
              <a:defRPr/>
            </a:pPr>
            <a:r>
              <a:rPr lang="en-US" sz="1600" b="1" noProof="0">
                <a:solidFill>
                  <a:prstClr val="white"/>
                </a:solidFill>
                <a:latin typeface="Montserrat" panose="00000500000000000000" pitchFamily="2" charset="0"/>
              </a:rPr>
              <a:t>APPLICATIONS</a:t>
            </a:r>
          </a:p>
        </p:txBody>
      </p:sp>
      <p:sp>
        <p:nvSpPr>
          <p:cNvPr id="9" name="Shape 12">
            <a:extLst>
              <a:ext uri="{FF2B5EF4-FFF2-40B4-BE49-F238E27FC236}">
                <a16:creationId xmlns:a16="http://schemas.microsoft.com/office/drawing/2014/main" id="{392F4818-B6C8-DD65-F349-0DB3E6D633E7}"/>
              </a:ext>
            </a:extLst>
          </p:cNvPr>
          <p:cNvSpPr/>
          <p:nvPr/>
        </p:nvSpPr>
        <p:spPr>
          <a:xfrm>
            <a:off x="6260747" y="1005648"/>
            <a:ext cx="3457967" cy="418795"/>
          </a:xfrm>
          <a:prstGeom prst="roundRect">
            <a:avLst>
              <a:gd name="adj" fmla="val 19229"/>
            </a:avLst>
          </a:prstGeom>
          <a:solidFill>
            <a:srgbClr val="156082"/>
          </a:solidFill>
          <a:ln w="12700">
            <a:solidFill>
              <a:srgbClr val="FFFFFF">
                <a:alpha val="0"/>
              </a:srgbClr>
            </a:solidFill>
            <a:prstDash val="solid"/>
          </a:ln>
        </p:spPr>
        <p:txBody>
          <a:bodyPr anchor="ctr"/>
          <a:lstStyle/>
          <a:p>
            <a:pPr algn="ctr" defTabSz="914400">
              <a:defRPr/>
            </a:pPr>
            <a:r>
              <a:rPr lang="en-US" sz="1100" b="1" noProof="0">
                <a:solidFill>
                  <a:schemeClr val="bg1"/>
                </a:solidFill>
                <a:latin typeface="Montserrat" panose="00000500000000000000" pitchFamily="2" charset="0"/>
              </a:rPr>
              <a:t>TYPOLOGY</a:t>
            </a:r>
          </a:p>
        </p:txBody>
      </p:sp>
      <p:sp>
        <p:nvSpPr>
          <p:cNvPr id="19" name="Shape 39">
            <a:extLst>
              <a:ext uri="{FF2B5EF4-FFF2-40B4-BE49-F238E27FC236}">
                <a16:creationId xmlns:a16="http://schemas.microsoft.com/office/drawing/2014/main" id="{67123C4A-84FC-0A07-A057-46ACCE595646}"/>
              </a:ext>
            </a:extLst>
          </p:cNvPr>
          <p:cNvSpPr/>
          <p:nvPr/>
        </p:nvSpPr>
        <p:spPr>
          <a:xfrm>
            <a:off x="429660" y="4322257"/>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0" name="Shape 39">
            <a:extLst>
              <a:ext uri="{FF2B5EF4-FFF2-40B4-BE49-F238E27FC236}">
                <a16:creationId xmlns:a16="http://schemas.microsoft.com/office/drawing/2014/main" id="{7C4706B1-387B-C311-BA1E-8374140BC8BC}"/>
              </a:ext>
            </a:extLst>
          </p:cNvPr>
          <p:cNvSpPr/>
          <p:nvPr/>
        </p:nvSpPr>
        <p:spPr>
          <a:xfrm>
            <a:off x="429660" y="3926952"/>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1" name="Shape 39">
            <a:extLst>
              <a:ext uri="{FF2B5EF4-FFF2-40B4-BE49-F238E27FC236}">
                <a16:creationId xmlns:a16="http://schemas.microsoft.com/office/drawing/2014/main" id="{ACA5E123-41CF-D9C0-2658-E6AFE79BF573}"/>
              </a:ext>
            </a:extLst>
          </p:cNvPr>
          <p:cNvSpPr/>
          <p:nvPr/>
        </p:nvSpPr>
        <p:spPr>
          <a:xfrm>
            <a:off x="429660" y="3531646"/>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2" name="Shape 39">
            <a:extLst>
              <a:ext uri="{FF2B5EF4-FFF2-40B4-BE49-F238E27FC236}">
                <a16:creationId xmlns:a16="http://schemas.microsoft.com/office/drawing/2014/main" id="{1F800C2D-7409-1C2F-E15A-588DAFAB4615}"/>
              </a:ext>
            </a:extLst>
          </p:cNvPr>
          <p:cNvSpPr/>
          <p:nvPr/>
        </p:nvSpPr>
        <p:spPr>
          <a:xfrm>
            <a:off x="429660" y="3136340"/>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3" name="Shape 39">
            <a:extLst>
              <a:ext uri="{FF2B5EF4-FFF2-40B4-BE49-F238E27FC236}">
                <a16:creationId xmlns:a16="http://schemas.microsoft.com/office/drawing/2014/main" id="{74017BC2-BED5-A5B7-0B64-F242A733D94E}"/>
              </a:ext>
            </a:extLst>
          </p:cNvPr>
          <p:cNvSpPr/>
          <p:nvPr/>
        </p:nvSpPr>
        <p:spPr>
          <a:xfrm>
            <a:off x="429660" y="2741035"/>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4" name="Shape 39">
            <a:extLst>
              <a:ext uri="{FF2B5EF4-FFF2-40B4-BE49-F238E27FC236}">
                <a16:creationId xmlns:a16="http://schemas.microsoft.com/office/drawing/2014/main" id="{F3BFAD5A-4E40-25BE-EB97-C4F57E83853E}"/>
              </a:ext>
            </a:extLst>
          </p:cNvPr>
          <p:cNvSpPr/>
          <p:nvPr/>
        </p:nvSpPr>
        <p:spPr>
          <a:xfrm>
            <a:off x="429660" y="2345729"/>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5" name="Shape 39">
            <a:extLst>
              <a:ext uri="{FF2B5EF4-FFF2-40B4-BE49-F238E27FC236}">
                <a16:creationId xmlns:a16="http://schemas.microsoft.com/office/drawing/2014/main" id="{CE1C0FB3-BA15-6725-2512-65AF06970108}"/>
              </a:ext>
            </a:extLst>
          </p:cNvPr>
          <p:cNvSpPr/>
          <p:nvPr/>
        </p:nvSpPr>
        <p:spPr>
          <a:xfrm>
            <a:off x="429660" y="1950424"/>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6" name="Shape 39">
            <a:extLst>
              <a:ext uri="{FF2B5EF4-FFF2-40B4-BE49-F238E27FC236}">
                <a16:creationId xmlns:a16="http://schemas.microsoft.com/office/drawing/2014/main" id="{10D82C10-976F-2767-9801-5BB4FE6BA835}"/>
              </a:ext>
            </a:extLst>
          </p:cNvPr>
          <p:cNvSpPr/>
          <p:nvPr/>
        </p:nvSpPr>
        <p:spPr>
          <a:xfrm>
            <a:off x="429660" y="1555118"/>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7" name="Shape 39">
            <a:extLst>
              <a:ext uri="{FF2B5EF4-FFF2-40B4-BE49-F238E27FC236}">
                <a16:creationId xmlns:a16="http://schemas.microsoft.com/office/drawing/2014/main" id="{08708E41-837F-C90C-EB4F-A4DB82D5C008}"/>
              </a:ext>
            </a:extLst>
          </p:cNvPr>
          <p:cNvSpPr/>
          <p:nvPr/>
        </p:nvSpPr>
        <p:spPr>
          <a:xfrm>
            <a:off x="429660" y="5112870"/>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8" name="Shape 39">
            <a:extLst>
              <a:ext uri="{FF2B5EF4-FFF2-40B4-BE49-F238E27FC236}">
                <a16:creationId xmlns:a16="http://schemas.microsoft.com/office/drawing/2014/main" id="{37196A19-E3CE-EB3F-D527-867F8CB73CD3}"/>
              </a:ext>
            </a:extLst>
          </p:cNvPr>
          <p:cNvSpPr/>
          <p:nvPr/>
        </p:nvSpPr>
        <p:spPr>
          <a:xfrm>
            <a:off x="429660" y="4717563"/>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29" name="Shape 38">
            <a:extLst>
              <a:ext uri="{FF2B5EF4-FFF2-40B4-BE49-F238E27FC236}">
                <a16:creationId xmlns:a16="http://schemas.microsoft.com/office/drawing/2014/main" id="{8C4AAD33-9DB7-F4DC-5502-6DE804CC352E}"/>
              </a:ext>
            </a:extLst>
          </p:cNvPr>
          <p:cNvSpPr/>
          <p:nvPr/>
        </p:nvSpPr>
        <p:spPr>
          <a:xfrm>
            <a:off x="571499" y="4328711"/>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rPr>
              <a:t>REGULATORY</a:t>
            </a:r>
          </a:p>
        </p:txBody>
      </p:sp>
      <p:sp>
        <p:nvSpPr>
          <p:cNvPr id="30" name="Shape 38">
            <a:extLst>
              <a:ext uri="{FF2B5EF4-FFF2-40B4-BE49-F238E27FC236}">
                <a16:creationId xmlns:a16="http://schemas.microsoft.com/office/drawing/2014/main" id="{16CF8566-9055-8839-27B0-8336FA41D746}"/>
              </a:ext>
            </a:extLst>
          </p:cNvPr>
          <p:cNvSpPr/>
          <p:nvPr/>
        </p:nvSpPr>
        <p:spPr>
          <a:xfrm>
            <a:off x="571499" y="3933406"/>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PROCUREMENT</a:t>
            </a:r>
            <a:endParaRPr lang="en-US" sz="1200" noProof="0">
              <a:solidFill>
                <a:prstClr val="black"/>
              </a:solidFill>
              <a:latin typeface="Montserrat" panose="00000500000000000000" pitchFamily="2" charset="0"/>
            </a:endParaRPr>
          </a:p>
        </p:txBody>
      </p:sp>
      <p:sp>
        <p:nvSpPr>
          <p:cNvPr id="31" name="Shape 40">
            <a:extLst>
              <a:ext uri="{FF2B5EF4-FFF2-40B4-BE49-F238E27FC236}">
                <a16:creationId xmlns:a16="http://schemas.microsoft.com/office/drawing/2014/main" id="{7E3C55A1-BC48-F4A1-520B-4A11C6A1C7C2}"/>
              </a:ext>
            </a:extLst>
          </p:cNvPr>
          <p:cNvSpPr/>
          <p:nvPr/>
        </p:nvSpPr>
        <p:spPr>
          <a:xfrm>
            <a:off x="5280729" y="4087648"/>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32" name="Shape 38">
            <a:extLst>
              <a:ext uri="{FF2B5EF4-FFF2-40B4-BE49-F238E27FC236}">
                <a16:creationId xmlns:a16="http://schemas.microsoft.com/office/drawing/2014/main" id="{6A676C88-A646-6303-D732-2BED0416F9CE}"/>
              </a:ext>
            </a:extLst>
          </p:cNvPr>
          <p:cNvSpPr/>
          <p:nvPr/>
        </p:nvSpPr>
        <p:spPr>
          <a:xfrm>
            <a:off x="571499" y="3538100"/>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OT</a:t>
            </a:r>
            <a:endParaRPr lang="en-US" sz="1200" noProof="0">
              <a:solidFill>
                <a:prstClr val="black"/>
              </a:solidFill>
              <a:latin typeface="Montserrat" panose="00000500000000000000" pitchFamily="2" charset="0"/>
            </a:endParaRPr>
          </a:p>
        </p:txBody>
      </p:sp>
      <p:sp>
        <p:nvSpPr>
          <p:cNvPr id="33" name="Shape 40">
            <a:extLst>
              <a:ext uri="{FF2B5EF4-FFF2-40B4-BE49-F238E27FC236}">
                <a16:creationId xmlns:a16="http://schemas.microsoft.com/office/drawing/2014/main" id="{AEF0A18B-DFF5-7797-4C27-C21F8EC7493D}"/>
              </a:ext>
            </a:extLst>
          </p:cNvPr>
          <p:cNvSpPr/>
          <p:nvPr/>
        </p:nvSpPr>
        <p:spPr>
          <a:xfrm>
            <a:off x="5280729" y="3692342"/>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34" name="Shape 38">
            <a:extLst>
              <a:ext uri="{FF2B5EF4-FFF2-40B4-BE49-F238E27FC236}">
                <a16:creationId xmlns:a16="http://schemas.microsoft.com/office/drawing/2014/main" id="{A0F6D5A4-0326-F0D3-F24D-F873FEDA1EC8}"/>
              </a:ext>
            </a:extLst>
          </p:cNvPr>
          <p:cNvSpPr/>
          <p:nvPr/>
        </p:nvSpPr>
        <p:spPr>
          <a:xfrm>
            <a:off x="571499" y="3142794"/>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IA</a:t>
            </a:r>
            <a:endParaRPr lang="en-US" sz="1200" noProof="0">
              <a:solidFill>
                <a:prstClr val="black"/>
              </a:solidFill>
              <a:latin typeface="Montserrat" panose="00000500000000000000" pitchFamily="2" charset="0"/>
            </a:endParaRPr>
          </a:p>
        </p:txBody>
      </p:sp>
      <p:sp>
        <p:nvSpPr>
          <p:cNvPr id="35" name="Shape 40">
            <a:extLst>
              <a:ext uri="{FF2B5EF4-FFF2-40B4-BE49-F238E27FC236}">
                <a16:creationId xmlns:a16="http://schemas.microsoft.com/office/drawing/2014/main" id="{9365EDA8-EC89-8EF8-975C-59E3E99E4A1C}"/>
              </a:ext>
            </a:extLst>
          </p:cNvPr>
          <p:cNvSpPr/>
          <p:nvPr/>
        </p:nvSpPr>
        <p:spPr>
          <a:xfrm>
            <a:off x="5280729" y="3297036"/>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36" name="Shape 38">
            <a:extLst>
              <a:ext uri="{FF2B5EF4-FFF2-40B4-BE49-F238E27FC236}">
                <a16:creationId xmlns:a16="http://schemas.microsoft.com/office/drawing/2014/main" id="{73778CA8-DE57-5B93-4C8A-3FDDEA57BE43}"/>
              </a:ext>
            </a:extLst>
          </p:cNvPr>
          <p:cNvSpPr/>
          <p:nvPr/>
        </p:nvSpPr>
        <p:spPr>
          <a:xfrm>
            <a:off x="571499" y="2747489"/>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DATA &amp; ANALYTICS</a:t>
            </a:r>
            <a:endParaRPr lang="en-US" sz="1200" noProof="0">
              <a:solidFill>
                <a:prstClr val="black"/>
              </a:solidFill>
              <a:latin typeface="Montserrat" panose="00000500000000000000" pitchFamily="2" charset="0"/>
            </a:endParaRPr>
          </a:p>
        </p:txBody>
      </p:sp>
      <p:sp>
        <p:nvSpPr>
          <p:cNvPr id="37" name="Shape 40">
            <a:extLst>
              <a:ext uri="{FF2B5EF4-FFF2-40B4-BE49-F238E27FC236}">
                <a16:creationId xmlns:a16="http://schemas.microsoft.com/office/drawing/2014/main" id="{BDF48288-C6D1-75B2-E69C-35BA978FFDB2}"/>
              </a:ext>
            </a:extLst>
          </p:cNvPr>
          <p:cNvSpPr/>
          <p:nvPr/>
        </p:nvSpPr>
        <p:spPr>
          <a:xfrm>
            <a:off x="5280729" y="2901731"/>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38" name="Shape 38">
            <a:extLst>
              <a:ext uri="{FF2B5EF4-FFF2-40B4-BE49-F238E27FC236}">
                <a16:creationId xmlns:a16="http://schemas.microsoft.com/office/drawing/2014/main" id="{C48580FC-DCED-898C-FC2E-802D40026E6C}"/>
              </a:ext>
            </a:extLst>
          </p:cNvPr>
          <p:cNvSpPr/>
          <p:nvPr/>
        </p:nvSpPr>
        <p:spPr>
          <a:xfrm>
            <a:off x="571499" y="2352183"/>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INFRASTRUCTURE</a:t>
            </a:r>
            <a:endParaRPr lang="en-US" sz="1200" noProof="0">
              <a:solidFill>
                <a:prstClr val="black"/>
              </a:solidFill>
              <a:latin typeface="Montserrat" panose="00000500000000000000" pitchFamily="2" charset="0"/>
            </a:endParaRPr>
          </a:p>
        </p:txBody>
      </p:sp>
      <p:sp>
        <p:nvSpPr>
          <p:cNvPr id="39" name="Shape 40">
            <a:extLst>
              <a:ext uri="{FF2B5EF4-FFF2-40B4-BE49-F238E27FC236}">
                <a16:creationId xmlns:a16="http://schemas.microsoft.com/office/drawing/2014/main" id="{DAE82753-2997-4ABE-FDDE-59242DEDE8BF}"/>
              </a:ext>
            </a:extLst>
          </p:cNvPr>
          <p:cNvSpPr/>
          <p:nvPr/>
        </p:nvSpPr>
        <p:spPr>
          <a:xfrm>
            <a:off x="5280729" y="2506425"/>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40" name="Shape 38">
            <a:extLst>
              <a:ext uri="{FF2B5EF4-FFF2-40B4-BE49-F238E27FC236}">
                <a16:creationId xmlns:a16="http://schemas.microsoft.com/office/drawing/2014/main" id="{BFBA74FA-C7AD-DA35-7E82-A328172092D4}"/>
              </a:ext>
            </a:extLst>
          </p:cNvPr>
          <p:cNvSpPr/>
          <p:nvPr/>
        </p:nvSpPr>
        <p:spPr>
          <a:xfrm>
            <a:off x="571499" y="1956878"/>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CX &amp; DIGITAL COE</a:t>
            </a:r>
            <a:endParaRPr lang="en-US" sz="1200" noProof="0">
              <a:solidFill>
                <a:prstClr val="black"/>
              </a:solidFill>
              <a:latin typeface="Montserrat" panose="00000500000000000000" pitchFamily="2" charset="0"/>
            </a:endParaRPr>
          </a:p>
        </p:txBody>
      </p:sp>
      <p:sp>
        <p:nvSpPr>
          <p:cNvPr id="41" name="Shape 40">
            <a:extLst>
              <a:ext uri="{FF2B5EF4-FFF2-40B4-BE49-F238E27FC236}">
                <a16:creationId xmlns:a16="http://schemas.microsoft.com/office/drawing/2014/main" id="{1566757F-538A-CE74-3DC5-A81DA802326B}"/>
              </a:ext>
            </a:extLst>
          </p:cNvPr>
          <p:cNvSpPr/>
          <p:nvPr/>
        </p:nvSpPr>
        <p:spPr>
          <a:xfrm>
            <a:off x="5280729" y="2111120"/>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42" name="Shape 38">
            <a:extLst>
              <a:ext uri="{FF2B5EF4-FFF2-40B4-BE49-F238E27FC236}">
                <a16:creationId xmlns:a16="http://schemas.microsoft.com/office/drawing/2014/main" id="{9B5AD249-9949-9185-EB27-5F047A4054DD}"/>
              </a:ext>
            </a:extLst>
          </p:cNvPr>
          <p:cNvSpPr/>
          <p:nvPr/>
        </p:nvSpPr>
        <p:spPr>
          <a:xfrm>
            <a:off x="571499" y="1561572"/>
            <a:ext cx="4794704" cy="317915"/>
          </a:xfrm>
          <a:prstGeom prst="roundRect">
            <a:avLst>
              <a:gd name="adj" fmla="val 33234"/>
            </a:avLst>
          </a:prstGeom>
          <a:solidFill>
            <a:srgbClr val="FFFFFF"/>
          </a:solidFill>
          <a:ln>
            <a:solidFill>
              <a:srgbClr val="2E6DB4"/>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BRS</a:t>
            </a:r>
            <a:endParaRPr lang="en-US" sz="1200" noProof="0">
              <a:solidFill>
                <a:prstClr val="black"/>
              </a:solidFill>
              <a:latin typeface="Montserrat" panose="00000500000000000000" pitchFamily="2" charset="0"/>
            </a:endParaRPr>
          </a:p>
        </p:txBody>
      </p:sp>
      <p:sp>
        <p:nvSpPr>
          <p:cNvPr id="43" name="Shape 40">
            <a:extLst>
              <a:ext uri="{FF2B5EF4-FFF2-40B4-BE49-F238E27FC236}">
                <a16:creationId xmlns:a16="http://schemas.microsoft.com/office/drawing/2014/main" id="{B500D387-D729-324B-5994-CF6CB3DDA6B2}"/>
              </a:ext>
            </a:extLst>
          </p:cNvPr>
          <p:cNvSpPr/>
          <p:nvPr/>
        </p:nvSpPr>
        <p:spPr>
          <a:xfrm>
            <a:off x="5280729" y="1715814"/>
            <a:ext cx="170947" cy="9430"/>
          </a:xfrm>
          <a:prstGeom prst="rect">
            <a:avLst/>
          </a:prstGeom>
          <a:solidFill>
            <a:srgbClr val="CBD5E0"/>
          </a:solidFill>
          <a:ln w="12700">
            <a:solidFill>
              <a:srgbClr val="FFFFFF">
                <a:alpha val="0"/>
              </a:srgbClr>
            </a:solidFill>
            <a:prstDash val="solid"/>
          </a:ln>
        </p:spPr>
        <p:txBody>
          <a:bodyPr lIns="396000"/>
          <a:lstStyle/>
          <a:p>
            <a:pPr defTabSz="914400">
              <a:defRPr/>
            </a:pPr>
            <a:endParaRPr lang="en-US" noProof="0">
              <a:solidFill>
                <a:prstClr val="black"/>
              </a:solidFill>
              <a:latin typeface="Montserrat" panose="00000500000000000000" pitchFamily="2" charset="0"/>
            </a:endParaRPr>
          </a:p>
        </p:txBody>
      </p:sp>
      <p:sp>
        <p:nvSpPr>
          <p:cNvPr id="44" name="Shape 38">
            <a:extLst>
              <a:ext uri="{FF2B5EF4-FFF2-40B4-BE49-F238E27FC236}">
                <a16:creationId xmlns:a16="http://schemas.microsoft.com/office/drawing/2014/main" id="{87940688-CE10-F9AA-F12A-0ABAA7DF1400}"/>
              </a:ext>
            </a:extLst>
          </p:cNvPr>
          <p:cNvSpPr/>
          <p:nvPr/>
        </p:nvSpPr>
        <p:spPr>
          <a:xfrm>
            <a:off x="571499" y="5119324"/>
            <a:ext cx="4794704" cy="317915"/>
          </a:xfrm>
          <a:prstGeom prst="roundRect">
            <a:avLst>
              <a:gd name="adj" fmla="val 33234"/>
            </a:avLst>
          </a:prstGeom>
          <a:solidFill>
            <a:srgbClr val="FFFFFF"/>
          </a:solidFill>
          <a:ln>
            <a:solidFill>
              <a:srgbClr val="6E90A8"/>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P&amp;T</a:t>
            </a:r>
            <a:endParaRPr lang="en-US" sz="1200" noProof="0">
              <a:solidFill>
                <a:prstClr val="black"/>
              </a:solidFill>
              <a:latin typeface="Montserrat" panose="00000500000000000000" pitchFamily="2" charset="0"/>
            </a:endParaRPr>
          </a:p>
        </p:txBody>
      </p:sp>
      <p:sp>
        <p:nvSpPr>
          <p:cNvPr id="45" name="Shape 38">
            <a:extLst>
              <a:ext uri="{FF2B5EF4-FFF2-40B4-BE49-F238E27FC236}">
                <a16:creationId xmlns:a16="http://schemas.microsoft.com/office/drawing/2014/main" id="{F198F25D-F28F-E0FA-0CAA-B322028AED15}"/>
              </a:ext>
            </a:extLst>
          </p:cNvPr>
          <p:cNvSpPr/>
          <p:nvPr/>
        </p:nvSpPr>
        <p:spPr>
          <a:xfrm>
            <a:off x="571499" y="4724017"/>
            <a:ext cx="4794704" cy="317915"/>
          </a:xfrm>
          <a:prstGeom prst="roundRect">
            <a:avLst>
              <a:gd name="adj" fmla="val 33234"/>
            </a:avLst>
          </a:prstGeom>
          <a:solidFill>
            <a:srgbClr val="FFFFFF"/>
          </a:solidFill>
          <a:ln>
            <a:solidFill>
              <a:srgbClr val="6E90A8"/>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CORPORATE</a:t>
            </a:r>
            <a:endParaRPr lang="en-US" sz="1200" noProof="0">
              <a:solidFill>
                <a:prstClr val="black"/>
              </a:solidFill>
              <a:latin typeface="Montserrat" panose="00000500000000000000" pitchFamily="2" charset="0"/>
            </a:endParaRPr>
          </a:p>
        </p:txBody>
      </p:sp>
      <p:sp>
        <p:nvSpPr>
          <p:cNvPr id="46" name="Shape 39">
            <a:extLst>
              <a:ext uri="{FF2B5EF4-FFF2-40B4-BE49-F238E27FC236}">
                <a16:creationId xmlns:a16="http://schemas.microsoft.com/office/drawing/2014/main" id="{AEFEFA6B-FB56-F480-4135-6F5FBDF4AD5F}"/>
              </a:ext>
            </a:extLst>
          </p:cNvPr>
          <p:cNvSpPr/>
          <p:nvPr/>
        </p:nvSpPr>
        <p:spPr>
          <a:xfrm>
            <a:off x="429660" y="5519816"/>
            <a:ext cx="92660" cy="330823"/>
          </a:xfrm>
          <a:prstGeom prst="roundRect">
            <a:avLst>
              <a:gd name="adj" fmla="val 452487"/>
            </a:avLst>
          </a:prstGeom>
          <a:solidFill>
            <a:srgbClr val="156082"/>
          </a:solidFill>
          <a:ln w="12700">
            <a:solidFill>
              <a:srgbClr val="2E6DB4">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47" name="Shape 38">
            <a:extLst>
              <a:ext uri="{FF2B5EF4-FFF2-40B4-BE49-F238E27FC236}">
                <a16:creationId xmlns:a16="http://schemas.microsoft.com/office/drawing/2014/main" id="{5FAC20E7-6F9C-BA3C-B5BA-CF6897080196}"/>
              </a:ext>
            </a:extLst>
          </p:cNvPr>
          <p:cNvSpPr/>
          <p:nvPr/>
        </p:nvSpPr>
        <p:spPr>
          <a:xfrm>
            <a:off x="571499" y="5526270"/>
            <a:ext cx="4794704" cy="317915"/>
          </a:xfrm>
          <a:prstGeom prst="roundRect">
            <a:avLst>
              <a:gd name="adj" fmla="val 33234"/>
            </a:avLst>
          </a:prstGeom>
          <a:solidFill>
            <a:srgbClr val="FFFFFF"/>
          </a:solidFill>
          <a:ln>
            <a:solidFill>
              <a:srgbClr val="6E90A8"/>
            </a:solidFill>
          </a:ln>
        </p:spPr>
        <p:txBody>
          <a:bodyPr lIns="396000" anchor="ctr"/>
          <a:lstStyle/>
          <a:p>
            <a:pPr defTabSz="914400">
              <a:defRPr/>
            </a:pPr>
            <a:r>
              <a:rPr lang="en-US" sz="1200" b="1" noProof="0">
                <a:solidFill>
                  <a:srgbClr val="1B3A6B"/>
                </a:solidFill>
                <a:latin typeface="Montserrat" panose="00000500000000000000" pitchFamily="2" charset="0"/>
                <a:ea typeface="Montserrat" pitchFamily="34" charset="-122"/>
                <a:cs typeface="Montserrat" pitchFamily="34" charset="-120"/>
              </a:rPr>
              <a:t>GIS</a:t>
            </a:r>
            <a:endParaRPr lang="en-US" sz="1200" noProof="0">
              <a:solidFill>
                <a:prstClr val="black"/>
              </a:solidFill>
              <a:latin typeface="Montserrat" panose="00000500000000000000" pitchFamily="2" charset="0"/>
            </a:endParaRPr>
          </a:p>
        </p:txBody>
      </p:sp>
      <p:sp>
        <p:nvSpPr>
          <p:cNvPr id="48" name="Shape 29">
            <a:extLst>
              <a:ext uri="{FF2B5EF4-FFF2-40B4-BE49-F238E27FC236}">
                <a16:creationId xmlns:a16="http://schemas.microsoft.com/office/drawing/2014/main" id="{48E963BA-B2E5-70F2-7C43-9C880D7952C8}"/>
              </a:ext>
            </a:extLst>
          </p:cNvPr>
          <p:cNvSpPr/>
          <p:nvPr/>
        </p:nvSpPr>
        <p:spPr>
          <a:xfrm>
            <a:off x="605009" y="5547681"/>
            <a:ext cx="311727" cy="283388"/>
          </a:xfrm>
          <a:prstGeom prst="roundRect">
            <a:avLst>
              <a:gd name="adj" fmla="val 88889"/>
            </a:avLst>
          </a:prstGeom>
          <a:solidFill>
            <a:srgbClr val="747474"/>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49" name="Image 4" descr="preencoded.png">
            <a:extLst>
              <a:ext uri="{FF2B5EF4-FFF2-40B4-BE49-F238E27FC236}">
                <a16:creationId xmlns:a16="http://schemas.microsoft.com/office/drawing/2014/main" id="{76E9B0B9-BADB-58F9-6796-B0249261BA14}"/>
              </a:ext>
            </a:extLst>
          </p:cNvPr>
          <p:cNvPicPr>
            <a:picLocks noChangeAspect="1"/>
          </p:cNvPicPr>
          <p:nvPr/>
        </p:nvPicPr>
        <p:blipFill>
          <a:blip r:embed="rId2">
            <a:biLevel thresh="25000"/>
          </a:blip>
          <a:srcRect t="-842" b="-842"/>
          <a:stretch/>
        </p:blipFill>
        <p:spPr>
          <a:xfrm>
            <a:off x="674420" y="5611693"/>
            <a:ext cx="172905" cy="156279"/>
          </a:xfrm>
          <a:prstGeom prst="rect">
            <a:avLst/>
          </a:prstGeom>
        </p:spPr>
      </p:pic>
      <p:sp>
        <p:nvSpPr>
          <p:cNvPr id="50" name="Shape 17">
            <a:extLst>
              <a:ext uri="{FF2B5EF4-FFF2-40B4-BE49-F238E27FC236}">
                <a16:creationId xmlns:a16="http://schemas.microsoft.com/office/drawing/2014/main" id="{39C0B569-AE39-9E39-45A2-B2D2C7B42063}"/>
              </a:ext>
            </a:extLst>
          </p:cNvPr>
          <p:cNvSpPr/>
          <p:nvPr/>
        </p:nvSpPr>
        <p:spPr>
          <a:xfrm>
            <a:off x="605009" y="1581623"/>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51" name="Image 2" descr="preencoded.png">
            <a:extLst>
              <a:ext uri="{FF2B5EF4-FFF2-40B4-BE49-F238E27FC236}">
                <a16:creationId xmlns:a16="http://schemas.microsoft.com/office/drawing/2014/main" id="{D53B0BA7-73B2-9AE5-455D-5A8C8139FCF3}"/>
              </a:ext>
            </a:extLst>
          </p:cNvPr>
          <p:cNvPicPr>
            <a:picLocks noChangeAspect="1"/>
          </p:cNvPicPr>
          <p:nvPr/>
        </p:nvPicPr>
        <p:blipFill>
          <a:blip r:embed="rId3">
            <a:biLevel thresh="25000"/>
          </a:blip>
          <a:srcRect l="-1064" r="-1064"/>
          <a:stretch/>
        </p:blipFill>
        <p:spPr>
          <a:xfrm>
            <a:off x="661120" y="1644721"/>
            <a:ext cx="199505" cy="156279"/>
          </a:xfrm>
          <a:prstGeom prst="rect">
            <a:avLst/>
          </a:prstGeom>
        </p:spPr>
      </p:pic>
      <p:sp>
        <p:nvSpPr>
          <p:cNvPr id="52" name="Shape 23">
            <a:extLst>
              <a:ext uri="{FF2B5EF4-FFF2-40B4-BE49-F238E27FC236}">
                <a16:creationId xmlns:a16="http://schemas.microsoft.com/office/drawing/2014/main" id="{E40333F7-8DF9-C5FD-66D4-BD5075B33F97}"/>
              </a:ext>
            </a:extLst>
          </p:cNvPr>
          <p:cNvSpPr/>
          <p:nvPr/>
        </p:nvSpPr>
        <p:spPr>
          <a:xfrm>
            <a:off x="605009" y="5137725"/>
            <a:ext cx="311727" cy="283388"/>
          </a:xfrm>
          <a:prstGeom prst="roundRect">
            <a:avLst>
              <a:gd name="adj" fmla="val 88889"/>
            </a:avLst>
          </a:prstGeom>
          <a:solidFill>
            <a:srgbClr val="747474"/>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53" name="Image 3" descr="preencoded.png">
            <a:extLst>
              <a:ext uri="{FF2B5EF4-FFF2-40B4-BE49-F238E27FC236}">
                <a16:creationId xmlns:a16="http://schemas.microsoft.com/office/drawing/2014/main" id="{4AE76B89-6D1B-1BC7-7AD9-B7187740C4E8}"/>
              </a:ext>
            </a:extLst>
          </p:cNvPr>
          <p:cNvPicPr>
            <a:picLocks noChangeAspect="1"/>
          </p:cNvPicPr>
          <p:nvPr/>
        </p:nvPicPr>
        <p:blipFill>
          <a:blip r:embed="rId4">
            <a:biLevel thresh="25000"/>
          </a:blip>
          <a:srcRect l="-1064" r="-1064"/>
          <a:stretch/>
        </p:blipFill>
        <p:spPr>
          <a:xfrm>
            <a:off x="661120" y="5201737"/>
            <a:ext cx="199505" cy="156279"/>
          </a:xfrm>
          <a:prstGeom prst="rect">
            <a:avLst/>
          </a:prstGeom>
        </p:spPr>
      </p:pic>
      <p:sp>
        <p:nvSpPr>
          <p:cNvPr id="54" name="Shape 35">
            <a:extLst>
              <a:ext uri="{FF2B5EF4-FFF2-40B4-BE49-F238E27FC236}">
                <a16:creationId xmlns:a16="http://schemas.microsoft.com/office/drawing/2014/main" id="{CE634278-EC76-5837-77DE-CFCF79AD5B06}"/>
              </a:ext>
            </a:extLst>
          </p:cNvPr>
          <p:cNvSpPr/>
          <p:nvPr/>
        </p:nvSpPr>
        <p:spPr>
          <a:xfrm>
            <a:off x="605009" y="4737523"/>
            <a:ext cx="311727" cy="283388"/>
          </a:xfrm>
          <a:prstGeom prst="roundRect">
            <a:avLst>
              <a:gd name="adj" fmla="val 88889"/>
            </a:avLst>
          </a:prstGeom>
          <a:solidFill>
            <a:srgbClr val="747474"/>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55" name="Image 5" descr="preencoded.png">
            <a:extLst>
              <a:ext uri="{FF2B5EF4-FFF2-40B4-BE49-F238E27FC236}">
                <a16:creationId xmlns:a16="http://schemas.microsoft.com/office/drawing/2014/main" id="{6574AD2E-A3B8-160B-5E91-677659A12846}"/>
              </a:ext>
            </a:extLst>
          </p:cNvPr>
          <p:cNvPicPr>
            <a:picLocks noChangeAspect="1"/>
          </p:cNvPicPr>
          <p:nvPr/>
        </p:nvPicPr>
        <p:blipFill>
          <a:blip r:embed="rId5">
            <a:biLevel thresh="25000"/>
          </a:blip>
          <a:srcRect l="-1773" r="-1773"/>
          <a:stretch/>
        </p:blipFill>
        <p:spPr>
          <a:xfrm>
            <a:off x="700190" y="4801534"/>
            <a:ext cx="121365" cy="156279"/>
          </a:xfrm>
          <a:prstGeom prst="rect">
            <a:avLst/>
          </a:prstGeom>
        </p:spPr>
      </p:pic>
      <p:sp>
        <p:nvSpPr>
          <p:cNvPr id="56" name="Shape 41">
            <a:extLst>
              <a:ext uri="{FF2B5EF4-FFF2-40B4-BE49-F238E27FC236}">
                <a16:creationId xmlns:a16="http://schemas.microsoft.com/office/drawing/2014/main" id="{6CF9DDEE-EDF1-0720-1F7B-8FF8B261351F}"/>
              </a:ext>
            </a:extLst>
          </p:cNvPr>
          <p:cNvSpPr/>
          <p:nvPr/>
        </p:nvSpPr>
        <p:spPr>
          <a:xfrm>
            <a:off x="605009" y="4345974"/>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57" name="Image 6" descr="preencoded.png">
            <a:extLst>
              <a:ext uri="{FF2B5EF4-FFF2-40B4-BE49-F238E27FC236}">
                <a16:creationId xmlns:a16="http://schemas.microsoft.com/office/drawing/2014/main" id="{768EBD9E-0FCB-F90F-2800-D3DE2260760E}"/>
              </a:ext>
            </a:extLst>
          </p:cNvPr>
          <p:cNvPicPr>
            <a:picLocks noChangeAspect="1"/>
          </p:cNvPicPr>
          <p:nvPr/>
        </p:nvPicPr>
        <p:blipFill>
          <a:blip r:embed="rId6">
            <a:biLevel thresh="25000"/>
          </a:blip>
          <a:srcRect/>
          <a:stretch/>
        </p:blipFill>
        <p:spPr>
          <a:xfrm>
            <a:off x="682733" y="4411390"/>
            <a:ext cx="156279" cy="156279"/>
          </a:xfrm>
          <a:prstGeom prst="rect">
            <a:avLst/>
          </a:prstGeom>
        </p:spPr>
      </p:pic>
      <p:sp>
        <p:nvSpPr>
          <p:cNvPr id="58" name="Shape 17">
            <a:extLst>
              <a:ext uri="{FF2B5EF4-FFF2-40B4-BE49-F238E27FC236}">
                <a16:creationId xmlns:a16="http://schemas.microsoft.com/office/drawing/2014/main" id="{1E5E4F4F-51FD-7FC4-2E40-6B86833304E7}"/>
              </a:ext>
            </a:extLst>
          </p:cNvPr>
          <p:cNvSpPr/>
          <p:nvPr/>
        </p:nvSpPr>
        <p:spPr>
          <a:xfrm>
            <a:off x="605009" y="1972783"/>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59" name="Shape 17">
            <a:extLst>
              <a:ext uri="{FF2B5EF4-FFF2-40B4-BE49-F238E27FC236}">
                <a16:creationId xmlns:a16="http://schemas.microsoft.com/office/drawing/2014/main" id="{3A3C8E72-8FA4-807F-D104-88DF1559C3BF}"/>
              </a:ext>
            </a:extLst>
          </p:cNvPr>
          <p:cNvSpPr/>
          <p:nvPr/>
        </p:nvSpPr>
        <p:spPr>
          <a:xfrm>
            <a:off x="605009" y="2369446"/>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60" name="Shape 17">
            <a:extLst>
              <a:ext uri="{FF2B5EF4-FFF2-40B4-BE49-F238E27FC236}">
                <a16:creationId xmlns:a16="http://schemas.microsoft.com/office/drawing/2014/main" id="{5AE94988-B888-104D-3193-DEA6A7E194C3}"/>
              </a:ext>
            </a:extLst>
          </p:cNvPr>
          <p:cNvSpPr/>
          <p:nvPr/>
        </p:nvSpPr>
        <p:spPr>
          <a:xfrm>
            <a:off x="605009" y="2765263"/>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61" name="Shape 17">
            <a:extLst>
              <a:ext uri="{FF2B5EF4-FFF2-40B4-BE49-F238E27FC236}">
                <a16:creationId xmlns:a16="http://schemas.microsoft.com/office/drawing/2014/main" id="{788F3856-145F-69F6-E319-C0A3FC28B7EF}"/>
              </a:ext>
            </a:extLst>
          </p:cNvPr>
          <p:cNvSpPr/>
          <p:nvPr/>
        </p:nvSpPr>
        <p:spPr>
          <a:xfrm>
            <a:off x="605009" y="3160057"/>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62" name="Shape 17">
            <a:extLst>
              <a:ext uri="{FF2B5EF4-FFF2-40B4-BE49-F238E27FC236}">
                <a16:creationId xmlns:a16="http://schemas.microsoft.com/office/drawing/2014/main" id="{E567C6C8-E9A3-A0DD-A15E-0AB200078F37}"/>
              </a:ext>
            </a:extLst>
          </p:cNvPr>
          <p:cNvSpPr/>
          <p:nvPr/>
        </p:nvSpPr>
        <p:spPr>
          <a:xfrm>
            <a:off x="605009" y="3555363"/>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sp>
        <p:nvSpPr>
          <p:cNvPr id="63" name="Shape 17">
            <a:extLst>
              <a:ext uri="{FF2B5EF4-FFF2-40B4-BE49-F238E27FC236}">
                <a16:creationId xmlns:a16="http://schemas.microsoft.com/office/drawing/2014/main" id="{D1797AA2-777B-71F9-C821-28C74A6FAA2F}"/>
              </a:ext>
            </a:extLst>
          </p:cNvPr>
          <p:cNvSpPr/>
          <p:nvPr/>
        </p:nvSpPr>
        <p:spPr>
          <a:xfrm>
            <a:off x="605009" y="3950669"/>
            <a:ext cx="311727" cy="283388"/>
          </a:xfrm>
          <a:prstGeom prst="roundRect">
            <a:avLst>
              <a:gd name="adj" fmla="val 88889"/>
            </a:avLst>
          </a:prstGeom>
          <a:solidFill>
            <a:srgbClr val="156082"/>
          </a:solidFill>
          <a:ln w="12700">
            <a:solidFill>
              <a:srgbClr val="FFFFFF">
                <a:alpha val="0"/>
              </a:srgbClr>
            </a:solidFill>
            <a:prstDash val="solid"/>
          </a:ln>
        </p:spPr>
        <p:txBody>
          <a:bodyPr/>
          <a:lstStyle/>
          <a:p>
            <a:pPr defTabSz="914400">
              <a:defRPr/>
            </a:pPr>
            <a:endParaRPr lang="en-US" noProof="0">
              <a:solidFill>
                <a:prstClr val="black"/>
              </a:solidFill>
              <a:latin typeface="Montserrat" panose="00000500000000000000" pitchFamily="2" charset="0"/>
            </a:endParaRPr>
          </a:p>
        </p:txBody>
      </p:sp>
      <p:pic>
        <p:nvPicPr>
          <p:cNvPr id="64" name="Gráfico 65" descr="Vínculo con relleno sólido">
            <a:extLst>
              <a:ext uri="{FF2B5EF4-FFF2-40B4-BE49-F238E27FC236}">
                <a16:creationId xmlns:a16="http://schemas.microsoft.com/office/drawing/2014/main" id="{6063566A-8D56-92C5-B102-EF46971C25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5276" y="3993296"/>
            <a:ext cx="218900" cy="218900"/>
          </a:xfrm>
          <a:prstGeom prst="rect">
            <a:avLst/>
          </a:prstGeom>
        </p:spPr>
      </p:pic>
      <p:pic>
        <p:nvPicPr>
          <p:cNvPr id="65" name="Gráfico 66" descr="Jerarquía con relleno sólido">
            <a:extLst>
              <a:ext uri="{FF2B5EF4-FFF2-40B4-BE49-F238E27FC236}">
                <a16:creationId xmlns:a16="http://schemas.microsoft.com/office/drawing/2014/main" id="{74F6BA3D-4D35-0100-C4A8-298EBE93F04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1872" y="3595364"/>
            <a:ext cx="180909" cy="180909"/>
          </a:xfrm>
          <a:prstGeom prst="rect">
            <a:avLst/>
          </a:prstGeom>
        </p:spPr>
      </p:pic>
      <p:pic>
        <p:nvPicPr>
          <p:cNvPr id="66" name="Gráfico 67" descr="Robot con relleno sólido">
            <a:extLst>
              <a:ext uri="{FF2B5EF4-FFF2-40B4-BE49-F238E27FC236}">
                <a16:creationId xmlns:a16="http://schemas.microsoft.com/office/drawing/2014/main" id="{DAFF96A9-E9B4-6B24-2409-1778924054E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0476" y="3189920"/>
            <a:ext cx="218900" cy="218900"/>
          </a:xfrm>
          <a:prstGeom prst="rect">
            <a:avLst/>
          </a:prstGeom>
        </p:spPr>
      </p:pic>
      <p:pic>
        <p:nvPicPr>
          <p:cNvPr id="67" name="Gráfico 68" descr="Base de datos con relleno sólido">
            <a:extLst>
              <a:ext uri="{FF2B5EF4-FFF2-40B4-BE49-F238E27FC236}">
                <a16:creationId xmlns:a16="http://schemas.microsoft.com/office/drawing/2014/main" id="{1D88E95F-F461-8D28-17EE-A909BE217C1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0268" y="2797376"/>
            <a:ext cx="218900" cy="218900"/>
          </a:xfrm>
          <a:prstGeom prst="rect">
            <a:avLst/>
          </a:prstGeom>
        </p:spPr>
      </p:pic>
      <p:pic>
        <p:nvPicPr>
          <p:cNvPr id="68" name="Gráfico 69" descr="Torre de telecomunicaciones con relleno sólido">
            <a:extLst>
              <a:ext uri="{FF2B5EF4-FFF2-40B4-BE49-F238E27FC236}">
                <a16:creationId xmlns:a16="http://schemas.microsoft.com/office/drawing/2014/main" id="{20B21655-38BC-986E-357B-1353890A0EA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7818" y="2408686"/>
            <a:ext cx="199000" cy="199000"/>
          </a:xfrm>
          <a:prstGeom prst="rect">
            <a:avLst/>
          </a:prstGeom>
        </p:spPr>
      </p:pic>
      <p:pic>
        <p:nvPicPr>
          <p:cNvPr id="69" name="Gráfico 70" descr="Smartphone con relleno sólido">
            <a:extLst>
              <a:ext uri="{FF2B5EF4-FFF2-40B4-BE49-F238E27FC236}">
                <a16:creationId xmlns:a16="http://schemas.microsoft.com/office/drawing/2014/main" id="{90111656-4650-A874-CB2D-46CAF71BBAE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5468" y="2006192"/>
            <a:ext cx="218900" cy="218900"/>
          </a:xfrm>
          <a:prstGeom prst="rect">
            <a:avLst/>
          </a:prstGeom>
        </p:spPr>
      </p:pic>
      <p:sp>
        <p:nvSpPr>
          <p:cNvPr id="70" name="Shape 38">
            <a:extLst>
              <a:ext uri="{FF2B5EF4-FFF2-40B4-BE49-F238E27FC236}">
                <a16:creationId xmlns:a16="http://schemas.microsoft.com/office/drawing/2014/main" id="{C8788985-9A2F-03E8-F00F-52D746217A81}"/>
              </a:ext>
            </a:extLst>
          </p:cNvPr>
          <p:cNvSpPr/>
          <p:nvPr/>
        </p:nvSpPr>
        <p:spPr>
          <a:xfrm>
            <a:off x="5437854" y="4328711"/>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b="1" noProof="0">
              <a:solidFill>
                <a:srgbClr val="1B3A6B"/>
              </a:solidFill>
              <a:latin typeface="Montserrat" panose="00000500000000000000" pitchFamily="2" charset="0"/>
            </a:endParaRPr>
          </a:p>
        </p:txBody>
      </p:sp>
      <p:sp>
        <p:nvSpPr>
          <p:cNvPr id="71" name="Shape 38">
            <a:extLst>
              <a:ext uri="{FF2B5EF4-FFF2-40B4-BE49-F238E27FC236}">
                <a16:creationId xmlns:a16="http://schemas.microsoft.com/office/drawing/2014/main" id="{622AEDFC-2250-E698-098F-C0F6F4C3A405}"/>
              </a:ext>
            </a:extLst>
          </p:cNvPr>
          <p:cNvSpPr/>
          <p:nvPr/>
        </p:nvSpPr>
        <p:spPr>
          <a:xfrm>
            <a:off x="5437854" y="3933406"/>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2" name="Shape 38">
            <a:extLst>
              <a:ext uri="{FF2B5EF4-FFF2-40B4-BE49-F238E27FC236}">
                <a16:creationId xmlns:a16="http://schemas.microsoft.com/office/drawing/2014/main" id="{7C104278-1035-0EDB-115D-724C282A2971}"/>
              </a:ext>
            </a:extLst>
          </p:cNvPr>
          <p:cNvSpPr/>
          <p:nvPr/>
        </p:nvSpPr>
        <p:spPr>
          <a:xfrm>
            <a:off x="5437854" y="3538100"/>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3" name="Shape 38">
            <a:extLst>
              <a:ext uri="{FF2B5EF4-FFF2-40B4-BE49-F238E27FC236}">
                <a16:creationId xmlns:a16="http://schemas.microsoft.com/office/drawing/2014/main" id="{1AA9942C-0B33-CB21-DBE4-EF334066BC9C}"/>
              </a:ext>
            </a:extLst>
          </p:cNvPr>
          <p:cNvSpPr/>
          <p:nvPr/>
        </p:nvSpPr>
        <p:spPr>
          <a:xfrm>
            <a:off x="5437854" y="3142794"/>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4" name="Shape 38">
            <a:extLst>
              <a:ext uri="{FF2B5EF4-FFF2-40B4-BE49-F238E27FC236}">
                <a16:creationId xmlns:a16="http://schemas.microsoft.com/office/drawing/2014/main" id="{9531073E-2727-D192-2F2A-82AC91F482F7}"/>
              </a:ext>
            </a:extLst>
          </p:cNvPr>
          <p:cNvSpPr/>
          <p:nvPr/>
        </p:nvSpPr>
        <p:spPr>
          <a:xfrm>
            <a:off x="5437854" y="2747489"/>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5" name="Shape 38">
            <a:extLst>
              <a:ext uri="{FF2B5EF4-FFF2-40B4-BE49-F238E27FC236}">
                <a16:creationId xmlns:a16="http://schemas.microsoft.com/office/drawing/2014/main" id="{E65091ED-81DD-034C-8839-3845B60DA6EC}"/>
              </a:ext>
            </a:extLst>
          </p:cNvPr>
          <p:cNvSpPr/>
          <p:nvPr/>
        </p:nvSpPr>
        <p:spPr>
          <a:xfrm>
            <a:off x="5437854" y="2352183"/>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6" name="Shape 38">
            <a:extLst>
              <a:ext uri="{FF2B5EF4-FFF2-40B4-BE49-F238E27FC236}">
                <a16:creationId xmlns:a16="http://schemas.microsoft.com/office/drawing/2014/main" id="{9009A65D-FA66-52B2-2CC6-1DDD52EA8047}"/>
              </a:ext>
            </a:extLst>
          </p:cNvPr>
          <p:cNvSpPr/>
          <p:nvPr/>
        </p:nvSpPr>
        <p:spPr>
          <a:xfrm>
            <a:off x="5437854" y="1956878"/>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7" name="Shape 38">
            <a:extLst>
              <a:ext uri="{FF2B5EF4-FFF2-40B4-BE49-F238E27FC236}">
                <a16:creationId xmlns:a16="http://schemas.microsoft.com/office/drawing/2014/main" id="{D71D8E38-6197-392A-497A-4EBF3AA746E9}"/>
              </a:ext>
            </a:extLst>
          </p:cNvPr>
          <p:cNvSpPr/>
          <p:nvPr/>
        </p:nvSpPr>
        <p:spPr>
          <a:xfrm>
            <a:off x="5437854" y="1561572"/>
            <a:ext cx="442532" cy="317915"/>
          </a:xfrm>
          <a:prstGeom prst="roundRect">
            <a:avLst>
              <a:gd name="adj" fmla="val 33234"/>
            </a:avLst>
          </a:prstGeom>
          <a:solidFill>
            <a:srgbClr val="FFFFFF"/>
          </a:solidFill>
          <a:ln>
            <a:solidFill>
              <a:srgbClr val="2E6DB4"/>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8" name="Shape 38">
            <a:extLst>
              <a:ext uri="{FF2B5EF4-FFF2-40B4-BE49-F238E27FC236}">
                <a16:creationId xmlns:a16="http://schemas.microsoft.com/office/drawing/2014/main" id="{4006F39D-A8F4-B7B6-1317-647D514EE9C4}"/>
              </a:ext>
            </a:extLst>
          </p:cNvPr>
          <p:cNvSpPr/>
          <p:nvPr/>
        </p:nvSpPr>
        <p:spPr>
          <a:xfrm>
            <a:off x="5437854" y="5119324"/>
            <a:ext cx="442532" cy="317915"/>
          </a:xfrm>
          <a:prstGeom prst="roundRect">
            <a:avLst>
              <a:gd name="adj" fmla="val 33234"/>
            </a:avLst>
          </a:prstGeom>
          <a:solidFill>
            <a:srgbClr val="FFFFFF"/>
          </a:solidFill>
          <a:ln>
            <a:solidFill>
              <a:srgbClr val="6E90A8"/>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79" name="Shape 38">
            <a:extLst>
              <a:ext uri="{FF2B5EF4-FFF2-40B4-BE49-F238E27FC236}">
                <a16:creationId xmlns:a16="http://schemas.microsoft.com/office/drawing/2014/main" id="{D4C1E6F6-4279-1165-C56A-23E41D9C87C1}"/>
              </a:ext>
            </a:extLst>
          </p:cNvPr>
          <p:cNvSpPr/>
          <p:nvPr/>
        </p:nvSpPr>
        <p:spPr>
          <a:xfrm>
            <a:off x="5437854" y="4724017"/>
            <a:ext cx="442532" cy="317915"/>
          </a:xfrm>
          <a:prstGeom prst="roundRect">
            <a:avLst>
              <a:gd name="adj" fmla="val 33234"/>
            </a:avLst>
          </a:prstGeom>
          <a:solidFill>
            <a:srgbClr val="FFFFFF"/>
          </a:solidFill>
          <a:ln>
            <a:solidFill>
              <a:srgbClr val="6E90A8"/>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sp>
        <p:nvSpPr>
          <p:cNvPr id="80" name="Shape 38">
            <a:extLst>
              <a:ext uri="{FF2B5EF4-FFF2-40B4-BE49-F238E27FC236}">
                <a16:creationId xmlns:a16="http://schemas.microsoft.com/office/drawing/2014/main" id="{0EA3B87C-9A75-1A96-0073-3A5D390EC7DF}"/>
              </a:ext>
            </a:extLst>
          </p:cNvPr>
          <p:cNvSpPr/>
          <p:nvPr/>
        </p:nvSpPr>
        <p:spPr>
          <a:xfrm>
            <a:off x="5437854" y="5526270"/>
            <a:ext cx="442532" cy="317915"/>
          </a:xfrm>
          <a:prstGeom prst="roundRect">
            <a:avLst>
              <a:gd name="adj" fmla="val 33234"/>
            </a:avLst>
          </a:prstGeom>
          <a:solidFill>
            <a:srgbClr val="FFFFFF"/>
          </a:solidFill>
          <a:ln>
            <a:solidFill>
              <a:srgbClr val="6E90A8"/>
            </a:solidFill>
          </a:ln>
        </p:spPr>
        <p:txBody>
          <a:bodyPr lIns="396000" anchor="ctr"/>
          <a:lstStyle/>
          <a:p>
            <a:pPr defTabSz="914400">
              <a:defRPr/>
            </a:pPr>
            <a:endParaRPr lang="en-US" sz="1200" noProof="0">
              <a:solidFill>
                <a:prstClr val="black"/>
              </a:solidFill>
              <a:latin typeface="Montserrat" panose="00000500000000000000" pitchFamily="2" charset="0"/>
            </a:endParaRPr>
          </a:p>
        </p:txBody>
      </p:sp>
      <p:pic>
        <p:nvPicPr>
          <p:cNvPr id="81" name="Gráfico 82" descr="Correo electrónico con relleno sólido">
            <a:extLst>
              <a:ext uri="{FF2B5EF4-FFF2-40B4-BE49-F238E27FC236}">
                <a16:creationId xmlns:a16="http://schemas.microsoft.com/office/drawing/2014/main" id="{232C3252-7836-0D29-0904-214FA4F8745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358" y="2400752"/>
            <a:ext cx="240790" cy="240790"/>
          </a:xfrm>
          <a:prstGeom prst="rect">
            <a:avLst/>
          </a:prstGeom>
        </p:spPr>
      </p:pic>
      <p:pic>
        <p:nvPicPr>
          <p:cNvPr id="82" name="Gráfico 83" descr="Correo electrónico con relleno sólido">
            <a:extLst>
              <a:ext uri="{FF2B5EF4-FFF2-40B4-BE49-F238E27FC236}">
                <a16:creationId xmlns:a16="http://schemas.microsoft.com/office/drawing/2014/main" id="{5E5DEF98-AC43-06B5-A3DC-B97FF40FAB8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358" y="3183072"/>
            <a:ext cx="240790" cy="240790"/>
          </a:xfrm>
          <a:prstGeom prst="rect">
            <a:avLst/>
          </a:prstGeom>
        </p:spPr>
      </p:pic>
      <p:pic>
        <p:nvPicPr>
          <p:cNvPr id="83" name="Gráfico 84" descr="Correo electrónico con relleno sólido">
            <a:extLst>
              <a:ext uri="{FF2B5EF4-FFF2-40B4-BE49-F238E27FC236}">
                <a16:creationId xmlns:a16="http://schemas.microsoft.com/office/drawing/2014/main" id="{104D9122-93DF-FAB9-FF71-66095ADFADC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358" y="3569152"/>
            <a:ext cx="240790" cy="240790"/>
          </a:xfrm>
          <a:prstGeom prst="rect">
            <a:avLst/>
          </a:prstGeom>
        </p:spPr>
      </p:pic>
      <p:pic>
        <p:nvPicPr>
          <p:cNvPr id="84" name="Gráfico 85" descr="Correo electrónico con relleno sólido">
            <a:extLst>
              <a:ext uri="{FF2B5EF4-FFF2-40B4-BE49-F238E27FC236}">
                <a16:creationId xmlns:a16="http://schemas.microsoft.com/office/drawing/2014/main" id="{F2219806-0246-4494-4368-D029D8DE55C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358" y="3975552"/>
            <a:ext cx="240790" cy="240790"/>
          </a:xfrm>
          <a:prstGeom prst="rect">
            <a:avLst/>
          </a:prstGeom>
        </p:spPr>
      </p:pic>
      <p:pic>
        <p:nvPicPr>
          <p:cNvPr id="85" name="Gráfico 86" descr="Documento con relleno sólido">
            <a:extLst>
              <a:ext uri="{FF2B5EF4-FFF2-40B4-BE49-F238E27FC236}">
                <a16:creationId xmlns:a16="http://schemas.microsoft.com/office/drawing/2014/main" id="{BDBDFE45-EECE-2A2E-FD71-200DC211A2A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526342" y="2773668"/>
            <a:ext cx="265557" cy="265557"/>
          </a:xfrm>
          <a:prstGeom prst="rect">
            <a:avLst/>
          </a:prstGeom>
        </p:spPr>
      </p:pic>
      <p:pic>
        <p:nvPicPr>
          <p:cNvPr id="86" name="Imagen 87" descr="Forma&#10;&#10;El contenido generado por IA puede ser incorrecto.">
            <a:extLst>
              <a:ext uri="{FF2B5EF4-FFF2-40B4-BE49-F238E27FC236}">
                <a16:creationId xmlns:a16="http://schemas.microsoft.com/office/drawing/2014/main" id="{A2F70943-B731-A207-6432-413F37C929CE}"/>
              </a:ext>
            </a:extLst>
          </p:cNvPr>
          <p:cNvPicPr>
            <a:picLocks noChangeAspect="1"/>
          </p:cNvPicPr>
          <p:nvPr/>
        </p:nvPicPr>
        <p:blipFill>
          <a:blip r:embed="rId15"/>
          <a:stretch>
            <a:fillRect/>
          </a:stretch>
        </p:blipFill>
        <p:spPr>
          <a:xfrm>
            <a:off x="5543632" y="5161754"/>
            <a:ext cx="230977" cy="230977"/>
          </a:xfrm>
          <a:prstGeom prst="rect">
            <a:avLst/>
          </a:prstGeom>
        </p:spPr>
      </p:pic>
      <p:pic>
        <p:nvPicPr>
          <p:cNvPr id="87" name="Imagen 88" descr="Forma&#10;&#10;El contenido generado por IA puede ser incorrecto.">
            <a:extLst>
              <a:ext uri="{FF2B5EF4-FFF2-40B4-BE49-F238E27FC236}">
                <a16:creationId xmlns:a16="http://schemas.microsoft.com/office/drawing/2014/main" id="{C6877AA5-9EB9-6BBE-C11C-25A6599AEF57}"/>
              </a:ext>
            </a:extLst>
          </p:cNvPr>
          <p:cNvPicPr>
            <a:picLocks noChangeAspect="1"/>
          </p:cNvPicPr>
          <p:nvPr/>
        </p:nvPicPr>
        <p:blipFill>
          <a:blip r:embed="rId16"/>
          <a:stretch>
            <a:fillRect/>
          </a:stretch>
        </p:blipFill>
        <p:spPr>
          <a:xfrm>
            <a:off x="5543632" y="5575427"/>
            <a:ext cx="230977" cy="230977"/>
          </a:xfrm>
          <a:prstGeom prst="rect">
            <a:avLst/>
          </a:prstGeom>
        </p:spPr>
      </p:pic>
      <p:pic>
        <p:nvPicPr>
          <p:cNvPr id="88" name="Imagen 89" descr="Forma&#10;&#10;El contenido generado por IA puede ser incorrecto.">
            <a:extLst>
              <a:ext uri="{FF2B5EF4-FFF2-40B4-BE49-F238E27FC236}">
                <a16:creationId xmlns:a16="http://schemas.microsoft.com/office/drawing/2014/main" id="{A38FA6C7-BA80-B8B3-8A3C-CBA8E1940E3A}"/>
              </a:ext>
            </a:extLst>
          </p:cNvPr>
          <p:cNvPicPr>
            <a:picLocks noChangeAspect="1"/>
          </p:cNvPicPr>
          <p:nvPr/>
        </p:nvPicPr>
        <p:blipFill>
          <a:blip r:embed="rId17"/>
          <a:stretch>
            <a:fillRect/>
          </a:stretch>
        </p:blipFill>
        <p:spPr>
          <a:xfrm>
            <a:off x="5529539" y="1591661"/>
            <a:ext cx="279483" cy="279483"/>
          </a:xfrm>
          <a:prstGeom prst="rect">
            <a:avLst/>
          </a:prstGeom>
        </p:spPr>
      </p:pic>
      <p:pic>
        <p:nvPicPr>
          <p:cNvPr id="89" name="Imagen 90" descr="Forma&#10;&#10;El contenido generado por IA puede ser incorrecto.">
            <a:extLst>
              <a:ext uri="{FF2B5EF4-FFF2-40B4-BE49-F238E27FC236}">
                <a16:creationId xmlns:a16="http://schemas.microsoft.com/office/drawing/2014/main" id="{30418FC3-DA0C-E6E8-5B3C-72B1D30C5E4B}"/>
              </a:ext>
            </a:extLst>
          </p:cNvPr>
          <p:cNvPicPr>
            <a:picLocks noChangeAspect="1"/>
          </p:cNvPicPr>
          <p:nvPr/>
        </p:nvPicPr>
        <p:blipFill>
          <a:blip r:embed="rId18"/>
          <a:stretch>
            <a:fillRect/>
          </a:stretch>
        </p:blipFill>
        <p:spPr>
          <a:xfrm>
            <a:off x="5552637" y="4378279"/>
            <a:ext cx="233287" cy="233287"/>
          </a:xfrm>
          <a:prstGeom prst="rect">
            <a:avLst/>
          </a:prstGeom>
        </p:spPr>
      </p:pic>
      <p:sp>
        <p:nvSpPr>
          <p:cNvPr id="101" name="CuadroTexto 102">
            <a:extLst>
              <a:ext uri="{FF2B5EF4-FFF2-40B4-BE49-F238E27FC236}">
                <a16:creationId xmlns:a16="http://schemas.microsoft.com/office/drawing/2014/main" id="{5D47BFE3-056F-A9C1-2AAA-CC5855603CDB}"/>
              </a:ext>
            </a:extLst>
          </p:cNvPr>
          <p:cNvSpPr txBox="1"/>
          <p:nvPr/>
        </p:nvSpPr>
        <p:spPr>
          <a:xfrm>
            <a:off x="2740052" y="1968257"/>
            <a:ext cx="2413828" cy="307777"/>
          </a:xfrm>
          <a:prstGeom prst="rect">
            <a:avLst/>
          </a:prstGeom>
          <a:noFill/>
        </p:spPr>
        <p:txBody>
          <a:bodyPr wrap="square">
            <a:spAutoFit/>
          </a:bodyPr>
          <a:lstStyle/>
          <a:p>
            <a:pPr defTabSz="914400">
              <a:defRPr/>
            </a:pPr>
            <a:r>
              <a:rPr lang="en-US" sz="700" noProof="0">
                <a:solidFill>
                  <a:prstClr val="black"/>
                </a:solidFill>
                <a:latin typeface="Montserrat" panose="00000500000000000000" pitchFamily="2" charset="0"/>
                <a:cs typeface="Arial" panose="020B0604020202020204" pitchFamily="34" charset="0"/>
              </a:rPr>
              <a:t>Large Demand is planned and organized annually through PDD Process </a:t>
            </a:r>
            <a:endParaRPr lang="en-US" sz="700" noProof="0">
              <a:solidFill>
                <a:prstClr val="black"/>
              </a:solidFill>
              <a:latin typeface="Montserrat" panose="00000500000000000000" pitchFamily="2" charset="0"/>
            </a:endParaRPr>
          </a:p>
        </p:txBody>
      </p:sp>
      <p:sp>
        <p:nvSpPr>
          <p:cNvPr id="102" name="CuadroTexto 103">
            <a:extLst>
              <a:ext uri="{FF2B5EF4-FFF2-40B4-BE49-F238E27FC236}">
                <a16:creationId xmlns:a16="http://schemas.microsoft.com/office/drawing/2014/main" id="{BC650B08-484A-3917-4707-B69D09CF0E5E}"/>
              </a:ext>
            </a:extLst>
          </p:cNvPr>
          <p:cNvSpPr txBox="1"/>
          <p:nvPr/>
        </p:nvSpPr>
        <p:spPr>
          <a:xfrm>
            <a:off x="2740051" y="1563143"/>
            <a:ext cx="2630601" cy="307777"/>
          </a:xfrm>
          <a:prstGeom prst="rect">
            <a:avLst/>
          </a:prstGeom>
          <a:noFill/>
        </p:spPr>
        <p:txBody>
          <a:bodyPr wrap="square">
            <a:spAutoFit/>
          </a:bodyPr>
          <a:lstStyle/>
          <a:p>
            <a:pPr defTabSz="914400">
              <a:defRPr/>
            </a:pPr>
            <a:r>
              <a:rPr lang="en-US" sz="700" noProof="0">
                <a:solidFill>
                  <a:prstClr val="black"/>
                </a:solidFill>
                <a:latin typeface="Montserrat" panose="00000500000000000000" pitchFamily="2" charset="0"/>
                <a:cs typeface="Arial" panose="020B0604020202020204" pitchFamily="34" charset="0"/>
              </a:rPr>
              <a:t>Requests can be submitted to BRS through ticketing system and Kanban is used to manage requests</a:t>
            </a:r>
            <a:endParaRPr lang="en-US" sz="700" noProof="0">
              <a:solidFill>
                <a:prstClr val="black"/>
              </a:solidFill>
              <a:latin typeface="Montserrat" panose="00000500000000000000" pitchFamily="2" charset="0"/>
            </a:endParaRPr>
          </a:p>
        </p:txBody>
      </p:sp>
      <p:sp>
        <p:nvSpPr>
          <p:cNvPr id="103" name="Text 6">
            <a:extLst>
              <a:ext uri="{FF2B5EF4-FFF2-40B4-BE49-F238E27FC236}">
                <a16:creationId xmlns:a16="http://schemas.microsoft.com/office/drawing/2014/main" id="{FD129595-CD41-6A48-B68F-DEFC115169CA}"/>
              </a:ext>
            </a:extLst>
          </p:cNvPr>
          <p:cNvSpPr txBox="1"/>
          <p:nvPr/>
        </p:nvSpPr>
        <p:spPr>
          <a:xfrm>
            <a:off x="354870" y="6294875"/>
            <a:ext cx="8106224" cy="338328"/>
          </a:xfrm>
          <a:prstGeom prst="rect">
            <a:avLst/>
          </a:prstGeom>
          <a:noFill/>
          <a:ln/>
        </p:spPr>
        <p:txBody>
          <a:bodyPr wrap="square" lIns="0" tIns="0" rIns="0" bIns="0" rtlCol="0" anchor="ctr"/>
          <a:lstStyle/>
          <a:p>
            <a:pPr defTabSz="914400">
              <a:defRPr/>
            </a:pPr>
            <a:r>
              <a:rPr lang="en-US" sz="1000" b="1" i="1" noProof="0">
                <a:solidFill>
                  <a:srgbClr val="718096"/>
                </a:solidFill>
                <a:latin typeface="Montserrat" panose="00000500000000000000" pitchFamily="2" charset="0"/>
                <a:ea typeface="Open Sans" pitchFamily="34" charset="-122"/>
                <a:cs typeface="Open Sans" pitchFamily="34" charset="-120"/>
              </a:rPr>
              <a:t>Note:</a:t>
            </a:r>
            <a:r>
              <a:rPr lang="en-US" sz="1000" i="1" noProof="0">
                <a:solidFill>
                  <a:srgbClr val="718096"/>
                </a:solidFill>
                <a:latin typeface="Montserrat" panose="00000500000000000000" pitchFamily="2" charset="0"/>
                <a:ea typeface="Open Sans" pitchFamily="34" charset="-122"/>
                <a:cs typeface="Open Sans" pitchFamily="34" charset="-120"/>
              </a:rPr>
              <a:t> Ideation &amp; Strategy occur upstream (Business Side). The Digital Products lifecycle begins formally at </a:t>
            </a:r>
            <a:r>
              <a:rPr lang="en-US" sz="1000" b="1" i="1" noProof="0">
                <a:solidFill>
                  <a:srgbClr val="718096"/>
                </a:solidFill>
                <a:latin typeface="Montserrat" panose="00000500000000000000" pitchFamily="2" charset="0"/>
                <a:ea typeface="Open Sans" pitchFamily="34" charset="-122"/>
                <a:cs typeface="Open Sans" pitchFamily="34" charset="-120"/>
              </a:rPr>
              <a:t>Intake</a:t>
            </a:r>
            <a:r>
              <a:rPr lang="en-US" sz="1000" i="1" noProof="0">
                <a:solidFill>
                  <a:srgbClr val="718096"/>
                </a:solidFill>
                <a:latin typeface="Montserrat" panose="00000500000000000000" pitchFamily="2" charset="0"/>
                <a:ea typeface="Open Sans" pitchFamily="34" charset="-122"/>
                <a:cs typeface="Open Sans" pitchFamily="34" charset="-120"/>
              </a:rPr>
              <a:t>.</a:t>
            </a:r>
            <a:endParaRPr lang="en-US" sz="1000" noProof="0">
              <a:solidFill>
                <a:prstClr val="black"/>
              </a:solidFill>
              <a:latin typeface="Montserrat" panose="00000500000000000000" pitchFamily="2" charset="0"/>
            </a:endParaRPr>
          </a:p>
        </p:txBody>
      </p:sp>
      <p:sp>
        <p:nvSpPr>
          <p:cNvPr id="104" name="Rectangle: Rounded Corners 6">
            <a:extLst>
              <a:ext uri="{FF2B5EF4-FFF2-40B4-BE49-F238E27FC236}">
                <a16:creationId xmlns:a16="http://schemas.microsoft.com/office/drawing/2014/main" id="{8DDD2462-DCA1-C0FC-7566-F84AF68C0EF2}"/>
              </a:ext>
            </a:extLst>
          </p:cNvPr>
          <p:cNvSpPr/>
          <p:nvPr/>
        </p:nvSpPr>
        <p:spPr>
          <a:xfrm>
            <a:off x="182556" y="1372808"/>
            <a:ext cx="2188398" cy="164154"/>
          </a:xfrm>
          <a:prstGeom prst="roundRect">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mn-cs"/>
              </a:rPr>
              <a:t>Illustrative &amp; Non-exhaustive</a:t>
            </a:r>
          </a:p>
        </p:txBody>
      </p:sp>
      <p:sp>
        <p:nvSpPr>
          <p:cNvPr id="105" name="Text 6">
            <a:extLst>
              <a:ext uri="{FF2B5EF4-FFF2-40B4-BE49-F238E27FC236}">
                <a16:creationId xmlns:a16="http://schemas.microsoft.com/office/drawing/2014/main" id="{63CA05F6-B68A-A3D2-3033-FBF1213AAF5A}"/>
              </a:ext>
            </a:extLst>
          </p:cNvPr>
          <p:cNvSpPr txBox="1"/>
          <p:nvPr/>
        </p:nvSpPr>
        <p:spPr>
          <a:xfrm>
            <a:off x="5670586" y="6580878"/>
            <a:ext cx="618324"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Kanban</a:t>
            </a:r>
            <a:endParaRPr lang="en-US" sz="1000" noProof="0">
              <a:solidFill>
                <a:prstClr val="black"/>
              </a:solidFill>
              <a:latin typeface="Montserrat" panose="00000500000000000000" pitchFamily="2" charset="0"/>
            </a:endParaRPr>
          </a:p>
        </p:txBody>
      </p:sp>
      <p:sp>
        <p:nvSpPr>
          <p:cNvPr id="106" name="Text 6">
            <a:extLst>
              <a:ext uri="{FF2B5EF4-FFF2-40B4-BE49-F238E27FC236}">
                <a16:creationId xmlns:a16="http://schemas.microsoft.com/office/drawing/2014/main" id="{40EECA6B-30D7-CB55-1261-851F9C36C1DA}"/>
              </a:ext>
            </a:extLst>
          </p:cNvPr>
          <p:cNvSpPr txBox="1"/>
          <p:nvPr/>
        </p:nvSpPr>
        <p:spPr>
          <a:xfrm>
            <a:off x="3199763" y="6580878"/>
            <a:ext cx="822989"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Service Now</a:t>
            </a:r>
            <a:endParaRPr lang="en-US" sz="1000" noProof="0">
              <a:solidFill>
                <a:prstClr val="black"/>
              </a:solidFill>
              <a:latin typeface="Montserrat" panose="00000500000000000000" pitchFamily="2" charset="0"/>
            </a:endParaRPr>
          </a:p>
        </p:txBody>
      </p:sp>
      <p:sp>
        <p:nvSpPr>
          <p:cNvPr id="107" name="Text 6">
            <a:extLst>
              <a:ext uri="{FF2B5EF4-FFF2-40B4-BE49-F238E27FC236}">
                <a16:creationId xmlns:a16="http://schemas.microsoft.com/office/drawing/2014/main" id="{10EBDFB2-01E7-2D21-8808-4CFEB7A6065D}"/>
              </a:ext>
            </a:extLst>
          </p:cNvPr>
          <p:cNvSpPr txBox="1"/>
          <p:nvPr/>
        </p:nvSpPr>
        <p:spPr>
          <a:xfrm>
            <a:off x="6465499" y="6580878"/>
            <a:ext cx="618324"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Email</a:t>
            </a:r>
            <a:endParaRPr lang="en-US" sz="1000" noProof="0">
              <a:solidFill>
                <a:prstClr val="black"/>
              </a:solidFill>
              <a:latin typeface="Montserrat" panose="00000500000000000000" pitchFamily="2" charset="0"/>
            </a:endParaRPr>
          </a:p>
        </p:txBody>
      </p:sp>
      <p:sp>
        <p:nvSpPr>
          <p:cNvPr id="108" name="Text 6">
            <a:extLst>
              <a:ext uri="{FF2B5EF4-FFF2-40B4-BE49-F238E27FC236}">
                <a16:creationId xmlns:a16="http://schemas.microsoft.com/office/drawing/2014/main" id="{76CC5994-C6D2-D732-548B-9D6879961697}"/>
              </a:ext>
            </a:extLst>
          </p:cNvPr>
          <p:cNvSpPr txBox="1"/>
          <p:nvPr/>
        </p:nvSpPr>
        <p:spPr>
          <a:xfrm>
            <a:off x="4267047" y="6580878"/>
            <a:ext cx="822989"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Forms</a:t>
            </a:r>
            <a:endParaRPr lang="en-US" sz="1000" noProof="0">
              <a:solidFill>
                <a:prstClr val="black"/>
              </a:solidFill>
              <a:latin typeface="Montserrat" panose="00000500000000000000" pitchFamily="2" charset="0"/>
            </a:endParaRPr>
          </a:p>
        </p:txBody>
      </p:sp>
      <p:sp>
        <p:nvSpPr>
          <p:cNvPr id="109" name="Text 6">
            <a:extLst>
              <a:ext uri="{FF2B5EF4-FFF2-40B4-BE49-F238E27FC236}">
                <a16:creationId xmlns:a16="http://schemas.microsoft.com/office/drawing/2014/main" id="{FBEE1947-ABE3-406B-83B9-551324E56EB6}"/>
              </a:ext>
            </a:extLst>
          </p:cNvPr>
          <p:cNvSpPr txBox="1"/>
          <p:nvPr/>
        </p:nvSpPr>
        <p:spPr>
          <a:xfrm>
            <a:off x="7104929" y="6580878"/>
            <a:ext cx="618324"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Meetings</a:t>
            </a:r>
            <a:endParaRPr lang="en-US" sz="1000" noProof="0">
              <a:solidFill>
                <a:prstClr val="black"/>
              </a:solidFill>
              <a:latin typeface="Montserrat" panose="00000500000000000000" pitchFamily="2" charset="0"/>
            </a:endParaRPr>
          </a:p>
        </p:txBody>
      </p:sp>
      <p:sp>
        <p:nvSpPr>
          <p:cNvPr id="110" name="Text 6">
            <a:extLst>
              <a:ext uri="{FF2B5EF4-FFF2-40B4-BE49-F238E27FC236}">
                <a16:creationId xmlns:a16="http://schemas.microsoft.com/office/drawing/2014/main" id="{3EFF22D1-B31C-ADF6-10E7-8F677752C804}"/>
              </a:ext>
            </a:extLst>
          </p:cNvPr>
          <p:cNvSpPr txBox="1"/>
          <p:nvPr/>
        </p:nvSpPr>
        <p:spPr>
          <a:xfrm>
            <a:off x="4931389" y="6580878"/>
            <a:ext cx="618324"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Teams</a:t>
            </a:r>
            <a:endParaRPr lang="en-US" sz="1000" noProof="0">
              <a:solidFill>
                <a:prstClr val="black"/>
              </a:solidFill>
              <a:latin typeface="Montserrat" panose="00000500000000000000" pitchFamily="2" charset="0"/>
            </a:endParaRPr>
          </a:p>
        </p:txBody>
      </p:sp>
      <p:pic>
        <p:nvPicPr>
          <p:cNvPr id="111" name="Imagen 112" descr="Forma&#10;&#10;El contenido generado por IA puede ser incorrecto.">
            <a:extLst>
              <a:ext uri="{FF2B5EF4-FFF2-40B4-BE49-F238E27FC236}">
                <a16:creationId xmlns:a16="http://schemas.microsoft.com/office/drawing/2014/main" id="{DBB1600F-F1AB-60B8-B3BC-C895FEBA9EE7}"/>
              </a:ext>
            </a:extLst>
          </p:cNvPr>
          <p:cNvPicPr>
            <a:picLocks noChangeAspect="1"/>
          </p:cNvPicPr>
          <p:nvPr/>
        </p:nvPicPr>
        <p:blipFill>
          <a:blip r:embed="rId17"/>
          <a:stretch>
            <a:fillRect/>
          </a:stretch>
        </p:blipFill>
        <p:spPr>
          <a:xfrm>
            <a:off x="5454915" y="6609651"/>
            <a:ext cx="173536" cy="173536"/>
          </a:xfrm>
          <a:prstGeom prst="rect">
            <a:avLst/>
          </a:prstGeom>
        </p:spPr>
      </p:pic>
      <p:pic>
        <p:nvPicPr>
          <p:cNvPr id="112" name="Imagen 113" descr="Forma&#10;&#10;El contenido generado por IA puede ser incorrecto.">
            <a:extLst>
              <a:ext uri="{FF2B5EF4-FFF2-40B4-BE49-F238E27FC236}">
                <a16:creationId xmlns:a16="http://schemas.microsoft.com/office/drawing/2014/main" id="{1B1F4870-473E-E9E0-19C6-AFE51BB98C9D}"/>
              </a:ext>
            </a:extLst>
          </p:cNvPr>
          <p:cNvPicPr>
            <a:picLocks noChangeAspect="1"/>
          </p:cNvPicPr>
          <p:nvPr/>
        </p:nvPicPr>
        <p:blipFill>
          <a:blip r:embed="rId16"/>
          <a:stretch>
            <a:fillRect/>
          </a:stretch>
        </p:blipFill>
        <p:spPr>
          <a:xfrm>
            <a:off x="2989440" y="6617539"/>
            <a:ext cx="157760" cy="157760"/>
          </a:xfrm>
          <a:prstGeom prst="rect">
            <a:avLst/>
          </a:prstGeom>
        </p:spPr>
      </p:pic>
      <p:pic>
        <p:nvPicPr>
          <p:cNvPr id="113" name="Gráfico 114" descr="Correo electrónico con relleno sólido">
            <a:extLst>
              <a:ext uri="{FF2B5EF4-FFF2-40B4-BE49-F238E27FC236}">
                <a16:creationId xmlns:a16="http://schemas.microsoft.com/office/drawing/2014/main" id="{66A75A7D-64DD-9189-4F01-171C6645D9F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278553" y="6621663"/>
            <a:ext cx="149512" cy="149512"/>
          </a:xfrm>
          <a:prstGeom prst="rect">
            <a:avLst/>
          </a:prstGeom>
        </p:spPr>
      </p:pic>
      <p:pic>
        <p:nvPicPr>
          <p:cNvPr id="114" name="Gráfico 115" descr="Documento con relleno sólido">
            <a:extLst>
              <a:ext uri="{FF2B5EF4-FFF2-40B4-BE49-F238E27FC236}">
                <a16:creationId xmlns:a16="http://schemas.microsoft.com/office/drawing/2014/main" id="{8EF56829-7BAA-275F-1835-BFD23AD1017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066326" y="6596661"/>
            <a:ext cx="199516" cy="199516"/>
          </a:xfrm>
          <a:prstGeom prst="rect">
            <a:avLst/>
          </a:prstGeom>
        </p:spPr>
      </p:pic>
      <p:pic>
        <p:nvPicPr>
          <p:cNvPr id="115" name="Imagen 116" descr="Forma&#10;&#10;El contenido generado por IA puede ser incorrecto.">
            <a:extLst>
              <a:ext uri="{FF2B5EF4-FFF2-40B4-BE49-F238E27FC236}">
                <a16:creationId xmlns:a16="http://schemas.microsoft.com/office/drawing/2014/main" id="{1C1984E0-DCED-9E34-3ADF-0BA744CB9052}"/>
              </a:ext>
            </a:extLst>
          </p:cNvPr>
          <p:cNvPicPr>
            <a:picLocks noChangeAspect="1"/>
          </p:cNvPicPr>
          <p:nvPr/>
        </p:nvPicPr>
        <p:blipFill>
          <a:blip r:embed="rId18"/>
          <a:stretch>
            <a:fillRect/>
          </a:stretch>
        </p:blipFill>
        <p:spPr>
          <a:xfrm>
            <a:off x="6933044" y="6630577"/>
            <a:ext cx="131685" cy="131685"/>
          </a:xfrm>
          <a:prstGeom prst="rect">
            <a:avLst/>
          </a:prstGeom>
        </p:spPr>
      </p:pic>
      <p:pic>
        <p:nvPicPr>
          <p:cNvPr id="116" name="Imagen 117" descr="Forma&#10;&#10;El contenido generado por IA puede ser incorrecto.">
            <a:extLst>
              <a:ext uri="{FF2B5EF4-FFF2-40B4-BE49-F238E27FC236}">
                <a16:creationId xmlns:a16="http://schemas.microsoft.com/office/drawing/2014/main" id="{BFADB9DC-BB62-5C93-7446-D81A8B2614E4}"/>
              </a:ext>
            </a:extLst>
          </p:cNvPr>
          <p:cNvPicPr>
            <a:picLocks noChangeAspect="1"/>
          </p:cNvPicPr>
          <p:nvPr/>
        </p:nvPicPr>
        <p:blipFill>
          <a:blip r:embed="rId15"/>
          <a:stretch>
            <a:fillRect/>
          </a:stretch>
        </p:blipFill>
        <p:spPr>
          <a:xfrm>
            <a:off x="4766337" y="6624710"/>
            <a:ext cx="143418" cy="143418"/>
          </a:xfrm>
          <a:prstGeom prst="rect">
            <a:avLst/>
          </a:prstGeom>
        </p:spPr>
      </p:pic>
      <p:pic>
        <p:nvPicPr>
          <p:cNvPr id="117" name="Gráfico 118" descr="Correo electrónico con relleno sólido">
            <a:extLst>
              <a:ext uri="{FF2B5EF4-FFF2-40B4-BE49-F238E27FC236}">
                <a16:creationId xmlns:a16="http://schemas.microsoft.com/office/drawing/2014/main" id="{2548C185-9D35-D826-970D-FA9E0048E53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358" y="4780380"/>
            <a:ext cx="240790" cy="240790"/>
          </a:xfrm>
          <a:prstGeom prst="rect">
            <a:avLst/>
          </a:prstGeom>
        </p:spPr>
      </p:pic>
      <p:pic>
        <p:nvPicPr>
          <p:cNvPr id="118" name="Gráfico 220" descr="Documento con relleno sólido">
            <a:extLst>
              <a:ext uri="{FF2B5EF4-FFF2-40B4-BE49-F238E27FC236}">
                <a16:creationId xmlns:a16="http://schemas.microsoft.com/office/drawing/2014/main" id="{A8E501A4-AD95-7E69-F02F-AD27C88F8B7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526601" y="1977227"/>
            <a:ext cx="265557" cy="265557"/>
          </a:xfrm>
          <a:prstGeom prst="rect">
            <a:avLst/>
          </a:prstGeom>
        </p:spPr>
      </p:pic>
      <p:pic>
        <p:nvPicPr>
          <p:cNvPr id="119" name="Imagen 120" descr="Icono&#10;&#10;El contenido generado por IA puede ser incorrecto.">
            <a:extLst>
              <a:ext uri="{FF2B5EF4-FFF2-40B4-BE49-F238E27FC236}">
                <a16:creationId xmlns:a16="http://schemas.microsoft.com/office/drawing/2014/main" id="{5ABE6211-F25F-E4F7-C003-5119E9E465E2}"/>
              </a:ext>
            </a:extLst>
          </p:cNvPr>
          <p:cNvPicPr>
            <a:picLocks noChangeAspect="1"/>
          </p:cNvPicPr>
          <p:nvPr/>
        </p:nvPicPr>
        <p:blipFill>
          <a:blip r:embed="rId19"/>
          <a:stretch>
            <a:fillRect/>
          </a:stretch>
        </p:blipFill>
        <p:spPr>
          <a:xfrm>
            <a:off x="1466875" y="1595365"/>
            <a:ext cx="230977" cy="230977"/>
          </a:xfrm>
          <a:prstGeom prst="rect">
            <a:avLst/>
          </a:prstGeom>
        </p:spPr>
      </p:pic>
      <p:pic>
        <p:nvPicPr>
          <p:cNvPr id="120" name="Imagen 121" descr="Icono&#10;&#10;El contenido generado por IA puede ser incorrecto.">
            <a:extLst>
              <a:ext uri="{FF2B5EF4-FFF2-40B4-BE49-F238E27FC236}">
                <a16:creationId xmlns:a16="http://schemas.microsoft.com/office/drawing/2014/main" id="{A8E8576B-2777-F072-720D-F7B3B64CF803}"/>
              </a:ext>
            </a:extLst>
          </p:cNvPr>
          <p:cNvPicPr>
            <a:picLocks noChangeAspect="1"/>
          </p:cNvPicPr>
          <p:nvPr/>
        </p:nvPicPr>
        <p:blipFill>
          <a:blip r:embed="rId19"/>
          <a:stretch>
            <a:fillRect/>
          </a:stretch>
        </p:blipFill>
        <p:spPr>
          <a:xfrm>
            <a:off x="436514" y="5921321"/>
            <a:ext cx="209979" cy="209979"/>
          </a:xfrm>
          <a:prstGeom prst="rect">
            <a:avLst/>
          </a:prstGeom>
        </p:spPr>
      </p:pic>
      <p:sp>
        <p:nvSpPr>
          <p:cNvPr id="121" name="Text 6">
            <a:extLst>
              <a:ext uri="{FF2B5EF4-FFF2-40B4-BE49-F238E27FC236}">
                <a16:creationId xmlns:a16="http://schemas.microsoft.com/office/drawing/2014/main" id="{C17989ED-A54D-04E1-BED4-B66A6B26D1E6}"/>
              </a:ext>
            </a:extLst>
          </p:cNvPr>
          <p:cNvSpPr txBox="1"/>
          <p:nvPr/>
        </p:nvSpPr>
        <p:spPr>
          <a:xfrm>
            <a:off x="703029" y="5893600"/>
            <a:ext cx="748172" cy="231083"/>
          </a:xfrm>
          <a:prstGeom prst="rect">
            <a:avLst/>
          </a:prstGeom>
          <a:noFill/>
          <a:ln/>
        </p:spPr>
        <p:txBody>
          <a:bodyPr wrap="square" lIns="0" tIns="0" rIns="0" bIns="0" rtlCol="0" anchor="ctr"/>
          <a:lstStyle/>
          <a:p>
            <a:pPr defTabSz="914400">
              <a:defRPr/>
            </a:pPr>
            <a:r>
              <a:rPr lang="en-US" sz="1000" i="1" noProof="0">
                <a:solidFill>
                  <a:srgbClr val="718096"/>
                </a:solidFill>
                <a:latin typeface="Montserrat" panose="00000500000000000000" pitchFamily="2" charset="0"/>
                <a:ea typeface="Open Sans" pitchFamily="34" charset="-122"/>
                <a:cs typeface="Open Sans" pitchFamily="34" charset="-120"/>
              </a:rPr>
              <a:t>Pilot Scope</a:t>
            </a:r>
            <a:endParaRPr lang="en-US" sz="1000" noProof="0">
              <a:solidFill>
                <a:prstClr val="black"/>
              </a:solidFill>
              <a:latin typeface="Montserrat" panose="00000500000000000000" pitchFamily="2" charset="0"/>
            </a:endParaRPr>
          </a:p>
        </p:txBody>
      </p:sp>
      <p:pic>
        <p:nvPicPr>
          <p:cNvPr id="122" name="Imagen 7" descr="Icono&#10;&#10;El contenido generado por IA puede ser incorrecto.">
            <a:extLst>
              <a:ext uri="{FF2B5EF4-FFF2-40B4-BE49-F238E27FC236}">
                <a16:creationId xmlns:a16="http://schemas.microsoft.com/office/drawing/2014/main" id="{AC19661E-4199-2590-EE82-37628D06AB4A}"/>
              </a:ext>
            </a:extLst>
          </p:cNvPr>
          <p:cNvPicPr>
            <a:picLocks noChangeAspect="1"/>
          </p:cNvPicPr>
          <p:nvPr/>
        </p:nvPicPr>
        <p:blipFill>
          <a:blip r:embed="rId19"/>
          <a:stretch>
            <a:fillRect/>
          </a:stretch>
        </p:blipFill>
        <p:spPr>
          <a:xfrm>
            <a:off x="11294042" y="1749483"/>
            <a:ext cx="209979" cy="209979"/>
          </a:xfrm>
          <a:prstGeom prst="rect">
            <a:avLst/>
          </a:prstGeom>
          <a:solidFill>
            <a:schemeClr val="accent1"/>
          </a:solidFill>
        </p:spPr>
      </p:pic>
      <p:sp>
        <p:nvSpPr>
          <p:cNvPr id="125" name="Título 2">
            <a:extLst>
              <a:ext uri="{FF2B5EF4-FFF2-40B4-BE49-F238E27FC236}">
                <a16:creationId xmlns:a16="http://schemas.microsoft.com/office/drawing/2014/main" id="{AE9E851B-4674-28A1-2A53-EBF1F5DF6FE9}"/>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Arial" panose="020B0604020202020204" pitchFamily="34" charset="0"/>
                <a:ea typeface="+mj-ea"/>
                <a:cs typeface="Arial" panose="020B0604020202020204" pitchFamily="34" charset="0"/>
              </a:defRPr>
            </a:lvl1pPr>
          </a:lstStyle>
          <a:p>
            <a:r>
              <a:rPr lang="en-US" noProof="0"/>
              <a:t>Demand Sources (AS-IS): </a:t>
            </a:r>
          </a:p>
          <a:p>
            <a:r>
              <a:rPr lang="en-US" sz="1200" noProof="0"/>
              <a:t>How Work Reaches Digital Products Today</a:t>
            </a:r>
          </a:p>
        </p:txBody>
      </p:sp>
      <p:sp>
        <p:nvSpPr>
          <p:cNvPr id="123" name="Rectangle 28">
            <a:extLst>
              <a:ext uri="{FF2B5EF4-FFF2-40B4-BE49-F238E27FC236}">
                <a16:creationId xmlns:a16="http://schemas.microsoft.com/office/drawing/2014/main" id="{3AC13F4C-4500-D7F4-C34C-8389C282C11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6" name="Rectangle 40">
            <a:extLst>
              <a:ext uri="{FF2B5EF4-FFF2-40B4-BE49-F238E27FC236}">
                <a16:creationId xmlns:a16="http://schemas.microsoft.com/office/drawing/2014/main" id="{351540E7-E9FF-9E7E-E477-AB766774D3D5}"/>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7" name="Rectangle 52">
            <a:extLst>
              <a:ext uri="{FF2B5EF4-FFF2-40B4-BE49-F238E27FC236}">
                <a16:creationId xmlns:a16="http://schemas.microsoft.com/office/drawing/2014/main" id="{79C873CF-A29C-7CD1-CCA6-51C13ABB0A1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8" name="Rectangle 64">
            <a:extLst>
              <a:ext uri="{FF2B5EF4-FFF2-40B4-BE49-F238E27FC236}">
                <a16:creationId xmlns:a16="http://schemas.microsoft.com/office/drawing/2014/main" id="{8F0C54AF-7DB9-9FD0-5831-C3848A8972EF}"/>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9" name="Rectangle 64">
            <a:extLst>
              <a:ext uri="{FF2B5EF4-FFF2-40B4-BE49-F238E27FC236}">
                <a16:creationId xmlns:a16="http://schemas.microsoft.com/office/drawing/2014/main" id="{024938CA-FC1D-E3EA-BC36-9EB8DA6AE642}"/>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0" name="Rectangle 64">
            <a:extLst>
              <a:ext uri="{FF2B5EF4-FFF2-40B4-BE49-F238E27FC236}">
                <a16:creationId xmlns:a16="http://schemas.microsoft.com/office/drawing/2014/main" id="{3FB7D751-5087-D6B8-ED39-E0DCEF91B38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1" name="Rectangle 64">
            <a:extLst>
              <a:ext uri="{FF2B5EF4-FFF2-40B4-BE49-F238E27FC236}">
                <a16:creationId xmlns:a16="http://schemas.microsoft.com/office/drawing/2014/main" id="{9E9F4483-A501-409C-FE9B-1C86DB19605F}"/>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pSp>
        <p:nvGrpSpPr>
          <p:cNvPr id="146" name="Group 145">
            <a:extLst>
              <a:ext uri="{FF2B5EF4-FFF2-40B4-BE49-F238E27FC236}">
                <a16:creationId xmlns:a16="http://schemas.microsoft.com/office/drawing/2014/main" id="{8834E16D-C1C1-62C0-9C0C-AB66C6AD2930}"/>
              </a:ext>
            </a:extLst>
          </p:cNvPr>
          <p:cNvGrpSpPr/>
          <p:nvPr/>
        </p:nvGrpSpPr>
        <p:grpSpPr>
          <a:xfrm>
            <a:off x="6427973" y="1599939"/>
            <a:ext cx="3137885" cy="4244256"/>
            <a:chOff x="6427973" y="1599938"/>
            <a:chExt cx="3137885" cy="3719162"/>
          </a:xfrm>
          <a:solidFill>
            <a:schemeClr val="tx2">
              <a:lumMod val="10000"/>
              <a:lumOff val="90000"/>
            </a:schemeClr>
          </a:solidFill>
        </p:grpSpPr>
        <p:sp>
          <p:nvSpPr>
            <p:cNvPr id="132" name="Rectángulo 132">
              <a:extLst>
                <a:ext uri="{FF2B5EF4-FFF2-40B4-BE49-F238E27FC236}">
                  <a16:creationId xmlns:a16="http://schemas.microsoft.com/office/drawing/2014/main" id="{047213A1-1B73-8033-3A7B-AAF41F951A07}"/>
                </a:ext>
              </a:extLst>
            </p:cNvPr>
            <p:cNvSpPr/>
            <p:nvPr/>
          </p:nvSpPr>
          <p:spPr>
            <a:xfrm>
              <a:off x="6437498" y="1599938"/>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Account Balance, </a:t>
              </a:r>
              <a:r>
                <a:rPr lang="es-MX" sz="1200" err="1">
                  <a:solidFill>
                    <a:schemeClr val="accent1"/>
                  </a:solidFill>
                </a:rPr>
                <a:t>Payments</a:t>
              </a:r>
              <a:r>
                <a:rPr lang="es-MX" sz="1200">
                  <a:solidFill>
                    <a:schemeClr val="accent1"/>
                  </a:solidFill>
                </a:rPr>
                <a:t> and </a:t>
              </a:r>
              <a:r>
                <a:rPr lang="es-MX" sz="1200" err="1">
                  <a:solidFill>
                    <a:schemeClr val="accent1"/>
                  </a:solidFill>
                </a:rPr>
                <a:t>Taxex</a:t>
              </a:r>
              <a:endParaRPr lang="es-MX" sz="1200">
                <a:solidFill>
                  <a:schemeClr val="accent1"/>
                </a:solidFill>
              </a:endParaRPr>
            </a:p>
          </p:txBody>
        </p:sp>
        <p:sp>
          <p:nvSpPr>
            <p:cNvPr id="133" name="Rectángulo 133">
              <a:extLst>
                <a:ext uri="{FF2B5EF4-FFF2-40B4-BE49-F238E27FC236}">
                  <a16:creationId xmlns:a16="http://schemas.microsoft.com/office/drawing/2014/main" id="{3E12B2C0-1F4C-C459-F65E-C7856914EF04}"/>
                </a:ext>
              </a:extLst>
            </p:cNvPr>
            <p:cNvSpPr/>
            <p:nvPr/>
          </p:nvSpPr>
          <p:spPr>
            <a:xfrm>
              <a:off x="6427973" y="2120310"/>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err="1">
                  <a:solidFill>
                    <a:schemeClr val="accent1"/>
                  </a:solidFill>
                </a:rPr>
                <a:t>Billing</a:t>
              </a:r>
              <a:r>
                <a:rPr lang="es-MX" sz="1200">
                  <a:solidFill>
                    <a:schemeClr val="accent1"/>
                  </a:solidFill>
                </a:rPr>
                <a:t> and Rates</a:t>
              </a:r>
            </a:p>
          </p:txBody>
        </p:sp>
        <p:sp>
          <p:nvSpPr>
            <p:cNvPr id="134" name="Rectángulo 134">
              <a:extLst>
                <a:ext uri="{FF2B5EF4-FFF2-40B4-BE49-F238E27FC236}">
                  <a16:creationId xmlns:a16="http://schemas.microsoft.com/office/drawing/2014/main" id="{F6CE3125-4503-07D6-70B7-132C41D04141}"/>
                </a:ext>
              </a:extLst>
            </p:cNvPr>
            <p:cNvSpPr/>
            <p:nvPr/>
          </p:nvSpPr>
          <p:spPr>
            <a:xfrm>
              <a:off x="6427973" y="2951012"/>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Credit and </a:t>
              </a:r>
              <a:r>
                <a:rPr lang="es-MX" sz="1200" err="1">
                  <a:solidFill>
                    <a:schemeClr val="accent1"/>
                  </a:solidFill>
                </a:rPr>
                <a:t>Collections</a:t>
              </a:r>
              <a:endParaRPr lang="es-MX" sz="1200">
                <a:solidFill>
                  <a:schemeClr val="accent1"/>
                </a:solidFill>
              </a:endParaRPr>
            </a:p>
          </p:txBody>
        </p:sp>
        <p:sp>
          <p:nvSpPr>
            <p:cNvPr id="135" name="Rectángulo 135">
              <a:extLst>
                <a:ext uri="{FF2B5EF4-FFF2-40B4-BE49-F238E27FC236}">
                  <a16:creationId xmlns:a16="http://schemas.microsoft.com/office/drawing/2014/main" id="{64D87436-AAAF-3E31-1CB0-310EEC6410B6}"/>
                </a:ext>
              </a:extLst>
            </p:cNvPr>
            <p:cNvSpPr/>
            <p:nvPr/>
          </p:nvSpPr>
          <p:spPr>
            <a:xfrm>
              <a:off x="6427973" y="3482537"/>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EMMA, OUTSORTS AND IMPLAUSIBLES</a:t>
              </a:r>
            </a:p>
          </p:txBody>
        </p:sp>
        <p:sp>
          <p:nvSpPr>
            <p:cNvPr id="136" name="Rectángulo 136">
              <a:extLst>
                <a:ext uri="{FF2B5EF4-FFF2-40B4-BE49-F238E27FC236}">
                  <a16:creationId xmlns:a16="http://schemas.microsoft.com/office/drawing/2014/main" id="{2F531AD4-0A91-E910-064F-937EE6EB1CCC}"/>
                </a:ext>
              </a:extLst>
            </p:cNvPr>
            <p:cNvSpPr/>
            <p:nvPr/>
          </p:nvSpPr>
          <p:spPr>
            <a:xfrm>
              <a:off x="6427973" y="4011150"/>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METERS AND Master data</a:t>
              </a:r>
            </a:p>
          </p:txBody>
        </p:sp>
        <p:sp>
          <p:nvSpPr>
            <p:cNvPr id="137" name="Rectángulo 137">
              <a:extLst>
                <a:ext uri="{FF2B5EF4-FFF2-40B4-BE49-F238E27FC236}">
                  <a16:creationId xmlns:a16="http://schemas.microsoft.com/office/drawing/2014/main" id="{752E26B0-0467-35AF-DC95-CF4779CE84E3}"/>
                </a:ext>
              </a:extLst>
            </p:cNvPr>
            <p:cNvSpPr/>
            <p:nvPr/>
          </p:nvSpPr>
          <p:spPr>
            <a:xfrm>
              <a:off x="6427973" y="4568237"/>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err="1">
                  <a:solidFill>
                    <a:schemeClr val="accent1"/>
                  </a:solidFill>
                </a:rPr>
                <a:t>Outbound</a:t>
              </a:r>
              <a:r>
                <a:rPr lang="es-MX" sz="1200">
                  <a:solidFill>
                    <a:schemeClr val="accent1"/>
                  </a:solidFill>
                </a:rPr>
                <a:t> </a:t>
              </a:r>
              <a:r>
                <a:rPr lang="es-MX" sz="1200" err="1">
                  <a:solidFill>
                    <a:schemeClr val="accent1"/>
                  </a:solidFill>
                </a:rPr>
                <a:t>Recorded</a:t>
              </a:r>
              <a:r>
                <a:rPr lang="es-MX" sz="1200">
                  <a:solidFill>
                    <a:schemeClr val="accent1"/>
                  </a:solidFill>
                </a:rPr>
                <a:t> </a:t>
              </a:r>
              <a:r>
                <a:rPr lang="es-MX" sz="1200" err="1">
                  <a:solidFill>
                    <a:schemeClr val="accent1"/>
                  </a:solidFill>
                </a:rPr>
                <a:t>Calls</a:t>
              </a:r>
              <a:endParaRPr lang="es-MX" sz="1200">
                <a:solidFill>
                  <a:schemeClr val="accent1"/>
                </a:solidFill>
              </a:endParaRPr>
            </a:p>
          </p:txBody>
        </p:sp>
        <p:sp>
          <p:nvSpPr>
            <p:cNvPr id="138" name="Rectángulo 138">
              <a:extLst>
                <a:ext uri="{FF2B5EF4-FFF2-40B4-BE49-F238E27FC236}">
                  <a16:creationId xmlns:a16="http://schemas.microsoft.com/office/drawing/2014/main" id="{529FF992-D123-1DC6-1BFD-A3F8D2389C56}"/>
                </a:ext>
              </a:extLst>
            </p:cNvPr>
            <p:cNvSpPr/>
            <p:nvPr/>
          </p:nvSpPr>
          <p:spPr>
            <a:xfrm>
              <a:off x="6427973" y="4852611"/>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err="1">
                  <a:solidFill>
                    <a:schemeClr val="accent1"/>
                  </a:solidFill>
                </a:rPr>
                <a:t>Rerports</a:t>
              </a:r>
              <a:r>
                <a:rPr lang="es-MX" sz="1200">
                  <a:solidFill>
                    <a:schemeClr val="accent1"/>
                  </a:solidFill>
                </a:rPr>
                <a:t>, Data </a:t>
              </a:r>
              <a:r>
                <a:rPr lang="es-MX" sz="1200" err="1">
                  <a:solidFill>
                    <a:schemeClr val="accent1"/>
                  </a:solidFill>
                </a:rPr>
                <a:t>Extracts</a:t>
              </a:r>
              <a:r>
                <a:rPr lang="es-MX" sz="1200">
                  <a:solidFill>
                    <a:schemeClr val="accent1"/>
                  </a:solidFill>
                </a:rPr>
                <a:t> and Analytics</a:t>
              </a:r>
            </a:p>
          </p:txBody>
        </p:sp>
        <p:sp>
          <p:nvSpPr>
            <p:cNvPr id="139" name="Rectángulo 139">
              <a:extLst>
                <a:ext uri="{FF2B5EF4-FFF2-40B4-BE49-F238E27FC236}">
                  <a16:creationId xmlns:a16="http://schemas.microsoft.com/office/drawing/2014/main" id="{9F542393-B80C-A6AB-ACB5-673E365899E8}"/>
                </a:ext>
              </a:extLst>
            </p:cNvPr>
            <p:cNvSpPr/>
            <p:nvPr/>
          </p:nvSpPr>
          <p:spPr>
            <a:xfrm>
              <a:off x="6427973" y="5136220"/>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Retail Access</a:t>
              </a:r>
            </a:p>
          </p:txBody>
        </p:sp>
        <p:sp>
          <p:nvSpPr>
            <p:cNvPr id="140" name="Rectángulo 140">
              <a:extLst>
                <a:ext uri="{FF2B5EF4-FFF2-40B4-BE49-F238E27FC236}">
                  <a16:creationId xmlns:a16="http://schemas.microsoft.com/office/drawing/2014/main" id="{A37C4154-F64E-E77E-4650-53BBBD67E322}"/>
                </a:ext>
              </a:extLst>
            </p:cNvPr>
            <p:cNvSpPr/>
            <p:nvPr/>
          </p:nvSpPr>
          <p:spPr>
            <a:xfrm>
              <a:off x="6427973" y="1856841"/>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WEB IVR and Digital </a:t>
              </a:r>
              <a:r>
                <a:rPr lang="es-MX" sz="1200" err="1">
                  <a:solidFill>
                    <a:schemeClr val="accent1"/>
                  </a:solidFill>
                </a:rPr>
                <a:t>PLatforms</a:t>
              </a:r>
              <a:endParaRPr lang="es-MX" sz="1200">
                <a:solidFill>
                  <a:schemeClr val="accent1"/>
                </a:solidFill>
              </a:endParaRPr>
            </a:p>
          </p:txBody>
        </p:sp>
        <p:sp>
          <p:nvSpPr>
            <p:cNvPr id="141" name="Rectángulo 141">
              <a:extLst>
                <a:ext uri="{FF2B5EF4-FFF2-40B4-BE49-F238E27FC236}">
                  <a16:creationId xmlns:a16="http://schemas.microsoft.com/office/drawing/2014/main" id="{EF389197-2005-B798-1BB2-41E4D0451C78}"/>
                </a:ext>
              </a:extLst>
            </p:cNvPr>
            <p:cNvSpPr/>
            <p:nvPr/>
          </p:nvSpPr>
          <p:spPr>
            <a:xfrm>
              <a:off x="6427973" y="2394820"/>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err="1">
                  <a:solidFill>
                    <a:schemeClr val="accent1"/>
                  </a:solidFill>
                </a:rPr>
                <a:t>Outage</a:t>
              </a:r>
              <a:r>
                <a:rPr lang="es-MX" sz="1200">
                  <a:solidFill>
                    <a:schemeClr val="accent1"/>
                  </a:solidFill>
                </a:rPr>
                <a:t> Management </a:t>
              </a:r>
              <a:r>
                <a:rPr lang="es-MX" sz="1200" err="1">
                  <a:solidFill>
                    <a:schemeClr val="accent1"/>
                  </a:solidFill>
                </a:rPr>
                <a:t>System</a:t>
              </a:r>
              <a:endParaRPr lang="es-MX" sz="1200">
                <a:solidFill>
                  <a:schemeClr val="accent1"/>
                </a:solidFill>
              </a:endParaRPr>
            </a:p>
          </p:txBody>
        </p:sp>
        <p:sp>
          <p:nvSpPr>
            <p:cNvPr id="142" name="Rectángulo 142">
              <a:extLst>
                <a:ext uri="{FF2B5EF4-FFF2-40B4-BE49-F238E27FC236}">
                  <a16:creationId xmlns:a16="http://schemas.microsoft.com/office/drawing/2014/main" id="{F372098B-81DA-47B0-D095-AECFC543411F}"/>
                </a:ext>
              </a:extLst>
            </p:cNvPr>
            <p:cNvSpPr/>
            <p:nvPr/>
          </p:nvSpPr>
          <p:spPr>
            <a:xfrm>
              <a:off x="6427973" y="2679096"/>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SAP CRM</a:t>
              </a:r>
            </a:p>
          </p:txBody>
        </p:sp>
        <p:sp>
          <p:nvSpPr>
            <p:cNvPr id="143" name="Rectángulo 143">
              <a:extLst>
                <a:ext uri="{FF2B5EF4-FFF2-40B4-BE49-F238E27FC236}">
                  <a16:creationId xmlns:a16="http://schemas.microsoft.com/office/drawing/2014/main" id="{09B533F6-C926-FF16-5A51-3ABB470D013D}"/>
                </a:ext>
              </a:extLst>
            </p:cNvPr>
            <p:cNvSpPr/>
            <p:nvPr/>
          </p:nvSpPr>
          <p:spPr>
            <a:xfrm>
              <a:off x="6427973" y="3220803"/>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SAP CCS Front Office</a:t>
              </a:r>
            </a:p>
          </p:txBody>
        </p:sp>
        <p:sp>
          <p:nvSpPr>
            <p:cNvPr id="144" name="Rectángulo 144">
              <a:extLst>
                <a:ext uri="{FF2B5EF4-FFF2-40B4-BE49-F238E27FC236}">
                  <a16:creationId xmlns:a16="http://schemas.microsoft.com/office/drawing/2014/main" id="{1C3C11FA-B034-DBE2-33AE-ECDB52A6B6FB}"/>
                </a:ext>
              </a:extLst>
            </p:cNvPr>
            <p:cNvSpPr/>
            <p:nvPr/>
          </p:nvSpPr>
          <p:spPr>
            <a:xfrm>
              <a:off x="6427973" y="3750883"/>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SAP ECC</a:t>
              </a:r>
            </a:p>
          </p:txBody>
        </p:sp>
        <p:sp>
          <p:nvSpPr>
            <p:cNvPr id="145" name="Rectángulo 145">
              <a:extLst>
                <a:ext uri="{FF2B5EF4-FFF2-40B4-BE49-F238E27FC236}">
                  <a16:creationId xmlns:a16="http://schemas.microsoft.com/office/drawing/2014/main" id="{EC9484F4-0B82-C4B2-902E-75B52502A114}"/>
                </a:ext>
              </a:extLst>
            </p:cNvPr>
            <p:cNvSpPr/>
            <p:nvPr/>
          </p:nvSpPr>
          <p:spPr>
            <a:xfrm>
              <a:off x="6427973" y="4283573"/>
              <a:ext cx="3128360" cy="182880"/>
            </a:xfrm>
            <a:prstGeom prst="rect">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a:solidFill>
                    <a:schemeClr val="accent1"/>
                  </a:solidFill>
                </a:rPr>
                <a:t>GL Transfer Error</a:t>
              </a:r>
            </a:p>
          </p:txBody>
        </p:sp>
      </p:grpSp>
      <p:sp>
        <p:nvSpPr>
          <p:cNvPr id="124" name="Rectángulo 123">
            <a:extLst>
              <a:ext uri="{FF2B5EF4-FFF2-40B4-BE49-F238E27FC236}">
                <a16:creationId xmlns:a16="http://schemas.microsoft.com/office/drawing/2014/main" id="{EF5D13C5-C487-1084-331F-7CFBED0598C6}"/>
              </a:ext>
            </a:extLst>
          </p:cNvPr>
          <p:cNvSpPr/>
          <p:nvPr/>
        </p:nvSpPr>
        <p:spPr>
          <a:xfrm>
            <a:off x="12036389" y="1709378"/>
            <a:ext cx="2866473" cy="3627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Refinar @Gustavo</a:t>
            </a:r>
            <a:endParaRPr lang="es-MX" b="1"/>
          </a:p>
        </p:txBody>
      </p:sp>
    </p:spTree>
    <p:extLst>
      <p:ext uri="{BB962C8B-B14F-4D97-AF65-F5344CB8AC3E}">
        <p14:creationId xmlns:p14="http://schemas.microsoft.com/office/powerpoint/2010/main" val="3844738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D42C-4D24-6C75-EDCF-28A3007CA15A}"/>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4CB1D8C6-2AD0-5C71-D8D9-0CB2379090C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Rectangle 28">
            <a:extLst>
              <a:ext uri="{FF2B5EF4-FFF2-40B4-BE49-F238E27FC236}">
                <a16:creationId xmlns:a16="http://schemas.microsoft.com/office/drawing/2014/main" id="{8644960E-6EA7-BFBB-3219-1E3D1051400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3BC7B974-7E59-CCD8-241D-9BDB65981DC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BD0F9C54-3C76-4839-5C9B-21964C9D646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706E5911-96BD-102D-3C73-7198318A03F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E1EFAC53-6CDA-28DD-779E-3E707ED32EE9}"/>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BF326880-99CE-B6AB-7AFB-7E147E7C151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55728735-2F01-E068-BCB8-08D1F08A72CC}"/>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5" name="TextBox 2">
            <a:extLst>
              <a:ext uri="{FF2B5EF4-FFF2-40B4-BE49-F238E27FC236}">
                <a16:creationId xmlns:a16="http://schemas.microsoft.com/office/drawing/2014/main" id="{FD2F8AB6-8B00-075F-93EB-5AD306D76320}"/>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GIS balances break/fix urgency against yearly PDD planning — with no formal channel for small demand</a:t>
            </a:r>
          </a:p>
          <a:p>
            <a:endParaRPr lang="en-US"/>
          </a:p>
        </p:txBody>
      </p:sp>
      <p:sp>
        <p:nvSpPr>
          <p:cNvPr id="3" name="TextBox 2">
            <a:extLst>
              <a:ext uri="{FF2B5EF4-FFF2-40B4-BE49-F238E27FC236}">
                <a16:creationId xmlns:a16="http://schemas.microsoft.com/office/drawing/2014/main" id="{0D92CC4D-53DD-23CB-C832-69ED8550BD14}"/>
              </a:ext>
            </a:extLst>
          </p:cNvPr>
          <p:cNvSpPr txBox="1"/>
          <p:nvPr/>
        </p:nvSpPr>
        <p:spPr>
          <a:xfrm>
            <a:off x="457199" y="1191053"/>
            <a:ext cx="11274552"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accent1"/>
                </a:solidFill>
                <a:latin typeface="Helvetica Neue"/>
              </a:rPr>
              <a:t>GIS &amp; OSG — team led by GIS Sr. Manager / Champion (Sr. Manager)</a:t>
            </a:r>
          </a:p>
        </p:txBody>
      </p:sp>
      <p:sp>
        <p:nvSpPr>
          <p:cNvPr id="4" name="Rectangle 3">
            <a:extLst>
              <a:ext uri="{FF2B5EF4-FFF2-40B4-BE49-F238E27FC236}">
                <a16:creationId xmlns:a16="http://schemas.microsoft.com/office/drawing/2014/main" id="{0AE7786B-9A39-B3A1-2355-176B3B6B9864}"/>
              </a:ext>
            </a:extLst>
          </p:cNvPr>
          <p:cNvSpPr/>
          <p:nvPr/>
        </p:nvSpPr>
        <p:spPr>
          <a:xfrm>
            <a:off x="457200" y="1415953"/>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8">
            <a:extLst>
              <a:ext uri="{FF2B5EF4-FFF2-40B4-BE49-F238E27FC236}">
                <a16:creationId xmlns:a16="http://schemas.microsoft.com/office/drawing/2014/main" id="{53C993C0-0A93-1DF7-55DA-C1C2D44CE97D}"/>
              </a:ext>
            </a:extLst>
          </p:cNvPr>
          <p:cNvSpPr/>
          <p:nvPr/>
        </p:nvSpPr>
        <p:spPr>
          <a:xfrm>
            <a:off x="457200" y="1415953"/>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52D4592A-03C0-A5C1-AFC4-FE6311944622}"/>
              </a:ext>
            </a:extLst>
          </p:cNvPr>
          <p:cNvSpPr txBox="1"/>
          <p:nvPr/>
        </p:nvSpPr>
        <p:spPr>
          <a:xfrm>
            <a:off x="457200" y="1415953"/>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50" name="TextBox 49">
            <a:extLst>
              <a:ext uri="{FF2B5EF4-FFF2-40B4-BE49-F238E27FC236}">
                <a16:creationId xmlns:a16="http://schemas.microsoft.com/office/drawing/2014/main" id="{EA45EFE6-17DB-6DE2-DE1A-0BB99A4ED9CB}"/>
              </a:ext>
            </a:extLst>
          </p:cNvPr>
          <p:cNvSpPr txBox="1"/>
          <p:nvPr/>
        </p:nvSpPr>
        <p:spPr>
          <a:xfrm>
            <a:off x="2377440" y="1415953"/>
            <a:ext cx="9281160" cy="27432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Electric &amp; Gas Field Operations · T&amp;D Engineering · Asset Management · Planning &amp; Design · Compliance (DIMP/TIMP) · OSG (Operational Support Group)</a:t>
            </a:r>
          </a:p>
        </p:txBody>
      </p:sp>
      <p:sp>
        <p:nvSpPr>
          <p:cNvPr id="51" name="Rectangle 50">
            <a:extLst>
              <a:ext uri="{FF2B5EF4-FFF2-40B4-BE49-F238E27FC236}">
                <a16:creationId xmlns:a16="http://schemas.microsoft.com/office/drawing/2014/main" id="{F7DE1434-A450-8E65-7377-7DD081F8CABF}"/>
              </a:ext>
            </a:extLst>
          </p:cNvPr>
          <p:cNvSpPr/>
          <p:nvPr/>
        </p:nvSpPr>
        <p:spPr>
          <a:xfrm>
            <a:off x="1097280" y="1800001"/>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51">
            <a:extLst>
              <a:ext uri="{FF2B5EF4-FFF2-40B4-BE49-F238E27FC236}">
                <a16:creationId xmlns:a16="http://schemas.microsoft.com/office/drawing/2014/main" id="{BB3A9D86-ED40-2DAD-F82F-8EA3CCED8FAC}"/>
              </a:ext>
            </a:extLst>
          </p:cNvPr>
          <p:cNvSpPr txBox="1"/>
          <p:nvPr/>
        </p:nvSpPr>
        <p:spPr>
          <a:xfrm>
            <a:off x="1097280" y="1800001"/>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53" name="Rounded Rectangle 10">
            <a:extLst>
              <a:ext uri="{FF2B5EF4-FFF2-40B4-BE49-F238E27FC236}">
                <a16:creationId xmlns:a16="http://schemas.microsoft.com/office/drawing/2014/main" id="{264FFEB1-5FCE-8153-E909-DE7ADCBAA899}"/>
              </a:ext>
            </a:extLst>
          </p:cNvPr>
          <p:cNvSpPr/>
          <p:nvPr/>
        </p:nvSpPr>
        <p:spPr>
          <a:xfrm>
            <a:off x="1632204" y="2202337"/>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4" name="TextBox 53">
            <a:extLst>
              <a:ext uri="{FF2B5EF4-FFF2-40B4-BE49-F238E27FC236}">
                <a16:creationId xmlns:a16="http://schemas.microsoft.com/office/drawing/2014/main" id="{B721BDDF-6685-E0BA-D4E1-3E334FC3ACDD}"/>
              </a:ext>
            </a:extLst>
          </p:cNvPr>
          <p:cNvSpPr txBox="1"/>
          <p:nvPr/>
        </p:nvSpPr>
        <p:spPr>
          <a:xfrm>
            <a:off x="1632204" y="2223533"/>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55" name="Rectangle 54">
            <a:extLst>
              <a:ext uri="{FF2B5EF4-FFF2-40B4-BE49-F238E27FC236}">
                <a16:creationId xmlns:a16="http://schemas.microsoft.com/office/drawing/2014/main" id="{CDE66A85-7EC5-96AE-AEF0-6BABBB949574}"/>
              </a:ext>
            </a:extLst>
          </p:cNvPr>
          <p:cNvSpPr/>
          <p:nvPr/>
        </p:nvSpPr>
        <p:spPr>
          <a:xfrm>
            <a:off x="3319272" y="1800001"/>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TextBox 55">
            <a:extLst>
              <a:ext uri="{FF2B5EF4-FFF2-40B4-BE49-F238E27FC236}">
                <a16:creationId xmlns:a16="http://schemas.microsoft.com/office/drawing/2014/main" id="{DC543FE2-7BCA-636E-2EE8-27918BF933A2}"/>
              </a:ext>
            </a:extLst>
          </p:cNvPr>
          <p:cNvSpPr txBox="1"/>
          <p:nvPr/>
        </p:nvSpPr>
        <p:spPr>
          <a:xfrm>
            <a:off x="3319272" y="1800001"/>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57" name="Rounded Rectangle 14">
            <a:extLst>
              <a:ext uri="{FF2B5EF4-FFF2-40B4-BE49-F238E27FC236}">
                <a16:creationId xmlns:a16="http://schemas.microsoft.com/office/drawing/2014/main" id="{051E2D42-D12A-F06D-A8AF-AEF77E7736FF}"/>
              </a:ext>
            </a:extLst>
          </p:cNvPr>
          <p:cNvSpPr/>
          <p:nvPr/>
        </p:nvSpPr>
        <p:spPr>
          <a:xfrm>
            <a:off x="3854196" y="2202337"/>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8" name="TextBox 57">
            <a:extLst>
              <a:ext uri="{FF2B5EF4-FFF2-40B4-BE49-F238E27FC236}">
                <a16:creationId xmlns:a16="http://schemas.microsoft.com/office/drawing/2014/main" id="{8CAB847A-2338-756C-8099-BA857A47BF69}"/>
              </a:ext>
            </a:extLst>
          </p:cNvPr>
          <p:cNvSpPr txBox="1"/>
          <p:nvPr/>
        </p:nvSpPr>
        <p:spPr>
          <a:xfrm>
            <a:off x="3854196" y="2223533"/>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59" name="Rectangle 58">
            <a:extLst>
              <a:ext uri="{FF2B5EF4-FFF2-40B4-BE49-F238E27FC236}">
                <a16:creationId xmlns:a16="http://schemas.microsoft.com/office/drawing/2014/main" id="{6E96CBEE-58A1-0A32-4064-5C743C1FE302}"/>
              </a:ext>
            </a:extLst>
          </p:cNvPr>
          <p:cNvSpPr/>
          <p:nvPr/>
        </p:nvSpPr>
        <p:spPr>
          <a:xfrm>
            <a:off x="5541264" y="1800001"/>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TextBox 59">
            <a:extLst>
              <a:ext uri="{FF2B5EF4-FFF2-40B4-BE49-F238E27FC236}">
                <a16:creationId xmlns:a16="http://schemas.microsoft.com/office/drawing/2014/main" id="{14A1C365-A91D-CF3A-E9FB-B8052D2E37BC}"/>
              </a:ext>
            </a:extLst>
          </p:cNvPr>
          <p:cNvSpPr txBox="1"/>
          <p:nvPr/>
        </p:nvSpPr>
        <p:spPr>
          <a:xfrm>
            <a:off x="5541264" y="1800001"/>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61" name="Rounded Rectangle 18">
            <a:extLst>
              <a:ext uri="{FF2B5EF4-FFF2-40B4-BE49-F238E27FC236}">
                <a16:creationId xmlns:a16="http://schemas.microsoft.com/office/drawing/2014/main" id="{A16BBAD1-1389-CA5B-3085-07930135686C}"/>
              </a:ext>
            </a:extLst>
          </p:cNvPr>
          <p:cNvSpPr/>
          <p:nvPr/>
        </p:nvSpPr>
        <p:spPr>
          <a:xfrm>
            <a:off x="6076188" y="2202337"/>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2" name="TextBox 61">
            <a:extLst>
              <a:ext uri="{FF2B5EF4-FFF2-40B4-BE49-F238E27FC236}">
                <a16:creationId xmlns:a16="http://schemas.microsoft.com/office/drawing/2014/main" id="{159AD95B-6AA8-A03F-9527-F670E17C956D}"/>
              </a:ext>
            </a:extLst>
          </p:cNvPr>
          <p:cNvSpPr txBox="1"/>
          <p:nvPr/>
        </p:nvSpPr>
        <p:spPr>
          <a:xfrm>
            <a:off x="6076188" y="2223533"/>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63" name="Rectangle 62">
            <a:extLst>
              <a:ext uri="{FF2B5EF4-FFF2-40B4-BE49-F238E27FC236}">
                <a16:creationId xmlns:a16="http://schemas.microsoft.com/office/drawing/2014/main" id="{235D5D59-9050-56E9-69E6-99F0394C8720}"/>
              </a:ext>
            </a:extLst>
          </p:cNvPr>
          <p:cNvSpPr/>
          <p:nvPr/>
        </p:nvSpPr>
        <p:spPr>
          <a:xfrm>
            <a:off x="7763256" y="1800001"/>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8" name="TextBox 127">
            <a:extLst>
              <a:ext uri="{FF2B5EF4-FFF2-40B4-BE49-F238E27FC236}">
                <a16:creationId xmlns:a16="http://schemas.microsoft.com/office/drawing/2014/main" id="{205B3E54-078A-ADAB-F0CF-D0AA29BEDB30}"/>
              </a:ext>
            </a:extLst>
          </p:cNvPr>
          <p:cNvSpPr txBox="1"/>
          <p:nvPr/>
        </p:nvSpPr>
        <p:spPr>
          <a:xfrm>
            <a:off x="7763256" y="1800001"/>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129" name="Rounded Rectangle 22">
            <a:extLst>
              <a:ext uri="{FF2B5EF4-FFF2-40B4-BE49-F238E27FC236}">
                <a16:creationId xmlns:a16="http://schemas.microsoft.com/office/drawing/2014/main" id="{9536E757-664E-8832-455B-255A050B90C0}"/>
              </a:ext>
            </a:extLst>
          </p:cNvPr>
          <p:cNvSpPr/>
          <p:nvPr/>
        </p:nvSpPr>
        <p:spPr>
          <a:xfrm>
            <a:off x="8298180" y="2202337"/>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0" name="TextBox 129">
            <a:extLst>
              <a:ext uri="{FF2B5EF4-FFF2-40B4-BE49-F238E27FC236}">
                <a16:creationId xmlns:a16="http://schemas.microsoft.com/office/drawing/2014/main" id="{6A6FB21D-D02E-B345-D04D-9B4BAE327203}"/>
              </a:ext>
            </a:extLst>
          </p:cNvPr>
          <p:cNvSpPr txBox="1"/>
          <p:nvPr/>
        </p:nvSpPr>
        <p:spPr>
          <a:xfrm>
            <a:off x="8298180" y="2202337"/>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131" name="Rectangle 130">
            <a:extLst>
              <a:ext uri="{FF2B5EF4-FFF2-40B4-BE49-F238E27FC236}">
                <a16:creationId xmlns:a16="http://schemas.microsoft.com/office/drawing/2014/main" id="{6E8EDA39-0252-02E4-E8FC-51E64B2833D1}"/>
              </a:ext>
            </a:extLst>
          </p:cNvPr>
          <p:cNvSpPr/>
          <p:nvPr/>
        </p:nvSpPr>
        <p:spPr>
          <a:xfrm>
            <a:off x="9985248" y="1800001"/>
            <a:ext cx="1737089" cy="3248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2" name="TextBox 131">
            <a:extLst>
              <a:ext uri="{FF2B5EF4-FFF2-40B4-BE49-F238E27FC236}">
                <a16:creationId xmlns:a16="http://schemas.microsoft.com/office/drawing/2014/main" id="{BB4F1BCC-E8CB-A2DE-DD2B-41AB877137F8}"/>
              </a:ext>
            </a:extLst>
          </p:cNvPr>
          <p:cNvSpPr txBox="1"/>
          <p:nvPr/>
        </p:nvSpPr>
        <p:spPr>
          <a:xfrm>
            <a:off x="9985248" y="1884354"/>
            <a:ext cx="1737089" cy="156133"/>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133" name="Rounded Rectangle 26">
            <a:extLst>
              <a:ext uri="{FF2B5EF4-FFF2-40B4-BE49-F238E27FC236}">
                <a16:creationId xmlns:a16="http://schemas.microsoft.com/office/drawing/2014/main" id="{513BF663-3910-3BC4-BE63-5628F01CA627}"/>
              </a:ext>
            </a:extLst>
          </p:cNvPr>
          <p:cNvSpPr/>
          <p:nvPr/>
        </p:nvSpPr>
        <p:spPr>
          <a:xfrm>
            <a:off x="10520172" y="2202337"/>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4" name="TextBox 133">
            <a:extLst>
              <a:ext uri="{FF2B5EF4-FFF2-40B4-BE49-F238E27FC236}">
                <a16:creationId xmlns:a16="http://schemas.microsoft.com/office/drawing/2014/main" id="{E663292C-4B4A-305E-A960-FA80DB6FE3FD}"/>
              </a:ext>
            </a:extLst>
          </p:cNvPr>
          <p:cNvSpPr txBox="1"/>
          <p:nvPr/>
        </p:nvSpPr>
        <p:spPr>
          <a:xfrm>
            <a:off x="10520172" y="2202337"/>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135" name="Rectangle 134">
            <a:extLst>
              <a:ext uri="{FF2B5EF4-FFF2-40B4-BE49-F238E27FC236}">
                <a16:creationId xmlns:a16="http://schemas.microsoft.com/office/drawing/2014/main" id="{62708FDA-DB5D-AA18-25E6-FEC80D201F4C}"/>
              </a:ext>
            </a:extLst>
          </p:cNvPr>
          <p:cNvSpPr/>
          <p:nvPr/>
        </p:nvSpPr>
        <p:spPr>
          <a:xfrm>
            <a:off x="457200" y="2440081"/>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6" name="TextBox 135">
            <a:extLst>
              <a:ext uri="{FF2B5EF4-FFF2-40B4-BE49-F238E27FC236}">
                <a16:creationId xmlns:a16="http://schemas.microsoft.com/office/drawing/2014/main" id="{40F8E90E-4018-80FF-3FCB-F1C8077C0694}"/>
              </a:ext>
            </a:extLst>
          </p:cNvPr>
          <p:cNvSpPr txBox="1"/>
          <p:nvPr/>
        </p:nvSpPr>
        <p:spPr>
          <a:xfrm>
            <a:off x="457200" y="2440081"/>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137" name="Rectangle 136">
            <a:extLst>
              <a:ext uri="{FF2B5EF4-FFF2-40B4-BE49-F238E27FC236}">
                <a16:creationId xmlns:a16="http://schemas.microsoft.com/office/drawing/2014/main" id="{3AD0C208-9507-5F6B-B5B8-16DDC322E2BC}"/>
              </a:ext>
            </a:extLst>
          </p:cNvPr>
          <p:cNvSpPr/>
          <p:nvPr/>
        </p:nvSpPr>
        <p:spPr>
          <a:xfrm>
            <a:off x="1097280"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TextBox 137">
            <a:extLst>
              <a:ext uri="{FF2B5EF4-FFF2-40B4-BE49-F238E27FC236}">
                <a16:creationId xmlns:a16="http://schemas.microsoft.com/office/drawing/2014/main" id="{5084DB45-D7AC-670C-8F81-BCA8AA0FE639}"/>
              </a:ext>
            </a:extLst>
          </p:cNvPr>
          <p:cNvSpPr txBox="1"/>
          <p:nvPr/>
        </p:nvSpPr>
        <p:spPr>
          <a:xfrm>
            <a:off x="1188720" y="248580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(misc. work) + Email / Meetings (small demand) + IT-Now (daily break/fix)</a:t>
            </a:r>
          </a:p>
        </p:txBody>
      </p:sp>
      <p:sp>
        <p:nvSpPr>
          <p:cNvPr id="139" name="Rectangle 138">
            <a:extLst>
              <a:ext uri="{FF2B5EF4-FFF2-40B4-BE49-F238E27FC236}">
                <a16:creationId xmlns:a16="http://schemas.microsoft.com/office/drawing/2014/main" id="{BB63F39F-7C94-9D12-D66A-925DEB55E9D1}"/>
              </a:ext>
            </a:extLst>
          </p:cNvPr>
          <p:cNvSpPr/>
          <p:nvPr/>
        </p:nvSpPr>
        <p:spPr>
          <a:xfrm>
            <a:off x="3319272"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TextBox 139">
            <a:extLst>
              <a:ext uri="{FF2B5EF4-FFF2-40B4-BE49-F238E27FC236}">
                <a16:creationId xmlns:a16="http://schemas.microsoft.com/office/drawing/2014/main" id="{9184EE81-95ED-6E49-7577-6AACC08F627A}"/>
              </a:ext>
            </a:extLst>
          </p:cNvPr>
          <p:cNvSpPr txBox="1"/>
          <p:nvPr/>
        </p:nvSpPr>
        <p:spPr>
          <a:xfrm>
            <a:off x="3410712" y="248580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Small: email / Jira / IT-Now routed by type; Large: yearly PDD process</a:t>
            </a:r>
          </a:p>
        </p:txBody>
      </p:sp>
      <p:sp>
        <p:nvSpPr>
          <p:cNvPr id="141" name="Rectangle 140">
            <a:extLst>
              <a:ext uri="{FF2B5EF4-FFF2-40B4-BE49-F238E27FC236}">
                <a16:creationId xmlns:a16="http://schemas.microsoft.com/office/drawing/2014/main" id="{F09E447A-ED83-CEF0-AB91-408748DBC6B2}"/>
              </a:ext>
            </a:extLst>
          </p:cNvPr>
          <p:cNvSpPr/>
          <p:nvPr/>
        </p:nvSpPr>
        <p:spPr>
          <a:xfrm>
            <a:off x="5541264"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2" name="TextBox 141">
            <a:extLst>
              <a:ext uri="{FF2B5EF4-FFF2-40B4-BE49-F238E27FC236}">
                <a16:creationId xmlns:a16="http://schemas.microsoft.com/office/drawing/2014/main" id="{E2A97402-1261-3626-2E72-8DF3A9442E3E}"/>
              </a:ext>
            </a:extLst>
          </p:cNvPr>
          <p:cNvSpPr txBox="1"/>
          <p:nvPr/>
        </p:nvSpPr>
        <p:spPr>
          <a:xfrm>
            <a:off x="5632704" y="248580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drives prioritization; P&amp;T is the face for small demand</a:t>
            </a:r>
          </a:p>
        </p:txBody>
      </p:sp>
      <p:sp>
        <p:nvSpPr>
          <p:cNvPr id="143" name="Rectangle 142">
            <a:extLst>
              <a:ext uri="{FF2B5EF4-FFF2-40B4-BE49-F238E27FC236}">
                <a16:creationId xmlns:a16="http://schemas.microsoft.com/office/drawing/2014/main" id="{DDFAF861-B78E-90CB-DAB7-A07FD6D48A58}"/>
              </a:ext>
            </a:extLst>
          </p:cNvPr>
          <p:cNvSpPr/>
          <p:nvPr/>
        </p:nvSpPr>
        <p:spPr>
          <a:xfrm>
            <a:off x="7763256"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TextBox 143">
            <a:extLst>
              <a:ext uri="{FF2B5EF4-FFF2-40B4-BE49-F238E27FC236}">
                <a16:creationId xmlns:a16="http://schemas.microsoft.com/office/drawing/2014/main" id="{AB0D332B-7F1C-9374-823F-923D7FEEA796}"/>
              </a:ext>
            </a:extLst>
          </p:cNvPr>
          <p:cNvSpPr txBox="1"/>
          <p:nvPr/>
        </p:nvSpPr>
        <p:spPr>
          <a:xfrm>
            <a:off x="7854696" y="248580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PDD-approved portfolio; no dedicated portfolio tool</a:t>
            </a:r>
          </a:p>
        </p:txBody>
      </p:sp>
      <p:sp>
        <p:nvSpPr>
          <p:cNvPr id="145" name="Rectangle 144">
            <a:extLst>
              <a:ext uri="{FF2B5EF4-FFF2-40B4-BE49-F238E27FC236}">
                <a16:creationId xmlns:a16="http://schemas.microsoft.com/office/drawing/2014/main" id="{829256AD-1734-E164-203C-A93F3F902794}"/>
              </a:ext>
            </a:extLst>
          </p:cNvPr>
          <p:cNvSpPr/>
          <p:nvPr/>
        </p:nvSpPr>
        <p:spPr>
          <a:xfrm>
            <a:off x="9985248" y="2440081"/>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TextBox 145">
            <a:extLst>
              <a:ext uri="{FF2B5EF4-FFF2-40B4-BE49-F238E27FC236}">
                <a16:creationId xmlns:a16="http://schemas.microsoft.com/office/drawing/2014/main" id="{387D6A7D-B717-03D0-9D6F-9ADE6B659584}"/>
              </a:ext>
            </a:extLst>
          </p:cNvPr>
          <p:cNvSpPr txBox="1"/>
          <p:nvPr/>
        </p:nvSpPr>
        <p:spPr>
          <a:xfrm>
            <a:off x="10076688" y="2485801"/>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Internal team for break/fix; SWF brought in for resource impact</a:t>
            </a:r>
          </a:p>
        </p:txBody>
      </p:sp>
      <p:sp>
        <p:nvSpPr>
          <p:cNvPr id="147" name="Rectangle 146">
            <a:extLst>
              <a:ext uri="{FF2B5EF4-FFF2-40B4-BE49-F238E27FC236}">
                <a16:creationId xmlns:a16="http://schemas.microsoft.com/office/drawing/2014/main" id="{67DD8F22-7D59-BCC6-C00B-2F198A4EA0AF}"/>
              </a:ext>
            </a:extLst>
          </p:cNvPr>
          <p:cNvSpPr/>
          <p:nvPr/>
        </p:nvSpPr>
        <p:spPr>
          <a:xfrm>
            <a:off x="457200" y="2970433"/>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93A5E69B-C523-7988-6301-1B323A5AF075}"/>
              </a:ext>
            </a:extLst>
          </p:cNvPr>
          <p:cNvSpPr txBox="1"/>
          <p:nvPr/>
        </p:nvSpPr>
        <p:spPr>
          <a:xfrm>
            <a:off x="457200" y="2970433"/>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49" name="Rectangle 148">
            <a:extLst>
              <a:ext uri="{FF2B5EF4-FFF2-40B4-BE49-F238E27FC236}">
                <a16:creationId xmlns:a16="http://schemas.microsoft.com/office/drawing/2014/main" id="{39AD3A03-FE6E-AD38-3393-22D51F162FB8}"/>
              </a:ext>
            </a:extLst>
          </p:cNvPr>
          <p:cNvSpPr/>
          <p:nvPr/>
        </p:nvSpPr>
        <p:spPr>
          <a:xfrm>
            <a:off x="1097280"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558D40D7-4431-0645-E38C-E47EBA8C4DD9}"/>
              </a:ext>
            </a:extLst>
          </p:cNvPr>
          <p:cNvSpPr txBox="1"/>
          <p:nvPr/>
        </p:nvSpPr>
        <p:spPr>
          <a:xfrm>
            <a:off x="1188720"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users open tickets; GIS Sr Manager team receives</a:t>
            </a:r>
          </a:p>
        </p:txBody>
      </p:sp>
      <p:sp>
        <p:nvSpPr>
          <p:cNvPr id="151" name="Rectangle 150">
            <a:extLst>
              <a:ext uri="{FF2B5EF4-FFF2-40B4-BE49-F238E27FC236}">
                <a16:creationId xmlns:a16="http://schemas.microsoft.com/office/drawing/2014/main" id="{FB037303-07ED-8B6B-7121-5BD529837D24}"/>
              </a:ext>
            </a:extLst>
          </p:cNvPr>
          <p:cNvSpPr/>
          <p:nvPr/>
        </p:nvSpPr>
        <p:spPr>
          <a:xfrm>
            <a:off x="3319272"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2" name="TextBox 151">
            <a:extLst>
              <a:ext uri="{FF2B5EF4-FFF2-40B4-BE49-F238E27FC236}">
                <a16:creationId xmlns:a16="http://schemas.microsoft.com/office/drawing/2014/main" id="{441309F2-D71D-01B9-0157-FB8DCF362595}"/>
              </a:ext>
            </a:extLst>
          </p:cNvPr>
          <p:cNvSpPr txBox="1"/>
          <p:nvPr/>
        </p:nvSpPr>
        <p:spPr>
          <a:xfrm>
            <a:off x="3410712"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GIS Senior Manager + team classify; PDD committee for large</a:t>
            </a:r>
          </a:p>
        </p:txBody>
      </p:sp>
      <p:sp>
        <p:nvSpPr>
          <p:cNvPr id="153" name="Rectangle 152">
            <a:extLst>
              <a:ext uri="{FF2B5EF4-FFF2-40B4-BE49-F238E27FC236}">
                <a16:creationId xmlns:a16="http://schemas.microsoft.com/office/drawing/2014/main" id="{DCA11622-9270-746B-2917-267B514D2F8B}"/>
              </a:ext>
            </a:extLst>
          </p:cNvPr>
          <p:cNvSpPr/>
          <p:nvPr/>
        </p:nvSpPr>
        <p:spPr>
          <a:xfrm>
            <a:off x="5541264"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4" name="TextBox 153">
            <a:extLst>
              <a:ext uri="{FF2B5EF4-FFF2-40B4-BE49-F238E27FC236}">
                <a16:creationId xmlns:a16="http://schemas.microsoft.com/office/drawing/2014/main" id="{E8F608F9-9A28-E3B6-4D4C-B1C753AAD549}"/>
              </a:ext>
            </a:extLst>
          </p:cNvPr>
          <p:cNvSpPr txBox="1"/>
          <p:nvPr/>
        </p:nvSpPr>
        <p:spPr>
          <a:xfrm>
            <a:off x="5632704" y="301615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"Impact to most users" rule (GIS Champion); PDD approvers for large</a:t>
            </a:r>
          </a:p>
        </p:txBody>
      </p:sp>
      <p:sp>
        <p:nvSpPr>
          <p:cNvPr id="155" name="Rectangle 154">
            <a:extLst>
              <a:ext uri="{FF2B5EF4-FFF2-40B4-BE49-F238E27FC236}">
                <a16:creationId xmlns:a16="http://schemas.microsoft.com/office/drawing/2014/main" id="{434FD864-A6F9-887E-FD60-B9C299006ACD}"/>
              </a:ext>
            </a:extLst>
          </p:cNvPr>
          <p:cNvSpPr/>
          <p:nvPr/>
        </p:nvSpPr>
        <p:spPr>
          <a:xfrm>
            <a:off x="7763256"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6" name="TextBox 155">
            <a:extLst>
              <a:ext uri="{FF2B5EF4-FFF2-40B4-BE49-F238E27FC236}">
                <a16:creationId xmlns:a16="http://schemas.microsoft.com/office/drawing/2014/main" id="{3B54D9E6-0BE8-F939-8A5F-F27934931F07}"/>
              </a:ext>
            </a:extLst>
          </p:cNvPr>
          <p:cNvSpPr txBox="1"/>
          <p:nvPr/>
        </p:nvSpPr>
        <p:spPr>
          <a:xfrm>
            <a:off x="7854696" y="3016153"/>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Informal PM — GIS </a:t>
            </a:r>
            <a:r>
              <a:rPr lang="en-US" sz="900" noProof="0">
                <a:solidFill>
                  <a:srgbClr val="2C3E50"/>
                </a:solidFill>
                <a:latin typeface="Helvetica Neue"/>
              </a:rPr>
              <a:t>Senior Manager </a:t>
            </a:r>
            <a:r>
              <a:rPr lang="en-US" sz="900" b="0" i="0" noProof="0">
                <a:solidFill>
                  <a:srgbClr val="2C3E50"/>
                </a:solidFill>
                <a:latin typeface="Helvetica Neue"/>
              </a:rPr>
              <a:t>manages via OneNote / Teams / spreadsheets</a:t>
            </a:r>
          </a:p>
        </p:txBody>
      </p:sp>
      <p:sp>
        <p:nvSpPr>
          <p:cNvPr id="157" name="Rectangle 156">
            <a:extLst>
              <a:ext uri="{FF2B5EF4-FFF2-40B4-BE49-F238E27FC236}">
                <a16:creationId xmlns:a16="http://schemas.microsoft.com/office/drawing/2014/main" id="{42277BD3-7F0F-6554-8402-33ADD5013D5F}"/>
              </a:ext>
            </a:extLst>
          </p:cNvPr>
          <p:cNvSpPr/>
          <p:nvPr/>
        </p:nvSpPr>
        <p:spPr>
          <a:xfrm>
            <a:off x="9985248" y="2970433"/>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8" name="TextBox 157">
            <a:extLst>
              <a:ext uri="{FF2B5EF4-FFF2-40B4-BE49-F238E27FC236}">
                <a16:creationId xmlns:a16="http://schemas.microsoft.com/office/drawing/2014/main" id="{A3208CF5-D063-A43B-7C2A-CD7B3237D1B7}"/>
              </a:ext>
            </a:extLst>
          </p:cNvPr>
          <p:cNvSpPr txBox="1"/>
          <p:nvPr/>
        </p:nvSpPr>
        <p:spPr>
          <a:xfrm>
            <a:off x="10076688" y="3016153"/>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GIS team + Software Factory (shared server infra: SAP HANA, ARCFM)</a:t>
            </a:r>
          </a:p>
        </p:txBody>
      </p:sp>
      <p:sp>
        <p:nvSpPr>
          <p:cNvPr id="159" name="Rectangle 158">
            <a:extLst>
              <a:ext uri="{FF2B5EF4-FFF2-40B4-BE49-F238E27FC236}">
                <a16:creationId xmlns:a16="http://schemas.microsoft.com/office/drawing/2014/main" id="{12EAAEBD-8DCE-6052-1DE9-F48522C6F096}"/>
              </a:ext>
            </a:extLst>
          </p:cNvPr>
          <p:cNvSpPr/>
          <p:nvPr/>
        </p:nvSpPr>
        <p:spPr>
          <a:xfrm>
            <a:off x="457200" y="3500785"/>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0" name="TextBox 159">
            <a:extLst>
              <a:ext uri="{FF2B5EF4-FFF2-40B4-BE49-F238E27FC236}">
                <a16:creationId xmlns:a16="http://schemas.microsoft.com/office/drawing/2014/main" id="{F8945DDB-5B27-354E-43BB-D89542C80A6A}"/>
              </a:ext>
            </a:extLst>
          </p:cNvPr>
          <p:cNvSpPr txBox="1"/>
          <p:nvPr/>
        </p:nvSpPr>
        <p:spPr>
          <a:xfrm>
            <a:off x="457200" y="3500785"/>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161" name="Rectangle 160">
            <a:extLst>
              <a:ext uri="{FF2B5EF4-FFF2-40B4-BE49-F238E27FC236}">
                <a16:creationId xmlns:a16="http://schemas.microsoft.com/office/drawing/2014/main" id="{59C1D1C4-5818-AABD-0802-66EE6350FD06}"/>
              </a:ext>
            </a:extLst>
          </p:cNvPr>
          <p:cNvSpPr/>
          <p:nvPr/>
        </p:nvSpPr>
        <p:spPr>
          <a:xfrm>
            <a:off x="1097280"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2" name="TextBox 161">
            <a:extLst>
              <a:ext uri="{FF2B5EF4-FFF2-40B4-BE49-F238E27FC236}">
                <a16:creationId xmlns:a16="http://schemas.microsoft.com/office/drawing/2014/main" id="{DE87F80A-6B8B-A0E3-42AC-6FF24F248577}"/>
              </a:ext>
            </a:extLst>
          </p:cNvPr>
          <p:cNvSpPr txBox="1"/>
          <p:nvPr/>
        </p:nvSpPr>
        <p:spPr>
          <a:xfrm>
            <a:off x="1188720" y="354650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 Email · Meetings · IT-Now (RITM)</a:t>
            </a:r>
          </a:p>
        </p:txBody>
      </p:sp>
      <p:sp>
        <p:nvSpPr>
          <p:cNvPr id="163" name="Rectangle 162">
            <a:extLst>
              <a:ext uri="{FF2B5EF4-FFF2-40B4-BE49-F238E27FC236}">
                <a16:creationId xmlns:a16="http://schemas.microsoft.com/office/drawing/2014/main" id="{0C0FC875-00A2-0A7E-F263-789207A177F0}"/>
              </a:ext>
            </a:extLst>
          </p:cNvPr>
          <p:cNvSpPr/>
          <p:nvPr/>
        </p:nvSpPr>
        <p:spPr>
          <a:xfrm>
            <a:off x="3319272"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4" name="TextBox 163">
            <a:extLst>
              <a:ext uri="{FF2B5EF4-FFF2-40B4-BE49-F238E27FC236}">
                <a16:creationId xmlns:a16="http://schemas.microsoft.com/office/drawing/2014/main" id="{5B85B3AC-C892-1EF5-8553-D2A9AD5B74BD}"/>
              </a:ext>
            </a:extLst>
          </p:cNvPr>
          <p:cNvSpPr txBox="1"/>
          <p:nvPr/>
        </p:nvSpPr>
        <p:spPr>
          <a:xfrm>
            <a:off x="3410712" y="354650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single tool — Jira tags, PDD workbook</a:t>
            </a:r>
          </a:p>
        </p:txBody>
      </p:sp>
      <p:sp>
        <p:nvSpPr>
          <p:cNvPr id="166" name="Rectangle 165">
            <a:extLst>
              <a:ext uri="{FF2B5EF4-FFF2-40B4-BE49-F238E27FC236}">
                <a16:creationId xmlns:a16="http://schemas.microsoft.com/office/drawing/2014/main" id="{ED846B27-1191-D15F-1738-C3997C31D9A4}"/>
              </a:ext>
            </a:extLst>
          </p:cNvPr>
          <p:cNvSpPr/>
          <p:nvPr/>
        </p:nvSpPr>
        <p:spPr>
          <a:xfrm>
            <a:off x="5541264"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7" name="TextBox 166">
            <a:extLst>
              <a:ext uri="{FF2B5EF4-FFF2-40B4-BE49-F238E27FC236}">
                <a16:creationId xmlns:a16="http://schemas.microsoft.com/office/drawing/2014/main" id="{26872B27-6681-9CD1-74B3-2A6577CEB972}"/>
              </a:ext>
            </a:extLst>
          </p:cNvPr>
          <p:cNvSpPr txBox="1"/>
          <p:nvPr/>
        </p:nvSpPr>
        <p:spPr>
          <a:xfrm>
            <a:off x="5632704" y="354650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Spreadsheet-based; no scoring tool</a:t>
            </a:r>
          </a:p>
        </p:txBody>
      </p:sp>
      <p:sp>
        <p:nvSpPr>
          <p:cNvPr id="168" name="Rectangle 167">
            <a:extLst>
              <a:ext uri="{FF2B5EF4-FFF2-40B4-BE49-F238E27FC236}">
                <a16:creationId xmlns:a16="http://schemas.microsoft.com/office/drawing/2014/main" id="{8379B635-B3E1-31E7-07C0-F02A85A53D5D}"/>
              </a:ext>
            </a:extLst>
          </p:cNvPr>
          <p:cNvSpPr/>
          <p:nvPr/>
        </p:nvSpPr>
        <p:spPr>
          <a:xfrm>
            <a:off x="7763256"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9" name="TextBox 168">
            <a:extLst>
              <a:ext uri="{FF2B5EF4-FFF2-40B4-BE49-F238E27FC236}">
                <a16:creationId xmlns:a16="http://schemas.microsoft.com/office/drawing/2014/main" id="{278F3513-5403-266C-48AE-B6A2B7BF1ED5}"/>
              </a:ext>
            </a:extLst>
          </p:cNvPr>
          <p:cNvSpPr txBox="1"/>
          <p:nvPr/>
        </p:nvSpPr>
        <p:spPr>
          <a:xfrm>
            <a:off x="7854696" y="354650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OneNote + Teams + Spreadsheets (informal) + PDD (large)</a:t>
            </a:r>
          </a:p>
        </p:txBody>
      </p:sp>
      <p:sp>
        <p:nvSpPr>
          <p:cNvPr id="170" name="Rectangle 169">
            <a:extLst>
              <a:ext uri="{FF2B5EF4-FFF2-40B4-BE49-F238E27FC236}">
                <a16:creationId xmlns:a16="http://schemas.microsoft.com/office/drawing/2014/main" id="{EB5C9C07-23FB-47B2-CAEA-0E0E0AB8BCE5}"/>
              </a:ext>
            </a:extLst>
          </p:cNvPr>
          <p:cNvSpPr/>
          <p:nvPr/>
        </p:nvSpPr>
        <p:spPr>
          <a:xfrm>
            <a:off x="9985248" y="3500785"/>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1" name="TextBox 170">
            <a:extLst>
              <a:ext uri="{FF2B5EF4-FFF2-40B4-BE49-F238E27FC236}">
                <a16:creationId xmlns:a16="http://schemas.microsoft.com/office/drawing/2014/main" id="{5FBF2656-3291-E886-2293-4E35600E7C15}"/>
              </a:ext>
            </a:extLst>
          </p:cNvPr>
          <p:cNvSpPr txBox="1"/>
          <p:nvPr/>
        </p:nvSpPr>
        <p:spPr>
          <a:xfrm>
            <a:off x="10076688" y="3546505"/>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(internal) + SWF process (vendor capacity)</a:t>
            </a:r>
          </a:p>
        </p:txBody>
      </p:sp>
      <p:sp>
        <p:nvSpPr>
          <p:cNvPr id="172" name="Rectangle 171">
            <a:extLst>
              <a:ext uri="{FF2B5EF4-FFF2-40B4-BE49-F238E27FC236}">
                <a16:creationId xmlns:a16="http://schemas.microsoft.com/office/drawing/2014/main" id="{20108E08-0056-DF5B-C0F4-0580B89424AB}"/>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3" name="TextBox 172">
            <a:extLst>
              <a:ext uri="{FF2B5EF4-FFF2-40B4-BE49-F238E27FC236}">
                <a16:creationId xmlns:a16="http://schemas.microsoft.com/office/drawing/2014/main" id="{7A44FB24-427E-B54E-44C6-9C0324DAEE00}"/>
              </a:ext>
            </a:extLst>
          </p:cNvPr>
          <p:cNvSpPr txBox="1"/>
          <p:nvPr/>
        </p:nvSpPr>
        <p:spPr>
          <a:xfrm>
            <a:off x="457200" y="4180402"/>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174" name="Rectangle 173">
            <a:extLst>
              <a:ext uri="{FF2B5EF4-FFF2-40B4-BE49-F238E27FC236}">
                <a16:creationId xmlns:a16="http://schemas.microsoft.com/office/drawing/2014/main" id="{6AAFF43A-5C23-8C39-89A1-F4F81D80554A}"/>
              </a:ext>
            </a:extLst>
          </p:cNvPr>
          <p:cNvSpPr/>
          <p:nvPr/>
        </p:nvSpPr>
        <p:spPr>
          <a:xfrm>
            <a:off x="1097280"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5" name="TextBox 174">
            <a:extLst>
              <a:ext uri="{FF2B5EF4-FFF2-40B4-BE49-F238E27FC236}">
                <a16:creationId xmlns:a16="http://schemas.microsoft.com/office/drawing/2014/main" id="{F5D8F4ED-DDB7-11DC-A342-489DDB94050E}"/>
              </a:ext>
            </a:extLst>
          </p:cNvPr>
          <p:cNvSpPr txBox="1"/>
          <p:nvPr/>
        </p:nvSpPr>
        <p:spPr>
          <a:xfrm>
            <a:off x="1188720" y="407685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SLA on small demand; no volume tracking</a:t>
            </a:r>
          </a:p>
        </p:txBody>
      </p:sp>
      <p:sp>
        <p:nvSpPr>
          <p:cNvPr id="176" name="Rectangle 175">
            <a:extLst>
              <a:ext uri="{FF2B5EF4-FFF2-40B4-BE49-F238E27FC236}">
                <a16:creationId xmlns:a16="http://schemas.microsoft.com/office/drawing/2014/main" id="{2CE4261A-B072-8B00-31DB-97D541CA55E0}"/>
              </a:ext>
            </a:extLst>
          </p:cNvPr>
          <p:cNvSpPr/>
          <p:nvPr/>
        </p:nvSpPr>
        <p:spPr>
          <a:xfrm>
            <a:off x="3319272"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7" name="TextBox 176">
            <a:extLst>
              <a:ext uri="{FF2B5EF4-FFF2-40B4-BE49-F238E27FC236}">
                <a16:creationId xmlns:a16="http://schemas.microsoft.com/office/drawing/2014/main" id="{5F821AC6-4582-9B63-2A54-38598FE67D64}"/>
              </a:ext>
            </a:extLst>
          </p:cNvPr>
          <p:cNvSpPr txBox="1"/>
          <p:nvPr/>
        </p:nvSpPr>
        <p:spPr>
          <a:xfrm>
            <a:off x="3410712" y="407685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classification rule below PDD threshold</a:t>
            </a:r>
          </a:p>
        </p:txBody>
      </p:sp>
      <p:sp>
        <p:nvSpPr>
          <p:cNvPr id="178" name="Rectangle 177">
            <a:extLst>
              <a:ext uri="{FF2B5EF4-FFF2-40B4-BE49-F238E27FC236}">
                <a16:creationId xmlns:a16="http://schemas.microsoft.com/office/drawing/2014/main" id="{D1C6A0A4-CD5C-3DCA-9852-77AEF6A56B6C}"/>
              </a:ext>
            </a:extLst>
          </p:cNvPr>
          <p:cNvSpPr/>
          <p:nvPr/>
        </p:nvSpPr>
        <p:spPr>
          <a:xfrm>
            <a:off x="5541264"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9" name="TextBox 178">
            <a:extLst>
              <a:ext uri="{FF2B5EF4-FFF2-40B4-BE49-F238E27FC236}">
                <a16:creationId xmlns:a16="http://schemas.microsoft.com/office/drawing/2014/main" id="{E16119C8-D0FC-F8F7-CF69-3C84699C5BFE}"/>
              </a:ext>
            </a:extLst>
          </p:cNvPr>
          <p:cNvSpPr txBox="1"/>
          <p:nvPr/>
        </p:nvSpPr>
        <p:spPr>
          <a:xfrm>
            <a:off x="5632704" y="407685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"Highest impact / most users" — heuristic, not scored</a:t>
            </a:r>
          </a:p>
        </p:txBody>
      </p:sp>
      <p:sp>
        <p:nvSpPr>
          <p:cNvPr id="180" name="Rectangle 179">
            <a:extLst>
              <a:ext uri="{FF2B5EF4-FFF2-40B4-BE49-F238E27FC236}">
                <a16:creationId xmlns:a16="http://schemas.microsoft.com/office/drawing/2014/main" id="{6F930E64-20A5-508C-36B1-711F249F46AF}"/>
              </a:ext>
            </a:extLst>
          </p:cNvPr>
          <p:cNvSpPr/>
          <p:nvPr/>
        </p:nvSpPr>
        <p:spPr>
          <a:xfrm>
            <a:off x="7763256"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1" name="TextBox 180">
            <a:extLst>
              <a:ext uri="{FF2B5EF4-FFF2-40B4-BE49-F238E27FC236}">
                <a16:creationId xmlns:a16="http://schemas.microsoft.com/office/drawing/2014/main" id="{043D4588-438F-1497-D969-38E0EFA6B6C1}"/>
              </a:ext>
            </a:extLst>
          </p:cNvPr>
          <p:cNvSpPr txBox="1"/>
          <p:nvPr/>
        </p:nvSpPr>
        <p:spPr>
          <a:xfrm>
            <a:off x="7854696" y="407685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 governance works for large; no below-threshold governance</a:t>
            </a:r>
          </a:p>
        </p:txBody>
      </p:sp>
      <p:sp>
        <p:nvSpPr>
          <p:cNvPr id="182" name="Rectangle 181">
            <a:extLst>
              <a:ext uri="{FF2B5EF4-FFF2-40B4-BE49-F238E27FC236}">
                <a16:creationId xmlns:a16="http://schemas.microsoft.com/office/drawing/2014/main" id="{34823A2A-CE17-A0E3-83C8-A79F16A7503E}"/>
              </a:ext>
            </a:extLst>
          </p:cNvPr>
          <p:cNvSpPr/>
          <p:nvPr/>
        </p:nvSpPr>
        <p:spPr>
          <a:xfrm>
            <a:off x="9985248" y="4031137"/>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3" name="TextBox 182">
            <a:extLst>
              <a:ext uri="{FF2B5EF4-FFF2-40B4-BE49-F238E27FC236}">
                <a16:creationId xmlns:a16="http://schemas.microsoft.com/office/drawing/2014/main" id="{A1018FC0-A327-FF65-15F0-05AEEA0F6C6B}"/>
              </a:ext>
            </a:extLst>
          </p:cNvPr>
          <p:cNvSpPr txBox="1"/>
          <p:nvPr/>
        </p:nvSpPr>
        <p:spPr>
          <a:xfrm>
            <a:off x="10076688" y="4076857"/>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engagement tracked ad-hoc; no KPIs per release</a:t>
            </a:r>
          </a:p>
        </p:txBody>
      </p:sp>
      <p:sp>
        <p:nvSpPr>
          <p:cNvPr id="184" name="Rectangle 183">
            <a:extLst>
              <a:ext uri="{FF2B5EF4-FFF2-40B4-BE49-F238E27FC236}">
                <a16:creationId xmlns:a16="http://schemas.microsoft.com/office/drawing/2014/main" id="{069C9485-A140-A1F7-5C2C-D064B1B041D8}"/>
              </a:ext>
            </a:extLst>
          </p:cNvPr>
          <p:cNvSpPr/>
          <p:nvPr/>
        </p:nvSpPr>
        <p:spPr>
          <a:xfrm>
            <a:off x="457200" y="4645152"/>
            <a:ext cx="11274552" cy="102179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5" name="Rectangle 184">
            <a:extLst>
              <a:ext uri="{FF2B5EF4-FFF2-40B4-BE49-F238E27FC236}">
                <a16:creationId xmlns:a16="http://schemas.microsoft.com/office/drawing/2014/main" id="{B1A93C10-B0E0-B2BE-1BB1-4E546977C00E}"/>
              </a:ext>
            </a:extLst>
          </p:cNvPr>
          <p:cNvSpPr/>
          <p:nvPr/>
        </p:nvSpPr>
        <p:spPr>
          <a:xfrm>
            <a:off x="457200" y="4645152"/>
            <a:ext cx="73152" cy="10217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6" name="TextBox 185">
            <a:extLst>
              <a:ext uri="{FF2B5EF4-FFF2-40B4-BE49-F238E27FC236}">
                <a16:creationId xmlns:a16="http://schemas.microsoft.com/office/drawing/2014/main" id="{C85C1B0B-89D0-22C6-1CAE-C34917261A69}"/>
              </a:ext>
            </a:extLst>
          </p:cNvPr>
          <p:cNvSpPr txBox="1"/>
          <p:nvPr/>
        </p:nvSpPr>
        <p:spPr>
          <a:xfrm>
            <a:off x="640080" y="4680361"/>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187" name="TextBox 186">
            <a:extLst>
              <a:ext uri="{FF2B5EF4-FFF2-40B4-BE49-F238E27FC236}">
                <a16:creationId xmlns:a16="http://schemas.microsoft.com/office/drawing/2014/main" id="{143B0CAB-A9DD-A26A-8E87-B89610E0E86B}"/>
              </a:ext>
            </a:extLst>
          </p:cNvPr>
          <p:cNvSpPr txBox="1"/>
          <p:nvPr/>
        </p:nvSpPr>
        <p:spPr>
          <a:xfrm>
            <a:off x="6400800" y="4680361"/>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A443"/>
                </a:solidFill>
                <a:latin typeface="Helvetica Neue"/>
              </a:rPr>
              <a:t>SUPPORTING QUOTE</a:t>
            </a:r>
          </a:p>
        </p:txBody>
      </p:sp>
      <p:sp>
        <p:nvSpPr>
          <p:cNvPr id="188" name="TextBox 187">
            <a:extLst>
              <a:ext uri="{FF2B5EF4-FFF2-40B4-BE49-F238E27FC236}">
                <a16:creationId xmlns:a16="http://schemas.microsoft.com/office/drawing/2014/main" id="{33DB44ED-C441-4E9F-BB0A-0FF43C789652}"/>
              </a:ext>
            </a:extLst>
          </p:cNvPr>
          <p:cNvSpPr txBox="1"/>
          <p:nvPr/>
        </p:nvSpPr>
        <p:spPr>
          <a:xfrm>
            <a:off x="6400800" y="4927249"/>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"I prioritize things that have the highest impact to the most users. In most cases these are break/fix requests" — GIS Sr. Manager / Champion</a:t>
            </a:r>
          </a:p>
        </p:txBody>
      </p:sp>
      <p:sp>
        <p:nvSpPr>
          <p:cNvPr id="189" name="TextBox 188">
            <a:extLst>
              <a:ext uri="{FF2B5EF4-FFF2-40B4-BE49-F238E27FC236}">
                <a16:creationId xmlns:a16="http://schemas.microsoft.com/office/drawing/2014/main" id="{DF9B9376-D11E-BAE5-38F2-0372B3B94115}"/>
              </a:ext>
            </a:extLst>
          </p:cNvPr>
          <p:cNvSpPr txBox="1"/>
          <p:nvPr/>
        </p:nvSpPr>
        <p:spPr>
          <a:xfrm>
            <a:off x="640080" y="4927249"/>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GIS treats "small demand" and "break/fix" as interchangeable — volume grows, prioritization logic doesn't scale</a:t>
            </a:r>
          </a:p>
          <a:p>
            <a:pPr algn="l">
              <a:lnSpc>
                <a:spcPct val="110000"/>
              </a:lnSpc>
              <a:spcBef>
                <a:spcPts val="0"/>
              </a:spcBef>
              <a:spcAft>
                <a:spcPts val="0"/>
              </a:spcAft>
            </a:pPr>
            <a:r>
              <a:rPr lang="en-US" sz="900" b="0" i="0" noProof="0">
                <a:solidFill>
                  <a:srgbClr val="2C3E50"/>
                </a:solidFill>
                <a:latin typeface="Helvetica Neue"/>
              </a:rPr>
              <a:t>▸  PDD works for large projects but leaves 60-70% of actual work (break/fix + small) ungoverned</a:t>
            </a:r>
          </a:p>
          <a:p>
            <a:pPr algn="l">
              <a:lnSpc>
                <a:spcPct val="110000"/>
              </a:lnSpc>
              <a:spcBef>
                <a:spcPts val="0"/>
              </a:spcBef>
              <a:spcAft>
                <a:spcPts val="0"/>
              </a:spcAft>
            </a:pPr>
            <a:r>
              <a:rPr lang="en-US" sz="900" b="0" i="0" noProof="0">
                <a:solidFill>
                  <a:srgbClr val="2C3E50"/>
                </a:solidFill>
                <a:latin typeface="Helvetica Neue"/>
              </a:rPr>
              <a:t>▸  SWF is the elasticity valve — predictable capacity relief, but vendor-dependent and untracked</a:t>
            </a:r>
          </a:p>
        </p:txBody>
      </p:sp>
      <p:sp>
        <p:nvSpPr>
          <p:cNvPr id="190" name="Rectangle 189">
            <a:extLst>
              <a:ext uri="{FF2B5EF4-FFF2-40B4-BE49-F238E27FC236}">
                <a16:creationId xmlns:a16="http://schemas.microsoft.com/office/drawing/2014/main" id="{3ACD6A3D-6277-890C-A622-1D5CEE40EA97}"/>
              </a:ext>
            </a:extLst>
          </p:cNvPr>
          <p:cNvSpPr/>
          <p:nvPr/>
        </p:nvSpPr>
        <p:spPr>
          <a:xfrm>
            <a:off x="458724" y="5794074"/>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1" name="TextBox 190">
            <a:extLst>
              <a:ext uri="{FF2B5EF4-FFF2-40B4-BE49-F238E27FC236}">
                <a16:creationId xmlns:a16="http://schemas.microsoft.com/office/drawing/2014/main" id="{71EBD29B-C8DD-38D8-42B9-0507F9E2756F}"/>
              </a:ext>
            </a:extLst>
          </p:cNvPr>
          <p:cNvSpPr txBox="1"/>
          <p:nvPr/>
        </p:nvSpPr>
        <p:spPr>
          <a:xfrm>
            <a:off x="687324" y="5839794"/>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GIS has a working large-project process (PDD) but relies on email + meetings for small demand — capacity risk as volume grows</a:t>
            </a:r>
          </a:p>
        </p:txBody>
      </p:sp>
    </p:spTree>
    <p:extLst>
      <p:ext uri="{BB962C8B-B14F-4D97-AF65-F5344CB8AC3E}">
        <p14:creationId xmlns:p14="http://schemas.microsoft.com/office/powerpoint/2010/main" val="2069084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C4329-88B2-D154-98F2-8053014A339E}"/>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68970A71-8FAF-1000-2303-D6D0D63A002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Rectangle 28">
            <a:extLst>
              <a:ext uri="{FF2B5EF4-FFF2-40B4-BE49-F238E27FC236}">
                <a16:creationId xmlns:a16="http://schemas.microsoft.com/office/drawing/2014/main" id="{0C5DF889-C81F-B0E9-0DEA-00AF721E9B4B}"/>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9CFB2874-B93F-CA11-6BF7-FF62242A0385}"/>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5C1AF65E-D1F4-4916-B142-59DD7E8AFF12}"/>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E09108EE-AB04-A47B-60E9-8E82F6B470A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3975E30B-A5DB-81FD-D18E-CBB8611FFF2F}"/>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2DC75E94-198F-5A1D-75EB-32FB0BC3A381}"/>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DB2CB509-BCA1-7C58-1060-AB19E71F9CFF}"/>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5" name="TextBox 2">
            <a:extLst>
              <a:ext uri="{FF2B5EF4-FFF2-40B4-BE49-F238E27FC236}">
                <a16:creationId xmlns:a16="http://schemas.microsoft.com/office/drawing/2014/main" id="{036620FD-C3F7-2F37-FB24-B1762AF4B223}"/>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Corporate runs demand through Jira, Confluence and Word — standardization gap despite the highest regulatory pressure</a:t>
            </a:r>
          </a:p>
        </p:txBody>
      </p:sp>
      <p:sp>
        <p:nvSpPr>
          <p:cNvPr id="14" name="TextBox 13">
            <a:extLst>
              <a:ext uri="{FF2B5EF4-FFF2-40B4-BE49-F238E27FC236}">
                <a16:creationId xmlns:a16="http://schemas.microsoft.com/office/drawing/2014/main" id="{92014769-E3BD-E575-A976-4F834924C55B}"/>
              </a:ext>
            </a:extLst>
          </p:cNvPr>
          <p:cNvSpPr txBox="1"/>
          <p:nvPr/>
        </p:nvSpPr>
        <p:spPr>
          <a:xfrm>
            <a:off x="460247" y="1205207"/>
            <a:ext cx="11274552"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accent1"/>
                </a:solidFill>
                <a:latin typeface="Helvetica Neue"/>
              </a:rPr>
              <a:t>Corporate Applications — team led by Sarath </a:t>
            </a:r>
            <a:r>
              <a:rPr lang="en-US" sz="1000" b="0" i="1" noProof="0" err="1">
                <a:solidFill>
                  <a:schemeClr val="accent1"/>
                </a:solidFill>
                <a:latin typeface="Helvetica Neue"/>
              </a:rPr>
              <a:t>Garikapati</a:t>
            </a:r>
            <a:r>
              <a:rPr lang="en-US" sz="1000" b="0" i="1" noProof="0">
                <a:solidFill>
                  <a:schemeClr val="accent1"/>
                </a:solidFill>
                <a:latin typeface="Helvetica Neue"/>
              </a:rPr>
              <a:t> (Sr. Manager)  ·  Champion: Amit Patel (Tech Lead, 5-6 PMs + 2 Tech Leads)</a:t>
            </a:r>
          </a:p>
        </p:txBody>
      </p:sp>
      <p:sp>
        <p:nvSpPr>
          <p:cNvPr id="15" name="Rectangle 14">
            <a:extLst>
              <a:ext uri="{FF2B5EF4-FFF2-40B4-BE49-F238E27FC236}">
                <a16:creationId xmlns:a16="http://schemas.microsoft.com/office/drawing/2014/main" id="{8768EAA7-1222-FB6E-1465-2A6627136967}"/>
              </a:ext>
            </a:extLst>
          </p:cNvPr>
          <p:cNvSpPr/>
          <p:nvPr/>
        </p:nvSpPr>
        <p:spPr>
          <a:xfrm>
            <a:off x="457201" y="1411950"/>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Rectangle 15">
            <a:extLst>
              <a:ext uri="{FF2B5EF4-FFF2-40B4-BE49-F238E27FC236}">
                <a16:creationId xmlns:a16="http://schemas.microsoft.com/office/drawing/2014/main" id="{0DF6FE64-9665-67F1-7439-330F593E89B3}"/>
              </a:ext>
            </a:extLst>
          </p:cNvPr>
          <p:cNvSpPr/>
          <p:nvPr/>
        </p:nvSpPr>
        <p:spPr>
          <a:xfrm>
            <a:off x="457201" y="1411950"/>
            <a:ext cx="1828800" cy="2743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 name="TextBox 16">
            <a:extLst>
              <a:ext uri="{FF2B5EF4-FFF2-40B4-BE49-F238E27FC236}">
                <a16:creationId xmlns:a16="http://schemas.microsoft.com/office/drawing/2014/main" id="{40279C32-2318-1756-C57D-405BF6B561AD}"/>
              </a:ext>
            </a:extLst>
          </p:cNvPr>
          <p:cNvSpPr txBox="1"/>
          <p:nvPr/>
        </p:nvSpPr>
        <p:spPr>
          <a:xfrm>
            <a:off x="457201" y="1411950"/>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18" name="TextBox 17">
            <a:extLst>
              <a:ext uri="{FF2B5EF4-FFF2-40B4-BE49-F238E27FC236}">
                <a16:creationId xmlns:a16="http://schemas.microsoft.com/office/drawing/2014/main" id="{A3760FE3-B3A1-3B23-F23A-697942DCD8B0}"/>
              </a:ext>
            </a:extLst>
          </p:cNvPr>
          <p:cNvSpPr txBox="1"/>
          <p:nvPr/>
        </p:nvSpPr>
        <p:spPr>
          <a:xfrm>
            <a:off x="2377441" y="1411950"/>
            <a:ext cx="9281160" cy="274320"/>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Finance · HR / People · Procurement · Legal &amp; Compliance · Training &amp; Corporate Functions · Regulatory affairs · Enterprise Shared Services</a:t>
            </a:r>
          </a:p>
        </p:txBody>
      </p:sp>
      <p:sp>
        <p:nvSpPr>
          <p:cNvPr id="19" name="Rectangle 18">
            <a:extLst>
              <a:ext uri="{FF2B5EF4-FFF2-40B4-BE49-F238E27FC236}">
                <a16:creationId xmlns:a16="http://schemas.microsoft.com/office/drawing/2014/main" id="{715EF96B-A73E-D2FE-1180-C43E9BB3E68B}"/>
              </a:ext>
            </a:extLst>
          </p:cNvPr>
          <p:cNvSpPr/>
          <p:nvPr/>
        </p:nvSpPr>
        <p:spPr>
          <a:xfrm>
            <a:off x="1097281"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TextBox 19">
            <a:extLst>
              <a:ext uri="{FF2B5EF4-FFF2-40B4-BE49-F238E27FC236}">
                <a16:creationId xmlns:a16="http://schemas.microsoft.com/office/drawing/2014/main" id="{BE6F1F9D-2DF4-ADD1-2FF7-BA5EDA46841E}"/>
              </a:ext>
            </a:extLst>
          </p:cNvPr>
          <p:cNvSpPr txBox="1"/>
          <p:nvPr/>
        </p:nvSpPr>
        <p:spPr>
          <a:xfrm>
            <a:off x="1097281" y="1795998"/>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21" name="Rounded Rectangle 10">
            <a:extLst>
              <a:ext uri="{FF2B5EF4-FFF2-40B4-BE49-F238E27FC236}">
                <a16:creationId xmlns:a16="http://schemas.microsoft.com/office/drawing/2014/main" id="{0EEF0350-97A5-4D3C-1372-FE6711AD116F}"/>
              </a:ext>
            </a:extLst>
          </p:cNvPr>
          <p:cNvSpPr/>
          <p:nvPr/>
        </p:nvSpPr>
        <p:spPr>
          <a:xfrm>
            <a:off x="1632205" y="2198334"/>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TextBox 21">
            <a:extLst>
              <a:ext uri="{FF2B5EF4-FFF2-40B4-BE49-F238E27FC236}">
                <a16:creationId xmlns:a16="http://schemas.microsoft.com/office/drawing/2014/main" id="{BD9F54BC-131A-A7B6-F80D-5647A053C981}"/>
              </a:ext>
            </a:extLst>
          </p:cNvPr>
          <p:cNvSpPr txBox="1"/>
          <p:nvPr/>
        </p:nvSpPr>
        <p:spPr>
          <a:xfrm>
            <a:off x="1632205" y="2219530"/>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23" name="Rectangle 22">
            <a:extLst>
              <a:ext uri="{FF2B5EF4-FFF2-40B4-BE49-F238E27FC236}">
                <a16:creationId xmlns:a16="http://schemas.microsoft.com/office/drawing/2014/main" id="{8200E7FB-B17B-1099-C226-08E460357508}"/>
              </a:ext>
            </a:extLst>
          </p:cNvPr>
          <p:cNvSpPr/>
          <p:nvPr/>
        </p:nvSpPr>
        <p:spPr>
          <a:xfrm>
            <a:off x="3319273"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23">
            <a:extLst>
              <a:ext uri="{FF2B5EF4-FFF2-40B4-BE49-F238E27FC236}">
                <a16:creationId xmlns:a16="http://schemas.microsoft.com/office/drawing/2014/main" id="{06C3D603-EF2C-1CBE-D6E4-146F00BB3490}"/>
              </a:ext>
            </a:extLst>
          </p:cNvPr>
          <p:cNvSpPr txBox="1"/>
          <p:nvPr/>
        </p:nvSpPr>
        <p:spPr>
          <a:xfrm>
            <a:off x="3319273" y="1795998"/>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25" name="Rounded Rectangle 14">
            <a:extLst>
              <a:ext uri="{FF2B5EF4-FFF2-40B4-BE49-F238E27FC236}">
                <a16:creationId xmlns:a16="http://schemas.microsoft.com/office/drawing/2014/main" id="{A2397755-073F-2A91-BA26-3267CFC02B97}"/>
              </a:ext>
            </a:extLst>
          </p:cNvPr>
          <p:cNvSpPr/>
          <p:nvPr/>
        </p:nvSpPr>
        <p:spPr>
          <a:xfrm>
            <a:off x="3854197" y="2198334"/>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TextBox 25">
            <a:extLst>
              <a:ext uri="{FF2B5EF4-FFF2-40B4-BE49-F238E27FC236}">
                <a16:creationId xmlns:a16="http://schemas.microsoft.com/office/drawing/2014/main" id="{A6A57462-F31D-72F5-9EFC-775E4D95A64F}"/>
              </a:ext>
            </a:extLst>
          </p:cNvPr>
          <p:cNvSpPr txBox="1"/>
          <p:nvPr/>
        </p:nvSpPr>
        <p:spPr>
          <a:xfrm>
            <a:off x="3854197" y="2198334"/>
            <a:ext cx="1097280" cy="182880"/>
          </a:xfrm>
          <a:prstGeom prst="rect">
            <a:avLst/>
          </a:prstGeom>
          <a:solidFill>
            <a:srgbClr val="E67E22"/>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GAP</a:t>
            </a:r>
          </a:p>
        </p:txBody>
      </p:sp>
      <p:sp>
        <p:nvSpPr>
          <p:cNvPr id="27" name="Rectangle 26">
            <a:extLst>
              <a:ext uri="{FF2B5EF4-FFF2-40B4-BE49-F238E27FC236}">
                <a16:creationId xmlns:a16="http://schemas.microsoft.com/office/drawing/2014/main" id="{5E35777C-D773-3DBC-4B3B-9786FF58D657}"/>
              </a:ext>
            </a:extLst>
          </p:cNvPr>
          <p:cNvSpPr/>
          <p:nvPr/>
        </p:nvSpPr>
        <p:spPr>
          <a:xfrm>
            <a:off x="5541265"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27">
            <a:extLst>
              <a:ext uri="{FF2B5EF4-FFF2-40B4-BE49-F238E27FC236}">
                <a16:creationId xmlns:a16="http://schemas.microsoft.com/office/drawing/2014/main" id="{139386DC-B7AA-89CC-C0E5-56AF57CCF35B}"/>
              </a:ext>
            </a:extLst>
          </p:cNvPr>
          <p:cNvSpPr txBox="1"/>
          <p:nvPr/>
        </p:nvSpPr>
        <p:spPr>
          <a:xfrm>
            <a:off x="5541265" y="1795998"/>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29" name="Rounded Rectangle 18">
            <a:extLst>
              <a:ext uri="{FF2B5EF4-FFF2-40B4-BE49-F238E27FC236}">
                <a16:creationId xmlns:a16="http://schemas.microsoft.com/office/drawing/2014/main" id="{6D493706-909E-FCC1-9686-CCE9D22FB41E}"/>
              </a:ext>
            </a:extLst>
          </p:cNvPr>
          <p:cNvSpPr/>
          <p:nvPr/>
        </p:nvSpPr>
        <p:spPr>
          <a:xfrm>
            <a:off x="6076189" y="2198334"/>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TextBox 29">
            <a:extLst>
              <a:ext uri="{FF2B5EF4-FFF2-40B4-BE49-F238E27FC236}">
                <a16:creationId xmlns:a16="http://schemas.microsoft.com/office/drawing/2014/main" id="{BE950096-B5D3-3EAF-FD4E-FB62B2FEFE5C}"/>
              </a:ext>
            </a:extLst>
          </p:cNvPr>
          <p:cNvSpPr txBox="1"/>
          <p:nvPr/>
        </p:nvSpPr>
        <p:spPr>
          <a:xfrm>
            <a:off x="6076189" y="2219530"/>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31" name="Rectangle 30">
            <a:extLst>
              <a:ext uri="{FF2B5EF4-FFF2-40B4-BE49-F238E27FC236}">
                <a16:creationId xmlns:a16="http://schemas.microsoft.com/office/drawing/2014/main" id="{1AFF5E89-BBE2-DD45-7EA4-120894B8CC59}"/>
              </a:ext>
            </a:extLst>
          </p:cNvPr>
          <p:cNvSpPr/>
          <p:nvPr/>
        </p:nvSpPr>
        <p:spPr>
          <a:xfrm>
            <a:off x="7763257" y="1795998"/>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TextBox 31">
            <a:extLst>
              <a:ext uri="{FF2B5EF4-FFF2-40B4-BE49-F238E27FC236}">
                <a16:creationId xmlns:a16="http://schemas.microsoft.com/office/drawing/2014/main" id="{A1066F4F-B580-9E87-8B1A-B1C68CDDBC28}"/>
              </a:ext>
            </a:extLst>
          </p:cNvPr>
          <p:cNvSpPr txBox="1"/>
          <p:nvPr/>
        </p:nvSpPr>
        <p:spPr>
          <a:xfrm>
            <a:off x="7763257" y="1795998"/>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33" name="Rounded Rectangle 22">
            <a:extLst>
              <a:ext uri="{FF2B5EF4-FFF2-40B4-BE49-F238E27FC236}">
                <a16:creationId xmlns:a16="http://schemas.microsoft.com/office/drawing/2014/main" id="{A8A2609D-ABBF-57C5-7960-53C682D80881}"/>
              </a:ext>
            </a:extLst>
          </p:cNvPr>
          <p:cNvSpPr/>
          <p:nvPr/>
        </p:nvSpPr>
        <p:spPr>
          <a:xfrm>
            <a:off x="8298181" y="2198334"/>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TextBox 33">
            <a:extLst>
              <a:ext uri="{FF2B5EF4-FFF2-40B4-BE49-F238E27FC236}">
                <a16:creationId xmlns:a16="http://schemas.microsoft.com/office/drawing/2014/main" id="{B2BAFD36-B6CD-CF74-3713-14ADB110F9EA}"/>
              </a:ext>
            </a:extLst>
          </p:cNvPr>
          <p:cNvSpPr txBox="1"/>
          <p:nvPr/>
        </p:nvSpPr>
        <p:spPr>
          <a:xfrm>
            <a:off x="8298181" y="2198334"/>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35" name="Rectangle 34">
            <a:extLst>
              <a:ext uri="{FF2B5EF4-FFF2-40B4-BE49-F238E27FC236}">
                <a16:creationId xmlns:a16="http://schemas.microsoft.com/office/drawing/2014/main" id="{B8F73105-BF3D-809F-CC56-89B48ED3B84C}"/>
              </a:ext>
            </a:extLst>
          </p:cNvPr>
          <p:cNvSpPr/>
          <p:nvPr/>
        </p:nvSpPr>
        <p:spPr>
          <a:xfrm>
            <a:off x="9985249" y="1795998"/>
            <a:ext cx="1746504"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35">
            <a:extLst>
              <a:ext uri="{FF2B5EF4-FFF2-40B4-BE49-F238E27FC236}">
                <a16:creationId xmlns:a16="http://schemas.microsoft.com/office/drawing/2014/main" id="{B7CD4277-4833-3712-F946-B07A2C1EF0FA}"/>
              </a:ext>
            </a:extLst>
          </p:cNvPr>
          <p:cNvSpPr txBox="1"/>
          <p:nvPr/>
        </p:nvSpPr>
        <p:spPr>
          <a:xfrm>
            <a:off x="9985249" y="1892244"/>
            <a:ext cx="1746504" cy="154979"/>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37" name="Rounded Rectangle 26">
            <a:extLst>
              <a:ext uri="{FF2B5EF4-FFF2-40B4-BE49-F238E27FC236}">
                <a16:creationId xmlns:a16="http://schemas.microsoft.com/office/drawing/2014/main" id="{C15ED6C0-8562-E768-96D3-68FDF45A8236}"/>
              </a:ext>
            </a:extLst>
          </p:cNvPr>
          <p:cNvSpPr/>
          <p:nvPr/>
        </p:nvSpPr>
        <p:spPr>
          <a:xfrm>
            <a:off x="10282560" y="2198334"/>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TextBox 37">
            <a:extLst>
              <a:ext uri="{FF2B5EF4-FFF2-40B4-BE49-F238E27FC236}">
                <a16:creationId xmlns:a16="http://schemas.microsoft.com/office/drawing/2014/main" id="{97909AAB-2546-2E2B-0D59-0DD6B885ECE5}"/>
              </a:ext>
            </a:extLst>
          </p:cNvPr>
          <p:cNvSpPr txBox="1"/>
          <p:nvPr/>
        </p:nvSpPr>
        <p:spPr>
          <a:xfrm>
            <a:off x="10282560" y="2219530"/>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39" name="Rectangle 38">
            <a:extLst>
              <a:ext uri="{FF2B5EF4-FFF2-40B4-BE49-F238E27FC236}">
                <a16:creationId xmlns:a16="http://schemas.microsoft.com/office/drawing/2014/main" id="{314720E8-58CA-BE96-AC41-F1C000167C7F}"/>
              </a:ext>
            </a:extLst>
          </p:cNvPr>
          <p:cNvSpPr/>
          <p:nvPr/>
        </p:nvSpPr>
        <p:spPr>
          <a:xfrm>
            <a:off x="457201" y="2436078"/>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39">
            <a:extLst>
              <a:ext uri="{FF2B5EF4-FFF2-40B4-BE49-F238E27FC236}">
                <a16:creationId xmlns:a16="http://schemas.microsoft.com/office/drawing/2014/main" id="{F8128E4F-0D1C-2E81-7AB1-52C6179132D3}"/>
              </a:ext>
            </a:extLst>
          </p:cNvPr>
          <p:cNvSpPr txBox="1"/>
          <p:nvPr/>
        </p:nvSpPr>
        <p:spPr>
          <a:xfrm>
            <a:off x="457201" y="2436078"/>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41" name="Rectangle 40">
            <a:extLst>
              <a:ext uri="{FF2B5EF4-FFF2-40B4-BE49-F238E27FC236}">
                <a16:creationId xmlns:a16="http://schemas.microsoft.com/office/drawing/2014/main" id="{EBD51D67-C75C-FE93-1FF5-E75E3633C591}"/>
              </a:ext>
            </a:extLst>
          </p:cNvPr>
          <p:cNvSpPr/>
          <p:nvPr/>
        </p:nvSpPr>
        <p:spPr>
          <a:xfrm>
            <a:off x="1097281"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a:extLst>
              <a:ext uri="{FF2B5EF4-FFF2-40B4-BE49-F238E27FC236}">
                <a16:creationId xmlns:a16="http://schemas.microsoft.com/office/drawing/2014/main" id="{127E245E-0967-7D8E-8718-9C0A48D0D1FF}"/>
              </a:ext>
            </a:extLst>
          </p:cNvPr>
          <p:cNvSpPr txBox="1"/>
          <p:nvPr/>
        </p:nvSpPr>
        <p:spPr>
          <a:xfrm>
            <a:off x="1188721" y="248179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PM via Jira + Confluence; Word docs for business requirements</a:t>
            </a:r>
          </a:p>
        </p:txBody>
      </p:sp>
      <p:sp>
        <p:nvSpPr>
          <p:cNvPr id="43" name="Rectangle 42">
            <a:extLst>
              <a:ext uri="{FF2B5EF4-FFF2-40B4-BE49-F238E27FC236}">
                <a16:creationId xmlns:a16="http://schemas.microsoft.com/office/drawing/2014/main" id="{90122A9E-8FB0-0BEC-772F-39B0EB8F6D6C}"/>
              </a:ext>
            </a:extLst>
          </p:cNvPr>
          <p:cNvSpPr/>
          <p:nvPr/>
        </p:nvSpPr>
        <p:spPr>
          <a:xfrm>
            <a:off x="3319273"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TextBox 43">
            <a:extLst>
              <a:ext uri="{FF2B5EF4-FFF2-40B4-BE49-F238E27FC236}">
                <a16:creationId xmlns:a16="http://schemas.microsoft.com/office/drawing/2014/main" id="{9F0E8F95-454C-9BAA-5673-FBF70CF3EB2B}"/>
              </a:ext>
            </a:extLst>
          </p:cNvPr>
          <p:cNvSpPr txBox="1"/>
          <p:nvPr/>
        </p:nvSpPr>
        <p:spPr>
          <a:xfrm>
            <a:off x="3410713" y="248179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 drives for large; no explicit model for small/medium</a:t>
            </a:r>
          </a:p>
        </p:txBody>
      </p:sp>
      <p:sp>
        <p:nvSpPr>
          <p:cNvPr id="45" name="Rectangle 44">
            <a:extLst>
              <a:ext uri="{FF2B5EF4-FFF2-40B4-BE49-F238E27FC236}">
                <a16:creationId xmlns:a16="http://schemas.microsoft.com/office/drawing/2014/main" id="{A4413688-4DEF-B91E-09A0-B18107D4FBE2}"/>
              </a:ext>
            </a:extLst>
          </p:cNvPr>
          <p:cNvSpPr/>
          <p:nvPr/>
        </p:nvSpPr>
        <p:spPr>
          <a:xfrm>
            <a:off x="5541265"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45">
            <a:extLst>
              <a:ext uri="{FF2B5EF4-FFF2-40B4-BE49-F238E27FC236}">
                <a16:creationId xmlns:a16="http://schemas.microsoft.com/office/drawing/2014/main" id="{FCEC47A0-8ED1-C3D3-2317-22D9C1280A95}"/>
              </a:ext>
            </a:extLst>
          </p:cNvPr>
          <p:cNvSpPr txBox="1"/>
          <p:nvPr/>
        </p:nvSpPr>
        <p:spPr>
          <a:xfrm>
            <a:off x="5632705" y="248179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 is the driver; regulatory is treated as standing priority</a:t>
            </a:r>
          </a:p>
        </p:txBody>
      </p:sp>
      <p:sp>
        <p:nvSpPr>
          <p:cNvPr id="47" name="Rectangle 46">
            <a:extLst>
              <a:ext uri="{FF2B5EF4-FFF2-40B4-BE49-F238E27FC236}">
                <a16:creationId xmlns:a16="http://schemas.microsoft.com/office/drawing/2014/main" id="{E23C79E9-ED1C-1B25-92B6-947956DF0F08}"/>
              </a:ext>
            </a:extLst>
          </p:cNvPr>
          <p:cNvSpPr/>
          <p:nvPr/>
        </p:nvSpPr>
        <p:spPr>
          <a:xfrm>
            <a:off x="7763257"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TextBox 47">
            <a:extLst>
              <a:ext uri="{FF2B5EF4-FFF2-40B4-BE49-F238E27FC236}">
                <a16:creationId xmlns:a16="http://schemas.microsoft.com/office/drawing/2014/main" id="{1F51303A-EC57-43EA-8E48-804BD92C9948}"/>
              </a:ext>
            </a:extLst>
          </p:cNvPr>
          <p:cNvSpPr txBox="1"/>
          <p:nvPr/>
        </p:nvSpPr>
        <p:spPr>
          <a:xfrm>
            <a:off x="7854697" y="248179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PDD-approved portfolio; overlap visible in Confluence</a:t>
            </a:r>
          </a:p>
        </p:txBody>
      </p:sp>
      <p:sp>
        <p:nvSpPr>
          <p:cNvPr id="49" name="Rectangle 48">
            <a:extLst>
              <a:ext uri="{FF2B5EF4-FFF2-40B4-BE49-F238E27FC236}">
                <a16:creationId xmlns:a16="http://schemas.microsoft.com/office/drawing/2014/main" id="{57AD46B2-3193-B099-4016-FE6F0852E094}"/>
              </a:ext>
            </a:extLst>
          </p:cNvPr>
          <p:cNvSpPr/>
          <p:nvPr/>
        </p:nvSpPr>
        <p:spPr>
          <a:xfrm>
            <a:off x="9985249" y="243607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B689A76E-861A-01C2-2033-39B6EA6524EF}"/>
              </a:ext>
            </a:extLst>
          </p:cNvPr>
          <p:cNvSpPr txBox="1"/>
          <p:nvPr/>
        </p:nvSpPr>
        <p:spPr>
          <a:xfrm>
            <a:off x="10076689" y="2481798"/>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Internal + Vendor split; regulatory-driven release cadence</a:t>
            </a:r>
          </a:p>
        </p:txBody>
      </p:sp>
      <p:sp>
        <p:nvSpPr>
          <p:cNvPr id="193" name="Rectangle 192">
            <a:extLst>
              <a:ext uri="{FF2B5EF4-FFF2-40B4-BE49-F238E27FC236}">
                <a16:creationId xmlns:a16="http://schemas.microsoft.com/office/drawing/2014/main" id="{1429874E-532C-7DE9-0A67-3EB12CBFE34D}"/>
              </a:ext>
            </a:extLst>
          </p:cNvPr>
          <p:cNvSpPr/>
          <p:nvPr/>
        </p:nvSpPr>
        <p:spPr>
          <a:xfrm>
            <a:off x="457201" y="2966430"/>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6D0AA3FE-646F-7145-AAF3-CE687D0EDF06}"/>
              </a:ext>
            </a:extLst>
          </p:cNvPr>
          <p:cNvSpPr txBox="1"/>
          <p:nvPr/>
        </p:nvSpPr>
        <p:spPr>
          <a:xfrm>
            <a:off x="457201" y="2966430"/>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95" name="Rectangle 194">
            <a:extLst>
              <a:ext uri="{FF2B5EF4-FFF2-40B4-BE49-F238E27FC236}">
                <a16:creationId xmlns:a16="http://schemas.microsoft.com/office/drawing/2014/main" id="{B1BADBB8-BE69-5CF4-8622-2A25FE09EC4E}"/>
              </a:ext>
            </a:extLst>
          </p:cNvPr>
          <p:cNvSpPr/>
          <p:nvPr/>
        </p:nvSpPr>
        <p:spPr>
          <a:xfrm>
            <a:off x="1097281"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6" name="TextBox 195">
            <a:extLst>
              <a:ext uri="{FF2B5EF4-FFF2-40B4-BE49-F238E27FC236}">
                <a16:creationId xmlns:a16="http://schemas.microsoft.com/office/drawing/2014/main" id="{A5998394-AFB1-9730-6386-92C9E192BEF8}"/>
              </a:ext>
            </a:extLst>
          </p:cNvPr>
          <p:cNvSpPr txBox="1"/>
          <p:nvPr/>
        </p:nvSpPr>
        <p:spPr>
          <a:xfrm>
            <a:off x="1188721" y="3012150"/>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analysts send requirements; PMs own Jira intake</a:t>
            </a:r>
          </a:p>
        </p:txBody>
      </p:sp>
      <p:sp>
        <p:nvSpPr>
          <p:cNvPr id="197" name="Rectangle 196">
            <a:extLst>
              <a:ext uri="{FF2B5EF4-FFF2-40B4-BE49-F238E27FC236}">
                <a16:creationId xmlns:a16="http://schemas.microsoft.com/office/drawing/2014/main" id="{BFBE9B3E-2B4E-2106-1870-080427E55774}"/>
              </a:ext>
            </a:extLst>
          </p:cNvPr>
          <p:cNvSpPr/>
          <p:nvPr/>
        </p:nvSpPr>
        <p:spPr>
          <a:xfrm>
            <a:off x="3319273"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EAD2B0F1-E812-9F67-908A-2259148B1CF5}"/>
              </a:ext>
            </a:extLst>
          </p:cNvPr>
          <p:cNvSpPr txBox="1"/>
          <p:nvPr/>
        </p:nvSpPr>
        <p:spPr>
          <a:xfrm>
            <a:off x="3410713" y="3012150"/>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5-6 PMs + 2 Tech Leads classify (central PM pool sits here)</a:t>
            </a:r>
          </a:p>
        </p:txBody>
      </p:sp>
      <p:sp>
        <p:nvSpPr>
          <p:cNvPr id="199" name="Rectangle 198">
            <a:extLst>
              <a:ext uri="{FF2B5EF4-FFF2-40B4-BE49-F238E27FC236}">
                <a16:creationId xmlns:a16="http://schemas.microsoft.com/office/drawing/2014/main" id="{2CD107E7-28D9-39C7-C6B0-D71652486471}"/>
              </a:ext>
            </a:extLst>
          </p:cNvPr>
          <p:cNvSpPr/>
          <p:nvPr/>
        </p:nvSpPr>
        <p:spPr>
          <a:xfrm>
            <a:off x="5541265"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26C85922-2776-1F45-C43B-2C784950DE01}"/>
              </a:ext>
            </a:extLst>
          </p:cNvPr>
          <p:cNvSpPr txBox="1"/>
          <p:nvPr/>
        </p:nvSpPr>
        <p:spPr>
          <a:xfrm>
            <a:off x="5632705" y="3012150"/>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PMs + business leadership — regulatory always lifted</a:t>
            </a:r>
          </a:p>
        </p:txBody>
      </p:sp>
      <p:sp>
        <p:nvSpPr>
          <p:cNvPr id="201" name="Rectangle 200">
            <a:extLst>
              <a:ext uri="{FF2B5EF4-FFF2-40B4-BE49-F238E27FC236}">
                <a16:creationId xmlns:a16="http://schemas.microsoft.com/office/drawing/2014/main" id="{3EEB7BF7-F9E2-F732-A4CB-44EC1EE71888}"/>
              </a:ext>
            </a:extLst>
          </p:cNvPr>
          <p:cNvSpPr/>
          <p:nvPr/>
        </p:nvSpPr>
        <p:spPr>
          <a:xfrm>
            <a:off x="7763257"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2" name="TextBox 201">
            <a:extLst>
              <a:ext uri="{FF2B5EF4-FFF2-40B4-BE49-F238E27FC236}">
                <a16:creationId xmlns:a16="http://schemas.microsoft.com/office/drawing/2014/main" id="{041DE3BA-9929-B417-D8EC-FE213EAD6E9A}"/>
              </a:ext>
            </a:extLst>
          </p:cNvPr>
          <p:cNvSpPr txBox="1"/>
          <p:nvPr/>
        </p:nvSpPr>
        <p:spPr>
          <a:xfrm>
            <a:off x="7854697" y="3012150"/>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PMs track Jira; overlap visible but not resolved upstream</a:t>
            </a:r>
          </a:p>
        </p:txBody>
      </p:sp>
      <p:sp>
        <p:nvSpPr>
          <p:cNvPr id="203" name="Rectangle 202">
            <a:extLst>
              <a:ext uri="{FF2B5EF4-FFF2-40B4-BE49-F238E27FC236}">
                <a16:creationId xmlns:a16="http://schemas.microsoft.com/office/drawing/2014/main" id="{9EB0221A-D33C-300F-2386-43A9BFC409B5}"/>
              </a:ext>
            </a:extLst>
          </p:cNvPr>
          <p:cNvSpPr/>
          <p:nvPr/>
        </p:nvSpPr>
        <p:spPr>
          <a:xfrm>
            <a:off x="9985249" y="2966430"/>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E0F9B7EE-1215-96B8-644F-5418794B5D02}"/>
              </a:ext>
            </a:extLst>
          </p:cNvPr>
          <p:cNvSpPr txBox="1"/>
          <p:nvPr/>
        </p:nvSpPr>
        <p:spPr>
          <a:xfrm>
            <a:off x="10076689" y="3012150"/>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Internal team + SWF + vendors for specific modules</a:t>
            </a:r>
          </a:p>
        </p:txBody>
      </p:sp>
      <p:sp>
        <p:nvSpPr>
          <p:cNvPr id="205" name="Rectangle 204">
            <a:extLst>
              <a:ext uri="{FF2B5EF4-FFF2-40B4-BE49-F238E27FC236}">
                <a16:creationId xmlns:a16="http://schemas.microsoft.com/office/drawing/2014/main" id="{2D2ED947-53F5-1CE5-6E14-BC417C885EB7}"/>
              </a:ext>
            </a:extLst>
          </p:cNvPr>
          <p:cNvSpPr/>
          <p:nvPr/>
        </p:nvSpPr>
        <p:spPr>
          <a:xfrm>
            <a:off x="457201" y="3496782"/>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41F76F50-D0CF-6E94-F04B-7614554DBF04}"/>
              </a:ext>
            </a:extLst>
          </p:cNvPr>
          <p:cNvSpPr txBox="1"/>
          <p:nvPr/>
        </p:nvSpPr>
        <p:spPr>
          <a:xfrm>
            <a:off x="457201" y="3496782"/>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207" name="Rectangle 206">
            <a:extLst>
              <a:ext uri="{FF2B5EF4-FFF2-40B4-BE49-F238E27FC236}">
                <a16:creationId xmlns:a16="http://schemas.microsoft.com/office/drawing/2014/main" id="{B1FB02F0-FDDF-D8BA-FB4F-2B50E6E85CEF}"/>
              </a:ext>
            </a:extLst>
          </p:cNvPr>
          <p:cNvSpPr/>
          <p:nvPr/>
        </p:nvSpPr>
        <p:spPr>
          <a:xfrm>
            <a:off x="1097281"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8" name="TextBox 207">
            <a:extLst>
              <a:ext uri="{FF2B5EF4-FFF2-40B4-BE49-F238E27FC236}">
                <a16:creationId xmlns:a16="http://schemas.microsoft.com/office/drawing/2014/main" id="{781690A2-2DB0-1289-F064-F47838F9ED06}"/>
              </a:ext>
            </a:extLst>
          </p:cNvPr>
          <p:cNvSpPr txBox="1"/>
          <p:nvPr/>
        </p:nvSpPr>
        <p:spPr>
          <a:xfrm>
            <a:off x="1188721" y="354250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 Confluence · Word docs</a:t>
            </a:r>
          </a:p>
        </p:txBody>
      </p:sp>
      <p:sp>
        <p:nvSpPr>
          <p:cNvPr id="209" name="Rectangle 208">
            <a:extLst>
              <a:ext uri="{FF2B5EF4-FFF2-40B4-BE49-F238E27FC236}">
                <a16:creationId xmlns:a16="http://schemas.microsoft.com/office/drawing/2014/main" id="{A8549931-5000-2143-183A-8353347A9CFE}"/>
              </a:ext>
            </a:extLst>
          </p:cNvPr>
          <p:cNvSpPr/>
          <p:nvPr/>
        </p:nvSpPr>
        <p:spPr>
          <a:xfrm>
            <a:off x="3319273"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F85DF857-3A33-2033-3B1B-D92DD3605437}"/>
              </a:ext>
            </a:extLst>
          </p:cNvPr>
          <p:cNvSpPr txBox="1"/>
          <p:nvPr/>
        </p:nvSpPr>
        <p:spPr>
          <a:xfrm>
            <a:off x="3410713" y="354250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labels + PDD workbook</a:t>
            </a:r>
          </a:p>
        </p:txBody>
      </p:sp>
      <p:sp>
        <p:nvSpPr>
          <p:cNvPr id="211" name="Rectangle 210">
            <a:extLst>
              <a:ext uri="{FF2B5EF4-FFF2-40B4-BE49-F238E27FC236}">
                <a16:creationId xmlns:a16="http://schemas.microsoft.com/office/drawing/2014/main" id="{ECE077EC-3084-3687-070F-7195F1E68DA5}"/>
              </a:ext>
            </a:extLst>
          </p:cNvPr>
          <p:cNvSpPr/>
          <p:nvPr/>
        </p:nvSpPr>
        <p:spPr>
          <a:xfrm>
            <a:off x="5541265"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2" name="TextBox 211">
            <a:extLst>
              <a:ext uri="{FF2B5EF4-FFF2-40B4-BE49-F238E27FC236}">
                <a16:creationId xmlns:a16="http://schemas.microsoft.com/office/drawing/2014/main" id="{838EDE5B-B7A7-6030-7939-BF81AFE737E8}"/>
              </a:ext>
            </a:extLst>
          </p:cNvPr>
          <p:cNvSpPr txBox="1"/>
          <p:nvPr/>
        </p:nvSpPr>
        <p:spPr>
          <a:xfrm>
            <a:off x="5632705" y="354250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scoring tool — regulatory tag = priority</a:t>
            </a:r>
          </a:p>
        </p:txBody>
      </p:sp>
      <p:sp>
        <p:nvSpPr>
          <p:cNvPr id="213" name="Rectangle 212">
            <a:extLst>
              <a:ext uri="{FF2B5EF4-FFF2-40B4-BE49-F238E27FC236}">
                <a16:creationId xmlns:a16="http://schemas.microsoft.com/office/drawing/2014/main" id="{A9778C16-3ED8-49D1-1B55-4A505C02CE8E}"/>
              </a:ext>
            </a:extLst>
          </p:cNvPr>
          <p:cNvSpPr/>
          <p:nvPr/>
        </p:nvSpPr>
        <p:spPr>
          <a:xfrm>
            <a:off x="7763257"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4" name="TextBox 213">
            <a:extLst>
              <a:ext uri="{FF2B5EF4-FFF2-40B4-BE49-F238E27FC236}">
                <a16:creationId xmlns:a16="http://schemas.microsoft.com/office/drawing/2014/main" id="{C43F5FA9-8E06-F8E1-48FC-F9F917225522}"/>
              </a:ext>
            </a:extLst>
          </p:cNvPr>
          <p:cNvSpPr txBox="1"/>
          <p:nvPr/>
        </p:nvSpPr>
        <p:spPr>
          <a:xfrm>
            <a:off x="7854697" y="354250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Confluence + PDD; no consolidated portfolio tool</a:t>
            </a:r>
          </a:p>
        </p:txBody>
      </p:sp>
      <p:sp>
        <p:nvSpPr>
          <p:cNvPr id="215" name="Rectangle 214">
            <a:extLst>
              <a:ext uri="{FF2B5EF4-FFF2-40B4-BE49-F238E27FC236}">
                <a16:creationId xmlns:a16="http://schemas.microsoft.com/office/drawing/2014/main" id="{EC39460E-3701-D075-2F96-7B08B255B1A6}"/>
              </a:ext>
            </a:extLst>
          </p:cNvPr>
          <p:cNvSpPr/>
          <p:nvPr/>
        </p:nvSpPr>
        <p:spPr>
          <a:xfrm>
            <a:off x="9985249" y="349678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6" name="TextBox 215">
            <a:extLst>
              <a:ext uri="{FF2B5EF4-FFF2-40B4-BE49-F238E27FC236}">
                <a16:creationId xmlns:a16="http://schemas.microsoft.com/office/drawing/2014/main" id="{4B52C3B9-6AB7-20CD-45F7-C1FF8386B8CB}"/>
              </a:ext>
            </a:extLst>
          </p:cNvPr>
          <p:cNvSpPr txBox="1"/>
          <p:nvPr/>
        </p:nvSpPr>
        <p:spPr>
          <a:xfrm>
            <a:off x="10076689" y="3542502"/>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 Confluence; SWF for vendor capacity</a:t>
            </a:r>
          </a:p>
        </p:txBody>
      </p:sp>
      <p:sp>
        <p:nvSpPr>
          <p:cNvPr id="217" name="Rectangle 216">
            <a:extLst>
              <a:ext uri="{FF2B5EF4-FFF2-40B4-BE49-F238E27FC236}">
                <a16:creationId xmlns:a16="http://schemas.microsoft.com/office/drawing/2014/main" id="{A284914C-D128-3779-7693-E3FAABA483AC}"/>
              </a:ext>
            </a:extLst>
          </p:cNvPr>
          <p:cNvSpPr/>
          <p:nvPr/>
        </p:nvSpPr>
        <p:spPr>
          <a:xfrm>
            <a:off x="457201" y="4027134"/>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8" name="TextBox 217">
            <a:extLst>
              <a:ext uri="{FF2B5EF4-FFF2-40B4-BE49-F238E27FC236}">
                <a16:creationId xmlns:a16="http://schemas.microsoft.com/office/drawing/2014/main" id="{A4653344-BB48-B996-93C5-E5EA61F2DD4B}"/>
              </a:ext>
            </a:extLst>
          </p:cNvPr>
          <p:cNvSpPr txBox="1"/>
          <p:nvPr/>
        </p:nvSpPr>
        <p:spPr>
          <a:xfrm>
            <a:off x="457201" y="4176751"/>
            <a:ext cx="594360" cy="194540"/>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a:t>
            </a:r>
            <a:r>
              <a:rPr lang="en-US" sz="600" b="1" noProof="0">
                <a:solidFill>
                  <a:srgbClr val="FFFFFF"/>
                </a:solidFill>
                <a:latin typeface="Helvetica Neue"/>
              </a:rPr>
              <a:t>C</a:t>
            </a:r>
            <a:r>
              <a:rPr lang="en-US" sz="600" b="1" i="0" noProof="0">
                <a:solidFill>
                  <a:srgbClr val="FFFFFF"/>
                </a:solidFill>
                <a:latin typeface="Helvetica Neue"/>
              </a:rPr>
              <a:t>E  &amp;  METRICS</a:t>
            </a:r>
          </a:p>
        </p:txBody>
      </p:sp>
      <p:sp>
        <p:nvSpPr>
          <p:cNvPr id="219" name="Rectangle 218">
            <a:extLst>
              <a:ext uri="{FF2B5EF4-FFF2-40B4-BE49-F238E27FC236}">
                <a16:creationId xmlns:a16="http://schemas.microsoft.com/office/drawing/2014/main" id="{A6D98D63-21E9-235A-149A-59E955D5CEFF}"/>
              </a:ext>
            </a:extLst>
          </p:cNvPr>
          <p:cNvSpPr/>
          <p:nvPr/>
        </p:nvSpPr>
        <p:spPr>
          <a:xfrm>
            <a:off x="1097281"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0" name="TextBox 219">
            <a:extLst>
              <a:ext uri="{FF2B5EF4-FFF2-40B4-BE49-F238E27FC236}">
                <a16:creationId xmlns:a16="http://schemas.microsoft.com/office/drawing/2014/main" id="{655AC642-3CA1-DD5C-6B0E-90B914AAB291}"/>
              </a:ext>
            </a:extLst>
          </p:cNvPr>
          <p:cNvSpPr txBox="1"/>
          <p:nvPr/>
        </p:nvSpPr>
        <p:spPr>
          <a:xfrm>
            <a:off x="1188721" y="407285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consolidated intake funnel; Word breaks digital trail</a:t>
            </a:r>
          </a:p>
        </p:txBody>
      </p:sp>
      <p:sp>
        <p:nvSpPr>
          <p:cNvPr id="221" name="Rectangle 220">
            <a:extLst>
              <a:ext uri="{FF2B5EF4-FFF2-40B4-BE49-F238E27FC236}">
                <a16:creationId xmlns:a16="http://schemas.microsoft.com/office/drawing/2014/main" id="{180B2F03-2157-3265-D41D-AD380B591670}"/>
              </a:ext>
            </a:extLst>
          </p:cNvPr>
          <p:cNvSpPr/>
          <p:nvPr/>
        </p:nvSpPr>
        <p:spPr>
          <a:xfrm>
            <a:off x="3319273"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2" name="TextBox 221">
            <a:extLst>
              <a:ext uri="{FF2B5EF4-FFF2-40B4-BE49-F238E27FC236}">
                <a16:creationId xmlns:a16="http://schemas.microsoft.com/office/drawing/2014/main" id="{1065D159-87EF-7680-21D2-5F84B0713AFE}"/>
              </a:ext>
            </a:extLst>
          </p:cNvPr>
          <p:cNvSpPr txBox="1"/>
          <p:nvPr/>
        </p:nvSpPr>
        <p:spPr>
          <a:xfrm>
            <a:off x="3410713" y="407285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deduplication between overlapping PDDs</a:t>
            </a:r>
          </a:p>
        </p:txBody>
      </p:sp>
      <p:sp>
        <p:nvSpPr>
          <p:cNvPr id="223" name="Rectangle 222">
            <a:extLst>
              <a:ext uri="{FF2B5EF4-FFF2-40B4-BE49-F238E27FC236}">
                <a16:creationId xmlns:a16="http://schemas.microsoft.com/office/drawing/2014/main" id="{022CD4E7-42AB-491A-012A-788D7F259C4F}"/>
              </a:ext>
            </a:extLst>
          </p:cNvPr>
          <p:cNvSpPr/>
          <p:nvPr/>
        </p:nvSpPr>
        <p:spPr>
          <a:xfrm>
            <a:off x="5541265"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4" name="TextBox 223">
            <a:extLst>
              <a:ext uri="{FF2B5EF4-FFF2-40B4-BE49-F238E27FC236}">
                <a16:creationId xmlns:a16="http://schemas.microsoft.com/office/drawing/2014/main" id="{063379DE-2F44-5287-4B0F-398EBEBA46EA}"/>
              </a:ext>
            </a:extLst>
          </p:cNvPr>
          <p:cNvSpPr txBox="1"/>
          <p:nvPr/>
        </p:nvSpPr>
        <p:spPr>
          <a:xfrm>
            <a:off x="5632705" y="407285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Regulatory urgency is exception-driven, not scored</a:t>
            </a:r>
          </a:p>
        </p:txBody>
      </p:sp>
      <p:sp>
        <p:nvSpPr>
          <p:cNvPr id="225" name="Rectangle 224">
            <a:extLst>
              <a:ext uri="{FF2B5EF4-FFF2-40B4-BE49-F238E27FC236}">
                <a16:creationId xmlns:a16="http://schemas.microsoft.com/office/drawing/2014/main" id="{4A7ADB56-5742-64D2-B4A5-50B20973C995}"/>
              </a:ext>
            </a:extLst>
          </p:cNvPr>
          <p:cNvSpPr/>
          <p:nvPr/>
        </p:nvSpPr>
        <p:spPr>
          <a:xfrm>
            <a:off x="7763257"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6" name="TextBox 225">
            <a:extLst>
              <a:ext uri="{FF2B5EF4-FFF2-40B4-BE49-F238E27FC236}">
                <a16:creationId xmlns:a16="http://schemas.microsoft.com/office/drawing/2014/main" id="{8BBFF6D9-D468-65F9-0D91-0A94E4A5A3B7}"/>
              </a:ext>
            </a:extLst>
          </p:cNvPr>
          <p:cNvSpPr txBox="1"/>
          <p:nvPr/>
        </p:nvSpPr>
        <p:spPr>
          <a:xfrm>
            <a:off x="7854697" y="407285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 approvals govern; below-threshold demand untracked</a:t>
            </a:r>
          </a:p>
        </p:txBody>
      </p:sp>
      <p:sp>
        <p:nvSpPr>
          <p:cNvPr id="227" name="Rectangle 226">
            <a:extLst>
              <a:ext uri="{FF2B5EF4-FFF2-40B4-BE49-F238E27FC236}">
                <a16:creationId xmlns:a16="http://schemas.microsoft.com/office/drawing/2014/main" id="{9220B470-6427-B3EB-B9A7-BE225526073C}"/>
              </a:ext>
            </a:extLst>
          </p:cNvPr>
          <p:cNvSpPr/>
          <p:nvPr/>
        </p:nvSpPr>
        <p:spPr>
          <a:xfrm>
            <a:off x="9985249" y="402713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8" name="TextBox 227">
            <a:extLst>
              <a:ext uri="{FF2B5EF4-FFF2-40B4-BE49-F238E27FC236}">
                <a16:creationId xmlns:a16="http://schemas.microsoft.com/office/drawing/2014/main" id="{5B45F0E9-B210-D9FE-1D86-A646B696D7C2}"/>
              </a:ext>
            </a:extLst>
          </p:cNvPr>
          <p:cNvSpPr txBox="1"/>
          <p:nvPr/>
        </p:nvSpPr>
        <p:spPr>
          <a:xfrm>
            <a:off x="10076689" y="4072854"/>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One-year plan + recurring training; no release KPIs</a:t>
            </a:r>
          </a:p>
        </p:txBody>
      </p:sp>
      <p:sp>
        <p:nvSpPr>
          <p:cNvPr id="229" name="Rectangle 228">
            <a:extLst>
              <a:ext uri="{FF2B5EF4-FFF2-40B4-BE49-F238E27FC236}">
                <a16:creationId xmlns:a16="http://schemas.microsoft.com/office/drawing/2014/main" id="{4D753764-D17E-051E-F889-010F7442F0F3}"/>
              </a:ext>
            </a:extLst>
          </p:cNvPr>
          <p:cNvSpPr/>
          <p:nvPr/>
        </p:nvSpPr>
        <p:spPr>
          <a:xfrm>
            <a:off x="457201" y="4630638"/>
            <a:ext cx="11274552" cy="10938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0" name="Rectangle 229">
            <a:extLst>
              <a:ext uri="{FF2B5EF4-FFF2-40B4-BE49-F238E27FC236}">
                <a16:creationId xmlns:a16="http://schemas.microsoft.com/office/drawing/2014/main" id="{886471F7-EAA8-9F52-9D0C-00072F96025D}"/>
              </a:ext>
            </a:extLst>
          </p:cNvPr>
          <p:cNvSpPr/>
          <p:nvPr/>
        </p:nvSpPr>
        <p:spPr>
          <a:xfrm>
            <a:off x="457201" y="4630638"/>
            <a:ext cx="73152" cy="10891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1" name="TextBox 230">
            <a:extLst>
              <a:ext uri="{FF2B5EF4-FFF2-40B4-BE49-F238E27FC236}">
                <a16:creationId xmlns:a16="http://schemas.microsoft.com/office/drawing/2014/main" id="{C03F7851-A37B-E4E1-8EC5-C194A0D31882}"/>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232" name="TextBox 231">
            <a:extLst>
              <a:ext uri="{FF2B5EF4-FFF2-40B4-BE49-F238E27FC236}">
                <a16:creationId xmlns:a16="http://schemas.microsoft.com/office/drawing/2014/main" id="{E08AAD0D-BA08-F6F5-C270-25EFF1C98A78}"/>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Helvetica Neue"/>
              </a:rPr>
              <a:t>SUPPORTING QUOTE</a:t>
            </a:r>
          </a:p>
        </p:txBody>
      </p:sp>
      <p:sp>
        <p:nvSpPr>
          <p:cNvPr id="233" name="TextBox 232">
            <a:extLst>
              <a:ext uri="{FF2B5EF4-FFF2-40B4-BE49-F238E27FC236}">
                <a16:creationId xmlns:a16="http://schemas.microsoft.com/office/drawing/2014/main" id="{67DB0363-8064-57A2-F236-1013F2979E7C}"/>
              </a:ext>
            </a:extLst>
          </p:cNvPr>
          <p:cNvSpPr txBox="1"/>
          <p:nvPr/>
        </p:nvSpPr>
        <p:spPr>
          <a:xfrm>
            <a:off x="6400801" y="4923246"/>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"Regulatory and Employee — not only one year plan and training, coming with new requirements that are always a priority" — </a:t>
            </a:r>
            <a:r>
              <a:rPr lang="en-US" sz="900" b="0" i="1" noProof="0" err="1">
                <a:solidFill>
                  <a:srgbClr val="2C3E50"/>
                </a:solidFill>
                <a:latin typeface="Helvetica Neue"/>
              </a:rPr>
              <a:t>Amitkumar</a:t>
            </a:r>
            <a:r>
              <a:rPr lang="en-US" sz="900" b="0" i="1" noProof="0">
                <a:solidFill>
                  <a:srgbClr val="2C3E50"/>
                </a:solidFill>
                <a:latin typeface="Helvetica Neue"/>
              </a:rPr>
              <a:t> Patel</a:t>
            </a:r>
          </a:p>
        </p:txBody>
      </p:sp>
      <p:sp>
        <p:nvSpPr>
          <p:cNvPr id="234" name="TextBox 233">
            <a:extLst>
              <a:ext uri="{FF2B5EF4-FFF2-40B4-BE49-F238E27FC236}">
                <a16:creationId xmlns:a16="http://schemas.microsoft.com/office/drawing/2014/main" id="{8CF426B3-4B49-4A29-A168-7DA3197407DC}"/>
              </a:ext>
            </a:extLst>
          </p:cNvPr>
          <p:cNvSpPr txBox="1"/>
          <p:nvPr/>
        </p:nvSpPr>
        <p:spPr>
          <a:xfrm>
            <a:off x="640081" y="4923246"/>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Word-document requirements betray a pre-agile posture — downstream Jira adoption is superficial, not structural</a:t>
            </a:r>
          </a:p>
          <a:p>
            <a:pPr algn="l">
              <a:lnSpc>
                <a:spcPct val="110000"/>
              </a:lnSpc>
              <a:spcBef>
                <a:spcPts val="0"/>
              </a:spcBef>
              <a:spcAft>
                <a:spcPts val="0"/>
              </a:spcAft>
            </a:pPr>
            <a:r>
              <a:rPr lang="en-US" sz="900" b="0" i="0" noProof="0">
                <a:solidFill>
                  <a:srgbClr val="2C3E50"/>
                </a:solidFill>
                <a:latin typeface="Helvetica Neue"/>
              </a:rPr>
              <a:t>▸  "Overlapping projects" signals classification breakdown: multiple PDDs chase similar outcomes because intake doesn't deduplicate</a:t>
            </a:r>
          </a:p>
          <a:p>
            <a:pPr algn="l">
              <a:lnSpc>
                <a:spcPct val="110000"/>
              </a:lnSpc>
              <a:spcBef>
                <a:spcPts val="0"/>
              </a:spcBef>
              <a:spcAft>
                <a:spcPts val="0"/>
              </a:spcAft>
            </a:pPr>
            <a:r>
              <a:rPr lang="en-US" sz="900" b="0" i="0" noProof="0">
                <a:solidFill>
                  <a:srgbClr val="2C3E50"/>
                </a:solidFill>
                <a:latin typeface="Helvetica Neue"/>
              </a:rPr>
              <a:t>▸  Regulatory pressure masks the lack of formal scoring — everything becomes urgent by exception</a:t>
            </a:r>
          </a:p>
        </p:txBody>
      </p:sp>
      <p:sp>
        <p:nvSpPr>
          <p:cNvPr id="235" name="Rectangle 234">
            <a:extLst>
              <a:ext uri="{FF2B5EF4-FFF2-40B4-BE49-F238E27FC236}">
                <a16:creationId xmlns:a16="http://schemas.microsoft.com/office/drawing/2014/main" id="{7B527C1A-9F3A-973D-9759-A7699E78F80B}"/>
              </a:ext>
            </a:extLst>
          </p:cNvPr>
          <p:cNvSpPr/>
          <p:nvPr/>
        </p:nvSpPr>
        <p:spPr>
          <a:xfrm>
            <a:off x="457201" y="5809706"/>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6" name="TextBox 235">
            <a:extLst>
              <a:ext uri="{FF2B5EF4-FFF2-40B4-BE49-F238E27FC236}">
                <a16:creationId xmlns:a16="http://schemas.microsoft.com/office/drawing/2014/main" id="{1C6B0D85-5B30-7035-B987-21C6CBF3CDB7}"/>
              </a:ext>
            </a:extLst>
          </p:cNvPr>
          <p:cNvSpPr txBox="1"/>
          <p:nvPr/>
        </p:nvSpPr>
        <p:spPr>
          <a:xfrm>
            <a:off x="685801" y="5855426"/>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Corporate absorbs regulatory volatility through PDD — but Word-doc intake and overlap between projects create duplication and rework</a:t>
            </a:r>
          </a:p>
        </p:txBody>
      </p:sp>
    </p:spTree>
    <p:extLst>
      <p:ext uri="{BB962C8B-B14F-4D97-AF65-F5344CB8AC3E}">
        <p14:creationId xmlns:p14="http://schemas.microsoft.com/office/powerpoint/2010/main" val="1915824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320040"/>
            <a:ext cx="11274552" cy="82296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0F1C50"/>
                </a:solidFill>
                <a:latin typeface="Helvetica Neue"/>
              </a:rPr>
              <a:t>G&amp;E is the only area with NO formal digital intake — every request arrives via email from business or vendor</a:t>
            </a:r>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TextBox 3"/>
          <p:cNvSpPr txBox="1"/>
          <p:nvPr/>
        </p:nvSpPr>
        <p:spPr>
          <a:xfrm>
            <a:off x="457200" y="1170432"/>
            <a:ext cx="11274552" cy="23774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6785C1"/>
                </a:solidFill>
                <a:latin typeface="Helvetica Neue"/>
              </a:rPr>
              <a:t>G&amp;E — sub-scope within Electric &amp; Gas Operations Products (team led by Bruno Moreto, Sr. Manager)  ·  Champion: Andrew McGibbon (70-90 apps supported)</a:t>
            </a:r>
          </a:p>
        </p:txBody>
      </p:sp>
      <p:sp>
        <p:nvSpPr>
          <p:cNvPr id="5" name="Rectangle 4"/>
          <p:cNvSpPr/>
          <p:nvPr/>
        </p:nvSpPr>
        <p:spPr>
          <a:xfrm>
            <a:off x="457200" y="1426464"/>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5"/>
          <p:cNvSpPr/>
          <p:nvPr/>
        </p:nvSpPr>
        <p:spPr>
          <a:xfrm>
            <a:off x="457200" y="1426464"/>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TextBox 6"/>
          <p:cNvSpPr txBox="1"/>
          <p:nvPr/>
        </p:nvSpPr>
        <p:spPr>
          <a:xfrm>
            <a:off x="457200" y="1426464"/>
            <a:ext cx="1828800" cy="274320"/>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8" name="TextBox 7"/>
          <p:cNvSpPr txBox="1"/>
          <p:nvPr/>
        </p:nvSpPr>
        <p:spPr>
          <a:xfrm>
            <a:off x="2377440" y="1426464"/>
            <a:ext cx="9281160" cy="27432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Electric &amp; Gas Operations (T&amp;D) · Field Services · Outage Management · Third-party vendors (direct) · Cyber &amp; Legal (compliance gates) · Regulatory affairs</a:t>
            </a:r>
          </a:p>
        </p:txBody>
      </p:sp>
      <p:sp>
        <p:nvSpPr>
          <p:cNvPr id="9" name="Rectangle 8"/>
          <p:cNvSpPr/>
          <p:nvPr/>
        </p:nvSpPr>
        <p:spPr>
          <a:xfrm>
            <a:off x="1097280"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TextBox 9"/>
          <p:cNvSpPr txBox="1"/>
          <p:nvPr/>
        </p:nvSpPr>
        <p:spPr>
          <a:xfrm>
            <a:off x="1097280" y="1810512"/>
            <a:ext cx="2167128" cy="347472"/>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11" name="Rounded Rectangle 10"/>
          <p:cNvSpPr/>
          <p:nvPr/>
        </p:nvSpPr>
        <p:spPr>
          <a:xfrm>
            <a:off x="1632204" y="2212848"/>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p:cNvSpPr txBox="1"/>
          <p:nvPr/>
        </p:nvSpPr>
        <p:spPr>
          <a:xfrm>
            <a:off x="1632204" y="221284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13" name="Rectangle 12"/>
          <p:cNvSpPr/>
          <p:nvPr/>
        </p:nvSpPr>
        <p:spPr>
          <a:xfrm>
            <a:off x="3319272"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 name="TextBox 13"/>
          <p:cNvSpPr txBox="1"/>
          <p:nvPr/>
        </p:nvSpPr>
        <p:spPr>
          <a:xfrm>
            <a:off x="3319272" y="1810512"/>
            <a:ext cx="2167128" cy="347472"/>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15" name="Rounded Rectangle 14"/>
          <p:cNvSpPr/>
          <p:nvPr/>
        </p:nvSpPr>
        <p:spPr>
          <a:xfrm>
            <a:off x="3854196" y="2212848"/>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TextBox 15"/>
          <p:cNvSpPr txBox="1"/>
          <p:nvPr/>
        </p:nvSpPr>
        <p:spPr>
          <a:xfrm>
            <a:off x="3854196" y="221284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17" name="Rectangle 16"/>
          <p:cNvSpPr/>
          <p:nvPr/>
        </p:nvSpPr>
        <p:spPr>
          <a:xfrm>
            <a:off x="5541264"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TextBox 17"/>
          <p:cNvSpPr txBox="1"/>
          <p:nvPr/>
        </p:nvSpPr>
        <p:spPr>
          <a:xfrm>
            <a:off x="5541264" y="1810512"/>
            <a:ext cx="2167128" cy="347472"/>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19" name="Rounded Rectangle 18"/>
          <p:cNvSpPr/>
          <p:nvPr/>
        </p:nvSpPr>
        <p:spPr>
          <a:xfrm>
            <a:off x="6076188" y="2212848"/>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TextBox 19"/>
          <p:cNvSpPr txBox="1"/>
          <p:nvPr/>
        </p:nvSpPr>
        <p:spPr>
          <a:xfrm>
            <a:off x="6076188" y="221284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21" name="Rectangle 20"/>
          <p:cNvSpPr/>
          <p:nvPr/>
        </p:nvSpPr>
        <p:spPr>
          <a:xfrm>
            <a:off x="7763256" y="1810512"/>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TextBox 21"/>
          <p:cNvSpPr txBox="1"/>
          <p:nvPr/>
        </p:nvSpPr>
        <p:spPr>
          <a:xfrm>
            <a:off x="7763256" y="1810512"/>
            <a:ext cx="2167128" cy="347472"/>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23" name="Rounded Rectangle 22"/>
          <p:cNvSpPr/>
          <p:nvPr/>
        </p:nvSpPr>
        <p:spPr>
          <a:xfrm>
            <a:off x="8298180" y="2212848"/>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4" name="TextBox 23"/>
          <p:cNvSpPr txBox="1"/>
          <p:nvPr/>
        </p:nvSpPr>
        <p:spPr>
          <a:xfrm>
            <a:off x="8298180" y="221284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25" name="Rectangle 24"/>
          <p:cNvSpPr/>
          <p:nvPr/>
        </p:nvSpPr>
        <p:spPr>
          <a:xfrm>
            <a:off x="9985248" y="1810512"/>
            <a:ext cx="1746504"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TextBox 25"/>
          <p:cNvSpPr txBox="1"/>
          <p:nvPr/>
        </p:nvSpPr>
        <p:spPr>
          <a:xfrm>
            <a:off x="9985248" y="1906758"/>
            <a:ext cx="1807604"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27" name="Rounded Rectangle 26"/>
          <p:cNvSpPr/>
          <p:nvPr/>
        </p:nvSpPr>
        <p:spPr>
          <a:xfrm>
            <a:off x="10331720" y="2212848"/>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TextBox 27"/>
          <p:cNvSpPr txBox="1"/>
          <p:nvPr/>
        </p:nvSpPr>
        <p:spPr>
          <a:xfrm>
            <a:off x="10331720" y="221284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29" name="Rectangle 28"/>
          <p:cNvSpPr/>
          <p:nvPr/>
        </p:nvSpPr>
        <p:spPr>
          <a:xfrm>
            <a:off x="457200" y="2450592"/>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TextBox 29"/>
          <p:cNvSpPr txBox="1"/>
          <p:nvPr/>
        </p:nvSpPr>
        <p:spPr>
          <a:xfrm>
            <a:off x="457200" y="2450592"/>
            <a:ext cx="594360" cy="493776"/>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31" name="Rectangle 30"/>
          <p:cNvSpPr/>
          <p:nvPr/>
        </p:nvSpPr>
        <p:spPr>
          <a:xfrm>
            <a:off x="1097280"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TextBox 31"/>
          <p:cNvSpPr txBox="1"/>
          <p:nvPr/>
        </p:nvSpPr>
        <p:spPr>
          <a:xfrm>
            <a:off x="1188720" y="249631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EMAILS only — from business AND from vendor; no ticketing</a:t>
            </a:r>
          </a:p>
        </p:txBody>
      </p:sp>
      <p:sp>
        <p:nvSpPr>
          <p:cNvPr id="33" name="Rectangle 32"/>
          <p:cNvSpPr/>
          <p:nvPr/>
        </p:nvSpPr>
        <p:spPr>
          <a:xfrm>
            <a:off x="3319272"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TextBox 33"/>
          <p:cNvSpPr txBox="1"/>
          <p:nvPr/>
        </p:nvSpPr>
        <p:spPr>
          <a:xfrm>
            <a:off x="3410712" y="249631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Ad-hoc by demand nature; depends on upgrade type</a:t>
            </a:r>
          </a:p>
        </p:txBody>
      </p:sp>
      <p:sp>
        <p:nvSpPr>
          <p:cNvPr id="35" name="Rectangle 34"/>
          <p:cNvSpPr/>
          <p:nvPr/>
        </p:nvSpPr>
        <p:spPr>
          <a:xfrm>
            <a:off x="5541264"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35"/>
          <p:cNvSpPr txBox="1"/>
          <p:nvPr/>
        </p:nvSpPr>
        <p:spPr>
          <a:xfrm>
            <a:off x="5632704" y="249631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Andrew's internal call — operational = urgent</a:t>
            </a:r>
          </a:p>
        </p:txBody>
      </p:sp>
      <p:sp>
        <p:nvSpPr>
          <p:cNvPr id="37" name="Rectangle 36"/>
          <p:cNvSpPr/>
          <p:nvPr/>
        </p:nvSpPr>
        <p:spPr>
          <a:xfrm>
            <a:off x="7763256" y="245059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8" name="TextBox 37"/>
          <p:cNvSpPr txBox="1"/>
          <p:nvPr/>
        </p:nvSpPr>
        <p:spPr>
          <a:xfrm>
            <a:off x="7854696" y="249631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sets its own timeline; upgrades need budget/time eval</a:t>
            </a:r>
          </a:p>
        </p:txBody>
      </p:sp>
      <p:sp>
        <p:nvSpPr>
          <p:cNvPr id="39" name="Rectangle 38"/>
          <p:cNvSpPr/>
          <p:nvPr/>
        </p:nvSpPr>
        <p:spPr>
          <a:xfrm>
            <a:off x="9985248" y="245059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39"/>
          <p:cNvSpPr txBox="1"/>
          <p:nvPr/>
        </p:nvSpPr>
        <p:spPr>
          <a:xfrm>
            <a:off x="10076688" y="2496312"/>
            <a:ext cx="1655064"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Vendor-led delivery; competing priorities without triage</a:t>
            </a:r>
          </a:p>
        </p:txBody>
      </p:sp>
      <p:sp>
        <p:nvSpPr>
          <p:cNvPr id="41" name="Rectangle 40"/>
          <p:cNvSpPr/>
          <p:nvPr/>
        </p:nvSpPr>
        <p:spPr>
          <a:xfrm>
            <a:off x="457200" y="2980944"/>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p:cNvSpPr txBox="1"/>
          <p:nvPr/>
        </p:nvSpPr>
        <p:spPr>
          <a:xfrm>
            <a:off x="457200" y="2980944"/>
            <a:ext cx="594360" cy="493776"/>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43" name="Rectangle 42"/>
          <p:cNvSpPr/>
          <p:nvPr/>
        </p:nvSpPr>
        <p:spPr>
          <a:xfrm>
            <a:off x="1097280"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4" name="TextBox 43"/>
          <p:cNvSpPr txBox="1"/>
          <p:nvPr/>
        </p:nvSpPr>
        <p:spPr>
          <a:xfrm>
            <a:off x="1188720" y="302666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 vendor send email → Andrew receives</a:t>
            </a:r>
          </a:p>
        </p:txBody>
      </p:sp>
      <p:sp>
        <p:nvSpPr>
          <p:cNvPr id="45" name="Rectangle 44"/>
          <p:cNvSpPr/>
          <p:nvPr/>
        </p:nvSpPr>
        <p:spPr>
          <a:xfrm>
            <a:off x="3319272"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6" name="TextBox 45"/>
          <p:cNvSpPr txBox="1"/>
          <p:nvPr/>
        </p:nvSpPr>
        <p:spPr>
          <a:xfrm>
            <a:off x="3410712" y="302666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Andrew alone classifies — no second reviewer</a:t>
            </a:r>
          </a:p>
        </p:txBody>
      </p:sp>
      <p:sp>
        <p:nvSpPr>
          <p:cNvPr id="47" name="Rectangle 46"/>
          <p:cNvSpPr/>
          <p:nvPr/>
        </p:nvSpPr>
        <p:spPr>
          <a:xfrm>
            <a:off x="5541264"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8" name="TextBox 47"/>
          <p:cNvSpPr txBox="1"/>
          <p:nvPr/>
        </p:nvSpPr>
        <p:spPr>
          <a:xfrm>
            <a:off x="5632704" y="302666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Andrew prioritizes; cyber / legal / third-party weighted</a:t>
            </a:r>
          </a:p>
        </p:txBody>
      </p:sp>
      <p:sp>
        <p:nvSpPr>
          <p:cNvPr id="49" name="Rectangle 48"/>
          <p:cNvSpPr/>
          <p:nvPr/>
        </p:nvSpPr>
        <p:spPr>
          <a:xfrm>
            <a:off x="7763256" y="298094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0" name="TextBox 49"/>
          <p:cNvSpPr txBox="1"/>
          <p:nvPr/>
        </p:nvSpPr>
        <p:spPr>
          <a:xfrm>
            <a:off x="7854696" y="302666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owns timeline; Andrew tracks manually</a:t>
            </a:r>
          </a:p>
        </p:txBody>
      </p:sp>
      <p:sp>
        <p:nvSpPr>
          <p:cNvPr id="51" name="Rectangle 50"/>
          <p:cNvSpPr/>
          <p:nvPr/>
        </p:nvSpPr>
        <p:spPr>
          <a:xfrm>
            <a:off x="9985248" y="298094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51"/>
          <p:cNvSpPr txBox="1"/>
          <p:nvPr/>
        </p:nvSpPr>
        <p:spPr>
          <a:xfrm>
            <a:off x="10076688" y="3026664"/>
            <a:ext cx="1655064"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 Andrew; no internal release role</a:t>
            </a:r>
          </a:p>
        </p:txBody>
      </p:sp>
      <p:sp>
        <p:nvSpPr>
          <p:cNvPr id="53" name="Rectangle 52"/>
          <p:cNvSpPr/>
          <p:nvPr/>
        </p:nvSpPr>
        <p:spPr>
          <a:xfrm>
            <a:off x="457200" y="3511296"/>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4" name="TextBox 53"/>
          <p:cNvSpPr txBox="1"/>
          <p:nvPr/>
        </p:nvSpPr>
        <p:spPr>
          <a:xfrm>
            <a:off x="457200" y="3511296"/>
            <a:ext cx="594360" cy="493776"/>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55" name="Rectangle 54"/>
          <p:cNvSpPr/>
          <p:nvPr/>
        </p:nvSpPr>
        <p:spPr>
          <a:xfrm>
            <a:off x="1097280"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TextBox 55"/>
          <p:cNvSpPr txBox="1"/>
          <p:nvPr/>
        </p:nvSpPr>
        <p:spPr>
          <a:xfrm>
            <a:off x="1188720" y="355701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(Outlook) — no Jira, no IT-Now, no RITM</a:t>
            </a:r>
          </a:p>
        </p:txBody>
      </p:sp>
      <p:sp>
        <p:nvSpPr>
          <p:cNvPr id="57" name="Rectangle 56"/>
          <p:cNvSpPr/>
          <p:nvPr/>
        </p:nvSpPr>
        <p:spPr>
          <a:xfrm>
            <a:off x="3319272"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8" name="TextBox 57"/>
          <p:cNvSpPr txBox="1"/>
          <p:nvPr/>
        </p:nvSpPr>
        <p:spPr>
          <a:xfrm>
            <a:off x="3410712" y="355701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threads as the classification evidence</a:t>
            </a:r>
          </a:p>
        </p:txBody>
      </p:sp>
      <p:sp>
        <p:nvSpPr>
          <p:cNvPr id="59" name="Rectangle 58"/>
          <p:cNvSpPr/>
          <p:nvPr/>
        </p:nvSpPr>
        <p:spPr>
          <a:xfrm>
            <a:off x="5541264"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TextBox 59"/>
          <p:cNvSpPr txBox="1"/>
          <p:nvPr/>
        </p:nvSpPr>
        <p:spPr>
          <a:xfrm>
            <a:off x="5632704" y="355701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scoring tool — judgment call</a:t>
            </a:r>
          </a:p>
        </p:txBody>
      </p:sp>
      <p:sp>
        <p:nvSpPr>
          <p:cNvPr id="61" name="Rectangle 60"/>
          <p:cNvSpPr/>
          <p:nvPr/>
        </p:nvSpPr>
        <p:spPr>
          <a:xfrm>
            <a:off x="7763256" y="351129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2" name="TextBox 61"/>
          <p:cNvSpPr txBox="1"/>
          <p:nvPr/>
        </p:nvSpPr>
        <p:spPr>
          <a:xfrm>
            <a:off x="7854696" y="355701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portfolio tool in use</a:t>
            </a:r>
          </a:p>
        </p:txBody>
      </p:sp>
      <p:sp>
        <p:nvSpPr>
          <p:cNvPr id="63" name="Rectangle 62"/>
          <p:cNvSpPr/>
          <p:nvPr/>
        </p:nvSpPr>
        <p:spPr>
          <a:xfrm>
            <a:off x="9985248" y="3511296"/>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4" name="TextBox 63"/>
          <p:cNvSpPr txBox="1"/>
          <p:nvPr/>
        </p:nvSpPr>
        <p:spPr>
          <a:xfrm>
            <a:off x="10076688" y="3557016"/>
            <a:ext cx="1655064"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delivery tooling — vendor runs its own stack</a:t>
            </a:r>
          </a:p>
        </p:txBody>
      </p:sp>
      <p:sp>
        <p:nvSpPr>
          <p:cNvPr id="65" name="Rectangle 64"/>
          <p:cNvSpPr/>
          <p:nvPr/>
        </p:nvSpPr>
        <p:spPr>
          <a:xfrm>
            <a:off x="457200" y="4041648"/>
            <a:ext cx="594360" cy="4937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6" name="TextBox 65"/>
          <p:cNvSpPr txBox="1"/>
          <p:nvPr/>
        </p:nvSpPr>
        <p:spPr>
          <a:xfrm>
            <a:off x="457200" y="4191266"/>
            <a:ext cx="594360" cy="194540"/>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67" name="Rectangle 66"/>
          <p:cNvSpPr/>
          <p:nvPr/>
        </p:nvSpPr>
        <p:spPr>
          <a:xfrm>
            <a:off x="1097280"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8" name="TextBox 67"/>
          <p:cNvSpPr txBox="1"/>
          <p:nvPr/>
        </p:nvSpPr>
        <p:spPr>
          <a:xfrm>
            <a:off x="1188720" y="408736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Zero digital trail; volumes unknown; single-person dependency</a:t>
            </a:r>
          </a:p>
        </p:txBody>
      </p:sp>
      <p:sp>
        <p:nvSpPr>
          <p:cNvPr id="69" name="Rectangle 68"/>
          <p:cNvSpPr/>
          <p:nvPr/>
        </p:nvSpPr>
        <p:spPr>
          <a:xfrm>
            <a:off x="3319272"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0" name="TextBox 69"/>
          <p:cNvSpPr txBox="1"/>
          <p:nvPr/>
        </p:nvSpPr>
        <p:spPr>
          <a:xfrm>
            <a:off x="3410712" y="408736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written rule; no audit trail</a:t>
            </a:r>
          </a:p>
        </p:txBody>
      </p:sp>
      <p:sp>
        <p:nvSpPr>
          <p:cNvPr id="71" name="Rectangle 70"/>
          <p:cNvSpPr/>
          <p:nvPr/>
        </p:nvSpPr>
        <p:spPr>
          <a:xfrm>
            <a:off x="5541264"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2" name="TextBox 71"/>
          <p:cNvSpPr txBox="1"/>
          <p:nvPr/>
        </p:nvSpPr>
        <p:spPr>
          <a:xfrm>
            <a:off x="5632704" y="408736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Key-person risk — Andrew = only router</a:t>
            </a:r>
          </a:p>
        </p:txBody>
      </p:sp>
      <p:sp>
        <p:nvSpPr>
          <p:cNvPr id="73" name="Rectangle 72"/>
          <p:cNvSpPr/>
          <p:nvPr/>
        </p:nvSpPr>
        <p:spPr>
          <a:xfrm>
            <a:off x="7763256" y="404164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4" name="TextBox 73"/>
          <p:cNvSpPr txBox="1"/>
          <p:nvPr/>
        </p:nvSpPr>
        <p:spPr>
          <a:xfrm>
            <a:off x="7854696" y="408736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Third-Party Risk gates upgrades; interface is slow</a:t>
            </a:r>
          </a:p>
        </p:txBody>
      </p:sp>
      <p:sp>
        <p:nvSpPr>
          <p:cNvPr id="75" name="Rectangle 74"/>
          <p:cNvSpPr/>
          <p:nvPr/>
        </p:nvSpPr>
        <p:spPr>
          <a:xfrm>
            <a:off x="9985248" y="404164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6" name="TextBox 75"/>
          <p:cNvSpPr txBox="1"/>
          <p:nvPr/>
        </p:nvSpPr>
        <p:spPr>
          <a:xfrm>
            <a:off x="10076688" y="4087368"/>
            <a:ext cx="1655064"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Budget / time tension on every upgrade; no KPIs</a:t>
            </a:r>
          </a:p>
        </p:txBody>
      </p:sp>
      <p:sp>
        <p:nvSpPr>
          <p:cNvPr id="77" name="Rectangle 76"/>
          <p:cNvSpPr/>
          <p:nvPr/>
        </p:nvSpPr>
        <p:spPr>
          <a:xfrm>
            <a:off x="457200" y="4645152"/>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8" name="Rectangle 77"/>
          <p:cNvSpPr/>
          <p:nvPr/>
        </p:nvSpPr>
        <p:spPr>
          <a:xfrm>
            <a:off x="457200" y="4645152"/>
            <a:ext cx="73152" cy="1298448"/>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9" name="TextBox 78"/>
          <p:cNvSpPr txBox="1"/>
          <p:nvPr/>
        </p:nvSpPr>
        <p:spPr>
          <a:xfrm>
            <a:off x="640080" y="4690872"/>
            <a:ext cx="5486400" cy="20116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F1C50"/>
                </a:solidFill>
                <a:latin typeface="Helvetica Neue"/>
              </a:rPr>
              <a:t>KEY PATTERNS  —  WHAT THE FINDINGS REVEAL</a:t>
            </a:r>
          </a:p>
        </p:txBody>
      </p:sp>
      <p:sp>
        <p:nvSpPr>
          <p:cNvPr id="80" name="TextBox 79"/>
          <p:cNvSpPr txBox="1"/>
          <p:nvPr/>
        </p:nvSpPr>
        <p:spPr>
          <a:xfrm>
            <a:off x="6400800" y="4690872"/>
            <a:ext cx="5166360" cy="20116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BC4328"/>
                </a:solidFill>
                <a:latin typeface="Helvetica Neue"/>
              </a:rPr>
              <a:t>SUPPORTING QUOTE</a:t>
            </a:r>
          </a:p>
        </p:txBody>
      </p:sp>
      <p:sp>
        <p:nvSpPr>
          <p:cNvPr id="81" name="TextBox 80"/>
          <p:cNvSpPr txBox="1"/>
          <p:nvPr/>
        </p:nvSpPr>
        <p:spPr>
          <a:xfrm>
            <a:off x="6400800" y="4937760"/>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"I receive requests/input from the business or from the vendor" — Andrew McGibbon (via email)</a:t>
            </a:r>
          </a:p>
        </p:txBody>
      </p:sp>
      <p:sp>
        <p:nvSpPr>
          <p:cNvPr id="82" name="TextBox 81"/>
          <p:cNvSpPr txBox="1"/>
          <p:nvPr/>
        </p:nvSpPr>
        <p:spPr>
          <a:xfrm>
            <a:off x="640080" y="493776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Vendor-led model creates structural dependency: Avangrid cannot estimate or schedule its own work — budget/timeline are exogenous</a:t>
            </a:r>
          </a:p>
          <a:p>
            <a:pPr algn="l">
              <a:lnSpc>
                <a:spcPct val="110000"/>
              </a:lnSpc>
              <a:spcBef>
                <a:spcPts val="0"/>
              </a:spcBef>
              <a:spcAft>
                <a:spcPts val="0"/>
              </a:spcAft>
            </a:pPr>
            <a:r>
              <a:rPr lang="en-US" sz="900" b="0" i="0" noProof="0">
                <a:solidFill>
                  <a:srgbClr val="2C3E50"/>
                </a:solidFill>
                <a:latin typeface="Helvetica Neue"/>
              </a:rPr>
              <a:t>▸  Third-party risk assessments add hidden lead time — upgrades routinely stall at this interface, invisible in any tracking system</a:t>
            </a:r>
          </a:p>
          <a:p>
            <a:pPr algn="l">
              <a:lnSpc>
                <a:spcPct val="110000"/>
              </a:lnSpc>
              <a:spcBef>
                <a:spcPts val="0"/>
              </a:spcBef>
              <a:spcAft>
                <a:spcPts val="0"/>
              </a:spcAft>
            </a:pPr>
            <a:r>
              <a:rPr lang="en-US" sz="900" b="0" i="0" noProof="0">
                <a:solidFill>
                  <a:srgbClr val="2C3E50"/>
                </a:solidFill>
                <a:latin typeface="Helvetica Neue"/>
              </a:rPr>
              <a:t>▸  Single-person routing (Andrew) is a key-person risk — zero redundancy, zero documentation, zero auditability</a:t>
            </a:r>
          </a:p>
        </p:txBody>
      </p:sp>
      <p:sp>
        <p:nvSpPr>
          <p:cNvPr id="83" name="Rectangle 82"/>
          <p:cNvSpPr/>
          <p:nvPr/>
        </p:nvSpPr>
        <p:spPr>
          <a:xfrm>
            <a:off x="457200" y="5989320"/>
            <a:ext cx="11274552"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4" name="TextBox 83"/>
          <p:cNvSpPr txBox="1"/>
          <p:nvPr/>
        </p:nvSpPr>
        <p:spPr>
          <a:xfrm>
            <a:off x="685800" y="6035040"/>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G&amp;E is the canary of intake fragmentation — zero digital trail, every decision is individual and unreproducible; must be the first area addressed in the TOM</a:t>
            </a:r>
          </a:p>
        </p:txBody>
      </p:sp>
      <p:sp>
        <p:nvSpPr>
          <p:cNvPr id="85" name="TextBox 84"/>
          <p:cNvSpPr txBox="1"/>
          <p:nvPr/>
        </p:nvSpPr>
        <p:spPr>
          <a:xfrm>
            <a:off x="9144000" y="6565392"/>
            <a:ext cx="2587752" cy="228600"/>
          </a:xfrm>
          <a:prstGeom prst="rect">
            <a:avLst/>
          </a:prstGeom>
          <a:noFill/>
        </p:spPr>
        <p:txBody>
          <a:bodyPr wrap="square" lIns="0" tIns="0" rIns="0" bIns="0" anchor="t">
            <a:spAutoFit/>
          </a:bodyPr>
          <a:lstStyle/>
          <a:p>
            <a:pPr algn="r">
              <a:lnSpc>
                <a:spcPct val="110000"/>
              </a:lnSpc>
              <a:spcBef>
                <a:spcPts val="0"/>
              </a:spcBef>
              <a:spcAft>
                <a:spcPts val="0"/>
              </a:spcAft>
            </a:pPr>
            <a:r>
              <a:rPr lang="en-US" sz="900" b="0" i="0" noProof="0">
                <a:solidFill>
                  <a:srgbClr val="95A5A6"/>
                </a:solidFill>
                <a:latin typeface="Helvetica Neue"/>
              </a:rPr>
              <a:t>Drill-down: G&amp;E / Electric &amp; Gas Operations  |  16 / 28</a:t>
            </a:r>
          </a:p>
        </p:txBody>
      </p:sp>
      <p:sp>
        <p:nvSpPr>
          <p:cNvPr id="86" name="Rounded Rectangle 85"/>
          <p:cNvSpPr/>
          <p:nvPr/>
        </p:nvSpPr>
        <p:spPr>
          <a:xfrm>
            <a:off x="457200"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7" name="TextBox 86"/>
          <p:cNvSpPr txBox="1"/>
          <p:nvPr/>
        </p:nvSpPr>
        <p:spPr>
          <a:xfrm>
            <a:off x="457200"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0" i="0" noProof="0">
                <a:solidFill>
                  <a:srgbClr val="95A5A6"/>
                </a:solidFill>
                <a:latin typeface="Helvetica Neue"/>
              </a:rPr>
              <a:t>01 · EXECUTIVE SUMMARY</a:t>
            </a:r>
          </a:p>
        </p:txBody>
      </p:sp>
      <p:sp>
        <p:nvSpPr>
          <p:cNvPr id="88" name="Rounded Rectangle 87"/>
          <p:cNvSpPr/>
          <p:nvPr/>
        </p:nvSpPr>
        <p:spPr>
          <a:xfrm>
            <a:off x="2342388"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9" name="TextBox 88"/>
          <p:cNvSpPr txBox="1"/>
          <p:nvPr/>
        </p:nvSpPr>
        <p:spPr>
          <a:xfrm>
            <a:off x="2342388"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0" i="0" noProof="0">
                <a:solidFill>
                  <a:srgbClr val="95A5A6"/>
                </a:solidFill>
                <a:latin typeface="Helvetica Neue"/>
              </a:rPr>
              <a:t>02 · ORGANIZATION</a:t>
            </a:r>
          </a:p>
        </p:txBody>
      </p:sp>
      <p:sp>
        <p:nvSpPr>
          <p:cNvPr id="90" name="Rounded Rectangle 89"/>
          <p:cNvSpPr/>
          <p:nvPr/>
        </p:nvSpPr>
        <p:spPr>
          <a:xfrm>
            <a:off x="4227576" y="73152"/>
            <a:ext cx="1848612" cy="201168"/>
          </a:xfrm>
          <a:prstGeom prst="round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1" name="TextBox 90"/>
          <p:cNvSpPr txBox="1"/>
          <p:nvPr/>
        </p:nvSpPr>
        <p:spPr>
          <a:xfrm>
            <a:off x="4227576"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03 · DEMAND FLOW</a:t>
            </a:r>
          </a:p>
        </p:txBody>
      </p:sp>
      <p:sp>
        <p:nvSpPr>
          <p:cNvPr id="92" name="Rounded Rectangle 91"/>
          <p:cNvSpPr/>
          <p:nvPr/>
        </p:nvSpPr>
        <p:spPr>
          <a:xfrm>
            <a:off x="6112764"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3" name="TextBox 92"/>
          <p:cNvSpPr txBox="1"/>
          <p:nvPr/>
        </p:nvSpPr>
        <p:spPr>
          <a:xfrm>
            <a:off x="6112764"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0" i="0" noProof="0">
                <a:solidFill>
                  <a:srgbClr val="95A5A6"/>
                </a:solidFill>
                <a:latin typeface="Helvetica Neue"/>
              </a:rPr>
              <a:t>04 · CAPACITY &amp; PORTFOLIO</a:t>
            </a:r>
          </a:p>
        </p:txBody>
      </p:sp>
      <p:sp>
        <p:nvSpPr>
          <p:cNvPr id="94" name="Rounded Rectangle 93"/>
          <p:cNvSpPr/>
          <p:nvPr/>
        </p:nvSpPr>
        <p:spPr>
          <a:xfrm>
            <a:off x="7997952"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5" name="TextBox 94"/>
          <p:cNvSpPr txBox="1"/>
          <p:nvPr/>
        </p:nvSpPr>
        <p:spPr>
          <a:xfrm>
            <a:off x="7997952"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0" i="0" noProof="0">
                <a:solidFill>
                  <a:srgbClr val="95A5A6"/>
                </a:solidFill>
                <a:latin typeface="Helvetica Neue"/>
              </a:rPr>
              <a:t>05 · PAIN POINTS</a:t>
            </a:r>
          </a:p>
        </p:txBody>
      </p:sp>
      <p:sp>
        <p:nvSpPr>
          <p:cNvPr id="96" name="Rounded Rectangle 95"/>
          <p:cNvSpPr/>
          <p:nvPr/>
        </p:nvSpPr>
        <p:spPr>
          <a:xfrm>
            <a:off x="9883140" y="73152"/>
            <a:ext cx="1848612" cy="201168"/>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7" name="TextBox 96"/>
          <p:cNvSpPr txBox="1"/>
          <p:nvPr/>
        </p:nvSpPr>
        <p:spPr>
          <a:xfrm>
            <a:off x="9883140" y="73152"/>
            <a:ext cx="1848612" cy="201168"/>
          </a:xfrm>
          <a:prstGeom prst="rect">
            <a:avLst/>
          </a:prstGeom>
          <a:noFill/>
        </p:spPr>
        <p:txBody>
          <a:bodyPr wrap="square" lIns="0" tIns="0" rIns="0" bIns="0" anchor="ctr">
            <a:spAutoFit/>
          </a:bodyPr>
          <a:lstStyle/>
          <a:p>
            <a:pPr algn="ctr">
              <a:lnSpc>
                <a:spcPct val="110000"/>
              </a:lnSpc>
              <a:spcBef>
                <a:spcPts val="0"/>
              </a:spcBef>
              <a:spcAft>
                <a:spcPts val="0"/>
              </a:spcAft>
            </a:pPr>
            <a:r>
              <a:rPr lang="en-US" sz="700" b="0" i="0" noProof="0">
                <a:solidFill>
                  <a:srgbClr val="95A5A6"/>
                </a:solidFill>
                <a:latin typeface="Helvetica Neue"/>
              </a:rPr>
              <a:t>06 · INSIGHTS &amp; TOM</a:t>
            </a:r>
          </a:p>
        </p:txBody>
      </p:sp>
      <p:sp>
        <p:nvSpPr>
          <p:cNvPr id="98" name="Rectángulo 97">
            <a:extLst>
              <a:ext uri="{FF2B5EF4-FFF2-40B4-BE49-F238E27FC236}">
                <a16:creationId xmlns:a16="http://schemas.microsoft.com/office/drawing/2014/main" id="{3AD39577-9B7C-9F05-2F42-EC6083783704}"/>
              </a:ext>
            </a:extLst>
          </p:cNvPr>
          <p:cNvSpPr/>
          <p:nvPr/>
        </p:nvSpPr>
        <p:spPr>
          <a:xfrm>
            <a:off x="12070319" y="2621280"/>
            <a:ext cx="2102643" cy="304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Why</a:t>
            </a:r>
            <a:r>
              <a:rPr lang="es-MX"/>
              <a:t> are </a:t>
            </a:r>
            <a:r>
              <a:rPr lang="es-MX" err="1"/>
              <a:t>tehre</a:t>
            </a:r>
            <a:r>
              <a:rPr lang="es-MX"/>
              <a:t> </a:t>
            </a:r>
            <a:r>
              <a:rPr lang="es-MX" err="1"/>
              <a:t>two</a:t>
            </a:r>
            <a:r>
              <a:rPr lang="es-MX"/>
              <a:t> diferente </a:t>
            </a:r>
            <a:r>
              <a:rPr lang="es-MX" err="1"/>
              <a:t>versions</a:t>
            </a:r>
            <a:r>
              <a:rPr lang="es-MX"/>
              <a:t> </a:t>
            </a:r>
            <a:r>
              <a:rPr lang="es-MX" err="1"/>
              <a:t>for</a:t>
            </a:r>
            <a:r>
              <a:rPr lang="es-MX"/>
              <a:t> G&amp;E</a:t>
            </a:r>
          </a:p>
        </p:txBody>
      </p:sp>
    </p:spTree>
    <p:extLst>
      <p:ext uri="{BB962C8B-B14F-4D97-AF65-F5344CB8AC3E}">
        <p14:creationId xmlns:p14="http://schemas.microsoft.com/office/powerpoint/2010/main" val="2125661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ED9D-2EA8-257F-31B9-C6395F64A0B2}"/>
            </a:ext>
          </a:extLst>
        </p:cNvPr>
        <p:cNvGrpSpPr/>
        <p:nvPr/>
      </p:nvGrpSpPr>
      <p:grpSpPr>
        <a:xfrm>
          <a:off x="0" y="0"/>
          <a:ext cx="0" cy="0"/>
          <a:chOff x="0" y="0"/>
          <a:chExt cx="0" cy="0"/>
        </a:xfrm>
      </p:grpSpPr>
      <p:sp>
        <p:nvSpPr>
          <p:cNvPr id="238" name="TextBox 2">
            <a:extLst>
              <a:ext uri="{FF2B5EF4-FFF2-40B4-BE49-F238E27FC236}">
                <a16:creationId xmlns:a16="http://schemas.microsoft.com/office/drawing/2014/main" id="{D143211E-BF3A-7F32-6B0A-6A8D18BCC5D9}"/>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G&amp;E is the only area with NO formal digital intake — every request arrives via email from business or vendor</a:t>
            </a:r>
          </a:p>
          <a:p>
            <a:endParaRPr lang="en-US"/>
          </a:p>
        </p:txBody>
      </p:sp>
      <p:sp>
        <p:nvSpPr>
          <p:cNvPr id="5" name="Título 2">
            <a:extLst>
              <a:ext uri="{FF2B5EF4-FFF2-40B4-BE49-F238E27FC236}">
                <a16:creationId xmlns:a16="http://schemas.microsoft.com/office/drawing/2014/main" id="{3ECCDA13-9E9F-4A59-4E2B-B512B1532B1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Rectangle 28">
            <a:extLst>
              <a:ext uri="{FF2B5EF4-FFF2-40B4-BE49-F238E27FC236}">
                <a16:creationId xmlns:a16="http://schemas.microsoft.com/office/drawing/2014/main" id="{5A7A5CD1-1CBA-D506-4BE0-4BF4D808EA9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D1903AEA-6D85-6552-7D9E-B9D808EF9F7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CC23CE03-D4AC-BC11-1084-3DB543BB45D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8" name="Rectangle 64">
            <a:extLst>
              <a:ext uri="{FF2B5EF4-FFF2-40B4-BE49-F238E27FC236}">
                <a16:creationId xmlns:a16="http://schemas.microsoft.com/office/drawing/2014/main" id="{E7CB9535-62D7-8EC3-757D-A6E47037617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339F2759-0F6D-6A4D-169B-0D1F40937D7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DDBB6CD5-EF81-F715-DF6F-804D5253FAA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64">
            <a:extLst>
              <a:ext uri="{FF2B5EF4-FFF2-40B4-BE49-F238E27FC236}">
                <a16:creationId xmlns:a16="http://schemas.microsoft.com/office/drawing/2014/main" id="{10E9D4F1-B244-44FC-5B3A-FCE7EA3F5FC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 name="TextBox 2">
            <a:extLst>
              <a:ext uri="{FF2B5EF4-FFF2-40B4-BE49-F238E27FC236}">
                <a16:creationId xmlns:a16="http://schemas.microsoft.com/office/drawing/2014/main" id="{2634043D-16CA-F664-661F-E5C75DC2F3FE}"/>
              </a:ext>
            </a:extLst>
          </p:cNvPr>
          <p:cNvSpPr txBox="1"/>
          <p:nvPr/>
        </p:nvSpPr>
        <p:spPr>
          <a:xfrm>
            <a:off x="470308" y="1183918"/>
            <a:ext cx="11704592"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accent1"/>
                </a:solidFill>
                <a:latin typeface="Helvetica Neue"/>
              </a:rPr>
              <a:t>G&amp;E — sub-scope within Electric &amp; Gas Operations Products (team led by Sr. Manager  —  Electric &amp; Gas Ops, Sr. Manager)  ·  Champion: G&amp;E Champion </a:t>
            </a:r>
          </a:p>
        </p:txBody>
      </p:sp>
      <p:sp>
        <p:nvSpPr>
          <p:cNvPr id="4" name="Rectangle 3">
            <a:extLst>
              <a:ext uri="{FF2B5EF4-FFF2-40B4-BE49-F238E27FC236}">
                <a16:creationId xmlns:a16="http://schemas.microsoft.com/office/drawing/2014/main" id="{86CF05F2-2EB7-8922-1CE5-7FC26F7AAF6B}"/>
              </a:ext>
            </a:extLst>
          </p:cNvPr>
          <p:cNvSpPr/>
          <p:nvPr/>
        </p:nvSpPr>
        <p:spPr>
          <a:xfrm>
            <a:off x="457200" y="1407414"/>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8">
            <a:extLst>
              <a:ext uri="{FF2B5EF4-FFF2-40B4-BE49-F238E27FC236}">
                <a16:creationId xmlns:a16="http://schemas.microsoft.com/office/drawing/2014/main" id="{64C5AD15-F031-7BE2-F9A0-7770B287C555}"/>
              </a:ext>
            </a:extLst>
          </p:cNvPr>
          <p:cNvSpPr/>
          <p:nvPr/>
        </p:nvSpPr>
        <p:spPr>
          <a:xfrm>
            <a:off x="457200" y="1407414"/>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E3A2D6F2-F52A-7792-9D21-3DCD47D7A69F}"/>
              </a:ext>
            </a:extLst>
          </p:cNvPr>
          <p:cNvSpPr txBox="1"/>
          <p:nvPr/>
        </p:nvSpPr>
        <p:spPr>
          <a:xfrm>
            <a:off x="457200" y="1407414"/>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50" name="TextBox 49">
            <a:extLst>
              <a:ext uri="{FF2B5EF4-FFF2-40B4-BE49-F238E27FC236}">
                <a16:creationId xmlns:a16="http://schemas.microsoft.com/office/drawing/2014/main" id="{BB884429-AF98-E560-2B15-5764BB2A0199}"/>
              </a:ext>
            </a:extLst>
          </p:cNvPr>
          <p:cNvSpPr txBox="1"/>
          <p:nvPr/>
        </p:nvSpPr>
        <p:spPr>
          <a:xfrm>
            <a:off x="2377440" y="1407414"/>
            <a:ext cx="9281160" cy="274320"/>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Electric &amp; Gas Operations (T&amp;D) · Field Services · Outage Management · Third-party vendors (direct) · Cyber &amp; Legal (compliance gates) · Regulatory affairs</a:t>
            </a:r>
          </a:p>
        </p:txBody>
      </p:sp>
      <p:sp>
        <p:nvSpPr>
          <p:cNvPr id="51" name="Rectangle 50">
            <a:extLst>
              <a:ext uri="{FF2B5EF4-FFF2-40B4-BE49-F238E27FC236}">
                <a16:creationId xmlns:a16="http://schemas.microsoft.com/office/drawing/2014/main" id="{18F5DBAC-ED27-4C16-73C6-6E26D4F6B7A6}"/>
              </a:ext>
            </a:extLst>
          </p:cNvPr>
          <p:cNvSpPr/>
          <p:nvPr/>
        </p:nvSpPr>
        <p:spPr>
          <a:xfrm>
            <a:off x="1097280"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2" name="TextBox 51">
            <a:extLst>
              <a:ext uri="{FF2B5EF4-FFF2-40B4-BE49-F238E27FC236}">
                <a16:creationId xmlns:a16="http://schemas.microsoft.com/office/drawing/2014/main" id="{F913F196-15F7-A63A-7EF3-184FAB7EF2B2}"/>
              </a:ext>
            </a:extLst>
          </p:cNvPr>
          <p:cNvSpPr txBox="1"/>
          <p:nvPr/>
        </p:nvSpPr>
        <p:spPr>
          <a:xfrm>
            <a:off x="1097280" y="1791462"/>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53" name="Rounded Rectangle 10">
            <a:extLst>
              <a:ext uri="{FF2B5EF4-FFF2-40B4-BE49-F238E27FC236}">
                <a16:creationId xmlns:a16="http://schemas.microsoft.com/office/drawing/2014/main" id="{102FCF10-AAF6-76B7-316E-96D36CFEBCF1}"/>
              </a:ext>
            </a:extLst>
          </p:cNvPr>
          <p:cNvSpPr/>
          <p:nvPr/>
        </p:nvSpPr>
        <p:spPr>
          <a:xfrm>
            <a:off x="1632204" y="2193798"/>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4" name="TextBox 53">
            <a:extLst>
              <a:ext uri="{FF2B5EF4-FFF2-40B4-BE49-F238E27FC236}">
                <a16:creationId xmlns:a16="http://schemas.microsoft.com/office/drawing/2014/main" id="{A921F559-C591-951A-AA4E-24F7FD26D1E8}"/>
              </a:ext>
            </a:extLst>
          </p:cNvPr>
          <p:cNvSpPr txBox="1"/>
          <p:nvPr/>
        </p:nvSpPr>
        <p:spPr>
          <a:xfrm>
            <a:off x="1632204" y="219379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55" name="Rectangle 54">
            <a:extLst>
              <a:ext uri="{FF2B5EF4-FFF2-40B4-BE49-F238E27FC236}">
                <a16:creationId xmlns:a16="http://schemas.microsoft.com/office/drawing/2014/main" id="{9AA80BDD-0C43-2B35-C7AC-61CB53A7A85B}"/>
              </a:ext>
            </a:extLst>
          </p:cNvPr>
          <p:cNvSpPr/>
          <p:nvPr/>
        </p:nvSpPr>
        <p:spPr>
          <a:xfrm>
            <a:off x="3319272"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6" name="TextBox 55">
            <a:extLst>
              <a:ext uri="{FF2B5EF4-FFF2-40B4-BE49-F238E27FC236}">
                <a16:creationId xmlns:a16="http://schemas.microsoft.com/office/drawing/2014/main" id="{E31D4F7E-4DAB-541D-D368-8980D9BFC4EE}"/>
              </a:ext>
            </a:extLst>
          </p:cNvPr>
          <p:cNvSpPr txBox="1"/>
          <p:nvPr/>
        </p:nvSpPr>
        <p:spPr>
          <a:xfrm>
            <a:off x="3319272" y="1791462"/>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57" name="Rounded Rectangle 14">
            <a:extLst>
              <a:ext uri="{FF2B5EF4-FFF2-40B4-BE49-F238E27FC236}">
                <a16:creationId xmlns:a16="http://schemas.microsoft.com/office/drawing/2014/main" id="{449FD437-98F7-7CA8-2930-7F8DF5ABAD19}"/>
              </a:ext>
            </a:extLst>
          </p:cNvPr>
          <p:cNvSpPr/>
          <p:nvPr/>
        </p:nvSpPr>
        <p:spPr>
          <a:xfrm>
            <a:off x="3854196" y="2193798"/>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8" name="TextBox 57">
            <a:extLst>
              <a:ext uri="{FF2B5EF4-FFF2-40B4-BE49-F238E27FC236}">
                <a16:creationId xmlns:a16="http://schemas.microsoft.com/office/drawing/2014/main" id="{31E7583A-C2B6-5CC5-C398-9FE9CFDB248B}"/>
              </a:ext>
            </a:extLst>
          </p:cNvPr>
          <p:cNvSpPr txBox="1"/>
          <p:nvPr/>
        </p:nvSpPr>
        <p:spPr>
          <a:xfrm>
            <a:off x="3854196" y="219379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59" name="Rectangle 58">
            <a:extLst>
              <a:ext uri="{FF2B5EF4-FFF2-40B4-BE49-F238E27FC236}">
                <a16:creationId xmlns:a16="http://schemas.microsoft.com/office/drawing/2014/main" id="{AF316E95-1325-E8C3-1C07-AB98EFA193B5}"/>
              </a:ext>
            </a:extLst>
          </p:cNvPr>
          <p:cNvSpPr/>
          <p:nvPr/>
        </p:nvSpPr>
        <p:spPr>
          <a:xfrm>
            <a:off x="5541264"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0" name="TextBox 59">
            <a:extLst>
              <a:ext uri="{FF2B5EF4-FFF2-40B4-BE49-F238E27FC236}">
                <a16:creationId xmlns:a16="http://schemas.microsoft.com/office/drawing/2014/main" id="{A0131B8E-3F3D-5366-BDC5-F45DF7D374BD}"/>
              </a:ext>
            </a:extLst>
          </p:cNvPr>
          <p:cNvSpPr txBox="1"/>
          <p:nvPr/>
        </p:nvSpPr>
        <p:spPr>
          <a:xfrm>
            <a:off x="5541264" y="1791462"/>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61" name="Rounded Rectangle 18">
            <a:extLst>
              <a:ext uri="{FF2B5EF4-FFF2-40B4-BE49-F238E27FC236}">
                <a16:creationId xmlns:a16="http://schemas.microsoft.com/office/drawing/2014/main" id="{0C19F86D-168A-AC54-8C15-7DAA9AC86E27}"/>
              </a:ext>
            </a:extLst>
          </p:cNvPr>
          <p:cNvSpPr/>
          <p:nvPr/>
        </p:nvSpPr>
        <p:spPr>
          <a:xfrm>
            <a:off x="6076188" y="2193798"/>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2" name="TextBox 61">
            <a:extLst>
              <a:ext uri="{FF2B5EF4-FFF2-40B4-BE49-F238E27FC236}">
                <a16:creationId xmlns:a16="http://schemas.microsoft.com/office/drawing/2014/main" id="{27C670C4-C163-B6BE-8232-32A02885B124}"/>
              </a:ext>
            </a:extLst>
          </p:cNvPr>
          <p:cNvSpPr txBox="1"/>
          <p:nvPr/>
        </p:nvSpPr>
        <p:spPr>
          <a:xfrm>
            <a:off x="6076188" y="219379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63" name="Rectangle 62">
            <a:extLst>
              <a:ext uri="{FF2B5EF4-FFF2-40B4-BE49-F238E27FC236}">
                <a16:creationId xmlns:a16="http://schemas.microsoft.com/office/drawing/2014/main" id="{9EFB0CCF-B032-68EA-E97C-BC2B533093CE}"/>
              </a:ext>
            </a:extLst>
          </p:cNvPr>
          <p:cNvSpPr/>
          <p:nvPr/>
        </p:nvSpPr>
        <p:spPr>
          <a:xfrm>
            <a:off x="7763256" y="1791462"/>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8" name="TextBox 127">
            <a:extLst>
              <a:ext uri="{FF2B5EF4-FFF2-40B4-BE49-F238E27FC236}">
                <a16:creationId xmlns:a16="http://schemas.microsoft.com/office/drawing/2014/main" id="{223EBDE4-92E7-59ED-9B2C-5F83528773AB}"/>
              </a:ext>
            </a:extLst>
          </p:cNvPr>
          <p:cNvSpPr txBox="1"/>
          <p:nvPr/>
        </p:nvSpPr>
        <p:spPr>
          <a:xfrm>
            <a:off x="7763256" y="1791462"/>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129" name="Rounded Rectangle 22">
            <a:extLst>
              <a:ext uri="{FF2B5EF4-FFF2-40B4-BE49-F238E27FC236}">
                <a16:creationId xmlns:a16="http://schemas.microsoft.com/office/drawing/2014/main" id="{4DAAC219-F10A-61B5-8EF4-B1CBFC55E2FE}"/>
              </a:ext>
            </a:extLst>
          </p:cNvPr>
          <p:cNvSpPr/>
          <p:nvPr/>
        </p:nvSpPr>
        <p:spPr>
          <a:xfrm>
            <a:off x="8298180" y="2193798"/>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0" name="TextBox 129">
            <a:extLst>
              <a:ext uri="{FF2B5EF4-FFF2-40B4-BE49-F238E27FC236}">
                <a16:creationId xmlns:a16="http://schemas.microsoft.com/office/drawing/2014/main" id="{147CD4CA-122B-76EA-31AD-CBC8EEB91027}"/>
              </a:ext>
            </a:extLst>
          </p:cNvPr>
          <p:cNvSpPr txBox="1"/>
          <p:nvPr/>
        </p:nvSpPr>
        <p:spPr>
          <a:xfrm>
            <a:off x="8298180" y="219379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131" name="Rectangle 130">
            <a:extLst>
              <a:ext uri="{FF2B5EF4-FFF2-40B4-BE49-F238E27FC236}">
                <a16:creationId xmlns:a16="http://schemas.microsoft.com/office/drawing/2014/main" id="{CE3AB5D2-91CA-55DB-113A-BF938B0C2130}"/>
              </a:ext>
            </a:extLst>
          </p:cNvPr>
          <p:cNvSpPr/>
          <p:nvPr/>
        </p:nvSpPr>
        <p:spPr>
          <a:xfrm>
            <a:off x="9985248" y="1791462"/>
            <a:ext cx="1737089" cy="3323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2" name="TextBox 131">
            <a:extLst>
              <a:ext uri="{FF2B5EF4-FFF2-40B4-BE49-F238E27FC236}">
                <a16:creationId xmlns:a16="http://schemas.microsoft.com/office/drawing/2014/main" id="{59ACE821-5B68-AC40-07A8-B3CE7B47A413}"/>
              </a:ext>
            </a:extLst>
          </p:cNvPr>
          <p:cNvSpPr txBox="1"/>
          <p:nvPr/>
        </p:nvSpPr>
        <p:spPr>
          <a:xfrm>
            <a:off x="9985248" y="1879587"/>
            <a:ext cx="1737089" cy="1561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133" name="Rounded Rectangle 26">
            <a:extLst>
              <a:ext uri="{FF2B5EF4-FFF2-40B4-BE49-F238E27FC236}">
                <a16:creationId xmlns:a16="http://schemas.microsoft.com/office/drawing/2014/main" id="{111232CF-4F22-0452-E62A-A58D4300EE3C}"/>
              </a:ext>
            </a:extLst>
          </p:cNvPr>
          <p:cNvSpPr/>
          <p:nvPr/>
        </p:nvSpPr>
        <p:spPr>
          <a:xfrm>
            <a:off x="10520172" y="2193798"/>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4" name="TextBox 133">
            <a:extLst>
              <a:ext uri="{FF2B5EF4-FFF2-40B4-BE49-F238E27FC236}">
                <a16:creationId xmlns:a16="http://schemas.microsoft.com/office/drawing/2014/main" id="{90B4B282-4F1A-D1DE-1695-C61B8F85A1AA}"/>
              </a:ext>
            </a:extLst>
          </p:cNvPr>
          <p:cNvSpPr txBox="1"/>
          <p:nvPr/>
        </p:nvSpPr>
        <p:spPr>
          <a:xfrm>
            <a:off x="10520172" y="2193798"/>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135" name="Rectangle 134">
            <a:extLst>
              <a:ext uri="{FF2B5EF4-FFF2-40B4-BE49-F238E27FC236}">
                <a16:creationId xmlns:a16="http://schemas.microsoft.com/office/drawing/2014/main" id="{CCF37F02-518B-10EC-EACB-FF99EB59CF4F}"/>
              </a:ext>
            </a:extLst>
          </p:cNvPr>
          <p:cNvSpPr/>
          <p:nvPr/>
        </p:nvSpPr>
        <p:spPr>
          <a:xfrm>
            <a:off x="457200" y="2431542"/>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6" name="TextBox 135">
            <a:extLst>
              <a:ext uri="{FF2B5EF4-FFF2-40B4-BE49-F238E27FC236}">
                <a16:creationId xmlns:a16="http://schemas.microsoft.com/office/drawing/2014/main" id="{41912263-1E83-12A8-3F6D-E0023BD160EA}"/>
              </a:ext>
            </a:extLst>
          </p:cNvPr>
          <p:cNvSpPr txBox="1"/>
          <p:nvPr/>
        </p:nvSpPr>
        <p:spPr>
          <a:xfrm>
            <a:off x="457200" y="2431542"/>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137" name="Rectangle 136">
            <a:extLst>
              <a:ext uri="{FF2B5EF4-FFF2-40B4-BE49-F238E27FC236}">
                <a16:creationId xmlns:a16="http://schemas.microsoft.com/office/drawing/2014/main" id="{03B026C9-9A6A-04D5-3C87-CC5317495CBD}"/>
              </a:ext>
            </a:extLst>
          </p:cNvPr>
          <p:cNvSpPr/>
          <p:nvPr/>
        </p:nvSpPr>
        <p:spPr>
          <a:xfrm>
            <a:off x="1097280"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8" name="TextBox 137">
            <a:extLst>
              <a:ext uri="{FF2B5EF4-FFF2-40B4-BE49-F238E27FC236}">
                <a16:creationId xmlns:a16="http://schemas.microsoft.com/office/drawing/2014/main" id="{9E915106-53F0-58AF-C956-EDB83B68D795}"/>
              </a:ext>
            </a:extLst>
          </p:cNvPr>
          <p:cNvSpPr txBox="1"/>
          <p:nvPr/>
        </p:nvSpPr>
        <p:spPr>
          <a:xfrm>
            <a:off x="1188720" y="247726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EMAILS only — from business AND from vendor; no ticketing</a:t>
            </a:r>
          </a:p>
        </p:txBody>
      </p:sp>
      <p:sp>
        <p:nvSpPr>
          <p:cNvPr id="139" name="Rectangle 138">
            <a:extLst>
              <a:ext uri="{FF2B5EF4-FFF2-40B4-BE49-F238E27FC236}">
                <a16:creationId xmlns:a16="http://schemas.microsoft.com/office/drawing/2014/main" id="{A224B567-71C7-C2A7-6B62-ECDD2AF96865}"/>
              </a:ext>
            </a:extLst>
          </p:cNvPr>
          <p:cNvSpPr/>
          <p:nvPr/>
        </p:nvSpPr>
        <p:spPr>
          <a:xfrm>
            <a:off x="3319272"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0" name="TextBox 139">
            <a:extLst>
              <a:ext uri="{FF2B5EF4-FFF2-40B4-BE49-F238E27FC236}">
                <a16:creationId xmlns:a16="http://schemas.microsoft.com/office/drawing/2014/main" id="{831072A1-A308-D6C0-4B15-31502B6215EE}"/>
              </a:ext>
            </a:extLst>
          </p:cNvPr>
          <p:cNvSpPr txBox="1"/>
          <p:nvPr/>
        </p:nvSpPr>
        <p:spPr>
          <a:xfrm>
            <a:off x="3410712" y="247726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Ad-hoc by demand nature; depends on upgrade type</a:t>
            </a:r>
          </a:p>
        </p:txBody>
      </p:sp>
      <p:sp>
        <p:nvSpPr>
          <p:cNvPr id="141" name="Rectangle 140">
            <a:extLst>
              <a:ext uri="{FF2B5EF4-FFF2-40B4-BE49-F238E27FC236}">
                <a16:creationId xmlns:a16="http://schemas.microsoft.com/office/drawing/2014/main" id="{8285BCA2-0AAE-BD67-A8D9-AA947581B4C9}"/>
              </a:ext>
            </a:extLst>
          </p:cNvPr>
          <p:cNvSpPr/>
          <p:nvPr/>
        </p:nvSpPr>
        <p:spPr>
          <a:xfrm>
            <a:off x="5541264"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2" name="TextBox 141">
            <a:extLst>
              <a:ext uri="{FF2B5EF4-FFF2-40B4-BE49-F238E27FC236}">
                <a16:creationId xmlns:a16="http://schemas.microsoft.com/office/drawing/2014/main" id="{2081E89C-9AAF-626B-43C0-008E51E44B06}"/>
              </a:ext>
            </a:extLst>
          </p:cNvPr>
          <p:cNvSpPr txBox="1"/>
          <p:nvPr/>
        </p:nvSpPr>
        <p:spPr>
          <a:xfrm>
            <a:off x="5632704" y="2477262"/>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Helvetica Neue"/>
              </a:rPr>
              <a:t>Tech lead</a:t>
            </a:r>
            <a:r>
              <a:rPr lang="en-US" sz="900" b="0" i="0" noProof="0">
                <a:solidFill>
                  <a:srgbClr val="2C3E50"/>
                </a:solidFill>
                <a:latin typeface="Helvetica Neue"/>
              </a:rPr>
              <a:t> internal call — operational = urgent</a:t>
            </a:r>
          </a:p>
        </p:txBody>
      </p:sp>
      <p:sp>
        <p:nvSpPr>
          <p:cNvPr id="143" name="Rectangle 142">
            <a:extLst>
              <a:ext uri="{FF2B5EF4-FFF2-40B4-BE49-F238E27FC236}">
                <a16:creationId xmlns:a16="http://schemas.microsoft.com/office/drawing/2014/main" id="{941249A0-3E2A-DE9E-D963-0974715D273D}"/>
              </a:ext>
            </a:extLst>
          </p:cNvPr>
          <p:cNvSpPr/>
          <p:nvPr/>
        </p:nvSpPr>
        <p:spPr>
          <a:xfrm>
            <a:off x="7763256"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4" name="TextBox 143">
            <a:extLst>
              <a:ext uri="{FF2B5EF4-FFF2-40B4-BE49-F238E27FC236}">
                <a16:creationId xmlns:a16="http://schemas.microsoft.com/office/drawing/2014/main" id="{932A709A-62D3-81E7-0840-F5A5BCC22305}"/>
              </a:ext>
            </a:extLst>
          </p:cNvPr>
          <p:cNvSpPr txBox="1"/>
          <p:nvPr/>
        </p:nvSpPr>
        <p:spPr>
          <a:xfrm>
            <a:off x="7854696" y="2477262"/>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sets its own timeline; upgrades need budget/time eval</a:t>
            </a:r>
          </a:p>
        </p:txBody>
      </p:sp>
      <p:sp>
        <p:nvSpPr>
          <p:cNvPr id="145" name="Rectangle 144">
            <a:extLst>
              <a:ext uri="{FF2B5EF4-FFF2-40B4-BE49-F238E27FC236}">
                <a16:creationId xmlns:a16="http://schemas.microsoft.com/office/drawing/2014/main" id="{618DDB50-438B-8B85-9D10-127931ADBF41}"/>
              </a:ext>
            </a:extLst>
          </p:cNvPr>
          <p:cNvSpPr/>
          <p:nvPr/>
        </p:nvSpPr>
        <p:spPr>
          <a:xfrm>
            <a:off x="9985248" y="2431542"/>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6" name="TextBox 145">
            <a:extLst>
              <a:ext uri="{FF2B5EF4-FFF2-40B4-BE49-F238E27FC236}">
                <a16:creationId xmlns:a16="http://schemas.microsoft.com/office/drawing/2014/main" id="{FC332E1D-5E74-78C1-035E-9BB89F0574DE}"/>
              </a:ext>
            </a:extLst>
          </p:cNvPr>
          <p:cNvSpPr txBox="1"/>
          <p:nvPr/>
        </p:nvSpPr>
        <p:spPr>
          <a:xfrm>
            <a:off x="10076688" y="2477262"/>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Vendor-led delivery; competing priorities without triage</a:t>
            </a:r>
          </a:p>
        </p:txBody>
      </p:sp>
      <p:sp>
        <p:nvSpPr>
          <p:cNvPr id="147" name="Rectangle 146">
            <a:extLst>
              <a:ext uri="{FF2B5EF4-FFF2-40B4-BE49-F238E27FC236}">
                <a16:creationId xmlns:a16="http://schemas.microsoft.com/office/drawing/2014/main" id="{F9CF3E29-DA8B-D9AF-F070-DC6788398B4A}"/>
              </a:ext>
            </a:extLst>
          </p:cNvPr>
          <p:cNvSpPr/>
          <p:nvPr/>
        </p:nvSpPr>
        <p:spPr>
          <a:xfrm>
            <a:off x="457200" y="2961894"/>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8" name="TextBox 147">
            <a:extLst>
              <a:ext uri="{FF2B5EF4-FFF2-40B4-BE49-F238E27FC236}">
                <a16:creationId xmlns:a16="http://schemas.microsoft.com/office/drawing/2014/main" id="{AB962084-A037-40DF-5BC5-B63314E9B92D}"/>
              </a:ext>
            </a:extLst>
          </p:cNvPr>
          <p:cNvSpPr txBox="1"/>
          <p:nvPr/>
        </p:nvSpPr>
        <p:spPr>
          <a:xfrm>
            <a:off x="457200" y="2961894"/>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49" name="Rectangle 148">
            <a:extLst>
              <a:ext uri="{FF2B5EF4-FFF2-40B4-BE49-F238E27FC236}">
                <a16:creationId xmlns:a16="http://schemas.microsoft.com/office/drawing/2014/main" id="{5D28A7E1-49F3-A545-B8D2-37FAF00C0171}"/>
              </a:ext>
            </a:extLst>
          </p:cNvPr>
          <p:cNvSpPr/>
          <p:nvPr/>
        </p:nvSpPr>
        <p:spPr>
          <a:xfrm>
            <a:off x="1097280"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0" name="TextBox 149">
            <a:extLst>
              <a:ext uri="{FF2B5EF4-FFF2-40B4-BE49-F238E27FC236}">
                <a16:creationId xmlns:a16="http://schemas.microsoft.com/office/drawing/2014/main" id="{22BDA3C8-BB17-1E16-359C-A161037FA612}"/>
              </a:ext>
            </a:extLst>
          </p:cNvPr>
          <p:cNvSpPr txBox="1"/>
          <p:nvPr/>
        </p:nvSpPr>
        <p:spPr>
          <a:xfrm>
            <a:off x="1188720" y="3007614"/>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 vendor send email → G&amp;E Champion receives</a:t>
            </a:r>
          </a:p>
        </p:txBody>
      </p:sp>
      <p:sp>
        <p:nvSpPr>
          <p:cNvPr id="151" name="Rectangle 150">
            <a:extLst>
              <a:ext uri="{FF2B5EF4-FFF2-40B4-BE49-F238E27FC236}">
                <a16:creationId xmlns:a16="http://schemas.microsoft.com/office/drawing/2014/main" id="{B033436F-F847-12B4-2A98-1A6998154B62}"/>
              </a:ext>
            </a:extLst>
          </p:cNvPr>
          <p:cNvSpPr/>
          <p:nvPr/>
        </p:nvSpPr>
        <p:spPr>
          <a:xfrm>
            <a:off x="3319272"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2" name="TextBox 151">
            <a:extLst>
              <a:ext uri="{FF2B5EF4-FFF2-40B4-BE49-F238E27FC236}">
                <a16:creationId xmlns:a16="http://schemas.microsoft.com/office/drawing/2014/main" id="{F52BF158-54A3-FF46-556B-6EC26CE39501}"/>
              </a:ext>
            </a:extLst>
          </p:cNvPr>
          <p:cNvSpPr txBox="1"/>
          <p:nvPr/>
        </p:nvSpPr>
        <p:spPr>
          <a:xfrm>
            <a:off x="3410712" y="3007614"/>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Helvetica Neue"/>
              </a:rPr>
              <a:t>Tech lead</a:t>
            </a:r>
            <a:r>
              <a:rPr lang="en-US" sz="900" b="0" i="0" noProof="0">
                <a:solidFill>
                  <a:srgbClr val="2C3E50"/>
                </a:solidFill>
                <a:latin typeface="Helvetica Neue"/>
              </a:rPr>
              <a:t> alone classifies — no second reviewer</a:t>
            </a:r>
          </a:p>
        </p:txBody>
      </p:sp>
      <p:sp>
        <p:nvSpPr>
          <p:cNvPr id="153" name="Rectangle 152">
            <a:extLst>
              <a:ext uri="{FF2B5EF4-FFF2-40B4-BE49-F238E27FC236}">
                <a16:creationId xmlns:a16="http://schemas.microsoft.com/office/drawing/2014/main" id="{B5DB07BD-83D1-A8CE-53B0-5A0EA6ED7DEF}"/>
              </a:ext>
            </a:extLst>
          </p:cNvPr>
          <p:cNvSpPr/>
          <p:nvPr/>
        </p:nvSpPr>
        <p:spPr>
          <a:xfrm>
            <a:off x="5541264"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4" name="TextBox 153">
            <a:extLst>
              <a:ext uri="{FF2B5EF4-FFF2-40B4-BE49-F238E27FC236}">
                <a16:creationId xmlns:a16="http://schemas.microsoft.com/office/drawing/2014/main" id="{9DB9FE9F-E57A-61BE-9086-2D5FC44A5A8C}"/>
              </a:ext>
            </a:extLst>
          </p:cNvPr>
          <p:cNvSpPr txBox="1"/>
          <p:nvPr/>
        </p:nvSpPr>
        <p:spPr>
          <a:xfrm>
            <a:off x="5632704" y="3007614"/>
            <a:ext cx="1984248" cy="291939"/>
          </a:xfrm>
          <a:prstGeom prst="rect">
            <a:avLst/>
          </a:prstGeom>
          <a:noFill/>
        </p:spPr>
        <p:txBody>
          <a:bodyPr wrap="square" lIns="0" tIns="0" rIns="0" bIns="0" anchor="t">
            <a:spAutoFit/>
          </a:bodyPr>
          <a:lstStyle/>
          <a:p>
            <a:pPr>
              <a:lnSpc>
                <a:spcPct val="110000"/>
              </a:lnSpc>
            </a:pPr>
            <a:r>
              <a:rPr lang="en-US" sz="900" noProof="0">
                <a:solidFill>
                  <a:srgbClr val="2C3E50"/>
                </a:solidFill>
                <a:latin typeface="Helvetica Neue"/>
              </a:rPr>
              <a:t>Tech lead</a:t>
            </a:r>
            <a:r>
              <a:rPr lang="en-US" sz="900" b="0" i="0" noProof="0">
                <a:solidFill>
                  <a:srgbClr val="2C3E50"/>
                </a:solidFill>
                <a:latin typeface="Helvetica Neue"/>
              </a:rPr>
              <a:t> prioritizes; cyber / legal / third-party weighted</a:t>
            </a:r>
          </a:p>
        </p:txBody>
      </p:sp>
      <p:sp>
        <p:nvSpPr>
          <p:cNvPr id="155" name="Rectangle 154">
            <a:extLst>
              <a:ext uri="{FF2B5EF4-FFF2-40B4-BE49-F238E27FC236}">
                <a16:creationId xmlns:a16="http://schemas.microsoft.com/office/drawing/2014/main" id="{41E8EEB7-02CC-DAC7-DC4D-BBEDD3A3ECD2}"/>
              </a:ext>
            </a:extLst>
          </p:cNvPr>
          <p:cNvSpPr/>
          <p:nvPr/>
        </p:nvSpPr>
        <p:spPr>
          <a:xfrm>
            <a:off x="7763256"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6" name="TextBox 155">
            <a:extLst>
              <a:ext uri="{FF2B5EF4-FFF2-40B4-BE49-F238E27FC236}">
                <a16:creationId xmlns:a16="http://schemas.microsoft.com/office/drawing/2014/main" id="{4EDD5239-E447-B870-AB39-E10AF2D45073}"/>
              </a:ext>
            </a:extLst>
          </p:cNvPr>
          <p:cNvSpPr txBox="1"/>
          <p:nvPr/>
        </p:nvSpPr>
        <p:spPr>
          <a:xfrm>
            <a:off x="7854696" y="3007614"/>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Helvetica Neue"/>
              </a:rPr>
              <a:t>Vendor owns timeline; </a:t>
            </a:r>
            <a:r>
              <a:rPr lang="en-US" sz="900" noProof="0">
                <a:solidFill>
                  <a:srgbClr val="2C3E50"/>
                </a:solidFill>
                <a:latin typeface="Helvetica Neue"/>
              </a:rPr>
              <a:t>Tech lead</a:t>
            </a:r>
            <a:r>
              <a:rPr lang="en-US" sz="900" b="0" i="0" noProof="0">
                <a:solidFill>
                  <a:srgbClr val="2C3E50"/>
                </a:solidFill>
                <a:latin typeface="Helvetica Neue"/>
              </a:rPr>
              <a:t> tracks manually</a:t>
            </a:r>
          </a:p>
        </p:txBody>
      </p:sp>
      <p:sp>
        <p:nvSpPr>
          <p:cNvPr id="157" name="Rectangle 156">
            <a:extLst>
              <a:ext uri="{FF2B5EF4-FFF2-40B4-BE49-F238E27FC236}">
                <a16:creationId xmlns:a16="http://schemas.microsoft.com/office/drawing/2014/main" id="{EAEEEB0A-F075-C104-22AA-130516557E35}"/>
              </a:ext>
            </a:extLst>
          </p:cNvPr>
          <p:cNvSpPr/>
          <p:nvPr/>
        </p:nvSpPr>
        <p:spPr>
          <a:xfrm>
            <a:off x="9985248" y="2961894"/>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8" name="TextBox 157">
            <a:extLst>
              <a:ext uri="{FF2B5EF4-FFF2-40B4-BE49-F238E27FC236}">
                <a16:creationId xmlns:a16="http://schemas.microsoft.com/office/drawing/2014/main" id="{AF81C8DA-B739-9E7C-E054-BD6BD4EBEC9A}"/>
              </a:ext>
            </a:extLst>
          </p:cNvPr>
          <p:cNvSpPr txBox="1"/>
          <p:nvPr/>
        </p:nvSpPr>
        <p:spPr>
          <a:xfrm>
            <a:off x="10076688" y="3007614"/>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 </a:t>
            </a:r>
            <a:r>
              <a:rPr lang="en-US" sz="900" noProof="0">
                <a:solidFill>
                  <a:srgbClr val="2C3E50"/>
                </a:solidFill>
                <a:latin typeface="Helvetica Neue"/>
              </a:rPr>
              <a:t>Tech</a:t>
            </a:r>
            <a:r>
              <a:rPr lang="en-US" sz="900" b="0" i="0" noProof="0">
                <a:solidFill>
                  <a:srgbClr val="2C3E50"/>
                </a:solidFill>
                <a:latin typeface="Helvetica Neue"/>
              </a:rPr>
              <a:t> </a:t>
            </a:r>
            <a:r>
              <a:rPr lang="en-US" sz="900" noProof="0">
                <a:solidFill>
                  <a:srgbClr val="2C3E50"/>
                </a:solidFill>
                <a:latin typeface="Helvetica Neue"/>
              </a:rPr>
              <a:t>lead</a:t>
            </a:r>
            <a:r>
              <a:rPr lang="en-US" sz="900" b="0" i="0" noProof="0">
                <a:solidFill>
                  <a:srgbClr val="2C3E50"/>
                </a:solidFill>
                <a:latin typeface="Helvetica Neue"/>
              </a:rPr>
              <a:t>; no internal release role</a:t>
            </a:r>
          </a:p>
        </p:txBody>
      </p:sp>
      <p:sp>
        <p:nvSpPr>
          <p:cNvPr id="159" name="Rectangle 158">
            <a:extLst>
              <a:ext uri="{FF2B5EF4-FFF2-40B4-BE49-F238E27FC236}">
                <a16:creationId xmlns:a16="http://schemas.microsoft.com/office/drawing/2014/main" id="{0B8756D2-CE47-FFDE-2B6C-A9490A273059}"/>
              </a:ext>
            </a:extLst>
          </p:cNvPr>
          <p:cNvSpPr/>
          <p:nvPr/>
        </p:nvSpPr>
        <p:spPr>
          <a:xfrm>
            <a:off x="457200" y="3492246"/>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0" name="TextBox 159">
            <a:extLst>
              <a:ext uri="{FF2B5EF4-FFF2-40B4-BE49-F238E27FC236}">
                <a16:creationId xmlns:a16="http://schemas.microsoft.com/office/drawing/2014/main" id="{B8A76B99-F32E-3129-4EFE-DE8F7A591A38}"/>
              </a:ext>
            </a:extLst>
          </p:cNvPr>
          <p:cNvSpPr txBox="1"/>
          <p:nvPr/>
        </p:nvSpPr>
        <p:spPr>
          <a:xfrm>
            <a:off x="457200" y="3492246"/>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161" name="Rectangle 160">
            <a:extLst>
              <a:ext uri="{FF2B5EF4-FFF2-40B4-BE49-F238E27FC236}">
                <a16:creationId xmlns:a16="http://schemas.microsoft.com/office/drawing/2014/main" id="{B12010AD-2C56-BA1D-5BAB-25A82F161CD7}"/>
              </a:ext>
            </a:extLst>
          </p:cNvPr>
          <p:cNvSpPr/>
          <p:nvPr/>
        </p:nvSpPr>
        <p:spPr>
          <a:xfrm>
            <a:off x="1097280"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2" name="TextBox 161">
            <a:extLst>
              <a:ext uri="{FF2B5EF4-FFF2-40B4-BE49-F238E27FC236}">
                <a16:creationId xmlns:a16="http://schemas.microsoft.com/office/drawing/2014/main" id="{839D2401-38D0-81DA-ED65-6B208A1136E7}"/>
              </a:ext>
            </a:extLst>
          </p:cNvPr>
          <p:cNvSpPr txBox="1"/>
          <p:nvPr/>
        </p:nvSpPr>
        <p:spPr>
          <a:xfrm>
            <a:off x="1188720" y="353796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(Outlook) — no Jira, no IT-Now, no RITM</a:t>
            </a:r>
          </a:p>
        </p:txBody>
      </p:sp>
      <p:sp>
        <p:nvSpPr>
          <p:cNvPr id="163" name="Rectangle 162">
            <a:extLst>
              <a:ext uri="{FF2B5EF4-FFF2-40B4-BE49-F238E27FC236}">
                <a16:creationId xmlns:a16="http://schemas.microsoft.com/office/drawing/2014/main" id="{1FB4CF5C-FD79-2643-B092-662291343C59}"/>
              </a:ext>
            </a:extLst>
          </p:cNvPr>
          <p:cNvSpPr/>
          <p:nvPr/>
        </p:nvSpPr>
        <p:spPr>
          <a:xfrm>
            <a:off x="3319272"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4" name="TextBox 163">
            <a:extLst>
              <a:ext uri="{FF2B5EF4-FFF2-40B4-BE49-F238E27FC236}">
                <a16:creationId xmlns:a16="http://schemas.microsoft.com/office/drawing/2014/main" id="{AD365C75-FC37-41E9-FC82-BDF7BA215E5F}"/>
              </a:ext>
            </a:extLst>
          </p:cNvPr>
          <p:cNvSpPr txBox="1"/>
          <p:nvPr/>
        </p:nvSpPr>
        <p:spPr>
          <a:xfrm>
            <a:off x="3410712" y="353796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threads as the classification evidence</a:t>
            </a:r>
          </a:p>
        </p:txBody>
      </p:sp>
      <p:sp>
        <p:nvSpPr>
          <p:cNvPr id="166" name="Rectangle 165">
            <a:extLst>
              <a:ext uri="{FF2B5EF4-FFF2-40B4-BE49-F238E27FC236}">
                <a16:creationId xmlns:a16="http://schemas.microsoft.com/office/drawing/2014/main" id="{009BFC66-99CB-16AC-6B9F-FB1364BB3861}"/>
              </a:ext>
            </a:extLst>
          </p:cNvPr>
          <p:cNvSpPr/>
          <p:nvPr/>
        </p:nvSpPr>
        <p:spPr>
          <a:xfrm>
            <a:off x="5541264"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7" name="TextBox 166">
            <a:extLst>
              <a:ext uri="{FF2B5EF4-FFF2-40B4-BE49-F238E27FC236}">
                <a16:creationId xmlns:a16="http://schemas.microsoft.com/office/drawing/2014/main" id="{7118ADA0-670E-6267-8C93-E930A422881D}"/>
              </a:ext>
            </a:extLst>
          </p:cNvPr>
          <p:cNvSpPr txBox="1"/>
          <p:nvPr/>
        </p:nvSpPr>
        <p:spPr>
          <a:xfrm>
            <a:off x="5632704" y="353796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scoring tool — judgment call</a:t>
            </a:r>
          </a:p>
        </p:txBody>
      </p:sp>
      <p:sp>
        <p:nvSpPr>
          <p:cNvPr id="168" name="Rectangle 167">
            <a:extLst>
              <a:ext uri="{FF2B5EF4-FFF2-40B4-BE49-F238E27FC236}">
                <a16:creationId xmlns:a16="http://schemas.microsoft.com/office/drawing/2014/main" id="{90BE8DD6-EFC2-1533-9A49-F55A8F4E949A}"/>
              </a:ext>
            </a:extLst>
          </p:cNvPr>
          <p:cNvSpPr/>
          <p:nvPr/>
        </p:nvSpPr>
        <p:spPr>
          <a:xfrm>
            <a:off x="7763256"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9" name="TextBox 168">
            <a:extLst>
              <a:ext uri="{FF2B5EF4-FFF2-40B4-BE49-F238E27FC236}">
                <a16:creationId xmlns:a16="http://schemas.microsoft.com/office/drawing/2014/main" id="{8304FE72-257B-D050-7487-C3FB4F8FC38D}"/>
              </a:ext>
            </a:extLst>
          </p:cNvPr>
          <p:cNvSpPr txBox="1"/>
          <p:nvPr/>
        </p:nvSpPr>
        <p:spPr>
          <a:xfrm>
            <a:off x="7854696" y="3537966"/>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portfolio tool in use</a:t>
            </a:r>
          </a:p>
        </p:txBody>
      </p:sp>
      <p:sp>
        <p:nvSpPr>
          <p:cNvPr id="170" name="Rectangle 169">
            <a:extLst>
              <a:ext uri="{FF2B5EF4-FFF2-40B4-BE49-F238E27FC236}">
                <a16:creationId xmlns:a16="http://schemas.microsoft.com/office/drawing/2014/main" id="{3B282005-F8B5-0F4D-EA28-2E31991D696A}"/>
              </a:ext>
            </a:extLst>
          </p:cNvPr>
          <p:cNvSpPr/>
          <p:nvPr/>
        </p:nvSpPr>
        <p:spPr>
          <a:xfrm>
            <a:off x="9985248" y="3492246"/>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1" name="TextBox 170">
            <a:extLst>
              <a:ext uri="{FF2B5EF4-FFF2-40B4-BE49-F238E27FC236}">
                <a16:creationId xmlns:a16="http://schemas.microsoft.com/office/drawing/2014/main" id="{0258A83F-F658-5139-20C6-6C6CF9CD8D8E}"/>
              </a:ext>
            </a:extLst>
          </p:cNvPr>
          <p:cNvSpPr txBox="1"/>
          <p:nvPr/>
        </p:nvSpPr>
        <p:spPr>
          <a:xfrm>
            <a:off x="10076688" y="3537966"/>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delivery tooling — vendor runs its own stack</a:t>
            </a:r>
          </a:p>
        </p:txBody>
      </p:sp>
      <p:sp>
        <p:nvSpPr>
          <p:cNvPr id="172" name="Rectangle 171">
            <a:extLst>
              <a:ext uri="{FF2B5EF4-FFF2-40B4-BE49-F238E27FC236}">
                <a16:creationId xmlns:a16="http://schemas.microsoft.com/office/drawing/2014/main" id="{77DAA722-3389-452A-48D7-61CC9ED61248}"/>
              </a:ext>
            </a:extLst>
          </p:cNvPr>
          <p:cNvSpPr/>
          <p:nvPr/>
        </p:nvSpPr>
        <p:spPr>
          <a:xfrm>
            <a:off x="457200" y="4022598"/>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3" name="TextBox 172">
            <a:extLst>
              <a:ext uri="{FF2B5EF4-FFF2-40B4-BE49-F238E27FC236}">
                <a16:creationId xmlns:a16="http://schemas.microsoft.com/office/drawing/2014/main" id="{85E0B431-5C35-78D0-2735-4A6105D7F7CD}"/>
              </a:ext>
            </a:extLst>
          </p:cNvPr>
          <p:cNvSpPr txBox="1"/>
          <p:nvPr/>
        </p:nvSpPr>
        <p:spPr>
          <a:xfrm>
            <a:off x="457200" y="4171863"/>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174" name="Rectangle 173">
            <a:extLst>
              <a:ext uri="{FF2B5EF4-FFF2-40B4-BE49-F238E27FC236}">
                <a16:creationId xmlns:a16="http://schemas.microsoft.com/office/drawing/2014/main" id="{4030F1BD-B4FE-F311-9A30-12A537A58EDE}"/>
              </a:ext>
            </a:extLst>
          </p:cNvPr>
          <p:cNvSpPr/>
          <p:nvPr/>
        </p:nvSpPr>
        <p:spPr>
          <a:xfrm>
            <a:off x="1097280"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5" name="TextBox 174">
            <a:extLst>
              <a:ext uri="{FF2B5EF4-FFF2-40B4-BE49-F238E27FC236}">
                <a16:creationId xmlns:a16="http://schemas.microsoft.com/office/drawing/2014/main" id="{B06E9CC1-041B-1BEE-6774-A97B98A366D4}"/>
              </a:ext>
            </a:extLst>
          </p:cNvPr>
          <p:cNvSpPr txBox="1"/>
          <p:nvPr/>
        </p:nvSpPr>
        <p:spPr>
          <a:xfrm>
            <a:off x="1188720" y="406831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Zero digital trail; volumes unknown; single-person dependency</a:t>
            </a:r>
          </a:p>
        </p:txBody>
      </p:sp>
      <p:sp>
        <p:nvSpPr>
          <p:cNvPr id="176" name="Rectangle 175">
            <a:extLst>
              <a:ext uri="{FF2B5EF4-FFF2-40B4-BE49-F238E27FC236}">
                <a16:creationId xmlns:a16="http://schemas.microsoft.com/office/drawing/2014/main" id="{A9C2A932-D04D-F8E8-9629-39E5ED8DDC7D}"/>
              </a:ext>
            </a:extLst>
          </p:cNvPr>
          <p:cNvSpPr/>
          <p:nvPr/>
        </p:nvSpPr>
        <p:spPr>
          <a:xfrm>
            <a:off x="3319272"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7" name="TextBox 176">
            <a:extLst>
              <a:ext uri="{FF2B5EF4-FFF2-40B4-BE49-F238E27FC236}">
                <a16:creationId xmlns:a16="http://schemas.microsoft.com/office/drawing/2014/main" id="{08256BD3-9C2C-8C4E-407B-5F06D8552102}"/>
              </a:ext>
            </a:extLst>
          </p:cNvPr>
          <p:cNvSpPr txBox="1"/>
          <p:nvPr/>
        </p:nvSpPr>
        <p:spPr>
          <a:xfrm>
            <a:off x="3410712" y="406831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written rule; no audit trail</a:t>
            </a:r>
          </a:p>
        </p:txBody>
      </p:sp>
      <p:sp>
        <p:nvSpPr>
          <p:cNvPr id="178" name="Rectangle 177">
            <a:extLst>
              <a:ext uri="{FF2B5EF4-FFF2-40B4-BE49-F238E27FC236}">
                <a16:creationId xmlns:a16="http://schemas.microsoft.com/office/drawing/2014/main" id="{F660C895-74EB-1832-7763-757B3B7283C0}"/>
              </a:ext>
            </a:extLst>
          </p:cNvPr>
          <p:cNvSpPr/>
          <p:nvPr/>
        </p:nvSpPr>
        <p:spPr>
          <a:xfrm>
            <a:off x="5541264"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9" name="TextBox 178">
            <a:extLst>
              <a:ext uri="{FF2B5EF4-FFF2-40B4-BE49-F238E27FC236}">
                <a16:creationId xmlns:a16="http://schemas.microsoft.com/office/drawing/2014/main" id="{6EF77F3B-4C78-4CDF-4090-DC8D7F60EA80}"/>
              </a:ext>
            </a:extLst>
          </p:cNvPr>
          <p:cNvSpPr txBox="1"/>
          <p:nvPr/>
        </p:nvSpPr>
        <p:spPr>
          <a:xfrm>
            <a:off x="5632704" y="4068318"/>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Helvetica Neue"/>
              </a:rPr>
              <a:t>Key-person risk — </a:t>
            </a:r>
            <a:r>
              <a:rPr lang="en-US" sz="900" noProof="0">
                <a:solidFill>
                  <a:srgbClr val="2C3E50"/>
                </a:solidFill>
                <a:latin typeface="Helvetica Neue"/>
              </a:rPr>
              <a:t>Tech </a:t>
            </a:r>
            <a:r>
              <a:rPr lang="en-US" sz="900" b="0" i="0" noProof="0">
                <a:solidFill>
                  <a:srgbClr val="2C3E50"/>
                </a:solidFill>
                <a:latin typeface="Helvetica Neue"/>
              </a:rPr>
              <a:t>lead = only router</a:t>
            </a:r>
          </a:p>
        </p:txBody>
      </p:sp>
      <p:sp>
        <p:nvSpPr>
          <p:cNvPr id="180" name="Rectangle 179">
            <a:extLst>
              <a:ext uri="{FF2B5EF4-FFF2-40B4-BE49-F238E27FC236}">
                <a16:creationId xmlns:a16="http://schemas.microsoft.com/office/drawing/2014/main" id="{0BC904F9-C0B3-6E7C-B3AE-C3A6CE866C69}"/>
              </a:ext>
            </a:extLst>
          </p:cNvPr>
          <p:cNvSpPr/>
          <p:nvPr/>
        </p:nvSpPr>
        <p:spPr>
          <a:xfrm>
            <a:off x="7763256"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1" name="TextBox 180">
            <a:extLst>
              <a:ext uri="{FF2B5EF4-FFF2-40B4-BE49-F238E27FC236}">
                <a16:creationId xmlns:a16="http://schemas.microsoft.com/office/drawing/2014/main" id="{2D69C391-AE8D-A111-424B-ED92B0616EC0}"/>
              </a:ext>
            </a:extLst>
          </p:cNvPr>
          <p:cNvSpPr txBox="1"/>
          <p:nvPr/>
        </p:nvSpPr>
        <p:spPr>
          <a:xfrm>
            <a:off x="7854696" y="4068318"/>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Third-Party Risk gates upgrades; interface is slow</a:t>
            </a:r>
          </a:p>
        </p:txBody>
      </p:sp>
      <p:sp>
        <p:nvSpPr>
          <p:cNvPr id="182" name="Rectangle 181">
            <a:extLst>
              <a:ext uri="{FF2B5EF4-FFF2-40B4-BE49-F238E27FC236}">
                <a16:creationId xmlns:a16="http://schemas.microsoft.com/office/drawing/2014/main" id="{3A3AE240-E6E1-9FB8-DF38-582171E545FE}"/>
              </a:ext>
            </a:extLst>
          </p:cNvPr>
          <p:cNvSpPr/>
          <p:nvPr/>
        </p:nvSpPr>
        <p:spPr>
          <a:xfrm>
            <a:off x="9985248" y="4022598"/>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3" name="TextBox 182">
            <a:extLst>
              <a:ext uri="{FF2B5EF4-FFF2-40B4-BE49-F238E27FC236}">
                <a16:creationId xmlns:a16="http://schemas.microsoft.com/office/drawing/2014/main" id="{DC99966B-0F4A-49B6-8A35-03144EC5B95F}"/>
              </a:ext>
            </a:extLst>
          </p:cNvPr>
          <p:cNvSpPr txBox="1"/>
          <p:nvPr/>
        </p:nvSpPr>
        <p:spPr>
          <a:xfrm>
            <a:off x="10076688" y="4068318"/>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Budget / time tension on every upgrade; no KPIs</a:t>
            </a:r>
          </a:p>
        </p:txBody>
      </p:sp>
      <p:sp>
        <p:nvSpPr>
          <p:cNvPr id="184" name="Rectangle 183">
            <a:extLst>
              <a:ext uri="{FF2B5EF4-FFF2-40B4-BE49-F238E27FC236}">
                <a16:creationId xmlns:a16="http://schemas.microsoft.com/office/drawing/2014/main" id="{D0F888B9-FD0F-61EB-8931-C27A2E1B4B4A}"/>
              </a:ext>
            </a:extLst>
          </p:cNvPr>
          <p:cNvSpPr/>
          <p:nvPr/>
        </p:nvSpPr>
        <p:spPr>
          <a:xfrm>
            <a:off x="457200" y="4626102"/>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5" name="Rectangle 184">
            <a:extLst>
              <a:ext uri="{FF2B5EF4-FFF2-40B4-BE49-F238E27FC236}">
                <a16:creationId xmlns:a16="http://schemas.microsoft.com/office/drawing/2014/main" id="{3B039B1E-D775-383A-96BD-52FA73FF6B35}"/>
              </a:ext>
            </a:extLst>
          </p:cNvPr>
          <p:cNvSpPr/>
          <p:nvPr/>
        </p:nvSpPr>
        <p:spPr>
          <a:xfrm>
            <a:off x="457200" y="4626102"/>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6" name="TextBox 185">
            <a:extLst>
              <a:ext uri="{FF2B5EF4-FFF2-40B4-BE49-F238E27FC236}">
                <a16:creationId xmlns:a16="http://schemas.microsoft.com/office/drawing/2014/main" id="{A64649AA-E6C0-7BB6-CCF6-732379BE0957}"/>
              </a:ext>
            </a:extLst>
          </p:cNvPr>
          <p:cNvSpPr txBox="1"/>
          <p:nvPr/>
        </p:nvSpPr>
        <p:spPr>
          <a:xfrm>
            <a:off x="640080" y="4671822"/>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187" name="TextBox 186">
            <a:extLst>
              <a:ext uri="{FF2B5EF4-FFF2-40B4-BE49-F238E27FC236}">
                <a16:creationId xmlns:a16="http://schemas.microsoft.com/office/drawing/2014/main" id="{8DA83436-68DA-6EC4-92AE-B3AF92E1E134}"/>
              </a:ext>
            </a:extLst>
          </p:cNvPr>
          <p:cNvSpPr txBox="1"/>
          <p:nvPr/>
        </p:nvSpPr>
        <p:spPr>
          <a:xfrm>
            <a:off x="6400800" y="4671822"/>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SUPPORTING QUOTE</a:t>
            </a:r>
          </a:p>
        </p:txBody>
      </p:sp>
      <p:sp>
        <p:nvSpPr>
          <p:cNvPr id="188" name="TextBox 187">
            <a:extLst>
              <a:ext uri="{FF2B5EF4-FFF2-40B4-BE49-F238E27FC236}">
                <a16:creationId xmlns:a16="http://schemas.microsoft.com/office/drawing/2014/main" id="{DE749BD9-E296-1ECC-D56B-3AF4DD513954}"/>
              </a:ext>
            </a:extLst>
          </p:cNvPr>
          <p:cNvSpPr txBox="1"/>
          <p:nvPr/>
        </p:nvSpPr>
        <p:spPr>
          <a:xfrm>
            <a:off x="6400800" y="4918710"/>
            <a:ext cx="5166360" cy="140488"/>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Helvetica Neue"/>
              </a:rPr>
              <a:t>"I receive requests/input from the business or from the vendor" — G&amp;E </a:t>
            </a:r>
            <a:r>
              <a:rPr lang="en-US" sz="900" i="1" noProof="0">
                <a:solidFill>
                  <a:srgbClr val="2C3E50"/>
                </a:solidFill>
                <a:latin typeface="Helvetica Neue"/>
              </a:rPr>
              <a:t>lead </a:t>
            </a:r>
            <a:r>
              <a:rPr lang="en-US" sz="900" b="0" i="1" noProof="0">
                <a:solidFill>
                  <a:srgbClr val="2C3E50"/>
                </a:solidFill>
                <a:latin typeface="Helvetica Neue"/>
              </a:rPr>
              <a:t>(Tech Lead, 70-90 apps) </a:t>
            </a:r>
          </a:p>
        </p:txBody>
      </p:sp>
      <p:sp>
        <p:nvSpPr>
          <p:cNvPr id="189" name="TextBox 188">
            <a:extLst>
              <a:ext uri="{FF2B5EF4-FFF2-40B4-BE49-F238E27FC236}">
                <a16:creationId xmlns:a16="http://schemas.microsoft.com/office/drawing/2014/main" id="{9AB79842-4F33-2515-35C5-8D62EC07BB79}"/>
              </a:ext>
            </a:extLst>
          </p:cNvPr>
          <p:cNvSpPr txBox="1"/>
          <p:nvPr/>
        </p:nvSpPr>
        <p:spPr>
          <a:xfrm>
            <a:off x="640080" y="49187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Vendor-led model creates structural dependency: Avangrid cannot estimate or schedule its own work — budget/timeline are exogenous</a:t>
            </a:r>
          </a:p>
          <a:p>
            <a:pPr algn="l">
              <a:lnSpc>
                <a:spcPct val="110000"/>
              </a:lnSpc>
              <a:spcBef>
                <a:spcPts val="0"/>
              </a:spcBef>
              <a:spcAft>
                <a:spcPts val="0"/>
              </a:spcAft>
            </a:pPr>
            <a:r>
              <a:rPr lang="en-US" sz="900" b="0" i="0" noProof="0">
                <a:solidFill>
                  <a:srgbClr val="2C3E50"/>
                </a:solidFill>
                <a:latin typeface="Helvetica Neue"/>
              </a:rPr>
              <a:t>▸  Third-party risk assessments add hidden lead time — upgrades routinely stall at this interface, invisible in any tracking system</a:t>
            </a:r>
          </a:p>
          <a:p>
            <a:pPr algn="l">
              <a:lnSpc>
                <a:spcPct val="110000"/>
              </a:lnSpc>
              <a:spcBef>
                <a:spcPts val="0"/>
              </a:spcBef>
              <a:spcAft>
                <a:spcPts val="0"/>
              </a:spcAft>
            </a:pPr>
            <a:r>
              <a:rPr lang="en-US" sz="900" b="0" i="0" noProof="0">
                <a:solidFill>
                  <a:srgbClr val="2C3E50"/>
                </a:solidFill>
                <a:latin typeface="Helvetica Neue"/>
              </a:rPr>
              <a:t>▸  Single-person routing (G&amp;E Champion) is a key-person risk — zero redundancy, zero documentation, zero auditability</a:t>
            </a:r>
          </a:p>
        </p:txBody>
      </p:sp>
      <p:sp>
        <p:nvSpPr>
          <p:cNvPr id="190" name="Rectangle 189">
            <a:extLst>
              <a:ext uri="{FF2B5EF4-FFF2-40B4-BE49-F238E27FC236}">
                <a16:creationId xmlns:a16="http://schemas.microsoft.com/office/drawing/2014/main" id="{9EC23360-8F2D-A423-FA4E-A3F9970791FA}"/>
              </a:ext>
            </a:extLst>
          </p:cNvPr>
          <p:cNvSpPr/>
          <p:nvPr/>
        </p:nvSpPr>
        <p:spPr>
          <a:xfrm>
            <a:off x="457200" y="597027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1" name="TextBox 190">
            <a:extLst>
              <a:ext uri="{FF2B5EF4-FFF2-40B4-BE49-F238E27FC236}">
                <a16:creationId xmlns:a16="http://schemas.microsoft.com/office/drawing/2014/main" id="{CA98F99C-55FE-D679-71E4-833C780BA14E}"/>
              </a:ext>
            </a:extLst>
          </p:cNvPr>
          <p:cNvSpPr txBox="1"/>
          <p:nvPr/>
        </p:nvSpPr>
        <p:spPr>
          <a:xfrm>
            <a:off x="685800" y="6015990"/>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G&amp;E is the canary of intake fragmentation — zero digital trail, every decision is individual and unreproducible; must be the first area addressed in the TOM</a:t>
            </a:r>
          </a:p>
        </p:txBody>
      </p:sp>
    </p:spTree>
    <p:extLst>
      <p:ext uri="{BB962C8B-B14F-4D97-AF65-F5344CB8AC3E}">
        <p14:creationId xmlns:p14="http://schemas.microsoft.com/office/powerpoint/2010/main" val="3763980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7A6-81CF-ED45-71ED-164984AC4031}"/>
            </a:ext>
          </a:extLst>
        </p:cNvPr>
        <p:cNvGrpSpPr/>
        <p:nvPr/>
      </p:nvGrpSpPr>
      <p:grpSpPr>
        <a:xfrm>
          <a:off x="0" y="0"/>
          <a:ext cx="0" cy="0"/>
          <a:chOff x="0" y="0"/>
          <a:chExt cx="0" cy="0"/>
        </a:xfrm>
      </p:grpSpPr>
      <p:sp>
        <p:nvSpPr>
          <p:cNvPr id="238" name="TextBox 2">
            <a:extLst>
              <a:ext uri="{FF2B5EF4-FFF2-40B4-BE49-F238E27FC236}">
                <a16:creationId xmlns:a16="http://schemas.microsoft.com/office/drawing/2014/main" id="{1EF05140-21A2-BBA3-7DBF-749DC78932B5}"/>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Global SAP — Iberdrola has the most mature channel taxonomy — but is trapped by incident overload</a:t>
            </a:r>
          </a:p>
          <a:p>
            <a:endParaRPr lang="en-US"/>
          </a:p>
          <a:p>
            <a:endParaRPr lang="en-US"/>
          </a:p>
        </p:txBody>
      </p:sp>
      <p:sp>
        <p:nvSpPr>
          <p:cNvPr id="5" name="Título 2">
            <a:extLst>
              <a:ext uri="{FF2B5EF4-FFF2-40B4-BE49-F238E27FC236}">
                <a16:creationId xmlns:a16="http://schemas.microsoft.com/office/drawing/2014/main" id="{3415CF05-32EB-BDE7-62A2-ED6A2A103C1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15" name="TextBox 14">
            <a:extLst>
              <a:ext uri="{FF2B5EF4-FFF2-40B4-BE49-F238E27FC236}">
                <a16:creationId xmlns:a16="http://schemas.microsoft.com/office/drawing/2014/main" id="{BDDAE797-4835-8759-2D3A-D82215C79330}"/>
              </a:ext>
            </a:extLst>
          </p:cNvPr>
          <p:cNvSpPr txBox="1"/>
          <p:nvPr/>
        </p:nvSpPr>
        <p:spPr>
          <a:xfrm>
            <a:off x="457199" y="1170432"/>
            <a:ext cx="11463123"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accent1"/>
                </a:solidFill>
                <a:latin typeface="Helvetica Neue"/>
              </a:rPr>
              <a:t>Global SAP — Iberdrola environment (Spain) — team led by Vanessa Colombo (Manager IT Apps Global SAP) covering FI, PO, Budget control  ·  Champion: Michael Dubois (35 yrs in business, now IT)</a:t>
            </a:r>
          </a:p>
        </p:txBody>
      </p:sp>
      <p:sp>
        <p:nvSpPr>
          <p:cNvPr id="16" name="Rectangle 15">
            <a:extLst>
              <a:ext uri="{FF2B5EF4-FFF2-40B4-BE49-F238E27FC236}">
                <a16:creationId xmlns:a16="http://schemas.microsoft.com/office/drawing/2014/main" id="{49C08E27-0A09-CEE8-D2F8-B20A1A31A1E0}"/>
              </a:ext>
            </a:extLst>
          </p:cNvPr>
          <p:cNvSpPr/>
          <p:nvPr/>
        </p:nvSpPr>
        <p:spPr>
          <a:xfrm>
            <a:off x="457200" y="1407211"/>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9F94A319-08BF-1782-128C-E71C5E16CFAC}"/>
              </a:ext>
            </a:extLst>
          </p:cNvPr>
          <p:cNvSpPr/>
          <p:nvPr/>
        </p:nvSpPr>
        <p:spPr>
          <a:xfrm>
            <a:off x="457200" y="1407211"/>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TextBox 17">
            <a:extLst>
              <a:ext uri="{FF2B5EF4-FFF2-40B4-BE49-F238E27FC236}">
                <a16:creationId xmlns:a16="http://schemas.microsoft.com/office/drawing/2014/main" id="{BA8F5F18-3315-CB62-CEAD-3B88786D8B49}"/>
              </a:ext>
            </a:extLst>
          </p:cNvPr>
          <p:cNvSpPr txBox="1"/>
          <p:nvPr/>
        </p:nvSpPr>
        <p:spPr>
          <a:xfrm>
            <a:off x="457200" y="1407211"/>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19" name="TextBox 18">
            <a:extLst>
              <a:ext uri="{FF2B5EF4-FFF2-40B4-BE49-F238E27FC236}">
                <a16:creationId xmlns:a16="http://schemas.microsoft.com/office/drawing/2014/main" id="{7A69397F-9DE4-E3B3-8043-F5B6ECD162D5}"/>
              </a:ext>
            </a:extLst>
          </p:cNvPr>
          <p:cNvSpPr txBox="1"/>
          <p:nvPr/>
        </p:nvSpPr>
        <p:spPr>
          <a:xfrm>
            <a:off x="2377440" y="1407211"/>
            <a:ext cx="9281160" cy="274320"/>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Iberdrola Corporate Finance · Controlling &amp; Budget · Procurement / PO · Accounts Payable · Treasury · Accenture (support partner) · Avangrid Finance (US consolidation)</a:t>
            </a:r>
          </a:p>
        </p:txBody>
      </p:sp>
      <p:sp>
        <p:nvSpPr>
          <p:cNvPr id="20" name="Rectangle 19">
            <a:extLst>
              <a:ext uri="{FF2B5EF4-FFF2-40B4-BE49-F238E27FC236}">
                <a16:creationId xmlns:a16="http://schemas.microsoft.com/office/drawing/2014/main" id="{3D69B7B7-F7FE-1F58-3C97-8603ED2CB2BF}"/>
              </a:ext>
            </a:extLst>
          </p:cNvPr>
          <p:cNvSpPr/>
          <p:nvPr/>
        </p:nvSpPr>
        <p:spPr>
          <a:xfrm>
            <a:off x="1097280"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0">
            <a:extLst>
              <a:ext uri="{FF2B5EF4-FFF2-40B4-BE49-F238E27FC236}">
                <a16:creationId xmlns:a16="http://schemas.microsoft.com/office/drawing/2014/main" id="{DE763A18-C744-3CB7-F24B-8E3AC1BF1F6F}"/>
              </a:ext>
            </a:extLst>
          </p:cNvPr>
          <p:cNvSpPr txBox="1"/>
          <p:nvPr/>
        </p:nvSpPr>
        <p:spPr>
          <a:xfrm>
            <a:off x="1097280" y="18008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22" name="Rounded Rectangle 10">
            <a:extLst>
              <a:ext uri="{FF2B5EF4-FFF2-40B4-BE49-F238E27FC236}">
                <a16:creationId xmlns:a16="http://schemas.microsoft.com/office/drawing/2014/main" id="{F9D3460B-669B-2681-466C-925C12FC1596}"/>
              </a:ext>
            </a:extLst>
          </p:cNvPr>
          <p:cNvSpPr/>
          <p:nvPr/>
        </p:nvSpPr>
        <p:spPr>
          <a:xfrm>
            <a:off x="1632204" y="2203223"/>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TextBox 22">
            <a:extLst>
              <a:ext uri="{FF2B5EF4-FFF2-40B4-BE49-F238E27FC236}">
                <a16:creationId xmlns:a16="http://schemas.microsoft.com/office/drawing/2014/main" id="{CBEFCBD4-6127-0474-B88F-A734E37CCF19}"/>
              </a:ext>
            </a:extLst>
          </p:cNvPr>
          <p:cNvSpPr txBox="1"/>
          <p:nvPr/>
        </p:nvSpPr>
        <p:spPr>
          <a:xfrm>
            <a:off x="1632204" y="2203223"/>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24" name="Rectangle 23">
            <a:extLst>
              <a:ext uri="{FF2B5EF4-FFF2-40B4-BE49-F238E27FC236}">
                <a16:creationId xmlns:a16="http://schemas.microsoft.com/office/drawing/2014/main" id="{8E2D517C-A7A7-F8E0-343A-B7C006594EE7}"/>
              </a:ext>
            </a:extLst>
          </p:cNvPr>
          <p:cNvSpPr/>
          <p:nvPr/>
        </p:nvSpPr>
        <p:spPr>
          <a:xfrm>
            <a:off x="3319272"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a:extLst>
              <a:ext uri="{FF2B5EF4-FFF2-40B4-BE49-F238E27FC236}">
                <a16:creationId xmlns:a16="http://schemas.microsoft.com/office/drawing/2014/main" id="{F7E29658-2AAF-176B-1863-8C4246DFA21F}"/>
              </a:ext>
            </a:extLst>
          </p:cNvPr>
          <p:cNvSpPr txBox="1"/>
          <p:nvPr/>
        </p:nvSpPr>
        <p:spPr>
          <a:xfrm>
            <a:off x="3319272" y="18008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26" name="Rounded Rectangle 14">
            <a:extLst>
              <a:ext uri="{FF2B5EF4-FFF2-40B4-BE49-F238E27FC236}">
                <a16:creationId xmlns:a16="http://schemas.microsoft.com/office/drawing/2014/main" id="{5CBA275F-08B7-9206-C0E8-4FFE3ED1C33C}"/>
              </a:ext>
            </a:extLst>
          </p:cNvPr>
          <p:cNvSpPr/>
          <p:nvPr/>
        </p:nvSpPr>
        <p:spPr>
          <a:xfrm>
            <a:off x="3854196" y="2203223"/>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26">
            <a:extLst>
              <a:ext uri="{FF2B5EF4-FFF2-40B4-BE49-F238E27FC236}">
                <a16:creationId xmlns:a16="http://schemas.microsoft.com/office/drawing/2014/main" id="{5C1AF071-C99F-C38D-F091-25956178684F}"/>
              </a:ext>
            </a:extLst>
          </p:cNvPr>
          <p:cNvSpPr txBox="1"/>
          <p:nvPr/>
        </p:nvSpPr>
        <p:spPr>
          <a:xfrm>
            <a:off x="3854196" y="2203223"/>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28" name="Rectangle 27">
            <a:extLst>
              <a:ext uri="{FF2B5EF4-FFF2-40B4-BE49-F238E27FC236}">
                <a16:creationId xmlns:a16="http://schemas.microsoft.com/office/drawing/2014/main" id="{1275E712-F0BC-E616-E8E3-1BFE5FD82DC2}"/>
              </a:ext>
            </a:extLst>
          </p:cNvPr>
          <p:cNvSpPr/>
          <p:nvPr/>
        </p:nvSpPr>
        <p:spPr>
          <a:xfrm>
            <a:off x="5541264"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TextBox 28">
            <a:extLst>
              <a:ext uri="{FF2B5EF4-FFF2-40B4-BE49-F238E27FC236}">
                <a16:creationId xmlns:a16="http://schemas.microsoft.com/office/drawing/2014/main" id="{3F0420E3-5DB2-B38F-1AA6-331A7D703CBE}"/>
              </a:ext>
            </a:extLst>
          </p:cNvPr>
          <p:cNvSpPr txBox="1"/>
          <p:nvPr/>
        </p:nvSpPr>
        <p:spPr>
          <a:xfrm>
            <a:off x="5541264" y="18008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30" name="Rounded Rectangle 18">
            <a:extLst>
              <a:ext uri="{FF2B5EF4-FFF2-40B4-BE49-F238E27FC236}">
                <a16:creationId xmlns:a16="http://schemas.microsoft.com/office/drawing/2014/main" id="{99628A23-5455-ADE3-BDED-DE4A1C21B95C}"/>
              </a:ext>
            </a:extLst>
          </p:cNvPr>
          <p:cNvSpPr/>
          <p:nvPr/>
        </p:nvSpPr>
        <p:spPr>
          <a:xfrm>
            <a:off x="6076188" y="2203223"/>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TextBox 30">
            <a:extLst>
              <a:ext uri="{FF2B5EF4-FFF2-40B4-BE49-F238E27FC236}">
                <a16:creationId xmlns:a16="http://schemas.microsoft.com/office/drawing/2014/main" id="{ED18AE63-19CD-8E54-AC9D-0C6018634F41}"/>
              </a:ext>
            </a:extLst>
          </p:cNvPr>
          <p:cNvSpPr txBox="1"/>
          <p:nvPr/>
        </p:nvSpPr>
        <p:spPr>
          <a:xfrm>
            <a:off x="6076188" y="2203223"/>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32" name="Rectangle 31">
            <a:extLst>
              <a:ext uri="{FF2B5EF4-FFF2-40B4-BE49-F238E27FC236}">
                <a16:creationId xmlns:a16="http://schemas.microsoft.com/office/drawing/2014/main" id="{B3D6ABE7-3244-334E-B6B9-57837EBD6404}"/>
              </a:ext>
            </a:extLst>
          </p:cNvPr>
          <p:cNvSpPr/>
          <p:nvPr/>
        </p:nvSpPr>
        <p:spPr>
          <a:xfrm>
            <a:off x="7763256" y="18008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TextBox 32">
            <a:extLst>
              <a:ext uri="{FF2B5EF4-FFF2-40B4-BE49-F238E27FC236}">
                <a16:creationId xmlns:a16="http://schemas.microsoft.com/office/drawing/2014/main" id="{FA540CDC-1BB4-F1DC-9ADF-82DF47070B91}"/>
              </a:ext>
            </a:extLst>
          </p:cNvPr>
          <p:cNvSpPr txBox="1"/>
          <p:nvPr/>
        </p:nvSpPr>
        <p:spPr>
          <a:xfrm>
            <a:off x="7763256" y="18008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34" name="Rounded Rectangle 22">
            <a:extLst>
              <a:ext uri="{FF2B5EF4-FFF2-40B4-BE49-F238E27FC236}">
                <a16:creationId xmlns:a16="http://schemas.microsoft.com/office/drawing/2014/main" id="{B9DCA4E3-40BE-9E2A-5789-6C7D6F53E521}"/>
              </a:ext>
            </a:extLst>
          </p:cNvPr>
          <p:cNvSpPr/>
          <p:nvPr/>
        </p:nvSpPr>
        <p:spPr>
          <a:xfrm>
            <a:off x="8298180" y="2203223"/>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endParaRPr>
          </a:p>
        </p:txBody>
      </p:sp>
      <p:sp>
        <p:nvSpPr>
          <p:cNvPr id="35" name="TextBox 34">
            <a:extLst>
              <a:ext uri="{FF2B5EF4-FFF2-40B4-BE49-F238E27FC236}">
                <a16:creationId xmlns:a16="http://schemas.microsoft.com/office/drawing/2014/main" id="{279D06DC-5107-C7FA-4805-EAFE803A3586}"/>
              </a:ext>
            </a:extLst>
          </p:cNvPr>
          <p:cNvSpPr txBox="1"/>
          <p:nvPr/>
        </p:nvSpPr>
        <p:spPr>
          <a:xfrm>
            <a:off x="8298180" y="2224419"/>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36" name="Rectangle 35">
            <a:extLst>
              <a:ext uri="{FF2B5EF4-FFF2-40B4-BE49-F238E27FC236}">
                <a16:creationId xmlns:a16="http://schemas.microsoft.com/office/drawing/2014/main" id="{48E4F48C-3BA1-830A-5B10-5807D832FD4E}"/>
              </a:ext>
            </a:extLst>
          </p:cNvPr>
          <p:cNvSpPr/>
          <p:nvPr/>
        </p:nvSpPr>
        <p:spPr>
          <a:xfrm>
            <a:off x="9985248" y="1800887"/>
            <a:ext cx="1746504"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TextBox 36">
            <a:extLst>
              <a:ext uri="{FF2B5EF4-FFF2-40B4-BE49-F238E27FC236}">
                <a16:creationId xmlns:a16="http://schemas.microsoft.com/office/drawing/2014/main" id="{6484EA92-A308-A41A-79AB-F894E8EE153F}"/>
              </a:ext>
            </a:extLst>
          </p:cNvPr>
          <p:cNvSpPr txBox="1"/>
          <p:nvPr/>
        </p:nvSpPr>
        <p:spPr>
          <a:xfrm>
            <a:off x="9985248" y="1897133"/>
            <a:ext cx="1746504" cy="154979"/>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38" name="Rounded Rectangle 26">
            <a:extLst>
              <a:ext uri="{FF2B5EF4-FFF2-40B4-BE49-F238E27FC236}">
                <a16:creationId xmlns:a16="http://schemas.microsoft.com/office/drawing/2014/main" id="{9AB588E3-F1EB-85F5-FCB9-287DF635E5D8}"/>
              </a:ext>
            </a:extLst>
          </p:cNvPr>
          <p:cNvSpPr/>
          <p:nvPr/>
        </p:nvSpPr>
        <p:spPr>
          <a:xfrm>
            <a:off x="10356301" y="2203223"/>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endParaRPr>
          </a:p>
        </p:txBody>
      </p:sp>
      <p:sp>
        <p:nvSpPr>
          <p:cNvPr id="39" name="TextBox 38">
            <a:extLst>
              <a:ext uri="{FF2B5EF4-FFF2-40B4-BE49-F238E27FC236}">
                <a16:creationId xmlns:a16="http://schemas.microsoft.com/office/drawing/2014/main" id="{71B6B252-07D0-3F87-E005-C1FDCECC55F2}"/>
              </a:ext>
            </a:extLst>
          </p:cNvPr>
          <p:cNvSpPr txBox="1"/>
          <p:nvPr/>
        </p:nvSpPr>
        <p:spPr>
          <a:xfrm>
            <a:off x="10356301" y="2224419"/>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40" name="Rectangle 39">
            <a:extLst>
              <a:ext uri="{FF2B5EF4-FFF2-40B4-BE49-F238E27FC236}">
                <a16:creationId xmlns:a16="http://schemas.microsoft.com/office/drawing/2014/main" id="{31B5D4C0-36FA-560A-BF2A-21696E4CD4CE}"/>
              </a:ext>
            </a:extLst>
          </p:cNvPr>
          <p:cNvSpPr/>
          <p:nvPr/>
        </p:nvSpPr>
        <p:spPr>
          <a:xfrm>
            <a:off x="457200" y="2440967"/>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TextBox 40">
            <a:extLst>
              <a:ext uri="{FF2B5EF4-FFF2-40B4-BE49-F238E27FC236}">
                <a16:creationId xmlns:a16="http://schemas.microsoft.com/office/drawing/2014/main" id="{36718142-5EDC-8FAD-09CE-CD0613D4BE20}"/>
              </a:ext>
            </a:extLst>
          </p:cNvPr>
          <p:cNvSpPr txBox="1"/>
          <p:nvPr/>
        </p:nvSpPr>
        <p:spPr>
          <a:xfrm>
            <a:off x="457200" y="2440967"/>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42" name="Rectangle 41">
            <a:extLst>
              <a:ext uri="{FF2B5EF4-FFF2-40B4-BE49-F238E27FC236}">
                <a16:creationId xmlns:a16="http://schemas.microsoft.com/office/drawing/2014/main" id="{86F0FE47-51A2-2C1F-ADB2-3877F9F5DBC3}"/>
              </a:ext>
            </a:extLst>
          </p:cNvPr>
          <p:cNvSpPr/>
          <p:nvPr/>
        </p:nvSpPr>
        <p:spPr>
          <a:xfrm>
            <a:off x="1097280"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a:extLst>
              <a:ext uri="{FF2B5EF4-FFF2-40B4-BE49-F238E27FC236}">
                <a16:creationId xmlns:a16="http://schemas.microsoft.com/office/drawing/2014/main" id="{E8DA5030-564B-58FE-30BA-505E340F1456}"/>
              </a:ext>
            </a:extLst>
          </p:cNvPr>
          <p:cNvSpPr txBox="1"/>
          <p:nvPr/>
        </p:nvSpPr>
        <p:spPr>
          <a:xfrm>
            <a:off x="1188720" y="24866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(Incidents) · RITM (Minor) · Jira (Small Demands) · SharePoint + Teams (Projects)</a:t>
            </a:r>
          </a:p>
        </p:txBody>
      </p:sp>
      <p:sp>
        <p:nvSpPr>
          <p:cNvPr id="44" name="Rectangle 43">
            <a:extLst>
              <a:ext uri="{FF2B5EF4-FFF2-40B4-BE49-F238E27FC236}">
                <a16:creationId xmlns:a16="http://schemas.microsoft.com/office/drawing/2014/main" id="{FC305FDF-B19F-DAAB-69FD-9D7B8B0D136C}"/>
              </a:ext>
            </a:extLst>
          </p:cNvPr>
          <p:cNvSpPr/>
          <p:nvPr/>
        </p:nvSpPr>
        <p:spPr>
          <a:xfrm>
            <a:off x="3319272"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TextBox 44">
            <a:extLst>
              <a:ext uri="{FF2B5EF4-FFF2-40B4-BE49-F238E27FC236}">
                <a16:creationId xmlns:a16="http://schemas.microsoft.com/office/drawing/2014/main" id="{C72A773F-3CD7-D644-A1F3-CC277E854F62}"/>
              </a:ext>
            </a:extLst>
          </p:cNvPr>
          <p:cNvSpPr txBox="1"/>
          <p:nvPr/>
        </p:nvSpPr>
        <p:spPr>
          <a:xfrm>
            <a:off x="3410712" y="24866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err="1">
                <a:solidFill>
                  <a:srgbClr val="2C3E50"/>
                </a:solidFill>
                <a:latin typeface="Helvetica Neue"/>
              </a:rPr>
              <a:t>Incidents→IT</a:t>
            </a:r>
            <a:r>
              <a:rPr lang="en-US" sz="900" b="0" i="0" noProof="0">
                <a:solidFill>
                  <a:srgbClr val="2C3E50"/>
                </a:solidFill>
                <a:latin typeface="Helvetica Neue"/>
              </a:rPr>
              <a:t> NOW · </a:t>
            </a:r>
            <a:r>
              <a:rPr lang="en-US" sz="900" b="0" i="0" noProof="0" err="1">
                <a:solidFill>
                  <a:srgbClr val="2C3E50"/>
                </a:solidFill>
                <a:latin typeface="Helvetica Neue"/>
              </a:rPr>
              <a:t>Small→JIRA</a:t>
            </a:r>
            <a:r>
              <a:rPr lang="en-US" sz="900" b="0" i="0" noProof="0">
                <a:solidFill>
                  <a:srgbClr val="2C3E50"/>
                </a:solidFill>
                <a:latin typeface="Helvetica Neue"/>
              </a:rPr>
              <a:t> · </a:t>
            </a:r>
            <a:r>
              <a:rPr lang="en-US" sz="900" b="0" i="0" noProof="0" err="1">
                <a:solidFill>
                  <a:srgbClr val="2C3E50"/>
                </a:solidFill>
                <a:latin typeface="Helvetica Neue"/>
              </a:rPr>
              <a:t>Minor→RITM</a:t>
            </a:r>
            <a:r>
              <a:rPr lang="en-US" sz="900" b="0" i="0" noProof="0">
                <a:solidFill>
                  <a:srgbClr val="2C3E50"/>
                </a:solidFill>
                <a:latin typeface="Helvetica Neue"/>
              </a:rPr>
              <a:t> · </a:t>
            </a:r>
            <a:r>
              <a:rPr lang="en-US" sz="900" b="0" i="0" noProof="0" err="1">
                <a:solidFill>
                  <a:srgbClr val="2C3E50"/>
                </a:solidFill>
                <a:latin typeface="Helvetica Neue"/>
              </a:rPr>
              <a:t>Major→SharePoint</a:t>
            </a:r>
            <a:endParaRPr lang="en-US" sz="900" b="0" i="0" noProof="0">
              <a:solidFill>
                <a:srgbClr val="2C3E50"/>
              </a:solidFill>
              <a:latin typeface="Helvetica Neue"/>
            </a:endParaRPr>
          </a:p>
        </p:txBody>
      </p:sp>
      <p:sp>
        <p:nvSpPr>
          <p:cNvPr id="46" name="Rectangle 45">
            <a:extLst>
              <a:ext uri="{FF2B5EF4-FFF2-40B4-BE49-F238E27FC236}">
                <a16:creationId xmlns:a16="http://schemas.microsoft.com/office/drawing/2014/main" id="{DC2AB727-A3F8-3647-4AC6-59C13EC04C9E}"/>
              </a:ext>
            </a:extLst>
          </p:cNvPr>
          <p:cNvSpPr/>
          <p:nvPr/>
        </p:nvSpPr>
        <p:spPr>
          <a:xfrm>
            <a:off x="5541264"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7" name="TextBox 46">
            <a:extLst>
              <a:ext uri="{FF2B5EF4-FFF2-40B4-BE49-F238E27FC236}">
                <a16:creationId xmlns:a16="http://schemas.microsoft.com/office/drawing/2014/main" id="{DFC5A220-CA69-1E16-19D0-980ADFA4B6D5}"/>
              </a:ext>
            </a:extLst>
          </p:cNvPr>
          <p:cNvSpPr txBox="1"/>
          <p:nvPr/>
        </p:nvSpPr>
        <p:spPr>
          <a:xfrm>
            <a:off x="5632704" y="24866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#1 Incidents always first; #2 Small + Major; P&amp;T prioritizes projects</a:t>
            </a:r>
          </a:p>
        </p:txBody>
      </p:sp>
      <p:sp>
        <p:nvSpPr>
          <p:cNvPr id="48" name="Rectangle 47">
            <a:extLst>
              <a:ext uri="{FF2B5EF4-FFF2-40B4-BE49-F238E27FC236}">
                <a16:creationId xmlns:a16="http://schemas.microsoft.com/office/drawing/2014/main" id="{88A8976B-C90F-42AE-04AE-734193179383}"/>
              </a:ext>
            </a:extLst>
          </p:cNvPr>
          <p:cNvSpPr/>
          <p:nvPr/>
        </p:nvSpPr>
        <p:spPr>
          <a:xfrm>
            <a:off x="7763256"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48">
            <a:extLst>
              <a:ext uri="{FF2B5EF4-FFF2-40B4-BE49-F238E27FC236}">
                <a16:creationId xmlns:a16="http://schemas.microsoft.com/office/drawing/2014/main" id="{228E7014-97DA-C0FF-4EFA-ECD0AC6164D8}"/>
              </a:ext>
            </a:extLst>
          </p:cNvPr>
          <p:cNvSpPr txBox="1"/>
          <p:nvPr/>
        </p:nvSpPr>
        <p:spPr>
          <a:xfrm>
            <a:off x="7854696" y="24866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PDD for major projects; SharePoint is project home</a:t>
            </a:r>
          </a:p>
        </p:txBody>
      </p:sp>
      <p:sp>
        <p:nvSpPr>
          <p:cNvPr id="165" name="Rectangle 164">
            <a:extLst>
              <a:ext uri="{FF2B5EF4-FFF2-40B4-BE49-F238E27FC236}">
                <a16:creationId xmlns:a16="http://schemas.microsoft.com/office/drawing/2014/main" id="{4FE75387-1EEF-8AF8-7FAF-CCFB336B2A8C}"/>
              </a:ext>
            </a:extLst>
          </p:cNvPr>
          <p:cNvSpPr/>
          <p:nvPr/>
        </p:nvSpPr>
        <p:spPr>
          <a:xfrm>
            <a:off x="9985248" y="244096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9EE8AC43-22A0-5A6E-22F7-0AED1C43188A}"/>
              </a:ext>
            </a:extLst>
          </p:cNvPr>
          <p:cNvSpPr txBox="1"/>
          <p:nvPr/>
        </p:nvSpPr>
        <p:spPr>
          <a:xfrm>
            <a:off x="10076688" y="2486687"/>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Accenture + SWF (Software Factory) run delivery</a:t>
            </a:r>
          </a:p>
        </p:txBody>
      </p:sp>
      <p:sp>
        <p:nvSpPr>
          <p:cNvPr id="193" name="Rectangle 192">
            <a:extLst>
              <a:ext uri="{FF2B5EF4-FFF2-40B4-BE49-F238E27FC236}">
                <a16:creationId xmlns:a16="http://schemas.microsoft.com/office/drawing/2014/main" id="{D5034AFF-59FD-C39C-B45D-001ABE543751}"/>
              </a:ext>
            </a:extLst>
          </p:cNvPr>
          <p:cNvSpPr/>
          <p:nvPr/>
        </p:nvSpPr>
        <p:spPr>
          <a:xfrm>
            <a:off x="457200" y="2971319"/>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1959F40A-527C-F7A4-FC6B-1A360ADB46AF}"/>
              </a:ext>
            </a:extLst>
          </p:cNvPr>
          <p:cNvSpPr txBox="1"/>
          <p:nvPr/>
        </p:nvSpPr>
        <p:spPr>
          <a:xfrm>
            <a:off x="457200" y="2971319"/>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95" name="Rectangle 194">
            <a:extLst>
              <a:ext uri="{FF2B5EF4-FFF2-40B4-BE49-F238E27FC236}">
                <a16:creationId xmlns:a16="http://schemas.microsoft.com/office/drawing/2014/main" id="{067C3345-5561-BADC-075E-52CF7D1E06D6}"/>
              </a:ext>
            </a:extLst>
          </p:cNvPr>
          <p:cNvSpPr/>
          <p:nvPr/>
        </p:nvSpPr>
        <p:spPr>
          <a:xfrm>
            <a:off x="1097280"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6" name="TextBox 195">
            <a:extLst>
              <a:ext uri="{FF2B5EF4-FFF2-40B4-BE49-F238E27FC236}">
                <a16:creationId xmlns:a16="http://schemas.microsoft.com/office/drawing/2014/main" id="{047217D1-20AD-52C8-26DA-FBCA47DDD843}"/>
              </a:ext>
            </a:extLst>
          </p:cNvPr>
          <p:cNvSpPr txBox="1"/>
          <p:nvPr/>
        </p:nvSpPr>
        <p:spPr>
          <a:xfrm>
            <a:off x="1188720" y="30170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 Accenture open tickets; Vanessa's 5-FTE team receives</a:t>
            </a:r>
          </a:p>
        </p:txBody>
      </p:sp>
      <p:sp>
        <p:nvSpPr>
          <p:cNvPr id="197" name="Rectangle 196">
            <a:extLst>
              <a:ext uri="{FF2B5EF4-FFF2-40B4-BE49-F238E27FC236}">
                <a16:creationId xmlns:a16="http://schemas.microsoft.com/office/drawing/2014/main" id="{8E6CEAF3-1561-1039-9CFE-5CE37D9B5A78}"/>
              </a:ext>
            </a:extLst>
          </p:cNvPr>
          <p:cNvSpPr/>
          <p:nvPr/>
        </p:nvSpPr>
        <p:spPr>
          <a:xfrm>
            <a:off x="3319272"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66A05DE9-FF1A-D8FB-BE7A-62F7F6BBE3CF}"/>
              </a:ext>
            </a:extLst>
          </p:cNvPr>
          <p:cNvSpPr txBox="1"/>
          <p:nvPr/>
        </p:nvSpPr>
        <p:spPr>
          <a:xfrm>
            <a:off x="3410712" y="30170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Classification is tool-driven — channel = class</a:t>
            </a:r>
          </a:p>
        </p:txBody>
      </p:sp>
      <p:sp>
        <p:nvSpPr>
          <p:cNvPr id="199" name="Rectangle 198">
            <a:extLst>
              <a:ext uri="{FF2B5EF4-FFF2-40B4-BE49-F238E27FC236}">
                <a16:creationId xmlns:a16="http://schemas.microsoft.com/office/drawing/2014/main" id="{DACFE4CE-8414-613B-324A-9323F84CAF10}"/>
              </a:ext>
            </a:extLst>
          </p:cNvPr>
          <p:cNvSpPr/>
          <p:nvPr/>
        </p:nvSpPr>
        <p:spPr>
          <a:xfrm>
            <a:off x="5541264"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C7DD9DB3-7456-189A-25AD-3D2FF539E0AE}"/>
              </a:ext>
            </a:extLst>
          </p:cNvPr>
          <p:cNvSpPr txBox="1"/>
          <p:nvPr/>
        </p:nvSpPr>
        <p:spPr>
          <a:xfrm>
            <a:off x="5632704" y="30170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Michael + leadership call incidents first; P&amp;T helps with projects</a:t>
            </a:r>
          </a:p>
        </p:txBody>
      </p:sp>
      <p:sp>
        <p:nvSpPr>
          <p:cNvPr id="201" name="Rectangle 200">
            <a:extLst>
              <a:ext uri="{FF2B5EF4-FFF2-40B4-BE49-F238E27FC236}">
                <a16:creationId xmlns:a16="http://schemas.microsoft.com/office/drawing/2014/main" id="{BE64B67E-F49D-9136-0A17-8F9A3DF806DF}"/>
              </a:ext>
            </a:extLst>
          </p:cNvPr>
          <p:cNvSpPr/>
          <p:nvPr/>
        </p:nvSpPr>
        <p:spPr>
          <a:xfrm>
            <a:off x="7763256"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2" name="TextBox 201">
            <a:extLst>
              <a:ext uri="{FF2B5EF4-FFF2-40B4-BE49-F238E27FC236}">
                <a16:creationId xmlns:a16="http://schemas.microsoft.com/office/drawing/2014/main" id="{41B3A6E4-E4A1-DC3E-1E3F-019BFA82D87B}"/>
              </a:ext>
            </a:extLst>
          </p:cNvPr>
          <p:cNvSpPr txBox="1"/>
          <p:nvPr/>
        </p:nvSpPr>
        <p:spPr>
          <a:xfrm>
            <a:off x="7854696" y="30170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Michael owns weekly incident review (Thursday, with Accenture)</a:t>
            </a:r>
          </a:p>
        </p:txBody>
      </p:sp>
      <p:sp>
        <p:nvSpPr>
          <p:cNvPr id="203" name="Rectangle 202">
            <a:extLst>
              <a:ext uri="{FF2B5EF4-FFF2-40B4-BE49-F238E27FC236}">
                <a16:creationId xmlns:a16="http://schemas.microsoft.com/office/drawing/2014/main" id="{41FECA4F-9F5A-38FA-35FB-DF0C2281D93D}"/>
              </a:ext>
            </a:extLst>
          </p:cNvPr>
          <p:cNvSpPr/>
          <p:nvPr/>
        </p:nvSpPr>
        <p:spPr>
          <a:xfrm>
            <a:off x="9985248" y="297131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D014C6F9-4461-A182-13CF-208B15A7FD81}"/>
              </a:ext>
            </a:extLst>
          </p:cNvPr>
          <p:cNvSpPr txBox="1"/>
          <p:nvPr/>
        </p:nvSpPr>
        <p:spPr>
          <a:xfrm>
            <a:off x="10076688" y="3017039"/>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Accenture = incidents; SWF = projects; P&amp;T = intermediary</a:t>
            </a:r>
          </a:p>
        </p:txBody>
      </p:sp>
      <p:sp>
        <p:nvSpPr>
          <p:cNvPr id="205" name="Rectangle 204">
            <a:extLst>
              <a:ext uri="{FF2B5EF4-FFF2-40B4-BE49-F238E27FC236}">
                <a16:creationId xmlns:a16="http://schemas.microsoft.com/office/drawing/2014/main" id="{D61994AE-3AE4-9B14-A272-25EAB5CA4CC5}"/>
              </a:ext>
            </a:extLst>
          </p:cNvPr>
          <p:cNvSpPr/>
          <p:nvPr/>
        </p:nvSpPr>
        <p:spPr>
          <a:xfrm>
            <a:off x="457200" y="3501671"/>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893F0F88-1DEC-5A5D-8BCC-E60A8D207183}"/>
              </a:ext>
            </a:extLst>
          </p:cNvPr>
          <p:cNvSpPr txBox="1"/>
          <p:nvPr/>
        </p:nvSpPr>
        <p:spPr>
          <a:xfrm>
            <a:off x="457200" y="3501671"/>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207" name="Rectangle 206">
            <a:extLst>
              <a:ext uri="{FF2B5EF4-FFF2-40B4-BE49-F238E27FC236}">
                <a16:creationId xmlns:a16="http://schemas.microsoft.com/office/drawing/2014/main" id="{34237500-9B02-9DB9-1D0D-D686060BA950}"/>
              </a:ext>
            </a:extLst>
          </p:cNvPr>
          <p:cNvSpPr/>
          <p:nvPr/>
        </p:nvSpPr>
        <p:spPr>
          <a:xfrm>
            <a:off x="1097280"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8" name="TextBox 207">
            <a:extLst>
              <a:ext uri="{FF2B5EF4-FFF2-40B4-BE49-F238E27FC236}">
                <a16:creationId xmlns:a16="http://schemas.microsoft.com/office/drawing/2014/main" id="{C95F942A-0965-4BDB-6299-92B49609ECAD}"/>
              </a:ext>
            </a:extLst>
          </p:cNvPr>
          <p:cNvSpPr txBox="1"/>
          <p:nvPr/>
        </p:nvSpPr>
        <p:spPr>
          <a:xfrm>
            <a:off x="1188720" y="35473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 IT Now RITM · Jira · SharePoint · Teams</a:t>
            </a:r>
          </a:p>
        </p:txBody>
      </p:sp>
      <p:sp>
        <p:nvSpPr>
          <p:cNvPr id="209" name="Rectangle 208">
            <a:extLst>
              <a:ext uri="{FF2B5EF4-FFF2-40B4-BE49-F238E27FC236}">
                <a16:creationId xmlns:a16="http://schemas.microsoft.com/office/drawing/2014/main" id="{2C7CD807-7835-4849-6EA3-A5C530FD4EEC}"/>
              </a:ext>
            </a:extLst>
          </p:cNvPr>
          <p:cNvSpPr/>
          <p:nvPr/>
        </p:nvSpPr>
        <p:spPr>
          <a:xfrm>
            <a:off x="3319272"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1AA5EF70-D234-B849-3577-FDF6D261A952}"/>
              </a:ext>
            </a:extLst>
          </p:cNvPr>
          <p:cNvSpPr txBox="1"/>
          <p:nvPr/>
        </p:nvSpPr>
        <p:spPr>
          <a:xfrm>
            <a:off x="3410712" y="35473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 Jira + SharePoint (by channel)</a:t>
            </a:r>
          </a:p>
        </p:txBody>
      </p:sp>
      <p:sp>
        <p:nvSpPr>
          <p:cNvPr id="211" name="Rectangle 210">
            <a:extLst>
              <a:ext uri="{FF2B5EF4-FFF2-40B4-BE49-F238E27FC236}">
                <a16:creationId xmlns:a16="http://schemas.microsoft.com/office/drawing/2014/main" id="{D32D528F-DB74-D4CB-EAC8-088D2D6864CE}"/>
              </a:ext>
            </a:extLst>
          </p:cNvPr>
          <p:cNvSpPr/>
          <p:nvPr/>
        </p:nvSpPr>
        <p:spPr>
          <a:xfrm>
            <a:off x="5541264"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2" name="TextBox 211">
            <a:extLst>
              <a:ext uri="{FF2B5EF4-FFF2-40B4-BE49-F238E27FC236}">
                <a16:creationId xmlns:a16="http://schemas.microsoft.com/office/drawing/2014/main" id="{EA09B40A-28FD-D877-9EE1-96CB914C7F38}"/>
              </a:ext>
            </a:extLst>
          </p:cNvPr>
          <p:cNvSpPr txBox="1"/>
          <p:nvPr/>
        </p:nvSpPr>
        <p:spPr>
          <a:xfrm>
            <a:off x="5632704" y="35473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scoring tool — incidents-first rule</a:t>
            </a:r>
          </a:p>
        </p:txBody>
      </p:sp>
      <p:sp>
        <p:nvSpPr>
          <p:cNvPr id="213" name="Rectangle 212">
            <a:extLst>
              <a:ext uri="{FF2B5EF4-FFF2-40B4-BE49-F238E27FC236}">
                <a16:creationId xmlns:a16="http://schemas.microsoft.com/office/drawing/2014/main" id="{47FF50E7-23A2-F85E-7FFD-4845554BCB8B}"/>
              </a:ext>
            </a:extLst>
          </p:cNvPr>
          <p:cNvSpPr/>
          <p:nvPr/>
        </p:nvSpPr>
        <p:spPr>
          <a:xfrm>
            <a:off x="7763256"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4" name="TextBox 213">
            <a:extLst>
              <a:ext uri="{FF2B5EF4-FFF2-40B4-BE49-F238E27FC236}">
                <a16:creationId xmlns:a16="http://schemas.microsoft.com/office/drawing/2014/main" id="{42ABF091-B17C-B46C-68F5-010B0C1F1A9A}"/>
              </a:ext>
            </a:extLst>
          </p:cNvPr>
          <p:cNvSpPr txBox="1"/>
          <p:nvPr/>
        </p:nvSpPr>
        <p:spPr>
          <a:xfrm>
            <a:off x="7854696" y="35473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SharePoint (projects) + PDD (approval) + Thursday incident meeting</a:t>
            </a:r>
          </a:p>
        </p:txBody>
      </p:sp>
      <p:sp>
        <p:nvSpPr>
          <p:cNvPr id="215" name="Rectangle 214">
            <a:extLst>
              <a:ext uri="{FF2B5EF4-FFF2-40B4-BE49-F238E27FC236}">
                <a16:creationId xmlns:a16="http://schemas.microsoft.com/office/drawing/2014/main" id="{D22E16B7-4997-A92E-E816-0C46F6E0840C}"/>
              </a:ext>
            </a:extLst>
          </p:cNvPr>
          <p:cNvSpPr/>
          <p:nvPr/>
        </p:nvSpPr>
        <p:spPr>
          <a:xfrm>
            <a:off x="9985248" y="350167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6" name="TextBox 215">
            <a:extLst>
              <a:ext uri="{FF2B5EF4-FFF2-40B4-BE49-F238E27FC236}">
                <a16:creationId xmlns:a16="http://schemas.microsoft.com/office/drawing/2014/main" id="{28FDB84B-2A5F-7F07-C8DE-D1A87BBF3709}"/>
              </a:ext>
            </a:extLst>
          </p:cNvPr>
          <p:cNvSpPr txBox="1"/>
          <p:nvPr/>
        </p:nvSpPr>
        <p:spPr>
          <a:xfrm>
            <a:off x="10076688" y="3547391"/>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Accenture's delivery stack + SWF pipeline</a:t>
            </a:r>
          </a:p>
        </p:txBody>
      </p:sp>
      <p:sp>
        <p:nvSpPr>
          <p:cNvPr id="217" name="Rectangle 216">
            <a:extLst>
              <a:ext uri="{FF2B5EF4-FFF2-40B4-BE49-F238E27FC236}">
                <a16:creationId xmlns:a16="http://schemas.microsoft.com/office/drawing/2014/main" id="{049F6D76-6A11-51D6-E90B-0367E2DB2748}"/>
              </a:ext>
            </a:extLst>
          </p:cNvPr>
          <p:cNvSpPr/>
          <p:nvPr/>
        </p:nvSpPr>
        <p:spPr>
          <a:xfrm>
            <a:off x="457200" y="4032023"/>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8" name="TextBox 217">
            <a:extLst>
              <a:ext uri="{FF2B5EF4-FFF2-40B4-BE49-F238E27FC236}">
                <a16:creationId xmlns:a16="http://schemas.microsoft.com/office/drawing/2014/main" id="{5393C14E-3410-88D2-6C3D-6E0D9F17A6B4}"/>
              </a:ext>
            </a:extLst>
          </p:cNvPr>
          <p:cNvSpPr txBox="1"/>
          <p:nvPr/>
        </p:nvSpPr>
        <p:spPr>
          <a:xfrm>
            <a:off x="457200" y="4181641"/>
            <a:ext cx="594360" cy="194540"/>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219" name="Rectangle 218">
            <a:extLst>
              <a:ext uri="{FF2B5EF4-FFF2-40B4-BE49-F238E27FC236}">
                <a16:creationId xmlns:a16="http://schemas.microsoft.com/office/drawing/2014/main" id="{160C10AB-66C2-9DEB-7F8A-0BD3D1AABA30}"/>
              </a:ext>
            </a:extLst>
          </p:cNvPr>
          <p:cNvSpPr/>
          <p:nvPr/>
        </p:nvSpPr>
        <p:spPr>
          <a:xfrm>
            <a:off x="1097280"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0" name="TextBox 219">
            <a:extLst>
              <a:ext uri="{FF2B5EF4-FFF2-40B4-BE49-F238E27FC236}">
                <a16:creationId xmlns:a16="http://schemas.microsoft.com/office/drawing/2014/main" id="{8822E6E5-6B4D-D04A-707F-4758340A9CD9}"/>
              </a:ext>
            </a:extLst>
          </p:cNvPr>
          <p:cNvSpPr txBox="1"/>
          <p:nvPr/>
        </p:nvSpPr>
        <p:spPr>
          <a:xfrm>
            <a:off x="1188720" y="40777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Strongest channel taxonomy in the org — but tuned for incidents</a:t>
            </a:r>
          </a:p>
        </p:txBody>
      </p:sp>
      <p:sp>
        <p:nvSpPr>
          <p:cNvPr id="221" name="Rectangle 220">
            <a:extLst>
              <a:ext uri="{FF2B5EF4-FFF2-40B4-BE49-F238E27FC236}">
                <a16:creationId xmlns:a16="http://schemas.microsoft.com/office/drawing/2014/main" id="{CFA8042C-7AF2-C045-54AC-8EBCC5810497}"/>
              </a:ext>
            </a:extLst>
          </p:cNvPr>
          <p:cNvSpPr/>
          <p:nvPr/>
        </p:nvSpPr>
        <p:spPr>
          <a:xfrm>
            <a:off x="3319272"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2" name="TextBox 221">
            <a:extLst>
              <a:ext uri="{FF2B5EF4-FFF2-40B4-BE49-F238E27FC236}">
                <a16:creationId xmlns:a16="http://schemas.microsoft.com/office/drawing/2014/main" id="{263D9A23-B6CC-F474-8816-AFC34D3E6C61}"/>
              </a:ext>
            </a:extLst>
          </p:cNvPr>
          <p:cNvSpPr txBox="1"/>
          <p:nvPr/>
        </p:nvSpPr>
        <p:spPr>
          <a:xfrm>
            <a:off x="3410712" y="40777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Channel taxonomy = de-facto classification</a:t>
            </a:r>
          </a:p>
        </p:txBody>
      </p:sp>
      <p:sp>
        <p:nvSpPr>
          <p:cNvPr id="223" name="Rectangle 222">
            <a:extLst>
              <a:ext uri="{FF2B5EF4-FFF2-40B4-BE49-F238E27FC236}">
                <a16:creationId xmlns:a16="http://schemas.microsoft.com/office/drawing/2014/main" id="{B650E6E7-A8B0-F6F9-7929-99358B7799AB}"/>
              </a:ext>
            </a:extLst>
          </p:cNvPr>
          <p:cNvSpPr/>
          <p:nvPr/>
        </p:nvSpPr>
        <p:spPr>
          <a:xfrm>
            <a:off x="5541264"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4" name="TextBox 223">
            <a:extLst>
              <a:ext uri="{FF2B5EF4-FFF2-40B4-BE49-F238E27FC236}">
                <a16:creationId xmlns:a16="http://schemas.microsoft.com/office/drawing/2014/main" id="{123B1E4B-07AE-7AC1-21FA-E901AF09234A}"/>
              </a:ext>
            </a:extLst>
          </p:cNvPr>
          <p:cNvSpPr txBox="1"/>
          <p:nvPr/>
        </p:nvSpPr>
        <p:spPr>
          <a:xfrm>
            <a:off x="5632704" y="40777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Incident volume caps strategic capacity ("entire team on incidents")</a:t>
            </a:r>
          </a:p>
        </p:txBody>
      </p:sp>
      <p:sp>
        <p:nvSpPr>
          <p:cNvPr id="225" name="Rectangle 224">
            <a:extLst>
              <a:ext uri="{FF2B5EF4-FFF2-40B4-BE49-F238E27FC236}">
                <a16:creationId xmlns:a16="http://schemas.microsoft.com/office/drawing/2014/main" id="{5DAA7841-FEF3-2D6E-4BDF-3BFE5F036EED}"/>
              </a:ext>
            </a:extLst>
          </p:cNvPr>
          <p:cNvSpPr/>
          <p:nvPr/>
        </p:nvSpPr>
        <p:spPr>
          <a:xfrm>
            <a:off x="7763256"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6" name="TextBox 225">
            <a:extLst>
              <a:ext uri="{FF2B5EF4-FFF2-40B4-BE49-F238E27FC236}">
                <a16:creationId xmlns:a16="http://schemas.microsoft.com/office/drawing/2014/main" id="{FBDFA8DC-7386-94B0-1D39-832AA1115DD5}"/>
              </a:ext>
            </a:extLst>
          </p:cNvPr>
          <p:cNvSpPr txBox="1"/>
          <p:nvPr/>
        </p:nvSpPr>
        <p:spPr>
          <a:xfrm>
            <a:off x="7854696" y="40777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Weekly Accenture incident review governs incidents; projects via PDD</a:t>
            </a:r>
          </a:p>
        </p:txBody>
      </p:sp>
      <p:sp>
        <p:nvSpPr>
          <p:cNvPr id="227" name="Rectangle 226">
            <a:extLst>
              <a:ext uri="{FF2B5EF4-FFF2-40B4-BE49-F238E27FC236}">
                <a16:creationId xmlns:a16="http://schemas.microsoft.com/office/drawing/2014/main" id="{CBD84EDA-A669-BB18-EE58-8C0BBDCE9970}"/>
              </a:ext>
            </a:extLst>
          </p:cNvPr>
          <p:cNvSpPr/>
          <p:nvPr/>
        </p:nvSpPr>
        <p:spPr>
          <a:xfrm>
            <a:off x="9985248" y="403202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8" name="TextBox 227">
            <a:extLst>
              <a:ext uri="{FF2B5EF4-FFF2-40B4-BE49-F238E27FC236}">
                <a16:creationId xmlns:a16="http://schemas.microsoft.com/office/drawing/2014/main" id="{DE637EC0-E6B6-1354-CEB8-C21C37678F15}"/>
              </a:ext>
            </a:extLst>
          </p:cNvPr>
          <p:cNvSpPr txBox="1"/>
          <p:nvPr/>
        </p:nvSpPr>
        <p:spPr>
          <a:xfrm>
            <a:off x="10076688" y="407774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Knowledge transfer loss at every turnover — 1-year hiring lag</a:t>
            </a:r>
          </a:p>
        </p:txBody>
      </p:sp>
      <p:sp>
        <p:nvSpPr>
          <p:cNvPr id="229" name="Rectangle 228">
            <a:extLst>
              <a:ext uri="{FF2B5EF4-FFF2-40B4-BE49-F238E27FC236}">
                <a16:creationId xmlns:a16="http://schemas.microsoft.com/office/drawing/2014/main" id="{EC058882-B5DE-AE33-98B0-7CDFA3BDE115}"/>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0" name="Rectangle 229">
            <a:extLst>
              <a:ext uri="{FF2B5EF4-FFF2-40B4-BE49-F238E27FC236}">
                <a16:creationId xmlns:a16="http://schemas.microsoft.com/office/drawing/2014/main" id="{EAE8306B-B5FF-59CF-2A6A-33B7CCDDF78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1" name="TextBox 230">
            <a:extLst>
              <a:ext uri="{FF2B5EF4-FFF2-40B4-BE49-F238E27FC236}">
                <a16:creationId xmlns:a16="http://schemas.microsoft.com/office/drawing/2014/main" id="{88CA6228-0E66-0203-5ADD-F53185CAA918}"/>
              </a:ext>
            </a:extLst>
          </p:cNvPr>
          <p:cNvSpPr txBox="1"/>
          <p:nvPr/>
        </p:nvSpPr>
        <p:spPr>
          <a:xfrm>
            <a:off x="640080" y="4633622"/>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232" name="TextBox 231">
            <a:extLst>
              <a:ext uri="{FF2B5EF4-FFF2-40B4-BE49-F238E27FC236}">
                <a16:creationId xmlns:a16="http://schemas.microsoft.com/office/drawing/2014/main" id="{32E1B6F6-A914-30D1-7001-D9ECF5A56663}"/>
              </a:ext>
            </a:extLst>
          </p:cNvPr>
          <p:cNvSpPr txBox="1"/>
          <p:nvPr/>
        </p:nvSpPr>
        <p:spPr>
          <a:xfrm>
            <a:off x="6400800" y="4633622"/>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Helvetica Neue"/>
              </a:rPr>
              <a:t>SUPPORTING QUOTE</a:t>
            </a:r>
          </a:p>
        </p:txBody>
      </p:sp>
      <p:sp>
        <p:nvSpPr>
          <p:cNvPr id="233" name="TextBox 232">
            <a:extLst>
              <a:ext uri="{FF2B5EF4-FFF2-40B4-BE49-F238E27FC236}">
                <a16:creationId xmlns:a16="http://schemas.microsoft.com/office/drawing/2014/main" id="{4D037B71-3D8E-B44A-E8FB-09706B605CE3}"/>
              </a:ext>
            </a:extLst>
          </p:cNvPr>
          <p:cNvSpPr txBox="1"/>
          <p:nvPr/>
        </p:nvSpPr>
        <p:spPr>
          <a:xfrm>
            <a:off x="6400800" y="4880510"/>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"Balance all the demands: Incidents, Small Demands, Major projects (PDD). Limited resources — 1 year to hire someone" — Michael Dubois</a:t>
            </a:r>
          </a:p>
        </p:txBody>
      </p:sp>
      <p:sp>
        <p:nvSpPr>
          <p:cNvPr id="234" name="TextBox 233">
            <a:extLst>
              <a:ext uri="{FF2B5EF4-FFF2-40B4-BE49-F238E27FC236}">
                <a16:creationId xmlns:a16="http://schemas.microsoft.com/office/drawing/2014/main" id="{248993F9-0CC6-0FEF-1B5A-041653CA8CBD}"/>
              </a:ext>
            </a:extLst>
          </p:cNvPr>
          <p:cNvSpPr txBox="1"/>
          <p:nvPr/>
        </p:nvSpPr>
        <p:spPr>
          <a:xfrm>
            <a:off x="640080" y="48805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Channel taxonomy is the strongest in the organization — but it was designed around incidents, not strategic demand</a:t>
            </a:r>
          </a:p>
          <a:p>
            <a:pPr algn="l">
              <a:lnSpc>
                <a:spcPct val="110000"/>
              </a:lnSpc>
              <a:spcBef>
                <a:spcPts val="0"/>
              </a:spcBef>
              <a:spcAft>
                <a:spcPts val="0"/>
              </a:spcAft>
            </a:pPr>
            <a:r>
              <a:rPr lang="en-US" sz="900" b="0" i="0" noProof="0">
                <a:solidFill>
                  <a:srgbClr val="2C3E50"/>
                </a:solidFill>
                <a:latin typeface="Helvetica Neue"/>
              </a:rPr>
              <a:t>▸  Incidents-first rule means strategic work enters a de-facto waiting queue — hiring lag (1 year) keeps the queue deep</a:t>
            </a:r>
          </a:p>
          <a:p>
            <a:pPr algn="l">
              <a:lnSpc>
                <a:spcPct val="110000"/>
              </a:lnSpc>
              <a:spcBef>
                <a:spcPts val="0"/>
              </a:spcBef>
              <a:spcAft>
                <a:spcPts val="0"/>
              </a:spcAft>
            </a:pPr>
            <a:r>
              <a:rPr lang="en-US" sz="900" b="0" i="0" noProof="0">
                <a:solidFill>
                  <a:srgbClr val="2C3E50"/>
                </a:solidFill>
                <a:latin typeface="Helvetica Neue"/>
              </a:rPr>
              <a:t>▸  Accenture + SWF dependency is the hidden scaling mechanism — cost and knowledge concentrate outside Avangrid</a:t>
            </a:r>
          </a:p>
        </p:txBody>
      </p:sp>
      <p:sp>
        <p:nvSpPr>
          <p:cNvPr id="235" name="Rectangle 234">
            <a:extLst>
              <a:ext uri="{FF2B5EF4-FFF2-40B4-BE49-F238E27FC236}">
                <a16:creationId xmlns:a16="http://schemas.microsoft.com/office/drawing/2014/main" id="{2FB9B276-C386-BF64-4E5A-FA3BE5E3E7C2}"/>
              </a:ext>
            </a:extLst>
          </p:cNvPr>
          <p:cNvSpPr/>
          <p:nvPr/>
        </p:nvSpPr>
        <p:spPr>
          <a:xfrm>
            <a:off x="457200" y="5874920"/>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6" name="TextBox 235">
            <a:extLst>
              <a:ext uri="{FF2B5EF4-FFF2-40B4-BE49-F238E27FC236}">
                <a16:creationId xmlns:a16="http://schemas.microsoft.com/office/drawing/2014/main" id="{E11E0E72-2880-1E47-4CCF-3DBC9F8754F0}"/>
              </a:ext>
            </a:extLst>
          </p:cNvPr>
          <p:cNvSpPr txBox="1"/>
          <p:nvPr/>
        </p:nvSpPr>
        <p:spPr>
          <a:xfrm>
            <a:off x="685800" y="5920640"/>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Global SAP's channel taxonomy is the closest to a target state — but the incident flood caps strategic capacity; reducing incident load is the leverage point</a:t>
            </a:r>
          </a:p>
        </p:txBody>
      </p:sp>
    </p:spTree>
    <p:extLst>
      <p:ext uri="{BB962C8B-B14F-4D97-AF65-F5344CB8AC3E}">
        <p14:creationId xmlns:p14="http://schemas.microsoft.com/office/powerpoint/2010/main" val="529001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44DB-CEF6-52DC-54CB-4F3713D6D41B}"/>
            </a:ext>
          </a:extLst>
        </p:cNvPr>
        <p:cNvGrpSpPr/>
        <p:nvPr/>
      </p:nvGrpSpPr>
      <p:grpSpPr>
        <a:xfrm>
          <a:off x="0" y="0"/>
          <a:ext cx="0" cy="0"/>
          <a:chOff x="0" y="0"/>
          <a:chExt cx="0" cy="0"/>
        </a:xfrm>
      </p:grpSpPr>
      <p:sp>
        <p:nvSpPr>
          <p:cNvPr id="186" name="Rectangle 185">
            <a:extLst>
              <a:ext uri="{FF2B5EF4-FFF2-40B4-BE49-F238E27FC236}">
                <a16:creationId xmlns:a16="http://schemas.microsoft.com/office/drawing/2014/main" id="{2AC6E34C-DD4B-F559-7587-B8C776EE5CC3}"/>
              </a:ext>
            </a:extLst>
          </p:cNvPr>
          <p:cNvSpPr/>
          <p:nvPr/>
        </p:nvSpPr>
        <p:spPr>
          <a:xfrm>
            <a:off x="180918" y="6327040"/>
            <a:ext cx="11906307" cy="502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8" name="TextBox 2">
            <a:extLst>
              <a:ext uri="{FF2B5EF4-FFF2-40B4-BE49-F238E27FC236}">
                <a16:creationId xmlns:a16="http://schemas.microsoft.com/office/drawing/2014/main" id="{10BA7B63-1212-79B6-60AD-545FD03B72E2}"/>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Smart Metering is the only area fully vendor-delivered with PPM Now + Confluence — but relies on "intrinsic common sense" for prioritization</a:t>
            </a:r>
          </a:p>
          <a:p>
            <a:endParaRPr lang="en-US"/>
          </a:p>
        </p:txBody>
      </p:sp>
      <p:sp>
        <p:nvSpPr>
          <p:cNvPr id="5" name="Título 2">
            <a:extLst>
              <a:ext uri="{FF2B5EF4-FFF2-40B4-BE49-F238E27FC236}">
                <a16:creationId xmlns:a16="http://schemas.microsoft.com/office/drawing/2014/main" id="{49F2B58B-E0D7-36C9-982F-F8C5FA7C1E9D}"/>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TextBox 1">
            <a:extLst>
              <a:ext uri="{FF2B5EF4-FFF2-40B4-BE49-F238E27FC236}">
                <a16:creationId xmlns:a16="http://schemas.microsoft.com/office/drawing/2014/main" id="{ED3E2F70-3C84-37B5-BE83-CA1497EF1496}"/>
              </a:ext>
            </a:extLst>
          </p:cNvPr>
          <p:cNvSpPr txBox="1"/>
          <p:nvPr/>
        </p:nvSpPr>
        <p:spPr>
          <a:xfrm>
            <a:off x="457201" y="1410529"/>
            <a:ext cx="11274552" cy="15497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accent1"/>
                </a:solidFill>
                <a:latin typeface="Helvetica Neue"/>
              </a:rPr>
              <a:t>Smart Metering — sub-scope within Device &amp; Metering (team led by Sr. Manager  —  Device &amp; Metering, Sr. Manager — Customer Services branch)  ·  Champion: Smart Metering Champion (PM)</a:t>
            </a:r>
          </a:p>
        </p:txBody>
      </p:sp>
      <p:sp>
        <p:nvSpPr>
          <p:cNvPr id="3" name="Rectangle 2">
            <a:extLst>
              <a:ext uri="{FF2B5EF4-FFF2-40B4-BE49-F238E27FC236}">
                <a16:creationId xmlns:a16="http://schemas.microsoft.com/office/drawing/2014/main" id="{C3373DC9-0748-35F1-F32B-F1BA6335084F}"/>
              </a:ext>
            </a:extLst>
          </p:cNvPr>
          <p:cNvSpPr/>
          <p:nvPr/>
        </p:nvSpPr>
        <p:spPr>
          <a:xfrm>
            <a:off x="457201" y="1666561"/>
            <a:ext cx="11274552" cy="2743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3">
            <a:extLst>
              <a:ext uri="{FF2B5EF4-FFF2-40B4-BE49-F238E27FC236}">
                <a16:creationId xmlns:a16="http://schemas.microsoft.com/office/drawing/2014/main" id="{A83D0E79-066F-F0BD-41B2-42F0A412FD69}"/>
              </a:ext>
            </a:extLst>
          </p:cNvPr>
          <p:cNvSpPr/>
          <p:nvPr/>
        </p:nvSpPr>
        <p:spPr>
          <a:xfrm>
            <a:off x="457201" y="1666561"/>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TextBox 5">
            <a:extLst>
              <a:ext uri="{FF2B5EF4-FFF2-40B4-BE49-F238E27FC236}">
                <a16:creationId xmlns:a16="http://schemas.microsoft.com/office/drawing/2014/main" id="{A27B427C-F789-E4C2-D5F3-ABEA8CC29F69}"/>
              </a:ext>
            </a:extLst>
          </p:cNvPr>
          <p:cNvSpPr txBox="1"/>
          <p:nvPr/>
        </p:nvSpPr>
        <p:spPr>
          <a:xfrm>
            <a:off x="457201" y="1666561"/>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8" name="TextBox 7">
            <a:extLst>
              <a:ext uri="{FF2B5EF4-FFF2-40B4-BE49-F238E27FC236}">
                <a16:creationId xmlns:a16="http://schemas.microsoft.com/office/drawing/2014/main" id="{1A9E4361-285B-CC22-9BBA-44B713DA91DF}"/>
              </a:ext>
            </a:extLst>
          </p:cNvPr>
          <p:cNvSpPr txBox="1"/>
          <p:nvPr/>
        </p:nvSpPr>
        <p:spPr>
          <a:xfrm>
            <a:off x="2377441" y="1666561"/>
            <a:ext cx="9281160" cy="27432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Customer Operations · Field Services (meter installers) · Billing &amp; Collections · Grid Ops · BRS UIL / CMP / NY (regional business/regulatory groups) · Vendors (primary delivery partner)</a:t>
            </a:r>
          </a:p>
        </p:txBody>
      </p:sp>
      <p:sp>
        <p:nvSpPr>
          <p:cNvPr id="9" name="Rectangle 8">
            <a:extLst>
              <a:ext uri="{FF2B5EF4-FFF2-40B4-BE49-F238E27FC236}">
                <a16:creationId xmlns:a16="http://schemas.microsoft.com/office/drawing/2014/main" id="{B0527FF7-4AA6-7915-7FD2-D001BED27314}"/>
              </a:ext>
            </a:extLst>
          </p:cNvPr>
          <p:cNvSpPr/>
          <p:nvPr/>
        </p:nvSpPr>
        <p:spPr>
          <a:xfrm>
            <a:off x="1097281" y="2050609"/>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TextBox 9">
            <a:extLst>
              <a:ext uri="{FF2B5EF4-FFF2-40B4-BE49-F238E27FC236}">
                <a16:creationId xmlns:a16="http://schemas.microsoft.com/office/drawing/2014/main" id="{4ADF0A70-E27A-FA4E-B627-35C70974F1BE}"/>
              </a:ext>
            </a:extLst>
          </p:cNvPr>
          <p:cNvSpPr txBox="1"/>
          <p:nvPr/>
        </p:nvSpPr>
        <p:spPr>
          <a:xfrm>
            <a:off x="1097281" y="2050609"/>
            <a:ext cx="2167128" cy="347472"/>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11" name="Rounded Rectangle 10">
            <a:extLst>
              <a:ext uri="{FF2B5EF4-FFF2-40B4-BE49-F238E27FC236}">
                <a16:creationId xmlns:a16="http://schemas.microsoft.com/office/drawing/2014/main" id="{CFB166B7-4978-360F-1A48-FA733A082F35}"/>
              </a:ext>
            </a:extLst>
          </p:cNvPr>
          <p:cNvSpPr/>
          <p:nvPr/>
        </p:nvSpPr>
        <p:spPr>
          <a:xfrm>
            <a:off x="1632205" y="2452945"/>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TextBox 11">
            <a:extLst>
              <a:ext uri="{FF2B5EF4-FFF2-40B4-BE49-F238E27FC236}">
                <a16:creationId xmlns:a16="http://schemas.microsoft.com/office/drawing/2014/main" id="{FF0CB15E-B6A6-F5D2-2B2E-DFB029261CA4}"/>
              </a:ext>
            </a:extLst>
          </p:cNvPr>
          <p:cNvSpPr txBox="1"/>
          <p:nvPr/>
        </p:nvSpPr>
        <p:spPr>
          <a:xfrm>
            <a:off x="1632205" y="2474141"/>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13" name="Rectangle 12">
            <a:extLst>
              <a:ext uri="{FF2B5EF4-FFF2-40B4-BE49-F238E27FC236}">
                <a16:creationId xmlns:a16="http://schemas.microsoft.com/office/drawing/2014/main" id="{52C2D118-2FF0-86E7-40A1-44E4AE7AF199}"/>
              </a:ext>
            </a:extLst>
          </p:cNvPr>
          <p:cNvSpPr/>
          <p:nvPr/>
        </p:nvSpPr>
        <p:spPr>
          <a:xfrm>
            <a:off x="3319273" y="2050609"/>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 name="TextBox 13">
            <a:extLst>
              <a:ext uri="{FF2B5EF4-FFF2-40B4-BE49-F238E27FC236}">
                <a16:creationId xmlns:a16="http://schemas.microsoft.com/office/drawing/2014/main" id="{DA48C3F2-C668-EE4C-7BE0-CCFD6ECEE386}"/>
              </a:ext>
            </a:extLst>
          </p:cNvPr>
          <p:cNvSpPr txBox="1"/>
          <p:nvPr/>
        </p:nvSpPr>
        <p:spPr>
          <a:xfrm>
            <a:off x="3319273" y="2050609"/>
            <a:ext cx="2167128" cy="347472"/>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50" name="Rounded Rectangle 14">
            <a:extLst>
              <a:ext uri="{FF2B5EF4-FFF2-40B4-BE49-F238E27FC236}">
                <a16:creationId xmlns:a16="http://schemas.microsoft.com/office/drawing/2014/main" id="{5FAF5AC5-7F7D-B001-34C3-F6A481B007CA}"/>
              </a:ext>
            </a:extLst>
          </p:cNvPr>
          <p:cNvSpPr/>
          <p:nvPr/>
        </p:nvSpPr>
        <p:spPr>
          <a:xfrm>
            <a:off x="3854197" y="2452945"/>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1" name="TextBox 50">
            <a:extLst>
              <a:ext uri="{FF2B5EF4-FFF2-40B4-BE49-F238E27FC236}">
                <a16:creationId xmlns:a16="http://schemas.microsoft.com/office/drawing/2014/main" id="{B60A1432-2F4B-6B6D-8C30-C8FBCDAF8C97}"/>
              </a:ext>
            </a:extLst>
          </p:cNvPr>
          <p:cNvSpPr txBox="1"/>
          <p:nvPr/>
        </p:nvSpPr>
        <p:spPr>
          <a:xfrm>
            <a:off x="3854197" y="2452945"/>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52" name="Rectangle 51">
            <a:extLst>
              <a:ext uri="{FF2B5EF4-FFF2-40B4-BE49-F238E27FC236}">
                <a16:creationId xmlns:a16="http://schemas.microsoft.com/office/drawing/2014/main" id="{577D1232-EC8D-E7F2-CD17-5BEF0FFB460A}"/>
              </a:ext>
            </a:extLst>
          </p:cNvPr>
          <p:cNvSpPr/>
          <p:nvPr/>
        </p:nvSpPr>
        <p:spPr>
          <a:xfrm>
            <a:off x="5541265" y="2050609"/>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3" name="TextBox 52">
            <a:extLst>
              <a:ext uri="{FF2B5EF4-FFF2-40B4-BE49-F238E27FC236}">
                <a16:creationId xmlns:a16="http://schemas.microsoft.com/office/drawing/2014/main" id="{E9FB41F8-EA25-32FD-9874-F9A59F57C87A}"/>
              </a:ext>
            </a:extLst>
          </p:cNvPr>
          <p:cNvSpPr txBox="1"/>
          <p:nvPr/>
        </p:nvSpPr>
        <p:spPr>
          <a:xfrm>
            <a:off x="5541265" y="2050609"/>
            <a:ext cx="2167128" cy="347472"/>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54" name="Rounded Rectangle 18">
            <a:extLst>
              <a:ext uri="{FF2B5EF4-FFF2-40B4-BE49-F238E27FC236}">
                <a16:creationId xmlns:a16="http://schemas.microsoft.com/office/drawing/2014/main" id="{5FA90494-5794-746E-39BD-EB9193358130}"/>
              </a:ext>
            </a:extLst>
          </p:cNvPr>
          <p:cNvSpPr/>
          <p:nvPr/>
        </p:nvSpPr>
        <p:spPr>
          <a:xfrm>
            <a:off x="6076189" y="2452945"/>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5" name="TextBox 54">
            <a:extLst>
              <a:ext uri="{FF2B5EF4-FFF2-40B4-BE49-F238E27FC236}">
                <a16:creationId xmlns:a16="http://schemas.microsoft.com/office/drawing/2014/main" id="{CCEB99B3-542D-FF36-F18A-13C6BC7E1A94}"/>
              </a:ext>
            </a:extLst>
          </p:cNvPr>
          <p:cNvSpPr txBox="1"/>
          <p:nvPr/>
        </p:nvSpPr>
        <p:spPr>
          <a:xfrm>
            <a:off x="6076189" y="2474141"/>
            <a:ext cx="1097280" cy="140488"/>
          </a:xfrm>
          <a:prstGeom prst="rect">
            <a:avLst/>
          </a:prstGeom>
          <a:solidFill>
            <a:srgbClr val="F1C40F"/>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PARTIAL</a:t>
            </a:r>
          </a:p>
        </p:txBody>
      </p:sp>
      <p:sp>
        <p:nvSpPr>
          <p:cNvPr id="56" name="Rectangle 55">
            <a:extLst>
              <a:ext uri="{FF2B5EF4-FFF2-40B4-BE49-F238E27FC236}">
                <a16:creationId xmlns:a16="http://schemas.microsoft.com/office/drawing/2014/main" id="{41A4161E-0EEB-C03A-0832-6F4FF39F442E}"/>
              </a:ext>
            </a:extLst>
          </p:cNvPr>
          <p:cNvSpPr/>
          <p:nvPr/>
        </p:nvSpPr>
        <p:spPr>
          <a:xfrm>
            <a:off x="7763257" y="2050609"/>
            <a:ext cx="2167128" cy="34747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7" name="TextBox 56">
            <a:extLst>
              <a:ext uri="{FF2B5EF4-FFF2-40B4-BE49-F238E27FC236}">
                <a16:creationId xmlns:a16="http://schemas.microsoft.com/office/drawing/2014/main" id="{E1D87B14-2A7A-F92B-E3D2-8553326181BB}"/>
              </a:ext>
            </a:extLst>
          </p:cNvPr>
          <p:cNvSpPr txBox="1"/>
          <p:nvPr/>
        </p:nvSpPr>
        <p:spPr>
          <a:xfrm>
            <a:off x="7763257" y="2050609"/>
            <a:ext cx="2167128" cy="347472"/>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58" name="Rounded Rectangle 22">
            <a:extLst>
              <a:ext uri="{FF2B5EF4-FFF2-40B4-BE49-F238E27FC236}">
                <a16:creationId xmlns:a16="http://schemas.microsoft.com/office/drawing/2014/main" id="{CF28C339-69A3-8CC8-B702-560CE24847D5}"/>
              </a:ext>
            </a:extLst>
          </p:cNvPr>
          <p:cNvSpPr/>
          <p:nvPr/>
        </p:nvSpPr>
        <p:spPr>
          <a:xfrm>
            <a:off x="8298181" y="2452945"/>
            <a:ext cx="1097280" cy="182880"/>
          </a:xfrm>
          <a:prstGeom prst="round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9" name="TextBox 58">
            <a:extLst>
              <a:ext uri="{FF2B5EF4-FFF2-40B4-BE49-F238E27FC236}">
                <a16:creationId xmlns:a16="http://schemas.microsoft.com/office/drawing/2014/main" id="{BF3CAD18-42D9-4D76-296C-ED92B3202CA2}"/>
              </a:ext>
            </a:extLst>
          </p:cNvPr>
          <p:cNvSpPr txBox="1"/>
          <p:nvPr/>
        </p:nvSpPr>
        <p:spPr>
          <a:xfrm>
            <a:off x="8298181" y="2452945"/>
            <a:ext cx="1097280" cy="182880"/>
          </a:xfrm>
          <a:prstGeom prst="rect">
            <a:avLst/>
          </a:prstGeom>
          <a:solidFill>
            <a:srgbClr val="27AE60"/>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OK</a:t>
            </a:r>
          </a:p>
        </p:txBody>
      </p:sp>
      <p:sp>
        <p:nvSpPr>
          <p:cNvPr id="60" name="Rectangle 59">
            <a:extLst>
              <a:ext uri="{FF2B5EF4-FFF2-40B4-BE49-F238E27FC236}">
                <a16:creationId xmlns:a16="http://schemas.microsoft.com/office/drawing/2014/main" id="{41FBD060-2EA6-E410-AA76-1A9CE0401527}"/>
              </a:ext>
            </a:extLst>
          </p:cNvPr>
          <p:cNvSpPr/>
          <p:nvPr/>
        </p:nvSpPr>
        <p:spPr>
          <a:xfrm>
            <a:off x="9985249" y="2050609"/>
            <a:ext cx="1746504" cy="3474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1" name="TextBox 60">
            <a:extLst>
              <a:ext uri="{FF2B5EF4-FFF2-40B4-BE49-F238E27FC236}">
                <a16:creationId xmlns:a16="http://schemas.microsoft.com/office/drawing/2014/main" id="{D5E10395-0FE8-61D0-BA5C-2BAE63CAC13D}"/>
              </a:ext>
            </a:extLst>
          </p:cNvPr>
          <p:cNvSpPr txBox="1"/>
          <p:nvPr/>
        </p:nvSpPr>
        <p:spPr>
          <a:xfrm>
            <a:off x="9985249" y="2146855"/>
            <a:ext cx="1746504"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62" name="Rounded Rectangle 26">
            <a:extLst>
              <a:ext uri="{FF2B5EF4-FFF2-40B4-BE49-F238E27FC236}">
                <a16:creationId xmlns:a16="http://schemas.microsoft.com/office/drawing/2014/main" id="{8ECFC916-BB6E-696B-1342-DE783A9511C6}"/>
              </a:ext>
            </a:extLst>
          </p:cNvPr>
          <p:cNvSpPr/>
          <p:nvPr/>
        </p:nvSpPr>
        <p:spPr>
          <a:xfrm>
            <a:off x="10520173" y="2452945"/>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3" name="TextBox 62">
            <a:extLst>
              <a:ext uri="{FF2B5EF4-FFF2-40B4-BE49-F238E27FC236}">
                <a16:creationId xmlns:a16="http://schemas.microsoft.com/office/drawing/2014/main" id="{96491D29-5CCD-3EBC-FF3D-52D64D687C87}"/>
              </a:ext>
            </a:extLst>
          </p:cNvPr>
          <p:cNvSpPr txBox="1"/>
          <p:nvPr/>
        </p:nvSpPr>
        <p:spPr>
          <a:xfrm>
            <a:off x="10520173" y="2452945"/>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128" name="Rectangle 127">
            <a:extLst>
              <a:ext uri="{FF2B5EF4-FFF2-40B4-BE49-F238E27FC236}">
                <a16:creationId xmlns:a16="http://schemas.microsoft.com/office/drawing/2014/main" id="{33F1F695-7521-0408-53EA-BB76D15DFB28}"/>
              </a:ext>
            </a:extLst>
          </p:cNvPr>
          <p:cNvSpPr/>
          <p:nvPr/>
        </p:nvSpPr>
        <p:spPr>
          <a:xfrm>
            <a:off x="457201" y="2690689"/>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9" name="TextBox 128">
            <a:extLst>
              <a:ext uri="{FF2B5EF4-FFF2-40B4-BE49-F238E27FC236}">
                <a16:creationId xmlns:a16="http://schemas.microsoft.com/office/drawing/2014/main" id="{AD252058-F11E-AE2D-D0DC-3FC514EBC207}"/>
              </a:ext>
            </a:extLst>
          </p:cNvPr>
          <p:cNvSpPr txBox="1"/>
          <p:nvPr/>
        </p:nvSpPr>
        <p:spPr>
          <a:xfrm>
            <a:off x="457201" y="2690689"/>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130" name="Rectangle 129">
            <a:extLst>
              <a:ext uri="{FF2B5EF4-FFF2-40B4-BE49-F238E27FC236}">
                <a16:creationId xmlns:a16="http://schemas.microsoft.com/office/drawing/2014/main" id="{B619FE6A-08FE-455B-DD12-C66E0F6CAF19}"/>
              </a:ext>
            </a:extLst>
          </p:cNvPr>
          <p:cNvSpPr/>
          <p:nvPr/>
        </p:nvSpPr>
        <p:spPr>
          <a:xfrm>
            <a:off x="1097281" y="269068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1" name="TextBox 130">
            <a:extLst>
              <a:ext uri="{FF2B5EF4-FFF2-40B4-BE49-F238E27FC236}">
                <a16:creationId xmlns:a16="http://schemas.microsoft.com/office/drawing/2014/main" id="{94FE7A73-3C39-5005-A58B-EB1264CC7D6F}"/>
              </a:ext>
            </a:extLst>
          </p:cNvPr>
          <p:cNvSpPr txBox="1"/>
          <p:nvPr/>
        </p:nvSpPr>
        <p:spPr>
          <a:xfrm>
            <a:off x="1188721" y="273640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Small demands via email (IT Now); normal flow — not seasonal</a:t>
            </a:r>
          </a:p>
        </p:txBody>
      </p:sp>
      <p:sp>
        <p:nvSpPr>
          <p:cNvPr id="132" name="Rectangle 131">
            <a:extLst>
              <a:ext uri="{FF2B5EF4-FFF2-40B4-BE49-F238E27FC236}">
                <a16:creationId xmlns:a16="http://schemas.microsoft.com/office/drawing/2014/main" id="{38A09478-3F49-5CB0-7386-238D6225F242}"/>
              </a:ext>
            </a:extLst>
          </p:cNvPr>
          <p:cNvSpPr/>
          <p:nvPr/>
        </p:nvSpPr>
        <p:spPr>
          <a:xfrm>
            <a:off x="3319273" y="269068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3" name="TextBox 132">
            <a:extLst>
              <a:ext uri="{FF2B5EF4-FFF2-40B4-BE49-F238E27FC236}">
                <a16:creationId xmlns:a16="http://schemas.microsoft.com/office/drawing/2014/main" id="{8D5BD6A3-194A-E173-47EF-150F1F145775}"/>
              </a:ext>
            </a:extLst>
          </p:cNvPr>
          <p:cNvSpPr txBox="1"/>
          <p:nvPr/>
        </p:nvSpPr>
        <p:spPr>
          <a:xfrm>
            <a:off x="3410713" y="273640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Incidents → IT Now template; requirements usually clear</a:t>
            </a:r>
          </a:p>
        </p:txBody>
      </p:sp>
      <p:sp>
        <p:nvSpPr>
          <p:cNvPr id="134" name="Rectangle 133">
            <a:extLst>
              <a:ext uri="{FF2B5EF4-FFF2-40B4-BE49-F238E27FC236}">
                <a16:creationId xmlns:a16="http://schemas.microsoft.com/office/drawing/2014/main" id="{D5DB579F-1D91-A89E-9DF4-938BD849E018}"/>
              </a:ext>
            </a:extLst>
          </p:cNvPr>
          <p:cNvSpPr/>
          <p:nvPr/>
        </p:nvSpPr>
        <p:spPr>
          <a:xfrm>
            <a:off x="5541265" y="269068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5" name="TextBox 134">
            <a:extLst>
              <a:ext uri="{FF2B5EF4-FFF2-40B4-BE49-F238E27FC236}">
                <a16:creationId xmlns:a16="http://schemas.microsoft.com/office/drawing/2014/main" id="{F0A935C9-0B74-290A-F8F2-A81AEC2049FC}"/>
              </a:ext>
            </a:extLst>
          </p:cNvPr>
          <p:cNvSpPr txBox="1"/>
          <p:nvPr/>
        </p:nvSpPr>
        <p:spPr>
          <a:xfrm>
            <a:off x="5632705" y="273640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Criticality + deadline + application priority</a:t>
            </a:r>
          </a:p>
        </p:txBody>
      </p:sp>
      <p:sp>
        <p:nvSpPr>
          <p:cNvPr id="136" name="Rectangle 135">
            <a:extLst>
              <a:ext uri="{FF2B5EF4-FFF2-40B4-BE49-F238E27FC236}">
                <a16:creationId xmlns:a16="http://schemas.microsoft.com/office/drawing/2014/main" id="{59002298-AD55-0577-E454-DE3E38B2A5D3}"/>
              </a:ext>
            </a:extLst>
          </p:cNvPr>
          <p:cNvSpPr/>
          <p:nvPr/>
        </p:nvSpPr>
        <p:spPr>
          <a:xfrm>
            <a:off x="7763257" y="269068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7" name="TextBox 136">
            <a:extLst>
              <a:ext uri="{FF2B5EF4-FFF2-40B4-BE49-F238E27FC236}">
                <a16:creationId xmlns:a16="http://schemas.microsoft.com/office/drawing/2014/main" id="{DEE2B568-CB2B-9B4F-D5E9-CEDE0BCA91E1}"/>
              </a:ext>
            </a:extLst>
          </p:cNvPr>
          <p:cNvSpPr txBox="1"/>
          <p:nvPr/>
        </p:nvSpPr>
        <p:spPr>
          <a:xfrm>
            <a:off x="7854697" y="273640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PPM Now (large) + Jira + Confluence (PM-to-PM)</a:t>
            </a:r>
          </a:p>
        </p:txBody>
      </p:sp>
      <p:sp>
        <p:nvSpPr>
          <p:cNvPr id="138" name="Rectangle 137">
            <a:extLst>
              <a:ext uri="{FF2B5EF4-FFF2-40B4-BE49-F238E27FC236}">
                <a16:creationId xmlns:a16="http://schemas.microsoft.com/office/drawing/2014/main" id="{6C544072-BD1B-3A2D-693F-E82E6BAC47F9}"/>
              </a:ext>
            </a:extLst>
          </p:cNvPr>
          <p:cNvSpPr/>
          <p:nvPr/>
        </p:nvSpPr>
        <p:spPr>
          <a:xfrm>
            <a:off x="9985249" y="269068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9" name="TextBox 138">
            <a:extLst>
              <a:ext uri="{FF2B5EF4-FFF2-40B4-BE49-F238E27FC236}">
                <a16:creationId xmlns:a16="http://schemas.microsoft.com/office/drawing/2014/main" id="{FDF22866-1EE2-5C28-2D0F-1232D17D5E98}"/>
              </a:ext>
            </a:extLst>
          </p:cNvPr>
          <p:cNvSpPr txBox="1"/>
          <p:nvPr/>
        </p:nvSpPr>
        <p:spPr>
          <a:xfrm>
            <a:off x="10076689" y="2736409"/>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100% vendor-delivered portfolio — vendors = consultants + code</a:t>
            </a:r>
          </a:p>
        </p:txBody>
      </p:sp>
      <p:sp>
        <p:nvSpPr>
          <p:cNvPr id="140" name="Rectangle 139">
            <a:extLst>
              <a:ext uri="{FF2B5EF4-FFF2-40B4-BE49-F238E27FC236}">
                <a16:creationId xmlns:a16="http://schemas.microsoft.com/office/drawing/2014/main" id="{2B8EAF5C-61CC-1C99-822F-CFC6CB7B7392}"/>
              </a:ext>
            </a:extLst>
          </p:cNvPr>
          <p:cNvSpPr/>
          <p:nvPr/>
        </p:nvSpPr>
        <p:spPr>
          <a:xfrm>
            <a:off x="457201" y="3221041"/>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1" name="TextBox 140">
            <a:extLst>
              <a:ext uri="{FF2B5EF4-FFF2-40B4-BE49-F238E27FC236}">
                <a16:creationId xmlns:a16="http://schemas.microsoft.com/office/drawing/2014/main" id="{11DE145E-E54E-9DED-2069-C7CABB626170}"/>
              </a:ext>
            </a:extLst>
          </p:cNvPr>
          <p:cNvSpPr txBox="1"/>
          <p:nvPr/>
        </p:nvSpPr>
        <p:spPr>
          <a:xfrm>
            <a:off x="457201" y="3221041"/>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42" name="Rectangle 141">
            <a:extLst>
              <a:ext uri="{FF2B5EF4-FFF2-40B4-BE49-F238E27FC236}">
                <a16:creationId xmlns:a16="http://schemas.microsoft.com/office/drawing/2014/main" id="{325BF07C-BB99-88C0-0D0F-B8D5DE390F1C}"/>
              </a:ext>
            </a:extLst>
          </p:cNvPr>
          <p:cNvSpPr/>
          <p:nvPr/>
        </p:nvSpPr>
        <p:spPr>
          <a:xfrm>
            <a:off x="1097281" y="322104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3" name="TextBox 142">
            <a:extLst>
              <a:ext uri="{FF2B5EF4-FFF2-40B4-BE49-F238E27FC236}">
                <a16:creationId xmlns:a16="http://schemas.microsoft.com/office/drawing/2014/main" id="{2B40DB71-4449-8E9C-56A6-26582993B9E6}"/>
              </a:ext>
            </a:extLst>
          </p:cNvPr>
          <p:cNvSpPr txBox="1"/>
          <p:nvPr/>
        </p:nvSpPr>
        <p:spPr>
          <a:xfrm>
            <a:off x="1188721" y="326676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opens IT Now / email; Smart Metering Champion (PM) receives</a:t>
            </a:r>
          </a:p>
        </p:txBody>
      </p:sp>
      <p:sp>
        <p:nvSpPr>
          <p:cNvPr id="144" name="Rectangle 143">
            <a:extLst>
              <a:ext uri="{FF2B5EF4-FFF2-40B4-BE49-F238E27FC236}">
                <a16:creationId xmlns:a16="http://schemas.microsoft.com/office/drawing/2014/main" id="{9E166B99-536B-9C18-EE3B-1327E8454ECE}"/>
              </a:ext>
            </a:extLst>
          </p:cNvPr>
          <p:cNvSpPr/>
          <p:nvPr/>
        </p:nvSpPr>
        <p:spPr>
          <a:xfrm>
            <a:off x="3319273" y="322104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5" name="TextBox 144">
            <a:extLst>
              <a:ext uri="{FF2B5EF4-FFF2-40B4-BE49-F238E27FC236}">
                <a16:creationId xmlns:a16="http://schemas.microsoft.com/office/drawing/2014/main" id="{2A6EE7E3-F2D3-FC7D-D1AF-99229B2CE39A}"/>
              </a:ext>
            </a:extLst>
          </p:cNvPr>
          <p:cNvSpPr txBox="1"/>
          <p:nvPr/>
        </p:nvSpPr>
        <p:spPr>
          <a:xfrm>
            <a:off x="3410713" y="326676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Smart Metering PM + team classify by template; vendor tech lead joins</a:t>
            </a:r>
          </a:p>
        </p:txBody>
      </p:sp>
      <p:sp>
        <p:nvSpPr>
          <p:cNvPr id="146" name="Rectangle 145">
            <a:extLst>
              <a:ext uri="{FF2B5EF4-FFF2-40B4-BE49-F238E27FC236}">
                <a16:creationId xmlns:a16="http://schemas.microsoft.com/office/drawing/2014/main" id="{C192A10D-5798-BC40-F0CE-0BD045A516CE}"/>
              </a:ext>
            </a:extLst>
          </p:cNvPr>
          <p:cNvSpPr/>
          <p:nvPr/>
        </p:nvSpPr>
        <p:spPr>
          <a:xfrm>
            <a:off x="5541265" y="322104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7" name="TextBox 146">
            <a:extLst>
              <a:ext uri="{FF2B5EF4-FFF2-40B4-BE49-F238E27FC236}">
                <a16:creationId xmlns:a16="http://schemas.microsoft.com/office/drawing/2014/main" id="{392A76FD-F200-D2AF-391C-332BC90EB17B}"/>
              </a:ext>
            </a:extLst>
          </p:cNvPr>
          <p:cNvSpPr txBox="1"/>
          <p:nvPr/>
        </p:nvSpPr>
        <p:spPr>
          <a:xfrm>
            <a:off x="5632705" y="3266761"/>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Smart Metering PM prioritizes on deadline + criticality — "intrinsic common sense"</a:t>
            </a:r>
          </a:p>
        </p:txBody>
      </p:sp>
      <p:sp>
        <p:nvSpPr>
          <p:cNvPr id="148" name="Rectangle 147">
            <a:extLst>
              <a:ext uri="{FF2B5EF4-FFF2-40B4-BE49-F238E27FC236}">
                <a16:creationId xmlns:a16="http://schemas.microsoft.com/office/drawing/2014/main" id="{5E0C0499-D25B-2516-AEE4-887DCA4ABDF9}"/>
              </a:ext>
            </a:extLst>
          </p:cNvPr>
          <p:cNvSpPr/>
          <p:nvPr/>
        </p:nvSpPr>
        <p:spPr>
          <a:xfrm>
            <a:off x="7763257" y="322104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49" name="TextBox 148">
            <a:extLst>
              <a:ext uri="{FF2B5EF4-FFF2-40B4-BE49-F238E27FC236}">
                <a16:creationId xmlns:a16="http://schemas.microsoft.com/office/drawing/2014/main" id="{5FD93721-2EDE-7D1D-B410-E877BE629FBB}"/>
              </a:ext>
            </a:extLst>
          </p:cNvPr>
          <p:cNvSpPr txBox="1"/>
          <p:nvPr/>
        </p:nvSpPr>
        <p:spPr>
          <a:xfrm>
            <a:off x="7854697" y="3266761"/>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Smart Metering </a:t>
            </a:r>
            <a:r>
              <a:rPr lang="en-US" sz="900" noProof="0">
                <a:solidFill>
                  <a:srgbClr val="2C3E50"/>
                </a:solidFill>
                <a:latin typeface="Helvetica Neue"/>
              </a:rPr>
              <a:t>PM</a:t>
            </a:r>
            <a:r>
              <a:rPr lang="en-US" sz="900" b="0" i="0" noProof="0">
                <a:solidFill>
                  <a:srgbClr val="2C3E50"/>
                </a:solidFill>
                <a:latin typeface="Helvetica Neue"/>
              </a:rPr>
              <a:t> + manager (weekly); vendor PMs help PMs prioritize</a:t>
            </a:r>
          </a:p>
        </p:txBody>
      </p:sp>
      <p:sp>
        <p:nvSpPr>
          <p:cNvPr id="150" name="Rectangle 149">
            <a:extLst>
              <a:ext uri="{FF2B5EF4-FFF2-40B4-BE49-F238E27FC236}">
                <a16:creationId xmlns:a16="http://schemas.microsoft.com/office/drawing/2014/main" id="{6B885EE5-DF01-DAFD-2EA1-320BCE1F04B1}"/>
              </a:ext>
            </a:extLst>
          </p:cNvPr>
          <p:cNvSpPr/>
          <p:nvPr/>
        </p:nvSpPr>
        <p:spPr>
          <a:xfrm>
            <a:off x="9985249" y="322104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1" name="TextBox 150">
            <a:extLst>
              <a:ext uri="{FF2B5EF4-FFF2-40B4-BE49-F238E27FC236}">
                <a16:creationId xmlns:a16="http://schemas.microsoft.com/office/drawing/2014/main" id="{6F092F7C-5869-EC4A-B83F-1B1D71611962}"/>
              </a:ext>
            </a:extLst>
          </p:cNvPr>
          <p:cNvSpPr txBox="1"/>
          <p:nvPr/>
        </p:nvSpPr>
        <p:spPr>
          <a:xfrm>
            <a:off x="10076689" y="3266761"/>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Vendors do requirements AND code; Avangrid = product owner</a:t>
            </a:r>
          </a:p>
        </p:txBody>
      </p:sp>
      <p:sp>
        <p:nvSpPr>
          <p:cNvPr id="152" name="Rectangle 151">
            <a:extLst>
              <a:ext uri="{FF2B5EF4-FFF2-40B4-BE49-F238E27FC236}">
                <a16:creationId xmlns:a16="http://schemas.microsoft.com/office/drawing/2014/main" id="{143326C8-FAF9-CEE5-EB93-736A4420F33A}"/>
              </a:ext>
            </a:extLst>
          </p:cNvPr>
          <p:cNvSpPr/>
          <p:nvPr/>
        </p:nvSpPr>
        <p:spPr>
          <a:xfrm>
            <a:off x="457201" y="3751393"/>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3" name="TextBox 152">
            <a:extLst>
              <a:ext uri="{FF2B5EF4-FFF2-40B4-BE49-F238E27FC236}">
                <a16:creationId xmlns:a16="http://schemas.microsoft.com/office/drawing/2014/main" id="{EA7FEC7C-C794-179F-60D2-9136F9DC1A6C}"/>
              </a:ext>
            </a:extLst>
          </p:cNvPr>
          <p:cNvSpPr txBox="1"/>
          <p:nvPr/>
        </p:nvSpPr>
        <p:spPr>
          <a:xfrm>
            <a:off x="457201" y="3751393"/>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154" name="Rectangle 153">
            <a:extLst>
              <a:ext uri="{FF2B5EF4-FFF2-40B4-BE49-F238E27FC236}">
                <a16:creationId xmlns:a16="http://schemas.microsoft.com/office/drawing/2014/main" id="{A7343F74-EABF-EFE3-C54A-B2C5DFC9F7CE}"/>
              </a:ext>
            </a:extLst>
          </p:cNvPr>
          <p:cNvSpPr/>
          <p:nvPr/>
        </p:nvSpPr>
        <p:spPr>
          <a:xfrm>
            <a:off x="1097281" y="375139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5" name="TextBox 154">
            <a:extLst>
              <a:ext uri="{FF2B5EF4-FFF2-40B4-BE49-F238E27FC236}">
                <a16:creationId xmlns:a16="http://schemas.microsoft.com/office/drawing/2014/main" id="{0A1FEFE4-FC6F-473B-4056-94BAE2BA17C7}"/>
              </a:ext>
            </a:extLst>
          </p:cNvPr>
          <p:cNvSpPr txBox="1"/>
          <p:nvPr/>
        </p:nvSpPr>
        <p:spPr>
          <a:xfrm>
            <a:off x="1188721" y="379711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 IT Now (template) · occasional RITM</a:t>
            </a:r>
          </a:p>
        </p:txBody>
      </p:sp>
      <p:sp>
        <p:nvSpPr>
          <p:cNvPr id="156" name="Rectangle 155">
            <a:extLst>
              <a:ext uri="{FF2B5EF4-FFF2-40B4-BE49-F238E27FC236}">
                <a16:creationId xmlns:a16="http://schemas.microsoft.com/office/drawing/2014/main" id="{5479AAC4-A007-DB4C-DC7E-9FB5FBDD4173}"/>
              </a:ext>
            </a:extLst>
          </p:cNvPr>
          <p:cNvSpPr/>
          <p:nvPr/>
        </p:nvSpPr>
        <p:spPr>
          <a:xfrm>
            <a:off x="3319273" y="375139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7" name="TextBox 156">
            <a:extLst>
              <a:ext uri="{FF2B5EF4-FFF2-40B4-BE49-F238E27FC236}">
                <a16:creationId xmlns:a16="http://schemas.microsoft.com/office/drawing/2014/main" id="{AA03DDBA-B1FC-7529-C0CC-C3E80AD4B0F8}"/>
              </a:ext>
            </a:extLst>
          </p:cNvPr>
          <p:cNvSpPr txBox="1"/>
          <p:nvPr/>
        </p:nvSpPr>
        <p:spPr>
          <a:xfrm>
            <a:off x="3410713" y="379711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template = primary classification</a:t>
            </a:r>
          </a:p>
        </p:txBody>
      </p:sp>
      <p:sp>
        <p:nvSpPr>
          <p:cNvPr id="158" name="Rectangle 157">
            <a:extLst>
              <a:ext uri="{FF2B5EF4-FFF2-40B4-BE49-F238E27FC236}">
                <a16:creationId xmlns:a16="http://schemas.microsoft.com/office/drawing/2014/main" id="{0AD5966D-DABD-4D99-2C22-861B743A584B}"/>
              </a:ext>
            </a:extLst>
          </p:cNvPr>
          <p:cNvSpPr/>
          <p:nvPr/>
        </p:nvSpPr>
        <p:spPr>
          <a:xfrm>
            <a:off x="5541265" y="375139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9" name="TextBox 158">
            <a:extLst>
              <a:ext uri="{FF2B5EF4-FFF2-40B4-BE49-F238E27FC236}">
                <a16:creationId xmlns:a16="http://schemas.microsoft.com/office/drawing/2014/main" id="{1FF56E15-7F61-27FE-D800-BA7CFDA0EE34}"/>
              </a:ext>
            </a:extLst>
          </p:cNvPr>
          <p:cNvSpPr txBox="1"/>
          <p:nvPr/>
        </p:nvSpPr>
        <p:spPr>
          <a:xfrm>
            <a:off x="5632705" y="379711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scoring tool — judgment + weekly cadence</a:t>
            </a:r>
          </a:p>
        </p:txBody>
      </p:sp>
      <p:sp>
        <p:nvSpPr>
          <p:cNvPr id="160" name="Rectangle 159">
            <a:extLst>
              <a:ext uri="{FF2B5EF4-FFF2-40B4-BE49-F238E27FC236}">
                <a16:creationId xmlns:a16="http://schemas.microsoft.com/office/drawing/2014/main" id="{7BCB8361-59B5-6080-8645-D475C5140105}"/>
              </a:ext>
            </a:extLst>
          </p:cNvPr>
          <p:cNvSpPr/>
          <p:nvPr/>
        </p:nvSpPr>
        <p:spPr>
          <a:xfrm>
            <a:off x="7763257" y="375139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1" name="TextBox 160">
            <a:extLst>
              <a:ext uri="{FF2B5EF4-FFF2-40B4-BE49-F238E27FC236}">
                <a16:creationId xmlns:a16="http://schemas.microsoft.com/office/drawing/2014/main" id="{AC4780F5-1FCD-9E06-5249-089697926AE9}"/>
              </a:ext>
            </a:extLst>
          </p:cNvPr>
          <p:cNvSpPr txBox="1"/>
          <p:nvPr/>
        </p:nvSpPr>
        <p:spPr>
          <a:xfrm>
            <a:off x="7854697" y="379711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PPM Now + Confluence + Jira — most mature stack in scope</a:t>
            </a:r>
          </a:p>
        </p:txBody>
      </p:sp>
      <p:sp>
        <p:nvSpPr>
          <p:cNvPr id="162" name="Rectangle 161">
            <a:extLst>
              <a:ext uri="{FF2B5EF4-FFF2-40B4-BE49-F238E27FC236}">
                <a16:creationId xmlns:a16="http://schemas.microsoft.com/office/drawing/2014/main" id="{2C1C24BB-DDF4-3D98-68DD-B19EEC2C1BF8}"/>
              </a:ext>
            </a:extLst>
          </p:cNvPr>
          <p:cNvSpPr/>
          <p:nvPr/>
        </p:nvSpPr>
        <p:spPr>
          <a:xfrm>
            <a:off x="9985249" y="375139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3" name="TextBox 162">
            <a:extLst>
              <a:ext uri="{FF2B5EF4-FFF2-40B4-BE49-F238E27FC236}">
                <a16:creationId xmlns:a16="http://schemas.microsoft.com/office/drawing/2014/main" id="{26FEB02A-7D77-8C06-9DA0-F68EB9691064}"/>
              </a:ext>
            </a:extLst>
          </p:cNvPr>
          <p:cNvSpPr txBox="1"/>
          <p:nvPr/>
        </p:nvSpPr>
        <p:spPr>
          <a:xfrm>
            <a:off x="10076689" y="379711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Vendor stack for build; Confluence for portfolio documentation</a:t>
            </a:r>
          </a:p>
        </p:txBody>
      </p:sp>
      <p:sp>
        <p:nvSpPr>
          <p:cNvPr id="164" name="Rectangle 163">
            <a:extLst>
              <a:ext uri="{FF2B5EF4-FFF2-40B4-BE49-F238E27FC236}">
                <a16:creationId xmlns:a16="http://schemas.microsoft.com/office/drawing/2014/main" id="{9C7C444F-5424-20BE-C8B2-BD5C943EDF60}"/>
              </a:ext>
            </a:extLst>
          </p:cNvPr>
          <p:cNvSpPr/>
          <p:nvPr/>
        </p:nvSpPr>
        <p:spPr>
          <a:xfrm>
            <a:off x="457201" y="4281745"/>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6" name="TextBox 165">
            <a:extLst>
              <a:ext uri="{FF2B5EF4-FFF2-40B4-BE49-F238E27FC236}">
                <a16:creationId xmlns:a16="http://schemas.microsoft.com/office/drawing/2014/main" id="{D9CB8DBB-DC16-4515-EA3F-4064F0ADCAAB}"/>
              </a:ext>
            </a:extLst>
          </p:cNvPr>
          <p:cNvSpPr txBox="1"/>
          <p:nvPr/>
        </p:nvSpPr>
        <p:spPr>
          <a:xfrm>
            <a:off x="457201" y="4431010"/>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167" name="Rectangle 166">
            <a:extLst>
              <a:ext uri="{FF2B5EF4-FFF2-40B4-BE49-F238E27FC236}">
                <a16:creationId xmlns:a16="http://schemas.microsoft.com/office/drawing/2014/main" id="{D4B92487-ACCE-4F49-B06C-D1D70FB70E39}"/>
              </a:ext>
            </a:extLst>
          </p:cNvPr>
          <p:cNvSpPr/>
          <p:nvPr/>
        </p:nvSpPr>
        <p:spPr>
          <a:xfrm>
            <a:off x="1097281" y="428174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8" name="TextBox 167">
            <a:extLst>
              <a:ext uri="{FF2B5EF4-FFF2-40B4-BE49-F238E27FC236}">
                <a16:creationId xmlns:a16="http://schemas.microsoft.com/office/drawing/2014/main" id="{C1CF1764-6A7B-A742-0764-BFD597728C77}"/>
              </a:ext>
            </a:extLst>
          </p:cNvPr>
          <p:cNvSpPr txBox="1"/>
          <p:nvPr/>
        </p:nvSpPr>
        <p:spPr>
          <a:xfrm>
            <a:off x="1188721" y="432746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Volumes OK (not seasonal); "usually no urgent requests"</a:t>
            </a:r>
          </a:p>
        </p:txBody>
      </p:sp>
      <p:sp>
        <p:nvSpPr>
          <p:cNvPr id="169" name="Rectangle 168">
            <a:extLst>
              <a:ext uri="{FF2B5EF4-FFF2-40B4-BE49-F238E27FC236}">
                <a16:creationId xmlns:a16="http://schemas.microsoft.com/office/drawing/2014/main" id="{CC901BE6-8DB7-8E0A-1B83-0CCCB17DA1E3}"/>
              </a:ext>
            </a:extLst>
          </p:cNvPr>
          <p:cNvSpPr/>
          <p:nvPr/>
        </p:nvSpPr>
        <p:spPr>
          <a:xfrm>
            <a:off x="3319273" y="428174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0" name="TextBox 169">
            <a:extLst>
              <a:ext uri="{FF2B5EF4-FFF2-40B4-BE49-F238E27FC236}">
                <a16:creationId xmlns:a16="http://schemas.microsoft.com/office/drawing/2014/main" id="{5C3491FB-04DA-71A4-FB7A-9729400E105E}"/>
              </a:ext>
            </a:extLst>
          </p:cNvPr>
          <p:cNvSpPr txBox="1"/>
          <p:nvPr/>
        </p:nvSpPr>
        <p:spPr>
          <a:xfrm>
            <a:off x="3410713" y="432746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Template-based → consistent, but no cross-team view</a:t>
            </a:r>
          </a:p>
        </p:txBody>
      </p:sp>
      <p:sp>
        <p:nvSpPr>
          <p:cNvPr id="171" name="Rectangle 170">
            <a:extLst>
              <a:ext uri="{FF2B5EF4-FFF2-40B4-BE49-F238E27FC236}">
                <a16:creationId xmlns:a16="http://schemas.microsoft.com/office/drawing/2014/main" id="{070D81F1-12A2-3DC2-7D19-2EDFDBBD3AFA}"/>
              </a:ext>
            </a:extLst>
          </p:cNvPr>
          <p:cNvSpPr/>
          <p:nvPr/>
        </p:nvSpPr>
        <p:spPr>
          <a:xfrm>
            <a:off x="5541265" y="428174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2" name="TextBox 171">
            <a:extLst>
              <a:ext uri="{FF2B5EF4-FFF2-40B4-BE49-F238E27FC236}">
                <a16:creationId xmlns:a16="http://schemas.microsoft.com/office/drawing/2014/main" id="{C226FEC6-6D40-07F7-9079-009D59D19EDA}"/>
              </a:ext>
            </a:extLst>
          </p:cNvPr>
          <p:cNvSpPr txBox="1"/>
          <p:nvPr/>
        </p:nvSpPr>
        <p:spPr>
          <a:xfrm>
            <a:off x="5632705" y="432746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"Intrinsic common sense" = tribal knowledge risk</a:t>
            </a:r>
          </a:p>
        </p:txBody>
      </p:sp>
      <p:sp>
        <p:nvSpPr>
          <p:cNvPr id="173" name="Rectangle 172">
            <a:extLst>
              <a:ext uri="{FF2B5EF4-FFF2-40B4-BE49-F238E27FC236}">
                <a16:creationId xmlns:a16="http://schemas.microsoft.com/office/drawing/2014/main" id="{BA995B42-6C21-6962-3B54-FDE5F27693D5}"/>
              </a:ext>
            </a:extLst>
          </p:cNvPr>
          <p:cNvSpPr/>
          <p:nvPr/>
        </p:nvSpPr>
        <p:spPr>
          <a:xfrm>
            <a:off x="7763257" y="428174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4" name="TextBox 173">
            <a:extLst>
              <a:ext uri="{FF2B5EF4-FFF2-40B4-BE49-F238E27FC236}">
                <a16:creationId xmlns:a16="http://schemas.microsoft.com/office/drawing/2014/main" id="{65B2508B-B5BB-51A6-DE1D-9423767EDD39}"/>
              </a:ext>
            </a:extLst>
          </p:cNvPr>
          <p:cNvSpPr txBox="1"/>
          <p:nvPr/>
        </p:nvSpPr>
        <p:spPr>
          <a:xfrm>
            <a:off x="7854697" y="4327465"/>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Weekly meeting governs; PPM Now = only portfolio instance in CS branch</a:t>
            </a:r>
          </a:p>
        </p:txBody>
      </p:sp>
      <p:sp>
        <p:nvSpPr>
          <p:cNvPr id="175" name="Rectangle 174">
            <a:extLst>
              <a:ext uri="{FF2B5EF4-FFF2-40B4-BE49-F238E27FC236}">
                <a16:creationId xmlns:a16="http://schemas.microsoft.com/office/drawing/2014/main" id="{971F94BB-A19D-24C2-937B-9E8808FFD92B}"/>
              </a:ext>
            </a:extLst>
          </p:cNvPr>
          <p:cNvSpPr/>
          <p:nvPr/>
        </p:nvSpPr>
        <p:spPr>
          <a:xfrm>
            <a:off x="9985249" y="4281745"/>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6" name="TextBox 175">
            <a:extLst>
              <a:ext uri="{FF2B5EF4-FFF2-40B4-BE49-F238E27FC236}">
                <a16:creationId xmlns:a16="http://schemas.microsoft.com/office/drawing/2014/main" id="{46F1D2DF-810F-A60B-9583-7046C9D46FED}"/>
              </a:ext>
            </a:extLst>
          </p:cNvPr>
          <p:cNvSpPr txBox="1"/>
          <p:nvPr/>
        </p:nvSpPr>
        <p:spPr>
          <a:xfrm>
            <a:off x="10076689" y="4327465"/>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If vendor exits, execution knowledge is lost — 100% dependency</a:t>
            </a:r>
          </a:p>
        </p:txBody>
      </p:sp>
      <p:sp>
        <p:nvSpPr>
          <p:cNvPr id="177" name="Rectangle 176">
            <a:extLst>
              <a:ext uri="{FF2B5EF4-FFF2-40B4-BE49-F238E27FC236}">
                <a16:creationId xmlns:a16="http://schemas.microsoft.com/office/drawing/2014/main" id="{FAF4736A-FC8C-936E-D4D4-CDBCDF489155}"/>
              </a:ext>
            </a:extLst>
          </p:cNvPr>
          <p:cNvSpPr/>
          <p:nvPr/>
        </p:nvSpPr>
        <p:spPr>
          <a:xfrm>
            <a:off x="457201" y="4885249"/>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8" name="Rectangle 177">
            <a:extLst>
              <a:ext uri="{FF2B5EF4-FFF2-40B4-BE49-F238E27FC236}">
                <a16:creationId xmlns:a16="http://schemas.microsoft.com/office/drawing/2014/main" id="{1AA4210C-D35C-38B7-5DE4-19C389D5D38F}"/>
              </a:ext>
            </a:extLst>
          </p:cNvPr>
          <p:cNvSpPr/>
          <p:nvPr/>
        </p:nvSpPr>
        <p:spPr>
          <a:xfrm>
            <a:off x="457201" y="4885249"/>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9" name="TextBox 178">
            <a:extLst>
              <a:ext uri="{FF2B5EF4-FFF2-40B4-BE49-F238E27FC236}">
                <a16:creationId xmlns:a16="http://schemas.microsoft.com/office/drawing/2014/main" id="{5AF7B111-BEDA-3EB2-F111-3E289307BA9F}"/>
              </a:ext>
            </a:extLst>
          </p:cNvPr>
          <p:cNvSpPr txBox="1"/>
          <p:nvPr/>
        </p:nvSpPr>
        <p:spPr>
          <a:xfrm>
            <a:off x="640081" y="4930969"/>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180" name="TextBox 179">
            <a:extLst>
              <a:ext uri="{FF2B5EF4-FFF2-40B4-BE49-F238E27FC236}">
                <a16:creationId xmlns:a16="http://schemas.microsoft.com/office/drawing/2014/main" id="{4FC207D9-7D5D-3F59-7D27-91D7DAC8470A}"/>
              </a:ext>
            </a:extLst>
          </p:cNvPr>
          <p:cNvSpPr txBox="1"/>
          <p:nvPr/>
        </p:nvSpPr>
        <p:spPr>
          <a:xfrm>
            <a:off x="6400801" y="4930969"/>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A443"/>
                </a:solidFill>
                <a:latin typeface="Helvetica Neue"/>
              </a:rPr>
              <a:t>SUPPORTING QUOTE</a:t>
            </a:r>
          </a:p>
        </p:txBody>
      </p:sp>
      <p:sp>
        <p:nvSpPr>
          <p:cNvPr id="181" name="TextBox 180">
            <a:extLst>
              <a:ext uri="{FF2B5EF4-FFF2-40B4-BE49-F238E27FC236}">
                <a16:creationId xmlns:a16="http://schemas.microsoft.com/office/drawing/2014/main" id="{04F086CC-5F7C-E04D-8678-CE3C2E393BA8}"/>
              </a:ext>
            </a:extLst>
          </p:cNvPr>
          <p:cNvSpPr txBox="1"/>
          <p:nvPr/>
        </p:nvSpPr>
        <p:spPr>
          <a:xfrm>
            <a:off x="6400801" y="5177857"/>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"All portfolio in vendor. Vendors are the consultants for the work — getting requirements on tech side, steps to follow and do the code also — all custom applications" — Smart Metering Champion (PM)</a:t>
            </a:r>
          </a:p>
        </p:txBody>
      </p:sp>
      <p:sp>
        <p:nvSpPr>
          <p:cNvPr id="182" name="TextBox 181">
            <a:extLst>
              <a:ext uri="{FF2B5EF4-FFF2-40B4-BE49-F238E27FC236}">
                <a16:creationId xmlns:a16="http://schemas.microsoft.com/office/drawing/2014/main" id="{6CCF391D-9BF2-0768-DF54-4BAB3271ADC8}"/>
              </a:ext>
            </a:extLst>
          </p:cNvPr>
          <p:cNvSpPr txBox="1"/>
          <p:nvPr/>
        </p:nvSpPr>
        <p:spPr>
          <a:xfrm>
            <a:off x="640081" y="5177857"/>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Only area using PPM Now + Confluence — the stack is right, but it exists as one-team exception rather than branch standard</a:t>
            </a:r>
          </a:p>
          <a:p>
            <a:pPr algn="l">
              <a:lnSpc>
                <a:spcPct val="110000"/>
              </a:lnSpc>
              <a:spcBef>
                <a:spcPts val="0"/>
              </a:spcBef>
              <a:spcAft>
                <a:spcPts val="0"/>
              </a:spcAft>
            </a:pPr>
            <a:r>
              <a:rPr lang="en-US" sz="900" b="0" i="0" noProof="0">
                <a:solidFill>
                  <a:srgbClr val="2C3E50"/>
                </a:solidFill>
                <a:latin typeface="Helvetica Neue"/>
              </a:rPr>
              <a:t>▸  100% vendor delivery (requirements + code) means Avangrid owns no execution knowledge — if the vendor exits, everything stops</a:t>
            </a:r>
          </a:p>
          <a:p>
            <a:pPr algn="l">
              <a:lnSpc>
                <a:spcPct val="110000"/>
              </a:lnSpc>
              <a:spcBef>
                <a:spcPts val="0"/>
              </a:spcBef>
              <a:spcAft>
                <a:spcPts val="0"/>
              </a:spcAft>
            </a:pPr>
            <a:r>
              <a:rPr lang="en-US" sz="900" b="0" i="0" noProof="0">
                <a:solidFill>
                  <a:srgbClr val="2C3E50"/>
                </a:solidFill>
                <a:latin typeface="Helvetica Neue"/>
              </a:rPr>
              <a:t>▸  "Intrinsic common sense" for prioritization signals tribal knowledge — works at current scale, fails on leadership transition</a:t>
            </a:r>
          </a:p>
        </p:txBody>
      </p:sp>
      <p:sp>
        <p:nvSpPr>
          <p:cNvPr id="183" name="Rectangle 182">
            <a:extLst>
              <a:ext uri="{FF2B5EF4-FFF2-40B4-BE49-F238E27FC236}">
                <a16:creationId xmlns:a16="http://schemas.microsoft.com/office/drawing/2014/main" id="{FE3F83CB-D9D6-3903-57E6-863D4A405AE8}"/>
              </a:ext>
            </a:extLst>
          </p:cNvPr>
          <p:cNvSpPr/>
          <p:nvPr/>
        </p:nvSpPr>
        <p:spPr>
          <a:xfrm>
            <a:off x="457201" y="6229417"/>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4" name="TextBox 183">
            <a:extLst>
              <a:ext uri="{FF2B5EF4-FFF2-40B4-BE49-F238E27FC236}">
                <a16:creationId xmlns:a16="http://schemas.microsoft.com/office/drawing/2014/main" id="{84ABCCA8-52B5-60E8-191C-1C7132C15928}"/>
              </a:ext>
            </a:extLst>
          </p:cNvPr>
          <p:cNvSpPr txBox="1"/>
          <p:nvPr/>
        </p:nvSpPr>
        <p:spPr>
          <a:xfrm>
            <a:off x="685801" y="6275137"/>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Smart Metering is the most tool-mature area — but full vendor dependency and intuitive prioritization create knowledge and governance risk</a:t>
            </a:r>
          </a:p>
        </p:txBody>
      </p:sp>
    </p:spTree>
    <p:extLst>
      <p:ext uri="{BB962C8B-B14F-4D97-AF65-F5344CB8AC3E}">
        <p14:creationId xmlns:p14="http://schemas.microsoft.com/office/powerpoint/2010/main" val="38094192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76C6-9B34-941E-C1E7-6CEC4E53AE90}"/>
            </a:ext>
          </a:extLst>
        </p:cNvPr>
        <p:cNvGrpSpPr/>
        <p:nvPr/>
      </p:nvGrpSpPr>
      <p:grpSpPr>
        <a:xfrm>
          <a:off x="0" y="0"/>
          <a:ext cx="0" cy="0"/>
          <a:chOff x="0" y="0"/>
          <a:chExt cx="0" cy="0"/>
        </a:xfrm>
      </p:grpSpPr>
      <p:sp>
        <p:nvSpPr>
          <p:cNvPr id="229" name="Rectangle 228">
            <a:extLst>
              <a:ext uri="{FF2B5EF4-FFF2-40B4-BE49-F238E27FC236}">
                <a16:creationId xmlns:a16="http://schemas.microsoft.com/office/drawing/2014/main" id="{8C087088-33F9-1676-3593-ED24BCB67EC3}"/>
              </a:ext>
            </a:extLst>
          </p:cNvPr>
          <p:cNvSpPr/>
          <p:nvPr/>
        </p:nvSpPr>
        <p:spPr>
          <a:xfrm>
            <a:off x="180918" y="6327040"/>
            <a:ext cx="11906307" cy="502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8" name="TextBox 2">
            <a:extLst>
              <a:ext uri="{FF2B5EF4-FFF2-40B4-BE49-F238E27FC236}">
                <a16:creationId xmlns:a16="http://schemas.microsoft.com/office/drawing/2014/main" id="{FD7610C7-1142-7304-A74C-AB96B10D2BC5}"/>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r>
              <a:rPr lang="en-US"/>
              <a:t>Customer Services runs 5 sub-teams with heterogeneous maturity — only Smart Metering exhibits a mature portfolio practice; the rest route demand director-level</a:t>
            </a:r>
          </a:p>
          <a:p>
            <a:endParaRPr lang="en-US"/>
          </a:p>
          <a:p>
            <a:endParaRPr lang="en-US"/>
          </a:p>
        </p:txBody>
      </p:sp>
      <p:sp>
        <p:nvSpPr>
          <p:cNvPr id="5" name="Título 2">
            <a:extLst>
              <a:ext uri="{FF2B5EF4-FFF2-40B4-BE49-F238E27FC236}">
                <a16:creationId xmlns:a16="http://schemas.microsoft.com/office/drawing/2014/main" id="{A1FF3D88-C1FF-97A8-4427-35A835BD972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a:latin typeface="Arial" panose="020B0604020202020204" pitchFamily="34" charset="0"/>
                <a:cs typeface="Arial" panose="020B0604020202020204" pitchFamily="34" charset="0"/>
              </a:rPr>
              <a:t>VALUE STREAM MAPPING - DEMAND </a:t>
            </a:r>
            <a:r>
              <a:rPr lang="en-US" sz="1200" noProof="0">
                <a:latin typeface="Arial" panose="020B0604020202020204" pitchFamily="34" charset="0"/>
                <a:cs typeface="Arial" panose="020B0604020202020204" pitchFamily="34" charset="0"/>
              </a:rPr>
              <a:t>FLOW</a:t>
            </a:r>
          </a:p>
        </p:txBody>
      </p:sp>
      <p:sp>
        <p:nvSpPr>
          <p:cNvPr id="2" name="TextBox 1">
            <a:extLst>
              <a:ext uri="{FF2B5EF4-FFF2-40B4-BE49-F238E27FC236}">
                <a16:creationId xmlns:a16="http://schemas.microsoft.com/office/drawing/2014/main" id="{3EF6C65F-0FC6-6DAF-EE7D-B4A00518B26A}"/>
              </a:ext>
            </a:extLst>
          </p:cNvPr>
          <p:cNvSpPr txBox="1"/>
          <p:nvPr/>
        </p:nvSpPr>
        <p:spPr>
          <a:xfrm>
            <a:off x="457201" y="1410529"/>
            <a:ext cx="11274552" cy="154979"/>
          </a:xfrm>
          <a:prstGeom prst="rect">
            <a:avLst/>
          </a:prstGeom>
          <a:noFill/>
        </p:spPr>
        <p:txBody>
          <a:bodyPr wrap="square" lIns="0" tIns="0" rIns="0" bIns="0" anchor="t">
            <a:spAutoFit/>
          </a:bodyPr>
          <a:lstStyle/>
          <a:p>
            <a:pPr>
              <a:lnSpc>
                <a:spcPct val="110000"/>
              </a:lnSpc>
            </a:pPr>
            <a:r>
              <a:rPr lang="en-US" sz="1000" i="1">
                <a:solidFill>
                  <a:schemeClr val="accent1"/>
                </a:solidFill>
                <a:latin typeface="Helvetica Neue"/>
              </a:rPr>
              <a:t>Customer Services Apps — Kumar </a:t>
            </a:r>
            <a:r>
              <a:rPr lang="en-US" sz="1000" i="1" err="1">
                <a:solidFill>
                  <a:schemeClr val="accent1"/>
                </a:solidFill>
                <a:latin typeface="Helvetica Neue"/>
              </a:rPr>
              <a:t>Jaladanki</a:t>
            </a:r>
            <a:r>
              <a:rPr lang="en-US" sz="1000" i="1">
                <a:solidFill>
                  <a:schemeClr val="accent1"/>
                </a:solidFill>
                <a:latin typeface="Helvetica Neue"/>
              </a:rPr>
              <a:t> (Director) — 5 sub-teams</a:t>
            </a:r>
          </a:p>
        </p:txBody>
      </p:sp>
      <p:sp>
        <p:nvSpPr>
          <p:cNvPr id="7" name="Rectangle 6">
            <a:extLst>
              <a:ext uri="{FF2B5EF4-FFF2-40B4-BE49-F238E27FC236}">
                <a16:creationId xmlns:a16="http://schemas.microsoft.com/office/drawing/2014/main" id="{138ABDDC-C45F-5660-6E89-4CD4D285E1EB}"/>
              </a:ext>
            </a:extLst>
          </p:cNvPr>
          <p:cNvSpPr/>
          <p:nvPr/>
        </p:nvSpPr>
        <p:spPr>
          <a:xfrm>
            <a:off x="457200" y="1645539"/>
            <a:ext cx="11274552"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a:extLst>
              <a:ext uri="{FF2B5EF4-FFF2-40B4-BE49-F238E27FC236}">
                <a16:creationId xmlns:a16="http://schemas.microsoft.com/office/drawing/2014/main" id="{4CF1181A-F255-E527-9842-B013C1125AE3}"/>
              </a:ext>
            </a:extLst>
          </p:cNvPr>
          <p:cNvSpPr/>
          <p:nvPr/>
        </p:nvSpPr>
        <p:spPr>
          <a:xfrm>
            <a:off x="457200" y="1645539"/>
            <a:ext cx="1828800" cy="274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TextBox 15">
            <a:extLst>
              <a:ext uri="{FF2B5EF4-FFF2-40B4-BE49-F238E27FC236}">
                <a16:creationId xmlns:a16="http://schemas.microsoft.com/office/drawing/2014/main" id="{7154C197-91C1-B01A-4798-E9E97988D00F}"/>
              </a:ext>
            </a:extLst>
          </p:cNvPr>
          <p:cNvSpPr txBox="1"/>
          <p:nvPr/>
        </p:nvSpPr>
        <p:spPr>
          <a:xfrm>
            <a:off x="457200" y="1645539"/>
            <a:ext cx="1828800" cy="274320"/>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BUSINESS REQUESTERS</a:t>
            </a:r>
          </a:p>
        </p:txBody>
      </p:sp>
      <p:sp>
        <p:nvSpPr>
          <p:cNvPr id="17" name="TextBox 16">
            <a:extLst>
              <a:ext uri="{FF2B5EF4-FFF2-40B4-BE49-F238E27FC236}">
                <a16:creationId xmlns:a16="http://schemas.microsoft.com/office/drawing/2014/main" id="{7CFAAAC6-5C23-5170-1025-A99642CCBF84}"/>
              </a:ext>
            </a:extLst>
          </p:cNvPr>
          <p:cNvSpPr txBox="1"/>
          <p:nvPr/>
        </p:nvSpPr>
        <p:spPr>
          <a:xfrm>
            <a:off x="2377440" y="1645539"/>
            <a:ext cx="9281160" cy="274320"/>
          </a:xfrm>
          <a:prstGeom prst="rect">
            <a:avLst/>
          </a:prstGeom>
          <a:solidFill>
            <a:schemeClr val="accent1"/>
          </a:solid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Helvetica Neue"/>
              </a:rPr>
              <a:t>Customer Billing &amp; Collections · Contact Center · CRM operations · Credit &amp; Risk · BRS UIL (CT) · BRS CMP (ME) · BRS NY (New York) · Travis PMO · 7 OPCOs (via BRS)</a:t>
            </a:r>
          </a:p>
        </p:txBody>
      </p:sp>
      <p:sp>
        <p:nvSpPr>
          <p:cNvPr id="18" name="Rectangle 17">
            <a:extLst>
              <a:ext uri="{FF2B5EF4-FFF2-40B4-BE49-F238E27FC236}">
                <a16:creationId xmlns:a16="http://schemas.microsoft.com/office/drawing/2014/main" id="{9DE95D77-C446-7CB6-6B0A-14430312958D}"/>
              </a:ext>
            </a:extLst>
          </p:cNvPr>
          <p:cNvSpPr/>
          <p:nvPr/>
        </p:nvSpPr>
        <p:spPr>
          <a:xfrm>
            <a:off x="1097280"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 name="TextBox 18">
            <a:extLst>
              <a:ext uri="{FF2B5EF4-FFF2-40B4-BE49-F238E27FC236}">
                <a16:creationId xmlns:a16="http://schemas.microsoft.com/office/drawing/2014/main" id="{D040C925-65B6-404F-4B19-590A974EA3BF}"/>
              </a:ext>
            </a:extLst>
          </p:cNvPr>
          <p:cNvSpPr txBox="1"/>
          <p:nvPr/>
        </p:nvSpPr>
        <p:spPr>
          <a:xfrm>
            <a:off x="1097280" y="20295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01 INTAKE</a:t>
            </a:r>
          </a:p>
        </p:txBody>
      </p:sp>
      <p:sp>
        <p:nvSpPr>
          <p:cNvPr id="20" name="Rounded Rectangle 10">
            <a:extLst>
              <a:ext uri="{FF2B5EF4-FFF2-40B4-BE49-F238E27FC236}">
                <a16:creationId xmlns:a16="http://schemas.microsoft.com/office/drawing/2014/main" id="{CC3FD79C-A665-8B3F-BE72-950D32903D87}"/>
              </a:ext>
            </a:extLst>
          </p:cNvPr>
          <p:cNvSpPr/>
          <p:nvPr/>
        </p:nvSpPr>
        <p:spPr>
          <a:xfrm>
            <a:off x="1632204" y="2431923"/>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0">
            <a:extLst>
              <a:ext uri="{FF2B5EF4-FFF2-40B4-BE49-F238E27FC236}">
                <a16:creationId xmlns:a16="http://schemas.microsoft.com/office/drawing/2014/main" id="{3EF98691-92CB-0B69-38BD-22376723348F}"/>
              </a:ext>
            </a:extLst>
          </p:cNvPr>
          <p:cNvSpPr txBox="1"/>
          <p:nvPr/>
        </p:nvSpPr>
        <p:spPr>
          <a:xfrm>
            <a:off x="1632204" y="2431923"/>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22" name="Rectangle 21">
            <a:extLst>
              <a:ext uri="{FF2B5EF4-FFF2-40B4-BE49-F238E27FC236}">
                <a16:creationId xmlns:a16="http://schemas.microsoft.com/office/drawing/2014/main" id="{3BCE0931-3A19-0EF0-EFB5-C09655DE9896}"/>
              </a:ext>
            </a:extLst>
          </p:cNvPr>
          <p:cNvSpPr/>
          <p:nvPr/>
        </p:nvSpPr>
        <p:spPr>
          <a:xfrm>
            <a:off x="3319272"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TextBox 22">
            <a:extLst>
              <a:ext uri="{FF2B5EF4-FFF2-40B4-BE49-F238E27FC236}">
                <a16:creationId xmlns:a16="http://schemas.microsoft.com/office/drawing/2014/main" id="{E4468068-0A8D-491E-867D-100216CE60B6}"/>
              </a:ext>
            </a:extLst>
          </p:cNvPr>
          <p:cNvSpPr txBox="1"/>
          <p:nvPr/>
        </p:nvSpPr>
        <p:spPr>
          <a:xfrm>
            <a:off x="3319272" y="20295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02 CLASSIFICATION</a:t>
            </a:r>
          </a:p>
        </p:txBody>
      </p:sp>
      <p:sp>
        <p:nvSpPr>
          <p:cNvPr id="24" name="Rounded Rectangle 14">
            <a:extLst>
              <a:ext uri="{FF2B5EF4-FFF2-40B4-BE49-F238E27FC236}">
                <a16:creationId xmlns:a16="http://schemas.microsoft.com/office/drawing/2014/main" id="{33C7A944-2A6F-49B8-74FB-ADE3D64AC6D2}"/>
              </a:ext>
            </a:extLst>
          </p:cNvPr>
          <p:cNvSpPr/>
          <p:nvPr/>
        </p:nvSpPr>
        <p:spPr>
          <a:xfrm>
            <a:off x="3854196" y="2431923"/>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a:extLst>
              <a:ext uri="{FF2B5EF4-FFF2-40B4-BE49-F238E27FC236}">
                <a16:creationId xmlns:a16="http://schemas.microsoft.com/office/drawing/2014/main" id="{48A54201-FDB3-9DB4-62B4-AFD0F3023172}"/>
              </a:ext>
            </a:extLst>
          </p:cNvPr>
          <p:cNvSpPr txBox="1"/>
          <p:nvPr/>
        </p:nvSpPr>
        <p:spPr>
          <a:xfrm>
            <a:off x="3854196" y="2453119"/>
            <a:ext cx="1097280" cy="140488"/>
          </a:xfrm>
          <a:prstGeom prst="rect">
            <a:avLst/>
          </a:prstGeom>
          <a:solidFill>
            <a:srgbClr val="E67E22"/>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GAP</a:t>
            </a:r>
          </a:p>
        </p:txBody>
      </p:sp>
      <p:sp>
        <p:nvSpPr>
          <p:cNvPr id="26" name="Rectangle 25">
            <a:extLst>
              <a:ext uri="{FF2B5EF4-FFF2-40B4-BE49-F238E27FC236}">
                <a16:creationId xmlns:a16="http://schemas.microsoft.com/office/drawing/2014/main" id="{7123D834-D508-50AB-673C-65114955945D}"/>
              </a:ext>
            </a:extLst>
          </p:cNvPr>
          <p:cNvSpPr/>
          <p:nvPr/>
        </p:nvSpPr>
        <p:spPr>
          <a:xfrm>
            <a:off x="5541264"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26">
            <a:extLst>
              <a:ext uri="{FF2B5EF4-FFF2-40B4-BE49-F238E27FC236}">
                <a16:creationId xmlns:a16="http://schemas.microsoft.com/office/drawing/2014/main" id="{819E1100-3CFE-0642-1BF5-08B5C9237FFD}"/>
              </a:ext>
            </a:extLst>
          </p:cNvPr>
          <p:cNvSpPr txBox="1"/>
          <p:nvPr/>
        </p:nvSpPr>
        <p:spPr>
          <a:xfrm>
            <a:off x="5541264" y="20295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03 PRIORITIZATION</a:t>
            </a:r>
          </a:p>
        </p:txBody>
      </p:sp>
      <p:sp>
        <p:nvSpPr>
          <p:cNvPr id="28" name="Rounded Rectangle 18">
            <a:extLst>
              <a:ext uri="{FF2B5EF4-FFF2-40B4-BE49-F238E27FC236}">
                <a16:creationId xmlns:a16="http://schemas.microsoft.com/office/drawing/2014/main" id="{EB5F589A-7751-C5E7-B40B-33510F625A7D}"/>
              </a:ext>
            </a:extLst>
          </p:cNvPr>
          <p:cNvSpPr/>
          <p:nvPr/>
        </p:nvSpPr>
        <p:spPr>
          <a:xfrm>
            <a:off x="6076188" y="2431923"/>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TextBox 28">
            <a:extLst>
              <a:ext uri="{FF2B5EF4-FFF2-40B4-BE49-F238E27FC236}">
                <a16:creationId xmlns:a16="http://schemas.microsoft.com/office/drawing/2014/main" id="{35E6C40A-B5A7-BF66-4C14-3DF9D5B6673C}"/>
              </a:ext>
            </a:extLst>
          </p:cNvPr>
          <p:cNvSpPr txBox="1"/>
          <p:nvPr/>
        </p:nvSpPr>
        <p:spPr>
          <a:xfrm>
            <a:off x="6076188" y="2431923"/>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30" name="Rectangle 29">
            <a:extLst>
              <a:ext uri="{FF2B5EF4-FFF2-40B4-BE49-F238E27FC236}">
                <a16:creationId xmlns:a16="http://schemas.microsoft.com/office/drawing/2014/main" id="{0ABCA8CA-1BC5-4B6D-5918-6F68C6C58E8F}"/>
              </a:ext>
            </a:extLst>
          </p:cNvPr>
          <p:cNvSpPr/>
          <p:nvPr/>
        </p:nvSpPr>
        <p:spPr>
          <a:xfrm>
            <a:off x="7763256" y="2029587"/>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TextBox 30">
            <a:extLst>
              <a:ext uri="{FF2B5EF4-FFF2-40B4-BE49-F238E27FC236}">
                <a16:creationId xmlns:a16="http://schemas.microsoft.com/office/drawing/2014/main" id="{25AF214F-BAFF-3857-FBAF-DDED5A1AD88E}"/>
              </a:ext>
            </a:extLst>
          </p:cNvPr>
          <p:cNvSpPr txBox="1"/>
          <p:nvPr/>
        </p:nvSpPr>
        <p:spPr>
          <a:xfrm>
            <a:off x="7763256" y="2029587"/>
            <a:ext cx="2167128" cy="347472"/>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04 PORTFOLIO</a:t>
            </a:r>
          </a:p>
        </p:txBody>
      </p:sp>
      <p:sp>
        <p:nvSpPr>
          <p:cNvPr id="32" name="Rounded Rectangle 22">
            <a:extLst>
              <a:ext uri="{FF2B5EF4-FFF2-40B4-BE49-F238E27FC236}">
                <a16:creationId xmlns:a16="http://schemas.microsoft.com/office/drawing/2014/main" id="{25842C92-E3D7-A33B-6017-2EFCF1ABE25F}"/>
              </a:ext>
            </a:extLst>
          </p:cNvPr>
          <p:cNvSpPr/>
          <p:nvPr/>
        </p:nvSpPr>
        <p:spPr>
          <a:xfrm>
            <a:off x="8298180" y="2431923"/>
            <a:ext cx="1097280" cy="18288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3" name="TextBox 32">
            <a:extLst>
              <a:ext uri="{FF2B5EF4-FFF2-40B4-BE49-F238E27FC236}">
                <a16:creationId xmlns:a16="http://schemas.microsoft.com/office/drawing/2014/main" id="{36237F64-14D2-4B35-2115-BF412ABC2497}"/>
              </a:ext>
            </a:extLst>
          </p:cNvPr>
          <p:cNvSpPr txBox="1"/>
          <p:nvPr/>
        </p:nvSpPr>
        <p:spPr>
          <a:xfrm>
            <a:off x="8298180" y="2431923"/>
            <a:ext cx="1097280" cy="182880"/>
          </a:xfrm>
          <a:prstGeom prst="rect">
            <a:avLst/>
          </a:prstGeom>
          <a:solidFill>
            <a:srgbClr val="C0392B"/>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CRITICAL</a:t>
            </a:r>
          </a:p>
        </p:txBody>
      </p:sp>
      <p:sp>
        <p:nvSpPr>
          <p:cNvPr id="34" name="Rectangle 33">
            <a:extLst>
              <a:ext uri="{FF2B5EF4-FFF2-40B4-BE49-F238E27FC236}">
                <a16:creationId xmlns:a16="http://schemas.microsoft.com/office/drawing/2014/main" id="{25CF0329-231F-76A9-B517-F6A2A34844A8}"/>
              </a:ext>
            </a:extLst>
          </p:cNvPr>
          <p:cNvSpPr/>
          <p:nvPr/>
        </p:nvSpPr>
        <p:spPr>
          <a:xfrm>
            <a:off x="9985248" y="2029587"/>
            <a:ext cx="1722000" cy="3323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TextBox 34">
            <a:extLst>
              <a:ext uri="{FF2B5EF4-FFF2-40B4-BE49-F238E27FC236}">
                <a16:creationId xmlns:a16="http://schemas.microsoft.com/office/drawing/2014/main" id="{FC3B619A-507D-C7A2-951E-952770FB73E8}"/>
              </a:ext>
            </a:extLst>
          </p:cNvPr>
          <p:cNvSpPr txBox="1"/>
          <p:nvPr/>
        </p:nvSpPr>
        <p:spPr>
          <a:xfrm>
            <a:off x="9985248" y="2117712"/>
            <a:ext cx="1722000" cy="1561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Helvetica Neue"/>
              </a:rPr>
              <a:t>05 DELIVERY</a:t>
            </a:r>
          </a:p>
        </p:txBody>
      </p:sp>
      <p:sp>
        <p:nvSpPr>
          <p:cNvPr id="36" name="Rounded Rectangle 26">
            <a:extLst>
              <a:ext uri="{FF2B5EF4-FFF2-40B4-BE49-F238E27FC236}">
                <a16:creationId xmlns:a16="http://schemas.microsoft.com/office/drawing/2014/main" id="{CF57FB42-D510-6E1A-2EDA-EAE4111671AD}"/>
              </a:ext>
            </a:extLst>
          </p:cNvPr>
          <p:cNvSpPr/>
          <p:nvPr/>
        </p:nvSpPr>
        <p:spPr>
          <a:xfrm>
            <a:off x="10316469" y="2431923"/>
            <a:ext cx="1097280" cy="182880"/>
          </a:xfrm>
          <a:prstGeom prst="round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TextBox 36">
            <a:extLst>
              <a:ext uri="{FF2B5EF4-FFF2-40B4-BE49-F238E27FC236}">
                <a16:creationId xmlns:a16="http://schemas.microsoft.com/office/drawing/2014/main" id="{97FE20A2-FE52-4FE3-3C38-B70ACC8C7950}"/>
              </a:ext>
            </a:extLst>
          </p:cNvPr>
          <p:cNvSpPr txBox="1"/>
          <p:nvPr/>
        </p:nvSpPr>
        <p:spPr>
          <a:xfrm>
            <a:off x="10316469" y="2453119"/>
            <a:ext cx="1097280" cy="140488"/>
          </a:xfrm>
          <a:prstGeom prst="rect">
            <a:avLst/>
          </a:prstGeom>
          <a:solidFill>
            <a:srgbClr val="E67E22"/>
          </a:solidFill>
          <a:ln>
            <a:noFill/>
          </a:ln>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Helvetica Neue"/>
              </a:rPr>
              <a:t>GAP</a:t>
            </a:r>
          </a:p>
        </p:txBody>
      </p:sp>
      <p:sp>
        <p:nvSpPr>
          <p:cNvPr id="38" name="Rectangle 37">
            <a:extLst>
              <a:ext uri="{FF2B5EF4-FFF2-40B4-BE49-F238E27FC236}">
                <a16:creationId xmlns:a16="http://schemas.microsoft.com/office/drawing/2014/main" id="{829F2D6F-BD7A-662A-B576-1357422168BE}"/>
              </a:ext>
            </a:extLst>
          </p:cNvPr>
          <p:cNvSpPr/>
          <p:nvPr/>
        </p:nvSpPr>
        <p:spPr>
          <a:xfrm>
            <a:off x="457200" y="2669667"/>
            <a:ext cx="594360" cy="49377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TextBox 38">
            <a:extLst>
              <a:ext uri="{FF2B5EF4-FFF2-40B4-BE49-F238E27FC236}">
                <a16:creationId xmlns:a16="http://schemas.microsoft.com/office/drawing/2014/main" id="{C829AE6D-A726-FD7A-391D-2FF02982CA8E}"/>
              </a:ext>
            </a:extLst>
          </p:cNvPr>
          <p:cNvSpPr txBox="1"/>
          <p:nvPr/>
        </p:nvSpPr>
        <p:spPr>
          <a:xfrm>
            <a:off x="457200" y="2669667"/>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CHANNELS  ·  HOW IT ARRIVES</a:t>
            </a:r>
          </a:p>
        </p:txBody>
      </p:sp>
      <p:sp>
        <p:nvSpPr>
          <p:cNvPr id="40" name="Rectangle 39">
            <a:extLst>
              <a:ext uri="{FF2B5EF4-FFF2-40B4-BE49-F238E27FC236}">
                <a16:creationId xmlns:a16="http://schemas.microsoft.com/office/drawing/2014/main" id="{4E55E4FD-428D-ED83-7E19-91647BCE639A}"/>
              </a:ext>
            </a:extLst>
          </p:cNvPr>
          <p:cNvSpPr/>
          <p:nvPr/>
        </p:nvSpPr>
        <p:spPr>
          <a:xfrm>
            <a:off x="1097280"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1" name="TextBox 40">
            <a:extLst>
              <a:ext uri="{FF2B5EF4-FFF2-40B4-BE49-F238E27FC236}">
                <a16:creationId xmlns:a16="http://schemas.microsoft.com/office/drawing/2014/main" id="{20791D0B-51CA-643B-09F7-63844471697A}"/>
              </a:ext>
            </a:extLst>
          </p:cNvPr>
          <p:cNvSpPr txBox="1"/>
          <p:nvPr/>
        </p:nvSpPr>
        <p:spPr>
          <a:xfrm>
            <a:off x="1188720" y="27153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Email + IT Now (Metering); Jira (small-med); no shared branch channel</a:t>
            </a:r>
          </a:p>
        </p:txBody>
      </p:sp>
      <p:sp>
        <p:nvSpPr>
          <p:cNvPr id="42" name="Rectangle 41">
            <a:extLst>
              <a:ext uri="{FF2B5EF4-FFF2-40B4-BE49-F238E27FC236}">
                <a16:creationId xmlns:a16="http://schemas.microsoft.com/office/drawing/2014/main" id="{ED6D67F0-6798-8837-8A48-505B2AE68DFE}"/>
              </a:ext>
            </a:extLst>
          </p:cNvPr>
          <p:cNvSpPr/>
          <p:nvPr/>
        </p:nvSpPr>
        <p:spPr>
          <a:xfrm>
            <a:off x="3319272"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a:extLst>
              <a:ext uri="{FF2B5EF4-FFF2-40B4-BE49-F238E27FC236}">
                <a16:creationId xmlns:a16="http://schemas.microsoft.com/office/drawing/2014/main" id="{38E2ADF8-A6DD-BED6-818B-797572766E12}"/>
              </a:ext>
            </a:extLst>
          </p:cNvPr>
          <p:cNvSpPr txBox="1"/>
          <p:nvPr/>
        </p:nvSpPr>
        <p:spPr>
          <a:xfrm>
            <a:off x="3410712" y="27153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err="1">
                <a:solidFill>
                  <a:srgbClr val="2C3E50"/>
                </a:solidFill>
                <a:latin typeface="Helvetica Neue"/>
              </a:rPr>
              <a:t>Incidents→IT</a:t>
            </a:r>
            <a:r>
              <a:rPr lang="en-US" sz="900" b="0" i="0" noProof="0">
                <a:solidFill>
                  <a:srgbClr val="2C3E50"/>
                </a:solidFill>
                <a:latin typeface="Helvetica Neue"/>
              </a:rPr>
              <a:t> Now template; </a:t>
            </a:r>
            <a:r>
              <a:rPr lang="en-US" sz="900" b="0" i="0" noProof="0" err="1">
                <a:solidFill>
                  <a:srgbClr val="2C3E50"/>
                </a:solidFill>
                <a:latin typeface="Helvetica Neue"/>
              </a:rPr>
              <a:t>Large→Travis</a:t>
            </a:r>
            <a:r>
              <a:rPr lang="en-US" sz="900" b="0" i="0" noProof="0">
                <a:solidFill>
                  <a:srgbClr val="2C3E50"/>
                </a:solidFill>
                <a:latin typeface="Helvetica Neue"/>
              </a:rPr>
              <a:t> PMO; Small/</a:t>
            </a:r>
            <a:r>
              <a:rPr lang="en-US" sz="900" b="0" i="0" noProof="0" err="1">
                <a:solidFill>
                  <a:srgbClr val="2C3E50"/>
                </a:solidFill>
                <a:latin typeface="Helvetica Neue"/>
              </a:rPr>
              <a:t>Med→Jira</a:t>
            </a:r>
            <a:endParaRPr lang="en-US" sz="900" b="0" i="0" noProof="0">
              <a:solidFill>
                <a:srgbClr val="2C3E50"/>
              </a:solidFill>
              <a:latin typeface="Helvetica Neue"/>
            </a:endParaRPr>
          </a:p>
        </p:txBody>
      </p:sp>
      <p:sp>
        <p:nvSpPr>
          <p:cNvPr id="44" name="Rectangle 43">
            <a:extLst>
              <a:ext uri="{FF2B5EF4-FFF2-40B4-BE49-F238E27FC236}">
                <a16:creationId xmlns:a16="http://schemas.microsoft.com/office/drawing/2014/main" id="{D3397E6E-B065-8AEB-B5F2-271C2296B344}"/>
              </a:ext>
            </a:extLst>
          </p:cNvPr>
          <p:cNvSpPr/>
          <p:nvPr/>
        </p:nvSpPr>
        <p:spPr>
          <a:xfrm>
            <a:off x="5541264"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TextBox 44">
            <a:extLst>
              <a:ext uri="{FF2B5EF4-FFF2-40B4-BE49-F238E27FC236}">
                <a16:creationId xmlns:a16="http://schemas.microsoft.com/office/drawing/2014/main" id="{41A4C23D-5895-B725-E4A4-A8FFE0A9DA55}"/>
              </a:ext>
            </a:extLst>
          </p:cNvPr>
          <p:cNvSpPr txBox="1"/>
          <p:nvPr/>
        </p:nvSpPr>
        <p:spPr>
          <a:xfrm>
            <a:off x="5632704" y="27153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Criticality + deadline (Metering); director-level calls elsewhere</a:t>
            </a:r>
          </a:p>
        </p:txBody>
      </p:sp>
      <p:sp>
        <p:nvSpPr>
          <p:cNvPr id="46" name="Rectangle 45">
            <a:extLst>
              <a:ext uri="{FF2B5EF4-FFF2-40B4-BE49-F238E27FC236}">
                <a16:creationId xmlns:a16="http://schemas.microsoft.com/office/drawing/2014/main" id="{124C98A3-F5B0-658B-E206-0BB31755850B}"/>
              </a:ext>
            </a:extLst>
          </p:cNvPr>
          <p:cNvSpPr/>
          <p:nvPr/>
        </p:nvSpPr>
        <p:spPr>
          <a:xfrm>
            <a:off x="7763256" y="26696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7" name="TextBox 46">
            <a:extLst>
              <a:ext uri="{FF2B5EF4-FFF2-40B4-BE49-F238E27FC236}">
                <a16:creationId xmlns:a16="http://schemas.microsoft.com/office/drawing/2014/main" id="{2038CEF1-26F6-4A3C-897A-6805C2A160B4}"/>
              </a:ext>
            </a:extLst>
          </p:cNvPr>
          <p:cNvSpPr txBox="1"/>
          <p:nvPr/>
        </p:nvSpPr>
        <p:spPr>
          <a:xfrm>
            <a:off x="7854696" y="2715387"/>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PPM Now (Metering only); no branch-wide tool</a:t>
            </a:r>
          </a:p>
        </p:txBody>
      </p:sp>
      <p:sp>
        <p:nvSpPr>
          <p:cNvPr id="48" name="Rectangle 47">
            <a:extLst>
              <a:ext uri="{FF2B5EF4-FFF2-40B4-BE49-F238E27FC236}">
                <a16:creationId xmlns:a16="http://schemas.microsoft.com/office/drawing/2014/main" id="{35178108-0C76-66EF-7867-9D2148182294}"/>
              </a:ext>
            </a:extLst>
          </p:cNvPr>
          <p:cNvSpPr/>
          <p:nvPr/>
        </p:nvSpPr>
        <p:spPr>
          <a:xfrm>
            <a:off x="9985248" y="2669667"/>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9" name="TextBox 48">
            <a:extLst>
              <a:ext uri="{FF2B5EF4-FFF2-40B4-BE49-F238E27FC236}">
                <a16:creationId xmlns:a16="http://schemas.microsoft.com/office/drawing/2014/main" id="{54E63B6C-6861-F439-5017-A214408023D7}"/>
              </a:ext>
            </a:extLst>
          </p:cNvPr>
          <p:cNvSpPr txBox="1"/>
          <p:nvPr/>
        </p:nvSpPr>
        <p:spPr>
          <a:xfrm>
            <a:off x="10076688" y="2715387"/>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 Accenture + Vendors (100% in Metering)</a:t>
            </a:r>
          </a:p>
        </p:txBody>
      </p:sp>
      <p:sp>
        <p:nvSpPr>
          <p:cNvPr id="165" name="Rectangle 164">
            <a:extLst>
              <a:ext uri="{FF2B5EF4-FFF2-40B4-BE49-F238E27FC236}">
                <a16:creationId xmlns:a16="http://schemas.microsoft.com/office/drawing/2014/main" id="{8F38761C-851E-2F81-28A5-C5E9DDCECD59}"/>
              </a:ext>
            </a:extLst>
          </p:cNvPr>
          <p:cNvSpPr/>
          <p:nvPr/>
        </p:nvSpPr>
        <p:spPr>
          <a:xfrm>
            <a:off x="457200" y="3200019"/>
            <a:ext cx="594360" cy="49377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5" name="TextBox 184">
            <a:extLst>
              <a:ext uri="{FF2B5EF4-FFF2-40B4-BE49-F238E27FC236}">
                <a16:creationId xmlns:a16="http://schemas.microsoft.com/office/drawing/2014/main" id="{022021D6-3BB3-7BEB-54BD-E3B60E259897}"/>
              </a:ext>
            </a:extLst>
          </p:cNvPr>
          <p:cNvSpPr txBox="1"/>
          <p:nvPr/>
        </p:nvSpPr>
        <p:spPr>
          <a:xfrm>
            <a:off x="457200" y="3200019"/>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ROLES</a:t>
            </a:r>
          </a:p>
        </p:txBody>
      </p:sp>
      <p:sp>
        <p:nvSpPr>
          <p:cNvPr id="187" name="Rectangle 186">
            <a:extLst>
              <a:ext uri="{FF2B5EF4-FFF2-40B4-BE49-F238E27FC236}">
                <a16:creationId xmlns:a16="http://schemas.microsoft.com/office/drawing/2014/main" id="{2ADF0128-51EC-F33C-5B55-047A35B1A562}"/>
              </a:ext>
            </a:extLst>
          </p:cNvPr>
          <p:cNvSpPr/>
          <p:nvPr/>
        </p:nvSpPr>
        <p:spPr>
          <a:xfrm>
            <a:off x="1097280"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8" name="TextBox 187">
            <a:extLst>
              <a:ext uri="{FF2B5EF4-FFF2-40B4-BE49-F238E27FC236}">
                <a16:creationId xmlns:a16="http://schemas.microsoft.com/office/drawing/2014/main" id="{744EF578-BCEA-0CEC-47EE-EF4F203AF426}"/>
              </a:ext>
            </a:extLst>
          </p:cNvPr>
          <p:cNvSpPr txBox="1"/>
          <p:nvPr/>
        </p:nvSpPr>
        <p:spPr>
          <a:xfrm>
            <a:off x="1188720" y="32457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Business / BRS / OPCOs open varied channels; 5 Sr. Managers (2 vacant) receive</a:t>
            </a:r>
          </a:p>
        </p:txBody>
      </p:sp>
      <p:sp>
        <p:nvSpPr>
          <p:cNvPr id="189" name="Rectangle 188">
            <a:extLst>
              <a:ext uri="{FF2B5EF4-FFF2-40B4-BE49-F238E27FC236}">
                <a16:creationId xmlns:a16="http://schemas.microsoft.com/office/drawing/2014/main" id="{1AFEBA90-DDEA-AF49-B40E-6849E5A01479}"/>
              </a:ext>
            </a:extLst>
          </p:cNvPr>
          <p:cNvSpPr/>
          <p:nvPr/>
        </p:nvSpPr>
        <p:spPr>
          <a:xfrm>
            <a:off x="3319272"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0" name="TextBox 189">
            <a:extLst>
              <a:ext uri="{FF2B5EF4-FFF2-40B4-BE49-F238E27FC236}">
                <a16:creationId xmlns:a16="http://schemas.microsoft.com/office/drawing/2014/main" id="{E0995B2E-000F-F116-D7CE-E2E9239F72E0}"/>
              </a:ext>
            </a:extLst>
          </p:cNvPr>
          <p:cNvSpPr txBox="1"/>
          <p:nvPr/>
        </p:nvSpPr>
        <p:spPr>
          <a:xfrm>
            <a:off x="3410712" y="32457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By sub-team (Metering/FICA/CRM/Basis); Travis PMO for large</a:t>
            </a:r>
          </a:p>
        </p:txBody>
      </p:sp>
      <p:sp>
        <p:nvSpPr>
          <p:cNvPr id="191" name="Rectangle 190">
            <a:extLst>
              <a:ext uri="{FF2B5EF4-FFF2-40B4-BE49-F238E27FC236}">
                <a16:creationId xmlns:a16="http://schemas.microsoft.com/office/drawing/2014/main" id="{54901BEF-3595-7AD2-677A-223EC0EBC3AD}"/>
              </a:ext>
            </a:extLst>
          </p:cNvPr>
          <p:cNvSpPr/>
          <p:nvPr/>
        </p:nvSpPr>
        <p:spPr>
          <a:xfrm>
            <a:off x="5541264"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2" name="TextBox 191">
            <a:extLst>
              <a:ext uri="{FF2B5EF4-FFF2-40B4-BE49-F238E27FC236}">
                <a16:creationId xmlns:a16="http://schemas.microsoft.com/office/drawing/2014/main" id="{F6B83242-5124-6FB4-C6C2-E4AB53E16672}"/>
              </a:ext>
            </a:extLst>
          </p:cNvPr>
          <p:cNvSpPr txBox="1"/>
          <p:nvPr/>
        </p:nvSpPr>
        <p:spPr>
          <a:xfrm>
            <a:off x="5632704" y="32457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CS Director + sub-team managers; "intrinsic common sense" (Smart Metering Champion)</a:t>
            </a:r>
          </a:p>
        </p:txBody>
      </p:sp>
      <p:sp>
        <p:nvSpPr>
          <p:cNvPr id="193" name="Rectangle 192">
            <a:extLst>
              <a:ext uri="{FF2B5EF4-FFF2-40B4-BE49-F238E27FC236}">
                <a16:creationId xmlns:a16="http://schemas.microsoft.com/office/drawing/2014/main" id="{58174B6F-E60A-FB42-5A7A-65164508F332}"/>
              </a:ext>
            </a:extLst>
          </p:cNvPr>
          <p:cNvSpPr/>
          <p:nvPr/>
        </p:nvSpPr>
        <p:spPr>
          <a:xfrm>
            <a:off x="7763256" y="32000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4" name="TextBox 193">
            <a:extLst>
              <a:ext uri="{FF2B5EF4-FFF2-40B4-BE49-F238E27FC236}">
                <a16:creationId xmlns:a16="http://schemas.microsoft.com/office/drawing/2014/main" id="{36E0314A-012E-A2CC-5C89-D70180AF34CE}"/>
              </a:ext>
            </a:extLst>
          </p:cNvPr>
          <p:cNvSpPr txBox="1"/>
          <p:nvPr/>
        </p:nvSpPr>
        <p:spPr>
          <a:xfrm>
            <a:off x="7854696" y="3245739"/>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Travis PMO (large) + sub-team managers (small); no portfolio lead</a:t>
            </a:r>
          </a:p>
        </p:txBody>
      </p:sp>
      <p:sp>
        <p:nvSpPr>
          <p:cNvPr id="195" name="Rectangle 194">
            <a:extLst>
              <a:ext uri="{FF2B5EF4-FFF2-40B4-BE49-F238E27FC236}">
                <a16:creationId xmlns:a16="http://schemas.microsoft.com/office/drawing/2014/main" id="{9C439F96-9905-5DFE-601C-EEA13DAA9431}"/>
              </a:ext>
            </a:extLst>
          </p:cNvPr>
          <p:cNvSpPr/>
          <p:nvPr/>
        </p:nvSpPr>
        <p:spPr>
          <a:xfrm>
            <a:off x="9985248" y="3200019"/>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6" name="TextBox 195">
            <a:extLst>
              <a:ext uri="{FF2B5EF4-FFF2-40B4-BE49-F238E27FC236}">
                <a16:creationId xmlns:a16="http://schemas.microsoft.com/office/drawing/2014/main" id="{E3627E66-5F03-C479-EFD9-42FBBE82FBBB}"/>
              </a:ext>
            </a:extLst>
          </p:cNvPr>
          <p:cNvSpPr txBox="1"/>
          <p:nvPr/>
        </p:nvSpPr>
        <p:spPr>
          <a:xfrm>
            <a:off x="10076688" y="3245739"/>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runs projects; PM + SAP Architect roles in place (large)</a:t>
            </a:r>
          </a:p>
        </p:txBody>
      </p:sp>
      <p:sp>
        <p:nvSpPr>
          <p:cNvPr id="197" name="Rectangle 196">
            <a:extLst>
              <a:ext uri="{FF2B5EF4-FFF2-40B4-BE49-F238E27FC236}">
                <a16:creationId xmlns:a16="http://schemas.microsoft.com/office/drawing/2014/main" id="{2D5041E2-33F9-CE29-F4E6-4E2F371F0953}"/>
              </a:ext>
            </a:extLst>
          </p:cNvPr>
          <p:cNvSpPr/>
          <p:nvPr/>
        </p:nvSpPr>
        <p:spPr>
          <a:xfrm>
            <a:off x="457200" y="3730371"/>
            <a:ext cx="594360" cy="493776"/>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8" name="TextBox 197">
            <a:extLst>
              <a:ext uri="{FF2B5EF4-FFF2-40B4-BE49-F238E27FC236}">
                <a16:creationId xmlns:a16="http://schemas.microsoft.com/office/drawing/2014/main" id="{A1D6CB8D-3019-F6B3-578B-B9152DEF69F1}"/>
              </a:ext>
            </a:extLst>
          </p:cNvPr>
          <p:cNvSpPr txBox="1"/>
          <p:nvPr/>
        </p:nvSpPr>
        <p:spPr>
          <a:xfrm>
            <a:off x="457200" y="3730371"/>
            <a:ext cx="594360" cy="493776"/>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700" b="1" i="0" noProof="0">
                <a:solidFill>
                  <a:srgbClr val="FFFFFF"/>
                </a:solidFill>
                <a:latin typeface="Helvetica Neue"/>
              </a:rPr>
              <a:t>TOOLS</a:t>
            </a:r>
          </a:p>
        </p:txBody>
      </p:sp>
      <p:sp>
        <p:nvSpPr>
          <p:cNvPr id="199" name="Rectangle 198">
            <a:extLst>
              <a:ext uri="{FF2B5EF4-FFF2-40B4-BE49-F238E27FC236}">
                <a16:creationId xmlns:a16="http://schemas.microsoft.com/office/drawing/2014/main" id="{D7E3B583-574F-E2DF-6D2C-6C61FA9D14AA}"/>
              </a:ext>
            </a:extLst>
          </p:cNvPr>
          <p:cNvSpPr/>
          <p:nvPr/>
        </p:nvSpPr>
        <p:spPr>
          <a:xfrm>
            <a:off x="1097280"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0" name="TextBox 199">
            <a:extLst>
              <a:ext uri="{FF2B5EF4-FFF2-40B4-BE49-F238E27FC236}">
                <a16:creationId xmlns:a16="http://schemas.microsoft.com/office/drawing/2014/main" id="{0BA9F82B-D0BA-7961-9727-C08266290742}"/>
              </a:ext>
            </a:extLst>
          </p:cNvPr>
          <p:cNvSpPr txBox="1"/>
          <p:nvPr/>
        </p:nvSpPr>
        <p:spPr>
          <a:xfrm>
            <a:off x="1188720"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 Email · Jira · no cross-channel funnel</a:t>
            </a:r>
          </a:p>
        </p:txBody>
      </p:sp>
      <p:sp>
        <p:nvSpPr>
          <p:cNvPr id="201" name="Rectangle 200">
            <a:extLst>
              <a:ext uri="{FF2B5EF4-FFF2-40B4-BE49-F238E27FC236}">
                <a16:creationId xmlns:a16="http://schemas.microsoft.com/office/drawing/2014/main" id="{866F10D5-97D3-20BA-F4B7-7853F2351A87}"/>
              </a:ext>
            </a:extLst>
          </p:cNvPr>
          <p:cNvSpPr/>
          <p:nvPr/>
        </p:nvSpPr>
        <p:spPr>
          <a:xfrm>
            <a:off x="3319272"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2" name="TextBox 201">
            <a:extLst>
              <a:ext uri="{FF2B5EF4-FFF2-40B4-BE49-F238E27FC236}">
                <a16:creationId xmlns:a16="http://schemas.microsoft.com/office/drawing/2014/main" id="{9F052946-95A9-D0AC-117A-E9E8BC02FC18}"/>
              </a:ext>
            </a:extLst>
          </p:cNvPr>
          <p:cNvSpPr txBox="1"/>
          <p:nvPr/>
        </p:nvSpPr>
        <p:spPr>
          <a:xfrm>
            <a:off x="3410712"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IT Now template + Jira labels + PPM (large)</a:t>
            </a:r>
          </a:p>
        </p:txBody>
      </p:sp>
      <p:sp>
        <p:nvSpPr>
          <p:cNvPr id="203" name="Rectangle 202">
            <a:extLst>
              <a:ext uri="{FF2B5EF4-FFF2-40B4-BE49-F238E27FC236}">
                <a16:creationId xmlns:a16="http://schemas.microsoft.com/office/drawing/2014/main" id="{00B6350F-030A-1356-4EFA-2E24E059CE0F}"/>
              </a:ext>
            </a:extLst>
          </p:cNvPr>
          <p:cNvSpPr/>
          <p:nvPr/>
        </p:nvSpPr>
        <p:spPr>
          <a:xfrm>
            <a:off x="5541264"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4" name="TextBox 203">
            <a:extLst>
              <a:ext uri="{FF2B5EF4-FFF2-40B4-BE49-F238E27FC236}">
                <a16:creationId xmlns:a16="http://schemas.microsoft.com/office/drawing/2014/main" id="{64127303-7D2A-FD31-CB52-3B5E8BB35A23}"/>
              </a:ext>
            </a:extLst>
          </p:cNvPr>
          <p:cNvSpPr txBox="1"/>
          <p:nvPr/>
        </p:nvSpPr>
        <p:spPr>
          <a:xfrm>
            <a:off x="5632704"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Forum criteria (strategic / ops / regulatory / size) — applied by sub-team</a:t>
            </a:r>
          </a:p>
        </p:txBody>
      </p:sp>
      <p:sp>
        <p:nvSpPr>
          <p:cNvPr id="205" name="Rectangle 204">
            <a:extLst>
              <a:ext uri="{FF2B5EF4-FFF2-40B4-BE49-F238E27FC236}">
                <a16:creationId xmlns:a16="http://schemas.microsoft.com/office/drawing/2014/main" id="{3718599A-BCBF-6EBA-89FA-EAF48A79E253}"/>
              </a:ext>
            </a:extLst>
          </p:cNvPr>
          <p:cNvSpPr/>
          <p:nvPr/>
        </p:nvSpPr>
        <p:spPr>
          <a:xfrm>
            <a:off x="7763256" y="37303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6" name="TextBox 205">
            <a:extLst>
              <a:ext uri="{FF2B5EF4-FFF2-40B4-BE49-F238E27FC236}">
                <a16:creationId xmlns:a16="http://schemas.microsoft.com/office/drawing/2014/main" id="{A90E0343-13CA-6C85-21DA-ED0A32AF9D35}"/>
              </a:ext>
            </a:extLst>
          </p:cNvPr>
          <p:cNvSpPr txBox="1"/>
          <p:nvPr/>
        </p:nvSpPr>
        <p:spPr>
          <a:xfrm>
            <a:off x="7854696" y="3776091"/>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PPM Now (Metering) · SharePoint · Confluence</a:t>
            </a:r>
          </a:p>
        </p:txBody>
      </p:sp>
      <p:sp>
        <p:nvSpPr>
          <p:cNvPr id="207" name="Rectangle 206">
            <a:extLst>
              <a:ext uri="{FF2B5EF4-FFF2-40B4-BE49-F238E27FC236}">
                <a16:creationId xmlns:a16="http://schemas.microsoft.com/office/drawing/2014/main" id="{BDCAED7D-1160-F59A-E3EE-82B3D08AA5C7}"/>
              </a:ext>
            </a:extLst>
          </p:cNvPr>
          <p:cNvSpPr/>
          <p:nvPr/>
        </p:nvSpPr>
        <p:spPr>
          <a:xfrm>
            <a:off x="9985248" y="3730371"/>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8" name="TextBox 207">
            <a:extLst>
              <a:ext uri="{FF2B5EF4-FFF2-40B4-BE49-F238E27FC236}">
                <a16:creationId xmlns:a16="http://schemas.microsoft.com/office/drawing/2014/main" id="{D9DD436C-1DAB-44C1-A7C3-469747D8FAE2}"/>
              </a:ext>
            </a:extLst>
          </p:cNvPr>
          <p:cNvSpPr txBox="1"/>
          <p:nvPr/>
        </p:nvSpPr>
        <p:spPr>
          <a:xfrm>
            <a:off x="10076688" y="3776091"/>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SWF delivery pipeline · vendor stacks (per sub-team)</a:t>
            </a:r>
          </a:p>
        </p:txBody>
      </p:sp>
      <p:sp>
        <p:nvSpPr>
          <p:cNvPr id="209" name="Rectangle 208">
            <a:extLst>
              <a:ext uri="{FF2B5EF4-FFF2-40B4-BE49-F238E27FC236}">
                <a16:creationId xmlns:a16="http://schemas.microsoft.com/office/drawing/2014/main" id="{530E9525-60DB-291D-4085-A9504144C1DC}"/>
              </a:ext>
            </a:extLst>
          </p:cNvPr>
          <p:cNvSpPr/>
          <p:nvPr/>
        </p:nvSpPr>
        <p:spPr>
          <a:xfrm>
            <a:off x="457200" y="4260723"/>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0" name="TextBox 209">
            <a:extLst>
              <a:ext uri="{FF2B5EF4-FFF2-40B4-BE49-F238E27FC236}">
                <a16:creationId xmlns:a16="http://schemas.microsoft.com/office/drawing/2014/main" id="{D4A5E6AE-05E8-783B-AD71-95E3C74C0305}"/>
              </a:ext>
            </a:extLst>
          </p:cNvPr>
          <p:cNvSpPr txBox="1"/>
          <p:nvPr/>
        </p:nvSpPr>
        <p:spPr>
          <a:xfrm>
            <a:off x="457200" y="4409988"/>
            <a:ext cx="594360" cy="195246"/>
          </a:xfrm>
          <a:prstGeom prst="rect">
            <a:avLst/>
          </a:prstGeom>
          <a:noFill/>
        </p:spPr>
        <p:txBody>
          <a:bodyPr wrap="square" lIns="0" tIns="0" rIns="0" bIns="0" anchor="ctr">
            <a:spAutoFit/>
          </a:bodyPr>
          <a:lstStyle/>
          <a:p>
            <a:pPr algn="ctr">
              <a:lnSpc>
                <a:spcPct val="110000"/>
              </a:lnSpc>
              <a:spcBef>
                <a:spcPts val="0"/>
              </a:spcBef>
              <a:spcAft>
                <a:spcPts val="0"/>
              </a:spcAft>
            </a:pPr>
            <a:r>
              <a:rPr lang="en-US" sz="600" b="1" i="0" noProof="0">
                <a:solidFill>
                  <a:srgbClr val="FFFFFF"/>
                </a:solidFill>
                <a:latin typeface="Helvetica Neue"/>
              </a:rPr>
              <a:t>GOVERNANCE  &amp;  METRICS</a:t>
            </a:r>
          </a:p>
        </p:txBody>
      </p:sp>
      <p:sp>
        <p:nvSpPr>
          <p:cNvPr id="211" name="Rectangle 210">
            <a:extLst>
              <a:ext uri="{FF2B5EF4-FFF2-40B4-BE49-F238E27FC236}">
                <a16:creationId xmlns:a16="http://schemas.microsoft.com/office/drawing/2014/main" id="{4F65EDCD-AE8A-7E4B-8196-8BCF8DBCCC54}"/>
              </a:ext>
            </a:extLst>
          </p:cNvPr>
          <p:cNvSpPr/>
          <p:nvPr/>
        </p:nvSpPr>
        <p:spPr>
          <a:xfrm>
            <a:off x="1097280"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2" name="TextBox 211">
            <a:extLst>
              <a:ext uri="{FF2B5EF4-FFF2-40B4-BE49-F238E27FC236}">
                <a16:creationId xmlns:a16="http://schemas.microsoft.com/office/drawing/2014/main" id="{9447FF93-8DC8-5C2D-AB4A-8DA888994186}"/>
              </a:ext>
            </a:extLst>
          </p:cNvPr>
          <p:cNvSpPr txBox="1"/>
          <p:nvPr/>
        </p:nvSpPr>
        <p:spPr>
          <a:xfrm>
            <a:off x="1188720" y="43064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2 Sr. Manager vacancies (CRM &amp; Contact Center, SAP &amp; CS Architecture)</a:t>
            </a:r>
          </a:p>
        </p:txBody>
      </p:sp>
      <p:sp>
        <p:nvSpPr>
          <p:cNvPr id="213" name="Rectangle 212">
            <a:extLst>
              <a:ext uri="{FF2B5EF4-FFF2-40B4-BE49-F238E27FC236}">
                <a16:creationId xmlns:a16="http://schemas.microsoft.com/office/drawing/2014/main" id="{CCE32659-EB62-E730-252C-266BB35AB1E7}"/>
              </a:ext>
            </a:extLst>
          </p:cNvPr>
          <p:cNvSpPr/>
          <p:nvPr/>
        </p:nvSpPr>
        <p:spPr>
          <a:xfrm>
            <a:off x="3319272"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4" name="TextBox 213">
            <a:extLst>
              <a:ext uri="{FF2B5EF4-FFF2-40B4-BE49-F238E27FC236}">
                <a16:creationId xmlns:a16="http://schemas.microsoft.com/office/drawing/2014/main" id="{83DD3FA8-2D1B-35BD-8D09-828096C6724A}"/>
              </a:ext>
            </a:extLst>
          </p:cNvPr>
          <p:cNvSpPr txBox="1"/>
          <p:nvPr/>
        </p:nvSpPr>
        <p:spPr>
          <a:xfrm>
            <a:off x="3410712" y="43064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Triple routing: Travis PMO / BRS / IT-funded — blurs accountability</a:t>
            </a:r>
          </a:p>
        </p:txBody>
      </p:sp>
      <p:sp>
        <p:nvSpPr>
          <p:cNvPr id="215" name="Rectangle 214">
            <a:extLst>
              <a:ext uri="{FF2B5EF4-FFF2-40B4-BE49-F238E27FC236}">
                <a16:creationId xmlns:a16="http://schemas.microsoft.com/office/drawing/2014/main" id="{878F99B9-2A0E-DBEA-C296-04264761EF43}"/>
              </a:ext>
            </a:extLst>
          </p:cNvPr>
          <p:cNvSpPr/>
          <p:nvPr/>
        </p:nvSpPr>
        <p:spPr>
          <a:xfrm>
            <a:off x="5541264"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6" name="TextBox 215">
            <a:extLst>
              <a:ext uri="{FF2B5EF4-FFF2-40B4-BE49-F238E27FC236}">
                <a16:creationId xmlns:a16="http://schemas.microsoft.com/office/drawing/2014/main" id="{5120BAC4-BD12-F4C6-7AD2-73349BED7C60}"/>
              </a:ext>
            </a:extLst>
          </p:cNvPr>
          <p:cNvSpPr txBox="1"/>
          <p:nvPr/>
        </p:nvSpPr>
        <p:spPr>
          <a:xfrm>
            <a:off x="5632704" y="43064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formal director-level model; regulatory overrides size</a:t>
            </a:r>
          </a:p>
        </p:txBody>
      </p:sp>
      <p:sp>
        <p:nvSpPr>
          <p:cNvPr id="217" name="Rectangle 216">
            <a:extLst>
              <a:ext uri="{FF2B5EF4-FFF2-40B4-BE49-F238E27FC236}">
                <a16:creationId xmlns:a16="http://schemas.microsoft.com/office/drawing/2014/main" id="{C2356896-E6E0-43B3-AC0E-5C187919F458}"/>
              </a:ext>
            </a:extLst>
          </p:cNvPr>
          <p:cNvSpPr/>
          <p:nvPr/>
        </p:nvSpPr>
        <p:spPr>
          <a:xfrm>
            <a:off x="7763256" y="42607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8" name="TextBox 217">
            <a:extLst>
              <a:ext uri="{FF2B5EF4-FFF2-40B4-BE49-F238E27FC236}">
                <a16:creationId xmlns:a16="http://schemas.microsoft.com/office/drawing/2014/main" id="{FBF1B9E6-1D07-8C6D-C132-35B910BA628D}"/>
              </a:ext>
            </a:extLst>
          </p:cNvPr>
          <p:cNvSpPr txBox="1"/>
          <p:nvPr/>
        </p:nvSpPr>
        <p:spPr>
          <a:xfrm>
            <a:off x="7854696" y="4306443"/>
            <a:ext cx="1984248" cy="4023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7 OPCOs compete for the same IT capacity — multi-OPCO contention</a:t>
            </a:r>
          </a:p>
        </p:txBody>
      </p:sp>
      <p:sp>
        <p:nvSpPr>
          <p:cNvPr id="219" name="Rectangle 218">
            <a:extLst>
              <a:ext uri="{FF2B5EF4-FFF2-40B4-BE49-F238E27FC236}">
                <a16:creationId xmlns:a16="http://schemas.microsoft.com/office/drawing/2014/main" id="{4C94FDF5-B959-D07E-5F67-0CE4D16ECFB7}"/>
              </a:ext>
            </a:extLst>
          </p:cNvPr>
          <p:cNvSpPr/>
          <p:nvPr/>
        </p:nvSpPr>
        <p:spPr>
          <a:xfrm>
            <a:off x="9985248" y="4260723"/>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0" name="TextBox 219">
            <a:extLst>
              <a:ext uri="{FF2B5EF4-FFF2-40B4-BE49-F238E27FC236}">
                <a16:creationId xmlns:a16="http://schemas.microsoft.com/office/drawing/2014/main" id="{0080333F-2D34-0A90-66CB-B073E6C13A61}"/>
              </a:ext>
            </a:extLst>
          </p:cNvPr>
          <p:cNvSpPr txBox="1"/>
          <p:nvPr/>
        </p:nvSpPr>
        <p:spPr>
          <a:xfrm>
            <a:off x="10076688" y="4306443"/>
            <a:ext cx="1576843"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Heavy vendor concentration; single-team mature practice (Metering)</a:t>
            </a:r>
          </a:p>
        </p:txBody>
      </p:sp>
      <p:sp>
        <p:nvSpPr>
          <p:cNvPr id="221" name="Rectangle 220">
            <a:extLst>
              <a:ext uri="{FF2B5EF4-FFF2-40B4-BE49-F238E27FC236}">
                <a16:creationId xmlns:a16="http://schemas.microsoft.com/office/drawing/2014/main" id="{0A85CEAD-FAC9-C351-BB99-2A1C452CF95A}"/>
              </a:ext>
            </a:extLst>
          </p:cNvPr>
          <p:cNvSpPr/>
          <p:nvPr/>
        </p:nvSpPr>
        <p:spPr>
          <a:xfrm>
            <a:off x="457200" y="4864227"/>
            <a:ext cx="11274552"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2" name="Rectangle 221">
            <a:extLst>
              <a:ext uri="{FF2B5EF4-FFF2-40B4-BE49-F238E27FC236}">
                <a16:creationId xmlns:a16="http://schemas.microsoft.com/office/drawing/2014/main" id="{6DE928F7-7167-86DA-A523-B168010F1674}"/>
              </a:ext>
            </a:extLst>
          </p:cNvPr>
          <p:cNvSpPr/>
          <p:nvPr/>
        </p:nvSpPr>
        <p:spPr>
          <a:xfrm>
            <a:off x="457200" y="4864227"/>
            <a:ext cx="73152" cy="12984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3" name="TextBox 222">
            <a:extLst>
              <a:ext uri="{FF2B5EF4-FFF2-40B4-BE49-F238E27FC236}">
                <a16:creationId xmlns:a16="http://schemas.microsoft.com/office/drawing/2014/main" id="{50AD931C-B603-7284-263D-5D063C0A0F99}"/>
              </a:ext>
            </a:extLst>
          </p:cNvPr>
          <p:cNvSpPr txBox="1"/>
          <p:nvPr/>
        </p:nvSpPr>
        <p:spPr>
          <a:xfrm>
            <a:off x="640080" y="4909947"/>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Helvetica Neue"/>
              </a:rPr>
              <a:t>KEY PATTERNS  —  WHAT THE FINDINGS REVEAL</a:t>
            </a:r>
          </a:p>
        </p:txBody>
      </p:sp>
      <p:sp>
        <p:nvSpPr>
          <p:cNvPr id="224" name="TextBox 223">
            <a:extLst>
              <a:ext uri="{FF2B5EF4-FFF2-40B4-BE49-F238E27FC236}">
                <a16:creationId xmlns:a16="http://schemas.microsoft.com/office/drawing/2014/main" id="{95848E94-ED67-CC6A-2E05-EEA1FA34B8DC}"/>
              </a:ext>
            </a:extLst>
          </p:cNvPr>
          <p:cNvSpPr txBox="1"/>
          <p:nvPr/>
        </p:nvSpPr>
        <p:spPr>
          <a:xfrm>
            <a:off x="6400800" y="4909947"/>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00B050"/>
                </a:solidFill>
                <a:latin typeface="Helvetica Neue"/>
              </a:rPr>
              <a:t>SUPPORTING QUOTE</a:t>
            </a:r>
          </a:p>
        </p:txBody>
      </p:sp>
      <p:sp>
        <p:nvSpPr>
          <p:cNvPr id="225" name="TextBox 224">
            <a:extLst>
              <a:ext uri="{FF2B5EF4-FFF2-40B4-BE49-F238E27FC236}">
                <a16:creationId xmlns:a16="http://schemas.microsoft.com/office/drawing/2014/main" id="{50600D55-E953-6F79-E1C1-53B5473A912D}"/>
              </a:ext>
            </a:extLst>
          </p:cNvPr>
          <p:cNvSpPr txBox="1"/>
          <p:nvPr/>
        </p:nvSpPr>
        <p:spPr>
          <a:xfrm>
            <a:off x="6400800" y="5156835"/>
            <a:ext cx="516636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Helvetica Neue"/>
              </a:rPr>
              <a:t>"Who is in charge of what — 3 people can run the payment jobs for example. Resource allocation — multiple OPCOs competing by capacity" — CS Director + Business-side lead  —  Customer Services</a:t>
            </a:r>
          </a:p>
        </p:txBody>
      </p:sp>
      <p:sp>
        <p:nvSpPr>
          <p:cNvPr id="226" name="TextBox 225">
            <a:extLst>
              <a:ext uri="{FF2B5EF4-FFF2-40B4-BE49-F238E27FC236}">
                <a16:creationId xmlns:a16="http://schemas.microsoft.com/office/drawing/2014/main" id="{99F986B2-8D90-9791-07B0-C56200BFF5ED}"/>
              </a:ext>
            </a:extLst>
          </p:cNvPr>
          <p:cNvSpPr txBox="1"/>
          <p:nvPr/>
        </p:nvSpPr>
        <p:spPr>
          <a:xfrm>
            <a:off x="640080" y="5156835"/>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  Three parallel ownership tracks without a routing rule — Travis PMO for large projects, BRS for business-funded work, IT-funded for CS Director's teams — the same request can land in any of them, blurring accountability and prioritization</a:t>
            </a:r>
          </a:p>
          <a:p>
            <a:pPr algn="l">
              <a:lnSpc>
                <a:spcPct val="110000"/>
              </a:lnSpc>
              <a:spcBef>
                <a:spcPts val="0"/>
              </a:spcBef>
              <a:spcAft>
                <a:spcPts val="0"/>
              </a:spcAft>
            </a:pPr>
            <a:r>
              <a:rPr lang="en-US" sz="900" b="0" i="0" noProof="0">
                <a:solidFill>
                  <a:srgbClr val="2C3E50"/>
                </a:solidFill>
                <a:latin typeface="Helvetica Neue"/>
              </a:rPr>
              <a:t>▸  Smart Metering is the mature outlier; other four teams operate without equivalent tooling — branch has no portfolio consolidation</a:t>
            </a:r>
          </a:p>
          <a:p>
            <a:pPr algn="l">
              <a:lnSpc>
                <a:spcPct val="110000"/>
              </a:lnSpc>
              <a:spcBef>
                <a:spcPts val="0"/>
              </a:spcBef>
              <a:spcAft>
                <a:spcPts val="0"/>
              </a:spcAft>
            </a:pPr>
            <a:r>
              <a:rPr lang="en-US" sz="900" b="0" i="0" noProof="0">
                <a:solidFill>
                  <a:srgbClr val="2C3E50"/>
                </a:solidFill>
                <a:latin typeface="Helvetica Neue"/>
              </a:rPr>
              <a:t>▸  PM + SAP Architect roles are in place for large projects (CS Director confirmed) — the gap is not in roles, it's in branch-wide portfolio visibility</a:t>
            </a:r>
          </a:p>
        </p:txBody>
      </p:sp>
      <p:sp>
        <p:nvSpPr>
          <p:cNvPr id="227" name="Rectangle 226">
            <a:extLst>
              <a:ext uri="{FF2B5EF4-FFF2-40B4-BE49-F238E27FC236}">
                <a16:creationId xmlns:a16="http://schemas.microsoft.com/office/drawing/2014/main" id="{632078C6-70E0-3969-CEB0-6418B714533D}"/>
              </a:ext>
            </a:extLst>
          </p:cNvPr>
          <p:cNvSpPr/>
          <p:nvPr/>
        </p:nvSpPr>
        <p:spPr>
          <a:xfrm>
            <a:off x="458724" y="6227761"/>
            <a:ext cx="11274552" cy="5029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8" name="TextBox 227">
            <a:extLst>
              <a:ext uri="{FF2B5EF4-FFF2-40B4-BE49-F238E27FC236}">
                <a16:creationId xmlns:a16="http://schemas.microsoft.com/office/drawing/2014/main" id="{0865CAD3-CE21-0E0B-D947-3BC1B45974FA}"/>
              </a:ext>
            </a:extLst>
          </p:cNvPr>
          <p:cNvSpPr txBox="1"/>
          <p:nvPr/>
        </p:nvSpPr>
        <p:spPr>
          <a:xfrm>
            <a:off x="685800" y="6254115"/>
            <a:ext cx="10817352" cy="411480"/>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Smart Metering's model (PPM Now + weekly PM meeting + 100% vendor delivery) is the only mature practice in CS Director's branch — it is also the blueprint and the warning sign</a:t>
            </a:r>
          </a:p>
        </p:txBody>
      </p:sp>
    </p:spTree>
    <p:extLst>
      <p:ext uri="{BB962C8B-B14F-4D97-AF65-F5344CB8AC3E}">
        <p14:creationId xmlns:p14="http://schemas.microsoft.com/office/powerpoint/2010/main" val="4081523922"/>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58368"/>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7315200" cy="292608"/>
          </a:xfrm>
          <a:prstGeom prst="rect">
            <a:avLst/>
          </a:prstGeom>
          <a:noFill/>
        </p:spPr>
        <p:txBody>
          <a:bodyPr wrap="square" lIns="54864" rIns="54864" tIns="27432" bIns="27432" anchor="t">
            <a:spAutoFit/>
          </a:bodyPr>
          <a:lstStyle/>
          <a:p>
            <a:pPr algn="l"/>
            <a:r>
              <a:rPr sz="2200" b="1" i="0">
                <a:solidFill>
                  <a:srgbClr val="FFFFFF"/>
                </a:solidFill>
                <a:latin typeface="Calibri"/>
              </a:rPr>
              <a:t>CURRENT STATE ANALYSIS</a:t>
            </a:r>
          </a:p>
        </p:txBody>
      </p:sp>
      <p:sp>
        <p:nvSpPr>
          <p:cNvPr id="4" name="TextBox 3"/>
          <p:cNvSpPr txBox="1"/>
          <p:nvPr/>
        </p:nvSpPr>
        <p:spPr>
          <a:xfrm>
            <a:off x="365760" y="402336"/>
            <a:ext cx="9144000" cy="219456"/>
          </a:xfrm>
          <a:prstGeom prst="rect">
            <a:avLst/>
          </a:prstGeom>
          <a:noFill/>
        </p:spPr>
        <p:txBody>
          <a:bodyPr wrap="square" lIns="54864" rIns="54864" tIns="27432" bIns="27432" anchor="t">
            <a:spAutoFit/>
          </a:bodyPr>
          <a:lstStyle/>
          <a:p>
            <a:pPr algn="l"/>
            <a:r>
              <a:rPr sz="1100" b="1" i="0">
                <a:solidFill>
                  <a:srgbClr val="FFFFFF"/>
                </a:solidFill>
                <a:latin typeface="Calibri"/>
              </a:rPr>
              <a:t>CAPACITY &amp; REPORTING — NEW DIMENSION</a:t>
            </a:r>
          </a:p>
        </p:txBody>
      </p:sp>
      <p:sp>
        <p:nvSpPr>
          <p:cNvPr id="5" name="TextBox 4"/>
          <p:cNvSpPr txBox="1"/>
          <p:nvPr/>
        </p:nvSpPr>
        <p:spPr>
          <a:xfrm>
            <a:off x="11064240" y="201168"/>
            <a:ext cx="1005840" cy="274320"/>
          </a:xfrm>
          <a:prstGeom prst="rect">
            <a:avLst/>
          </a:prstGeom>
          <a:noFill/>
        </p:spPr>
        <p:txBody>
          <a:bodyPr wrap="square" lIns="54864" rIns="54864" tIns="27432" bIns="27432" anchor="t">
            <a:spAutoFit/>
          </a:bodyPr>
          <a:lstStyle/>
          <a:p>
            <a:pPr algn="r"/>
            <a:r>
              <a:rPr sz="1000" b="1" i="0">
                <a:solidFill>
                  <a:srgbClr val="FFFFFF"/>
                </a:solidFill>
                <a:latin typeface="Calibri"/>
              </a:rPr>
              <a:t>NTT DATA</a:t>
            </a:r>
          </a:p>
        </p:txBody>
      </p:sp>
      <p:sp>
        <p:nvSpPr>
          <p:cNvPr id="6" name="TextBox 5"/>
          <p:cNvSpPr txBox="1"/>
          <p:nvPr/>
        </p:nvSpPr>
        <p:spPr>
          <a:xfrm>
            <a:off x="457200" y="804672"/>
            <a:ext cx="11247120" cy="365760"/>
          </a:xfrm>
          <a:prstGeom prst="rect">
            <a:avLst/>
          </a:prstGeom>
          <a:noFill/>
        </p:spPr>
        <p:txBody>
          <a:bodyPr wrap="square" lIns="54864" rIns="54864" tIns="27432" bIns="27432" anchor="t">
            <a:spAutoFit/>
          </a:bodyPr>
          <a:lstStyle/>
          <a:p>
            <a:pPr algn="l"/>
            <a:r>
              <a:rPr sz="1300" b="1" i="0">
                <a:solidFill>
                  <a:srgbClr val="1F3A68"/>
                </a:solidFill>
                <a:latin typeface="Calibri"/>
              </a:rPr>
              <a:t>Capacity &amp; Reporting is the fifth AS-IS dimension — without it, flow maturity is known but resource &amp; visibility risk is invisible</a:t>
            </a:r>
          </a:p>
        </p:txBody>
      </p:sp>
      <p:sp>
        <p:nvSpPr>
          <p:cNvPr id="7" name="Rectangle 6"/>
          <p:cNvSpPr/>
          <p:nvPr/>
        </p:nvSpPr>
        <p:spPr>
          <a:xfrm>
            <a:off x="457200" y="1325880"/>
            <a:ext cx="3749039" cy="141732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3749039"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435607"/>
            <a:ext cx="3474720" cy="256032"/>
          </a:xfrm>
          <a:prstGeom prst="rect">
            <a:avLst/>
          </a:prstGeom>
          <a:noFill/>
        </p:spPr>
        <p:txBody>
          <a:bodyPr wrap="square" lIns="54864" rIns="54864" tIns="27432" bIns="27432" anchor="t">
            <a:spAutoFit/>
          </a:bodyPr>
          <a:lstStyle/>
          <a:p>
            <a:pPr algn="l"/>
            <a:r>
              <a:rPr sz="1100" b="1" i="0">
                <a:solidFill>
                  <a:srgbClr val="E87B1E"/>
                </a:solidFill>
                <a:latin typeface="Calibri"/>
              </a:rPr>
              <a:t>WHY THIS DIMENSION</a:t>
            </a:r>
          </a:p>
        </p:txBody>
      </p:sp>
      <p:sp>
        <p:nvSpPr>
          <p:cNvPr id="10" name="TextBox 9"/>
          <p:cNvSpPr txBox="1"/>
          <p:nvPr/>
        </p:nvSpPr>
        <p:spPr>
          <a:xfrm>
            <a:off x="594360" y="1709928"/>
            <a:ext cx="3474720" cy="960120"/>
          </a:xfrm>
          <a:prstGeom prst="rect">
            <a:avLst/>
          </a:prstGeom>
          <a:noFill/>
        </p:spPr>
        <p:txBody>
          <a:bodyPr wrap="square" lIns="54864" rIns="54864" tIns="27432" bIns="27432" anchor="t">
            <a:spAutoFit/>
          </a:bodyPr>
          <a:lstStyle/>
          <a:p>
            <a:pPr algn="l"/>
            <a:r>
              <a:rPr sz="1000" b="0" i="0">
                <a:solidFill>
                  <a:srgbClr val="4A4A4A"/>
                </a:solidFill>
                <a:latin typeface="Calibri"/>
              </a:rPr>
              <a:t>Value-Stream Mapping shows how work flows — it does not show whether each team has headcount, cost visibility, or delivery telemetry to sustain that flow. Capacity &amp; Reporting closes the gap.</a:t>
            </a:r>
          </a:p>
        </p:txBody>
      </p:sp>
      <p:sp>
        <p:nvSpPr>
          <p:cNvPr id="11" name="Rectangle 10"/>
          <p:cNvSpPr/>
          <p:nvPr/>
        </p:nvSpPr>
        <p:spPr>
          <a:xfrm>
            <a:off x="4297679" y="1325880"/>
            <a:ext cx="3749039" cy="141732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79" y="1325880"/>
            <a:ext cx="3749039" cy="54864"/>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435607"/>
            <a:ext cx="3474720" cy="256032"/>
          </a:xfrm>
          <a:prstGeom prst="rect">
            <a:avLst/>
          </a:prstGeom>
          <a:noFill/>
        </p:spPr>
        <p:txBody>
          <a:bodyPr wrap="square" lIns="54864" rIns="54864" tIns="27432" bIns="27432" anchor="t">
            <a:spAutoFit/>
          </a:bodyPr>
          <a:lstStyle/>
          <a:p>
            <a:pPr algn="l"/>
            <a:r>
              <a:rPr sz="1100" b="1" i="0">
                <a:solidFill>
                  <a:srgbClr val="1F3A68"/>
                </a:solidFill>
                <a:latin typeface="Calibri"/>
              </a:rPr>
              <a:t>WHAT IT COVERS</a:t>
            </a:r>
          </a:p>
        </p:txBody>
      </p:sp>
      <p:sp>
        <p:nvSpPr>
          <p:cNvPr id="14" name="TextBox 13"/>
          <p:cNvSpPr txBox="1"/>
          <p:nvPr/>
        </p:nvSpPr>
        <p:spPr>
          <a:xfrm>
            <a:off x="4434840" y="1709928"/>
            <a:ext cx="3474720" cy="960120"/>
          </a:xfrm>
          <a:prstGeom prst="rect">
            <a:avLst/>
          </a:prstGeom>
          <a:noFill/>
        </p:spPr>
        <p:txBody>
          <a:bodyPr wrap="square" lIns="54864" rIns="54864" tIns="27432" bIns="27432" anchor="t">
            <a:spAutoFit/>
          </a:bodyPr>
          <a:lstStyle/>
          <a:p>
            <a:pPr algn="l"/>
            <a:r>
              <a:rPr sz="1000" b="0" i="0">
                <a:solidFill>
                  <a:srgbClr val="4A4A4A"/>
                </a:solidFill>
                <a:latin typeface="Calibri"/>
              </a:rPr>
              <a:t>Four structured columns per team: 01 Capacity (headcount · mix · utilization) · 02 Resource Mix &amp; Cost · 03 Reporting Inventory (tools · cadence · audience) · 04 Metrics That Matter (KPIs in use / missing).</a:t>
            </a:r>
          </a:p>
        </p:txBody>
      </p:sp>
      <p:sp>
        <p:nvSpPr>
          <p:cNvPr id="15" name="Rectangle 14"/>
          <p:cNvSpPr/>
          <p:nvPr/>
        </p:nvSpPr>
        <p:spPr>
          <a:xfrm>
            <a:off x="8138159" y="1325880"/>
            <a:ext cx="3749039" cy="141732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9" y="1325880"/>
            <a:ext cx="37490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1435607"/>
            <a:ext cx="3474720" cy="256032"/>
          </a:xfrm>
          <a:prstGeom prst="rect">
            <a:avLst/>
          </a:prstGeom>
          <a:noFill/>
        </p:spPr>
        <p:txBody>
          <a:bodyPr wrap="square" lIns="54864" rIns="54864" tIns="27432" bIns="27432" anchor="t">
            <a:spAutoFit/>
          </a:bodyPr>
          <a:lstStyle/>
          <a:p>
            <a:pPr algn="l"/>
            <a:r>
              <a:rPr sz="1100" b="1" i="0">
                <a:solidFill>
                  <a:srgbClr val="5EA04D"/>
                </a:solidFill>
                <a:latin typeface="Calibri"/>
              </a:rPr>
              <a:t>HOW IT WAS CAPTURED</a:t>
            </a:r>
          </a:p>
        </p:txBody>
      </p:sp>
      <p:sp>
        <p:nvSpPr>
          <p:cNvPr id="18" name="TextBox 17"/>
          <p:cNvSpPr txBox="1"/>
          <p:nvPr/>
        </p:nvSpPr>
        <p:spPr>
          <a:xfrm>
            <a:off x="8275319" y="1709928"/>
            <a:ext cx="3474720" cy="960120"/>
          </a:xfrm>
          <a:prstGeom prst="rect">
            <a:avLst/>
          </a:prstGeom>
          <a:noFill/>
        </p:spPr>
        <p:txBody>
          <a:bodyPr wrap="square" lIns="54864" rIns="54864" tIns="27432" bIns="27432" anchor="t">
            <a:spAutoFit/>
          </a:bodyPr>
          <a:lstStyle/>
          <a:p>
            <a:pPr algn="l"/>
            <a:r>
              <a:rPr sz="1000" b="0" i="0">
                <a:solidFill>
                  <a:srgbClr val="4A4A4A"/>
                </a:solidFill>
                <a:latin typeface="Calibri"/>
              </a:rPr>
              <a:t>Wave 1 Discovery Canvases — Applications Team (Carlos Garbin) + SAP Team (Kumar Jaladanki). Populated live by each area champion; sticky-note evidence per cell; empty cells flagged for Wave 2 follow-up.</a:t>
            </a:r>
          </a:p>
        </p:txBody>
      </p:sp>
      <p:sp>
        <p:nvSpPr>
          <p:cNvPr id="19" name="TextBox 18"/>
          <p:cNvSpPr txBox="1"/>
          <p:nvPr/>
        </p:nvSpPr>
        <p:spPr>
          <a:xfrm>
            <a:off x="457200" y="2944368"/>
            <a:ext cx="2743200" cy="274320"/>
          </a:xfrm>
          <a:prstGeom prst="rect">
            <a:avLst/>
          </a:prstGeom>
          <a:noFill/>
        </p:spPr>
        <p:txBody>
          <a:bodyPr wrap="square" lIns="54864" rIns="54864" tIns="27432" bIns="27432" anchor="t">
            <a:spAutoFit/>
          </a:bodyPr>
          <a:lstStyle/>
          <a:p>
            <a:pPr algn="l"/>
            <a:r>
              <a:rPr sz="1000" b="1" i="0">
                <a:solidFill>
                  <a:srgbClr val="1F3A68"/>
                </a:solidFill>
                <a:latin typeface="Calibri"/>
              </a:rPr>
              <a:t>MATURITY SCALE</a:t>
            </a:r>
          </a:p>
        </p:txBody>
      </p:sp>
      <p:sp>
        <p:nvSpPr>
          <p:cNvPr id="20" name="TextBox 19"/>
          <p:cNvSpPr txBox="1"/>
          <p:nvPr/>
        </p:nvSpPr>
        <p:spPr>
          <a:xfrm>
            <a:off x="457200" y="3182112"/>
            <a:ext cx="2743200" cy="237744"/>
          </a:xfrm>
          <a:prstGeom prst="rect">
            <a:avLst/>
          </a:prstGeom>
          <a:noFill/>
        </p:spPr>
        <p:txBody>
          <a:bodyPr wrap="square" lIns="54864" rIns="54864" tIns="27432" bIns="27432" anchor="t">
            <a:spAutoFit/>
          </a:bodyPr>
          <a:lstStyle/>
          <a:p>
            <a:pPr algn="l"/>
            <a:r>
              <a:rPr sz="800" b="0" i="0">
                <a:solidFill>
                  <a:srgbClr val="4A4A4A"/>
                </a:solidFill>
                <a:latin typeface="Calibri"/>
              </a:rPr>
              <a:t>Applied to every cell of the matrix</a:t>
            </a:r>
          </a:p>
        </p:txBody>
      </p:sp>
      <p:sp>
        <p:nvSpPr>
          <p:cNvPr id="21" name="Oval 20"/>
          <p:cNvSpPr/>
          <p:nvPr/>
        </p:nvSpPr>
        <p:spPr>
          <a:xfrm>
            <a:off x="3474720" y="2999232"/>
            <a:ext cx="201168" cy="201168"/>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30752" y="2926080"/>
            <a:ext cx="822960" cy="274320"/>
          </a:xfrm>
          <a:prstGeom prst="rect">
            <a:avLst/>
          </a:prstGeom>
          <a:solidFill>
            <a:srgbClr val="C0392B"/>
          </a:solidFill>
        </p:spPr>
        <p:txBody>
          <a:bodyPr wrap="square" lIns="54864" rIns="54864" tIns="27432" bIns="27432" anchor="t">
            <a:spAutoFit/>
          </a:bodyPr>
          <a:lstStyle/>
          <a:p>
            <a:pPr algn="l"/>
            <a:r>
              <a:rPr sz="1000" b="1" i="0">
                <a:solidFill>
                  <a:srgbClr val="FFFFFF"/>
                </a:solidFill>
                <a:latin typeface="Calibri"/>
              </a:rPr>
              <a:t>CRITICAL</a:t>
            </a:r>
          </a:p>
        </p:txBody>
      </p:sp>
      <p:sp>
        <p:nvSpPr>
          <p:cNvPr id="23" name="TextBox 22"/>
          <p:cNvSpPr txBox="1"/>
          <p:nvPr/>
        </p:nvSpPr>
        <p:spPr>
          <a:xfrm>
            <a:off x="3730752" y="3200400"/>
            <a:ext cx="2103120" cy="274320"/>
          </a:xfrm>
          <a:prstGeom prst="rect">
            <a:avLst/>
          </a:prstGeom>
          <a:noFill/>
        </p:spPr>
        <p:txBody>
          <a:bodyPr wrap="square" lIns="54864" rIns="54864" tIns="27432" bIns="27432" anchor="t">
            <a:spAutoFit/>
          </a:bodyPr>
          <a:lstStyle/>
          <a:p>
            <a:pPr algn="l"/>
            <a:r>
              <a:rPr sz="700" b="0" i="0">
                <a:solidFill>
                  <a:srgbClr val="4A4A4A"/>
                </a:solidFill>
                <a:latin typeface="Calibri"/>
              </a:rPr>
              <a:t>Missing or broken — requires immediate TOM redesign</a:t>
            </a:r>
          </a:p>
        </p:txBody>
      </p:sp>
      <p:sp>
        <p:nvSpPr>
          <p:cNvPr id="24" name="Oval 23"/>
          <p:cNvSpPr/>
          <p:nvPr/>
        </p:nvSpPr>
        <p:spPr>
          <a:xfrm>
            <a:off x="5623560" y="2999232"/>
            <a:ext cx="201168" cy="201168"/>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79592" y="2926080"/>
            <a:ext cx="822960" cy="274320"/>
          </a:xfrm>
          <a:prstGeom prst="rect">
            <a:avLst/>
          </a:prstGeom>
          <a:solidFill>
            <a:srgbClr val="E67E22"/>
          </a:solidFill>
        </p:spPr>
        <p:txBody>
          <a:bodyPr wrap="square" lIns="54864" rIns="54864" tIns="27432" bIns="27432" anchor="t">
            <a:spAutoFit/>
          </a:bodyPr>
          <a:lstStyle/>
          <a:p>
            <a:pPr algn="l"/>
            <a:r>
              <a:rPr sz="1000" b="1" i="0">
                <a:solidFill>
                  <a:srgbClr val="FFFFFF"/>
                </a:solidFill>
                <a:latin typeface="Calibri"/>
              </a:rPr>
              <a:t>GAP</a:t>
            </a:r>
          </a:p>
        </p:txBody>
      </p:sp>
      <p:sp>
        <p:nvSpPr>
          <p:cNvPr id="26" name="TextBox 25"/>
          <p:cNvSpPr txBox="1"/>
          <p:nvPr/>
        </p:nvSpPr>
        <p:spPr>
          <a:xfrm>
            <a:off x="5879592" y="3200400"/>
            <a:ext cx="2103120" cy="274320"/>
          </a:xfrm>
          <a:prstGeom prst="rect">
            <a:avLst/>
          </a:prstGeom>
          <a:noFill/>
        </p:spPr>
        <p:txBody>
          <a:bodyPr wrap="square" lIns="54864" rIns="54864" tIns="27432" bIns="27432" anchor="t">
            <a:spAutoFit/>
          </a:bodyPr>
          <a:lstStyle/>
          <a:p>
            <a:pPr algn="l"/>
            <a:r>
              <a:rPr sz="700" b="0" i="0">
                <a:solidFill>
                  <a:srgbClr val="4A4A4A"/>
                </a:solidFill>
                <a:latin typeface="Calibri"/>
              </a:rPr>
              <a:t>Exists but inadequate — insufficient for current volume</a:t>
            </a:r>
          </a:p>
        </p:txBody>
      </p:sp>
      <p:sp>
        <p:nvSpPr>
          <p:cNvPr id="27" name="Oval 26"/>
          <p:cNvSpPr/>
          <p:nvPr/>
        </p:nvSpPr>
        <p:spPr>
          <a:xfrm>
            <a:off x="7772400" y="2999232"/>
            <a:ext cx="201168" cy="201168"/>
          </a:xfrm>
          <a:prstGeom prst="ellipse">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28431" y="2926080"/>
            <a:ext cx="822960" cy="274320"/>
          </a:xfrm>
          <a:prstGeom prst="rect">
            <a:avLst/>
          </a:prstGeom>
          <a:solidFill>
            <a:srgbClr val="F1C40F"/>
          </a:solidFill>
        </p:spPr>
        <p:txBody>
          <a:bodyPr wrap="square" lIns="54864" rIns="54864" tIns="27432" bIns="27432" anchor="t">
            <a:spAutoFit/>
          </a:bodyPr>
          <a:lstStyle/>
          <a:p>
            <a:pPr algn="l"/>
            <a:r>
              <a:rPr sz="1000" b="1" i="0">
                <a:solidFill>
                  <a:srgbClr val="FFFFFF"/>
                </a:solidFill>
                <a:latin typeface="Calibri"/>
              </a:rPr>
              <a:t>PARTIAL</a:t>
            </a:r>
          </a:p>
        </p:txBody>
      </p:sp>
      <p:sp>
        <p:nvSpPr>
          <p:cNvPr id="29" name="TextBox 28"/>
          <p:cNvSpPr txBox="1"/>
          <p:nvPr/>
        </p:nvSpPr>
        <p:spPr>
          <a:xfrm>
            <a:off x="8028431" y="3200400"/>
            <a:ext cx="2103120" cy="274320"/>
          </a:xfrm>
          <a:prstGeom prst="rect">
            <a:avLst/>
          </a:prstGeom>
          <a:noFill/>
        </p:spPr>
        <p:txBody>
          <a:bodyPr wrap="square" lIns="54864" rIns="54864" tIns="27432" bIns="27432" anchor="t">
            <a:spAutoFit/>
          </a:bodyPr>
          <a:lstStyle/>
          <a:p>
            <a:pPr algn="l"/>
            <a:r>
              <a:rPr sz="700" b="0" i="0">
                <a:solidFill>
                  <a:srgbClr val="4A4A4A"/>
                </a:solidFill>
                <a:latin typeface="Calibri"/>
              </a:rPr>
              <a:t>Functional but inconsistent across teams</a:t>
            </a:r>
          </a:p>
        </p:txBody>
      </p:sp>
      <p:sp>
        <p:nvSpPr>
          <p:cNvPr id="30" name="Oval 29"/>
          <p:cNvSpPr/>
          <p:nvPr/>
        </p:nvSpPr>
        <p:spPr>
          <a:xfrm>
            <a:off x="9921240" y="2999232"/>
            <a:ext cx="201168" cy="201168"/>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77272" y="2926080"/>
            <a:ext cx="822960" cy="274320"/>
          </a:xfrm>
          <a:prstGeom prst="rect">
            <a:avLst/>
          </a:prstGeom>
          <a:solidFill>
            <a:srgbClr val="27AE60"/>
          </a:solidFill>
        </p:spPr>
        <p:txBody>
          <a:bodyPr wrap="square" lIns="54864" rIns="54864" tIns="27432" bIns="27432" anchor="t">
            <a:spAutoFit/>
          </a:bodyPr>
          <a:lstStyle/>
          <a:p>
            <a:pPr algn="l"/>
            <a:r>
              <a:rPr sz="1000" b="1" i="0">
                <a:solidFill>
                  <a:srgbClr val="FFFFFF"/>
                </a:solidFill>
                <a:latin typeface="Calibri"/>
              </a:rPr>
              <a:t>OK</a:t>
            </a:r>
          </a:p>
        </p:txBody>
      </p:sp>
      <p:sp>
        <p:nvSpPr>
          <p:cNvPr id="32" name="TextBox 31"/>
          <p:cNvSpPr txBox="1"/>
          <p:nvPr/>
        </p:nvSpPr>
        <p:spPr>
          <a:xfrm>
            <a:off x="10177272" y="3200400"/>
            <a:ext cx="2103120" cy="274320"/>
          </a:xfrm>
          <a:prstGeom prst="rect">
            <a:avLst/>
          </a:prstGeom>
          <a:noFill/>
        </p:spPr>
        <p:txBody>
          <a:bodyPr wrap="square" lIns="54864" rIns="54864" tIns="27432" bIns="27432" anchor="t">
            <a:spAutoFit/>
          </a:bodyPr>
          <a:lstStyle/>
          <a:p>
            <a:pPr algn="l"/>
            <a:r>
              <a:rPr sz="700" b="0" i="0">
                <a:solidFill>
                  <a:srgbClr val="4A4A4A"/>
                </a:solidFill>
                <a:latin typeface="Calibri"/>
              </a:rPr>
              <a:t>Mature and scalable — import to TOM as-is</a:t>
            </a:r>
          </a:p>
        </p:txBody>
      </p:sp>
      <p:sp>
        <p:nvSpPr>
          <p:cNvPr id="33" name="Rectangle 32"/>
          <p:cNvSpPr/>
          <p:nvPr/>
        </p:nvSpPr>
        <p:spPr>
          <a:xfrm>
            <a:off x="457200" y="3611880"/>
            <a:ext cx="2194560" cy="411480"/>
          </a:xfrm>
          <a:prstGeom prst="rect">
            <a:avLst/>
          </a:prstGeom>
          <a:solidFill>
            <a:srgbClr val="162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611880"/>
            <a:ext cx="2194560" cy="411480"/>
          </a:xfrm>
          <a:prstGeom prst="rect">
            <a:avLst/>
          </a:prstGeom>
          <a:noFill/>
        </p:spPr>
        <p:txBody>
          <a:bodyPr wrap="square" lIns="54864" rIns="54864" tIns="27432" bIns="27432" anchor="ctr">
            <a:spAutoFit/>
          </a:bodyPr>
          <a:lstStyle/>
          <a:p>
            <a:pPr algn="l"/>
            <a:r>
              <a:rPr sz="900" b="1" i="0">
                <a:solidFill>
                  <a:srgbClr val="FFFFFF"/>
                </a:solidFill>
                <a:latin typeface="Calibri"/>
              </a:rPr>
              <a:t>  DIMENSION ↓   /   TEAM →</a:t>
            </a:r>
          </a:p>
        </p:txBody>
      </p:sp>
      <p:sp>
        <p:nvSpPr>
          <p:cNvPr id="35" name="Rectangle 34"/>
          <p:cNvSpPr/>
          <p:nvPr/>
        </p:nvSpPr>
        <p:spPr>
          <a:xfrm>
            <a:off x="2651760" y="3611880"/>
            <a:ext cx="1627632" cy="41148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51760"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GIS</a:t>
            </a:r>
          </a:p>
        </p:txBody>
      </p:sp>
      <p:sp>
        <p:nvSpPr>
          <p:cNvPr id="37" name="Rectangle 36"/>
          <p:cNvSpPr/>
          <p:nvPr/>
        </p:nvSpPr>
        <p:spPr>
          <a:xfrm>
            <a:off x="4279392" y="3611880"/>
            <a:ext cx="1627632" cy="4114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9392"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CORPORATE</a:t>
            </a:r>
          </a:p>
        </p:txBody>
      </p:sp>
      <p:sp>
        <p:nvSpPr>
          <p:cNvPr id="39" name="Rectangle 38"/>
          <p:cNvSpPr/>
          <p:nvPr/>
        </p:nvSpPr>
        <p:spPr>
          <a:xfrm>
            <a:off x="5907024" y="3611880"/>
            <a:ext cx="1627632" cy="411480"/>
          </a:xfrm>
          <a:prstGeom prst="rect">
            <a:avLst/>
          </a:prstGeom>
          <a:solidFill>
            <a:srgbClr val="B0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07024"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G&amp;E</a:t>
            </a:r>
          </a:p>
        </p:txBody>
      </p:sp>
      <p:sp>
        <p:nvSpPr>
          <p:cNvPr id="41" name="Rectangle 40"/>
          <p:cNvSpPr/>
          <p:nvPr/>
        </p:nvSpPr>
        <p:spPr>
          <a:xfrm>
            <a:off x="7534656" y="3611880"/>
            <a:ext cx="1627632" cy="411480"/>
          </a:xfrm>
          <a:prstGeom prst="rect">
            <a:avLst/>
          </a:prstGeom>
          <a:solidFill>
            <a:srgbClr val="4B8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34656"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GLOBAL SAP</a:t>
            </a:r>
          </a:p>
        </p:txBody>
      </p:sp>
      <p:sp>
        <p:nvSpPr>
          <p:cNvPr id="43" name="Rectangle 42"/>
          <p:cNvSpPr/>
          <p:nvPr/>
        </p:nvSpPr>
        <p:spPr>
          <a:xfrm>
            <a:off x="9162288" y="3611880"/>
            <a:ext cx="1627632" cy="41148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62288"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SMART MET.</a:t>
            </a:r>
          </a:p>
        </p:txBody>
      </p:sp>
      <p:sp>
        <p:nvSpPr>
          <p:cNvPr id="45" name="Rectangle 44"/>
          <p:cNvSpPr/>
          <p:nvPr/>
        </p:nvSpPr>
        <p:spPr>
          <a:xfrm>
            <a:off x="10789920" y="3611880"/>
            <a:ext cx="1627632" cy="41148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89920" y="3611880"/>
            <a:ext cx="1627632" cy="411480"/>
          </a:xfrm>
          <a:prstGeom prst="rect">
            <a:avLst/>
          </a:prstGeom>
          <a:noFill/>
        </p:spPr>
        <p:txBody>
          <a:bodyPr wrap="square" lIns="54864" rIns="54864" tIns="27432" bIns="27432" anchor="ctr">
            <a:spAutoFit/>
          </a:bodyPr>
          <a:lstStyle/>
          <a:p>
            <a:pPr algn="ctr"/>
            <a:r>
              <a:rPr sz="900" b="1" i="0">
                <a:solidFill>
                  <a:srgbClr val="FFFFFF"/>
                </a:solidFill>
                <a:latin typeface="Calibri"/>
              </a:rPr>
              <a:t>CS / SAP (Kumar)</a:t>
            </a:r>
          </a:p>
        </p:txBody>
      </p:sp>
      <p:sp>
        <p:nvSpPr>
          <p:cNvPr id="47" name="Rectangle 46"/>
          <p:cNvSpPr/>
          <p:nvPr/>
        </p:nvSpPr>
        <p:spPr>
          <a:xfrm>
            <a:off x="457200" y="4023360"/>
            <a:ext cx="2194560"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059936"/>
            <a:ext cx="2057400" cy="219456"/>
          </a:xfrm>
          <a:prstGeom prst="rect">
            <a:avLst/>
          </a:prstGeom>
          <a:noFill/>
        </p:spPr>
        <p:txBody>
          <a:bodyPr wrap="square" lIns="54864" rIns="54864" tIns="27432" bIns="27432" anchor="t">
            <a:spAutoFit/>
          </a:bodyPr>
          <a:lstStyle/>
          <a:p>
            <a:pPr algn="l"/>
            <a:r>
              <a:rPr sz="1000" b="1" i="0">
                <a:solidFill>
                  <a:srgbClr val="1F3A68"/>
                </a:solidFill>
                <a:latin typeface="Calibri"/>
              </a:rPr>
              <a:t>01 CAPACITY</a:t>
            </a:r>
          </a:p>
        </p:txBody>
      </p:sp>
      <p:sp>
        <p:nvSpPr>
          <p:cNvPr id="49" name="TextBox 48"/>
          <p:cNvSpPr txBox="1"/>
          <p:nvPr/>
        </p:nvSpPr>
        <p:spPr>
          <a:xfrm>
            <a:off x="548640" y="4261104"/>
            <a:ext cx="2057400" cy="201168"/>
          </a:xfrm>
          <a:prstGeom prst="rect">
            <a:avLst/>
          </a:prstGeom>
          <a:noFill/>
        </p:spPr>
        <p:txBody>
          <a:bodyPr wrap="square" lIns="54864" rIns="54864" tIns="27432" bIns="27432" anchor="t">
            <a:spAutoFit/>
          </a:bodyPr>
          <a:lstStyle/>
          <a:p>
            <a:pPr algn="l"/>
            <a:r>
              <a:rPr sz="800" b="0" i="0">
                <a:solidFill>
                  <a:srgbClr val="4A4A4A"/>
                </a:solidFill>
                <a:latin typeface="Calibri"/>
              </a:rPr>
              <a:t>Headcount · Mix · Utilization</a:t>
            </a:r>
          </a:p>
        </p:txBody>
      </p:sp>
      <p:sp>
        <p:nvSpPr>
          <p:cNvPr id="50" name="Rectangle 49"/>
          <p:cNvSpPr/>
          <p:nvPr/>
        </p:nvSpPr>
        <p:spPr>
          <a:xfrm>
            <a:off x="2651760"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852928" y="4151376"/>
            <a:ext cx="1225296" cy="228600"/>
          </a:xfrm>
          <a:prstGeom prst="roundRect">
            <a:avLst>
              <a:gd name="adj" fmla="val 3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CRITICAL</a:t>
            </a:r>
          </a:p>
        </p:txBody>
      </p:sp>
      <p:sp>
        <p:nvSpPr>
          <p:cNvPr id="52" name="Rectangle 51"/>
          <p:cNvSpPr/>
          <p:nvPr/>
        </p:nvSpPr>
        <p:spPr>
          <a:xfrm>
            <a:off x="4279392"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480559" y="4151376"/>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54" name="Rectangle 53"/>
          <p:cNvSpPr/>
          <p:nvPr/>
        </p:nvSpPr>
        <p:spPr>
          <a:xfrm>
            <a:off x="5907024"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6108192" y="4151376"/>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56" name="Rectangle 55"/>
          <p:cNvSpPr/>
          <p:nvPr/>
        </p:nvSpPr>
        <p:spPr>
          <a:xfrm>
            <a:off x="7534656"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7735824" y="4151376"/>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58" name="Rectangle 57"/>
          <p:cNvSpPr/>
          <p:nvPr/>
        </p:nvSpPr>
        <p:spPr>
          <a:xfrm>
            <a:off x="9162288"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9363456" y="4151376"/>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60" name="Rectangle 59"/>
          <p:cNvSpPr/>
          <p:nvPr/>
        </p:nvSpPr>
        <p:spPr>
          <a:xfrm>
            <a:off x="10789920" y="4023360"/>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991088" y="4151376"/>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62" name="Rectangle 61"/>
          <p:cNvSpPr/>
          <p:nvPr/>
        </p:nvSpPr>
        <p:spPr>
          <a:xfrm>
            <a:off x="457200" y="4498848"/>
            <a:ext cx="2194560"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535424"/>
            <a:ext cx="2057400" cy="219456"/>
          </a:xfrm>
          <a:prstGeom prst="rect">
            <a:avLst/>
          </a:prstGeom>
          <a:noFill/>
        </p:spPr>
        <p:txBody>
          <a:bodyPr wrap="square" lIns="54864" rIns="54864" tIns="27432" bIns="27432" anchor="t">
            <a:spAutoFit/>
          </a:bodyPr>
          <a:lstStyle/>
          <a:p>
            <a:pPr algn="l"/>
            <a:r>
              <a:rPr sz="1000" b="1" i="0">
                <a:solidFill>
                  <a:srgbClr val="1F3A68"/>
                </a:solidFill>
                <a:latin typeface="Calibri"/>
              </a:rPr>
              <a:t>02 RESOURCE MIX &amp; COST</a:t>
            </a:r>
          </a:p>
        </p:txBody>
      </p:sp>
      <p:sp>
        <p:nvSpPr>
          <p:cNvPr id="64" name="TextBox 63"/>
          <p:cNvSpPr txBox="1"/>
          <p:nvPr/>
        </p:nvSpPr>
        <p:spPr>
          <a:xfrm>
            <a:off x="548640" y="4736592"/>
            <a:ext cx="2057400" cy="201168"/>
          </a:xfrm>
          <a:prstGeom prst="rect">
            <a:avLst/>
          </a:prstGeom>
          <a:noFill/>
        </p:spPr>
        <p:txBody>
          <a:bodyPr wrap="square" lIns="54864" rIns="54864" tIns="27432" bIns="27432" anchor="t">
            <a:spAutoFit/>
          </a:bodyPr>
          <a:lstStyle/>
          <a:p>
            <a:pPr algn="l"/>
            <a:r>
              <a:rPr sz="800" b="0" i="0">
                <a:solidFill>
                  <a:srgbClr val="4A4A4A"/>
                </a:solidFill>
                <a:latin typeface="Calibri"/>
              </a:rPr>
              <a:t>Internal · SWF · Vendor · Accenture</a:t>
            </a:r>
          </a:p>
        </p:txBody>
      </p:sp>
      <p:sp>
        <p:nvSpPr>
          <p:cNvPr id="65" name="Rectangle 64"/>
          <p:cNvSpPr/>
          <p:nvPr/>
        </p:nvSpPr>
        <p:spPr>
          <a:xfrm>
            <a:off x="2651760"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2852928" y="4626864"/>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67" name="Rectangle 66"/>
          <p:cNvSpPr/>
          <p:nvPr/>
        </p:nvSpPr>
        <p:spPr>
          <a:xfrm>
            <a:off x="4279392"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4480559" y="4626864"/>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69" name="Rectangle 68"/>
          <p:cNvSpPr/>
          <p:nvPr/>
        </p:nvSpPr>
        <p:spPr>
          <a:xfrm>
            <a:off x="5907024"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108192" y="4626864"/>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71" name="Rectangle 70"/>
          <p:cNvSpPr/>
          <p:nvPr/>
        </p:nvSpPr>
        <p:spPr>
          <a:xfrm>
            <a:off x="7534656"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735824" y="4626864"/>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73" name="Rectangle 72"/>
          <p:cNvSpPr/>
          <p:nvPr/>
        </p:nvSpPr>
        <p:spPr>
          <a:xfrm>
            <a:off x="9162288"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9363456" y="4626864"/>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75" name="Rectangle 74"/>
          <p:cNvSpPr/>
          <p:nvPr/>
        </p:nvSpPr>
        <p:spPr>
          <a:xfrm>
            <a:off x="10789920" y="4498848"/>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10991088" y="4626864"/>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77" name="Rectangle 76"/>
          <p:cNvSpPr/>
          <p:nvPr/>
        </p:nvSpPr>
        <p:spPr>
          <a:xfrm>
            <a:off x="457200" y="4974336"/>
            <a:ext cx="2194560"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8640" y="5010912"/>
            <a:ext cx="2057400" cy="219456"/>
          </a:xfrm>
          <a:prstGeom prst="rect">
            <a:avLst/>
          </a:prstGeom>
          <a:noFill/>
        </p:spPr>
        <p:txBody>
          <a:bodyPr wrap="square" lIns="54864" rIns="54864" tIns="27432" bIns="27432" anchor="t">
            <a:spAutoFit/>
          </a:bodyPr>
          <a:lstStyle/>
          <a:p>
            <a:pPr algn="l"/>
            <a:r>
              <a:rPr sz="1000" b="1" i="0">
                <a:solidFill>
                  <a:srgbClr val="1F3A68"/>
                </a:solidFill>
                <a:latin typeface="Calibri"/>
              </a:rPr>
              <a:t>03 REPORTING</a:t>
            </a:r>
          </a:p>
        </p:txBody>
      </p:sp>
      <p:sp>
        <p:nvSpPr>
          <p:cNvPr id="79" name="TextBox 78"/>
          <p:cNvSpPr txBox="1"/>
          <p:nvPr/>
        </p:nvSpPr>
        <p:spPr>
          <a:xfrm>
            <a:off x="548640" y="5212079"/>
            <a:ext cx="2057400" cy="201168"/>
          </a:xfrm>
          <a:prstGeom prst="rect">
            <a:avLst/>
          </a:prstGeom>
          <a:noFill/>
        </p:spPr>
        <p:txBody>
          <a:bodyPr wrap="square" lIns="54864" rIns="54864" tIns="27432" bIns="27432" anchor="t">
            <a:spAutoFit/>
          </a:bodyPr>
          <a:lstStyle/>
          <a:p>
            <a:pPr algn="l"/>
            <a:r>
              <a:rPr sz="800" b="0" i="0">
                <a:solidFill>
                  <a:srgbClr val="4A4A4A"/>
                </a:solidFill>
                <a:latin typeface="Calibri"/>
              </a:rPr>
              <a:t>Tools · Cadence · Audience</a:t>
            </a:r>
          </a:p>
        </p:txBody>
      </p:sp>
      <p:sp>
        <p:nvSpPr>
          <p:cNvPr id="80" name="Rectangle 79"/>
          <p:cNvSpPr/>
          <p:nvPr/>
        </p:nvSpPr>
        <p:spPr>
          <a:xfrm>
            <a:off x="2651760"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2852928" y="5102351"/>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82" name="Rectangle 81"/>
          <p:cNvSpPr/>
          <p:nvPr/>
        </p:nvSpPr>
        <p:spPr>
          <a:xfrm>
            <a:off x="4279392"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4480559" y="5102351"/>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84" name="Rectangle 83"/>
          <p:cNvSpPr/>
          <p:nvPr/>
        </p:nvSpPr>
        <p:spPr>
          <a:xfrm>
            <a:off x="5907024"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6108192" y="5102351"/>
            <a:ext cx="1225296" cy="228600"/>
          </a:xfrm>
          <a:prstGeom prst="roundRect">
            <a:avLst>
              <a:gd name="adj" fmla="val 3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CRITICAL</a:t>
            </a:r>
          </a:p>
        </p:txBody>
      </p:sp>
      <p:sp>
        <p:nvSpPr>
          <p:cNvPr id="86" name="Rectangle 85"/>
          <p:cNvSpPr/>
          <p:nvPr/>
        </p:nvSpPr>
        <p:spPr>
          <a:xfrm>
            <a:off x="7534656"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7735824" y="5102351"/>
            <a:ext cx="1225296" cy="228600"/>
          </a:xfrm>
          <a:prstGeom prst="roundRect">
            <a:avLst>
              <a:gd name="adj" fmla="val 3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GAP</a:t>
            </a:r>
          </a:p>
        </p:txBody>
      </p:sp>
      <p:sp>
        <p:nvSpPr>
          <p:cNvPr id="88" name="Rectangle 87"/>
          <p:cNvSpPr/>
          <p:nvPr/>
        </p:nvSpPr>
        <p:spPr>
          <a:xfrm>
            <a:off x="9162288"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9363456" y="5102351"/>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90" name="Rectangle 89"/>
          <p:cNvSpPr/>
          <p:nvPr/>
        </p:nvSpPr>
        <p:spPr>
          <a:xfrm>
            <a:off x="10789920" y="4974336"/>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0991088" y="5102351"/>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92" name="Rectangle 91"/>
          <p:cNvSpPr/>
          <p:nvPr/>
        </p:nvSpPr>
        <p:spPr>
          <a:xfrm>
            <a:off x="457200" y="5449823"/>
            <a:ext cx="2194560"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48640" y="5486399"/>
            <a:ext cx="2057400" cy="219456"/>
          </a:xfrm>
          <a:prstGeom prst="rect">
            <a:avLst/>
          </a:prstGeom>
          <a:noFill/>
        </p:spPr>
        <p:txBody>
          <a:bodyPr wrap="square" lIns="54864" rIns="54864" tIns="27432" bIns="27432" anchor="t">
            <a:spAutoFit/>
          </a:bodyPr>
          <a:lstStyle/>
          <a:p>
            <a:pPr algn="l"/>
            <a:r>
              <a:rPr sz="1000" b="1" i="0">
                <a:solidFill>
                  <a:srgbClr val="1F3A68"/>
                </a:solidFill>
                <a:latin typeface="Calibri"/>
              </a:rPr>
              <a:t>04 METRICS</a:t>
            </a:r>
          </a:p>
        </p:txBody>
      </p:sp>
      <p:sp>
        <p:nvSpPr>
          <p:cNvPr id="94" name="TextBox 93"/>
          <p:cNvSpPr txBox="1"/>
          <p:nvPr/>
        </p:nvSpPr>
        <p:spPr>
          <a:xfrm>
            <a:off x="548640" y="5687567"/>
            <a:ext cx="2057400" cy="201168"/>
          </a:xfrm>
          <a:prstGeom prst="rect">
            <a:avLst/>
          </a:prstGeom>
          <a:noFill/>
        </p:spPr>
        <p:txBody>
          <a:bodyPr wrap="square" lIns="54864" rIns="54864" tIns="27432" bIns="27432" anchor="t">
            <a:spAutoFit/>
          </a:bodyPr>
          <a:lstStyle/>
          <a:p>
            <a:pPr algn="l"/>
            <a:r>
              <a:rPr sz="800" b="0" i="0">
                <a:solidFill>
                  <a:srgbClr val="4A4A4A"/>
                </a:solidFill>
                <a:latin typeface="Calibri"/>
              </a:rPr>
              <a:t>KPIs that matter / missing</a:t>
            </a:r>
          </a:p>
        </p:txBody>
      </p:sp>
      <p:sp>
        <p:nvSpPr>
          <p:cNvPr id="95" name="Rectangle 94"/>
          <p:cNvSpPr/>
          <p:nvPr/>
        </p:nvSpPr>
        <p:spPr>
          <a:xfrm>
            <a:off x="2651760"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2852928" y="5577839"/>
            <a:ext cx="1225296" cy="228600"/>
          </a:xfrm>
          <a:prstGeom prst="roundRect">
            <a:avLst>
              <a:gd name="adj" fmla="val 3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CRITICAL</a:t>
            </a:r>
          </a:p>
        </p:txBody>
      </p:sp>
      <p:sp>
        <p:nvSpPr>
          <p:cNvPr id="97" name="Rectangle 96"/>
          <p:cNvSpPr/>
          <p:nvPr/>
        </p:nvSpPr>
        <p:spPr>
          <a:xfrm>
            <a:off x="4279392"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4480559" y="5577839"/>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99" name="Rectangle 98"/>
          <p:cNvSpPr/>
          <p:nvPr/>
        </p:nvSpPr>
        <p:spPr>
          <a:xfrm>
            <a:off x="5907024"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6108192" y="5577839"/>
            <a:ext cx="1225296" cy="228600"/>
          </a:xfrm>
          <a:prstGeom prst="roundRect">
            <a:avLst>
              <a:gd name="adj" fmla="val 3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CRITICAL</a:t>
            </a:r>
          </a:p>
        </p:txBody>
      </p:sp>
      <p:sp>
        <p:nvSpPr>
          <p:cNvPr id="101" name="Rectangle 100"/>
          <p:cNvSpPr/>
          <p:nvPr/>
        </p:nvSpPr>
        <p:spPr>
          <a:xfrm>
            <a:off x="7534656"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7735824" y="5577839"/>
            <a:ext cx="1225296" cy="228600"/>
          </a:xfrm>
          <a:prstGeom prst="roundRect">
            <a:avLst>
              <a:gd name="adj" fmla="val 35000"/>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PARTIAL</a:t>
            </a:r>
          </a:p>
        </p:txBody>
      </p:sp>
      <p:sp>
        <p:nvSpPr>
          <p:cNvPr id="103" name="Rectangle 102"/>
          <p:cNvSpPr/>
          <p:nvPr/>
        </p:nvSpPr>
        <p:spPr>
          <a:xfrm>
            <a:off x="9162288"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9363456" y="5577839"/>
            <a:ext cx="1225296" cy="228600"/>
          </a:xfrm>
          <a:prstGeom prst="roundRect">
            <a:avLst>
              <a:gd name="adj" fmla="val 35000"/>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TBC</a:t>
            </a:r>
          </a:p>
        </p:txBody>
      </p:sp>
      <p:sp>
        <p:nvSpPr>
          <p:cNvPr id="105" name="Rectangle 104"/>
          <p:cNvSpPr/>
          <p:nvPr/>
        </p:nvSpPr>
        <p:spPr>
          <a:xfrm>
            <a:off x="10789920" y="5449823"/>
            <a:ext cx="1627632" cy="475488"/>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10991088" y="5577839"/>
            <a:ext cx="1225296" cy="228600"/>
          </a:xfrm>
          <a:prstGeom prst="roundRect">
            <a:avLst>
              <a:gd name="adj" fmla="val 35000"/>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1" i="0">
                <a:solidFill>
                  <a:srgbClr val="FFFFFF"/>
                </a:solidFill>
                <a:latin typeface="Calibri"/>
              </a:rPr>
              <a:t>CRITICAL</a:t>
            </a:r>
          </a:p>
        </p:txBody>
      </p:sp>
      <p:sp>
        <p:nvSpPr>
          <p:cNvPr id="107" name="Rectangle 106"/>
          <p:cNvSpPr/>
          <p:nvPr/>
        </p:nvSpPr>
        <p:spPr>
          <a:xfrm>
            <a:off x="457200" y="5852160"/>
            <a:ext cx="11274552" cy="50292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94360" y="5852160"/>
            <a:ext cx="10972800" cy="502920"/>
          </a:xfrm>
          <a:prstGeom prst="rect">
            <a:avLst/>
          </a:prstGeom>
          <a:noFill/>
        </p:spPr>
        <p:txBody>
          <a:bodyPr wrap="square" lIns="54864" rIns="54864" tIns="27432" bIns="27432" anchor="ctr">
            <a:spAutoFit/>
          </a:bodyPr>
          <a:lstStyle/>
          <a:p>
            <a:pPr algn="l"/>
            <a:r>
              <a:rPr sz="1100" b="1" i="0">
                <a:solidFill>
                  <a:srgbClr val="FFFFFF"/>
                </a:solidFill>
                <a:latin typeface="Calibri"/>
              </a:rPr>
              <a:t>Knowledge concentration is universal · 4 of 6 teams lack formal capacity planning · only 1 KPI stands out (incident count, Global SAP) — the flow view was optimistic; the capacity view exposes real scaling risk</a:t>
            </a:r>
          </a:p>
        </p:txBody>
      </p:sp>
      <p:sp>
        <p:nvSpPr>
          <p:cNvPr id="109" name="TextBox 108"/>
          <p:cNvSpPr txBox="1"/>
          <p:nvPr/>
        </p:nvSpPr>
        <p:spPr>
          <a:xfrm>
            <a:off x="365760" y="6601968"/>
            <a:ext cx="3657600" cy="201168"/>
          </a:xfrm>
          <a:prstGeom prst="rect">
            <a:avLst/>
          </a:prstGeom>
          <a:noFill/>
        </p:spPr>
        <p:txBody>
          <a:bodyPr wrap="square" lIns="54864" rIns="54864" tIns="27432" bIns="27432" anchor="t">
            <a:spAutoFit/>
          </a:bodyPr>
          <a:lstStyle/>
          <a:p>
            <a:pPr algn="l"/>
            <a:r>
              <a:rPr sz="800" b="0" i="0">
                <a:solidFill>
                  <a:srgbClr val="808080"/>
                </a:solidFill>
                <a:latin typeface="Calibri"/>
              </a:rPr>
              <a:t>© 2026 NTT DATA, Inc.</a:t>
            </a:r>
          </a:p>
        </p:txBody>
      </p:sp>
      <p:sp>
        <p:nvSpPr>
          <p:cNvPr id="110" name="TextBox 109"/>
          <p:cNvSpPr txBox="1"/>
          <p:nvPr/>
        </p:nvSpPr>
        <p:spPr>
          <a:xfrm>
            <a:off x="10058400" y="6601968"/>
            <a:ext cx="2011680" cy="201168"/>
          </a:xfrm>
          <a:prstGeom prst="rect">
            <a:avLst/>
          </a:prstGeom>
          <a:noFill/>
        </p:spPr>
        <p:txBody>
          <a:bodyPr wrap="square" lIns="54864" rIns="54864" tIns="27432" bIns="27432" anchor="t">
            <a:spAutoFit/>
          </a:bodyPr>
          <a:lstStyle/>
          <a:p>
            <a:pPr algn="r"/>
            <a:r>
              <a:rPr sz="800" b="0" i="0">
                <a:solidFill>
                  <a:srgbClr val="808080"/>
                </a:solidFill>
                <a:latin typeface="Calibri"/>
              </a:rPr>
              <a:t>CAPACITY &amp; REPORTING · 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58368"/>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7315200" cy="292608"/>
          </a:xfrm>
          <a:prstGeom prst="rect">
            <a:avLst/>
          </a:prstGeom>
          <a:noFill/>
        </p:spPr>
        <p:txBody>
          <a:bodyPr wrap="square" lIns="54864" rIns="54864" tIns="27432" bIns="27432" anchor="t">
            <a:spAutoFit/>
          </a:bodyPr>
          <a:lstStyle/>
          <a:p>
            <a:pPr algn="l"/>
            <a:r>
              <a:rPr sz="2200" b="1" i="0">
                <a:solidFill>
                  <a:srgbClr val="FFFFFF"/>
                </a:solidFill>
                <a:latin typeface="Calibri"/>
              </a:rPr>
              <a:t>CURRENT STATE ANALYSIS</a:t>
            </a:r>
          </a:p>
        </p:txBody>
      </p:sp>
      <p:sp>
        <p:nvSpPr>
          <p:cNvPr id="4" name="TextBox 3"/>
          <p:cNvSpPr txBox="1"/>
          <p:nvPr/>
        </p:nvSpPr>
        <p:spPr>
          <a:xfrm>
            <a:off x="365760" y="402336"/>
            <a:ext cx="9144000" cy="219456"/>
          </a:xfrm>
          <a:prstGeom prst="rect">
            <a:avLst/>
          </a:prstGeom>
          <a:noFill/>
        </p:spPr>
        <p:txBody>
          <a:bodyPr wrap="square" lIns="54864" rIns="54864" tIns="27432" bIns="27432" anchor="t">
            <a:spAutoFit/>
          </a:bodyPr>
          <a:lstStyle/>
          <a:p>
            <a:pPr algn="l"/>
            <a:r>
              <a:rPr sz="1100" b="1" i="0">
                <a:solidFill>
                  <a:srgbClr val="FFFFFF"/>
                </a:solidFill>
                <a:latin typeface="Calibri"/>
              </a:rPr>
              <a:t>CAPACITY &amp; REPORTING — NEW DIMENSION</a:t>
            </a:r>
          </a:p>
        </p:txBody>
      </p:sp>
      <p:sp>
        <p:nvSpPr>
          <p:cNvPr id="5" name="TextBox 4"/>
          <p:cNvSpPr txBox="1"/>
          <p:nvPr/>
        </p:nvSpPr>
        <p:spPr>
          <a:xfrm>
            <a:off x="11064240" y="201168"/>
            <a:ext cx="1005840" cy="274320"/>
          </a:xfrm>
          <a:prstGeom prst="rect">
            <a:avLst/>
          </a:prstGeom>
          <a:noFill/>
        </p:spPr>
        <p:txBody>
          <a:bodyPr wrap="square" lIns="54864" rIns="54864" tIns="27432" bIns="27432" anchor="t">
            <a:spAutoFit/>
          </a:bodyPr>
          <a:lstStyle/>
          <a:p>
            <a:pPr algn="r"/>
            <a:r>
              <a:rPr sz="1000" b="1" i="0">
                <a:solidFill>
                  <a:srgbClr val="FFFFFF"/>
                </a:solidFill>
                <a:latin typeface="Calibri"/>
              </a:rPr>
              <a:t>NTT DATA</a:t>
            </a:r>
          </a:p>
        </p:txBody>
      </p:sp>
      <p:sp>
        <p:nvSpPr>
          <p:cNvPr id="6" name="TextBox 5"/>
          <p:cNvSpPr txBox="1"/>
          <p:nvPr/>
        </p:nvSpPr>
        <p:spPr>
          <a:xfrm>
            <a:off x="457200" y="804672"/>
            <a:ext cx="11247120" cy="365760"/>
          </a:xfrm>
          <a:prstGeom prst="rect">
            <a:avLst/>
          </a:prstGeom>
          <a:noFill/>
        </p:spPr>
        <p:txBody>
          <a:bodyPr wrap="square" lIns="54864" rIns="54864" tIns="27432" bIns="27432" anchor="t">
            <a:spAutoFit/>
          </a:bodyPr>
          <a:lstStyle/>
          <a:p>
            <a:pPr algn="l"/>
            <a:r>
              <a:rPr sz="1300" b="1" i="0">
                <a:solidFill>
                  <a:srgbClr val="1F3A68"/>
                </a:solidFill>
                <a:latin typeface="Calibri"/>
              </a:rPr>
              <a:t>Per-team evidence captured in Wave 1 — every team admits a knowledge-concentration risk and a metrics gap; two teams self-describe as KPI-less</a:t>
            </a:r>
          </a:p>
        </p:txBody>
      </p:sp>
      <p:sp>
        <p:nvSpPr>
          <p:cNvPr id="7" name="Rectangle 6"/>
          <p:cNvSpPr/>
          <p:nvPr/>
        </p:nvSpPr>
        <p:spPr>
          <a:xfrm>
            <a:off x="457200" y="1325880"/>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37490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417320"/>
            <a:ext cx="3566159" cy="256032"/>
          </a:xfrm>
          <a:prstGeom prst="rect">
            <a:avLst/>
          </a:prstGeom>
          <a:noFill/>
        </p:spPr>
        <p:txBody>
          <a:bodyPr wrap="square" lIns="54864" rIns="54864" tIns="27432" bIns="27432" anchor="t">
            <a:spAutoFit/>
          </a:bodyPr>
          <a:lstStyle/>
          <a:p>
            <a:pPr algn="l"/>
            <a:r>
              <a:rPr sz="1200" b="1" i="0">
                <a:solidFill>
                  <a:srgbClr val="5EA04D"/>
                </a:solidFill>
                <a:latin typeface="Calibri"/>
              </a:rPr>
              <a:t>GIS</a:t>
            </a:r>
          </a:p>
        </p:txBody>
      </p:sp>
      <p:sp>
        <p:nvSpPr>
          <p:cNvPr id="10" name="TextBox 9"/>
          <p:cNvSpPr txBox="1"/>
          <p:nvPr/>
        </p:nvSpPr>
        <p:spPr>
          <a:xfrm>
            <a:off x="585216" y="1673352"/>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George Porto</a:t>
            </a:r>
          </a:p>
        </p:txBody>
      </p:sp>
      <p:sp>
        <p:nvSpPr>
          <p:cNvPr id="11" name="TextBox 10"/>
          <p:cNvSpPr txBox="1"/>
          <p:nvPr/>
        </p:nvSpPr>
        <p:spPr>
          <a:xfrm>
            <a:off x="585216" y="1920240"/>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12" name="TextBox 11"/>
          <p:cNvSpPr txBox="1"/>
          <p:nvPr/>
        </p:nvSpPr>
        <p:spPr>
          <a:xfrm>
            <a:off x="1572768" y="1920240"/>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 formal capacity planning · PDD planning is a challenge</a:t>
            </a:r>
          </a:p>
        </p:txBody>
      </p:sp>
      <p:sp>
        <p:nvSpPr>
          <p:cNvPr id="13" name="TextBox 12"/>
          <p:cNvSpPr txBox="1"/>
          <p:nvPr/>
        </p:nvSpPr>
        <p:spPr>
          <a:xfrm>
            <a:off x="585216" y="235915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14" name="TextBox 13"/>
          <p:cNvSpPr txBox="1"/>
          <p:nvPr/>
        </p:nvSpPr>
        <p:spPr>
          <a:xfrm>
            <a:off x="1572768" y="235915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~250k/yr vendors · +1 FTE part-time</a:t>
            </a:r>
          </a:p>
        </p:txBody>
      </p:sp>
      <p:sp>
        <p:nvSpPr>
          <p:cNvPr id="15" name="TextBox 14"/>
          <p:cNvSpPr txBox="1"/>
          <p:nvPr/>
        </p:nvSpPr>
        <p:spPr>
          <a:xfrm>
            <a:off x="585216" y="2798064"/>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16" name="TextBox 15"/>
          <p:cNvSpPr txBox="1"/>
          <p:nvPr/>
        </p:nvSpPr>
        <p:spPr>
          <a:xfrm>
            <a:off x="1572768" y="2798064"/>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IT Now dashboard · Jira extracts · OneNote personal · OneNote Carlos team · spreadsheets</a:t>
            </a:r>
          </a:p>
        </p:txBody>
      </p:sp>
      <p:sp>
        <p:nvSpPr>
          <p:cNvPr id="17" name="TextBox 16"/>
          <p:cNvSpPr txBox="1"/>
          <p:nvPr/>
        </p:nvSpPr>
        <p:spPr>
          <a:xfrm>
            <a:off x="585216" y="323697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18" name="TextBox 17"/>
          <p:cNvSpPr txBox="1"/>
          <p:nvPr/>
        </p:nvSpPr>
        <p:spPr>
          <a:xfrm>
            <a:off x="1572768" y="323697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 flow/process metrics · Incidents KPIs only</a:t>
            </a:r>
          </a:p>
        </p:txBody>
      </p:sp>
      <p:sp>
        <p:nvSpPr>
          <p:cNvPr id="19" name="Rectangle 18"/>
          <p:cNvSpPr/>
          <p:nvPr/>
        </p:nvSpPr>
        <p:spPr>
          <a:xfrm>
            <a:off x="4279392" y="1325880"/>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79392" y="1325880"/>
            <a:ext cx="3749039"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07407" y="1417320"/>
            <a:ext cx="3566159" cy="256032"/>
          </a:xfrm>
          <a:prstGeom prst="rect">
            <a:avLst/>
          </a:prstGeom>
          <a:noFill/>
        </p:spPr>
        <p:txBody>
          <a:bodyPr wrap="square" lIns="54864" rIns="54864" tIns="27432" bIns="27432" anchor="t">
            <a:spAutoFit/>
          </a:bodyPr>
          <a:lstStyle/>
          <a:p>
            <a:pPr algn="l"/>
            <a:r>
              <a:rPr sz="1200" b="1" i="0">
                <a:solidFill>
                  <a:srgbClr val="E87B1E"/>
                </a:solidFill>
                <a:latin typeface="Calibri"/>
              </a:rPr>
              <a:t>CORPORATE</a:t>
            </a:r>
          </a:p>
        </p:txBody>
      </p:sp>
      <p:sp>
        <p:nvSpPr>
          <p:cNvPr id="22" name="TextBox 21"/>
          <p:cNvSpPr txBox="1"/>
          <p:nvPr/>
        </p:nvSpPr>
        <p:spPr>
          <a:xfrm>
            <a:off x="4407407" y="1673352"/>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Amit Patel · Sarath Garikapati</a:t>
            </a:r>
          </a:p>
        </p:txBody>
      </p:sp>
      <p:sp>
        <p:nvSpPr>
          <p:cNvPr id="23" name="TextBox 22"/>
          <p:cNvSpPr txBox="1"/>
          <p:nvPr/>
        </p:nvSpPr>
        <p:spPr>
          <a:xfrm>
            <a:off x="4407407" y="1920240"/>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24" name="TextBox 23"/>
          <p:cNvSpPr txBox="1"/>
          <p:nvPr/>
        </p:nvSpPr>
        <p:spPr>
          <a:xfrm>
            <a:off x="5394959" y="1920240"/>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7 FTE + 2 SWF = 9 total · 5 PMs + 2 Tech Leads · each PM ≈ 3 projects · GAP: tech questions</a:t>
            </a:r>
          </a:p>
        </p:txBody>
      </p:sp>
      <p:sp>
        <p:nvSpPr>
          <p:cNvPr id="25" name="TextBox 24"/>
          <p:cNvSpPr txBox="1"/>
          <p:nvPr/>
        </p:nvSpPr>
        <p:spPr>
          <a:xfrm>
            <a:off x="4407407" y="235915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26" name="TextBox 25"/>
          <p:cNvSpPr txBox="1"/>
          <p:nvPr/>
        </p:nvSpPr>
        <p:spPr>
          <a:xfrm>
            <a:off x="5394959" y="235915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captured — Wave 2 follow-up</a:t>
            </a:r>
          </a:p>
        </p:txBody>
      </p:sp>
      <p:sp>
        <p:nvSpPr>
          <p:cNvPr id="27" name="TextBox 26"/>
          <p:cNvSpPr txBox="1"/>
          <p:nvPr/>
        </p:nvSpPr>
        <p:spPr>
          <a:xfrm>
            <a:off x="4407407" y="2798064"/>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28" name="TextBox 27"/>
          <p:cNvSpPr txBox="1"/>
          <p:nvPr/>
        </p:nvSpPr>
        <p:spPr>
          <a:xfrm>
            <a:off x="5394959" y="2798064"/>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Weekly reports to Sarath · weekly project meetings · project reports in Jira</a:t>
            </a:r>
          </a:p>
        </p:txBody>
      </p:sp>
      <p:sp>
        <p:nvSpPr>
          <p:cNvPr id="29" name="TextBox 28"/>
          <p:cNvSpPr txBox="1"/>
          <p:nvPr/>
        </p:nvSpPr>
        <p:spPr>
          <a:xfrm>
            <a:off x="4407407" y="323697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30" name="TextBox 29"/>
          <p:cNvSpPr txBox="1"/>
          <p:nvPr/>
        </p:nvSpPr>
        <p:spPr>
          <a:xfrm>
            <a:off x="5394959" y="323697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captured — Wave 2 follow-up</a:t>
            </a:r>
          </a:p>
        </p:txBody>
      </p:sp>
      <p:sp>
        <p:nvSpPr>
          <p:cNvPr id="31" name="Rectangle 30"/>
          <p:cNvSpPr/>
          <p:nvPr/>
        </p:nvSpPr>
        <p:spPr>
          <a:xfrm>
            <a:off x="8101583" y="1325880"/>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01583" y="1325880"/>
            <a:ext cx="3749039" cy="54864"/>
          </a:xfrm>
          <a:prstGeom prst="rect">
            <a:avLst/>
          </a:prstGeom>
          <a:solidFill>
            <a:srgbClr val="B0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1417320"/>
            <a:ext cx="3566159" cy="256032"/>
          </a:xfrm>
          <a:prstGeom prst="rect">
            <a:avLst/>
          </a:prstGeom>
          <a:noFill/>
        </p:spPr>
        <p:txBody>
          <a:bodyPr wrap="square" lIns="54864" rIns="54864" tIns="27432" bIns="27432" anchor="t">
            <a:spAutoFit/>
          </a:bodyPr>
          <a:lstStyle/>
          <a:p>
            <a:pPr algn="l"/>
            <a:r>
              <a:rPr sz="1200" b="1" i="0">
                <a:solidFill>
                  <a:srgbClr val="B04BA8"/>
                </a:solidFill>
                <a:latin typeface="Calibri"/>
              </a:rPr>
              <a:t>G&amp;E</a:t>
            </a:r>
          </a:p>
        </p:txBody>
      </p:sp>
      <p:sp>
        <p:nvSpPr>
          <p:cNvPr id="34" name="TextBox 33"/>
          <p:cNvSpPr txBox="1"/>
          <p:nvPr/>
        </p:nvSpPr>
        <p:spPr>
          <a:xfrm>
            <a:off x="8229600" y="1673352"/>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Andrew McGibbon</a:t>
            </a:r>
          </a:p>
        </p:txBody>
      </p:sp>
      <p:sp>
        <p:nvSpPr>
          <p:cNvPr id="35" name="TextBox 34"/>
          <p:cNvSpPr txBox="1"/>
          <p:nvPr/>
        </p:nvSpPr>
        <p:spPr>
          <a:xfrm>
            <a:off x="8229600" y="1920240"/>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36" name="TextBox 35"/>
          <p:cNvSpPr txBox="1"/>
          <p:nvPr/>
        </p:nvSpPr>
        <p:spPr>
          <a:xfrm>
            <a:off x="9217152" y="1920240"/>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WIPRO L2 + internal L3 · docs + templates ongoing · 1 position opened · knowledge in repo</a:t>
            </a:r>
          </a:p>
        </p:txBody>
      </p:sp>
      <p:sp>
        <p:nvSpPr>
          <p:cNvPr id="37" name="TextBox 36"/>
          <p:cNvSpPr txBox="1"/>
          <p:nvPr/>
        </p:nvSpPr>
        <p:spPr>
          <a:xfrm>
            <a:off x="8229600" y="235915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38" name="TextBox 37"/>
          <p:cNvSpPr txBox="1"/>
          <p:nvPr/>
        </p:nvSpPr>
        <p:spPr>
          <a:xfrm>
            <a:off x="9217152" y="235915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Dan / Bruno identified — limited visibility</a:t>
            </a:r>
          </a:p>
        </p:txBody>
      </p:sp>
      <p:sp>
        <p:nvSpPr>
          <p:cNvPr id="39" name="TextBox 38"/>
          <p:cNvSpPr txBox="1"/>
          <p:nvPr/>
        </p:nvSpPr>
        <p:spPr>
          <a:xfrm>
            <a:off x="8229600" y="2798064"/>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40" name="TextBox 39"/>
          <p:cNvSpPr txBox="1"/>
          <p:nvPr/>
        </p:nvSpPr>
        <p:spPr>
          <a:xfrm>
            <a:off x="9217152" y="2798064"/>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Dan is the single person generating reports (interfaces Carlos + Bruno)</a:t>
            </a:r>
          </a:p>
        </p:txBody>
      </p:sp>
      <p:sp>
        <p:nvSpPr>
          <p:cNvPr id="41" name="TextBox 40"/>
          <p:cNvSpPr txBox="1"/>
          <p:nvPr/>
        </p:nvSpPr>
        <p:spPr>
          <a:xfrm>
            <a:off x="8229600" y="323697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42" name="TextBox 41"/>
          <p:cNvSpPr txBox="1"/>
          <p:nvPr/>
        </p:nvSpPr>
        <p:spPr>
          <a:xfrm>
            <a:off x="9217152" y="323697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"Ask Dan — we don't have visibility" (quote)</a:t>
            </a:r>
          </a:p>
        </p:txBody>
      </p:sp>
      <p:sp>
        <p:nvSpPr>
          <p:cNvPr id="43" name="Rectangle 42"/>
          <p:cNvSpPr/>
          <p:nvPr/>
        </p:nvSpPr>
        <p:spPr>
          <a:xfrm>
            <a:off x="457200" y="3867911"/>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3867911"/>
            <a:ext cx="3749039" cy="54864"/>
          </a:xfrm>
          <a:prstGeom prst="rect">
            <a:avLst/>
          </a:prstGeom>
          <a:solidFill>
            <a:srgbClr val="4B8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5216" y="3959351"/>
            <a:ext cx="3566159" cy="256032"/>
          </a:xfrm>
          <a:prstGeom prst="rect">
            <a:avLst/>
          </a:prstGeom>
          <a:noFill/>
        </p:spPr>
        <p:txBody>
          <a:bodyPr wrap="square" lIns="54864" rIns="54864" tIns="27432" bIns="27432" anchor="t">
            <a:spAutoFit/>
          </a:bodyPr>
          <a:lstStyle/>
          <a:p>
            <a:pPr algn="l"/>
            <a:r>
              <a:rPr sz="1200" b="1" i="0">
                <a:solidFill>
                  <a:srgbClr val="4B83C0"/>
                </a:solidFill>
                <a:latin typeface="Calibri"/>
              </a:rPr>
              <a:t>GLOBAL SAP</a:t>
            </a:r>
          </a:p>
        </p:txBody>
      </p:sp>
      <p:sp>
        <p:nvSpPr>
          <p:cNvPr id="46" name="TextBox 45"/>
          <p:cNvSpPr txBox="1"/>
          <p:nvPr/>
        </p:nvSpPr>
        <p:spPr>
          <a:xfrm>
            <a:off x="585216" y="4215383"/>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Michael Dubois · Vanessa Colombo</a:t>
            </a:r>
          </a:p>
        </p:txBody>
      </p:sp>
      <p:sp>
        <p:nvSpPr>
          <p:cNvPr id="47" name="TextBox 46"/>
          <p:cNvSpPr txBox="1"/>
          <p:nvPr/>
        </p:nvSpPr>
        <p:spPr>
          <a:xfrm>
            <a:off x="585216" y="446227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48" name="TextBox 47"/>
          <p:cNvSpPr txBox="1"/>
          <p:nvPr/>
        </p:nvSpPr>
        <p:spPr>
          <a:xfrm>
            <a:off x="1572768" y="446227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5 FTE internal + 4–6 Accenture · 1 FTE incidents · 20+ yr tenure = knowledge concentrated · full HC</a:t>
            </a:r>
          </a:p>
        </p:txBody>
      </p:sp>
      <p:sp>
        <p:nvSpPr>
          <p:cNvPr id="49" name="TextBox 48"/>
          <p:cNvSpPr txBox="1"/>
          <p:nvPr/>
        </p:nvSpPr>
        <p:spPr>
          <a:xfrm>
            <a:off x="585216" y="4901183"/>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50" name="TextBox 49"/>
          <p:cNvSpPr txBox="1"/>
          <p:nvPr/>
        </p:nvSpPr>
        <p:spPr>
          <a:xfrm>
            <a:off x="1572768" y="4901183"/>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Accenture turnover high · offshore concerns · same-timezone preferred</a:t>
            </a:r>
          </a:p>
        </p:txBody>
      </p:sp>
      <p:sp>
        <p:nvSpPr>
          <p:cNvPr id="51" name="TextBox 50"/>
          <p:cNvSpPr txBox="1"/>
          <p:nvPr/>
        </p:nvSpPr>
        <p:spPr>
          <a:xfrm>
            <a:off x="585216" y="534009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52" name="TextBox 51"/>
          <p:cNvSpPr txBox="1"/>
          <p:nvPr/>
        </p:nvSpPr>
        <p:spPr>
          <a:xfrm>
            <a:off x="1572768" y="534009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Small-demand report → Vanessa · "check with Vanessa" on reporting</a:t>
            </a:r>
          </a:p>
        </p:txBody>
      </p:sp>
      <p:sp>
        <p:nvSpPr>
          <p:cNvPr id="53" name="TextBox 52"/>
          <p:cNvSpPr txBox="1"/>
          <p:nvPr/>
        </p:nvSpPr>
        <p:spPr>
          <a:xfrm>
            <a:off x="585216" y="5779008"/>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54" name="TextBox 53"/>
          <p:cNvSpPr txBox="1"/>
          <p:nvPr/>
        </p:nvSpPr>
        <p:spPr>
          <a:xfrm>
            <a:off x="1572768" y="5779008"/>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IT Now #incidents is THE KPI · more KPIs with Vanessa</a:t>
            </a:r>
          </a:p>
        </p:txBody>
      </p:sp>
      <p:sp>
        <p:nvSpPr>
          <p:cNvPr id="55" name="Rectangle 54"/>
          <p:cNvSpPr/>
          <p:nvPr/>
        </p:nvSpPr>
        <p:spPr>
          <a:xfrm>
            <a:off x="4279392" y="3867911"/>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279392" y="3867911"/>
            <a:ext cx="37490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07407" y="3959351"/>
            <a:ext cx="3566159" cy="256032"/>
          </a:xfrm>
          <a:prstGeom prst="rect">
            <a:avLst/>
          </a:prstGeom>
          <a:noFill/>
        </p:spPr>
        <p:txBody>
          <a:bodyPr wrap="square" lIns="54864" rIns="54864" tIns="27432" bIns="27432" anchor="t">
            <a:spAutoFit/>
          </a:bodyPr>
          <a:lstStyle/>
          <a:p>
            <a:pPr algn="l"/>
            <a:r>
              <a:rPr sz="1200" b="1" i="0">
                <a:solidFill>
                  <a:srgbClr val="5EA04D"/>
                </a:solidFill>
                <a:latin typeface="Calibri"/>
              </a:rPr>
              <a:t>SMART METERING</a:t>
            </a:r>
          </a:p>
        </p:txBody>
      </p:sp>
      <p:sp>
        <p:nvSpPr>
          <p:cNvPr id="58" name="TextBox 57"/>
          <p:cNvSpPr txBox="1"/>
          <p:nvPr/>
        </p:nvSpPr>
        <p:spPr>
          <a:xfrm>
            <a:off x="4407407" y="4215383"/>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(TBC — Kumar branch)</a:t>
            </a:r>
          </a:p>
        </p:txBody>
      </p:sp>
      <p:sp>
        <p:nvSpPr>
          <p:cNvPr id="59" name="TextBox 58"/>
          <p:cNvSpPr txBox="1"/>
          <p:nvPr/>
        </p:nvSpPr>
        <p:spPr>
          <a:xfrm>
            <a:off x="4407407" y="446227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60" name="TextBox 59"/>
          <p:cNvSpPr txBox="1"/>
          <p:nvPr/>
        </p:nvSpPr>
        <p:spPr>
          <a:xfrm>
            <a:off x="5394959" y="446227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yet captured — Wave 1 follow-up scheduled</a:t>
            </a:r>
          </a:p>
        </p:txBody>
      </p:sp>
      <p:sp>
        <p:nvSpPr>
          <p:cNvPr id="61" name="TextBox 60"/>
          <p:cNvSpPr txBox="1"/>
          <p:nvPr/>
        </p:nvSpPr>
        <p:spPr>
          <a:xfrm>
            <a:off x="4407407" y="4901183"/>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62" name="TextBox 61"/>
          <p:cNvSpPr txBox="1"/>
          <p:nvPr/>
        </p:nvSpPr>
        <p:spPr>
          <a:xfrm>
            <a:off x="5394959" y="4901183"/>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yet captured</a:t>
            </a:r>
          </a:p>
        </p:txBody>
      </p:sp>
      <p:sp>
        <p:nvSpPr>
          <p:cNvPr id="63" name="TextBox 62"/>
          <p:cNvSpPr txBox="1"/>
          <p:nvPr/>
        </p:nvSpPr>
        <p:spPr>
          <a:xfrm>
            <a:off x="4407407" y="534009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64" name="TextBox 63"/>
          <p:cNvSpPr txBox="1"/>
          <p:nvPr/>
        </p:nvSpPr>
        <p:spPr>
          <a:xfrm>
            <a:off x="5394959" y="534009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PPM Now + Confluence (from flow map) — detail pending</a:t>
            </a:r>
          </a:p>
        </p:txBody>
      </p:sp>
      <p:sp>
        <p:nvSpPr>
          <p:cNvPr id="65" name="TextBox 64"/>
          <p:cNvSpPr txBox="1"/>
          <p:nvPr/>
        </p:nvSpPr>
        <p:spPr>
          <a:xfrm>
            <a:off x="4407407" y="5779008"/>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66" name="TextBox 65"/>
          <p:cNvSpPr txBox="1"/>
          <p:nvPr/>
        </p:nvSpPr>
        <p:spPr>
          <a:xfrm>
            <a:off x="5394959" y="5779008"/>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yet captured</a:t>
            </a:r>
          </a:p>
        </p:txBody>
      </p:sp>
      <p:sp>
        <p:nvSpPr>
          <p:cNvPr id="67" name="Rectangle 66"/>
          <p:cNvSpPr/>
          <p:nvPr/>
        </p:nvSpPr>
        <p:spPr>
          <a:xfrm>
            <a:off x="8101583" y="3867911"/>
            <a:ext cx="3749039" cy="2404872"/>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101583" y="3867911"/>
            <a:ext cx="3749039" cy="54864"/>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229600" y="3959351"/>
            <a:ext cx="3566159" cy="256032"/>
          </a:xfrm>
          <a:prstGeom prst="rect">
            <a:avLst/>
          </a:prstGeom>
          <a:noFill/>
        </p:spPr>
        <p:txBody>
          <a:bodyPr wrap="square" lIns="54864" rIns="54864" tIns="27432" bIns="27432" anchor="t">
            <a:spAutoFit/>
          </a:bodyPr>
          <a:lstStyle/>
          <a:p>
            <a:pPr algn="l"/>
            <a:r>
              <a:rPr sz="1200" b="1" i="0">
                <a:solidFill>
                  <a:srgbClr val="1F3A68"/>
                </a:solidFill>
                <a:latin typeface="Calibri"/>
              </a:rPr>
              <a:t>CS / SAP (Kumar)</a:t>
            </a:r>
          </a:p>
        </p:txBody>
      </p:sp>
      <p:sp>
        <p:nvSpPr>
          <p:cNvPr id="70" name="TextBox 69"/>
          <p:cNvSpPr txBox="1"/>
          <p:nvPr/>
        </p:nvSpPr>
        <p:spPr>
          <a:xfrm>
            <a:off x="8229600" y="4215383"/>
            <a:ext cx="3566159" cy="201168"/>
          </a:xfrm>
          <a:prstGeom prst="rect">
            <a:avLst/>
          </a:prstGeom>
          <a:noFill/>
        </p:spPr>
        <p:txBody>
          <a:bodyPr wrap="square" lIns="54864" rIns="54864" tIns="27432" bIns="27432" anchor="t">
            <a:spAutoFit/>
          </a:bodyPr>
          <a:lstStyle/>
          <a:p>
            <a:pPr algn="l"/>
            <a:r>
              <a:rPr sz="900" b="0" i="0">
                <a:solidFill>
                  <a:srgbClr val="4A4A4A"/>
                </a:solidFill>
                <a:latin typeface="Calibri"/>
              </a:rPr>
              <a:t>Kumar Jaladanki</a:t>
            </a:r>
          </a:p>
        </p:txBody>
      </p:sp>
      <p:sp>
        <p:nvSpPr>
          <p:cNvPr id="71" name="TextBox 70"/>
          <p:cNvSpPr txBox="1"/>
          <p:nvPr/>
        </p:nvSpPr>
        <p:spPr>
          <a:xfrm>
            <a:off x="8229600" y="4462272"/>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CAPACITY</a:t>
            </a:r>
          </a:p>
        </p:txBody>
      </p:sp>
      <p:sp>
        <p:nvSpPr>
          <p:cNvPr id="72" name="TextBox 71"/>
          <p:cNvSpPr txBox="1"/>
          <p:nvPr/>
        </p:nvSpPr>
        <p:spPr>
          <a:xfrm>
            <a:off x="9217152" y="4462272"/>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Documentation exists — BUT knowledge concentrated in team members (tacit risk)</a:t>
            </a:r>
          </a:p>
        </p:txBody>
      </p:sp>
      <p:sp>
        <p:nvSpPr>
          <p:cNvPr id="73" name="TextBox 72"/>
          <p:cNvSpPr txBox="1"/>
          <p:nvPr/>
        </p:nvSpPr>
        <p:spPr>
          <a:xfrm>
            <a:off x="8229600" y="4901183"/>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COST</a:t>
            </a:r>
          </a:p>
        </p:txBody>
      </p:sp>
      <p:sp>
        <p:nvSpPr>
          <p:cNvPr id="74" name="TextBox 73"/>
          <p:cNvSpPr txBox="1"/>
          <p:nvPr/>
        </p:nvSpPr>
        <p:spPr>
          <a:xfrm>
            <a:off x="9217152" y="4901183"/>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Not captured — Wave 2 follow-up</a:t>
            </a:r>
          </a:p>
        </p:txBody>
      </p:sp>
      <p:sp>
        <p:nvSpPr>
          <p:cNvPr id="75" name="TextBox 74"/>
          <p:cNvSpPr txBox="1"/>
          <p:nvPr/>
        </p:nvSpPr>
        <p:spPr>
          <a:xfrm>
            <a:off x="8229600" y="5340096"/>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REPORTING</a:t>
            </a:r>
          </a:p>
        </p:txBody>
      </p:sp>
      <p:sp>
        <p:nvSpPr>
          <p:cNvPr id="76" name="TextBox 75"/>
          <p:cNvSpPr txBox="1"/>
          <p:nvPr/>
        </p:nvSpPr>
        <p:spPr>
          <a:xfrm>
            <a:off x="9217152" y="5340096"/>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Jira + IT Now reports · weekly biz meeting on incidents (UIL) · PM project status</a:t>
            </a:r>
          </a:p>
        </p:txBody>
      </p:sp>
      <p:sp>
        <p:nvSpPr>
          <p:cNvPr id="77" name="TextBox 76"/>
          <p:cNvSpPr txBox="1"/>
          <p:nvPr/>
        </p:nvSpPr>
        <p:spPr>
          <a:xfrm>
            <a:off x="8229600" y="5779008"/>
            <a:ext cx="960120" cy="219456"/>
          </a:xfrm>
          <a:prstGeom prst="rect">
            <a:avLst/>
          </a:prstGeom>
          <a:noFill/>
        </p:spPr>
        <p:txBody>
          <a:bodyPr wrap="square" lIns="54864" rIns="54864" tIns="27432" bIns="27432" anchor="t">
            <a:spAutoFit/>
          </a:bodyPr>
          <a:lstStyle/>
          <a:p>
            <a:pPr algn="l"/>
            <a:r>
              <a:rPr sz="900" b="1" i="0">
                <a:solidFill>
                  <a:srgbClr val="1F3A68"/>
                </a:solidFill>
                <a:latin typeface="Calibri"/>
              </a:rPr>
              <a:t>METRICS</a:t>
            </a:r>
          </a:p>
        </p:txBody>
      </p:sp>
      <p:sp>
        <p:nvSpPr>
          <p:cNvPr id="78" name="TextBox 77"/>
          <p:cNvSpPr txBox="1"/>
          <p:nvPr/>
        </p:nvSpPr>
        <p:spPr>
          <a:xfrm>
            <a:off x="9217152" y="5779008"/>
            <a:ext cx="2505455" cy="438912"/>
          </a:xfrm>
          <a:prstGeom prst="rect">
            <a:avLst/>
          </a:prstGeom>
          <a:noFill/>
        </p:spPr>
        <p:txBody>
          <a:bodyPr wrap="square" lIns="54864" rIns="54864" tIns="27432" bIns="27432" anchor="t">
            <a:spAutoFit/>
          </a:bodyPr>
          <a:lstStyle/>
          <a:p>
            <a:pPr algn="l"/>
            <a:r>
              <a:rPr sz="900" b="0" i="0">
                <a:solidFill>
                  <a:srgbClr val="4A4A4A"/>
                </a:solidFill>
                <a:latin typeface="Calibri"/>
              </a:rPr>
              <a:t>Incidents dashboard · "probably not using any KPI" (quote)</a:t>
            </a:r>
          </a:p>
        </p:txBody>
      </p:sp>
      <p:sp>
        <p:nvSpPr>
          <p:cNvPr id="79" name="Rectangle 78"/>
          <p:cNvSpPr/>
          <p:nvPr/>
        </p:nvSpPr>
        <p:spPr>
          <a:xfrm>
            <a:off x="457200" y="6400800"/>
            <a:ext cx="11274552" cy="34747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4360" y="6400800"/>
            <a:ext cx="10972800" cy="347472"/>
          </a:xfrm>
          <a:prstGeom prst="rect">
            <a:avLst/>
          </a:prstGeom>
          <a:noFill/>
        </p:spPr>
        <p:txBody>
          <a:bodyPr wrap="square" lIns="54864" rIns="54864" tIns="27432" bIns="27432" anchor="ctr">
            <a:spAutoFit/>
          </a:bodyPr>
          <a:lstStyle/>
          <a:p>
            <a:pPr algn="l"/>
            <a:r>
              <a:rPr sz="1050" b="1" i="0">
                <a:solidFill>
                  <a:srgbClr val="FFFFFF"/>
                </a:solidFill>
                <a:latin typeface="Calibri"/>
              </a:rPr>
              <a:t>The Capacity &amp; Reporting dimension reveals the single biggest transversal risk: knowledge concentration in named individuals — named in every single team canvas</a:t>
            </a:r>
          </a:p>
        </p:txBody>
      </p:sp>
      <p:sp>
        <p:nvSpPr>
          <p:cNvPr id="81" name="TextBox 80"/>
          <p:cNvSpPr txBox="1"/>
          <p:nvPr/>
        </p:nvSpPr>
        <p:spPr>
          <a:xfrm>
            <a:off x="365760" y="6601968"/>
            <a:ext cx="3657600" cy="201168"/>
          </a:xfrm>
          <a:prstGeom prst="rect">
            <a:avLst/>
          </a:prstGeom>
          <a:noFill/>
        </p:spPr>
        <p:txBody>
          <a:bodyPr wrap="square" lIns="54864" rIns="54864" tIns="27432" bIns="27432" anchor="t">
            <a:spAutoFit/>
          </a:bodyPr>
          <a:lstStyle/>
          <a:p>
            <a:pPr algn="l"/>
            <a:r>
              <a:rPr sz="800" b="0" i="0">
                <a:solidFill>
                  <a:srgbClr val="808080"/>
                </a:solidFill>
                <a:latin typeface="Calibri"/>
              </a:rPr>
              <a:t>© 2026 NTT DATA, Inc.</a:t>
            </a:r>
          </a:p>
        </p:txBody>
      </p:sp>
      <p:sp>
        <p:nvSpPr>
          <p:cNvPr id="82" name="TextBox 81"/>
          <p:cNvSpPr txBox="1"/>
          <p:nvPr/>
        </p:nvSpPr>
        <p:spPr>
          <a:xfrm>
            <a:off x="10058400" y="6601968"/>
            <a:ext cx="2011680" cy="201168"/>
          </a:xfrm>
          <a:prstGeom prst="rect">
            <a:avLst/>
          </a:prstGeom>
          <a:noFill/>
        </p:spPr>
        <p:txBody>
          <a:bodyPr wrap="square" lIns="54864" rIns="54864" tIns="27432" bIns="27432" anchor="t">
            <a:spAutoFit/>
          </a:bodyPr>
          <a:lstStyle/>
          <a:p>
            <a:pPr algn="r"/>
            <a:r>
              <a:rPr sz="800" b="0" i="0">
                <a:solidFill>
                  <a:srgbClr val="808080"/>
                </a:solidFill>
                <a:latin typeface="Calibri"/>
              </a:rPr>
              <a:t>CAPACITY &amp; REPORTING · 2/2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D2B6-5147-6159-4055-03B88C72E0C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D64E3B-E0F1-0E98-48DE-33509EC4A28A}"/>
              </a:ext>
            </a:extLst>
          </p:cNvPr>
          <p:cNvSpPr txBox="1"/>
          <p:nvPr/>
        </p:nvSpPr>
        <p:spPr>
          <a:xfrm>
            <a:off x="487251" y="521805"/>
            <a:ext cx="9725696"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a:ln>
                  <a:noFill/>
                </a:ln>
                <a:solidFill>
                  <a:srgbClr val="FFFFFF"/>
                </a:solidFill>
                <a:effectLst/>
                <a:uLnTx/>
                <a:uFillTx/>
                <a:latin typeface="Arial" panose="020B0604020202020204" pitchFamily="34" charset="0"/>
                <a:ea typeface="Gordita"/>
                <a:cs typeface="Arial" panose="020B0604020202020204" pitchFamily="34" charset="0"/>
                <a:sym typeface="Gordita"/>
              </a:rPr>
              <a:t>Governance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a:ln>
                  <a:noFill/>
                </a:ln>
                <a:solidFill>
                  <a:srgbClr val="FFFFFF"/>
                </a:solidFill>
                <a:effectLst/>
                <a:uLnTx/>
                <a:uFillTx/>
                <a:latin typeface="Arial" panose="020B0604020202020204" pitchFamily="34" charset="0"/>
                <a:ea typeface="Gordita"/>
                <a:cs typeface="Arial" panose="020B0604020202020204" pitchFamily="34" charset="0"/>
                <a:sym typeface="Gordita"/>
              </a:rPr>
              <a:t>Mapping</a:t>
            </a:r>
          </a:p>
        </p:txBody>
      </p:sp>
      <p:sp>
        <p:nvSpPr>
          <p:cNvPr id="2" name="Rectangle 1">
            <a:extLst>
              <a:ext uri="{FF2B5EF4-FFF2-40B4-BE49-F238E27FC236}">
                <a16:creationId xmlns:a16="http://schemas.microsoft.com/office/drawing/2014/main" id="{80C46173-1239-06FC-EE96-5926DA1D3E3B}"/>
              </a:ext>
            </a:extLst>
          </p:cNvPr>
          <p:cNvSpPr/>
          <p:nvPr/>
        </p:nvSpPr>
        <p:spPr>
          <a:xfrm>
            <a:off x="0" y="3152776"/>
            <a:ext cx="12192000" cy="30765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0428C45-19BE-D53B-6099-A0F688812476}"/>
              </a:ext>
            </a:extLst>
          </p:cNvPr>
          <p:cNvSpPr txBox="1"/>
          <p:nvPr/>
        </p:nvSpPr>
        <p:spPr>
          <a:xfrm>
            <a:off x="487251" y="4276148"/>
            <a:ext cx="4482612" cy="461665"/>
          </a:xfrm>
          <a:prstGeom prst="rect">
            <a:avLst/>
          </a:prstGeom>
          <a:noFill/>
          <a:effectLst/>
        </p:spPr>
        <p:txBody>
          <a:bodyPr wrap="square">
            <a:spAutoFit/>
          </a:bodyPr>
          <a:lstStyle/>
          <a:p>
            <a:r>
              <a:rPr lang="en-US" sz="1200" noProof="0">
                <a:latin typeface="Arial" panose="020B0604020202020204" pitchFamily="34" charset="0"/>
                <a:cs typeface="Arial" panose="020B0604020202020204" pitchFamily="34" charset="0"/>
              </a:rPr>
              <a:t>The primary objective of this activity is to determine which tools are used, by whom, and at what stage</a:t>
            </a:r>
          </a:p>
        </p:txBody>
      </p:sp>
      <p:pic>
        <p:nvPicPr>
          <p:cNvPr id="8" name="Graphic 7" descr="Internet Of Things outline">
            <a:extLst>
              <a:ext uri="{FF2B5EF4-FFF2-40B4-BE49-F238E27FC236}">
                <a16:creationId xmlns:a16="http://schemas.microsoft.com/office/drawing/2014/main" id="{39971D16-3741-1CCE-5E0D-81BAE8BF82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34865" y="4101071"/>
            <a:ext cx="1294841" cy="1294841"/>
          </a:xfrm>
          <a:prstGeom prst="rect">
            <a:avLst/>
          </a:prstGeom>
        </p:spPr>
      </p:pic>
      <p:sp>
        <p:nvSpPr>
          <p:cNvPr id="5" name="Rectangle 28">
            <a:extLst>
              <a:ext uri="{FF2B5EF4-FFF2-40B4-BE49-F238E27FC236}">
                <a16:creationId xmlns:a16="http://schemas.microsoft.com/office/drawing/2014/main" id="{482DFDEE-ACEF-E398-5B0B-61ABBF8F0B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40">
            <a:extLst>
              <a:ext uri="{FF2B5EF4-FFF2-40B4-BE49-F238E27FC236}">
                <a16:creationId xmlns:a16="http://schemas.microsoft.com/office/drawing/2014/main" id="{E84FF850-D3A1-9109-8FA6-24A1193C6C41}"/>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52">
            <a:extLst>
              <a:ext uri="{FF2B5EF4-FFF2-40B4-BE49-F238E27FC236}">
                <a16:creationId xmlns:a16="http://schemas.microsoft.com/office/drawing/2014/main" id="{5DF715D3-B380-018F-E926-EDEE7B97C09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64">
            <a:extLst>
              <a:ext uri="{FF2B5EF4-FFF2-40B4-BE49-F238E27FC236}">
                <a16:creationId xmlns:a16="http://schemas.microsoft.com/office/drawing/2014/main" id="{90DF7D0E-59ED-CB95-4327-350B0E5EFC35}"/>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64">
            <a:extLst>
              <a:ext uri="{FF2B5EF4-FFF2-40B4-BE49-F238E27FC236}">
                <a16:creationId xmlns:a16="http://schemas.microsoft.com/office/drawing/2014/main" id="{44374C98-8454-40C7-6765-F7470862483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Rectangle 64">
            <a:extLst>
              <a:ext uri="{FF2B5EF4-FFF2-40B4-BE49-F238E27FC236}">
                <a16:creationId xmlns:a16="http://schemas.microsoft.com/office/drawing/2014/main" id="{D487071F-22AB-2EF2-B95C-98A6963F7919}"/>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64">
            <a:extLst>
              <a:ext uri="{FF2B5EF4-FFF2-40B4-BE49-F238E27FC236}">
                <a16:creationId xmlns:a16="http://schemas.microsoft.com/office/drawing/2014/main" id="{D1E9823A-87A7-4E74-7272-586AD5522FE2}"/>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479851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C26-74CE-E5BD-6C95-645266C1BC80}"/>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82092355-B85A-AA9B-2E4F-FBD3F6EBA05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GOVERNMENT </a:t>
            </a:r>
            <a:r>
              <a:rPr kumimoji="0" lang="en-US" sz="1200" b="1" i="0" u="none" strike="noStrike" kern="1200" cap="none" spc="0" normalizeH="0" baseline="0" noProof="0" err="1">
                <a:ln>
                  <a:noFill/>
                </a:ln>
                <a:solidFill>
                  <a:prstClr val="white"/>
                </a:solidFill>
                <a:effectLst/>
                <a:uLnTx/>
                <a:uFillTx/>
                <a:latin typeface="Arial" panose="020B0604020202020204" pitchFamily="34" charset="0"/>
                <a:ea typeface="+mj-ea"/>
                <a:cs typeface="Arial" panose="020B0604020202020204" pitchFamily="34" charset="0"/>
              </a:rPr>
              <a:t>fORUMS</a:t>
            </a:r>
            <a:endPar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 name="Rectangle 28">
            <a:extLst>
              <a:ext uri="{FF2B5EF4-FFF2-40B4-BE49-F238E27FC236}">
                <a16:creationId xmlns:a16="http://schemas.microsoft.com/office/drawing/2014/main" id="{E23868DA-7578-2D8F-0E97-E95C2F1C8F9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Rectangle 40">
            <a:extLst>
              <a:ext uri="{FF2B5EF4-FFF2-40B4-BE49-F238E27FC236}">
                <a16:creationId xmlns:a16="http://schemas.microsoft.com/office/drawing/2014/main" id="{BC724E3F-E7AF-09FD-689C-3033201B449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Rectangle 52">
            <a:extLst>
              <a:ext uri="{FF2B5EF4-FFF2-40B4-BE49-F238E27FC236}">
                <a16:creationId xmlns:a16="http://schemas.microsoft.com/office/drawing/2014/main" id="{C0008DCE-53D7-A8C0-C0CD-6D9C4C1AF0D4}"/>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8" name="Rectangle 64">
            <a:extLst>
              <a:ext uri="{FF2B5EF4-FFF2-40B4-BE49-F238E27FC236}">
                <a16:creationId xmlns:a16="http://schemas.microsoft.com/office/drawing/2014/main" id="{135746B5-8665-BE95-C791-B6C6906E682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0" name="Rectangle 64">
            <a:extLst>
              <a:ext uri="{FF2B5EF4-FFF2-40B4-BE49-F238E27FC236}">
                <a16:creationId xmlns:a16="http://schemas.microsoft.com/office/drawing/2014/main" id="{40BCB5A5-4124-1D1E-93CE-DF4AD5630DFD}"/>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1" name="Rectangle 64">
            <a:extLst>
              <a:ext uri="{FF2B5EF4-FFF2-40B4-BE49-F238E27FC236}">
                <a16:creationId xmlns:a16="http://schemas.microsoft.com/office/drawing/2014/main" id="{02E9D15D-7863-502A-1FB6-19E930B17B59}"/>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3" name="Rectangle 64">
            <a:extLst>
              <a:ext uri="{FF2B5EF4-FFF2-40B4-BE49-F238E27FC236}">
                <a16:creationId xmlns:a16="http://schemas.microsoft.com/office/drawing/2014/main" id="{D699A51D-CF0C-3F48-3CEB-D9983FA7F7F2}"/>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5" name="TextBox 2">
            <a:extLst>
              <a:ext uri="{FF2B5EF4-FFF2-40B4-BE49-F238E27FC236}">
                <a16:creationId xmlns:a16="http://schemas.microsoft.com/office/drawing/2014/main" id="{6F1B9139-9FD4-EA6E-327F-4E59F647EEE7}"/>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Five recurring forums exist — but none covers portfolio-level decisions, and Manager Check-in participants are still TBC</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67000AC6-6F42-C646-6216-8F65C5B5CF7D}"/>
              </a:ext>
            </a:extLst>
          </p:cNvPr>
          <p:cNvSpPr/>
          <p:nvPr/>
        </p:nvSpPr>
        <p:spPr>
          <a:xfrm>
            <a:off x="457200" y="1417320"/>
            <a:ext cx="11274552"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5" name="TextBox 14">
            <a:extLst>
              <a:ext uri="{FF2B5EF4-FFF2-40B4-BE49-F238E27FC236}">
                <a16:creationId xmlns:a16="http://schemas.microsoft.com/office/drawing/2014/main" id="{92E3B2A3-496C-0D5A-0960-A1EA9A9CD2B6}"/>
              </a:ext>
            </a:extLst>
          </p:cNvPr>
          <p:cNvSpPr txBox="1"/>
          <p:nvPr/>
        </p:nvSpPr>
        <p:spPr>
          <a:xfrm>
            <a:off x="548640" y="1417320"/>
            <a:ext cx="2743200" cy="411480"/>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FORUM</a:t>
            </a:r>
          </a:p>
        </p:txBody>
      </p:sp>
      <p:sp>
        <p:nvSpPr>
          <p:cNvPr id="16" name="TextBox 15">
            <a:extLst>
              <a:ext uri="{FF2B5EF4-FFF2-40B4-BE49-F238E27FC236}">
                <a16:creationId xmlns:a16="http://schemas.microsoft.com/office/drawing/2014/main" id="{822F6982-923F-3624-D90B-FA9BC7DEB235}"/>
              </a:ext>
            </a:extLst>
          </p:cNvPr>
          <p:cNvSpPr txBox="1"/>
          <p:nvPr/>
        </p:nvSpPr>
        <p:spPr>
          <a:xfrm>
            <a:off x="3291840" y="1417320"/>
            <a:ext cx="1097280" cy="411480"/>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CADENCE</a:t>
            </a:r>
          </a:p>
        </p:txBody>
      </p:sp>
      <p:sp>
        <p:nvSpPr>
          <p:cNvPr id="17" name="TextBox 16">
            <a:extLst>
              <a:ext uri="{FF2B5EF4-FFF2-40B4-BE49-F238E27FC236}">
                <a16:creationId xmlns:a16="http://schemas.microsoft.com/office/drawing/2014/main" id="{B1583A1A-8D2E-8F54-9E02-E66E8ACD2247}"/>
              </a:ext>
            </a:extLst>
          </p:cNvPr>
          <p:cNvSpPr txBox="1"/>
          <p:nvPr/>
        </p:nvSpPr>
        <p:spPr>
          <a:xfrm>
            <a:off x="4389120" y="1417320"/>
            <a:ext cx="3657600" cy="411480"/>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PARTICIPANTS</a:t>
            </a:r>
          </a:p>
        </p:txBody>
      </p:sp>
      <p:sp>
        <p:nvSpPr>
          <p:cNvPr id="18" name="TextBox 17">
            <a:extLst>
              <a:ext uri="{FF2B5EF4-FFF2-40B4-BE49-F238E27FC236}">
                <a16:creationId xmlns:a16="http://schemas.microsoft.com/office/drawing/2014/main" id="{D7207C72-F4A8-AC8F-ABD4-CD7A0349B3B7}"/>
              </a:ext>
            </a:extLst>
          </p:cNvPr>
          <p:cNvSpPr txBox="1"/>
          <p:nvPr/>
        </p:nvSpPr>
        <p:spPr>
          <a:xfrm>
            <a:off x="8046719" y="1417320"/>
            <a:ext cx="3776472" cy="411480"/>
          </a:xfrm>
          <a:prstGeom prst="rect">
            <a:avLst/>
          </a:prstGeom>
          <a:solidFill>
            <a:schemeClr val="accent1"/>
          </a:solid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Helvetica Neue"/>
                <a:ea typeface="+mn-ea"/>
                <a:cs typeface="+mn-cs"/>
              </a:rPr>
              <a:t>DECISION SCOPE</a:t>
            </a:r>
          </a:p>
        </p:txBody>
      </p:sp>
      <p:sp>
        <p:nvSpPr>
          <p:cNvPr id="19" name="Rectangle 18">
            <a:extLst>
              <a:ext uri="{FF2B5EF4-FFF2-40B4-BE49-F238E27FC236}">
                <a16:creationId xmlns:a16="http://schemas.microsoft.com/office/drawing/2014/main" id="{B35C606B-E5CE-A4A5-0377-36D39B64C1ED}"/>
              </a:ext>
            </a:extLst>
          </p:cNvPr>
          <p:cNvSpPr/>
          <p:nvPr/>
        </p:nvSpPr>
        <p:spPr>
          <a:xfrm>
            <a:off x="457200" y="1874519"/>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TextBox 19">
            <a:extLst>
              <a:ext uri="{FF2B5EF4-FFF2-40B4-BE49-F238E27FC236}">
                <a16:creationId xmlns:a16="http://schemas.microsoft.com/office/drawing/2014/main" id="{86C419B1-5A06-DC17-EEAB-ABBF578AB522}"/>
              </a:ext>
            </a:extLst>
          </p:cNvPr>
          <p:cNvSpPr txBox="1"/>
          <p:nvPr/>
        </p:nvSpPr>
        <p:spPr>
          <a:xfrm>
            <a:off x="548640" y="1874519"/>
            <a:ext cx="27432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Critical Integrations</a:t>
            </a:r>
          </a:p>
        </p:txBody>
      </p:sp>
      <p:sp>
        <p:nvSpPr>
          <p:cNvPr id="21" name="TextBox 20">
            <a:extLst>
              <a:ext uri="{FF2B5EF4-FFF2-40B4-BE49-F238E27FC236}">
                <a16:creationId xmlns:a16="http://schemas.microsoft.com/office/drawing/2014/main" id="{500DF263-9776-ED84-D612-245C1C4B8861}"/>
              </a:ext>
            </a:extLst>
          </p:cNvPr>
          <p:cNvSpPr txBox="1"/>
          <p:nvPr/>
        </p:nvSpPr>
        <p:spPr>
          <a:xfrm>
            <a:off x="3291840" y="1874519"/>
            <a:ext cx="109728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Weekly</a:t>
            </a:r>
          </a:p>
        </p:txBody>
      </p:sp>
      <p:sp>
        <p:nvSpPr>
          <p:cNvPr id="22" name="TextBox 21">
            <a:extLst>
              <a:ext uri="{FF2B5EF4-FFF2-40B4-BE49-F238E27FC236}">
                <a16:creationId xmlns:a16="http://schemas.microsoft.com/office/drawing/2014/main" id="{99BBCFE2-A396-84D9-C370-240902C76ABC}"/>
              </a:ext>
            </a:extLst>
          </p:cNvPr>
          <p:cNvSpPr txBox="1"/>
          <p:nvPr/>
        </p:nvSpPr>
        <p:spPr>
          <a:xfrm>
            <a:off x="4389120" y="1874519"/>
            <a:ext cx="36576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Business Apps, P&amp;S, Digital Products</a:t>
            </a:r>
          </a:p>
        </p:txBody>
      </p:sp>
      <p:sp>
        <p:nvSpPr>
          <p:cNvPr id="23" name="TextBox 22">
            <a:extLst>
              <a:ext uri="{FF2B5EF4-FFF2-40B4-BE49-F238E27FC236}">
                <a16:creationId xmlns:a16="http://schemas.microsoft.com/office/drawing/2014/main" id="{AE62C436-0E72-CCC8-2A17-C2755B158E92}"/>
              </a:ext>
            </a:extLst>
          </p:cNvPr>
          <p:cNvSpPr txBox="1"/>
          <p:nvPr/>
        </p:nvSpPr>
        <p:spPr>
          <a:xfrm>
            <a:off x="8046719" y="1874519"/>
            <a:ext cx="3776472"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Integration decisions across business apps</a:t>
            </a:r>
          </a:p>
        </p:txBody>
      </p:sp>
      <p:sp>
        <p:nvSpPr>
          <p:cNvPr id="24" name="Rectangle 23">
            <a:extLst>
              <a:ext uri="{FF2B5EF4-FFF2-40B4-BE49-F238E27FC236}">
                <a16:creationId xmlns:a16="http://schemas.microsoft.com/office/drawing/2014/main" id="{12C119FB-E559-EB2C-6F04-15E51EF88B3E}"/>
              </a:ext>
            </a:extLst>
          </p:cNvPr>
          <p:cNvSpPr/>
          <p:nvPr/>
        </p:nvSpPr>
        <p:spPr>
          <a:xfrm>
            <a:off x="457200" y="2532887"/>
            <a:ext cx="1127455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5" name="TextBox 24">
            <a:extLst>
              <a:ext uri="{FF2B5EF4-FFF2-40B4-BE49-F238E27FC236}">
                <a16:creationId xmlns:a16="http://schemas.microsoft.com/office/drawing/2014/main" id="{6C0860CD-1D0F-0BC6-F56C-D9F6ED3F9DB0}"/>
              </a:ext>
            </a:extLst>
          </p:cNvPr>
          <p:cNvSpPr txBox="1"/>
          <p:nvPr/>
        </p:nvSpPr>
        <p:spPr>
          <a:xfrm>
            <a:off x="548640" y="2532887"/>
            <a:ext cx="27432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Daily BSS BI/BW Stand Up</a:t>
            </a:r>
          </a:p>
        </p:txBody>
      </p:sp>
      <p:sp>
        <p:nvSpPr>
          <p:cNvPr id="26" name="TextBox 25">
            <a:extLst>
              <a:ext uri="{FF2B5EF4-FFF2-40B4-BE49-F238E27FC236}">
                <a16:creationId xmlns:a16="http://schemas.microsoft.com/office/drawing/2014/main" id="{5E2C263E-E53B-1213-7046-FCA93FD843A7}"/>
              </a:ext>
            </a:extLst>
          </p:cNvPr>
          <p:cNvSpPr txBox="1"/>
          <p:nvPr/>
        </p:nvSpPr>
        <p:spPr>
          <a:xfrm>
            <a:off x="3291840" y="2532887"/>
            <a:ext cx="109728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Weekly</a:t>
            </a:r>
          </a:p>
        </p:txBody>
      </p:sp>
      <p:sp>
        <p:nvSpPr>
          <p:cNvPr id="27" name="TextBox 26">
            <a:extLst>
              <a:ext uri="{FF2B5EF4-FFF2-40B4-BE49-F238E27FC236}">
                <a16:creationId xmlns:a16="http://schemas.microsoft.com/office/drawing/2014/main" id="{B3ED6D73-06A7-07D1-686F-7A61444ACEE8}"/>
              </a:ext>
            </a:extLst>
          </p:cNvPr>
          <p:cNvSpPr txBox="1"/>
          <p:nvPr/>
        </p:nvSpPr>
        <p:spPr>
          <a:xfrm>
            <a:off x="4389120" y="2532887"/>
            <a:ext cx="36576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Data &amp; Analytics Teams, Digital Products</a:t>
            </a:r>
          </a:p>
        </p:txBody>
      </p:sp>
      <p:sp>
        <p:nvSpPr>
          <p:cNvPr id="28" name="TextBox 27">
            <a:extLst>
              <a:ext uri="{FF2B5EF4-FFF2-40B4-BE49-F238E27FC236}">
                <a16:creationId xmlns:a16="http://schemas.microsoft.com/office/drawing/2014/main" id="{5751EE31-D89A-A55A-B134-2A07F2332447}"/>
              </a:ext>
            </a:extLst>
          </p:cNvPr>
          <p:cNvSpPr txBox="1"/>
          <p:nvPr/>
        </p:nvSpPr>
        <p:spPr>
          <a:xfrm>
            <a:off x="8046719" y="2532887"/>
            <a:ext cx="3776472"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Daily BI/BW operations alignment</a:t>
            </a:r>
          </a:p>
        </p:txBody>
      </p:sp>
      <p:sp>
        <p:nvSpPr>
          <p:cNvPr id="29" name="Rectangle 28">
            <a:extLst>
              <a:ext uri="{FF2B5EF4-FFF2-40B4-BE49-F238E27FC236}">
                <a16:creationId xmlns:a16="http://schemas.microsoft.com/office/drawing/2014/main" id="{4179D0B2-006C-9BF9-1F65-C522A0F88E27}"/>
              </a:ext>
            </a:extLst>
          </p:cNvPr>
          <p:cNvSpPr/>
          <p:nvPr/>
        </p:nvSpPr>
        <p:spPr>
          <a:xfrm>
            <a:off x="457200" y="3191255"/>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0" name="TextBox 29">
            <a:extLst>
              <a:ext uri="{FF2B5EF4-FFF2-40B4-BE49-F238E27FC236}">
                <a16:creationId xmlns:a16="http://schemas.microsoft.com/office/drawing/2014/main" id="{69138006-810D-8C10-51AD-E4814C9C00AA}"/>
              </a:ext>
            </a:extLst>
          </p:cNvPr>
          <p:cNvSpPr txBox="1"/>
          <p:nvPr/>
        </p:nvSpPr>
        <p:spPr>
          <a:xfrm>
            <a:off x="548640" y="3191255"/>
            <a:ext cx="27432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Data, Analytics &amp; Solutions Check-In</a:t>
            </a:r>
          </a:p>
        </p:txBody>
      </p:sp>
      <p:sp>
        <p:nvSpPr>
          <p:cNvPr id="31" name="TextBox 30">
            <a:extLst>
              <a:ext uri="{FF2B5EF4-FFF2-40B4-BE49-F238E27FC236}">
                <a16:creationId xmlns:a16="http://schemas.microsoft.com/office/drawing/2014/main" id="{7ED0D94B-238C-5D29-6E8B-2E20AA376A84}"/>
              </a:ext>
            </a:extLst>
          </p:cNvPr>
          <p:cNvSpPr txBox="1"/>
          <p:nvPr/>
        </p:nvSpPr>
        <p:spPr>
          <a:xfrm>
            <a:off x="3291840" y="3191255"/>
            <a:ext cx="109728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Weekly</a:t>
            </a:r>
          </a:p>
        </p:txBody>
      </p:sp>
      <p:sp>
        <p:nvSpPr>
          <p:cNvPr id="32" name="TextBox 31">
            <a:extLst>
              <a:ext uri="{FF2B5EF4-FFF2-40B4-BE49-F238E27FC236}">
                <a16:creationId xmlns:a16="http://schemas.microsoft.com/office/drawing/2014/main" id="{A3357D38-D4E0-DB72-CACD-86EB10511916}"/>
              </a:ext>
            </a:extLst>
          </p:cNvPr>
          <p:cNvSpPr txBox="1"/>
          <p:nvPr/>
        </p:nvSpPr>
        <p:spPr>
          <a:xfrm>
            <a:off x="4389120" y="3191255"/>
            <a:ext cx="36576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Data &amp; Analytics Teams, Digital Products</a:t>
            </a:r>
          </a:p>
        </p:txBody>
      </p:sp>
      <p:sp>
        <p:nvSpPr>
          <p:cNvPr id="33" name="TextBox 32">
            <a:extLst>
              <a:ext uri="{FF2B5EF4-FFF2-40B4-BE49-F238E27FC236}">
                <a16:creationId xmlns:a16="http://schemas.microsoft.com/office/drawing/2014/main" id="{BA0589CF-D883-1AB3-42EC-41A7EFAF9268}"/>
              </a:ext>
            </a:extLst>
          </p:cNvPr>
          <p:cNvSpPr txBox="1"/>
          <p:nvPr/>
        </p:nvSpPr>
        <p:spPr>
          <a:xfrm>
            <a:off x="8046719" y="3191255"/>
            <a:ext cx="3776472"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Data &amp; analytics demand review</a:t>
            </a:r>
          </a:p>
        </p:txBody>
      </p:sp>
      <p:sp>
        <p:nvSpPr>
          <p:cNvPr id="34" name="Rectangle 33">
            <a:extLst>
              <a:ext uri="{FF2B5EF4-FFF2-40B4-BE49-F238E27FC236}">
                <a16:creationId xmlns:a16="http://schemas.microsoft.com/office/drawing/2014/main" id="{F839A6A2-EE70-FB81-A387-1A16E83A714B}"/>
              </a:ext>
            </a:extLst>
          </p:cNvPr>
          <p:cNvSpPr/>
          <p:nvPr/>
        </p:nvSpPr>
        <p:spPr>
          <a:xfrm>
            <a:off x="457200" y="3849623"/>
            <a:ext cx="1127455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35" name="TextBox 34">
            <a:extLst>
              <a:ext uri="{FF2B5EF4-FFF2-40B4-BE49-F238E27FC236}">
                <a16:creationId xmlns:a16="http://schemas.microsoft.com/office/drawing/2014/main" id="{05576065-1D23-F8C9-86C5-C1501DCE4F9E}"/>
              </a:ext>
            </a:extLst>
          </p:cNvPr>
          <p:cNvSpPr txBox="1"/>
          <p:nvPr/>
        </p:nvSpPr>
        <p:spPr>
          <a:xfrm>
            <a:off x="548640" y="3849623"/>
            <a:ext cx="27432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CX &amp; Digital CMP Update</a:t>
            </a:r>
          </a:p>
        </p:txBody>
      </p:sp>
      <p:sp>
        <p:nvSpPr>
          <p:cNvPr id="36" name="TextBox 35">
            <a:extLst>
              <a:ext uri="{FF2B5EF4-FFF2-40B4-BE49-F238E27FC236}">
                <a16:creationId xmlns:a16="http://schemas.microsoft.com/office/drawing/2014/main" id="{F3982FF9-FE1D-3B87-164E-84AA50FF4ED5}"/>
              </a:ext>
            </a:extLst>
          </p:cNvPr>
          <p:cNvSpPr txBox="1"/>
          <p:nvPr/>
        </p:nvSpPr>
        <p:spPr>
          <a:xfrm>
            <a:off x="3291840" y="3849623"/>
            <a:ext cx="109728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Monthly</a:t>
            </a:r>
          </a:p>
        </p:txBody>
      </p:sp>
      <p:sp>
        <p:nvSpPr>
          <p:cNvPr id="37" name="TextBox 36">
            <a:extLst>
              <a:ext uri="{FF2B5EF4-FFF2-40B4-BE49-F238E27FC236}">
                <a16:creationId xmlns:a16="http://schemas.microsoft.com/office/drawing/2014/main" id="{622A6B04-67AE-5DCF-302E-4E108E211C07}"/>
              </a:ext>
            </a:extLst>
          </p:cNvPr>
          <p:cNvSpPr txBox="1"/>
          <p:nvPr/>
        </p:nvSpPr>
        <p:spPr>
          <a:xfrm>
            <a:off x="4389120" y="3849623"/>
            <a:ext cx="36576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CX Digital, Operations, CMP President, VP CS</a:t>
            </a:r>
          </a:p>
        </p:txBody>
      </p:sp>
      <p:sp>
        <p:nvSpPr>
          <p:cNvPr id="38" name="TextBox 37">
            <a:extLst>
              <a:ext uri="{FF2B5EF4-FFF2-40B4-BE49-F238E27FC236}">
                <a16:creationId xmlns:a16="http://schemas.microsoft.com/office/drawing/2014/main" id="{EB731368-F4C8-BCD8-214B-41657AE5A957}"/>
              </a:ext>
            </a:extLst>
          </p:cNvPr>
          <p:cNvSpPr txBox="1"/>
          <p:nvPr/>
        </p:nvSpPr>
        <p:spPr>
          <a:xfrm>
            <a:off x="8046719" y="3849623"/>
            <a:ext cx="3776472"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Helvetica Neue"/>
                <a:ea typeface="+mn-ea"/>
                <a:cs typeface="+mn-cs"/>
              </a:rPr>
              <a:t>CX-level strategic updates</a:t>
            </a:r>
          </a:p>
        </p:txBody>
      </p:sp>
      <p:sp>
        <p:nvSpPr>
          <p:cNvPr id="39" name="Rectangle 38">
            <a:extLst>
              <a:ext uri="{FF2B5EF4-FFF2-40B4-BE49-F238E27FC236}">
                <a16:creationId xmlns:a16="http://schemas.microsoft.com/office/drawing/2014/main" id="{DC70C461-57E6-D50E-588E-7183429726B0}"/>
              </a:ext>
            </a:extLst>
          </p:cNvPr>
          <p:cNvSpPr/>
          <p:nvPr/>
        </p:nvSpPr>
        <p:spPr>
          <a:xfrm>
            <a:off x="457200" y="4507991"/>
            <a:ext cx="11274552"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0" name="TextBox 39">
            <a:extLst>
              <a:ext uri="{FF2B5EF4-FFF2-40B4-BE49-F238E27FC236}">
                <a16:creationId xmlns:a16="http://schemas.microsoft.com/office/drawing/2014/main" id="{4AC51140-7683-BDB5-EAB2-18D858EC5649}"/>
              </a:ext>
            </a:extLst>
          </p:cNvPr>
          <p:cNvSpPr txBox="1"/>
          <p:nvPr/>
        </p:nvSpPr>
        <p:spPr>
          <a:xfrm>
            <a:off x="548640" y="4507991"/>
            <a:ext cx="27432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Helvetica Neue"/>
                <a:ea typeface="+mn-ea"/>
                <a:cs typeface="+mn-cs"/>
              </a:rPr>
              <a:t>Manager Check-in</a:t>
            </a:r>
          </a:p>
        </p:txBody>
      </p:sp>
      <p:sp>
        <p:nvSpPr>
          <p:cNvPr id="41" name="TextBox 40">
            <a:extLst>
              <a:ext uri="{FF2B5EF4-FFF2-40B4-BE49-F238E27FC236}">
                <a16:creationId xmlns:a16="http://schemas.microsoft.com/office/drawing/2014/main" id="{60B5D243-5B27-EED2-3C67-806C8B9589BE}"/>
              </a:ext>
            </a:extLst>
          </p:cNvPr>
          <p:cNvSpPr txBox="1"/>
          <p:nvPr/>
        </p:nvSpPr>
        <p:spPr>
          <a:xfrm>
            <a:off x="3291840" y="4507991"/>
            <a:ext cx="109728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Weekly</a:t>
            </a:r>
          </a:p>
        </p:txBody>
      </p:sp>
      <p:sp>
        <p:nvSpPr>
          <p:cNvPr id="42" name="TextBox 41">
            <a:extLst>
              <a:ext uri="{FF2B5EF4-FFF2-40B4-BE49-F238E27FC236}">
                <a16:creationId xmlns:a16="http://schemas.microsoft.com/office/drawing/2014/main" id="{0C9927D3-3915-DAAE-EF7E-F697A48954B6}"/>
              </a:ext>
            </a:extLst>
          </p:cNvPr>
          <p:cNvSpPr txBox="1"/>
          <p:nvPr/>
        </p:nvSpPr>
        <p:spPr>
          <a:xfrm>
            <a:off x="4389120" y="4507991"/>
            <a:ext cx="3657600"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Helvetica Neue"/>
                <a:ea typeface="+mn-ea"/>
                <a:cs typeface="+mn-cs"/>
              </a:rPr>
              <a:t>[To be confirmed]</a:t>
            </a:r>
          </a:p>
        </p:txBody>
      </p:sp>
      <p:sp>
        <p:nvSpPr>
          <p:cNvPr id="43" name="TextBox 42">
            <a:extLst>
              <a:ext uri="{FF2B5EF4-FFF2-40B4-BE49-F238E27FC236}">
                <a16:creationId xmlns:a16="http://schemas.microsoft.com/office/drawing/2014/main" id="{3A8A6448-8FAC-4640-138E-A865D0F58524}"/>
              </a:ext>
            </a:extLst>
          </p:cNvPr>
          <p:cNvSpPr txBox="1"/>
          <p:nvPr/>
        </p:nvSpPr>
        <p:spPr>
          <a:xfrm>
            <a:off x="8046719" y="4507991"/>
            <a:ext cx="3776472" cy="6400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Helvetica Neue"/>
                <a:ea typeface="+mn-ea"/>
                <a:cs typeface="+mn-cs"/>
              </a:rPr>
              <a:t>[To be confirmed]</a:t>
            </a:r>
          </a:p>
        </p:txBody>
      </p:sp>
      <p:sp>
        <p:nvSpPr>
          <p:cNvPr id="45" name="Rectangle 44">
            <a:extLst>
              <a:ext uri="{FF2B5EF4-FFF2-40B4-BE49-F238E27FC236}">
                <a16:creationId xmlns:a16="http://schemas.microsoft.com/office/drawing/2014/main" id="{E59B28FC-4388-8697-A8CA-17FD41EC889B}"/>
              </a:ext>
            </a:extLst>
          </p:cNvPr>
          <p:cNvSpPr/>
          <p:nvPr/>
        </p:nvSpPr>
        <p:spPr>
          <a:xfrm>
            <a:off x="457200" y="5282498"/>
            <a:ext cx="73152" cy="4114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6" name="TextBox 45">
            <a:extLst>
              <a:ext uri="{FF2B5EF4-FFF2-40B4-BE49-F238E27FC236}">
                <a16:creationId xmlns:a16="http://schemas.microsoft.com/office/drawing/2014/main" id="{83BF0000-FD33-2CFA-89B6-29A4A02CBFFB}"/>
              </a:ext>
            </a:extLst>
          </p:cNvPr>
          <p:cNvSpPr txBox="1"/>
          <p:nvPr/>
        </p:nvSpPr>
        <p:spPr>
          <a:xfrm>
            <a:off x="621792" y="5282498"/>
            <a:ext cx="1097280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BC4328"/>
                </a:solidFill>
                <a:effectLst/>
                <a:uLnTx/>
                <a:uFillTx/>
                <a:latin typeface="Helvetica Neue"/>
                <a:ea typeface="+mn-ea"/>
                <a:cs typeface="+mn-cs"/>
              </a:rPr>
              <a:t>WHAT'S MISSING</a:t>
            </a:r>
          </a:p>
        </p:txBody>
      </p:sp>
      <p:sp>
        <p:nvSpPr>
          <p:cNvPr id="47" name="TextBox 46">
            <a:extLst>
              <a:ext uri="{FF2B5EF4-FFF2-40B4-BE49-F238E27FC236}">
                <a16:creationId xmlns:a16="http://schemas.microsoft.com/office/drawing/2014/main" id="{7DD760BF-D8C5-0C51-1B8D-2EA8471F0964}"/>
              </a:ext>
            </a:extLst>
          </p:cNvPr>
          <p:cNvSpPr txBox="1"/>
          <p:nvPr/>
        </p:nvSpPr>
        <p:spPr>
          <a:xfrm>
            <a:off x="621792" y="5511098"/>
            <a:ext cx="10972800"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Helvetica Neue"/>
                <a:ea typeface="+mn-ea"/>
                <a:cs typeface="+mn-cs"/>
              </a:rPr>
              <a:t>No portfolio steering forum (decisions on trade-offs across branches, budget, capacity)  •  No vendor performance forum  •  Manager Check-in participants and scope pending definition</a:t>
            </a:r>
          </a:p>
        </p:txBody>
      </p:sp>
      <p:sp>
        <p:nvSpPr>
          <p:cNvPr id="48" name="Rectangle 47">
            <a:extLst>
              <a:ext uri="{FF2B5EF4-FFF2-40B4-BE49-F238E27FC236}">
                <a16:creationId xmlns:a16="http://schemas.microsoft.com/office/drawing/2014/main" id="{D57B49EF-D344-EEF0-68C1-7FCFD110C21A}"/>
              </a:ext>
            </a:extLst>
          </p:cNvPr>
          <p:cNvSpPr/>
          <p:nvPr/>
        </p:nvSpPr>
        <p:spPr>
          <a:xfrm>
            <a:off x="457200" y="5873709"/>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9" name="TextBox 48">
            <a:extLst>
              <a:ext uri="{FF2B5EF4-FFF2-40B4-BE49-F238E27FC236}">
                <a16:creationId xmlns:a16="http://schemas.microsoft.com/office/drawing/2014/main" id="{404B8226-D626-C053-65AE-7779096E38A3}"/>
              </a:ext>
            </a:extLst>
          </p:cNvPr>
          <p:cNvSpPr txBox="1"/>
          <p:nvPr/>
        </p:nvSpPr>
        <p:spPr>
          <a:xfrm>
            <a:off x="685800" y="5919429"/>
            <a:ext cx="10817352" cy="41148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Helvetica Neue"/>
                <a:ea typeface="+mn-ea"/>
                <a:cs typeface="+mn-cs"/>
              </a:rPr>
              <a:t>The governance layer is operationally busy (4 weekly + 1 monthly) but strategically incomplete — a portfolio steering cadence must be introduced in the TOM</a:t>
            </a:r>
          </a:p>
        </p:txBody>
      </p:sp>
      <p:sp>
        <p:nvSpPr>
          <p:cNvPr id="3" name="Rectángulo 2">
            <a:extLst>
              <a:ext uri="{FF2B5EF4-FFF2-40B4-BE49-F238E27FC236}">
                <a16:creationId xmlns:a16="http://schemas.microsoft.com/office/drawing/2014/main" id="{C60D17FB-B9D7-F6FD-FC93-F9A90B7F7DB5}"/>
              </a:ext>
            </a:extLst>
          </p:cNvPr>
          <p:cNvSpPr/>
          <p:nvPr/>
        </p:nvSpPr>
        <p:spPr>
          <a:xfrm>
            <a:off x="5941060" y="2438133"/>
            <a:ext cx="7167371" cy="2047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Is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this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aplicable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for</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al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teams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If</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they’re</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the</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ones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Heather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shared</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i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think</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this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is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only</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for</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BRS/Customer Service - </a:t>
            </a:r>
          </a:p>
        </p:txBody>
      </p:sp>
      <p:sp>
        <p:nvSpPr>
          <p:cNvPr id="4" name="Rectángulo 2">
            <a:extLst>
              <a:ext uri="{FF2B5EF4-FFF2-40B4-BE49-F238E27FC236}">
                <a16:creationId xmlns:a16="http://schemas.microsoft.com/office/drawing/2014/main" id="{6A828762-ADE1-4580-6400-94BA05BD7748}"/>
              </a:ext>
            </a:extLst>
          </p:cNvPr>
          <p:cNvSpPr/>
          <p:nvPr/>
        </p:nvSpPr>
        <p:spPr>
          <a:xfrm>
            <a:off x="4610100" y="4623228"/>
            <a:ext cx="7167372" cy="59251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YES, MAYBE THE INFO IS IN THE INTERVIEWS (MIRO: pending.it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business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app,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customer</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s-MX" sz="1800" b="0" i="0" u="none" strike="noStrike" kern="1200" cap="none" spc="0" normalizeH="0" baseline="0" noProof="0" err="1">
                <a:ln>
                  <a:noFill/>
                </a:ln>
                <a:solidFill>
                  <a:prstClr val="white"/>
                </a:solidFill>
                <a:effectLst/>
                <a:uLnTx/>
                <a:uFillTx/>
                <a:latin typeface="Aptos" panose="020B0004020202020204"/>
                <a:ea typeface="+mn-ea"/>
                <a:cs typeface="+mn-cs"/>
              </a:rPr>
              <a:t>services</a:t>
            </a:r>
            <a:r>
              <a:rPr kumimoji="0" lang="es-MX" sz="1800" b="0" i="0" u="none" strike="noStrike" kern="1200" cap="none" spc="0" normalizeH="0" baseline="0" noProof="0">
                <a:ln>
                  <a:noFill/>
                </a:ln>
                <a:solidFill>
                  <a:prstClr val="white"/>
                </a:solidFill>
                <a:effectLst/>
                <a:uLnTx/>
                <a:uFillTx/>
                <a:latin typeface="Aptos" panose="020B0004020202020204"/>
                <a:ea typeface="+mn-ea"/>
                <a:cs typeface="+mn-cs"/>
              </a:rPr>
              <a:t> app) </a:t>
            </a:r>
          </a:p>
        </p:txBody>
      </p:sp>
    </p:spTree>
    <p:extLst>
      <p:ext uri="{BB962C8B-B14F-4D97-AF65-F5344CB8AC3E}">
        <p14:creationId xmlns:p14="http://schemas.microsoft.com/office/powerpoint/2010/main" val="2070795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5A17A-4DE7-23FA-17D2-D1327F609FD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41BF729-02DA-D24B-B5D0-B4132954DB65}"/>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735E6C92-E918-12DE-0F8B-DC714D3F6521}"/>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1000" noProof="0">
                <a:solidFill>
                  <a:srgbClr val="000000"/>
                </a:solidFill>
                <a:latin typeface="Montserrat" pitchFamily="2" charset="77"/>
              </a:endParaRPr>
            </a:p>
          </p:txBody>
        </p:sp>
        <p:sp>
          <p:nvSpPr>
            <p:cNvPr id="6" name="AutoShape 6">
              <a:extLst>
                <a:ext uri="{FF2B5EF4-FFF2-40B4-BE49-F238E27FC236}">
                  <a16:creationId xmlns:a16="http://schemas.microsoft.com/office/drawing/2014/main" id="{08735B0F-7993-F4DE-AFD0-25C9CF2C0972}"/>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1000" noProof="0">
                <a:solidFill>
                  <a:srgbClr val="000000"/>
                </a:solidFill>
                <a:latin typeface="Montserrat" pitchFamily="2" charset="77"/>
              </a:endParaRPr>
            </a:p>
          </p:txBody>
        </p:sp>
      </p:grpSp>
      <p:sp>
        <p:nvSpPr>
          <p:cNvPr id="10" name="TextBox 10">
            <a:extLst>
              <a:ext uri="{FF2B5EF4-FFF2-40B4-BE49-F238E27FC236}">
                <a16:creationId xmlns:a16="http://schemas.microsoft.com/office/drawing/2014/main" id="{35076678-6860-FC6D-4435-DB2B3BF741C6}"/>
              </a:ext>
            </a:extLst>
          </p:cNvPr>
          <p:cNvSpPr txBox="1"/>
          <p:nvPr/>
        </p:nvSpPr>
        <p:spPr>
          <a:xfrm>
            <a:off x="1077073" y="1141030"/>
            <a:ext cx="462060" cy="550792"/>
          </a:xfrm>
          <a:prstGeom prst="rect">
            <a:avLst/>
          </a:prstGeom>
        </p:spPr>
        <p:txBody>
          <a:bodyPr wrap="square" lIns="0" tIns="0" rIns="0" bIns="0" rtlCol="0" anchor="t">
            <a:spAutoFit/>
          </a:bodyPr>
          <a:lstStyle/>
          <a:p>
            <a:pPr>
              <a:lnSpc>
                <a:spcPts val="4608"/>
              </a:lnSpc>
            </a:pPr>
            <a:r>
              <a:rPr lang="en-US" sz="2800" b="1" noProof="0">
                <a:solidFill>
                  <a:schemeClr val="bg2">
                    <a:lumMod val="75000"/>
                  </a:schemeClr>
                </a:solidFill>
                <a:latin typeface="+mj-lt"/>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43B93383-F74E-B017-EBA1-0BA872D526D6}"/>
              </a:ext>
            </a:extLst>
          </p:cNvPr>
          <p:cNvSpPr txBox="1"/>
          <p:nvPr/>
        </p:nvSpPr>
        <p:spPr>
          <a:xfrm>
            <a:off x="1063128" y="2827839"/>
            <a:ext cx="537158"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03</a:t>
            </a:r>
          </a:p>
        </p:txBody>
      </p:sp>
      <p:grpSp>
        <p:nvGrpSpPr>
          <p:cNvPr id="23" name="Grupo 22">
            <a:extLst>
              <a:ext uri="{FF2B5EF4-FFF2-40B4-BE49-F238E27FC236}">
                <a16:creationId xmlns:a16="http://schemas.microsoft.com/office/drawing/2014/main" id="{40474FFF-615B-1E9A-726D-19D6FAD24D9C}"/>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3753E43C-404A-04AD-E72A-058368C34274}"/>
                </a:ext>
              </a:extLst>
            </p:cNvPr>
            <p:cNvSpPr txBox="1"/>
            <p:nvPr/>
          </p:nvSpPr>
          <p:spPr>
            <a:xfrm>
              <a:off x="1816102" y="2594699"/>
              <a:ext cx="9571333"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D8C06D48-62AD-D8CD-07C7-F4898323F874}"/>
                </a:ext>
              </a:extLst>
            </p:cNvPr>
            <p:cNvSpPr txBox="1"/>
            <p:nvPr/>
          </p:nvSpPr>
          <p:spPr>
            <a:xfrm>
              <a:off x="1816102" y="2983372"/>
              <a:ext cx="7868967" cy="453714"/>
            </a:xfrm>
            <a:prstGeom prst="rect">
              <a:avLst/>
            </a:prstGeom>
          </p:spPr>
          <p:txBody>
            <a:bodyPr wrap="square" lIns="0" tIns="0" rIns="0" bIns="0" rtlCol="0" anchor="t">
              <a:spAutoFit/>
            </a:bodyPr>
            <a:lstStyle/>
            <a:p>
              <a:pPr>
                <a:lnSpc>
                  <a:spcPts val="1820"/>
                </a:lnSpc>
              </a:pPr>
              <a:r>
                <a:rPr lang="en-US" sz="1400" noProof="0">
                  <a:solidFill>
                    <a:schemeClr val="bg2">
                      <a:lumMod val="75000"/>
                    </a:schemeClr>
                  </a:solidFill>
                  <a:latin typeface="+mj-lt"/>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A093B175-70CC-B265-DE1B-0D73F79C9B38}"/>
              </a:ext>
            </a:extLst>
          </p:cNvPr>
          <p:cNvSpPr txBox="1"/>
          <p:nvPr/>
        </p:nvSpPr>
        <p:spPr>
          <a:xfrm>
            <a:off x="1063128" y="3699805"/>
            <a:ext cx="525169"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04</a:t>
            </a:r>
          </a:p>
        </p:txBody>
      </p:sp>
      <p:sp>
        <p:nvSpPr>
          <p:cNvPr id="20" name="TextBox 20">
            <a:extLst>
              <a:ext uri="{FF2B5EF4-FFF2-40B4-BE49-F238E27FC236}">
                <a16:creationId xmlns:a16="http://schemas.microsoft.com/office/drawing/2014/main" id="{CE2055EA-4AD6-D95C-B0A5-BD1A059434CA}"/>
              </a:ext>
            </a:extLst>
          </p:cNvPr>
          <p:cNvSpPr txBox="1"/>
          <p:nvPr/>
        </p:nvSpPr>
        <p:spPr>
          <a:xfrm>
            <a:off x="1854197" y="4994789"/>
            <a:ext cx="7482132" cy="213776"/>
          </a:xfrm>
          <a:prstGeom prst="rect">
            <a:avLst/>
          </a:prstGeom>
        </p:spPr>
        <p:txBody>
          <a:bodyPr wrap="square" lIns="0" tIns="0" rIns="0" bIns="0" rtlCol="0" anchor="t">
            <a:spAutoFit/>
          </a:bodyPr>
          <a:lstStyle/>
          <a:p>
            <a:pPr>
              <a:lnSpc>
                <a:spcPts val="1820"/>
              </a:lnSpc>
            </a:pPr>
            <a:endParaRPr lang="en-US" sz="1200" noProof="0">
              <a:solidFill>
                <a:srgbClr val="000000"/>
              </a:solidFill>
              <a:latin typeface="+mj-lt"/>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D73DA0D3-6C39-730D-C0A8-11218CF028EA}"/>
              </a:ext>
            </a:extLst>
          </p:cNvPr>
          <p:cNvSpPr txBox="1"/>
          <p:nvPr/>
        </p:nvSpPr>
        <p:spPr>
          <a:xfrm>
            <a:off x="1063128" y="4600799"/>
            <a:ext cx="487952"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ym typeface="Gordita Bold"/>
              </a:rPr>
              <a:t>05</a:t>
            </a:r>
          </a:p>
        </p:txBody>
      </p:sp>
      <p:grpSp>
        <p:nvGrpSpPr>
          <p:cNvPr id="26" name="Grupo 25">
            <a:extLst>
              <a:ext uri="{FF2B5EF4-FFF2-40B4-BE49-F238E27FC236}">
                <a16:creationId xmlns:a16="http://schemas.microsoft.com/office/drawing/2014/main" id="{0D15D29A-2C6F-2D6D-7DE9-15D4964F9F2E}"/>
              </a:ext>
            </a:extLst>
          </p:cNvPr>
          <p:cNvGrpSpPr/>
          <p:nvPr/>
        </p:nvGrpSpPr>
        <p:grpSpPr>
          <a:xfrm>
            <a:off x="1847402" y="3676508"/>
            <a:ext cx="9571333" cy="611555"/>
            <a:chOff x="1809305" y="3510392"/>
            <a:chExt cx="9571333" cy="611555"/>
          </a:xfrm>
        </p:grpSpPr>
        <p:sp>
          <p:nvSpPr>
            <p:cNvPr id="13" name="TextBox 15">
              <a:extLst>
                <a:ext uri="{FF2B5EF4-FFF2-40B4-BE49-F238E27FC236}">
                  <a16:creationId xmlns:a16="http://schemas.microsoft.com/office/drawing/2014/main" id="{A3F9C35F-0AF9-5810-774F-CE800D52DB2C}"/>
                </a:ext>
              </a:extLst>
            </p:cNvPr>
            <p:cNvSpPr txBox="1"/>
            <p:nvPr/>
          </p:nvSpPr>
          <p:spPr>
            <a:xfrm>
              <a:off x="1809305" y="3510392"/>
              <a:ext cx="9571333" cy="421847"/>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9D03C1B8-6FA1-6882-7CA9-3A3743E384B9}"/>
                </a:ext>
              </a:extLst>
            </p:cNvPr>
            <p:cNvSpPr txBox="1"/>
            <p:nvPr/>
          </p:nvSpPr>
          <p:spPr>
            <a:xfrm>
              <a:off x="1809305" y="3899065"/>
              <a:ext cx="7868967" cy="222882"/>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noProof="0">
                  <a:solidFill>
                    <a:schemeClr val="bg2">
                      <a:lumMod val="75000"/>
                    </a:schemeClr>
                  </a:solidFill>
                </a:rPr>
                <a:t>Includes explanations for Roles and Responsibilities, Value stream Mapping and Governance Mapping</a:t>
              </a:r>
              <a:endParaRPr lang="en-US" noProof="0">
                <a:solidFill>
                  <a:schemeClr val="bg2">
                    <a:lumMod val="75000"/>
                  </a:schemeClr>
                </a:solidFill>
                <a:sym typeface="Gordita"/>
              </a:endParaRPr>
            </a:p>
          </p:txBody>
        </p:sp>
      </p:grpSp>
      <p:sp>
        <p:nvSpPr>
          <p:cNvPr id="12" name="TextBox 22">
            <a:extLst>
              <a:ext uri="{FF2B5EF4-FFF2-40B4-BE49-F238E27FC236}">
                <a16:creationId xmlns:a16="http://schemas.microsoft.com/office/drawing/2014/main" id="{AA56D8F3-152D-F416-01B5-8F0042B6583D}"/>
              </a:ext>
            </a:extLst>
          </p:cNvPr>
          <p:cNvSpPr txBox="1"/>
          <p:nvPr/>
        </p:nvSpPr>
        <p:spPr>
          <a:xfrm>
            <a:off x="1063128" y="5501791"/>
            <a:ext cx="487952"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06</a:t>
            </a:r>
          </a:p>
        </p:txBody>
      </p:sp>
      <p:grpSp>
        <p:nvGrpSpPr>
          <p:cNvPr id="21" name="Grupo 20">
            <a:extLst>
              <a:ext uri="{FF2B5EF4-FFF2-40B4-BE49-F238E27FC236}">
                <a16:creationId xmlns:a16="http://schemas.microsoft.com/office/drawing/2014/main" id="{E08F47D9-A81A-C6F8-A86B-4364B064B679}"/>
              </a:ext>
            </a:extLst>
          </p:cNvPr>
          <p:cNvGrpSpPr/>
          <p:nvPr/>
        </p:nvGrpSpPr>
        <p:grpSpPr>
          <a:xfrm>
            <a:off x="1861346" y="1170058"/>
            <a:ext cx="9578128" cy="569016"/>
            <a:chOff x="1809304" y="1852249"/>
            <a:chExt cx="9578128" cy="569016"/>
          </a:xfrm>
        </p:grpSpPr>
        <p:sp>
          <p:nvSpPr>
            <p:cNvPr id="11" name="TextBox 11">
              <a:extLst>
                <a:ext uri="{FF2B5EF4-FFF2-40B4-BE49-F238E27FC236}">
                  <a16:creationId xmlns:a16="http://schemas.microsoft.com/office/drawing/2014/main" id="{98BCFB9C-D75D-34F6-A8E0-819764AF3744}"/>
                </a:ext>
              </a:extLst>
            </p:cNvPr>
            <p:cNvSpPr txBox="1"/>
            <p:nvPr/>
          </p:nvSpPr>
          <p:spPr>
            <a:xfrm>
              <a:off x="1816100" y="1852249"/>
              <a:ext cx="9571332"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rPr>
                <a:t>Context</a:t>
              </a:r>
              <a:endParaRPr lang="en-US" sz="2400" noProof="0">
                <a:solidFill>
                  <a:schemeClr val="bg2">
                    <a:lumMod val="75000"/>
                  </a:schemeClr>
                </a:solidFill>
                <a:latin typeface="+mj-lt"/>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86D49E98-DF3D-13EB-C36B-E930D8027551}"/>
                </a:ext>
              </a:extLst>
            </p:cNvPr>
            <p:cNvSpPr txBox="1"/>
            <p:nvPr/>
          </p:nvSpPr>
          <p:spPr>
            <a:xfrm>
              <a:off x="1809304" y="2198383"/>
              <a:ext cx="7868967" cy="222882"/>
            </a:xfrm>
            <a:prstGeom prst="rect">
              <a:avLst/>
            </a:prstGeom>
          </p:spPr>
          <p:txBody>
            <a:bodyPr wrap="square" lIns="0" tIns="0" rIns="0" bIns="0" rtlCol="0" anchor="t">
              <a:spAutoFit/>
            </a:bodyPr>
            <a:lstStyle/>
            <a:p>
              <a:pPr>
                <a:lnSpc>
                  <a:spcPts val="1820"/>
                </a:lnSpc>
              </a:pPr>
              <a:r>
                <a:rPr lang="en-US" sz="1400" noProof="0">
                  <a:solidFill>
                    <a:schemeClr val="bg2">
                      <a:lumMod val="75000"/>
                    </a:schemeClr>
                  </a:solidFill>
                  <a:latin typeface="+mj-lt"/>
                </a:rPr>
                <a:t>Document summary</a:t>
              </a:r>
              <a:endParaRPr lang="en-US" sz="1400" noProof="0">
                <a:solidFill>
                  <a:schemeClr val="bg2">
                    <a:lumMod val="75000"/>
                  </a:schemeClr>
                </a:solidFill>
                <a:latin typeface="+mj-lt"/>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0E2A7873-999C-345E-EF8C-608420E6D8C7}"/>
              </a:ext>
            </a:extLst>
          </p:cNvPr>
          <p:cNvGrpSpPr/>
          <p:nvPr/>
        </p:nvGrpSpPr>
        <p:grpSpPr>
          <a:xfrm>
            <a:off x="1847401" y="4582202"/>
            <a:ext cx="9571332" cy="617477"/>
            <a:chOff x="1809305" y="5419675"/>
            <a:chExt cx="9571332" cy="617477"/>
          </a:xfrm>
        </p:grpSpPr>
        <p:sp>
          <p:nvSpPr>
            <p:cNvPr id="9" name="TextBox 19">
              <a:extLst>
                <a:ext uri="{FF2B5EF4-FFF2-40B4-BE49-F238E27FC236}">
                  <a16:creationId xmlns:a16="http://schemas.microsoft.com/office/drawing/2014/main" id="{F2368AA9-350A-2EB2-26C4-92D6832299B9}"/>
                </a:ext>
              </a:extLst>
            </p:cNvPr>
            <p:cNvSpPr txBox="1"/>
            <p:nvPr/>
          </p:nvSpPr>
          <p:spPr>
            <a:xfrm>
              <a:off x="1809305" y="5419675"/>
              <a:ext cx="9571332" cy="417871"/>
            </a:xfrm>
            <a:prstGeom prst="rect">
              <a:avLst/>
            </a:prstGeom>
          </p:spPr>
          <p:txBody>
            <a:bodyPr wrap="square" lIns="0" tIns="0" rIns="0" bIns="0" rtlCol="0" anchor="t">
              <a:spAutoFit/>
            </a:bodyPr>
            <a:lstStyle/>
            <a:p>
              <a:pPr>
                <a:lnSpc>
                  <a:spcPts val="3456"/>
                </a:lnSpc>
              </a:pPr>
              <a:r>
                <a:rPr lang="en-US" sz="2400" noProof="0">
                  <a:solidFill>
                    <a:srgbClr val="000000"/>
                  </a:solidFill>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9F17949B-6B3F-F681-0F7B-D7D3E9C2BC21}"/>
                </a:ext>
              </a:extLst>
            </p:cNvPr>
            <p:cNvSpPr txBox="1"/>
            <p:nvPr/>
          </p:nvSpPr>
          <p:spPr>
            <a:xfrm>
              <a:off x="1809305" y="5814270"/>
              <a:ext cx="7868967" cy="222882"/>
            </a:xfrm>
            <a:prstGeom prst="rect">
              <a:avLst/>
            </a:prstGeom>
          </p:spPr>
          <p:txBody>
            <a:bodyPr wrap="square" lIns="0" tIns="0" rIns="0" bIns="0" rtlCol="0" anchor="t">
              <a:spAutoFit/>
            </a:bodyPr>
            <a:lstStyle/>
            <a:p>
              <a:pPr>
                <a:lnSpc>
                  <a:spcPts val="1820"/>
                </a:lnSpc>
              </a:pPr>
              <a:r>
                <a:rPr lang="en-US" sz="1400" noProof="0">
                  <a:solidFill>
                    <a:srgbClr val="000000"/>
                  </a:solidFill>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FF3C5CE1-C1E6-0B44-CC81-F9BDB23398B0}"/>
              </a:ext>
            </a:extLst>
          </p:cNvPr>
          <p:cNvGrpSpPr/>
          <p:nvPr/>
        </p:nvGrpSpPr>
        <p:grpSpPr>
          <a:xfrm>
            <a:off x="1847401" y="5519041"/>
            <a:ext cx="9571332" cy="846322"/>
            <a:chOff x="1809305" y="5419675"/>
            <a:chExt cx="9571332" cy="846322"/>
          </a:xfrm>
        </p:grpSpPr>
        <p:sp>
          <p:nvSpPr>
            <p:cNvPr id="34" name="TextBox 19">
              <a:extLst>
                <a:ext uri="{FF2B5EF4-FFF2-40B4-BE49-F238E27FC236}">
                  <a16:creationId xmlns:a16="http://schemas.microsoft.com/office/drawing/2014/main" id="{A3975C03-B798-DF40-E2AE-F224D24F0A73}"/>
                </a:ext>
              </a:extLst>
            </p:cNvPr>
            <p:cNvSpPr txBox="1"/>
            <p:nvPr/>
          </p:nvSpPr>
          <p:spPr>
            <a:xfrm>
              <a:off x="1809305" y="5419675"/>
              <a:ext cx="9571332"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F392CBEE-37E0-9532-983E-5D28ECA0EED2}"/>
                </a:ext>
              </a:extLst>
            </p:cNvPr>
            <p:cNvSpPr txBox="1"/>
            <p:nvPr/>
          </p:nvSpPr>
          <p:spPr>
            <a:xfrm>
              <a:off x="1809305" y="5814270"/>
              <a:ext cx="7868967" cy="451727"/>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noProof="0">
                  <a:solidFill>
                    <a:schemeClr val="bg2">
                      <a:lumMod val="75000"/>
                    </a:schemeClr>
                  </a:solidFill>
                </a:rPr>
                <a:t>A synthesis of key insights and foundational definitions shaping the design of the target operating model​</a:t>
              </a:r>
              <a:endParaRPr lang="en-US" noProof="0">
                <a:solidFill>
                  <a:schemeClr val="bg2">
                    <a:lumMod val="75000"/>
                  </a:schemeClr>
                </a:solidFill>
                <a:sym typeface="Gordita"/>
              </a:endParaRPr>
            </a:p>
          </p:txBody>
        </p:sp>
      </p:grpSp>
      <p:sp>
        <p:nvSpPr>
          <p:cNvPr id="2" name="TextBox 14">
            <a:extLst>
              <a:ext uri="{FF2B5EF4-FFF2-40B4-BE49-F238E27FC236}">
                <a16:creationId xmlns:a16="http://schemas.microsoft.com/office/drawing/2014/main" id="{D0119B19-E68D-8296-F9EE-D2E482CEED7D}"/>
              </a:ext>
            </a:extLst>
          </p:cNvPr>
          <p:cNvSpPr txBox="1"/>
          <p:nvPr/>
        </p:nvSpPr>
        <p:spPr>
          <a:xfrm>
            <a:off x="1070275" y="2006772"/>
            <a:ext cx="537158"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02</a:t>
            </a:r>
          </a:p>
        </p:txBody>
      </p:sp>
      <p:grpSp>
        <p:nvGrpSpPr>
          <p:cNvPr id="3" name="Grupo 2">
            <a:extLst>
              <a:ext uri="{FF2B5EF4-FFF2-40B4-BE49-F238E27FC236}">
                <a16:creationId xmlns:a16="http://schemas.microsoft.com/office/drawing/2014/main" id="{7A38101B-121E-F92C-6E59-B0728F75EDF0}"/>
              </a:ext>
            </a:extLst>
          </p:cNvPr>
          <p:cNvGrpSpPr/>
          <p:nvPr/>
        </p:nvGrpSpPr>
        <p:grpSpPr>
          <a:xfrm>
            <a:off x="1861346" y="1981111"/>
            <a:ext cx="9571333" cy="611555"/>
            <a:chOff x="1816102" y="2594699"/>
            <a:chExt cx="9571333" cy="611555"/>
          </a:xfrm>
        </p:grpSpPr>
        <p:sp>
          <p:nvSpPr>
            <p:cNvPr id="5" name="TextBox 15">
              <a:extLst>
                <a:ext uri="{FF2B5EF4-FFF2-40B4-BE49-F238E27FC236}">
                  <a16:creationId xmlns:a16="http://schemas.microsoft.com/office/drawing/2014/main" id="{7F224096-13E7-B41A-B9A5-77E2D5EFB805}"/>
                </a:ext>
              </a:extLst>
            </p:cNvPr>
            <p:cNvSpPr txBox="1"/>
            <p:nvPr/>
          </p:nvSpPr>
          <p:spPr>
            <a:xfrm>
              <a:off x="1816102" y="2594699"/>
              <a:ext cx="9571333"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F7F58D71-BCA2-4620-3C82-2CC2A467391F}"/>
                </a:ext>
              </a:extLst>
            </p:cNvPr>
            <p:cNvSpPr txBox="1"/>
            <p:nvPr/>
          </p:nvSpPr>
          <p:spPr>
            <a:xfrm>
              <a:off x="1816102" y="2983372"/>
              <a:ext cx="7868967" cy="222882"/>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noProof="0">
                  <a:solidFill>
                    <a:schemeClr val="bg2">
                      <a:lumMod val="75000"/>
                    </a:schemeClr>
                  </a:solidFill>
                </a:rPr>
                <a:t>Why we are here. Executive findings &amp; implications. Methodology (Wave 1 Step 1 sources).</a:t>
              </a:r>
              <a:endParaRPr lang="en-US" noProof="0">
                <a:solidFill>
                  <a:schemeClr val="bg2">
                    <a:lumMod val="75000"/>
                  </a:schemeClr>
                </a:solidFill>
                <a:sym typeface="Gordita"/>
              </a:endParaRPr>
            </a:p>
          </p:txBody>
        </p:sp>
      </p:grpSp>
      <p:sp>
        <p:nvSpPr>
          <p:cNvPr id="19" name="TextBox 10">
            <a:extLst>
              <a:ext uri="{FF2B5EF4-FFF2-40B4-BE49-F238E27FC236}">
                <a16:creationId xmlns:a16="http://schemas.microsoft.com/office/drawing/2014/main" id="{6F79E69E-FB81-C486-F3A0-7944B0733108}"/>
              </a:ext>
            </a:extLst>
          </p:cNvPr>
          <p:cNvSpPr txBox="1"/>
          <p:nvPr/>
        </p:nvSpPr>
        <p:spPr>
          <a:xfrm>
            <a:off x="1063127" y="277976"/>
            <a:ext cx="3495835" cy="570284"/>
          </a:xfrm>
          <a:prstGeom prst="rect">
            <a:avLst/>
          </a:prstGeom>
        </p:spPr>
        <p:txBody>
          <a:bodyPr wrap="square" lIns="0" tIns="0" rIns="0" bIns="0" rtlCol="0" anchor="t">
            <a:spAutoFit/>
          </a:bodyPr>
          <a:lstStyle/>
          <a:p>
            <a:pPr>
              <a:lnSpc>
                <a:spcPts val="4608"/>
              </a:lnSpc>
            </a:pPr>
            <a:r>
              <a:rPr lang="en-US" sz="3200" b="1" noProof="0">
                <a:solidFill>
                  <a:schemeClr val="accent1"/>
                </a:solidFill>
                <a:latin typeface="+mj-lt"/>
                <a:ea typeface="Gordita Bold"/>
                <a:cs typeface="Arial" panose="020B0604020202020204" pitchFamily="34" charset="0"/>
                <a:sym typeface="Gordita Bold"/>
              </a:rPr>
              <a:t>Table of contents</a:t>
            </a:r>
          </a:p>
        </p:txBody>
      </p:sp>
      <p:sp>
        <p:nvSpPr>
          <p:cNvPr id="8" name="Rectangle 28">
            <a:extLst>
              <a:ext uri="{FF2B5EF4-FFF2-40B4-BE49-F238E27FC236}">
                <a16:creationId xmlns:a16="http://schemas.microsoft.com/office/drawing/2014/main" id="{9345EA96-98F8-1524-A6A2-D0D68D8B27D5}"/>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40">
            <a:extLst>
              <a:ext uri="{FF2B5EF4-FFF2-40B4-BE49-F238E27FC236}">
                <a16:creationId xmlns:a16="http://schemas.microsoft.com/office/drawing/2014/main" id="{751D3B68-3692-D4F4-52DA-148FF8418EBE}"/>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Rectangle 52">
            <a:extLst>
              <a:ext uri="{FF2B5EF4-FFF2-40B4-BE49-F238E27FC236}">
                <a16:creationId xmlns:a16="http://schemas.microsoft.com/office/drawing/2014/main" id="{DB86D35F-CEFC-4B8D-4DC1-2557397D569A}"/>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Rectangle 64">
            <a:extLst>
              <a:ext uri="{FF2B5EF4-FFF2-40B4-BE49-F238E27FC236}">
                <a16:creationId xmlns:a16="http://schemas.microsoft.com/office/drawing/2014/main" id="{1E71625C-748A-ED9D-8D91-279F48F3933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Rectangle 64">
            <a:extLst>
              <a:ext uri="{FF2B5EF4-FFF2-40B4-BE49-F238E27FC236}">
                <a16:creationId xmlns:a16="http://schemas.microsoft.com/office/drawing/2014/main" id="{44DC5455-0538-6CE2-F7F0-152292CE9EC7}"/>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Rectangle 64">
            <a:extLst>
              <a:ext uri="{FF2B5EF4-FFF2-40B4-BE49-F238E27FC236}">
                <a16:creationId xmlns:a16="http://schemas.microsoft.com/office/drawing/2014/main" id="{93379ADB-7FB0-BBCB-451D-B49083DB7CB2}"/>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Rectangle 64">
            <a:extLst>
              <a:ext uri="{FF2B5EF4-FFF2-40B4-BE49-F238E27FC236}">
                <a16:creationId xmlns:a16="http://schemas.microsoft.com/office/drawing/2014/main" id="{FAC9FDB9-8548-5593-4150-5685CFF364E5}"/>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336984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0FB4564A-2453-225C-E0CF-FE6AEC1A8ED7}"/>
              </a:ext>
            </a:extLst>
          </p:cNvPr>
          <p:cNvGrpSpPr/>
          <p:nvPr/>
        </p:nvGrpSpPr>
        <p:grpSpPr>
          <a:xfrm>
            <a:off x="534264" y="822960"/>
            <a:ext cx="9707017" cy="589280"/>
            <a:chOff x="534264" y="822960"/>
            <a:chExt cx="5545633" cy="589280"/>
          </a:xfrm>
        </p:grpSpPr>
        <p:sp>
          <p:nvSpPr>
            <p:cNvPr id="2" name="Rectángulo 1">
              <a:extLst>
                <a:ext uri="{FF2B5EF4-FFF2-40B4-BE49-F238E27FC236}">
                  <a16:creationId xmlns:a16="http://schemas.microsoft.com/office/drawing/2014/main" id="{E9E1C596-6685-42E2-8B75-1E05DFD1FA40}"/>
                </a:ext>
              </a:extLst>
            </p:cNvPr>
            <p:cNvSpPr/>
            <p:nvPr/>
          </p:nvSpPr>
          <p:spPr>
            <a:xfrm>
              <a:off x="534264" y="822960"/>
              <a:ext cx="2741473" cy="58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smALL</a:t>
              </a:r>
              <a:r>
                <a:rPr lang="es-MX"/>
                <a:t>/Medium </a:t>
              </a:r>
              <a:r>
                <a:rPr lang="es-MX" err="1"/>
                <a:t>Demand</a:t>
              </a:r>
              <a:endParaRPr lang="es-MX"/>
            </a:p>
          </p:txBody>
        </p:sp>
        <p:sp>
          <p:nvSpPr>
            <p:cNvPr id="3" name="Rectángulo 2">
              <a:extLst>
                <a:ext uri="{FF2B5EF4-FFF2-40B4-BE49-F238E27FC236}">
                  <a16:creationId xmlns:a16="http://schemas.microsoft.com/office/drawing/2014/main" id="{06A1CB51-CC6B-B64B-384E-C51F1A33F2D4}"/>
                </a:ext>
              </a:extLst>
            </p:cNvPr>
            <p:cNvSpPr/>
            <p:nvPr/>
          </p:nvSpPr>
          <p:spPr>
            <a:xfrm>
              <a:off x="3338424" y="822960"/>
              <a:ext cx="2741473" cy="58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err="1"/>
                <a:t>Large</a:t>
              </a:r>
              <a:endParaRPr lang="es-MX"/>
            </a:p>
          </p:txBody>
        </p:sp>
      </p:grpSp>
      <p:sp>
        <p:nvSpPr>
          <p:cNvPr id="6" name="Rectángulo 5">
            <a:extLst>
              <a:ext uri="{FF2B5EF4-FFF2-40B4-BE49-F238E27FC236}">
                <a16:creationId xmlns:a16="http://schemas.microsoft.com/office/drawing/2014/main" id="{F13650E6-FC5B-657B-9C49-6CF829405027}"/>
              </a:ext>
            </a:extLst>
          </p:cNvPr>
          <p:cNvSpPr/>
          <p:nvPr/>
        </p:nvSpPr>
        <p:spPr>
          <a:xfrm>
            <a:off x="5442635" y="1574800"/>
            <a:ext cx="4798645" cy="58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Proyectos de SAP</a:t>
            </a:r>
          </a:p>
        </p:txBody>
      </p:sp>
      <p:sp>
        <p:nvSpPr>
          <p:cNvPr id="7" name="Rectángulo 6">
            <a:extLst>
              <a:ext uri="{FF2B5EF4-FFF2-40B4-BE49-F238E27FC236}">
                <a16:creationId xmlns:a16="http://schemas.microsoft.com/office/drawing/2014/main" id="{BE96F573-AB4B-FDC6-FDCB-C8DD9BB60C3D}"/>
              </a:ext>
            </a:extLst>
          </p:cNvPr>
          <p:cNvSpPr/>
          <p:nvPr/>
        </p:nvSpPr>
        <p:spPr>
          <a:xfrm>
            <a:off x="5442635" y="2265680"/>
            <a:ext cx="4798645" cy="58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Proyectos de </a:t>
            </a:r>
            <a:r>
              <a:rPr lang="es-MX" err="1"/>
              <a:t>Applications</a:t>
            </a:r>
            <a:endParaRPr lang="es-MX"/>
          </a:p>
        </p:txBody>
      </p:sp>
      <p:sp>
        <p:nvSpPr>
          <p:cNvPr id="8" name="Rectángulo 7">
            <a:extLst>
              <a:ext uri="{FF2B5EF4-FFF2-40B4-BE49-F238E27FC236}">
                <a16:creationId xmlns:a16="http://schemas.microsoft.com/office/drawing/2014/main" id="{C0BC3E1C-4A25-2AE4-3C20-53F478300100}"/>
              </a:ext>
            </a:extLst>
          </p:cNvPr>
          <p:cNvSpPr/>
          <p:nvPr/>
        </p:nvSpPr>
        <p:spPr>
          <a:xfrm>
            <a:off x="1733925" y="1574800"/>
            <a:ext cx="2462465" cy="589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a:t>JIRA </a:t>
            </a:r>
          </a:p>
        </p:txBody>
      </p:sp>
    </p:spTree>
    <p:extLst>
      <p:ext uri="{BB962C8B-B14F-4D97-AF65-F5344CB8AC3E}">
        <p14:creationId xmlns:p14="http://schemas.microsoft.com/office/powerpoint/2010/main" val="29628230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5F784-EBEA-3A0F-093A-ACB5BCD12EB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CB7407A1-86B0-2BAA-B802-1C02D502FA61}"/>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A1504408-08E7-899E-6195-901D86701837}"/>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1000" noProof="0">
                <a:solidFill>
                  <a:srgbClr val="000000"/>
                </a:solidFill>
                <a:latin typeface="Montserrat" pitchFamily="2" charset="77"/>
              </a:endParaRPr>
            </a:p>
          </p:txBody>
        </p:sp>
        <p:sp>
          <p:nvSpPr>
            <p:cNvPr id="6" name="AutoShape 6">
              <a:extLst>
                <a:ext uri="{FF2B5EF4-FFF2-40B4-BE49-F238E27FC236}">
                  <a16:creationId xmlns:a16="http://schemas.microsoft.com/office/drawing/2014/main" id="{2A986AD2-E8B8-5776-4F55-579EBA53B1A2}"/>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1000" noProof="0">
                <a:solidFill>
                  <a:srgbClr val="000000"/>
                </a:solidFill>
                <a:latin typeface="Montserrat" pitchFamily="2" charset="77"/>
              </a:endParaRPr>
            </a:p>
          </p:txBody>
        </p:sp>
      </p:grpSp>
      <p:sp>
        <p:nvSpPr>
          <p:cNvPr id="10" name="TextBox 10">
            <a:extLst>
              <a:ext uri="{FF2B5EF4-FFF2-40B4-BE49-F238E27FC236}">
                <a16:creationId xmlns:a16="http://schemas.microsoft.com/office/drawing/2014/main" id="{3D9423D5-0610-D1E2-45AB-9BE3E1301999}"/>
              </a:ext>
            </a:extLst>
          </p:cNvPr>
          <p:cNvSpPr txBox="1"/>
          <p:nvPr/>
        </p:nvSpPr>
        <p:spPr>
          <a:xfrm>
            <a:off x="1077073" y="1141030"/>
            <a:ext cx="462060" cy="550792"/>
          </a:xfrm>
          <a:prstGeom prst="rect">
            <a:avLst/>
          </a:prstGeom>
        </p:spPr>
        <p:txBody>
          <a:bodyPr wrap="square" lIns="0" tIns="0" rIns="0" bIns="0" rtlCol="0" anchor="t">
            <a:spAutoFit/>
          </a:bodyPr>
          <a:lstStyle/>
          <a:p>
            <a:pPr>
              <a:lnSpc>
                <a:spcPts val="4608"/>
              </a:lnSpc>
            </a:pPr>
            <a:r>
              <a:rPr lang="en-US" sz="2800" b="1" noProof="0">
                <a:solidFill>
                  <a:schemeClr val="bg2">
                    <a:lumMod val="75000"/>
                  </a:schemeClr>
                </a:solidFill>
                <a:latin typeface="+mj-lt"/>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C89071FC-76A2-FCE8-8F63-48B4F1167A01}"/>
              </a:ext>
            </a:extLst>
          </p:cNvPr>
          <p:cNvSpPr txBox="1"/>
          <p:nvPr/>
        </p:nvSpPr>
        <p:spPr>
          <a:xfrm>
            <a:off x="1063128" y="2827839"/>
            <a:ext cx="537158"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03</a:t>
            </a:r>
          </a:p>
        </p:txBody>
      </p:sp>
      <p:grpSp>
        <p:nvGrpSpPr>
          <p:cNvPr id="23" name="Grupo 22">
            <a:extLst>
              <a:ext uri="{FF2B5EF4-FFF2-40B4-BE49-F238E27FC236}">
                <a16:creationId xmlns:a16="http://schemas.microsoft.com/office/drawing/2014/main" id="{C66155A0-5085-40C6-6EF8-EBABB7BC6B88}"/>
              </a:ext>
            </a:extLst>
          </p:cNvPr>
          <p:cNvGrpSpPr/>
          <p:nvPr/>
        </p:nvGrpSpPr>
        <p:grpSpPr>
          <a:xfrm>
            <a:off x="1854199" y="2802178"/>
            <a:ext cx="9571333" cy="842387"/>
            <a:chOff x="1816102" y="2594699"/>
            <a:chExt cx="9571333" cy="842387"/>
          </a:xfrm>
        </p:grpSpPr>
        <p:sp>
          <p:nvSpPr>
            <p:cNvPr id="15" name="TextBox 15">
              <a:extLst>
                <a:ext uri="{FF2B5EF4-FFF2-40B4-BE49-F238E27FC236}">
                  <a16:creationId xmlns:a16="http://schemas.microsoft.com/office/drawing/2014/main" id="{07B27823-9F41-0481-9532-E35B7347D7B7}"/>
                </a:ext>
              </a:extLst>
            </p:cNvPr>
            <p:cNvSpPr txBox="1"/>
            <p:nvPr/>
          </p:nvSpPr>
          <p:spPr>
            <a:xfrm>
              <a:off x="1816102" y="2594699"/>
              <a:ext cx="9571333"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1EABDCAE-D87E-08F8-8A24-F583702DCD12}"/>
                </a:ext>
              </a:extLst>
            </p:cNvPr>
            <p:cNvSpPr txBox="1"/>
            <p:nvPr/>
          </p:nvSpPr>
          <p:spPr>
            <a:xfrm>
              <a:off x="1816102" y="2983372"/>
              <a:ext cx="7868967" cy="453714"/>
            </a:xfrm>
            <a:prstGeom prst="rect">
              <a:avLst/>
            </a:prstGeom>
          </p:spPr>
          <p:txBody>
            <a:bodyPr wrap="square" lIns="0" tIns="0" rIns="0" bIns="0" rtlCol="0" anchor="t">
              <a:spAutoFit/>
            </a:bodyPr>
            <a:lstStyle/>
            <a:p>
              <a:pPr>
                <a:lnSpc>
                  <a:spcPts val="1820"/>
                </a:lnSpc>
              </a:pPr>
              <a:r>
                <a:rPr lang="en-US" sz="1400" noProof="0">
                  <a:solidFill>
                    <a:schemeClr val="bg2">
                      <a:lumMod val="75000"/>
                    </a:schemeClr>
                  </a:solidFill>
                  <a:latin typeface="+mj-lt"/>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8565C462-B4C9-87BD-56ED-B943499C14B3}"/>
              </a:ext>
            </a:extLst>
          </p:cNvPr>
          <p:cNvSpPr txBox="1"/>
          <p:nvPr/>
        </p:nvSpPr>
        <p:spPr>
          <a:xfrm>
            <a:off x="1063128" y="3699805"/>
            <a:ext cx="525169"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04</a:t>
            </a:r>
          </a:p>
        </p:txBody>
      </p:sp>
      <p:sp>
        <p:nvSpPr>
          <p:cNvPr id="20" name="TextBox 20">
            <a:extLst>
              <a:ext uri="{FF2B5EF4-FFF2-40B4-BE49-F238E27FC236}">
                <a16:creationId xmlns:a16="http://schemas.microsoft.com/office/drawing/2014/main" id="{B32A31FE-D0DB-30E7-B846-04AE0AD2E889}"/>
              </a:ext>
            </a:extLst>
          </p:cNvPr>
          <p:cNvSpPr txBox="1"/>
          <p:nvPr/>
        </p:nvSpPr>
        <p:spPr>
          <a:xfrm>
            <a:off x="1854197" y="4994789"/>
            <a:ext cx="7482132" cy="213776"/>
          </a:xfrm>
          <a:prstGeom prst="rect">
            <a:avLst/>
          </a:prstGeom>
        </p:spPr>
        <p:txBody>
          <a:bodyPr wrap="square" lIns="0" tIns="0" rIns="0" bIns="0" rtlCol="0" anchor="t">
            <a:spAutoFit/>
          </a:bodyPr>
          <a:lstStyle/>
          <a:p>
            <a:pPr>
              <a:lnSpc>
                <a:spcPts val="1820"/>
              </a:lnSpc>
            </a:pPr>
            <a:endParaRPr lang="en-US" sz="1200" noProof="0">
              <a:solidFill>
                <a:schemeClr val="bg2">
                  <a:lumMod val="75000"/>
                </a:schemeClr>
              </a:solidFill>
              <a:latin typeface="+mj-lt"/>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125D1C72-2EC9-1C23-79AC-3D943EBFD294}"/>
              </a:ext>
            </a:extLst>
          </p:cNvPr>
          <p:cNvSpPr txBox="1"/>
          <p:nvPr/>
        </p:nvSpPr>
        <p:spPr>
          <a:xfrm>
            <a:off x="1063128" y="4600799"/>
            <a:ext cx="487952"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05</a:t>
            </a:r>
          </a:p>
        </p:txBody>
      </p:sp>
      <p:grpSp>
        <p:nvGrpSpPr>
          <p:cNvPr id="26" name="Grupo 25">
            <a:extLst>
              <a:ext uri="{FF2B5EF4-FFF2-40B4-BE49-F238E27FC236}">
                <a16:creationId xmlns:a16="http://schemas.microsoft.com/office/drawing/2014/main" id="{BE8CBB2D-0322-DF32-E3F6-73049236F7A9}"/>
              </a:ext>
            </a:extLst>
          </p:cNvPr>
          <p:cNvGrpSpPr/>
          <p:nvPr/>
        </p:nvGrpSpPr>
        <p:grpSpPr>
          <a:xfrm>
            <a:off x="1847402" y="3676508"/>
            <a:ext cx="9571333" cy="611555"/>
            <a:chOff x="1809305" y="3510392"/>
            <a:chExt cx="9571333" cy="611555"/>
          </a:xfrm>
        </p:grpSpPr>
        <p:sp>
          <p:nvSpPr>
            <p:cNvPr id="13" name="TextBox 15">
              <a:extLst>
                <a:ext uri="{FF2B5EF4-FFF2-40B4-BE49-F238E27FC236}">
                  <a16:creationId xmlns:a16="http://schemas.microsoft.com/office/drawing/2014/main" id="{922F1A52-CB39-B5D1-0A13-8876F10829FB}"/>
                </a:ext>
              </a:extLst>
            </p:cNvPr>
            <p:cNvSpPr txBox="1"/>
            <p:nvPr/>
          </p:nvSpPr>
          <p:spPr>
            <a:xfrm>
              <a:off x="1809305" y="3510392"/>
              <a:ext cx="9571333" cy="421847"/>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E83931F5-C361-37EC-3D8E-A3CE03DE7DAA}"/>
                </a:ext>
              </a:extLst>
            </p:cNvPr>
            <p:cNvSpPr txBox="1"/>
            <p:nvPr/>
          </p:nvSpPr>
          <p:spPr>
            <a:xfrm>
              <a:off x="1809305" y="3899065"/>
              <a:ext cx="7868967" cy="222882"/>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noProof="0">
                  <a:solidFill>
                    <a:schemeClr val="bg2">
                      <a:lumMod val="75000"/>
                    </a:schemeClr>
                  </a:solidFill>
                </a:rPr>
                <a:t>Includes explanations for Roles and Responsibilities, Value stream Mapping and Governance Mapping</a:t>
              </a:r>
              <a:endParaRPr lang="en-US" noProof="0">
                <a:solidFill>
                  <a:schemeClr val="bg2">
                    <a:lumMod val="75000"/>
                  </a:schemeClr>
                </a:solidFill>
                <a:sym typeface="Gordita"/>
              </a:endParaRPr>
            </a:p>
          </p:txBody>
        </p:sp>
      </p:grpSp>
      <p:sp>
        <p:nvSpPr>
          <p:cNvPr id="12" name="TextBox 22">
            <a:extLst>
              <a:ext uri="{FF2B5EF4-FFF2-40B4-BE49-F238E27FC236}">
                <a16:creationId xmlns:a16="http://schemas.microsoft.com/office/drawing/2014/main" id="{83CFFC9B-F08B-0CF4-7E42-079934E253AF}"/>
              </a:ext>
            </a:extLst>
          </p:cNvPr>
          <p:cNvSpPr txBox="1"/>
          <p:nvPr/>
        </p:nvSpPr>
        <p:spPr>
          <a:xfrm>
            <a:off x="1063128" y="5501791"/>
            <a:ext cx="487952"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ym typeface="Gordita Bold"/>
              </a:rPr>
              <a:t>06</a:t>
            </a:r>
          </a:p>
        </p:txBody>
      </p:sp>
      <p:grpSp>
        <p:nvGrpSpPr>
          <p:cNvPr id="21" name="Grupo 20">
            <a:extLst>
              <a:ext uri="{FF2B5EF4-FFF2-40B4-BE49-F238E27FC236}">
                <a16:creationId xmlns:a16="http://schemas.microsoft.com/office/drawing/2014/main" id="{F5F93D15-0BA7-4079-046C-262DB68AB78D}"/>
              </a:ext>
            </a:extLst>
          </p:cNvPr>
          <p:cNvGrpSpPr/>
          <p:nvPr/>
        </p:nvGrpSpPr>
        <p:grpSpPr>
          <a:xfrm>
            <a:off x="1861346" y="1170058"/>
            <a:ext cx="9578128" cy="569016"/>
            <a:chOff x="1809304" y="1852249"/>
            <a:chExt cx="9578128" cy="569016"/>
          </a:xfrm>
        </p:grpSpPr>
        <p:sp>
          <p:nvSpPr>
            <p:cNvPr id="11" name="TextBox 11">
              <a:extLst>
                <a:ext uri="{FF2B5EF4-FFF2-40B4-BE49-F238E27FC236}">
                  <a16:creationId xmlns:a16="http://schemas.microsoft.com/office/drawing/2014/main" id="{AE18520B-A08C-416F-6D04-C9E3D820FCDF}"/>
                </a:ext>
              </a:extLst>
            </p:cNvPr>
            <p:cNvSpPr txBox="1"/>
            <p:nvPr/>
          </p:nvSpPr>
          <p:spPr>
            <a:xfrm>
              <a:off x="1816100" y="1852249"/>
              <a:ext cx="9571332"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rPr>
                <a:t>Context</a:t>
              </a:r>
              <a:endParaRPr lang="en-US" sz="2400" noProof="0">
                <a:solidFill>
                  <a:schemeClr val="bg2">
                    <a:lumMod val="75000"/>
                  </a:schemeClr>
                </a:solidFill>
                <a:latin typeface="+mj-lt"/>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E0C4E18E-FF1A-0E6C-A6DB-8271ABA114C1}"/>
                </a:ext>
              </a:extLst>
            </p:cNvPr>
            <p:cNvSpPr txBox="1"/>
            <p:nvPr/>
          </p:nvSpPr>
          <p:spPr>
            <a:xfrm>
              <a:off x="1809304" y="2198383"/>
              <a:ext cx="7868967" cy="222882"/>
            </a:xfrm>
            <a:prstGeom prst="rect">
              <a:avLst/>
            </a:prstGeom>
          </p:spPr>
          <p:txBody>
            <a:bodyPr wrap="square" lIns="0" tIns="0" rIns="0" bIns="0" rtlCol="0" anchor="t">
              <a:spAutoFit/>
            </a:bodyPr>
            <a:lstStyle/>
            <a:p>
              <a:pPr>
                <a:lnSpc>
                  <a:spcPts val="1820"/>
                </a:lnSpc>
              </a:pPr>
              <a:r>
                <a:rPr lang="en-US" sz="1400" noProof="0">
                  <a:solidFill>
                    <a:schemeClr val="bg2">
                      <a:lumMod val="75000"/>
                    </a:schemeClr>
                  </a:solidFill>
                  <a:latin typeface="+mj-lt"/>
                </a:rPr>
                <a:t>Document summary</a:t>
              </a:r>
              <a:endParaRPr lang="en-US" sz="1400" noProof="0">
                <a:solidFill>
                  <a:schemeClr val="bg2">
                    <a:lumMod val="75000"/>
                  </a:schemeClr>
                </a:solidFill>
                <a:latin typeface="+mj-lt"/>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461CCEA-304C-4B6B-1288-5E05DB01AAEE}"/>
              </a:ext>
            </a:extLst>
          </p:cNvPr>
          <p:cNvGrpSpPr/>
          <p:nvPr/>
        </p:nvGrpSpPr>
        <p:grpSpPr>
          <a:xfrm>
            <a:off x="1847401" y="4582202"/>
            <a:ext cx="9571332" cy="617477"/>
            <a:chOff x="1809305" y="5419675"/>
            <a:chExt cx="9571332" cy="617477"/>
          </a:xfrm>
        </p:grpSpPr>
        <p:sp>
          <p:nvSpPr>
            <p:cNvPr id="9" name="TextBox 19">
              <a:extLst>
                <a:ext uri="{FF2B5EF4-FFF2-40B4-BE49-F238E27FC236}">
                  <a16:creationId xmlns:a16="http://schemas.microsoft.com/office/drawing/2014/main" id="{E786C9C1-06BB-CE8C-5DD1-B42BF5FE11F5}"/>
                </a:ext>
              </a:extLst>
            </p:cNvPr>
            <p:cNvSpPr txBox="1"/>
            <p:nvPr/>
          </p:nvSpPr>
          <p:spPr>
            <a:xfrm>
              <a:off x="1809305" y="5419675"/>
              <a:ext cx="9571332"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C2AEC33-038E-8A58-044F-CE335C146C1A}"/>
                </a:ext>
              </a:extLst>
            </p:cNvPr>
            <p:cNvSpPr txBox="1"/>
            <p:nvPr/>
          </p:nvSpPr>
          <p:spPr>
            <a:xfrm>
              <a:off x="1809305" y="5814270"/>
              <a:ext cx="7868967" cy="222882"/>
            </a:xfrm>
            <a:prstGeom prst="rect">
              <a:avLst/>
            </a:prstGeom>
          </p:spPr>
          <p:txBody>
            <a:bodyPr wrap="square" lIns="0" tIns="0" rIns="0" bIns="0" rtlCol="0" anchor="t">
              <a:spAutoFit/>
            </a:bodyPr>
            <a:lstStyle/>
            <a:p>
              <a:pPr>
                <a:lnSpc>
                  <a:spcPts val="1820"/>
                </a:lnSpc>
              </a:pPr>
              <a:r>
                <a:rPr lang="en-US" sz="1400" noProof="0">
                  <a:solidFill>
                    <a:schemeClr val="bg2">
                      <a:lumMod val="75000"/>
                    </a:schemeClr>
                  </a:solidFill>
                  <a:ea typeface="Gordita"/>
                  <a:cs typeface="Arial" panose="020B0604020202020204" pitchFamily="34" charset="0"/>
                  <a:sym typeface="Gordita"/>
                </a:rPr>
                <a:t>An overview of the client’s tool portfolio, highlighting capabilities, coverage, and strategic alignment</a:t>
              </a:r>
            </a:p>
          </p:txBody>
        </p:sp>
      </p:grpSp>
      <p:grpSp>
        <p:nvGrpSpPr>
          <p:cNvPr id="33" name="Grupo 30">
            <a:extLst>
              <a:ext uri="{FF2B5EF4-FFF2-40B4-BE49-F238E27FC236}">
                <a16:creationId xmlns:a16="http://schemas.microsoft.com/office/drawing/2014/main" id="{48961F7E-6756-E395-B85A-7E3919D4DA87}"/>
              </a:ext>
            </a:extLst>
          </p:cNvPr>
          <p:cNvGrpSpPr/>
          <p:nvPr/>
        </p:nvGrpSpPr>
        <p:grpSpPr>
          <a:xfrm>
            <a:off x="1847401" y="5519041"/>
            <a:ext cx="9571332" cy="846322"/>
            <a:chOff x="1809305" y="5419675"/>
            <a:chExt cx="9571332" cy="846322"/>
          </a:xfrm>
        </p:grpSpPr>
        <p:sp>
          <p:nvSpPr>
            <p:cNvPr id="34" name="TextBox 19">
              <a:extLst>
                <a:ext uri="{FF2B5EF4-FFF2-40B4-BE49-F238E27FC236}">
                  <a16:creationId xmlns:a16="http://schemas.microsoft.com/office/drawing/2014/main" id="{0C631A78-C8C6-BB76-82C7-FBD11C4E5913}"/>
                </a:ext>
              </a:extLst>
            </p:cNvPr>
            <p:cNvSpPr txBox="1"/>
            <p:nvPr/>
          </p:nvSpPr>
          <p:spPr>
            <a:xfrm>
              <a:off x="1809305" y="5419675"/>
              <a:ext cx="9571332" cy="417871"/>
            </a:xfrm>
            <a:prstGeom prst="rect">
              <a:avLst/>
            </a:prstGeom>
          </p:spPr>
          <p:txBody>
            <a:bodyPr wrap="square" lIns="0" tIns="0" rIns="0" bIns="0" rtlCol="0" anchor="t">
              <a:spAutoFit/>
            </a:bodyPr>
            <a:lstStyle/>
            <a:p>
              <a:pPr>
                <a:lnSpc>
                  <a:spcPts val="3456"/>
                </a:lnSpc>
              </a:pPr>
              <a:r>
                <a:rPr lang="en-US" sz="2400" noProof="0">
                  <a:solidFill>
                    <a:srgbClr val="000000"/>
                  </a:solidFill>
                  <a:latin typeface="+mj-lt"/>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52BA16C3-B931-0A1F-4F71-E21CD0222A42}"/>
                </a:ext>
              </a:extLst>
            </p:cNvPr>
            <p:cNvSpPr txBox="1"/>
            <p:nvPr/>
          </p:nvSpPr>
          <p:spPr>
            <a:xfrm>
              <a:off x="1809305" y="5814270"/>
              <a:ext cx="7868967" cy="451727"/>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noProof="0"/>
                <a:t>A synthesis of key insights and foundational definitions shaping the design of the target operating model​</a:t>
              </a:r>
              <a:endParaRPr lang="en-US" noProof="0">
                <a:sym typeface="Gordita"/>
              </a:endParaRPr>
            </a:p>
          </p:txBody>
        </p:sp>
      </p:grpSp>
      <p:sp>
        <p:nvSpPr>
          <p:cNvPr id="2" name="TextBox 14">
            <a:extLst>
              <a:ext uri="{FF2B5EF4-FFF2-40B4-BE49-F238E27FC236}">
                <a16:creationId xmlns:a16="http://schemas.microsoft.com/office/drawing/2014/main" id="{65A2BD9B-BC32-A511-B2B1-90A799F04B07}"/>
              </a:ext>
            </a:extLst>
          </p:cNvPr>
          <p:cNvSpPr txBox="1"/>
          <p:nvPr/>
        </p:nvSpPr>
        <p:spPr>
          <a:xfrm>
            <a:off x="1070275" y="2006772"/>
            <a:ext cx="537158" cy="550792"/>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noProof="0">
                <a:solidFill>
                  <a:schemeClr val="bg2">
                    <a:lumMod val="75000"/>
                  </a:schemeClr>
                </a:solidFill>
                <a:sym typeface="Gordita Bold"/>
              </a:rPr>
              <a:t>02</a:t>
            </a:r>
          </a:p>
        </p:txBody>
      </p:sp>
      <p:grpSp>
        <p:nvGrpSpPr>
          <p:cNvPr id="3" name="Grupo 2">
            <a:extLst>
              <a:ext uri="{FF2B5EF4-FFF2-40B4-BE49-F238E27FC236}">
                <a16:creationId xmlns:a16="http://schemas.microsoft.com/office/drawing/2014/main" id="{1BBACB0A-3783-A7A5-BCB5-3D0F19BFE689}"/>
              </a:ext>
            </a:extLst>
          </p:cNvPr>
          <p:cNvGrpSpPr/>
          <p:nvPr/>
        </p:nvGrpSpPr>
        <p:grpSpPr>
          <a:xfrm>
            <a:off x="1861346" y="1981111"/>
            <a:ext cx="9571333" cy="611555"/>
            <a:chOff x="1816102" y="2594699"/>
            <a:chExt cx="9571333" cy="611555"/>
          </a:xfrm>
        </p:grpSpPr>
        <p:sp>
          <p:nvSpPr>
            <p:cNvPr id="5" name="TextBox 15">
              <a:extLst>
                <a:ext uri="{FF2B5EF4-FFF2-40B4-BE49-F238E27FC236}">
                  <a16:creationId xmlns:a16="http://schemas.microsoft.com/office/drawing/2014/main" id="{FAE2CEAA-2B46-8650-15D2-ED0D8D9A7D6E}"/>
                </a:ext>
              </a:extLst>
            </p:cNvPr>
            <p:cNvSpPr txBox="1"/>
            <p:nvPr/>
          </p:nvSpPr>
          <p:spPr>
            <a:xfrm>
              <a:off x="1816102" y="2594699"/>
              <a:ext cx="9571333" cy="417871"/>
            </a:xfrm>
            <a:prstGeom prst="rect">
              <a:avLst/>
            </a:prstGeom>
          </p:spPr>
          <p:txBody>
            <a:bodyPr wrap="square" lIns="0" tIns="0" rIns="0" bIns="0" rtlCol="0" anchor="t">
              <a:spAutoFit/>
            </a:bodyPr>
            <a:lstStyle/>
            <a:p>
              <a:pPr>
                <a:lnSpc>
                  <a:spcPts val="3456"/>
                </a:lnSpc>
              </a:pPr>
              <a:r>
                <a:rPr lang="en-US" sz="2400" noProof="0">
                  <a:solidFill>
                    <a:schemeClr val="bg2">
                      <a:lumMod val="75000"/>
                    </a:schemeClr>
                  </a:solidFill>
                  <a:latin typeface="+mj-lt"/>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D0FD31B-7A18-85A9-87CF-12E1317B4DDF}"/>
                </a:ext>
              </a:extLst>
            </p:cNvPr>
            <p:cNvSpPr txBox="1"/>
            <p:nvPr/>
          </p:nvSpPr>
          <p:spPr>
            <a:xfrm>
              <a:off x="1816102" y="2983372"/>
              <a:ext cx="7868967" cy="222882"/>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noProof="0">
                  <a:solidFill>
                    <a:schemeClr val="bg2">
                      <a:lumMod val="75000"/>
                    </a:schemeClr>
                  </a:solidFill>
                </a:rPr>
                <a:t>Why we are here. Executive findings &amp; implications. Methodology (Wave 1 Step 1 sources).</a:t>
              </a:r>
              <a:endParaRPr lang="en-US" noProof="0">
                <a:solidFill>
                  <a:schemeClr val="bg2">
                    <a:lumMod val="75000"/>
                  </a:schemeClr>
                </a:solidFill>
                <a:sym typeface="Gordita"/>
              </a:endParaRPr>
            </a:p>
          </p:txBody>
        </p:sp>
      </p:grpSp>
      <p:sp>
        <p:nvSpPr>
          <p:cNvPr id="19" name="TextBox 10">
            <a:extLst>
              <a:ext uri="{FF2B5EF4-FFF2-40B4-BE49-F238E27FC236}">
                <a16:creationId xmlns:a16="http://schemas.microsoft.com/office/drawing/2014/main" id="{7DF13CEE-E1C7-634F-0B5D-9B9C5A4305B4}"/>
              </a:ext>
            </a:extLst>
          </p:cNvPr>
          <p:cNvSpPr txBox="1"/>
          <p:nvPr/>
        </p:nvSpPr>
        <p:spPr>
          <a:xfrm>
            <a:off x="1063127" y="277976"/>
            <a:ext cx="3495835" cy="570284"/>
          </a:xfrm>
          <a:prstGeom prst="rect">
            <a:avLst/>
          </a:prstGeom>
        </p:spPr>
        <p:txBody>
          <a:bodyPr wrap="square" lIns="0" tIns="0" rIns="0" bIns="0" rtlCol="0" anchor="t">
            <a:spAutoFit/>
          </a:bodyPr>
          <a:lstStyle/>
          <a:p>
            <a:pPr>
              <a:lnSpc>
                <a:spcPts val="4608"/>
              </a:lnSpc>
            </a:pPr>
            <a:r>
              <a:rPr lang="en-US" sz="3200" b="1" noProof="0">
                <a:solidFill>
                  <a:schemeClr val="accent1"/>
                </a:solidFill>
                <a:latin typeface="+mj-lt"/>
                <a:ea typeface="Gordita Bold"/>
                <a:cs typeface="Arial" panose="020B0604020202020204" pitchFamily="34" charset="0"/>
                <a:sym typeface="Gordita Bold"/>
              </a:rPr>
              <a:t>Table of contents</a:t>
            </a:r>
          </a:p>
        </p:txBody>
      </p:sp>
      <p:sp>
        <p:nvSpPr>
          <p:cNvPr id="8" name="Rectangle 28">
            <a:extLst>
              <a:ext uri="{FF2B5EF4-FFF2-40B4-BE49-F238E27FC236}">
                <a16:creationId xmlns:a16="http://schemas.microsoft.com/office/drawing/2014/main" id="{8A6AEBEC-3DD0-A146-A9AC-F1DE446F31D8}"/>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40">
            <a:extLst>
              <a:ext uri="{FF2B5EF4-FFF2-40B4-BE49-F238E27FC236}">
                <a16:creationId xmlns:a16="http://schemas.microsoft.com/office/drawing/2014/main" id="{88AB6D4C-FF8B-9A20-0C57-61B27B56DD6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8" name="Rectangle 52">
            <a:extLst>
              <a:ext uri="{FF2B5EF4-FFF2-40B4-BE49-F238E27FC236}">
                <a16:creationId xmlns:a16="http://schemas.microsoft.com/office/drawing/2014/main" id="{CD230A28-1297-34A6-B7DA-C3FFA0A46176}"/>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Rectangle 64">
            <a:extLst>
              <a:ext uri="{FF2B5EF4-FFF2-40B4-BE49-F238E27FC236}">
                <a16:creationId xmlns:a16="http://schemas.microsoft.com/office/drawing/2014/main" id="{CA1FEF77-A719-5D4A-E95D-0A3F8B94CF2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2" name="Rectangle 64">
            <a:extLst>
              <a:ext uri="{FF2B5EF4-FFF2-40B4-BE49-F238E27FC236}">
                <a16:creationId xmlns:a16="http://schemas.microsoft.com/office/drawing/2014/main" id="{569BAED2-B9C0-AF41-06C0-C41E5E9814C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Rectangle 64">
            <a:extLst>
              <a:ext uri="{FF2B5EF4-FFF2-40B4-BE49-F238E27FC236}">
                <a16:creationId xmlns:a16="http://schemas.microsoft.com/office/drawing/2014/main" id="{B4F6D665-A083-2A91-DFBF-5BAFE97545E6}"/>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Rectangle 64">
            <a:extLst>
              <a:ext uri="{FF2B5EF4-FFF2-40B4-BE49-F238E27FC236}">
                <a16:creationId xmlns:a16="http://schemas.microsoft.com/office/drawing/2014/main" id="{D72FAA20-3C8B-C92B-DD82-0EA72ECD649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754885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46506" y="367830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 name="Rectangle 2"/>
          <p:cNvSpPr/>
          <p:nvPr/>
        </p:nvSpPr>
        <p:spPr>
          <a:xfrm>
            <a:off x="457200" y="1143000"/>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3"/>
          <p:cNvSpPr/>
          <p:nvPr/>
        </p:nvSpPr>
        <p:spPr>
          <a:xfrm>
            <a:off x="246506" y="130086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246506" y="130086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TextBox 5"/>
          <p:cNvSpPr txBox="1"/>
          <p:nvPr/>
        </p:nvSpPr>
        <p:spPr>
          <a:xfrm>
            <a:off x="475106" y="143802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PEOPLE</a:t>
            </a:r>
          </a:p>
        </p:txBody>
      </p:sp>
      <p:sp>
        <p:nvSpPr>
          <p:cNvPr id="7" name="TextBox 6"/>
          <p:cNvSpPr txBox="1"/>
          <p:nvPr/>
        </p:nvSpPr>
        <p:spPr>
          <a:xfrm>
            <a:off x="475106" y="180378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Turnover — "1 year to hire someone" (Global SAP)</a:t>
            </a:r>
          </a:p>
          <a:p>
            <a:pPr algn="l">
              <a:lnSpc>
                <a:spcPct val="110000"/>
              </a:lnSpc>
              <a:spcBef>
                <a:spcPts val="0"/>
              </a:spcBef>
              <a:spcAft>
                <a:spcPts val="0"/>
              </a:spcAft>
            </a:pPr>
            <a:r>
              <a:rPr lang="en-US" sz="1000" b="0" i="0" noProof="0">
                <a:solidFill>
                  <a:srgbClr val="2C3E50"/>
                </a:solidFill>
                <a:latin typeface="Helvetica Neue"/>
              </a:rPr>
              <a:t>▪  Unclear ownership — "3 people can run payment jobs" (Kumar/Stephanie)</a:t>
            </a:r>
          </a:p>
          <a:p>
            <a:pPr algn="l">
              <a:lnSpc>
                <a:spcPct val="110000"/>
              </a:lnSpc>
              <a:spcBef>
                <a:spcPts val="0"/>
              </a:spcBef>
              <a:spcAft>
                <a:spcPts val="0"/>
              </a:spcAft>
            </a:pPr>
            <a:r>
              <a:rPr lang="en-US" sz="1000" b="0" i="0" noProof="0">
                <a:solidFill>
                  <a:srgbClr val="2C3E50"/>
                </a:solidFill>
                <a:latin typeface="Helvetica Neue"/>
              </a:rPr>
              <a:t>▪  Capacity competition across 7 business OPCOs (IT CS)</a:t>
            </a:r>
          </a:p>
          <a:p>
            <a:pPr algn="l">
              <a:lnSpc>
                <a:spcPct val="110000"/>
              </a:lnSpc>
              <a:spcBef>
                <a:spcPts val="0"/>
              </a:spcBef>
              <a:spcAft>
                <a:spcPts val="0"/>
              </a:spcAft>
            </a:pPr>
            <a:r>
              <a:rPr lang="en-US" sz="1000" b="0" i="0" noProof="0">
                <a:solidFill>
                  <a:srgbClr val="2C3E50"/>
                </a:solidFill>
                <a:latin typeface="Helvetica Neue"/>
              </a:rPr>
              <a:t>▪  Heavy SWF + Accenture + Vendor dependency in delivery</a:t>
            </a:r>
          </a:p>
          <a:p>
            <a:pPr algn="l">
              <a:lnSpc>
                <a:spcPct val="110000"/>
              </a:lnSpc>
              <a:spcBef>
                <a:spcPts val="0"/>
              </a:spcBef>
              <a:spcAft>
                <a:spcPts val="0"/>
              </a:spcAft>
            </a:pPr>
            <a:r>
              <a:rPr lang="en-US" sz="1000" b="0" i="0" noProof="0">
                <a:solidFill>
                  <a:srgbClr val="2C3E50"/>
                </a:solidFill>
                <a:latin typeface="Helvetica Neue"/>
              </a:rPr>
              <a:t>▪  2 vacant Sr. Manager positions in Kumar's branch</a:t>
            </a:r>
          </a:p>
        </p:txBody>
      </p:sp>
      <p:sp>
        <p:nvSpPr>
          <p:cNvPr id="9" name="Rectangle 8"/>
          <p:cNvSpPr/>
          <p:nvPr/>
        </p:nvSpPr>
        <p:spPr>
          <a:xfrm>
            <a:off x="5943218" y="130086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p:cNvSpPr/>
          <p:nvPr/>
        </p:nvSpPr>
        <p:spPr>
          <a:xfrm>
            <a:off x="5943218" y="130086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6171818" y="143802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PROCESS</a:t>
            </a:r>
          </a:p>
        </p:txBody>
      </p:sp>
      <p:sp>
        <p:nvSpPr>
          <p:cNvPr id="12" name="TextBox 11"/>
          <p:cNvSpPr txBox="1"/>
          <p:nvPr/>
        </p:nvSpPr>
        <p:spPr>
          <a:xfrm>
            <a:off x="6171818" y="180378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Demand intake not standardized across 6+ channels (Carlos)</a:t>
            </a:r>
          </a:p>
          <a:p>
            <a:pPr algn="l">
              <a:lnSpc>
                <a:spcPct val="110000"/>
              </a:lnSpc>
              <a:spcBef>
                <a:spcPts val="0"/>
              </a:spcBef>
              <a:spcAft>
                <a:spcPts val="0"/>
              </a:spcAft>
            </a:pPr>
            <a:r>
              <a:rPr lang="en-US" sz="1000" b="0" i="0" noProof="0">
                <a:solidFill>
                  <a:srgbClr val="2C3E50"/>
                </a:solidFill>
                <a:latin typeface="Helvetica Neue"/>
              </a:rPr>
              <a:t>▪  Prioritization is ad-hoc; 4 informal criteria per forum</a:t>
            </a:r>
          </a:p>
          <a:p>
            <a:pPr algn="l">
              <a:lnSpc>
                <a:spcPct val="110000"/>
              </a:lnSpc>
              <a:spcBef>
                <a:spcPts val="0"/>
              </a:spcBef>
              <a:spcAft>
                <a:spcPts val="0"/>
              </a:spcAft>
            </a:pPr>
            <a:r>
              <a:rPr lang="en-US" sz="1000" b="0" i="0" noProof="0">
                <a:solidFill>
                  <a:srgbClr val="2C3E50"/>
                </a:solidFill>
                <a:latin typeface="Helvetica Neue"/>
              </a:rPr>
              <a:t>▪  PDD is the only formal process — only for large projects</a:t>
            </a:r>
          </a:p>
          <a:p>
            <a:pPr algn="l">
              <a:lnSpc>
                <a:spcPct val="110000"/>
              </a:lnSpc>
              <a:spcBef>
                <a:spcPts val="0"/>
              </a:spcBef>
              <a:spcAft>
                <a:spcPts val="0"/>
              </a:spcAft>
            </a:pPr>
            <a:r>
              <a:rPr lang="en-US" sz="1000" b="0" i="0" noProof="0">
                <a:solidFill>
                  <a:srgbClr val="2C3E50"/>
                </a:solidFill>
                <a:latin typeface="Helvetica Neue"/>
              </a:rPr>
              <a:t>▪  Vendor sets estimates, timelines, scope (especially Metering)</a:t>
            </a:r>
          </a:p>
          <a:p>
            <a:pPr algn="l">
              <a:lnSpc>
                <a:spcPct val="110000"/>
              </a:lnSpc>
              <a:spcBef>
                <a:spcPts val="0"/>
              </a:spcBef>
              <a:spcAft>
                <a:spcPts val="0"/>
              </a:spcAft>
            </a:pPr>
            <a:r>
              <a:rPr lang="en-US" sz="1000" b="0" i="0" noProof="0">
                <a:solidFill>
                  <a:srgbClr val="2C3E50"/>
                </a:solidFill>
                <a:latin typeface="Helvetica Neue"/>
              </a:rPr>
              <a:t>▪  PMs and Tech Leads "need to work in the same way" (Carlos)</a:t>
            </a:r>
          </a:p>
        </p:txBody>
      </p:sp>
      <p:sp>
        <p:nvSpPr>
          <p:cNvPr id="15" name="Rectangle 14"/>
          <p:cNvSpPr/>
          <p:nvPr/>
        </p:nvSpPr>
        <p:spPr>
          <a:xfrm>
            <a:off x="246506" y="367830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16" name="TextBox 15"/>
          <p:cNvSpPr txBox="1"/>
          <p:nvPr/>
        </p:nvSpPr>
        <p:spPr>
          <a:xfrm>
            <a:off x="475106" y="381546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TOOLS</a:t>
            </a:r>
          </a:p>
        </p:txBody>
      </p:sp>
      <p:sp>
        <p:nvSpPr>
          <p:cNvPr id="17" name="TextBox 16"/>
          <p:cNvSpPr txBox="1"/>
          <p:nvPr/>
        </p:nvSpPr>
        <p:spPr>
          <a:xfrm>
            <a:off x="475106" y="4181228"/>
            <a:ext cx="5120640" cy="833241"/>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6+ disconnected intake channels (Jira, IT Now, RITM, SharePoint, Email, Word)</a:t>
            </a:r>
          </a:p>
          <a:p>
            <a:pPr algn="l">
              <a:lnSpc>
                <a:spcPct val="110000"/>
              </a:lnSpc>
              <a:spcBef>
                <a:spcPts val="0"/>
              </a:spcBef>
              <a:spcAft>
                <a:spcPts val="0"/>
              </a:spcAft>
            </a:pPr>
            <a:r>
              <a:rPr lang="en-US" sz="1000" b="0" i="0" noProof="0">
                <a:solidFill>
                  <a:srgbClr val="2C3E50"/>
                </a:solidFill>
                <a:latin typeface="Helvetica Neue"/>
              </a:rPr>
              <a:t>▪  No portfolio management tool in 5 of 6 units (only Metering uses PPM Now)</a:t>
            </a:r>
          </a:p>
          <a:p>
            <a:pPr algn="l">
              <a:lnSpc>
                <a:spcPct val="110000"/>
              </a:lnSpc>
              <a:spcBef>
                <a:spcPts val="0"/>
              </a:spcBef>
              <a:spcAft>
                <a:spcPts val="0"/>
              </a:spcAft>
            </a:pPr>
            <a:r>
              <a:rPr lang="en-US" sz="1000" b="0" i="0" noProof="0">
                <a:solidFill>
                  <a:srgbClr val="2C3E50"/>
                </a:solidFill>
                <a:latin typeface="Helvetica Neue"/>
              </a:rPr>
              <a:t>▪  No tool / process to manage vendor delivery</a:t>
            </a:r>
          </a:p>
          <a:p>
            <a:pPr algn="l">
              <a:lnSpc>
                <a:spcPct val="110000"/>
              </a:lnSpc>
              <a:spcBef>
                <a:spcPts val="0"/>
              </a:spcBef>
              <a:spcAft>
                <a:spcPts val="0"/>
              </a:spcAft>
            </a:pPr>
            <a:r>
              <a:rPr lang="en-US" sz="1000" b="0" i="0" noProof="0">
                <a:solidFill>
                  <a:srgbClr val="2C3E50"/>
                </a:solidFill>
                <a:latin typeface="Helvetica Neue"/>
              </a:rPr>
              <a:t>▪  Jira fragmentation across instances</a:t>
            </a:r>
          </a:p>
          <a:p>
            <a:pPr algn="l">
              <a:lnSpc>
                <a:spcPct val="110000"/>
              </a:lnSpc>
              <a:spcBef>
                <a:spcPts val="0"/>
              </a:spcBef>
              <a:spcAft>
                <a:spcPts val="0"/>
              </a:spcAft>
            </a:pPr>
            <a:r>
              <a:rPr lang="en-US" sz="1000" b="0" i="0" noProof="0">
                <a:solidFill>
                  <a:srgbClr val="2C3E50"/>
                </a:solidFill>
                <a:latin typeface="Helvetica Neue"/>
              </a:rPr>
              <a:t>▪  Informal PM stack (OneNote, Teams, Spreadsheets) for GIS</a:t>
            </a:r>
          </a:p>
        </p:txBody>
      </p:sp>
      <p:sp>
        <p:nvSpPr>
          <p:cNvPr id="19" name="Rectangle 18"/>
          <p:cNvSpPr/>
          <p:nvPr/>
        </p:nvSpPr>
        <p:spPr>
          <a:xfrm>
            <a:off x="5943218" y="3678308"/>
            <a:ext cx="5577840" cy="187909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p:cNvSpPr/>
          <p:nvPr/>
        </p:nvSpPr>
        <p:spPr>
          <a:xfrm>
            <a:off x="5943218" y="3678308"/>
            <a:ext cx="5577840"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3B7D23"/>
              </a:solidFill>
            </a:endParaRPr>
          </a:p>
        </p:txBody>
      </p:sp>
      <p:sp>
        <p:nvSpPr>
          <p:cNvPr id="21" name="TextBox 20"/>
          <p:cNvSpPr txBox="1"/>
          <p:nvPr/>
        </p:nvSpPr>
        <p:spPr>
          <a:xfrm>
            <a:off x="6171818" y="3815468"/>
            <a:ext cx="512064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GOVERNANCE</a:t>
            </a:r>
          </a:p>
        </p:txBody>
      </p:sp>
      <p:sp>
        <p:nvSpPr>
          <p:cNvPr id="22" name="TextBox 21"/>
          <p:cNvSpPr txBox="1"/>
          <p:nvPr/>
        </p:nvSpPr>
        <p:spPr>
          <a:xfrm>
            <a:off x="6171818" y="4181228"/>
            <a:ext cx="5120640" cy="1002519"/>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  5 forums exist — none covers portfolio-level decisions</a:t>
            </a:r>
          </a:p>
          <a:p>
            <a:pPr algn="l">
              <a:lnSpc>
                <a:spcPct val="110000"/>
              </a:lnSpc>
              <a:spcBef>
                <a:spcPts val="0"/>
              </a:spcBef>
              <a:spcAft>
                <a:spcPts val="0"/>
              </a:spcAft>
            </a:pPr>
            <a:r>
              <a:rPr lang="en-US" sz="1000" b="0" i="0" noProof="0">
                <a:solidFill>
                  <a:srgbClr val="2C3E50"/>
                </a:solidFill>
                <a:latin typeface="Helvetica Neue"/>
              </a:rPr>
              <a:t>▪  Manager Check-in participants + scope still TBC</a:t>
            </a:r>
          </a:p>
          <a:p>
            <a:pPr algn="l">
              <a:lnSpc>
                <a:spcPct val="110000"/>
              </a:lnSpc>
              <a:spcBef>
                <a:spcPts val="0"/>
              </a:spcBef>
              <a:spcAft>
                <a:spcPts val="0"/>
              </a:spcAft>
            </a:pPr>
            <a:r>
              <a:rPr lang="en-US" sz="1000" b="0" i="0" noProof="0">
                <a:solidFill>
                  <a:srgbClr val="2C3E50"/>
                </a:solidFill>
                <a:latin typeface="Helvetica Neue"/>
              </a:rPr>
              <a:t>▪  Regulatory demand overrides size in every forum (no formal rule)</a:t>
            </a:r>
          </a:p>
          <a:p>
            <a:pPr algn="l">
              <a:lnSpc>
                <a:spcPct val="110000"/>
              </a:lnSpc>
              <a:spcBef>
                <a:spcPts val="0"/>
              </a:spcBef>
              <a:spcAft>
                <a:spcPts val="0"/>
              </a:spcAft>
            </a:pPr>
            <a:r>
              <a:rPr lang="en-US" sz="1000" b="0" i="0" noProof="0">
                <a:solidFill>
                  <a:srgbClr val="2C3E50"/>
                </a:solidFill>
                <a:latin typeface="Helvetica Neue"/>
              </a:rPr>
              <a:t>▪  P&amp;T is the only cross-team intermediary for Business ↔ IT</a:t>
            </a:r>
          </a:p>
          <a:p>
            <a:pPr algn="l">
              <a:lnSpc>
                <a:spcPct val="110000"/>
              </a:lnSpc>
              <a:spcBef>
                <a:spcPts val="0"/>
              </a:spcBef>
              <a:spcAft>
                <a:spcPts val="0"/>
              </a:spcAft>
            </a:pPr>
            <a:r>
              <a:rPr lang="en-US" sz="1000" b="0" i="0" noProof="0">
                <a:solidFill>
                  <a:srgbClr val="2C3E50"/>
                </a:solidFill>
                <a:latin typeface="Helvetica Neue"/>
              </a:rPr>
              <a:t>▪  No enterprise-level reconciliation between Global SAP (Iberdrola) and the other SAP footprints</a:t>
            </a:r>
          </a:p>
        </p:txBody>
      </p:sp>
      <p:sp>
        <p:nvSpPr>
          <p:cNvPr id="24" name="Rectangle 23"/>
          <p:cNvSpPr/>
          <p:nvPr/>
        </p:nvSpPr>
        <p:spPr>
          <a:xfrm>
            <a:off x="246506" y="5682811"/>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p:cNvSpPr txBox="1"/>
          <p:nvPr/>
        </p:nvSpPr>
        <p:spPr>
          <a:xfrm>
            <a:off x="475106" y="5848382"/>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Each MECE category produces a distinct bottleneck — addressing only one dimension in the TOM will not resolve the system; all four must move together</a:t>
            </a:r>
          </a:p>
        </p:txBody>
      </p:sp>
      <p:sp>
        <p:nvSpPr>
          <p:cNvPr id="8" name="Título 2">
            <a:extLst>
              <a:ext uri="{FF2B5EF4-FFF2-40B4-BE49-F238E27FC236}">
                <a16:creationId xmlns:a16="http://schemas.microsoft.com/office/drawing/2014/main" id="{11E8563D-F645-4224-6D56-F921F0D90D32}"/>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PAIN POINTS</a:t>
            </a:r>
          </a:p>
        </p:txBody>
      </p:sp>
      <p:sp>
        <p:nvSpPr>
          <p:cNvPr id="23" name="TextBox 22">
            <a:extLst>
              <a:ext uri="{FF2B5EF4-FFF2-40B4-BE49-F238E27FC236}">
                <a16:creationId xmlns:a16="http://schemas.microsoft.com/office/drawing/2014/main" id="{C86BDC91-BCA9-8CDB-2164-02E7E03DF4FB}"/>
              </a:ext>
            </a:extLst>
          </p:cNvPr>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Pain points cluster MECE across People, Process, Tools and Governance — each category produces its own bottleneck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506" y="86337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Four Applications bottlenecks concentrate demand risk — covering intake, prioritization, portfolio and classification</a:t>
            </a:r>
          </a:p>
        </p:txBody>
      </p:sp>
      <p:sp>
        <p:nvSpPr>
          <p:cNvPr id="3" name="Rectangle 2"/>
          <p:cNvSpPr/>
          <p:nvPr/>
        </p:nvSpPr>
        <p:spPr>
          <a:xfrm>
            <a:off x="246507" y="1069296"/>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3"/>
          <p:cNvSpPr/>
          <p:nvPr/>
        </p:nvSpPr>
        <p:spPr>
          <a:xfrm>
            <a:off x="246507" y="1133304"/>
            <a:ext cx="1158544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246507" y="1184575"/>
            <a:ext cx="11274552" cy="171778"/>
          </a:xfrm>
          <a:prstGeom prst="rect">
            <a:avLst/>
          </a:prstGeom>
          <a:noFill/>
        </p:spPr>
        <p:txBody>
          <a:bodyPr wrap="square" lIns="0" tIns="0" rIns="0" bIns="0" anchor="ctr">
            <a:spAutoFit/>
          </a:bodyPr>
          <a:lstStyle/>
          <a:p>
            <a:pPr algn="ctr">
              <a:lnSpc>
                <a:spcPct val="110000"/>
              </a:lnSpc>
              <a:spcBef>
                <a:spcPts val="0"/>
              </a:spcBef>
              <a:spcAft>
                <a:spcPts val="0"/>
              </a:spcAft>
            </a:pPr>
            <a:r>
              <a:rPr lang="en-US" sz="1100" b="1" i="0" noProof="0">
                <a:solidFill>
                  <a:srgbClr val="FFFFFF"/>
                </a:solidFill>
                <a:latin typeface="Helvetica Neue"/>
              </a:rPr>
              <a:t>APPLICATIONS BRANCH  —  Carlos Garbin</a:t>
            </a:r>
          </a:p>
        </p:txBody>
      </p:sp>
      <p:sp>
        <p:nvSpPr>
          <p:cNvPr id="6" name="Rectangle 5"/>
          <p:cNvSpPr/>
          <p:nvPr/>
        </p:nvSpPr>
        <p:spPr>
          <a:xfrm>
            <a:off x="246507" y="148077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
          <p:cNvSpPr/>
          <p:nvPr/>
        </p:nvSpPr>
        <p:spPr>
          <a:xfrm>
            <a:off x="246507" y="1480776"/>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502539" y="159050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01</a:t>
            </a:r>
          </a:p>
        </p:txBody>
      </p:sp>
      <p:sp>
        <p:nvSpPr>
          <p:cNvPr id="9" name="TextBox 8"/>
          <p:cNvSpPr txBox="1"/>
          <p:nvPr/>
        </p:nvSpPr>
        <p:spPr>
          <a:xfrm>
            <a:off x="1389507" y="1645368"/>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Bruno </a:t>
            </a:r>
            <a:r>
              <a:rPr lang="en-US" sz="800" b="1" i="0" noProof="0" err="1">
                <a:solidFill>
                  <a:srgbClr val="95A5A6"/>
                </a:solidFill>
                <a:latin typeface="Helvetica Neue"/>
              </a:rPr>
              <a:t>Moreto's</a:t>
            </a:r>
            <a:r>
              <a:rPr lang="en-US" sz="800" b="1" i="0" noProof="0">
                <a:solidFill>
                  <a:srgbClr val="95A5A6"/>
                </a:solidFill>
                <a:latin typeface="Helvetica Neue"/>
              </a:rPr>
              <a:t> team  •  STAGE: Intake</a:t>
            </a:r>
          </a:p>
        </p:txBody>
      </p:sp>
      <p:sp>
        <p:nvSpPr>
          <p:cNvPr id="10" name="TextBox 9"/>
          <p:cNvSpPr txBox="1"/>
          <p:nvPr/>
        </p:nvSpPr>
        <p:spPr>
          <a:xfrm>
            <a:off x="1389507" y="1855680"/>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G&amp;E Email-Only Intake</a:t>
            </a:r>
          </a:p>
        </p:txBody>
      </p:sp>
      <p:sp>
        <p:nvSpPr>
          <p:cNvPr id="11" name="TextBox 10"/>
          <p:cNvSpPr txBox="1"/>
          <p:nvPr/>
        </p:nvSpPr>
        <p:spPr>
          <a:xfrm>
            <a:off x="502539" y="219400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Every request to Andrew arrives via email from business or vendor. No ticket, no queue, no SLA — each decision is individual and unreproducible.</a:t>
            </a:r>
          </a:p>
        </p:txBody>
      </p:sp>
      <p:sp>
        <p:nvSpPr>
          <p:cNvPr id="12" name="TextBox 11"/>
          <p:cNvSpPr txBox="1"/>
          <p:nvPr/>
        </p:nvSpPr>
        <p:spPr>
          <a:xfrm>
            <a:off x="502539" y="2779224"/>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13" name="TextBox 12"/>
          <p:cNvSpPr txBox="1"/>
          <p:nvPr/>
        </p:nvSpPr>
        <p:spPr>
          <a:xfrm>
            <a:off x="502539" y="2943816"/>
            <a:ext cx="523036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Unknown volume. No capacity forecast possible. Single-person dependency on Andrew.</a:t>
            </a:r>
          </a:p>
        </p:txBody>
      </p:sp>
      <p:sp>
        <p:nvSpPr>
          <p:cNvPr id="14" name="TextBox 13"/>
          <p:cNvSpPr txBox="1"/>
          <p:nvPr/>
        </p:nvSpPr>
        <p:spPr>
          <a:xfrm>
            <a:off x="502539" y="335529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"I receive requests/input from the business or from the vendor" — Andrew McGibbon</a:t>
            </a:r>
          </a:p>
        </p:txBody>
      </p:sp>
      <p:sp>
        <p:nvSpPr>
          <p:cNvPr id="15" name="Rectangle 14"/>
          <p:cNvSpPr/>
          <p:nvPr/>
        </p:nvSpPr>
        <p:spPr>
          <a:xfrm>
            <a:off x="6098666" y="148077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Rectangle 15"/>
          <p:cNvSpPr/>
          <p:nvPr/>
        </p:nvSpPr>
        <p:spPr>
          <a:xfrm>
            <a:off x="6098666" y="1480776"/>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p:cNvSpPr txBox="1"/>
          <p:nvPr/>
        </p:nvSpPr>
        <p:spPr>
          <a:xfrm>
            <a:off x="6354699" y="159050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02</a:t>
            </a:r>
          </a:p>
        </p:txBody>
      </p:sp>
      <p:sp>
        <p:nvSpPr>
          <p:cNvPr id="18" name="TextBox 17"/>
          <p:cNvSpPr txBox="1"/>
          <p:nvPr/>
        </p:nvSpPr>
        <p:spPr>
          <a:xfrm>
            <a:off x="7241666" y="1645368"/>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Vanessa Colombo's team  •  STAGE: Prioritization</a:t>
            </a:r>
          </a:p>
        </p:txBody>
      </p:sp>
      <p:sp>
        <p:nvSpPr>
          <p:cNvPr id="19" name="TextBox 18"/>
          <p:cNvSpPr txBox="1"/>
          <p:nvPr/>
        </p:nvSpPr>
        <p:spPr>
          <a:xfrm>
            <a:off x="7241666" y="1855680"/>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Global SAP Incident Flood</a:t>
            </a:r>
          </a:p>
        </p:txBody>
      </p:sp>
      <p:sp>
        <p:nvSpPr>
          <p:cNvPr id="20" name="TextBox 19"/>
          <p:cNvSpPr txBox="1"/>
          <p:nvPr/>
        </p:nvSpPr>
        <p:spPr>
          <a:xfrm>
            <a:off x="6354699" y="219400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Incidents outrank all other demand for Iberdrola SAP. Entire team can be consumed by incident work, blocking strategic projects.</a:t>
            </a:r>
          </a:p>
        </p:txBody>
      </p:sp>
      <p:sp>
        <p:nvSpPr>
          <p:cNvPr id="21" name="TextBox 20"/>
          <p:cNvSpPr txBox="1"/>
          <p:nvPr/>
        </p:nvSpPr>
        <p:spPr>
          <a:xfrm>
            <a:off x="6354699" y="2779224"/>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22" name="TextBox 21"/>
          <p:cNvSpPr txBox="1"/>
          <p:nvPr/>
        </p:nvSpPr>
        <p:spPr>
          <a:xfrm>
            <a:off x="6354699" y="2943816"/>
            <a:ext cx="523036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Capacity trapped in BAU. Major projects (PDD) slip. Knowledge transfer lost at each turnover event.</a:t>
            </a:r>
          </a:p>
        </p:txBody>
      </p:sp>
      <p:sp>
        <p:nvSpPr>
          <p:cNvPr id="23" name="TextBox 22"/>
          <p:cNvSpPr txBox="1"/>
          <p:nvPr/>
        </p:nvSpPr>
        <p:spPr>
          <a:xfrm>
            <a:off x="6354699" y="335529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"Sometimes entire team is focusing on incidents" — Michael Dubois</a:t>
            </a:r>
          </a:p>
        </p:txBody>
      </p:sp>
      <p:sp>
        <p:nvSpPr>
          <p:cNvPr id="24" name="Rectangle 23"/>
          <p:cNvSpPr/>
          <p:nvPr/>
        </p:nvSpPr>
        <p:spPr>
          <a:xfrm>
            <a:off x="246507" y="372105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24"/>
          <p:cNvSpPr/>
          <p:nvPr/>
        </p:nvSpPr>
        <p:spPr>
          <a:xfrm>
            <a:off x="246507" y="3721055"/>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502539" y="383078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03</a:t>
            </a:r>
          </a:p>
        </p:txBody>
      </p:sp>
      <p:sp>
        <p:nvSpPr>
          <p:cNvPr id="27" name="TextBox 26"/>
          <p:cNvSpPr txBox="1"/>
          <p:nvPr/>
        </p:nvSpPr>
        <p:spPr>
          <a:xfrm>
            <a:off x="1389507" y="3885647"/>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George Porto's team  •  STAGES: Intake + Portfolio</a:t>
            </a:r>
          </a:p>
        </p:txBody>
      </p:sp>
      <p:sp>
        <p:nvSpPr>
          <p:cNvPr id="28" name="TextBox 27"/>
          <p:cNvSpPr txBox="1"/>
          <p:nvPr/>
        </p:nvSpPr>
        <p:spPr>
          <a:xfrm>
            <a:off x="1389507" y="4095959"/>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GIS Informal PM Stack</a:t>
            </a:r>
          </a:p>
        </p:txBody>
      </p:sp>
      <p:sp>
        <p:nvSpPr>
          <p:cNvPr id="29" name="TextBox 28"/>
          <p:cNvSpPr txBox="1"/>
          <p:nvPr/>
        </p:nvSpPr>
        <p:spPr>
          <a:xfrm>
            <a:off x="502539" y="443428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Small demand routes through email, meetings and IT-Now. Project management relies on OneNote + Teams + spreadsheets — no formal portfolio tool below PDD.</a:t>
            </a:r>
          </a:p>
        </p:txBody>
      </p:sp>
      <p:sp>
        <p:nvSpPr>
          <p:cNvPr id="30" name="TextBox 29"/>
          <p:cNvSpPr txBox="1"/>
          <p:nvPr/>
        </p:nvSpPr>
        <p:spPr>
          <a:xfrm>
            <a:off x="502539" y="5019503"/>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31" name="TextBox 30"/>
          <p:cNvSpPr txBox="1"/>
          <p:nvPr/>
        </p:nvSpPr>
        <p:spPr>
          <a:xfrm>
            <a:off x="502539" y="5184096"/>
            <a:ext cx="523036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Small + break/fix demand (~60-70% of actual work) is untracked. Capacity consumed by unmeasured flow.</a:t>
            </a:r>
          </a:p>
        </p:txBody>
      </p:sp>
      <p:sp>
        <p:nvSpPr>
          <p:cNvPr id="32" name="TextBox 31"/>
          <p:cNvSpPr txBox="1"/>
          <p:nvPr/>
        </p:nvSpPr>
        <p:spPr>
          <a:xfrm>
            <a:off x="502539" y="559557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"My team uses Jira for misc. work... OneNote, Teams and Spreadsheets to manage" — George Porto</a:t>
            </a:r>
          </a:p>
        </p:txBody>
      </p:sp>
      <p:sp>
        <p:nvSpPr>
          <p:cNvPr id="33" name="Rectangle 32"/>
          <p:cNvSpPr/>
          <p:nvPr/>
        </p:nvSpPr>
        <p:spPr>
          <a:xfrm>
            <a:off x="6098666" y="372105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Rectangle 33"/>
          <p:cNvSpPr/>
          <p:nvPr/>
        </p:nvSpPr>
        <p:spPr>
          <a:xfrm>
            <a:off x="6098666" y="3721055"/>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Box 34"/>
          <p:cNvSpPr txBox="1"/>
          <p:nvPr/>
        </p:nvSpPr>
        <p:spPr>
          <a:xfrm>
            <a:off x="6354699" y="3830783"/>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04</a:t>
            </a:r>
          </a:p>
        </p:txBody>
      </p:sp>
      <p:sp>
        <p:nvSpPr>
          <p:cNvPr id="36" name="TextBox 35"/>
          <p:cNvSpPr txBox="1"/>
          <p:nvPr/>
        </p:nvSpPr>
        <p:spPr>
          <a:xfrm>
            <a:off x="7241666" y="3885647"/>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Sarath </a:t>
            </a:r>
            <a:r>
              <a:rPr lang="en-US" sz="800" b="1" i="0" noProof="0" err="1">
                <a:solidFill>
                  <a:srgbClr val="95A5A6"/>
                </a:solidFill>
                <a:latin typeface="Helvetica Neue"/>
              </a:rPr>
              <a:t>Garikapati's</a:t>
            </a:r>
            <a:r>
              <a:rPr lang="en-US" sz="800" b="1" i="0" noProof="0">
                <a:solidFill>
                  <a:srgbClr val="95A5A6"/>
                </a:solidFill>
                <a:latin typeface="Helvetica Neue"/>
              </a:rPr>
              <a:t> team  •  STAGE: Classification</a:t>
            </a:r>
          </a:p>
        </p:txBody>
      </p:sp>
      <p:sp>
        <p:nvSpPr>
          <p:cNvPr id="37" name="TextBox 36"/>
          <p:cNvSpPr txBox="1"/>
          <p:nvPr/>
        </p:nvSpPr>
        <p:spPr>
          <a:xfrm>
            <a:off x="7241666" y="4095959"/>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Corporate Project Overlap</a:t>
            </a:r>
          </a:p>
        </p:txBody>
      </p:sp>
      <p:sp>
        <p:nvSpPr>
          <p:cNvPr id="38" name="TextBox 37"/>
          <p:cNvSpPr txBox="1"/>
          <p:nvPr/>
        </p:nvSpPr>
        <p:spPr>
          <a:xfrm>
            <a:off x="6354699" y="4434288"/>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Word-document requirements + Jira + Confluence fragment the intake. PDD drives classification but doesn't deduplicate — overlapping projects chase similar outcomes.</a:t>
            </a:r>
          </a:p>
        </p:txBody>
      </p:sp>
      <p:sp>
        <p:nvSpPr>
          <p:cNvPr id="39" name="TextBox 38"/>
          <p:cNvSpPr txBox="1"/>
          <p:nvPr/>
        </p:nvSpPr>
        <p:spPr>
          <a:xfrm>
            <a:off x="6354699" y="5019503"/>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40" name="TextBox 39"/>
          <p:cNvSpPr txBox="1"/>
          <p:nvPr/>
        </p:nvSpPr>
        <p:spPr>
          <a:xfrm>
            <a:off x="6354699" y="5184096"/>
            <a:ext cx="523036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Rework, duplicated effort, and unreconciled regulatory pressure treated as chronic urgency.</a:t>
            </a:r>
          </a:p>
        </p:txBody>
      </p:sp>
      <p:sp>
        <p:nvSpPr>
          <p:cNvPr id="41" name="TextBox 40"/>
          <p:cNvSpPr txBox="1"/>
          <p:nvPr/>
        </p:nvSpPr>
        <p:spPr>
          <a:xfrm>
            <a:off x="6354699" y="559557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"PDD is the driver. Lots of overlapping projects" — Amit Patel</a:t>
            </a:r>
          </a:p>
        </p:txBody>
      </p:sp>
      <p:sp>
        <p:nvSpPr>
          <p:cNvPr id="42" name="Rectangle 41"/>
          <p:cNvSpPr/>
          <p:nvPr/>
        </p:nvSpPr>
        <p:spPr>
          <a:xfrm>
            <a:off x="246506" y="5915616"/>
            <a:ext cx="11585447"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p:cNvSpPr txBox="1"/>
          <p:nvPr/>
        </p:nvSpPr>
        <p:spPr>
          <a:xfrm>
            <a:off x="475107" y="6081187"/>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These four bottlenecks span all four Applications teams — each is a symptom of the same underlying fragmentation the TOM must address</a:t>
            </a:r>
          </a:p>
        </p:txBody>
      </p:sp>
      <p:sp>
        <p:nvSpPr>
          <p:cNvPr id="57" name="Título 2">
            <a:extLst>
              <a:ext uri="{FF2B5EF4-FFF2-40B4-BE49-F238E27FC236}">
                <a16:creationId xmlns:a16="http://schemas.microsoft.com/office/drawing/2014/main" id="{4D52F906-3AC9-E2EC-C082-8FA95E281898}"/>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PAIN POINTS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7675" y="1190625"/>
            <a:ext cx="11274552" cy="1371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 name="Rectangle 3"/>
          <p:cNvSpPr/>
          <p:nvPr/>
        </p:nvSpPr>
        <p:spPr>
          <a:xfrm>
            <a:off x="236981" y="1133186"/>
            <a:ext cx="11585446" cy="259805"/>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TextBox 4"/>
          <p:cNvSpPr txBox="1"/>
          <p:nvPr/>
        </p:nvSpPr>
        <p:spPr>
          <a:xfrm>
            <a:off x="236981" y="1184457"/>
            <a:ext cx="11274552" cy="1717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CUSTOMER SERVICES BRANCH  —  Kumar Jaladanki</a:t>
            </a:r>
          </a:p>
        </p:txBody>
      </p:sp>
      <p:sp>
        <p:nvSpPr>
          <p:cNvPr id="6" name="Rectangle 5"/>
          <p:cNvSpPr/>
          <p:nvPr/>
        </p:nvSpPr>
        <p:spPr>
          <a:xfrm>
            <a:off x="236981" y="1480658"/>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Rectangle 6"/>
          <p:cNvSpPr/>
          <p:nvPr/>
        </p:nvSpPr>
        <p:spPr>
          <a:xfrm>
            <a:off x="236981" y="1480658"/>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493013" y="1590385"/>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05</a:t>
            </a:r>
          </a:p>
        </p:txBody>
      </p:sp>
      <p:sp>
        <p:nvSpPr>
          <p:cNvPr id="9" name="TextBox 8"/>
          <p:cNvSpPr txBox="1"/>
          <p:nvPr/>
        </p:nvSpPr>
        <p:spPr>
          <a:xfrm>
            <a:off x="1379981" y="1645250"/>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Kumar's branch  •  STAGES: Classification + Prioritization</a:t>
            </a:r>
          </a:p>
        </p:txBody>
      </p:sp>
      <p:sp>
        <p:nvSpPr>
          <p:cNvPr id="10" name="TextBox 9"/>
          <p:cNvSpPr txBox="1"/>
          <p:nvPr/>
        </p:nvSpPr>
        <p:spPr>
          <a:xfrm>
            <a:off x="1379981" y="1855562"/>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Customer Services Leadership Gap</a:t>
            </a:r>
          </a:p>
        </p:txBody>
      </p:sp>
      <p:sp>
        <p:nvSpPr>
          <p:cNvPr id="11" name="TextBox 10"/>
          <p:cNvSpPr txBox="1"/>
          <p:nvPr/>
        </p:nvSpPr>
        <p:spPr>
          <a:xfrm>
            <a:off x="493013" y="2193890"/>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Two Sr. Manager positions vacant (CRM &amp; Contact Center Ops, SAP &amp; CS Architecture). Prioritization defaults to director level across Billing, CRM, Metering and Basis.</a:t>
            </a:r>
          </a:p>
        </p:txBody>
      </p:sp>
      <p:sp>
        <p:nvSpPr>
          <p:cNvPr id="12" name="TextBox 11"/>
          <p:cNvSpPr txBox="1"/>
          <p:nvPr/>
        </p:nvSpPr>
        <p:spPr>
          <a:xfrm>
            <a:off x="493013" y="277910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13" name="TextBox 12"/>
          <p:cNvSpPr txBox="1"/>
          <p:nvPr/>
        </p:nvSpPr>
        <p:spPr>
          <a:xfrm>
            <a:off x="493013" y="2943698"/>
            <a:ext cx="523036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shared prioritization logic across 5 sub-teams. Branch-level demand view is a structural blind spot.</a:t>
            </a:r>
          </a:p>
        </p:txBody>
      </p:sp>
      <p:sp>
        <p:nvSpPr>
          <p:cNvPr id="14" name="TextBox 13"/>
          <p:cNvSpPr txBox="1"/>
          <p:nvPr/>
        </p:nvSpPr>
        <p:spPr>
          <a:xfrm>
            <a:off x="493013" y="3355178"/>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"Who is in charge of what — 3 people can run the payment jobs" — Kumar + Stephanie</a:t>
            </a:r>
          </a:p>
        </p:txBody>
      </p:sp>
      <p:sp>
        <p:nvSpPr>
          <p:cNvPr id="15" name="Rectangle 14"/>
          <p:cNvSpPr/>
          <p:nvPr/>
        </p:nvSpPr>
        <p:spPr>
          <a:xfrm>
            <a:off x="6089140" y="1480658"/>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Rectangle 15"/>
          <p:cNvSpPr/>
          <p:nvPr/>
        </p:nvSpPr>
        <p:spPr>
          <a:xfrm>
            <a:off x="6089140" y="1480658"/>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p:cNvSpPr txBox="1"/>
          <p:nvPr/>
        </p:nvSpPr>
        <p:spPr>
          <a:xfrm>
            <a:off x="6345173" y="1590385"/>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06</a:t>
            </a:r>
          </a:p>
        </p:txBody>
      </p:sp>
      <p:sp>
        <p:nvSpPr>
          <p:cNvPr id="18" name="TextBox 17"/>
          <p:cNvSpPr txBox="1"/>
          <p:nvPr/>
        </p:nvSpPr>
        <p:spPr>
          <a:xfrm>
            <a:off x="7232140" y="1645250"/>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Kumar's branch  •  STAGES: Portfolio + Delivery</a:t>
            </a:r>
          </a:p>
        </p:txBody>
      </p:sp>
      <p:sp>
        <p:nvSpPr>
          <p:cNvPr id="19" name="TextBox 18"/>
          <p:cNvSpPr txBox="1"/>
          <p:nvPr/>
        </p:nvSpPr>
        <p:spPr>
          <a:xfrm>
            <a:off x="7232140" y="1855562"/>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No Branch-Wide Portfolio Tool</a:t>
            </a:r>
          </a:p>
        </p:txBody>
      </p:sp>
      <p:sp>
        <p:nvSpPr>
          <p:cNvPr id="20" name="TextBox 19"/>
          <p:cNvSpPr txBox="1"/>
          <p:nvPr/>
        </p:nvSpPr>
        <p:spPr>
          <a:xfrm>
            <a:off x="6345173" y="2193890"/>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PPM Now exists only in Smart Metering. Travis PMO handles large projects without a consolidated view of Billing / CRM / Metering / Basis portfolios.</a:t>
            </a:r>
          </a:p>
        </p:txBody>
      </p:sp>
      <p:sp>
        <p:nvSpPr>
          <p:cNvPr id="21" name="TextBox 20"/>
          <p:cNvSpPr txBox="1"/>
          <p:nvPr/>
        </p:nvSpPr>
        <p:spPr>
          <a:xfrm>
            <a:off x="6345173" y="2779106"/>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22" name="TextBox 21"/>
          <p:cNvSpPr txBox="1"/>
          <p:nvPr/>
        </p:nvSpPr>
        <p:spPr>
          <a:xfrm>
            <a:off x="6345173" y="2943698"/>
            <a:ext cx="523036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Sub-team portfolios are disconnected. Capacity + priorities cannot be reconciled across the branch.</a:t>
            </a:r>
          </a:p>
        </p:txBody>
      </p:sp>
      <p:sp>
        <p:nvSpPr>
          <p:cNvPr id="23" name="TextBox 22"/>
          <p:cNvSpPr txBox="1"/>
          <p:nvPr/>
        </p:nvSpPr>
        <p:spPr>
          <a:xfrm>
            <a:off x="6345173" y="3355178"/>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"No tool to support portfolio management... No tools or process to manage delivery of vendors"</a:t>
            </a:r>
          </a:p>
        </p:txBody>
      </p:sp>
      <p:sp>
        <p:nvSpPr>
          <p:cNvPr id="24" name="Rectangle 23"/>
          <p:cNvSpPr/>
          <p:nvPr/>
        </p:nvSpPr>
        <p:spPr>
          <a:xfrm>
            <a:off x="236981" y="3720937"/>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24"/>
          <p:cNvSpPr/>
          <p:nvPr/>
        </p:nvSpPr>
        <p:spPr>
          <a:xfrm>
            <a:off x="236981" y="3720937"/>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493013" y="3830665"/>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07</a:t>
            </a:r>
          </a:p>
        </p:txBody>
      </p:sp>
      <p:sp>
        <p:nvSpPr>
          <p:cNvPr id="27" name="TextBox 26"/>
          <p:cNvSpPr txBox="1"/>
          <p:nvPr/>
        </p:nvSpPr>
        <p:spPr>
          <a:xfrm>
            <a:off x="1379981" y="3885529"/>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Vincent Lam's team  •  STAGE: Delivery</a:t>
            </a:r>
          </a:p>
        </p:txBody>
      </p:sp>
      <p:sp>
        <p:nvSpPr>
          <p:cNvPr id="28" name="TextBox 27"/>
          <p:cNvSpPr txBox="1"/>
          <p:nvPr/>
        </p:nvSpPr>
        <p:spPr>
          <a:xfrm>
            <a:off x="1379981" y="4095841"/>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Smart Metering Vendor Concentration</a:t>
            </a:r>
          </a:p>
        </p:txBody>
      </p:sp>
      <p:sp>
        <p:nvSpPr>
          <p:cNvPr id="29" name="TextBox 28"/>
          <p:cNvSpPr txBox="1"/>
          <p:nvPr/>
        </p:nvSpPr>
        <p:spPr>
          <a:xfrm>
            <a:off x="493013" y="4434170"/>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100% of the Smart Metering portfolio is vendor-delivered. Vendors do requirements AND code. All custom applications. "Intrinsic common sense" is the prioritization rule.</a:t>
            </a:r>
          </a:p>
        </p:txBody>
      </p:sp>
      <p:sp>
        <p:nvSpPr>
          <p:cNvPr id="30" name="TextBox 29"/>
          <p:cNvSpPr txBox="1"/>
          <p:nvPr/>
        </p:nvSpPr>
        <p:spPr>
          <a:xfrm>
            <a:off x="493013" y="5019385"/>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31" name="TextBox 30"/>
          <p:cNvSpPr txBox="1"/>
          <p:nvPr/>
        </p:nvSpPr>
        <p:spPr>
          <a:xfrm>
            <a:off x="493013" y="5183978"/>
            <a:ext cx="523036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If the vendor exits, execution knowledge is lost. Avangrid has no native build capability in this sub-team.</a:t>
            </a:r>
          </a:p>
        </p:txBody>
      </p:sp>
      <p:sp>
        <p:nvSpPr>
          <p:cNvPr id="32" name="TextBox 31"/>
          <p:cNvSpPr txBox="1"/>
          <p:nvPr/>
        </p:nvSpPr>
        <p:spPr>
          <a:xfrm>
            <a:off x="493013" y="5595458"/>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"All portfolio in vendor. Vendors are consultants for the work" — Iram Chowdhury</a:t>
            </a:r>
          </a:p>
        </p:txBody>
      </p:sp>
      <p:sp>
        <p:nvSpPr>
          <p:cNvPr id="33" name="Rectangle 32"/>
          <p:cNvSpPr/>
          <p:nvPr/>
        </p:nvSpPr>
        <p:spPr>
          <a:xfrm>
            <a:off x="6089140" y="3720937"/>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4" name="Rectangle 33"/>
          <p:cNvSpPr/>
          <p:nvPr/>
        </p:nvSpPr>
        <p:spPr>
          <a:xfrm>
            <a:off x="6089140" y="3720937"/>
            <a:ext cx="5733288" cy="54864"/>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Box 34"/>
          <p:cNvSpPr txBox="1"/>
          <p:nvPr/>
        </p:nvSpPr>
        <p:spPr>
          <a:xfrm>
            <a:off x="6345173" y="3830665"/>
            <a:ext cx="914400" cy="374718"/>
          </a:xfrm>
          <a:prstGeom prst="rect">
            <a:avLst/>
          </a:prstGeom>
          <a:noFill/>
        </p:spPr>
        <p:txBody>
          <a:bodyPr wrap="square" lIns="0" tIns="0" rIns="0" bIns="0" anchor="t">
            <a:spAutoFit/>
          </a:bodyPr>
          <a:lstStyle/>
          <a:p>
            <a:pPr algn="l">
              <a:lnSpc>
                <a:spcPct val="110000"/>
              </a:lnSpc>
              <a:spcBef>
                <a:spcPts val="0"/>
              </a:spcBef>
              <a:spcAft>
                <a:spcPts val="0"/>
              </a:spcAft>
            </a:pPr>
            <a:r>
              <a:rPr lang="en-US" sz="2400" b="1" i="0" noProof="0">
                <a:solidFill>
                  <a:srgbClr val="3B7D23"/>
                </a:solidFill>
                <a:latin typeface="Helvetica Neue"/>
              </a:rPr>
              <a:t>08</a:t>
            </a:r>
          </a:p>
        </p:txBody>
      </p:sp>
      <p:sp>
        <p:nvSpPr>
          <p:cNvPr id="36" name="TextBox 35"/>
          <p:cNvSpPr txBox="1"/>
          <p:nvPr/>
        </p:nvSpPr>
        <p:spPr>
          <a:xfrm>
            <a:off x="7232140" y="3885529"/>
            <a:ext cx="4407407"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Kumar's branch  •  STAGE: Intake + Prioritization</a:t>
            </a:r>
          </a:p>
        </p:txBody>
      </p:sp>
      <p:sp>
        <p:nvSpPr>
          <p:cNvPr id="37" name="TextBox 36"/>
          <p:cNvSpPr txBox="1"/>
          <p:nvPr/>
        </p:nvSpPr>
        <p:spPr>
          <a:xfrm>
            <a:off x="7232140" y="4095841"/>
            <a:ext cx="4407407"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Multi-OPCO Capacity Competition</a:t>
            </a:r>
          </a:p>
        </p:txBody>
      </p:sp>
      <p:sp>
        <p:nvSpPr>
          <p:cNvPr id="38" name="TextBox 37"/>
          <p:cNvSpPr txBox="1"/>
          <p:nvPr/>
        </p:nvSpPr>
        <p:spPr>
          <a:xfrm>
            <a:off x="6345173" y="4434170"/>
            <a:ext cx="5230368" cy="325410"/>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Helvetica Neue"/>
              </a:rPr>
              <a:t>7 business OPCOs compete for the same Customer Services IT capacity. Demand splits across Travis PMO / BRS / IT-funded — triple routing for the same request.</a:t>
            </a:r>
          </a:p>
        </p:txBody>
      </p:sp>
      <p:sp>
        <p:nvSpPr>
          <p:cNvPr id="39" name="TextBox 38"/>
          <p:cNvSpPr txBox="1"/>
          <p:nvPr/>
        </p:nvSpPr>
        <p:spPr>
          <a:xfrm>
            <a:off x="6345173" y="5019385"/>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95A5A6"/>
                </a:solidFill>
                <a:latin typeface="Helvetica Neue"/>
              </a:rPr>
              <a:t>IMPACT</a:t>
            </a:r>
          </a:p>
        </p:txBody>
      </p:sp>
      <p:sp>
        <p:nvSpPr>
          <p:cNvPr id="40" name="TextBox 39"/>
          <p:cNvSpPr txBox="1"/>
          <p:nvPr/>
        </p:nvSpPr>
        <p:spPr>
          <a:xfrm>
            <a:off x="6345173" y="5183978"/>
            <a:ext cx="523036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Ad-hoc capacity allocation. Ownership ambiguity creates delivery risk and prolongs leadership vacancies' impact.</a:t>
            </a:r>
          </a:p>
        </p:txBody>
      </p:sp>
      <p:sp>
        <p:nvSpPr>
          <p:cNvPr id="41" name="TextBox 40"/>
          <p:cNvSpPr txBox="1"/>
          <p:nvPr/>
        </p:nvSpPr>
        <p:spPr>
          <a:xfrm>
            <a:off x="6345173" y="5595458"/>
            <a:ext cx="5230368"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95A5A6"/>
                </a:solidFill>
                <a:latin typeface="Helvetica Neue"/>
              </a:rPr>
              <a:t>▸  "Resource allocation — multiple OPCOs competing by capacity" — Kumar + Stephanie</a:t>
            </a:r>
          </a:p>
        </p:txBody>
      </p:sp>
      <p:sp>
        <p:nvSpPr>
          <p:cNvPr id="42" name="Rectangle 41"/>
          <p:cNvSpPr/>
          <p:nvPr/>
        </p:nvSpPr>
        <p:spPr>
          <a:xfrm>
            <a:off x="236980" y="5915498"/>
            <a:ext cx="11585447"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p:cNvSpPr txBox="1"/>
          <p:nvPr/>
        </p:nvSpPr>
        <p:spPr>
          <a:xfrm>
            <a:off x="465581" y="6081069"/>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Kumar's branch carries both structural (leadership) and operational (tooling + vendor) bottlenecks — the TOM must address all four simultaneously</a:t>
            </a:r>
          </a:p>
        </p:txBody>
      </p:sp>
      <p:sp>
        <p:nvSpPr>
          <p:cNvPr id="57" name="Título 2">
            <a:extLst>
              <a:ext uri="{FF2B5EF4-FFF2-40B4-BE49-F238E27FC236}">
                <a16:creationId xmlns:a16="http://schemas.microsoft.com/office/drawing/2014/main" id="{2B8C0654-DB05-726A-6D1D-23350B8161EE}"/>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PAIN POINTS</a:t>
            </a:r>
          </a:p>
        </p:txBody>
      </p:sp>
      <p:sp>
        <p:nvSpPr>
          <p:cNvPr id="59" name="TextBox 58"/>
          <p:cNvSpPr txBox="1"/>
          <p:nvPr/>
        </p:nvSpPr>
        <p:spPr>
          <a:xfrm>
            <a:off x="246506" y="8701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Four Customer Services bottlenecks — leadership gaps, portfolio blindness, vendor concentration and multi-OPCO contention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246506" y="132942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246506" y="132942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Rectangle 5"/>
          <p:cNvSpPr/>
          <p:nvPr/>
        </p:nvSpPr>
        <p:spPr>
          <a:xfrm>
            <a:off x="383666" y="146658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TextBox 6"/>
          <p:cNvSpPr txBox="1"/>
          <p:nvPr/>
        </p:nvSpPr>
        <p:spPr>
          <a:xfrm>
            <a:off x="383666" y="161599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01</a:t>
            </a:r>
          </a:p>
        </p:txBody>
      </p:sp>
      <p:sp>
        <p:nvSpPr>
          <p:cNvPr id="8" name="TextBox 7"/>
          <p:cNvSpPr txBox="1"/>
          <p:nvPr/>
        </p:nvSpPr>
        <p:spPr>
          <a:xfrm>
            <a:off x="1069466" y="142086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156082"/>
                </a:solidFill>
                <a:latin typeface="Helvetica Neue"/>
              </a:rPr>
              <a:t>Prioritization has no shared model</a:t>
            </a:r>
          </a:p>
        </p:txBody>
      </p:sp>
      <p:sp>
        <p:nvSpPr>
          <p:cNvPr id="9" name="TextBox 8"/>
          <p:cNvSpPr txBox="1"/>
          <p:nvPr/>
        </p:nvSpPr>
        <p:spPr>
          <a:xfrm>
            <a:off x="1069466" y="174090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Four informal criteria (strategic, operational urgency, regulatory, size) are applied per forum, per team, without a scoring rubric. Regulatory always wins regardless of size. No mechanism balances competing demands across the two branches.</a:t>
            </a:r>
          </a:p>
        </p:txBody>
      </p:sp>
      <p:sp>
        <p:nvSpPr>
          <p:cNvPr id="10" name="TextBox 9"/>
          <p:cNvSpPr txBox="1"/>
          <p:nvPr/>
        </p:nvSpPr>
        <p:spPr>
          <a:xfrm>
            <a:off x="1069466" y="238098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Helvetica Neue"/>
              </a:rPr>
              <a:t>APPLICATIONS:</a:t>
            </a:r>
          </a:p>
        </p:txBody>
      </p:sp>
      <p:sp>
        <p:nvSpPr>
          <p:cNvPr id="11" name="TextBox 10"/>
          <p:cNvSpPr txBox="1"/>
          <p:nvPr/>
        </p:nvSpPr>
        <p:spPr>
          <a:xfrm>
            <a:off x="2623946" y="2380983"/>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PDD approval / impact × users / incidents first / criticality — all different</a:t>
            </a:r>
          </a:p>
        </p:txBody>
      </p:sp>
      <p:sp>
        <p:nvSpPr>
          <p:cNvPr id="12" name="TextBox 11"/>
          <p:cNvSpPr txBox="1"/>
          <p:nvPr/>
        </p:nvSpPr>
        <p:spPr>
          <a:xfrm>
            <a:off x="6144386" y="238098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Helvetica Neue"/>
              </a:rPr>
              <a:t>CUSTOMER SERVICES:</a:t>
            </a:r>
          </a:p>
        </p:txBody>
      </p:sp>
      <p:sp>
        <p:nvSpPr>
          <p:cNvPr id="13" name="TextBox 12"/>
          <p:cNvSpPr txBox="1"/>
          <p:nvPr/>
        </p:nvSpPr>
        <p:spPr>
          <a:xfrm>
            <a:off x="8064626" y="2380983"/>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"Intrinsic common sense" (Metering) + forum-based (director-level)</a:t>
            </a:r>
          </a:p>
        </p:txBody>
      </p:sp>
      <p:sp>
        <p:nvSpPr>
          <p:cNvPr id="14" name="Rectangle 13"/>
          <p:cNvSpPr/>
          <p:nvPr/>
        </p:nvSpPr>
        <p:spPr>
          <a:xfrm>
            <a:off x="246506" y="279246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p:cNvSpPr/>
          <p:nvPr/>
        </p:nvSpPr>
        <p:spPr>
          <a:xfrm>
            <a:off x="246506" y="279246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Rectangle 15"/>
          <p:cNvSpPr/>
          <p:nvPr/>
        </p:nvSpPr>
        <p:spPr>
          <a:xfrm>
            <a:off x="383666" y="292962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7" name="TextBox 16"/>
          <p:cNvSpPr txBox="1"/>
          <p:nvPr/>
        </p:nvSpPr>
        <p:spPr>
          <a:xfrm>
            <a:off x="383666" y="307903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02</a:t>
            </a:r>
          </a:p>
        </p:txBody>
      </p:sp>
      <p:sp>
        <p:nvSpPr>
          <p:cNvPr id="18" name="TextBox 17"/>
          <p:cNvSpPr txBox="1"/>
          <p:nvPr/>
        </p:nvSpPr>
        <p:spPr>
          <a:xfrm>
            <a:off x="1069466" y="288390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156082"/>
                </a:solidFill>
                <a:latin typeface="Helvetica Neue"/>
              </a:rPr>
              <a:t>Taxonomy is undefined</a:t>
            </a:r>
          </a:p>
        </p:txBody>
      </p:sp>
      <p:sp>
        <p:nvSpPr>
          <p:cNvPr id="19" name="TextBox 18"/>
          <p:cNvSpPr txBox="1"/>
          <p:nvPr/>
        </p:nvSpPr>
        <p:spPr>
          <a:xfrm>
            <a:off x="1069466" y="320394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What counts as "small", "medium", or "large" demand is defined per team. No hours / cost / complexity threshold exists. Without objective classification, prioritization logic cannot be automated, and forums debate the class before debating the priority.</a:t>
            </a:r>
          </a:p>
        </p:txBody>
      </p:sp>
      <p:sp>
        <p:nvSpPr>
          <p:cNvPr id="20" name="TextBox 19"/>
          <p:cNvSpPr txBox="1"/>
          <p:nvPr/>
        </p:nvSpPr>
        <p:spPr>
          <a:xfrm>
            <a:off x="1069466" y="384402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Helvetica Neue"/>
              </a:rPr>
              <a:t>APPLICATIONS:</a:t>
            </a:r>
          </a:p>
        </p:txBody>
      </p:sp>
      <p:sp>
        <p:nvSpPr>
          <p:cNvPr id="21" name="TextBox 20"/>
          <p:cNvSpPr txBox="1"/>
          <p:nvPr/>
        </p:nvSpPr>
        <p:spPr>
          <a:xfrm>
            <a:off x="2623946" y="3844023"/>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PDD covers "large" but "small vs medium" is informal</a:t>
            </a:r>
          </a:p>
        </p:txBody>
      </p:sp>
      <p:sp>
        <p:nvSpPr>
          <p:cNvPr id="22" name="TextBox 21"/>
          <p:cNvSpPr txBox="1"/>
          <p:nvPr/>
        </p:nvSpPr>
        <p:spPr>
          <a:xfrm>
            <a:off x="6144386" y="3844023"/>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Helvetica Neue"/>
              </a:rPr>
              <a:t>CUSTOMER SERVICES:</a:t>
            </a:r>
          </a:p>
        </p:txBody>
      </p:sp>
      <p:sp>
        <p:nvSpPr>
          <p:cNvPr id="23" name="TextBox 22"/>
          <p:cNvSpPr txBox="1"/>
          <p:nvPr/>
        </p:nvSpPr>
        <p:spPr>
          <a:xfrm>
            <a:off x="8064626" y="3844023"/>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Travis PMO owns "large" by convention, not definition</a:t>
            </a:r>
          </a:p>
        </p:txBody>
      </p:sp>
      <p:sp>
        <p:nvSpPr>
          <p:cNvPr id="24" name="Rectangle 23"/>
          <p:cNvSpPr/>
          <p:nvPr/>
        </p:nvSpPr>
        <p:spPr>
          <a:xfrm>
            <a:off x="246506" y="4255503"/>
            <a:ext cx="11274552" cy="138988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24"/>
          <p:cNvSpPr/>
          <p:nvPr/>
        </p:nvSpPr>
        <p:spPr>
          <a:xfrm>
            <a:off x="246506" y="4255503"/>
            <a:ext cx="73152" cy="138988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Rectangle 25"/>
          <p:cNvSpPr/>
          <p:nvPr/>
        </p:nvSpPr>
        <p:spPr>
          <a:xfrm>
            <a:off x="383666" y="4392663"/>
            <a:ext cx="548640" cy="5486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26"/>
          <p:cNvSpPr txBox="1"/>
          <p:nvPr/>
        </p:nvSpPr>
        <p:spPr>
          <a:xfrm>
            <a:off x="383666" y="4542077"/>
            <a:ext cx="54864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03</a:t>
            </a:r>
          </a:p>
        </p:txBody>
      </p:sp>
      <p:sp>
        <p:nvSpPr>
          <p:cNvPr id="28" name="TextBox 27"/>
          <p:cNvSpPr txBox="1"/>
          <p:nvPr/>
        </p:nvSpPr>
        <p:spPr>
          <a:xfrm>
            <a:off x="1069466" y="4346943"/>
            <a:ext cx="1051560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156082"/>
                </a:solidFill>
                <a:latin typeface="Helvetica Neue"/>
              </a:rPr>
              <a:t>Vendor governance is absent</a:t>
            </a:r>
          </a:p>
        </p:txBody>
      </p:sp>
      <p:sp>
        <p:nvSpPr>
          <p:cNvPr id="29" name="TextBox 28"/>
          <p:cNvSpPr txBox="1"/>
          <p:nvPr/>
        </p:nvSpPr>
        <p:spPr>
          <a:xfrm>
            <a:off x="1069466" y="4666983"/>
            <a:ext cx="1051560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No process governs vendor delivery in either branch. Vendors estimate scope, timelines, and cost. Smart Metering is 100% vendor-delivered — vendors do requirements AND code. In G&amp;E, the vendor sets its own timeline on version upgrades.</a:t>
            </a:r>
          </a:p>
        </p:txBody>
      </p:sp>
      <p:sp>
        <p:nvSpPr>
          <p:cNvPr id="30" name="TextBox 29"/>
          <p:cNvSpPr txBox="1"/>
          <p:nvPr/>
        </p:nvSpPr>
        <p:spPr>
          <a:xfrm>
            <a:off x="1069466" y="5307062"/>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6785C1"/>
                </a:solidFill>
                <a:latin typeface="Helvetica Neue"/>
              </a:rPr>
              <a:t>APPLICATIONS:</a:t>
            </a:r>
          </a:p>
        </p:txBody>
      </p:sp>
      <p:sp>
        <p:nvSpPr>
          <p:cNvPr id="31" name="TextBox 30"/>
          <p:cNvSpPr txBox="1"/>
          <p:nvPr/>
        </p:nvSpPr>
        <p:spPr>
          <a:xfrm>
            <a:off x="2623946" y="5307062"/>
            <a:ext cx="32004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Vendors co-build; no performance framework</a:t>
            </a:r>
          </a:p>
        </p:txBody>
      </p:sp>
      <p:sp>
        <p:nvSpPr>
          <p:cNvPr id="32" name="TextBox 31"/>
          <p:cNvSpPr txBox="1"/>
          <p:nvPr/>
        </p:nvSpPr>
        <p:spPr>
          <a:xfrm>
            <a:off x="6144386" y="5307062"/>
            <a:ext cx="274320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rgbClr val="0F1C50"/>
                </a:solidFill>
                <a:latin typeface="Helvetica Neue"/>
              </a:rPr>
              <a:t>CUSTOMER SERVICES:</a:t>
            </a:r>
          </a:p>
        </p:txBody>
      </p:sp>
      <p:sp>
        <p:nvSpPr>
          <p:cNvPr id="33" name="TextBox 32"/>
          <p:cNvSpPr txBox="1"/>
          <p:nvPr/>
        </p:nvSpPr>
        <p:spPr>
          <a:xfrm>
            <a:off x="8064626" y="5307062"/>
            <a:ext cx="338328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0" i="1" noProof="0">
                <a:solidFill>
                  <a:srgbClr val="2C3E50"/>
                </a:solidFill>
                <a:latin typeface="Helvetica Neue"/>
              </a:rPr>
              <a:t>"All portfolio in vendor" (Smart Metering) — full outsourcing risk</a:t>
            </a:r>
          </a:p>
        </p:txBody>
      </p:sp>
      <p:sp>
        <p:nvSpPr>
          <p:cNvPr id="34" name="Rectangle 33"/>
          <p:cNvSpPr/>
          <p:nvPr/>
        </p:nvSpPr>
        <p:spPr>
          <a:xfrm>
            <a:off x="246506" y="5741173"/>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TextBox 34"/>
          <p:cNvSpPr txBox="1"/>
          <p:nvPr/>
        </p:nvSpPr>
        <p:spPr>
          <a:xfrm>
            <a:off x="475106" y="5906744"/>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These three are enterprise-level issues — the TOM owns them; no team-level fix will solve prioritization, taxonomy, or vendor governance on its own</a:t>
            </a:r>
          </a:p>
        </p:txBody>
      </p:sp>
      <p:sp>
        <p:nvSpPr>
          <p:cNvPr id="49" name="Título 2">
            <a:extLst>
              <a:ext uri="{FF2B5EF4-FFF2-40B4-BE49-F238E27FC236}">
                <a16:creationId xmlns:a16="http://schemas.microsoft.com/office/drawing/2014/main" id="{AA6281DC-706B-2362-1591-0EC8C2A25716}"/>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PAIN POINTS</a:t>
            </a:r>
          </a:p>
        </p:txBody>
      </p:sp>
      <p:sp>
        <p:nvSpPr>
          <p:cNvPr id="51" name="TextBox 50"/>
          <p:cNvSpPr txBox="1"/>
          <p:nvPr/>
        </p:nvSpPr>
        <p:spPr>
          <a:xfrm>
            <a:off x="246506" y="86536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Three systemic issues cut across both branches — no local fix resolves them; only the TOM can</a:t>
            </a:r>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6506" y="136017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TextBox 4"/>
          <p:cNvSpPr txBox="1"/>
          <p:nvPr/>
        </p:nvSpPr>
        <p:spPr>
          <a:xfrm>
            <a:off x="246506" y="151872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01</a:t>
            </a:r>
          </a:p>
        </p:txBody>
      </p:sp>
      <p:sp>
        <p:nvSpPr>
          <p:cNvPr id="6" name="TextBox 5"/>
          <p:cNvSpPr txBox="1"/>
          <p:nvPr/>
        </p:nvSpPr>
        <p:spPr>
          <a:xfrm>
            <a:off x="886586" y="136017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Intake Fragmentation</a:t>
            </a:r>
          </a:p>
        </p:txBody>
      </p:sp>
      <p:sp>
        <p:nvSpPr>
          <p:cNvPr id="7" name="TextBox 6"/>
          <p:cNvSpPr txBox="1"/>
          <p:nvPr/>
        </p:nvSpPr>
        <p:spPr>
          <a:xfrm>
            <a:off x="886586" y="1634490"/>
            <a:ext cx="621792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6+ disconnected channels (Jira, IT Now, RITM, SharePoint, Email, Word). No single front door.</a:t>
            </a:r>
          </a:p>
        </p:txBody>
      </p:sp>
      <p:sp>
        <p:nvSpPr>
          <p:cNvPr id="8" name="TextBox 7"/>
          <p:cNvSpPr txBox="1"/>
          <p:nvPr/>
        </p:nvSpPr>
        <p:spPr>
          <a:xfrm>
            <a:off x="7287385" y="1585177"/>
            <a:ext cx="4206240"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unified intake layer with tool-of-record per demand type.</a:t>
            </a:r>
          </a:p>
        </p:txBody>
      </p:sp>
      <p:sp>
        <p:nvSpPr>
          <p:cNvPr id="9" name="Rectangle 8"/>
          <p:cNvSpPr/>
          <p:nvPr/>
        </p:nvSpPr>
        <p:spPr>
          <a:xfrm>
            <a:off x="246506" y="200025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TextBox 9"/>
          <p:cNvSpPr txBox="1"/>
          <p:nvPr/>
        </p:nvSpPr>
        <p:spPr>
          <a:xfrm>
            <a:off x="246506" y="215880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02</a:t>
            </a:r>
          </a:p>
        </p:txBody>
      </p:sp>
      <p:sp>
        <p:nvSpPr>
          <p:cNvPr id="11" name="TextBox 10"/>
          <p:cNvSpPr txBox="1"/>
          <p:nvPr/>
        </p:nvSpPr>
        <p:spPr>
          <a:xfrm>
            <a:off x="886586" y="200025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No Shared Prioritization Model</a:t>
            </a:r>
          </a:p>
        </p:txBody>
      </p:sp>
      <p:sp>
        <p:nvSpPr>
          <p:cNvPr id="12" name="TextBox 11"/>
          <p:cNvSpPr txBox="1"/>
          <p:nvPr/>
        </p:nvSpPr>
        <p:spPr>
          <a:xfrm>
            <a:off x="886586" y="2274570"/>
            <a:ext cx="6217920"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Each area uses different criteria — PDD, </a:t>
            </a:r>
            <a:r>
              <a:rPr lang="en-US" sz="1100" b="0" i="0" noProof="0" err="1">
                <a:solidFill>
                  <a:srgbClr val="2C3E50"/>
                </a:solidFill>
                <a:latin typeface="Helvetica Neue"/>
              </a:rPr>
              <a:t>impact×users</a:t>
            </a:r>
            <a:r>
              <a:rPr lang="en-US" sz="1100" b="0" i="0" noProof="0">
                <a:solidFill>
                  <a:srgbClr val="2C3E50"/>
                </a:solidFill>
                <a:latin typeface="Helvetica Neue"/>
              </a:rPr>
              <a:t>, criticality, operational urgency, common sense.</a:t>
            </a:r>
          </a:p>
        </p:txBody>
      </p:sp>
      <p:sp>
        <p:nvSpPr>
          <p:cNvPr id="13" name="TextBox 12"/>
          <p:cNvSpPr txBox="1"/>
          <p:nvPr/>
        </p:nvSpPr>
        <p:spPr>
          <a:xfrm>
            <a:off x="7287385" y="213215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value-based scoring framework (ties to existing "Value Framework V1.0" ambition).</a:t>
            </a:r>
          </a:p>
        </p:txBody>
      </p:sp>
      <p:sp>
        <p:nvSpPr>
          <p:cNvPr id="14" name="Rectangle 13"/>
          <p:cNvSpPr/>
          <p:nvPr/>
        </p:nvSpPr>
        <p:spPr>
          <a:xfrm>
            <a:off x="246506" y="264033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TextBox 14"/>
          <p:cNvSpPr txBox="1"/>
          <p:nvPr/>
        </p:nvSpPr>
        <p:spPr>
          <a:xfrm>
            <a:off x="246506" y="279888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03</a:t>
            </a:r>
          </a:p>
        </p:txBody>
      </p:sp>
      <p:sp>
        <p:nvSpPr>
          <p:cNvPr id="16" name="TextBox 15"/>
          <p:cNvSpPr txBox="1"/>
          <p:nvPr/>
        </p:nvSpPr>
        <p:spPr>
          <a:xfrm>
            <a:off x="886586" y="264033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Portfolio Tooling Vacuum</a:t>
            </a:r>
          </a:p>
        </p:txBody>
      </p:sp>
      <p:sp>
        <p:nvSpPr>
          <p:cNvPr id="17" name="TextBox 16"/>
          <p:cNvSpPr txBox="1"/>
          <p:nvPr/>
        </p:nvSpPr>
        <p:spPr>
          <a:xfrm>
            <a:off x="886586" y="2914650"/>
            <a:ext cx="621792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5 of 6 units have no portfolio tool. Only Smart Metering uses PPM Now.</a:t>
            </a:r>
          </a:p>
        </p:txBody>
      </p:sp>
      <p:sp>
        <p:nvSpPr>
          <p:cNvPr id="18" name="TextBox 17"/>
          <p:cNvSpPr txBox="1"/>
          <p:nvPr/>
        </p:nvSpPr>
        <p:spPr>
          <a:xfrm>
            <a:off x="7287385" y="277223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scale PPM Now (or equivalent) across all Digital Products areas + IT CS.</a:t>
            </a:r>
          </a:p>
        </p:txBody>
      </p:sp>
      <p:sp>
        <p:nvSpPr>
          <p:cNvPr id="19" name="Rectangle 18"/>
          <p:cNvSpPr/>
          <p:nvPr/>
        </p:nvSpPr>
        <p:spPr>
          <a:xfrm>
            <a:off x="246506" y="328041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TextBox 19"/>
          <p:cNvSpPr txBox="1"/>
          <p:nvPr/>
        </p:nvSpPr>
        <p:spPr>
          <a:xfrm>
            <a:off x="246506" y="343896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04</a:t>
            </a:r>
          </a:p>
        </p:txBody>
      </p:sp>
      <p:sp>
        <p:nvSpPr>
          <p:cNvPr id="21" name="TextBox 20"/>
          <p:cNvSpPr txBox="1"/>
          <p:nvPr/>
        </p:nvSpPr>
        <p:spPr>
          <a:xfrm>
            <a:off x="886586" y="328041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Vendor Governance Gap</a:t>
            </a:r>
          </a:p>
        </p:txBody>
      </p:sp>
      <p:sp>
        <p:nvSpPr>
          <p:cNvPr id="22" name="TextBox 21"/>
          <p:cNvSpPr txBox="1"/>
          <p:nvPr/>
        </p:nvSpPr>
        <p:spPr>
          <a:xfrm>
            <a:off x="886586" y="3554730"/>
            <a:ext cx="6217920"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No process to manage vendor delivery. Vendors estimate, set timelines, and own Smart Metering end-to-end.</a:t>
            </a:r>
          </a:p>
        </p:txBody>
      </p:sp>
      <p:sp>
        <p:nvSpPr>
          <p:cNvPr id="23" name="TextBox 22"/>
          <p:cNvSpPr txBox="1"/>
          <p:nvPr/>
        </p:nvSpPr>
        <p:spPr>
          <a:xfrm>
            <a:off x="7287385" y="341231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vendor performance framework + NTT-led estimation sanity check.</a:t>
            </a:r>
          </a:p>
        </p:txBody>
      </p:sp>
      <p:sp>
        <p:nvSpPr>
          <p:cNvPr id="24" name="Rectangle 23"/>
          <p:cNvSpPr/>
          <p:nvPr/>
        </p:nvSpPr>
        <p:spPr>
          <a:xfrm>
            <a:off x="246506" y="392049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TextBox 24"/>
          <p:cNvSpPr txBox="1"/>
          <p:nvPr/>
        </p:nvSpPr>
        <p:spPr>
          <a:xfrm>
            <a:off x="246506" y="407904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05</a:t>
            </a:r>
          </a:p>
        </p:txBody>
      </p:sp>
      <p:sp>
        <p:nvSpPr>
          <p:cNvPr id="26" name="TextBox 25"/>
          <p:cNvSpPr txBox="1"/>
          <p:nvPr/>
        </p:nvSpPr>
        <p:spPr>
          <a:xfrm>
            <a:off x="886586" y="392049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Governance Forum Coverage</a:t>
            </a:r>
          </a:p>
        </p:txBody>
      </p:sp>
      <p:sp>
        <p:nvSpPr>
          <p:cNvPr id="27" name="TextBox 26"/>
          <p:cNvSpPr txBox="1"/>
          <p:nvPr/>
        </p:nvSpPr>
        <p:spPr>
          <a:xfrm>
            <a:off x="886586" y="4194810"/>
            <a:ext cx="6217920"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5 recurring forums exist — but Manager Check-in participants are still TBC; no forum covers portfolio-level decisions.</a:t>
            </a:r>
          </a:p>
        </p:txBody>
      </p:sp>
      <p:sp>
        <p:nvSpPr>
          <p:cNvPr id="28" name="TextBox 27"/>
          <p:cNvSpPr txBox="1"/>
          <p:nvPr/>
        </p:nvSpPr>
        <p:spPr>
          <a:xfrm>
            <a:off x="7287385" y="405239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add a portfolio steering cadence and validate forum scope.</a:t>
            </a:r>
          </a:p>
        </p:txBody>
      </p:sp>
      <p:sp>
        <p:nvSpPr>
          <p:cNvPr id="29" name="Rectangle 28"/>
          <p:cNvSpPr/>
          <p:nvPr/>
        </p:nvSpPr>
        <p:spPr>
          <a:xfrm>
            <a:off x="246506" y="456057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TextBox 29"/>
          <p:cNvSpPr txBox="1"/>
          <p:nvPr/>
        </p:nvSpPr>
        <p:spPr>
          <a:xfrm>
            <a:off x="246506" y="471912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06</a:t>
            </a:r>
          </a:p>
        </p:txBody>
      </p:sp>
      <p:sp>
        <p:nvSpPr>
          <p:cNvPr id="31" name="TextBox 30"/>
          <p:cNvSpPr txBox="1"/>
          <p:nvPr/>
        </p:nvSpPr>
        <p:spPr>
          <a:xfrm>
            <a:off x="886586" y="456057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Taxonomy &amp; Thresholds Undefined</a:t>
            </a:r>
          </a:p>
        </p:txBody>
      </p:sp>
      <p:sp>
        <p:nvSpPr>
          <p:cNvPr id="32" name="TextBox 31"/>
          <p:cNvSpPr txBox="1"/>
          <p:nvPr/>
        </p:nvSpPr>
        <p:spPr>
          <a:xfrm>
            <a:off x="886586" y="4834890"/>
            <a:ext cx="6217920"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"Small" vs "Medium" vs "Large" is subjective; each team decides. No hours / $ / complexity threshold exists.</a:t>
            </a:r>
          </a:p>
        </p:txBody>
      </p:sp>
      <p:sp>
        <p:nvSpPr>
          <p:cNvPr id="33" name="TextBox 32"/>
          <p:cNvSpPr txBox="1"/>
          <p:nvPr/>
        </p:nvSpPr>
        <p:spPr>
          <a:xfrm>
            <a:off x="7287385" y="469247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define objective classification thresholds — prerequisite for prioritization scoring.</a:t>
            </a:r>
          </a:p>
        </p:txBody>
      </p:sp>
      <p:sp>
        <p:nvSpPr>
          <p:cNvPr id="34" name="Rectangle 33"/>
          <p:cNvSpPr/>
          <p:nvPr/>
        </p:nvSpPr>
        <p:spPr>
          <a:xfrm>
            <a:off x="246506" y="5200650"/>
            <a:ext cx="502920" cy="5669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TextBox 34"/>
          <p:cNvSpPr txBox="1"/>
          <p:nvPr/>
        </p:nvSpPr>
        <p:spPr>
          <a:xfrm>
            <a:off x="246506" y="5359208"/>
            <a:ext cx="502920"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Helvetica Neue"/>
              </a:rPr>
              <a:t>07</a:t>
            </a:r>
          </a:p>
        </p:txBody>
      </p:sp>
      <p:sp>
        <p:nvSpPr>
          <p:cNvPr id="36" name="TextBox 35"/>
          <p:cNvSpPr txBox="1"/>
          <p:nvPr/>
        </p:nvSpPr>
        <p:spPr>
          <a:xfrm>
            <a:off x="886586" y="5200650"/>
            <a:ext cx="6217920" cy="203004"/>
          </a:xfrm>
          <a:prstGeom prst="rect">
            <a:avLst/>
          </a:prstGeom>
          <a:noFill/>
        </p:spPr>
        <p:txBody>
          <a:bodyPr wrap="square" lIns="0" tIns="0" rIns="0" bIns="0" anchor="t">
            <a:spAutoFit/>
          </a:bodyPr>
          <a:lstStyle/>
          <a:p>
            <a:pPr algn="l">
              <a:lnSpc>
                <a:spcPct val="110000"/>
              </a:lnSpc>
              <a:spcBef>
                <a:spcPts val="0"/>
              </a:spcBef>
              <a:spcAft>
                <a:spcPts val="0"/>
              </a:spcAft>
            </a:pPr>
            <a:r>
              <a:rPr lang="en-US" sz="1300" b="1" i="0" noProof="0">
                <a:solidFill>
                  <a:srgbClr val="3B7D23"/>
                </a:solidFill>
                <a:latin typeface="Helvetica Neue"/>
              </a:rPr>
              <a:t>Project vs Product Lens Missing</a:t>
            </a:r>
          </a:p>
        </p:txBody>
      </p:sp>
      <p:sp>
        <p:nvSpPr>
          <p:cNvPr id="37" name="TextBox 36"/>
          <p:cNvSpPr txBox="1"/>
          <p:nvPr/>
        </p:nvSpPr>
        <p:spPr>
          <a:xfrm>
            <a:off x="886586" y="5474970"/>
            <a:ext cx="6217920"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0" i="0" noProof="0">
                <a:solidFill>
                  <a:srgbClr val="2C3E50"/>
                </a:solidFill>
                <a:latin typeface="Helvetica Neue"/>
              </a:rPr>
              <a:t>Demand is organized by application silo, not by Value Stream. IT requests don't trace to business OKRs.</a:t>
            </a:r>
          </a:p>
        </p:txBody>
      </p:sp>
      <p:sp>
        <p:nvSpPr>
          <p:cNvPr id="38" name="TextBox 37"/>
          <p:cNvSpPr txBox="1"/>
          <p:nvPr/>
        </p:nvSpPr>
        <p:spPr>
          <a:xfrm>
            <a:off x="7287385" y="5332554"/>
            <a:ext cx="4206240"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1" noProof="0">
                <a:solidFill>
                  <a:schemeClr val="accent1"/>
                </a:solidFill>
                <a:latin typeface="Helvetica Neue"/>
              </a:rPr>
              <a:t>→  TOM: introduce Value Stream mapping — move from Project to Product operating model.</a:t>
            </a:r>
          </a:p>
        </p:txBody>
      </p:sp>
      <p:sp>
        <p:nvSpPr>
          <p:cNvPr id="39" name="Rectangle 38"/>
          <p:cNvSpPr/>
          <p:nvPr/>
        </p:nvSpPr>
        <p:spPr>
          <a:xfrm>
            <a:off x="246506" y="5932170"/>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0" name="TextBox 39"/>
          <p:cNvSpPr txBox="1"/>
          <p:nvPr/>
        </p:nvSpPr>
        <p:spPr>
          <a:xfrm>
            <a:off x="475106" y="609774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Next step: consolidate these 7 issues into the Baseline Report and carry them forward to the Target Operating Model design</a:t>
            </a:r>
          </a:p>
        </p:txBody>
      </p:sp>
      <p:sp>
        <p:nvSpPr>
          <p:cNvPr id="54" name="Título 2">
            <a:extLst>
              <a:ext uri="{FF2B5EF4-FFF2-40B4-BE49-F238E27FC236}">
                <a16:creationId xmlns:a16="http://schemas.microsoft.com/office/drawing/2014/main" id="{ACE28A78-C73C-BB75-28B3-503E81E112DD}"/>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INSIGHTS</a:t>
            </a:r>
          </a:p>
        </p:txBody>
      </p:sp>
      <p:sp>
        <p:nvSpPr>
          <p:cNvPr id="56" name="TextBox 55"/>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Seven structural issues surface — no single-area fix resolves them; the TOM must standardize end-to-end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6506" y="135233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246506" y="135233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6" name="Rectangle 5"/>
          <p:cNvSpPr/>
          <p:nvPr/>
        </p:nvSpPr>
        <p:spPr>
          <a:xfrm>
            <a:off x="383666" y="148949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7" name="TextBox 6"/>
          <p:cNvSpPr txBox="1"/>
          <p:nvPr/>
        </p:nvSpPr>
        <p:spPr>
          <a:xfrm>
            <a:off x="383666" y="163166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Helvetica Neue"/>
              </a:rPr>
              <a:t>R1</a:t>
            </a:r>
          </a:p>
        </p:txBody>
      </p:sp>
      <p:sp>
        <p:nvSpPr>
          <p:cNvPr id="8" name="TextBox 7"/>
          <p:cNvSpPr txBox="1"/>
          <p:nvPr/>
        </p:nvSpPr>
        <p:spPr>
          <a:xfrm>
            <a:off x="1160906" y="144377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Unknown demand volume meets scaling load</a:t>
            </a:r>
          </a:p>
        </p:txBody>
      </p:sp>
      <p:sp>
        <p:nvSpPr>
          <p:cNvPr id="9" name="TextBox 8"/>
          <p:cNvSpPr txBox="1"/>
          <p:nvPr/>
        </p:nvSpPr>
        <p:spPr>
          <a:xfrm>
            <a:off x="1160906" y="173638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30–50% growth applied to unmeasured channels = capacity shortfall cannot be forecast. Hiring decisions remain reactive.</a:t>
            </a:r>
          </a:p>
        </p:txBody>
      </p:sp>
      <p:sp>
        <p:nvSpPr>
          <p:cNvPr id="10" name="Rounded Rectangle 9"/>
          <p:cNvSpPr/>
          <p:nvPr/>
        </p:nvSpPr>
        <p:spPr>
          <a:xfrm>
            <a:off x="10030586" y="1626656"/>
            <a:ext cx="1417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10030586" y="1701363"/>
            <a:ext cx="1417320" cy="124906"/>
          </a:xfrm>
          <a:prstGeom prst="rect">
            <a:avLst/>
          </a:prstGeom>
          <a:solidFill>
            <a:srgbClr val="C0392B"/>
          </a:solid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CRITICAL</a:t>
            </a:r>
          </a:p>
        </p:txBody>
      </p:sp>
      <p:sp>
        <p:nvSpPr>
          <p:cNvPr id="12" name="Rectangle 11"/>
          <p:cNvSpPr/>
          <p:nvPr/>
        </p:nvSpPr>
        <p:spPr>
          <a:xfrm>
            <a:off x="246506" y="222101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3" name="Rectangle 12"/>
          <p:cNvSpPr/>
          <p:nvPr/>
        </p:nvSpPr>
        <p:spPr>
          <a:xfrm>
            <a:off x="246506" y="2221016"/>
            <a:ext cx="73152" cy="7955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14" name="Rectangle 13"/>
          <p:cNvSpPr/>
          <p:nvPr/>
        </p:nvSpPr>
        <p:spPr>
          <a:xfrm>
            <a:off x="383666" y="2358176"/>
            <a:ext cx="640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TextBox 14"/>
          <p:cNvSpPr txBox="1"/>
          <p:nvPr/>
        </p:nvSpPr>
        <p:spPr>
          <a:xfrm>
            <a:off x="383666" y="2500343"/>
            <a:ext cx="640080" cy="218586"/>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Helvetica Neue"/>
              </a:rPr>
              <a:t>R2</a:t>
            </a:r>
          </a:p>
        </p:txBody>
      </p:sp>
      <p:sp>
        <p:nvSpPr>
          <p:cNvPr id="16" name="TextBox 15"/>
          <p:cNvSpPr txBox="1"/>
          <p:nvPr/>
        </p:nvSpPr>
        <p:spPr>
          <a:xfrm>
            <a:off x="1160906" y="231245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Vendor control of timelines and estimates</a:t>
            </a:r>
          </a:p>
        </p:txBody>
      </p:sp>
      <p:sp>
        <p:nvSpPr>
          <p:cNvPr id="17" name="TextBox 16"/>
          <p:cNvSpPr txBox="1"/>
          <p:nvPr/>
        </p:nvSpPr>
        <p:spPr>
          <a:xfrm>
            <a:off x="1160906" y="260506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Smart Metering is 100% vendor-delivered. G&amp;E upgrades follow vendor schedules. Without governance, budget overruns stay invisible until delivery.</a:t>
            </a:r>
          </a:p>
        </p:txBody>
      </p:sp>
      <p:sp>
        <p:nvSpPr>
          <p:cNvPr id="18" name="Rounded Rectangle 17"/>
          <p:cNvSpPr/>
          <p:nvPr/>
        </p:nvSpPr>
        <p:spPr>
          <a:xfrm>
            <a:off x="10030586" y="2495336"/>
            <a:ext cx="1417320" cy="2743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9" name="TextBox 18"/>
          <p:cNvSpPr txBox="1"/>
          <p:nvPr/>
        </p:nvSpPr>
        <p:spPr>
          <a:xfrm>
            <a:off x="10030586" y="2570043"/>
            <a:ext cx="1417320" cy="124906"/>
          </a:xfrm>
          <a:prstGeom prst="rect">
            <a:avLst/>
          </a:prstGeom>
          <a:solidFill>
            <a:srgbClr val="C0392B"/>
          </a:solid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CRITICAL</a:t>
            </a:r>
          </a:p>
        </p:txBody>
      </p:sp>
      <p:sp>
        <p:nvSpPr>
          <p:cNvPr id="20" name="Rectangle 19"/>
          <p:cNvSpPr/>
          <p:nvPr/>
        </p:nvSpPr>
        <p:spPr>
          <a:xfrm>
            <a:off x="246506" y="308969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20"/>
          <p:cNvSpPr/>
          <p:nvPr/>
        </p:nvSpPr>
        <p:spPr>
          <a:xfrm>
            <a:off x="246506" y="3089696"/>
            <a:ext cx="73152" cy="7955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22" name="Rectangle 21"/>
          <p:cNvSpPr/>
          <p:nvPr/>
        </p:nvSpPr>
        <p:spPr>
          <a:xfrm>
            <a:off x="383666" y="3226856"/>
            <a:ext cx="640080" cy="50292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3" name="TextBox 22"/>
          <p:cNvSpPr txBox="1"/>
          <p:nvPr/>
        </p:nvSpPr>
        <p:spPr>
          <a:xfrm>
            <a:off x="383666" y="3369023"/>
            <a:ext cx="640080" cy="218586"/>
          </a:xfrm>
          <a:prstGeom prst="rect">
            <a:avLst/>
          </a:prstGeom>
          <a:no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Helvetica Neue"/>
              </a:rPr>
              <a:t>R3</a:t>
            </a:r>
          </a:p>
        </p:txBody>
      </p:sp>
      <p:sp>
        <p:nvSpPr>
          <p:cNvPr id="24" name="TextBox 23"/>
          <p:cNvSpPr txBox="1"/>
          <p:nvPr/>
        </p:nvSpPr>
        <p:spPr>
          <a:xfrm>
            <a:off x="1160906" y="318113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ROI traceability breaks</a:t>
            </a:r>
          </a:p>
        </p:txBody>
      </p:sp>
      <p:sp>
        <p:nvSpPr>
          <p:cNvPr id="25" name="TextBox 24"/>
          <p:cNvSpPr txBox="1"/>
          <p:nvPr/>
        </p:nvSpPr>
        <p:spPr>
          <a:xfrm>
            <a:off x="1160906" y="347374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Without portfolio tooling or value-stream lens, IT spend cannot be traced back to business outcomes. Executive defensibility degrades.</a:t>
            </a:r>
          </a:p>
        </p:txBody>
      </p:sp>
      <p:sp>
        <p:nvSpPr>
          <p:cNvPr id="26" name="Rounded Rectangle 25"/>
          <p:cNvSpPr/>
          <p:nvPr/>
        </p:nvSpPr>
        <p:spPr>
          <a:xfrm>
            <a:off x="10030586" y="3364016"/>
            <a:ext cx="1417320" cy="274320"/>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7" name="TextBox 26"/>
          <p:cNvSpPr txBox="1"/>
          <p:nvPr/>
        </p:nvSpPr>
        <p:spPr>
          <a:xfrm>
            <a:off x="10030586" y="3438723"/>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HIGH</a:t>
            </a:r>
          </a:p>
        </p:txBody>
      </p:sp>
      <p:sp>
        <p:nvSpPr>
          <p:cNvPr id="28" name="Rectangle 27"/>
          <p:cNvSpPr/>
          <p:nvPr/>
        </p:nvSpPr>
        <p:spPr>
          <a:xfrm>
            <a:off x="246506" y="395837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9" name="Rectangle 28"/>
          <p:cNvSpPr/>
          <p:nvPr/>
        </p:nvSpPr>
        <p:spPr>
          <a:xfrm>
            <a:off x="246506" y="3958376"/>
            <a:ext cx="73152" cy="795528"/>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30" name="Rectangle 29"/>
          <p:cNvSpPr/>
          <p:nvPr/>
        </p:nvSpPr>
        <p:spPr>
          <a:xfrm>
            <a:off x="383666" y="4095536"/>
            <a:ext cx="640080" cy="50292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TextBox 30"/>
          <p:cNvSpPr txBox="1"/>
          <p:nvPr/>
        </p:nvSpPr>
        <p:spPr>
          <a:xfrm>
            <a:off x="383666" y="4237703"/>
            <a:ext cx="640080" cy="218586"/>
          </a:xfrm>
          <a:prstGeom prst="rect">
            <a:avLst/>
          </a:prstGeom>
          <a:no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Helvetica Neue"/>
              </a:rPr>
              <a:t>R4</a:t>
            </a:r>
          </a:p>
        </p:txBody>
      </p:sp>
      <p:sp>
        <p:nvSpPr>
          <p:cNvPr id="32" name="TextBox 31"/>
          <p:cNvSpPr txBox="1"/>
          <p:nvPr/>
        </p:nvSpPr>
        <p:spPr>
          <a:xfrm>
            <a:off x="1160906" y="404981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Leadership vacancies prolonged</a:t>
            </a:r>
          </a:p>
        </p:txBody>
      </p:sp>
      <p:sp>
        <p:nvSpPr>
          <p:cNvPr id="33" name="TextBox 32"/>
          <p:cNvSpPr txBox="1"/>
          <p:nvPr/>
        </p:nvSpPr>
        <p:spPr>
          <a:xfrm>
            <a:off x="1160906" y="434242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CRM Sr. Manager and SAP &amp; CS Architecture positions remain open. Decisions default to director level across ~24 FTE — not sustainable.</a:t>
            </a:r>
          </a:p>
        </p:txBody>
      </p:sp>
      <p:sp>
        <p:nvSpPr>
          <p:cNvPr id="34" name="Rounded Rectangle 33"/>
          <p:cNvSpPr/>
          <p:nvPr/>
        </p:nvSpPr>
        <p:spPr>
          <a:xfrm>
            <a:off x="10030586" y="4232696"/>
            <a:ext cx="1417320" cy="274320"/>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TextBox 34"/>
          <p:cNvSpPr txBox="1"/>
          <p:nvPr/>
        </p:nvSpPr>
        <p:spPr>
          <a:xfrm>
            <a:off x="10030586" y="4307403"/>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HIGH</a:t>
            </a:r>
          </a:p>
        </p:txBody>
      </p:sp>
      <p:sp>
        <p:nvSpPr>
          <p:cNvPr id="36" name="Rectangle 35"/>
          <p:cNvSpPr/>
          <p:nvPr/>
        </p:nvSpPr>
        <p:spPr>
          <a:xfrm>
            <a:off x="246506" y="4827056"/>
            <a:ext cx="11274552" cy="7955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7" name="Rectangle 36"/>
          <p:cNvSpPr/>
          <p:nvPr/>
        </p:nvSpPr>
        <p:spPr>
          <a:xfrm>
            <a:off x="246506" y="4827056"/>
            <a:ext cx="73152" cy="795528"/>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3B7D23"/>
              </a:solidFill>
            </a:endParaRPr>
          </a:p>
        </p:txBody>
      </p:sp>
      <p:sp>
        <p:nvSpPr>
          <p:cNvPr id="38" name="Rectangle 37"/>
          <p:cNvSpPr/>
          <p:nvPr/>
        </p:nvSpPr>
        <p:spPr>
          <a:xfrm>
            <a:off x="383666" y="4964216"/>
            <a:ext cx="640080" cy="502920"/>
          </a:xfrm>
          <a:prstGeom prst="rect">
            <a:avLst/>
          </a:prstGeom>
          <a:solidFill>
            <a:schemeClr val="bg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9" name="TextBox 38"/>
          <p:cNvSpPr txBox="1"/>
          <p:nvPr/>
        </p:nvSpPr>
        <p:spPr>
          <a:xfrm>
            <a:off x="383666" y="5106383"/>
            <a:ext cx="640080" cy="218586"/>
          </a:xfrm>
          <a:prstGeom prst="rect">
            <a:avLst/>
          </a:prstGeom>
          <a:solidFill>
            <a:schemeClr val="bg1">
              <a:lumMod val="50000"/>
            </a:schemeClr>
          </a:solidFill>
        </p:spPr>
        <p:txBody>
          <a:bodyPr wrap="square" lIns="0" tIns="0" rIns="0" bIns="0" anchor="ctr">
            <a:spAutoFit/>
          </a:bodyPr>
          <a:lstStyle/>
          <a:p>
            <a:pPr algn="ctr">
              <a:lnSpc>
                <a:spcPct val="110000"/>
              </a:lnSpc>
              <a:spcBef>
                <a:spcPts val="0"/>
              </a:spcBef>
              <a:spcAft>
                <a:spcPts val="0"/>
              </a:spcAft>
            </a:pPr>
            <a:r>
              <a:rPr lang="en-US" sz="1400" b="1" i="0" noProof="0">
                <a:solidFill>
                  <a:srgbClr val="FFFFFF"/>
                </a:solidFill>
                <a:latin typeface="Helvetica Neue"/>
              </a:rPr>
              <a:t>R5</a:t>
            </a:r>
          </a:p>
        </p:txBody>
      </p:sp>
      <p:sp>
        <p:nvSpPr>
          <p:cNvPr id="40" name="TextBox 39"/>
          <p:cNvSpPr txBox="1"/>
          <p:nvPr/>
        </p:nvSpPr>
        <p:spPr>
          <a:xfrm>
            <a:off x="1160906" y="4918496"/>
            <a:ext cx="8686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Global vs SAP drift</a:t>
            </a:r>
          </a:p>
        </p:txBody>
      </p:sp>
      <p:sp>
        <p:nvSpPr>
          <p:cNvPr id="41" name="TextBox 40"/>
          <p:cNvSpPr txBox="1"/>
          <p:nvPr/>
        </p:nvSpPr>
        <p:spPr>
          <a:xfrm>
            <a:off x="1160906" y="5211104"/>
            <a:ext cx="86868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With no enterprise-level reconciliation, the two SAP footprints evolve independently. Integration cost grows silently each quarter.</a:t>
            </a:r>
          </a:p>
        </p:txBody>
      </p:sp>
      <p:sp>
        <p:nvSpPr>
          <p:cNvPr id="42" name="Rounded Rectangle 41"/>
          <p:cNvSpPr/>
          <p:nvPr/>
        </p:nvSpPr>
        <p:spPr>
          <a:xfrm>
            <a:off x="10030586" y="5101376"/>
            <a:ext cx="1417320" cy="274320"/>
          </a:xfrm>
          <a:prstGeom prst="round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3" name="TextBox 42"/>
          <p:cNvSpPr txBox="1"/>
          <p:nvPr/>
        </p:nvSpPr>
        <p:spPr>
          <a:xfrm>
            <a:off x="10030586" y="5176083"/>
            <a:ext cx="1417320" cy="124906"/>
          </a:xfrm>
          <a:prstGeom prst="rect">
            <a:avLst/>
          </a:prstGeom>
          <a:noFill/>
        </p:spPr>
        <p:txBody>
          <a:bodyPr wrap="square" lIns="0" tIns="0" rIns="0" bIns="0" anchor="ctr">
            <a:spAutoFit/>
          </a:bodyPr>
          <a:lstStyle/>
          <a:p>
            <a:pPr algn="ctr">
              <a:lnSpc>
                <a:spcPct val="110000"/>
              </a:lnSpc>
              <a:spcBef>
                <a:spcPts val="0"/>
              </a:spcBef>
              <a:spcAft>
                <a:spcPts val="0"/>
              </a:spcAft>
            </a:pPr>
            <a:r>
              <a:rPr lang="en-US" sz="800" b="1" i="0" noProof="0">
                <a:solidFill>
                  <a:srgbClr val="FFFFFF"/>
                </a:solidFill>
                <a:latin typeface="Helvetica Neue"/>
              </a:rPr>
              <a:t>MEDIUM</a:t>
            </a:r>
          </a:p>
        </p:txBody>
      </p:sp>
      <p:sp>
        <p:nvSpPr>
          <p:cNvPr id="44" name="Rectangle 43"/>
          <p:cNvSpPr/>
          <p:nvPr/>
        </p:nvSpPr>
        <p:spPr>
          <a:xfrm>
            <a:off x="246506" y="5752886"/>
            <a:ext cx="1127455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5" name="TextBox 44"/>
          <p:cNvSpPr txBox="1"/>
          <p:nvPr/>
        </p:nvSpPr>
        <p:spPr>
          <a:xfrm>
            <a:off x="475106" y="5918457"/>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These risks compound — the longer the TOM is deferred, the harder the reset. The Baseline recommends beginning TOM design this quarter</a:t>
            </a:r>
          </a:p>
        </p:txBody>
      </p:sp>
      <p:sp>
        <p:nvSpPr>
          <p:cNvPr id="59" name="Título 2">
            <a:extLst>
              <a:ext uri="{FF2B5EF4-FFF2-40B4-BE49-F238E27FC236}">
                <a16:creationId xmlns:a16="http://schemas.microsoft.com/office/drawing/2014/main" id="{7C30A918-5C9B-49CE-1E23-CA4EEFB86F07}"/>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INSIGHTS</a:t>
            </a:r>
          </a:p>
        </p:txBody>
      </p:sp>
      <p:sp>
        <p:nvSpPr>
          <p:cNvPr id="61" name="TextBox 60"/>
          <p:cNvSpPr txBox="1"/>
          <p:nvPr/>
        </p:nvSpPr>
        <p:spPr>
          <a:xfrm>
            <a:off x="246506" y="853654"/>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a:t>Five compounding risks if the current operating model is carried into 30–50% growth unchanged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6506" y="1477509"/>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4"/>
          <p:cNvSpPr/>
          <p:nvPr/>
        </p:nvSpPr>
        <p:spPr>
          <a:xfrm>
            <a:off x="246506" y="1477509"/>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6" name="TextBox 5"/>
          <p:cNvSpPr txBox="1"/>
          <p:nvPr/>
        </p:nvSpPr>
        <p:spPr>
          <a:xfrm>
            <a:off x="475106" y="1614669"/>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01</a:t>
            </a:r>
          </a:p>
        </p:txBody>
      </p:sp>
      <p:sp>
        <p:nvSpPr>
          <p:cNvPr id="7" name="TextBox 6"/>
          <p:cNvSpPr txBox="1"/>
          <p:nvPr/>
        </p:nvSpPr>
        <p:spPr>
          <a:xfrm>
            <a:off x="1160906" y="1642101"/>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Single Front Door</a:t>
            </a:r>
          </a:p>
        </p:txBody>
      </p:sp>
      <p:sp>
        <p:nvSpPr>
          <p:cNvPr id="8" name="TextBox 7"/>
          <p:cNvSpPr txBox="1"/>
          <p:nvPr/>
        </p:nvSpPr>
        <p:spPr>
          <a:xfrm>
            <a:off x="1160906" y="1980429"/>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One structured intake process for all demand types, replacing the 6+ disconnected channels.</a:t>
            </a:r>
          </a:p>
        </p:txBody>
      </p:sp>
      <p:sp>
        <p:nvSpPr>
          <p:cNvPr id="9" name="Rectangle 8"/>
          <p:cNvSpPr/>
          <p:nvPr/>
        </p:nvSpPr>
        <p:spPr>
          <a:xfrm>
            <a:off x="246506" y="2556501"/>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0" name="Rectangle 9"/>
          <p:cNvSpPr/>
          <p:nvPr/>
        </p:nvSpPr>
        <p:spPr>
          <a:xfrm>
            <a:off x="246506" y="2556501"/>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1" name="TextBox 10"/>
          <p:cNvSpPr txBox="1"/>
          <p:nvPr/>
        </p:nvSpPr>
        <p:spPr>
          <a:xfrm>
            <a:off x="475106" y="2693661"/>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02</a:t>
            </a:r>
          </a:p>
        </p:txBody>
      </p:sp>
      <p:sp>
        <p:nvSpPr>
          <p:cNvPr id="12" name="TextBox 11"/>
          <p:cNvSpPr txBox="1"/>
          <p:nvPr/>
        </p:nvSpPr>
        <p:spPr>
          <a:xfrm>
            <a:off x="1160906" y="2721093"/>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Value-Based Prioritization</a:t>
            </a:r>
          </a:p>
        </p:txBody>
      </p:sp>
      <p:sp>
        <p:nvSpPr>
          <p:cNvPr id="13" name="TextBox 12"/>
          <p:cNvSpPr txBox="1"/>
          <p:nvPr/>
        </p:nvSpPr>
        <p:spPr>
          <a:xfrm>
            <a:off x="1160906" y="3059421"/>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Standardized scoring framework across both branches — objective criteria, not ad-hoc forums.</a:t>
            </a:r>
          </a:p>
        </p:txBody>
      </p:sp>
      <p:sp>
        <p:nvSpPr>
          <p:cNvPr id="14" name="Rectangle 13"/>
          <p:cNvSpPr/>
          <p:nvPr/>
        </p:nvSpPr>
        <p:spPr>
          <a:xfrm>
            <a:off x="246506" y="3635493"/>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5" name="Rectangle 14"/>
          <p:cNvSpPr/>
          <p:nvPr/>
        </p:nvSpPr>
        <p:spPr>
          <a:xfrm>
            <a:off x="246506" y="3635493"/>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6" name="TextBox 15"/>
          <p:cNvSpPr txBox="1"/>
          <p:nvPr/>
        </p:nvSpPr>
        <p:spPr>
          <a:xfrm>
            <a:off x="475106" y="3772653"/>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03</a:t>
            </a:r>
          </a:p>
        </p:txBody>
      </p:sp>
      <p:sp>
        <p:nvSpPr>
          <p:cNvPr id="17" name="TextBox 16"/>
          <p:cNvSpPr txBox="1"/>
          <p:nvPr/>
        </p:nvSpPr>
        <p:spPr>
          <a:xfrm>
            <a:off x="1160906" y="3800085"/>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Capacity-Aware Assignment</a:t>
            </a:r>
          </a:p>
        </p:txBody>
      </p:sp>
      <p:sp>
        <p:nvSpPr>
          <p:cNvPr id="18" name="TextBox 17"/>
          <p:cNvSpPr txBox="1"/>
          <p:nvPr/>
        </p:nvSpPr>
        <p:spPr>
          <a:xfrm>
            <a:off x="1160906" y="4138413"/>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Assignment paired with capacity visibility — not manual handoffs with opaque availability.</a:t>
            </a:r>
          </a:p>
        </p:txBody>
      </p:sp>
      <p:sp>
        <p:nvSpPr>
          <p:cNvPr id="19" name="Rectangle 18"/>
          <p:cNvSpPr/>
          <p:nvPr/>
        </p:nvSpPr>
        <p:spPr>
          <a:xfrm>
            <a:off x="246506" y="4714485"/>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p:cNvSpPr/>
          <p:nvPr/>
        </p:nvSpPr>
        <p:spPr>
          <a:xfrm>
            <a:off x="246506" y="4714485"/>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0"/>
          <p:cNvSpPr txBox="1"/>
          <p:nvPr/>
        </p:nvSpPr>
        <p:spPr>
          <a:xfrm>
            <a:off x="475106" y="4851645"/>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04</a:t>
            </a:r>
          </a:p>
        </p:txBody>
      </p:sp>
      <p:sp>
        <p:nvSpPr>
          <p:cNvPr id="22" name="TextBox 21"/>
          <p:cNvSpPr txBox="1"/>
          <p:nvPr/>
        </p:nvSpPr>
        <p:spPr>
          <a:xfrm>
            <a:off x="1160906" y="4879077"/>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Standardized Execution Platforms</a:t>
            </a:r>
          </a:p>
        </p:txBody>
      </p:sp>
      <p:sp>
        <p:nvSpPr>
          <p:cNvPr id="23" name="TextBox 22"/>
          <p:cNvSpPr txBox="1"/>
          <p:nvPr/>
        </p:nvSpPr>
        <p:spPr>
          <a:xfrm>
            <a:off x="1160906" y="5217405"/>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Jira for Agile delivery (small / medium + evolutive work); PPM Now for Waterfall delivery (large projects + CAPEX). Consistent tracking and management across both tracks.</a:t>
            </a:r>
          </a:p>
        </p:txBody>
      </p:sp>
      <p:sp>
        <p:nvSpPr>
          <p:cNvPr id="24" name="Rectangle 23"/>
          <p:cNvSpPr/>
          <p:nvPr/>
        </p:nvSpPr>
        <p:spPr>
          <a:xfrm>
            <a:off x="5988938" y="1477509"/>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5" name="Rectangle 24"/>
          <p:cNvSpPr/>
          <p:nvPr/>
        </p:nvSpPr>
        <p:spPr>
          <a:xfrm>
            <a:off x="5988938" y="1477509"/>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6" name="TextBox 25"/>
          <p:cNvSpPr txBox="1"/>
          <p:nvPr/>
        </p:nvSpPr>
        <p:spPr>
          <a:xfrm>
            <a:off x="6217538" y="1614669"/>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05</a:t>
            </a:r>
          </a:p>
        </p:txBody>
      </p:sp>
      <p:sp>
        <p:nvSpPr>
          <p:cNvPr id="27" name="TextBox 26"/>
          <p:cNvSpPr txBox="1"/>
          <p:nvPr/>
        </p:nvSpPr>
        <p:spPr>
          <a:xfrm>
            <a:off x="6903338" y="1642101"/>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Integrated Toolchain</a:t>
            </a:r>
          </a:p>
        </p:txBody>
      </p:sp>
      <p:sp>
        <p:nvSpPr>
          <p:cNvPr id="28" name="TextBox 27"/>
          <p:cNvSpPr txBox="1"/>
          <p:nvPr/>
        </p:nvSpPr>
        <p:spPr>
          <a:xfrm>
            <a:off x="6903338" y="1980429"/>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Intake + Jira + PPM Now — three core platforms interoperable across Applications and Customer Services.</a:t>
            </a:r>
          </a:p>
        </p:txBody>
      </p:sp>
      <p:sp>
        <p:nvSpPr>
          <p:cNvPr id="29" name="Rectangle 28"/>
          <p:cNvSpPr/>
          <p:nvPr/>
        </p:nvSpPr>
        <p:spPr>
          <a:xfrm>
            <a:off x="5988938" y="2556501"/>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0" name="Rectangle 29"/>
          <p:cNvSpPr/>
          <p:nvPr/>
        </p:nvSpPr>
        <p:spPr>
          <a:xfrm>
            <a:off x="5988938" y="2556501"/>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1" name="TextBox 30"/>
          <p:cNvSpPr txBox="1"/>
          <p:nvPr/>
        </p:nvSpPr>
        <p:spPr>
          <a:xfrm>
            <a:off x="6217538" y="2693661"/>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06</a:t>
            </a:r>
          </a:p>
        </p:txBody>
      </p:sp>
      <p:sp>
        <p:nvSpPr>
          <p:cNvPr id="32" name="TextBox 31"/>
          <p:cNvSpPr txBox="1"/>
          <p:nvPr/>
        </p:nvSpPr>
        <p:spPr>
          <a:xfrm>
            <a:off x="6903338" y="2721093"/>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Automated Reporting </a:t>
            </a:r>
          </a:p>
        </p:txBody>
      </p:sp>
      <p:sp>
        <p:nvSpPr>
          <p:cNvPr id="33" name="TextBox 32"/>
          <p:cNvSpPr txBox="1"/>
          <p:nvPr/>
        </p:nvSpPr>
        <p:spPr>
          <a:xfrm>
            <a:off x="6903338" y="3059421"/>
            <a:ext cx="44805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Real-time dashboards from a single source of truth — replacing manual data gathering.</a:t>
            </a:r>
          </a:p>
        </p:txBody>
      </p:sp>
      <p:sp>
        <p:nvSpPr>
          <p:cNvPr id="34" name="Rectangle 33"/>
          <p:cNvSpPr/>
          <p:nvPr/>
        </p:nvSpPr>
        <p:spPr>
          <a:xfrm>
            <a:off x="5988938" y="3635493"/>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5" name="Rectangle 34"/>
          <p:cNvSpPr/>
          <p:nvPr/>
        </p:nvSpPr>
        <p:spPr>
          <a:xfrm>
            <a:off x="5988938" y="3635493"/>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36" name="TextBox 35"/>
          <p:cNvSpPr txBox="1"/>
          <p:nvPr/>
        </p:nvSpPr>
        <p:spPr>
          <a:xfrm>
            <a:off x="6217538" y="3772653"/>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07</a:t>
            </a:r>
          </a:p>
        </p:txBody>
      </p:sp>
      <p:sp>
        <p:nvSpPr>
          <p:cNvPr id="37" name="TextBox 36"/>
          <p:cNvSpPr txBox="1"/>
          <p:nvPr/>
        </p:nvSpPr>
        <p:spPr>
          <a:xfrm>
            <a:off x="6903338" y="3800085"/>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Defined RACI per Lifecycle Phase</a:t>
            </a:r>
          </a:p>
        </p:txBody>
      </p:sp>
      <p:sp>
        <p:nvSpPr>
          <p:cNvPr id="38" name="TextBox 37"/>
          <p:cNvSpPr txBox="1"/>
          <p:nvPr/>
        </p:nvSpPr>
        <p:spPr>
          <a:xfrm>
            <a:off x="6903338" y="4138413"/>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Unambiguous ownership and handoff protocols at every stage — from intake to deployment.</a:t>
            </a:r>
          </a:p>
        </p:txBody>
      </p:sp>
      <p:sp>
        <p:nvSpPr>
          <p:cNvPr id="41" name="Rectangle 40"/>
          <p:cNvSpPr/>
          <p:nvPr/>
        </p:nvSpPr>
        <p:spPr>
          <a:xfrm>
            <a:off x="246506" y="5897109"/>
            <a:ext cx="11365992"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42" name="TextBox 41"/>
          <p:cNvSpPr txBox="1"/>
          <p:nvPr/>
        </p:nvSpPr>
        <p:spPr>
          <a:xfrm>
            <a:off x="475106" y="6062680"/>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Helvetica Neue"/>
              </a:rPr>
              <a:t>These principles are not new — they extend the Transformation Vision already defined in SAP </a:t>
            </a:r>
            <a:r>
              <a:rPr lang="en-US" sz="1100" b="0" i="0" noProof="0" err="1">
                <a:solidFill>
                  <a:srgbClr val="FFFFFF"/>
                </a:solidFill>
                <a:latin typeface="Helvetica Neue"/>
              </a:rPr>
              <a:t>CoE</a:t>
            </a:r>
            <a:r>
              <a:rPr lang="en-US" sz="1100" b="0" i="0" noProof="0">
                <a:solidFill>
                  <a:srgbClr val="FFFFFF"/>
                </a:solidFill>
                <a:latin typeface="Helvetica Neue"/>
              </a:rPr>
              <a:t> New Ways of Working v2.0 with two baseline-specific additions</a:t>
            </a:r>
          </a:p>
        </p:txBody>
      </p:sp>
      <p:sp>
        <p:nvSpPr>
          <p:cNvPr id="57" name="Título 2">
            <a:extLst>
              <a:ext uri="{FF2B5EF4-FFF2-40B4-BE49-F238E27FC236}">
                <a16:creationId xmlns:a16="http://schemas.microsoft.com/office/drawing/2014/main" id="{6F07D382-6ED7-D111-BA49-4DC626DC5987}"/>
              </a:ext>
            </a:extLst>
          </p:cNvPr>
          <p:cNvSpPr txBox="1">
            <a:spLocks/>
          </p:cNvSpPr>
          <p:nvPr/>
        </p:nvSpPr>
        <p:spPr>
          <a:xfrm>
            <a:off x="180918" y="127319"/>
            <a:ext cx="780103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a:sym typeface="Gordita"/>
              </a:rPr>
              <a:t>INSIGHTS &amp; KEY DEFINITIONS FOR TO-BE MODEL</a:t>
            </a:r>
          </a:p>
          <a:p>
            <a:r>
              <a:rPr lang="en-US" sz="1200"/>
              <a:t>INSIGHTS</a:t>
            </a:r>
          </a:p>
        </p:txBody>
      </p:sp>
      <p:sp>
        <p:nvSpPr>
          <p:cNvPr id="19" name="Rectangle 18"/>
          <p:cNvSpPr/>
          <p:nvPr/>
        </p:nvSpPr>
        <p:spPr>
          <a:xfrm>
            <a:off x="5988938" y="4714485"/>
            <a:ext cx="5623560" cy="9875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0" name="Rectangle 19"/>
          <p:cNvSpPr/>
          <p:nvPr/>
        </p:nvSpPr>
        <p:spPr>
          <a:xfrm>
            <a:off x="5988938" y="4714485"/>
            <a:ext cx="5623560" cy="4572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TextBox 20"/>
          <p:cNvSpPr txBox="1"/>
          <p:nvPr/>
        </p:nvSpPr>
        <p:spPr>
          <a:xfrm>
            <a:off x="6217538" y="4851645"/>
            <a:ext cx="640080" cy="312330"/>
          </a:xfrm>
          <a:prstGeom prst="rect">
            <a:avLst/>
          </a:prstGeom>
          <a:noFill/>
        </p:spPr>
        <p:txBody>
          <a:bodyPr wrap="square" lIns="0" tIns="0" rIns="0" bIns="0" anchor="t">
            <a:spAutoFit/>
          </a:bodyPr>
          <a:lstStyle/>
          <a:p>
            <a:pPr algn="l">
              <a:lnSpc>
                <a:spcPct val="110000"/>
              </a:lnSpc>
              <a:spcBef>
                <a:spcPts val="0"/>
              </a:spcBef>
              <a:spcAft>
                <a:spcPts val="0"/>
              </a:spcAft>
            </a:pPr>
            <a:r>
              <a:rPr lang="en-US" sz="2000" b="1" i="0" noProof="0">
                <a:solidFill>
                  <a:srgbClr val="3B7D23"/>
                </a:solidFill>
                <a:latin typeface="Helvetica Neue"/>
              </a:rPr>
              <a:t>08</a:t>
            </a:r>
          </a:p>
        </p:txBody>
      </p:sp>
      <p:sp>
        <p:nvSpPr>
          <p:cNvPr id="22" name="TextBox 21"/>
          <p:cNvSpPr txBox="1"/>
          <p:nvPr/>
        </p:nvSpPr>
        <p:spPr>
          <a:xfrm>
            <a:off x="6903338" y="4879077"/>
            <a:ext cx="44805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3B7D23"/>
                </a:solidFill>
                <a:latin typeface="Helvetica Neue"/>
              </a:rPr>
              <a:t>Hybrid Delivery Model</a:t>
            </a:r>
          </a:p>
        </p:txBody>
      </p:sp>
      <p:sp>
        <p:nvSpPr>
          <p:cNvPr id="23" name="TextBox 22"/>
          <p:cNvSpPr txBox="1"/>
          <p:nvPr/>
        </p:nvSpPr>
        <p:spPr>
          <a:xfrm>
            <a:off x="6903338" y="5217405"/>
            <a:ext cx="44805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Helvetica Neue"/>
              </a:rPr>
              <a:t>Delivery method matched to demand type: Agile (Jira / squads) for small–medium + evolutive work; Waterfall (PDD + PPM Now) for large, CAPEX or regulatory projects. Shared intake and governance.</a:t>
            </a:r>
          </a:p>
        </p:txBody>
      </p:sp>
      <p:sp>
        <p:nvSpPr>
          <p:cNvPr id="58" name="TextBox 57"/>
          <p:cNvSpPr txBox="1"/>
          <p:nvPr/>
        </p:nvSpPr>
        <p:spPr>
          <a:xfrm>
            <a:off x="246506" y="843976"/>
            <a:ext cx="11274552" cy="430887"/>
          </a:xfrm>
          <a:prstGeom prst="rect">
            <a:avLst/>
          </a:prstGeom>
          <a:noFill/>
        </p:spPr>
        <p:txBody>
          <a:bodyPr wrap="square" lIns="0" rIns="0">
            <a:spAutoFit/>
          </a:bodyPr>
          <a:lstStyle/>
          <a:p>
            <a:pPr algn="l"/>
            <a:r>
              <a:rPr sz="1400" b="1">
                <a:solidFill>
                  <a:srgbClr val="2E6CB3"/>
                </a:solidFill>
                <a:latin typeface="Helvetica Neue"/>
              </a:rPr>
              <a:t>Eight principles guide the Target Operating Model — each answers one of the structural issues and is grounded in prior NTT work with Avangrid. From this Baseline: BRANCH-UNIFIED (Apps + CS) and PRODUCT-ORIENTED (Value Streams, not silos).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Avangrid">
  <a:themeElements>
    <a:clrScheme name="Iberdrola 2023">
      <a:dk1>
        <a:srgbClr val="3A3734"/>
      </a:dk1>
      <a:lt1>
        <a:srgbClr val="FFFFFF"/>
      </a:lt1>
      <a:dk2>
        <a:srgbClr val="00402A"/>
      </a:dk2>
      <a:lt2>
        <a:srgbClr val="DCEBE1"/>
      </a:lt2>
      <a:accent1>
        <a:srgbClr val="008C38"/>
      </a:accent1>
      <a:accent2>
        <a:srgbClr val="00A343"/>
      </a:accent2>
      <a:accent3>
        <a:srgbClr val="26BF64"/>
      </a:accent3>
      <a:accent4>
        <a:srgbClr val="5BD38C"/>
      </a:accent4>
      <a:accent5>
        <a:srgbClr val="0792E5"/>
      </a:accent5>
      <a:accent6>
        <a:srgbClr val="E3850D"/>
      </a:accent6>
      <a:hlink>
        <a:srgbClr val="008C38"/>
      </a:hlink>
      <a:folHlink>
        <a:srgbClr val="008C38"/>
      </a:folHlink>
    </a:clrScheme>
    <a:fontScheme name="Iberdrola">
      <a:majorFont>
        <a:latin typeface="IberPangea Text"/>
        <a:ea typeface=""/>
        <a:cs typeface=""/>
      </a:majorFont>
      <a:minorFont>
        <a:latin typeface="IberPangea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100" dirty="0" err="1" smtClean="0">
            <a:latin typeface="+mn-lt"/>
            <a:ea typeface="IberPangea Text Light" panose="020B0404000000000000" pitchFamily="34" charset="0"/>
            <a:cs typeface="IberPangea Text Light" panose="020B0404000000000000" pitchFamily="34" charset="0"/>
          </a:defRPr>
        </a:defPPr>
      </a:lstStyle>
    </a:txDef>
  </a:objectDefaults>
  <a:extraClrSchemeLst/>
  <a:extLst>
    <a:ext uri="{05A4C25C-085E-4340-85A3-A5531E510DB2}">
      <thm15:themeFamily xmlns:thm15="http://schemas.microsoft.com/office/thememl/2012/main" name="Avangrid" id="{C5E70BF2-7777-432B-A411-7C23E3B46B62}" vid="{B99387B5-4D1D-448C-9593-4509A862D83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696108-65C2-4D77-B41F-B885098F8EFC}">
  <ds:schemaRefs>
    <ds:schemaRef ds:uri="http://schemas.microsoft.com/sharepoint/v3/contenttype/forms"/>
  </ds:schemaRefs>
</ds:datastoreItem>
</file>

<file path=customXml/itemProps2.xml><?xml version="1.0" encoding="utf-8"?>
<ds:datastoreItem xmlns:ds="http://schemas.openxmlformats.org/officeDocument/2006/customXml" ds:itemID="{1566CE61-02D5-4455-BE12-83C970A7517A}">
  <ds:schemaRefs>
    <ds:schemaRef ds:uri="4b464e96-be12-433e-8722-39d5a0f59d28"/>
    <ds:schemaRef ds:uri="9af8d66c-8f78-4f3a-ae1c-6e82e7ed62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7E95531-F07C-42AF-887C-071A862F8871}">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Application>Microsoft Office PowerPoint</Application>
  <PresentationFormat>Widescreen</PresentationFormat>
  <Slides>44</Slides>
  <Notes>32</Notes>
  <HiddenSlides>7</HiddenSlides>
  <ScaleCrop>false</ScaleCrop>
  <HeadingPairs>
    <vt:vector size="4" baseType="variant">
      <vt:variant>
        <vt:lpstr>Tema</vt:lpstr>
      </vt:variant>
      <vt:variant>
        <vt:i4>2</vt:i4>
      </vt:variant>
      <vt:variant>
        <vt:lpstr>Títulos de slides</vt:lpstr>
      </vt:variant>
      <vt:variant>
        <vt:i4>44</vt:i4>
      </vt:variant>
    </vt:vector>
  </HeadingPairs>
  <TitlesOfParts>
    <vt:vector size="46" baseType="lpstr">
      <vt:lpstr>office theme</vt:lpstr>
      <vt:lpstr>1_Avangrid</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2026-04-14T18:42:14Z</dcterms:created>
  <dcterms:modified xsi:type="dcterms:W3CDTF">2026-04-22T15:12:32Z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