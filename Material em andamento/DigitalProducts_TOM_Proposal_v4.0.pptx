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2286000" cy="54864"/>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74519"/>
            <a:ext cx="7315200" cy="365760"/>
          </a:xfrm>
          <a:prstGeom prst="rect">
            <a:avLst/>
          </a:prstGeom>
          <a:noFill/>
        </p:spPr>
        <p:txBody>
          <a:bodyPr wrap="square" lIns="45720" rIns="45720" tIns="18288" bIns="18288" anchor="t">
            <a:spAutoFit/>
          </a:bodyPr>
          <a:lstStyle/>
          <a:p>
            <a:pPr algn="l"/>
            <a:r>
              <a:rPr sz="1400" b="1" i="0">
                <a:solidFill>
                  <a:srgbClr val="F9A825"/>
                </a:solidFill>
                <a:latin typeface="Arial"/>
              </a:rPr>
              <a:t>AVANGRID  ·  DIGITAL PRODUCTS</a:t>
            </a:r>
          </a:p>
        </p:txBody>
      </p:sp>
      <p:sp>
        <p:nvSpPr>
          <p:cNvPr id="5" name="TextBox 4"/>
          <p:cNvSpPr txBox="1"/>
          <p:nvPr/>
        </p:nvSpPr>
        <p:spPr>
          <a:xfrm>
            <a:off x="640080" y="2423160"/>
            <a:ext cx="10972800" cy="1371600"/>
          </a:xfrm>
          <a:prstGeom prst="rect">
            <a:avLst/>
          </a:prstGeom>
          <a:noFill/>
        </p:spPr>
        <p:txBody>
          <a:bodyPr wrap="square" lIns="45720" rIns="45720" tIns="18288" bIns="18288" anchor="t">
            <a:spAutoFit/>
          </a:bodyPr>
          <a:lstStyle/>
          <a:p>
            <a:pPr algn="l"/>
            <a:r>
              <a:rPr sz="5600" b="1" i="0">
                <a:solidFill>
                  <a:srgbClr val="FFFFFF"/>
                </a:solidFill>
                <a:latin typeface="Arial"/>
              </a:rPr>
              <a:t>Target Operating Model</a:t>
            </a:r>
          </a:p>
        </p:txBody>
      </p:sp>
      <p:sp>
        <p:nvSpPr>
          <p:cNvPr id="6" name="TextBox 5"/>
          <p:cNvSpPr txBox="1"/>
          <p:nvPr/>
        </p:nvSpPr>
        <p:spPr>
          <a:xfrm>
            <a:off x="640080" y="3611880"/>
            <a:ext cx="10972800" cy="548640"/>
          </a:xfrm>
          <a:prstGeom prst="rect">
            <a:avLst/>
          </a:prstGeom>
          <a:noFill/>
        </p:spPr>
        <p:txBody>
          <a:bodyPr wrap="square" lIns="45720" rIns="45720" tIns="18288" bIns="18288" anchor="t">
            <a:spAutoFit/>
          </a:bodyPr>
          <a:lstStyle/>
          <a:p>
            <a:pPr algn="l"/>
            <a:r>
              <a:rPr sz="2400" b="0" i="0">
                <a:solidFill>
                  <a:srgbClr val="2C578B"/>
                </a:solidFill>
                <a:latin typeface="Arial"/>
              </a:rPr>
              <a:t>Wave 1 — Demand Management Design &amp; Pilot</a:t>
            </a:r>
          </a:p>
        </p:txBody>
      </p:sp>
      <p:sp>
        <p:nvSpPr>
          <p:cNvPr id="7" name="TextBox 6"/>
          <p:cNvSpPr txBox="1"/>
          <p:nvPr/>
        </p:nvSpPr>
        <p:spPr>
          <a:xfrm>
            <a:off x="640080" y="4572000"/>
            <a:ext cx="10972800" cy="1097280"/>
          </a:xfrm>
          <a:prstGeom prst="rect">
            <a:avLst/>
          </a:prstGeom>
          <a:noFill/>
        </p:spPr>
        <p:txBody>
          <a:bodyPr wrap="square" lIns="45720" rIns="45720" tIns="18288" bIns="18288" anchor="t">
            <a:spAutoFit/>
          </a:bodyPr>
          <a:lstStyle/>
          <a:p>
            <a:pPr algn="l"/>
            <a:r>
              <a:rPr sz="1400" b="0" i="0">
                <a:solidFill>
                  <a:srgbClr val="FFFFFF"/>
                </a:solidFill>
                <a:latin typeface="Arial"/>
              </a:rPr>
              <a:t>A product-centric operating model for IT Business Applications and Customer Services Applications under VP IT Business Solutions Delivery.</a:t>
            </a:r>
          </a:p>
        </p:txBody>
      </p:sp>
      <p:sp>
        <p:nvSpPr>
          <p:cNvPr id="8" name="Rectangle 7"/>
          <p:cNvSpPr/>
          <p:nvPr/>
        </p:nvSpPr>
        <p:spPr>
          <a:xfrm>
            <a:off x="0" y="6309360"/>
            <a:ext cx="12191695" cy="5486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355080"/>
            <a:ext cx="9144000" cy="457200"/>
          </a:xfrm>
          <a:prstGeom prst="rect">
            <a:avLst/>
          </a:prstGeom>
          <a:noFill/>
        </p:spPr>
        <p:txBody>
          <a:bodyPr wrap="square" lIns="45720" rIns="45720" tIns="18288" bIns="18288" anchor="ctr">
            <a:spAutoFit/>
          </a:bodyPr>
          <a:lstStyle/>
          <a:p>
            <a:pPr algn="l"/>
            <a:r>
              <a:rPr sz="1200" b="1" i="0">
                <a:solidFill>
                  <a:srgbClr val="FFFFFF"/>
                </a:solidFill>
                <a:latin typeface="Arial"/>
              </a:rPr>
              <a:t>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6858000" cy="640080"/>
          </a:xfrm>
          <a:prstGeom prst="rect">
            <a:avLst/>
          </a:prstGeom>
          <a:noFill/>
        </p:spPr>
        <p:txBody>
          <a:bodyPr wrap="square" lIns="45720" rIns="45720" tIns="18288" bIns="18288" anchor="t">
            <a:spAutoFit/>
          </a:bodyPr>
          <a:lstStyle/>
          <a:p>
            <a:pPr algn="l"/>
            <a:r>
              <a:rPr sz="3400" b="1" i="0">
                <a:solidFill>
                  <a:srgbClr val="0B76A0"/>
                </a:solidFill>
                <a:latin typeface="Arial"/>
              </a:rPr>
              <a:t>Table of contents</a:t>
            </a:r>
          </a:p>
        </p:txBody>
      </p:sp>
      <p:sp>
        <p:nvSpPr>
          <p:cNvPr id="3" name="Oval 2"/>
          <p:cNvSpPr/>
          <p:nvPr/>
        </p:nvSpPr>
        <p:spPr>
          <a:xfrm>
            <a:off x="4297680" y="502920"/>
            <a:ext cx="502920" cy="502920"/>
          </a:xfrm>
          <a:prstGeom prst="ellipse">
            <a:avLst/>
          </a:prstGeom>
          <a:solidFill>
            <a:srgbClr val="0B7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0" y="502920"/>
            <a:ext cx="502920" cy="502920"/>
          </a:xfrm>
          <a:prstGeom prst="rect">
            <a:avLst/>
          </a:prstGeom>
          <a:noFill/>
        </p:spPr>
        <p:txBody>
          <a:bodyPr wrap="square" lIns="45720" rIns="45720" tIns="18288" bIns="18288" anchor="ctr">
            <a:spAutoFit/>
          </a:bodyPr>
          <a:lstStyle/>
          <a:p>
            <a:pPr algn="ctr"/>
            <a:r>
              <a:rPr sz="2000" b="1" i="0">
                <a:solidFill>
                  <a:srgbClr val="FFFFFF"/>
                </a:solidFill>
                <a:latin typeface="Arial"/>
              </a:rPr>
              <a:t>▶</a:t>
            </a:r>
          </a:p>
        </p:txBody>
      </p:sp>
      <p:sp>
        <p:nvSpPr>
          <p:cNvPr id="5" name="TextBox 4"/>
          <p:cNvSpPr txBox="1"/>
          <p:nvPr/>
        </p:nvSpPr>
        <p:spPr>
          <a:xfrm>
            <a:off x="9905695" y="411480"/>
            <a:ext cx="1828800" cy="457200"/>
          </a:xfrm>
          <a:prstGeom prst="rect">
            <a:avLst/>
          </a:prstGeom>
          <a:noFill/>
        </p:spPr>
        <p:txBody>
          <a:bodyPr wrap="square" lIns="45720" rIns="45720" tIns="18288" bIns="18288" anchor="ctr">
            <a:spAutoFit/>
          </a:bodyPr>
          <a:lstStyle/>
          <a:p>
            <a:pPr algn="r"/>
            <a:r>
              <a:rPr sz="1400" b="1" i="0">
                <a:solidFill>
                  <a:srgbClr val="0F1C50"/>
                </a:solidFill>
                <a:latin typeface="Arial"/>
              </a:rPr>
              <a:t>NTT  DATA</a:t>
            </a:r>
          </a:p>
        </p:txBody>
      </p:sp>
      <p:sp>
        <p:nvSpPr>
          <p:cNvPr id="6" name="TextBox 5"/>
          <p:cNvSpPr txBox="1"/>
          <p:nvPr/>
        </p:nvSpPr>
        <p:spPr>
          <a:xfrm>
            <a:off x="640080" y="1371600"/>
            <a:ext cx="868680" cy="777240"/>
          </a:xfrm>
          <a:prstGeom prst="rect">
            <a:avLst/>
          </a:prstGeom>
          <a:noFill/>
        </p:spPr>
        <p:txBody>
          <a:bodyPr wrap="square" lIns="45720" rIns="45720" tIns="18288" bIns="18288" anchor="t">
            <a:spAutoFit/>
          </a:bodyPr>
          <a:lstStyle/>
          <a:p>
            <a:pPr algn="l"/>
            <a:r>
              <a:rPr sz="4400" b="1" i="0">
                <a:solidFill>
                  <a:srgbClr val="0F1C50"/>
                </a:solidFill>
                <a:latin typeface="Arial"/>
              </a:rPr>
              <a:t>01</a:t>
            </a:r>
          </a:p>
        </p:txBody>
      </p:sp>
      <p:sp>
        <p:nvSpPr>
          <p:cNvPr id="7" name="TextBox 6"/>
          <p:cNvSpPr txBox="1"/>
          <p:nvPr/>
        </p:nvSpPr>
        <p:spPr>
          <a:xfrm>
            <a:off x="1554480" y="1417320"/>
            <a:ext cx="4541367" cy="365760"/>
          </a:xfrm>
          <a:prstGeom prst="rect">
            <a:avLst/>
          </a:prstGeom>
          <a:noFill/>
        </p:spPr>
        <p:txBody>
          <a:bodyPr wrap="square" lIns="45720" rIns="45720" tIns="18288" bIns="18288" anchor="t">
            <a:spAutoFit/>
          </a:bodyPr>
          <a:lstStyle/>
          <a:p>
            <a:pPr algn="l"/>
            <a:r>
              <a:rPr sz="1800" b="1" i="0">
                <a:solidFill>
                  <a:srgbClr val="0F1C50"/>
                </a:solidFill>
                <a:latin typeface="Arial"/>
              </a:rPr>
              <a:t>Context</a:t>
            </a:r>
          </a:p>
        </p:txBody>
      </p:sp>
      <p:sp>
        <p:nvSpPr>
          <p:cNvPr id="8" name="TextBox 7"/>
          <p:cNvSpPr txBox="1"/>
          <p:nvPr/>
        </p:nvSpPr>
        <p:spPr>
          <a:xfrm>
            <a:off x="1554480" y="1828800"/>
            <a:ext cx="4541367" cy="640080"/>
          </a:xfrm>
          <a:prstGeom prst="rect">
            <a:avLst/>
          </a:prstGeom>
          <a:noFill/>
        </p:spPr>
        <p:txBody>
          <a:bodyPr wrap="square" lIns="45720" rIns="45720" tIns="18288" bIns="18288" anchor="t">
            <a:spAutoFit/>
          </a:bodyPr>
          <a:lstStyle/>
          <a:p>
            <a:pPr algn="l"/>
            <a:r>
              <a:rPr sz="1050" b="0" i="0">
                <a:solidFill>
                  <a:srgbClr val="2C3E50"/>
                </a:solidFill>
                <a:latin typeface="Arial"/>
              </a:rPr>
              <a:t>Why Avangrid is consolidating Customer Services and IT Business Apps into Digital Products.</a:t>
            </a:r>
          </a:p>
        </p:txBody>
      </p:sp>
      <p:sp>
        <p:nvSpPr>
          <p:cNvPr id="9" name="TextBox 8"/>
          <p:cNvSpPr txBox="1"/>
          <p:nvPr/>
        </p:nvSpPr>
        <p:spPr>
          <a:xfrm>
            <a:off x="640080" y="2606040"/>
            <a:ext cx="868680" cy="777240"/>
          </a:xfrm>
          <a:prstGeom prst="rect">
            <a:avLst/>
          </a:prstGeom>
          <a:noFill/>
        </p:spPr>
        <p:txBody>
          <a:bodyPr wrap="square" lIns="45720" rIns="45720" tIns="18288" bIns="18288" anchor="t">
            <a:spAutoFit/>
          </a:bodyPr>
          <a:lstStyle/>
          <a:p>
            <a:pPr algn="l"/>
            <a:r>
              <a:rPr sz="4400" b="1" i="0">
                <a:solidFill>
                  <a:srgbClr val="0F1C50"/>
                </a:solidFill>
                <a:latin typeface="Arial"/>
              </a:rPr>
              <a:t>02</a:t>
            </a:r>
          </a:p>
        </p:txBody>
      </p:sp>
      <p:sp>
        <p:nvSpPr>
          <p:cNvPr id="10" name="TextBox 9"/>
          <p:cNvSpPr txBox="1"/>
          <p:nvPr/>
        </p:nvSpPr>
        <p:spPr>
          <a:xfrm>
            <a:off x="1554480" y="2651760"/>
            <a:ext cx="4541367" cy="365760"/>
          </a:xfrm>
          <a:prstGeom prst="rect">
            <a:avLst/>
          </a:prstGeom>
          <a:noFill/>
        </p:spPr>
        <p:txBody>
          <a:bodyPr wrap="square" lIns="45720" rIns="45720" tIns="18288" bIns="18288" anchor="t">
            <a:spAutoFit/>
          </a:bodyPr>
          <a:lstStyle/>
          <a:p>
            <a:pPr algn="l"/>
            <a:r>
              <a:rPr sz="1800" b="1" i="0">
                <a:solidFill>
                  <a:srgbClr val="0F1C50"/>
                </a:solidFill>
                <a:latin typeface="Arial"/>
              </a:rPr>
              <a:t>Executive Summary</a:t>
            </a:r>
          </a:p>
        </p:txBody>
      </p:sp>
      <p:sp>
        <p:nvSpPr>
          <p:cNvPr id="11" name="TextBox 10"/>
          <p:cNvSpPr txBox="1"/>
          <p:nvPr/>
        </p:nvSpPr>
        <p:spPr>
          <a:xfrm>
            <a:off x="1554480" y="3063240"/>
            <a:ext cx="4541367" cy="640080"/>
          </a:xfrm>
          <a:prstGeom prst="rect">
            <a:avLst/>
          </a:prstGeom>
          <a:noFill/>
        </p:spPr>
        <p:txBody>
          <a:bodyPr wrap="square" lIns="45720" rIns="45720" tIns="18288" bIns="18288" anchor="t">
            <a:spAutoFit/>
          </a:bodyPr>
          <a:lstStyle/>
          <a:p>
            <a:pPr algn="l"/>
            <a:r>
              <a:rPr sz="1050" b="0" i="0">
                <a:solidFill>
                  <a:srgbClr val="2C3E50"/>
                </a:solidFill>
                <a:latin typeface="Arial"/>
              </a:rPr>
              <a:t>The proposal in one page — scope, structural issues, governing principles, decisions ahead.</a:t>
            </a:r>
          </a:p>
        </p:txBody>
      </p:sp>
      <p:sp>
        <p:nvSpPr>
          <p:cNvPr id="12" name="TextBox 11"/>
          <p:cNvSpPr txBox="1"/>
          <p:nvPr/>
        </p:nvSpPr>
        <p:spPr>
          <a:xfrm>
            <a:off x="640080" y="3840480"/>
            <a:ext cx="868680" cy="777240"/>
          </a:xfrm>
          <a:prstGeom prst="rect">
            <a:avLst/>
          </a:prstGeom>
          <a:noFill/>
        </p:spPr>
        <p:txBody>
          <a:bodyPr wrap="square" lIns="45720" rIns="45720" tIns="18288" bIns="18288" anchor="t">
            <a:spAutoFit/>
          </a:bodyPr>
          <a:lstStyle/>
          <a:p>
            <a:pPr algn="l"/>
            <a:r>
              <a:rPr sz="4400" b="1" i="0">
                <a:solidFill>
                  <a:srgbClr val="0F1C50"/>
                </a:solidFill>
                <a:latin typeface="Arial"/>
              </a:rPr>
              <a:t>03</a:t>
            </a:r>
          </a:p>
        </p:txBody>
      </p:sp>
      <p:sp>
        <p:nvSpPr>
          <p:cNvPr id="13" name="TextBox 12"/>
          <p:cNvSpPr txBox="1"/>
          <p:nvPr/>
        </p:nvSpPr>
        <p:spPr>
          <a:xfrm>
            <a:off x="1554480" y="3886200"/>
            <a:ext cx="4541367" cy="365760"/>
          </a:xfrm>
          <a:prstGeom prst="rect">
            <a:avLst/>
          </a:prstGeom>
          <a:noFill/>
        </p:spPr>
        <p:txBody>
          <a:bodyPr wrap="square" lIns="45720" rIns="45720" tIns="18288" bIns="18288" anchor="t">
            <a:spAutoFit/>
          </a:bodyPr>
          <a:lstStyle/>
          <a:p>
            <a:pPr algn="l"/>
            <a:r>
              <a:rPr sz="1800" b="1" i="0">
                <a:solidFill>
                  <a:srgbClr val="0F1C50"/>
                </a:solidFill>
                <a:latin typeface="Arial"/>
              </a:rPr>
              <a:t>Current State Analysis</a:t>
            </a:r>
          </a:p>
        </p:txBody>
      </p:sp>
      <p:sp>
        <p:nvSpPr>
          <p:cNvPr id="14" name="TextBox 13"/>
          <p:cNvSpPr txBox="1"/>
          <p:nvPr/>
        </p:nvSpPr>
        <p:spPr>
          <a:xfrm>
            <a:off x="1554480" y="4297680"/>
            <a:ext cx="4541367" cy="640080"/>
          </a:xfrm>
          <a:prstGeom prst="rect">
            <a:avLst/>
          </a:prstGeom>
          <a:noFill/>
        </p:spPr>
        <p:txBody>
          <a:bodyPr wrap="square" lIns="45720" rIns="45720" tIns="18288" bIns="18288" anchor="t">
            <a:spAutoFit/>
          </a:bodyPr>
          <a:lstStyle/>
          <a:p>
            <a:pPr algn="l"/>
            <a:r>
              <a:rPr sz="1050" b="0" i="0">
                <a:solidFill>
                  <a:srgbClr val="2C3E50"/>
                </a:solidFill>
                <a:latin typeface="Arial"/>
              </a:rPr>
              <a:t>Vitor Cruz's three director branches, ~50 FTE, sub-team mapping and existing champions.</a:t>
            </a:r>
          </a:p>
        </p:txBody>
      </p:sp>
      <p:sp>
        <p:nvSpPr>
          <p:cNvPr id="15" name="TextBox 14"/>
          <p:cNvSpPr txBox="1"/>
          <p:nvPr/>
        </p:nvSpPr>
        <p:spPr>
          <a:xfrm>
            <a:off x="640080" y="5074920"/>
            <a:ext cx="868680" cy="777240"/>
          </a:xfrm>
          <a:prstGeom prst="rect">
            <a:avLst/>
          </a:prstGeom>
          <a:noFill/>
        </p:spPr>
        <p:txBody>
          <a:bodyPr wrap="square" lIns="45720" rIns="45720" tIns="18288" bIns="18288" anchor="t">
            <a:spAutoFit/>
          </a:bodyPr>
          <a:lstStyle/>
          <a:p>
            <a:pPr algn="l"/>
            <a:r>
              <a:rPr sz="4400" b="1" i="0">
                <a:solidFill>
                  <a:srgbClr val="0F1C50"/>
                </a:solidFill>
                <a:latin typeface="Arial"/>
              </a:rPr>
              <a:t>04</a:t>
            </a:r>
          </a:p>
        </p:txBody>
      </p:sp>
      <p:sp>
        <p:nvSpPr>
          <p:cNvPr id="16" name="TextBox 15"/>
          <p:cNvSpPr txBox="1"/>
          <p:nvPr/>
        </p:nvSpPr>
        <p:spPr>
          <a:xfrm>
            <a:off x="1554480" y="5120640"/>
            <a:ext cx="4541367" cy="365760"/>
          </a:xfrm>
          <a:prstGeom prst="rect">
            <a:avLst/>
          </a:prstGeom>
          <a:noFill/>
        </p:spPr>
        <p:txBody>
          <a:bodyPr wrap="square" lIns="45720" rIns="45720" tIns="18288" bIns="18288" anchor="t">
            <a:spAutoFit/>
          </a:bodyPr>
          <a:lstStyle/>
          <a:p>
            <a:pPr algn="l"/>
            <a:r>
              <a:rPr sz="1800" b="1" i="0">
                <a:solidFill>
                  <a:srgbClr val="0F1C50"/>
                </a:solidFill>
                <a:latin typeface="Arial"/>
              </a:rPr>
              <a:t>Structural Issues &amp; Guiding Principles</a:t>
            </a:r>
          </a:p>
        </p:txBody>
      </p:sp>
      <p:sp>
        <p:nvSpPr>
          <p:cNvPr id="17" name="TextBox 16"/>
          <p:cNvSpPr txBox="1"/>
          <p:nvPr/>
        </p:nvSpPr>
        <p:spPr>
          <a:xfrm>
            <a:off x="1554480" y="5532120"/>
            <a:ext cx="4541367" cy="640080"/>
          </a:xfrm>
          <a:prstGeom prst="rect">
            <a:avLst/>
          </a:prstGeom>
          <a:noFill/>
        </p:spPr>
        <p:txBody>
          <a:bodyPr wrap="square" lIns="45720" rIns="45720" tIns="18288" bIns="18288" anchor="t">
            <a:spAutoFit/>
          </a:bodyPr>
          <a:lstStyle/>
          <a:p>
            <a:pPr algn="l"/>
            <a:r>
              <a:rPr sz="1050" b="0" i="0">
                <a:solidFill>
                  <a:srgbClr val="2C3E50"/>
                </a:solidFill>
                <a:latin typeface="Arial"/>
              </a:rPr>
              <a:t>Seven structural issues from the AS-IS, four guiding principles that resolve them.</a:t>
            </a:r>
          </a:p>
        </p:txBody>
      </p:sp>
      <p:sp>
        <p:nvSpPr>
          <p:cNvPr id="18" name="TextBox 17"/>
          <p:cNvSpPr txBox="1"/>
          <p:nvPr/>
        </p:nvSpPr>
        <p:spPr>
          <a:xfrm>
            <a:off x="6370167" y="1371600"/>
            <a:ext cx="868680" cy="777240"/>
          </a:xfrm>
          <a:prstGeom prst="rect">
            <a:avLst/>
          </a:prstGeom>
          <a:noFill/>
        </p:spPr>
        <p:txBody>
          <a:bodyPr wrap="square" lIns="45720" rIns="45720" tIns="18288" bIns="18288" anchor="t">
            <a:spAutoFit/>
          </a:bodyPr>
          <a:lstStyle/>
          <a:p>
            <a:pPr algn="l"/>
            <a:r>
              <a:rPr sz="4400" b="1" i="0">
                <a:solidFill>
                  <a:srgbClr val="0F1C50"/>
                </a:solidFill>
                <a:latin typeface="Arial"/>
              </a:rPr>
              <a:t>05</a:t>
            </a:r>
          </a:p>
        </p:txBody>
      </p:sp>
      <p:sp>
        <p:nvSpPr>
          <p:cNvPr id="19" name="TextBox 18"/>
          <p:cNvSpPr txBox="1"/>
          <p:nvPr/>
        </p:nvSpPr>
        <p:spPr>
          <a:xfrm>
            <a:off x="7284567" y="1417320"/>
            <a:ext cx="4541367" cy="365760"/>
          </a:xfrm>
          <a:prstGeom prst="rect">
            <a:avLst/>
          </a:prstGeom>
          <a:noFill/>
        </p:spPr>
        <p:txBody>
          <a:bodyPr wrap="square" lIns="45720" rIns="45720" tIns="18288" bIns="18288" anchor="t">
            <a:spAutoFit/>
          </a:bodyPr>
          <a:lstStyle/>
          <a:p>
            <a:pPr algn="l"/>
            <a:r>
              <a:rPr sz="1800" b="1" i="0">
                <a:solidFill>
                  <a:srgbClr val="0F1C50"/>
                </a:solidFill>
                <a:latin typeface="Arial"/>
              </a:rPr>
              <a:t>Stage 1 · Demand Management Framework</a:t>
            </a:r>
          </a:p>
        </p:txBody>
      </p:sp>
      <p:sp>
        <p:nvSpPr>
          <p:cNvPr id="20" name="TextBox 19"/>
          <p:cNvSpPr txBox="1"/>
          <p:nvPr/>
        </p:nvSpPr>
        <p:spPr>
          <a:xfrm>
            <a:off x="7284567" y="1828800"/>
            <a:ext cx="4541367" cy="640080"/>
          </a:xfrm>
          <a:prstGeom prst="rect">
            <a:avLst/>
          </a:prstGeom>
          <a:noFill/>
        </p:spPr>
        <p:txBody>
          <a:bodyPr wrap="square" lIns="45720" rIns="45720" tIns="18288" bIns="18288" anchor="t">
            <a:spAutoFit/>
          </a:bodyPr>
          <a:lstStyle/>
          <a:p>
            <a:pPr algn="l"/>
            <a:r>
              <a:rPr sz="1050" b="0" i="0">
                <a:solidFill>
                  <a:srgbClr val="2C3E50"/>
                </a:solidFill>
                <a:latin typeface="Arial"/>
              </a:rPr>
              <a:t>Five dimensions — Capabilities · Roles · Tools · Governance · Performance — including branch specifics.</a:t>
            </a:r>
          </a:p>
        </p:txBody>
      </p:sp>
      <p:sp>
        <p:nvSpPr>
          <p:cNvPr id="21" name="TextBox 20"/>
          <p:cNvSpPr txBox="1"/>
          <p:nvPr/>
        </p:nvSpPr>
        <p:spPr>
          <a:xfrm>
            <a:off x="6370167" y="2606040"/>
            <a:ext cx="868680" cy="777240"/>
          </a:xfrm>
          <a:prstGeom prst="rect">
            <a:avLst/>
          </a:prstGeom>
          <a:noFill/>
        </p:spPr>
        <p:txBody>
          <a:bodyPr wrap="square" lIns="45720" rIns="45720" tIns="18288" bIns="18288" anchor="t">
            <a:spAutoFit/>
          </a:bodyPr>
          <a:lstStyle/>
          <a:p>
            <a:pPr algn="l"/>
            <a:r>
              <a:rPr sz="4400" b="1" i="0">
                <a:solidFill>
                  <a:srgbClr val="0F1C50"/>
                </a:solidFill>
                <a:latin typeface="Arial"/>
              </a:rPr>
              <a:t>06</a:t>
            </a:r>
          </a:p>
        </p:txBody>
      </p:sp>
      <p:sp>
        <p:nvSpPr>
          <p:cNvPr id="22" name="TextBox 21"/>
          <p:cNvSpPr txBox="1"/>
          <p:nvPr/>
        </p:nvSpPr>
        <p:spPr>
          <a:xfrm>
            <a:off x="7284567" y="2651760"/>
            <a:ext cx="4541367" cy="365760"/>
          </a:xfrm>
          <a:prstGeom prst="rect">
            <a:avLst/>
          </a:prstGeom>
          <a:noFill/>
        </p:spPr>
        <p:txBody>
          <a:bodyPr wrap="square" lIns="45720" rIns="45720" tIns="18288" bIns="18288" anchor="t">
            <a:spAutoFit/>
          </a:bodyPr>
          <a:lstStyle/>
          <a:p>
            <a:pPr algn="l"/>
            <a:r>
              <a:rPr sz="1800" b="1" i="0">
                <a:solidFill>
                  <a:srgbClr val="0F1C50"/>
                </a:solidFill>
                <a:latin typeface="Arial"/>
              </a:rPr>
              <a:t>Operating Model · Crews &amp; Bases</a:t>
            </a:r>
          </a:p>
        </p:txBody>
      </p:sp>
      <p:sp>
        <p:nvSpPr>
          <p:cNvPr id="23" name="TextBox 22"/>
          <p:cNvSpPr txBox="1"/>
          <p:nvPr/>
        </p:nvSpPr>
        <p:spPr>
          <a:xfrm>
            <a:off x="7284567" y="3063240"/>
            <a:ext cx="4541367" cy="640080"/>
          </a:xfrm>
          <a:prstGeom prst="rect">
            <a:avLst/>
          </a:prstGeom>
          <a:noFill/>
        </p:spPr>
        <p:txBody>
          <a:bodyPr wrap="square" lIns="45720" rIns="45720" tIns="18288" bIns="18288" anchor="t">
            <a:spAutoFit/>
          </a:bodyPr>
          <a:lstStyle/>
          <a:p>
            <a:pPr algn="l"/>
            <a:r>
              <a:rPr sz="1050" b="0" i="0">
                <a:solidFill>
                  <a:srgbClr val="2C3E50"/>
                </a:solidFill>
                <a:latin typeface="Arial"/>
              </a:rPr>
              <a:t>unFIX primer · Strongly Aligned Base · Supporting Crews · Sibling Bases · 8 Value Stream deep-dives · Vendor model.</a:t>
            </a:r>
          </a:p>
        </p:txBody>
      </p:sp>
      <p:sp>
        <p:nvSpPr>
          <p:cNvPr id="24" name="TextBox 23"/>
          <p:cNvSpPr txBox="1"/>
          <p:nvPr/>
        </p:nvSpPr>
        <p:spPr>
          <a:xfrm>
            <a:off x="6370167" y="3840480"/>
            <a:ext cx="868680" cy="777240"/>
          </a:xfrm>
          <a:prstGeom prst="rect">
            <a:avLst/>
          </a:prstGeom>
          <a:noFill/>
        </p:spPr>
        <p:txBody>
          <a:bodyPr wrap="square" lIns="45720" rIns="45720" tIns="18288" bIns="18288" anchor="t">
            <a:spAutoFit/>
          </a:bodyPr>
          <a:lstStyle/>
          <a:p>
            <a:pPr algn="l"/>
            <a:r>
              <a:rPr sz="4400" b="1" i="0">
                <a:solidFill>
                  <a:srgbClr val="0F1C50"/>
                </a:solidFill>
                <a:latin typeface="Arial"/>
              </a:rPr>
              <a:t>07</a:t>
            </a:r>
          </a:p>
        </p:txBody>
      </p:sp>
      <p:sp>
        <p:nvSpPr>
          <p:cNvPr id="25" name="TextBox 24"/>
          <p:cNvSpPr txBox="1"/>
          <p:nvPr/>
        </p:nvSpPr>
        <p:spPr>
          <a:xfrm>
            <a:off x="7284567" y="3886200"/>
            <a:ext cx="4541367" cy="365760"/>
          </a:xfrm>
          <a:prstGeom prst="rect">
            <a:avLst/>
          </a:prstGeom>
          <a:noFill/>
        </p:spPr>
        <p:txBody>
          <a:bodyPr wrap="square" lIns="45720" rIns="45720" tIns="18288" bIns="18288" anchor="t">
            <a:spAutoFit/>
          </a:bodyPr>
          <a:lstStyle/>
          <a:p>
            <a:pPr algn="l"/>
            <a:r>
              <a:rPr sz="1800" b="1" i="0">
                <a:solidFill>
                  <a:srgbClr val="0F1C50"/>
                </a:solidFill>
                <a:latin typeface="Arial"/>
              </a:rPr>
              <a:t>Demand Flow &amp; Portfolio Operation</a:t>
            </a:r>
          </a:p>
        </p:txBody>
      </p:sp>
      <p:sp>
        <p:nvSpPr>
          <p:cNvPr id="26" name="TextBox 25"/>
          <p:cNvSpPr txBox="1"/>
          <p:nvPr/>
        </p:nvSpPr>
        <p:spPr>
          <a:xfrm>
            <a:off x="7284567" y="4297680"/>
            <a:ext cx="4541367" cy="640080"/>
          </a:xfrm>
          <a:prstGeom prst="rect">
            <a:avLst/>
          </a:prstGeom>
          <a:noFill/>
        </p:spPr>
        <p:txBody>
          <a:bodyPr wrap="square" lIns="45720" rIns="45720" tIns="18288" bIns="18288" anchor="t">
            <a:spAutoFit/>
          </a:bodyPr>
          <a:lstStyle/>
          <a:p>
            <a:pPr algn="l"/>
            <a:r>
              <a:rPr sz="1050" b="0" i="0">
                <a:solidFill>
                  <a:srgbClr val="2C3E50"/>
                </a:solidFill>
                <a:latin typeface="Arial"/>
              </a:rPr>
              <a:t>Forums · Portfolio + Team Boards · Class of Service · Wave 1 Roadmap · TO-BE Demand Flow.</a:t>
            </a:r>
          </a:p>
        </p:txBody>
      </p:sp>
      <p:sp>
        <p:nvSpPr>
          <p:cNvPr id="27" name="TextBox 26"/>
          <p:cNvSpPr txBox="1"/>
          <p:nvPr/>
        </p:nvSpPr>
        <p:spPr>
          <a:xfrm>
            <a:off x="6370167" y="5074920"/>
            <a:ext cx="868680" cy="777240"/>
          </a:xfrm>
          <a:prstGeom prst="rect">
            <a:avLst/>
          </a:prstGeom>
          <a:noFill/>
        </p:spPr>
        <p:txBody>
          <a:bodyPr wrap="square" lIns="45720" rIns="45720" tIns="18288" bIns="18288" anchor="t">
            <a:spAutoFit/>
          </a:bodyPr>
          <a:lstStyle/>
          <a:p>
            <a:pPr algn="l"/>
            <a:r>
              <a:rPr sz="4400" b="1" i="0">
                <a:solidFill>
                  <a:srgbClr val="0F1C50"/>
                </a:solidFill>
                <a:latin typeface="Arial"/>
              </a:rPr>
              <a:t>08</a:t>
            </a:r>
          </a:p>
        </p:txBody>
      </p:sp>
      <p:sp>
        <p:nvSpPr>
          <p:cNvPr id="28" name="TextBox 27"/>
          <p:cNvSpPr txBox="1"/>
          <p:nvPr/>
        </p:nvSpPr>
        <p:spPr>
          <a:xfrm>
            <a:off x="7284567" y="5120640"/>
            <a:ext cx="4541367" cy="365760"/>
          </a:xfrm>
          <a:prstGeom prst="rect">
            <a:avLst/>
          </a:prstGeom>
          <a:noFill/>
        </p:spPr>
        <p:txBody>
          <a:bodyPr wrap="square" lIns="45720" rIns="45720" tIns="18288" bIns="18288" anchor="t">
            <a:spAutoFit/>
          </a:bodyPr>
          <a:lstStyle/>
          <a:p>
            <a:pPr algn="l"/>
            <a:r>
              <a:rPr sz="1800" b="1" i="0">
                <a:solidFill>
                  <a:srgbClr val="0F1C50"/>
                </a:solidFill>
                <a:latin typeface="Arial"/>
              </a:rPr>
              <a:t>Open Decisions &amp; Next Steps</a:t>
            </a:r>
          </a:p>
        </p:txBody>
      </p:sp>
      <p:sp>
        <p:nvSpPr>
          <p:cNvPr id="29" name="TextBox 28"/>
          <p:cNvSpPr txBox="1"/>
          <p:nvPr/>
        </p:nvSpPr>
        <p:spPr>
          <a:xfrm>
            <a:off x="7284567" y="5532120"/>
            <a:ext cx="4541367" cy="640080"/>
          </a:xfrm>
          <a:prstGeom prst="rect">
            <a:avLst/>
          </a:prstGeom>
          <a:noFill/>
        </p:spPr>
        <p:txBody>
          <a:bodyPr wrap="square" lIns="45720" rIns="45720" tIns="18288" bIns="18288" anchor="t">
            <a:spAutoFit/>
          </a:bodyPr>
          <a:lstStyle/>
          <a:p>
            <a:pPr algn="l"/>
            <a:r>
              <a:rPr sz="1050" b="0" i="0">
                <a:solidFill>
                  <a:srgbClr val="2C3E50"/>
                </a:solidFill>
                <a:latin typeface="Arial"/>
              </a:rPr>
              <a:t>Validation needed before steady-state — vendor model · PM staffing · NOC owner.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6858000" cy="640080"/>
          </a:xfrm>
          <a:prstGeom prst="rect">
            <a:avLst/>
          </a:prstGeom>
          <a:noFill/>
        </p:spPr>
        <p:txBody>
          <a:bodyPr wrap="square" lIns="45720" rIns="45720" tIns="18288" bIns="18288" anchor="t">
            <a:spAutoFit/>
          </a:bodyPr>
          <a:lstStyle/>
          <a:p>
            <a:pPr algn="l"/>
            <a:r>
              <a:rPr sz="3400" b="1" i="0">
                <a:solidFill>
                  <a:srgbClr val="0B76A0"/>
                </a:solidFill>
                <a:latin typeface="Arial"/>
              </a:rPr>
              <a:t>Table of contents</a:t>
            </a:r>
          </a:p>
        </p:txBody>
      </p:sp>
      <p:sp>
        <p:nvSpPr>
          <p:cNvPr id="3" name="Oval 2"/>
          <p:cNvSpPr/>
          <p:nvPr/>
        </p:nvSpPr>
        <p:spPr>
          <a:xfrm>
            <a:off x="4297680" y="502920"/>
            <a:ext cx="502920" cy="502920"/>
          </a:xfrm>
          <a:prstGeom prst="ellipse">
            <a:avLst/>
          </a:prstGeom>
          <a:solidFill>
            <a:srgbClr val="0B7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0" y="502920"/>
            <a:ext cx="502920" cy="502920"/>
          </a:xfrm>
          <a:prstGeom prst="rect">
            <a:avLst/>
          </a:prstGeom>
          <a:noFill/>
        </p:spPr>
        <p:txBody>
          <a:bodyPr wrap="square" lIns="45720" rIns="45720" tIns="18288" bIns="18288" anchor="ctr">
            <a:spAutoFit/>
          </a:bodyPr>
          <a:lstStyle/>
          <a:p>
            <a:pPr algn="ctr"/>
            <a:r>
              <a:rPr sz="2000" b="1" i="0">
                <a:solidFill>
                  <a:srgbClr val="FFFFFF"/>
                </a:solidFill>
                <a:latin typeface="Arial"/>
              </a:rPr>
              <a:t>▶</a:t>
            </a:r>
          </a:p>
        </p:txBody>
      </p:sp>
      <p:sp>
        <p:nvSpPr>
          <p:cNvPr id="5" name="TextBox 4"/>
          <p:cNvSpPr txBox="1"/>
          <p:nvPr/>
        </p:nvSpPr>
        <p:spPr>
          <a:xfrm>
            <a:off x="9905695" y="411480"/>
            <a:ext cx="1828800" cy="457200"/>
          </a:xfrm>
          <a:prstGeom prst="rect">
            <a:avLst/>
          </a:prstGeom>
          <a:noFill/>
        </p:spPr>
        <p:txBody>
          <a:bodyPr wrap="square" lIns="45720" rIns="45720" tIns="18288" bIns="18288" anchor="ctr">
            <a:spAutoFit/>
          </a:bodyPr>
          <a:lstStyle/>
          <a:p>
            <a:pPr algn="r"/>
            <a:r>
              <a:rPr sz="1400" b="1" i="0">
                <a:solidFill>
                  <a:srgbClr val="0F1C50"/>
                </a:solidFill>
                <a:latin typeface="Arial"/>
              </a:rPr>
              <a:t>NTT  DATA</a:t>
            </a:r>
          </a:p>
        </p:txBody>
      </p:sp>
      <p:sp>
        <p:nvSpPr>
          <p:cNvPr id="6" name="TextBox 5"/>
          <p:cNvSpPr txBox="1"/>
          <p:nvPr/>
        </p:nvSpPr>
        <p:spPr>
          <a:xfrm>
            <a:off x="640080" y="137160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01</a:t>
            </a:r>
          </a:p>
        </p:txBody>
      </p:sp>
      <p:sp>
        <p:nvSpPr>
          <p:cNvPr id="7" name="TextBox 6"/>
          <p:cNvSpPr txBox="1"/>
          <p:nvPr/>
        </p:nvSpPr>
        <p:spPr>
          <a:xfrm>
            <a:off x="1554480" y="141732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Context</a:t>
            </a:r>
          </a:p>
        </p:txBody>
      </p:sp>
      <p:sp>
        <p:nvSpPr>
          <p:cNvPr id="8" name="TextBox 7"/>
          <p:cNvSpPr txBox="1"/>
          <p:nvPr/>
        </p:nvSpPr>
        <p:spPr>
          <a:xfrm>
            <a:off x="1554480" y="182880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Why Avangrid is consolidating Customer Services and IT Business Apps into Digital Products.</a:t>
            </a:r>
          </a:p>
        </p:txBody>
      </p:sp>
      <p:sp>
        <p:nvSpPr>
          <p:cNvPr id="9" name="Rounded Rectangle 8"/>
          <p:cNvSpPr/>
          <p:nvPr/>
        </p:nvSpPr>
        <p:spPr>
          <a:xfrm>
            <a:off x="548640" y="2560320"/>
            <a:ext cx="5501487" cy="1143000"/>
          </a:xfrm>
          <a:prstGeom prst="roundRect">
            <a:avLst>
              <a:gd name="adj" fmla="val 5000"/>
            </a:avLst>
          </a:prstGeom>
          <a:solidFill>
            <a:srgbClr val="DCE6F5"/>
          </a:solidFill>
          <a:ln w="127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606040"/>
            <a:ext cx="868680" cy="777240"/>
          </a:xfrm>
          <a:prstGeom prst="rect">
            <a:avLst/>
          </a:prstGeom>
          <a:noFill/>
        </p:spPr>
        <p:txBody>
          <a:bodyPr wrap="square" lIns="45720" rIns="45720" tIns="18288" bIns="18288" anchor="t">
            <a:spAutoFit/>
          </a:bodyPr>
          <a:lstStyle/>
          <a:p>
            <a:pPr algn="l"/>
            <a:r>
              <a:rPr sz="4400" b="1" i="0">
                <a:solidFill>
                  <a:srgbClr val="0F1C50"/>
                </a:solidFill>
                <a:latin typeface="Arial"/>
              </a:rPr>
              <a:t>02</a:t>
            </a:r>
          </a:p>
        </p:txBody>
      </p:sp>
      <p:sp>
        <p:nvSpPr>
          <p:cNvPr id="11" name="TextBox 10"/>
          <p:cNvSpPr txBox="1"/>
          <p:nvPr/>
        </p:nvSpPr>
        <p:spPr>
          <a:xfrm>
            <a:off x="1554480" y="2651760"/>
            <a:ext cx="4541367" cy="365760"/>
          </a:xfrm>
          <a:prstGeom prst="rect">
            <a:avLst/>
          </a:prstGeom>
          <a:noFill/>
        </p:spPr>
        <p:txBody>
          <a:bodyPr wrap="square" lIns="45720" rIns="45720" tIns="18288" bIns="18288" anchor="t">
            <a:spAutoFit/>
          </a:bodyPr>
          <a:lstStyle/>
          <a:p>
            <a:pPr algn="l"/>
            <a:r>
              <a:rPr sz="1800" b="1" i="0">
                <a:solidFill>
                  <a:srgbClr val="0F1C50"/>
                </a:solidFill>
                <a:latin typeface="Arial"/>
              </a:rPr>
              <a:t>Executive Summary</a:t>
            </a:r>
          </a:p>
        </p:txBody>
      </p:sp>
      <p:sp>
        <p:nvSpPr>
          <p:cNvPr id="12" name="TextBox 11"/>
          <p:cNvSpPr txBox="1"/>
          <p:nvPr/>
        </p:nvSpPr>
        <p:spPr>
          <a:xfrm>
            <a:off x="1554480" y="3063240"/>
            <a:ext cx="4541367" cy="640080"/>
          </a:xfrm>
          <a:prstGeom prst="rect">
            <a:avLst/>
          </a:prstGeom>
          <a:noFill/>
        </p:spPr>
        <p:txBody>
          <a:bodyPr wrap="square" lIns="45720" rIns="45720" tIns="18288" bIns="18288" anchor="t">
            <a:spAutoFit/>
          </a:bodyPr>
          <a:lstStyle/>
          <a:p>
            <a:pPr algn="l"/>
            <a:r>
              <a:rPr sz="1050" b="0" i="0">
                <a:solidFill>
                  <a:srgbClr val="2C3E50"/>
                </a:solidFill>
                <a:latin typeface="Arial"/>
              </a:rPr>
              <a:t>The proposal in one page — scope, structural issues, governing principles, decisions ahead.</a:t>
            </a:r>
          </a:p>
        </p:txBody>
      </p:sp>
      <p:sp>
        <p:nvSpPr>
          <p:cNvPr id="13" name="TextBox 12"/>
          <p:cNvSpPr txBox="1"/>
          <p:nvPr/>
        </p:nvSpPr>
        <p:spPr>
          <a:xfrm>
            <a:off x="640080" y="384048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03</a:t>
            </a:r>
          </a:p>
        </p:txBody>
      </p:sp>
      <p:sp>
        <p:nvSpPr>
          <p:cNvPr id="14" name="TextBox 13"/>
          <p:cNvSpPr txBox="1"/>
          <p:nvPr/>
        </p:nvSpPr>
        <p:spPr>
          <a:xfrm>
            <a:off x="1554480" y="388620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Current State Analysis</a:t>
            </a:r>
          </a:p>
        </p:txBody>
      </p:sp>
      <p:sp>
        <p:nvSpPr>
          <p:cNvPr id="15" name="TextBox 14"/>
          <p:cNvSpPr txBox="1"/>
          <p:nvPr/>
        </p:nvSpPr>
        <p:spPr>
          <a:xfrm>
            <a:off x="1554480" y="429768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Vitor Cruz's three director branches, ~50 FTE, sub-team mapping and existing champions.</a:t>
            </a:r>
          </a:p>
        </p:txBody>
      </p:sp>
      <p:sp>
        <p:nvSpPr>
          <p:cNvPr id="16" name="TextBox 15"/>
          <p:cNvSpPr txBox="1"/>
          <p:nvPr/>
        </p:nvSpPr>
        <p:spPr>
          <a:xfrm>
            <a:off x="640080" y="507492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04</a:t>
            </a:r>
          </a:p>
        </p:txBody>
      </p:sp>
      <p:sp>
        <p:nvSpPr>
          <p:cNvPr id="17" name="TextBox 16"/>
          <p:cNvSpPr txBox="1"/>
          <p:nvPr/>
        </p:nvSpPr>
        <p:spPr>
          <a:xfrm>
            <a:off x="1554480" y="512064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Structural Issues &amp; Guiding Principles</a:t>
            </a:r>
          </a:p>
        </p:txBody>
      </p:sp>
      <p:sp>
        <p:nvSpPr>
          <p:cNvPr id="18" name="TextBox 17"/>
          <p:cNvSpPr txBox="1"/>
          <p:nvPr/>
        </p:nvSpPr>
        <p:spPr>
          <a:xfrm>
            <a:off x="1554480" y="553212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Seven structural issues from the AS-IS, four guiding principles that resolve them.</a:t>
            </a:r>
          </a:p>
        </p:txBody>
      </p:sp>
      <p:sp>
        <p:nvSpPr>
          <p:cNvPr id="19" name="TextBox 18"/>
          <p:cNvSpPr txBox="1"/>
          <p:nvPr/>
        </p:nvSpPr>
        <p:spPr>
          <a:xfrm>
            <a:off x="6370167" y="137160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05</a:t>
            </a:r>
          </a:p>
        </p:txBody>
      </p:sp>
      <p:sp>
        <p:nvSpPr>
          <p:cNvPr id="20" name="TextBox 19"/>
          <p:cNvSpPr txBox="1"/>
          <p:nvPr/>
        </p:nvSpPr>
        <p:spPr>
          <a:xfrm>
            <a:off x="7284567" y="141732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Stage 1 · Demand Management Framework</a:t>
            </a:r>
          </a:p>
        </p:txBody>
      </p:sp>
      <p:sp>
        <p:nvSpPr>
          <p:cNvPr id="21" name="TextBox 20"/>
          <p:cNvSpPr txBox="1"/>
          <p:nvPr/>
        </p:nvSpPr>
        <p:spPr>
          <a:xfrm>
            <a:off x="7284567" y="182880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Five dimensions — Capabilities · Roles · Tools · Governance · Performance — including branch specifics.</a:t>
            </a:r>
          </a:p>
        </p:txBody>
      </p:sp>
      <p:sp>
        <p:nvSpPr>
          <p:cNvPr id="22" name="TextBox 21"/>
          <p:cNvSpPr txBox="1"/>
          <p:nvPr/>
        </p:nvSpPr>
        <p:spPr>
          <a:xfrm>
            <a:off x="6370167" y="260604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06</a:t>
            </a:r>
          </a:p>
        </p:txBody>
      </p:sp>
      <p:sp>
        <p:nvSpPr>
          <p:cNvPr id="23" name="TextBox 22"/>
          <p:cNvSpPr txBox="1"/>
          <p:nvPr/>
        </p:nvSpPr>
        <p:spPr>
          <a:xfrm>
            <a:off x="7284567" y="265176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Operating Model · Crews &amp; Bases</a:t>
            </a:r>
          </a:p>
        </p:txBody>
      </p:sp>
      <p:sp>
        <p:nvSpPr>
          <p:cNvPr id="24" name="TextBox 23"/>
          <p:cNvSpPr txBox="1"/>
          <p:nvPr/>
        </p:nvSpPr>
        <p:spPr>
          <a:xfrm>
            <a:off x="7284567" y="306324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unFIX primer · Strongly Aligned Base · Supporting Crews · Sibling Bases · 8 Value Stream deep-dives · Vendor model.</a:t>
            </a:r>
          </a:p>
        </p:txBody>
      </p:sp>
      <p:sp>
        <p:nvSpPr>
          <p:cNvPr id="25" name="TextBox 24"/>
          <p:cNvSpPr txBox="1"/>
          <p:nvPr/>
        </p:nvSpPr>
        <p:spPr>
          <a:xfrm>
            <a:off x="6370167" y="384048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07</a:t>
            </a:r>
          </a:p>
        </p:txBody>
      </p:sp>
      <p:sp>
        <p:nvSpPr>
          <p:cNvPr id="26" name="TextBox 25"/>
          <p:cNvSpPr txBox="1"/>
          <p:nvPr/>
        </p:nvSpPr>
        <p:spPr>
          <a:xfrm>
            <a:off x="7284567" y="388620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Demand Flow &amp; Portfolio Operation</a:t>
            </a:r>
          </a:p>
        </p:txBody>
      </p:sp>
      <p:sp>
        <p:nvSpPr>
          <p:cNvPr id="27" name="TextBox 26"/>
          <p:cNvSpPr txBox="1"/>
          <p:nvPr/>
        </p:nvSpPr>
        <p:spPr>
          <a:xfrm>
            <a:off x="7284567" y="429768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Forums · Portfolio + Team Boards · Class of Service · Wave 1 Roadmap · TO-BE Demand Flow.</a:t>
            </a:r>
          </a:p>
        </p:txBody>
      </p:sp>
      <p:sp>
        <p:nvSpPr>
          <p:cNvPr id="28" name="TextBox 27"/>
          <p:cNvSpPr txBox="1"/>
          <p:nvPr/>
        </p:nvSpPr>
        <p:spPr>
          <a:xfrm>
            <a:off x="6370167" y="507492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08</a:t>
            </a:r>
          </a:p>
        </p:txBody>
      </p:sp>
      <p:sp>
        <p:nvSpPr>
          <p:cNvPr id="29" name="TextBox 28"/>
          <p:cNvSpPr txBox="1"/>
          <p:nvPr/>
        </p:nvSpPr>
        <p:spPr>
          <a:xfrm>
            <a:off x="7284567" y="512064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Open Decisions &amp; Next Steps</a:t>
            </a:r>
          </a:p>
        </p:txBody>
      </p:sp>
      <p:sp>
        <p:nvSpPr>
          <p:cNvPr id="30" name="TextBox 29"/>
          <p:cNvSpPr txBox="1"/>
          <p:nvPr/>
        </p:nvSpPr>
        <p:spPr>
          <a:xfrm>
            <a:off x="7284567" y="553212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Validation needed before steady-state — vendor model · PM staffing · NOC owner.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EXECUTIVE SUMMARY</a:t>
            </a:r>
          </a:p>
        </p:txBody>
      </p:sp>
      <p:sp>
        <p:nvSpPr>
          <p:cNvPr id="4" name="TextBox 3"/>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5" name="Rounded Rectangle 4"/>
          <p:cNvSpPr/>
          <p:nvPr/>
        </p:nvSpPr>
        <p:spPr>
          <a:xfrm>
            <a:off x="457200" y="1097280"/>
            <a:ext cx="11277295" cy="1005840"/>
          </a:xfrm>
          <a:prstGeom prst="roundRect">
            <a:avLst>
              <a:gd name="adj" fmla="val 5000"/>
            </a:avLst>
          </a:prstGeom>
          <a:solidFill>
            <a:srgbClr val="0F1C50"/>
          </a:solidFill>
          <a:ln>
            <a:solidFill>
              <a:srgbClr val="0F1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188720"/>
            <a:ext cx="10911535" cy="274320"/>
          </a:xfrm>
          <a:prstGeom prst="rect">
            <a:avLst/>
          </a:prstGeom>
          <a:noFill/>
        </p:spPr>
        <p:txBody>
          <a:bodyPr wrap="square" lIns="45720" rIns="45720" tIns="18288" bIns="18288" anchor="t">
            <a:spAutoFit/>
          </a:bodyPr>
          <a:lstStyle/>
          <a:p>
            <a:pPr algn="l"/>
            <a:r>
              <a:rPr sz="1000" b="1" i="0">
                <a:solidFill>
                  <a:srgbClr val="F9A825"/>
                </a:solidFill>
                <a:latin typeface="Arial"/>
              </a:rPr>
              <a:t>GOVERNING THOUGHT</a:t>
            </a:r>
          </a:p>
        </p:txBody>
      </p:sp>
      <p:sp>
        <p:nvSpPr>
          <p:cNvPr id="7" name="TextBox 6"/>
          <p:cNvSpPr txBox="1"/>
          <p:nvPr/>
        </p:nvSpPr>
        <p:spPr>
          <a:xfrm>
            <a:off x="640080" y="1463040"/>
            <a:ext cx="10911535" cy="640080"/>
          </a:xfrm>
          <a:prstGeom prst="rect">
            <a:avLst/>
          </a:prstGeom>
          <a:noFill/>
        </p:spPr>
        <p:txBody>
          <a:bodyPr wrap="square" lIns="45720" rIns="45720" tIns="18288" bIns="18288" anchor="ctr">
            <a:spAutoFit/>
          </a:bodyPr>
          <a:lstStyle/>
          <a:p>
            <a:pPr algn="l"/>
            <a:r>
              <a:rPr sz="1500" b="0" i="1">
                <a:solidFill>
                  <a:srgbClr val="FFFFFF"/>
                </a:solidFill>
                <a:latin typeface="Arial"/>
              </a:rPr>
              <a:t>Convert Avangrid's fragmented intake into a product-centric Target Operating Model — eight Value Stream Crews, one front door, one prioritization framework, two governance gates.</a:t>
            </a:r>
          </a:p>
        </p:txBody>
      </p:sp>
      <p:sp>
        <p:nvSpPr>
          <p:cNvPr id="8" name="Rounded Rectangle 7"/>
          <p:cNvSpPr/>
          <p:nvPr/>
        </p:nvSpPr>
        <p:spPr>
          <a:xfrm>
            <a:off x="457200" y="2377440"/>
            <a:ext cx="3698138" cy="4023360"/>
          </a:xfrm>
          <a:prstGeom prst="roundRect">
            <a:avLst>
              <a:gd name="adj" fmla="val 4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377440"/>
            <a:ext cx="3698138"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423160"/>
            <a:ext cx="3698138" cy="411480"/>
          </a:xfrm>
          <a:prstGeom prst="rect">
            <a:avLst/>
          </a:prstGeom>
          <a:noFill/>
        </p:spPr>
        <p:txBody>
          <a:bodyPr wrap="square" lIns="45720" rIns="45720" tIns="18288" bIns="18288" anchor="ctr">
            <a:spAutoFit/>
          </a:bodyPr>
          <a:lstStyle/>
          <a:p>
            <a:pPr algn="ctr"/>
            <a:r>
              <a:rPr sz="1300" b="1" i="0">
                <a:solidFill>
                  <a:srgbClr val="FFFFFF"/>
                </a:solidFill>
                <a:latin typeface="Arial"/>
              </a:rPr>
              <a:t>WHY NOW</a:t>
            </a:r>
          </a:p>
        </p:txBody>
      </p:sp>
      <p:sp>
        <p:nvSpPr>
          <p:cNvPr id="11" name="TextBox 10"/>
          <p:cNvSpPr txBox="1"/>
          <p:nvPr/>
        </p:nvSpPr>
        <p:spPr>
          <a:xfrm>
            <a:off x="640080" y="3017520"/>
            <a:ext cx="3332378" cy="3246120"/>
          </a:xfrm>
          <a:prstGeom prst="rect">
            <a:avLst/>
          </a:prstGeom>
          <a:noFill/>
        </p:spPr>
        <p:txBody>
          <a:bodyPr wrap="square" lIns="45720" rIns="45720" tIns="36576" bIns="36576">
            <a:spAutoFit/>
          </a:bodyPr>
          <a:lstStyle/>
          <a:p>
            <a:pPr>
              <a:lnSpc>
                <a:spcPct val="135000"/>
              </a:lnSpc>
            </a:pPr>
            <a:r>
              <a:rPr sz="1100" b="0">
                <a:solidFill>
                  <a:srgbClr val="2C3E50"/>
                </a:solidFill>
                <a:latin typeface="Arial"/>
              </a:rPr>
              <a:t>•  Demand fragmented across 6+ disconnected channels</a:t>
            </a:r>
          </a:p>
          <a:p>
            <a:pPr>
              <a:lnSpc>
                <a:spcPct val="135000"/>
              </a:lnSpc>
            </a:pPr>
            <a:r>
              <a:rPr sz="1100" b="0">
                <a:solidFill>
                  <a:srgbClr val="2C3E50"/>
                </a:solidFill>
                <a:latin typeface="Arial"/>
              </a:rPr>
              <a:t>•  No shared definition of value across initiatives</a:t>
            </a:r>
          </a:p>
          <a:p>
            <a:pPr>
              <a:lnSpc>
                <a:spcPct val="135000"/>
              </a:lnSpc>
            </a:pPr>
            <a:r>
              <a:rPr sz="1100" b="0">
                <a:solidFill>
                  <a:srgbClr val="2C3E50"/>
                </a:solidFill>
                <a:latin typeface="Arial"/>
              </a:rPr>
              <a:t>•  Portfolio visibility limited to Smart Metering (PPM Now)</a:t>
            </a:r>
          </a:p>
          <a:p>
            <a:pPr>
              <a:lnSpc>
                <a:spcPct val="135000"/>
              </a:lnSpc>
            </a:pPr>
            <a:r>
              <a:rPr sz="1100" b="0">
                <a:solidFill>
                  <a:srgbClr val="2C3E50"/>
                </a:solidFill>
                <a:latin typeface="Arial"/>
              </a:rPr>
              <a:t>•  PJMs absorb demand reactively — no Product Manager role exists</a:t>
            </a:r>
          </a:p>
          <a:p>
            <a:pPr>
              <a:lnSpc>
                <a:spcPct val="135000"/>
              </a:lnSpc>
            </a:pPr>
            <a:r>
              <a:rPr sz="1100" b="0">
                <a:solidFill>
                  <a:srgbClr val="2C3E50"/>
                </a:solidFill>
                <a:latin typeface="Arial"/>
              </a:rPr>
              <a:t>•  Forecast 30–50 % growth in Digital Products demand</a:t>
            </a:r>
          </a:p>
        </p:txBody>
      </p:sp>
      <p:sp>
        <p:nvSpPr>
          <p:cNvPr id="12" name="Rounded Rectangle 11"/>
          <p:cNvSpPr/>
          <p:nvPr/>
        </p:nvSpPr>
        <p:spPr>
          <a:xfrm>
            <a:off x="4292498" y="2377440"/>
            <a:ext cx="3698138" cy="402336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2498" y="2377440"/>
            <a:ext cx="3698138" cy="50292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2498" y="2423160"/>
            <a:ext cx="3698138" cy="411480"/>
          </a:xfrm>
          <a:prstGeom prst="rect">
            <a:avLst/>
          </a:prstGeom>
          <a:noFill/>
        </p:spPr>
        <p:txBody>
          <a:bodyPr wrap="square" lIns="45720" rIns="45720" tIns="18288" bIns="18288" anchor="ctr">
            <a:spAutoFit/>
          </a:bodyPr>
          <a:lstStyle/>
          <a:p>
            <a:pPr algn="ctr"/>
            <a:r>
              <a:rPr sz="1300" b="1" i="0">
                <a:solidFill>
                  <a:srgbClr val="FFFFFF"/>
                </a:solidFill>
                <a:latin typeface="Arial"/>
              </a:rPr>
              <a:t>WHAT WE PROPOSE</a:t>
            </a:r>
          </a:p>
        </p:txBody>
      </p:sp>
      <p:sp>
        <p:nvSpPr>
          <p:cNvPr id="15" name="TextBox 14"/>
          <p:cNvSpPr txBox="1"/>
          <p:nvPr/>
        </p:nvSpPr>
        <p:spPr>
          <a:xfrm>
            <a:off x="4475378" y="3017520"/>
            <a:ext cx="3332378" cy="3246120"/>
          </a:xfrm>
          <a:prstGeom prst="rect">
            <a:avLst/>
          </a:prstGeom>
          <a:noFill/>
        </p:spPr>
        <p:txBody>
          <a:bodyPr wrap="square" lIns="45720" rIns="45720" tIns="36576" bIns="36576">
            <a:spAutoFit/>
          </a:bodyPr>
          <a:lstStyle/>
          <a:p>
            <a:pPr>
              <a:lnSpc>
                <a:spcPct val="135000"/>
              </a:lnSpc>
            </a:pPr>
            <a:r>
              <a:rPr sz="1100" b="0">
                <a:solidFill>
                  <a:srgbClr val="2C3E50"/>
                </a:solidFill>
                <a:latin typeface="Arial"/>
              </a:rPr>
              <a:t>•  8 Value Stream Crews aligned to customer outcomes</a:t>
            </a:r>
          </a:p>
          <a:p>
            <a:pPr>
              <a:lnSpc>
                <a:spcPct val="135000"/>
              </a:lnSpc>
            </a:pPr>
            <a:r>
              <a:rPr sz="1100" b="0">
                <a:solidFill>
                  <a:srgbClr val="2C3E50"/>
                </a:solidFill>
                <a:latin typeface="Arial"/>
              </a:rPr>
              <a:t>•  1 Jira request type per VS · mandatory DoR fields</a:t>
            </a:r>
          </a:p>
          <a:p>
            <a:pPr>
              <a:lnSpc>
                <a:spcPct val="135000"/>
              </a:lnSpc>
            </a:pPr>
            <a:r>
              <a:rPr sz="1100" b="0">
                <a:solidFill>
                  <a:srgbClr val="2C3E50"/>
                </a:solidFill>
                <a:latin typeface="Arial"/>
              </a:rPr>
              <a:t>•  2-gate governance — weekly triage + monthly portfolio</a:t>
            </a:r>
          </a:p>
          <a:p>
            <a:pPr>
              <a:lnSpc>
                <a:spcPct val="135000"/>
              </a:lnSpc>
            </a:pPr>
            <a:r>
              <a:rPr sz="1100" b="0">
                <a:solidFill>
                  <a:srgbClr val="2C3E50"/>
                </a:solidFill>
                <a:latin typeface="Arial"/>
              </a:rPr>
              <a:t>•  Class of Service framework — Expedite capped ≤ 20 %</a:t>
            </a:r>
          </a:p>
          <a:p>
            <a:pPr>
              <a:lnSpc>
                <a:spcPct val="135000"/>
              </a:lnSpc>
            </a:pPr>
            <a:r>
              <a:rPr sz="1100" b="0">
                <a:solidFill>
                  <a:srgbClr val="2C3E50"/>
                </a:solidFill>
                <a:latin typeface="Arial"/>
              </a:rPr>
              <a:t>•  Two-level work model — Initiative at portfolio · Story at squad</a:t>
            </a:r>
          </a:p>
        </p:txBody>
      </p:sp>
      <p:sp>
        <p:nvSpPr>
          <p:cNvPr id="16" name="Rounded Rectangle 15"/>
          <p:cNvSpPr/>
          <p:nvPr/>
        </p:nvSpPr>
        <p:spPr>
          <a:xfrm>
            <a:off x="8127796" y="2377440"/>
            <a:ext cx="3698138" cy="4023360"/>
          </a:xfrm>
          <a:prstGeom prst="roundRect">
            <a:avLst>
              <a:gd name="adj" fmla="val 4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27796" y="2377440"/>
            <a:ext cx="3698138" cy="5029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27796" y="2423160"/>
            <a:ext cx="3698138" cy="411480"/>
          </a:xfrm>
          <a:prstGeom prst="rect">
            <a:avLst/>
          </a:prstGeom>
          <a:noFill/>
        </p:spPr>
        <p:txBody>
          <a:bodyPr wrap="square" lIns="45720" rIns="45720" tIns="18288" bIns="18288" anchor="ctr">
            <a:spAutoFit/>
          </a:bodyPr>
          <a:lstStyle/>
          <a:p>
            <a:pPr algn="ctr"/>
            <a:r>
              <a:rPr sz="1300" b="1" i="0">
                <a:solidFill>
                  <a:srgbClr val="FFFFFF"/>
                </a:solidFill>
                <a:latin typeface="Arial"/>
              </a:rPr>
              <a:t>HOW WE GET THERE</a:t>
            </a:r>
          </a:p>
        </p:txBody>
      </p:sp>
      <p:sp>
        <p:nvSpPr>
          <p:cNvPr id="19" name="TextBox 18"/>
          <p:cNvSpPr txBox="1"/>
          <p:nvPr/>
        </p:nvSpPr>
        <p:spPr>
          <a:xfrm>
            <a:off x="8310676" y="3017520"/>
            <a:ext cx="3332378" cy="3246120"/>
          </a:xfrm>
          <a:prstGeom prst="rect">
            <a:avLst/>
          </a:prstGeom>
          <a:noFill/>
        </p:spPr>
        <p:txBody>
          <a:bodyPr wrap="square" lIns="45720" rIns="45720" tIns="36576" bIns="36576">
            <a:spAutoFit/>
          </a:bodyPr>
          <a:lstStyle/>
          <a:p>
            <a:pPr>
              <a:lnSpc>
                <a:spcPct val="135000"/>
              </a:lnSpc>
            </a:pPr>
            <a:r>
              <a:rPr sz="1100" b="0">
                <a:solidFill>
                  <a:srgbClr val="2C3E50"/>
                </a:solidFill>
                <a:latin typeface="Arial"/>
              </a:rPr>
              <a:t>•  Wave 1 — Demand Mgmt Design &amp; Pilot (14 weeks)</a:t>
            </a:r>
          </a:p>
          <a:p>
            <a:pPr>
              <a:lnSpc>
                <a:spcPct val="135000"/>
              </a:lnSpc>
            </a:pPr>
            <a:r>
              <a:rPr sz="1100" b="0">
                <a:solidFill>
                  <a:srgbClr val="2C3E50"/>
                </a:solidFill>
                <a:latin typeface="Arial"/>
              </a:rPr>
              <a:t>•  Pilot one Value Stream end to end · learn · adjust</a:t>
            </a:r>
          </a:p>
          <a:p>
            <a:pPr>
              <a:lnSpc>
                <a:spcPct val="135000"/>
              </a:lnSpc>
            </a:pPr>
            <a:r>
              <a:rPr sz="1100" b="0">
                <a:solidFill>
                  <a:srgbClr val="2C3E50"/>
                </a:solidFill>
                <a:latin typeface="Arial"/>
              </a:rPr>
              <a:t>•  Five-step lifecycle — Enablement → Define → Design → Pilot → Learn</a:t>
            </a:r>
          </a:p>
          <a:p>
            <a:pPr>
              <a:lnSpc>
                <a:spcPct val="135000"/>
              </a:lnSpc>
            </a:pPr>
            <a:r>
              <a:rPr sz="1100" b="0">
                <a:solidFill>
                  <a:srgbClr val="2C3E50"/>
                </a:solidFill>
                <a:latin typeface="Arial"/>
              </a:rPr>
              <a:t>•  Validated playbook + refined Jira config v2.0 at the end of Wave 1</a:t>
            </a:r>
          </a:p>
          <a:p>
            <a:pPr>
              <a:lnSpc>
                <a:spcPct val="135000"/>
              </a:lnSpc>
            </a:pPr>
            <a:r>
              <a:rPr sz="1100" b="0">
                <a:solidFill>
                  <a:srgbClr val="2C3E50"/>
                </a:solidFill>
                <a:latin typeface="Arial"/>
              </a:rPr>
              <a:t>•  Continuous feedback log captured during pilot execution</a:t>
            </a:r>
          </a:p>
        </p:txBody>
      </p:sp>
      <p:sp>
        <p:nvSpPr>
          <p:cNvPr id="20" name="TextBox 19"/>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6858000" cy="640080"/>
          </a:xfrm>
          <a:prstGeom prst="rect">
            <a:avLst/>
          </a:prstGeom>
          <a:noFill/>
        </p:spPr>
        <p:txBody>
          <a:bodyPr wrap="square" lIns="45720" rIns="45720" tIns="18288" bIns="18288" anchor="t">
            <a:spAutoFit/>
          </a:bodyPr>
          <a:lstStyle/>
          <a:p>
            <a:pPr algn="l"/>
            <a:r>
              <a:rPr sz="3400" b="1" i="0">
                <a:solidFill>
                  <a:srgbClr val="0B76A0"/>
                </a:solidFill>
                <a:latin typeface="Arial"/>
              </a:rPr>
              <a:t>Table of contents</a:t>
            </a:r>
          </a:p>
        </p:txBody>
      </p:sp>
      <p:sp>
        <p:nvSpPr>
          <p:cNvPr id="3" name="Oval 2"/>
          <p:cNvSpPr/>
          <p:nvPr/>
        </p:nvSpPr>
        <p:spPr>
          <a:xfrm>
            <a:off x="4297680" y="502920"/>
            <a:ext cx="502920" cy="502920"/>
          </a:xfrm>
          <a:prstGeom prst="ellipse">
            <a:avLst/>
          </a:prstGeom>
          <a:solidFill>
            <a:srgbClr val="0B7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0" y="502920"/>
            <a:ext cx="502920" cy="502920"/>
          </a:xfrm>
          <a:prstGeom prst="rect">
            <a:avLst/>
          </a:prstGeom>
          <a:noFill/>
        </p:spPr>
        <p:txBody>
          <a:bodyPr wrap="square" lIns="45720" rIns="45720" tIns="18288" bIns="18288" anchor="ctr">
            <a:spAutoFit/>
          </a:bodyPr>
          <a:lstStyle/>
          <a:p>
            <a:pPr algn="ctr"/>
            <a:r>
              <a:rPr sz="2000" b="1" i="0">
                <a:solidFill>
                  <a:srgbClr val="FFFFFF"/>
                </a:solidFill>
                <a:latin typeface="Arial"/>
              </a:rPr>
              <a:t>▶</a:t>
            </a:r>
          </a:p>
        </p:txBody>
      </p:sp>
      <p:sp>
        <p:nvSpPr>
          <p:cNvPr id="5" name="TextBox 4"/>
          <p:cNvSpPr txBox="1"/>
          <p:nvPr/>
        </p:nvSpPr>
        <p:spPr>
          <a:xfrm>
            <a:off x="9905695" y="411480"/>
            <a:ext cx="1828800" cy="457200"/>
          </a:xfrm>
          <a:prstGeom prst="rect">
            <a:avLst/>
          </a:prstGeom>
          <a:noFill/>
        </p:spPr>
        <p:txBody>
          <a:bodyPr wrap="square" lIns="45720" rIns="45720" tIns="18288" bIns="18288" anchor="ctr">
            <a:spAutoFit/>
          </a:bodyPr>
          <a:lstStyle/>
          <a:p>
            <a:pPr algn="r"/>
            <a:r>
              <a:rPr sz="1400" b="1" i="0">
                <a:solidFill>
                  <a:srgbClr val="0F1C50"/>
                </a:solidFill>
                <a:latin typeface="Arial"/>
              </a:rPr>
              <a:t>NTT  DATA</a:t>
            </a:r>
          </a:p>
        </p:txBody>
      </p:sp>
      <p:sp>
        <p:nvSpPr>
          <p:cNvPr id="6" name="TextBox 5"/>
          <p:cNvSpPr txBox="1"/>
          <p:nvPr/>
        </p:nvSpPr>
        <p:spPr>
          <a:xfrm>
            <a:off x="640080" y="137160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01</a:t>
            </a:r>
          </a:p>
        </p:txBody>
      </p:sp>
      <p:sp>
        <p:nvSpPr>
          <p:cNvPr id="7" name="TextBox 6"/>
          <p:cNvSpPr txBox="1"/>
          <p:nvPr/>
        </p:nvSpPr>
        <p:spPr>
          <a:xfrm>
            <a:off x="1554480" y="141732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Context</a:t>
            </a:r>
          </a:p>
        </p:txBody>
      </p:sp>
      <p:sp>
        <p:nvSpPr>
          <p:cNvPr id="8" name="TextBox 7"/>
          <p:cNvSpPr txBox="1"/>
          <p:nvPr/>
        </p:nvSpPr>
        <p:spPr>
          <a:xfrm>
            <a:off x="1554480" y="182880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Why Avangrid is consolidating Customer Services and IT Business Apps into Digital Products.</a:t>
            </a:r>
          </a:p>
        </p:txBody>
      </p:sp>
      <p:sp>
        <p:nvSpPr>
          <p:cNvPr id="9" name="TextBox 8"/>
          <p:cNvSpPr txBox="1"/>
          <p:nvPr/>
        </p:nvSpPr>
        <p:spPr>
          <a:xfrm>
            <a:off x="640080" y="260604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02</a:t>
            </a:r>
          </a:p>
        </p:txBody>
      </p:sp>
      <p:sp>
        <p:nvSpPr>
          <p:cNvPr id="10" name="TextBox 9"/>
          <p:cNvSpPr txBox="1"/>
          <p:nvPr/>
        </p:nvSpPr>
        <p:spPr>
          <a:xfrm>
            <a:off x="1554480" y="265176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Executive Summary</a:t>
            </a:r>
          </a:p>
        </p:txBody>
      </p:sp>
      <p:sp>
        <p:nvSpPr>
          <p:cNvPr id="11" name="TextBox 10"/>
          <p:cNvSpPr txBox="1"/>
          <p:nvPr/>
        </p:nvSpPr>
        <p:spPr>
          <a:xfrm>
            <a:off x="1554480" y="306324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The proposal in one page — scope, structural issues, governing principles, decisions ahead.</a:t>
            </a:r>
          </a:p>
        </p:txBody>
      </p:sp>
      <p:sp>
        <p:nvSpPr>
          <p:cNvPr id="12" name="Rounded Rectangle 11"/>
          <p:cNvSpPr/>
          <p:nvPr/>
        </p:nvSpPr>
        <p:spPr>
          <a:xfrm>
            <a:off x="548640" y="3794760"/>
            <a:ext cx="5501487" cy="1143000"/>
          </a:xfrm>
          <a:prstGeom prst="roundRect">
            <a:avLst>
              <a:gd name="adj" fmla="val 5000"/>
            </a:avLst>
          </a:prstGeom>
          <a:solidFill>
            <a:srgbClr val="DCE6F5"/>
          </a:solidFill>
          <a:ln w="127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840480"/>
            <a:ext cx="868680" cy="777240"/>
          </a:xfrm>
          <a:prstGeom prst="rect">
            <a:avLst/>
          </a:prstGeom>
          <a:noFill/>
        </p:spPr>
        <p:txBody>
          <a:bodyPr wrap="square" lIns="45720" rIns="45720" tIns="18288" bIns="18288" anchor="t">
            <a:spAutoFit/>
          </a:bodyPr>
          <a:lstStyle/>
          <a:p>
            <a:pPr algn="l"/>
            <a:r>
              <a:rPr sz="4400" b="1" i="0">
                <a:solidFill>
                  <a:srgbClr val="0F1C50"/>
                </a:solidFill>
                <a:latin typeface="Arial"/>
              </a:rPr>
              <a:t>03</a:t>
            </a:r>
          </a:p>
        </p:txBody>
      </p:sp>
      <p:sp>
        <p:nvSpPr>
          <p:cNvPr id="14" name="TextBox 13"/>
          <p:cNvSpPr txBox="1"/>
          <p:nvPr/>
        </p:nvSpPr>
        <p:spPr>
          <a:xfrm>
            <a:off x="1554480" y="3886200"/>
            <a:ext cx="4541367" cy="365760"/>
          </a:xfrm>
          <a:prstGeom prst="rect">
            <a:avLst/>
          </a:prstGeom>
          <a:noFill/>
        </p:spPr>
        <p:txBody>
          <a:bodyPr wrap="square" lIns="45720" rIns="45720" tIns="18288" bIns="18288" anchor="t">
            <a:spAutoFit/>
          </a:bodyPr>
          <a:lstStyle/>
          <a:p>
            <a:pPr algn="l"/>
            <a:r>
              <a:rPr sz="1800" b="1" i="0">
                <a:solidFill>
                  <a:srgbClr val="0F1C50"/>
                </a:solidFill>
                <a:latin typeface="Arial"/>
              </a:rPr>
              <a:t>Current State Analysis</a:t>
            </a:r>
          </a:p>
        </p:txBody>
      </p:sp>
      <p:sp>
        <p:nvSpPr>
          <p:cNvPr id="15" name="TextBox 14"/>
          <p:cNvSpPr txBox="1"/>
          <p:nvPr/>
        </p:nvSpPr>
        <p:spPr>
          <a:xfrm>
            <a:off x="1554480" y="4297680"/>
            <a:ext cx="4541367" cy="640080"/>
          </a:xfrm>
          <a:prstGeom prst="rect">
            <a:avLst/>
          </a:prstGeom>
          <a:noFill/>
        </p:spPr>
        <p:txBody>
          <a:bodyPr wrap="square" lIns="45720" rIns="45720" tIns="18288" bIns="18288" anchor="t">
            <a:spAutoFit/>
          </a:bodyPr>
          <a:lstStyle/>
          <a:p>
            <a:pPr algn="l"/>
            <a:r>
              <a:rPr sz="1050" b="0" i="0">
                <a:solidFill>
                  <a:srgbClr val="2C3E50"/>
                </a:solidFill>
                <a:latin typeface="Arial"/>
              </a:rPr>
              <a:t>Vitor Cruz's three director branches, ~50 FTE, sub-team mapping and existing champions.</a:t>
            </a:r>
          </a:p>
        </p:txBody>
      </p:sp>
      <p:sp>
        <p:nvSpPr>
          <p:cNvPr id="16" name="TextBox 15"/>
          <p:cNvSpPr txBox="1"/>
          <p:nvPr/>
        </p:nvSpPr>
        <p:spPr>
          <a:xfrm>
            <a:off x="640080" y="507492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04</a:t>
            </a:r>
          </a:p>
        </p:txBody>
      </p:sp>
      <p:sp>
        <p:nvSpPr>
          <p:cNvPr id="17" name="TextBox 16"/>
          <p:cNvSpPr txBox="1"/>
          <p:nvPr/>
        </p:nvSpPr>
        <p:spPr>
          <a:xfrm>
            <a:off x="1554480" y="512064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Structural Issues &amp; Guiding Principles</a:t>
            </a:r>
          </a:p>
        </p:txBody>
      </p:sp>
      <p:sp>
        <p:nvSpPr>
          <p:cNvPr id="18" name="TextBox 17"/>
          <p:cNvSpPr txBox="1"/>
          <p:nvPr/>
        </p:nvSpPr>
        <p:spPr>
          <a:xfrm>
            <a:off x="1554480" y="553212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Seven structural issues from the AS-IS, four guiding principles that resolve them.</a:t>
            </a:r>
          </a:p>
        </p:txBody>
      </p:sp>
      <p:sp>
        <p:nvSpPr>
          <p:cNvPr id="19" name="TextBox 18"/>
          <p:cNvSpPr txBox="1"/>
          <p:nvPr/>
        </p:nvSpPr>
        <p:spPr>
          <a:xfrm>
            <a:off x="6370167" y="137160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05</a:t>
            </a:r>
          </a:p>
        </p:txBody>
      </p:sp>
      <p:sp>
        <p:nvSpPr>
          <p:cNvPr id="20" name="TextBox 19"/>
          <p:cNvSpPr txBox="1"/>
          <p:nvPr/>
        </p:nvSpPr>
        <p:spPr>
          <a:xfrm>
            <a:off x="7284567" y="141732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Stage 1 · Demand Management Framework</a:t>
            </a:r>
          </a:p>
        </p:txBody>
      </p:sp>
      <p:sp>
        <p:nvSpPr>
          <p:cNvPr id="21" name="TextBox 20"/>
          <p:cNvSpPr txBox="1"/>
          <p:nvPr/>
        </p:nvSpPr>
        <p:spPr>
          <a:xfrm>
            <a:off x="7284567" y="182880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Five dimensions — Capabilities · Roles · Tools · Governance · Performance — including branch specifics.</a:t>
            </a:r>
          </a:p>
        </p:txBody>
      </p:sp>
      <p:sp>
        <p:nvSpPr>
          <p:cNvPr id="22" name="TextBox 21"/>
          <p:cNvSpPr txBox="1"/>
          <p:nvPr/>
        </p:nvSpPr>
        <p:spPr>
          <a:xfrm>
            <a:off x="6370167" y="260604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06</a:t>
            </a:r>
          </a:p>
        </p:txBody>
      </p:sp>
      <p:sp>
        <p:nvSpPr>
          <p:cNvPr id="23" name="TextBox 22"/>
          <p:cNvSpPr txBox="1"/>
          <p:nvPr/>
        </p:nvSpPr>
        <p:spPr>
          <a:xfrm>
            <a:off x="7284567" y="265176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Operating Model · Crews &amp; Bases</a:t>
            </a:r>
          </a:p>
        </p:txBody>
      </p:sp>
      <p:sp>
        <p:nvSpPr>
          <p:cNvPr id="24" name="TextBox 23"/>
          <p:cNvSpPr txBox="1"/>
          <p:nvPr/>
        </p:nvSpPr>
        <p:spPr>
          <a:xfrm>
            <a:off x="7284567" y="306324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unFIX primer · Strongly Aligned Base · Supporting Crews · Sibling Bases · 8 Value Stream deep-dives · Vendor model.</a:t>
            </a:r>
          </a:p>
        </p:txBody>
      </p:sp>
      <p:sp>
        <p:nvSpPr>
          <p:cNvPr id="25" name="TextBox 24"/>
          <p:cNvSpPr txBox="1"/>
          <p:nvPr/>
        </p:nvSpPr>
        <p:spPr>
          <a:xfrm>
            <a:off x="6370167" y="384048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07</a:t>
            </a:r>
          </a:p>
        </p:txBody>
      </p:sp>
      <p:sp>
        <p:nvSpPr>
          <p:cNvPr id="26" name="TextBox 25"/>
          <p:cNvSpPr txBox="1"/>
          <p:nvPr/>
        </p:nvSpPr>
        <p:spPr>
          <a:xfrm>
            <a:off x="7284567" y="388620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Demand Flow &amp; Portfolio Operation</a:t>
            </a:r>
          </a:p>
        </p:txBody>
      </p:sp>
      <p:sp>
        <p:nvSpPr>
          <p:cNvPr id="27" name="TextBox 26"/>
          <p:cNvSpPr txBox="1"/>
          <p:nvPr/>
        </p:nvSpPr>
        <p:spPr>
          <a:xfrm>
            <a:off x="7284567" y="429768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Forums · Portfolio + Team Boards · Class of Service · Wave 1 Roadmap · TO-BE Demand Flow.</a:t>
            </a:r>
          </a:p>
        </p:txBody>
      </p:sp>
      <p:sp>
        <p:nvSpPr>
          <p:cNvPr id="28" name="TextBox 27"/>
          <p:cNvSpPr txBox="1"/>
          <p:nvPr/>
        </p:nvSpPr>
        <p:spPr>
          <a:xfrm>
            <a:off x="6370167" y="507492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08</a:t>
            </a:r>
          </a:p>
        </p:txBody>
      </p:sp>
      <p:sp>
        <p:nvSpPr>
          <p:cNvPr id="29" name="TextBox 28"/>
          <p:cNvSpPr txBox="1"/>
          <p:nvPr/>
        </p:nvSpPr>
        <p:spPr>
          <a:xfrm>
            <a:off x="7284567" y="512064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Open Decisions &amp; Next Steps</a:t>
            </a:r>
          </a:p>
        </p:txBody>
      </p:sp>
      <p:sp>
        <p:nvSpPr>
          <p:cNvPr id="30" name="TextBox 29"/>
          <p:cNvSpPr txBox="1"/>
          <p:nvPr/>
        </p:nvSpPr>
        <p:spPr>
          <a:xfrm>
            <a:off x="7284567" y="553212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Validation needed before steady-state — vendor model · PM staffing · NOC owner.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CURRENT STATE ANALYSIS</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DIGITAL PRODUCTS SPANS TWO DIRECTOR BRANCHES PLUS PRODUCT MANAGEMENT</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TextBox 5"/>
          <p:cNvSpPr txBox="1"/>
          <p:nvPr/>
        </p:nvSpPr>
        <p:spPr>
          <a:xfrm>
            <a:off x="457200" y="914400"/>
            <a:ext cx="11277295" cy="365760"/>
          </a:xfrm>
          <a:prstGeom prst="rect">
            <a:avLst/>
          </a:prstGeom>
          <a:noFill/>
        </p:spPr>
        <p:txBody>
          <a:bodyPr wrap="square" lIns="45720" rIns="45720" tIns="18288" bIns="18288" anchor="t">
            <a:spAutoFit/>
          </a:bodyPr>
          <a:lstStyle/>
          <a:p>
            <a:pPr algn="l"/>
            <a:r>
              <a:rPr sz="1200" b="1" i="1">
                <a:solidFill>
                  <a:srgbClr val="2C578B"/>
                </a:solidFill>
                <a:latin typeface="Arial"/>
              </a:rPr>
              <a:t>Digital Products spans two director branches (~50 FTE) across nine sub-teams and a separate Product Management group.</a:t>
            </a:r>
          </a:p>
        </p:txBody>
      </p:sp>
      <p:sp>
        <p:nvSpPr>
          <p:cNvPr id="7" name="Rounded Rectangle 6"/>
          <p:cNvSpPr/>
          <p:nvPr/>
        </p:nvSpPr>
        <p:spPr>
          <a:xfrm>
            <a:off x="457200" y="1463040"/>
            <a:ext cx="11277295" cy="640080"/>
          </a:xfrm>
          <a:prstGeom prst="roundRect">
            <a:avLst>
              <a:gd name="adj" fmla="val 5000"/>
            </a:avLst>
          </a:prstGeom>
          <a:solidFill>
            <a:srgbClr val="091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548640"/>
          </a:xfrm>
          <a:prstGeom prst="rect">
            <a:avLst/>
          </a:prstGeom>
          <a:noFill/>
        </p:spPr>
        <p:txBody>
          <a:bodyPr wrap="square" lIns="45720" rIns="45720" tIns="18288" bIns="18288" anchor="ctr">
            <a:spAutoFit/>
          </a:bodyPr>
          <a:lstStyle/>
          <a:p>
            <a:pPr algn="ctr"/>
            <a:r>
              <a:rPr sz="1500" b="1" i="0">
                <a:solidFill>
                  <a:srgbClr val="FFFFFF"/>
                </a:solidFill>
                <a:latin typeface="Arial"/>
              </a:rPr>
              <a:t>Vitor Cruz — VP IT Business Solutions Delivery</a:t>
            </a:r>
          </a:p>
        </p:txBody>
      </p:sp>
      <p:sp>
        <p:nvSpPr>
          <p:cNvPr id="9" name="Rounded Rectangle 8"/>
          <p:cNvSpPr/>
          <p:nvPr/>
        </p:nvSpPr>
        <p:spPr>
          <a:xfrm>
            <a:off x="457200" y="2286000"/>
            <a:ext cx="2737027" cy="868680"/>
          </a:xfrm>
          <a:prstGeom prst="roundRect">
            <a:avLst>
              <a:gd name="adj" fmla="val 4000"/>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359152"/>
            <a:ext cx="2554147" cy="320040"/>
          </a:xfrm>
          <a:prstGeom prst="rect">
            <a:avLst/>
          </a:prstGeom>
          <a:noFill/>
        </p:spPr>
        <p:txBody>
          <a:bodyPr wrap="square" lIns="45720" rIns="45720" tIns="18288" bIns="18288" anchor="ctr">
            <a:spAutoFit/>
          </a:bodyPr>
          <a:lstStyle/>
          <a:p>
            <a:pPr algn="ctr"/>
            <a:r>
              <a:rPr sz="1100" b="1" i="0">
                <a:solidFill>
                  <a:srgbClr val="FFFFFF"/>
                </a:solidFill>
                <a:latin typeface="Arial"/>
              </a:rPr>
              <a:t>Carlos Garbin — Director</a:t>
            </a:r>
          </a:p>
        </p:txBody>
      </p:sp>
      <p:sp>
        <p:nvSpPr>
          <p:cNvPr id="11" name="TextBox 10"/>
          <p:cNvSpPr txBox="1"/>
          <p:nvPr/>
        </p:nvSpPr>
        <p:spPr>
          <a:xfrm>
            <a:off x="548640" y="2743200"/>
            <a:ext cx="2554147" cy="365760"/>
          </a:xfrm>
          <a:prstGeom prst="rect">
            <a:avLst/>
          </a:prstGeom>
          <a:noFill/>
        </p:spPr>
        <p:txBody>
          <a:bodyPr wrap="square" lIns="45720" rIns="45720" tIns="18288" bIns="18288" anchor="ctr">
            <a:spAutoFit/>
          </a:bodyPr>
          <a:lstStyle/>
          <a:p>
            <a:pPr algn="ctr"/>
            <a:r>
              <a:rPr sz="1000" b="0" i="0">
                <a:solidFill>
                  <a:srgbClr val="FFFFFF"/>
                </a:solidFill>
                <a:latin typeface="Arial"/>
              </a:rPr>
              <a:t>IT Business Applications  ·  ~26 FTE</a:t>
            </a:r>
          </a:p>
        </p:txBody>
      </p:sp>
      <p:sp>
        <p:nvSpPr>
          <p:cNvPr id="12" name="Rounded Rectangle 11"/>
          <p:cNvSpPr/>
          <p:nvPr/>
        </p:nvSpPr>
        <p:spPr>
          <a:xfrm>
            <a:off x="457200" y="3246120"/>
            <a:ext cx="2737027" cy="658368"/>
          </a:xfrm>
          <a:prstGeom prst="roundRect">
            <a:avLst>
              <a:gd name="adj" fmla="val 5000"/>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246120"/>
            <a:ext cx="54864" cy="65836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282696"/>
            <a:ext cx="2096947" cy="219456"/>
          </a:xfrm>
          <a:prstGeom prst="rect">
            <a:avLst/>
          </a:prstGeom>
          <a:noFill/>
        </p:spPr>
        <p:txBody>
          <a:bodyPr wrap="square" lIns="45720" rIns="45720" tIns="18288" bIns="18288" anchor="t">
            <a:spAutoFit/>
          </a:bodyPr>
          <a:lstStyle/>
          <a:p>
            <a:pPr algn="l"/>
            <a:r>
              <a:rPr sz="1000" b="1" i="0">
                <a:solidFill>
                  <a:srgbClr val="2C3E50"/>
                </a:solidFill>
                <a:latin typeface="Arial"/>
              </a:rPr>
              <a:t>Bruno Moreto</a:t>
            </a:r>
          </a:p>
        </p:txBody>
      </p:sp>
      <p:sp>
        <p:nvSpPr>
          <p:cNvPr id="15" name="TextBox 14"/>
          <p:cNvSpPr txBox="1"/>
          <p:nvPr/>
        </p:nvSpPr>
        <p:spPr>
          <a:xfrm>
            <a:off x="594360" y="3483864"/>
            <a:ext cx="2096947" cy="219456"/>
          </a:xfrm>
          <a:prstGeom prst="rect">
            <a:avLst/>
          </a:prstGeom>
          <a:noFill/>
        </p:spPr>
        <p:txBody>
          <a:bodyPr wrap="square" lIns="45720" rIns="45720" tIns="18288" bIns="18288" anchor="t">
            <a:spAutoFit/>
          </a:bodyPr>
          <a:lstStyle/>
          <a:p>
            <a:pPr algn="l"/>
            <a:r>
              <a:rPr sz="850" b="0" i="0">
                <a:solidFill>
                  <a:srgbClr val="2C3E50"/>
                </a:solidFill>
                <a:latin typeface="Arial"/>
              </a:rPr>
              <a:t>Electric &amp; Gas Ops</a:t>
            </a:r>
          </a:p>
        </p:txBody>
      </p:sp>
      <p:sp>
        <p:nvSpPr>
          <p:cNvPr id="16" name="Rectangle 15"/>
          <p:cNvSpPr/>
          <p:nvPr/>
        </p:nvSpPr>
        <p:spPr>
          <a:xfrm>
            <a:off x="2691307" y="3300984"/>
            <a:ext cx="457200" cy="25603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91307" y="3300984"/>
            <a:ext cx="457200" cy="256032"/>
          </a:xfrm>
          <a:prstGeom prst="rect">
            <a:avLst/>
          </a:prstGeom>
          <a:noFill/>
        </p:spPr>
        <p:txBody>
          <a:bodyPr wrap="square" lIns="45720" rIns="45720" tIns="18288" bIns="18288" anchor="ctr">
            <a:spAutoFit/>
          </a:bodyPr>
          <a:lstStyle/>
          <a:p>
            <a:pPr algn="ctr"/>
            <a:r>
              <a:rPr sz="900" b="1" i="0">
                <a:solidFill>
                  <a:srgbClr val="FFFFFF"/>
                </a:solidFill>
                <a:latin typeface="Arial"/>
              </a:rPr>
              <a:t>7 FTE</a:t>
            </a:r>
          </a:p>
        </p:txBody>
      </p:sp>
      <p:sp>
        <p:nvSpPr>
          <p:cNvPr id="18" name="TextBox 17"/>
          <p:cNvSpPr txBox="1"/>
          <p:nvPr/>
        </p:nvSpPr>
        <p:spPr>
          <a:xfrm>
            <a:off x="594360" y="3703320"/>
            <a:ext cx="2554147" cy="201168"/>
          </a:xfrm>
          <a:prstGeom prst="rect">
            <a:avLst/>
          </a:prstGeom>
          <a:noFill/>
        </p:spPr>
        <p:txBody>
          <a:bodyPr wrap="square" lIns="45720" rIns="45720" tIns="18288" bIns="18288" anchor="t">
            <a:spAutoFit/>
          </a:bodyPr>
          <a:lstStyle/>
          <a:p>
            <a:pPr algn="l"/>
            <a:r>
              <a:rPr sz="750" b="0" i="1">
                <a:solidFill>
                  <a:srgbClr val="95A5A6"/>
                </a:solidFill>
                <a:latin typeface="Arial"/>
              </a:rPr>
              <a:t>G&amp;E Champion: Andrew McGibbon</a:t>
            </a:r>
          </a:p>
        </p:txBody>
      </p:sp>
      <p:sp>
        <p:nvSpPr>
          <p:cNvPr id="19" name="Rounded Rectangle 18"/>
          <p:cNvSpPr/>
          <p:nvPr/>
        </p:nvSpPr>
        <p:spPr>
          <a:xfrm>
            <a:off x="457200" y="3959352"/>
            <a:ext cx="2737027" cy="658368"/>
          </a:xfrm>
          <a:prstGeom prst="roundRect">
            <a:avLst>
              <a:gd name="adj" fmla="val 5000"/>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959352"/>
            <a:ext cx="54864" cy="65836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3995928"/>
            <a:ext cx="2096947" cy="219456"/>
          </a:xfrm>
          <a:prstGeom prst="rect">
            <a:avLst/>
          </a:prstGeom>
          <a:noFill/>
        </p:spPr>
        <p:txBody>
          <a:bodyPr wrap="square" lIns="45720" rIns="45720" tIns="18288" bIns="18288" anchor="t">
            <a:spAutoFit/>
          </a:bodyPr>
          <a:lstStyle/>
          <a:p>
            <a:pPr algn="l"/>
            <a:r>
              <a:rPr sz="1000" b="1" i="0">
                <a:solidFill>
                  <a:srgbClr val="2C3E50"/>
                </a:solidFill>
                <a:latin typeface="Arial"/>
              </a:rPr>
              <a:t>George Porto</a:t>
            </a:r>
          </a:p>
        </p:txBody>
      </p:sp>
      <p:sp>
        <p:nvSpPr>
          <p:cNvPr id="22" name="TextBox 21"/>
          <p:cNvSpPr txBox="1"/>
          <p:nvPr/>
        </p:nvSpPr>
        <p:spPr>
          <a:xfrm>
            <a:off x="594360" y="4197096"/>
            <a:ext cx="2096947" cy="219456"/>
          </a:xfrm>
          <a:prstGeom prst="rect">
            <a:avLst/>
          </a:prstGeom>
          <a:noFill/>
        </p:spPr>
        <p:txBody>
          <a:bodyPr wrap="square" lIns="45720" rIns="45720" tIns="18288" bIns="18288" anchor="t">
            <a:spAutoFit/>
          </a:bodyPr>
          <a:lstStyle/>
          <a:p>
            <a:pPr algn="l"/>
            <a:r>
              <a:rPr sz="850" b="0" i="0">
                <a:solidFill>
                  <a:srgbClr val="2C3E50"/>
                </a:solidFill>
                <a:latin typeface="Arial"/>
              </a:rPr>
              <a:t>GIS &amp; OSG</a:t>
            </a:r>
          </a:p>
        </p:txBody>
      </p:sp>
      <p:sp>
        <p:nvSpPr>
          <p:cNvPr id="23" name="Rectangle 22"/>
          <p:cNvSpPr/>
          <p:nvPr/>
        </p:nvSpPr>
        <p:spPr>
          <a:xfrm>
            <a:off x="2691307" y="4014216"/>
            <a:ext cx="457200" cy="25603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691307" y="4014216"/>
            <a:ext cx="457200" cy="256032"/>
          </a:xfrm>
          <a:prstGeom prst="rect">
            <a:avLst/>
          </a:prstGeom>
          <a:noFill/>
        </p:spPr>
        <p:txBody>
          <a:bodyPr wrap="square" lIns="45720" rIns="45720" tIns="18288" bIns="18288" anchor="ctr">
            <a:spAutoFit/>
          </a:bodyPr>
          <a:lstStyle/>
          <a:p>
            <a:pPr algn="ctr"/>
            <a:r>
              <a:rPr sz="900" b="1" i="0">
                <a:solidFill>
                  <a:srgbClr val="FFFFFF"/>
                </a:solidFill>
                <a:latin typeface="Arial"/>
              </a:rPr>
              <a:t>6 FTE</a:t>
            </a:r>
          </a:p>
        </p:txBody>
      </p:sp>
      <p:sp>
        <p:nvSpPr>
          <p:cNvPr id="25" name="TextBox 24"/>
          <p:cNvSpPr txBox="1"/>
          <p:nvPr/>
        </p:nvSpPr>
        <p:spPr>
          <a:xfrm>
            <a:off x="594360" y="4416552"/>
            <a:ext cx="2554147" cy="201168"/>
          </a:xfrm>
          <a:prstGeom prst="rect">
            <a:avLst/>
          </a:prstGeom>
          <a:noFill/>
        </p:spPr>
        <p:txBody>
          <a:bodyPr wrap="square" lIns="45720" rIns="45720" tIns="18288" bIns="18288" anchor="t">
            <a:spAutoFit/>
          </a:bodyPr>
          <a:lstStyle/>
          <a:p>
            <a:pPr algn="l"/>
            <a:r>
              <a:rPr sz="750" b="0" i="1">
                <a:solidFill>
                  <a:srgbClr val="95A5A6"/>
                </a:solidFill>
                <a:latin typeface="Arial"/>
              </a:rPr>
              <a:t>GIS Champion: George Porto</a:t>
            </a:r>
          </a:p>
        </p:txBody>
      </p:sp>
      <p:sp>
        <p:nvSpPr>
          <p:cNvPr id="26" name="Rounded Rectangle 25"/>
          <p:cNvSpPr/>
          <p:nvPr/>
        </p:nvSpPr>
        <p:spPr>
          <a:xfrm>
            <a:off x="457200" y="4672584"/>
            <a:ext cx="2737027" cy="658368"/>
          </a:xfrm>
          <a:prstGeom prst="roundRect">
            <a:avLst>
              <a:gd name="adj" fmla="val 5000"/>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4672584"/>
            <a:ext cx="54864" cy="65836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4709160"/>
            <a:ext cx="2096947" cy="219456"/>
          </a:xfrm>
          <a:prstGeom prst="rect">
            <a:avLst/>
          </a:prstGeom>
          <a:noFill/>
        </p:spPr>
        <p:txBody>
          <a:bodyPr wrap="square" lIns="45720" rIns="45720" tIns="18288" bIns="18288" anchor="t">
            <a:spAutoFit/>
          </a:bodyPr>
          <a:lstStyle/>
          <a:p>
            <a:pPr algn="l"/>
            <a:r>
              <a:rPr sz="1000" b="1" i="0">
                <a:solidFill>
                  <a:srgbClr val="2C3E50"/>
                </a:solidFill>
                <a:latin typeface="Arial"/>
              </a:rPr>
              <a:t>Sarath Garikapati</a:t>
            </a:r>
          </a:p>
        </p:txBody>
      </p:sp>
      <p:sp>
        <p:nvSpPr>
          <p:cNvPr id="29" name="TextBox 28"/>
          <p:cNvSpPr txBox="1"/>
          <p:nvPr/>
        </p:nvSpPr>
        <p:spPr>
          <a:xfrm>
            <a:off x="594360" y="4910328"/>
            <a:ext cx="2096947" cy="219456"/>
          </a:xfrm>
          <a:prstGeom prst="rect">
            <a:avLst/>
          </a:prstGeom>
          <a:noFill/>
        </p:spPr>
        <p:txBody>
          <a:bodyPr wrap="square" lIns="45720" rIns="45720" tIns="18288" bIns="18288" anchor="t">
            <a:spAutoFit/>
          </a:bodyPr>
          <a:lstStyle/>
          <a:p>
            <a:pPr algn="l"/>
            <a:r>
              <a:rPr sz="850" b="0" i="0">
                <a:solidFill>
                  <a:srgbClr val="2C3E50"/>
                </a:solidFill>
                <a:latin typeface="Arial"/>
              </a:rPr>
              <a:t>Corporate Applications</a:t>
            </a:r>
          </a:p>
        </p:txBody>
      </p:sp>
      <p:sp>
        <p:nvSpPr>
          <p:cNvPr id="30" name="Rectangle 29"/>
          <p:cNvSpPr/>
          <p:nvPr/>
        </p:nvSpPr>
        <p:spPr>
          <a:xfrm>
            <a:off x="2691307" y="4727448"/>
            <a:ext cx="457200" cy="25603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91307" y="4727448"/>
            <a:ext cx="457200" cy="256032"/>
          </a:xfrm>
          <a:prstGeom prst="rect">
            <a:avLst/>
          </a:prstGeom>
          <a:noFill/>
        </p:spPr>
        <p:txBody>
          <a:bodyPr wrap="square" lIns="45720" rIns="45720" tIns="18288" bIns="18288" anchor="ctr">
            <a:spAutoFit/>
          </a:bodyPr>
          <a:lstStyle/>
          <a:p>
            <a:pPr algn="ctr"/>
            <a:r>
              <a:rPr sz="900" b="1" i="0">
                <a:solidFill>
                  <a:srgbClr val="FFFFFF"/>
                </a:solidFill>
                <a:latin typeface="Arial"/>
              </a:rPr>
              <a:t>8 FTE</a:t>
            </a:r>
          </a:p>
        </p:txBody>
      </p:sp>
      <p:sp>
        <p:nvSpPr>
          <p:cNvPr id="32" name="TextBox 31"/>
          <p:cNvSpPr txBox="1"/>
          <p:nvPr/>
        </p:nvSpPr>
        <p:spPr>
          <a:xfrm>
            <a:off x="594360" y="5129784"/>
            <a:ext cx="2554147" cy="201168"/>
          </a:xfrm>
          <a:prstGeom prst="rect">
            <a:avLst/>
          </a:prstGeom>
          <a:noFill/>
        </p:spPr>
        <p:txBody>
          <a:bodyPr wrap="square" lIns="45720" rIns="45720" tIns="18288" bIns="18288" anchor="t">
            <a:spAutoFit/>
          </a:bodyPr>
          <a:lstStyle/>
          <a:p>
            <a:pPr algn="l"/>
            <a:r>
              <a:rPr sz="750" b="0" i="1">
                <a:solidFill>
                  <a:srgbClr val="95A5A6"/>
                </a:solidFill>
                <a:latin typeface="Arial"/>
              </a:rPr>
              <a:t>Corporate Champion: Amit Patel</a:t>
            </a:r>
          </a:p>
        </p:txBody>
      </p:sp>
      <p:sp>
        <p:nvSpPr>
          <p:cNvPr id="33" name="Rounded Rectangle 32"/>
          <p:cNvSpPr/>
          <p:nvPr/>
        </p:nvSpPr>
        <p:spPr>
          <a:xfrm>
            <a:off x="457200" y="5385816"/>
            <a:ext cx="2737027" cy="658368"/>
          </a:xfrm>
          <a:prstGeom prst="roundRect">
            <a:avLst>
              <a:gd name="adj" fmla="val 5000"/>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5385816"/>
            <a:ext cx="54864" cy="65836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5422392"/>
            <a:ext cx="2096947" cy="219456"/>
          </a:xfrm>
          <a:prstGeom prst="rect">
            <a:avLst/>
          </a:prstGeom>
          <a:noFill/>
        </p:spPr>
        <p:txBody>
          <a:bodyPr wrap="square" lIns="45720" rIns="45720" tIns="18288" bIns="18288" anchor="t">
            <a:spAutoFit/>
          </a:bodyPr>
          <a:lstStyle/>
          <a:p>
            <a:pPr algn="l"/>
            <a:r>
              <a:rPr sz="1000" b="1" i="0">
                <a:solidFill>
                  <a:srgbClr val="2C3E50"/>
                </a:solidFill>
                <a:latin typeface="Arial"/>
              </a:rPr>
              <a:t>Vanessa Colombo</a:t>
            </a:r>
          </a:p>
        </p:txBody>
      </p:sp>
      <p:sp>
        <p:nvSpPr>
          <p:cNvPr id="36" name="TextBox 35"/>
          <p:cNvSpPr txBox="1"/>
          <p:nvPr/>
        </p:nvSpPr>
        <p:spPr>
          <a:xfrm>
            <a:off x="594360" y="5623560"/>
            <a:ext cx="2096947" cy="219456"/>
          </a:xfrm>
          <a:prstGeom prst="rect">
            <a:avLst/>
          </a:prstGeom>
          <a:noFill/>
        </p:spPr>
        <p:txBody>
          <a:bodyPr wrap="square" lIns="45720" rIns="45720" tIns="18288" bIns="18288" anchor="t">
            <a:spAutoFit/>
          </a:bodyPr>
          <a:lstStyle/>
          <a:p>
            <a:pPr algn="l"/>
            <a:r>
              <a:rPr sz="850" b="0" i="0">
                <a:solidFill>
                  <a:srgbClr val="2C3E50"/>
                </a:solidFill>
                <a:latin typeface="Arial"/>
              </a:rPr>
              <a:t>Global SAP · Iberdrola FI · PO · Budget</a:t>
            </a:r>
          </a:p>
        </p:txBody>
      </p:sp>
      <p:sp>
        <p:nvSpPr>
          <p:cNvPr id="37" name="Rectangle 36"/>
          <p:cNvSpPr/>
          <p:nvPr/>
        </p:nvSpPr>
        <p:spPr>
          <a:xfrm>
            <a:off x="2691307" y="5440680"/>
            <a:ext cx="457200" cy="25603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691307" y="5440680"/>
            <a:ext cx="457200" cy="256032"/>
          </a:xfrm>
          <a:prstGeom prst="rect">
            <a:avLst/>
          </a:prstGeom>
          <a:noFill/>
        </p:spPr>
        <p:txBody>
          <a:bodyPr wrap="square" lIns="45720" rIns="45720" tIns="18288" bIns="18288" anchor="ctr">
            <a:spAutoFit/>
          </a:bodyPr>
          <a:lstStyle/>
          <a:p>
            <a:pPr algn="ctr"/>
            <a:r>
              <a:rPr sz="900" b="1" i="0">
                <a:solidFill>
                  <a:srgbClr val="FFFFFF"/>
                </a:solidFill>
                <a:latin typeface="Arial"/>
              </a:rPr>
              <a:t>5 FTE</a:t>
            </a:r>
          </a:p>
        </p:txBody>
      </p:sp>
      <p:sp>
        <p:nvSpPr>
          <p:cNvPr id="39" name="TextBox 38"/>
          <p:cNvSpPr txBox="1"/>
          <p:nvPr/>
        </p:nvSpPr>
        <p:spPr>
          <a:xfrm>
            <a:off x="594360" y="5843016"/>
            <a:ext cx="2554147" cy="201168"/>
          </a:xfrm>
          <a:prstGeom prst="rect">
            <a:avLst/>
          </a:prstGeom>
          <a:noFill/>
        </p:spPr>
        <p:txBody>
          <a:bodyPr wrap="square" lIns="45720" rIns="45720" tIns="18288" bIns="18288" anchor="t">
            <a:spAutoFit/>
          </a:bodyPr>
          <a:lstStyle/>
          <a:p>
            <a:pPr algn="l"/>
            <a:r>
              <a:rPr sz="750" b="0" i="1">
                <a:solidFill>
                  <a:srgbClr val="95A5A6"/>
                </a:solidFill>
                <a:latin typeface="Arial"/>
              </a:rPr>
              <a:t>Global SAP Champion: Michael Dubois</a:t>
            </a:r>
          </a:p>
        </p:txBody>
      </p:sp>
      <p:sp>
        <p:nvSpPr>
          <p:cNvPr id="40" name="Rounded Rectangle 39"/>
          <p:cNvSpPr/>
          <p:nvPr/>
        </p:nvSpPr>
        <p:spPr>
          <a:xfrm>
            <a:off x="3303955" y="2286000"/>
            <a:ext cx="2737027" cy="868680"/>
          </a:xfrm>
          <a:prstGeom prst="roundRect">
            <a:avLst>
              <a:gd name="adj" fmla="val 4000"/>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395395" y="2359152"/>
            <a:ext cx="2554147" cy="320040"/>
          </a:xfrm>
          <a:prstGeom prst="rect">
            <a:avLst/>
          </a:prstGeom>
          <a:noFill/>
        </p:spPr>
        <p:txBody>
          <a:bodyPr wrap="square" lIns="45720" rIns="45720" tIns="18288" bIns="18288" anchor="ctr">
            <a:spAutoFit/>
          </a:bodyPr>
          <a:lstStyle/>
          <a:p>
            <a:pPr algn="ctr"/>
            <a:r>
              <a:rPr sz="1100" b="1" i="0">
                <a:solidFill>
                  <a:srgbClr val="FFFFFF"/>
                </a:solidFill>
                <a:latin typeface="Arial"/>
              </a:rPr>
              <a:t>Kumar Jaladanki — Director</a:t>
            </a:r>
          </a:p>
        </p:txBody>
      </p:sp>
      <p:sp>
        <p:nvSpPr>
          <p:cNvPr id="42" name="TextBox 41"/>
          <p:cNvSpPr txBox="1"/>
          <p:nvPr/>
        </p:nvSpPr>
        <p:spPr>
          <a:xfrm>
            <a:off x="3395395" y="2743200"/>
            <a:ext cx="2554147" cy="365760"/>
          </a:xfrm>
          <a:prstGeom prst="rect">
            <a:avLst/>
          </a:prstGeom>
          <a:noFill/>
        </p:spPr>
        <p:txBody>
          <a:bodyPr wrap="square" lIns="45720" rIns="45720" tIns="18288" bIns="18288" anchor="ctr">
            <a:spAutoFit/>
          </a:bodyPr>
          <a:lstStyle/>
          <a:p>
            <a:pPr algn="ctr"/>
            <a:r>
              <a:rPr sz="1000" b="0" i="0">
                <a:solidFill>
                  <a:srgbClr val="FFFFFF"/>
                </a:solidFill>
                <a:latin typeface="Arial"/>
              </a:rPr>
              <a:t>Customer Services Apps  ·  ~24 FTE</a:t>
            </a:r>
          </a:p>
        </p:txBody>
      </p:sp>
      <p:sp>
        <p:nvSpPr>
          <p:cNvPr id="43" name="Rounded Rectangle 42"/>
          <p:cNvSpPr/>
          <p:nvPr/>
        </p:nvSpPr>
        <p:spPr>
          <a:xfrm>
            <a:off x="3303955" y="3246120"/>
            <a:ext cx="2737027" cy="512064"/>
          </a:xfrm>
          <a:prstGeom prst="roundRect">
            <a:avLst>
              <a:gd name="adj" fmla="val 5000"/>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303955" y="3246120"/>
            <a:ext cx="54864" cy="512064"/>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441115" y="3273552"/>
            <a:ext cx="2096947" cy="201168"/>
          </a:xfrm>
          <a:prstGeom prst="rect">
            <a:avLst/>
          </a:prstGeom>
          <a:noFill/>
        </p:spPr>
        <p:txBody>
          <a:bodyPr wrap="square" lIns="45720" rIns="45720" tIns="18288" bIns="18288" anchor="t">
            <a:spAutoFit/>
          </a:bodyPr>
          <a:lstStyle/>
          <a:p>
            <a:pPr algn="l"/>
            <a:r>
              <a:rPr sz="1000" b="1" i="0">
                <a:solidFill>
                  <a:srgbClr val="2C3E50"/>
                </a:solidFill>
                <a:latin typeface="Arial"/>
              </a:rPr>
              <a:t>Ivelisse Velazquez</a:t>
            </a:r>
          </a:p>
        </p:txBody>
      </p:sp>
      <p:sp>
        <p:nvSpPr>
          <p:cNvPr id="46" name="TextBox 45"/>
          <p:cNvSpPr txBox="1"/>
          <p:nvPr/>
        </p:nvSpPr>
        <p:spPr>
          <a:xfrm>
            <a:off x="3441115" y="3447288"/>
            <a:ext cx="2096947" cy="182880"/>
          </a:xfrm>
          <a:prstGeom prst="rect">
            <a:avLst/>
          </a:prstGeom>
          <a:noFill/>
        </p:spPr>
        <p:txBody>
          <a:bodyPr wrap="square" lIns="45720" rIns="45720" tIns="18288" bIns="18288" anchor="t">
            <a:spAutoFit/>
          </a:bodyPr>
          <a:lstStyle/>
          <a:p>
            <a:pPr algn="l"/>
            <a:r>
              <a:rPr sz="850" b="0" i="0">
                <a:solidFill>
                  <a:srgbClr val="2C3E50"/>
                </a:solidFill>
                <a:latin typeface="Arial"/>
              </a:rPr>
              <a:t>FICA, Billing &amp; Collection</a:t>
            </a:r>
          </a:p>
        </p:txBody>
      </p:sp>
      <p:sp>
        <p:nvSpPr>
          <p:cNvPr id="47" name="Rectangle 46"/>
          <p:cNvSpPr/>
          <p:nvPr/>
        </p:nvSpPr>
        <p:spPr>
          <a:xfrm>
            <a:off x="5538063" y="3291840"/>
            <a:ext cx="457200" cy="237744"/>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538063" y="3291840"/>
            <a:ext cx="457200" cy="237744"/>
          </a:xfrm>
          <a:prstGeom prst="rect">
            <a:avLst/>
          </a:prstGeom>
          <a:noFill/>
        </p:spPr>
        <p:txBody>
          <a:bodyPr wrap="square" lIns="45720" rIns="45720" tIns="18288" bIns="18288" anchor="ctr">
            <a:spAutoFit/>
          </a:bodyPr>
          <a:lstStyle/>
          <a:p>
            <a:pPr algn="ctr"/>
            <a:r>
              <a:rPr sz="900" b="1" i="0">
                <a:solidFill>
                  <a:srgbClr val="FFFFFF"/>
                </a:solidFill>
                <a:latin typeface="Arial"/>
              </a:rPr>
              <a:t>8 FTE</a:t>
            </a:r>
          </a:p>
        </p:txBody>
      </p:sp>
      <p:sp>
        <p:nvSpPr>
          <p:cNvPr id="49" name="TextBox 48"/>
          <p:cNvSpPr txBox="1"/>
          <p:nvPr/>
        </p:nvSpPr>
        <p:spPr>
          <a:xfrm>
            <a:off x="3441115" y="3593592"/>
            <a:ext cx="2554147" cy="164592"/>
          </a:xfrm>
          <a:prstGeom prst="rect">
            <a:avLst/>
          </a:prstGeom>
          <a:noFill/>
        </p:spPr>
        <p:txBody>
          <a:bodyPr wrap="square" lIns="45720" rIns="45720" tIns="18288" bIns="18288" anchor="t">
            <a:spAutoFit/>
          </a:bodyPr>
          <a:lstStyle/>
          <a:p>
            <a:pPr algn="l"/>
            <a:r>
              <a:rPr sz="750" b="0" i="1">
                <a:solidFill>
                  <a:srgbClr val="95A5A6"/>
                </a:solidFill>
                <a:latin typeface="Arial"/>
              </a:rPr>
              <a:t>SAP Champion: Stephanie</a:t>
            </a:r>
          </a:p>
        </p:txBody>
      </p:sp>
      <p:sp>
        <p:nvSpPr>
          <p:cNvPr id="50" name="Rounded Rectangle 49"/>
          <p:cNvSpPr/>
          <p:nvPr/>
        </p:nvSpPr>
        <p:spPr>
          <a:xfrm>
            <a:off x="3303955" y="3813048"/>
            <a:ext cx="2737027" cy="512064"/>
          </a:xfrm>
          <a:prstGeom prst="roundRect">
            <a:avLst>
              <a:gd name="adj" fmla="val 5000"/>
            </a:avLst>
          </a:prstGeom>
          <a:solidFill>
            <a:srgbClr val="F8DFD8"/>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441115" y="3840480"/>
            <a:ext cx="2096947" cy="201168"/>
          </a:xfrm>
          <a:prstGeom prst="rect">
            <a:avLst/>
          </a:prstGeom>
          <a:noFill/>
        </p:spPr>
        <p:txBody>
          <a:bodyPr wrap="square" lIns="45720" rIns="45720" tIns="18288" bIns="18288" anchor="t">
            <a:spAutoFit/>
          </a:bodyPr>
          <a:lstStyle/>
          <a:p>
            <a:pPr algn="l"/>
            <a:r>
              <a:rPr sz="1000" b="1" i="0">
                <a:solidFill>
                  <a:srgbClr val="C84A35"/>
                </a:solidFill>
                <a:latin typeface="Arial"/>
              </a:rPr>
              <a:t>TBD (vacant)</a:t>
            </a:r>
          </a:p>
        </p:txBody>
      </p:sp>
      <p:sp>
        <p:nvSpPr>
          <p:cNvPr id="52" name="TextBox 51"/>
          <p:cNvSpPr txBox="1"/>
          <p:nvPr/>
        </p:nvSpPr>
        <p:spPr>
          <a:xfrm>
            <a:off x="3441115" y="4014216"/>
            <a:ext cx="2096947" cy="182880"/>
          </a:xfrm>
          <a:prstGeom prst="rect">
            <a:avLst/>
          </a:prstGeom>
          <a:noFill/>
        </p:spPr>
        <p:txBody>
          <a:bodyPr wrap="square" lIns="45720" rIns="45720" tIns="18288" bIns="18288" anchor="t">
            <a:spAutoFit/>
          </a:bodyPr>
          <a:lstStyle/>
          <a:p>
            <a:pPr algn="l"/>
            <a:r>
              <a:rPr sz="850" b="0" i="0">
                <a:solidFill>
                  <a:srgbClr val="2C3E50"/>
                </a:solidFill>
                <a:latin typeface="Arial"/>
              </a:rPr>
              <a:t>CRM &amp; Contact Center Ops</a:t>
            </a:r>
          </a:p>
        </p:txBody>
      </p:sp>
      <p:sp>
        <p:nvSpPr>
          <p:cNvPr id="53" name="Rectangle 52"/>
          <p:cNvSpPr/>
          <p:nvPr/>
        </p:nvSpPr>
        <p:spPr>
          <a:xfrm>
            <a:off x="5538063" y="3858768"/>
            <a:ext cx="457200" cy="237744"/>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538063" y="3858768"/>
            <a:ext cx="457200" cy="237744"/>
          </a:xfrm>
          <a:prstGeom prst="rect">
            <a:avLst/>
          </a:prstGeom>
          <a:noFill/>
        </p:spPr>
        <p:txBody>
          <a:bodyPr wrap="square" lIns="45720" rIns="45720" tIns="18288" bIns="18288" anchor="ctr">
            <a:spAutoFit/>
          </a:bodyPr>
          <a:lstStyle/>
          <a:p>
            <a:pPr algn="ctr"/>
            <a:r>
              <a:rPr sz="900" b="1" i="0">
                <a:solidFill>
                  <a:srgbClr val="FFFFFF"/>
                </a:solidFill>
                <a:latin typeface="Arial"/>
              </a:rPr>
              <a:t>4 FTE</a:t>
            </a:r>
          </a:p>
        </p:txBody>
      </p:sp>
      <p:sp>
        <p:nvSpPr>
          <p:cNvPr id="55" name="Rounded Rectangle 54"/>
          <p:cNvSpPr/>
          <p:nvPr/>
        </p:nvSpPr>
        <p:spPr>
          <a:xfrm>
            <a:off x="3303955" y="4379976"/>
            <a:ext cx="2737027" cy="512064"/>
          </a:xfrm>
          <a:prstGeom prst="roundRect">
            <a:avLst>
              <a:gd name="adj" fmla="val 5000"/>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303955" y="4379976"/>
            <a:ext cx="54864" cy="512064"/>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441115" y="4407408"/>
            <a:ext cx="2096947" cy="201168"/>
          </a:xfrm>
          <a:prstGeom prst="rect">
            <a:avLst/>
          </a:prstGeom>
          <a:noFill/>
        </p:spPr>
        <p:txBody>
          <a:bodyPr wrap="square" lIns="45720" rIns="45720" tIns="18288" bIns="18288" anchor="t">
            <a:spAutoFit/>
          </a:bodyPr>
          <a:lstStyle/>
          <a:p>
            <a:pPr algn="l"/>
            <a:r>
              <a:rPr sz="1000" b="1" i="0">
                <a:solidFill>
                  <a:srgbClr val="2C3E50"/>
                </a:solidFill>
                <a:latin typeface="Arial"/>
              </a:rPr>
              <a:t>Vincent Lam</a:t>
            </a:r>
          </a:p>
        </p:txBody>
      </p:sp>
      <p:sp>
        <p:nvSpPr>
          <p:cNvPr id="58" name="TextBox 57"/>
          <p:cNvSpPr txBox="1"/>
          <p:nvPr/>
        </p:nvSpPr>
        <p:spPr>
          <a:xfrm>
            <a:off x="3441115" y="4581144"/>
            <a:ext cx="2096947" cy="182880"/>
          </a:xfrm>
          <a:prstGeom prst="rect">
            <a:avLst/>
          </a:prstGeom>
          <a:noFill/>
        </p:spPr>
        <p:txBody>
          <a:bodyPr wrap="square" lIns="45720" rIns="45720" tIns="18288" bIns="18288" anchor="t">
            <a:spAutoFit/>
          </a:bodyPr>
          <a:lstStyle/>
          <a:p>
            <a:pPr algn="l"/>
            <a:r>
              <a:rPr sz="850" b="0" i="0">
                <a:solidFill>
                  <a:srgbClr val="2C3E50"/>
                </a:solidFill>
                <a:latin typeface="Arial"/>
              </a:rPr>
              <a:t>Billing, Device &amp; Metering</a:t>
            </a:r>
          </a:p>
        </p:txBody>
      </p:sp>
      <p:sp>
        <p:nvSpPr>
          <p:cNvPr id="59" name="Rectangle 58"/>
          <p:cNvSpPr/>
          <p:nvPr/>
        </p:nvSpPr>
        <p:spPr>
          <a:xfrm>
            <a:off x="5538063" y="4425696"/>
            <a:ext cx="457200" cy="237744"/>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538063" y="4425696"/>
            <a:ext cx="457200" cy="237744"/>
          </a:xfrm>
          <a:prstGeom prst="rect">
            <a:avLst/>
          </a:prstGeom>
          <a:noFill/>
        </p:spPr>
        <p:txBody>
          <a:bodyPr wrap="square" lIns="45720" rIns="45720" tIns="18288" bIns="18288" anchor="ctr">
            <a:spAutoFit/>
          </a:bodyPr>
          <a:lstStyle/>
          <a:p>
            <a:pPr algn="ctr"/>
            <a:r>
              <a:rPr sz="900" b="1" i="0">
                <a:solidFill>
                  <a:srgbClr val="FFFFFF"/>
                </a:solidFill>
                <a:latin typeface="Arial"/>
              </a:rPr>
              <a:t>8 FTE</a:t>
            </a:r>
          </a:p>
        </p:txBody>
      </p:sp>
      <p:sp>
        <p:nvSpPr>
          <p:cNvPr id="61" name="TextBox 60"/>
          <p:cNvSpPr txBox="1"/>
          <p:nvPr/>
        </p:nvSpPr>
        <p:spPr>
          <a:xfrm>
            <a:off x="3441115" y="4727448"/>
            <a:ext cx="2554147" cy="164592"/>
          </a:xfrm>
          <a:prstGeom prst="rect">
            <a:avLst/>
          </a:prstGeom>
          <a:noFill/>
        </p:spPr>
        <p:txBody>
          <a:bodyPr wrap="square" lIns="45720" rIns="45720" tIns="18288" bIns="18288" anchor="t">
            <a:spAutoFit/>
          </a:bodyPr>
          <a:lstStyle/>
          <a:p>
            <a:pPr algn="l"/>
            <a:r>
              <a:rPr sz="750" b="0" i="1">
                <a:solidFill>
                  <a:srgbClr val="95A5A6"/>
                </a:solidFill>
                <a:latin typeface="Arial"/>
              </a:rPr>
              <a:t>Smart Metering Champion: Iram Chowdhury</a:t>
            </a:r>
          </a:p>
        </p:txBody>
      </p:sp>
      <p:sp>
        <p:nvSpPr>
          <p:cNvPr id="62" name="Rounded Rectangle 61"/>
          <p:cNvSpPr/>
          <p:nvPr/>
        </p:nvSpPr>
        <p:spPr>
          <a:xfrm>
            <a:off x="3303955" y="4946904"/>
            <a:ext cx="2737027" cy="512064"/>
          </a:xfrm>
          <a:prstGeom prst="roundRect">
            <a:avLst>
              <a:gd name="adj" fmla="val 5000"/>
            </a:avLst>
          </a:prstGeom>
          <a:solidFill>
            <a:srgbClr val="F8DFD8"/>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441115" y="4974336"/>
            <a:ext cx="2096947" cy="201168"/>
          </a:xfrm>
          <a:prstGeom prst="rect">
            <a:avLst/>
          </a:prstGeom>
          <a:noFill/>
        </p:spPr>
        <p:txBody>
          <a:bodyPr wrap="square" lIns="45720" rIns="45720" tIns="18288" bIns="18288" anchor="t">
            <a:spAutoFit/>
          </a:bodyPr>
          <a:lstStyle/>
          <a:p>
            <a:pPr algn="l"/>
            <a:r>
              <a:rPr sz="1000" b="1" i="0">
                <a:solidFill>
                  <a:srgbClr val="C84A35"/>
                </a:solidFill>
                <a:latin typeface="Arial"/>
              </a:rPr>
              <a:t>Open (vacant)</a:t>
            </a:r>
          </a:p>
        </p:txBody>
      </p:sp>
      <p:sp>
        <p:nvSpPr>
          <p:cNvPr id="64" name="TextBox 63"/>
          <p:cNvSpPr txBox="1"/>
          <p:nvPr/>
        </p:nvSpPr>
        <p:spPr>
          <a:xfrm>
            <a:off x="3441115" y="5148072"/>
            <a:ext cx="2096947" cy="182880"/>
          </a:xfrm>
          <a:prstGeom prst="rect">
            <a:avLst/>
          </a:prstGeom>
          <a:noFill/>
        </p:spPr>
        <p:txBody>
          <a:bodyPr wrap="square" lIns="45720" rIns="45720" tIns="18288" bIns="18288" anchor="t">
            <a:spAutoFit/>
          </a:bodyPr>
          <a:lstStyle/>
          <a:p>
            <a:pPr algn="l"/>
            <a:r>
              <a:rPr sz="850" b="0" i="0">
                <a:solidFill>
                  <a:srgbClr val="2C3E50"/>
                </a:solidFill>
                <a:latin typeface="Arial"/>
              </a:rPr>
              <a:t>SAP &amp; CS Architecture</a:t>
            </a:r>
          </a:p>
        </p:txBody>
      </p:sp>
      <p:sp>
        <p:nvSpPr>
          <p:cNvPr id="65" name="Rectangle 64"/>
          <p:cNvSpPr/>
          <p:nvPr/>
        </p:nvSpPr>
        <p:spPr>
          <a:xfrm>
            <a:off x="5538063" y="4992624"/>
            <a:ext cx="457200" cy="237744"/>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538063" y="4992624"/>
            <a:ext cx="457200" cy="237744"/>
          </a:xfrm>
          <a:prstGeom prst="rect">
            <a:avLst/>
          </a:prstGeom>
          <a:noFill/>
        </p:spPr>
        <p:txBody>
          <a:bodyPr wrap="square" lIns="45720" rIns="45720" tIns="18288" bIns="18288" anchor="ctr">
            <a:spAutoFit/>
          </a:bodyPr>
          <a:lstStyle/>
          <a:p>
            <a:pPr algn="ctr"/>
            <a:r>
              <a:rPr sz="900" b="1" i="0">
                <a:solidFill>
                  <a:srgbClr val="FFFFFF"/>
                </a:solidFill>
                <a:latin typeface="Arial"/>
              </a:rPr>
              <a:t>2 FTE</a:t>
            </a:r>
          </a:p>
        </p:txBody>
      </p:sp>
      <p:sp>
        <p:nvSpPr>
          <p:cNvPr id="67" name="Rounded Rectangle 66"/>
          <p:cNvSpPr/>
          <p:nvPr/>
        </p:nvSpPr>
        <p:spPr>
          <a:xfrm>
            <a:off x="3303955" y="5513832"/>
            <a:ext cx="2737027" cy="512064"/>
          </a:xfrm>
          <a:prstGeom prst="roundRect">
            <a:avLst>
              <a:gd name="adj" fmla="val 5000"/>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441115" y="5541264"/>
            <a:ext cx="2096947" cy="201168"/>
          </a:xfrm>
          <a:prstGeom prst="rect">
            <a:avLst/>
          </a:prstGeom>
          <a:noFill/>
        </p:spPr>
        <p:txBody>
          <a:bodyPr wrap="square" lIns="45720" rIns="45720" tIns="18288" bIns="18288" anchor="t">
            <a:spAutoFit/>
          </a:bodyPr>
          <a:lstStyle/>
          <a:p>
            <a:pPr algn="l"/>
            <a:r>
              <a:rPr sz="1000" b="1" i="0">
                <a:solidFill>
                  <a:srgbClr val="2C3E50"/>
                </a:solidFill>
                <a:latin typeface="Arial"/>
              </a:rPr>
              <a:t>Nagi Reddy</a:t>
            </a:r>
          </a:p>
        </p:txBody>
      </p:sp>
      <p:sp>
        <p:nvSpPr>
          <p:cNvPr id="69" name="TextBox 68"/>
          <p:cNvSpPr txBox="1"/>
          <p:nvPr/>
        </p:nvSpPr>
        <p:spPr>
          <a:xfrm>
            <a:off x="3441115" y="5715000"/>
            <a:ext cx="2096947" cy="182880"/>
          </a:xfrm>
          <a:prstGeom prst="rect">
            <a:avLst/>
          </a:prstGeom>
          <a:noFill/>
        </p:spPr>
        <p:txBody>
          <a:bodyPr wrap="square" lIns="45720" rIns="45720" tIns="18288" bIns="18288" anchor="t">
            <a:spAutoFit/>
          </a:bodyPr>
          <a:lstStyle/>
          <a:p>
            <a:pPr algn="l"/>
            <a:r>
              <a:rPr sz="850" b="0" i="0">
                <a:solidFill>
                  <a:srgbClr val="2C3E50"/>
                </a:solidFill>
                <a:latin typeface="Arial"/>
              </a:rPr>
              <a:t>SAP Basis</a:t>
            </a:r>
          </a:p>
        </p:txBody>
      </p:sp>
      <p:sp>
        <p:nvSpPr>
          <p:cNvPr id="70" name="Rectangle 69"/>
          <p:cNvSpPr/>
          <p:nvPr/>
        </p:nvSpPr>
        <p:spPr>
          <a:xfrm>
            <a:off x="5538063" y="5559552"/>
            <a:ext cx="457200" cy="237744"/>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538063" y="5559552"/>
            <a:ext cx="457200" cy="237744"/>
          </a:xfrm>
          <a:prstGeom prst="rect">
            <a:avLst/>
          </a:prstGeom>
          <a:noFill/>
        </p:spPr>
        <p:txBody>
          <a:bodyPr wrap="square" lIns="45720" rIns="45720" tIns="18288" bIns="18288" anchor="ctr">
            <a:spAutoFit/>
          </a:bodyPr>
          <a:lstStyle/>
          <a:p>
            <a:pPr algn="ctr"/>
            <a:r>
              <a:rPr sz="900" b="1" i="0">
                <a:solidFill>
                  <a:srgbClr val="FFFFFF"/>
                </a:solidFill>
                <a:latin typeface="Arial"/>
              </a:rPr>
              <a:t>2 FTE</a:t>
            </a:r>
          </a:p>
        </p:txBody>
      </p:sp>
      <p:sp>
        <p:nvSpPr>
          <p:cNvPr id="72" name="Rounded Rectangle 71"/>
          <p:cNvSpPr/>
          <p:nvPr/>
        </p:nvSpPr>
        <p:spPr>
          <a:xfrm>
            <a:off x="6150711" y="2286000"/>
            <a:ext cx="2737027" cy="868680"/>
          </a:xfrm>
          <a:prstGeom prst="roundRect">
            <a:avLst>
              <a:gd name="adj" fmla="val 4000"/>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242151" y="2359152"/>
            <a:ext cx="2554147" cy="320040"/>
          </a:xfrm>
          <a:prstGeom prst="rect">
            <a:avLst/>
          </a:prstGeom>
          <a:noFill/>
        </p:spPr>
        <p:txBody>
          <a:bodyPr wrap="square" lIns="45720" rIns="45720" tIns="18288" bIns="18288" anchor="ctr">
            <a:spAutoFit/>
          </a:bodyPr>
          <a:lstStyle/>
          <a:p>
            <a:pPr algn="ctr"/>
            <a:r>
              <a:rPr sz="1100" b="1" i="0">
                <a:solidFill>
                  <a:srgbClr val="FFFFFF"/>
                </a:solidFill>
                <a:latin typeface="Arial"/>
              </a:rPr>
              <a:t>Heather LaJoie — Director</a:t>
            </a:r>
          </a:p>
        </p:txBody>
      </p:sp>
      <p:sp>
        <p:nvSpPr>
          <p:cNvPr id="74" name="TextBox 73"/>
          <p:cNvSpPr txBox="1"/>
          <p:nvPr/>
        </p:nvSpPr>
        <p:spPr>
          <a:xfrm>
            <a:off x="6242151" y="2743200"/>
            <a:ext cx="2554147" cy="365760"/>
          </a:xfrm>
          <a:prstGeom prst="rect">
            <a:avLst/>
          </a:prstGeom>
          <a:noFill/>
        </p:spPr>
        <p:txBody>
          <a:bodyPr wrap="square" lIns="45720" rIns="45720" tIns="18288" bIns="18288" anchor="ctr">
            <a:spAutoFit/>
          </a:bodyPr>
          <a:lstStyle/>
          <a:p>
            <a:pPr algn="ctr"/>
            <a:r>
              <a:rPr sz="1000" b="0" i="0">
                <a:solidFill>
                  <a:srgbClr val="FFFFFF"/>
                </a:solidFill>
                <a:latin typeface="Arial"/>
              </a:rPr>
              <a:t>Product Management  ·  ~2 FTE</a:t>
            </a:r>
          </a:p>
        </p:txBody>
      </p:sp>
      <p:sp>
        <p:nvSpPr>
          <p:cNvPr id="75" name="Rounded Rectangle 74"/>
          <p:cNvSpPr/>
          <p:nvPr/>
        </p:nvSpPr>
        <p:spPr>
          <a:xfrm>
            <a:off x="6150711" y="3246120"/>
            <a:ext cx="2737027" cy="640080"/>
          </a:xfrm>
          <a:prstGeom prst="roundRect">
            <a:avLst>
              <a:gd name="adj" fmla="val 5000"/>
            </a:avLst>
          </a:prstGeom>
          <a:solidFill>
            <a:srgbClr val="F8DFD8"/>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287871" y="3291840"/>
            <a:ext cx="2096947" cy="274320"/>
          </a:xfrm>
          <a:prstGeom prst="rect">
            <a:avLst/>
          </a:prstGeom>
          <a:noFill/>
        </p:spPr>
        <p:txBody>
          <a:bodyPr wrap="square" lIns="45720" rIns="45720" tIns="18288" bIns="18288" anchor="t">
            <a:spAutoFit/>
          </a:bodyPr>
          <a:lstStyle/>
          <a:p>
            <a:pPr algn="l"/>
            <a:r>
              <a:rPr sz="1000" b="1" i="0">
                <a:solidFill>
                  <a:srgbClr val="C84A35"/>
                </a:solidFill>
                <a:latin typeface="Arial"/>
              </a:rPr>
              <a:t>Vacant</a:t>
            </a:r>
          </a:p>
        </p:txBody>
      </p:sp>
      <p:sp>
        <p:nvSpPr>
          <p:cNvPr id="77" name="TextBox 76"/>
          <p:cNvSpPr txBox="1"/>
          <p:nvPr/>
        </p:nvSpPr>
        <p:spPr>
          <a:xfrm>
            <a:off x="6287871" y="3520440"/>
            <a:ext cx="2096947" cy="320040"/>
          </a:xfrm>
          <a:prstGeom prst="rect">
            <a:avLst/>
          </a:prstGeom>
          <a:noFill/>
        </p:spPr>
        <p:txBody>
          <a:bodyPr wrap="square" lIns="45720" rIns="45720" tIns="18288" bIns="18288" anchor="t">
            <a:spAutoFit/>
          </a:bodyPr>
          <a:lstStyle/>
          <a:p>
            <a:pPr algn="l"/>
            <a:r>
              <a:rPr sz="900" b="0" i="0">
                <a:solidFill>
                  <a:srgbClr val="2C3E50"/>
                </a:solidFill>
                <a:latin typeface="Arial"/>
              </a:rPr>
              <a:t>Product Management</a:t>
            </a:r>
          </a:p>
        </p:txBody>
      </p:sp>
      <p:sp>
        <p:nvSpPr>
          <p:cNvPr id="78" name="Rectangle 77"/>
          <p:cNvSpPr/>
          <p:nvPr/>
        </p:nvSpPr>
        <p:spPr>
          <a:xfrm>
            <a:off x="8384819" y="3319272"/>
            <a:ext cx="457200" cy="256032"/>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384819" y="3319272"/>
            <a:ext cx="457200" cy="256032"/>
          </a:xfrm>
          <a:prstGeom prst="rect">
            <a:avLst/>
          </a:prstGeom>
          <a:noFill/>
        </p:spPr>
        <p:txBody>
          <a:bodyPr wrap="square" lIns="45720" rIns="45720" tIns="18288" bIns="18288" anchor="ctr">
            <a:spAutoFit/>
          </a:bodyPr>
          <a:lstStyle/>
          <a:p>
            <a:pPr algn="ctr"/>
            <a:r>
              <a:rPr sz="900" b="1" i="0">
                <a:solidFill>
                  <a:srgbClr val="FFFFFF"/>
                </a:solidFill>
                <a:latin typeface="Arial"/>
              </a:rPr>
              <a:t>2 FTE</a:t>
            </a:r>
          </a:p>
        </p:txBody>
      </p:sp>
      <p:sp>
        <p:nvSpPr>
          <p:cNvPr id="80" name="Rounded Rectangle 79"/>
          <p:cNvSpPr/>
          <p:nvPr/>
        </p:nvSpPr>
        <p:spPr>
          <a:xfrm>
            <a:off x="6150711" y="4023360"/>
            <a:ext cx="2737027" cy="2103120"/>
          </a:xfrm>
          <a:prstGeom prst="roundRect">
            <a:avLst>
              <a:gd name="adj" fmla="val 4000"/>
            </a:avLst>
          </a:prstGeom>
          <a:solidFill>
            <a:srgbClr val="6785C1"/>
          </a:solidFill>
          <a:ln w="127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287871" y="4114800"/>
            <a:ext cx="2462707" cy="1920240"/>
          </a:xfrm>
          <a:prstGeom prst="rect">
            <a:avLst/>
          </a:prstGeom>
          <a:noFill/>
        </p:spPr>
        <p:txBody>
          <a:bodyPr wrap="square" lIns="45720" rIns="45720" tIns="18288" bIns="18288" anchor="t">
            <a:spAutoFit/>
          </a:bodyPr>
          <a:lstStyle/>
          <a:p>
            <a:pPr algn="l"/>
            <a:r>
              <a:rPr sz="900" b="0" i="1">
                <a:solidFill>
                  <a:srgbClr val="2C3E50"/>
                </a:solidFill>
                <a:latin typeface="Arial"/>
              </a:rPr>
              <a:t>Strategic coordination layer across delivery and execution teams. Ensures alignment between business priorities and technical implementation.</a:t>
            </a:r>
          </a:p>
          <a:p/>
          <a:p>
            <a:r>
              <a:t>Shapes and supports prioritization of work · provides direction throughout execution · enables consistent focus on value creation.</a:t>
            </a:r>
          </a:p>
        </p:txBody>
      </p:sp>
      <p:sp>
        <p:nvSpPr>
          <p:cNvPr id="82" name="Rounded Rectangle 81"/>
          <p:cNvSpPr/>
          <p:nvPr/>
        </p:nvSpPr>
        <p:spPr>
          <a:xfrm>
            <a:off x="8997467" y="2286000"/>
            <a:ext cx="2737027" cy="868680"/>
          </a:xfrm>
          <a:prstGeom prst="roundRect">
            <a:avLst>
              <a:gd name="adj" fmla="val 4000"/>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088907" y="2359152"/>
            <a:ext cx="2554147" cy="320040"/>
          </a:xfrm>
          <a:prstGeom prst="rect">
            <a:avLst/>
          </a:prstGeom>
          <a:noFill/>
        </p:spPr>
        <p:txBody>
          <a:bodyPr wrap="square" lIns="45720" rIns="45720" tIns="18288" bIns="18288" anchor="ctr">
            <a:spAutoFit/>
          </a:bodyPr>
          <a:lstStyle/>
          <a:p>
            <a:pPr algn="ctr"/>
            <a:r>
              <a:rPr sz="1100" b="1" i="0">
                <a:solidFill>
                  <a:srgbClr val="FFFFFF"/>
                </a:solidFill>
                <a:latin typeface="Arial"/>
              </a:rPr>
              <a:t>IT Program Delivery</a:t>
            </a:r>
          </a:p>
        </p:txBody>
      </p:sp>
      <p:sp>
        <p:nvSpPr>
          <p:cNvPr id="84" name="TextBox 83"/>
          <p:cNvSpPr txBox="1"/>
          <p:nvPr/>
        </p:nvSpPr>
        <p:spPr>
          <a:xfrm>
            <a:off x="9088907" y="2743200"/>
            <a:ext cx="2554147" cy="365760"/>
          </a:xfrm>
          <a:prstGeom prst="rect">
            <a:avLst/>
          </a:prstGeom>
          <a:noFill/>
        </p:spPr>
        <p:txBody>
          <a:bodyPr wrap="square" lIns="45720" rIns="45720" tIns="18288" bIns="18288" anchor="ctr">
            <a:spAutoFit/>
          </a:bodyPr>
          <a:lstStyle/>
          <a:p>
            <a:pPr algn="ctr"/>
            <a:r>
              <a:rPr sz="1000" b="0" i="0">
                <a:solidFill>
                  <a:srgbClr val="FFFFFF"/>
                </a:solidFill>
                <a:latin typeface="Arial"/>
              </a:rPr>
              <a:t>(Vacant)</a:t>
            </a:r>
          </a:p>
        </p:txBody>
      </p:sp>
      <p:sp>
        <p:nvSpPr>
          <p:cNvPr id="85" name="Rounded Rectangle 84"/>
          <p:cNvSpPr/>
          <p:nvPr/>
        </p:nvSpPr>
        <p:spPr>
          <a:xfrm>
            <a:off x="8997467" y="3246120"/>
            <a:ext cx="2737027" cy="640080"/>
          </a:xfrm>
          <a:prstGeom prst="roundRect">
            <a:avLst>
              <a:gd name="adj" fmla="val 5000"/>
            </a:avLst>
          </a:prstGeom>
          <a:solidFill>
            <a:srgbClr val="F8DFD8"/>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134627" y="3291840"/>
            <a:ext cx="2462707" cy="548640"/>
          </a:xfrm>
          <a:prstGeom prst="rect">
            <a:avLst/>
          </a:prstGeom>
          <a:noFill/>
        </p:spPr>
        <p:txBody>
          <a:bodyPr wrap="square" lIns="45720" rIns="45720" tIns="18288" bIns="18288" anchor="ctr">
            <a:spAutoFit/>
          </a:bodyPr>
          <a:lstStyle/>
          <a:p>
            <a:pPr algn="ctr"/>
            <a:r>
              <a:rPr sz="1000" b="1" i="0">
                <a:solidFill>
                  <a:srgbClr val="C84A35"/>
                </a:solidFill>
                <a:latin typeface="Arial"/>
              </a:rPr>
              <a:t>Vacant</a:t>
            </a:r>
          </a:p>
          <a:p/>
          <a:p>
            <a:r>
              <a:t>Program Delivery role to be staffed</a:t>
            </a:r>
          </a:p>
        </p:txBody>
      </p:sp>
      <p:sp>
        <p:nvSpPr>
          <p:cNvPr id="87" name="Rectangle 86"/>
          <p:cNvSpPr/>
          <p:nvPr/>
        </p:nvSpPr>
        <p:spPr>
          <a:xfrm>
            <a:off x="457200" y="6309360"/>
            <a:ext cx="228600" cy="228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77240" y="6309360"/>
            <a:ext cx="3657600" cy="228600"/>
          </a:xfrm>
          <a:prstGeom prst="rect">
            <a:avLst/>
          </a:prstGeom>
          <a:noFill/>
        </p:spPr>
        <p:txBody>
          <a:bodyPr wrap="square" lIns="45720" rIns="45720" tIns="18288" bIns="18288" anchor="t">
            <a:spAutoFit/>
          </a:bodyPr>
          <a:lstStyle/>
          <a:p>
            <a:pPr algn="l"/>
            <a:r>
              <a:rPr sz="1000" b="1" i="1">
                <a:solidFill>
                  <a:srgbClr val="2C3E50"/>
                </a:solidFill>
                <a:latin typeface="Arial"/>
              </a:rPr>
              <a:t>Area champion identified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6858000" cy="640080"/>
          </a:xfrm>
          <a:prstGeom prst="rect">
            <a:avLst/>
          </a:prstGeom>
          <a:noFill/>
        </p:spPr>
        <p:txBody>
          <a:bodyPr wrap="square" lIns="45720" rIns="45720" tIns="18288" bIns="18288" anchor="t">
            <a:spAutoFit/>
          </a:bodyPr>
          <a:lstStyle/>
          <a:p>
            <a:pPr algn="l"/>
            <a:r>
              <a:rPr sz="3400" b="1" i="0">
                <a:solidFill>
                  <a:srgbClr val="0B76A0"/>
                </a:solidFill>
                <a:latin typeface="Arial"/>
              </a:rPr>
              <a:t>Table of contents</a:t>
            </a:r>
          </a:p>
        </p:txBody>
      </p:sp>
      <p:sp>
        <p:nvSpPr>
          <p:cNvPr id="3" name="Oval 2"/>
          <p:cNvSpPr/>
          <p:nvPr/>
        </p:nvSpPr>
        <p:spPr>
          <a:xfrm>
            <a:off x="4297680" y="502920"/>
            <a:ext cx="502920" cy="502920"/>
          </a:xfrm>
          <a:prstGeom prst="ellipse">
            <a:avLst/>
          </a:prstGeom>
          <a:solidFill>
            <a:srgbClr val="0B7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0" y="502920"/>
            <a:ext cx="502920" cy="502920"/>
          </a:xfrm>
          <a:prstGeom prst="rect">
            <a:avLst/>
          </a:prstGeom>
          <a:noFill/>
        </p:spPr>
        <p:txBody>
          <a:bodyPr wrap="square" lIns="45720" rIns="45720" tIns="18288" bIns="18288" anchor="ctr">
            <a:spAutoFit/>
          </a:bodyPr>
          <a:lstStyle/>
          <a:p>
            <a:pPr algn="ctr"/>
            <a:r>
              <a:rPr sz="2000" b="1" i="0">
                <a:solidFill>
                  <a:srgbClr val="FFFFFF"/>
                </a:solidFill>
                <a:latin typeface="Arial"/>
              </a:rPr>
              <a:t>▶</a:t>
            </a:r>
          </a:p>
        </p:txBody>
      </p:sp>
      <p:sp>
        <p:nvSpPr>
          <p:cNvPr id="5" name="TextBox 4"/>
          <p:cNvSpPr txBox="1"/>
          <p:nvPr/>
        </p:nvSpPr>
        <p:spPr>
          <a:xfrm>
            <a:off x="9905695" y="411480"/>
            <a:ext cx="1828800" cy="457200"/>
          </a:xfrm>
          <a:prstGeom prst="rect">
            <a:avLst/>
          </a:prstGeom>
          <a:noFill/>
        </p:spPr>
        <p:txBody>
          <a:bodyPr wrap="square" lIns="45720" rIns="45720" tIns="18288" bIns="18288" anchor="ctr">
            <a:spAutoFit/>
          </a:bodyPr>
          <a:lstStyle/>
          <a:p>
            <a:pPr algn="r"/>
            <a:r>
              <a:rPr sz="1400" b="1" i="0">
                <a:solidFill>
                  <a:srgbClr val="0F1C50"/>
                </a:solidFill>
                <a:latin typeface="Arial"/>
              </a:rPr>
              <a:t>NTT  DATA</a:t>
            </a:r>
          </a:p>
        </p:txBody>
      </p:sp>
      <p:sp>
        <p:nvSpPr>
          <p:cNvPr id="6" name="TextBox 5"/>
          <p:cNvSpPr txBox="1"/>
          <p:nvPr/>
        </p:nvSpPr>
        <p:spPr>
          <a:xfrm>
            <a:off x="640080" y="137160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01</a:t>
            </a:r>
          </a:p>
        </p:txBody>
      </p:sp>
      <p:sp>
        <p:nvSpPr>
          <p:cNvPr id="7" name="TextBox 6"/>
          <p:cNvSpPr txBox="1"/>
          <p:nvPr/>
        </p:nvSpPr>
        <p:spPr>
          <a:xfrm>
            <a:off x="1554480" y="141732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Context</a:t>
            </a:r>
          </a:p>
        </p:txBody>
      </p:sp>
      <p:sp>
        <p:nvSpPr>
          <p:cNvPr id="8" name="TextBox 7"/>
          <p:cNvSpPr txBox="1"/>
          <p:nvPr/>
        </p:nvSpPr>
        <p:spPr>
          <a:xfrm>
            <a:off x="1554480" y="182880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Why Avangrid is consolidating Customer Services and IT Business Apps into Digital Products.</a:t>
            </a:r>
          </a:p>
        </p:txBody>
      </p:sp>
      <p:sp>
        <p:nvSpPr>
          <p:cNvPr id="9" name="TextBox 8"/>
          <p:cNvSpPr txBox="1"/>
          <p:nvPr/>
        </p:nvSpPr>
        <p:spPr>
          <a:xfrm>
            <a:off x="640080" y="260604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02</a:t>
            </a:r>
          </a:p>
        </p:txBody>
      </p:sp>
      <p:sp>
        <p:nvSpPr>
          <p:cNvPr id="10" name="TextBox 9"/>
          <p:cNvSpPr txBox="1"/>
          <p:nvPr/>
        </p:nvSpPr>
        <p:spPr>
          <a:xfrm>
            <a:off x="1554480" y="265176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Executive Summary</a:t>
            </a:r>
          </a:p>
        </p:txBody>
      </p:sp>
      <p:sp>
        <p:nvSpPr>
          <p:cNvPr id="11" name="TextBox 10"/>
          <p:cNvSpPr txBox="1"/>
          <p:nvPr/>
        </p:nvSpPr>
        <p:spPr>
          <a:xfrm>
            <a:off x="1554480" y="306324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The proposal in one page — scope, structural issues, governing principles, decisions ahead.</a:t>
            </a:r>
          </a:p>
        </p:txBody>
      </p:sp>
      <p:sp>
        <p:nvSpPr>
          <p:cNvPr id="12" name="TextBox 11"/>
          <p:cNvSpPr txBox="1"/>
          <p:nvPr/>
        </p:nvSpPr>
        <p:spPr>
          <a:xfrm>
            <a:off x="640080" y="384048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03</a:t>
            </a:r>
          </a:p>
        </p:txBody>
      </p:sp>
      <p:sp>
        <p:nvSpPr>
          <p:cNvPr id="13" name="TextBox 12"/>
          <p:cNvSpPr txBox="1"/>
          <p:nvPr/>
        </p:nvSpPr>
        <p:spPr>
          <a:xfrm>
            <a:off x="1554480" y="388620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Current State Analysis</a:t>
            </a:r>
          </a:p>
        </p:txBody>
      </p:sp>
      <p:sp>
        <p:nvSpPr>
          <p:cNvPr id="14" name="TextBox 13"/>
          <p:cNvSpPr txBox="1"/>
          <p:nvPr/>
        </p:nvSpPr>
        <p:spPr>
          <a:xfrm>
            <a:off x="1554480" y="429768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Vitor Cruz's three director branches, ~50 FTE, sub-team mapping and existing champions.</a:t>
            </a:r>
          </a:p>
        </p:txBody>
      </p:sp>
      <p:sp>
        <p:nvSpPr>
          <p:cNvPr id="15" name="Rounded Rectangle 14"/>
          <p:cNvSpPr/>
          <p:nvPr/>
        </p:nvSpPr>
        <p:spPr>
          <a:xfrm>
            <a:off x="548640" y="5029200"/>
            <a:ext cx="5501487" cy="1143000"/>
          </a:xfrm>
          <a:prstGeom prst="roundRect">
            <a:avLst>
              <a:gd name="adj" fmla="val 5000"/>
            </a:avLst>
          </a:prstGeom>
          <a:solidFill>
            <a:srgbClr val="DCE6F5"/>
          </a:solidFill>
          <a:ln w="127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074920"/>
            <a:ext cx="868680" cy="777240"/>
          </a:xfrm>
          <a:prstGeom prst="rect">
            <a:avLst/>
          </a:prstGeom>
          <a:noFill/>
        </p:spPr>
        <p:txBody>
          <a:bodyPr wrap="square" lIns="45720" rIns="45720" tIns="18288" bIns="18288" anchor="t">
            <a:spAutoFit/>
          </a:bodyPr>
          <a:lstStyle/>
          <a:p>
            <a:pPr algn="l"/>
            <a:r>
              <a:rPr sz="4400" b="1" i="0">
                <a:solidFill>
                  <a:srgbClr val="0F1C50"/>
                </a:solidFill>
                <a:latin typeface="Arial"/>
              </a:rPr>
              <a:t>04</a:t>
            </a:r>
          </a:p>
        </p:txBody>
      </p:sp>
      <p:sp>
        <p:nvSpPr>
          <p:cNvPr id="17" name="TextBox 16"/>
          <p:cNvSpPr txBox="1"/>
          <p:nvPr/>
        </p:nvSpPr>
        <p:spPr>
          <a:xfrm>
            <a:off x="1554480" y="5120640"/>
            <a:ext cx="4541367" cy="365760"/>
          </a:xfrm>
          <a:prstGeom prst="rect">
            <a:avLst/>
          </a:prstGeom>
          <a:noFill/>
        </p:spPr>
        <p:txBody>
          <a:bodyPr wrap="square" lIns="45720" rIns="45720" tIns="18288" bIns="18288" anchor="t">
            <a:spAutoFit/>
          </a:bodyPr>
          <a:lstStyle/>
          <a:p>
            <a:pPr algn="l"/>
            <a:r>
              <a:rPr sz="1800" b="1" i="0">
                <a:solidFill>
                  <a:srgbClr val="0F1C50"/>
                </a:solidFill>
                <a:latin typeface="Arial"/>
              </a:rPr>
              <a:t>Structural Issues &amp; Guiding Principles</a:t>
            </a:r>
          </a:p>
        </p:txBody>
      </p:sp>
      <p:sp>
        <p:nvSpPr>
          <p:cNvPr id="18" name="TextBox 17"/>
          <p:cNvSpPr txBox="1"/>
          <p:nvPr/>
        </p:nvSpPr>
        <p:spPr>
          <a:xfrm>
            <a:off x="1554480" y="5532120"/>
            <a:ext cx="4541367" cy="640080"/>
          </a:xfrm>
          <a:prstGeom prst="rect">
            <a:avLst/>
          </a:prstGeom>
          <a:noFill/>
        </p:spPr>
        <p:txBody>
          <a:bodyPr wrap="square" lIns="45720" rIns="45720" tIns="18288" bIns="18288" anchor="t">
            <a:spAutoFit/>
          </a:bodyPr>
          <a:lstStyle/>
          <a:p>
            <a:pPr algn="l"/>
            <a:r>
              <a:rPr sz="1050" b="0" i="0">
                <a:solidFill>
                  <a:srgbClr val="2C3E50"/>
                </a:solidFill>
                <a:latin typeface="Arial"/>
              </a:rPr>
              <a:t>Seven structural issues from the AS-IS, four guiding principles that resolve them.</a:t>
            </a:r>
          </a:p>
        </p:txBody>
      </p:sp>
      <p:sp>
        <p:nvSpPr>
          <p:cNvPr id="19" name="TextBox 18"/>
          <p:cNvSpPr txBox="1"/>
          <p:nvPr/>
        </p:nvSpPr>
        <p:spPr>
          <a:xfrm>
            <a:off x="6370167" y="137160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05</a:t>
            </a:r>
          </a:p>
        </p:txBody>
      </p:sp>
      <p:sp>
        <p:nvSpPr>
          <p:cNvPr id="20" name="TextBox 19"/>
          <p:cNvSpPr txBox="1"/>
          <p:nvPr/>
        </p:nvSpPr>
        <p:spPr>
          <a:xfrm>
            <a:off x="7284567" y="141732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Stage 1 · Demand Management Framework</a:t>
            </a:r>
          </a:p>
        </p:txBody>
      </p:sp>
      <p:sp>
        <p:nvSpPr>
          <p:cNvPr id="21" name="TextBox 20"/>
          <p:cNvSpPr txBox="1"/>
          <p:nvPr/>
        </p:nvSpPr>
        <p:spPr>
          <a:xfrm>
            <a:off x="7284567" y="182880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Five dimensions — Capabilities · Roles · Tools · Governance · Performance — including branch specifics.</a:t>
            </a:r>
          </a:p>
        </p:txBody>
      </p:sp>
      <p:sp>
        <p:nvSpPr>
          <p:cNvPr id="22" name="TextBox 21"/>
          <p:cNvSpPr txBox="1"/>
          <p:nvPr/>
        </p:nvSpPr>
        <p:spPr>
          <a:xfrm>
            <a:off x="6370167" y="260604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06</a:t>
            </a:r>
          </a:p>
        </p:txBody>
      </p:sp>
      <p:sp>
        <p:nvSpPr>
          <p:cNvPr id="23" name="TextBox 22"/>
          <p:cNvSpPr txBox="1"/>
          <p:nvPr/>
        </p:nvSpPr>
        <p:spPr>
          <a:xfrm>
            <a:off x="7284567" y="265176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Operating Model · Crews &amp; Bases</a:t>
            </a:r>
          </a:p>
        </p:txBody>
      </p:sp>
      <p:sp>
        <p:nvSpPr>
          <p:cNvPr id="24" name="TextBox 23"/>
          <p:cNvSpPr txBox="1"/>
          <p:nvPr/>
        </p:nvSpPr>
        <p:spPr>
          <a:xfrm>
            <a:off x="7284567" y="306324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unFIX primer · Strongly Aligned Base · Supporting Crews · Sibling Bases · 8 Value Stream deep-dives · Vendor model.</a:t>
            </a:r>
          </a:p>
        </p:txBody>
      </p:sp>
      <p:sp>
        <p:nvSpPr>
          <p:cNvPr id="25" name="TextBox 24"/>
          <p:cNvSpPr txBox="1"/>
          <p:nvPr/>
        </p:nvSpPr>
        <p:spPr>
          <a:xfrm>
            <a:off x="6370167" y="384048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07</a:t>
            </a:r>
          </a:p>
        </p:txBody>
      </p:sp>
      <p:sp>
        <p:nvSpPr>
          <p:cNvPr id="26" name="TextBox 25"/>
          <p:cNvSpPr txBox="1"/>
          <p:nvPr/>
        </p:nvSpPr>
        <p:spPr>
          <a:xfrm>
            <a:off x="7284567" y="388620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Demand Flow &amp; Portfolio Operation</a:t>
            </a:r>
          </a:p>
        </p:txBody>
      </p:sp>
      <p:sp>
        <p:nvSpPr>
          <p:cNvPr id="27" name="TextBox 26"/>
          <p:cNvSpPr txBox="1"/>
          <p:nvPr/>
        </p:nvSpPr>
        <p:spPr>
          <a:xfrm>
            <a:off x="7284567" y="429768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Forums · Portfolio + Team Boards · Class of Service · Wave 1 Roadmap · TO-BE Demand Flow.</a:t>
            </a:r>
          </a:p>
        </p:txBody>
      </p:sp>
      <p:sp>
        <p:nvSpPr>
          <p:cNvPr id="28" name="TextBox 27"/>
          <p:cNvSpPr txBox="1"/>
          <p:nvPr/>
        </p:nvSpPr>
        <p:spPr>
          <a:xfrm>
            <a:off x="6370167" y="507492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08</a:t>
            </a:r>
          </a:p>
        </p:txBody>
      </p:sp>
      <p:sp>
        <p:nvSpPr>
          <p:cNvPr id="29" name="TextBox 28"/>
          <p:cNvSpPr txBox="1"/>
          <p:nvPr/>
        </p:nvSpPr>
        <p:spPr>
          <a:xfrm>
            <a:off x="7284567" y="512064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Open Decisions &amp; Next Steps</a:t>
            </a:r>
          </a:p>
        </p:txBody>
      </p:sp>
      <p:sp>
        <p:nvSpPr>
          <p:cNvPr id="30" name="TextBox 29"/>
          <p:cNvSpPr txBox="1"/>
          <p:nvPr/>
        </p:nvSpPr>
        <p:spPr>
          <a:xfrm>
            <a:off x="7284567" y="553212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Validation needed before steady-state — vendor model · PM staffing · NOC owner.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SEVEN STRUCTURAL ISSUES SURFACE — NO SINGLE-AREA FIX RESOLVES THEM; THE TOM MUST STANDARDIZE END-TO-END</a:t>
            </a:r>
          </a:p>
        </p:txBody>
      </p:sp>
      <p:sp>
        <p:nvSpPr>
          <p:cNvPr id="4" name="TextBox 3"/>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5" name="Rounded Rectangle 4"/>
          <p:cNvSpPr/>
          <p:nvPr/>
        </p:nvSpPr>
        <p:spPr>
          <a:xfrm>
            <a:off x="457200" y="996696"/>
            <a:ext cx="640080" cy="679268"/>
          </a:xfrm>
          <a:prstGeom prst="roundRect">
            <a:avLst>
              <a:gd name="adj" fmla="val 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96696"/>
            <a:ext cx="640080" cy="679268"/>
          </a:xfrm>
          <a:prstGeom prst="rect">
            <a:avLst/>
          </a:prstGeom>
          <a:noFill/>
        </p:spPr>
        <p:txBody>
          <a:bodyPr wrap="square" lIns="45720" rIns="45720" tIns="18288" bIns="18288" anchor="ctr">
            <a:spAutoFit/>
          </a:bodyPr>
          <a:lstStyle/>
          <a:p>
            <a:pPr algn="ctr"/>
            <a:r>
              <a:rPr sz="1800" b="1" i="0">
                <a:solidFill>
                  <a:srgbClr val="FFFFFF"/>
                </a:solidFill>
                <a:latin typeface="Arial"/>
              </a:rPr>
              <a:t>01</a:t>
            </a:r>
          </a:p>
        </p:txBody>
      </p:sp>
      <p:sp>
        <p:nvSpPr>
          <p:cNvPr id="7" name="TextBox 6"/>
          <p:cNvSpPr txBox="1"/>
          <p:nvPr/>
        </p:nvSpPr>
        <p:spPr>
          <a:xfrm>
            <a:off x="1188720" y="978408"/>
            <a:ext cx="5943600" cy="256032"/>
          </a:xfrm>
          <a:prstGeom prst="rect">
            <a:avLst/>
          </a:prstGeom>
          <a:noFill/>
        </p:spPr>
        <p:txBody>
          <a:bodyPr wrap="square" lIns="45720" rIns="45720" tIns="18288" bIns="18288" anchor="t">
            <a:spAutoFit/>
          </a:bodyPr>
          <a:lstStyle/>
          <a:p>
            <a:pPr algn="l"/>
            <a:r>
              <a:rPr sz="1200" b="1" i="0">
                <a:solidFill>
                  <a:srgbClr val="2C578B"/>
                </a:solidFill>
                <a:latin typeface="Arial"/>
              </a:rPr>
              <a:t>No Product Entry Point</a:t>
            </a:r>
          </a:p>
        </p:txBody>
      </p:sp>
      <p:sp>
        <p:nvSpPr>
          <p:cNvPr id="8" name="TextBox 7"/>
          <p:cNvSpPr txBox="1"/>
          <p:nvPr/>
        </p:nvSpPr>
        <p:spPr>
          <a:xfrm>
            <a:off x="1188720" y="1234440"/>
            <a:ext cx="5943600" cy="267788"/>
          </a:xfrm>
          <a:prstGeom prst="rect">
            <a:avLst/>
          </a:prstGeom>
          <a:noFill/>
        </p:spPr>
        <p:txBody>
          <a:bodyPr wrap="square" lIns="45720" rIns="45720" tIns="18288" bIns="18288" anchor="t">
            <a:spAutoFit/>
          </a:bodyPr>
          <a:lstStyle/>
          <a:p>
            <a:pPr algn="l"/>
            <a:r>
              <a:rPr sz="850" b="0" i="0">
                <a:solidFill>
                  <a:srgbClr val="2C3E50"/>
                </a:solidFill>
                <a:latin typeface="Arial"/>
              </a:rPr>
              <a:t>Demand enters through multiple disconnected channels, with no single front door aligned to products or value streams.</a:t>
            </a:r>
          </a:p>
        </p:txBody>
      </p:sp>
      <p:sp>
        <p:nvSpPr>
          <p:cNvPr id="9" name="TextBox 8"/>
          <p:cNvSpPr txBox="1"/>
          <p:nvPr/>
        </p:nvSpPr>
        <p:spPr>
          <a:xfrm>
            <a:off x="1188720" y="1483940"/>
            <a:ext cx="5943600" cy="228600"/>
          </a:xfrm>
          <a:prstGeom prst="rect">
            <a:avLst/>
          </a:prstGeom>
          <a:noFill/>
        </p:spPr>
        <p:txBody>
          <a:bodyPr wrap="square" lIns="45720" rIns="45720" tIns="18288" bIns="18288" anchor="t">
            <a:spAutoFit/>
          </a:bodyPr>
          <a:lstStyle/>
          <a:p>
            <a:pPr algn="l"/>
            <a:r>
              <a:rPr sz="750" b="0" i="1">
                <a:solidFill>
                  <a:srgbClr val="95A5A6"/>
                </a:solidFill>
                <a:latin typeface="Arial"/>
              </a:rPr>
              <a:t>(6+ disconnected channels — Jira · IT Now · RITM · SharePoint · Email · Word. No single front door.)</a:t>
            </a:r>
          </a:p>
        </p:txBody>
      </p:sp>
      <p:sp>
        <p:nvSpPr>
          <p:cNvPr id="10" name="TextBox 9"/>
          <p:cNvSpPr txBox="1"/>
          <p:nvPr/>
        </p:nvSpPr>
        <p:spPr>
          <a:xfrm>
            <a:off x="7223760" y="996696"/>
            <a:ext cx="274320" cy="679268"/>
          </a:xfrm>
          <a:prstGeom prst="rect">
            <a:avLst/>
          </a:prstGeom>
          <a:noFill/>
        </p:spPr>
        <p:txBody>
          <a:bodyPr wrap="square" lIns="45720" rIns="45720" tIns="18288" bIns="18288" anchor="ctr">
            <a:spAutoFit/>
          </a:bodyPr>
          <a:lstStyle/>
          <a:p>
            <a:pPr algn="ctr"/>
            <a:r>
              <a:rPr sz="1400" b="1" i="0">
                <a:solidFill>
                  <a:srgbClr val="0F1C50"/>
                </a:solidFill>
                <a:latin typeface="Arial"/>
              </a:rPr>
              <a:t>▶</a:t>
            </a:r>
          </a:p>
        </p:txBody>
      </p:sp>
      <p:sp>
        <p:nvSpPr>
          <p:cNvPr id="11" name="TextBox 10"/>
          <p:cNvSpPr txBox="1"/>
          <p:nvPr/>
        </p:nvSpPr>
        <p:spPr>
          <a:xfrm>
            <a:off x="7498080" y="1005840"/>
            <a:ext cx="4327855" cy="679268"/>
          </a:xfrm>
          <a:prstGeom prst="rect">
            <a:avLst/>
          </a:prstGeom>
          <a:noFill/>
        </p:spPr>
        <p:txBody>
          <a:bodyPr wrap="square" lIns="45720" rIns="45720" tIns="18288" bIns="18288" anchor="ctr">
            <a:spAutoFit/>
          </a:bodyPr>
          <a:lstStyle/>
          <a:p>
            <a:pPr algn="l"/>
            <a:r>
              <a:rPr sz="1000" b="0" i="0">
                <a:solidFill>
                  <a:srgbClr val="2C3E50"/>
                </a:solidFill>
                <a:latin typeface="Arial"/>
              </a:rPr>
              <a:t>Product model requires a unified intake layer structured around products, not tools or channels.</a:t>
            </a:r>
          </a:p>
        </p:txBody>
      </p:sp>
      <p:sp>
        <p:nvSpPr>
          <p:cNvPr id="12" name="Rectangle 11"/>
          <p:cNvSpPr/>
          <p:nvPr/>
        </p:nvSpPr>
        <p:spPr>
          <a:xfrm>
            <a:off x="1188720" y="1721684"/>
            <a:ext cx="10545775" cy="457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7200" y="1767404"/>
            <a:ext cx="640080" cy="679268"/>
          </a:xfrm>
          <a:prstGeom prst="roundRect">
            <a:avLst>
              <a:gd name="adj" fmla="val 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1767404"/>
            <a:ext cx="640080" cy="679268"/>
          </a:xfrm>
          <a:prstGeom prst="rect">
            <a:avLst/>
          </a:prstGeom>
          <a:noFill/>
        </p:spPr>
        <p:txBody>
          <a:bodyPr wrap="square" lIns="45720" rIns="45720" tIns="18288" bIns="18288" anchor="ctr">
            <a:spAutoFit/>
          </a:bodyPr>
          <a:lstStyle/>
          <a:p>
            <a:pPr algn="ctr"/>
            <a:r>
              <a:rPr sz="1800" b="1" i="0">
                <a:solidFill>
                  <a:srgbClr val="FFFFFF"/>
                </a:solidFill>
                <a:latin typeface="Arial"/>
              </a:rPr>
              <a:t>02</a:t>
            </a:r>
          </a:p>
        </p:txBody>
      </p:sp>
      <p:sp>
        <p:nvSpPr>
          <p:cNvPr id="15" name="TextBox 14"/>
          <p:cNvSpPr txBox="1"/>
          <p:nvPr/>
        </p:nvSpPr>
        <p:spPr>
          <a:xfrm>
            <a:off x="1188720" y="1749116"/>
            <a:ext cx="5943600" cy="256032"/>
          </a:xfrm>
          <a:prstGeom prst="rect">
            <a:avLst/>
          </a:prstGeom>
          <a:noFill/>
        </p:spPr>
        <p:txBody>
          <a:bodyPr wrap="square" lIns="45720" rIns="45720" tIns="18288" bIns="18288" anchor="t">
            <a:spAutoFit/>
          </a:bodyPr>
          <a:lstStyle/>
          <a:p>
            <a:pPr algn="l"/>
            <a:r>
              <a:rPr sz="1200" b="1" i="0">
                <a:solidFill>
                  <a:srgbClr val="2C578B"/>
                </a:solidFill>
                <a:latin typeface="Arial"/>
              </a:rPr>
              <a:t>No Value-Based Decisioning</a:t>
            </a:r>
          </a:p>
        </p:txBody>
      </p:sp>
      <p:sp>
        <p:nvSpPr>
          <p:cNvPr id="16" name="TextBox 15"/>
          <p:cNvSpPr txBox="1"/>
          <p:nvPr/>
        </p:nvSpPr>
        <p:spPr>
          <a:xfrm>
            <a:off x="1188720" y="2005148"/>
            <a:ext cx="5943600" cy="267788"/>
          </a:xfrm>
          <a:prstGeom prst="rect">
            <a:avLst/>
          </a:prstGeom>
          <a:noFill/>
        </p:spPr>
        <p:txBody>
          <a:bodyPr wrap="square" lIns="45720" rIns="45720" tIns="18288" bIns="18288" anchor="t">
            <a:spAutoFit/>
          </a:bodyPr>
          <a:lstStyle/>
          <a:p>
            <a:pPr algn="l"/>
            <a:r>
              <a:rPr sz="850" b="0" i="0">
                <a:solidFill>
                  <a:srgbClr val="2C3E50"/>
                </a:solidFill>
                <a:latin typeface="Arial"/>
              </a:rPr>
              <a:t>Prioritization is inconsistent and driven by local criteria, with no common definition of value across initiatives.</a:t>
            </a:r>
          </a:p>
        </p:txBody>
      </p:sp>
      <p:sp>
        <p:nvSpPr>
          <p:cNvPr id="17" name="TextBox 16"/>
          <p:cNvSpPr txBox="1"/>
          <p:nvPr/>
        </p:nvSpPr>
        <p:spPr>
          <a:xfrm>
            <a:off x="1188720" y="2254649"/>
            <a:ext cx="5943600" cy="228600"/>
          </a:xfrm>
          <a:prstGeom prst="rect">
            <a:avLst/>
          </a:prstGeom>
          <a:noFill/>
        </p:spPr>
        <p:txBody>
          <a:bodyPr wrap="square" lIns="45720" rIns="45720" tIns="18288" bIns="18288" anchor="t">
            <a:spAutoFit/>
          </a:bodyPr>
          <a:lstStyle/>
          <a:p>
            <a:pPr algn="l"/>
            <a:r>
              <a:rPr sz="750" b="0" i="1">
                <a:solidFill>
                  <a:srgbClr val="95A5A6"/>
                </a:solidFill>
                <a:latin typeface="Arial"/>
              </a:rPr>
              <a:t>(Each area uses different criteria — PDD · impact × users · criticality · operational urgency · common sense.)</a:t>
            </a:r>
          </a:p>
        </p:txBody>
      </p:sp>
      <p:sp>
        <p:nvSpPr>
          <p:cNvPr id="18" name="TextBox 17"/>
          <p:cNvSpPr txBox="1"/>
          <p:nvPr/>
        </p:nvSpPr>
        <p:spPr>
          <a:xfrm>
            <a:off x="7223760" y="1767404"/>
            <a:ext cx="274320" cy="679268"/>
          </a:xfrm>
          <a:prstGeom prst="rect">
            <a:avLst/>
          </a:prstGeom>
          <a:noFill/>
        </p:spPr>
        <p:txBody>
          <a:bodyPr wrap="square" lIns="45720" rIns="45720" tIns="18288" bIns="18288" anchor="ctr">
            <a:spAutoFit/>
          </a:bodyPr>
          <a:lstStyle/>
          <a:p>
            <a:pPr algn="ctr"/>
            <a:r>
              <a:rPr sz="1400" b="1" i="0">
                <a:solidFill>
                  <a:srgbClr val="0F1C50"/>
                </a:solidFill>
                <a:latin typeface="Arial"/>
              </a:rPr>
              <a:t>▶</a:t>
            </a:r>
          </a:p>
        </p:txBody>
      </p:sp>
      <p:sp>
        <p:nvSpPr>
          <p:cNvPr id="19" name="TextBox 18"/>
          <p:cNvSpPr txBox="1"/>
          <p:nvPr/>
        </p:nvSpPr>
        <p:spPr>
          <a:xfrm>
            <a:off x="7498080" y="1776548"/>
            <a:ext cx="4327855" cy="679268"/>
          </a:xfrm>
          <a:prstGeom prst="rect">
            <a:avLst/>
          </a:prstGeom>
          <a:noFill/>
        </p:spPr>
        <p:txBody>
          <a:bodyPr wrap="square" lIns="45720" rIns="45720" tIns="18288" bIns="18288" anchor="ctr">
            <a:spAutoFit/>
          </a:bodyPr>
          <a:lstStyle/>
          <a:p>
            <a:pPr algn="l"/>
            <a:r>
              <a:rPr sz="1000" b="0" i="0">
                <a:solidFill>
                  <a:srgbClr val="2C3E50"/>
                </a:solidFill>
                <a:latin typeface="Arial"/>
              </a:rPr>
              <a:t>Product model requires a standardized, value-based prioritization framework tied to business outcomes.</a:t>
            </a:r>
          </a:p>
        </p:txBody>
      </p:sp>
      <p:sp>
        <p:nvSpPr>
          <p:cNvPr id="20" name="Rectangle 19"/>
          <p:cNvSpPr/>
          <p:nvPr/>
        </p:nvSpPr>
        <p:spPr>
          <a:xfrm>
            <a:off x="1188720" y="2492393"/>
            <a:ext cx="10545775" cy="457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57200" y="2538113"/>
            <a:ext cx="640080" cy="679268"/>
          </a:xfrm>
          <a:prstGeom prst="roundRect">
            <a:avLst>
              <a:gd name="adj" fmla="val 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2538113"/>
            <a:ext cx="640080" cy="679268"/>
          </a:xfrm>
          <a:prstGeom prst="rect">
            <a:avLst/>
          </a:prstGeom>
          <a:noFill/>
        </p:spPr>
        <p:txBody>
          <a:bodyPr wrap="square" lIns="45720" rIns="45720" tIns="18288" bIns="18288" anchor="ctr">
            <a:spAutoFit/>
          </a:bodyPr>
          <a:lstStyle/>
          <a:p>
            <a:pPr algn="ctr"/>
            <a:r>
              <a:rPr sz="1800" b="1" i="0">
                <a:solidFill>
                  <a:srgbClr val="FFFFFF"/>
                </a:solidFill>
                <a:latin typeface="Arial"/>
              </a:rPr>
              <a:t>03</a:t>
            </a:r>
          </a:p>
        </p:txBody>
      </p:sp>
      <p:sp>
        <p:nvSpPr>
          <p:cNvPr id="23" name="TextBox 22"/>
          <p:cNvSpPr txBox="1"/>
          <p:nvPr/>
        </p:nvSpPr>
        <p:spPr>
          <a:xfrm>
            <a:off x="1188720" y="2519825"/>
            <a:ext cx="5943600" cy="256032"/>
          </a:xfrm>
          <a:prstGeom prst="rect">
            <a:avLst/>
          </a:prstGeom>
          <a:noFill/>
        </p:spPr>
        <p:txBody>
          <a:bodyPr wrap="square" lIns="45720" rIns="45720" tIns="18288" bIns="18288" anchor="t">
            <a:spAutoFit/>
          </a:bodyPr>
          <a:lstStyle/>
          <a:p>
            <a:pPr algn="l"/>
            <a:r>
              <a:rPr sz="1200" b="1" i="0">
                <a:solidFill>
                  <a:srgbClr val="2C578B"/>
                </a:solidFill>
                <a:latin typeface="Arial"/>
              </a:rPr>
              <a:t>No End-to-End Product View</a:t>
            </a:r>
          </a:p>
        </p:txBody>
      </p:sp>
      <p:sp>
        <p:nvSpPr>
          <p:cNvPr id="24" name="TextBox 23"/>
          <p:cNvSpPr txBox="1"/>
          <p:nvPr/>
        </p:nvSpPr>
        <p:spPr>
          <a:xfrm>
            <a:off x="1188720" y="2775857"/>
            <a:ext cx="5943600" cy="267788"/>
          </a:xfrm>
          <a:prstGeom prst="rect">
            <a:avLst/>
          </a:prstGeom>
          <a:noFill/>
        </p:spPr>
        <p:txBody>
          <a:bodyPr wrap="square" lIns="45720" rIns="45720" tIns="18288" bIns="18288" anchor="t">
            <a:spAutoFit/>
          </a:bodyPr>
          <a:lstStyle/>
          <a:p>
            <a:pPr algn="l"/>
            <a:r>
              <a:rPr sz="850" b="0" i="0">
                <a:solidFill>
                  <a:srgbClr val="2C3E50"/>
                </a:solidFill>
                <a:latin typeface="Arial"/>
              </a:rPr>
              <a:t>Portfolio management capabilities are fragmented, limiting visibility across demand, capacity, and delivery.</a:t>
            </a:r>
          </a:p>
        </p:txBody>
      </p:sp>
      <p:sp>
        <p:nvSpPr>
          <p:cNvPr id="25" name="TextBox 24"/>
          <p:cNvSpPr txBox="1"/>
          <p:nvPr/>
        </p:nvSpPr>
        <p:spPr>
          <a:xfrm>
            <a:off x="1188720" y="3025357"/>
            <a:ext cx="5943600" cy="228600"/>
          </a:xfrm>
          <a:prstGeom prst="rect">
            <a:avLst/>
          </a:prstGeom>
          <a:noFill/>
        </p:spPr>
        <p:txBody>
          <a:bodyPr wrap="square" lIns="45720" rIns="45720" tIns="18288" bIns="18288" anchor="t">
            <a:spAutoFit/>
          </a:bodyPr>
          <a:lstStyle/>
          <a:p>
            <a:pPr algn="l"/>
            <a:r>
              <a:rPr sz="750" b="0" i="1">
                <a:solidFill>
                  <a:srgbClr val="95A5A6"/>
                </a:solidFill>
                <a:latin typeface="Arial"/>
              </a:rPr>
              <a:t>(No consistent and standardized use of portfolio tool. Only Smart Metering uses PPM Now.)</a:t>
            </a:r>
          </a:p>
        </p:txBody>
      </p:sp>
      <p:sp>
        <p:nvSpPr>
          <p:cNvPr id="26" name="TextBox 25"/>
          <p:cNvSpPr txBox="1"/>
          <p:nvPr/>
        </p:nvSpPr>
        <p:spPr>
          <a:xfrm>
            <a:off x="7223760" y="2538113"/>
            <a:ext cx="274320" cy="679268"/>
          </a:xfrm>
          <a:prstGeom prst="rect">
            <a:avLst/>
          </a:prstGeom>
          <a:noFill/>
        </p:spPr>
        <p:txBody>
          <a:bodyPr wrap="square" lIns="45720" rIns="45720" tIns="18288" bIns="18288" anchor="ctr">
            <a:spAutoFit/>
          </a:bodyPr>
          <a:lstStyle/>
          <a:p>
            <a:pPr algn="ctr"/>
            <a:r>
              <a:rPr sz="1400" b="1" i="0">
                <a:solidFill>
                  <a:srgbClr val="0F1C50"/>
                </a:solidFill>
                <a:latin typeface="Arial"/>
              </a:rPr>
              <a:t>▶</a:t>
            </a:r>
          </a:p>
        </p:txBody>
      </p:sp>
      <p:sp>
        <p:nvSpPr>
          <p:cNvPr id="27" name="TextBox 26"/>
          <p:cNvSpPr txBox="1"/>
          <p:nvPr/>
        </p:nvSpPr>
        <p:spPr>
          <a:xfrm>
            <a:off x="7498080" y="2547257"/>
            <a:ext cx="4327855" cy="679268"/>
          </a:xfrm>
          <a:prstGeom prst="rect">
            <a:avLst/>
          </a:prstGeom>
          <a:noFill/>
        </p:spPr>
        <p:txBody>
          <a:bodyPr wrap="square" lIns="45720" rIns="45720" tIns="18288" bIns="18288" anchor="ctr">
            <a:spAutoFit/>
          </a:bodyPr>
          <a:lstStyle/>
          <a:p>
            <a:pPr algn="l"/>
            <a:r>
              <a:rPr sz="1000" b="0" i="0">
                <a:solidFill>
                  <a:srgbClr val="2C3E50"/>
                </a:solidFill>
                <a:latin typeface="Arial"/>
              </a:rPr>
              <a:t>Product model requires integrated portfolio tooling to manage products holistically across their lifecycle.</a:t>
            </a:r>
          </a:p>
        </p:txBody>
      </p:sp>
      <p:sp>
        <p:nvSpPr>
          <p:cNvPr id="28" name="Rectangle 27"/>
          <p:cNvSpPr/>
          <p:nvPr/>
        </p:nvSpPr>
        <p:spPr>
          <a:xfrm>
            <a:off x="1188720" y="3263101"/>
            <a:ext cx="10545775" cy="457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57200" y="3308821"/>
            <a:ext cx="640080" cy="679268"/>
          </a:xfrm>
          <a:prstGeom prst="roundRect">
            <a:avLst>
              <a:gd name="adj" fmla="val 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3308821"/>
            <a:ext cx="640080" cy="679268"/>
          </a:xfrm>
          <a:prstGeom prst="rect">
            <a:avLst/>
          </a:prstGeom>
          <a:noFill/>
        </p:spPr>
        <p:txBody>
          <a:bodyPr wrap="square" lIns="45720" rIns="45720" tIns="18288" bIns="18288" anchor="ctr">
            <a:spAutoFit/>
          </a:bodyPr>
          <a:lstStyle/>
          <a:p>
            <a:pPr algn="ctr"/>
            <a:r>
              <a:rPr sz="1800" b="1" i="0">
                <a:solidFill>
                  <a:srgbClr val="FFFFFF"/>
                </a:solidFill>
                <a:latin typeface="Arial"/>
              </a:rPr>
              <a:t>04</a:t>
            </a:r>
          </a:p>
        </p:txBody>
      </p:sp>
      <p:sp>
        <p:nvSpPr>
          <p:cNvPr id="31" name="TextBox 30"/>
          <p:cNvSpPr txBox="1"/>
          <p:nvPr/>
        </p:nvSpPr>
        <p:spPr>
          <a:xfrm>
            <a:off x="1188720" y="3290533"/>
            <a:ext cx="5943600" cy="256032"/>
          </a:xfrm>
          <a:prstGeom prst="rect">
            <a:avLst/>
          </a:prstGeom>
          <a:noFill/>
        </p:spPr>
        <p:txBody>
          <a:bodyPr wrap="square" lIns="45720" rIns="45720" tIns="18288" bIns="18288" anchor="t">
            <a:spAutoFit/>
          </a:bodyPr>
          <a:lstStyle/>
          <a:p>
            <a:pPr algn="l"/>
            <a:r>
              <a:rPr sz="1200" b="1" i="0">
                <a:solidFill>
                  <a:srgbClr val="2C578B"/>
                </a:solidFill>
                <a:latin typeface="Arial"/>
              </a:rPr>
              <a:t>No Ownership of Outcomes</a:t>
            </a:r>
          </a:p>
        </p:txBody>
      </p:sp>
      <p:sp>
        <p:nvSpPr>
          <p:cNvPr id="32" name="TextBox 31"/>
          <p:cNvSpPr txBox="1"/>
          <p:nvPr/>
        </p:nvSpPr>
        <p:spPr>
          <a:xfrm>
            <a:off x="1188720" y="3546565"/>
            <a:ext cx="5943600" cy="267788"/>
          </a:xfrm>
          <a:prstGeom prst="rect">
            <a:avLst/>
          </a:prstGeom>
          <a:noFill/>
        </p:spPr>
        <p:txBody>
          <a:bodyPr wrap="square" lIns="45720" rIns="45720" tIns="18288" bIns="18288" anchor="t">
            <a:spAutoFit/>
          </a:bodyPr>
          <a:lstStyle/>
          <a:p>
            <a:pPr algn="l"/>
            <a:r>
              <a:rPr sz="850" b="0" i="0">
                <a:solidFill>
                  <a:srgbClr val="2C3E50"/>
                </a:solidFill>
                <a:latin typeface="Arial"/>
              </a:rPr>
              <a:t>No standard process to manage delivery. Ownership is unclear across the lifecycle, with teams and vendors defining timelines and follow-up independently.</a:t>
            </a:r>
          </a:p>
        </p:txBody>
      </p:sp>
      <p:sp>
        <p:nvSpPr>
          <p:cNvPr id="33" name="TextBox 32"/>
          <p:cNvSpPr txBox="1"/>
          <p:nvPr/>
        </p:nvSpPr>
        <p:spPr>
          <a:xfrm>
            <a:off x="1188720" y="3796066"/>
            <a:ext cx="5943600" cy="228600"/>
          </a:xfrm>
          <a:prstGeom prst="rect">
            <a:avLst/>
          </a:prstGeom>
          <a:noFill/>
        </p:spPr>
        <p:txBody>
          <a:bodyPr wrap="square" lIns="45720" rIns="45720" tIns="18288" bIns="18288" anchor="t">
            <a:spAutoFit/>
          </a:bodyPr>
          <a:lstStyle/>
          <a:p>
            <a:pPr algn="l"/>
            <a:r>
              <a:rPr sz="750" b="0" i="1">
                <a:solidFill>
                  <a:srgbClr val="95A5A6"/>
                </a:solidFill>
                <a:latin typeface="Arial"/>
              </a:rPr>
              <a:t>(Each team estimates, sets timelines, and follows up on delivery on its own.)</a:t>
            </a:r>
          </a:p>
        </p:txBody>
      </p:sp>
      <p:sp>
        <p:nvSpPr>
          <p:cNvPr id="34" name="TextBox 33"/>
          <p:cNvSpPr txBox="1"/>
          <p:nvPr/>
        </p:nvSpPr>
        <p:spPr>
          <a:xfrm>
            <a:off x="7223760" y="3308821"/>
            <a:ext cx="274320" cy="679268"/>
          </a:xfrm>
          <a:prstGeom prst="rect">
            <a:avLst/>
          </a:prstGeom>
          <a:noFill/>
        </p:spPr>
        <p:txBody>
          <a:bodyPr wrap="square" lIns="45720" rIns="45720" tIns="18288" bIns="18288" anchor="ctr">
            <a:spAutoFit/>
          </a:bodyPr>
          <a:lstStyle/>
          <a:p>
            <a:pPr algn="ctr"/>
            <a:r>
              <a:rPr sz="1400" b="1" i="0">
                <a:solidFill>
                  <a:srgbClr val="0F1C50"/>
                </a:solidFill>
                <a:latin typeface="Arial"/>
              </a:rPr>
              <a:t>▶</a:t>
            </a:r>
          </a:p>
        </p:txBody>
      </p:sp>
      <p:sp>
        <p:nvSpPr>
          <p:cNvPr id="35" name="TextBox 34"/>
          <p:cNvSpPr txBox="1"/>
          <p:nvPr/>
        </p:nvSpPr>
        <p:spPr>
          <a:xfrm>
            <a:off x="7498080" y="3317965"/>
            <a:ext cx="4327855" cy="679268"/>
          </a:xfrm>
          <a:prstGeom prst="rect">
            <a:avLst/>
          </a:prstGeom>
          <a:noFill/>
        </p:spPr>
        <p:txBody>
          <a:bodyPr wrap="square" lIns="45720" rIns="45720" tIns="18288" bIns="18288" anchor="ctr">
            <a:spAutoFit/>
          </a:bodyPr>
          <a:lstStyle/>
          <a:p>
            <a:pPr algn="l"/>
            <a:r>
              <a:rPr sz="1000" b="0" i="0">
                <a:solidFill>
                  <a:srgbClr val="2C3E50"/>
                </a:solidFill>
                <a:latin typeface="Arial"/>
              </a:rPr>
              <a:t>Product model requires clear ownership, performance management, and outcome-based governance.</a:t>
            </a:r>
          </a:p>
        </p:txBody>
      </p:sp>
      <p:sp>
        <p:nvSpPr>
          <p:cNvPr id="36" name="Rectangle 35"/>
          <p:cNvSpPr/>
          <p:nvPr/>
        </p:nvSpPr>
        <p:spPr>
          <a:xfrm>
            <a:off x="1188720" y="4033810"/>
            <a:ext cx="10545775" cy="457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57200" y="4079530"/>
            <a:ext cx="640080" cy="679268"/>
          </a:xfrm>
          <a:prstGeom prst="roundRect">
            <a:avLst>
              <a:gd name="adj" fmla="val 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4079530"/>
            <a:ext cx="640080" cy="679268"/>
          </a:xfrm>
          <a:prstGeom prst="rect">
            <a:avLst/>
          </a:prstGeom>
          <a:noFill/>
        </p:spPr>
        <p:txBody>
          <a:bodyPr wrap="square" lIns="45720" rIns="45720" tIns="18288" bIns="18288" anchor="ctr">
            <a:spAutoFit/>
          </a:bodyPr>
          <a:lstStyle/>
          <a:p>
            <a:pPr algn="ctr"/>
            <a:r>
              <a:rPr sz="1800" b="1" i="0">
                <a:solidFill>
                  <a:srgbClr val="FFFFFF"/>
                </a:solidFill>
                <a:latin typeface="Arial"/>
              </a:rPr>
              <a:t>05</a:t>
            </a:r>
          </a:p>
        </p:txBody>
      </p:sp>
      <p:sp>
        <p:nvSpPr>
          <p:cNvPr id="39" name="TextBox 38"/>
          <p:cNvSpPr txBox="1"/>
          <p:nvPr/>
        </p:nvSpPr>
        <p:spPr>
          <a:xfrm>
            <a:off x="1188720" y="4061242"/>
            <a:ext cx="5943600" cy="256032"/>
          </a:xfrm>
          <a:prstGeom prst="rect">
            <a:avLst/>
          </a:prstGeom>
          <a:noFill/>
        </p:spPr>
        <p:txBody>
          <a:bodyPr wrap="square" lIns="45720" rIns="45720" tIns="18288" bIns="18288" anchor="t">
            <a:spAutoFit/>
          </a:bodyPr>
          <a:lstStyle/>
          <a:p>
            <a:pPr algn="l"/>
            <a:r>
              <a:rPr sz="1200" b="1" i="0">
                <a:solidFill>
                  <a:srgbClr val="2C578B"/>
                </a:solidFill>
                <a:latin typeface="Arial"/>
              </a:rPr>
              <a:t>No Product-Level Steering</a:t>
            </a:r>
          </a:p>
        </p:txBody>
      </p:sp>
      <p:sp>
        <p:nvSpPr>
          <p:cNvPr id="40" name="TextBox 39"/>
          <p:cNvSpPr txBox="1"/>
          <p:nvPr/>
        </p:nvSpPr>
        <p:spPr>
          <a:xfrm>
            <a:off x="1188720" y="4317274"/>
            <a:ext cx="5943600" cy="267788"/>
          </a:xfrm>
          <a:prstGeom prst="rect">
            <a:avLst/>
          </a:prstGeom>
          <a:noFill/>
        </p:spPr>
        <p:txBody>
          <a:bodyPr wrap="square" lIns="45720" rIns="45720" tIns="18288" bIns="18288" anchor="t">
            <a:spAutoFit/>
          </a:bodyPr>
          <a:lstStyle/>
          <a:p>
            <a:pPr algn="l"/>
            <a:r>
              <a:rPr sz="850" b="0" i="0">
                <a:solidFill>
                  <a:srgbClr val="2C3E50"/>
                </a:solidFill>
                <a:latin typeface="Arial"/>
              </a:rPr>
              <a:t>Existing forums are not structured to drive portfolio-level or product-based decisions.</a:t>
            </a:r>
          </a:p>
        </p:txBody>
      </p:sp>
      <p:sp>
        <p:nvSpPr>
          <p:cNvPr id="41" name="TextBox 40"/>
          <p:cNvSpPr txBox="1"/>
          <p:nvPr/>
        </p:nvSpPr>
        <p:spPr>
          <a:xfrm>
            <a:off x="1188720" y="4566774"/>
            <a:ext cx="5943600" cy="228600"/>
          </a:xfrm>
          <a:prstGeom prst="rect">
            <a:avLst/>
          </a:prstGeom>
          <a:noFill/>
        </p:spPr>
        <p:txBody>
          <a:bodyPr wrap="square" lIns="45720" rIns="45720" tIns="18288" bIns="18288" anchor="t">
            <a:spAutoFit/>
          </a:bodyPr>
          <a:lstStyle/>
          <a:p>
            <a:pPr algn="l"/>
            <a:r>
              <a:rPr sz="750" b="0" i="1">
                <a:solidFill>
                  <a:srgbClr val="95A5A6"/>
                </a:solidFill>
                <a:latin typeface="Arial"/>
              </a:rPr>
              <a:t>(Different recurring forums exist — but no forum covers portfolio-level decisions.)</a:t>
            </a:r>
          </a:p>
        </p:txBody>
      </p:sp>
      <p:sp>
        <p:nvSpPr>
          <p:cNvPr id="42" name="TextBox 41"/>
          <p:cNvSpPr txBox="1"/>
          <p:nvPr/>
        </p:nvSpPr>
        <p:spPr>
          <a:xfrm>
            <a:off x="7223760" y="4079530"/>
            <a:ext cx="274320" cy="679268"/>
          </a:xfrm>
          <a:prstGeom prst="rect">
            <a:avLst/>
          </a:prstGeom>
          <a:noFill/>
        </p:spPr>
        <p:txBody>
          <a:bodyPr wrap="square" lIns="45720" rIns="45720" tIns="18288" bIns="18288" anchor="ctr">
            <a:spAutoFit/>
          </a:bodyPr>
          <a:lstStyle/>
          <a:p>
            <a:pPr algn="ctr"/>
            <a:r>
              <a:rPr sz="1400" b="1" i="0">
                <a:solidFill>
                  <a:srgbClr val="0F1C50"/>
                </a:solidFill>
                <a:latin typeface="Arial"/>
              </a:rPr>
              <a:t>▶</a:t>
            </a:r>
          </a:p>
        </p:txBody>
      </p:sp>
      <p:sp>
        <p:nvSpPr>
          <p:cNvPr id="43" name="TextBox 42"/>
          <p:cNvSpPr txBox="1"/>
          <p:nvPr/>
        </p:nvSpPr>
        <p:spPr>
          <a:xfrm>
            <a:off x="7498080" y="4088674"/>
            <a:ext cx="4327855" cy="679268"/>
          </a:xfrm>
          <a:prstGeom prst="rect">
            <a:avLst/>
          </a:prstGeom>
          <a:noFill/>
        </p:spPr>
        <p:txBody>
          <a:bodyPr wrap="square" lIns="45720" rIns="45720" tIns="18288" bIns="18288" anchor="ctr">
            <a:spAutoFit/>
          </a:bodyPr>
          <a:lstStyle/>
          <a:p>
            <a:pPr algn="l"/>
            <a:r>
              <a:rPr sz="1000" b="0" i="0">
                <a:solidFill>
                  <a:srgbClr val="2C3E50"/>
                </a:solidFill>
                <a:latin typeface="Arial"/>
              </a:rPr>
              <a:t>Product model requires governance aligned to product portfolios, with clear accountability and decision rights.</a:t>
            </a:r>
          </a:p>
        </p:txBody>
      </p:sp>
      <p:sp>
        <p:nvSpPr>
          <p:cNvPr id="44" name="Rectangle 43"/>
          <p:cNvSpPr/>
          <p:nvPr/>
        </p:nvSpPr>
        <p:spPr>
          <a:xfrm>
            <a:off x="1188720" y="4804518"/>
            <a:ext cx="10545775" cy="457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457200" y="4850238"/>
            <a:ext cx="640080" cy="679268"/>
          </a:xfrm>
          <a:prstGeom prst="roundRect">
            <a:avLst>
              <a:gd name="adj" fmla="val 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4850238"/>
            <a:ext cx="640080" cy="679268"/>
          </a:xfrm>
          <a:prstGeom prst="rect">
            <a:avLst/>
          </a:prstGeom>
          <a:noFill/>
        </p:spPr>
        <p:txBody>
          <a:bodyPr wrap="square" lIns="45720" rIns="45720" tIns="18288" bIns="18288" anchor="ctr">
            <a:spAutoFit/>
          </a:bodyPr>
          <a:lstStyle/>
          <a:p>
            <a:pPr algn="ctr"/>
            <a:r>
              <a:rPr sz="1800" b="1" i="0">
                <a:solidFill>
                  <a:srgbClr val="FFFFFF"/>
                </a:solidFill>
                <a:latin typeface="Arial"/>
              </a:rPr>
              <a:t>06</a:t>
            </a:r>
          </a:p>
        </p:txBody>
      </p:sp>
      <p:sp>
        <p:nvSpPr>
          <p:cNvPr id="47" name="TextBox 46"/>
          <p:cNvSpPr txBox="1"/>
          <p:nvPr/>
        </p:nvSpPr>
        <p:spPr>
          <a:xfrm>
            <a:off x="1188720" y="4831950"/>
            <a:ext cx="5943600" cy="256032"/>
          </a:xfrm>
          <a:prstGeom prst="rect">
            <a:avLst/>
          </a:prstGeom>
          <a:noFill/>
        </p:spPr>
        <p:txBody>
          <a:bodyPr wrap="square" lIns="45720" rIns="45720" tIns="18288" bIns="18288" anchor="t">
            <a:spAutoFit/>
          </a:bodyPr>
          <a:lstStyle/>
          <a:p>
            <a:pPr algn="l"/>
            <a:r>
              <a:rPr sz="1200" b="1" i="0">
                <a:solidFill>
                  <a:srgbClr val="2C578B"/>
                </a:solidFill>
                <a:latin typeface="Arial"/>
              </a:rPr>
              <a:t>No Common Language of Value</a:t>
            </a:r>
          </a:p>
        </p:txBody>
      </p:sp>
      <p:sp>
        <p:nvSpPr>
          <p:cNvPr id="48" name="TextBox 47"/>
          <p:cNvSpPr txBox="1"/>
          <p:nvPr/>
        </p:nvSpPr>
        <p:spPr>
          <a:xfrm>
            <a:off x="1188720" y="5087982"/>
            <a:ext cx="5943600" cy="267788"/>
          </a:xfrm>
          <a:prstGeom prst="rect">
            <a:avLst/>
          </a:prstGeom>
          <a:noFill/>
        </p:spPr>
        <p:txBody>
          <a:bodyPr wrap="square" lIns="45720" rIns="45720" tIns="18288" bIns="18288" anchor="t">
            <a:spAutoFit/>
          </a:bodyPr>
          <a:lstStyle/>
          <a:p>
            <a:pPr algn="l"/>
            <a:r>
              <a:rPr sz="850" b="0" i="0">
                <a:solidFill>
                  <a:srgbClr val="2C3E50"/>
                </a:solidFill>
                <a:latin typeface="Arial"/>
              </a:rPr>
              <a:t>Lack of standardized definitions of impact (client, business value) prevents consistent evaluation and comparison of work.</a:t>
            </a:r>
          </a:p>
        </p:txBody>
      </p:sp>
      <p:sp>
        <p:nvSpPr>
          <p:cNvPr id="49" name="TextBox 48"/>
          <p:cNvSpPr txBox="1"/>
          <p:nvPr/>
        </p:nvSpPr>
        <p:spPr>
          <a:xfrm>
            <a:off x="1188720" y="5337483"/>
            <a:ext cx="5943600" cy="228600"/>
          </a:xfrm>
          <a:prstGeom prst="rect">
            <a:avLst/>
          </a:prstGeom>
          <a:noFill/>
        </p:spPr>
        <p:txBody>
          <a:bodyPr wrap="square" lIns="45720" rIns="45720" tIns="18288" bIns="18288" anchor="t">
            <a:spAutoFit/>
          </a:bodyPr>
          <a:lstStyle/>
          <a:p>
            <a:pPr algn="l"/>
            <a:r>
              <a:rPr sz="750" b="0" i="1">
                <a:solidFill>
                  <a:srgbClr val="95A5A6"/>
                </a:solidFill>
                <a:latin typeface="Arial"/>
              </a:rPr>
              <a:t>(Each demand request is worked depending on perception of value and demand size.)</a:t>
            </a:r>
          </a:p>
        </p:txBody>
      </p:sp>
      <p:sp>
        <p:nvSpPr>
          <p:cNvPr id="50" name="TextBox 49"/>
          <p:cNvSpPr txBox="1"/>
          <p:nvPr/>
        </p:nvSpPr>
        <p:spPr>
          <a:xfrm>
            <a:off x="7223760" y="4850238"/>
            <a:ext cx="274320" cy="679268"/>
          </a:xfrm>
          <a:prstGeom prst="rect">
            <a:avLst/>
          </a:prstGeom>
          <a:noFill/>
        </p:spPr>
        <p:txBody>
          <a:bodyPr wrap="square" lIns="45720" rIns="45720" tIns="18288" bIns="18288" anchor="ctr">
            <a:spAutoFit/>
          </a:bodyPr>
          <a:lstStyle/>
          <a:p>
            <a:pPr algn="ctr"/>
            <a:r>
              <a:rPr sz="1400" b="1" i="0">
                <a:solidFill>
                  <a:srgbClr val="0F1C50"/>
                </a:solidFill>
                <a:latin typeface="Arial"/>
              </a:rPr>
              <a:t>▶</a:t>
            </a:r>
          </a:p>
        </p:txBody>
      </p:sp>
      <p:sp>
        <p:nvSpPr>
          <p:cNvPr id="51" name="TextBox 50"/>
          <p:cNvSpPr txBox="1"/>
          <p:nvPr/>
        </p:nvSpPr>
        <p:spPr>
          <a:xfrm>
            <a:off x="7498080" y="4859382"/>
            <a:ext cx="4327855" cy="679268"/>
          </a:xfrm>
          <a:prstGeom prst="rect">
            <a:avLst/>
          </a:prstGeom>
          <a:noFill/>
        </p:spPr>
        <p:txBody>
          <a:bodyPr wrap="square" lIns="45720" rIns="45720" tIns="18288" bIns="18288" anchor="ctr">
            <a:spAutoFit/>
          </a:bodyPr>
          <a:lstStyle/>
          <a:p>
            <a:pPr algn="l"/>
            <a:r>
              <a:rPr sz="1000" b="0" i="0">
                <a:solidFill>
                  <a:srgbClr val="2C3E50"/>
                </a:solidFill>
                <a:latin typeface="Arial"/>
              </a:rPr>
              <a:t>Product model requires a shared taxonomy and classification model as a foundation for prioritization and planning.</a:t>
            </a:r>
          </a:p>
        </p:txBody>
      </p:sp>
      <p:sp>
        <p:nvSpPr>
          <p:cNvPr id="52" name="Rectangle 51"/>
          <p:cNvSpPr/>
          <p:nvPr/>
        </p:nvSpPr>
        <p:spPr>
          <a:xfrm>
            <a:off x="1188720" y="5575227"/>
            <a:ext cx="10545775" cy="457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457200" y="5620947"/>
            <a:ext cx="640080" cy="679268"/>
          </a:xfrm>
          <a:prstGeom prst="roundRect">
            <a:avLst>
              <a:gd name="adj" fmla="val 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5620947"/>
            <a:ext cx="640080" cy="679268"/>
          </a:xfrm>
          <a:prstGeom prst="rect">
            <a:avLst/>
          </a:prstGeom>
          <a:noFill/>
        </p:spPr>
        <p:txBody>
          <a:bodyPr wrap="square" lIns="45720" rIns="45720" tIns="18288" bIns="18288" anchor="ctr">
            <a:spAutoFit/>
          </a:bodyPr>
          <a:lstStyle/>
          <a:p>
            <a:pPr algn="ctr"/>
            <a:r>
              <a:rPr sz="1800" b="1" i="0">
                <a:solidFill>
                  <a:srgbClr val="FFFFFF"/>
                </a:solidFill>
                <a:latin typeface="Arial"/>
              </a:rPr>
              <a:t>07</a:t>
            </a:r>
          </a:p>
        </p:txBody>
      </p:sp>
      <p:sp>
        <p:nvSpPr>
          <p:cNvPr id="55" name="TextBox 54"/>
          <p:cNvSpPr txBox="1"/>
          <p:nvPr/>
        </p:nvSpPr>
        <p:spPr>
          <a:xfrm>
            <a:off x="1188720" y="5602659"/>
            <a:ext cx="5943600" cy="256032"/>
          </a:xfrm>
          <a:prstGeom prst="rect">
            <a:avLst/>
          </a:prstGeom>
          <a:noFill/>
        </p:spPr>
        <p:txBody>
          <a:bodyPr wrap="square" lIns="45720" rIns="45720" tIns="18288" bIns="18288" anchor="t">
            <a:spAutoFit/>
          </a:bodyPr>
          <a:lstStyle/>
          <a:p>
            <a:pPr algn="l"/>
            <a:r>
              <a:rPr sz="1200" b="1" i="0">
                <a:solidFill>
                  <a:srgbClr val="2C578B"/>
                </a:solidFill>
                <a:latin typeface="Arial"/>
              </a:rPr>
              <a:t>No Product Ownership Model</a:t>
            </a:r>
          </a:p>
        </p:txBody>
      </p:sp>
      <p:sp>
        <p:nvSpPr>
          <p:cNvPr id="56" name="TextBox 55"/>
          <p:cNvSpPr txBox="1"/>
          <p:nvPr/>
        </p:nvSpPr>
        <p:spPr>
          <a:xfrm>
            <a:off x="1188720" y="5858691"/>
            <a:ext cx="5943600" cy="267788"/>
          </a:xfrm>
          <a:prstGeom prst="rect">
            <a:avLst/>
          </a:prstGeom>
          <a:noFill/>
        </p:spPr>
        <p:txBody>
          <a:bodyPr wrap="square" lIns="45720" rIns="45720" tIns="18288" bIns="18288" anchor="t">
            <a:spAutoFit/>
          </a:bodyPr>
          <a:lstStyle/>
          <a:p>
            <a:pPr algn="l"/>
            <a:r>
              <a:rPr sz="850" b="0" i="0">
                <a:solidFill>
                  <a:srgbClr val="2C3E50"/>
                </a:solidFill>
                <a:latin typeface="Arial"/>
              </a:rPr>
              <a:t>Work is organized around projects and applications, with limited alignment to value streams or business outcomes.</a:t>
            </a:r>
          </a:p>
        </p:txBody>
      </p:sp>
      <p:sp>
        <p:nvSpPr>
          <p:cNvPr id="57" name="TextBox 56"/>
          <p:cNvSpPr txBox="1"/>
          <p:nvPr/>
        </p:nvSpPr>
        <p:spPr>
          <a:xfrm>
            <a:off x="1188720" y="6108192"/>
            <a:ext cx="5943600" cy="228600"/>
          </a:xfrm>
          <a:prstGeom prst="rect">
            <a:avLst/>
          </a:prstGeom>
          <a:noFill/>
        </p:spPr>
        <p:txBody>
          <a:bodyPr wrap="square" lIns="45720" rIns="45720" tIns="18288" bIns="18288" anchor="t">
            <a:spAutoFit/>
          </a:bodyPr>
          <a:lstStyle/>
          <a:p>
            <a:pPr algn="l"/>
            <a:r>
              <a:rPr sz="750" b="0" i="1">
                <a:solidFill>
                  <a:srgbClr val="95A5A6"/>
                </a:solidFill>
                <a:latin typeface="Arial"/>
              </a:rPr>
              <a:t>(Demand is organized by application silo, not by value stream. IT requests don't trace to business OKRs.)</a:t>
            </a:r>
          </a:p>
        </p:txBody>
      </p:sp>
      <p:sp>
        <p:nvSpPr>
          <p:cNvPr id="58" name="TextBox 57"/>
          <p:cNvSpPr txBox="1"/>
          <p:nvPr/>
        </p:nvSpPr>
        <p:spPr>
          <a:xfrm>
            <a:off x="7223760" y="5620947"/>
            <a:ext cx="274320" cy="679268"/>
          </a:xfrm>
          <a:prstGeom prst="rect">
            <a:avLst/>
          </a:prstGeom>
          <a:noFill/>
        </p:spPr>
        <p:txBody>
          <a:bodyPr wrap="square" lIns="45720" rIns="45720" tIns="18288" bIns="18288" anchor="ctr">
            <a:spAutoFit/>
          </a:bodyPr>
          <a:lstStyle/>
          <a:p>
            <a:pPr algn="ctr"/>
            <a:r>
              <a:rPr sz="1400" b="1" i="0">
                <a:solidFill>
                  <a:srgbClr val="0F1C50"/>
                </a:solidFill>
                <a:latin typeface="Arial"/>
              </a:rPr>
              <a:t>▶</a:t>
            </a:r>
          </a:p>
        </p:txBody>
      </p:sp>
      <p:sp>
        <p:nvSpPr>
          <p:cNvPr id="59" name="TextBox 58"/>
          <p:cNvSpPr txBox="1"/>
          <p:nvPr/>
        </p:nvSpPr>
        <p:spPr>
          <a:xfrm>
            <a:off x="7498080" y="5630091"/>
            <a:ext cx="4327855" cy="679268"/>
          </a:xfrm>
          <a:prstGeom prst="rect">
            <a:avLst/>
          </a:prstGeom>
          <a:noFill/>
        </p:spPr>
        <p:txBody>
          <a:bodyPr wrap="square" lIns="45720" rIns="45720" tIns="18288" bIns="18288" anchor="ctr">
            <a:spAutoFit/>
          </a:bodyPr>
          <a:lstStyle/>
          <a:p>
            <a:pPr algn="l"/>
            <a:r>
              <a:rPr sz="1000" b="0" i="0">
                <a:solidFill>
                  <a:srgbClr val="2C3E50"/>
                </a:solidFill>
                <a:latin typeface="Arial"/>
              </a:rPr>
              <a:t>Product model requires organizing around products, with clear ownership and alignment to business OKRs.</a:t>
            </a:r>
          </a:p>
        </p:txBody>
      </p:sp>
      <p:sp>
        <p:nvSpPr>
          <p:cNvPr id="60" name="TextBox 59"/>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FOUR GUIDING PRINCIPLES</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EACH PRINCIPLE ANSWERS SPECIFIC STRUCTURAL ISSUES FROM THE AS-IS</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ounded Rectangle 5"/>
          <p:cNvSpPr/>
          <p:nvPr/>
        </p:nvSpPr>
        <p:spPr>
          <a:xfrm>
            <a:off x="457200" y="1005840"/>
            <a:ext cx="2716453" cy="5120640"/>
          </a:xfrm>
          <a:prstGeom prst="roundRect">
            <a:avLst>
              <a:gd name="adj" fmla="val 4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005840"/>
            <a:ext cx="2716453"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97280"/>
            <a:ext cx="2716453" cy="365760"/>
          </a:xfrm>
          <a:prstGeom prst="rect">
            <a:avLst/>
          </a:prstGeom>
          <a:noFill/>
        </p:spPr>
        <p:txBody>
          <a:bodyPr wrap="square" lIns="45720" rIns="45720" tIns="18288" bIns="18288" anchor="ctr">
            <a:spAutoFit/>
          </a:bodyPr>
          <a:lstStyle/>
          <a:p>
            <a:pPr algn="ctr"/>
            <a:r>
              <a:rPr sz="2400" b="1" i="0">
                <a:solidFill>
                  <a:srgbClr val="FFFFFF"/>
                </a:solidFill>
                <a:latin typeface="Arial"/>
              </a:rPr>
              <a:t>01</a:t>
            </a:r>
          </a:p>
        </p:txBody>
      </p:sp>
      <p:sp>
        <p:nvSpPr>
          <p:cNvPr id="9" name="TextBox 8"/>
          <p:cNvSpPr txBox="1"/>
          <p:nvPr/>
        </p:nvSpPr>
        <p:spPr>
          <a:xfrm>
            <a:off x="548640" y="1463040"/>
            <a:ext cx="2533573" cy="411480"/>
          </a:xfrm>
          <a:prstGeom prst="rect">
            <a:avLst/>
          </a:prstGeom>
          <a:noFill/>
        </p:spPr>
        <p:txBody>
          <a:bodyPr wrap="square" lIns="45720" rIns="45720" tIns="18288" bIns="18288" anchor="ctr">
            <a:spAutoFit/>
          </a:bodyPr>
          <a:lstStyle/>
          <a:p>
            <a:pPr algn="ctr"/>
            <a:r>
              <a:rPr sz="1100" b="1" i="0">
                <a:solidFill>
                  <a:srgbClr val="FFFFFF"/>
                </a:solidFill>
                <a:latin typeface="Arial"/>
              </a:rPr>
              <a:t>DEMAND INTAKE &amp; STRUCTURING</a:t>
            </a:r>
          </a:p>
        </p:txBody>
      </p:sp>
      <p:sp>
        <p:nvSpPr>
          <p:cNvPr id="10" name="Rectangle 9"/>
          <p:cNvSpPr/>
          <p:nvPr/>
        </p:nvSpPr>
        <p:spPr>
          <a:xfrm>
            <a:off x="457200" y="1874520"/>
            <a:ext cx="2716453" cy="3840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892808"/>
            <a:ext cx="2442133" cy="365760"/>
          </a:xfrm>
          <a:prstGeom prst="rect">
            <a:avLst/>
          </a:prstGeom>
          <a:noFill/>
        </p:spPr>
        <p:txBody>
          <a:bodyPr wrap="square" lIns="45720" rIns="45720" tIns="18288" bIns="18288" anchor="ctr">
            <a:spAutoFit/>
          </a:bodyPr>
          <a:lstStyle/>
          <a:p>
            <a:pPr algn="l"/>
            <a:r>
              <a:rPr sz="850" b="1" i="1">
                <a:solidFill>
                  <a:srgbClr val="2C578B"/>
                </a:solidFill>
                <a:latin typeface="Arial"/>
              </a:rPr>
              <a:t>Resolves Issue 01 — No Product Entry Point</a:t>
            </a:r>
          </a:p>
        </p:txBody>
      </p:sp>
      <p:sp>
        <p:nvSpPr>
          <p:cNvPr id="12" name="TextBox 11"/>
          <p:cNvSpPr txBox="1"/>
          <p:nvPr/>
        </p:nvSpPr>
        <p:spPr>
          <a:xfrm>
            <a:off x="640080" y="2377440"/>
            <a:ext cx="2350693" cy="3611880"/>
          </a:xfrm>
          <a:prstGeom prst="rect">
            <a:avLst/>
          </a:prstGeom>
          <a:noFill/>
        </p:spPr>
        <p:txBody>
          <a:bodyPr wrap="square" lIns="45720" rIns="45720" tIns="36576" bIns="36576">
            <a:spAutoFit/>
          </a:bodyPr>
          <a:lstStyle/>
          <a:p>
            <a:pPr>
              <a:lnSpc>
                <a:spcPct val="140000"/>
              </a:lnSpc>
            </a:pPr>
            <a:r>
              <a:rPr sz="1050" b="0">
                <a:solidFill>
                  <a:srgbClr val="2C3E50"/>
                </a:solidFill>
                <a:latin typeface="Arial"/>
              </a:rPr>
              <a:t>•  All demand captured through unified intake layer aligned to products / value streams</a:t>
            </a:r>
          </a:p>
          <a:p>
            <a:pPr>
              <a:lnSpc>
                <a:spcPct val="140000"/>
              </a:lnSpc>
            </a:pPr>
            <a:r>
              <a:rPr sz="1050" b="0">
                <a:solidFill>
                  <a:srgbClr val="2C3E50"/>
                </a:solidFill>
                <a:latin typeface="Arial"/>
              </a:rPr>
              <a:t>•  Single entry point per product / value stream</a:t>
            </a:r>
          </a:p>
          <a:p>
            <a:pPr>
              <a:lnSpc>
                <a:spcPct val="140000"/>
              </a:lnSpc>
            </a:pPr>
            <a:r>
              <a:rPr sz="1050" b="0">
                <a:solidFill>
                  <a:srgbClr val="2C3E50"/>
                </a:solidFill>
                <a:latin typeface="Arial"/>
              </a:rPr>
              <a:t>•  Standard intake criteria and mandatory fields</a:t>
            </a:r>
          </a:p>
          <a:p>
            <a:pPr>
              <a:lnSpc>
                <a:spcPct val="140000"/>
              </a:lnSpc>
            </a:pPr>
            <a:r>
              <a:rPr sz="1050" b="0">
                <a:solidFill>
                  <a:srgbClr val="2C3E50"/>
                </a:solidFill>
                <a:latin typeface="Arial"/>
              </a:rPr>
              <a:t>•  Consistent demand categorization (type, size, complexity, value driver)</a:t>
            </a:r>
          </a:p>
          <a:p>
            <a:pPr>
              <a:lnSpc>
                <a:spcPct val="140000"/>
              </a:lnSpc>
            </a:pPr>
            <a:r>
              <a:rPr sz="1050" b="0">
                <a:solidFill>
                  <a:srgbClr val="2C3E50"/>
                </a:solidFill>
                <a:latin typeface="Arial"/>
              </a:rPr>
              <a:t>•  Clear ownership for triage and backlog assignment</a:t>
            </a:r>
          </a:p>
        </p:txBody>
      </p:sp>
      <p:sp>
        <p:nvSpPr>
          <p:cNvPr id="13" name="Rounded Rectangle 12"/>
          <p:cNvSpPr/>
          <p:nvPr/>
        </p:nvSpPr>
        <p:spPr>
          <a:xfrm>
            <a:off x="3310813" y="1005840"/>
            <a:ext cx="2716453" cy="512064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10813" y="1005840"/>
            <a:ext cx="2716453" cy="8686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10813" y="1097280"/>
            <a:ext cx="2716453" cy="365760"/>
          </a:xfrm>
          <a:prstGeom prst="rect">
            <a:avLst/>
          </a:prstGeom>
          <a:noFill/>
        </p:spPr>
        <p:txBody>
          <a:bodyPr wrap="square" lIns="45720" rIns="45720" tIns="18288" bIns="18288" anchor="ctr">
            <a:spAutoFit/>
          </a:bodyPr>
          <a:lstStyle/>
          <a:p>
            <a:pPr algn="ctr"/>
            <a:r>
              <a:rPr sz="2400" b="1" i="0">
                <a:solidFill>
                  <a:srgbClr val="FFFFFF"/>
                </a:solidFill>
                <a:latin typeface="Arial"/>
              </a:rPr>
              <a:t>02</a:t>
            </a:r>
          </a:p>
        </p:txBody>
      </p:sp>
      <p:sp>
        <p:nvSpPr>
          <p:cNvPr id="16" name="TextBox 15"/>
          <p:cNvSpPr txBox="1"/>
          <p:nvPr/>
        </p:nvSpPr>
        <p:spPr>
          <a:xfrm>
            <a:off x="3402253" y="1463040"/>
            <a:ext cx="2533573" cy="411480"/>
          </a:xfrm>
          <a:prstGeom prst="rect">
            <a:avLst/>
          </a:prstGeom>
          <a:noFill/>
        </p:spPr>
        <p:txBody>
          <a:bodyPr wrap="square" lIns="45720" rIns="45720" tIns="18288" bIns="18288" anchor="ctr">
            <a:spAutoFit/>
          </a:bodyPr>
          <a:lstStyle/>
          <a:p>
            <a:pPr algn="ctr"/>
            <a:r>
              <a:rPr sz="1100" b="1" i="0">
                <a:solidFill>
                  <a:srgbClr val="FFFFFF"/>
                </a:solidFill>
                <a:latin typeface="Arial"/>
              </a:rPr>
              <a:t>VALUE-BASED PRIORITIZATION</a:t>
            </a:r>
          </a:p>
        </p:txBody>
      </p:sp>
      <p:sp>
        <p:nvSpPr>
          <p:cNvPr id="17" name="Rectangle 16"/>
          <p:cNvSpPr/>
          <p:nvPr/>
        </p:nvSpPr>
        <p:spPr>
          <a:xfrm>
            <a:off x="3310813" y="1874520"/>
            <a:ext cx="2716453" cy="3840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47973" y="1892808"/>
            <a:ext cx="2442133" cy="365760"/>
          </a:xfrm>
          <a:prstGeom prst="rect">
            <a:avLst/>
          </a:prstGeom>
          <a:noFill/>
        </p:spPr>
        <p:txBody>
          <a:bodyPr wrap="square" lIns="45720" rIns="45720" tIns="18288" bIns="18288" anchor="ctr">
            <a:spAutoFit/>
          </a:bodyPr>
          <a:lstStyle/>
          <a:p>
            <a:pPr algn="l"/>
            <a:r>
              <a:rPr sz="850" b="1" i="1">
                <a:solidFill>
                  <a:srgbClr val="F9A825"/>
                </a:solidFill>
                <a:latin typeface="Arial"/>
              </a:rPr>
              <a:t>Resolves Issues 02 + 06 — No Value-Based Decisioning · No Common Language of Value</a:t>
            </a:r>
          </a:p>
        </p:txBody>
      </p:sp>
      <p:sp>
        <p:nvSpPr>
          <p:cNvPr id="19" name="TextBox 18"/>
          <p:cNvSpPr txBox="1"/>
          <p:nvPr/>
        </p:nvSpPr>
        <p:spPr>
          <a:xfrm>
            <a:off x="3493693" y="2377440"/>
            <a:ext cx="2350693" cy="3611880"/>
          </a:xfrm>
          <a:prstGeom prst="rect">
            <a:avLst/>
          </a:prstGeom>
          <a:noFill/>
        </p:spPr>
        <p:txBody>
          <a:bodyPr wrap="square" lIns="45720" rIns="45720" tIns="36576" bIns="36576">
            <a:spAutoFit/>
          </a:bodyPr>
          <a:lstStyle/>
          <a:p>
            <a:pPr>
              <a:lnSpc>
                <a:spcPct val="140000"/>
              </a:lnSpc>
            </a:pPr>
            <a:r>
              <a:rPr sz="1050" b="0">
                <a:solidFill>
                  <a:srgbClr val="2C3E50"/>
                </a:solidFill>
                <a:latin typeface="Arial"/>
              </a:rPr>
              <a:t>•  Demand evaluated using a standardized framework tied to business outcomes</a:t>
            </a:r>
          </a:p>
          <a:p>
            <a:pPr>
              <a:lnSpc>
                <a:spcPct val="140000"/>
              </a:lnSpc>
            </a:pPr>
            <a:r>
              <a:rPr sz="1050" b="0">
                <a:solidFill>
                  <a:srgbClr val="2C3E50"/>
                </a:solidFill>
                <a:latin typeface="Arial"/>
              </a:rPr>
              <a:t>•  Common scoring model: value · urgency · risk · effort</a:t>
            </a:r>
          </a:p>
          <a:p>
            <a:pPr>
              <a:lnSpc>
                <a:spcPct val="140000"/>
              </a:lnSpc>
            </a:pPr>
            <a:r>
              <a:rPr sz="1050" b="0">
                <a:solidFill>
                  <a:srgbClr val="2C3E50"/>
                </a:solidFill>
                <a:latin typeface="Arial"/>
              </a:rPr>
              <a:t>•  Transparent prioritization across competing demands</a:t>
            </a:r>
          </a:p>
          <a:p>
            <a:pPr>
              <a:lnSpc>
                <a:spcPct val="140000"/>
              </a:lnSpc>
            </a:pPr>
            <a:r>
              <a:rPr sz="1050" b="0">
                <a:solidFill>
                  <a:srgbClr val="2C3E50"/>
                </a:solidFill>
                <a:latin typeface="Arial"/>
              </a:rPr>
              <a:t>•  Product-level backlog ownership</a:t>
            </a:r>
          </a:p>
          <a:p>
            <a:pPr>
              <a:lnSpc>
                <a:spcPct val="140000"/>
              </a:lnSpc>
            </a:pPr>
            <a:r>
              <a:rPr sz="1050" b="0">
                <a:solidFill>
                  <a:srgbClr val="2C3E50"/>
                </a:solidFill>
                <a:latin typeface="Arial"/>
              </a:rPr>
              <a:t>•  Trade-offs made at portfolio / product governance level</a:t>
            </a:r>
          </a:p>
        </p:txBody>
      </p:sp>
      <p:sp>
        <p:nvSpPr>
          <p:cNvPr id="20" name="Rounded Rectangle 19"/>
          <p:cNvSpPr/>
          <p:nvPr/>
        </p:nvSpPr>
        <p:spPr>
          <a:xfrm>
            <a:off x="6164427" y="1005840"/>
            <a:ext cx="2716453" cy="5120640"/>
          </a:xfrm>
          <a:prstGeom prst="roundRect">
            <a:avLst>
              <a:gd name="adj" fmla="val 4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4427" y="1005840"/>
            <a:ext cx="2716453" cy="8686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64427" y="1097280"/>
            <a:ext cx="2716453" cy="365760"/>
          </a:xfrm>
          <a:prstGeom prst="rect">
            <a:avLst/>
          </a:prstGeom>
          <a:noFill/>
        </p:spPr>
        <p:txBody>
          <a:bodyPr wrap="square" lIns="45720" rIns="45720" tIns="18288" bIns="18288" anchor="ctr">
            <a:spAutoFit/>
          </a:bodyPr>
          <a:lstStyle/>
          <a:p>
            <a:pPr algn="ctr"/>
            <a:r>
              <a:rPr sz="2400" b="1" i="0">
                <a:solidFill>
                  <a:srgbClr val="FFFFFF"/>
                </a:solidFill>
                <a:latin typeface="Arial"/>
              </a:rPr>
              <a:t>03</a:t>
            </a:r>
          </a:p>
        </p:txBody>
      </p:sp>
      <p:sp>
        <p:nvSpPr>
          <p:cNvPr id="23" name="TextBox 22"/>
          <p:cNvSpPr txBox="1"/>
          <p:nvPr/>
        </p:nvSpPr>
        <p:spPr>
          <a:xfrm>
            <a:off x="6255867" y="1463040"/>
            <a:ext cx="2533573" cy="411480"/>
          </a:xfrm>
          <a:prstGeom prst="rect">
            <a:avLst/>
          </a:prstGeom>
          <a:noFill/>
        </p:spPr>
        <p:txBody>
          <a:bodyPr wrap="square" lIns="45720" rIns="45720" tIns="18288" bIns="18288" anchor="ctr">
            <a:spAutoFit/>
          </a:bodyPr>
          <a:lstStyle/>
          <a:p>
            <a:pPr algn="ctr"/>
            <a:r>
              <a:rPr sz="1100" b="1" i="0">
                <a:solidFill>
                  <a:srgbClr val="FFFFFF"/>
                </a:solidFill>
                <a:latin typeface="Arial"/>
              </a:rPr>
              <a:t>PRODUCT PORTFOLIO MGMT &amp; PLANNING</a:t>
            </a:r>
          </a:p>
        </p:txBody>
      </p:sp>
      <p:sp>
        <p:nvSpPr>
          <p:cNvPr id="24" name="Rectangle 23"/>
          <p:cNvSpPr/>
          <p:nvPr/>
        </p:nvSpPr>
        <p:spPr>
          <a:xfrm>
            <a:off x="6164427" y="1874520"/>
            <a:ext cx="2716453" cy="3840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1587" y="1892808"/>
            <a:ext cx="2442133" cy="365760"/>
          </a:xfrm>
          <a:prstGeom prst="rect">
            <a:avLst/>
          </a:prstGeom>
          <a:noFill/>
        </p:spPr>
        <p:txBody>
          <a:bodyPr wrap="square" lIns="45720" rIns="45720" tIns="18288" bIns="18288" anchor="ctr">
            <a:spAutoFit/>
          </a:bodyPr>
          <a:lstStyle/>
          <a:p>
            <a:pPr algn="l"/>
            <a:r>
              <a:rPr sz="850" b="1" i="1">
                <a:solidFill>
                  <a:srgbClr val="2E7D32"/>
                </a:solidFill>
                <a:latin typeface="Arial"/>
              </a:rPr>
              <a:t>Resolves Issue 03 — No End-to-End Product View</a:t>
            </a:r>
          </a:p>
        </p:txBody>
      </p:sp>
      <p:sp>
        <p:nvSpPr>
          <p:cNvPr id="26" name="TextBox 25"/>
          <p:cNvSpPr txBox="1"/>
          <p:nvPr/>
        </p:nvSpPr>
        <p:spPr>
          <a:xfrm>
            <a:off x="6347307" y="2377440"/>
            <a:ext cx="2350693" cy="3611880"/>
          </a:xfrm>
          <a:prstGeom prst="rect">
            <a:avLst/>
          </a:prstGeom>
          <a:noFill/>
        </p:spPr>
        <p:txBody>
          <a:bodyPr wrap="square" lIns="45720" rIns="45720" tIns="36576" bIns="36576">
            <a:spAutoFit/>
          </a:bodyPr>
          <a:lstStyle/>
          <a:p>
            <a:pPr>
              <a:lnSpc>
                <a:spcPct val="140000"/>
              </a:lnSpc>
            </a:pPr>
            <a:r>
              <a:rPr sz="1050" b="0">
                <a:solidFill>
                  <a:srgbClr val="2C3E50"/>
                </a:solidFill>
                <a:latin typeface="Arial"/>
              </a:rPr>
              <a:t>•  End-to-end visibility enables coordinated planning across demand · capacity · delivery</a:t>
            </a:r>
          </a:p>
          <a:p>
            <a:pPr>
              <a:lnSpc>
                <a:spcPct val="140000"/>
              </a:lnSpc>
            </a:pPr>
            <a:r>
              <a:rPr sz="1050" b="0">
                <a:solidFill>
                  <a:srgbClr val="2C3E50"/>
                </a:solidFill>
                <a:latin typeface="Arial"/>
              </a:rPr>
              <a:t>•  Integrated portfolio view across all products</a:t>
            </a:r>
          </a:p>
          <a:p>
            <a:pPr>
              <a:lnSpc>
                <a:spcPct val="140000"/>
              </a:lnSpc>
            </a:pPr>
            <a:r>
              <a:rPr sz="1050" b="0">
                <a:solidFill>
                  <a:srgbClr val="2C3E50"/>
                </a:solidFill>
                <a:latin typeface="Arial"/>
              </a:rPr>
              <a:t>•  Capacity planning aligned to product priorities</a:t>
            </a:r>
          </a:p>
          <a:p>
            <a:pPr>
              <a:lnSpc>
                <a:spcPct val="140000"/>
              </a:lnSpc>
            </a:pPr>
            <a:r>
              <a:rPr sz="1050" b="0">
                <a:solidFill>
                  <a:srgbClr val="2C3E50"/>
                </a:solidFill>
                <a:latin typeface="Arial"/>
              </a:rPr>
              <a:t>•  Roadmaps managed at product level (not project level)</a:t>
            </a:r>
          </a:p>
          <a:p>
            <a:pPr>
              <a:lnSpc>
                <a:spcPct val="140000"/>
              </a:lnSpc>
            </a:pPr>
            <a:r>
              <a:rPr sz="1050" b="0">
                <a:solidFill>
                  <a:srgbClr val="2C3E50"/>
                </a:solidFill>
                <a:latin typeface="Arial"/>
              </a:rPr>
              <a:t>•  Continuous tracking of delivery and outcomes</a:t>
            </a:r>
          </a:p>
        </p:txBody>
      </p:sp>
      <p:sp>
        <p:nvSpPr>
          <p:cNvPr id="27" name="Rounded Rectangle 26"/>
          <p:cNvSpPr/>
          <p:nvPr/>
        </p:nvSpPr>
        <p:spPr>
          <a:xfrm>
            <a:off x="9018041" y="1005840"/>
            <a:ext cx="2716453" cy="5120640"/>
          </a:xfrm>
          <a:prstGeom prst="roundRect">
            <a:avLst>
              <a:gd name="adj" fmla="val 4000"/>
            </a:avLst>
          </a:prstGeom>
          <a:solidFill>
            <a:srgbClr val="FFFFFF"/>
          </a:solidFill>
          <a:ln w="2540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18041" y="1005840"/>
            <a:ext cx="2716453" cy="86868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18041" y="1097280"/>
            <a:ext cx="2716453" cy="365760"/>
          </a:xfrm>
          <a:prstGeom prst="rect">
            <a:avLst/>
          </a:prstGeom>
          <a:noFill/>
        </p:spPr>
        <p:txBody>
          <a:bodyPr wrap="square" lIns="45720" rIns="45720" tIns="18288" bIns="18288" anchor="ctr">
            <a:spAutoFit/>
          </a:bodyPr>
          <a:lstStyle/>
          <a:p>
            <a:pPr algn="ctr"/>
            <a:r>
              <a:rPr sz="2400" b="1" i="0">
                <a:solidFill>
                  <a:srgbClr val="FFFFFF"/>
                </a:solidFill>
                <a:latin typeface="Arial"/>
              </a:rPr>
              <a:t>04</a:t>
            </a:r>
          </a:p>
        </p:txBody>
      </p:sp>
      <p:sp>
        <p:nvSpPr>
          <p:cNvPr id="30" name="TextBox 29"/>
          <p:cNvSpPr txBox="1"/>
          <p:nvPr/>
        </p:nvSpPr>
        <p:spPr>
          <a:xfrm>
            <a:off x="9109481" y="1463040"/>
            <a:ext cx="2533573" cy="411480"/>
          </a:xfrm>
          <a:prstGeom prst="rect">
            <a:avLst/>
          </a:prstGeom>
          <a:noFill/>
        </p:spPr>
        <p:txBody>
          <a:bodyPr wrap="square" lIns="45720" rIns="45720" tIns="18288" bIns="18288" anchor="ctr">
            <a:spAutoFit/>
          </a:bodyPr>
          <a:lstStyle/>
          <a:p>
            <a:pPr algn="ctr"/>
            <a:r>
              <a:rPr sz="1100" b="1" i="0">
                <a:solidFill>
                  <a:srgbClr val="FFFFFF"/>
                </a:solidFill>
                <a:latin typeface="Arial"/>
              </a:rPr>
              <a:t>PRODUCT GOVERNANCE &amp; OWNERSHIP</a:t>
            </a:r>
          </a:p>
        </p:txBody>
      </p:sp>
      <p:sp>
        <p:nvSpPr>
          <p:cNvPr id="31" name="Rectangle 30"/>
          <p:cNvSpPr/>
          <p:nvPr/>
        </p:nvSpPr>
        <p:spPr>
          <a:xfrm>
            <a:off x="9018041" y="1874520"/>
            <a:ext cx="2716453" cy="3840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55201" y="1892808"/>
            <a:ext cx="2442133" cy="365760"/>
          </a:xfrm>
          <a:prstGeom prst="rect">
            <a:avLst/>
          </a:prstGeom>
          <a:noFill/>
        </p:spPr>
        <p:txBody>
          <a:bodyPr wrap="square" lIns="45720" rIns="45720" tIns="18288" bIns="18288" anchor="ctr">
            <a:spAutoFit/>
          </a:bodyPr>
          <a:lstStyle/>
          <a:p>
            <a:pPr algn="l"/>
            <a:r>
              <a:rPr sz="850" b="1" i="1">
                <a:solidFill>
                  <a:srgbClr val="7A66B8"/>
                </a:solidFill>
                <a:latin typeface="Arial"/>
              </a:rPr>
              <a:t>Resolves Issues 04 + 05 + 07 — Ownership · Steering · Product Model</a:t>
            </a:r>
          </a:p>
        </p:txBody>
      </p:sp>
      <p:sp>
        <p:nvSpPr>
          <p:cNvPr id="33" name="TextBox 32"/>
          <p:cNvSpPr txBox="1"/>
          <p:nvPr/>
        </p:nvSpPr>
        <p:spPr>
          <a:xfrm>
            <a:off x="9200921" y="2377440"/>
            <a:ext cx="2350693" cy="3611880"/>
          </a:xfrm>
          <a:prstGeom prst="rect">
            <a:avLst/>
          </a:prstGeom>
          <a:noFill/>
        </p:spPr>
        <p:txBody>
          <a:bodyPr wrap="square" lIns="45720" rIns="45720" tIns="36576" bIns="36576">
            <a:spAutoFit/>
          </a:bodyPr>
          <a:lstStyle/>
          <a:p>
            <a:pPr>
              <a:lnSpc>
                <a:spcPct val="140000"/>
              </a:lnSpc>
            </a:pPr>
            <a:r>
              <a:rPr sz="1050" b="0">
                <a:solidFill>
                  <a:srgbClr val="2C3E50"/>
                </a:solidFill>
                <a:latin typeface="Arial"/>
              </a:rPr>
              <a:t>•  Clear accountability and governance align decisions to product outcomes</a:t>
            </a:r>
          </a:p>
          <a:p>
            <a:pPr>
              <a:lnSpc>
                <a:spcPct val="140000"/>
              </a:lnSpc>
            </a:pPr>
            <a:r>
              <a:rPr sz="1050" b="0">
                <a:solidFill>
                  <a:srgbClr val="2C3E50"/>
                </a:solidFill>
                <a:latin typeface="Arial"/>
              </a:rPr>
              <a:t>•  Defined Squad roles — Product Manager (NEW) · Tech Lead · Business Analyst</a:t>
            </a:r>
          </a:p>
          <a:p>
            <a:pPr>
              <a:lnSpc>
                <a:spcPct val="140000"/>
              </a:lnSpc>
            </a:pPr>
            <a:r>
              <a:rPr sz="1050" b="0">
                <a:solidFill>
                  <a:srgbClr val="2C3E50"/>
                </a:solidFill>
                <a:latin typeface="Arial"/>
              </a:rPr>
              <a:t>•  Product-based governance forums with decision rights</a:t>
            </a:r>
          </a:p>
          <a:p>
            <a:pPr>
              <a:lnSpc>
                <a:spcPct val="140000"/>
              </a:lnSpc>
            </a:pPr>
            <a:r>
              <a:rPr sz="1050" b="0">
                <a:solidFill>
                  <a:srgbClr val="2C3E50"/>
                </a:solidFill>
                <a:latin typeface="Arial"/>
              </a:rPr>
              <a:t>•  Vendor management aligned to product performance</a:t>
            </a:r>
          </a:p>
          <a:p>
            <a:pPr>
              <a:lnSpc>
                <a:spcPct val="140000"/>
              </a:lnSpc>
            </a:pPr>
            <a:r>
              <a:rPr sz="1050" b="0">
                <a:solidFill>
                  <a:srgbClr val="2C3E50"/>
                </a:solidFill>
                <a:latin typeface="Arial"/>
              </a:rPr>
              <a:t>•  KPIs tied to product outcomes and business value</a:t>
            </a:r>
          </a:p>
        </p:txBody>
      </p:sp>
      <p:sp>
        <p:nvSpPr>
          <p:cNvPr id="34" name="TextBox 33"/>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6858000" cy="640080"/>
          </a:xfrm>
          <a:prstGeom prst="rect">
            <a:avLst/>
          </a:prstGeom>
          <a:noFill/>
        </p:spPr>
        <p:txBody>
          <a:bodyPr wrap="square" lIns="45720" rIns="45720" tIns="18288" bIns="18288" anchor="t">
            <a:spAutoFit/>
          </a:bodyPr>
          <a:lstStyle/>
          <a:p>
            <a:pPr algn="l"/>
            <a:r>
              <a:rPr sz="3400" b="1" i="0">
                <a:solidFill>
                  <a:srgbClr val="0B76A0"/>
                </a:solidFill>
                <a:latin typeface="Arial"/>
              </a:rPr>
              <a:t>Table of contents</a:t>
            </a:r>
          </a:p>
        </p:txBody>
      </p:sp>
      <p:sp>
        <p:nvSpPr>
          <p:cNvPr id="3" name="Oval 2"/>
          <p:cNvSpPr/>
          <p:nvPr/>
        </p:nvSpPr>
        <p:spPr>
          <a:xfrm>
            <a:off x="4297680" y="502920"/>
            <a:ext cx="502920" cy="502920"/>
          </a:xfrm>
          <a:prstGeom prst="ellipse">
            <a:avLst/>
          </a:prstGeom>
          <a:solidFill>
            <a:srgbClr val="0B7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0" y="502920"/>
            <a:ext cx="502920" cy="502920"/>
          </a:xfrm>
          <a:prstGeom prst="rect">
            <a:avLst/>
          </a:prstGeom>
          <a:noFill/>
        </p:spPr>
        <p:txBody>
          <a:bodyPr wrap="square" lIns="45720" rIns="45720" tIns="18288" bIns="18288" anchor="ctr">
            <a:spAutoFit/>
          </a:bodyPr>
          <a:lstStyle/>
          <a:p>
            <a:pPr algn="ctr"/>
            <a:r>
              <a:rPr sz="2000" b="1" i="0">
                <a:solidFill>
                  <a:srgbClr val="FFFFFF"/>
                </a:solidFill>
                <a:latin typeface="Arial"/>
              </a:rPr>
              <a:t>▶</a:t>
            </a:r>
          </a:p>
        </p:txBody>
      </p:sp>
      <p:sp>
        <p:nvSpPr>
          <p:cNvPr id="5" name="TextBox 4"/>
          <p:cNvSpPr txBox="1"/>
          <p:nvPr/>
        </p:nvSpPr>
        <p:spPr>
          <a:xfrm>
            <a:off x="9905695" y="411480"/>
            <a:ext cx="1828800" cy="457200"/>
          </a:xfrm>
          <a:prstGeom prst="rect">
            <a:avLst/>
          </a:prstGeom>
          <a:noFill/>
        </p:spPr>
        <p:txBody>
          <a:bodyPr wrap="square" lIns="45720" rIns="45720" tIns="18288" bIns="18288" anchor="ctr">
            <a:spAutoFit/>
          </a:bodyPr>
          <a:lstStyle/>
          <a:p>
            <a:pPr algn="r"/>
            <a:r>
              <a:rPr sz="1400" b="1" i="0">
                <a:solidFill>
                  <a:srgbClr val="0F1C50"/>
                </a:solidFill>
                <a:latin typeface="Arial"/>
              </a:rPr>
              <a:t>NTT  DATA</a:t>
            </a:r>
          </a:p>
        </p:txBody>
      </p:sp>
      <p:sp>
        <p:nvSpPr>
          <p:cNvPr id="6" name="TextBox 5"/>
          <p:cNvSpPr txBox="1"/>
          <p:nvPr/>
        </p:nvSpPr>
        <p:spPr>
          <a:xfrm>
            <a:off x="640080" y="137160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01</a:t>
            </a:r>
          </a:p>
        </p:txBody>
      </p:sp>
      <p:sp>
        <p:nvSpPr>
          <p:cNvPr id="7" name="TextBox 6"/>
          <p:cNvSpPr txBox="1"/>
          <p:nvPr/>
        </p:nvSpPr>
        <p:spPr>
          <a:xfrm>
            <a:off x="1554480" y="141732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Context</a:t>
            </a:r>
          </a:p>
        </p:txBody>
      </p:sp>
      <p:sp>
        <p:nvSpPr>
          <p:cNvPr id="8" name="TextBox 7"/>
          <p:cNvSpPr txBox="1"/>
          <p:nvPr/>
        </p:nvSpPr>
        <p:spPr>
          <a:xfrm>
            <a:off x="1554480" y="182880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Why Avangrid is consolidating Customer Services and IT Business Apps into Digital Products.</a:t>
            </a:r>
          </a:p>
        </p:txBody>
      </p:sp>
      <p:sp>
        <p:nvSpPr>
          <p:cNvPr id="9" name="TextBox 8"/>
          <p:cNvSpPr txBox="1"/>
          <p:nvPr/>
        </p:nvSpPr>
        <p:spPr>
          <a:xfrm>
            <a:off x="640080" y="260604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02</a:t>
            </a:r>
          </a:p>
        </p:txBody>
      </p:sp>
      <p:sp>
        <p:nvSpPr>
          <p:cNvPr id="10" name="TextBox 9"/>
          <p:cNvSpPr txBox="1"/>
          <p:nvPr/>
        </p:nvSpPr>
        <p:spPr>
          <a:xfrm>
            <a:off x="1554480" y="265176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Executive Summary</a:t>
            </a:r>
          </a:p>
        </p:txBody>
      </p:sp>
      <p:sp>
        <p:nvSpPr>
          <p:cNvPr id="11" name="TextBox 10"/>
          <p:cNvSpPr txBox="1"/>
          <p:nvPr/>
        </p:nvSpPr>
        <p:spPr>
          <a:xfrm>
            <a:off x="1554480" y="306324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The proposal in one page — scope, structural issues, governing principles, decisions ahead.</a:t>
            </a:r>
          </a:p>
        </p:txBody>
      </p:sp>
      <p:sp>
        <p:nvSpPr>
          <p:cNvPr id="12" name="TextBox 11"/>
          <p:cNvSpPr txBox="1"/>
          <p:nvPr/>
        </p:nvSpPr>
        <p:spPr>
          <a:xfrm>
            <a:off x="640080" y="384048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03</a:t>
            </a:r>
          </a:p>
        </p:txBody>
      </p:sp>
      <p:sp>
        <p:nvSpPr>
          <p:cNvPr id="13" name="TextBox 12"/>
          <p:cNvSpPr txBox="1"/>
          <p:nvPr/>
        </p:nvSpPr>
        <p:spPr>
          <a:xfrm>
            <a:off x="1554480" y="388620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Current State Analysis</a:t>
            </a:r>
          </a:p>
        </p:txBody>
      </p:sp>
      <p:sp>
        <p:nvSpPr>
          <p:cNvPr id="14" name="TextBox 13"/>
          <p:cNvSpPr txBox="1"/>
          <p:nvPr/>
        </p:nvSpPr>
        <p:spPr>
          <a:xfrm>
            <a:off x="1554480" y="429768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Vitor Cruz's three director branches, ~50 FTE, sub-team mapping and existing champions.</a:t>
            </a:r>
          </a:p>
        </p:txBody>
      </p:sp>
      <p:sp>
        <p:nvSpPr>
          <p:cNvPr id="15" name="TextBox 14"/>
          <p:cNvSpPr txBox="1"/>
          <p:nvPr/>
        </p:nvSpPr>
        <p:spPr>
          <a:xfrm>
            <a:off x="640080" y="507492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04</a:t>
            </a:r>
          </a:p>
        </p:txBody>
      </p:sp>
      <p:sp>
        <p:nvSpPr>
          <p:cNvPr id="16" name="TextBox 15"/>
          <p:cNvSpPr txBox="1"/>
          <p:nvPr/>
        </p:nvSpPr>
        <p:spPr>
          <a:xfrm>
            <a:off x="1554480" y="512064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Structural Issues &amp; Guiding Principles</a:t>
            </a:r>
          </a:p>
        </p:txBody>
      </p:sp>
      <p:sp>
        <p:nvSpPr>
          <p:cNvPr id="17" name="TextBox 16"/>
          <p:cNvSpPr txBox="1"/>
          <p:nvPr/>
        </p:nvSpPr>
        <p:spPr>
          <a:xfrm>
            <a:off x="1554480" y="553212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Seven structural issues from the AS-IS, four guiding principles that resolve them.</a:t>
            </a:r>
          </a:p>
        </p:txBody>
      </p:sp>
      <p:sp>
        <p:nvSpPr>
          <p:cNvPr id="18" name="Rounded Rectangle 17"/>
          <p:cNvSpPr/>
          <p:nvPr/>
        </p:nvSpPr>
        <p:spPr>
          <a:xfrm>
            <a:off x="6278727" y="1325880"/>
            <a:ext cx="5501487" cy="1143000"/>
          </a:xfrm>
          <a:prstGeom prst="roundRect">
            <a:avLst>
              <a:gd name="adj" fmla="val 5000"/>
            </a:avLst>
          </a:prstGeom>
          <a:solidFill>
            <a:srgbClr val="DCE6F5"/>
          </a:solidFill>
          <a:ln w="127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70167" y="1371600"/>
            <a:ext cx="868680" cy="777240"/>
          </a:xfrm>
          <a:prstGeom prst="rect">
            <a:avLst/>
          </a:prstGeom>
          <a:noFill/>
        </p:spPr>
        <p:txBody>
          <a:bodyPr wrap="square" lIns="45720" rIns="45720" tIns="18288" bIns="18288" anchor="t">
            <a:spAutoFit/>
          </a:bodyPr>
          <a:lstStyle/>
          <a:p>
            <a:pPr algn="l"/>
            <a:r>
              <a:rPr sz="4400" b="1" i="0">
                <a:solidFill>
                  <a:srgbClr val="0F1C50"/>
                </a:solidFill>
                <a:latin typeface="Arial"/>
              </a:rPr>
              <a:t>05</a:t>
            </a:r>
          </a:p>
        </p:txBody>
      </p:sp>
      <p:sp>
        <p:nvSpPr>
          <p:cNvPr id="20" name="TextBox 19"/>
          <p:cNvSpPr txBox="1"/>
          <p:nvPr/>
        </p:nvSpPr>
        <p:spPr>
          <a:xfrm>
            <a:off x="7284567" y="1417320"/>
            <a:ext cx="4541367" cy="365760"/>
          </a:xfrm>
          <a:prstGeom prst="rect">
            <a:avLst/>
          </a:prstGeom>
          <a:noFill/>
        </p:spPr>
        <p:txBody>
          <a:bodyPr wrap="square" lIns="45720" rIns="45720" tIns="18288" bIns="18288" anchor="t">
            <a:spAutoFit/>
          </a:bodyPr>
          <a:lstStyle/>
          <a:p>
            <a:pPr algn="l"/>
            <a:r>
              <a:rPr sz="1800" b="1" i="0">
                <a:solidFill>
                  <a:srgbClr val="0F1C50"/>
                </a:solidFill>
                <a:latin typeface="Arial"/>
              </a:rPr>
              <a:t>Stage 1 · Demand Management Framework</a:t>
            </a:r>
          </a:p>
        </p:txBody>
      </p:sp>
      <p:sp>
        <p:nvSpPr>
          <p:cNvPr id="21" name="TextBox 20"/>
          <p:cNvSpPr txBox="1"/>
          <p:nvPr/>
        </p:nvSpPr>
        <p:spPr>
          <a:xfrm>
            <a:off x="7284567" y="1828800"/>
            <a:ext cx="4541367" cy="640080"/>
          </a:xfrm>
          <a:prstGeom prst="rect">
            <a:avLst/>
          </a:prstGeom>
          <a:noFill/>
        </p:spPr>
        <p:txBody>
          <a:bodyPr wrap="square" lIns="45720" rIns="45720" tIns="18288" bIns="18288" anchor="t">
            <a:spAutoFit/>
          </a:bodyPr>
          <a:lstStyle/>
          <a:p>
            <a:pPr algn="l"/>
            <a:r>
              <a:rPr sz="1050" b="0" i="0">
                <a:solidFill>
                  <a:srgbClr val="2C3E50"/>
                </a:solidFill>
                <a:latin typeface="Arial"/>
              </a:rPr>
              <a:t>Five dimensions — Capabilities · Roles · Tools · Governance · Performance — including branch specifics.</a:t>
            </a:r>
          </a:p>
        </p:txBody>
      </p:sp>
      <p:sp>
        <p:nvSpPr>
          <p:cNvPr id="22" name="TextBox 21"/>
          <p:cNvSpPr txBox="1"/>
          <p:nvPr/>
        </p:nvSpPr>
        <p:spPr>
          <a:xfrm>
            <a:off x="6370167" y="260604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06</a:t>
            </a:r>
          </a:p>
        </p:txBody>
      </p:sp>
      <p:sp>
        <p:nvSpPr>
          <p:cNvPr id="23" name="TextBox 22"/>
          <p:cNvSpPr txBox="1"/>
          <p:nvPr/>
        </p:nvSpPr>
        <p:spPr>
          <a:xfrm>
            <a:off x="7284567" y="265176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Operating Model · Crews &amp; Bases</a:t>
            </a:r>
          </a:p>
        </p:txBody>
      </p:sp>
      <p:sp>
        <p:nvSpPr>
          <p:cNvPr id="24" name="TextBox 23"/>
          <p:cNvSpPr txBox="1"/>
          <p:nvPr/>
        </p:nvSpPr>
        <p:spPr>
          <a:xfrm>
            <a:off x="7284567" y="306324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unFIX primer · Strongly Aligned Base · Supporting Crews · Sibling Bases · 8 Value Stream deep-dives · Vendor model.</a:t>
            </a:r>
          </a:p>
        </p:txBody>
      </p:sp>
      <p:sp>
        <p:nvSpPr>
          <p:cNvPr id="25" name="TextBox 24"/>
          <p:cNvSpPr txBox="1"/>
          <p:nvPr/>
        </p:nvSpPr>
        <p:spPr>
          <a:xfrm>
            <a:off x="6370167" y="384048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07</a:t>
            </a:r>
          </a:p>
        </p:txBody>
      </p:sp>
      <p:sp>
        <p:nvSpPr>
          <p:cNvPr id="26" name="TextBox 25"/>
          <p:cNvSpPr txBox="1"/>
          <p:nvPr/>
        </p:nvSpPr>
        <p:spPr>
          <a:xfrm>
            <a:off x="7284567" y="388620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Demand Flow &amp; Portfolio Operation</a:t>
            </a:r>
          </a:p>
        </p:txBody>
      </p:sp>
      <p:sp>
        <p:nvSpPr>
          <p:cNvPr id="27" name="TextBox 26"/>
          <p:cNvSpPr txBox="1"/>
          <p:nvPr/>
        </p:nvSpPr>
        <p:spPr>
          <a:xfrm>
            <a:off x="7284567" y="429768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Forums · Portfolio + Team Boards · Class of Service · Wave 1 Roadmap · TO-BE Demand Flow.</a:t>
            </a:r>
          </a:p>
        </p:txBody>
      </p:sp>
      <p:sp>
        <p:nvSpPr>
          <p:cNvPr id="28" name="TextBox 27"/>
          <p:cNvSpPr txBox="1"/>
          <p:nvPr/>
        </p:nvSpPr>
        <p:spPr>
          <a:xfrm>
            <a:off x="6370167" y="507492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08</a:t>
            </a:r>
          </a:p>
        </p:txBody>
      </p:sp>
      <p:sp>
        <p:nvSpPr>
          <p:cNvPr id="29" name="TextBox 28"/>
          <p:cNvSpPr txBox="1"/>
          <p:nvPr/>
        </p:nvSpPr>
        <p:spPr>
          <a:xfrm>
            <a:off x="7284567" y="512064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Open Decisions &amp; Next Steps</a:t>
            </a:r>
          </a:p>
        </p:txBody>
      </p:sp>
      <p:sp>
        <p:nvSpPr>
          <p:cNvPr id="30" name="TextBox 29"/>
          <p:cNvSpPr txBox="1"/>
          <p:nvPr/>
        </p:nvSpPr>
        <p:spPr>
          <a:xfrm>
            <a:off x="7284567" y="553212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Validation needed before steady-state — vendor model · PM staffing · NOC owner.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DEMAND MANAGEMENT</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FIVE CORE PRACTICES THAT RESHAPE THE INTAKE CONVERSATION</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ounded Rectangle 5"/>
          <p:cNvSpPr/>
          <p:nvPr/>
        </p:nvSpPr>
        <p:spPr>
          <a:xfrm>
            <a:off x="457200" y="1005840"/>
            <a:ext cx="2167676" cy="5120640"/>
          </a:xfrm>
          <a:prstGeom prst="roundRect">
            <a:avLst>
              <a:gd name="adj" fmla="val 4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005840"/>
            <a:ext cx="2167676" cy="9144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51560"/>
            <a:ext cx="1984796" cy="502920"/>
          </a:xfrm>
          <a:prstGeom prst="rect">
            <a:avLst/>
          </a:prstGeom>
          <a:noFill/>
        </p:spPr>
        <p:txBody>
          <a:bodyPr wrap="square" lIns="45720" rIns="45720" tIns="18288" bIns="18288" anchor="ctr">
            <a:spAutoFit/>
          </a:bodyPr>
          <a:lstStyle/>
          <a:p>
            <a:pPr algn="ctr"/>
            <a:r>
              <a:rPr sz="1100" b="1" i="0">
                <a:solidFill>
                  <a:srgbClr val="FFFFFF"/>
                </a:solidFill>
                <a:latin typeface="Arial"/>
              </a:rPr>
              <a:t>SINGLE FRONT DOOR FOR DEMAND</a:t>
            </a:r>
          </a:p>
        </p:txBody>
      </p:sp>
      <p:sp>
        <p:nvSpPr>
          <p:cNvPr id="9" name="TextBox 8"/>
          <p:cNvSpPr txBox="1"/>
          <p:nvPr/>
        </p:nvSpPr>
        <p:spPr>
          <a:xfrm>
            <a:off x="594360" y="1600200"/>
            <a:ext cx="1893356" cy="320040"/>
          </a:xfrm>
          <a:prstGeom prst="rect">
            <a:avLst/>
          </a:prstGeom>
          <a:noFill/>
        </p:spPr>
        <p:txBody>
          <a:bodyPr wrap="square" lIns="45720" rIns="45720" tIns="18288" bIns="18288" anchor="ctr">
            <a:spAutoFit/>
          </a:bodyPr>
          <a:lstStyle/>
          <a:p>
            <a:pPr algn="ctr"/>
            <a:r>
              <a:rPr sz="950" b="0" i="1">
                <a:solidFill>
                  <a:srgbClr val="FFFFFF"/>
                </a:solidFill>
                <a:latin typeface="Arial"/>
              </a:rPr>
              <a:t>All demand types in one place</a:t>
            </a:r>
          </a:p>
        </p:txBody>
      </p:sp>
      <p:sp>
        <p:nvSpPr>
          <p:cNvPr id="10" name="TextBox 9"/>
          <p:cNvSpPr txBox="1"/>
          <p:nvPr/>
        </p:nvSpPr>
        <p:spPr>
          <a:xfrm>
            <a:off x="640080" y="2103120"/>
            <a:ext cx="1801916" cy="3886200"/>
          </a:xfrm>
          <a:prstGeom prst="rect">
            <a:avLst/>
          </a:prstGeom>
          <a:noFill/>
        </p:spPr>
        <p:txBody>
          <a:bodyPr wrap="square" lIns="45720" rIns="45720" tIns="36576" bIns="36576">
            <a:spAutoFit/>
          </a:bodyPr>
          <a:lstStyle/>
          <a:p>
            <a:pPr>
              <a:lnSpc>
                <a:spcPct val="140000"/>
              </a:lnSpc>
            </a:pPr>
            <a:r>
              <a:rPr sz="1000" b="0">
                <a:solidFill>
                  <a:srgbClr val="2C3E50"/>
                </a:solidFill>
                <a:latin typeface="Arial"/>
              </a:rPr>
              <a:t>•  Incidents</a:t>
            </a:r>
          </a:p>
          <a:p>
            <a:pPr>
              <a:lnSpc>
                <a:spcPct val="140000"/>
              </a:lnSpc>
            </a:pPr>
            <a:r>
              <a:rPr sz="1000" b="0">
                <a:solidFill>
                  <a:srgbClr val="2C3E50"/>
                </a:solidFill>
                <a:latin typeface="Arial"/>
              </a:rPr>
              <a:t>•  Enhancements</a:t>
            </a:r>
          </a:p>
          <a:p>
            <a:pPr>
              <a:lnSpc>
                <a:spcPct val="140000"/>
              </a:lnSpc>
            </a:pPr>
            <a:r>
              <a:rPr sz="1000" b="0">
                <a:solidFill>
                  <a:srgbClr val="2C3E50"/>
                </a:solidFill>
                <a:latin typeface="Arial"/>
              </a:rPr>
              <a:t>•  Regulatory items</a:t>
            </a:r>
          </a:p>
          <a:p>
            <a:pPr>
              <a:lnSpc>
                <a:spcPct val="140000"/>
              </a:lnSpc>
            </a:pPr>
            <a:r>
              <a:rPr sz="1000" b="0">
                <a:solidFill>
                  <a:srgbClr val="2C3E50"/>
                </a:solidFill>
                <a:latin typeface="Arial"/>
              </a:rPr>
              <a:t>•  Innovation initiatives</a:t>
            </a:r>
          </a:p>
          <a:p>
            <a:pPr>
              <a:lnSpc>
                <a:spcPct val="140000"/>
              </a:lnSpc>
            </a:pPr>
            <a:r>
              <a:rPr sz="1000" b="0">
                <a:solidFill>
                  <a:srgbClr val="2C3E50"/>
                </a:solidFill>
                <a:latin typeface="Arial"/>
              </a:rPr>
              <a:t>•  Technical debt</a:t>
            </a:r>
          </a:p>
        </p:txBody>
      </p:sp>
      <p:sp>
        <p:nvSpPr>
          <p:cNvPr id="11" name="Rounded Rectangle 10"/>
          <p:cNvSpPr/>
          <p:nvPr/>
        </p:nvSpPr>
        <p:spPr>
          <a:xfrm>
            <a:off x="2734604" y="1005840"/>
            <a:ext cx="2167676" cy="512064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34604" y="1005840"/>
            <a:ext cx="2167676" cy="9144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26044" y="1051560"/>
            <a:ext cx="1984796" cy="502920"/>
          </a:xfrm>
          <a:prstGeom prst="rect">
            <a:avLst/>
          </a:prstGeom>
          <a:noFill/>
        </p:spPr>
        <p:txBody>
          <a:bodyPr wrap="square" lIns="45720" rIns="45720" tIns="18288" bIns="18288" anchor="ctr">
            <a:spAutoFit/>
          </a:bodyPr>
          <a:lstStyle/>
          <a:p>
            <a:pPr algn="ctr"/>
            <a:r>
              <a:rPr sz="1100" b="1" i="0">
                <a:solidFill>
                  <a:srgbClr val="FFFFFF"/>
                </a:solidFill>
                <a:latin typeface="Arial"/>
              </a:rPr>
              <a:t>DEMAND SHAPING</a:t>
            </a:r>
          </a:p>
        </p:txBody>
      </p:sp>
      <p:sp>
        <p:nvSpPr>
          <p:cNvPr id="14" name="TextBox 13"/>
          <p:cNvSpPr txBox="1"/>
          <p:nvPr/>
        </p:nvSpPr>
        <p:spPr>
          <a:xfrm>
            <a:off x="2871764" y="1600200"/>
            <a:ext cx="1893356" cy="320040"/>
          </a:xfrm>
          <a:prstGeom prst="rect">
            <a:avLst/>
          </a:prstGeom>
          <a:noFill/>
        </p:spPr>
        <p:txBody>
          <a:bodyPr wrap="square" lIns="45720" rIns="45720" tIns="18288" bIns="18288" anchor="ctr">
            <a:spAutoFit/>
          </a:bodyPr>
          <a:lstStyle/>
          <a:p>
            <a:pPr algn="ctr"/>
            <a:r>
              <a:rPr sz="950" b="0" i="1">
                <a:solidFill>
                  <a:srgbClr val="FFFFFF"/>
                </a:solidFill>
                <a:latin typeface="Arial"/>
              </a:rPr>
              <a:t>Structured problem-impact-value conversations</a:t>
            </a:r>
          </a:p>
        </p:txBody>
      </p:sp>
      <p:sp>
        <p:nvSpPr>
          <p:cNvPr id="15" name="TextBox 14"/>
          <p:cNvSpPr txBox="1"/>
          <p:nvPr/>
        </p:nvSpPr>
        <p:spPr>
          <a:xfrm>
            <a:off x="2917484" y="2103120"/>
            <a:ext cx="1801916" cy="3886200"/>
          </a:xfrm>
          <a:prstGeom prst="rect">
            <a:avLst/>
          </a:prstGeom>
          <a:noFill/>
        </p:spPr>
        <p:txBody>
          <a:bodyPr wrap="square" lIns="45720" rIns="45720" tIns="36576" bIns="36576">
            <a:spAutoFit/>
          </a:bodyPr>
          <a:lstStyle/>
          <a:p>
            <a:pPr>
              <a:lnSpc>
                <a:spcPct val="140000"/>
              </a:lnSpc>
            </a:pPr>
            <a:r>
              <a:rPr sz="1000" b="0">
                <a:solidFill>
                  <a:srgbClr val="2C3E50"/>
                </a:solidFill>
                <a:latin typeface="Arial"/>
              </a:rPr>
              <a:t>•  Don't accept 'solutions' directly</a:t>
            </a:r>
          </a:p>
          <a:p>
            <a:pPr>
              <a:lnSpc>
                <a:spcPct val="140000"/>
              </a:lnSpc>
            </a:pPr>
            <a:r>
              <a:rPr sz="1000" b="0">
                <a:solidFill>
                  <a:srgbClr val="2C3E50"/>
                </a:solidFill>
                <a:latin typeface="Arial"/>
              </a:rPr>
              <a:t>•  Work with requesters to surface the underlying problem</a:t>
            </a:r>
          </a:p>
          <a:p>
            <a:pPr>
              <a:lnSpc>
                <a:spcPct val="140000"/>
              </a:lnSpc>
            </a:pPr>
            <a:r>
              <a:rPr sz="1000" b="0">
                <a:solidFill>
                  <a:srgbClr val="2C3E50"/>
                </a:solidFill>
                <a:latin typeface="Arial"/>
              </a:rPr>
              <a:t>•  Quantify impact before discussing solution</a:t>
            </a:r>
          </a:p>
          <a:p>
            <a:pPr>
              <a:lnSpc>
                <a:spcPct val="140000"/>
              </a:lnSpc>
            </a:pPr>
            <a:r>
              <a:rPr sz="1000" b="0">
                <a:solidFill>
                  <a:srgbClr val="2C3E50"/>
                </a:solidFill>
                <a:latin typeface="Arial"/>
              </a:rPr>
              <a:t>•  Apply value lens before scoping work</a:t>
            </a:r>
          </a:p>
        </p:txBody>
      </p:sp>
      <p:sp>
        <p:nvSpPr>
          <p:cNvPr id="16" name="Rounded Rectangle 15"/>
          <p:cNvSpPr/>
          <p:nvPr/>
        </p:nvSpPr>
        <p:spPr>
          <a:xfrm>
            <a:off x="5012009" y="1005840"/>
            <a:ext cx="2167676" cy="5120640"/>
          </a:xfrm>
          <a:prstGeom prst="roundRect">
            <a:avLst>
              <a:gd name="adj" fmla="val 4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12009" y="1005840"/>
            <a:ext cx="2167676" cy="9144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03449" y="1051560"/>
            <a:ext cx="1984796" cy="502920"/>
          </a:xfrm>
          <a:prstGeom prst="rect">
            <a:avLst/>
          </a:prstGeom>
          <a:noFill/>
        </p:spPr>
        <p:txBody>
          <a:bodyPr wrap="square" lIns="45720" rIns="45720" tIns="18288" bIns="18288" anchor="ctr">
            <a:spAutoFit/>
          </a:bodyPr>
          <a:lstStyle/>
          <a:p>
            <a:pPr algn="ctr"/>
            <a:r>
              <a:rPr sz="1100" b="1" i="0">
                <a:solidFill>
                  <a:srgbClr val="FFFFFF"/>
                </a:solidFill>
                <a:latin typeface="Arial"/>
              </a:rPr>
              <a:t>CLASSIFICATION BY PRODUCT TYPE</a:t>
            </a:r>
          </a:p>
        </p:txBody>
      </p:sp>
      <p:sp>
        <p:nvSpPr>
          <p:cNvPr id="19" name="TextBox 18"/>
          <p:cNvSpPr txBox="1"/>
          <p:nvPr/>
        </p:nvSpPr>
        <p:spPr>
          <a:xfrm>
            <a:off x="5149169" y="1600200"/>
            <a:ext cx="1893356" cy="320040"/>
          </a:xfrm>
          <a:prstGeom prst="rect">
            <a:avLst/>
          </a:prstGeom>
          <a:noFill/>
        </p:spPr>
        <p:txBody>
          <a:bodyPr wrap="square" lIns="45720" rIns="45720" tIns="18288" bIns="18288" anchor="ctr">
            <a:spAutoFit/>
          </a:bodyPr>
          <a:lstStyle/>
          <a:p>
            <a:pPr algn="ctr"/>
            <a:r>
              <a:rPr sz="950" b="0" i="1">
                <a:solidFill>
                  <a:srgbClr val="FFFFFF"/>
                </a:solidFill>
                <a:latin typeface="Arial"/>
              </a:rPr>
              <a:t>Two complementary axes</a:t>
            </a:r>
          </a:p>
        </p:txBody>
      </p:sp>
      <p:sp>
        <p:nvSpPr>
          <p:cNvPr id="20" name="TextBox 19"/>
          <p:cNvSpPr txBox="1"/>
          <p:nvPr/>
        </p:nvSpPr>
        <p:spPr>
          <a:xfrm>
            <a:off x="5194889" y="2103120"/>
            <a:ext cx="1801916" cy="3886200"/>
          </a:xfrm>
          <a:prstGeom prst="rect">
            <a:avLst/>
          </a:prstGeom>
          <a:noFill/>
        </p:spPr>
        <p:txBody>
          <a:bodyPr wrap="square" lIns="45720" rIns="45720" tIns="36576" bIns="36576">
            <a:spAutoFit/>
          </a:bodyPr>
          <a:lstStyle/>
          <a:p>
            <a:pPr>
              <a:lnSpc>
                <a:spcPct val="140000"/>
              </a:lnSpc>
            </a:pPr>
            <a:r>
              <a:rPr sz="1000" b="0">
                <a:solidFill>
                  <a:srgbClr val="2C3E50"/>
                </a:solidFill>
                <a:latin typeface="Arial"/>
              </a:rPr>
              <a:t>•  Run · Grow · Transform   (investment intent)</a:t>
            </a:r>
          </a:p>
          <a:p>
            <a:pPr>
              <a:lnSpc>
                <a:spcPct val="140000"/>
              </a:lnSpc>
            </a:pPr>
            <a:r>
              <a:rPr sz="1000" b="0">
                <a:solidFill>
                  <a:srgbClr val="2C3E50"/>
                </a:solidFill>
                <a:latin typeface="Arial"/>
              </a:rPr>
              <a:t>•  Core SAP   vs   Extensions / satellites   (architecture impact)</a:t>
            </a:r>
          </a:p>
          <a:p>
            <a:pPr>
              <a:lnSpc>
                <a:spcPct val="140000"/>
              </a:lnSpc>
            </a:pPr>
            <a:r>
              <a:rPr sz="1000" b="0">
                <a:solidFill>
                  <a:srgbClr val="2C3E50"/>
                </a:solidFill>
                <a:latin typeface="Arial"/>
              </a:rPr>
              <a:t>•  Both axes captured at intake form</a:t>
            </a:r>
          </a:p>
          <a:p>
            <a:pPr>
              <a:lnSpc>
                <a:spcPct val="140000"/>
              </a:lnSpc>
            </a:pPr>
            <a:r>
              <a:rPr sz="1000" b="0">
                <a:solidFill>
                  <a:srgbClr val="2C3E50"/>
                </a:solidFill>
                <a:latin typeface="Arial"/>
              </a:rPr>
              <a:t>•  Drives capacity allocation and routing</a:t>
            </a:r>
          </a:p>
        </p:txBody>
      </p:sp>
      <p:sp>
        <p:nvSpPr>
          <p:cNvPr id="21" name="Rounded Rectangle 20"/>
          <p:cNvSpPr/>
          <p:nvPr/>
        </p:nvSpPr>
        <p:spPr>
          <a:xfrm>
            <a:off x="7289413" y="1005840"/>
            <a:ext cx="2167676" cy="5120640"/>
          </a:xfrm>
          <a:prstGeom prst="roundRect">
            <a:avLst>
              <a:gd name="adj" fmla="val 4000"/>
            </a:avLst>
          </a:prstGeom>
          <a:solidFill>
            <a:srgbClr val="FFFFFF"/>
          </a:solidFill>
          <a:ln w="2540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89413" y="1005840"/>
            <a:ext cx="2167676" cy="91440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80853" y="1051560"/>
            <a:ext cx="1984796" cy="502920"/>
          </a:xfrm>
          <a:prstGeom prst="rect">
            <a:avLst/>
          </a:prstGeom>
          <a:noFill/>
        </p:spPr>
        <p:txBody>
          <a:bodyPr wrap="square" lIns="45720" rIns="45720" tIns="18288" bIns="18288" anchor="ctr">
            <a:spAutoFit/>
          </a:bodyPr>
          <a:lstStyle/>
          <a:p>
            <a:pPr algn="ctr"/>
            <a:r>
              <a:rPr sz="1100" b="1" i="0">
                <a:solidFill>
                  <a:srgbClr val="FFFFFF"/>
                </a:solidFill>
                <a:latin typeface="Arial"/>
              </a:rPr>
              <a:t>LIGHTWEIGHT BUT FORMAL DISCOVERY</a:t>
            </a:r>
          </a:p>
        </p:txBody>
      </p:sp>
      <p:sp>
        <p:nvSpPr>
          <p:cNvPr id="24" name="TextBox 23"/>
          <p:cNvSpPr txBox="1"/>
          <p:nvPr/>
        </p:nvSpPr>
        <p:spPr>
          <a:xfrm>
            <a:off x="7426573" y="1600200"/>
            <a:ext cx="1893356" cy="320040"/>
          </a:xfrm>
          <a:prstGeom prst="rect">
            <a:avLst/>
          </a:prstGeom>
          <a:noFill/>
        </p:spPr>
        <p:txBody>
          <a:bodyPr wrap="square" lIns="45720" rIns="45720" tIns="18288" bIns="18288" anchor="ctr">
            <a:spAutoFit/>
          </a:bodyPr>
          <a:lstStyle/>
          <a:p>
            <a:pPr algn="ctr"/>
            <a:r>
              <a:rPr sz="950" b="0" i="1">
                <a:solidFill>
                  <a:srgbClr val="FFFFFF"/>
                </a:solidFill>
                <a:latin typeface="Arial"/>
              </a:rPr>
              <a:t>Required artifacts before scoring</a:t>
            </a:r>
          </a:p>
        </p:txBody>
      </p:sp>
      <p:sp>
        <p:nvSpPr>
          <p:cNvPr id="25" name="TextBox 24"/>
          <p:cNvSpPr txBox="1"/>
          <p:nvPr/>
        </p:nvSpPr>
        <p:spPr>
          <a:xfrm>
            <a:off x="7472293" y="2103120"/>
            <a:ext cx="1801916" cy="3886200"/>
          </a:xfrm>
          <a:prstGeom prst="rect">
            <a:avLst/>
          </a:prstGeom>
          <a:noFill/>
        </p:spPr>
        <p:txBody>
          <a:bodyPr wrap="square" lIns="45720" rIns="45720" tIns="36576" bIns="36576">
            <a:spAutoFit/>
          </a:bodyPr>
          <a:lstStyle/>
          <a:p>
            <a:pPr>
              <a:lnSpc>
                <a:spcPct val="140000"/>
              </a:lnSpc>
            </a:pPr>
            <a:r>
              <a:rPr sz="1000" b="0">
                <a:solidFill>
                  <a:srgbClr val="2C3E50"/>
                </a:solidFill>
                <a:latin typeface="Arial"/>
              </a:rPr>
              <a:t>•  Problem statement (one paragraph)</a:t>
            </a:r>
          </a:p>
          <a:p>
            <a:pPr>
              <a:lnSpc>
                <a:spcPct val="140000"/>
              </a:lnSpc>
            </a:pPr>
            <a:r>
              <a:rPr sz="1000" b="0">
                <a:solidFill>
                  <a:srgbClr val="2C3E50"/>
                </a:solidFill>
                <a:latin typeface="Arial"/>
              </a:rPr>
              <a:t>•  Users / personas affected</a:t>
            </a:r>
          </a:p>
          <a:p>
            <a:pPr>
              <a:lnSpc>
                <a:spcPct val="140000"/>
              </a:lnSpc>
            </a:pPr>
            <a:r>
              <a:rPr sz="1000" b="0">
                <a:solidFill>
                  <a:srgbClr val="2C3E50"/>
                </a:solidFill>
                <a:latin typeface="Arial"/>
              </a:rPr>
              <a:t>•  Hypothesis of value</a:t>
            </a:r>
          </a:p>
          <a:p>
            <a:pPr>
              <a:lnSpc>
                <a:spcPct val="140000"/>
              </a:lnSpc>
            </a:pPr>
            <a:r>
              <a:rPr sz="1000" b="0">
                <a:solidFill>
                  <a:srgbClr val="2C3E50"/>
                </a:solidFill>
                <a:latin typeface="Arial"/>
              </a:rPr>
              <a:t>•  Hypothesis of risk</a:t>
            </a:r>
          </a:p>
        </p:txBody>
      </p:sp>
      <p:sp>
        <p:nvSpPr>
          <p:cNvPr id="26" name="Rounded Rectangle 25"/>
          <p:cNvSpPr/>
          <p:nvPr/>
        </p:nvSpPr>
        <p:spPr>
          <a:xfrm>
            <a:off x="9566818" y="1005840"/>
            <a:ext cx="2167676" cy="5120640"/>
          </a:xfrm>
          <a:prstGeom prst="roundRect">
            <a:avLst>
              <a:gd name="adj" fmla="val 4000"/>
            </a:avLst>
          </a:prstGeom>
          <a:solidFill>
            <a:srgbClr val="FFFFFF"/>
          </a:solidFill>
          <a:ln w="2540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66818" y="1005840"/>
            <a:ext cx="2167676" cy="91440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58258" y="1051560"/>
            <a:ext cx="1984796" cy="502920"/>
          </a:xfrm>
          <a:prstGeom prst="rect">
            <a:avLst/>
          </a:prstGeom>
          <a:noFill/>
        </p:spPr>
        <p:txBody>
          <a:bodyPr wrap="square" lIns="45720" rIns="45720" tIns="18288" bIns="18288" anchor="ctr">
            <a:spAutoFit/>
          </a:bodyPr>
          <a:lstStyle/>
          <a:p>
            <a:pPr algn="ctr"/>
            <a:r>
              <a:rPr sz="1100" b="1" i="0">
                <a:solidFill>
                  <a:srgbClr val="FFFFFF"/>
                </a:solidFill>
                <a:latin typeface="Arial"/>
              </a:rPr>
              <a:t>VALUE &amp; PRIORITIZATION FRAMEWORK</a:t>
            </a:r>
          </a:p>
        </p:txBody>
      </p:sp>
      <p:sp>
        <p:nvSpPr>
          <p:cNvPr id="29" name="TextBox 28"/>
          <p:cNvSpPr txBox="1"/>
          <p:nvPr/>
        </p:nvSpPr>
        <p:spPr>
          <a:xfrm>
            <a:off x="9703978" y="1600200"/>
            <a:ext cx="1893356" cy="320040"/>
          </a:xfrm>
          <a:prstGeom prst="rect">
            <a:avLst/>
          </a:prstGeom>
          <a:noFill/>
        </p:spPr>
        <p:txBody>
          <a:bodyPr wrap="square" lIns="45720" rIns="45720" tIns="18288" bIns="18288" anchor="ctr">
            <a:spAutoFit/>
          </a:bodyPr>
          <a:lstStyle/>
          <a:p>
            <a:pPr algn="ctr"/>
            <a:r>
              <a:rPr sz="950" b="0" i="1">
                <a:solidFill>
                  <a:srgbClr val="FFFFFF"/>
                </a:solidFill>
                <a:latin typeface="Arial"/>
              </a:rPr>
              <a:t>Multi-factor score, not single judgment</a:t>
            </a:r>
          </a:p>
        </p:txBody>
      </p:sp>
      <p:sp>
        <p:nvSpPr>
          <p:cNvPr id="30" name="TextBox 29"/>
          <p:cNvSpPr txBox="1"/>
          <p:nvPr/>
        </p:nvSpPr>
        <p:spPr>
          <a:xfrm>
            <a:off x="9749698" y="2103120"/>
            <a:ext cx="1801916" cy="3886200"/>
          </a:xfrm>
          <a:prstGeom prst="rect">
            <a:avLst/>
          </a:prstGeom>
          <a:noFill/>
        </p:spPr>
        <p:txBody>
          <a:bodyPr wrap="square" lIns="45720" rIns="45720" tIns="36576" bIns="36576">
            <a:spAutoFit/>
          </a:bodyPr>
          <a:lstStyle/>
          <a:p>
            <a:pPr>
              <a:lnSpc>
                <a:spcPct val="140000"/>
              </a:lnSpc>
            </a:pPr>
            <a:r>
              <a:rPr sz="1000" b="0">
                <a:solidFill>
                  <a:srgbClr val="2C3E50"/>
                </a:solidFill>
                <a:latin typeface="Arial"/>
              </a:rPr>
              <a:t>•  Business value (revenue · cost · strategic fit)</a:t>
            </a:r>
          </a:p>
          <a:p>
            <a:pPr>
              <a:lnSpc>
                <a:spcPct val="140000"/>
              </a:lnSpc>
            </a:pPr>
            <a:r>
              <a:rPr sz="1000" b="0">
                <a:solidFill>
                  <a:srgbClr val="2C3E50"/>
                </a:solidFill>
                <a:latin typeface="Arial"/>
              </a:rPr>
              <a:t>•  Risk (operational · regulatory · technical)</a:t>
            </a:r>
          </a:p>
          <a:p>
            <a:pPr>
              <a:lnSpc>
                <a:spcPct val="140000"/>
              </a:lnSpc>
            </a:pPr>
            <a:r>
              <a:rPr sz="1000" b="0">
                <a:solidFill>
                  <a:srgbClr val="2C3E50"/>
                </a:solidFill>
                <a:latin typeface="Arial"/>
              </a:rPr>
              <a:t>•  Regulatory urgency (deadline-driven items)</a:t>
            </a:r>
          </a:p>
          <a:p>
            <a:pPr>
              <a:lnSpc>
                <a:spcPct val="140000"/>
              </a:lnSpc>
            </a:pPr>
            <a:r>
              <a:rPr sz="1000" b="0">
                <a:solidFill>
                  <a:srgbClr val="2C3E50"/>
                </a:solidFill>
                <a:latin typeface="Arial"/>
              </a:rPr>
              <a:t>•  Cost of Delay (value lost per period of delay)</a:t>
            </a:r>
          </a:p>
        </p:txBody>
      </p:sp>
      <p:sp>
        <p:nvSpPr>
          <p:cNvPr id="31" name="TextBox 30"/>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6858000" cy="640080"/>
          </a:xfrm>
          <a:prstGeom prst="rect">
            <a:avLst/>
          </a:prstGeom>
          <a:noFill/>
        </p:spPr>
        <p:txBody>
          <a:bodyPr wrap="square" lIns="45720" rIns="45720" tIns="18288" bIns="18288" anchor="t">
            <a:spAutoFit/>
          </a:bodyPr>
          <a:lstStyle/>
          <a:p>
            <a:pPr algn="l"/>
            <a:r>
              <a:rPr sz="3400" b="1" i="0">
                <a:solidFill>
                  <a:srgbClr val="0B76A0"/>
                </a:solidFill>
                <a:latin typeface="Arial"/>
              </a:rPr>
              <a:t>Table of contents</a:t>
            </a:r>
          </a:p>
        </p:txBody>
      </p:sp>
      <p:sp>
        <p:nvSpPr>
          <p:cNvPr id="3" name="Oval 2"/>
          <p:cNvSpPr/>
          <p:nvPr/>
        </p:nvSpPr>
        <p:spPr>
          <a:xfrm>
            <a:off x="4297680" y="502920"/>
            <a:ext cx="502920" cy="502920"/>
          </a:xfrm>
          <a:prstGeom prst="ellipse">
            <a:avLst/>
          </a:prstGeom>
          <a:solidFill>
            <a:srgbClr val="0B7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0" y="502920"/>
            <a:ext cx="502920" cy="502920"/>
          </a:xfrm>
          <a:prstGeom prst="rect">
            <a:avLst/>
          </a:prstGeom>
          <a:noFill/>
        </p:spPr>
        <p:txBody>
          <a:bodyPr wrap="square" lIns="45720" rIns="45720" tIns="18288" bIns="18288" anchor="ctr">
            <a:spAutoFit/>
          </a:bodyPr>
          <a:lstStyle/>
          <a:p>
            <a:pPr algn="ctr"/>
            <a:r>
              <a:rPr sz="2000" b="1" i="0">
                <a:solidFill>
                  <a:srgbClr val="FFFFFF"/>
                </a:solidFill>
                <a:latin typeface="Arial"/>
              </a:rPr>
              <a:t>▶</a:t>
            </a:r>
          </a:p>
        </p:txBody>
      </p:sp>
      <p:sp>
        <p:nvSpPr>
          <p:cNvPr id="5" name="TextBox 4"/>
          <p:cNvSpPr txBox="1"/>
          <p:nvPr/>
        </p:nvSpPr>
        <p:spPr>
          <a:xfrm>
            <a:off x="9905695" y="411480"/>
            <a:ext cx="1828800" cy="457200"/>
          </a:xfrm>
          <a:prstGeom prst="rect">
            <a:avLst/>
          </a:prstGeom>
          <a:noFill/>
        </p:spPr>
        <p:txBody>
          <a:bodyPr wrap="square" lIns="45720" rIns="45720" tIns="18288" bIns="18288" anchor="ctr">
            <a:spAutoFit/>
          </a:bodyPr>
          <a:lstStyle/>
          <a:p>
            <a:pPr algn="r"/>
            <a:r>
              <a:rPr sz="1400" b="1" i="0">
                <a:solidFill>
                  <a:srgbClr val="0F1C50"/>
                </a:solidFill>
                <a:latin typeface="Arial"/>
              </a:rPr>
              <a:t>NTT  DATA</a:t>
            </a:r>
          </a:p>
        </p:txBody>
      </p:sp>
      <p:sp>
        <p:nvSpPr>
          <p:cNvPr id="6" name="TextBox 5"/>
          <p:cNvSpPr txBox="1"/>
          <p:nvPr/>
        </p:nvSpPr>
        <p:spPr>
          <a:xfrm>
            <a:off x="640080" y="137160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01</a:t>
            </a:r>
          </a:p>
        </p:txBody>
      </p:sp>
      <p:sp>
        <p:nvSpPr>
          <p:cNvPr id="7" name="TextBox 6"/>
          <p:cNvSpPr txBox="1"/>
          <p:nvPr/>
        </p:nvSpPr>
        <p:spPr>
          <a:xfrm>
            <a:off x="1554480" y="141732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Context</a:t>
            </a:r>
          </a:p>
        </p:txBody>
      </p:sp>
      <p:sp>
        <p:nvSpPr>
          <p:cNvPr id="8" name="TextBox 7"/>
          <p:cNvSpPr txBox="1"/>
          <p:nvPr/>
        </p:nvSpPr>
        <p:spPr>
          <a:xfrm>
            <a:off x="1554480" y="182880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Why Avangrid is consolidating Customer Services and IT Business Apps into Digital Products.</a:t>
            </a:r>
          </a:p>
        </p:txBody>
      </p:sp>
      <p:sp>
        <p:nvSpPr>
          <p:cNvPr id="9" name="TextBox 8"/>
          <p:cNvSpPr txBox="1"/>
          <p:nvPr/>
        </p:nvSpPr>
        <p:spPr>
          <a:xfrm>
            <a:off x="640080" y="260604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02</a:t>
            </a:r>
          </a:p>
        </p:txBody>
      </p:sp>
      <p:sp>
        <p:nvSpPr>
          <p:cNvPr id="10" name="TextBox 9"/>
          <p:cNvSpPr txBox="1"/>
          <p:nvPr/>
        </p:nvSpPr>
        <p:spPr>
          <a:xfrm>
            <a:off x="1554480" y="265176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Executive Summary</a:t>
            </a:r>
          </a:p>
        </p:txBody>
      </p:sp>
      <p:sp>
        <p:nvSpPr>
          <p:cNvPr id="11" name="TextBox 10"/>
          <p:cNvSpPr txBox="1"/>
          <p:nvPr/>
        </p:nvSpPr>
        <p:spPr>
          <a:xfrm>
            <a:off x="1554480" y="306324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The proposal in one page — scope, structural issues, governing principles, decisions ahead.</a:t>
            </a:r>
          </a:p>
        </p:txBody>
      </p:sp>
      <p:sp>
        <p:nvSpPr>
          <p:cNvPr id="12" name="TextBox 11"/>
          <p:cNvSpPr txBox="1"/>
          <p:nvPr/>
        </p:nvSpPr>
        <p:spPr>
          <a:xfrm>
            <a:off x="640080" y="384048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03</a:t>
            </a:r>
          </a:p>
        </p:txBody>
      </p:sp>
      <p:sp>
        <p:nvSpPr>
          <p:cNvPr id="13" name="TextBox 12"/>
          <p:cNvSpPr txBox="1"/>
          <p:nvPr/>
        </p:nvSpPr>
        <p:spPr>
          <a:xfrm>
            <a:off x="1554480" y="388620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Current State Analysis</a:t>
            </a:r>
          </a:p>
        </p:txBody>
      </p:sp>
      <p:sp>
        <p:nvSpPr>
          <p:cNvPr id="14" name="TextBox 13"/>
          <p:cNvSpPr txBox="1"/>
          <p:nvPr/>
        </p:nvSpPr>
        <p:spPr>
          <a:xfrm>
            <a:off x="1554480" y="429768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Vitor Cruz's three director branches, ~50 FTE, sub-team mapping and existing champions.</a:t>
            </a:r>
          </a:p>
        </p:txBody>
      </p:sp>
      <p:sp>
        <p:nvSpPr>
          <p:cNvPr id="15" name="TextBox 14"/>
          <p:cNvSpPr txBox="1"/>
          <p:nvPr/>
        </p:nvSpPr>
        <p:spPr>
          <a:xfrm>
            <a:off x="640080" y="507492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04</a:t>
            </a:r>
          </a:p>
        </p:txBody>
      </p:sp>
      <p:sp>
        <p:nvSpPr>
          <p:cNvPr id="16" name="TextBox 15"/>
          <p:cNvSpPr txBox="1"/>
          <p:nvPr/>
        </p:nvSpPr>
        <p:spPr>
          <a:xfrm>
            <a:off x="1554480" y="512064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Structural Issues &amp; Guiding Principles</a:t>
            </a:r>
          </a:p>
        </p:txBody>
      </p:sp>
      <p:sp>
        <p:nvSpPr>
          <p:cNvPr id="17" name="TextBox 16"/>
          <p:cNvSpPr txBox="1"/>
          <p:nvPr/>
        </p:nvSpPr>
        <p:spPr>
          <a:xfrm>
            <a:off x="1554480" y="553212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Seven structural issues from the AS-IS, four guiding principles that resolve them.</a:t>
            </a:r>
          </a:p>
        </p:txBody>
      </p:sp>
      <p:sp>
        <p:nvSpPr>
          <p:cNvPr id="18" name="TextBox 17"/>
          <p:cNvSpPr txBox="1"/>
          <p:nvPr/>
        </p:nvSpPr>
        <p:spPr>
          <a:xfrm>
            <a:off x="6370167" y="137160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05</a:t>
            </a:r>
          </a:p>
        </p:txBody>
      </p:sp>
      <p:sp>
        <p:nvSpPr>
          <p:cNvPr id="19" name="TextBox 18"/>
          <p:cNvSpPr txBox="1"/>
          <p:nvPr/>
        </p:nvSpPr>
        <p:spPr>
          <a:xfrm>
            <a:off x="7284567" y="141732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Stage 1 · Demand Management Framework</a:t>
            </a:r>
          </a:p>
        </p:txBody>
      </p:sp>
      <p:sp>
        <p:nvSpPr>
          <p:cNvPr id="20" name="TextBox 19"/>
          <p:cNvSpPr txBox="1"/>
          <p:nvPr/>
        </p:nvSpPr>
        <p:spPr>
          <a:xfrm>
            <a:off x="7284567" y="182880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Five dimensions — Capabilities · Roles · Tools · Governance · Performance — including branch specifics.</a:t>
            </a:r>
          </a:p>
        </p:txBody>
      </p:sp>
      <p:sp>
        <p:nvSpPr>
          <p:cNvPr id="21" name="Rounded Rectangle 20"/>
          <p:cNvSpPr/>
          <p:nvPr/>
        </p:nvSpPr>
        <p:spPr>
          <a:xfrm>
            <a:off x="6278727" y="2560320"/>
            <a:ext cx="5501487" cy="1143000"/>
          </a:xfrm>
          <a:prstGeom prst="roundRect">
            <a:avLst>
              <a:gd name="adj" fmla="val 5000"/>
            </a:avLst>
          </a:prstGeom>
          <a:solidFill>
            <a:srgbClr val="DCE6F5"/>
          </a:solidFill>
          <a:ln w="127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0167" y="2606040"/>
            <a:ext cx="868680" cy="777240"/>
          </a:xfrm>
          <a:prstGeom prst="rect">
            <a:avLst/>
          </a:prstGeom>
          <a:noFill/>
        </p:spPr>
        <p:txBody>
          <a:bodyPr wrap="square" lIns="45720" rIns="45720" tIns="18288" bIns="18288" anchor="t">
            <a:spAutoFit/>
          </a:bodyPr>
          <a:lstStyle/>
          <a:p>
            <a:pPr algn="l"/>
            <a:r>
              <a:rPr sz="4400" b="1" i="0">
                <a:solidFill>
                  <a:srgbClr val="0F1C50"/>
                </a:solidFill>
                <a:latin typeface="Arial"/>
              </a:rPr>
              <a:t>06</a:t>
            </a:r>
          </a:p>
        </p:txBody>
      </p:sp>
      <p:sp>
        <p:nvSpPr>
          <p:cNvPr id="23" name="TextBox 22"/>
          <p:cNvSpPr txBox="1"/>
          <p:nvPr/>
        </p:nvSpPr>
        <p:spPr>
          <a:xfrm>
            <a:off x="7284567" y="2651760"/>
            <a:ext cx="4541367" cy="365760"/>
          </a:xfrm>
          <a:prstGeom prst="rect">
            <a:avLst/>
          </a:prstGeom>
          <a:noFill/>
        </p:spPr>
        <p:txBody>
          <a:bodyPr wrap="square" lIns="45720" rIns="45720" tIns="18288" bIns="18288" anchor="t">
            <a:spAutoFit/>
          </a:bodyPr>
          <a:lstStyle/>
          <a:p>
            <a:pPr algn="l"/>
            <a:r>
              <a:rPr sz="1800" b="1" i="0">
                <a:solidFill>
                  <a:srgbClr val="0F1C50"/>
                </a:solidFill>
                <a:latin typeface="Arial"/>
              </a:rPr>
              <a:t>Operating Model · Crews &amp; Bases</a:t>
            </a:r>
          </a:p>
        </p:txBody>
      </p:sp>
      <p:sp>
        <p:nvSpPr>
          <p:cNvPr id="24" name="TextBox 23"/>
          <p:cNvSpPr txBox="1"/>
          <p:nvPr/>
        </p:nvSpPr>
        <p:spPr>
          <a:xfrm>
            <a:off x="7284567" y="3063240"/>
            <a:ext cx="4541367" cy="640080"/>
          </a:xfrm>
          <a:prstGeom prst="rect">
            <a:avLst/>
          </a:prstGeom>
          <a:noFill/>
        </p:spPr>
        <p:txBody>
          <a:bodyPr wrap="square" lIns="45720" rIns="45720" tIns="18288" bIns="18288" anchor="t">
            <a:spAutoFit/>
          </a:bodyPr>
          <a:lstStyle/>
          <a:p>
            <a:pPr algn="l"/>
            <a:r>
              <a:rPr sz="1050" b="0" i="0">
                <a:solidFill>
                  <a:srgbClr val="2C3E50"/>
                </a:solidFill>
                <a:latin typeface="Arial"/>
              </a:rPr>
              <a:t>unFIX primer · Strongly Aligned Base · Supporting Crews · Sibling Bases · 8 Value Stream deep-dives · Vendor model.</a:t>
            </a:r>
          </a:p>
        </p:txBody>
      </p:sp>
      <p:sp>
        <p:nvSpPr>
          <p:cNvPr id="25" name="TextBox 24"/>
          <p:cNvSpPr txBox="1"/>
          <p:nvPr/>
        </p:nvSpPr>
        <p:spPr>
          <a:xfrm>
            <a:off x="6370167" y="384048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07</a:t>
            </a:r>
          </a:p>
        </p:txBody>
      </p:sp>
      <p:sp>
        <p:nvSpPr>
          <p:cNvPr id="26" name="TextBox 25"/>
          <p:cNvSpPr txBox="1"/>
          <p:nvPr/>
        </p:nvSpPr>
        <p:spPr>
          <a:xfrm>
            <a:off x="7284567" y="388620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Demand Flow &amp; Portfolio Operation</a:t>
            </a:r>
          </a:p>
        </p:txBody>
      </p:sp>
      <p:sp>
        <p:nvSpPr>
          <p:cNvPr id="27" name="TextBox 26"/>
          <p:cNvSpPr txBox="1"/>
          <p:nvPr/>
        </p:nvSpPr>
        <p:spPr>
          <a:xfrm>
            <a:off x="7284567" y="429768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Forums · Portfolio + Team Boards · Class of Service · Wave 1 Roadmap · TO-BE Demand Flow.</a:t>
            </a:r>
          </a:p>
        </p:txBody>
      </p:sp>
      <p:sp>
        <p:nvSpPr>
          <p:cNvPr id="28" name="TextBox 27"/>
          <p:cNvSpPr txBox="1"/>
          <p:nvPr/>
        </p:nvSpPr>
        <p:spPr>
          <a:xfrm>
            <a:off x="6370167" y="507492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08</a:t>
            </a:r>
          </a:p>
        </p:txBody>
      </p:sp>
      <p:sp>
        <p:nvSpPr>
          <p:cNvPr id="29" name="TextBox 28"/>
          <p:cNvSpPr txBox="1"/>
          <p:nvPr/>
        </p:nvSpPr>
        <p:spPr>
          <a:xfrm>
            <a:off x="7284567" y="512064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Open Decisions &amp; Next Steps</a:t>
            </a:r>
          </a:p>
        </p:txBody>
      </p:sp>
      <p:sp>
        <p:nvSpPr>
          <p:cNvPr id="30" name="TextBox 29"/>
          <p:cNvSpPr txBox="1"/>
          <p:nvPr/>
        </p:nvSpPr>
        <p:spPr>
          <a:xfrm>
            <a:off x="7284567" y="553212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Validation needed before steady-state — vendor model · PM staffing · NOC owner.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UNFIX FRAMEWORK</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A SHARED LANGUAGE FOR THE PRODUCT-CENTRIC OPERATING MODEL</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TextBox 5"/>
          <p:cNvSpPr txBox="1"/>
          <p:nvPr/>
        </p:nvSpPr>
        <p:spPr>
          <a:xfrm>
            <a:off x="457200" y="960120"/>
            <a:ext cx="11277295" cy="411480"/>
          </a:xfrm>
          <a:prstGeom prst="rect">
            <a:avLst/>
          </a:prstGeom>
          <a:noFill/>
        </p:spPr>
        <p:txBody>
          <a:bodyPr wrap="square" lIns="45720" rIns="45720" tIns="18288" bIns="18288" anchor="t">
            <a:spAutoFit/>
          </a:bodyPr>
          <a:lstStyle/>
          <a:p>
            <a:pPr algn="l"/>
            <a:r>
              <a:rPr sz="1100" b="1" i="1">
                <a:solidFill>
                  <a:srgbClr val="2C578B"/>
                </a:solidFill>
                <a:latin typeface="Arial"/>
              </a:rPr>
              <a:t>Before describing what we propose, here is the language we will use. unFIX is a flexible pattern library — we adopt only the building blocks Avangrid needs.</a:t>
            </a:r>
          </a:p>
        </p:txBody>
      </p:sp>
      <p:sp>
        <p:nvSpPr>
          <p:cNvPr id="7" name="Rounded Rectangle 6"/>
          <p:cNvSpPr/>
          <p:nvPr/>
        </p:nvSpPr>
        <p:spPr>
          <a:xfrm>
            <a:off x="457200" y="1554480"/>
            <a:ext cx="3698138" cy="2743200"/>
          </a:xfrm>
          <a:prstGeom prst="roundRect">
            <a:avLst>
              <a:gd name="adj" fmla="val 5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554480"/>
            <a:ext cx="3698138"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600200"/>
            <a:ext cx="3698138" cy="411480"/>
          </a:xfrm>
          <a:prstGeom prst="rect">
            <a:avLst/>
          </a:prstGeom>
          <a:noFill/>
        </p:spPr>
        <p:txBody>
          <a:bodyPr wrap="square" lIns="45720" rIns="45720" tIns="18288" bIns="18288" anchor="ctr">
            <a:spAutoFit/>
          </a:bodyPr>
          <a:lstStyle/>
          <a:p>
            <a:pPr algn="ctr"/>
            <a:r>
              <a:rPr sz="1800" b="1" i="0">
                <a:solidFill>
                  <a:srgbClr val="FFFFFF"/>
                </a:solidFill>
                <a:latin typeface="Arial"/>
              </a:rPr>
              <a:t>CREW</a:t>
            </a:r>
          </a:p>
        </p:txBody>
      </p:sp>
      <p:sp>
        <p:nvSpPr>
          <p:cNvPr id="10" name="TextBox 9"/>
          <p:cNvSpPr txBox="1"/>
          <p:nvPr/>
        </p:nvSpPr>
        <p:spPr>
          <a:xfrm>
            <a:off x="640080" y="2148840"/>
            <a:ext cx="3332378" cy="548640"/>
          </a:xfrm>
          <a:prstGeom prst="rect">
            <a:avLst/>
          </a:prstGeom>
          <a:noFill/>
        </p:spPr>
        <p:txBody>
          <a:bodyPr wrap="square" lIns="45720" rIns="45720" tIns="18288" bIns="18288" anchor="t">
            <a:spAutoFit/>
          </a:bodyPr>
          <a:lstStyle/>
          <a:p>
            <a:pPr algn="l"/>
            <a:r>
              <a:rPr sz="1100" b="1" i="1">
                <a:solidFill>
                  <a:srgbClr val="2C578B"/>
                </a:solidFill>
                <a:latin typeface="Arial"/>
              </a:rPr>
              <a:t>A stable, multi-functional team</a:t>
            </a:r>
          </a:p>
        </p:txBody>
      </p:sp>
      <p:sp>
        <p:nvSpPr>
          <p:cNvPr id="11" name="TextBox 10"/>
          <p:cNvSpPr txBox="1"/>
          <p:nvPr/>
        </p:nvSpPr>
        <p:spPr>
          <a:xfrm>
            <a:off x="640080" y="2743200"/>
            <a:ext cx="3332378" cy="1463040"/>
          </a:xfrm>
          <a:prstGeom prst="rect">
            <a:avLst/>
          </a:prstGeom>
          <a:noFill/>
        </p:spPr>
        <p:txBody>
          <a:bodyPr wrap="square" lIns="45720" rIns="45720" tIns="36576" bIns="36576">
            <a:spAutoFit/>
          </a:bodyPr>
          <a:lstStyle/>
          <a:p>
            <a:pPr>
              <a:lnSpc>
                <a:spcPct val="135000"/>
              </a:lnSpc>
            </a:pPr>
            <a:r>
              <a:rPr sz="1000" b="0">
                <a:solidFill>
                  <a:srgbClr val="2C3E50"/>
                </a:solidFill>
                <a:latin typeface="Arial"/>
              </a:rPr>
              <a:t>•  3–9 people · single product or capability ownership</a:t>
            </a:r>
          </a:p>
          <a:p>
            <a:pPr>
              <a:lnSpc>
                <a:spcPct val="135000"/>
              </a:lnSpc>
            </a:pPr>
            <a:r>
              <a:rPr sz="1000" b="0">
                <a:solidFill>
                  <a:srgbClr val="2C3E50"/>
                </a:solidFill>
                <a:latin typeface="Arial"/>
              </a:rPr>
              <a:t>•  Permanent — not a project team that disbands</a:t>
            </a:r>
          </a:p>
          <a:p>
            <a:pPr>
              <a:lnSpc>
                <a:spcPct val="135000"/>
              </a:lnSpc>
            </a:pPr>
            <a:r>
              <a:rPr sz="1000" b="0">
                <a:solidFill>
                  <a:srgbClr val="2C3E50"/>
                </a:solidFill>
                <a:latin typeface="Arial"/>
              </a:rPr>
              <a:t>•  7 Crew archetypes — we use Value Stream · Capability · Experience · Platform · Partnership · Facilitation · Governance</a:t>
            </a:r>
          </a:p>
        </p:txBody>
      </p:sp>
      <p:sp>
        <p:nvSpPr>
          <p:cNvPr id="12" name="Rounded Rectangle 11"/>
          <p:cNvSpPr/>
          <p:nvPr/>
        </p:nvSpPr>
        <p:spPr>
          <a:xfrm>
            <a:off x="4292498" y="1554480"/>
            <a:ext cx="3698138" cy="2743200"/>
          </a:xfrm>
          <a:prstGeom prst="roundRect">
            <a:avLst>
              <a:gd name="adj" fmla="val 5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2498" y="1554480"/>
            <a:ext cx="3698138" cy="5029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2498" y="1600200"/>
            <a:ext cx="3698138" cy="411480"/>
          </a:xfrm>
          <a:prstGeom prst="rect">
            <a:avLst/>
          </a:prstGeom>
          <a:noFill/>
        </p:spPr>
        <p:txBody>
          <a:bodyPr wrap="square" lIns="45720" rIns="45720" tIns="18288" bIns="18288" anchor="ctr">
            <a:spAutoFit/>
          </a:bodyPr>
          <a:lstStyle/>
          <a:p>
            <a:pPr algn="ctr"/>
            <a:r>
              <a:rPr sz="1800" b="1" i="0">
                <a:solidFill>
                  <a:srgbClr val="FFFFFF"/>
                </a:solidFill>
                <a:latin typeface="Arial"/>
              </a:rPr>
              <a:t>BASE</a:t>
            </a:r>
          </a:p>
        </p:txBody>
      </p:sp>
      <p:sp>
        <p:nvSpPr>
          <p:cNvPr id="15" name="TextBox 14"/>
          <p:cNvSpPr txBox="1"/>
          <p:nvPr/>
        </p:nvSpPr>
        <p:spPr>
          <a:xfrm>
            <a:off x="4475378" y="2148840"/>
            <a:ext cx="3332378" cy="548640"/>
          </a:xfrm>
          <a:prstGeom prst="rect">
            <a:avLst/>
          </a:prstGeom>
          <a:noFill/>
        </p:spPr>
        <p:txBody>
          <a:bodyPr wrap="square" lIns="45720" rIns="45720" tIns="18288" bIns="18288" anchor="t">
            <a:spAutoFit/>
          </a:bodyPr>
          <a:lstStyle/>
          <a:p>
            <a:pPr algn="l"/>
            <a:r>
              <a:rPr sz="1100" b="1" i="1">
                <a:solidFill>
                  <a:srgbClr val="2E7D32"/>
                </a:solidFill>
                <a:latin typeface="Arial"/>
              </a:rPr>
              <a:t>A collection of Crews + Forums sharing a strategic alignment</a:t>
            </a:r>
          </a:p>
        </p:txBody>
      </p:sp>
      <p:sp>
        <p:nvSpPr>
          <p:cNvPr id="16" name="TextBox 15"/>
          <p:cNvSpPr txBox="1"/>
          <p:nvPr/>
        </p:nvSpPr>
        <p:spPr>
          <a:xfrm>
            <a:off x="4475378" y="2743200"/>
            <a:ext cx="3332378" cy="1463040"/>
          </a:xfrm>
          <a:prstGeom prst="rect">
            <a:avLst/>
          </a:prstGeom>
          <a:noFill/>
        </p:spPr>
        <p:txBody>
          <a:bodyPr wrap="square" lIns="45720" rIns="45720" tIns="36576" bIns="36576">
            <a:spAutoFit/>
          </a:bodyPr>
          <a:lstStyle/>
          <a:p>
            <a:pPr>
              <a:lnSpc>
                <a:spcPct val="135000"/>
              </a:lnSpc>
            </a:pPr>
            <a:r>
              <a:rPr sz="1000" b="0">
                <a:solidFill>
                  <a:srgbClr val="2C3E50"/>
                </a:solidFill>
                <a:latin typeface="Arial"/>
              </a:rPr>
              <a:t>•  4 Base types — Strongly Aligned · Loosely Aligned · Coupled · Segregated</a:t>
            </a:r>
          </a:p>
          <a:p>
            <a:pPr>
              <a:lnSpc>
                <a:spcPct val="135000"/>
              </a:lnSpc>
            </a:pPr>
            <a:r>
              <a:rPr sz="1000" b="0">
                <a:solidFill>
                  <a:srgbClr val="2C3E50"/>
                </a:solidFill>
                <a:latin typeface="Arial"/>
              </a:rPr>
              <a:t>•  Avangrid Digital Products will be a Strongly Aligned Base</a:t>
            </a:r>
          </a:p>
          <a:p>
            <a:pPr>
              <a:lnSpc>
                <a:spcPct val="135000"/>
              </a:lnSpc>
            </a:pPr>
            <a:r>
              <a:rPr sz="1000" b="0">
                <a:solidFill>
                  <a:srgbClr val="2C3E50"/>
                </a:solidFill>
                <a:latin typeface="Arial"/>
              </a:rPr>
              <a:t>•  Sibling bases (Digital CoE · P&amp;S/P&amp;T) operate Loosely Aligned in parallel</a:t>
            </a:r>
          </a:p>
        </p:txBody>
      </p:sp>
      <p:sp>
        <p:nvSpPr>
          <p:cNvPr id="17" name="Rounded Rectangle 16"/>
          <p:cNvSpPr/>
          <p:nvPr/>
        </p:nvSpPr>
        <p:spPr>
          <a:xfrm>
            <a:off x="8127796" y="1554480"/>
            <a:ext cx="3698138" cy="2743200"/>
          </a:xfrm>
          <a:prstGeom prst="roundRect">
            <a:avLst>
              <a:gd name="adj" fmla="val 5000"/>
            </a:avLst>
          </a:prstGeom>
          <a:solidFill>
            <a:srgbClr val="FFFFFF"/>
          </a:solidFill>
          <a:ln w="254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27796" y="1554480"/>
            <a:ext cx="3698138" cy="50292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27796" y="1600200"/>
            <a:ext cx="3698138" cy="411480"/>
          </a:xfrm>
          <a:prstGeom prst="rect">
            <a:avLst/>
          </a:prstGeom>
          <a:noFill/>
        </p:spPr>
        <p:txBody>
          <a:bodyPr wrap="square" lIns="45720" rIns="45720" tIns="18288" bIns="18288" anchor="ctr">
            <a:spAutoFit/>
          </a:bodyPr>
          <a:lstStyle/>
          <a:p>
            <a:pPr algn="ctr"/>
            <a:r>
              <a:rPr sz="1800" b="1" i="0">
                <a:solidFill>
                  <a:srgbClr val="FFFFFF"/>
                </a:solidFill>
                <a:latin typeface="Arial"/>
              </a:rPr>
              <a:t>FORUM</a:t>
            </a:r>
          </a:p>
        </p:txBody>
      </p:sp>
      <p:sp>
        <p:nvSpPr>
          <p:cNvPr id="20" name="TextBox 19"/>
          <p:cNvSpPr txBox="1"/>
          <p:nvPr/>
        </p:nvSpPr>
        <p:spPr>
          <a:xfrm>
            <a:off x="8310676" y="2148840"/>
            <a:ext cx="3332378" cy="548640"/>
          </a:xfrm>
          <a:prstGeom prst="rect">
            <a:avLst/>
          </a:prstGeom>
          <a:noFill/>
        </p:spPr>
        <p:txBody>
          <a:bodyPr wrap="square" lIns="45720" rIns="45720" tIns="18288" bIns="18288" anchor="t">
            <a:spAutoFit/>
          </a:bodyPr>
          <a:lstStyle/>
          <a:p>
            <a:pPr algn="l"/>
            <a:r>
              <a:rPr sz="1100" b="1" i="1">
                <a:solidFill>
                  <a:srgbClr val="E88B2F"/>
                </a:solidFill>
                <a:latin typeface="Arial"/>
              </a:rPr>
              <a:t>A recurring coordination venue · no decision rights · signals only</a:t>
            </a:r>
          </a:p>
        </p:txBody>
      </p:sp>
      <p:sp>
        <p:nvSpPr>
          <p:cNvPr id="21" name="TextBox 20"/>
          <p:cNvSpPr txBox="1"/>
          <p:nvPr/>
        </p:nvSpPr>
        <p:spPr>
          <a:xfrm>
            <a:off x="8310676" y="2743200"/>
            <a:ext cx="3332378" cy="1463040"/>
          </a:xfrm>
          <a:prstGeom prst="rect">
            <a:avLst/>
          </a:prstGeom>
          <a:noFill/>
        </p:spPr>
        <p:txBody>
          <a:bodyPr wrap="square" lIns="45720" rIns="45720" tIns="36576" bIns="36576">
            <a:spAutoFit/>
          </a:bodyPr>
          <a:lstStyle/>
          <a:p>
            <a:pPr>
              <a:lnSpc>
                <a:spcPct val="135000"/>
              </a:lnSpc>
            </a:pPr>
            <a:r>
              <a:rPr sz="1000" b="0">
                <a:solidFill>
                  <a:srgbClr val="2C3E50"/>
                </a:solidFill>
                <a:latin typeface="Arial"/>
              </a:rPr>
              <a:t>•  10 Forum archetypes — we use Regional · Functional · Technological · Customer Journey · Product</a:t>
            </a:r>
          </a:p>
          <a:p>
            <a:pPr>
              <a:lnSpc>
                <a:spcPct val="135000"/>
              </a:lnSpc>
            </a:pPr>
            <a:r>
              <a:rPr sz="1000" b="0">
                <a:solidFill>
                  <a:srgbClr val="2C3E50"/>
                </a:solidFill>
                <a:latin typeface="Arial"/>
              </a:rPr>
              <a:t>•  Surfaces dependencies, alignment, and reuse opportunities</a:t>
            </a:r>
          </a:p>
          <a:p>
            <a:pPr>
              <a:lnSpc>
                <a:spcPct val="135000"/>
              </a:lnSpc>
            </a:pPr>
            <a:r>
              <a:rPr sz="1000" b="0">
                <a:solidFill>
                  <a:srgbClr val="2C3E50"/>
                </a:solidFill>
                <a:latin typeface="Arial"/>
              </a:rPr>
              <a:t>•  Decisions stay with Crews — Forums make them visible</a:t>
            </a:r>
          </a:p>
        </p:txBody>
      </p:sp>
      <p:sp>
        <p:nvSpPr>
          <p:cNvPr id="22" name="Rounded Rectangle 21"/>
          <p:cNvSpPr/>
          <p:nvPr/>
        </p:nvSpPr>
        <p:spPr>
          <a:xfrm>
            <a:off x="457200" y="4526280"/>
            <a:ext cx="11277295" cy="1783080"/>
          </a:xfrm>
          <a:prstGeom prst="roundRect">
            <a:avLst>
              <a:gd name="adj" fmla="val 5000"/>
            </a:avLst>
          </a:prstGeom>
          <a:solidFill>
            <a:srgbClr val="DCE6F5"/>
          </a:solidFill>
          <a:ln w="19050">
            <a:solidFill>
              <a:srgbClr val="0F1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617720"/>
            <a:ext cx="10911535" cy="274320"/>
          </a:xfrm>
          <a:prstGeom prst="rect">
            <a:avLst/>
          </a:prstGeom>
          <a:noFill/>
        </p:spPr>
        <p:txBody>
          <a:bodyPr wrap="square" lIns="45720" rIns="45720" tIns="18288" bIns="18288" anchor="t">
            <a:spAutoFit/>
          </a:bodyPr>
          <a:lstStyle/>
          <a:p>
            <a:pPr algn="l"/>
            <a:r>
              <a:rPr sz="1000" b="1" i="0">
                <a:solidFill>
                  <a:srgbClr val="0F1C50"/>
                </a:solidFill>
                <a:latin typeface="Arial"/>
              </a:rPr>
              <a:t>WHY UNFIX FOR AVANGRID</a:t>
            </a:r>
          </a:p>
        </p:txBody>
      </p:sp>
      <p:sp>
        <p:nvSpPr>
          <p:cNvPr id="24" name="TextBox 23"/>
          <p:cNvSpPr txBox="1"/>
          <p:nvPr/>
        </p:nvSpPr>
        <p:spPr>
          <a:xfrm>
            <a:off x="640080" y="4937760"/>
            <a:ext cx="10911535" cy="5897880"/>
          </a:xfrm>
          <a:prstGeom prst="rect">
            <a:avLst/>
          </a:prstGeom>
          <a:noFill/>
        </p:spPr>
        <p:txBody>
          <a:bodyPr wrap="square" lIns="45720" rIns="45720" tIns="36576" bIns="36576">
            <a:spAutoFit/>
          </a:bodyPr>
          <a:lstStyle/>
          <a:p>
            <a:pPr>
              <a:lnSpc>
                <a:spcPct val="135000"/>
              </a:lnSpc>
            </a:pPr>
            <a:r>
              <a:rPr sz="1000" b="0">
                <a:solidFill>
                  <a:srgbClr val="2C3E50"/>
                </a:solidFill>
                <a:latin typeface="Arial"/>
              </a:rPr>
              <a:t>•  Maps cleanly onto Avangrid's reality — value streams, sub-teams, vendors and forums already exist; we are giving them a consistent name and a clear interface.</a:t>
            </a:r>
          </a:p>
          <a:p>
            <a:pPr>
              <a:lnSpc>
                <a:spcPct val="135000"/>
              </a:lnSpc>
            </a:pPr>
            <a:r>
              <a:rPr sz="1000" b="0">
                <a:solidFill>
                  <a:srgbClr val="2C3E50"/>
                </a:solidFill>
                <a:latin typeface="Arial"/>
              </a:rPr>
              <a:t>•  Modular — we adopt what fits (Strongly Aligned Base + Value Stream Crews + 5 Forums) and ignore what doesn't (e.g. mob squads, two-pizza rule).</a:t>
            </a:r>
          </a:p>
          <a:p>
            <a:pPr>
              <a:lnSpc>
                <a:spcPct val="135000"/>
              </a:lnSpc>
            </a:pPr>
            <a:r>
              <a:rPr sz="1000" b="0">
                <a:solidFill>
                  <a:srgbClr val="2C3E50"/>
                </a:solidFill>
                <a:latin typeface="Arial"/>
              </a:rPr>
              <a:t>•  Compatible with the existing P&amp;S/P&amp;T NOM v1.5 implementation and Digital CoE patterns — no conflict between siblings.</a:t>
            </a:r>
          </a:p>
          <a:p>
            <a:pPr>
              <a:lnSpc>
                <a:spcPct val="135000"/>
              </a:lnSpc>
            </a:pPr>
            <a:r>
              <a:rPr sz="1000" b="0">
                <a:solidFill>
                  <a:srgbClr val="2C3E50"/>
                </a:solidFill>
                <a:latin typeface="Arial"/>
              </a:rPr>
              <a:t>•  Source — unfix.com — open framework by Jurgen Appelo.</a:t>
            </a:r>
          </a:p>
        </p:txBody>
      </p:sp>
      <p:sp>
        <p:nvSpPr>
          <p:cNvPr id="25" name="TextBox 24"/>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STRONGLY ALIGNED BASE</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THE DIGITAL PRODUCTS BASE HOSTS THE FULL OPERATING MODEL</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ounded Rectangle 5"/>
          <p:cNvSpPr/>
          <p:nvPr/>
        </p:nvSpPr>
        <p:spPr>
          <a:xfrm>
            <a:off x="365760" y="1005840"/>
            <a:ext cx="9082735" cy="5212080"/>
          </a:xfrm>
          <a:prstGeom prst="roundRect">
            <a:avLst>
              <a:gd name="adj" fmla="val 3000"/>
            </a:avLst>
          </a:prstGeom>
          <a:solidFill>
            <a:srgbClr val="DCE6F5"/>
          </a:solidFill>
          <a:ln w="31750">
            <a:solidFill>
              <a:srgbClr val="0F1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078992"/>
            <a:ext cx="8716975" cy="292608"/>
          </a:xfrm>
          <a:prstGeom prst="rect">
            <a:avLst/>
          </a:prstGeom>
          <a:noFill/>
        </p:spPr>
        <p:txBody>
          <a:bodyPr wrap="square" lIns="45720" rIns="45720" tIns="18288" bIns="18288" anchor="t">
            <a:spAutoFit/>
          </a:bodyPr>
          <a:lstStyle/>
          <a:p>
            <a:pPr algn="l"/>
            <a:r>
              <a:rPr sz="1200" b="1" i="0">
                <a:solidFill>
                  <a:srgbClr val="0F1C50"/>
                </a:solidFill>
                <a:latin typeface="Arial"/>
              </a:rPr>
              <a:t>STRONGLY ALIGNED BASE  ·  Avangrid Digital Products</a:t>
            </a:r>
          </a:p>
        </p:txBody>
      </p:sp>
      <p:sp>
        <p:nvSpPr>
          <p:cNvPr id="8" name="TextBox 7"/>
          <p:cNvSpPr txBox="1"/>
          <p:nvPr/>
        </p:nvSpPr>
        <p:spPr>
          <a:xfrm>
            <a:off x="548640" y="1371600"/>
            <a:ext cx="8716975" cy="228600"/>
          </a:xfrm>
          <a:prstGeom prst="rect">
            <a:avLst/>
          </a:prstGeom>
          <a:noFill/>
        </p:spPr>
        <p:txBody>
          <a:bodyPr wrap="square" lIns="45720" rIns="45720" tIns="18288" bIns="18288" anchor="t">
            <a:spAutoFit/>
          </a:bodyPr>
          <a:lstStyle/>
          <a:p>
            <a:pPr algn="l"/>
            <a:r>
              <a:rPr sz="900" b="1" i="0">
                <a:solidFill>
                  <a:srgbClr val="0F1C50"/>
                </a:solidFill>
                <a:latin typeface="Arial"/>
              </a:rPr>
              <a:t>▸ EIGHT VALUE STREAM CREWS</a:t>
            </a:r>
          </a:p>
        </p:txBody>
      </p:sp>
      <p:sp>
        <p:nvSpPr>
          <p:cNvPr id="9" name="Rounded Rectangle 8"/>
          <p:cNvSpPr/>
          <p:nvPr/>
        </p:nvSpPr>
        <p:spPr>
          <a:xfrm>
            <a:off x="548640" y="1627632"/>
            <a:ext cx="1041615" cy="1298448"/>
          </a:xfrm>
          <a:prstGeom prst="roundRect">
            <a:avLst>
              <a:gd name="adj" fmla="val 5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27632"/>
            <a:ext cx="1041615" cy="3200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627632"/>
            <a:ext cx="1041615" cy="320040"/>
          </a:xfrm>
          <a:prstGeom prst="rect">
            <a:avLst/>
          </a:prstGeom>
          <a:noFill/>
        </p:spPr>
        <p:txBody>
          <a:bodyPr wrap="square" lIns="45720" rIns="45720" tIns="18288" bIns="18288" anchor="ctr">
            <a:spAutoFit/>
          </a:bodyPr>
          <a:lstStyle/>
          <a:p>
            <a:pPr algn="ctr"/>
            <a:r>
              <a:rPr sz="1000" b="1" i="0">
                <a:solidFill>
                  <a:srgbClr val="FFFFFF"/>
                </a:solidFill>
                <a:latin typeface="Arial"/>
              </a:rPr>
              <a:t>M2C-SL</a:t>
            </a:r>
          </a:p>
        </p:txBody>
      </p:sp>
      <p:sp>
        <p:nvSpPr>
          <p:cNvPr id="12" name="TextBox 11"/>
          <p:cNvSpPr txBox="1"/>
          <p:nvPr/>
        </p:nvSpPr>
        <p:spPr>
          <a:xfrm>
            <a:off x="548640" y="1965960"/>
            <a:ext cx="1041615" cy="960120"/>
          </a:xfrm>
          <a:prstGeom prst="rect">
            <a:avLst/>
          </a:prstGeom>
          <a:noFill/>
        </p:spPr>
        <p:txBody>
          <a:bodyPr wrap="square" lIns="45720" rIns="45720" tIns="18288" bIns="18288" anchor="ctr">
            <a:spAutoFit/>
          </a:bodyPr>
          <a:lstStyle/>
          <a:p>
            <a:pPr algn="ctr"/>
            <a:r>
              <a:rPr sz="850" b="0" i="0">
                <a:solidFill>
                  <a:srgbClr val="2C3E50"/>
                </a:solidFill>
                <a:latin typeface="Arial"/>
              </a:rPr>
              <a:t>VS</a:t>
            </a:r>
          </a:p>
          <a:p>
            <a:r>
              <a:t>Crew</a:t>
            </a:r>
          </a:p>
          <a:p>
            <a:r>
              <a:t>(Squad)</a:t>
            </a:r>
          </a:p>
        </p:txBody>
      </p:sp>
      <p:sp>
        <p:nvSpPr>
          <p:cNvPr id="13" name="Rounded Rectangle 12"/>
          <p:cNvSpPr/>
          <p:nvPr/>
        </p:nvSpPr>
        <p:spPr>
          <a:xfrm>
            <a:off x="1645119" y="1627632"/>
            <a:ext cx="1041615" cy="1298448"/>
          </a:xfrm>
          <a:prstGeom prst="roundRect">
            <a:avLst>
              <a:gd name="adj" fmla="val 5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45119" y="1627632"/>
            <a:ext cx="1041615" cy="3200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45119" y="1627632"/>
            <a:ext cx="1041615" cy="320040"/>
          </a:xfrm>
          <a:prstGeom prst="rect">
            <a:avLst/>
          </a:prstGeom>
          <a:noFill/>
        </p:spPr>
        <p:txBody>
          <a:bodyPr wrap="square" lIns="45720" rIns="45720" tIns="18288" bIns="18288" anchor="ctr">
            <a:spAutoFit/>
          </a:bodyPr>
          <a:lstStyle/>
          <a:p>
            <a:pPr algn="ctr"/>
            <a:r>
              <a:rPr sz="1000" b="1" i="0">
                <a:solidFill>
                  <a:srgbClr val="FFFFFF"/>
                </a:solidFill>
                <a:latin typeface="Arial"/>
              </a:rPr>
              <a:t>M2C-RO</a:t>
            </a:r>
          </a:p>
        </p:txBody>
      </p:sp>
      <p:sp>
        <p:nvSpPr>
          <p:cNvPr id="16" name="TextBox 15"/>
          <p:cNvSpPr txBox="1"/>
          <p:nvPr/>
        </p:nvSpPr>
        <p:spPr>
          <a:xfrm>
            <a:off x="1645119" y="1965960"/>
            <a:ext cx="1041615" cy="960120"/>
          </a:xfrm>
          <a:prstGeom prst="rect">
            <a:avLst/>
          </a:prstGeom>
          <a:noFill/>
        </p:spPr>
        <p:txBody>
          <a:bodyPr wrap="square" lIns="45720" rIns="45720" tIns="18288" bIns="18288" anchor="ctr">
            <a:spAutoFit/>
          </a:bodyPr>
          <a:lstStyle/>
          <a:p>
            <a:pPr algn="ctr"/>
            <a:r>
              <a:rPr sz="850" b="0" i="0">
                <a:solidFill>
                  <a:srgbClr val="2C3E50"/>
                </a:solidFill>
                <a:latin typeface="Arial"/>
              </a:rPr>
              <a:t>VS</a:t>
            </a:r>
          </a:p>
          <a:p>
            <a:r>
              <a:t>Crew</a:t>
            </a:r>
          </a:p>
          <a:p>
            <a:r>
              <a:t>(Squad)</a:t>
            </a:r>
          </a:p>
        </p:txBody>
      </p:sp>
      <p:sp>
        <p:nvSpPr>
          <p:cNvPr id="17" name="Rounded Rectangle 16"/>
          <p:cNvSpPr/>
          <p:nvPr/>
        </p:nvSpPr>
        <p:spPr>
          <a:xfrm>
            <a:off x="2741599" y="1627632"/>
            <a:ext cx="1041615" cy="1298448"/>
          </a:xfrm>
          <a:prstGeom prst="roundRect">
            <a:avLst>
              <a:gd name="adj" fmla="val 5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1599" y="1627632"/>
            <a:ext cx="1041615" cy="3200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1599" y="1627632"/>
            <a:ext cx="1041615" cy="320040"/>
          </a:xfrm>
          <a:prstGeom prst="rect">
            <a:avLst/>
          </a:prstGeom>
          <a:noFill/>
        </p:spPr>
        <p:txBody>
          <a:bodyPr wrap="square" lIns="45720" rIns="45720" tIns="18288" bIns="18288" anchor="ctr">
            <a:spAutoFit/>
          </a:bodyPr>
          <a:lstStyle/>
          <a:p>
            <a:pPr algn="ctr"/>
            <a:r>
              <a:rPr sz="1000" b="1" i="0">
                <a:solidFill>
                  <a:srgbClr val="FFFFFF"/>
                </a:solidFill>
                <a:latin typeface="Arial"/>
              </a:rPr>
              <a:t>CCC</a:t>
            </a:r>
          </a:p>
        </p:txBody>
      </p:sp>
      <p:sp>
        <p:nvSpPr>
          <p:cNvPr id="20" name="TextBox 19"/>
          <p:cNvSpPr txBox="1"/>
          <p:nvPr/>
        </p:nvSpPr>
        <p:spPr>
          <a:xfrm>
            <a:off x="2741599" y="1965960"/>
            <a:ext cx="1041615" cy="960120"/>
          </a:xfrm>
          <a:prstGeom prst="rect">
            <a:avLst/>
          </a:prstGeom>
          <a:noFill/>
        </p:spPr>
        <p:txBody>
          <a:bodyPr wrap="square" lIns="45720" rIns="45720" tIns="18288" bIns="18288" anchor="ctr">
            <a:spAutoFit/>
          </a:bodyPr>
          <a:lstStyle/>
          <a:p>
            <a:pPr algn="ctr"/>
            <a:r>
              <a:rPr sz="850" b="0" i="0">
                <a:solidFill>
                  <a:srgbClr val="2C3E50"/>
                </a:solidFill>
                <a:latin typeface="Arial"/>
              </a:rPr>
              <a:t>VS</a:t>
            </a:r>
          </a:p>
          <a:p>
            <a:r>
              <a:t>Crew</a:t>
            </a:r>
          </a:p>
          <a:p>
            <a:r>
              <a:t>(Squad)</a:t>
            </a:r>
          </a:p>
        </p:txBody>
      </p:sp>
      <p:sp>
        <p:nvSpPr>
          <p:cNvPr id="21" name="Rounded Rectangle 20"/>
          <p:cNvSpPr/>
          <p:nvPr/>
        </p:nvSpPr>
        <p:spPr>
          <a:xfrm>
            <a:off x="3838079" y="1627632"/>
            <a:ext cx="1041615" cy="1298448"/>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838079" y="1627632"/>
            <a:ext cx="1041615" cy="3200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38079" y="1627632"/>
            <a:ext cx="1041615" cy="320040"/>
          </a:xfrm>
          <a:prstGeom prst="rect">
            <a:avLst/>
          </a:prstGeom>
          <a:noFill/>
        </p:spPr>
        <p:txBody>
          <a:bodyPr wrap="square" lIns="45720" rIns="45720" tIns="18288" bIns="18288" anchor="ctr">
            <a:spAutoFit/>
          </a:bodyPr>
          <a:lstStyle/>
          <a:p>
            <a:pPr algn="ctr"/>
            <a:r>
              <a:rPr sz="1000" b="1" i="0">
                <a:solidFill>
                  <a:srgbClr val="FFFFFF"/>
                </a:solidFill>
                <a:latin typeface="Arial"/>
              </a:rPr>
              <a:t>FOPS</a:t>
            </a:r>
          </a:p>
        </p:txBody>
      </p:sp>
      <p:sp>
        <p:nvSpPr>
          <p:cNvPr id="24" name="TextBox 23"/>
          <p:cNvSpPr txBox="1"/>
          <p:nvPr/>
        </p:nvSpPr>
        <p:spPr>
          <a:xfrm>
            <a:off x="3838079" y="1965960"/>
            <a:ext cx="1041615" cy="960120"/>
          </a:xfrm>
          <a:prstGeom prst="rect">
            <a:avLst/>
          </a:prstGeom>
          <a:noFill/>
        </p:spPr>
        <p:txBody>
          <a:bodyPr wrap="square" lIns="45720" rIns="45720" tIns="18288" bIns="18288" anchor="ctr">
            <a:spAutoFit/>
          </a:bodyPr>
          <a:lstStyle/>
          <a:p>
            <a:pPr algn="ctr"/>
            <a:r>
              <a:rPr sz="850" b="0" i="0">
                <a:solidFill>
                  <a:srgbClr val="2C3E50"/>
                </a:solidFill>
                <a:latin typeface="Arial"/>
              </a:rPr>
              <a:t>VS</a:t>
            </a:r>
          </a:p>
          <a:p>
            <a:r>
              <a:t>Crew</a:t>
            </a:r>
          </a:p>
          <a:p>
            <a:r>
              <a:t>(Squad)</a:t>
            </a:r>
          </a:p>
        </p:txBody>
      </p:sp>
      <p:sp>
        <p:nvSpPr>
          <p:cNvPr id="25" name="Rounded Rectangle 24"/>
          <p:cNvSpPr/>
          <p:nvPr/>
        </p:nvSpPr>
        <p:spPr>
          <a:xfrm>
            <a:off x="4934559" y="1627632"/>
            <a:ext cx="1041615" cy="1298448"/>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934559" y="1627632"/>
            <a:ext cx="1041615" cy="3200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34559" y="1627632"/>
            <a:ext cx="1041615" cy="320040"/>
          </a:xfrm>
          <a:prstGeom prst="rect">
            <a:avLst/>
          </a:prstGeom>
          <a:noFill/>
        </p:spPr>
        <p:txBody>
          <a:bodyPr wrap="square" lIns="45720" rIns="45720" tIns="18288" bIns="18288" anchor="ctr">
            <a:spAutoFit/>
          </a:bodyPr>
          <a:lstStyle/>
          <a:p>
            <a:pPr algn="ctr"/>
            <a:r>
              <a:rPr sz="1000" b="1" i="0">
                <a:solidFill>
                  <a:srgbClr val="FFFFFF"/>
                </a:solidFill>
                <a:latin typeface="Arial"/>
              </a:rPr>
              <a:t>E&amp;A</a:t>
            </a:r>
          </a:p>
        </p:txBody>
      </p:sp>
      <p:sp>
        <p:nvSpPr>
          <p:cNvPr id="28" name="TextBox 27"/>
          <p:cNvSpPr txBox="1"/>
          <p:nvPr/>
        </p:nvSpPr>
        <p:spPr>
          <a:xfrm>
            <a:off x="4934559" y="1965960"/>
            <a:ext cx="1041615" cy="960120"/>
          </a:xfrm>
          <a:prstGeom prst="rect">
            <a:avLst/>
          </a:prstGeom>
          <a:noFill/>
        </p:spPr>
        <p:txBody>
          <a:bodyPr wrap="square" lIns="45720" rIns="45720" tIns="18288" bIns="18288" anchor="ctr">
            <a:spAutoFit/>
          </a:bodyPr>
          <a:lstStyle/>
          <a:p>
            <a:pPr algn="ctr"/>
            <a:r>
              <a:rPr sz="850" b="0" i="0">
                <a:solidFill>
                  <a:srgbClr val="2C3E50"/>
                </a:solidFill>
                <a:latin typeface="Arial"/>
              </a:rPr>
              <a:t>VS</a:t>
            </a:r>
          </a:p>
          <a:p>
            <a:r>
              <a:t>Crew</a:t>
            </a:r>
          </a:p>
          <a:p>
            <a:r>
              <a:t>(Squad)</a:t>
            </a:r>
          </a:p>
        </p:txBody>
      </p:sp>
      <p:sp>
        <p:nvSpPr>
          <p:cNvPr id="29" name="Rounded Rectangle 28"/>
          <p:cNvSpPr/>
          <p:nvPr/>
        </p:nvSpPr>
        <p:spPr>
          <a:xfrm>
            <a:off x="6031039" y="1627632"/>
            <a:ext cx="1041615" cy="1298448"/>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31039" y="1627632"/>
            <a:ext cx="1041615" cy="3200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31039" y="1627632"/>
            <a:ext cx="1041615" cy="320040"/>
          </a:xfrm>
          <a:prstGeom prst="rect">
            <a:avLst/>
          </a:prstGeom>
          <a:noFill/>
        </p:spPr>
        <p:txBody>
          <a:bodyPr wrap="square" lIns="45720" rIns="45720" tIns="18288" bIns="18288" anchor="ctr">
            <a:spAutoFit/>
          </a:bodyPr>
          <a:lstStyle/>
          <a:p>
            <a:pPr algn="ctr"/>
            <a:r>
              <a:rPr sz="1000" b="1" i="0">
                <a:solidFill>
                  <a:srgbClr val="FFFFFF"/>
                </a:solidFill>
                <a:latin typeface="Arial"/>
              </a:rPr>
              <a:t>NOC</a:t>
            </a:r>
          </a:p>
        </p:txBody>
      </p:sp>
      <p:sp>
        <p:nvSpPr>
          <p:cNvPr id="32" name="TextBox 31"/>
          <p:cNvSpPr txBox="1"/>
          <p:nvPr/>
        </p:nvSpPr>
        <p:spPr>
          <a:xfrm>
            <a:off x="6031039" y="1965960"/>
            <a:ext cx="1041615" cy="960120"/>
          </a:xfrm>
          <a:prstGeom prst="rect">
            <a:avLst/>
          </a:prstGeom>
          <a:noFill/>
        </p:spPr>
        <p:txBody>
          <a:bodyPr wrap="square" lIns="45720" rIns="45720" tIns="18288" bIns="18288" anchor="ctr">
            <a:spAutoFit/>
          </a:bodyPr>
          <a:lstStyle/>
          <a:p>
            <a:pPr algn="ctr"/>
            <a:r>
              <a:rPr sz="850" b="0" i="0">
                <a:solidFill>
                  <a:srgbClr val="2C3E50"/>
                </a:solidFill>
                <a:latin typeface="Arial"/>
              </a:rPr>
              <a:t>VS</a:t>
            </a:r>
          </a:p>
          <a:p>
            <a:r>
              <a:t>Crew</a:t>
            </a:r>
          </a:p>
          <a:p>
            <a:r>
              <a:t>(Squad)</a:t>
            </a:r>
          </a:p>
        </p:txBody>
      </p:sp>
      <p:sp>
        <p:nvSpPr>
          <p:cNvPr id="33" name="Rounded Rectangle 32"/>
          <p:cNvSpPr/>
          <p:nvPr/>
        </p:nvSpPr>
        <p:spPr>
          <a:xfrm>
            <a:off x="7127519" y="1627632"/>
            <a:ext cx="1041615" cy="1298448"/>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127519" y="1627632"/>
            <a:ext cx="1041615" cy="3200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27519" y="1627632"/>
            <a:ext cx="1041615" cy="320040"/>
          </a:xfrm>
          <a:prstGeom prst="rect">
            <a:avLst/>
          </a:prstGeom>
          <a:noFill/>
        </p:spPr>
        <p:txBody>
          <a:bodyPr wrap="square" lIns="45720" rIns="45720" tIns="18288" bIns="18288" anchor="ctr">
            <a:spAutoFit/>
          </a:bodyPr>
          <a:lstStyle/>
          <a:p>
            <a:pPr algn="ctr"/>
            <a:r>
              <a:rPr sz="1000" b="1" i="0">
                <a:solidFill>
                  <a:srgbClr val="FFFFFF"/>
                </a:solidFill>
                <a:latin typeface="Arial"/>
              </a:rPr>
              <a:t>C&amp;R</a:t>
            </a:r>
          </a:p>
        </p:txBody>
      </p:sp>
      <p:sp>
        <p:nvSpPr>
          <p:cNvPr id="36" name="TextBox 35"/>
          <p:cNvSpPr txBox="1"/>
          <p:nvPr/>
        </p:nvSpPr>
        <p:spPr>
          <a:xfrm>
            <a:off x="7127519" y="1965960"/>
            <a:ext cx="1041615" cy="960120"/>
          </a:xfrm>
          <a:prstGeom prst="rect">
            <a:avLst/>
          </a:prstGeom>
          <a:noFill/>
        </p:spPr>
        <p:txBody>
          <a:bodyPr wrap="square" lIns="45720" rIns="45720" tIns="18288" bIns="18288" anchor="ctr">
            <a:spAutoFit/>
          </a:bodyPr>
          <a:lstStyle/>
          <a:p>
            <a:pPr algn="ctr"/>
            <a:r>
              <a:rPr sz="850" b="0" i="0">
                <a:solidFill>
                  <a:srgbClr val="2C3E50"/>
                </a:solidFill>
                <a:latin typeface="Arial"/>
              </a:rPr>
              <a:t>VS</a:t>
            </a:r>
          </a:p>
          <a:p>
            <a:r>
              <a:t>Crew</a:t>
            </a:r>
          </a:p>
          <a:p>
            <a:r>
              <a:t>(Squad)</a:t>
            </a:r>
          </a:p>
        </p:txBody>
      </p:sp>
      <p:sp>
        <p:nvSpPr>
          <p:cNvPr id="37" name="Rounded Rectangle 36"/>
          <p:cNvSpPr/>
          <p:nvPr/>
        </p:nvSpPr>
        <p:spPr>
          <a:xfrm>
            <a:off x="8223999" y="1627632"/>
            <a:ext cx="1041615" cy="1298448"/>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223999" y="1627632"/>
            <a:ext cx="1041615" cy="3200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3999" y="1627632"/>
            <a:ext cx="1041615" cy="320040"/>
          </a:xfrm>
          <a:prstGeom prst="rect">
            <a:avLst/>
          </a:prstGeom>
          <a:noFill/>
        </p:spPr>
        <p:txBody>
          <a:bodyPr wrap="square" lIns="45720" rIns="45720" tIns="18288" bIns="18288" anchor="ctr">
            <a:spAutoFit/>
          </a:bodyPr>
          <a:lstStyle/>
          <a:p>
            <a:pPr algn="ctr"/>
            <a:r>
              <a:rPr sz="1000" b="1" i="0">
                <a:solidFill>
                  <a:srgbClr val="FFFFFF"/>
                </a:solidFill>
                <a:latin typeface="Arial"/>
              </a:rPr>
              <a:t>IBD</a:t>
            </a:r>
          </a:p>
        </p:txBody>
      </p:sp>
      <p:sp>
        <p:nvSpPr>
          <p:cNvPr id="40" name="TextBox 39"/>
          <p:cNvSpPr txBox="1"/>
          <p:nvPr/>
        </p:nvSpPr>
        <p:spPr>
          <a:xfrm>
            <a:off x="8223999" y="1965960"/>
            <a:ext cx="1041615" cy="960120"/>
          </a:xfrm>
          <a:prstGeom prst="rect">
            <a:avLst/>
          </a:prstGeom>
          <a:noFill/>
        </p:spPr>
        <p:txBody>
          <a:bodyPr wrap="square" lIns="45720" rIns="45720" tIns="18288" bIns="18288" anchor="ctr">
            <a:spAutoFit/>
          </a:bodyPr>
          <a:lstStyle/>
          <a:p>
            <a:pPr algn="ctr"/>
            <a:r>
              <a:rPr sz="850" b="0" i="0">
                <a:solidFill>
                  <a:srgbClr val="2C3E50"/>
                </a:solidFill>
                <a:latin typeface="Arial"/>
              </a:rPr>
              <a:t>VS</a:t>
            </a:r>
          </a:p>
          <a:p>
            <a:r>
              <a:t>Crew</a:t>
            </a:r>
          </a:p>
          <a:p>
            <a:r>
              <a:t>(Squad)</a:t>
            </a:r>
          </a:p>
        </p:txBody>
      </p:sp>
      <p:sp>
        <p:nvSpPr>
          <p:cNvPr id="41" name="TextBox 40"/>
          <p:cNvSpPr txBox="1"/>
          <p:nvPr/>
        </p:nvSpPr>
        <p:spPr>
          <a:xfrm>
            <a:off x="548640" y="3017520"/>
            <a:ext cx="8716975" cy="228600"/>
          </a:xfrm>
          <a:prstGeom prst="rect">
            <a:avLst/>
          </a:prstGeom>
          <a:noFill/>
        </p:spPr>
        <p:txBody>
          <a:bodyPr wrap="square" lIns="45720" rIns="45720" tIns="18288" bIns="18288" anchor="t">
            <a:spAutoFit/>
          </a:bodyPr>
          <a:lstStyle/>
          <a:p>
            <a:pPr algn="l"/>
            <a:r>
              <a:rPr sz="900" b="1" i="0">
                <a:solidFill>
                  <a:srgbClr val="0F1C50"/>
                </a:solidFill>
                <a:latin typeface="Arial"/>
              </a:rPr>
              <a:t>▸ FOUR SUPPORTING CREWS  +  ONE FACILITATION CREW</a:t>
            </a:r>
          </a:p>
        </p:txBody>
      </p:sp>
      <p:sp>
        <p:nvSpPr>
          <p:cNvPr id="42" name="Rounded Rectangle 41"/>
          <p:cNvSpPr/>
          <p:nvPr/>
        </p:nvSpPr>
        <p:spPr>
          <a:xfrm>
            <a:off x="548640" y="3273552"/>
            <a:ext cx="1684873" cy="1115568"/>
          </a:xfrm>
          <a:prstGeom prst="roundRect">
            <a:avLst>
              <a:gd name="adj" fmla="val 5000"/>
            </a:avLst>
          </a:prstGeom>
          <a:solidFill>
            <a:srgbClr val="FFFFFF"/>
          </a:solidFill>
          <a:ln w="1905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48640" y="3273552"/>
            <a:ext cx="1684873" cy="292608"/>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3273552"/>
            <a:ext cx="1684873" cy="292608"/>
          </a:xfrm>
          <a:prstGeom prst="rect">
            <a:avLst/>
          </a:prstGeom>
          <a:noFill/>
        </p:spPr>
        <p:txBody>
          <a:bodyPr wrap="square" lIns="45720" rIns="45720" tIns="18288" bIns="18288" anchor="ctr">
            <a:spAutoFit/>
          </a:bodyPr>
          <a:lstStyle/>
          <a:p>
            <a:pPr algn="ctr"/>
            <a:r>
              <a:rPr sz="900" b="1" i="0">
                <a:solidFill>
                  <a:srgbClr val="FFFFFF"/>
                </a:solidFill>
                <a:latin typeface="Arial"/>
              </a:rPr>
              <a:t>CAPABILITY</a:t>
            </a:r>
          </a:p>
        </p:txBody>
      </p:sp>
      <p:sp>
        <p:nvSpPr>
          <p:cNvPr id="45" name="TextBox 44"/>
          <p:cNvSpPr txBox="1"/>
          <p:nvPr/>
        </p:nvSpPr>
        <p:spPr>
          <a:xfrm>
            <a:off x="594360" y="3611880"/>
            <a:ext cx="1593433" cy="731520"/>
          </a:xfrm>
          <a:prstGeom prst="rect">
            <a:avLst/>
          </a:prstGeom>
          <a:noFill/>
        </p:spPr>
        <p:txBody>
          <a:bodyPr wrap="square" lIns="45720" rIns="45720" tIns="18288" bIns="18288" anchor="ctr">
            <a:spAutoFit/>
          </a:bodyPr>
          <a:lstStyle/>
          <a:p>
            <a:pPr algn="ctr"/>
            <a:r>
              <a:rPr sz="850" b="0" i="0">
                <a:solidFill>
                  <a:srgbClr val="2C3E50"/>
                </a:solidFill>
                <a:latin typeface="Arial"/>
              </a:rPr>
              <a:t>Architecture</a:t>
            </a:r>
          </a:p>
          <a:p>
            <a:r>
              <a:t>Council</a:t>
            </a:r>
          </a:p>
        </p:txBody>
      </p:sp>
      <p:sp>
        <p:nvSpPr>
          <p:cNvPr id="46" name="Rounded Rectangle 45"/>
          <p:cNvSpPr/>
          <p:nvPr/>
        </p:nvSpPr>
        <p:spPr>
          <a:xfrm>
            <a:off x="2306665" y="3273552"/>
            <a:ext cx="1684873" cy="1115568"/>
          </a:xfrm>
          <a:prstGeom prst="roundRect">
            <a:avLst>
              <a:gd name="adj" fmla="val 5000"/>
            </a:avLst>
          </a:prstGeom>
          <a:solidFill>
            <a:srgbClr val="FFFFFF"/>
          </a:solidFill>
          <a:ln w="1905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306665" y="3273552"/>
            <a:ext cx="1684873" cy="292608"/>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306665" y="3273552"/>
            <a:ext cx="1684873" cy="292608"/>
          </a:xfrm>
          <a:prstGeom prst="rect">
            <a:avLst/>
          </a:prstGeom>
          <a:noFill/>
        </p:spPr>
        <p:txBody>
          <a:bodyPr wrap="square" lIns="45720" rIns="45720" tIns="18288" bIns="18288" anchor="ctr">
            <a:spAutoFit/>
          </a:bodyPr>
          <a:lstStyle/>
          <a:p>
            <a:pPr algn="ctr"/>
            <a:r>
              <a:rPr sz="900" b="1" i="0">
                <a:solidFill>
                  <a:srgbClr val="FFFFFF"/>
                </a:solidFill>
                <a:latin typeface="Arial"/>
              </a:rPr>
              <a:t>EXPERIENCE</a:t>
            </a:r>
          </a:p>
        </p:txBody>
      </p:sp>
      <p:sp>
        <p:nvSpPr>
          <p:cNvPr id="49" name="TextBox 48"/>
          <p:cNvSpPr txBox="1"/>
          <p:nvPr/>
        </p:nvSpPr>
        <p:spPr>
          <a:xfrm>
            <a:off x="2352385" y="3611880"/>
            <a:ext cx="1593433" cy="731520"/>
          </a:xfrm>
          <a:prstGeom prst="rect">
            <a:avLst/>
          </a:prstGeom>
          <a:noFill/>
        </p:spPr>
        <p:txBody>
          <a:bodyPr wrap="square" lIns="45720" rIns="45720" tIns="18288" bIns="18288" anchor="ctr">
            <a:spAutoFit/>
          </a:bodyPr>
          <a:lstStyle/>
          <a:p>
            <a:pPr algn="ctr"/>
            <a:r>
              <a:rPr sz="850" b="0" i="0">
                <a:solidFill>
                  <a:srgbClr val="2C3E50"/>
                </a:solidFill>
                <a:latin typeface="Arial"/>
              </a:rPr>
              <a:t>UX  ·  Customer</a:t>
            </a:r>
          </a:p>
          <a:p>
            <a:r>
              <a:t>Journey</a:t>
            </a:r>
          </a:p>
        </p:txBody>
      </p:sp>
      <p:sp>
        <p:nvSpPr>
          <p:cNvPr id="50" name="Rounded Rectangle 49"/>
          <p:cNvSpPr/>
          <p:nvPr/>
        </p:nvSpPr>
        <p:spPr>
          <a:xfrm>
            <a:off x="4064690" y="3273552"/>
            <a:ext cx="1684873" cy="1115568"/>
          </a:xfrm>
          <a:prstGeom prst="roundRect">
            <a:avLst>
              <a:gd name="adj" fmla="val 5000"/>
            </a:avLst>
          </a:prstGeom>
          <a:solidFill>
            <a:srgbClr val="FFFFFF"/>
          </a:solidFill>
          <a:ln w="1905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064690" y="3273552"/>
            <a:ext cx="1684873" cy="292608"/>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064690" y="3273552"/>
            <a:ext cx="1684873" cy="292608"/>
          </a:xfrm>
          <a:prstGeom prst="rect">
            <a:avLst/>
          </a:prstGeom>
          <a:noFill/>
        </p:spPr>
        <p:txBody>
          <a:bodyPr wrap="square" lIns="45720" rIns="45720" tIns="18288" bIns="18288" anchor="ctr">
            <a:spAutoFit/>
          </a:bodyPr>
          <a:lstStyle/>
          <a:p>
            <a:pPr algn="ctr"/>
            <a:r>
              <a:rPr sz="900" b="1" i="0">
                <a:solidFill>
                  <a:srgbClr val="FFFFFF"/>
                </a:solidFill>
                <a:latin typeface="Arial"/>
              </a:rPr>
              <a:t>PLATFORM</a:t>
            </a:r>
          </a:p>
        </p:txBody>
      </p:sp>
      <p:sp>
        <p:nvSpPr>
          <p:cNvPr id="53" name="TextBox 52"/>
          <p:cNvSpPr txBox="1"/>
          <p:nvPr/>
        </p:nvSpPr>
        <p:spPr>
          <a:xfrm>
            <a:off x="4110410" y="3611880"/>
            <a:ext cx="1593433" cy="731520"/>
          </a:xfrm>
          <a:prstGeom prst="rect">
            <a:avLst/>
          </a:prstGeom>
          <a:noFill/>
        </p:spPr>
        <p:txBody>
          <a:bodyPr wrap="square" lIns="45720" rIns="45720" tIns="18288" bIns="18288" anchor="ctr">
            <a:spAutoFit/>
          </a:bodyPr>
          <a:lstStyle/>
          <a:p>
            <a:pPr algn="ctr"/>
            <a:r>
              <a:rPr sz="850" b="0" i="0">
                <a:solidFill>
                  <a:srgbClr val="2C3E50"/>
                </a:solidFill>
                <a:latin typeface="Arial"/>
              </a:rPr>
              <a:t>DevOps · SAP Basis</a:t>
            </a:r>
          </a:p>
          <a:p>
            <a:r>
              <a:t>App Sec · TOSCA</a:t>
            </a:r>
          </a:p>
          <a:p>
            <a:r>
              <a:t>Data Ops · DocMgmt</a:t>
            </a:r>
          </a:p>
        </p:txBody>
      </p:sp>
      <p:sp>
        <p:nvSpPr>
          <p:cNvPr id="54" name="Rounded Rectangle 53"/>
          <p:cNvSpPr/>
          <p:nvPr/>
        </p:nvSpPr>
        <p:spPr>
          <a:xfrm>
            <a:off x="5822716" y="3273552"/>
            <a:ext cx="1684873" cy="1115568"/>
          </a:xfrm>
          <a:prstGeom prst="roundRect">
            <a:avLst>
              <a:gd name="adj" fmla="val 5000"/>
            </a:avLst>
          </a:prstGeom>
          <a:solidFill>
            <a:srgbClr val="FFFFFF"/>
          </a:solidFill>
          <a:ln w="1905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822716" y="3273552"/>
            <a:ext cx="1684873" cy="292608"/>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822716" y="3273552"/>
            <a:ext cx="1684873" cy="292608"/>
          </a:xfrm>
          <a:prstGeom prst="rect">
            <a:avLst/>
          </a:prstGeom>
          <a:noFill/>
        </p:spPr>
        <p:txBody>
          <a:bodyPr wrap="square" lIns="45720" rIns="45720" tIns="18288" bIns="18288" anchor="ctr">
            <a:spAutoFit/>
          </a:bodyPr>
          <a:lstStyle/>
          <a:p>
            <a:pPr algn="ctr"/>
            <a:r>
              <a:rPr sz="900" b="1" i="0">
                <a:solidFill>
                  <a:srgbClr val="FFFFFF"/>
                </a:solidFill>
                <a:latin typeface="Arial"/>
              </a:rPr>
              <a:t>PARTNERSHIP</a:t>
            </a:r>
          </a:p>
        </p:txBody>
      </p:sp>
      <p:sp>
        <p:nvSpPr>
          <p:cNvPr id="57" name="TextBox 56"/>
          <p:cNvSpPr txBox="1"/>
          <p:nvPr/>
        </p:nvSpPr>
        <p:spPr>
          <a:xfrm>
            <a:off x="5868436" y="3611880"/>
            <a:ext cx="1593433" cy="731520"/>
          </a:xfrm>
          <a:prstGeom prst="rect">
            <a:avLst/>
          </a:prstGeom>
          <a:noFill/>
        </p:spPr>
        <p:txBody>
          <a:bodyPr wrap="square" lIns="45720" rIns="45720" tIns="18288" bIns="18288" anchor="ctr">
            <a:spAutoFit/>
          </a:bodyPr>
          <a:lstStyle/>
          <a:p>
            <a:pPr algn="ctr"/>
            <a:r>
              <a:rPr sz="850" b="0" i="0">
                <a:solidFill>
                  <a:srgbClr val="2C3E50"/>
                </a:solidFill>
                <a:latin typeface="Arial"/>
              </a:rPr>
              <a:t>Vendor mgmt</a:t>
            </a:r>
          </a:p>
          <a:p>
            <a:r>
              <a:t>(centralized)</a:t>
            </a:r>
          </a:p>
        </p:txBody>
      </p:sp>
      <p:sp>
        <p:nvSpPr>
          <p:cNvPr id="58" name="Rounded Rectangle 57"/>
          <p:cNvSpPr/>
          <p:nvPr/>
        </p:nvSpPr>
        <p:spPr>
          <a:xfrm>
            <a:off x="7580741" y="3273552"/>
            <a:ext cx="1684873" cy="1115568"/>
          </a:xfrm>
          <a:prstGeom prst="roundRect">
            <a:avLst>
              <a:gd name="adj" fmla="val 5000"/>
            </a:avLst>
          </a:prstGeom>
          <a:solidFill>
            <a:srgbClr val="FFFFFF"/>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580741" y="3273552"/>
            <a:ext cx="1684873" cy="292608"/>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580741" y="3273552"/>
            <a:ext cx="1684873" cy="292608"/>
          </a:xfrm>
          <a:prstGeom prst="rect">
            <a:avLst/>
          </a:prstGeom>
          <a:noFill/>
        </p:spPr>
        <p:txBody>
          <a:bodyPr wrap="square" lIns="45720" rIns="45720" tIns="18288" bIns="18288" anchor="ctr">
            <a:spAutoFit/>
          </a:bodyPr>
          <a:lstStyle/>
          <a:p>
            <a:pPr algn="ctr"/>
            <a:r>
              <a:rPr sz="900" b="1" i="0">
                <a:solidFill>
                  <a:srgbClr val="FFFFFF"/>
                </a:solidFill>
                <a:latin typeface="Arial"/>
              </a:rPr>
              <a:t>FACILITATION</a:t>
            </a:r>
          </a:p>
        </p:txBody>
      </p:sp>
      <p:sp>
        <p:nvSpPr>
          <p:cNvPr id="61" name="TextBox 60"/>
          <p:cNvSpPr txBox="1"/>
          <p:nvPr/>
        </p:nvSpPr>
        <p:spPr>
          <a:xfrm>
            <a:off x="7626461" y="3611880"/>
            <a:ext cx="1593433" cy="731520"/>
          </a:xfrm>
          <a:prstGeom prst="rect">
            <a:avLst/>
          </a:prstGeom>
          <a:noFill/>
        </p:spPr>
        <p:txBody>
          <a:bodyPr wrap="square" lIns="45720" rIns="45720" tIns="18288" bIns="18288" anchor="ctr">
            <a:spAutoFit/>
          </a:bodyPr>
          <a:lstStyle/>
          <a:p>
            <a:pPr algn="ctr"/>
            <a:r>
              <a:rPr sz="850" b="0" i="0">
                <a:solidFill>
                  <a:srgbClr val="2C3E50"/>
                </a:solidFill>
                <a:latin typeface="Arial"/>
              </a:rPr>
              <a:t>Process · Coaches</a:t>
            </a:r>
          </a:p>
          <a:p>
            <a:r>
              <a:t>Knowledge · PJM pool</a:t>
            </a:r>
          </a:p>
        </p:txBody>
      </p:sp>
      <p:sp>
        <p:nvSpPr>
          <p:cNvPr id="62" name="TextBox 61"/>
          <p:cNvSpPr txBox="1"/>
          <p:nvPr/>
        </p:nvSpPr>
        <p:spPr>
          <a:xfrm>
            <a:off x="548640" y="4480560"/>
            <a:ext cx="8716975" cy="228600"/>
          </a:xfrm>
          <a:prstGeom prst="rect">
            <a:avLst/>
          </a:prstGeom>
          <a:noFill/>
        </p:spPr>
        <p:txBody>
          <a:bodyPr wrap="square" lIns="45720" rIns="45720" tIns="18288" bIns="18288" anchor="t">
            <a:spAutoFit/>
          </a:bodyPr>
          <a:lstStyle/>
          <a:p>
            <a:pPr algn="l"/>
            <a:r>
              <a:rPr sz="900" b="1" i="0">
                <a:solidFill>
                  <a:srgbClr val="0F1C50"/>
                </a:solidFill>
                <a:latin typeface="Arial"/>
              </a:rPr>
              <a:t>▸ FIVE FORUMS  ·  signals  ·  no decision rights</a:t>
            </a:r>
          </a:p>
        </p:txBody>
      </p:sp>
      <p:sp>
        <p:nvSpPr>
          <p:cNvPr id="63" name="Rounded Rectangle 62"/>
          <p:cNvSpPr/>
          <p:nvPr/>
        </p:nvSpPr>
        <p:spPr>
          <a:xfrm>
            <a:off x="548640" y="4709160"/>
            <a:ext cx="1684873" cy="640080"/>
          </a:xfrm>
          <a:prstGeom prst="roundRect">
            <a:avLst>
              <a:gd name="adj" fmla="val 30000"/>
            </a:avLst>
          </a:prstGeom>
          <a:solidFill>
            <a:srgbClr val="FDECD7"/>
          </a:solidFill>
          <a:ln w="127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48640" y="4709160"/>
            <a:ext cx="1684873" cy="640080"/>
          </a:xfrm>
          <a:prstGeom prst="rect">
            <a:avLst/>
          </a:prstGeom>
          <a:noFill/>
        </p:spPr>
        <p:txBody>
          <a:bodyPr wrap="square" lIns="45720" rIns="45720" tIns="18288" bIns="18288" anchor="ctr">
            <a:spAutoFit/>
          </a:bodyPr>
          <a:lstStyle/>
          <a:p>
            <a:pPr algn="ctr"/>
            <a:r>
              <a:rPr sz="1000" b="1" i="0">
                <a:solidFill>
                  <a:srgbClr val="E88B2F"/>
                </a:solidFill>
                <a:latin typeface="Arial"/>
              </a:rPr>
              <a:t>Regional</a:t>
            </a:r>
          </a:p>
        </p:txBody>
      </p:sp>
      <p:sp>
        <p:nvSpPr>
          <p:cNvPr id="65" name="Rounded Rectangle 64"/>
          <p:cNvSpPr/>
          <p:nvPr/>
        </p:nvSpPr>
        <p:spPr>
          <a:xfrm>
            <a:off x="2306665" y="4709160"/>
            <a:ext cx="1684873" cy="640080"/>
          </a:xfrm>
          <a:prstGeom prst="roundRect">
            <a:avLst>
              <a:gd name="adj" fmla="val 30000"/>
            </a:avLst>
          </a:prstGeom>
          <a:solidFill>
            <a:srgbClr val="FDECD7"/>
          </a:solidFill>
          <a:ln w="127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306665" y="4709160"/>
            <a:ext cx="1684873" cy="640080"/>
          </a:xfrm>
          <a:prstGeom prst="rect">
            <a:avLst/>
          </a:prstGeom>
          <a:noFill/>
        </p:spPr>
        <p:txBody>
          <a:bodyPr wrap="square" lIns="45720" rIns="45720" tIns="18288" bIns="18288" anchor="ctr">
            <a:spAutoFit/>
          </a:bodyPr>
          <a:lstStyle/>
          <a:p>
            <a:pPr algn="ctr"/>
            <a:r>
              <a:rPr sz="1000" b="1" i="0">
                <a:solidFill>
                  <a:srgbClr val="E88B2F"/>
                </a:solidFill>
                <a:latin typeface="Arial"/>
              </a:rPr>
              <a:t>Functional</a:t>
            </a:r>
          </a:p>
        </p:txBody>
      </p:sp>
      <p:sp>
        <p:nvSpPr>
          <p:cNvPr id="67" name="Rounded Rectangle 66"/>
          <p:cNvSpPr/>
          <p:nvPr/>
        </p:nvSpPr>
        <p:spPr>
          <a:xfrm>
            <a:off x="4064690" y="4709160"/>
            <a:ext cx="1684873" cy="640080"/>
          </a:xfrm>
          <a:prstGeom prst="roundRect">
            <a:avLst>
              <a:gd name="adj" fmla="val 30000"/>
            </a:avLst>
          </a:prstGeom>
          <a:solidFill>
            <a:srgbClr val="FDECD7"/>
          </a:solidFill>
          <a:ln w="127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064690" y="4709160"/>
            <a:ext cx="1684873" cy="640080"/>
          </a:xfrm>
          <a:prstGeom prst="rect">
            <a:avLst/>
          </a:prstGeom>
          <a:noFill/>
        </p:spPr>
        <p:txBody>
          <a:bodyPr wrap="square" lIns="45720" rIns="45720" tIns="18288" bIns="18288" anchor="ctr">
            <a:spAutoFit/>
          </a:bodyPr>
          <a:lstStyle/>
          <a:p>
            <a:pPr algn="ctr"/>
            <a:r>
              <a:rPr sz="1000" b="1" i="0">
                <a:solidFill>
                  <a:srgbClr val="E88B2F"/>
                </a:solidFill>
                <a:latin typeface="Arial"/>
              </a:rPr>
              <a:t>Technological</a:t>
            </a:r>
          </a:p>
        </p:txBody>
      </p:sp>
      <p:sp>
        <p:nvSpPr>
          <p:cNvPr id="69" name="Rounded Rectangle 68"/>
          <p:cNvSpPr/>
          <p:nvPr/>
        </p:nvSpPr>
        <p:spPr>
          <a:xfrm>
            <a:off x="5822716" y="4709160"/>
            <a:ext cx="1684873" cy="640080"/>
          </a:xfrm>
          <a:prstGeom prst="roundRect">
            <a:avLst>
              <a:gd name="adj" fmla="val 30000"/>
            </a:avLst>
          </a:prstGeom>
          <a:solidFill>
            <a:srgbClr val="FDECD7"/>
          </a:solidFill>
          <a:ln w="127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822716" y="4709160"/>
            <a:ext cx="1684873" cy="640080"/>
          </a:xfrm>
          <a:prstGeom prst="rect">
            <a:avLst/>
          </a:prstGeom>
          <a:noFill/>
        </p:spPr>
        <p:txBody>
          <a:bodyPr wrap="square" lIns="45720" rIns="45720" tIns="18288" bIns="18288" anchor="ctr">
            <a:spAutoFit/>
          </a:bodyPr>
          <a:lstStyle/>
          <a:p>
            <a:pPr algn="ctr"/>
            <a:r>
              <a:rPr sz="1000" b="1" i="0">
                <a:solidFill>
                  <a:srgbClr val="E88B2F"/>
                </a:solidFill>
                <a:latin typeface="Arial"/>
              </a:rPr>
              <a:t>Customer Journey</a:t>
            </a:r>
          </a:p>
        </p:txBody>
      </p:sp>
      <p:sp>
        <p:nvSpPr>
          <p:cNvPr id="71" name="Rounded Rectangle 70"/>
          <p:cNvSpPr/>
          <p:nvPr/>
        </p:nvSpPr>
        <p:spPr>
          <a:xfrm>
            <a:off x="7580741" y="4709160"/>
            <a:ext cx="1684873" cy="640080"/>
          </a:xfrm>
          <a:prstGeom prst="roundRect">
            <a:avLst>
              <a:gd name="adj" fmla="val 30000"/>
            </a:avLst>
          </a:prstGeom>
          <a:solidFill>
            <a:srgbClr val="FDECD7"/>
          </a:solidFill>
          <a:ln w="127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580741" y="4709160"/>
            <a:ext cx="1684873" cy="640080"/>
          </a:xfrm>
          <a:prstGeom prst="rect">
            <a:avLst/>
          </a:prstGeom>
          <a:noFill/>
        </p:spPr>
        <p:txBody>
          <a:bodyPr wrap="square" lIns="45720" rIns="45720" tIns="18288" bIns="18288" anchor="ctr">
            <a:spAutoFit/>
          </a:bodyPr>
          <a:lstStyle/>
          <a:p>
            <a:pPr algn="ctr"/>
            <a:r>
              <a:rPr sz="1000" b="1" i="0">
                <a:solidFill>
                  <a:srgbClr val="E88B2F"/>
                </a:solidFill>
                <a:latin typeface="Arial"/>
              </a:rPr>
              <a:t>Product (BRP)</a:t>
            </a:r>
          </a:p>
        </p:txBody>
      </p:sp>
      <p:sp>
        <p:nvSpPr>
          <p:cNvPr id="73" name="Rounded Rectangle 72"/>
          <p:cNvSpPr/>
          <p:nvPr/>
        </p:nvSpPr>
        <p:spPr>
          <a:xfrm>
            <a:off x="9585655" y="1005840"/>
            <a:ext cx="2240280" cy="2377440"/>
          </a:xfrm>
          <a:prstGeom prst="roundRect">
            <a:avLst>
              <a:gd name="adj" fmla="val 5000"/>
            </a:avLst>
          </a:prstGeom>
          <a:solidFill>
            <a:srgbClr val="FFFFFF"/>
          </a:solidFill>
          <a:ln w="2540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9585655" y="1005840"/>
            <a:ext cx="2240280" cy="365760"/>
          </a:xfrm>
          <a:prstGeom prst="rect">
            <a:avLst/>
          </a:prstGeom>
          <a:solidFill>
            <a:srgbClr val="6E7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585655" y="1042416"/>
            <a:ext cx="2240280" cy="320040"/>
          </a:xfrm>
          <a:prstGeom prst="rect">
            <a:avLst/>
          </a:prstGeom>
          <a:noFill/>
        </p:spPr>
        <p:txBody>
          <a:bodyPr wrap="square" lIns="45720" rIns="45720" tIns="18288" bIns="18288" anchor="ctr">
            <a:spAutoFit/>
          </a:bodyPr>
          <a:lstStyle/>
          <a:p>
            <a:pPr algn="ctr"/>
            <a:r>
              <a:rPr sz="1000" b="1" i="0">
                <a:solidFill>
                  <a:srgbClr val="FFFFFF"/>
                </a:solidFill>
                <a:latin typeface="Arial"/>
              </a:rPr>
              <a:t>LOOSELY ALIGNED SIBLINGS</a:t>
            </a:r>
          </a:p>
        </p:txBody>
      </p:sp>
      <p:sp>
        <p:nvSpPr>
          <p:cNvPr id="76" name="TextBox 75"/>
          <p:cNvSpPr txBox="1"/>
          <p:nvPr/>
        </p:nvSpPr>
        <p:spPr>
          <a:xfrm>
            <a:off x="9722815" y="1463040"/>
            <a:ext cx="1965960" cy="365760"/>
          </a:xfrm>
          <a:prstGeom prst="rect">
            <a:avLst/>
          </a:prstGeom>
          <a:noFill/>
        </p:spPr>
        <p:txBody>
          <a:bodyPr wrap="square" lIns="45720" rIns="45720" tIns="18288" bIns="18288" anchor="t">
            <a:spAutoFit/>
          </a:bodyPr>
          <a:lstStyle/>
          <a:p>
            <a:pPr algn="l"/>
            <a:r>
              <a:rPr sz="1000" b="1" i="0">
                <a:solidFill>
                  <a:srgbClr val="0F1C50"/>
                </a:solidFill>
                <a:latin typeface="Arial"/>
              </a:rPr>
              <a:t>DIGITAL COE</a:t>
            </a:r>
          </a:p>
        </p:txBody>
      </p:sp>
      <p:sp>
        <p:nvSpPr>
          <p:cNvPr id="77" name="TextBox 76"/>
          <p:cNvSpPr txBox="1"/>
          <p:nvPr/>
        </p:nvSpPr>
        <p:spPr>
          <a:xfrm>
            <a:off x="9722815" y="1719072"/>
            <a:ext cx="1965960" cy="548640"/>
          </a:xfrm>
          <a:prstGeom prst="rect">
            <a:avLst/>
          </a:prstGeom>
          <a:noFill/>
        </p:spPr>
        <p:txBody>
          <a:bodyPr wrap="square" lIns="45720" rIns="45720" tIns="18288" bIns="18288" anchor="t">
            <a:spAutoFit/>
          </a:bodyPr>
          <a:lstStyle/>
          <a:p>
            <a:pPr algn="l"/>
            <a:r>
              <a:rPr sz="850" b="0" i="1">
                <a:solidFill>
                  <a:srgbClr val="2C3E50"/>
                </a:solidFill>
                <a:latin typeface="Arial"/>
              </a:rPr>
              <a:t>CX customer-facing · OPCO-aligned · 5 product teams</a:t>
            </a:r>
          </a:p>
        </p:txBody>
      </p:sp>
      <p:sp>
        <p:nvSpPr>
          <p:cNvPr id="78" name="TextBox 77"/>
          <p:cNvSpPr txBox="1"/>
          <p:nvPr/>
        </p:nvSpPr>
        <p:spPr>
          <a:xfrm>
            <a:off x="9722815" y="2286000"/>
            <a:ext cx="1965960" cy="365760"/>
          </a:xfrm>
          <a:prstGeom prst="rect">
            <a:avLst/>
          </a:prstGeom>
          <a:noFill/>
        </p:spPr>
        <p:txBody>
          <a:bodyPr wrap="square" lIns="45720" rIns="45720" tIns="18288" bIns="18288" anchor="t">
            <a:spAutoFit/>
          </a:bodyPr>
          <a:lstStyle/>
          <a:p>
            <a:pPr algn="l"/>
            <a:r>
              <a:rPr sz="1000" b="1" i="0">
                <a:solidFill>
                  <a:srgbClr val="0F1C50"/>
                </a:solidFill>
                <a:latin typeface="Arial"/>
              </a:rPr>
              <a:t>P&amp;S / P&amp;T  (NETWORKS IT)</a:t>
            </a:r>
          </a:p>
        </p:txBody>
      </p:sp>
      <p:sp>
        <p:nvSpPr>
          <p:cNvPr id="79" name="TextBox 78"/>
          <p:cNvSpPr txBox="1"/>
          <p:nvPr/>
        </p:nvSpPr>
        <p:spPr>
          <a:xfrm>
            <a:off x="9722815" y="2560320"/>
            <a:ext cx="1965960" cy="777240"/>
          </a:xfrm>
          <a:prstGeom prst="rect">
            <a:avLst/>
          </a:prstGeom>
          <a:noFill/>
        </p:spPr>
        <p:txBody>
          <a:bodyPr wrap="square" lIns="45720" rIns="45720" tIns="18288" bIns="18288" anchor="t">
            <a:spAutoFit/>
          </a:bodyPr>
          <a:lstStyle/>
          <a:p>
            <a:pPr algn="l"/>
            <a:r>
              <a:rPr sz="850" b="0" i="1">
                <a:solidFill>
                  <a:srgbClr val="2C3E50"/>
                </a:solidFill>
                <a:latin typeface="Arial"/>
              </a:rPr>
              <a:t>Networks IT operating model · NOM v1.5 implementing · parallel cadence</a:t>
            </a:r>
          </a:p>
        </p:txBody>
      </p:sp>
      <p:sp>
        <p:nvSpPr>
          <p:cNvPr id="80" name="Rounded Rectangle 79"/>
          <p:cNvSpPr/>
          <p:nvPr/>
        </p:nvSpPr>
        <p:spPr>
          <a:xfrm>
            <a:off x="9585655" y="3566160"/>
            <a:ext cx="2240280" cy="2651760"/>
          </a:xfrm>
          <a:prstGeom prst="roundRect">
            <a:avLst>
              <a:gd name="adj" fmla="val 5000"/>
            </a:avLst>
          </a:prstGeom>
          <a:solidFill>
            <a:srgbClr val="FFFFFF"/>
          </a:solidFill>
          <a:ln w="2540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9585655" y="3566160"/>
            <a:ext cx="2240280" cy="36576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585655" y="3602736"/>
            <a:ext cx="2240280" cy="320040"/>
          </a:xfrm>
          <a:prstGeom prst="rect">
            <a:avLst/>
          </a:prstGeom>
          <a:noFill/>
        </p:spPr>
        <p:txBody>
          <a:bodyPr wrap="square" lIns="45720" rIns="45720" tIns="18288" bIns="18288" anchor="ctr">
            <a:spAutoFit/>
          </a:bodyPr>
          <a:lstStyle/>
          <a:p>
            <a:pPr algn="ctr"/>
            <a:r>
              <a:rPr sz="1000" b="1" i="0">
                <a:solidFill>
                  <a:srgbClr val="FFFFFF"/>
                </a:solidFill>
                <a:latin typeface="Arial"/>
              </a:rPr>
              <a:t>SEGREGATED BASE</a:t>
            </a:r>
          </a:p>
        </p:txBody>
      </p:sp>
      <p:sp>
        <p:nvSpPr>
          <p:cNvPr id="83" name="TextBox 82"/>
          <p:cNvSpPr txBox="1"/>
          <p:nvPr/>
        </p:nvSpPr>
        <p:spPr>
          <a:xfrm>
            <a:off x="9722815" y="4023360"/>
            <a:ext cx="1965960" cy="320040"/>
          </a:xfrm>
          <a:prstGeom prst="rect">
            <a:avLst/>
          </a:prstGeom>
          <a:noFill/>
        </p:spPr>
        <p:txBody>
          <a:bodyPr wrap="square" lIns="45720" rIns="45720" tIns="18288" bIns="18288" anchor="t">
            <a:spAutoFit/>
          </a:bodyPr>
          <a:lstStyle/>
          <a:p>
            <a:pPr algn="l"/>
            <a:r>
              <a:rPr sz="1000" b="1" i="0">
                <a:solidFill>
                  <a:srgbClr val="0F1C50"/>
                </a:solidFill>
                <a:latin typeface="Arial"/>
              </a:rPr>
              <a:t>SW DELIVERY  ·  vendors</a:t>
            </a:r>
          </a:p>
        </p:txBody>
      </p:sp>
      <p:sp>
        <p:nvSpPr>
          <p:cNvPr id="84" name="TextBox 83"/>
          <p:cNvSpPr txBox="1"/>
          <p:nvPr/>
        </p:nvSpPr>
        <p:spPr>
          <a:xfrm>
            <a:off x="9722815" y="4343400"/>
            <a:ext cx="1965960" cy="1783080"/>
          </a:xfrm>
          <a:prstGeom prst="rect">
            <a:avLst/>
          </a:prstGeom>
          <a:noFill/>
        </p:spPr>
        <p:txBody>
          <a:bodyPr wrap="square" lIns="45720" rIns="45720" tIns="36576" bIns="36576">
            <a:spAutoFit/>
          </a:bodyPr>
          <a:lstStyle/>
          <a:p>
            <a:pPr>
              <a:lnSpc>
                <a:spcPct val="130000"/>
              </a:lnSpc>
            </a:pPr>
            <a:r>
              <a:rPr sz="900" b="0">
                <a:solidFill>
                  <a:srgbClr val="2C3E50"/>
                </a:solidFill>
                <a:latin typeface="Arial"/>
              </a:rPr>
              <a:t>•  Accenture</a:t>
            </a:r>
          </a:p>
          <a:p>
            <a:pPr>
              <a:lnSpc>
                <a:spcPct val="130000"/>
              </a:lnSpc>
            </a:pPr>
            <a:r>
              <a:rPr sz="900" b="0">
                <a:solidFill>
                  <a:srgbClr val="2C3E50"/>
                </a:solidFill>
                <a:latin typeface="Arial"/>
              </a:rPr>
              <a:t>•  SWF</a:t>
            </a:r>
          </a:p>
          <a:p>
            <a:pPr>
              <a:lnSpc>
                <a:spcPct val="130000"/>
              </a:lnSpc>
            </a:pPr>
            <a:r>
              <a:rPr sz="900" b="0">
                <a:solidFill>
                  <a:srgbClr val="2C3E50"/>
                </a:solidFill>
                <a:latin typeface="Arial"/>
              </a:rPr>
              <a:t>•  HCL</a:t>
            </a:r>
          </a:p>
          <a:p>
            <a:pPr>
              <a:lnSpc>
                <a:spcPct val="130000"/>
              </a:lnSpc>
            </a:pPr>
            <a:r>
              <a:rPr sz="900" b="0">
                <a:solidFill>
                  <a:srgbClr val="2C3E50"/>
                </a:solidFill>
                <a:latin typeface="Arial"/>
              </a:rPr>
              <a:t>•  Infosys</a:t>
            </a:r>
          </a:p>
          <a:p>
            <a:pPr>
              <a:lnSpc>
                <a:spcPct val="130000"/>
              </a:lnSpc>
            </a:pPr>
            <a:r>
              <a:rPr sz="900" b="0">
                <a:solidFill>
                  <a:srgbClr val="2C3E50"/>
                </a:solidFill>
                <a:latin typeface="Arial"/>
              </a:rPr>
              <a:t>•  Smart Metering vendor</a:t>
            </a:r>
          </a:p>
          <a:p>
            <a:pPr>
              <a:lnSpc>
                <a:spcPct val="130000"/>
              </a:lnSpc>
            </a:pPr>
            <a:r>
              <a:rPr sz="900" b="0">
                <a:solidFill>
                  <a:srgbClr val="2C3E50"/>
                </a:solidFill>
                <a:latin typeface="Arial"/>
              </a:rPr>
              <a:t>•  SAP partners</a:t>
            </a:r>
          </a:p>
          <a:p>
            <a:pPr>
              <a:lnSpc>
                <a:spcPct val="130000"/>
              </a:lnSpc>
            </a:pPr>
            <a:r>
              <a:rPr sz="900" b="0">
                <a:solidFill>
                  <a:srgbClr val="2C3E50"/>
                </a:solidFill>
                <a:latin typeface="Arial"/>
              </a:rPr>
              <a:t>•  Itron · Esri · GE / Siemens</a:t>
            </a:r>
          </a:p>
        </p:txBody>
      </p:sp>
      <p:sp>
        <p:nvSpPr>
          <p:cNvPr id="85" name="TextBox 84"/>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SUPPORTING CREWS</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FIVE CREWS ENABLE THE EIGHT VALUE STREAMS WITHOUT SLOWING THEM DOWN</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TextBox 5"/>
          <p:cNvSpPr txBox="1"/>
          <p:nvPr/>
        </p:nvSpPr>
        <p:spPr>
          <a:xfrm>
            <a:off x="457200" y="960120"/>
            <a:ext cx="11277295" cy="365760"/>
          </a:xfrm>
          <a:prstGeom prst="rect">
            <a:avLst/>
          </a:prstGeom>
          <a:noFill/>
        </p:spPr>
        <p:txBody>
          <a:bodyPr wrap="square" lIns="45720" rIns="45720" tIns="18288" bIns="18288" anchor="t">
            <a:spAutoFit/>
          </a:bodyPr>
          <a:lstStyle/>
          <a:p>
            <a:pPr algn="l"/>
            <a:r>
              <a:rPr sz="1100" b="1" i="1">
                <a:solidFill>
                  <a:srgbClr val="2C578B"/>
                </a:solidFill>
                <a:latin typeface="Arial"/>
              </a:rPr>
              <a:t>Each Value Stream Crew owns its product end to end. Five supporting Crews provide the shared capabilities every Value Stream needs — without recreating the same work eight times.</a:t>
            </a:r>
          </a:p>
        </p:txBody>
      </p:sp>
      <p:sp>
        <p:nvSpPr>
          <p:cNvPr id="7" name="Rounded Rectangle 6"/>
          <p:cNvSpPr/>
          <p:nvPr/>
        </p:nvSpPr>
        <p:spPr>
          <a:xfrm>
            <a:off x="457200" y="1463040"/>
            <a:ext cx="2167676" cy="4846320"/>
          </a:xfrm>
          <a:prstGeom prst="roundRect">
            <a:avLst>
              <a:gd name="adj" fmla="val 5000"/>
            </a:avLst>
          </a:prstGeom>
          <a:solidFill>
            <a:srgbClr val="FFFFFF"/>
          </a:solidFill>
          <a:ln w="2540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63040"/>
            <a:ext cx="2167676" cy="45720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08760"/>
            <a:ext cx="2167676" cy="365760"/>
          </a:xfrm>
          <a:prstGeom prst="rect">
            <a:avLst/>
          </a:prstGeom>
          <a:noFill/>
        </p:spPr>
        <p:txBody>
          <a:bodyPr wrap="square" lIns="45720" rIns="45720" tIns="18288" bIns="18288" anchor="ctr">
            <a:spAutoFit/>
          </a:bodyPr>
          <a:lstStyle/>
          <a:p>
            <a:pPr algn="ctr"/>
            <a:r>
              <a:rPr sz="1200" b="1" i="0">
                <a:solidFill>
                  <a:srgbClr val="FFFFFF"/>
                </a:solidFill>
                <a:latin typeface="Arial"/>
              </a:rPr>
              <a:t>CAPABILITY</a:t>
            </a:r>
          </a:p>
        </p:txBody>
      </p:sp>
      <p:sp>
        <p:nvSpPr>
          <p:cNvPr id="10" name="TextBox 9"/>
          <p:cNvSpPr txBox="1"/>
          <p:nvPr/>
        </p:nvSpPr>
        <p:spPr>
          <a:xfrm>
            <a:off x="594360" y="2011680"/>
            <a:ext cx="1893356" cy="548640"/>
          </a:xfrm>
          <a:prstGeom prst="rect">
            <a:avLst/>
          </a:prstGeom>
          <a:noFill/>
        </p:spPr>
        <p:txBody>
          <a:bodyPr wrap="square" lIns="45720" rIns="45720" tIns="18288" bIns="18288" anchor="t">
            <a:spAutoFit/>
          </a:bodyPr>
          <a:lstStyle/>
          <a:p>
            <a:pPr algn="l"/>
            <a:r>
              <a:rPr sz="1000" b="1" i="1">
                <a:solidFill>
                  <a:srgbClr val="7A66B8"/>
                </a:solidFill>
                <a:latin typeface="Arial"/>
              </a:rPr>
              <a:t>Architecture &amp; technical standards</a:t>
            </a:r>
          </a:p>
        </p:txBody>
      </p:sp>
      <p:sp>
        <p:nvSpPr>
          <p:cNvPr id="11" name="TextBox 10"/>
          <p:cNvSpPr txBox="1"/>
          <p:nvPr/>
        </p:nvSpPr>
        <p:spPr>
          <a:xfrm>
            <a:off x="640080" y="2606040"/>
            <a:ext cx="1801916" cy="3566160"/>
          </a:xfrm>
          <a:prstGeom prst="rect">
            <a:avLst/>
          </a:prstGeom>
          <a:noFill/>
        </p:spPr>
        <p:txBody>
          <a:bodyPr wrap="square" lIns="45720" rIns="45720" tIns="36576" bIns="36576">
            <a:spAutoFit/>
          </a:bodyPr>
          <a:lstStyle/>
          <a:p>
            <a:pPr>
              <a:lnSpc>
                <a:spcPct val="130000"/>
              </a:lnSpc>
            </a:pPr>
            <a:r>
              <a:rPr sz="900" b="0">
                <a:solidFill>
                  <a:srgbClr val="2C3E50"/>
                </a:solidFill>
                <a:latin typeface="Arial"/>
              </a:rPr>
              <a:t>•  Architecture Council — rotating membership across Tech Leads</a:t>
            </a:r>
          </a:p>
          <a:p>
            <a:pPr>
              <a:lnSpc>
                <a:spcPct val="130000"/>
              </a:lnSpc>
            </a:pPr>
            <a:r>
              <a:rPr sz="900" b="0">
                <a:solidFill>
                  <a:srgbClr val="2C3E50"/>
                </a:solidFill>
                <a:latin typeface="Arial"/>
              </a:rPr>
              <a:t>•  Solution Architect (SAP) and Integration Architect roles owned here</a:t>
            </a:r>
          </a:p>
          <a:p>
            <a:pPr>
              <a:lnSpc>
                <a:spcPct val="130000"/>
              </a:lnSpc>
            </a:pPr>
            <a:r>
              <a:rPr sz="900" b="0">
                <a:solidFill>
                  <a:srgbClr val="2C3E50"/>
                </a:solidFill>
                <a:latin typeface="Arial"/>
              </a:rPr>
              <a:t>•  Time-boxed feasibility reviews at the intake gate (≤ 2 h)</a:t>
            </a:r>
          </a:p>
          <a:p>
            <a:pPr>
              <a:lnSpc>
                <a:spcPct val="130000"/>
              </a:lnSpc>
            </a:pPr>
            <a:r>
              <a:rPr sz="900" b="0">
                <a:solidFill>
                  <a:srgbClr val="2C3E50"/>
                </a:solidFill>
                <a:latin typeface="Arial"/>
              </a:rPr>
              <a:t>•  Sets non-functional standards · reuse patterns · technical roadmaps</a:t>
            </a:r>
          </a:p>
          <a:p>
            <a:pPr>
              <a:lnSpc>
                <a:spcPct val="130000"/>
              </a:lnSpc>
            </a:pPr>
            <a:r>
              <a:rPr sz="900" b="0">
                <a:solidFill>
                  <a:srgbClr val="2C3E50"/>
                </a:solidFill>
                <a:latin typeface="Arial"/>
              </a:rPr>
              <a:t>•  Output: Feasible · Conditional · Not feasible — advisory, no veto</a:t>
            </a:r>
          </a:p>
        </p:txBody>
      </p:sp>
      <p:sp>
        <p:nvSpPr>
          <p:cNvPr id="12" name="Rounded Rectangle 11"/>
          <p:cNvSpPr/>
          <p:nvPr/>
        </p:nvSpPr>
        <p:spPr>
          <a:xfrm>
            <a:off x="2734604" y="1463040"/>
            <a:ext cx="2167676" cy="4846320"/>
          </a:xfrm>
          <a:prstGeom prst="roundRect">
            <a:avLst>
              <a:gd name="adj" fmla="val 5000"/>
            </a:avLst>
          </a:prstGeom>
          <a:solidFill>
            <a:srgbClr val="FFFFFF"/>
          </a:solidFill>
          <a:ln w="2540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34604" y="1463040"/>
            <a:ext cx="2167676" cy="45720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34604" y="1508760"/>
            <a:ext cx="2167676" cy="365760"/>
          </a:xfrm>
          <a:prstGeom prst="rect">
            <a:avLst/>
          </a:prstGeom>
          <a:noFill/>
        </p:spPr>
        <p:txBody>
          <a:bodyPr wrap="square" lIns="45720" rIns="45720" tIns="18288" bIns="18288" anchor="ctr">
            <a:spAutoFit/>
          </a:bodyPr>
          <a:lstStyle/>
          <a:p>
            <a:pPr algn="ctr"/>
            <a:r>
              <a:rPr sz="1200" b="1" i="0">
                <a:solidFill>
                  <a:srgbClr val="FFFFFF"/>
                </a:solidFill>
                <a:latin typeface="Arial"/>
              </a:rPr>
              <a:t>EXPERIENCE</a:t>
            </a:r>
          </a:p>
        </p:txBody>
      </p:sp>
      <p:sp>
        <p:nvSpPr>
          <p:cNvPr id="15" name="TextBox 14"/>
          <p:cNvSpPr txBox="1"/>
          <p:nvPr/>
        </p:nvSpPr>
        <p:spPr>
          <a:xfrm>
            <a:off x="2871764" y="2011680"/>
            <a:ext cx="1893356" cy="548640"/>
          </a:xfrm>
          <a:prstGeom prst="rect">
            <a:avLst/>
          </a:prstGeom>
          <a:noFill/>
        </p:spPr>
        <p:txBody>
          <a:bodyPr wrap="square" lIns="45720" rIns="45720" tIns="18288" bIns="18288" anchor="t">
            <a:spAutoFit/>
          </a:bodyPr>
          <a:lstStyle/>
          <a:p>
            <a:pPr algn="l"/>
            <a:r>
              <a:rPr sz="1000" b="1" i="1">
                <a:solidFill>
                  <a:srgbClr val="7A66B8"/>
                </a:solidFill>
                <a:latin typeface="Arial"/>
              </a:rPr>
              <a:t>User experience and customer journey</a:t>
            </a:r>
          </a:p>
        </p:txBody>
      </p:sp>
      <p:sp>
        <p:nvSpPr>
          <p:cNvPr id="16" name="TextBox 15"/>
          <p:cNvSpPr txBox="1"/>
          <p:nvPr/>
        </p:nvSpPr>
        <p:spPr>
          <a:xfrm>
            <a:off x="2917484" y="2606040"/>
            <a:ext cx="1801916" cy="3566160"/>
          </a:xfrm>
          <a:prstGeom prst="rect">
            <a:avLst/>
          </a:prstGeom>
          <a:noFill/>
        </p:spPr>
        <p:txBody>
          <a:bodyPr wrap="square" lIns="45720" rIns="45720" tIns="36576" bIns="36576">
            <a:spAutoFit/>
          </a:bodyPr>
          <a:lstStyle/>
          <a:p>
            <a:pPr>
              <a:lnSpc>
                <a:spcPct val="130000"/>
              </a:lnSpc>
            </a:pPr>
            <a:r>
              <a:rPr sz="900" b="0">
                <a:solidFill>
                  <a:srgbClr val="2C3E50"/>
                </a:solidFill>
                <a:latin typeface="Arial"/>
              </a:rPr>
              <a:t>•  UX research and design embedded across Value Streams</a:t>
            </a:r>
          </a:p>
          <a:p>
            <a:pPr>
              <a:lnSpc>
                <a:spcPct val="130000"/>
              </a:lnSpc>
            </a:pPr>
            <a:r>
              <a:rPr sz="900" b="0">
                <a:solidFill>
                  <a:srgbClr val="2C3E50"/>
                </a:solidFill>
                <a:latin typeface="Arial"/>
              </a:rPr>
              <a:t>•  Owns end-to-end Customer Journey artifacts (M2C · CCC · Field)</a:t>
            </a:r>
          </a:p>
          <a:p>
            <a:pPr>
              <a:lnSpc>
                <a:spcPct val="130000"/>
              </a:lnSpc>
            </a:pPr>
            <a:r>
              <a:rPr sz="900" b="0">
                <a:solidFill>
                  <a:srgbClr val="2C3E50"/>
                </a:solidFill>
                <a:latin typeface="Arial"/>
              </a:rPr>
              <a:t>•  Aligns digital channels and self-service experiences</a:t>
            </a:r>
          </a:p>
          <a:p>
            <a:pPr>
              <a:lnSpc>
                <a:spcPct val="130000"/>
              </a:lnSpc>
            </a:pPr>
            <a:r>
              <a:rPr sz="900" b="0">
                <a:solidFill>
                  <a:srgbClr val="2C3E50"/>
                </a:solidFill>
                <a:latin typeface="Arial"/>
              </a:rPr>
              <a:t>•  Partners with Heather LaJoie (Customer Operations) for outcome KPIs</a:t>
            </a:r>
          </a:p>
        </p:txBody>
      </p:sp>
      <p:sp>
        <p:nvSpPr>
          <p:cNvPr id="17" name="Rounded Rectangle 16"/>
          <p:cNvSpPr/>
          <p:nvPr/>
        </p:nvSpPr>
        <p:spPr>
          <a:xfrm>
            <a:off x="5012009" y="1463040"/>
            <a:ext cx="2167676" cy="4846320"/>
          </a:xfrm>
          <a:prstGeom prst="roundRect">
            <a:avLst>
              <a:gd name="adj" fmla="val 5000"/>
            </a:avLst>
          </a:prstGeom>
          <a:solidFill>
            <a:srgbClr val="FFFFFF"/>
          </a:solidFill>
          <a:ln w="2540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12009" y="1463040"/>
            <a:ext cx="2167676" cy="45720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12009" y="1508760"/>
            <a:ext cx="2167676" cy="365760"/>
          </a:xfrm>
          <a:prstGeom prst="rect">
            <a:avLst/>
          </a:prstGeom>
          <a:noFill/>
        </p:spPr>
        <p:txBody>
          <a:bodyPr wrap="square" lIns="45720" rIns="45720" tIns="18288" bIns="18288" anchor="ctr">
            <a:spAutoFit/>
          </a:bodyPr>
          <a:lstStyle/>
          <a:p>
            <a:pPr algn="ctr"/>
            <a:r>
              <a:rPr sz="1200" b="1" i="0">
                <a:solidFill>
                  <a:srgbClr val="FFFFFF"/>
                </a:solidFill>
                <a:latin typeface="Arial"/>
              </a:rPr>
              <a:t>PLATFORM</a:t>
            </a:r>
          </a:p>
        </p:txBody>
      </p:sp>
      <p:sp>
        <p:nvSpPr>
          <p:cNvPr id="20" name="TextBox 19"/>
          <p:cNvSpPr txBox="1"/>
          <p:nvPr/>
        </p:nvSpPr>
        <p:spPr>
          <a:xfrm>
            <a:off x="5149169" y="2011680"/>
            <a:ext cx="1893356" cy="548640"/>
          </a:xfrm>
          <a:prstGeom prst="rect">
            <a:avLst/>
          </a:prstGeom>
          <a:noFill/>
        </p:spPr>
        <p:txBody>
          <a:bodyPr wrap="square" lIns="45720" rIns="45720" tIns="18288" bIns="18288" anchor="t">
            <a:spAutoFit/>
          </a:bodyPr>
          <a:lstStyle/>
          <a:p>
            <a:pPr algn="l"/>
            <a:r>
              <a:rPr sz="1000" b="1" i="1">
                <a:solidFill>
                  <a:srgbClr val="7A66B8"/>
                </a:solidFill>
                <a:latin typeface="Arial"/>
              </a:rPr>
              <a:t>Shared technical foundation</a:t>
            </a:r>
          </a:p>
        </p:txBody>
      </p:sp>
      <p:sp>
        <p:nvSpPr>
          <p:cNvPr id="21" name="TextBox 20"/>
          <p:cNvSpPr txBox="1"/>
          <p:nvPr/>
        </p:nvSpPr>
        <p:spPr>
          <a:xfrm>
            <a:off x="5194889" y="2606040"/>
            <a:ext cx="1801916" cy="3566160"/>
          </a:xfrm>
          <a:prstGeom prst="rect">
            <a:avLst/>
          </a:prstGeom>
          <a:noFill/>
        </p:spPr>
        <p:txBody>
          <a:bodyPr wrap="square" lIns="45720" rIns="45720" tIns="36576" bIns="36576">
            <a:spAutoFit/>
          </a:bodyPr>
          <a:lstStyle/>
          <a:p>
            <a:pPr>
              <a:lnSpc>
                <a:spcPct val="130000"/>
              </a:lnSpc>
            </a:pPr>
            <a:r>
              <a:rPr sz="900" b="0">
                <a:solidFill>
                  <a:srgbClr val="2C3E50"/>
                </a:solidFill>
                <a:latin typeface="Arial"/>
              </a:rPr>
              <a:t>•  DevOps · CI/CD pipelines · environment management</a:t>
            </a:r>
          </a:p>
          <a:p>
            <a:pPr>
              <a:lnSpc>
                <a:spcPct val="130000"/>
              </a:lnSpc>
            </a:pPr>
            <a:r>
              <a:rPr sz="900" b="0">
                <a:solidFill>
                  <a:srgbClr val="2C3E50"/>
                </a:solidFill>
                <a:latin typeface="Arial"/>
              </a:rPr>
              <a:t>•  App Security · TOSCA test automation · SAP Basis</a:t>
            </a:r>
          </a:p>
          <a:p>
            <a:pPr>
              <a:lnSpc>
                <a:spcPct val="130000"/>
              </a:lnSpc>
            </a:pPr>
            <a:r>
              <a:rPr sz="900" b="0">
                <a:solidFill>
                  <a:srgbClr val="2C3E50"/>
                </a:solidFill>
                <a:latin typeface="Arial"/>
              </a:rPr>
              <a:t>•  Data Ops — Data Governance Lead · MDM · BW / SAC analytics ownership</a:t>
            </a:r>
          </a:p>
          <a:p>
            <a:pPr>
              <a:lnSpc>
                <a:spcPct val="130000"/>
              </a:lnSpc>
            </a:pPr>
            <a:r>
              <a:rPr sz="900" b="0">
                <a:solidFill>
                  <a:srgbClr val="2C3E50"/>
                </a:solidFill>
                <a:latin typeface="Arial"/>
              </a:rPr>
              <a:t>•  Document Management (5 cross-stream apps from IT Networks Assessment)</a:t>
            </a:r>
          </a:p>
        </p:txBody>
      </p:sp>
      <p:sp>
        <p:nvSpPr>
          <p:cNvPr id="22" name="Rounded Rectangle 21"/>
          <p:cNvSpPr/>
          <p:nvPr/>
        </p:nvSpPr>
        <p:spPr>
          <a:xfrm>
            <a:off x="7289413" y="1463040"/>
            <a:ext cx="2167676" cy="4846320"/>
          </a:xfrm>
          <a:prstGeom prst="roundRect">
            <a:avLst>
              <a:gd name="adj" fmla="val 5000"/>
            </a:avLst>
          </a:prstGeom>
          <a:solidFill>
            <a:srgbClr val="FFFFFF"/>
          </a:solidFill>
          <a:ln w="2540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89413" y="1463040"/>
            <a:ext cx="2167676" cy="45720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89413" y="1508760"/>
            <a:ext cx="2167676" cy="365760"/>
          </a:xfrm>
          <a:prstGeom prst="rect">
            <a:avLst/>
          </a:prstGeom>
          <a:noFill/>
        </p:spPr>
        <p:txBody>
          <a:bodyPr wrap="square" lIns="45720" rIns="45720" tIns="18288" bIns="18288" anchor="ctr">
            <a:spAutoFit/>
          </a:bodyPr>
          <a:lstStyle/>
          <a:p>
            <a:pPr algn="ctr"/>
            <a:r>
              <a:rPr sz="1200" b="1" i="0">
                <a:solidFill>
                  <a:srgbClr val="FFFFFF"/>
                </a:solidFill>
                <a:latin typeface="Arial"/>
              </a:rPr>
              <a:t>PARTNERSHIP</a:t>
            </a:r>
          </a:p>
        </p:txBody>
      </p:sp>
      <p:sp>
        <p:nvSpPr>
          <p:cNvPr id="25" name="TextBox 24"/>
          <p:cNvSpPr txBox="1"/>
          <p:nvPr/>
        </p:nvSpPr>
        <p:spPr>
          <a:xfrm>
            <a:off x="7426573" y="2011680"/>
            <a:ext cx="1893356" cy="548640"/>
          </a:xfrm>
          <a:prstGeom prst="rect">
            <a:avLst/>
          </a:prstGeom>
          <a:noFill/>
        </p:spPr>
        <p:txBody>
          <a:bodyPr wrap="square" lIns="45720" rIns="45720" tIns="18288" bIns="18288" anchor="t">
            <a:spAutoFit/>
          </a:bodyPr>
          <a:lstStyle/>
          <a:p>
            <a:pPr algn="l"/>
            <a:r>
              <a:rPr sz="1000" b="1" i="1">
                <a:solidFill>
                  <a:srgbClr val="7A66B8"/>
                </a:solidFill>
                <a:latin typeface="Arial"/>
              </a:rPr>
              <a:t>Vendor relationship management — centralized</a:t>
            </a:r>
          </a:p>
        </p:txBody>
      </p:sp>
      <p:sp>
        <p:nvSpPr>
          <p:cNvPr id="26" name="TextBox 25"/>
          <p:cNvSpPr txBox="1"/>
          <p:nvPr/>
        </p:nvSpPr>
        <p:spPr>
          <a:xfrm>
            <a:off x="7472293" y="2606040"/>
            <a:ext cx="1801916" cy="3566160"/>
          </a:xfrm>
          <a:prstGeom prst="rect">
            <a:avLst/>
          </a:prstGeom>
          <a:noFill/>
        </p:spPr>
        <p:txBody>
          <a:bodyPr wrap="square" lIns="45720" rIns="45720" tIns="36576" bIns="36576">
            <a:spAutoFit/>
          </a:bodyPr>
          <a:lstStyle/>
          <a:p>
            <a:pPr>
              <a:lnSpc>
                <a:spcPct val="130000"/>
              </a:lnSpc>
            </a:pPr>
            <a:r>
              <a:rPr sz="900" b="0">
                <a:solidFill>
                  <a:srgbClr val="2C3E50"/>
                </a:solidFill>
                <a:latin typeface="Arial"/>
              </a:rPr>
              <a:t>•  Today: vendor management is distributed across PJMs and sub-team leads</a:t>
            </a:r>
          </a:p>
          <a:p>
            <a:pPr>
              <a:lnSpc>
                <a:spcPct val="130000"/>
              </a:lnSpc>
            </a:pPr>
            <a:r>
              <a:rPr sz="900" b="0">
                <a:solidFill>
                  <a:srgbClr val="2C3E50"/>
                </a:solidFill>
                <a:latin typeface="Arial"/>
              </a:rPr>
              <a:t>•  Centralization is a real change — single accountability for vendor health</a:t>
            </a:r>
          </a:p>
          <a:p>
            <a:pPr>
              <a:lnSpc>
                <a:spcPct val="130000"/>
              </a:lnSpc>
            </a:pPr>
            <a:r>
              <a:rPr sz="900" b="0">
                <a:solidFill>
                  <a:srgbClr val="2C3E50"/>
                </a:solidFill>
                <a:latin typeface="Arial"/>
              </a:rPr>
              <a:t>•  Owns contracts · SLAs · scorecards · joint roadmaps</a:t>
            </a:r>
          </a:p>
          <a:p>
            <a:pPr>
              <a:lnSpc>
                <a:spcPct val="130000"/>
              </a:lnSpc>
            </a:pPr>
            <a:r>
              <a:rPr sz="900" b="0">
                <a:solidFill>
                  <a:srgbClr val="2C3E50"/>
                </a:solidFill>
                <a:latin typeface="Arial"/>
              </a:rPr>
              <a:t>•  Coordinates across Accenture · SWF · HCL · Infosys · OEMs</a:t>
            </a:r>
          </a:p>
        </p:txBody>
      </p:sp>
      <p:sp>
        <p:nvSpPr>
          <p:cNvPr id="27" name="Rounded Rectangle 26"/>
          <p:cNvSpPr/>
          <p:nvPr/>
        </p:nvSpPr>
        <p:spPr>
          <a:xfrm>
            <a:off x="9566818" y="1463040"/>
            <a:ext cx="2167676" cy="4846320"/>
          </a:xfrm>
          <a:prstGeom prst="roundRect">
            <a:avLst>
              <a:gd name="adj" fmla="val 5000"/>
            </a:avLst>
          </a:prstGeom>
          <a:solidFill>
            <a:srgbClr val="FFFFFF"/>
          </a:solidFill>
          <a:ln w="254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66818" y="1463040"/>
            <a:ext cx="2167676" cy="45720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66818" y="1508760"/>
            <a:ext cx="2167676" cy="365760"/>
          </a:xfrm>
          <a:prstGeom prst="rect">
            <a:avLst/>
          </a:prstGeom>
          <a:noFill/>
        </p:spPr>
        <p:txBody>
          <a:bodyPr wrap="square" lIns="45720" rIns="45720" tIns="18288" bIns="18288" anchor="ctr">
            <a:spAutoFit/>
          </a:bodyPr>
          <a:lstStyle/>
          <a:p>
            <a:pPr algn="ctr"/>
            <a:r>
              <a:rPr sz="1200" b="1" i="0">
                <a:solidFill>
                  <a:srgbClr val="FFFFFF"/>
                </a:solidFill>
                <a:latin typeface="Arial"/>
              </a:rPr>
              <a:t>FACILITATION</a:t>
            </a:r>
          </a:p>
        </p:txBody>
      </p:sp>
      <p:sp>
        <p:nvSpPr>
          <p:cNvPr id="30" name="TextBox 29"/>
          <p:cNvSpPr txBox="1"/>
          <p:nvPr/>
        </p:nvSpPr>
        <p:spPr>
          <a:xfrm>
            <a:off x="9703978" y="2011680"/>
            <a:ext cx="1893356" cy="548640"/>
          </a:xfrm>
          <a:prstGeom prst="rect">
            <a:avLst/>
          </a:prstGeom>
          <a:noFill/>
        </p:spPr>
        <p:txBody>
          <a:bodyPr wrap="square" lIns="45720" rIns="45720" tIns="18288" bIns="18288" anchor="t">
            <a:spAutoFit/>
          </a:bodyPr>
          <a:lstStyle/>
          <a:p>
            <a:pPr algn="l"/>
            <a:r>
              <a:rPr sz="1000" b="1" i="1">
                <a:solidFill>
                  <a:srgbClr val="E88B2F"/>
                </a:solidFill>
                <a:latin typeface="Arial"/>
              </a:rPr>
              <a:t>Process improvement and cross-Crew coaching</a:t>
            </a:r>
          </a:p>
        </p:txBody>
      </p:sp>
      <p:sp>
        <p:nvSpPr>
          <p:cNvPr id="31" name="TextBox 30"/>
          <p:cNvSpPr txBox="1"/>
          <p:nvPr/>
        </p:nvSpPr>
        <p:spPr>
          <a:xfrm>
            <a:off x="9749698" y="2606040"/>
            <a:ext cx="1801916" cy="3566160"/>
          </a:xfrm>
          <a:prstGeom prst="rect">
            <a:avLst/>
          </a:prstGeom>
          <a:noFill/>
        </p:spPr>
        <p:txBody>
          <a:bodyPr wrap="square" lIns="45720" rIns="45720" tIns="36576" bIns="36576">
            <a:spAutoFit/>
          </a:bodyPr>
          <a:lstStyle/>
          <a:p>
            <a:pPr>
              <a:lnSpc>
                <a:spcPct val="130000"/>
              </a:lnSpc>
            </a:pPr>
            <a:r>
              <a:rPr sz="900" b="0">
                <a:solidFill>
                  <a:srgbClr val="2C3E50"/>
                </a:solidFill>
                <a:latin typeface="Arial"/>
              </a:rPr>
              <a:t>•  Process Improvement · Coaches · Knowledge Manager</a:t>
            </a:r>
          </a:p>
          <a:p>
            <a:pPr>
              <a:lnSpc>
                <a:spcPct val="130000"/>
              </a:lnSpc>
            </a:pPr>
            <a:r>
              <a:rPr sz="900" b="0">
                <a:solidFill>
                  <a:srgbClr val="2C3E50"/>
                </a:solidFill>
                <a:latin typeface="Arial"/>
              </a:rPr>
              <a:t>•  Sarath Garikapati's PJM pool (5–6 PJMs) — shared resource across Crews</a:t>
            </a:r>
          </a:p>
          <a:p>
            <a:pPr>
              <a:lnSpc>
                <a:spcPct val="130000"/>
              </a:lnSpc>
            </a:pPr>
            <a:r>
              <a:rPr sz="900" b="0">
                <a:solidFill>
                  <a:srgbClr val="2C3E50"/>
                </a:solidFill>
                <a:latin typeface="Arial"/>
              </a:rPr>
              <a:t>•  Owns playbooks · onboarding · operating model evolution</a:t>
            </a:r>
          </a:p>
          <a:p>
            <a:pPr>
              <a:lnSpc>
                <a:spcPct val="130000"/>
              </a:lnSpc>
            </a:pPr>
            <a:r>
              <a:rPr sz="900" b="0">
                <a:solidFill>
                  <a:srgbClr val="2C3E50"/>
                </a:solidFill>
                <a:latin typeface="Arial"/>
              </a:rPr>
              <a:t>•  Note — we use Kanban with WIP limits, not Scrum (no Scrum Masters)</a:t>
            </a:r>
          </a:p>
        </p:txBody>
      </p:sp>
      <p:sp>
        <p:nvSpPr>
          <p:cNvPr id="32" name="TextBox 31"/>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BASES AROUND US</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TWO LOOSELY ALIGNED SIBLINGS AND ONE SEGREGATED SW DELIVERY BASE</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TextBox 5"/>
          <p:cNvSpPr txBox="1"/>
          <p:nvPr/>
        </p:nvSpPr>
        <p:spPr>
          <a:xfrm>
            <a:off x="457200" y="960120"/>
            <a:ext cx="11277295" cy="365760"/>
          </a:xfrm>
          <a:prstGeom prst="rect">
            <a:avLst/>
          </a:prstGeom>
          <a:noFill/>
        </p:spPr>
        <p:txBody>
          <a:bodyPr wrap="square" lIns="45720" rIns="45720" tIns="18288" bIns="18288" anchor="t">
            <a:spAutoFit/>
          </a:bodyPr>
          <a:lstStyle/>
          <a:p>
            <a:pPr algn="l"/>
            <a:r>
              <a:rPr sz="1100" b="1" i="1">
                <a:solidFill>
                  <a:srgbClr val="2C578B"/>
                </a:solidFill>
                <a:latin typeface="Arial"/>
              </a:rPr>
              <a:t>Digital Products is not standalone. Two sibling Bases run product-centric models in parallel, and the actual software delivery happens in a Segregated Base operated by external vendors.</a:t>
            </a:r>
          </a:p>
        </p:txBody>
      </p:sp>
      <p:sp>
        <p:nvSpPr>
          <p:cNvPr id="7" name="Rounded Rectangle 6"/>
          <p:cNvSpPr/>
          <p:nvPr/>
        </p:nvSpPr>
        <p:spPr>
          <a:xfrm>
            <a:off x="457200" y="1508760"/>
            <a:ext cx="3698138" cy="4572000"/>
          </a:xfrm>
          <a:prstGeom prst="roundRect">
            <a:avLst>
              <a:gd name="adj" fmla="val 5000"/>
            </a:avLst>
          </a:prstGeom>
          <a:solidFill>
            <a:srgbClr val="FFFFFF"/>
          </a:solidFill>
          <a:ln w="2540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508760"/>
            <a:ext cx="3698138" cy="502920"/>
          </a:xfrm>
          <a:prstGeom prst="rect">
            <a:avLst/>
          </a:prstGeom>
          <a:solidFill>
            <a:srgbClr val="6E7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54480"/>
            <a:ext cx="3698138" cy="411480"/>
          </a:xfrm>
          <a:prstGeom prst="rect">
            <a:avLst/>
          </a:prstGeom>
          <a:noFill/>
        </p:spPr>
        <p:txBody>
          <a:bodyPr wrap="square" lIns="45720" rIns="45720" tIns="18288" bIns="18288" anchor="ctr">
            <a:spAutoFit/>
          </a:bodyPr>
          <a:lstStyle/>
          <a:p>
            <a:pPr algn="ctr"/>
            <a:r>
              <a:rPr sz="1200" b="1" i="0">
                <a:solidFill>
                  <a:srgbClr val="FFFFFF"/>
                </a:solidFill>
                <a:latin typeface="Arial"/>
              </a:rPr>
              <a:t>DIGITAL COE</a:t>
            </a:r>
          </a:p>
        </p:txBody>
      </p:sp>
      <p:sp>
        <p:nvSpPr>
          <p:cNvPr id="10" name="TextBox 9"/>
          <p:cNvSpPr txBox="1"/>
          <p:nvPr/>
        </p:nvSpPr>
        <p:spPr>
          <a:xfrm>
            <a:off x="594360" y="2103120"/>
            <a:ext cx="3423818" cy="274320"/>
          </a:xfrm>
          <a:prstGeom prst="rect">
            <a:avLst/>
          </a:prstGeom>
          <a:noFill/>
        </p:spPr>
        <p:txBody>
          <a:bodyPr wrap="square" lIns="45720" rIns="45720" tIns="18288" bIns="18288" anchor="t">
            <a:spAutoFit/>
          </a:bodyPr>
          <a:lstStyle/>
          <a:p>
            <a:pPr algn="l"/>
            <a:r>
              <a:rPr sz="1000" b="1" i="1">
                <a:solidFill>
                  <a:srgbClr val="6E7887"/>
                </a:solidFill>
                <a:latin typeface="Arial"/>
              </a:rPr>
              <a:t>Loosely Aligned sibling</a:t>
            </a:r>
          </a:p>
        </p:txBody>
      </p:sp>
      <p:sp>
        <p:nvSpPr>
          <p:cNvPr id="11" name="TextBox 10"/>
          <p:cNvSpPr txBox="1"/>
          <p:nvPr/>
        </p:nvSpPr>
        <p:spPr>
          <a:xfrm>
            <a:off x="640080" y="2468880"/>
            <a:ext cx="3332378" cy="182880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Customer-experience customer-facing applications</a:t>
            </a:r>
          </a:p>
          <a:p>
            <a:pPr>
              <a:lnSpc>
                <a:spcPct val="130000"/>
              </a:lnSpc>
            </a:pPr>
            <a:r>
              <a:rPr sz="950" b="0">
                <a:solidFill>
                  <a:srgbClr val="2C3E50"/>
                </a:solidFill>
                <a:latin typeface="Arial"/>
              </a:rPr>
              <a:t>•  OPCO-aligned (UIL · CMP · NY)</a:t>
            </a:r>
          </a:p>
          <a:p>
            <a:pPr>
              <a:lnSpc>
                <a:spcPct val="130000"/>
              </a:lnSpc>
            </a:pPr>
            <a:r>
              <a:rPr sz="950" b="0">
                <a:solidFill>
                  <a:srgbClr val="2C3E50"/>
                </a:solidFill>
                <a:latin typeface="Arial"/>
              </a:rPr>
              <a:t>•  5 product teams already operating in product mode</a:t>
            </a:r>
          </a:p>
          <a:p>
            <a:pPr>
              <a:lnSpc>
                <a:spcPct val="130000"/>
              </a:lnSpc>
            </a:pPr>
            <a:r>
              <a:rPr sz="950" b="0">
                <a:solidFill>
                  <a:srgbClr val="2C3E50"/>
                </a:solidFill>
                <a:latin typeface="Arial"/>
              </a:rPr>
              <a:t>•  Owns the customer digital channels and CX layer</a:t>
            </a:r>
          </a:p>
        </p:txBody>
      </p:sp>
      <p:sp>
        <p:nvSpPr>
          <p:cNvPr id="12" name="Rectangle 11"/>
          <p:cNvSpPr/>
          <p:nvPr/>
        </p:nvSpPr>
        <p:spPr>
          <a:xfrm>
            <a:off x="640080" y="4343400"/>
            <a:ext cx="3332378" cy="4572"/>
          </a:xfrm>
          <a:prstGeom prst="rect">
            <a:avLst/>
          </a:prstGeom>
          <a:solidFill>
            <a:srgbClr val="6E7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389120"/>
            <a:ext cx="3332378" cy="274320"/>
          </a:xfrm>
          <a:prstGeom prst="rect">
            <a:avLst/>
          </a:prstGeom>
          <a:noFill/>
        </p:spPr>
        <p:txBody>
          <a:bodyPr wrap="square" lIns="45720" rIns="45720" tIns="18288" bIns="18288" anchor="t">
            <a:spAutoFit/>
          </a:bodyPr>
          <a:lstStyle/>
          <a:p>
            <a:pPr algn="l"/>
            <a:r>
              <a:rPr sz="900" b="1" i="0">
                <a:solidFill>
                  <a:srgbClr val="6E7887"/>
                </a:solidFill>
                <a:latin typeface="Arial"/>
              </a:rPr>
              <a:t>INTERFACE WITH DIGITAL PRODUCTS</a:t>
            </a:r>
          </a:p>
        </p:txBody>
      </p:sp>
      <p:sp>
        <p:nvSpPr>
          <p:cNvPr id="14" name="TextBox 13"/>
          <p:cNvSpPr txBox="1"/>
          <p:nvPr/>
        </p:nvSpPr>
        <p:spPr>
          <a:xfrm>
            <a:off x="640080" y="4709160"/>
            <a:ext cx="3332378" cy="1325880"/>
          </a:xfrm>
          <a:prstGeom prst="rect">
            <a:avLst/>
          </a:prstGeom>
          <a:noFill/>
        </p:spPr>
        <p:txBody>
          <a:bodyPr wrap="square" lIns="45720" rIns="45720" tIns="36576" bIns="36576">
            <a:spAutoFit/>
          </a:bodyPr>
          <a:lstStyle/>
          <a:p>
            <a:pPr>
              <a:lnSpc>
                <a:spcPct val="130000"/>
              </a:lnSpc>
            </a:pPr>
            <a:r>
              <a:rPr sz="850" b="0">
                <a:solidFill>
                  <a:srgbClr val="2C3E50"/>
                </a:solidFill>
                <a:latin typeface="Arial"/>
              </a:rPr>
              <a:t>•  CCC · M2C-RO trade-off discussions go to Customer Journey Forum</a:t>
            </a:r>
          </a:p>
          <a:p>
            <a:pPr>
              <a:lnSpc>
                <a:spcPct val="130000"/>
              </a:lnSpc>
            </a:pPr>
            <a:r>
              <a:rPr sz="850" b="0">
                <a:solidFill>
                  <a:srgbClr val="2C3E50"/>
                </a:solidFill>
                <a:latin typeface="Arial"/>
              </a:rPr>
              <a:t>•  CX backlog and CRM backlog reconciled monthly</a:t>
            </a:r>
          </a:p>
          <a:p>
            <a:pPr>
              <a:lnSpc>
                <a:spcPct val="130000"/>
              </a:lnSpc>
            </a:pPr>
            <a:r>
              <a:rPr sz="850" b="0">
                <a:solidFill>
                  <a:srgbClr val="2C3E50"/>
                </a:solidFill>
                <a:latin typeface="Arial"/>
              </a:rPr>
              <a:t>•  Shared standards via Capability Crew</a:t>
            </a:r>
          </a:p>
        </p:txBody>
      </p:sp>
      <p:sp>
        <p:nvSpPr>
          <p:cNvPr id="15" name="Rounded Rectangle 14"/>
          <p:cNvSpPr/>
          <p:nvPr/>
        </p:nvSpPr>
        <p:spPr>
          <a:xfrm>
            <a:off x="4292498" y="1508760"/>
            <a:ext cx="3698138" cy="4572000"/>
          </a:xfrm>
          <a:prstGeom prst="roundRect">
            <a:avLst>
              <a:gd name="adj" fmla="val 5000"/>
            </a:avLst>
          </a:prstGeom>
          <a:solidFill>
            <a:srgbClr val="FFFFFF"/>
          </a:solidFill>
          <a:ln w="2540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2498" y="1508760"/>
            <a:ext cx="3698138" cy="502920"/>
          </a:xfrm>
          <a:prstGeom prst="rect">
            <a:avLst/>
          </a:prstGeom>
          <a:solidFill>
            <a:srgbClr val="6E7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92498" y="1554480"/>
            <a:ext cx="3698138" cy="411480"/>
          </a:xfrm>
          <a:prstGeom prst="rect">
            <a:avLst/>
          </a:prstGeom>
          <a:noFill/>
        </p:spPr>
        <p:txBody>
          <a:bodyPr wrap="square" lIns="45720" rIns="45720" tIns="18288" bIns="18288" anchor="ctr">
            <a:spAutoFit/>
          </a:bodyPr>
          <a:lstStyle/>
          <a:p>
            <a:pPr algn="ctr"/>
            <a:r>
              <a:rPr sz="1200" b="1" i="0">
                <a:solidFill>
                  <a:srgbClr val="FFFFFF"/>
                </a:solidFill>
                <a:latin typeface="Arial"/>
              </a:rPr>
              <a:t>P&amp;S / P&amp;T  ·  NETWORKS IT</a:t>
            </a:r>
          </a:p>
        </p:txBody>
      </p:sp>
      <p:sp>
        <p:nvSpPr>
          <p:cNvPr id="18" name="TextBox 17"/>
          <p:cNvSpPr txBox="1"/>
          <p:nvPr/>
        </p:nvSpPr>
        <p:spPr>
          <a:xfrm>
            <a:off x="4429658" y="2103120"/>
            <a:ext cx="3423818" cy="274320"/>
          </a:xfrm>
          <a:prstGeom prst="rect">
            <a:avLst/>
          </a:prstGeom>
          <a:noFill/>
        </p:spPr>
        <p:txBody>
          <a:bodyPr wrap="square" lIns="45720" rIns="45720" tIns="18288" bIns="18288" anchor="t">
            <a:spAutoFit/>
          </a:bodyPr>
          <a:lstStyle/>
          <a:p>
            <a:pPr algn="l"/>
            <a:r>
              <a:rPr sz="1000" b="1" i="1">
                <a:solidFill>
                  <a:srgbClr val="6E7887"/>
                </a:solidFill>
                <a:latin typeface="Arial"/>
              </a:rPr>
              <a:t>Loosely Aligned sibling</a:t>
            </a:r>
          </a:p>
        </p:txBody>
      </p:sp>
      <p:sp>
        <p:nvSpPr>
          <p:cNvPr id="19" name="TextBox 18"/>
          <p:cNvSpPr txBox="1"/>
          <p:nvPr/>
        </p:nvSpPr>
        <p:spPr>
          <a:xfrm>
            <a:off x="4475378" y="2468880"/>
            <a:ext cx="3332378" cy="182880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Networks IT operating model implementing NOM v1.5</a:t>
            </a:r>
          </a:p>
          <a:p>
            <a:pPr>
              <a:lnSpc>
                <a:spcPct val="130000"/>
              </a:lnSpc>
            </a:pPr>
            <a:r>
              <a:rPr sz="950" b="0">
                <a:solidFill>
                  <a:srgbClr val="2C3E50"/>
                </a:solidFill>
                <a:latin typeface="Arial"/>
              </a:rPr>
              <a:t>•  Field Operations · Engineering · System Operations focus</a:t>
            </a:r>
          </a:p>
          <a:p>
            <a:pPr>
              <a:lnSpc>
                <a:spcPct val="130000"/>
              </a:lnSpc>
            </a:pPr>
            <a:r>
              <a:rPr sz="950" b="0">
                <a:solidFill>
                  <a:srgbClr val="2C3E50"/>
                </a:solidFill>
                <a:latin typeface="Arial"/>
              </a:rPr>
              <a:t>•  Parallel cadence — independent governance</a:t>
            </a:r>
          </a:p>
          <a:p>
            <a:pPr>
              <a:lnSpc>
                <a:spcPct val="130000"/>
              </a:lnSpc>
            </a:pPr>
            <a:r>
              <a:rPr sz="950" b="0">
                <a:solidFill>
                  <a:srgbClr val="2C3E50"/>
                </a:solidFill>
                <a:latin typeface="Arial"/>
              </a:rPr>
              <a:t>•  Heavy regulatory and reliability orientation</a:t>
            </a:r>
          </a:p>
        </p:txBody>
      </p:sp>
      <p:sp>
        <p:nvSpPr>
          <p:cNvPr id="20" name="Rectangle 19"/>
          <p:cNvSpPr/>
          <p:nvPr/>
        </p:nvSpPr>
        <p:spPr>
          <a:xfrm>
            <a:off x="4475378" y="4343400"/>
            <a:ext cx="3332378" cy="4572"/>
          </a:xfrm>
          <a:prstGeom prst="rect">
            <a:avLst/>
          </a:prstGeom>
          <a:solidFill>
            <a:srgbClr val="6E7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75378" y="4389120"/>
            <a:ext cx="3332378" cy="274320"/>
          </a:xfrm>
          <a:prstGeom prst="rect">
            <a:avLst/>
          </a:prstGeom>
          <a:noFill/>
        </p:spPr>
        <p:txBody>
          <a:bodyPr wrap="square" lIns="45720" rIns="45720" tIns="18288" bIns="18288" anchor="t">
            <a:spAutoFit/>
          </a:bodyPr>
          <a:lstStyle/>
          <a:p>
            <a:pPr algn="l"/>
            <a:r>
              <a:rPr sz="900" b="1" i="0">
                <a:solidFill>
                  <a:srgbClr val="6E7887"/>
                </a:solidFill>
                <a:latin typeface="Arial"/>
              </a:rPr>
              <a:t>INTERFACE WITH DIGITAL PRODUCTS</a:t>
            </a:r>
          </a:p>
        </p:txBody>
      </p:sp>
      <p:sp>
        <p:nvSpPr>
          <p:cNvPr id="22" name="TextBox 21"/>
          <p:cNvSpPr txBox="1"/>
          <p:nvPr/>
        </p:nvSpPr>
        <p:spPr>
          <a:xfrm>
            <a:off x="4475378" y="4709160"/>
            <a:ext cx="3332378" cy="1325880"/>
          </a:xfrm>
          <a:prstGeom prst="rect">
            <a:avLst/>
          </a:prstGeom>
          <a:noFill/>
        </p:spPr>
        <p:txBody>
          <a:bodyPr wrap="square" lIns="45720" rIns="45720" tIns="36576" bIns="36576">
            <a:spAutoFit/>
          </a:bodyPr>
          <a:lstStyle/>
          <a:p>
            <a:pPr>
              <a:lnSpc>
                <a:spcPct val="130000"/>
              </a:lnSpc>
            </a:pPr>
            <a:r>
              <a:rPr sz="850" b="0">
                <a:solidFill>
                  <a:srgbClr val="2C3E50"/>
                </a:solidFill>
                <a:latin typeface="Arial"/>
              </a:rPr>
              <a:t>•  Field Ops · E&amp;A · NOC overlap → Technological Forum</a:t>
            </a:r>
          </a:p>
          <a:p>
            <a:pPr>
              <a:lnSpc>
                <a:spcPct val="130000"/>
              </a:lnSpc>
            </a:pPr>
            <a:r>
              <a:rPr sz="850" b="0">
                <a:solidFill>
                  <a:srgbClr val="2C3E50"/>
                </a:solidFill>
                <a:latin typeface="Arial"/>
              </a:rPr>
              <a:t>•  Storm response coordination via Regional Forum</a:t>
            </a:r>
          </a:p>
          <a:p>
            <a:pPr>
              <a:lnSpc>
                <a:spcPct val="130000"/>
              </a:lnSpc>
            </a:pPr>
            <a:r>
              <a:rPr sz="850" b="0">
                <a:solidFill>
                  <a:srgbClr val="2C3E50"/>
                </a:solidFill>
                <a:latin typeface="Arial"/>
              </a:rPr>
              <a:t>•  Shared platform services (Document Mgmt · GIS data)</a:t>
            </a:r>
          </a:p>
        </p:txBody>
      </p:sp>
      <p:sp>
        <p:nvSpPr>
          <p:cNvPr id="23" name="Rounded Rectangle 22"/>
          <p:cNvSpPr/>
          <p:nvPr/>
        </p:nvSpPr>
        <p:spPr>
          <a:xfrm>
            <a:off x="8127796" y="1508760"/>
            <a:ext cx="3698138" cy="4572000"/>
          </a:xfrm>
          <a:prstGeom prst="roundRect">
            <a:avLst>
              <a:gd name="adj" fmla="val 5000"/>
            </a:avLst>
          </a:prstGeom>
          <a:solidFill>
            <a:srgbClr val="FFFFFF"/>
          </a:solidFill>
          <a:ln w="2540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27796" y="1508760"/>
            <a:ext cx="3698138" cy="50292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7796" y="1554480"/>
            <a:ext cx="3698138" cy="411480"/>
          </a:xfrm>
          <a:prstGeom prst="rect">
            <a:avLst/>
          </a:prstGeom>
          <a:noFill/>
        </p:spPr>
        <p:txBody>
          <a:bodyPr wrap="square" lIns="45720" rIns="45720" tIns="18288" bIns="18288" anchor="ctr">
            <a:spAutoFit/>
          </a:bodyPr>
          <a:lstStyle/>
          <a:p>
            <a:pPr algn="ctr"/>
            <a:r>
              <a:rPr sz="1200" b="1" i="0">
                <a:solidFill>
                  <a:srgbClr val="FFFFFF"/>
                </a:solidFill>
                <a:latin typeface="Arial"/>
              </a:rPr>
              <a:t>SW DELIVERY  ·  vendors</a:t>
            </a:r>
          </a:p>
        </p:txBody>
      </p:sp>
      <p:sp>
        <p:nvSpPr>
          <p:cNvPr id="26" name="TextBox 25"/>
          <p:cNvSpPr txBox="1"/>
          <p:nvPr/>
        </p:nvSpPr>
        <p:spPr>
          <a:xfrm>
            <a:off x="8264956" y="2103120"/>
            <a:ext cx="3423818" cy="274320"/>
          </a:xfrm>
          <a:prstGeom prst="rect">
            <a:avLst/>
          </a:prstGeom>
          <a:noFill/>
        </p:spPr>
        <p:txBody>
          <a:bodyPr wrap="square" lIns="45720" rIns="45720" tIns="18288" bIns="18288" anchor="t">
            <a:spAutoFit/>
          </a:bodyPr>
          <a:lstStyle/>
          <a:p>
            <a:pPr algn="l"/>
            <a:r>
              <a:rPr sz="1000" b="1" i="1">
                <a:solidFill>
                  <a:srgbClr val="B63B1F"/>
                </a:solidFill>
                <a:latin typeface="Arial"/>
              </a:rPr>
              <a:t>Segregated Base</a:t>
            </a:r>
          </a:p>
        </p:txBody>
      </p:sp>
      <p:sp>
        <p:nvSpPr>
          <p:cNvPr id="27" name="TextBox 26"/>
          <p:cNvSpPr txBox="1"/>
          <p:nvPr/>
        </p:nvSpPr>
        <p:spPr>
          <a:xfrm>
            <a:off x="8310676" y="2468880"/>
            <a:ext cx="3332378" cy="182880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Vendors operate outside the Avangrid Base</a:t>
            </a:r>
          </a:p>
          <a:p>
            <a:pPr>
              <a:lnSpc>
                <a:spcPct val="130000"/>
              </a:lnSpc>
            </a:pPr>
            <a:r>
              <a:rPr sz="950" b="0">
                <a:solidFill>
                  <a:srgbClr val="2C3E50"/>
                </a:solidFill>
                <a:latin typeface="Arial"/>
              </a:rPr>
              <a:t>•  Avangrid = product owner · vendor = delivery muscle</a:t>
            </a:r>
          </a:p>
          <a:p>
            <a:pPr>
              <a:lnSpc>
                <a:spcPct val="130000"/>
              </a:lnSpc>
            </a:pPr>
            <a:r>
              <a:rPr sz="950" b="0">
                <a:solidFill>
                  <a:srgbClr val="2C3E50"/>
                </a:solidFill>
                <a:latin typeface="Arial"/>
              </a:rPr>
              <a:t>•  Members — Accenture · SWF · HCL · Infosys · Smart Metering vendor · SAP partners · Itron · Esri · GE / Siemens</a:t>
            </a:r>
          </a:p>
          <a:p>
            <a:pPr>
              <a:lnSpc>
                <a:spcPct val="130000"/>
              </a:lnSpc>
            </a:pPr>
            <a:r>
              <a:rPr sz="950" b="0">
                <a:solidFill>
                  <a:srgbClr val="2C3E50"/>
                </a:solidFill>
                <a:latin typeface="Arial"/>
              </a:rPr>
              <a:t>•  Delivery happens via stable Crews (Option A) or pool (Option B)</a:t>
            </a:r>
          </a:p>
        </p:txBody>
      </p:sp>
      <p:sp>
        <p:nvSpPr>
          <p:cNvPr id="28" name="Rectangle 27"/>
          <p:cNvSpPr/>
          <p:nvPr/>
        </p:nvSpPr>
        <p:spPr>
          <a:xfrm>
            <a:off x="8310676" y="4343400"/>
            <a:ext cx="3332378" cy="4572"/>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10676" y="4389120"/>
            <a:ext cx="3332378" cy="274320"/>
          </a:xfrm>
          <a:prstGeom prst="rect">
            <a:avLst/>
          </a:prstGeom>
          <a:noFill/>
        </p:spPr>
        <p:txBody>
          <a:bodyPr wrap="square" lIns="45720" rIns="45720" tIns="18288" bIns="18288" anchor="t">
            <a:spAutoFit/>
          </a:bodyPr>
          <a:lstStyle/>
          <a:p>
            <a:pPr algn="l"/>
            <a:r>
              <a:rPr sz="900" b="1" i="0">
                <a:solidFill>
                  <a:srgbClr val="B63B1F"/>
                </a:solidFill>
                <a:latin typeface="Arial"/>
              </a:rPr>
              <a:t>INTERFACE WITH DIGITAL PRODUCTS</a:t>
            </a:r>
          </a:p>
        </p:txBody>
      </p:sp>
      <p:sp>
        <p:nvSpPr>
          <p:cNvPr id="30" name="TextBox 29"/>
          <p:cNvSpPr txBox="1"/>
          <p:nvPr/>
        </p:nvSpPr>
        <p:spPr>
          <a:xfrm>
            <a:off x="8310676" y="4709160"/>
            <a:ext cx="3332378" cy="1325880"/>
          </a:xfrm>
          <a:prstGeom prst="rect">
            <a:avLst/>
          </a:prstGeom>
          <a:noFill/>
        </p:spPr>
        <p:txBody>
          <a:bodyPr wrap="square" lIns="45720" rIns="45720" tIns="36576" bIns="36576">
            <a:spAutoFit/>
          </a:bodyPr>
          <a:lstStyle/>
          <a:p>
            <a:pPr>
              <a:lnSpc>
                <a:spcPct val="130000"/>
              </a:lnSpc>
            </a:pPr>
            <a:r>
              <a:rPr sz="850" b="0">
                <a:solidFill>
                  <a:srgbClr val="2C3E50"/>
                </a:solidFill>
                <a:latin typeface="Arial"/>
              </a:rPr>
              <a:t>•  Partnership Crew owns vendor contracts and SLAs</a:t>
            </a:r>
          </a:p>
          <a:p>
            <a:pPr>
              <a:lnSpc>
                <a:spcPct val="130000"/>
              </a:lnSpc>
            </a:pPr>
            <a:r>
              <a:rPr sz="850" b="0">
                <a:solidFill>
                  <a:srgbClr val="2C3E50"/>
                </a:solidFill>
                <a:latin typeface="Arial"/>
              </a:rPr>
              <a:t>•  Each Value Stream Crew has a vendor-extension team</a:t>
            </a:r>
          </a:p>
          <a:p>
            <a:pPr>
              <a:lnSpc>
                <a:spcPct val="130000"/>
              </a:lnSpc>
            </a:pPr>
            <a:r>
              <a:rPr sz="850" b="0">
                <a:solidFill>
                  <a:srgbClr val="2C3E50"/>
                </a:solidFill>
                <a:latin typeface="Arial"/>
              </a:rPr>
              <a:t>•  Joint roadmaps reviewed quarterly at Big Room Planning</a:t>
            </a:r>
          </a:p>
        </p:txBody>
      </p:sp>
      <p:sp>
        <p:nvSpPr>
          <p:cNvPr id="31" name="TextBox 30"/>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TARGET OPERATING MODEL</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EIGHT VALUE STREAM TEAMS ALIGNED TO CUSTOMER OUTCOMES</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ounded Rectangle 5"/>
          <p:cNvSpPr/>
          <p:nvPr/>
        </p:nvSpPr>
        <p:spPr>
          <a:xfrm>
            <a:off x="457200" y="960120"/>
            <a:ext cx="2737027" cy="2231136"/>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960120"/>
            <a:ext cx="2737027" cy="6400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33272"/>
            <a:ext cx="2554147" cy="502920"/>
          </a:xfrm>
          <a:prstGeom prst="rect">
            <a:avLst/>
          </a:prstGeom>
          <a:noFill/>
        </p:spPr>
        <p:txBody>
          <a:bodyPr wrap="square" lIns="45720" rIns="45720" tIns="18288" bIns="18288" anchor="ctr">
            <a:spAutoFit/>
          </a:bodyPr>
          <a:lstStyle/>
          <a:p>
            <a:pPr algn="ctr"/>
            <a:r>
              <a:rPr sz="1200" b="1" i="0">
                <a:solidFill>
                  <a:srgbClr val="FFFFFF"/>
                </a:solidFill>
                <a:latin typeface="Arial"/>
              </a:rPr>
              <a:t>Meter-to-Cash · Service Lifecycle</a:t>
            </a:r>
          </a:p>
        </p:txBody>
      </p:sp>
      <p:sp>
        <p:nvSpPr>
          <p:cNvPr id="9" name="TextBox 8"/>
          <p:cNvSpPr txBox="1"/>
          <p:nvPr/>
        </p:nvSpPr>
        <p:spPr>
          <a:xfrm>
            <a:off x="594360" y="1618488"/>
            <a:ext cx="2462707" cy="201168"/>
          </a:xfrm>
          <a:prstGeom prst="rect">
            <a:avLst/>
          </a:prstGeom>
          <a:noFill/>
        </p:spPr>
        <p:txBody>
          <a:bodyPr wrap="square" lIns="45720" rIns="45720" tIns="18288" bIns="18288" anchor="ctr">
            <a:spAutoFit/>
          </a:bodyPr>
          <a:lstStyle/>
          <a:p>
            <a:pPr algn="ctr"/>
            <a:r>
              <a:rPr sz="800" b="1" i="1">
                <a:solidFill>
                  <a:srgbClr val="F9A825"/>
                </a:solidFill>
                <a:latin typeface="Arial"/>
              </a:rPr>
              <a:t>DOMAIN · Customer Service / M2C</a:t>
            </a:r>
          </a:p>
        </p:txBody>
      </p:sp>
      <p:sp>
        <p:nvSpPr>
          <p:cNvPr id="10" name="TextBox 9"/>
          <p:cNvSpPr txBox="1"/>
          <p:nvPr/>
        </p:nvSpPr>
        <p:spPr>
          <a:xfrm>
            <a:off x="594360" y="1828800"/>
            <a:ext cx="2462707" cy="640080"/>
          </a:xfrm>
          <a:prstGeom prst="rect">
            <a:avLst/>
          </a:prstGeom>
          <a:noFill/>
        </p:spPr>
        <p:txBody>
          <a:bodyPr wrap="square" lIns="45720" rIns="45720" tIns="18288" bIns="18288" anchor="t">
            <a:spAutoFit/>
          </a:bodyPr>
          <a:lstStyle/>
          <a:p>
            <a:pPr algn="ctr"/>
            <a:r>
              <a:rPr sz="1050" b="0" i="1">
                <a:solidFill>
                  <a:srgbClr val="2C3E50"/>
                </a:solidFill>
                <a:latin typeface="Arial"/>
              </a:rPr>
              <a:t>Customer signs up · activates · changes · disconnects</a:t>
            </a:r>
          </a:p>
        </p:txBody>
      </p:sp>
      <p:sp>
        <p:nvSpPr>
          <p:cNvPr id="11" name="Rectangle 10"/>
          <p:cNvSpPr/>
          <p:nvPr/>
        </p:nvSpPr>
        <p:spPr>
          <a:xfrm>
            <a:off x="594360" y="2322576"/>
            <a:ext cx="2462707" cy="4572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414016"/>
            <a:ext cx="2462707" cy="228600"/>
          </a:xfrm>
          <a:prstGeom prst="rect">
            <a:avLst/>
          </a:prstGeom>
          <a:noFill/>
        </p:spPr>
        <p:txBody>
          <a:bodyPr wrap="square" lIns="45720" rIns="45720" tIns="18288" bIns="18288" anchor="t">
            <a:spAutoFit/>
          </a:bodyPr>
          <a:lstStyle/>
          <a:p>
            <a:pPr algn="l"/>
            <a:r>
              <a:rPr sz="800" b="1" i="0">
                <a:solidFill>
                  <a:srgbClr val="F9A825"/>
                </a:solidFill>
                <a:latin typeface="Arial"/>
              </a:rPr>
              <a:t>EXAMPLE APPLICATIONS</a:t>
            </a:r>
          </a:p>
        </p:txBody>
      </p:sp>
      <p:sp>
        <p:nvSpPr>
          <p:cNvPr id="13" name="TextBox 12"/>
          <p:cNvSpPr txBox="1"/>
          <p:nvPr/>
        </p:nvSpPr>
        <p:spPr>
          <a:xfrm>
            <a:off x="594360" y="2642616"/>
            <a:ext cx="2462707" cy="457200"/>
          </a:xfrm>
          <a:prstGeom prst="rect">
            <a:avLst/>
          </a:prstGeom>
          <a:noFill/>
        </p:spPr>
        <p:txBody>
          <a:bodyPr wrap="square" lIns="45720" rIns="45720" tIns="18288" bIns="18288" anchor="t">
            <a:spAutoFit/>
          </a:bodyPr>
          <a:lstStyle/>
          <a:p>
            <a:pPr algn="ctr"/>
            <a:r>
              <a:rPr sz="1000" b="0" i="0">
                <a:solidFill>
                  <a:srgbClr val="2C3E50"/>
                </a:solidFill>
                <a:latin typeface="Arial"/>
              </a:rPr>
              <a:t>SAP Metering · MV90</a:t>
            </a:r>
          </a:p>
        </p:txBody>
      </p:sp>
      <p:sp>
        <p:nvSpPr>
          <p:cNvPr id="14" name="Rounded Rectangle 13"/>
          <p:cNvSpPr/>
          <p:nvPr/>
        </p:nvSpPr>
        <p:spPr>
          <a:xfrm>
            <a:off x="3303955" y="960120"/>
            <a:ext cx="2737027" cy="2231136"/>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3955" y="960120"/>
            <a:ext cx="2737027" cy="6400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95395" y="1033272"/>
            <a:ext cx="2554147" cy="502920"/>
          </a:xfrm>
          <a:prstGeom prst="rect">
            <a:avLst/>
          </a:prstGeom>
          <a:noFill/>
        </p:spPr>
        <p:txBody>
          <a:bodyPr wrap="square" lIns="45720" rIns="45720" tIns="18288" bIns="18288" anchor="ctr">
            <a:spAutoFit/>
          </a:bodyPr>
          <a:lstStyle/>
          <a:p>
            <a:pPr algn="ctr"/>
            <a:r>
              <a:rPr sz="1200" b="1" i="0">
                <a:solidFill>
                  <a:srgbClr val="FFFFFF"/>
                </a:solidFill>
                <a:latin typeface="Arial"/>
              </a:rPr>
              <a:t>Meter-to-Cash · Revenue Operations</a:t>
            </a:r>
          </a:p>
        </p:txBody>
      </p:sp>
      <p:sp>
        <p:nvSpPr>
          <p:cNvPr id="17" name="TextBox 16"/>
          <p:cNvSpPr txBox="1"/>
          <p:nvPr/>
        </p:nvSpPr>
        <p:spPr>
          <a:xfrm>
            <a:off x="3441115" y="1618488"/>
            <a:ext cx="2462707" cy="201168"/>
          </a:xfrm>
          <a:prstGeom prst="rect">
            <a:avLst/>
          </a:prstGeom>
          <a:noFill/>
        </p:spPr>
        <p:txBody>
          <a:bodyPr wrap="square" lIns="45720" rIns="45720" tIns="18288" bIns="18288" anchor="ctr">
            <a:spAutoFit/>
          </a:bodyPr>
          <a:lstStyle/>
          <a:p>
            <a:pPr algn="ctr"/>
            <a:r>
              <a:rPr sz="800" b="1" i="1">
                <a:solidFill>
                  <a:srgbClr val="F9A825"/>
                </a:solidFill>
                <a:latin typeface="Arial"/>
              </a:rPr>
              <a:t>DOMAIN · Customer Service · Finance</a:t>
            </a:r>
          </a:p>
        </p:txBody>
      </p:sp>
      <p:sp>
        <p:nvSpPr>
          <p:cNvPr id="18" name="TextBox 17"/>
          <p:cNvSpPr txBox="1"/>
          <p:nvPr/>
        </p:nvSpPr>
        <p:spPr>
          <a:xfrm>
            <a:off x="3441115" y="1828800"/>
            <a:ext cx="2462707" cy="640080"/>
          </a:xfrm>
          <a:prstGeom prst="rect">
            <a:avLst/>
          </a:prstGeom>
          <a:noFill/>
        </p:spPr>
        <p:txBody>
          <a:bodyPr wrap="square" lIns="45720" rIns="45720" tIns="18288" bIns="18288" anchor="t">
            <a:spAutoFit/>
          </a:bodyPr>
          <a:lstStyle/>
          <a:p>
            <a:pPr algn="ctr"/>
            <a:r>
              <a:rPr sz="1050" b="0" i="1">
                <a:solidFill>
                  <a:srgbClr val="2C3E50"/>
                </a:solidFill>
                <a:latin typeface="Arial"/>
              </a:rPr>
              <a:t>Accurate billing · easy payment · fair recovery</a:t>
            </a:r>
          </a:p>
        </p:txBody>
      </p:sp>
      <p:sp>
        <p:nvSpPr>
          <p:cNvPr id="19" name="Rectangle 18"/>
          <p:cNvSpPr/>
          <p:nvPr/>
        </p:nvSpPr>
        <p:spPr>
          <a:xfrm>
            <a:off x="3441115" y="2322576"/>
            <a:ext cx="2462707" cy="4572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41115" y="2414016"/>
            <a:ext cx="2462707" cy="228600"/>
          </a:xfrm>
          <a:prstGeom prst="rect">
            <a:avLst/>
          </a:prstGeom>
          <a:noFill/>
        </p:spPr>
        <p:txBody>
          <a:bodyPr wrap="square" lIns="45720" rIns="45720" tIns="18288" bIns="18288" anchor="t">
            <a:spAutoFit/>
          </a:bodyPr>
          <a:lstStyle/>
          <a:p>
            <a:pPr algn="l"/>
            <a:r>
              <a:rPr sz="800" b="1" i="0">
                <a:solidFill>
                  <a:srgbClr val="F9A825"/>
                </a:solidFill>
                <a:latin typeface="Arial"/>
              </a:rPr>
              <a:t>EXAMPLE APPLICATIONS</a:t>
            </a:r>
          </a:p>
        </p:txBody>
      </p:sp>
      <p:sp>
        <p:nvSpPr>
          <p:cNvPr id="21" name="TextBox 20"/>
          <p:cNvSpPr txBox="1"/>
          <p:nvPr/>
        </p:nvSpPr>
        <p:spPr>
          <a:xfrm>
            <a:off x="3441115" y="2642616"/>
            <a:ext cx="2462707" cy="457200"/>
          </a:xfrm>
          <a:prstGeom prst="rect">
            <a:avLst/>
          </a:prstGeom>
          <a:noFill/>
        </p:spPr>
        <p:txBody>
          <a:bodyPr wrap="square" lIns="45720" rIns="45720" tIns="18288" bIns="18288" anchor="t">
            <a:spAutoFit/>
          </a:bodyPr>
          <a:lstStyle/>
          <a:p>
            <a:pPr algn="ctr"/>
            <a:r>
              <a:rPr sz="1000" b="0" i="0">
                <a:solidFill>
                  <a:srgbClr val="2C3E50"/>
                </a:solidFill>
                <a:latin typeface="Arial"/>
              </a:rPr>
              <a:t>SAP FICA · ECC · StreamServe</a:t>
            </a:r>
          </a:p>
        </p:txBody>
      </p:sp>
      <p:sp>
        <p:nvSpPr>
          <p:cNvPr id="22" name="Rounded Rectangle 21"/>
          <p:cNvSpPr/>
          <p:nvPr/>
        </p:nvSpPr>
        <p:spPr>
          <a:xfrm>
            <a:off x="6150711" y="960120"/>
            <a:ext cx="2737027" cy="2231136"/>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50711" y="960120"/>
            <a:ext cx="2737027" cy="6400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42151" y="1033272"/>
            <a:ext cx="2554147" cy="502920"/>
          </a:xfrm>
          <a:prstGeom prst="rect">
            <a:avLst/>
          </a:prstGeom>
          <a:noFill/>
        </p:spPr>
        <p:txBody>
          <a:bodyPr wrap="square" lIns="45720" rIns="45720" tIns="18288" bIns="18288" anchor="ctr">
            <a:spAutoFit/>
          </a:bodyPr>
          <a:lstStyle/>
          <a:p>
            <a:pPr algn="ctr"/>
            <a:r>
              <a:rPr sz="1200" b="1" i="0">
                <a:solidFill>
                  <a:srgbClr val="FFFFFF"/>
                </a:solidFill>
                <a:latin typeface="Arial"/>
              </a:rPr>
              <a:t>Customer Care &amp; Contact Center</a:t>
            </a:r>
          </a:p>
        </p:txBody>
      </p:sp>
      <p:sp>
        <p:nvSpPr>
          <p:cNvPr id="25" name="TextBox 24"/>
          <p:cNvSpPr txBox="1"/>
          <p:nvPr/>
        </p:nvSpPr>
        <p:spPr>
          <a:xfrm>
            <a:off x="6287871" y="1618488"/>
            <a:ext cx="2462707" cy="201168"/>
          </a:xfrm>
          <a:prstGeom prst="rect">
            <a:avLst/>
          </a:prstGeom>
          <a:noFill/>
        </p:spPr>
        <p:txBody>
          <a:bodyPr wrap="square" lIns="45720" rIns="45720" tIns="18288" bIns="18288" anchor="ctr">
            <a:spAutoFit/>
          </a:bodyPr>
          <a:lstStyle/>
          <a:p>
            <a:pPr algn="ctr"/>
            <a:r>
              <a:rPr sz="800" b="1" i="1">
                <a:solidFill>
                  <a:srgbClr val="F9A825"/>
                </a:solidFill>
                <a:latin typeface="Arial"/>
              </a:rPr>
              <a:t>DOMAIN · Customer Service</a:t>
            </a:r>
          </a:p>
        </p:txBody>
      </p:sp>
      <p:sp>
        <p:nvSpPr>
          <p:cNvPr id="26" name="TextBox 25"/>
          <p:cNvSpPr txBox="1"/>
          <p:nvPr/>
        </p:nvSpPr>
        <p:spPr>
          <a:xfrm>
            <a:off x="6287871" y="1828800"/>
            <a:ext cx="2462707" cy="640080"/>
          </a:xfrm>
          <a:prstGeom prst="rect">
            <a:avLst/>
          </a:prstGeom>
          <a:noFill/>
        </p:spPr>
        <p:txBody>
          <a:bodyPr wrap="square" lIns="45720" rIns="45720" tIns="18288" bIns="18288" anchor="t">
            <a:spAutoFit/>
          </a:bodyPr>
          <a:lstStyle/>
          <a:p>
            <a:pPr algn="ctr"/>
            <a:r>
              <a:rPr sz="1050" b="0" i="1">
                <a:solidFill>
                  <a:srgbClr val="2C3E50"/>
                </a:solidFill>
                <a:latin typeface="Arial"/>
              </a:rPr>
              <a:t>Issue resolution · self-service · voice of customer</a:t>
            </a:r>
          </a:p>
        </p:txBody>
      </p:sp>
      <p:sp>
        <p:nvSpPr>
          <p:cNvPr id="27" name="Rectangle 26"/>
          <p:cNvSpPr/>
          <p:nvPr/>
        </p:nvSpPr>
        <p:spPr>
          <a:xfrm>
            <a:off x="6287871" y="2322576"/>
            <a:ext cx="2462707" cy="4572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87871" y="2414016"/>
            <a:ext cx="2462707" cy="228600"/>
          </a:xfrm>
          <a:prstGeom prst="rect">
            <a:avLst/>
          </a:prstGeom>
          <a:noFill/>
        </p:spPr>
        <p:txBody>
          <a:bodyPr wrap="square" lIns="45720" rIns="45720" tIns="18288" bIns="18288" anchor="t">
            <a:spAutoFit/>
          </a:bodyPr>
          <a:lstStyle/>
          <a:p>
            <a:pPr algn="l"/>
            <a:r>
              <a:rPr sz="800" b="1" i="0">
                <a:solidFill>
                  <a:srgbClr val="F9A825"/>
                </a:solidFill>
                <a:latin typeface="Arial"/>
              </a:rPr>
              <a:t>EXAMPLE APPLICATIONS</a:t>
            </a:r>
          </a:p>
        </p:txBody>
      </p:sp>
      <p:sp>
        <p:nvSpPr>
          <p:cNvPr id="29" name="TextBox 28"/>
          <p:cNvSpPr txBox="1"/>
          <p:nvPr/>
        </p:nvSpPr>
        <p:spPr>
          <a:xfrm>
            <a:off x="6287871" y="2642616"/>
            <a:ext cx="2462707" cy="457200"/>
          </a:xfrm>
          <a:prstGeom prst="rect">
            <a:avLst/>
          </a:prstGeom>
          <a:noFill/>
        </p:spPr>
        <p:txBody>
          <a:bodyPr wrap="square" lIns="45720" rIns="45720" tIns="18288" bIns="18288" anchor="t">
            <a:spAutoFit/>
          </a:bodyPr>
          <a:lstStyle/>
          <a:p>
            <a:pPr algn="ctr"/>
            <a:r>
              <a:rPr sz="1000" b="0" i="0">
                <a:solidFill>
                  <a:srgbClr val="2C3E50"/>
                </a:solidFill>
                <a:latin typeface="Arial"/>
              </a:rPr>
              <a:t>SAP CRM · Medallia · Blue Prism</a:t>
            </a:r>
          </a:p>
        </p:txBody>
      </p:sp>
      <p:sp>
        <p:nvSpPr>
          <p:cNvPr id="30" name="Rounded Rectangle 29"/>
          <p:cNvSpPr/>
          <p:nvPr/>
        </p:nvSpPr>
        <p:spPr>
          <a:xfrm>
            <a:off x="8997467" y="960120"/>
            <a:ext cx="2737027" cy="2231136"/>
          </a:xfrm>
          <a:prstGeom prst="roundRect">
            <a:avLst>
              <a:gd name="adj" fmla="val 4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997467" y="960120"/>
            <a:ext cx="2737027" cy="6400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88907" y="1033272"/>
            <a:ext cx="2554147" cy="502920"/>
          </a:xfrm>
          <a:prstGeom prst="rect">
            <a:avLst/>
          </a:prstGeom>
          <a:noFill/>
        </p:spPr>
        <p:txBody>
          <a:bodyPr wrap="square" lIns="45720" rIns="45720" tIns="18288" bIns="18288" anchor="ctr">
            <a:spAutoFit/>
          </a:bodyPr>
          <a:lstStyle/>
          <a:p>
            <a:pPr algn="ctr"/>
            <a:r>
              <a:rPr sz="1200" b="1" i="0">
                <a:solidFill>
                  <a:srgbClr val="FFFFFF"/>
                </a:solidFill>
                <a:latin typeface="Arial"/>
              </a:rPr>
              <a:t>Field Operations</a:t>
            </a:r>
          </a:p>
        </p:txBody>
      </p:sp>
      <p:sp>
        <p:nvSpPr>
          <p:cNvPr id="33" name="TextBox 32"/>
          <p:cNvSpPr txBox="1"/>
          <p:nvPr/>
        </p:nvSpPr>
        <p:spPr>
          <a:xfrm>
            <a:off x="9134627" y="1618488"/>
            <a:ext cx="2462707" cy="201168"/>
          </a:xfrm>
          <a:prstGeom prst="rect">
            <a:avLst/>
          </a:prstGeom>
          <a:noFill/>
        </p:spPr>
        <p:txBody>
          <a:bodyPr wrap="square" lIns="45720" rIns="45720" tIns="18288" bIns="18288" anchor="ctr">
            <a:spAutoFit/>
          </a:bodyPr>
          <a:lstStyle/>
          <a:p>
            <a:pPr algn="ctr"/>
            <a:r>
              <a:rPr sz="800" b="1" i="1">
                <a:solidFill>
                  <a:srgbClr val="2C578B"/>
                </a:solidFill>
                <a:latin typeface="Arial"/>
              </a:rPr>
              <a:t>DOMAIN · Field / Network Ops</a:t>
            </a:r>
          </a:p>
        </p:txBody>
      </p:sp>
      <p:sp>
        <p:nvSpPr>
          <p:cNvPr id="34" name="TextBox 33"/>
          <p:cNvSpPr txBox="1"/>
          <p:nvPr/>
        </p:nvSpPr>
        <p:spPr>
          <a:xfrm>
            <a:off x="9134627" y="1828800"/>
            <a:ext cx="2462707" cy="640080"/>
          </a:xfrm>
          <a:prstGeom prst="rect">
            <a:avLst/>
          </a:prstGeom>
          <a:noFill/>
        </p:spPr>
        <p:txBody>
          <a:bodyPr wrap="square" lIns="45720" rIns="45720" tIns="18288" bIns="18288" anchor="t">
            <a:spAutoFit/>
          </a:bodyPr>
          <a:lstStyle/>
          <a:p>
            <a:pPr algn="ctr"/>
            <a:r>
              <a:rPr sz="1050" b="0" i="1">
                <a:solidFill>
                  <a:srgbClr val="2C3E50"/>
                </a:solidFill>
                <a:latin typeface="Arial"/>
              </a:rPr>
              <a:t>Field worker / inspector / lineman productivity</a:t>
            </a:r>
          </a:p>
        </p:txBody>
      </p:sp>
      <p:sp>
        <p:nvSpPr>
          <p:cNvPr id="35" name="Rectangle 34"/>
          <p:cNvSpPr/>
          <p:nvPr/>
        </p:nvSpPr>
        <p:spPr>
          <a:xfrm>
            <a:off x="9134627" y="2322576"/>
            <a:ext cx="2462707" cy="457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34627" y="2414016"/>
            <a:ext cx="2462707" cy="228600"/>
          </a:xfrm>
          <a:prstGeom prst="rect">
            <a:avLst/>
          </a:prstGeom>
          <a:noFill/>
        </p:spPr>
        <p:txBody>
          <a:bodyPr wrap="square" lIns="45720" rIns="45720" tIns="18288" bIns="18288" anchor="t">
            <a:spAutoFit/>
          </a:bodyPr>
          <a:lstStyle/>
          <a:p>
            <a:pPr algn="l"/>
            <a:r>
              <a:rPr sz="800" b="1" i="0">
                <a:solidFill>
                  <a:srgbClr val="2C578B"/>
                </a:solidFill>
                <a:latin typeface="Arial"/>
              </a:rPr>
              <a:t>EXAMPLE APPLICATIONS</a:t>
            </a:r>
          </a:p>
        </p:txBody>
      </p:sp>
      <p:sp>
        <p:nvSpPr>
          <p:cNvPr id="37" name="TextBox 36"/>
          <p:cNvSpPr txBox="1"/>
          <p:nvPr/>
        </p:nvSpPr>
        <p:spPr>
          <a:xfrm>
            <a:off x="9134627" y="2642616"/>
            <a:ext cx="2462707" cy="457200"/>
          </a:xfrm>
          <a:prstGeom prst="rect">
            <a:avLst/>
          </a:prstGeom>
          <a:noFill/>
        </p:spPr>
        <p:txBody>
          <a:bodyPr wrap="square" lIns="45720" rIns="45720" tIns="18288" bIns="18288" anchor="t">
            <a:spAutoFit/>
          </a:bodyPr>
          <a:lstStyle/>
          <a:p>
            <a:pPr algn="ctr"/>
            <a:r>
              <a:rPr sz="1000" b="0" i="0">
                <a:solidFill>
                  <a:srgbClr val="2C3E50"/>
                </a:solidFill>
                <a:latin typeface="Arial"/>
              </a:rPr>
              <a:t>Lemur-SF · FWM · ARCOS · Field Force</a:t>
            </a:r>
          </a:p>
        </p:txBody>
      </p:sp>
      <p:sp>
        <p:nvSpPr>
          <p:cNvPr id="38" name="Rounded Rectangle 37"/>
          <p:cNvSpPr/>
          <p:nvPr/>
        </p:nvSpPr>
        <p:spPr>
          <a:xfrm>
            <a:off x="457200" y="3300984"/>
            <a:ext cx="2737027" cy="2231136"/>
          </a:xfrm>
          <a:prstGeom prst="roundRect">
            <a:avLst>
              <a:gd name="adj" fmla="val 4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57200" y="3300984"/>
            <a:ext cx="2737027" cy="6400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3374136"/>
            <a:ext cx="2554147" cy="502920"/>
          </a:xfrm>
          <a:prstGeom prst="rect">
            <a:avLst/>
          </a:prstGeom>
          <a:noFill/>
        </p:spPr>
        <p:txBody>
          <a:bodyPr wrap="square" lIns="45720" rIns="45720" tIns="18288" bIns="18288" anchor="ctr">
            <a:spAutoFit/>
          </a:bodyPr>
          <a:lstStyle/>
          <a:p>
            <a:pPr algn="ctr"/>
            <a:r>
              <a:rPr sz="1200" b="1" i="0">
                <a:solidFill>
                  <a:srgbClr val="FFFFFF"/>
                </a:solidFill>
                <a:latin typeface="Arial"/>
              </a:rPr>
              <a:t>Engineering &amp; Asset Management</a:t>
            </a:r>
          </a:p>
        </p:txBody>
      </p:sp>
      <p:sp>
        <p:nvSpPr>
          <p:cNvPr id="41" name="TextBox 40"/>
          <p:cNvSpPr txBox="1"/>
          <p:nvPr/>
        </p:nvSpPr>
        <p:spPr>
          <a:xfrm>
            <a:off x="594360" y="3959352"/>
            <a:ext cx="2462707" cy="201168"/>
          </a:xfrm>
          <a:prstGeom prst="rect">
            <a:avLst/>
          </a:prstGeom>
          <a:noFill/>
        </p:spPr>
        <p:txBody>
          <a:bodyPr wrap="square" lIns="45720" rIns="45720" tIns="18288" bIns="18288" anchor="ctr">
            <a:spAutoFit/>
          </a:bodyPr>
          <a:lstStyle/>
          <a:p>
            <a:pPr algn="ctr"/>
            <a:r>
              <a:rPr sz="800" b="1" i="1">
                <a:solidFill>
                  <a:srgbClr val="2C578B"/>
                </a:solidFill>
                <a:latin typeface="Arial"/>
              </a:rPr>
              <a:t>DOMAIN · Asset Management</a:t>
            </a:r>
          </a:p>
        </p:txBody>
      </p:sp>
      <p:sp>
        <p:nvSpPr>
          <p:cNvPr id="42" name="TextBox 41"/>
          <p:cNvSpPr txBox="1"/>
          <p:nvPr/>
        </p:nvSpPr>
        <p:spPr>
          <a:xfrm>
            <a:off x="594360" y="4169664"/>
            <a:ext cx="2462707" cy="640080"/>
          </a:xfrm>
          <a:prstGeom prst="rect">
            <a:avLst/>
          </a:prstGeom>
          <a:noFill/>
        </p:spPr>
        <p:txBody>
          <a:bodyPr wrap="square" lIns="45720" rIns="45720" tIns="18288" bIns="18288" anchor="t">
            <a:spAutoFit/>
          </a:bodyPr>
          <a:lstStyle/>
          <a:p>
            <a:pPr algn="ctr"/>
            <a:r>
              <a:rPr sz="1050" b="0" i="1">
                <a:solidFill>
                  <a:srgbClr val="2C3E50"/>
                </a:solidFill>
                <a:latin typeface="Arial"/>
              </a:rPr>
              <a:t>Engineer / planner designs with reliable data</a:t>
            </a:r>
          </a:p>
        </p:txBody>
      </p:sp>
      <p:sp>
        <p:nvSpPr>
          <p:cNvPr id="43" name="Rectangle 42"/>
          <p:cNvSpPr/>
          <p:nvPr/>
        </p:nvSpPr>
        <p:spPr>
          <a:xfrm>
            <a:off x="594360" y="4663440"/>
            <a:ext cx="2462707" cy="457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94360" y="4754880"/>
            <a:ext cx="2462707" cy="228600"/>
          </a:xfrm>
          <a:prstGeom prst="rect">
            <a:avLst/>
          </a:prstGeom>
          <a:noFill/>
        </p:spPr>
        <p:txBody>
          <a:bodyPr wrap="square" lIns="45720" rIns="45720" tIns="18288" bIns="18288" anchor="t">
            <a:spAutoFit/>
          </a:bodyPr>
          <a:lstStyle/>
          <a:p>
            <a:pPr algn="l"/>
            <a:r>
              <a:rPr sz="800" b="1" i="0">
                <a:solidFill>
                  <a:srgbClr val="2C578B"/>
                </a:solidFill>
                <a:latin typeface="Arial"/>
              </a:rPr>
              <a:t>EXAMPLE APPLICATIONS</a:t>
            </a:r>
          </a:p>
        </p:txBody>
      </p:sp>
      <p:sp>
        <p:nvSpPr>
          <p:cNvPr id="45" name="TextBox 44"/>
          <p:cNvSpPr txBox="1"/>
          <p:nvPr/>
        </p:nvSpPr>
        <p:spPr>
          <a:xfrm>
            <a:off x="594360" y="4983480"/>
            <a:ext cx="2462707" cy="457200"/>
          </a:xfrm>
          <a:prstGeom prst="rect">
            <a:avLst/>
          </a:prstGeom>
          <a:noFill/>
        </p:spPr>
        <p:txBody>
          <a:bodyPr wrap="square" lIns="45720" rIns="45720" tIns="18288" bIns="18288" anchor="t">
            <a:spAutoFit/>
          </a:bodyPr>
          <a:lstStyle/>
          <a:p>
            <a:pPr algn="ctr"/>
            <a:r>
              <a:rPr sz="1000" b="0" i="0">
                <a:solidFill>
                  <a:srgbClr val="2C3E50"/>
                </a:solidFill>
                <a:latin typeface="Arial"/>
              </a:rPr>
              <a:t>ArcFM · ProjectWise · Bentley · CYME</a:t>
            </a:r>
          </a:p>
        </p:txBody>
      </p:sp>
      <p:sp>
        <p:nvSpPr>
          <p:cNvPr id="46" name="Rounded Rectangle 45"/>
          <p:cNvSpPr/>
          <p:nvPr/>
        </p:nvSpPr>
        <p:spPr>
          <a:xfrm>
            <a:off x="3303955" y="3300984"/>
            <a:ext cx="2737027" cy="2231136"/>
          </a:xfrm>
          <a:prstGeom prst="roundRect">
            <a:avLst>
              <a:gd name="adj" fmla="val 4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303955" y="3300984"/>
            <a:ext cx="2737027" cy="6400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395395" y="3374136"/>
            <a:ext cx="2554147" cy="502920"/>
          </a:xfrm>
          <a:prstGeom prst="rect">
            <a:avLst/>
          </a:prstGeom>
          <a:noFill/>
        </p:spPr>
        <p:txBody>
          <a:bodyPr wrap="square" lIns="45720" rIns="45720" tIns="18288" bIns="18288" anchor="ctr">
            <a:spAutoFit/>
          </a:bodyPr>
          <a:lstStyle/>
          <a:p>
            <a:pPr algn="ctr"/>
            <a:r>
              <a:rPr sz="1200" b="1" i="0">
                <a:solidFill>
                  <a:srgbClr val="FFFFFF"/>
                </a:solidFill>
                <a:latin typeface="Arial"/>
              </a:rPr>
              <a:t>Network Operations &amp; Control</a:t>
            </a:r>
          </a:p>
        </p:txBody>
      </p:sp>
      <p:sp>
        <p:nvSpPr>
          <p:cNvPr id="49" name="TextBox 48"/>
          <p:cNvSpPr txBox="1"/>
          <p:nvPr/>
        </p:nvSpPr>
        <p:spPr>
          <a:xfrm>
            <a:off x="3441115" y="3959352"/>
            <a:ext cx="2462707" cy="201168"/>
          </a:xfrm>
          <a:prstGeom prst="rect">
            <a:avLst/>
          </a:prstGeom>
          <a:noFill/>
        </p:spPr>
        <p:txBody>
          <a:bodyPr wrap="square" lIns="45720" rIns="45720" tIns="18288" bIns="18288" anchor="ctr">
            <a:spAutoFit/>
          </a:bodyPr>
          <a:lstStyle/>
          <a:p>
            <a:pPr algn="ctr"/>
            <a:r>
              <a:rPr sz="800" b="1" i="1">
                <a:solidFill>
                  <a:srgbClr val="2C578B"/>
                </a:solidFill>
                <a:latin typeface="Arial"/>
              </a:rPr>
              <a:t>DOMAIN · Network Operations</a:t>
            </a:r>
          </a:p>
        </p:txBody>
      </p:sp>
      <p:sp>
        <p:nvSpPr>
          <p:cNvPr id="50" name="TextBox 49"/>
          <p:cNvSpPr txBox="1"/>
          <p:nvPr/>
        </p:nvSpPr>
        <p:spPr>
          <a:xfrm>
            <a:off x="3441115" y="4169664"/>
            <a:ext cx="2462707" cy="640080"/>
          </a:xfrm>
          <a:prstGeom prst="rect">
            <a:avLst/>
          </a:prstGeom>
          <a:noFill/>
        </p:spPr>
        <p:txBody>
          <a:bodyPr wrap="square" lIns="45720" rIns="45720" tIns="18288" bIns="18288" anchor="t">
            <a:spAutoFit/>
          </a:bodyPr>
          <a:lstStyle/>
          <a:p>
            <a:pPr algn="ctr"/>
            <a:r>
              <a:rPr sz="1050" b="0" i="1">
                <a:solidFill>
                  <a:srgbClr val="2C3E50"/>
                </a:solidFill>
                <a:latin typeface="Arial"/>
              </a:rPr>
              <a:t>Grid operator prevents and minimizes outages</a:t>
            </a:r>
          </a:p>
        </p:txBody>
      </p:sp>
      <p:sp>
        <p:nvSpPr>
          <p:cNvPr id="51" name="Rectangle 50"/>
          <p:cNvSpPr/>
          <p:nvPr/>
        </p:nvSpPr>
        <p:spPr>
          <a:xfrm>
            <a:off x="3441115" y="4663440"/>
            <a:ext cx="2462707" cy="457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441115" y="4754880"/>
            <a:ext cx="2462707" cy="228600"/>
          </a:xfrm>
          <a:prstGeom prst="rect">
            <a:avLst/>
          </a:prstGeom>
          <a:noFill/>
        </p:spPr>
        <p:txBody>
          <a:bodyPr wrap="square" lIns="45720" rIns="45720" tIns="18288" bIns="18288" anchor="t">
            <a:spAutoFit/>
          </a:bodyPr>
          <a:lstStyle/>
          <a:p>
            <a:pPr algn="l"/>
            <a:r>
              <a:rPr sz="800" b="1" i="0">
                <a:solidFill>
                  <a:srgbClr val="2C578B"/>
                </a:solidFill>
                <a:latin typeface="Arial"/>
              </a:rPr>
              <a:t>EXAMPLE APPLICATIONS</a:t>
            </a:r>
          </a:p>
        </p:txBody>
      </p:sp>
      <p:sp>
        <p:nvSpPr>
          <p:cNvPr id="53" name="TextBox 52"/>
          <p:cNvSpPr txBox="1"/>
          <p:nvPr/>
        </p:nvSpPr>
        <p:spPr>
          <a:xfrm>
            <a:off x="3441115" y="4983480"/>
            <a:ext cx="2462707" cy="457200"/>
          </a:xfrm>
          <a:prstGeom prst="rect">
            <a:avLst/>
          </a:prstGeom>
          <a:noFill/>
        </p:spPr>
        <p:txBody>
          <a:bodyPr wrap="square" lIns="45720" rIns="45720" tIns="18288" bIns="18288" anchor="t">
            <a:spAutoFit/>
          </a:bodyPr>
          <a:lstStyle/>
          <a:p>
            <a:pPr algn="ctr"/>
            <a:r>
              <a:rPr sz="1000" b="0" i="0">
                <a:solidFill>
                  <a:srgbClr val="2C3E50"/>
                </a:solidFill>
                <a:latin typeface="Arial"/>
              </a:rPr>
              <a:t>Echelon · Cimplicity · SLAM · Switching Orders</a:t>
            </a:r>
          </a:p>
        </p:txBody>
      </p:sp>
      <p:sp>
        <p:nvSpPr>
          <p:cNvPr id="54" name="Rounded Rectangle 53"/>
          <p:cNvSpPr/>
          <p:nvPr/>
        </p:nvSpPr>
        <p:spPr>
          <a:xfrm>
            <a:off x="6150711" y="3300984"/>
            <a:ext cx="2737027" cy="2231136"/>
          </a:xfrm>
          <a:prstGeom prst="roundRect">
            <a:avLst>
              <a:gd name="adj" fmla="val 4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150711" y="3300984"/>
            <a:ext cx="2737027" cy="6400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42151" y="3374136"/>
            <a:ext cx="2554147" cy="502920"/>
          </a:xfrm>
          <a:prstGeom prst="rect">
            <a:avLst/>
          </a:prstGeom>
          <a:noFill/>
        </p:spPr>
        <p:txBody>
          <a:bodyPr wrap="square" lIns="45720" rIns="45720" tIns="18288" bIns="18288" anchor="ctr">
            <a:spAutoFit/>
          </a:bodyPr>
          <a:lstStyle/>
          <a:p>
            <a:pPr algn="ctr"/>
            <a:r>
              <a:rPr sz="1200" b="1" i="0">
                <a:solidFill>
                  <a:srgbClr val="FFFFFF"/>
                </a:solidFill>
                <a:latin typeface="Arial"/>
              </a:rPr>
              <a:t>Corporate &amp; Regulatory</a:t>
            </a:r>
          </a:p>
        </p:txBody>
      </p:sp>
      <p:sp>
        <p:nvSpPr>
          <p:cNvPr id="57" name="TextBox 56"/>
          <p:cNvSpPr txBox="1"/>
          <p:nvPr/>
        </p:nvSpPr>
        <p:spPr>
          <a:xfrm>
            <a:off x="6287871" y="3959352"/>
            <a:ext cx="2462707" cy="201168"/>
          </a:xfrm>
          <a:prstGeom prst="rect">
            <a:avLst/>
          </a:prstGeom>
          <a:noFill/>
        </p:spPr>
        <p:txBody>
          <a:bodyPr wrap="square" lIns="45720" rIns="45720" tIns="18288" bIns="18288" anchor="ctr">
            <a:spAutoFit/>
          </a:bodyPr>
          <a:lstStyle/>
          <a:p>
            <a:pPr algn="ctr"/>
            <a:r>
              <a:rPr sz="800" b="1" i="1">
                <a:solidFill>
                  <a:srgbClr val="2C578B"/>
                </a:solidFill>
                <a:latin typeface="Arial"/>
              </a:rPr>
              <a:t>DOMAIN · Finance · HR · Procurement · Regulatory</a:t>
            </a:r>
          </a:p>
        </p:txBody>
      </p:sp>
      <p:sp>
        <p:nvSpPr>
          <p:cNvPr id="58" name="TextBox 57"/>
          <p:cNvSpPr txBox="1"/>
          <p:nvPr/>
        </p:nvSpPr>
        <p:spPr>
          <a:xfrm>
            <a:off x="6287871" y="4169664"/>
            <a:ext cx="2462707" cy="640080"/>
          </a:xfrm>
          <a:prstGeom prst="rect">
            <a:avLst/>
          </a:prstGeom>
          <a:noFill/>
        </p:spPr>
        <p:txBody>
          <a:bodyPr wrap="square" lIns="45720" rIns="45720" tIns="18288" bIns="18288" anchor="t">
            <a:spAutoFit/>
          </a:bodyPr>
          <a:lstStyle/>
          <a:p>
            <a:pPr algn="ctr"/>
            <a:r>
              <a:rPr sz="1050" b="0" i="1">
                <a:solidFill>
                  <a:srgbClr val="2C3E50"/>
                </a:solidFill>
                <a:latin typeface="Arial"/>
              </a:rPr>
              <a:t>HR / employee / regulatory user self-service</a:t>
            </a:r>
          </a:p>
        </p:txBody>
      </p:sp>
      <p:sp>
        <p:nvSpPr>
          <p:cNvPr id="59" name="Rectangle 58"/>
          <p:cNvSpPr/>
          <p:nvPr/>
        </p:nvSpPr>
        <p:spPr>
          <a:xfrm>
            <a:off x="6287871" y="4663440"/>
            <a:ext cx="2462707" cy="457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87871" y="4754880"/>
            <a:ext cx="2462707" cy="228600"/>
          </a:xfrm>
          <a:prstGeom prst="rect">
            <a:avLst/>
          </a:prstGeom>
          <a:noFill/>
        </p:spPr>
        <p:txBody>
          <a:bodyPr wrap="square" lIns="45720" rIns="45720" tIns="18288" bIns="18288" anchor="t">
            <a:spAutoFit/>
          </a:bodyPr>
          <a:lstStyle/>
          <a:p>
            <a:pPr algn="l"/>
            <a:r>
              <a:rPr sz="800" b="1" i="0">
                <a:solidFill>
                  <a:srgbClr val="2C578B"/>
                </a:solidFill>
                <a:latin typeface="Arial"/>
              </a:rPr>
              <a:t>EXAMPLE APPLICATIONS</a:t>
            </a:r>
          </a:p>
        </p:txBody>
      </p:sp>
      <p:sp>
        <p:nvSpPr>
          <p:cNvPr id="61" name="TextBox 60"/>
          <p:cNvSpPr txBox="1"/>
          <p:nvPr/>
        </p:nvSpPr>
        <p:spPr>
          <a:xfrm>
            <a:off x="6287871" y="4983480"/>
            <a:ext cx="2462707" cy="457200"/>
          </a:xfrm>
          <a:prstGeom prst="rect">
            <a:avLst/>
          </a:prstGeom>
          <a:noFill/>
        </p:spPr>
        <p:txBody>
          <a:bodyPr wrap="square" lIns="45720" rIns="45720" tIns="18288" bIns="18288" anchor="t">
            <a:spAutoFit/>
          </a:bodyPr>
          <a:lstStyle/>
          <a:p>
            <a:pPr algn="ctr"/>
            <a:r>
              <a:rPr sz="1000" b="0" i="0">
                <a:solidFill>
                  <a:srgbClr val="2C3E50"/>
                </a:solidFill>
                <a:latin typeface="Arial"/>
              </a:rPr>
              <a:t>OpenText · Rate Case Advisor · Utilisphere</a:t>
            </a:r>
          </a:p>
        </p:txBody>
      </p:sp>
      <p:sp>
        <p:nvSpPr>
          <p:cNvPr id="62" name="Rounded Rectangle 61"/>
          <p:cNvSpPr/>
          <p:nvPr/>
        </p:nvSpPr>
        <p:spPr>
          <a:xfrm>
            <a:off x="8997467" y="3300984"/>
            <a:ext cx="2737027" cy="2231136"/>
          </a:xfrm>
          <a:prstGeom prst="roundRect">
            <a:avLst>
              <a:gd name="adj" fmla="val 4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8997467" y="3300984"/>
            <a:ext cx="2737027" cy="6400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088907" y="3374136"/>
            <a:ext cx="2554147" cy="502920"/>
          </a:xfrm>
          <a:prstGeom prst="rect">
            <a:avLst/>
          </a:prstGeom>
          <a:noFill/>
        </p:spPr>
        <p:txBody>
          <a:bodyPr wrap="square" lIns="45720" rIns="45720" tIns="18288" bIns="18288" anchor="ctr">
            <a:spAutoFit/>
          </a:bodyPr>
          <a:lstStyle/>
          <a:p>
            <a:pPr algn="ctr"/>
            <a:r>
              <a:rPr sz="1200" b="1" i="0">
                <a:solidFill>
                  <a:srgbClr val="FFFFFF"/>
                </a:solidFill>
                <a:latin typeface="Arial"/>
              </a:rPr>
              <a:t>Iberdrola Corporate Services</a:t>
            </a:r>
          </a:p>
        </p:txBody>
      </p:sp>
      <p:sp>
        <p:nvSpPr>
          <p:cNvPr id="65" name="TextBox 64"/>
          <p:cNvSpPr txBox="1"/>
          <p:nvPr/>
        </p:nvSpPr>
        <p:spPr>
          <a:xfrm>
            <a:off x="9134627" y="3959352"/>
            <a:ext cx="2462707" cy="201168"/>
          </a:xfrm>
          <a:prstGeom prst="rect">
            <a:avLst/>
          </a:prstGeom>
          <a:noFill/>
        </p:spPr>
        <p:txBody>
          <a:bodyPr wrap="square" lIns="45720" rIns="45720" tIns="18288" bIns="18288" anchor="ctr">
            <a:spAutoFit/>
          </a:bodyPr>
          <a:lstStyle/>
          <a:p>
            <a:pPr algn="ctr"/>
            <a:r>
              <a:rPr sz="800" b="1" i="1">
                <a:solidFill>
                  <a:srgbClr val="2C578B"/>
                </a:solidFill>
                <a:latin typeface="Arial"/>
              </a:rPr>
              <a:t>DOMAIN · Finance · Procurement (Iberdrola)</a:t>
            </a:r>
          </a:p>
        </p:txBody>
      </p:sp>
      <p:sp>
        <p:nvSpPr>
          <p:cNvPr id="66" name="TextBox 65"/>
          <p:cNvSpPr txBox="1"/>
          <p:nvPr/>
        </p:nvSpPr>
        <p:spPr>
          <a:xfrm>
            <a:off x="9134627" y="4169664"/>
            <a:ext cx="2462707" cy="640080"/>
          </a:xfrm>
          <a:prstGeom prst="rect">
            <a:avLst/>
          </a:prstGeom>
          <a:noFill/>
        </p:spPr>
        <p:txBody>
          <a:bodyPr wrap="square" lIns="45720" rIns="45720" tIns="18288" bIns="18288" anchor="t">
            <a:spAutoFit/>
          </a:bodyPr>
          <a:lstStyle/>
          <a:p>
            <a:pPr algn="ctr"/>
            <a:r>
              <a:rPr sz="1050" b="0" i="1">
                <a:solidFill>
                  <a:srgbClr val="2C3E50"/>
                </a:solidFill>
                <a:latin typeface="Arial"/>
              </a:rPr>
              <a:t>Spain finance / procurement / budget</a:t>
            </a:r>
          </a:p>
        </p:txBody>
      </p:sp>
      <p:sp>
        <p:nvSpPr>
          <p:cNvPr id="67" name="Rectangle 66"/>
          <p:cNvSpPr/>
          <p:nvPr/>
        </p:nvSpPr>
        <p:spPr>
          <a:xfrm>
            <a:off x="9134627" y="4663440"/>
            <a:ext cx="2462707" cy="457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134627" y="4754880"/>
            <a:ext cx="2462707" cy="228600"/>
          </a:xfrm>
          <a:prstGeom prst="rect">
            <a:avLst/>
          </a:prstGeom>
          <a:noFill/>
        </p:spPr>
        <p:txBody>
          <a:bodyPr wrap="square" lIns="45720" rIns="45720" tIns="18288" bIns="18288" anchor="t">
            <a:spAutoFit/>
          </a:bodyPr>
          <a:lstStyle/>
          <a:p>
            <a:pPr algn="l"/>
            <a:r>
              <a:rPr sz="800" b="1" i="0">
                <a:solidFill>
                  <a:srgbClr val="2C578B"/>
                </a:solidFill>
                <a:latin typeface="Arial"/>
              </a:rPr>
              <a:t>EXAMPLE APPLICATIONS</a:t>
            </a:r>
          </a:p>
        </p:txBody>
      </p:sp>
      <p:sp>
        <p:nvSpPr>
          <p:cNvPr id="69" name="TextBox 68"/>
          <p:cNvSpPr txBox="1"/>
          <p:nvPr/>
        </p:nvSpPr>
        <p:spPr>
          <a:xfrm>
            <a:off x="9134627" y="4983480"/>
            <a:ext cx="2462707" cy="457200"/>
          </a:xfrm>
          <a:prstGeom prst="rect">
            <a:avLst/>
          </a:prstGeom>
          <a:noFill/>
        </p:spPr>
        <p:txBody>
          <a:bodyPr wrap="square" lIns="45720" rIns="45720" tIns="18288" bIns="18288" anchor="t">
            <a:spAutoFit/>
          </a:bodyPr>
          <a:lstStyle/>
          <a:p>
            <a:pPr algn="ctr"/>
            <a:r>
              <a:rPr sz="1000" b="0" i="0">
                <a:solidFill>
                  <a:srgbClr val="2C3E50"/>
                </a:solidFill>
                <a:latin typeface="Arial"/>
              </a:rPr>
              <a:t>SAP FI · PO · Budget · S/4HANA</a:t>
            </a:r>
          </a:p>
        </p:txBody>
      </p:sp>
      <p:sp>
        <p:nvSpPr>
          <p:cNvPr id="70" name="Rectangle 69"/>
          <p:cNvSpPr/>
          <p:nvPr/>
        </p:nvSpPr>
        <p:spPr>
          <a:xfrm>
            <a:off x="457200" y="5760720"/>
            <a:ext cx="274320" cy="27432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22960" y="5760720"/>
            <a:ext cx="4114800" cy="274320"/>
          </a:xfrm>
          <a:prstGeom prst="rect">
            <a:avLst/>
          </a:prstGeom>
          <a:noFill/>
        </p:spPr>
        <p:txBody>
          <a:bodyPr wrap="square" lIns="45720" rIns="45720" tIns="18288" bIns="18288" anchor="ctr">
            <a:spAutoFit/>
          </a:bodyPr>
          <a:lstStyle/>
          <a:p>
            <a:pPr algn="l"/>
            <a:r>
              <a:rPr sz="1100" b="0" i="0">
                <a:solidFill>
                  <a:srgbClr val="2C3E50"/>
                </a:solidFill>
                <a:latin typeface="Arial"/>
              </a:rPr>
              <a:t>Customer Services Applications</a:t>
            </a:r>
          </a:p>
        </p:txBody>
      </p:sp>
      <p:sp>
        <p:nvSpPr>
          <p:cNvPr id="72" name="Rectangle 71"/>
          <p:cNvSpPr/>
          <p:nvPr/>
        </p:nvSpPr>
        <p:spPr>
          <a:xfrm>
            <a:off x="5029200" y="5760720"/>
            <a:ext cx="274320" cy="2743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394960" y="5760720"/>
            <a:ext cx="4114800" cy="274320"/>
          </a:xfrm>
          <a:prstGeom prst="rect">
            <a:avLst/>
          </a:prstGeom>
          <a:noFill/>
        </p:spPr>
        <p:txBody>
          <a:bodyPr wrap="square" lIns="45720" rIns="45720" tIns="18288" bIns="18288" anchor="ctr">
            <a:spAutoFit/>
          </a:bodyPr>
          <a:lstStyle/>
          <a:p>
            <a:pPr algn="l"/>
            <a:r>
              <a:rPr sz="1100" b="0" i="0">
                <a:solidFill>
                  <a:srgbClr val="2C3E50"/>
                </a:solidFill>
                <a:latin typeface="Arial"/>
              </a:rPr>
              <a:t>IT Business Applications</a:t>
            </a:r>
          </a:p>
        </p:txBody>
      </p:sp>
      <p:sp>
        <p:nvSpPr>
          <p:cNvPr id="74" name="TextBox 73"/>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TARGET OPERATING MODEL LIFECYCLE</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FOUR STAGES · WAVE 1 FOCUSES ON STAGE 01</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TextBox 5"/>
          <p:cNvSpPr txBox="1"/>
          <p:nvPr/>
        </p:nvSpPr>
        <p:spPr>
          <a:xfrm>
            <a:off x="457200" y="960120"/>
            <a:ext cx="11277295" cy="411480"/>
          </a:xfrm>
          <a:prstGeom prst="rect">
            <a:avLst/>
          </a:prstGeom>
          <a:noFill/>
        </p:spPr>
        <p:txBody>
          <a:bodyPr wrap="square" lIns="45720" rIns="45720" tIns="18288" bIns="18288" anchor="t">
            <a:spAutoFit/>
          </a:bodyPr>
          <a:lstStyle/>
          <a:p>
            <a:pPr algn="l"/>
            <a:r>
              <a:rPr sz="1100" b="1" i="1">
                <a:solidFill>
                  <a:srgbClr val="2C578B"/>
                </a:solidFill>
                <a:latin typeface="Arial"/>
              </a:rPr>
              <a:t>A complete product-centric operating model spans four stages, end to end. This proposal designs Stage 01 in detail and pilots it. Stages 02–04 are acknowledged here but are out of Wave 1 scope — they will be designed once Stage 01 is validated.</a:t>
            </a:r>
          </a:p>
        </p:txBody>
      </p:sp>
      <p:sp>
        <p:nvSpPr>
          <p:cNvPr id="7" name="Rounded Rectangle 6"/>
          <p:cNvSpPr/>
          <p:nvPr/>
        </p:nvSpPr>
        <p:spPr>
          <a:xfrm>
            <a:off x="457200" y="1554480"/>
            <a:ext cx="2716453" cy="4297680"/>
          </a:xfrm>
          <a:prstGeom prst="roundRect">
            <a:avLst>
              <a:gd name="adj" fmla="val 5000"/>
            </a:avLst>
          </a:prstGeom>
          <a:solidFill>
            <a:srgbClr val="FFFFFF"/>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554480"/>
            <a:ext cx="2716453" cy="5029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600200"/>
            <a:ext cx="640080" cy="411480"/>
          </a:xfrm>
          <a:prstGeom prst="rect">
            <a:avLst/>
          </a:prstGeom>
          <a:noFill/>
        </p:spPr>
        <p:txBody>
          <a:bodyPr wrap="square" lIns="45720" rIns="45720" tIns="18288" bIns="18288" anchor="ctr">
            <a:spAutoFit/>
          </a:bodyPr>
          <a:lstStyle/>
          <a:p>
            <a:pPr algn="l"/>
            <a:r>
              <a:rPr sz="1800" b="1" i="0">
                <a:solidFill>
                  <a:srgbClr val="FFFFFF"/>
                </a:solidFill>
                <a:latin typeface="Arial"/>
              </a:rPr>
              <a:t>01</a:t>
            </a:r>
          </a:p>
        </p:txBody>
      </p:sp>
      <p:sp>
        <p:nvSpPr>
          <p:cNvPr id="10" name="TextBox 9"/>
          <p:cNvSpPr txBox="1"/>
          <p:nvPr/>
        </p:nvSpPr>
        <p:spPr>
          <a:xfrm>
            <a:off x="1234440" y="1600200"/>
            <a:ext cx="1802053" cy="411480"/>
          </a:xfrm>
          <a:prstGeom prst="rect">
            <a:avLst/>
          </a:prstGeom>
          <a:noFill/>
        </p:spPr>
        <p:txBody>
          <a:bodyPr wrap="square" lIns="45720" rIns="45720" tIns="18288" bIns="18288" anchor="ctr">
            <a:spAutoFit/>
          </a:bodyPr>
          <a:lstStyle/>
          <a:p>
            <a:pPr algn="l"/>
            <a:r>
              <a:rPr sz="1100" b="1" i="0">
                <a:solidFill>
                  <a:srgbClr val="FFFFFF"/>
                </a:solidFill>
                <a:latin typeface="Arial"/>
              </a:rPr>
              <a:t>DEMAND MANAGEMENT</a:t>
            </a:r>
          </a:p>
        </p:txBody>
      </p:sp>
      <p:sp>
        <p:nvSpPr>
          <p:cNvPr id="11" name="TextBox 10"/>
          <p:cNvSpPr txBox="1"/>
          <p:nvPr/>
        </p:nvSpPr>
        <p:spPr>
          <a:xfrm>
            <a:off x="640080" y="2194560"/>
            <a:ext cx="2350693" cy="640080"/>
          </a:xfrm>
          <a:prstGeom prst="rect">
            <a:avLst/>
          </a:prstGeom>
          <a:noFill/>
        </p:spPr>
        <p:txBody>
          <a:bodyPr wrap="square" lIns="45720" rIns="45720" tIns="18288" bIns="18288" anchor="t">
            <a:spAutoFit/>
          </a:bodyPr>
          <a:lstStyle/>
          <a:p>
            <a:pPr algn="l"/>
            <a:r>
              <a:rPr sz="1000" b="1" i="1">
                <a:solidFill>
                  <a:srgbClr val="2E7D32"/>
                </a:solidFill>
                <a:latin typeface="Arial"/>
              </a:rPr>
              <a:t>How demand enters, is shaped, classified and prioritized.</a:t>
            </a:r>
          </a:p>
        </p:txBody>
      </p:sp>
      <p:sp>
        <p:nvSpPr>
          <p:cNvPr id="12" name="TextBox 11"/>
          <p:cNvSpPr txBox="1"/>
          <p:nvPr/>
        </p:nvSpPr>
        <p:spPr>
          <a:xfrm>
            <a:off x="685800" y="2926080"/>
            <a:ext cx="2259253" cy="2103120"/>
          </a:xfrm>
          <a:prstGeom prst="rect">
            <a:avLst/>
          </a:prstGeom>
          <a:noFill/>
        </p:spPr>
        <p:txBody>
          <a:bodyPr wrap="square" lIns="45720" rIns="45720" tIns="36576" bIns="36576">
            <a:spAutoFit/>
          </a:bodyPr>
          <a:lstStyle/>
          <a:p>
            <a:pPr>
              <a:lnSpc>
                <a:spcPct val="135000"/>
              </a:lnSpc>
            </a:pPr>
            <a:r>
              <a:rPr sz="950" b="0">
                <a:solidFill>
                  <a:srgbClr val="2C3E50"/>
                </a:solidFill>
                <a:latin typeface="Arial"/>
              </a:rPr>
              <a:t>•  Single intake per Value Stream</a:t>
            </a:r>
          </a:p>
          <a:p>
            <a:pPr>
              <a:lnSpc>
                <a:spcPct val="135000"/>
              </a:lnSpc>
            </a:pPr>
            <a:r>
              <a:rPr sz="950" b="0">
                <a:solidFill>
                  <a:srgbClr val="2C3E50"/>
                </a:solidFill>
                <a:latin typeface="Arial"/>
              </a:rPr>
              <a:t>•  Definition of Ready · Class of Service</a:t>
            </a:r>
          </a:p>
          <a:p>
            <a:pPr>
              <a:lnSpc>
                <a:spcPct val="135000"/>
              </a:lnSpc>
            </a:pPr>
            <a:r>
              <a:rPr sz="950" b="0">
                <a:solidFill>
                  <a:srgbClr val="2C3E50"/>
                </a:solidFill>
                <a:latin typeface="Arial"/>
              </a:rPr>
              <a:t>•  Two-gate governance (weekly + monthly)</a:t>
            </a:r>
          </a:p>
          <a:p>
            <a:pPr>
              <a:lnSpc>
                <a:spcPct val="135000"/>
              </a:lnSpc>
            </a:pPr>
            <a:r>
              <a:rPr sz="950" b="0">
                <a:solidFill>
                  <a:srgbClr val="2C3E50"/>
                </a:solidFill>
                <a:latin typeface="Arial"/>
              </a:rPr>
              <a:t>•  Pain Score prioritization</a:t>
            </a:r>
          </a:p>
        </p:txBody>
      </p:sp>
      <p:sp>
        <p:nvSpPr>
          <p:cNvPr id="13" name="Rounded Rectangle 12"/>
          <p:cNvSpPr/>
          <p:nvPr/>
        </p:nvSpPr>
        <p:spPr>
          <a:xfrm>
            <a:off x="685800" y="5212080"/>
            <a:ext cx="2259253" cy="365760"/>
          </a:xfrm>
          <a:prstGeom prst="roundRect">
            <a:avLst>
              <a:gd name="adj" fmla="val 30000"/>
            </a:avLst>
          </a:prstGeom>
          <a:solidFill>
            <a:srgbClr val="2E7D32"/>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212080"/>
            <a:ext cx="2259253" cy="365760"/>
          </a:xfrm>
          <a:prstGeom prst="rect">
            <a:avLst/>
          </a:prstGeom>
          <a:noFill/>
        </p:spPr>
        <p:txBody>
          <a:bodyPr wrap="square" lIns="45720" rIns="45720" tIns="18288" bIns="18288" anchor="ctr">
            <a:spAutoFit/>
          </a:bodyPr>
          <a:lstStyle/>
          <a:p>
            <a:pPr algn="ctr"/>
            <a:r>
              <a:rPr sz="900" b="1" i="0">
                <a:solidFill>
                  <a:srgbClr val="FFFFFF"/>
                </a:solidFill>
                <a:latin typeface="Arial"/>
              </a:rPr>
              <a:t>WAVE 1 — IN SCOPE</a:t>
            </a:r>
          </a:p>
        </p:txBody>
      </p:sp>
      <p:sp>
        <p:nvSpPr>
          <p:cNvPr id="15" name="Rounded Rectangle 14"/>
          <p:cNvSpPr/>
          <p:nvPr/>
        </p:nvSpPr>
        <p:spPr>
          <a:xfrm>
            <a:off x="3310813" y="1554480"/>
            <a:ext cx="2716453" cy="4297680"/>
          </a:xfrm>
          <a:prstGeom prst="roundRect">
            <a:avLst>
              <a:gd name="adj" fmla="val 5000"/>
            </a:avLst>
          </a:prstGeom>
          <a:solidFill>
            <a:srgbClr val="FFFFFF"/>
          </a:solidFill>
          <a:ln w="190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0813" y="1554480"/>
            <a:ext cx="2716453" cy="502920"/>
          </a:xfrm>
          <a:prstGeom prst="rect">
            <a:avLst/>
          </a:prstGeom>
          <a:solidFill>
            <a:srgbClr val="6E7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47973" y="1600200"/>
            <a:ext cx="640080" cy="411480"/>
          </a:xfrm>
          <a:prstGeom prst="rect">
            <a:avLst/>
          </a:prstGeom>
          <a:noFill/>
        </p:spPr>
        <p:txBody>
          <a:bodyPr wrap="square" lIns="45720" rIns="45720" tIns="18288" bIns="18288" anchor="ctr">
            <a:spAutoFit/>
          </a:bodyPr>
          <a:lstStyle/>
          <a:p>
            <a:pPr algn="l"/>
            <a:r>
              <a:rPr sz="1800" b="1" i="0">
                <a:solidFill>
                  <a:srgbClr val="FFFFFF"/>
                </a:solidFill>
                <a:latin typeface="Arial"/>
              </a:rPr>
              <a:t>02</a:t>
            </a:r>
          </a:p>
        </p:txBody>
      </p:sp>
      <p:sp>
        <p:nvSpPr>
          <p:cNvPr id="18" name="TextBox 17"/>
          <p:cNvSpPr txBox="1"/>
          <p:nvPr/>
        </p:nvSpPr>
        <p:spPr>
          <a:xfrm>
            <a:off x="4088053" y="1600200"/>
            <a:ext cx="1802053" cy="411480"/>
          </a:xfrm>
          <a:prstGeom prst="rect">
            <a:avLst/>
          </a:prstGeom>
          <a:noFill/>
        </p:spPr>
        <p:txBody>
          <a:bodyPr wrap="square" lIns="45720" rIns="45720" tIns="18288" bIns="18288" anchor="ctr">
            <a:spAutoFit/>
          </a:bodyPr>
          <a:lstStyle/>
          <a:p>
            <a:pPr algn="l"/>
            <a:r>
              <a:rPr sz="1100" b="1" i="0">
                <a:solidFill>
                  <a:srgbClr val="FFFFFF"/>
                </a:solidFill>
                <a:latin typeface="Arial"/>
              </a:rPr>
              <a:t>PLANNING</a:t>
            </a:r>
          </a:p>
        </p:txBody>
      </p:sp>
      <p:sp>
        <p:nvSpPr>
          <p:cNvPr id="19" name="TextBox 18"/>
          <p:cNvSpPr txBox="1"/>
          <p:nvPr/>
        </p:nvSpPr>
        <p:spPr>
          <a:xfrm>
            <a:off x="3493693" y="2194560"/>
            <a:ext cx="2350693" cy="640080"/>
          </a:xfrm>
          <a:prstGeom prst="rect">
            <a:avLst/>
          </a:prstGeom>
          <a:noFill/>
        </p:spPr>
        <p:txBody>
          <a:bodyPr wrap="square" lIns="45720" rIns="45720" tIns="18288" bIns="18288" anchor="t">
            <a:spAutoFit/>
          </a:bodyPr>
          <a:lstStyle/>
          <a:p>
            <a:pPr algn="l"/>
            <a:r>
              <a:rPr sz="1000" b="1" i="1">
                <a:solidFill>
                  <a:srgbClr val="6E7887"/>
                </a:solidFill>
                <a:latin typeface="Arial"/>
              </a:rPr>
              <a:t>How approved demand becomes a sequenced roadmap with capacity commitments.</a:t>
            </a:r>
          </a:p>
        </p:txBody>
      </p:sp>
      <p:sp>
        <p:nvSpPr>
          <p:cNvPr id="20" name="TextBox 19"/>
          <p:cNvSpPr txBox="1"/>
          <p:nvPr/>
        </p:nvSpPr>
        <p:spPr>
          <a:xfrm>
            <a:off x="3539413" y="2926080"/>
            <a:ext cx="2259253" cy="2103120"/>
          </a:xfrm>
          <a:prstGeom prst="rect">
            <a:avLst/>
          </a:prstGeom>
          <a:noFill/>
        </p:spPr>
        <p:txBody>
          <a:bodyPr wrap="square" lIns="45720" rIns="45720" tIns="36576" bIns="36576">
            <a:spAutoFit/>
          </a:bodyPr>
          <a:lstStyle/>
          <a:p>
            <a:pPr>
              <a:lnSpc>
                <a:spcPct val="135000"/>
              </a:lnSpc>
            </a:pPr>
            <a:r>
              <a:rPr sz="950" b="0">
                <a:solidFill>
                  <a:srgbClr val="95A5A6"/>
                </a:solidFill>
                <a:latin typeface="Arial"/>
              </a:rPr>
              <a:t>•  Quarterly planning cadence</a:t>
            </a:r>
          </a:p>
          <a:p>
            <a:pPr>
              <a:lnSpc>
                <a:spcPct val="135000"/>
              </a:lnSpc>
            </a:pPr>
            <a:r>
              <a:rPr sz="950" b="0">
                <a:solidFill>
                  <a:srgbClr val="95A5A6"/>
                </a:solidFill>
                <a:latin typeface="Arial"/>
              </a:rPr>
              <a:t>•  Capacity allocation per Value Stream</a:t>
            </a:r>
          </a:p>
          <a:p>
            <a:pPr>
              <a:lnSpc>
                <a:spcPct val="135000"/>
              </a:lnSpc>
            </a:pPr>
            <a:r>
              <a:rPr sz="950" b="0">
                <a:solidFill>
                  <a:srgbClr val="95A5A6"/>
                </a:solidFill>
                <a:latin typeface="Arial"/>
              </a:rPr>
              <a:t>•  Big Room Planning · cross-VS dependency mapping</a:t>
            </a:r>
          </a:p>
          <a:p>
            <a:pPr>
              <a:lnSpc>
                <a:spcPct val="135000"/>
              </a:lnSpc>
            </a:pPr>
            <a:r>
              <a:rPr sz="950" b="0">
                <a:solidFill>
                  <a:srgbClr val="95A5A6"/>
                </a:solidFill>
                <a:latin typeface="Arial"/>
              </a:rPr>
              <a:t>•  Roadmap publication and OKR linking</a:t>
            </a:r>
          </a:p>
        </p:txBody>
      </p:sp>
      <p:sp>
        <p:nvSpPr>
          <p:cNvPr id="21" name="Rounded Rectangle 20"/>
          <p:cNvSpPr/>
          <p:nvPr/>
        </p:nvSpPr>
        <p:spPr>
          <a:xfrm>
            <a:off x="3539413" y="5212080"/>
            <a:ext cx="2259253" cy="365760"/>
          </a:xfrm>
          <a:prstGeom prst="roundRect">
            <a:avLst>
              <a:gd name="adj" fmla="val 30000"/>
            </a:avLst>
          </a:prstGeom>
          <a:solidFill>
            <a:srgbClr val="F5F5F5"/>
          </a:solidFill>
          <a:ln w="1270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39413" y="5212080"/>
            <a:ext cx="2259253" cy="365760"/>
          </a:xfrm>
          <a:prstGeom prst="rect">
            <a:avLst/>
          </a:prstGeom>
          <a:noFill/>
        </p:spPr>
        <p:txBody>
          <a:bodyPr wrap="square" lIns="45720" rIns="45720" tIns="18288" bIns="18288" anchor="ctr">
            <a:spAutoFit/>
          </a:bodyPr>
          <a:lstStyle/>
          <a:p>
            <a:pPr algn="ctr"/>
            <a:r>
              <a:rPr sz="900" b="1" i="0">
                <a:solidFill>
                  <a:srgbClr val="6E7887"/>
                </a:solidFill>
                <a:latin typeface="Arial"/>
              </a:rPr>
              <a:t>OUT OF WAVE 1 SCOPE</a:t>
            </a:r>
          </a:p>
        </p:txBody>
      </p:sp>
      <p:sp>
        <p:nvSpPr>
          <p:cNvPr id="23" name="Rounded Rectangle 22"/>
          <p:cNvSpPr/>
          <p:nvPr/>
        </p:nvSpPr>
        <p:spPr>
          <a:xfrm>
            <a:off x="6164427" y="1554480"/>
            <a:ext cx="2716453" cy="4297680"/>
          </a:xfrm>
          <a:prstGeom prst="roundRect">
            <a:avLst>
              <a:gd name="adj" fmla="val 5000"/>
            </a:avLst>
          </a:prstGeom>
          <a:solidFill>
            <a:srgbClr val="FFFFFF"/>
          </a:solidFill>
          <a:ln w="190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64427" y="1554480"/>
            <a:ext cx="2716453" cy="502920"/>
          </a:xfrm>
          <a:prstGeom prst="rect">
            <a:avLst/>
          </a:prstGeom>
          <a:solidFill>
            <a:srgbClr val="6E7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1587" y="1600200"/>
            <a:ext cx="640080" cy="411480"/>
          </a:xfrm>
          <a:prstGeom prst="rect">
            <a:avLst/>
          </a:prstGeom>
          <a:noFill/>
        </p:spPr>
        <p:txBody>
          <a:bodyPr wrap="square" lIns="45720" rIns="45720" tIns="18288" bIns="18288" anchor="ctr">
            <a:spAutoFit/>
          </a:bodyPr>
          <a:lstStyle/>
          <a:p>
            <a:pPr algn="l"/>
            <a:r>
              <a:rPr sz="1800" b="1" i="0">
                <a:solidFill>
                  <a:srgbClr val="FFFFFF"/>
                </a:solidFill>
                <a:latin typeface="Arial"/>
              </a:rPr>
              <a:t>03</a:t>
            </a:r>
          </a:p>
        </p:txBody>
      </p:sp>
      <p:sp>
        <p:nvSpPr>
          <p:cNvPr id="26" name="TextBox 25"/>
          <p:cNvSpPr txBox="1"/>
          <p:nvPr/>
        </p:nvSpPr>
        <p:spPr>
          <a:xfrm>
            <a:off x="6941667" y="1600200"/>
            <a:ext cx="1802053" cy="411480"/>
          </a:xfrm>
          <a:prstGeom prst="rect">
            <a:avLst/>
          </a:prstGeom>
          <a:noFill/>
        </p:spPr>
        <p:txBody>
          <a:bodyPr wrap="square" lIns="45720" rIns="45720" tIns="18288" bIns="18288" anchor="ctr">
            <a:spAutoFit/>
          </a:bodyPr>
          <a:lstStyle/>
          <a:p>
            <a:pPr algn="l"/>
            <a:r>
              <a:rPr sz="1100" b="1" i="0">
                <a:solidFill>
                  <a:srgbClr val="FFFFFF"/>
                </a:solidFill>
                <a:latin typeface="Arial"/>
              </a:rPr>
              <a:t>DELIVERY</a:t>
            </a:r>
          </a:p>
        </p:txBody>
      </p:sp>
      <p:sp>
        <p:nvSpPr>
          <p:cNvPr id="27" name="TextBox 26"/>
          <p:cNvSpPr txBox="1"/>
          <p:nvPr/>
        </p:nvSpPr>
        <p:spPr>
          <a:xfrm>
            <a:off x="6347307" y="2194560"/>
            <a:ext cx="2350693" cy="640080"/>
          </a:xfrm>
          <a:prstGeom prst="rect">
            <a:avLst/>
          </a:prstGeom>
          <a:noFill/>
        </p:spPr>
        <p:txBody>
          <a:bodyPr wrap="square" lIns="45720" rIns="45720" tIns="18288" bIns="18288" anchor="t">
            <a:spAutoFit/>
          </a:bodyPr>
          <a:lstStyle/>
          <a:p>
            <a:pPr algn="l"/>
            <a:r>
              <a:rPr sz="1000" b="1" i="1">
                <a:solidFill>
                  <a:srgbClr val="6E7887"/>
                </a:solidFill>
                <a:latin typeface="Arial"/>
              </a:rPr>
              <a:t>How squads + vendors execute the work end to end.</a:t>
            </a:r>
          </a:p>
        </p:txBody>
      </p:sp>
      <p:sp>
        <p:nvSpPr>
          <p:cNvPr id="28" name="TextBox 27"/>
          <p:cNvSpPr txBox="1"/>
          <p:nvPr/>
        </p:nvSpPr>
        <p:spPr>
          <a:xfrm>
            <a:off x="6393027" y="2926080"/>
            <a:ext cx="2259253" cy="2103120"/>
          </a:xfrm>
          <a:prstGeom prst="rect">
            <a:avLst/>
          </a:prstGeom>
          <a:noFill/>
        </p:spPr>
        <p:txBody>
          <a:bodyPr wrap="square" lIns="45720" rIns="45720" tIns="36576" bIns="36576">
            <a:spAutoFit/>
          </a:bodyPr>
          <a:lstStyle/>
          <a:p>
            <a:pPr>
              <a:lnSpc>
                <a:spcPct val="135000"/>
              </a:lnSpc>
            </a:pPr>
            <a:r>
              <a:rPr sz="950" b="0">
                <a:solidFill>
                  <a:srgbClr val="95A5A6"/>
                </a:solidFill>
                <a:latin typeface="Arial"/>
              </a:rPr>
              <a:t>•  Discovery + Delivery dual track</a:t>
            </a:r>
          </a:p>
          <a:p>
            <a:pPr>
              <a:lnSpc>
                <a:spcPct val="135000"/>
              </a:lnSpc>
            </a:pPr>
            <a:r>
              <a:rPr sz="950" b="0">
                <a:solidFill>
                  <a:srgbClr val="95A5A6"/>
                </a:solidFill>
                <a:latin typeface="Arial"/>
              </a:rPr>
              <a:t>•  Initiative → Story default · Epic when &gt; 3 months</a:t>
            </a:r>
          </a:p>
          <a:p>
            <a:pPr>
              <a:lnSpc>
                <a:spcPct val="135000"/>
              </a:lnSpc>
            </a:pPr>
            <a:r>
              <a:rPr sz="950" b="0">
                <a:solidFill>
                  <a:srgbClr val="95A5A6"/>
                </a:solidFill>
                <a:latin typeface="Arial"/>
              </a:rPr>
              <a:t>•  Kanban with WIP limits</a:t>
            </a:r>
          </a:p>
          <a:p>
            <a:pPr>
              <a:lnSpc>
                <a:spcPct val="135000"/>
              </a:lnSpc>
            </a:pPr>
            <a:r>
              <a:rPr sz="950" b="0">
                <a:solidFill>
                  <a:srgbClr val="95A5A6"/>
                </a:solidFill>
                <a:latin typeface="Arial"/>
              </a:rPr>
              <a:t>•  Vendor-extension execution model</a:t>
            </a:r>
          </a:p>
        </p:txBody>
      </p:sp>
      <p:sp>
        <p:nvSpPr>
          <p:cNvPr id="29" name="Rounded Rectangle 28"/>
          <p:cNvSpPr/>
          <p:nvPr/>
        </p:nvSpPr>
        <p:spPr>
          <a:xfrm>
            <a:off x="6393027" y="5212080"/>
            <a:ext cx="2259253" cy="365760"/>
          </a:xfrm>
          <a:prstGeom prst="roundRect">
            <a:avLst>
              <a:gd name="adj" fmla="val 30000"/>
            </a:avLst>
          </a:prstGeom>
          <a:solidFill>
            <a:srgbClr val="F5F5F5"/>
          </a:solidFill>
          <a:ln w="1270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93027" y="5212080"/>
            <a:ext cx="2259253" cy="365760"/>
          </a:xfrm>
          <a:prstGeom prst="rect">
            <a:avLst/>
          </a:prstGeom>
          <a:noFill/>
        </p:spPr>
        <p:txBody>
          <a:bodyPr wrap="square" lIns="45720" rIns="45720" tIns="18288" bIns="18288" anchor="ctr">
            <a:spAutoFit/>
          </a:bodyPr>
          <a:lstStyle/>
          <a:p>
            <a:pPr algn="ctr"/>
            <a:r>
              <a:rPr sz="900" b="1" i="0">
                <a:solidFill>
                  <a:srgbClr val="6E7887"/>
                </a:solidFill>
                <a:latin typeface="Arial"/>
              </a:rPr>
              <a:t>OUT OF WAVE 1 SCOPE</a:t>
            </a:r>
          </a:p>
        </p:txBody>
      </p:sp>
      <p:sp>
        <p:nvSpPr>
          <p:cNvPr id="31" name="Rounded Rectangle 30"/>
          <p:cNvSpPr/>
          <p:nvPr/>
        </p:nvSpPr>
        <p:spPr>
          <a:xfrm>
            <a:off x="9018041" y="1554480"/>
            <a:ext cx="2716453" cy="4297680"/>
          </a:xfrm>
          <a:prstGeom prst="roundRect">
            <a:avLst>
              <a:gd name="adj" fmla="val 5000"/>
            </a:avLst>
          </a:prstGeom>
          <a:solidFill>
            <a:srgbClr val="FFFFFF"/>
          </a:solidFill>
          <a:ln w="190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18041" y="1554480"/>
            <a:ext cx="2716453" cy="502920"/>
          </a:xfrm>
          <a:prstGeom prst="rect">
            <a:avLst/>
          </a:prstGeom>
          <a:solidFill>
            <a:srgbClr val="6E7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55201" y="1600200"/>
            <a:ext cx="640080" cy="411480"/>
          </a:xfrm>
          <a:prstGeom prst="rect">
            <a:avLst/>
          </a:prstGeom>
          <a:noFill/>
        </p:spPr>
        <p:txBody>
          <a:bodyPr wrap="square" lIns="45720" rIns="45720" tIns="18288" bIns="18288" anchor="ctr">
            <a:spAutoFit/>
          </a:bodyPr>
          <a:lstStyle/>
          <a:p>
            <a:pPr algn="l"/>
            <a:r>
              <a:rPr sz="1800" b="1" i="0">
                <a:solidFill>
                  <a:srgbClr val="FFFFFF"/>
                </a:solidFill>
                <a:latin typeface="Arial"/>
              </a:rPr>
              <a:t>04</a:t>
            </a:r>
          </a:p>
        </p:txBody>
      </p:sp>
      <p:sp>
        <p:nvSpPr>
          <p:cNvPr id="34" name="TextBox 33"/>
          <p:cNvSpPr txBox="1"/>
          <p:nvPr/>
        </p:nvSpPr>
        <p:spPr>
          <a:xfrm>
            <a:off x="9795281" y="1600200"/>
            <a:ext cx="1802053" cy="411480"/>
          </a:xfrm>
          <a:prstGeom prst="rect">
            <a:avLst/>
          </a:prstGeom>
          <a:noFill/>
        </p:spPr>
        <p:txBody>
          <a:bodyPr wrap="square" lIns="45720" rIns="45720" tIns="18288" bIns="18288" anchor="ctr">
            <a:spAutoFit/>
          </a:bodyPr>
          <a:lstStyle/>
          <a:p>
            <a:pPr algn="l"/>
            <a:r>
              <a:rPr sz="1100" b="1" i="0">
                <a:solidFill>
                  <a:srgbClr val="FFFFFF"/>
                </a:solidFill>
                <a:latin typeface="Arial"/>
              </a:rPr>
              <a:t>OPERATIONS  &amp;  RUN</a:t>
            </a:r>
          </a:p>
        </p:txBody>
      </p:sp>
      <p:sp>
        <p:nvSpPr>
          <p:cNvPr id="35" name="TextBox 34"/>
          <p:cNvSpPr txBox="1"/>
          <p:nvPr/>
        </p:nvSpPr>
        <p:spPr>
          <a:xfrm>
            <a:off x="9200921" y="2194560"/>
            <a:ext cx="2350693" cy="640080"/>
          </a:xfrm>
          <a:prstGeom prst="rect">
            <a:avLst/>
          </a:prstGeom>
          <a:noFill/>
        </p:spPr>
        <p:txBody>
          <a:bodyPr wrap="square" lIns="45720" rIns="45720" tIns="18288" bIns="18288" anchor="t">
            <a:spAutoFit/>
          </a:bodyPr>
          <a:lstStyle/>
          <a:p>
            <a:pPr algn="l"/>
            <a:r>
              <a:rPr sz="1000" b="1" i="1">
                <a:solidFill>
                  <a:srgbClr val="6E7887"/>
                </a:solidFill>
                <a:latin typeface="Arial"/>
              </a:rPr>
              <a:t>How delivered products are operated, supported, evolved and retired.</a:t>
            </a:r>
          </a:p>
        </p:txBody>
      </p:sp>
      <p:sp>
        <p:nvSpPr>
          <p:cNvPr id="36" name="TextBox 35"/>
          <p:cNvSpPr txBox="1"/>
          <p:nvPr/>
        </p:nvSpPr>
        <p:spPr>
          <a:xfrm>
            <a:off x="9246641" y="2926080"/>
            <a:ext cx="2259253" cy="2103120"/>
          </a:xfrm>
          <a:prstGeom prst="rect">
            <a:avLst/>
          </a:prstGeom>
          <a:noFill/>
        </p:spPr>
        <p:txBody>
          <a:bodyPr wrap="square" lIns="45720" rIns="45720" tIns="36576" bIns="36576">
            <a:spAutoFit/>
          </a:bodyPr>
          <a:lstStyle/>
          <a:p>
            <a:pPr>
              <a:lnSpc>
                <a:spcPct val="135000"/>
              </a:lnSpc>
            </a:pPr>
            <a:r>
              <a:rPr sz="950" b="0">
                <a:solidFill>
                  <a:srgbClr val="95A5A6"/>
                </a:solidFill>
                <a:latin typeface="Arial"/>
              </a:rPr>
              <a:t>•  Hypercare and stabilization</a:t>
            </a:r>
          </a:p>
          <a:p>
            <a:pPr>
              <a:lnSpc>
                <a:spcPct val="135000"/>
              </a:lnSpc>
            </a:pPr>
            <a:r>
              <a:rPr sz="950" b="0">
                <a:solidFill>
                  <a:srgbClr val="95A5A6"/>
                </a:solidFill>
                <a:latin typeface="Arial"/>
              </a:rPr>
              <a:t>•  Production support + incident management</a:t>
            </a:r>
          </a:p>
          <a:p>
            <a:pPr>
              <a:lnSpc>
                <a:spcPct val="135000"/>
              </a:lnSpc>
            </a:pPr>
            <a:r>
              <a:rPr sz="950" b="0">
                <a:solidFill>
                  <a:srgbClr val="95A5A6"/>
                </a:solidFill>
                <a:latin typeface="Arial"/>
              </a:rPr>
              <a:t>•  Continuous improvement loop</a:t>
            </a:r>
          </a:p>
          <a:p>
            <a:pPr>
              <a:lnSpc>
                <a:spcPct val="135000"/>
              </a:lnSpc>
            </a:pPr>
            <a:r>
              <a:rPr sz="950" b="0">
                <a:solidFill>
                  <a:srgbClr val="95A5A6"/>
                </a:solidFill>
                <a:latin typeface="Arial"/>
              </a:rPr>
              <a:t>•  Decommission and lifecycle exit</a:t>
            </a:r>
          </a:p>
        </p:txBody>
      </p:sp>
      <p:sp>
        <p:nvSpPr>
          <p:cNvPr id="37" name="Rounded Rectangle 36"/>
          <p:cNvSpPr/>
          <p:nvPr/>
        </p:nvSpPr>
        <p:spPr>
          <a:xfrm>
            <a:off x="9246641" y="5212080"/>
            <a:ext cx="2259253" cy="365760"/>
          </a:xfrm>
          <a:prstGeom prst="roundRect">
            <a:avLst>
              <a:gd name="adj" fmla="val 30000"/>
            </a:avLst>
          </a:prstGeom>
          <a:solidFill>
            <a:srgbClr val="F5F5F5"/>
          </a:solidFill>
          <a:ln w="1270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46641" y="5212080"/>
            <a:ext cx="2259253" cy="365760"/>
          </a:xfrm>
          <a:prstGeom prst="rect">
            <a:avLst/>
          </a:prstGeom>
          <a:noFill/>
        </p:spPr>
        <p:txBody>
          <a:bodyPr wrap="square" lIns="45720" rIns="45720" tIns="18288" bIns="18288" anchor="ctr">
            <a:spAutoFit/>
          </a:bodyPr>
          <a:lstStyle/>
          <a:p>
            <a:pPr algn="ctr"/>
            <a:r>
              <a:rPr sz="900" b="1" i="0">
                <a:solidFill>
                  <a:srgbClr val="6E7887"/>
                </a:solidFill>
                <a:latin typeface="Arial"/>
              </a:rPr>
              <a:t>OUT OF WAVE 1 SCOPE</a:t>
            </a:r>
          </a:p>
        </p:txBody>
      </p:sp>
      <p:sp>
        <p:nvSpPr>
          <p:cNvPr id="39" name="Rounded Rectangle 38"/>
          <p:cNvSpPr/>
          <p:nvPr/>
        </p:nvSpPr>
        <p:spPr>
          <a:xfrm>
            <a:off x="457200" y="5989320"/>
            <a:ext cx="11277295" cy="365760"/>
          </a:xfrm>
          <a:prstGeom prst="roundRect">
            <a:avLst>
              <a:gd name="adj" fmla="val 5000"/>
            </a:avLst>
          </a:prstGeom>
          <a:solidFill>
            <a:srgbClr val="DCE6F5"/>
          </a:solidFill>
          <a:ln w="12700">
            <a:solidFill>
              <a:srgbClr val="0F1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5989320"/>
            <a:ext cx="10911535" cy="365760"/>
          </a:xfrm>
          <a:prstGeom prst="rect">
            <a:avLst/>
          </a:prstGeom>
          <a:noFill/>
        </p:spPr>
        <p:txBody>
          <a:bodyPr wrap="square" lIns="45720" rIns="45720" tIns="18288" bIns="18288" anchor="ctr">
            <a:spAutoFit/>
          </a:bodyPr>
          <a:lstStyle/>
          <a:p>
            <a:pPr algn="l"/>
            <a:r>
              <a:rPr sz="950" b="0" i="1">
                <a:solidFill>
                  <a:srgbClr val="0F1C50"/>
                </a:solidFill>
                <a:latin typeface="Arial"/>
              </a:rPr>
              <a:t>WHY START WITH STAGE 01 — fixing intake first protects every downstream stage. Without a single front door and a value-based prioritization, planning and delivery inherit the same fragmentation.</a:t>
            </a:r>
          </a:p>
        </p:txBody>
      </p:sp>
      <p:sp>
        <p:nvSpPr>
          <p:cNvPr id="41" name="TextBox 40"/>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STAGE 01 — DEMAND MANAGEMENT</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FIVE FRAMEWORK DIMENSIONS</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ounded Rectangle 5"/>
          <p:cNvSpPr/>
          <p:nvPr/>
        </p:nvSpPr>
        <p:spPr>
          <a:xfrm>
            <a:off x="457200" y="1188720"/>
            <a:ext cx="2145731" cy="4663440"/>
          </a:xfrm>
          <a:prstGeom prst="roundRect">
            <a:avLst>
              <a:gd name="adj" fmla="val 4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188720"/>
            <a:ext cx="2145731" cy="640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34440"/>
            <a:ext cx="2145731" cy="320040"/>
          </a:xfrm>
          <a:prstGeom prst="rect">
            <a:avLst/>
          </a:prstGeom>
          <a:noFill/>
        </p:spPr>
        <p:txBody>
          <a:bodyPr wrap="square" lIns="45720" rIns="45720" tIns="18288" bIns="18288" anchor="ctr">
            <a:spAutoFit/>
          </a:bodyPr>
          <a:lstStyle/>
          <a:p>
            <a:pPr algn="ctr"/>
            <a:r>
              <a:rPr sz="1400" b="1" i="0">
                <a:solidFill>
                  <a:srgbClr val="FFFFFF"/>
                </a:solidFill>
                <a:latin typeface="Arial"/>
              </a:rPr>
              <a:t>CAPABILITIES</a:t>
            </a:r>
          </a:p>
        </p:txBody>
      </p:sp>
      <p:sp>
        <p:nvSpPr>
          <p:cNvPr id="9" name="TextBox 8"/>
          <p:cNvSpPr txBox="1"/>
          <p:nvPr/>
        </p:nvSpPr>
        <p:spPr>
          <a:xfrm>
            <a:off x="457200" y="1554480"/>
            <a:ext cx="2145731" cy="274320"/>
          </a:xfrm>
          <a:prstGeom prst="rect">
            <a:avLst/>
          </a:prstGeom>
          <a:noFill/>
        </p:spPr>
        <p:txBody>
          <a:bodyPr wrap="square" lIns="45720" rIns="45720" tIns="18288" bIns="18288" anchor="ctr">
            <a:spAutoFit/>
          </a:bodyPr>
          <a:lstStyle/>
          <a:p>
            <a:pPr algn="ctr"/>
            <a:r>
              <a:rPr sz="1050" b="0" i="1">
                <a:solidFill>
                  <a:srgbClr val="FFFFFF"/>
                </a:solidFill>
                <a:latin typeface="Arial"/>
              </a:rPr>
              <a:t>14 items</a:t>
            </a:r>
          </a:p>
        </p:txBody>
      </p:sp>
      <p:sp>
        <p:nvSpPr>
          <p:cNvPr id="10" name="TextBox 9"/>
          <p:cNvSpPr txBox="1"/>
          <p:nvPr/>
        </p:nvSpPr>
        <p:spPr>
          <a:xfrm>
            <a:off x="640080" y="2011680"/>
            <a:ext cx="1779971" cy="3749040"/>
          </a:xfrm>
          <a:prstGeom prst="rect">
            <a:avLst/>
          </a:prstGeom>
          <a:noFill/>
        </p:spPr>
        <p:txBody>
          <a:bodyPr wrap="square" lIns="45720" rIns="45720" tIns="36576" bIns="36576">
            <a:spAutoFit/>
          </a:bodyPr>
          <a:lstStyle/>
          <a:p>
            <a:pPr>
              <a:lnSpc>
                <a:spcPct val="140000"/>
              </a:lnSpc>
            </a:pPr>
            <a:r>
              <a:rPr sz="1100" b="0">
                <a:solidFill>
                  <a:srgbClr val="2C3E50"/>
                </a:solidFill>
                <a:latin typeface="Arial"/>
              </a:rPr>
              <a:t>What the organization must be able to do</a:t>
            </a:r>
          </a:p>
          <a:p>
            <a:pPr>
              <a:lnSpc>
                <a:spcPct val="140000"/>
              </a:lnSpc>
            </a:pPr>
          </a:p>
          <a:p>
            <a:pPr>
              <a:lnSpc>
                <a:spcPct val="140000"/>
              </a:lnSpc>
            </a:pPr>
            <a:r>
              <a:rPr sz="1100" b="0">
                <a:solidFill>
                  <a:srgbClr val="2C3E50"/>
                </a:solidFill>
                <a:latin typeface="Arial"/>
              </a:rPr>
              <a:t>Intake · classification · scoring · triage · routing · visibility · de-duplication</a:t>
            </a:r>
          </a:p>
        </p:txBody>
      </p:sp>
      <p:sp>
        <p:nvSpPr>
          <p:cNvPr id="11" name="Rounded Rectangle 10"/>
          <p:cNvSpPr/>
          <p:nvPr/>
        </p:nvSpPr>
        <p:spPr>
          <a:xfrm>
            <a:off x="2740091" y="1188720"/>
            <a:ext cx="2145731" cy="4663440"/>
          </a:xfrm>
          <a:prstGeom prst="roundRect">
            <a:avLst>
              <a:gd name="adj" fmla="val 4000"/>
            </a:avLst>
          </a:prstGeom>
          <a:solidFill>
            <a:srgbClr val="FFFFFF"/>
          </a:solidFill>
          <a:ln w="25400">
            <a:solidFill>
              <a:srgbClr val="2B6B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0091" y="1188720"/>
            <a:ext cx="2145731" cy="640080"/>
          </a:xfrm>
          <a:prstGeom prst="rect">
            <a:avLst/>
          </a:prstGeom>
          <a:solidFill>
            <a:srgbClr val="2B6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0091" y="1234440"/>
            <a:ext cx="2145731" cy="320040"/>
          </a:xfrm>
          <a:prstGeom prst="rect">
            <a:avLst/>
          </a:prstGeom>
          <a:noFill/>
        </p:spPr>
        <p:txBody>
          <a:bodyPr wrap="square" lIns="45720" rIns="45720" tIns="18288" bIns="18288" anchor="ctr">
            <a:spAutoFit/>
          </a:bodyPr>
          <a:lstStyle/>
          <a:p>
            <a:pPr algn="ctr"/>
            <a:r>
              <a:rPr sz="1400" b="1" i="0">
                <a:solidFill>
                  <a:srgbClr val="FFFFFF"/>
                </a:solidFill>
                <a:latin typeface="Arial"/>
              </a:rPr>
              <a:t>ROLES</a:t>
            </a:r>
          </a:p>
        </p:txBody>
      </p:sp>
      <p:sp>
        <p:nvSpPr>
          <p:cNvPr id="14" name="TextBox 13"/>
          <p:cNvSpPr txBox="1"/>
          <p:nvPr/>
        </p:nvSpPr>
        <p:spPr>
          <a:xfrm>
            <a:off x="2740091" y="1554480"/>
            <a:ext cx="2145731" cy="274320"/>
          </a:xfrm>
          <a:prstGeom prst="rect">
            <a:avLst/>
          </a:prstGeom>
          <a:noFill/>
        </p:spPr>
        <p:txBody>
          <a:bodyPr wrap="square" lIns="45720" rIns="45720" tIns="18288" bIns="18288" anchor="ctr">
            <a:spAutoFit/>
          </a:bodyPr>
          <a:lstStyle/>
          <a:p>
            <a:pPr algn="ctr"/>
            <a:r>
              <a:rPr sz="1050" b="0" i="1">
                <a:solidFill>
                  <a:srgbClr val="FFFFFF"/>
                </a:solidFill>
                <a:latin typeface="Arial"/>
              </a:rPr>
              <a:t>4 items</a:t>
            </a:r>
          </a:p>
        </p:txBody>
      </p:sp>
      <p:sp>
        <p:nvSpPr>
          <p:cNvPr id="15" name="TextBox 14"/>
          <p:cNvSpPr txBox="1"/>
          <p:nvPr/>
        </p:nvSpPr>
        <p:spPr>
          <a:xfrm>
            <a:off x="2922971" y="2011680"/>
            <a:ext cx="1779971" cy="3749040"/>
          </a:xfrm>
          <a:prstGeom prst="rect">
            <a:avLst/>
          </a:prstGeom>
          <a:noFill/>
        </p:spPr>
        <p:txBody>
          <a:bodyPr wrap="square" lIns="45720" rIns="45720" tIns="36576" bIns="36576">
            <a:spAutoFit/>
          </a:bodyPr>
          <a:lstStyle/>
          <a:p>
            <a:pPr>
              <a:lnSpc>
                <a:spcPct val="140000"/>
              </a:lnSpc>
            </a:pPr>
            <a:r>
              <a:rPr sz="1100" b="0">
                <a:solidFill>
                  <a:srgbClr val="2C3E50"/>
                </a:solidFill>
                <a:latin typeface="Arial"/>
              </a:rPr>
              <a:t>Who owns and operates the framework</a:t>
            </a:r>
          </a:p>
          <a:p>
            <a:pPr>
              <a:lnSpc>
                <a:spcPct val="140000"/>
              </a:lnSpc>
            </a:pPr>
          </a:p>
          <a:p>
            <a:pPr>
              <a:lnSpc>
                <a:spcPct val="140000"/>
              </a:lnSpc>
            </a:pPr>
            <a:r>
              <a:rPr sz="1100" b="0">
                <a:solidFill>
                  <a:srgbClr val="2C3E50"/>
                </a:solidFill>
                <a:latin typeface="Arial"/>
              </a:rPr>
              <a:t>Requestors · Product/Demand Managers · Architects · Triage Committee</a:t>
            </a:r>
          </a:p>
        </p:txBody>
      </p:sp>
      <p:sp>
        <p:nvSpPr>
          <p:cNvPr id="16" name="Rounded Rectangle 15"/>
          <p:cNvSpPr/>
          <p:nvPr/>
        </p:nvSpPr>
        <p:spPr>
          <a:xfrm>
            <a:off x="5022982" y="1188720"/>
            <a:ext cx="2145731" cy="4663440"/>
          </a:xfrm>
          <a:prstGeom prst="roundRect">
            <a:avLst>
              <a:gd name="adj" fmla="val 4000"/>
            </a:avLst>
          </a:prstGeom>
          <a:solidFill>
            <a:srgbClr val="FFFFFF"/>
          </a:solidFill>
          <a:ln w="254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2982" y="1188720"/>
            <a:ext cx="2145731" cy="6400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2982" y="1234440"/>
            <a:ext cx="2145731" cy="320040"/>
          </a:xfrm>
          <a:prstGeom prst="rect">
            <a:avLst/>
          </a:prstGeom>
          <a:noFill/>
        </p:spPr>
        <p:txBody>
          <a:bodyPr wrap="square" lIns="45720" rIns="45720" tIns="18288" bIns="18288" anchor="ctr">
            <a:spAutoFit/>
          </a:bodyPr>
          <a:lstStyle/>
          <a:p>
            <a:pPr algn="ctr"/>
            <a:r>
              <a:rPr sz="1400" b="1" i="0">
                <a:solidFill>
                  <a:srgbClr val="FFFFFF"/>
                </a:solidFill>
                <a:latin typeface="Arial"/>
              </a:rPr>
              <a:t>TOOLS</a:t>
            </a:r>
          </a:p>
        </p:txBody>
      </p:sp>
      <p:sp>
        <p:nvSpPr>
          <p:cNvPr id="19" name="TextBox 18"/>
          <p:cNvSpPr txBox="1"/>
          <p:nvPr/>
        </p:nvSpPr>
        <p:spPr>
          <a:xfrm>
            <a:off x="5022982" y="1554480"/>
            <a:ext cx="2145731" cy="274320"/>
          </a:xfrm>
          <a:prstGeom prst="rect">
            <a:avLst/>
          </a:prstGeom>
          <a:noFill/>
        </p:spPr>
        <p:txBody>
          <a:bodyPr wrap="square" lIns="45720" rIns="45720" tIns="18288" bIns="18288" anchor="ctr">
            <a:spAutoFit/>
          </a:bodyPr>
          <a:lstStyle/>
          <a:p>
            <a:pPr algn="ctr"/>
            <a:r>
              <a:rPr sz="1050" b="0" i="1">
                <a:solidFill>
                  <a:srgbClr val="FFFFFF"/>
                </a:solidFill>
                <a:latin typeface="Arial"/>
              </a:rPr>
              <a:t>5 items</a:t>
            </a:r>
          </a:p>
        </p:txBody>
      </p:sp>
      <p:sp>
        <p:nvSpPr>
          <p:cNvPr id="20" name="TextBox 19"/>
          <p:cNvSpPr txBox="1"/>
          <p:nvPr/>
        </p:nvSpPr>
        <p:spPr>
          <a:xfrm>
            <a:off x="5205862" y="2011680"/>
            <a:ext cx="1779971" cy="3749040"/>
          </a:xfrm>
          <a:prstGeom prst="rect">
            <a:avLst/>
          </a:prstGeom>
          <a:noFill/>
        </p:spPr>
        <p:txBody>
          <a:bodyPr wrap="square" lIns="45720" rIns="45720" tIns="36576" bIns="36576">
            <a:spAutoFit/>
          </a:bodyPr>
          <a:lstStyle/>
          <a:p>
            <a:pPr>
              <a:lnSpc>
                <a:spcPct val="140000"/>
              </a:lnSpc>
            </a:pPr>
            <a:r>
              <a:rPr sz="1100" b="0">
                <a:solidFill>
                  <a:srgbClr val="2C3E50"/>
                </a:solidFill>
                <a:latin typeface="Arial"/>
              </a:rPr>
              <a:t>Systems and platforms used</a:t>
            </a:r>
          </a:p>
          <a:p>
            <a:pPr>
              <a:lnSpc>
                <a:spcPct val="140000"/>
              </a:lnSpc>
            </a:pPr>
          </a:p>
          <a:p>
            <a:pPr>
              <a:lnSpc>
                <a:spcPct val="140000"/>
              </a:lnSpc>
            </a:pPr>
            <a:r>
              <a:rPr sz="1100" b="0">
                <a:solidFill>
                  <a:srgbClr val="2C3E50"/>
                </a:solidFill>
                <a:latin typeface="Arial"/>
              </a:rPr>
              <a:t>Capture · tracking · communication · documentation · reporting</a:t>
            </a:r>
          </a:p>
        </p:txBody>
      </p:sp>
      <p:sp>
        <p:nvSpPr>
          <p:cNvPr id="21" name="Rounded Rectangle 20"/>
          <p:cNvSpPr/>
          <p:nvPr/>
        </p:nvSpPr>
        <p:spPr>
          <a:xfrm>
            <a:off x="7305873" y="1188720"/>
            <a:ext cx="2145731" cy="4663440"/>
          </a:xfrm>
          <a:prstGeom prst="roundRect">
            <a:avLst>
              <a:gd name="adj" fmla="val 4000"/>
            </a:avLst>
          </a:prstGeom>
          <a:solidFill>
            <a:srgbClr val="FFFFFF"/>
          </a:solidFill>
          <a:ln w="25400">
            <a:solidFill>
              <a:srgbClr val="1F3A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05873" y="1188720"/>
            <a:ext cx="2145731" cy="64008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05873" y="1234440"/>
            <a:ext cx="2145731" cy="320040"/>
          </a:xfrm>
          <a:prstGeom prst="rect">
            <a:avLst/>
          </a:prstGeom>
          <a:noFill/>
        </p:spPr>
        <p:txBody>
          <a:bodyPr wrap="square" lIns="45720" rIns="45720" tIns="18288" bIns="18288" anchor="ctr">
            <a:spAutoFit/>
          </a:bodyPr>
          <a:lstStyle/>
          <a:p>
            <a:pPr algn="ctr"/>
            <a:r>
              <a:rPr sz="1400" b="1" i="0">
                <a:solidFill>
                  <a:srgbClr val="FFFFFF"/>
                </a:solidFill>
                <a:latin typeface="Arial"/>
              </a:rPr>
              <a:t>GOVERNANCE</a:t>
            </a:r>
          </a:p>
        </p:txBody>
      </p:sp>
      <p:sp>
        <p:nvSpPr>
          <p:cNvPr id="24" name="TextBox 23"/>
          <p:cNvSpPr txBox="1"/>
          <p:nvPr/>
        </p:nvSpPr>
        <p:spPr>
          <a:xfrm>
            <a:off x="7305873" y="1554480"/>
            <a:ext cx="2145731" cy="274320"/>
          </a:xfrm>
          <a:prstGeom prst="rect">
            <a:avLst/>
          </a:prstGeom>
          <a:noFill/>
        </p:spPr>
        <p:txBody>
          <a:bodyPr wrap="square" lIns="45720" rIns="45720" tIns="18288" bIns="18288" anchor="ctr">
            <a:spAutoFit/>
          </a:bodyPr>
          <a:lstStyle/>
          <a:p>
            <a:pPr algn="ctr"/>
            <a:r>
              <a:rPr sz="1050" b="0" i="1">
                <a:solidFill>
                  <a:srgbClr val="FFFFFF"/>
                </a:solidFill>
                <a:latin typeface="Arial"/>
              </a:rPr>
              <a:t>6 items</a:t>
            </a:r>
          </a:p>
        </p:txBody>
      </p:sp>
      <p:sp>
        <p:nvSpPr>
          <p:cNvPr id="25" name="TextBox 24"/>
          <p:cNvSpPr txBox="1"/>
          <p:nvPr/>
        </p:nvSpPr>
        <p:spPr>
          <a:xfrm>
            <a:off x="7488753" y="2011680"/>
            <a:ext cx="1779971" cy="3749040"/>
          </a:xfrm>
          <a:prstGeom prst="rect">
            <a:avLst/>
          </a:prstGeom>
          <a:noFill/>
        </p:spPr>
        <p:txBody>
          <a:bodyPr wrap="square" lIns="45720" rIns="45720" tIns="36576" bIns="36576">
            <a:spAutoFit/>
          </a:bodyPr>
          <a:lstStyle/>
          <a:p>
            <a:pPr>
              <a:lnSpc>
                <a:spcPct val="140000"/>
              </a:lnSpc>
            </a:pPr>
            <a:r>
              <a:rPr sz="1100" b="0">
                <a:solidFill>
                  <a:srgbClr val="2C3E50"/>
                </a:solidFill>
                <a:latin typeface="Arial"/>
              </a:rPr>
              <a:t>Decisions, forums, controls</a:t>
            </a:r>
          </a:p>
          <a:p>
            <a:pPr>
              <a:lnSpc>
                <a:spcPct val="140000"/>
              </a:lnSpc>
            </a:pPr>
          </a:p>
          <a:p>
            <a:pPr>
              <a:lnSpc>
                <a:spcPct val="140000"/>
              </a:lnSpc>
            </a:pPr>
            <a:r>
              <a:rPr sz="1100" b="0">
                <a:solidFill>
                  <a:srgbClr val="2C3E50"/>
                </a:solidFill>
                <a:latin typeface="Arial"/>
              </a:rPr>
              <a:t>Forums · decision practices · escalation · guidelines · alignment · oversight</a:t>
            </a:r>
          </a:p>
        </p:txBody>
      </p:sp>
      <p:sp>
        <p:nvSpPr>
          <p:cNvPr id="26" name="Rounded Rectangle 25"/>
          <p:cNvSpPr/>
          <p:nvPr/>
        </p:nvSpPr>
        <p:spPr>
          <a:xfrm>
            <a:off x="9588764" y="1188720"/>
            <a:ext cx="2145731" cy="4663440"/>
          </a:xfrm>
          <a:prstGeom prst="roundRect">
            <a:avLst>
              <a:gd name="adj" fmla="val 4000"/>
            </a:avLst>
          </a:prstGeom>
          <a:solidFill>
            <a:srgbClr val="FFFFFF"/>
          </a:solidFill>
          <a:ln w="2540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88764" y="1188720"/>
            <a:ext cx="2145731" cy="6400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88764" y="1234440"/>
            <a:ext cx="2145731" cy="320040"/>
          </a:xfrm>
          <a:prstGeom prst="rect">
            <a:avLst/>
          </a:prstGeom>
          <a:noFill/>
        </p:spPr>
        <p:txBody>
          <a:bodyPr wrap="square" lIns="45720" rIns="45720" tIns="18288" bIns="18288" anchor="ctr">
            <a:spAutoFit/>
          </a:bodyPr>
          <a:lstStyle/>
          <a:p>
            <a:pPr algn="ctr"/>
            <a:r>
              <a:rPr sz="1400" b="1" i="0">
                <a:solidFill>
                  <a:srgbClr val="FFFFFF"/>
                </a:solidFill>
                <a:latin typeface="Arial"/>
              </a:rPr>
              <a:t>PERFORMANCE</a:t>
            </a:r>
          </a:p>
        </p:txBody>
      </p:sp>
      <p:sp>
        <p:nvSpPr>
          <p:cNvPr id="29" name="TextBox 28"/>
          <p:cNvSpPr txBox="1"/>
          <p:nvPr/>
        </p:nvSpPr>
        <p:spPr>
          <a:xfrm>
            <a:off x="9588764" y="1554480"/>
            <a:ext cx="2145731" cy="274320"/>
          </a:xfrm>
          <a:prstGeom prst="rect">
            <a:avLst/>
          </a:prstGeom>
          <a:noFill/>
        </p:spPr>
        <p:txBody>
          <a:bodyPr wrap="square" lIns="45720" rIns="45720" tIns="18288" bIns="18288" anchor="ctr">
            <a:spAutoFit/>
          </a:bodyPr>
          <a:lstStyle/>
          <a:p>
            <a:pPr algn="ctr"/>
            <a:r>
              <a:rPr sz="1050" b="0" i="1">
                <a:solidFill>
                  <a:srgbClr val="FFFFFF"/>
                </a:solidFill>
                <a:latin typeface="Arial"/>
              </a:rPr>
              <a:t>7 items</a:t>
            </a:r>
          </a:p>
        </p:txBody>
      </p:sp>
      <p:sp>
        <p:nvSpPr>
          <p:cNvPr id="30" name="TextBox 29"/>
          <p:cNvSpPr txBox="1"/>
          <p:nvPr/>
        </p:nvSpPr>
        <p:spPr>
          <a:xfrm>
            <a:off x="9771644" y="2011680"/>
            <a:ext cx="1779971" cy="3749040"/>
          </a:xfrm>
          <a:prstGeom prst="rect">
            <a:avLst/>
          </a:prstGeom>
          <a:noFill/>
        </p:spPr>
        <p:txBody>
          <a:bodyPr wrap="square" lIns="45720" rIns="45720" tIns="36576" bIns="36576">
            <a:spAutoFit/>
          </a:bodyPr>
          <a:lstStyle/>
          <a:p>
            <a:pPr>
              <a:lnSpc>
                <a:spcPct val="140000"/>
              </a:lnSpc>
            </a:pPr>
            <a:r>
              <a:rPr sz="1100" b="0">
                <a:solidFill>
                  <a:srgbClr val="2C3E50"/>
                </a:solidFill>
                <a:latin typeface="Arial"/>
              </a:rPr>
              <a:t>How success is measured</a:t>
            </a:r>
          </a:p>
          <a:p>
            <a:pPr>
              <a:lnSpc>
                <a:spcPct val="140000"/>
              </a:lnSpc>
            </a:pPr>
          </a:p>
          <a:p>
            <a:pPr>
              <a:lnSpc>
                <a:spcPct val="140000"/>
              </a:lnSpc>
            </a:pPr>
            <a:r>
              <a:rPr sz="1100" b="0">
                <a:solidFill>
                  <a:srgbClr val="2C3E50"/>
                </a:solidFill>
                <a:latin typeface="Arial"/>
              </a:rPr>
              <a:t>Volume · quality · lead time · channel mix · urgency · duplication · visibility</a:t>
            </a:r>
          </a:p>
        </p:txBody>
      </p:sp>
      <p:sp>
        <p:nvSpPr>
          <p:cNvPr id="31" name="TextBox 30"/>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CAPABILITIES</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14 CAPABILITIES ORGANIZE INTO A FOUR-STAGE DEMAND FUNNEL</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ectangle 5"/>
          <p:cNvSpPr/>
          <p:nvPr/>
        </p:nvSpPr>
        <p:spPr>
          <a:xfrm>
            <a:off x="0" y="914400"/>
            <a:ext cx="12191695" cy="5029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60120"/>
            <a:ext cx="3200400" cy="411480"/>
          </a:xfrm>
          <a:prstGeom prst="rect">
            <a:avLst/>
          </a:prstGeom>
          <a:noFill/>
        </p:spPr>
        <p:txBody>
          <a:bodyPr wrap="square" lIns="45720" rIns="45720" tIns="18288" bIns="18288" anchor="ctr">
            <a:spAutoFit/>
          </a:bodyPr>
          <a:lstStyle/>
          <a:p>
            <a:pPr algn="l"/>
            <a:r>
              <a:rPr sz="1200" b="1" i="0">
                <a:solidFill>
                  <a:srgbClr val="FFFFFF"/>
                </a:solidFill>
                <a:latin typeface="Arial"/>
              </a:rPr>
              <a:t>STAGE 01 · CAPABILITIES</a:t>
            </a:r>
          </a:p>
        </p:txBody>
      </p:sp>
      <p:sp>
        <p:nvSpPr>
          <p:cNvPr id="8" name="TextBox 7"/>
          <p:cNvSpPr txBox="1"/>
          <p:nvPr/>
        </p:nvSpPr>
        <p:spPr>
          <a:xfrm>
            <a:off x="3657600" y="960120"/>
            <a:ext cx="5486400" cy="411480"/>
          </a:xfrm>
          <a:prstGeom prst="rect">
            <a:avLst/>
          </a:prstGeom>
          <a:noFill/>
        </p:spPr>
        <p:txBody>
          <a:bodyPr wrap="square" lIns="45720" rIns="45720" tIns="18288" bIns="18288" anchor="ctr">
            <a:spAutoFit/>
          </a:bodyPr>
          <a:lstStyle/>
          <a:p>
            <a:pPr algn="l"/>
            <a:r>
              <a:rPr sz="1100" b="0" i="1">
                <a:solidFill>
                  <a:srgbClr val="FFFFFF"/>
                </a:solidFill>
                <a:latin typeface="Arial"/>
              </a:rPr>
              <a:t>What the organization must be able to do — end to end.</a:t>
            </a:r>
          </a:p>
        </p:txBody>
      </p:sp>
      <p:sp>
        <p:nvSpPr>
          <p:cNvPr id="9" name="TextBox 8"/>
          <p:cNvSpPr txBox="1"/>
          <p:nvPr/>
        </p:nvSpPr>
        <p:spPr>
          <a:xfrm>
            <a:off x="8534095" y="960120"/>
            <a:ext cx="3200400" cy="411480"/>
          </a:xfrm>
          <a:prstGeom prst="rect">
            <a:avLst/>
          </a:prstGeom>
          <a:noFill/>
        </p:spPr>
        <p:txBody>
          <a:bodyPr wrap="square" lIns="45720" rIns="45720" tIns="18288" bIns="18288" anchor="ctr">
            <a:spAutoFit/>
          </a:bodyPr>
          <a:lstStyle/>
          <a:p>
            <a:pPr algn="r"/>
            <a:r>
              <a:rPr sz="900" b="1" i="0">
                <a:solidFill>
                  <a:srgbClr val="F9A825"/>
                </a:solidFill>
                <a:latin typeface="Arial"/>
              </a:rPr>
              <a:t>Resolves Issues 01 + 02 + 06</a:t>
            </a:r>
          </a:p>
        </p:txBody>
      </p:sp>
      <p:sp>
        <p:nvSpPr>
          <p:cNvPr id="10" name="Rounded Rectangle 9"/>
          <p:cNvSpPr/>
          <p:nvPr/>
        </p:nvSpPr>
        <p:spPr>
          <a:xfrm>
            <a:off x="457200" y="1691640"/>
            <a:ext cx="2716453" cy="2194560"/>
          </a:xfrm>
          <a:prstGeom prst="roundRect">
            <a:avLst>
              <a:gd name="adj" fmla="val 5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691640"/>
            <a:ext cx="2716453" cy="4572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737360"/>
            <a:ext cx="2716453" cy="365760"/>
          </a:xfrm>
          <a:prstGeom prst="rect">
            <a:avLst/>
          </a:prstGeom>
          <a:noFill/>
        </p:spPr>
        <p:txBody>
          <a:bodyPr wrap="square" lIns="45720" rIns="45720" tIns="18288" bIns="18288" anchor="ctr">
            <a:spAutoFit/>
          </a:bodyPr>
          <a:lstStyle/>
          <a:p>
            <a:pPr algn="ctr"/>
            <a:r>
              <a:rPr sz="1400" b="1" i="0">
                <a:solidFill>
                  <a:srgbClr val="FFFFFF"/>
                </a:solidFill>
                <a:latin typeface="Arial"/>
              </a:rPr>
              <a:t>INTAKE</a:t>
            </a:r>
          </a:p>
        </p:txBody>
      </p:sp>
      <p:sp>
        <p:nvSpPr>
          <p:cNvPr id="13" name="TextBox 12"/>
          <p:cNvSpPr txBox="1"/>
          <p:nvPr/>
        </p:nvSpPr>
        <p:spPr>
          <a:xfrm>
            <a:off x="640080" y="2240280"/>
            <a:ext cx="2350693" cy="1554480"/>
          </a:xfrm>
          <a:prstGeom prst="rect">
            <a:avLst/>
          </a:prstGeom>
          <a:noFill/>
        </p:spPr>
        <p:txBody>
          <a:bodyPr wrap="square" lIns="45720" rIns="45720" tIns="36576" bIns="36576">
            <a:spAutoFit/>
          </a:bodyPr>
          <a:lstStyle/>
          <a:p>
            <a:pPr>
              <a:lnSpc>
                <a:spcPct val="135000"/>
              </a:lnSpc>
            </a:pPr>
            <a:r>
              <a:rPr sz="950" b="0">
                <a:solidFill>
                  <a:srgbClr val="2C3E50"/>
                </a:solidFill>
                <a:latin typeface="Arial"/>
              </a:rPr>
              <a:t>•  Demand intake channels (Jira request type)</a:t>
            </a:r>
          </a:p>
          <a:p>
            <a:pPr>
              <a:lnSpc>
                <a:spcPct val="135000"/>
              </a:lnSpc>
            </a:pPr>
            <a:r>
              <a:rPr sz="950" b="0">
                <a:solidFill>
                  <a:srgbClr val="2C3E50"/>
                </a:solidFill>
                <a:latin typeface="Arial"/>
              </a:rPr>
              <a:t>•  Standard intake formats (DoR)</a:t>
            </a:r>
          </a:p>
          <a:p>
            <a:pPr>
              <a:lnSpc>
                <a:spcPct val="135000"/>
              </a:lnSpc>
            </a:pPr>
            <a:r>
              <a:rPr sz="950" b="0">
                <a:solidFill>
                  <a:srgbClr val="2C3E50"/>
                </a:solidFill>
                <a:latin typeface="Arial"/>
              </a:rPr>
              <a:t>•  Channel consolidation</a:t>
            </a:r>
          </a:p>
          <a:p>
            <a:pPr>
              <a:lnSpc>
                <a:spcPct val="135000"/>
              </a:lnSpc>
            </a:pPr>
            <a:r>
              <a:rPr sz="950" b="0">
                <a:solidFill>
                  <a:srgbClr val="2C3E50"/>
                </a:solidFill>
                <a:latin typeface="Arial"/>
              </a:rPr>
              <a:t>•  Technical feasibility input</a:t>
            </a:r>
          </a:p>
        </p:txBody>
      </p:sp>
      <p:sp>
        <p:nvSpPr>
          <p:cNvPr id="14" name="TextBox 13"/>
          <p:cNvSpPr txBox="1"/>
          <p:nvPr/>
        </p:nvSpPr>
        <p:spPr>
          <a:xfrm>
            <a:off x="3036493" y="2624328"/>
            <a:ext cx="274320" cy="365760"/>
          </a:xfrm>
          <a:prstGeom prst="rect">
            <a:avLst/>
          </a:prstGeom>
          <a:noFill/>
        </p:spPr>
        <p:txBody>
          <a:bodyPr wrap="square" lIns="45720" rIns="45720" tIns="18288" bIns="18288" anchor="ctr">
            <a:spAutoFit/>
          </a:bodyPr>
          <a:lstStyle/>
          <a:p>
            <a:pPr algn="ctr"/>
            <a:r>
              <a:rPr sz="1800" b="1" i="0">
                <a:solidFill>
                  <a:srgbClr val="2C578B"/>
                </a:solidFill>
                <a:latin typeface="Arial"/>
              </a:rPr>
              <a:t>▶</a:t>
            </a:r>
          </a:p>
        </p:txBody>
      </p:sp>
      <p:sp>
        <p:nvSpPr>
          <p:cNvPr id="15" name="Rounded Rectangle 14"/>
          <p:cNvSpPr/>
          <p:nvPr/>
        </p:nvSpPr>
        <p:spPr>
          <a:xfrm>
            <a:off x="3310813" y="1691640"/>
            <a:ext cx="2716453" cy="2194560"/>
          </a:xfrm>
          <a:prstGeom prst="roundRect">
            <a:avLst>
              <a:gd name="adj" fmla="val 5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0813" y="1691640"/>
            <a:ext cx="2716453" cy="4572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10813" y="1737360"/>
            <a:ext cx="2716453" cy="365760"/>
          </a:xfrm>
          <a:prstGeom prst="rect">
            <a:avLst/>
          </a:prstGeom>
          <a:noFill/>
        </p:spPr>
        <p:txBody>
          <a:bodyPr wrap="square" lIns="45720" rIns="45720" tIns="18288" bIns="18288" anchor="ctr">
            <a:spAutoFit/>
          </a:bodyPr>
          <a:lstStyle/>
          <a:p>
            <a:pPr algn="ctr"/>
            <a:r>
              <a:rPr sz="1400" b="1" i="0">
                <a:solidFill>
                  <a:srgbClr val="FFFFFF"/>
                </a:solidFill>
                <a:latin typeface="Arial"/>
              </a:rPr>
              <a:t>CLASSIFY</a:t>
            </a:r>
          </a:p>
        </p:txBody>
      </p:sp>
      <p:sp>
        <p:nvSpPr>
          <p:cNvPr id="18" name="TextBox 17"/>
          <p:cNvSpPr txBox="1"/>
          <p:nvPr/>
        </p:nvSpPr>
        <p:spPr>
          <a:xfrm>
            <a:off x="3493693" y="2240280"/>
            <a:ext cx="2350693" cy="1554480"/>
          </a:xfrm>
          <a:prstGeom prst="rect">
            <a:avLst/>
          </a:prstGeom>
          <a:noFill/>
        </p:spPr>
        <p:txBody>
          <a:bodyPr wrap="square" lIns="45720" rIns="45720" tIns="36576" bIns="36576">
            <a:spAutoFit/>
          </a:bodyPr>
          <a:lstStyle/>
          <a:p>
            <a:pPr>
              <a:lnSpc>
                <a:spcPct val="135000"/>
              </a:lnSpc>
            </a:pPr>
            <a:r>
              <a:rPr sz="950" b="0">
                <a:solidFill>
                  <a:srgbClr val="2C3E50"/>
                </a:solidFill>
                <a:latin typeface="Arial"/>
              </a:rPr>
              <a:t>•  Demand classification</a:t>
            </a:r>
          </a:p>
          <a:p>
            <a:pPr>
              <a:lnSpc>
                <a:spcPct val="135000"/>
              </a:lnSpc>
            </a:pPr>
            <a:r>
              <a:rPr sz="950" b="0">
                <a:solidFill>
                  <a:srgbClr val="2C3E50"/>
                </a:solidFill>
                <a:latin typeface="Arial"/>
              </a:rPr>
              <a:t>•  Run · Change · Regulatory · Innovation</a:t>
            </a:r>
          </a:p>
          <a:p>
            <a:pPr>
              <a:lnSpc>
                <a:spcPct val="135000"/>
              </a:lnSpc>
            </a:pPr>
            <a:r>
              <a:rPr sz="950" b="0">
                <a:solidFill>
                  <a:srgbClr val="2C3E50"/>
                </a:solidFill>
                <a:latin typeface="Arial"/>
              </a:rPr>
              <a:t>•  Business value definition (Pain Score)</a:t>
            </a:r>
          </a:p>
          <a:p>
            <a:pPr>
              <a:lnSpc>
                <a:spcPct val="135000"/>
              </a:lnSpc>
            </a:pPr>
            <a:r>
              <a:rPr sz="950" b="0">
                <a:solidFill>
                  <a:srgbClr val="2C3E50"/>
                </a:solidFill>
                <a:latin typeface="Arial"/>
              </a:rPr>
              <a:t>•  Acceptance criteria</a:t>
            </a:r>
          </a:p>
        </p:txBody>
      </p:sp>
      <p:sp>
        <p:nvSpPr>
          <p:cNvPr id="19" name="TextBox 18"/>
          <p:cNvSpPr txBox="1"/>
          <p:nvPr/>
        </p:nvSpPr>
        <p:spPr>
          <a:xfrm>
            <a:off x="5890107" y="2624328"/>
            <a:ext cx="274320" cy="365760"/>
          </a:xfrm>
          <a:prstGeom prst="rect">
            <a:avLst/>
          </a:prstGeom>
          <a:noFill/>
        </p:spPr>
        <p:txBody>
          <a:bodyPr wrap="square" lIns="45720" rIns="45720" tIns="18288" bIns="18288" anchor="ctr">
            <a:spAutoFit/>
          </a:bodyPr>
          <a:lstStyle/>
          <a:p>
            <a:pPr algn="ctr"/>
            <a:r>
              <a:rPr sz="1800" b="1" i="0">
                <a:solidFill>
                  <a:srgbClr val="F9A825"/>
                </a:solidFill>
                <a:latin typeface="Arial"/>
              </a:rPr>
              <a:t>▶</a:t>
            </a:r>
          </a:p>
        </p:txBody>
      </p:sp>
      <p:sp>
        <p:nvSpPr>
          <p:cNvPr id="20" name="Rounded Rectangle 19"/>
          <p:cNvSpPr/>
          <p:nvPr/>
        </p:nvSpPr>
        <p:spPr>
          <a:xfrm>
            <a:off x="6164427" y="1691640"/>
            <a:ext cx="2716453" cy="2194560"/>
          </a:xfrm>
          <a:prstGeom prst="roundRect">
            <a:avLst>
              <a:gd name="adj" fmla="val 5000"/>
            </a:avLst>
          </a:prstGeom>
          <a:solidFill>
            <a:srgbClr val="FFFFFF"/>
          </a:solidFill>
          <a:ln w="254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4427" y="1691640"/>
            <a:ext cx="2716453" cy="45720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64427" y="1737360"/>
            <a:ext cx="2716453" cy="365760"/>
          </a:xfrm>
          <a:prstGeom prst="rect">
            <a:avLst/>
          </a:prstGeom>
          <a:noFill/>
        </p:spPr>
        <p:txBody>
          <a:bodyPr wrap="square" lIns="45720" rIns="45720" tIns="18288" bIns="18288" anchor="ctr">
            <a:spAutoFit/>
          </a:bodyPr>
          <a:lstStyle/>
          <a:p>
            <a:pPr algn="ctr"/>
            <a:r>
              <a:rPr sz="1400" b="1" i="0">
                <a:solidFill>
                  <a:srgbClr val="FFFFFF"/>
                </a:solidFill>
                <a:latin typeface="Arial"/>
              </a:rPr>
              <a:t>DECIDE</a:t>
            </a:r>
          </a:p>
        </p:txBody>
      </p:sp>
      <p:sp>
        <p:nvSpPr>
          <p:cNvPr id="23" name="TextBox 22"/>
          <p:cNvSpPr txBox="1"/>
          <p:nvPr/>
        </p:nvSpPr>
        <p:spPr>
          <a:xfrm>
            <a:off x="6347307" y="2240280"/>
            <a:ext cx="2350693" cy="1554480"/>
          </a:xfrm>
          <a:prstGeom prst="rect">
            <a:avLst/>
          </a:prstGeom>
          <a:noFill/>
        </p:spPr>
        <p:txBody>
          <a:bodyPr wrap="square" lIns="45720" rIns="45720" tIns="36576" bIns="36576">
            <a:spAutoFit/>
          </a:bodyPr>
          <a:lstStyle/>
          <a:p>
            <a:pPr>
              <a:lnSpc>
                <a:spcPct val="135000"/>
              </a:lnSpc>
            </a:pPr>
            <a:r>
              <a:rPr sz="950" b="0">
                <a:solidFill>
                  <a:srgbClr val="2C3E50"/>
                </a:solidFill>
                <a:latin typeface="Arial"/>
              </a:rPr>
              <a:t>•  Triage &amp; validation (weekly)</a:t>
            </a:r>
          </a:p>
          <a:p>
            <a:pPr>
              <a:lnSpc>
                <a:spcPct val="135000"/>
              </a:lnSpc>
            </a:pPr>
            <a:r>
              <a:rPr sz="950" b="0">
                <a:solidFill>
                  <a:srgbClr val="2C3E50"/>
                </a:solidFill>
                <a:latin typeface="Arial"/>
              </a:rPr>
              <a:t>•  Demand routing &amp; assignment</a:t>
            </a:r>
          </a:p>
          <a:p>
            <a:pPr>
              <a:lnSpc>
                <a:spcPct val="135000"/>
              </a:lnSpc>
            </a:pPr>
            <a:r>
              <a:rPr sz="950" b="0">
                <a:solidFill>
                  <a:srgbClr val="2C3E50"/>
                </a:solidFill>
                <a:latin typeface="Arial"/>
              </a:rPr>
              <a:t>•  Urgent / exception requests (≤20%)</a:t>
            </a:r>
          </a:p>
        </p:txBody>
      </p:sp>
      <p:sp>
        <p:nvSpPr>
          <p:cNvPr id="24" name="TextBox 23"/>
          <p:cNvSpPr txBox="1"/>
          <p:nvPr/>
        </p:nvSpPr>
        <p:spPr>
          <a:xfrm>
            <a:off x="8743721" y="2624328"/>
            <a:ext cx="274320" cy="365760"/>
          </a:xfrm>
          <a:prstGeom prst="rect">
            <a:avLst/>
          </a:prstGeom>
          <a:noFill/>
        </p:spPr>
        <p:txBody>
          <a:bodyPr wrap="square" lIns="45720" rIns="45720" tIns="18288" bIns="18288" anchor="ctr">
            <a:spAutoFit/>
          </a:bodyPr>
          <a:lstStyle/>
          <a:p>
            <a:pPr algn="ctr"/>
            <a:r>
              <a:rPr sz="1800" b="1" i="0">
                <a:solidFill>
                  <a:srgbClr val="E88B2F"/>
                </a:solidFill>
                <a:latin typeface="Arial"/>
              </a:rPr>
              <a:t>▶</a:t>
            </a:r>
          </a:p>
        </p:txBody>
      </p:sp>
      <p:sp>
        <p:nvSpPr>
          <p:cNvPr id="25" name="Rounded Rectangle 24"/>
          <p:cNvSpPr/>
          <p:nvPr/>
        </p:nvSpPr>
        <p:spPr>
          <a:xfrm>
            <a:off x="9018041" y="1691640"/>
            <a:ext cx="2716453" cy="2194560"/>
          </a:xfrm>
          <a:prstGeom prst="roundRect">
            <a:avLst>
              <a:gd name="adj" fmla="val 5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18041" y="1691640"/>
            <a:ext cx="2716453" cy="457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18041" y="1737360"/>
            <a:ext cx="2716453" cy="365760"/>
          </a:xfrm>
          <a:prstGeom prst="rect">
            <a:avLst/>
          </a:prstGeom>
          <a:noFill/>
        </p:spPr>
        <p:txBody>
          <a:bodyPr wrap="square" lIns="45720" rIns="45720" tIns="18288" bIns="18288" anchor="ctr">
            <a:spAutoFit/>
          </a:bodyPr>
          <a:lstStyle/>
          <a:p>
            <a:pPr algn="ctr"/>
            <a:r>
              <a:rPr sz="1400" b="1" i="0">
                <a:solidFill>
                  <a:srgbClr val="FFFFFF"/>
                </a:solidFill>
                <a:latin typeface="Arial"/>
              </a:rPr>
              <a:t>VISUALIZE</a:t>
            </a:r>
          </a:p>
        </p:txBody>
      </p:sp>
      <p:sp>
        <p:nvSpPr>
          <p:cNvPr id="28" name="TextBox 27"/>
          <p:cNvSpPr txBox="1"/>
          <p:nvPr/>
        </p:nvSpPr>
        <p:spPr>
          <a:xfrm>
            <a:off x="9200921" y="2240280"/>
            <a:ext cx="2350693" cy="1554480"/>
          </a:xfrm>
          <a:prstGeom prst="rect">
            <a:avLst/>
          </a:prstGeom>
          <a:noFill/>
        </p:spPr>
        <p:txBody>
          <a:bodyPr wrap="square" lIns="45720" rIns="45720" tIns="36576" bIns="36576">
            <a:spAutoFit/>
          </a:bodyPr>
          <a:lstStyle/>
          <a:p>
            <a:pPr>
              <a:lnSpc>
                <a:spcPct val="135000"/>
              </a:lnSpc>
            </a:pPr>
            <a:r>
              <a:rPr sz="950" b="0">
                <a:solidFill>
                  <a:srgbClr val="2C3E50"/>
                </a:solidFill>
                <a:latin typeface="Arial"/>
              </a:rPr>
              <a:t>•  Demand registration &amp; logging</a:t>
            </a:r>
          </a:p>
          <a:p>
            <a:pPr>
              <a:lnSpc>
                <a:spcPct val="135000"/>
              </a:lnSpc>
            </a:pPr>
            <a:r>
              <a:rPr sz="950" b="0">
                <a:solidFill>
                  <a:srgbClr val="2C3E50"/>
                </a:solidFill>
                <a:latin typeface="Arial"/>
              </a:rPr>
              <a:t>•  Demand visibility &amp; tracking</a:t>
            </a:r>
          </a:p>
          <a:p>
            <a:pPr>
              <a:lnSpc>
                <a:spcPct val="135000"/>
              </a:lnSpc>
            </a:pPr>
            <a:r>
              <a:rPr sz="950" b="0">
                <a:solidFill>
                  <a:srgbClr val="2C3E50"/>
                </a:solidFill>
                <a:latin typeface="Arial"/>
              </a:rPr>
              <a:t>•  Duplicate &amp; overlap identification</a:t>
            </a:r>
          </a:p>
        </p:txBody>
      </p:sp>
      <p:sp>
        <p:nvSpPr>
          <p:cNvPr id="29" name="Rounded Rectangle 28"/>
          <p:cNvSpPr/>
          <p:nvPr/>
        </p:nvSpPr>
        <p:spPr>
          <a:xfrm>
            <a:off x="457200" y="4114800"/>
            <a:ext cx="2716453" cy="1005840"/>
          </a:xfrm>
          <a:prstGeom prst="roundRect">
            <a:avLst>
              <a:gd name="adj" fmla="val 4000"/>
            </a:avLst>
          </a:prstGeom>
          <a:solidFill>
            <a:srgbClr val="F5F5F5"/>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4114800"/>
            <a:ext cx="73152" cy="1005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4187952"/>
            <a:ext cx="2442133" cy="274320"/>
          </a:xfrm>
          <a:prstGeom prst="rect">
            <a:avLst/>
          </a:prstGeom>
          <a:noFill/>
        </p:spPr>
        <p:txBody>
          <a:bodyPr wrap="square" lIns="45720" rIns="45720" tIns="18288" bIns="18288" anchor="t">
            <a:spAutoFit/>
          </a:bodyPr>
          <a:lstStyle/>
          <a:p>
            <a:pPr algn="l"/>
            <a:r>
              <a:rPr sz="1000" b="1" i="0">
                <a:solidFill>
                  <a:srgbClr val="2E7D32"/>
                </a:solidFill>
                <a:latin typeface="Arial"/>
              </a:rPr>
              <a:t>ONE FRONT DOOR</a:t>
            </a:r>
          </a:p>
        </p:txBody>
      </p:sp>
      <p:sp>
        <p:nvSpPr>
          <p:cNvPr id="32" name="TextBox 31"/>
          <p:cNvSpPr txBox="1"/>
          <p:nvPr/>
        </p:nvSpPr>
        <p:spPr>
          <a:xfrm>
            <a:off x="640080" y="4462272"/>
            <a:ext cx="2442133" cy="594360"/>
          </a:xfrm>
          <a:prstGeom prst="rect">
            <a:avLst/>
          </a:prstGeom>
          <a:noFill/>
        </p:spPr>
        <p:txBody>
          <a:bodyPr wrap="square" lIns="45720" rIns="45720" tIns="18288" bIns="18288" anchor="t">
            <a:spAutoFit/>
          </a:bodyPr>
          <a:lstStyle/>
          <a:p>
            <a:pPr algn="l"/>
            <a:r>
              <a:rPr sz="900" b="0" i="0">
                <a:solidFill>
                  <a:srgbClr val="2C3E50"/>
                </a:solidFill>
                <a:latin typeface="Arial"/>
              </a:rPr>
              <a:t>Jira request type per Value Stream replaces Email · Teams · Word · OneNote ad-hoc requests.</a:t>
            </a:r>
          </a:p>
        </p:txBody>
      </p:sp>
      <p:sp>
        <p:nvSpPr>
          <p:cNvPr id="33" name="Rounded Rectangle 32"/>
          <p:cNvSpPr/>
          <p:nvPr/>
        </p:nvSpPr>
        <p:spPr>
          <a:xfrm>
            <a:off x="3310813" y="4114800"/>
            <a:ext cx="2716453" cy="1005840"/>
          </a:xfrm>
          <a:prstGeom prst="roundRect">
            <a:avLst>
              <a:gd name="adj" fmla="val 4000"/>
            </a:avLst>
          </a:prstGeom>
          <a:solidFill>
            <a:srgbClr val="F5F5F5"/>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310813" y="4114800"/>
            <a:ext cx="73152" cy="1005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93693" y="4187952"/>
            <a:ext cx="2442133" cy="274320"/>
          </a:xfrm>
          <a:prstGeom prst="rect">
            <a:avLst/>
          </a:prstGeom>
          <a:noFill/>
        </p:spPr>
        <p:txBody>
          <a:bodyPr wrap="square" lIns="45720" rIns="45720" tIns="18288" bIns="18288" anchor="t">
            <a:spAutoFit/>
          </a:bodyPr>
          <a:lstStyle/>
          <a:p>
            <a:pPr algn="l"/>
            <a:r>
              <a:rPr sz="1000" b="1" i="0">
                <a:solidFill>
                  <a:srgbClr val="2E7D32"/>
                </a:solidFill>
                <a:latin typeface="Arial"/>
              </a:rPr>
              <a:t>DEFINITION OF READY</a:t>
            </a:r>
          </a:p>
        </p:txBody>
      </p:sp>
      <p:sp>
        <p:nvSpPr>
          <p:cNvPr id="36" name="TextBox 35"/>
          <p:cNvSpPr txBox="1"/>
          <p:nvPr/>
        </p:nvSpPr>
        <p:spPr>
          <a:xfrm>
            <a:off x="3493693" y="4462272"/>
            <a:ext cx="2442133" cy="594360"/>
          </a:xfrm>
          <a:prstGeom prst="rect">
            <a:avLst/>
          </a:prstGeom>
          <a:noFill/>
        </p:spPr>
        <p:txBody>
          <a:bodyPr wrap="square" lIns="45720" rIns="45720" tIns="18288" bIns="18288" anchor="t">
            <a:spAutoFit/>
          </a:bodyPr>
          <a:lstStyle/>
          <a:p>
            <a:pPr algn="l"/>
            <a:r>
              <a:rPr sz="900" b="0" i="0">
                <a:solidFill>
                  <a:srgbClr val="2C3E50"/>
                </a:solidFill>
                <a:latin typeface="Arial"/>
              </a:rPr>
              <a:t>Mandatory fields: title · BV · acceptance criteria · CoS · sponsor.</a:t>
            </a:r>
          </a:p>
        </p:txBody>
      </p:sp>
      <p:sp>
        <p:nvSpPr>
          <p:cNvPr id="37" name="Rounded Rectangle 36"/>
          <p:cNvSpPr/>
          <p:nvPr/>
        </p:nvSpPr>
        <p:spPr>
          <a:xfrm>
            <a:off x="6164427" y="4114800"/>
            <a:ext cx="2716453" cy="1005840"/>
          </a:xfrm>
          <a:prstGeom prst="roundRect">
            <a:avLst>
              <a:gd name="adj" fmla="val 4000"/>
            </a:avLst>
          </a:prstGeom>
          <a:solidFill>
            <a:srgbClr val="F5F5F5"/>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164427" y="4114800"/>
            <a:ext cx="73152" cy="1005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47307" y="4187952"/>
            <a:ext cx="2442133" cy="274320"/>
          </a:xfrm>
          <a:prstGeom prst="rect">
            <a:avLst/>
          </a:prstGeom>
          <a:noFill/>
        </p:spPr>
        <p:txBody>
          <a:bodyPr wrap="square" lIns="45720" rIns="45720" tIns="18288" bIns="18288" anchor="t">
            <a:spAutoFit/>
          </a:bodyPr>
          <a:lstStyle/>
          <a:p>
            <a:pPr algn="l"/>
            <a:r>
              <a:rPr sz="1000" b="1" i="0">
                <a:solidFill>
                  <a:srgbClr val="2E7D32"/>
                </a:solidFill>
                <a:latin typeface="Arial"/>
              </a:rPr>
              <a:t>PAIN SCORE</a:t>
            </a:r>
          </a:p>
        </p:txBody>
      </p:sp>
      <p:sp>
        <p:nvSpPr>
          <p:cNvPr id="40" name="TextBox 39"/>
          <p:cNvSpPr txBox="1"/>
          <p:nvPr/>
        </p:nvSpPr>
        <p:spPr>
          <a:xfrm>
            <a:off x="6347307" y="4462272"/>
            <a:ext cx="2442133" cy="594360"/>
          </a:xfrm>
          <a:prstGeom prst="rect">
            <a:avLst/>
          </a:prstGeom>
          <a:noFill/>
        </p:spPr>
        <p:txBody>
          <a:bodyPr wrap="square" lIns="45720" rIns="45720" tIns="18288" bIns="18288" anchor="t">
            <a:spAutoFit/>
          </a:bodyPr>
          <a:lstStyle/>
          <a:p>
            <a:pPr algn="l"/>
            <a:r>
              <a:rPr sz="900" b="0" i="0">
                <a:solidFill>
                  <a:srgbClr val="2C3E50"/>
                </a:solidFill>
                <a:latin typeface="Arial"/>
              </a:rPr>
              <a:t>H(x) = (BV·w₁ + UX·w₂ + Safety·w₃) / Effort — sponsor signs off at intake.</a:t>
            </a:r>
          </a:p>
        </p:txBody>
      </p:sp>
      <p:sp>
        <p:nvSpPr>
          <p:cNvPr id="41" name="Rounded Rectangle 40"/>
          <p:cNvSpPr/>
          <p:nvPr/>
        </p:nvSpPr>
        <p:spPr>
          <a:xfrm>
            <a:off x="9018041" y="4114800"/>
            <a:ext cx="2716453" cy="1005840"/>
          </a:xfrm>
          <a:prstGeom prst="roundRect">
            <a:avLst>
              <a:gd name="adj" fmla="val 4000"/>
            </a:avLst>
          </a:prstGeom>
          <a:solidFill>
            <a:srgbClr val="F5F5F5"/>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018041" y="4114800"/>
            <a:ext cx="73152" cy="1005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200921" y="4187952"/>
            <a:ext cx="2442133" cy="274320"/>
          </a:xfrm>
          <a:prstGeom prst="rect">
            <a:avLst/>
          </a:prstGeom>
          <a:noFill/>
        </p:spPr>
        <p:txBody>
          <a:bodyPr wrap="square" lIns="45720" rIns="45720" tIns="18288" bIns="18288" anchor="t">
            <a:spAutoFit/>
          </a:bodyPr>
          <a:lstStyle/>
          <a:p>
            <a:pPr algn="l"/>
            <a:r>
              <a:rPr sz="1000" b="1" i="0">
                <a:solidFill>
                  <a:srgbClr val="2E7D32"/>
                </a:solidFill>
                <a:latin typeface="Arial"/>
              </a:rPr>
              <a:t>EXPEDITE CAP</a:t>
            </a:r>
          </a:p>
        </p:txBody>
      </p:sp>
      <p:sp>
        <p:nvSpPr>
          <p:cNvPr id="44" name="TextBox 43"/>
          <p:cNvSpPr txBox="1"/>
          <p:nvPr/>
        </p:nvSpPr>
        <p:spPr>
          <a:xfrm>
            <a:off x="9200921" y="4462272"/>
            <a:ext cx="2442133" cy="594360"/>
          </a:xfrm>
          <a:prstGeom prst="rect">
            <a:avLst/>
          </a:prstGeom>
          <a:noFill/>
        </p:spPr>
        <p:txBody>
          <a:bodyPr wrap="square" lIns="45720" rIns="45720" tIns="18288" bIns="18288" anchor="t">
            <a:spAutoFit/>
          </a:bodyPr>
          <a:lstStyle/>
          <a:p>
            <a:pPr algn="l"/>
            <a:r>
              <a:rPr sz="900" b="0" i="0">
                <a:solidFill>
                  <a:srgbClr val="2C3E50"/>
                </a:solidFill>
                <a:latin typeface="Arial"/>
              </a:rPr>
              <a:t>Bypass priority capped ≤ 20 % of throughput. No silent overrides.</a:t>
            </a:r>
          </a:p>
        </p:txBody>
      </p:sp>
      <p:sp>
        <p:nvSpPr>
          <p:cNvPr id="45" name="Rounded Rectangle 44"/>
          <p:cNvSpPr/>
          <p:nvPr/>
        </p:nvSpPr>
        <p:spPr>
          <a:xfrm>
            <a:off x="457200" y="5349240"/>
            <a:ext cx="11277295" cy="960120"/>
          </a:xfrm>
          <a:prstGeom prst="roundRect">
            <a:avLst>
              <a:gd name="adj" fmla="val 5000"/>
            </a:avLst>
          </a:prstGeom>
          <a:solidFill>
            <a:srgbClr val="DCE6F5"/>
          </a:solidFill>
          <a:ln w="19050">
            <a:solidFill>
              <a:srgbClr val="0F1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 y="5440680"/>
            <a:ext cx="10911535" cy="274320"/>
          </a:xfrm>
          <a:prstGeom prst="rect">
            <a:avLst/>
          </a:prstGeom>
          <a:noFill/>
        </p:spPr>
        <p:txBody>
          <a:bodyPr wrap="square" lIns="45720" rIns="45720" tIns="18288" bIns="18288" anchor="t">
            <a:spAutoFit/>
          </a:bodyPr>
          <a:lstStyle/>
          <a:p>
            <a:pPr algn="l"/>
            <a:r>
              <a:rPr sz="1000" b="1" i="0">
                <a:solidFill>
                  <a:srgbClr val="0F1C50"/>
                </a:solidFill>
                <a:latin typeface="Arial"/>
              </a:rPr>
              <a:t>TAKEAWAY</a:t>
            </a:r>
          </a:p>
        </p:txBody>
      </p:sp>
      <p:sp>
        <p:nvSpPr>
          <p:cNvPr id="47" name="TextBox 46"/>
          <p:cNvSpPr txBox="1"/>
          <p:nvPr/>
        </p:nvSpPr>
        <p:spPr>
          <a:xfrm>
            <a:off x="640080" y="5715000"/>
            <a:ext cx="10911535" cy="548640"/>
          </a:xfrm>
          <a:prstGeom prst="rect">
            <a:avLst/>
          </a:prstGeom>
          <a:noFill/>
        </p:spPr>
        <p:txBody>
          <a:bodyPr wrap="square" lIns="45720" rIns="45720" tIns="18288" bIns="18288" anchor="t">
            <a:spAutoFit/>
          </a:bodyPr>
          <a:lstStyle/>
          <a:p>
            <a:pPr algn="l"/>
            <a:r>
              <a:rPr sz="1100" b="0" i="1">
                <a:solidFill>
                  <a:srgbClr val="2C3E50"/>
                </a:solidFill>
                <a:latin typeface="Arial"/>
              </a:rPr>
              <a:t>The 14 capabilities are not a checklist — they are sequenced. Demand only moves stage-to-stage after passing the previous gate, which is what converts inflow into traceable, governed work.</a:t>
            </a:r>
          </a:p>
        </p:txBody>
      </p:sp>
      <p:sp>
        <p:nvSpPr>
          <p:cNvPr id="48" name="TextBox 47"/>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ROLES</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FOUR ACCOUNTABILITIES OWN THE DEMAND FLOW END TO END</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ectangle 5"/>
          <p:cNvSpPr/>
          <p:nvPr/>
        </p:nvSpPr>
        <p:spPr>
          <a:xfrm>
            <a:off x="0" y="914400"/>
            <a:ext cx="12191695" cy="502920"/>
          </a:xfrm>
          <a:prstGeom prst="rect">
            <a:avLst/>
          </a:prstGeom>
          <a:solidFill>
            <a:srgbClr val="2B6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60120"/>
            <a:ext cx="3200400" cy="411480"/>
          </a:xfrm>
          <a:prstGeom prst="rect">
            <a:avLst/>
          </a:prstGeom>
          <a:noFill/>
        </p:spPr>
        <p:txBody>
          <a:bodyPr wrap="square" lIns="45720" rIns="45720" tIns="18288" bIns="18288" anchor="ctr">
            <a:spAutoFit/>
          </a:bodyPr>
          <a:lstStyle/>
          <a:p>
            <a:pPr algn="l"/>
            <a:r>
              <a:rPr sz="1200" b="1" i="0">
                <a:solidFill>
                  <a:srgbClr val="FFFFFF"/>
                </a:solidFill>
                <a:latin typeface="Arial"/>
              </a:rPr>
              <a:t>STAGE 01 · ROLES</a:t>
            </a:r>
          </a:p>
        </p:txBody>
      </p:sp>
      <p:sp>
        <p:nvSpPr>
          <p:cNvPr id="8" name="TextBox 7"/>
          <p:cNvSpPr txBox="1"/>
          <p:nvPr/>
        </p:nvSpPr>
        <p:spPr>
          <a:xfrm>
            <a:off x="3657600" y="960120"/>
            <a:ext cx="5486400" cy="411480"/>
          </a:xfrm>
          <a:prstGeom prst="rect">
            <a:avLst/>
          </a:prstGeom>
          <a:noFill/>
        </p:spPr>
        <p:txBody>
          <a:bodyPr wrap="square" lIns="45720" rIns="45720" tIns="18288" bIns="18288" anchor="ctr">
            <a:spAutoFit/>
          </a:bodyPr>
          <a:lstStyle/>
          <a:p>
            <a:pPr algn="l"/>
            <a:r>
              <a:rPr sz="1100" b="0" i="1">
                <a:solidFill>
                  <a:srgbClr val="FFFFFF"/>
                </a:solidFill>
                <a:latin typeface="Arial"/>
              </a:rPr>
              <a:t>Who owns and operates the framework.</a:t>
            </a:r>
          </a:p>
        </p:txBody>
      </p:sp>
      <p:sp>
        <p:nvSpPr>
          <p:cNvPr id="9" name="TextBox 8"/>
          <p:cNvSpPr txBox="1"/>
          <p:nvPr/>
        </p:nvSpPr>
        <p:spPr>
          <a:xfrm>
            <a:off x="8534095" y="960120"/>
            <a:ext cx="3200400" cy="411480"/>
          </a:xfrm>
          <a:prstGeom prst="rect">
            <a:avLst/>
          </a:prstGeom>
          <a:noFill/>
        </p:spPr>
        <p:txBody>
          <a:bodyPr wrap="square" lIns="45720" rIns="45720" tIns="18288" bIns="18288" anchor="ctr">
            <a:spAutoFit/>
          </a:bodyPr>
          <a:lstStyle/>
          <a:p>
            <a:pPr algn="r"/>
            <a:r>
              <a:rPr sz="900" b="1" i="0">
                <a:solidFill>
                  <a:srgbClr val="F9A825"/>
                </a:solidFill>
                <a:latin typeface="Arial"/>
              </a:rPr>
              <a:t>Resolves Issues 04 + 07</a:t>
            </a:r>
          </a:p>
        </p:txBody>
      </p:sp>
      <p:sp>
        <p:nvSpPr>
          <p:cNvPr id="10" name="Rounded Rectangle 9"/>
          <p:cNvSpPr/>
          <p:nvPr/>
        </p:nvSpPr>
        <p:spPr>
          <a:xfrm>
            <a:off x="457200" y="1691640"/>
            <a:ext cx="2716453" cy="3291840"/>
          </a:xfrm>
          <a:prstGeom prst="roundRect">
            <a:avLst>
              <a:gd name="adj" fmla="val 5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691640"/>
            <a:ext cx="2716453"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737360"/>
            <a:ext cx="2533573" cy="411480"/>
          </a:xfrm>
          <a:prstGeom prst="rect">
            <a:avLst/>
          </a:prstGeom>
          <a:noFill/>
        </p:spPr>
        <p:txBody>
          <a:bodyPr wrap="square" lIns="45720" rIns="45720" tIns="18288" bIns="18288" anchor="ctr">
            <a:spAutoFit/>
          </a:bodyPr>
          <a:lstStyle/>
          <a:p>
            <a:pPr algn="ctr"/>
            <a:r>
              <a:rPr sz="1100" b="1" i="0">
                <a:solidFill>
                  <a:srgbClr val="FFFFFF"/>
                </a:solidFill>
                <a:latin typeface="Arial"/>
              </a:rPr>
              <a:t>BUSINESS REQUESTOR</a:t>
            </a:r>
          </a:p>
        </p:txBody>
      </p:sp>
      <p:sp>
        <p:nvSpPr>
          <p:cNvPr id="13" name="TextBox 12"/>
          <p:cNvSpPr txBox="1"/>
          <p:nvPr/>
        </p:nvSpPr>
        <p:spPr>
          <a:xfrm>
            <a:off x="594360" y="2286000"/>
            <a:ext cx="2442133" cy="292608"/>
          </a:xfrm>
          <a:prstGeom prst="rect">
            <a:avLst/>
          </a:prstGeom>
          <a:noFill/>
        </p:spPr>
        <p:txBody>
          <a:bodyPr wrap="square" lIns="45720" rIns="45720" tIns="18288" bIns="18288" anchor="t">
            <a:spAutoFit/>
          </a:bodyPr>
          <a:lstStyle/>
          <a:p>
            <a:pPr algn="l"/>
            <a:r>
              <a:rPr sz="950" b="0" i="1">
                <a:solidFill>
                  <a:srgbClr val="2C578B"/>
                </a:solidFill>
                <a:latin typeface="Arial"/>
              </a:rPr>
              <a:t>Originating business unit</a:t>
            </a:r>
          </a:p>
        </p:txBody>
      </p:sp>
      <p:sp>
        <p:nvSpPr>
          <p:cNvPr id="14" name="TextBox 13"/>
          <p:cNvSpPr txBox="1"/>
          <p:nvPr/>
        </p:nvSpPr>
        <p:spPr>
          <a:xfrm>
            <a:off x="640080" y="2651760"/>
            <a:ext cx="2350693" cy="1828800"/>
          </a:xfrm>
          <a:prstGeom prst="rect">
            <a:avLst/>
          </a:prstGeom>
          <a:noFill/>
        </p:spPr>
        <p:txBody>
          <a:bodyPr wrap="square" lIns="45720" rIns="45720" tIns="36576" bIns="36576">
            <a:spAutoFit/>
          </a:bodyPr>
          <a:lstStyle/>
          <a:p>
            <a:pPr>
              <a:lnSpc>
                <a:spcPct val="135000"/>
              </a:lnSpc>
            </a:pPr>
            <a:r>
              <a:rPr sz="900" b="0">
                <a:solidFill>
                  <a:srgbClr val="2C3E50"/>
                </a:solidFill>
                <a:latin typeface="Arial"/>
              </a:rPr>
              <a:t>•  Submits demand via Jira request type (one per VS)</a:t>
            </a:r>
          </a:p>
          <a:p>
            <a:pPr>
              <a:lnSpc>
                <a:spcPct val="135000"/>
              </a:lnSpc>
            </a:pPr>
            <a:r>
              <a:rPr sz="900" b="0">
                <a:solidFill>
                  <a:srgbClr val="2C3E50"/>
                </a:solidFill>
                <a:latin typeface="Arial"/>
              </a:rPr>
              <a:t>•  Sponsors the request and signs off business value</a:t>
            </a:r>
          </a:p>
          <a:p>
            <a:pPr>
              <a:lnSpc>
                <a:spcPct val="135000"/>
              </a:lnSpc>
            </a:pPr>
            <a:r>
              <a:rPr sz="900" b="0">
                <a:solidFill>
                  <a:srgbClr val="2C3E50"/>
                </a:solidFill>
                <a:latin typeface="Arial"/>
              </a:rPr>
              <a:t>•  Receives status updates through requester portal</a:t>
            </a:r>
          </a:p>
        </p:txBody>
      </p:sp>
      <p:sp>
        <p:nvSpPr>
          <p:cNvPr id="15" name="Rectangle 14"/>
          <p:cNvSpPr/>
          <p:nvPr/>
        </p:nvSpPr>
        <p:spPr>
          <a:xfrm>
            <a:off x="457200" y="4526280"/>
            <a:ext cx="2716453"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572000"/>
            <a:ext cx="2442133" cy="365760"/>
          </a:xfrm>
          <a:prstGeom prst="rect">
            <a:avLst/>
          </a:prstGeom>
          <a:noFill/>
        </p:spPr>
        <p:txBody>
          <a:bodyPr wrap="square" lIns="45720" rIns="45720" tIns="18288" bIns="18288" anchor="ctr">
            <a:spAutoFit/>
          </a:bodyPr>
          <a:lstStyle/>
          <a:p>
            <a:pPr algn="l"/>
            <a:r>
              <a:rPr sz="850" b="1" i="1">
                <a:solidFill>
                  <a:srgbClr val="2C578B"/>
                </a:solidFill>
                <a:latin typeface="Arial"/>
              </a:rPr>
              <a:t>Decides WHAT business outcome is needed</a:t>
            </a:r>
          </a:p>
        </p:txBody>
      </p:sp>
      <p:sp>
        <p:nvSpPr>
          <p:cNvPr id="17" name="Rounded Rectangle 16"/>
          <p:cNvSpPr/>
          <p:nvPr/>
        </p:nvSpPr>
        <p:spPr>
          <a:xfrm>
            <a:off x="3310813" y="1691640"/>
            <a:ext cx="2716453" cy="3291840"/>
          </a:xfrm>
          <a:prstGeom prst="roundRect">
            <a:avLst>
              <a:gd name="adj" fmla="val 5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10813" y="1691640"/>
            <a:ext cx="2716453" cy="50292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02253" y="1737360"/>
            <a:ext cx="2533573" cy="411480"/>
          </a:xfrm>
          <a:prstGeom prst="rect">
            <a:avLst/>
          </a:prstGeom>
          <a:noFill/>
        </p:spPr>
        <p:txBody>
          <a:bodyPr wrap="square" lIns="45720" rIns="45720" tIns="18288" bIns="18288" anchor="ctr">
            <a:spAutoFit/>
          </a:bodyPr>
          <a:lstStyle/>
          <a:p>
            <a:pPr algn="ctr"/>
            <a:r>
              <a:rPr sz="1100" b="1" i="0">
                <a:solidFill>
                  <a:srgbClr val="FFFFFF"/>
                </a:solidFill>
                <a:latin typeface="Arial"/>
              </a:rPr>
              <a:t>PRODUCT MANAGER  [NEW]</a:t>
            </a:r>
          </a:p>
        </p:txBody>
      </p:sp>
      <p:sp>
        <p:nvSpPr>
          <p:cNvPr id="20" name="TextBox 19"/>
          <p:cNvSpPr txBox="1"/>
          <p:nvPr/>
        </p:nvSpPr>
        <p:spPr>
          <a:xfrm>
            <a:off x="3447973" y="2286000"/>
            <a:ext cx="2442133" cy="292608"/>
          </a:xfrm>
          <a:prstGeom prst="rect">
            <a:avLst/>
          </a:prstGeom>
          <a:noFill/>
        </p:spPr>
        <p:txBody>
          <a:bodyPr wrap="square" lIns="45720" rIns="45720" tIns="18288" bIns="18288" anchor="t">
            <a:spAutoFit/>
          </a:bodyPr>
          <a:lstStyle/>
          <a:p>
            <a:pPr algn="l"/>
            <a:r>
              <a:rPr sz="950" b="0" i="1">
                <a:solidFill>
                  <a:srgbClr val="F9A825"/>
                </a:solidFill>
                <a:latin typeface="Arial"/>
              </a:rPr>
              <a:t>One per Value Stream Team · IT-business bridge</a:t>
            </a:r>
          </a:p>
        </p:txBody>
      </p:sp>
      <p:sp>
        <p:nvSpPr>
          <p:cNvPr id="21" name="TextBox 20"/>
          <p:cNvSpPr txBox="1"/>
          <p:nvPr/>
        </p:nvSpPr>
        <p:spPr>
          <a:xfrm>
            <a:off x="3493693" y="2651760"/>
            <a:ext cx="2350693" cy="1828800"/>
          </a:xfrm>
          <a:prstGeom prst="rect">
            <a:avLst/>
          </a:prstGeom>
          <a:noFill/>
        </p:spPr>
        <p:txBody>
          <a:bodyPr wrap="square" lIns="45720" rIns="45720" tIns="36576" bIns="36576">
            <a:spAutoFit/>
          </a:bodyPr>
          <a:lstStyle/>
          <a:p>
            <a:pPr>
              <a:lnSpc>
                <a:spcPct val="135000"/>
              </a:lnSpc>
            </a:pPr>
            <a:r>
              <a:rPr sz="900" b="0">
                <a:solidFill>
                  <a:srgbClr val="2C3E50"/>
                </a:solidFill>
                <a:latin typeface="Arial"/>
              </a:rPr>
              <a:t>•  Owns backlog priority for the Value Stream</a:t>
            </a:r>
          </a:p>
          <a:p>
            <a:pPr>
              <a:lnSpc>
                <a:spcPct val="135000"/>
              </a:lnSpc>
            </a:pPr>
            <a:r>
              <a:rPr sz="900" b="0">
                <a:solidFill>
                  <a:srgbClr val="2C3E50"/>
                </a:solidFill>
                <a:latin typeface="Arial"/>
              </a:rPr>
              <a:t>•  Owns Pain Score and outcome KPIs</a:t>
            </a:r>
          </a:p>
          <a:p>
            <a:pPr>
              <a:lnSpc>
                <a:spcPct val="135000"/>
              </a:lnSpc>
            </a:pPr>
            <a:r>
              <a:rPr sz="900" b="0">
                <a:solidFill>
                  <a:srgbClr val="2C3E50"/>
                </a:solidFill>
                <a:latin typeface="Arial"/>
              </a:rPr>
              <a:t>•  Bridges IT to business — Process Owners, Demand Manager scope folded in</a:t>
            </a:r>
          </a:p>
          <a:p>
            <a:pPr>
              <a:lnSpc>
                <a:spcPct val="135000"/>
              </a:lnSpc>
            </a:pPr>
            <a:r>
              <a:rPr sz="900" b="0">
                <a:solidFill>
                  <a:srgbClr val="2C3E50"/>
                </a:solidFill>
                <a:latin typeface="Arial"/>
              </a:rPr>
              <a:t>•  Chairs the Portfolio review for the VS</a:t>
            </a:r>
          </a:p>
        </p:txBody>
      </p:sp>
      <p:sp>
        <p:nvSpPr>
          <p:cNvPr id="22" name="Rectangle 21"/>
          <p:cNvSpPr/>
          <p:nvPr/>
        </p:nvSpPr>
        <p:spPr>
          <a:xfrm>
            <a:off x="3310813" y="4526280"/>
            <a:ext cx="2716453"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47973" y="4572000"/>
            <a:ext cx="2442133" cy="365760"/>
          </a:xfrm>
          <a:prstGeom prst="rect">
            <a:avLst/>
          </a:prstGeom>
          <a:noFill/>
        </p:spPr>
        <p:txBody>
          <a:bodyPr wrap="square" lIns="45720" rIns="45720" tIns="18288" bIns="18288" anchor="ctr">
            <a:spAutoFit/>
          </a:bodyPr>
          <a:lstStyle/>
          <a:p>
            <a:pPr algn="l"/>
            <a:r>
              <a:rPr sz="850" b="1" i="1">
                <a:solidFill>
                  <a:srgbClr val="F9A825"/>
                </a:solidFill>
                <a:latin typeface="Arial"/>
              </a:rPr>
              <a:t>Decides WHEN and IN WHAT ORDER work is done</a:t>
            </a:r>
          </a:p>
        </p:txBody>
      </p:sp>
      <p:sp>
        <p:nvSpPr>
          <p:cNvPr id="24" name="Rounded Rectangle 23"/>
          <p:cNvSpPr/>
          <p:nvPr/>
        </p:nvSpPr>
        <p:spPr>
          <a:xfrm>
            <a:off x="6164427" y="1691640"/>
            <a:ext cx="2716453" cy="3291840"/>
          </a:xfrm>
          <a:prstGeom prst="roundRect">
            <a:avLst>
              <a:gd name="adj" fmla="val 5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64427" y="1691640"/>
            <a:ext cx="2716453" cy="5029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5867" y="1737360"/>
            <a:ext cx="2533573" cy="411480"/>
          </a:xfrm>
          <a:prstGeom prst="rect">
            <a:avLst/>
          </a:prstGeom>
          <a:noFill/>
        </p:spPr>
        <p:txBody>
          <a:bodyPr wrap="square" lIns="45720" rIns="45720" tIns="18288" bIns="18288" anchor="ctr">
            <a:spAutoFit/>
          </a:bodyPr>
          <a:lstStyle/>
          <a:p>
            <a:pPr algn="ctr"/>
            <a:r>
              <a:rPr sz="1100" b="1" i="0">
                <a:solidFill>
                  <a:srgbClr val="FFFFFF"/>
                </a:solidFill>
                <a:latin typeface="Arial"/>
              </a:rPr>
              <a:t>ARCHITECT REVIEWER</a:t>
            </a:r>
          </a:p>
        </p:txBody>
      </p:sp>
      <p:sp>
        <p:nvSpPr>
          <p:cNvPr id="27" name="TextBox 26"/>
          <p:cNvSpPr txBox="1"/>
          <p:nvPr/>
        </p:nvSpPr>
        <p:spPr>
          <a:xfrm>
            <a:off x="6301587" y="2286000"/>
            <a:ext cx="2442133" cy="292608"/>
          </a:xfrm>
          <a:prstGeom prst="rect">
            <a:avLst/>
          </a:prstGeom>
          <a:noFill/>
        </p:spPr>
        <p:txBody>
          <a:bodyPr wrap="square" lIns="45720" rIns="45720" tIns="18288" bIns="18288" anchor="t">
            <a:spAutoFit/>
          </a:bodyPr>
          <a:lstStyle/>
          <a:p>
            <a:pPr algn="l"/>
            <a:r>
              <a:rPr sz="950" b="0" i="1">
                <a:solidFill>
                  <a:srgbClr val="2E7D32"/>
                </a:solidFill>
                <a:latin typeface="Arial"/>
              </a:rPr>
              <a:t>Architecture Council (rotating)</a:t>
            </a:r>
          </a:p>
        </p:txBody>
      </p:sp>
      <p:sp>
        <p:nvSpPr>
          <p:cNvPr id="28" name="TextBox 27"/>
          <p:cNvSpPr txBox="1"/>
          <p:nvPr/>
        </p:nvSpPr>
        <p:spPr>
          <a:xfrm>
            <a:off x="6347307" y="2651760"/>
            <a:ext cx="2350693" cy="1828800"/>
          </a:xfrm>
          <a:prstGeom prst="rect">
            <a:avLst/>
          </a:prstGeom>
          <a:noFill/>
        </p:spPr>
        <p:txBody>
          <a:bodyPr wrap="square" lIns="45720" rIns="45720" tIns="36576" bIns="36576">
            <a:spAutoFit/>
          </a:bodyPr>
          <a:lstStyle/>
          <a:p>
            <a:pPr>
              <a:lnSpc>
                <a:spcPct val="135000"/>
              </a:lnSpc>
            </a:pPr>
            <a:r>
              <a:rPr sz="900" b="0">
                <a:solidFill>
                  <a:srgbClr val="2C3E50"/>
                </a:solidFill>
                <a:latin typeface="Arial"/>
              </a:rPr>
              <a:t>•  Provides feasibility view at intake gate (≤2 h)</a:t>
            </a:r>
          </a:p>
          <a:p>
            <a:pPr>
              <a:lnSpc>
                <a:spcPct val="135000"/>
              </a:lnSpc>
            </a:pPr>
            <a:r>
              <a:rPr sz="900" b="0">
                <a:solidFill>
                  <a:srgbClr val="2C3E50"/>
                </a:solidFill>
                <a:latin typeface="Arial"/>
              </a:rPr>
              <a:t>•  Verdict: Feasible · Conditional · Not feasible</a:t>
            </a:r>
          </a:p>
          <a:p>
            <a:pPr>
              <a:lnSpc>
                <a:spcPct val="135000"/>
              </a:lnSpc>
            </a:pPr>
            <a:r>
              <a:rPr sz="900" b="0">
                <a:solidFill>
                  <a:srgbClr val="2C3E50"/>
                </a:solidFill>
                <a:latin typeface="Arial"/>
              </a:rPr>
              <a:t>•  Advisory — does not veto</a:t>
            </a:r>
          </a:p>
        </p:txBody>
      </p:sp>
      <p:sp>
        <p:nvSpPr>
          <p:cNvPr id="29" name="Rectangle 28"/>
          <p:cNvSpPr/>
          <p:nvPr/>
        </p:nvSpPr>
        <p:spPr>
          <a:xfrm>
            <a:off x="6164427" y="4526280"/>
            <a:ext cx="2716453"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1587" y="4572000"/>
            <a:ext cx="2442133" cy="365760"/>
          </a:xfrm>
          <a:prstGeom prst="rect">
            <a:avLst/>
          </a:prstGeom>
          <a:noFill/>
        </p:spPr>
        <p:txBody>
          <a:bodyPr wrap="square" lIns="45720" rIns="45720" tIns="18288" bIns="18288" anchor="ctr">
            <a:spAutoFit/>
          </a:bodyPr>
          <a:lstStyle/>
          <a:p>
            <a:pPr algn="l"/>
            <a:r>
              <a:rPr sz="850" b="1" i="1">
                <a:solidFill>
                  <a:srgbClr val="2E7D32"/>
                </a:solidFill>
                <a:latin typeface="Arial"/>
              </a:rPr>
              <a:t>Decides HOW it should be built</a:t>
            </a:r>
          </a:p>
        </p:txBody>
      </p:sp>
      <p:sp>
        <p:nvSpPr>
          <p:cNvPr id="31" name="Rounded Rectangle 30"/>
          <p:cNvSpPr/>
          <p:nvPr/>
        </p:nvSpPr>
        <p:spPr>
          <a:xfrm>
            <a:off x="9018041" y="1691640"/>
            <a:ext cx="2716453" cy="3291840"/>
          </a:xfrm>
          <a:prstGeom prst="roundRect">
            <a:avLst>
              <a:gd name="adj" fmla="val 5000"/>
            </a:avLst>
          </a:prstGeom>
          <a:solidFill>
            <a:srgbClr val="FFFFFF"/>
          </a:solidFill>
          <a:ln w="2540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18041" y="1691640"/>
            <a:ext cx="2716453" cy="50292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09481" y="1737360"/>
            <a:ext cx="2533573" cy="411480"/>
          </a:xfrm>
          <a:prstGeom prst="rect">
            <a:avLst/>
          </a:prstGeom>
          <a:noFill/>
        </p:spPr>
        <p:txBody>
          <a:bodyPr wrap="square" lIns="45720" rIns="45720" tIns="18288" bIns="18288" anchor="ctr">
            <a:spAutoFit/>
          </a:bodyPr>
          <a:lstStyle/>
          <a:p>
            <a:pPr algn="ctr"/>
            <a:r>
              <a:rPr sz="1100" b="1" i="0">
                <a:solidFill>
                  <a:srgbClr val="FFFFFF"/>
                </a:solidFill>
                <a:latin typeface="Arial"/>
              </a:rPr>
              <a:t>TRIAGE / DEMAND MGR</a:t>
            </a:r>
          </a:p>
        </p:txBody>
      </p:sp>
      <p:sp>
        <p:nvSpPr>
          <p:cNvPr id="34" name="TextBox 33"/>
          <p:cNvSpPr txBox="1"/>
          <p:nvPr/>
        </p:nvSpPr>
        <p:spPr>
          <a:xfrm>
            <a:off x="9155201" y="2286000"/>
            <a:ext cx="2442133" cy="292608"/>
          </a:xfrm>
          <a:prstGeom prst="rect">
            <a:avLst/>
          </a:prstGeom>
          <a:noFill/>
        </p:spPr>
        <p:txBody>
          <a:bodyPr wrap="square" lIns="45720" rIns="45720" tIns="18288" bIns="18288" anchor="t">
            <a:spAutoFit/>
          </a:bodyPr>
          <a:lstStyle/>
          <a:p>
            <a:pPr algn="l"/>
            <a:r>
              <a:rPr sz="950" b="0" i="1">
                <a:solidFill>
                  <a:srgbClr val="7A66B8"/>
                </a:solidFill>
                <a:latin typeface="Arial"/>
              </a:rPr>
              <a:t>Cross-VS chair</a:t>
            </a:r>
          </a:p>
        </p:txBody>
      </p:sp>
      <p:sp>
        <p:nvSpPr>
          <p:cNvPr id="35" name="TextBox 34"/>
          <p:cNvSpPr txBox="1"/>
          <p:nvPr/>
        </p:nvSpPr>
        <p:spPr>
          <a:xfrm>
            <a:off x="9200921" y="2651760"/>
            <a:ext cx="2350693" cy="1828800"/>
          </a:xfrm>
          <a:prstGeom prst="rect">
            <a:avLst/>
          </a:prstGeom>
          <a:noFill/>
        </p:spPr>
        <p:txBody>
          <a:bodyPr wrap="square" lIns="45720" rIns="45720" tIns="36576" bIns="36576">
            <a:spAutoFit/>
          </a:bodyPr>
          <a:lstStyle/>
          <a:p>
            <a:pPr>
              <a:lnSpc>
                <a:spcPct val="135000"/>
              </a:lnSpc>
            </a:pPr>
            <a:r>
              <a:rPr sz="900" b="0">
                <a:solidFill>
                  <a:srgbClr val="2C3E50"/>
                </a:solidFill>
                <a:latin typeface="Arial"/>
              </a:rPr>
              <a:t>•  Chairs weekly Gate 1 triage (30 min)</a:t>
            </a:r>
          </a:p>
          <a:p>
            <a:pPr>
              <a:lnSpc>
                <a:spcPct val="135000"/>
              </a:lnSpc>
            </a:pPr>
            <a:r>
              <a:rPr sz="900" b="0">
                <a:solidFill>
                  <a:srgbClr val="2C3E50"/>
                </a:solidFill>
                <a:latin typeface="Arial"/>
              </a:rPr>
              <a:t>•  Audits scoring and intake quality</a:t>
            </a:r>
          </a:p>
          <a:p>
            <a:pPr>
              <a:lnSpc>
                <a:spcPct val="135000"/>
              </a:lnSpc>
            </a:pPr>
            <a:r>
              <a:rPr sz="900" b="0">
                <a:solidFill>
                  <a:srgbClr val="2C3E50"/>
                </a:solidFill>
                <a:latin typeface="Arial"/>
              </a:rPr>
              <a:t>•  Escalates cross-VS conflicts to Gate 2</a:t>
            </a:r>
          </a:p>
        </p:txBody>
      </p:sp>
      <p:sp>
        <p:nvSpPr>
          <p:cNvPr id="36" name="Rectangle 35"/>
          <p:cNvSpPr/>
          <p:nvPr/>
        </p:nvSpPr>
        <p:spPr>
          <a:xfrm>
            <a:off x="9018041" y="4526280"/>
            <a:ext cx="2716453"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55201" y="4572000"/>
            <a:ext cx="2442133" cy="365760"/>
          </a:xfrm>
          <a:prstGeom prst="rect">
            <a:avLst/>
          </a:prstGeom>
          <a:noFill/>
        </p:spPr>
        <p:txBody>
          <a:bodyPr wrap="square" lIns="45720" rIns="45720" tIns="18288" bIns="18288" anchor="ctr">
            <a:spAutoFit/>
          </a:bodyPr>
          <a:lstStyle/>
          <a:p>
            <a:pPr algn="l"/>
            <a:r>
              <a:rPr sz="850" b="1" i="1">
                <a:solidFill>
                  <a:srgbClr val="7A66B8"/>
                </a:solidFill>
                <a:latin typeface="Arial"/>
              </a:rPr>
              <a:t>Decides IF the demand is ready to enter the funnel</a:t>
            </a:r>
          </a:p>
        </p:txBody>
      </p:sp>
      <p:sp>
        <p:nvSpPr>
          <p:cNvPr id="38" name="Rounded Rectangle 37"/>
          <p:cNvSpPr/>
          <p:nvPr/>
        </p:nvSpPr>
        <p:spPr>
          <a:xfrm>
            <a:off x="457200" y="5166360"/>
            <a:ext cx="11277295" cy="1143000"/>
          </a:xfrm>
          <a:prstGeom prst="roundRect">
            <a:avLst>
              <a:gd name="adj" fmla="val 5000"/>
            </a:avLst>
          </a:prstGeom>
          <a:solidFill>
            <a:srgbClr val="FDECD7"/>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5257800"/>
            <a:ext cx="10911535" cy="274320"/>
          </a:xfrm>
          <a:prstGeom prst="rect">
            <a:avLst/>
          </a:prstGeom>
          <a:noFill/>
        </p:spPr>
        <p:txBody>
          <a:bodyPr wrap="square" lIns="45720" rIns="45720" tIns="18288" bIns="18288" anchor="t">
            <a:spAutoFit/>
          </a:bodyPr>
          <a:lstStyle/>
          <a:p>
            <a:pPr algn="l"/>
            <a:r>
              <a:rPr sz="1000" b="1" i="0">
                <a:solidFill>
                  <a:srgbClr val="E88B2F"/>
                </a:solidFill>
                <a:latin typeface="Arial"/>
              </a:rPr>
              <a:t>WHY THE PRODUCT MANAGER ROLE IS NEW</a:t>
            </a:r>
          </a:p>
        </p:txBody>
      </p:sp>
      <p:sp>
        <p:nvSpPr>
          <p:cNvPr id="40" name="TextBox 39"/>
          <p:cNvSpPr txBox="1"/>
          <p:nvPr/>
        </p:nvSpPr>
        <p:spPr>
          <a:xfrm>
            <a:off x="640080" y="5550408"/>
            <a:ext cx="10911535" cy="731520"/>
          </a:xfrm>
          <a:prstGeom prst="rect">
            <a:avLst/>
          </a:prstGeom>
          <a:noFill/>
        </p:spPr>
        <p:txBody>
          <a:bodyPr wrap="square" lIns="45720" rIns="45720" tIns="18288" bIns="18288" anchor="t">
            <a:spAutoFit/>
          </a:bodyPr>
          <a:lstStyle/>
          <a:p>
            <a:pPr algn="l"/>
            <a:r>
              <a:rPr sz="1000" b="0" i="1">
                <a:solidFill>
                  <a:srgbClr val="2C3E50"/>
                </a:solidFill>
                <a:latin typeface="Arial"/>
              </a:rPr>
              <a:t>Today Avangrid has Project Managers (PJMs), Sr. Managers and Champions — not Product Managers. The PM role owns outcomes (not just delivery) and is the single accountable name for each Value Stream's portfolio. This role is created from scratch as part of the TOM.</a:t>
            </a:r>
          </a:p>
        </p:txBody>
      </p:sp>
      <p:sp>
        <p:nvSpPr>
          <p:cNvPr id="41" name="TextBox 40"/>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TOOLS</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FIVE LAYERS CONSOLIDATE TODAY'S FRAGMENTED TOOLSET INTO ONE STACK</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ectangle 5"/>
          <p:cNvSpPr/>
          <p:nvPr/>
        </p:nvSpPr>
        <p:spPr>
          <a:xfrm>
            <a:off x="0" y="914400"/>
            <a:ext cx="12191695" cy="50292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60120"/>
            <a:ext cx="3200400" cy="411480"/>
          </a:xfrm>
          <a:prstGeom prst="rect">
            <a:avLst/>
          </a:prstGeom>
          <a:noFill/>
        </p:spPr>
        <p:txBody>
          <a:bodyPr wrap="square" lIns="45720" rIns="45720" tIns="18288" bIns="18288" anchor="ctr">
            <a:spAutoFit/>
          </a:bodyPr>
          <a:lstStyle/>
          <a:p>
            <a:pPr algn="l"/>
            <a:r>
              <a:rPr sz="1200" b="1" i="0">
                <a:solidFill>
                  <a:srgbClr val="FFFFFF"/>
                </a:solidFill>
                <a:latin typeface="Arial"/>
              </a:rPr>
              <a:t>STAGE 01 · TOOLS</a:t>
            </a:r>
          </a:p>
        </p:txBody>
      </p:sp>
      <p:sp>
        <p:nvSpPr>
          <p:cNvPr id="8" name="TextBox 7"/>
          <p:cNvSpPr txBox="1"/>
          <p:nvPr/>
        </p:nvSpPr>
        <p:spPr>
          <a:xfrm>
            <a:off x="3657600" y="960120"/>
            <a:ext cx="5486400" cy="411480"/>
          </a:xfrm>
          <a:prstGeom prst="rect">
            <a:avLst/>
          </a:prstGeom>
          <a:noFill/>
        </p:spPr>
        <p:txBody>
          <a:bodyPr wrap="square" lIns="45720" rIns="45720" tIns="18288" bIns="18288" anchor="ctr">
            <a:spAutoFit/>
          </a:bodyPr>
          <a:lstStyle/>
          <a:p>
            <a:pPr algn="l"/>
            <a:r>
              <a:rPr sz="1100" b="0" i="1">
                <a:solidFill>
                  <a:srgbClr val="FFFFFF"/>
                </a:solidFill>
                <a:latin typeface="Arial"/>
              </a:rPr>
              <a:t>The systems and platforms used end to end.</a:t>
            </a:r>
          </a:p>
        </p:txBody>
      </p:sp>
      <p:sp>
        <p:nvSpPr>
          <p:cNvPr id="9" name="TextBox 8"/>
          <p:cNvSpPr txBox="1"/>
          <p:nvPr/>
        </p:nvSpPr>
        <p:spPr>
          <a:xfrm>
            <a:off x="8534095" y="960120"/>
            <a:ext cx="3200400" cy="411480"/>
          </a:xfrm>
          <a:prstGeom prst="rect">
            <a:avLst/>
          </a:prstGeom>
          <a:noFill/>
        </p:spPr>
        <p:txBody>
          <a:bodyPr wrap="square" lIns="45720" rIns="45720" tIns="18288" bIns="18288" anchor="ctr">
            <a:spAutoFit/>
          </a:bodyPr>
          <a:lstStyle/>
          <a:p>
            <a:pPr algn="r"/>
            <a:r>
              <a:rPr sz="900" b="1" i="0">
                <a:solidFill>
                  <a:srgbClr val="F9A825"/>
                </a:solidFill>
                <a:latin typeface="Arial"/>
              </a:rPr>
              <a:t>Resolves Issue 03</a:t>
            </a:r>
          </a:p>
        </p:txBody>
      </p:sp>
      <p:sp>
        <p:nvSpPr>
          <p:cNvPr id="10" name="Rounded Rectangle 9"/>
          <p:cNvSpPr/>
          <p:nvPr/>
        </p:nvSpPr>
        <p:spPr>
          <a:xfrm>
            <a:off x="457200" y="1691640"/>
            <a:ext cx="5943600" cy="777240"/>
          </a:xfrm>
          <a:prstGeom prst="roundRect">
            <a:avLst>
              <a:gd name="adj" fmla="val 4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691640"/>
            <a:ext cx="1554480" cy="7772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691640"/>
            <a:ext cx="1554480" cy="777240"/>
          </a:xfrm>
          <a:prstGeom prst="rect">
            <a:avLst/>
          </a:prstGeom>
          <a:noFill/>
        </p:spPr>
        <p:txBody>
          <a:bodyPr wrap="square" lIns="45720" rIns="45720" tIns="18288" bIns="18288" anchor="ctr">
            <a:spAutoFit/>
          </a:bodyPr>
          <a:lstStyle/>
          <a:p>
            <a:pPr algn="ctr"/>
            <a:r>
              <a:rPr sz="1200" b="1" i="0">
                <a:solidFill>
                  <a:srgbClr val="FFFFFF"/>
                </a:solidFill>
                <a:latin typeface="Arial"/>
              </a:rPr>
              <a:t>01  CAPTURE</a:t>
            </a:r>
          </a:p>
        </p:txBody>
      </p:sp>
      <p:sp>
        <p:nvSpPr>
          <p:cNvPr id="13" name="TextBox 12"/>
          <p:cNvSpPr txBox="1"/>
          <p:nvPr/>
        </p:nvSpPr>
        <p:spPr>
          <a:xfrm>
            <a:off x="2148840" y="1737360"/>
            <a:ext cx="4160520" cy="685800"/>
          </a:xfrm>
          <a:prstGeom prst="rect">
            <a:avLst/>
          </a:prstGeom>
          <a:noFill/>
        </p:spPr>
        <p:txBody>
          <a:bodyPr wrap="square" lIns="45720" rIns="45720" tIns="18288" bIns="18288" anchor="ctr">
            <a:spAutoFit/>
          </a:bodyPr>
          <a:lstStyle/>
          <a:p>
            <a:pPr algn="l"/>
            <a:r>
              <a:rPr sz="1050" b="0" i="0">
                <a:solidFill>
                  <a:srgbClr val="2C3E50"/>
                </a:solidFill>
                <a:latin typeface="Arial"/>
              </a:rPr>
              <a:t>One Jira request type per Value Stream</a:t>
            </a:r>
          </a:p>
        </p:txBody>
      </p:sp>
      <p:sp>
        <p:nvSpPr>
          <p:cNvPr id="14" name="Rounded Rectangle 13"/>
          <p:cNvSpPr/>
          <p:nvPr/>
        </p:nvSpPr>
        <p:spPr>
          <a:xfrm>
            <a:off x="457200" y="2542032"/>
            <a:ext cx="5943600" cy="777240"/>
          </a:xfrm>
          <a:prstGeom prst="roundRect">
            <a:avLst>
              <a:gd name="adj" fmla="val 4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542032"/>
            <a:ext cx="1554480" cy="7772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542032"/>
            <a:ext cx="1554480" cy="777240"/>
          </a:xfrm>
          <a:prstGeom prst="rect">
            <a:avLst/>
          </a:prstGeom>
          <a:noFill/>
        </p:spPr>
        <p:txBody>
          <a:bodyPr wrap="square" lIns="45720" rIns="45720" tIns="18288" bIns="18288" anchor="ctr">
            <a:spAutoFit/>
          </a:bodyPr>
          <a:lstStyle/>
          <a:p>
            <a:pPr algn="ctr"/>
            <a:r>
              <a:rPr sz="1200" b="1" i="0">
                <a:solidFill>
                  <a:srgbClr val="FFFFFF"/>
                </a:solidFill>
                <a:latin typeface="Arial"/>
              </a:rPr>
              <a:t>02  TRACK</a:t>
            </a:r>
          </a:p>
        </p:txBody>
      </p:sp>
      <p:sp>
        <p:nvSpPr>
          <p:cNvPr id="17" name="TextBox 16"/>
          <p:cNvSpPr txBox="1"/>
          <p:nvPr/>
        </p:nvSpPr>
        <p:spPr>
          <a:xfrm>
            <a:off x="2148840" y="2587752"/>
            <a:ext cx="4160520" cy="685800"/>
          </a:xfrm>
          <a:prstGeom prst="rect">
            <a:avLst/>
          </a:prstGeom>
          <a:noFill/>
        </p:spPr>
        <p:txBody>
          <a:bodyPr wrap="square" lIns="45720" rIns="45720" tIns="18288" bIns="18288" anchor="ctr">
            <a:spAutoFit/>
          </a:bodyPr>
          <a:lstStyle/>
          <a:p>
            <a:pPr algn="l"/>
            <a:r>
              <a:rPr sz="1050" b="0" i="0">
                <a:solidFill>
                  <a:srgbClr val="2C3E50"/>
                </a:solidFill>
                <a:latin typeface="Arial"/>
              </a:rPr>
              <a:t>Jira backlog · Initiative → Story · Run vs Build separated tracks per squad</a:t>
            </a:r>
          </a:p>
        </p:txBody>
      </p:sp>
      <p:sp>
        <p:nvSpPr>
          <p:cNvPr id="18" name="Rounded Rectangle 17"/>
          <p:cNvSpPr/>
          <p:nvPr/>
        </p:nvSpPr>
        <p:spPr>
          <a:xfrm>
            <a:off x="457200" y="3392424"/>
            <a:ext cx="5943600" cy="77724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392424"/>
            <a:ext cx="1554480" cy="77724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392424"/>
            <a:ext cx="1554480" cy="777240"/>
          </a:xfrm>
          <a:prstGeom prst="rect">
            <a:avLst/>
          </a:prstGeom>
          <a:noFill/>
        </p:spPr>
        <p:txBody>
          <a:bodyPr wrap="square" lIns="45720" rIns="45720" tIns="18288" bIns="18288" anchor="ctr">
            <a:spAutoFit/>
          </a:bodyPr>
          <a:lstStyle/>
          <a:p>
            <a:pPr algn="ctr"/>
            <a:r>
              <a:rPr sz="1200" b="1" i="0">
                <a:solidFill>
                  <a:srgbClr val="FFFFFF"/>
                </a:solidFill>
                <a:latin typeface="Arial"/>
              </a:rPr>
              <a:t>03  COMMUNICATE</a:t>
            </a:r>
          </a:p>
        </p:txBody>
      </p:sp>
      <p:sp>
        <p:nvSpPr>
          <p:cNvPr id="21" name="TextBox 20"/>
          <p:cNvSpPr txBox="1"/>
          <p:nvPr/>
        </p:nvSpPr>
        <p:spPr>
          <a:xfrm>
            <a:off x="2148840" y="3438144"/>
            <a:ext cx="4160520" cy="685800"/>
          </a:xfrm>
          <a:prstGeom prst="rect">
            <a:avLst/>
          </a:prstGeom>
          <a:noFill/>
        </p:spPr>
        <p:txBody>
          <a:bodyPr wrap="square" lIns="45720" rIns="45720" tIns="18288" bIns="18288" anchor="ctr">
            <a:spAutoFit/>
          </a:bodyPr>
          <a:lstStyle/>
          <a:p>
            <a:pPr algn="l"/>
            <a:r>
              <a:rPr sz="1050" b="0" i="0">
                <a:solidFill>
                  <a:srgbClr val="2C3E50"/>
                </a:solidFill>
                <a:latin typeface="Arial"/>
              </a:rPr>
              <a:t>Requester portal · auto-status · forum routing</a:t>
            </a:r>
          </a:p>
        </p:txBody>
      </p:sp>
      <p:sp>
        <p:nvSpPr>
          <p:cNvPr id="22" name="Rounded Rectangle 21"/>
          <p:cNvSpPr/>
          <p:nvPr/>
        </p:nvSpPr>
        <p:spPr>
          <a:xfrm>
            <a:off x="457200" y="4242816"/>
            <a:ext cx="5943600" cy="777240"/>
          </a:xfrm>
          <a:prstGeom prst="roundRect">
            <a:avLst>
              <a:gd name="adj" fmla="val 4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4242816"/>
            <a:ext cx="1554480" cy="7772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242816"/>
            <a:ext cx="1554480" cy="777240"/>
          </a:xfrm>
          <a:prstGeom prst="rect">
            <a:avLst/>
          </a:prstGeom>
          <a:noFill/>
        </p:spPr>
        <p:txBody>
          <a:bodyPr wrap="square" lIns="45720" rIns="45720" tIns="18288" bIns="18288" anchor="ctr">
            <a:spAutoFit/>
          </a:bodyPr>
          <a:lstStyle/>
          <a:p>
            <a:pPr algn="ctr"/>
            <a:r>
              <a:rPr sz="1200" b="1" i="0">
                <a:solidFill>
                  <a:srgbClr val="FFFFFF"/>
                </a:solidFill>
                <a:latin typeface="Arial"/>
              </a:rPr>
              <a:t>04  DOCUMENT</a:t>
            </a:r>
          </a:p>
        </p:txBody>
      </p:sp>
      <p:sp>
        <p:nvSpPr>
          <p:cNvPr id="25" name="TextBox 24"/>
          <p:cNvSpPr txBox="1"/>
          <p:nvPr/>
        </p:nvSpPr>
        <p:spPr>
          <a:xfrm>
            <a:off x="2148840" y="4288536"/>
            <a:ext cx="4160520" cy="685800"/>
          </a:xfrm>
          <a:prstGeom prst="rect">
            <a:avLst/>
          </a:prstGeom>
          <a:noFill/>
        </p:spPr>
        <p:txBody>
          <a:bodyPr wrap="square" lIns="45720" rIns="45720" tIns="18288" bIns="18288" anchor="ctr">
            <a:spAutoFit/>
          </a:bodyPr>
          <a:lstStyle/>
          <a:p>
            <a:pPr algn="l"/>
            <a:r>
              <a:rPr sz="1050" b="0" i="0">
                <a:solidFill>
                  <a:srgbClr val="2C3E50"/>
                </a:solidFill>
                <a:latin typeface="Arial"/>
              </a:rPr>
              <a:t>Confluence (DoR · CoS · per-VS product brief)</a:t>
            </a:r>
          </a:p>
        </p:txBody>
      </p:sp>
      <p:sp>
        <p:nvSpPr>
          <p:cNvPr id="26" name="Rounded Rectangle 25"/>
          <p:cNvSpPr/>
          <p:nvPr/>
        </p:nvSpPr>
        <p:spPr>
          <a:xfrm>
            <a:off x="457200" y="5093208"/>
            <a:ext cx="5943600" cy="777240"/>
          </a:xfrm>
          <a:prstGeom prst="roundRect">
            <a:avLst>
              <a:gd name="adj" fmla="val 4000"/>
            </a:avLst>
          </a:prstGeom>
          <a:solidFill>
            <a:srgbClr val="FFFFFF"/>
          </a:solidFill>
          <a:ln w="2540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5093208"/>
            <a:ext cx="1554480" cy="77724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5093208"/>
            <a:ext cx="1554480" cy="777240"/>
          </a:xfrm>
          <a:prstGeom prst="rect">
            <a:avLst/>
          </a:prstGeom>
          <a:noFill/>
        </p:spPr>
        <p:txBody>
          <a:bodyPr wrap="square" lIns="45720" rIns="45720" tIns="18288" bIns="18288" anchor="ctr">
            <a:spAutoFit/>
          </a:bodyPr>
          <a:lstStyle/>
          <a:p>
            <a:pPr algn="ctr"/>
            <a:r>
              <a:rPr sz="1200" b="1" i="0">
                <a:solidFill>
                  <a:srgbClr val="FFFFFF"/>
                </a:solidFill>
                <a:latin typeface="Arial"/>
              </a:rPr>
              <a:t>05  REPORT</a:t>
            </a:r>
          </a:p>
        </p:txBody>
      </p:sp>
      <p:sp>
        <p:nvSpPr>
          <p:cNvPr id="29" name="TextBox 28"/>
          <p:cNvSpPr txBox="1"/>
          <p:nvPr/>
        </p:nvSpPr>
        <p:spPr>
          <a:xfrm>
            <a:off x="2148840" y="5138928"/>
            <a:ext cx="4160520" cy="685800"/>
          </a:xfrm>
          <a:prstGeom prst="rect">
            <a:avLst/>
          </a:prstGeom>
          <a:noFill/>
        </p:spPr>
        <p:txBody>
          <a:bodyPr wrap="square" lIns="45720" rIns="45720" tIns="18288" bIns="18288" anchor="ctr">
            <a:spAutoFit/>
          </a:bodyPr>
          <a:lstStyle/>
          <a:p>
            <a:pPr algn="l"/>
            <a:r>
              <a:rPr sz="1050" b="0" i="0">
                <a:solidFill>
                  <a:srgbClr val="2C3E50"/>
                </a:solidFill>
                <a:latin typeface="Arial"/>
              </a:rPr>
              <a:t>Demand dashboard · 5 views · refresh &lt; 1 h</a:t>
            </a:r>
          </a:p>
        </p:txBody>
      </p:sp>
      <p:sp>
        <p:nvSpPr>
          <p:cNvPr id="30" name="Rounded Rectangle 29"/>
          <p:cNvSpPr/>
          <p:nvPr/>
        </p:nvSpPr>
        <p:spPr>
          <a:xfrm>
            <a:off x="6675120" y="1691640"/>
            <a:ext cx="5059375" cy="2194560"/>
          </a:xfrm>
          <a:prstGeom prst="roundRect">
            <a:avLst>
              <a:gd name="adj" fmla="val 4000"/>
            </a:avLst>
          </a:prstGeom>
          <a:solidFill>
            <a:srgbClr val="F8DFD8"/>
          </a:solidFill>
          <a:ln w="1905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12280" y="1783080"/>
            <a:ext cx="4785055" cy="274320"/>
          </a:xfrm>
          <a:prstGeom prst="rect">
            <a:avLst/>
          </a:prstGeom>
          <a:noFill/>
        </p:spPr>
        <p:txBody>
          <a:bodyPr wrap="square" lIns="45720" rIns="45720" tIns="18288" bIns="18288" anchor="t">
            <a:spAutoFit/>
          </a:bodyPr>
          <a:lstStyle/>
          <a:p>
            <a:pPr algn="l"/>
            <a:r>
              <a:rPr sz="1100" b="1" i="0">
                <a:solidFill>
                  <a:srgbClr val="B63B1F"/>
                </a:solidFill>
                <a:latin typeface="Arial"/>
              </a:rPr>
              <a:t>BEFORE  ·  fragmented</a:t>
            </a:r>
          </a:p>
        </p:txBody>
      </p:sp>
      <p:sp>
        <p:nvSpPr>
          <p:cNvPr id="32" name="TextBox 31"/>
          <p:cNvSpPr txBox="1"/>
          <p:nvPr/>
        </p:nvSpPr>
        <p:spPr>
          <a:xfrm>
            <a:off x="6858000" y="2103120"/>
            <a:ext cx="4693615" cy="1737360"/>
          </a:xfrm>
          <a:prstGeom prst="rect">
            <a:avLst/>
          </a:prstGeom>
          <a:noFill/>
        </p:spPr>
        <p:txBody>
          <a:bodyPr wrap="square" lIns="45720" rIns="45720" tIns="36576" bIns="36576">
            <a:spAutoFit/>
          </a:bodyPr>
          <a:lstStyle/>
          <a:p>
            <a:pPr>
              <a:lnSpc>
                <a:spcPct val="135000"/>
              </a:lnSpc>
            </a:pPr>
            <a:r>
              <a:rPr sz="950" b="0">
                <a:solidFill>
                  <a:srgbClr val="2C3E50"/>
                </a:solidFill>
                <a:latin typeface="Arial"/>
              </a:rPr>
              <a:t>•  6+ disconnected channels (Jira · IT Now · RITM · SharePoint · Email · Word)</a:t>
            </a:r>
          </a:p>
          <a:p>
            <a:pPr>
              <a:lnSpc>
                <a:spcPct val="135000"/>
              </a:lnSpc>
            </a:pPr>
            <a:r>
              <a:rPr sz="950" b="0">
                <a:solidFill>
                  <a:srgbClr val="2C3E50"/>
                </a:solidFill>
                <a:latin typeface="Arial"/>
              </a:rPr>
              <a:t>•  No standard intake form</a:t>
            </a:r>
          </a:p>
          <a:p>
            <a:pPr>
              <a:lnSpc>
                <a:spcPct val="135000"/>
              </a:lnSpc>
            </a:pPr>
            <a:r>
              <a:rPr sz="950" b="0">
                <a:solidFill>
                  <a:srgbClr val="2C3E50"/>
                </a:solidFill>
                <a:latin typeface="Arial"/>
              </a:rPr>
              <a:t>•  No common backlog · per-team spreadsheets</a:t>
            </a:r>
          </a:p>
          <a:p>
            <a:pPr>
              <a:lnSpc>
                <a:spcPct val="135000"/>
              </a:lnSpc>
            </a:pPr>
            <a:r>
              <a:rPr sz="950" b="0">
                <a:solidFill>
                  <a:srgbClr val="2C3E50"/>
                </a:solidFill>
                <a:latin typeface="Arial"/>
              </a:rPr>
              <a:t>•  Status communicated by ad-hoc replies</a:t>
            </a:r>
          </a:p>
          <a:p>
            <a:pPr>
              <a:lnSpc>
                <a:spcPct val="135000"/>
              </a:lnSpc>
            </a:pPr>
            <a:r>
              <a:rPr sz="950" b="0">
                <a:solidFill>
                  <a:srgbClr val="2C3E50"/>
                </a:solidFill>
                <a:latin typeface="Arial"/>
              </a:rPr>
              <a:t>•  Reporting manual, monthly, after the fact</a:t>
            </a:r>
          </a:p>
        </p:txBody>
      </p:sp>
      <p:sp>
        <p:nvSpPr>
          <p:cNvPr id="33" name="Rounded Rectangle 32"/>
          <p:cNvSpPr/>
          <p:nvPr/>
        </p:nvSpPr>
        <p:spPr>
          <a:xfrm>
            <a:off x="6675120" y="4023360"/>
            <a:ext cx="5059375" cy="2194560"/>
          </a:xfrm>
          <a:prstGeom prst="roundRect">
            <a:avLst>
              <a:gd name="adj" fmla="val 4000"/>
            </a:avLst>
          </a:prstGeom>
          <a:solidFill>
            <a:srgbClr val="E8F1E3"/>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12280" y="4114800"/>
            <a:ext cx="4785055" cy="274320"/>
          </a:xfrm>
          <a:prstGeom prst="rect">
            <a:avLst/>
          </a:prstGeom>
          <a:noFill/>
        </p:spPr>
        <p:txBody>
          <a:bodyPr wrap="square" lIns="45720" rIns="45720" tIns="18288" bIns="18288" anchor="t">
            <a:spAutoFit/>
          </a:bodyPr>
          <a:lstStyle/>
          <a:p>
            <a:pPr algn="l"/>
            <a:r>
              <a:rPr sz="1100" b="1" i="0">
                <a:solidFill>
                  <a:srgbClr val="2E7D32"/>
                </a:solidFill>
                <a:latin typeface="Arial"/>
              </a:rPr>
              <a:t>AFTER  ·  one stack</a:t>
            </a:r>
          </a:p>
        </p:txBody>
      </p:sp>
      <p:sp>
        <p:nvSpPr>
          <p:cNvPr id="35" name="TextBox 34"/>
          <p:cNvSpPr txBox="1"/>
          <p:nvPr/>
        </p:nvSpPr>
        <p:spPr>
          <a:xfrm>
            <a:off x="6858000" y="4434840"/>
            <a:ext cx="4693615" cy="1737360"/>
          </a:xfrm>
          <a:prstGeom prst="rect">
            <a:avLst/>
          </a:prstGeom>
          <a:noFill/>
        </p:spPr>
        <p:txBody>
          <a:bodyPr wrap="square" lIns="45720" rIns="45720" tIns="36576" bIns="36576">
            <a:spAutoFit/>
          </a:bodyPr>
          <a:lstStyle/>
          <a:p>
            <a:pPr>
              <a:lnSpc>
                <a:spcPct val="135000"/>
              </a:lnSpc>
            </a:pPr>
            <a:r>
              <a:rPr sz="950" b="0">
                <a:solidFill>
                  <a:srgbClr val="2C3E50"/>
                </a:solidFill>
                <a:latin typeface="Arial"/>
              </a:rPr>
              <a:t>•  One Jira request type per Value Stream</a:t>
            </a:r>
          </a:p>
          <a:p>
            <a:pPr>
              <a:lnSpc>
                <a:spcPct val="135000"/>
              </a:lnSpc>
            </a:pPr>
            <a:r>
              <a:rPr sz="950" b="0">
                <a:solidFill>
                  <a:srgbClr val="2C3E50"/>
                </a:solidFill>
                <a:latin typeface="Arial"/>
              </a:rPr>
              <a:t>•  Mandatory DoR fields enforced at submit</a:t>
            </a:r>
          </a:p>
          <a:p>
            <a:pPr>
              <a:lnSpc>
                <a:spcPct val="135000"/>
              </a:lnSpc>
            </a:pPr>
            <a:r>
              <a:rPr sz="950" b="0">
                <a:solidFill>
                  <a:srgbClr val="2C3E50"/>
                </a:solidFill>
                <a:latin typeface="Arial"/>
              </a:rPr>
              <a:t>•  Single backlog system of record</a:t>
            </a:r>
          </a:p>
          <a:p>
            <a:pPr>
              <a:lnSpc>
                <a:spcPct val="135000"/>
              </a:lnSpc>
            </a:pPr>
            <a:r>
              <a:rPr sz="950" b="0">
                <a:solidFill>
                  <a:srgbClr val="2C3E50"/>
                </a:solidFill>
                <a:latin typeface="Arial"/>
              </a:rPr>
              <a:t>•  Live requester portal · auto-status</a:t>
            </a:r>
          </a:p>
          <a:p>
            <a:pPr>
              <a:lnSpc>
                <a:spcPct val="135000"/>
              </a:lnSpc>
            </a:pPr>
            <a:r>
              <a:rPr sz="950" b="0">
                <a:solidFill>
                  <a:srgbClr val="2C3E50"/>
                </a:solidFill>
                <a:latin typeface="Arial"/>
              </a:rPr>
              <a:t>•  Demand dashboard refreshed under 1 hour</a:t>
            </a:r>
          </a:p>
        </p:txBody>
      </p:sp>
      <p:sp>
        <p:nvSpPr>
          <p:cNvPr id="36" name="TextBox 35"/>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PORTFOLIO ARCHITECTURE</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TWO WORK LEVELS — INITIATIVES AT PORTFOLIO · STORIES AT SQUAD</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ounded Rectangle 5"/>
          <p:cNvSpPr/>
          <p:nvPr/>
        </p:nvSpPr>
        <p:spPr>
          <a:xfrm>
            <a:off x="2286000" y="1005840"/>
            <a:ext cx="7589520" cy="777240"/>
          </a:xfrm>
          <a:prstGeom prst="roundRect">
            <a:avLst>
              <a:gd name="adj" fmla="val 4000"/>
            </a:avLst>
          </a:prstGeom>
          <a:solidFill>
            <a:srgbClr val="6785C1"/>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468880" y="1051560"/>
            <a:ext cx="7315200" cy="365760"/>
          </a:xfrm>
          <a:prstGeom prst="rect">
            <a:avLst/>
          </a:prstGeom>
          <a:noFill/>
        </p:spPr>
        <p:txBody>
          <a:bodyPr wrap="square" lIns="45720" rIns="45720" tIns="18288" bIns="18288" anchor="t">
            <a:spAutoFit/>
          </a:bodyPr>
          <a:lstStyle/>
          <a:p>
            <a:pPr algn="l"/>
            <a:r>
              <a:rPr sz="1400" b="1" i="0">
                <a:solidFill>
                  <a:srgbClr val="2C578B"/>
                </a:solidFill>
                <a:latin typeface="Arial"/>
              </a:rPr>
              <a:t>VP ROLL-UP DASHBOARD</a:t>
            </a:r>
          </a:p>
        </p:txBody>
      </p:sp>
      <p:sp>
        <p:nvSpPr>
          <p:cNvPr id="8" name="TextBox 7"/>
          <p:cNvSpPr txBox="1"/>
          <p:nvPr/>
        </p:nvSpPr>
        <p:spPr>
          <a:xfrm>
            <a:off x="2468880" y="1371600"/>
            <a:ext cx="7315200" cy="365760"/>
          </a:xfrm>
          <a:prstGeom prst="rect">
            <a:avLst/>
          </a:prstGeom>
          <a:noFill/>
        </p:spPr>
        <p:txBody>
          <a:bodyPr wrap="square" lIns="45720" rIns="45720" tIns="18288" bIns="18288" anchor="t">
            <a:spAutoFit/>
          </a:bodyPr>
          <a:lstStyle/>
          <a:p>
            <a:pPr algn="l"/>
            <a:r>
              <a:rPr sz="1000" b="0" i="1">
                <a:solidFill>
                  <a:srgbClr val="2C3E50"/>
                </a:solidFill>
                <a:latin typeface="Arial"/>
              </a:rPr>
              <a:t>Aggregated view across both portfolios · monthly Portfolio Sync</a:t>
            </a:r>
          </a:p>
        </p:txBody>
      </p:sp>
      <p:sp>
        <p:nvSpPr>
          <p:cNvPr id="9" name="Rectangle 8"/>
          <p:cNvSpPr/>
          <p:nvPr/>
        </p:nvSpPr>
        <p:spPr>
          <a:xfrm>
            <a:off x="6062472" y="1783080"/>
            <a:ext cx="36576" cy="18288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 y="1965960"/>
            <a:ext cx="5486400" cy="109728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965960"/>
            <a:ext cx="5486400" cy="4114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011680"/>
            <a:ext cx="5486400" cy="320040"/>
          </a:xfrm>
          <a:prstGeom prst="rect">
            <a:avLst/>
          </a:prstGeom>
          <a:noFill/>
        </p:spPr>
        <p:txBody>
          <a:bodyPr wrap="square" lIns="45720" rIns="45720" tIns="18288" bIns="18288" anchor="ctr">
            <a:spAutoFit/>
          </a:bodyPr>
          <a:lstStyle/>
          <a:p>
            <a:pPr algn="ctr"/>
            <a:r>
              <a:rPr sz="1200" b="1" i="0">
                <a:solidFill>
                  <a:srgbClr val="FFFFFF"/>
                </a:solidFill>
                <a:latin typeface="Arial"/>
              </a:rPr>
              <a:t>PORTFOLIO BOARD  ·  Customer Services Applications</a:t>
            </a:r>
          </a:p>
        </p:txBody>
      </p:sp>
      <p:sp>
        <p:nvSpPr>
          <p:cNvPr id="13" name="TextBox 12"/>
          <p:cNvSpPr txBox="1"/>
          <p:nvPr/>
        </p:nvSpPr>
        <p:spPr>
          <a:xfrm>
            <a:off x="640080" y="2423160"/>
            <a:ext cx="5120640" cy="594360"/>
          </a:xfrm>
          <a:prstGeom prst="rect">
            <a:avLst/>
          </a:prstGeom>
          <a:noFill/>
        </p:spPr>
        <p:txBody>
          <a:bodyPr wrap="square" lIns="45720" rIns="45720" tIns="18288" bIns="18288" anchor="t">
            <a:spAutoFit/>
          </a:bodyPr>
          <a:lstStyle/>
          <a:p>
            <a:pPr algn="l"/>
            <a:r>
              <a:rPr sz="1000" b="0" i="0">
                <a:solidFill>
                  <a:srgbClr val="2C3E50"/>
                </a:solidFill>
                <a:latin typeface="Arial"/>
              </a:rPr>
              <a:t>3 Value Streams · cards = Initiatives  ·  Owner: Kumar  ·  monthly Portfolio Committee</a:t>
            </a:r>
          </a:p>
        </p:txBody>
      </p:sp>
      <p:sp>
        <p:nvSpPr>
          <p:cNvPr id="14" name="Rounded Rectangle 13"/>
          <p:cNvSpPr/>
          <p:nvPr/>
        </p:nvSpPr>
        <p:spPr>
          <a:xfrm>
            <a:off x="6263640" y="1965960"/>
            <a:ext cx="5486400" cy="1097280"/>
          </a:xfrm>
          <a:prstGeom prst="roundRect">
            <a:avLst>
              <a:gd name="adj" fmla="val 4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965960"/>
            <a:ext cx="5486400"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011680"/>
            <a:ext cx="5486400" cy="320040"/>
          </a:xfrm>
          <a:prstGeom prst="rect">
            <a:avLst/>
          </a:prstGeom>
          <a:noFill/>
        </p:spPr>
        <p:txBody>
          <a:bodyPr wrap="square" lIns="45720" rIns="45720" tIns="18288" bIns="18288" anchor="ctr">
            <a:spAutoFit/>
          </a:bodyPr>
          <a:lstStyle/>
          <a:p>
            <a:pPr algn="ctr"/>
            <a:r>
              <a:rPr sz="1200" b="1" i="0">
                <a:solidFill>
                  <a:srgbClr val="FFFFFF"/>
                </a:solidFill>
                <a:latin typeface="Arial"/>
              </a:rPr>
              <a:t>PORTFOLIO BOARD  ·  IT Business Applications</a:t>
            </a:r>
          </a:p>
        </p:txBody>
      </p:sp>
      <p:sp>
        <p:nvSpPr>
          <p:cNvPr id="17" name="TextBox 16"/>
          <p:cNvSpPr txBox="1"/>
          <p:nvPr/>
        </p:nvSpPr>
        <p:spPr>
          <a:xfrm>
            <a:off x="6446520" y="2423160"/>
            <a:ext cx="5120640" cy="594360"/>
          </a:xfrm>
          <a:prstGeom prst="rect">
            <a:avLst/>
          </a:prstGeom>
          <a:noFill/>
        </p:spPr>
        <p:txBody>
          <a:bodyPr wrap="square" lIns="45720" rIns="45720" tIns="18288" bIns="18288" anchor="t">
            <a:spAutoFit/>
          </a:bodyPr>
          <a:lstStyle/>
          <a:p>
            <a:pPr algn="l"/>
            <a:r>
              <a:rPr sz="1000" b="0" i="0">
                <a:solidFill>
                  <a:srgbClr val="2C3E50"/>
                </a:solidFill>
                <a:latin typeface="Arial"/>
              </a:rPr>
              <a:t>5 Value Streams · cards = Initiatives  ·  Owner: Carlos  ·  monthly Portfolio Committee</a:t>
            </a:r>
          </a:p>
        </p:txBody>
      </p:sp>
      <p:sp>
        <p:nvSpPr>
          <p:cNvPr id="18" name="Rectangle 17"/>
          <p:cNvSpPr/>
          <p:nvPr/>
        </p:nvSpPr>
        <p:spPr>
          <a:xfrm>
            <a:off x="6062472" y="3063240"/>
            <a:ext cx="36576" cy="45720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474719"/>
            <a:ext cx="11277295" cy="274320"/>
          </a:xfrm>
          <a:prstGeom prst="rect">
            <a:avLst/>
          </a:prstGeom>
          <a:noFill/>
        </p:spPr>
        <p:txBody>
          <a:bodyPr wrap="square" lIns="45720" rIns="45720" tIns="18288" bIns="18288" anchor="t">
            <a:spAutoFit/>
          </a:bodyPr>
          <a:lstStyle/>
          <a:p>
            <a:pPr algn="ctr"/>
            <a:r>
              <a:rPr sz="1300" b="1" i="0">
                <a:solidFill>
                  <a:srgbClr val="0F1C50"/>
                </a:solidFill>
                <a:latin typeface="Arial"/>
              </a:rPr>
              <a:t>EIGHT TEAM KANBANS  ·  one per Squad  ·  cards = STORIES  ·  five phases × dual track</a:t>
            </a:r>
          </a:p>
        </p:txBody>
      </p:sp>
      <p:sp>
        <p:nvSpPr>
          <p:cNvPr id="20" name="Rounded Rectangle 19"/>
          <p:cNvSpPr/>
          <p:nvPr/>
        </p:nvSpPr>
        <p:spPr>
          <a:xfrm>
            <a:off x="502920" y="3749039"/>
            <a:ext cx="1318221" cy="2194560"/>
          </a:xfrm>
          <a:prstGeom prst="roundRect">
            <a:avLst>
              <a:gd name="adj" fmla="val 4000"/>
            </a:avLst>
          </a:prstGeom>
          <a:solidFill>
            <a:srgbClr val="FFFFFF"/>
          </a:solidFill>
          <a:ln w="1905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3749039"/>
            <a:ext cx="1318221" cy="4114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3794759"/>
            <a:ext cx="1318221" cy="365760"/>
          </a:xfrm>
          <a:prstGeom prst="rect">
            <a:avLst/>
          </a:prstGeom>
          <a:noFill/>
        </p:spPr>
        <p:txBody>
          <a:bodyPr wrap="square" lIns="45720" rIns="45720" tIns="18288" bIns="18288" anchor="ctr">
            <a:spAutoFit/>
          </a:bodyPr>
          <a:lstStyle/>
          <a:p>
            <a:pPr algn="ctr"/>
            <a:r>
              <a:rPr sz="1400" b="1" i="0">
                <a:solidFill>
                  <a:srgbClr val="FFFFFF"/>
                </a:solidFill>
                <a:latin typeface="Arial"/>
              </a:rPr>
              <a:t>M2C-SL</a:t>
            </a:r>
          </a:p>
        </p:txBody>
      </p:sp>
      <p:sp>
        <p:nvSpPr>
          <p:cNvPr id="23" name="TextBox 22"/>
          <p:cNvSpPr txBox="1"/>
          <p:nvPr/>
        </p:nvSpPr>
        <p:spPr>
          <a:xfrm>
            <a:off x="548640" y="4251959"/>
            <a:ext cx="1226781" cy="548640"/>
          </a:xfrm>
          <a:prstGeom prst="rect">
            <a:avLst/>
          </a:prstGeom>
          <a:noFill/>
        </p:spPr>
        <p:txBody>
          <a:bodyPr wrap="square" lIns="45720" rIns="45720" tIns="18288" bIns="18288" anchor="t">
            <a:spAutoFit/>
          </a:bodyPr>
          <a:lstStyle/>
          <a:p>
            <a:pPr algn="ctr"/>
            <a:r>
              <a:rPr sz="1000" b="1" i="0">
                <a:solidFill>
                  <a:srgbClr val="2C3E50"/>
                </a:solidFill>
                <a:latin typeface="Arial"/>
              </a:rPr>
              <a:t>Service Lifecycle</a:t>
            </a:r>
          </a:p>
        </p:txBody>
      </p:sp>
      <p:sp>
        <p:nvSpPr>
          <p:cNvPr id="24" name="TextBox 23"/>
          <p:cNvSpPr txBox="1"/>
          <p:nvPr/>
        </p:nvSpPr>
        <p:spPr>
          <a:xfrm>
            <a:off x="548640" y="4892039"/>
            <a:ext cx="1226781" cy="1005840"/>
          </a:xfrm>
          <a:prstGeom prst="rect">
            <a:avLst/>
          </a:prstGeom>
          <a:noFill/>
        </p:spPr>
        <p:txBody>
          <a:bodyPr wrap="square" lIns="45720" rIns="45720" tIns="18288" bIns="18288" anchor="ctr">
            <a:spAutoFit/>
          </a:bodyPr>
          <a:lstStyle/>
          <a:p>
            <a:pPr algn="ctr"/>
            <a:r>
              <a:rPr sz="950" b="0" i="1">
                <a:solidFill>
                  <a:srgbClr val="95A5A6"/>
                </a:solidFill>
                <a:latin typeface="Arial"/>
              </a:rPr>
              <a:t>5 phases</a:t>
            </a:r>
          </a:p>
          <a:p>
            <a:r>
              <a:t>×</a:t>
            </a:r>
          </a:p>
          <a:p>
            <a:r>
              <a:t>2 tracks</a:t>
            </a:r>
          </a:p>
          <a:p>
            <a:r>
              <a:t>Discovery + Delivery</a:t>
            </a:r>
          </a:p>
        </p:txBody>
      </p:sp>
      <p:sp>
        <p:nvSpPr>
          <p:cNvPr id="25" name="Rounded Rectangle 24"/>
          <p:cNvSpPr/>
          <p:nvPr/>
        </p:nvSpPr>
        <p:spPr>
          <a:xfrm>
            <a:off x="1912581" y="3749039"/>
            <a:ext cx="1318221" cy="2194560"/>
          </a:xfrm>
          <a:prstGeom prst="roundRect">
            <a:avLst>
              <a:gd name="adj" fmla="val 4000"/>
            </a:avLst>
          </a:prstGeom>
          <a:solidFill>
            <a:srgbClr val="FFFFFF"/>
          </a:solidFill>
          <a:ln w="1905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912581" y="3749039"/>
            <a:ext cx="1318221" cy="4114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12581" y="3794759"/>
            <a:ext cx="1318221" cy="365760"/>
          </a:xfrm>
          <a:prstGeom prst="rect">
            <a:avLst/>
          </a:prstGeom>
          <a:noFill/>
        </p:spPr>
        <p:txBody>
          <a:bodyPr wrap="square" lIns="45720" rIns="45720" tIns="18288" bIns="18288" anchor="ctr">
            <a:spAutoFit/>
          </a:bodyPr>
          <a:lstStyle/>
          <a:p>
            <a:pPr algn="ctr"/>
            <a:r>
              <a:rPr sz="1400" b="1" i="0">
                <a:solidFill>
                  <a:srgbClr val="FFFFFF"/>
                </a:solidFill>
                <a:latin typeface="Arial"/>
              </a:rPr>
              <a:t>M2C-RO</a:t>
            </a:r>
          </a:p>
        </p:txBody>
      </p:sp>
      <p:sp>
        <p:nvSpPr>
          <p:cNvPr id="28" name="TextBox 27"/>
          <p:cNvSpPr txBox="1"/>
          <p:nvPr/>
        </p:nvSpPr>
        <p:spPr>
          <a:xfrm>
            <a:off x="1958301" y="4251959"/>
            <a:ext cx="1226781" cy="548640"/>
          </a:xfrm>
          <a:prstGeom prst="rect">
            <a:avLst/>
          </a:prstGeom>
          <a:noFill/>
        </p:spPr>
        <p:txBody>
          <a:bodyPr wrap="square" lIns="45720" rIns="45720" tIns="18288" bIns="18288" anchor="t">
            <a:spAutoFit/>
          </a:bodyPr>
          <a:lstStyle/>
          <a:p>
            <a:pPr algn="ctr"/>
            <a:r>
              <a:rPr sz="1000" b="1" i="0">
                <a:solidFill>
                  <a:srgbClr val="2C3E50"/>
                </a:solidFill>
                <a:latin typeface="Arial"/>
              </a:rPr>
              <a:t>Revenue Operations</a:t>
            </a:r>
          </a:p>
        </p:txBody>
      </p:sp>
      <p:sp>
        <p:nvSpPr>
          <p:cNvPr id="29" name="TextBox 28"/>
          <p:cNvSpPr txBox="1"/>
          <p:nvPr/>
        </p:nvSpPr>
        <p:spPr>
          <a:xfrm>
            <a:off x="1958301" y="4892039"/>
            <a:ext cx="1226781" cy="1005840"/>
          </a:xfrm>
          <a:prstGeom prst="rect">
            <a:avLst/>
          </a:prstGeom>
          <a:noFill/>
        </p:spPr>
        <p:txBody>
          <a:bodyPr wrap="square" lIns="45720" rIns="45720" tIns="18288" bIns="18288" anchor="ctr">
            <a:spAutoFit/>
          </a:bodyPr>
          <a:lstStyle/>
          <a:p>
            <a:pPr algn="ctr"/>
            <a:r>
              <a:rPr sz="950" b="0" i="1">
                <a:solidFill>
                  <a:srgbClr val="95A5A6"/>
                </a:solidFill>
                <a:latin typeface="Arial"/>
              </a:rPr>
              <a:t>5 phases</a:t>
            </a:r>
          </a:p>
          <a:p>
            <a:r>
              <a:t>×</a:t>
            </a:r>
          </a:p>
          <a:p>
            <a:r>
              <a:t>2 tracks</a:t>
            </a:r>
          </a:p>
          <a:p>
            <a:r>
              <a:t>Discovery + Delivery</a:t>
            </a:r>
          </a:p>
        </p:txBody>
      </p:sp>
      <p:sp>
        <p:nvSpPr>
          <p:cNvPr id="30" name="Rounded Rectangle 29"/>
          <p:cNvSpPr/>
          <p:nvPr/>
        </p:nvSpPr>
        <p:spPr>
          <a:xfrm>
            <a:off x="3322243" y="3749039"/>
            <a:ext cx="1318221" cy="2194560"/>
          </a:xfrm>
          <a:prstGeom prst="roundRect">
            <a:avLst>
              <a:gd name="adj" fmla="val 4000"/>
            </a:avLst>
          </a:prstGeom>
          <a:solidFill>
            <a:srgbClr val="FFFFFF"/>
          </a:solidFill>
          <a:ln w="1905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322243" y="3749039"/>
            <a:ext cx="1318221" cy="4114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22243" y="3794759"/>
            <a:ext cx="1318221" cy="365760"/>
          </a:xfrm>
          <a:prstGeom prst="rect">
            <a:avLst/>
          </a:prstGeom>
          <a:noFill/>
        </p:spPr>
        <p:txBody>
          <a:bodyPr wrap="square" lIns="45720" rIns="45720" tIns="18288" bIns="18288" anchor="ctr">
            <a:spAutoFit/>
          </a:bodyPr>
          <a:lstStyle/>
          <a:p>
            <a:pPr algn="ctr"/>
            <a:r>
              <a:rPr sz="1400" b="1" i="0">
                <a:solidFill>
                  <a:srgbClr val="FFFFFF"/>
                </a:solidFill>
                <a:latin typeface="Arial"/>
              </a:rPr>
              <a:t>CCC</a:t>
            </a:r>
          </a:p>
        </p:txBody>
      </p:sp>
      <p:sp>
        <p:nvSpPr>
          <p:cNvPr id="33" name="TextBox 32"/>
          <p:cNvSpPr txBox="1"/>
          <p:nvPr/>
        </p:nvSpPr>
        <p:spPr>
          <a:xfrm>
            <a:off x="3367963" y="4251959"/>
            <a:ext cx="1226781" cy="548640"/>
          </a:xfrm>
          <a:prstGeom prst="rect">
            <a:avLst/>
          </a:prstGeom>
          <a:noFill/>
        </p:spPr>
        <p:txBody>
          <a:bodyPr wrap="square" lIns="45720" rIns="45720" tIns="18288" bIns="18288" anchor="t">
            <a:spAutoFit/>
          </a:bodyPr>
          <a:lstStyle/>
          <a:p>
            <a:pPr algn="ctr"/>
            <a:r>
              <a:rPr sz="1000" b="1" i="0">
                <a:solidFill>
                  <a:srgbClr val="2C3E50"/>
                </a:solidFill>
                <a:latin typeface="Arial"/>
              </a:rPr>
              <a:t>Customer Care</a:t>
            </a:r>
          </a:p>
        </p:txBody>
      </p:sp>
      <p:sp>
        <p:nvSpPr>
          <p:cNvPr id="34" name="TextBox 33"/>
          <p:cNvSpPr txBox="1"/>
          <p:nvPr/>
        </p:nvSpPr>
        <p:spPr>
          <a:xfrm>
            <a:off x="3367963" y="4892039"/>
            <a:ext cx="1226781" cy="1005840"/>
          </a:xfrm>
          <a:prstGeom prst="rect">
            <a:avLst/>
          </a:prstGeom>
          <a:noFill/>
        </p:spPr>
        <p:txBody>
          <a:bodyPr wrap="square" lIns="45720" rIns="45720" tIns="18288" bIns="18288" anchor="ctr">
            <a:spAutoFit/>
          </a:bodyPr>
          <a:lstStyle/>
          <a:p>
            <a:pPr algn="ctr"/>
            <a:r>
              <a:rPr sz="950" b="0" i="1">
                <a:solidFill>
                  <a:srgbClr val="95A5A6"/>
                </a:solidFill>
                <a:latin typeface="Arial"/>
              </a:rPr>
              <a:t>5 phases</a:t>
            </a:r>
          </a:p>
          <a:p>
            <a:r>
              <a:t>×</a:t>
            </a:r>
          </a:p>
          <a:p>
            <a:r>
              <a:t>2 tracks</a:t>
            </a:r>
          </a:p>
          <a:p>
            <a:r>
              <a:t>Discovery + Delivery</a:t>
            </a:r>
          </a:p>
        </p:txBody>
      </p:sp>
      <p:sp>
        <p:nvSpPr>
          <p:cNvPr id="35" name="Rounded Rectangle 34"/>
          <p:cNvSpPr/>
          <p:nvPr/>
        </p:nvSpPr>
        <p:spPr>
          <a:xfrm>
            <a:off x="4731905" y="3749039"/>
            <a:ext cx="1318221" cy="2194560"/>
          </a:xfrm>
          <a:prstGeom prst="roundRect">
            <a:avLst>
              <a:gd name="adj" fmla="val 4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731905" y="3749039"/>
            <a:ext cx="1318221"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31905" y="3794759"/>
            <a:ext cx="1318221" cy="365760"/>
          </a:xfrm>
          <a:prstGeom prst="rect">
            <a:avLst/>
          </a:prstGeom>
          <a:noFill/>
        </p:spPr>
        <p:txBody>
          <a:bodyPr wrap="square" lIns="45720" rIns="45720" tIns="18288" bIns="18288" anchor="ctr">
            <a:spAutoFit/>
          </a:bodyPr>
          <a:lstStyle/>
          <a:p>
            <a:pPr algn="ctr"/>
            <a:r>
              <a:rPr sz="1400" b="1" i="0">
                <a:solidFill>
                  <a:srgbClr val="FFFFFF"/>
                </a:solidFill>
                <a:latin typeface="Arial"/>
              </a:rPr>
              <a:t>FOPS</a:t>
            </a:r>
          </a:p>
        </p:txBody>
      </p:sp>
      <p:sp>
        <p:nvSpPr>
          <p:cNvPr id="38" name="TextBox 37"/>
          <p:cNvSpPr txBox="1"/>
          <p:nvPr/>
        </p:nvSpPr>
        <p:spPr>
          <a:xfrm>
            <a:off x="4777625" y="4251959"/>
            <a:ext cx="1226781" cy="548640"/>
          </a:xfrm>
          <a:prstGeom prst="rect">
            <a:avLst/>
          </a:prstGeom>
          <a:noFill/>
        </p:spPr>
        <p:txBody>
          <a:bodyPr wrap="square" lIns="45720" rIns="45720" tIns="18288" bIns="18288" anchor="t">
            <a:spAutoFit/>
          </a:bodyPr>
          <a:lstStyle/>
          <a:p>
            <a:pPr algn="ctr"/>
            <a:r>
              <a:rPr sz="1000" b="1" i="0">
                <a:solidFill>
                  <a:srgbClr val="2C3E50"/>
                </a:solidFill>
                <a:latin typeface="Arial"/>
              </a:rPr>
              <a:t>Field Operations</a:t>
            </a:r>
          </a:p>
        </p:txBody>
      </p:sp>
      <p:sp>
        <p:nvSpPr>
          <p:cNvPr id="39" name="TextBox 38"/>
          <p:cNvSpPr txBox="1"/>
          <p:nvPr/>
        </p:nvSpPr>
        <p:spPr>
          <a:xfrm>
            <a:off x="4777625" y="4892039"/>
            <a:ext cx="1226781" cy="1005840"/>
          </a:xfrm>
          <a:prstGeom prst="rect">
            <a:avLst/>
          </a:prstGeom>
          <a:noFill/>
        </p:spPr>
        <p:txBody>
          <a:bodyPr wrap="square" lIns="45720" rIns="45720" tIns="18288" bIns="18288" anchor="ctr">
            <a:spAutoFit/>
          </a:bodyPr>
          <a:lstStyle/>
          <a:p>
            <a:pPr algn="ctr"/>
            <a:r>
              <a:rPr sz="950" b="0" i="1">
                <a:solidFill>
                  <a:srgbClr val="95A5A6"/>
                </a:solidFill>
                <a:latin typeface="Arial"/>
              </a:rPr>
              <a:t>5 phases</a:t>
            </a:r>
          </a:p>
          <a:p>
            <a:r>
              <a:t>×</a:t>
            </a:r>
          </a:p>
          <a:p>
            <a:r>
              <a:t>2 tracks</a:t>
            </a:r>
          </a:p>
          <a:p>
            <a:r>
              <a:t>Discovery + Delivery</a:t>
            </a:r>
          </a:p>
        </p:txBody>
      </p:sp>
      <p:sp>
        <p:nvSpPr>
          <p:cNvPr id="40" name="Rounded Rectangle 39"/>
          <p:cNvSpPr/>
          <p:nvPr/>
        </p:nvSpPr>
        <p:spPr>
          <a:xfrm>
            <a:off x="6141567" y="3749039"/>
            <a:ext cx="1318221" cy="2194560"/>
          </a:xfrm>
          <a:prstGeom prst="roundRect">
            <a:avLst>
              <a:gd name="adj" fmla="val 4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41567" y="3749039"/>
            <a:ext cx="1318221"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41567" y="3794759"/>
            <a:ext cx="1318221" cy="365760"/>
          </a:xfrm>
          <a:prstGeom prst="rect">
            <a:avLst/>
          </a:prstGeom>
          <a:noFill/>
        </p:spPr>
        <p:txBody>
          <a:bodyPr wrap="square" lIns="45720" rIns="45720" tIns="18288" bIns="18288" anchor="ctr">
            <a:spAutoFit/>
          </a:bodyPr>
          <a:lstStyle/>
          <a:p>
            <a:pPr algn="ctr"/>
            <a:r>
              <a:rPr sz="1400" b="1" i="0">
                <a:solidFill>
                  <a:srgbClr val="FFFFFF"/>
                </a:solidFill>
                <a:latin typeface="Arial"/>
              </a:rPr>
              <a:t>E&amp;A</a:t>
            </a:r>
          </a:p>
        </p:txBody>
      </p:sp>
      <p:sp>
        <p:nvSpPr>
          <p:cNvPr id="43" name="TextBox 42"/>
          <p:cNvSpPr txBox="1"/>
          <p:nvPr/>
        </p:nvSpPr>
        <p:spPr>
          <a:xfrm>
            <a:off x="6187287" y="4251959"/>
            <a:ext cx="1226781" cy="548640"/>
          </a:xfrm>
          <a:prstGeom prst="rect">
            <a:avLst/>
          </a:prstGeom>
          <a:noFill/>
        </p:spPr>
        <p:txBody>
          <a:bodyPr wrap="square" lIns="45720" rIns="45720" tIns="18288" bIns="18288" anchor="t">
            <a:spAutoFit/>
          </a:bodyPr>
          <a:lstStyle/>
          <a:p>
            <a:pPr algn="ctr"/>
            <a:r>
              <a:rPr sz="1000" b="1" i="0">
                <a:solidFill>
                  <a:srgbClr val="2C3E50"/>
                </a:solidFill>
                <a:latin typeface="Arial"/>
              </a:rPr>
              <a:t>Engineering &amp; Asset</a:t>
            </a:r>
          </a:p>
        </p:txBody>
      </p:sp>
      <p:sp>
        <p:nvSpPr>
          <p:cNvPr id="44" name="TextBox 43"/>
          <p:cNvSpPr txBox="1"/>
          <p:nvPr/>
        </p:nvSpPr>
        <p:spPr>
          <a:xfrm>
            <a:off x="6187287" y="4892039"/>
            <a:ext cx="1226781" cy="1005840"/>
          </a:xfrm>
          <a:prstGeom prst="rect">
            <a:avLst/>
          </a:prstGeom>
          <a:noFill/>
        </p:spPr>
        <p:txBody>
          <a:bodyPr wrap="square" lIns="45720" rIns="45720" tIns="18288" bIns="18288" anchor="ctr">
            <a:spAutoFit/>
          </a:bodyPr>
          <a:lstStyle/>
          <a:p>
            <a:pPr algn="ctr"/>
            <a:r>
              <a:rPr sz="950" b="0" i="1">
                <a:solidFill>
                  <a:srgbClr val="95A5A6"/>
                </a:solidFill>
                <a:latin typeface="Arial"/>
              </a:rPr>
              <a:t>5 phases</a:t>
            </a:r>
          </a:p>
          <a:p>
            <a:r>
              <a:t>×</a:t>
            </a:r>
          </a:p>
          <a:p>
            <a:r>
              <a:t>2 tracks</a:t>
            </a:r>
          </a:p>
          <a:p>
            <a:r>
              <a:t>Discovery + Delivery</a:t>
            </a:r>
          </a:p>
        </p:txBody>
      </p:sp>
      <p:sp>
        <p:nvSpPr>
          <p:cNvPr id="45" name="Rounded Rectangle 44"/>
          <p:cNvSpPr/>
          <p:nvPr/>
        </p:nvSpPr>
        <p:spPr>
          <a:xfrm>
            <a:off x="7551229" y="3749039"/>
            <a:ext cx="1318221" cy="2194560"/>
          </a:xfrm>
          <a:prstGeom prst="roundRect">
            <a:avLst>
              <a:gd name="adj" fmla="val 4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551229" y="3749039"/>
            <a:ext cx="1318221"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551229" y="3794759"/>
            <a:ext cx="1318221" cy="365760"/>
          </a:xfrm>
          <a:prstGeom prst="rect">
            <a:avLst/>
          </a:prstGeom>
          <a:noFill/>
        </p:spPr>
        <p:txBody>
          <a:bodyPr wrap="square" lIns="45720" rIns="45720" tIns="18288" bIns="18288" anchor="ctr">
            <a:spAutoFit/>
          </a:bodyPr>
          <a:lstStyle/>
          <a:p>
            <a:pPr algn="ctr"/>
            <a:r>
              <a:rPr sz="1400" b="1" i="0">
                <a:solidFill>
                  <a:srgbClr val="FFFFFF"/>
                </a:solidFill>
                <a:latin typeface="Arial"/>
              </a:rPr>
              <a:t>NOC</a:t>
            </a:r>
          </a:p>
        </p:txBody>
      </p:sp>
      <p:sp>
        <p:nvSpPr>
          <p:cNvPr id="48" name="TextBox 47"/>
          <p:cNvSpPr txBox="1"/>
          <p:nvPr/>
        </p:nvSpPr>
        <p:spPr>
          <a:xfrm>
            <a:off x="7596949" y="4251959"/>
            <a:ext cx="1226781" cy="548640"/>
          </a:xfrm>
          <a:prstGeom prst="rect">
            <a:avLst/>
          </a:prstGeom>
          <a:noFill/>
        </p:spPr>
        <p:txBody>
          <a:bodyPr wrap="square" lIns="45720" rIns="45720" tIns="18288" bIns="18288" anchor="t">
            <a:spAutoFit/>
          </a:bodyPr>
          <a:lstStyle/>
          <a:p>
            <a:pPr algn="ctr"/>
            <a:r>
              <a:rPr sz="1000" b="1" i="0">
                <a:solidFill>
                  <a:srgbClr val="2C3E50"/>
                </a:solidFill>
                <a:latin typeface="Arial"/>
              </a:rPr>
              <a:t>Network Operations</a:t>
            </a:r>
          </a:p>
        </p:txBody>
      </p:sp>
      <p:sp>
        <p:nvSpPr>
          <p:cNvPr id="49" name="TextBox 48"/>
          <p:cNvSpPr txBox="1"/>
          <p:nvPr/>
        </p:nvSpPr>
        <p:spPr>
          <a:xfrm>
            <a:off x="7596949" y="4892039"/>
            <a:ext cx="1226781" cy="1005840"/>
          </a:xfrm>
          <a:prstGeom prst="rect">
            <a:avLst/>
          </a:prstGeom>
          <a:noFill/>
        </p:spPr>
        <p:txBody>
          <a:bodyPr wrap="square" lIns="45720" rIns="45720" tIns="18288" bIns="18288" anchor="ctr">
            <a:spAutoFit/>
          </a:bodyPr>
          <a:lstStyle/>
          <a:p>
            <a:pPr algn="ctr"/>
            <a:r>
              <a:rPr sz="950" b="0" i="1">
                <a:solidFill>
                  <a:srgbClr val="95A5A6"/>
                </a:solidFill>
                <a:latin typeface="Arial"/>
              </a:rPr>
              <a:t>5 phases</a:t>
            </a:r>
          </a:p>
          <a:p>
            <a:r>
              <a:t>×</a:t>
            </a:r>
          </a:p>
          <a:p>
            <a:r>
              <a:t>2 tracks</a:t>
            </a:r>
          </a:p>
          <a:p>
            <a:r>
              <a:t>Discovery + Delivery</a:t>
            </a:r>
          </a:p>
        </p:txBody>
      </p:sp>
      <p:sp>
        <p:nvSpPr>
          <p:cNvPr id="50" name="Rounded Rectangle 49"/>
          <p:cNvSpPr/>
          <p:nvPr/>
        </p:nvSpPr>
        <p:spPr>
          <a:xfrm>
            <a:off x="8960891" y="3749039"/>
            <a:ext cx="1318221" cy="2194560"/>
          </a:xfrm>
          <a:prstGeom prst="roundRect">
            <a:avLst>
              <a:gd name="adj" fmla="val 4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960891" y="3749039"/>
            <a:ext cx="1318221"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960891" y="3794759"/>
            <a:ext cx="1318221" cy="365760"/>
          </a:xfrm>
          <a:prstGeom prst="rect">
            <a:avLst/>
          </a:prstGeom>
          <a:noFill/>
        </p:spPr>
        <p:txBody>
          <a:bodyPr wrap="square" lIns="45720" rIns="45720" tIns="18288" bIns="18288" anchor="ctr">
            <a:spAutoFit/>
          </a:bodyPr>
          <a:lstStyle/>
          <a:p>
            <a:pPr algn="ctr"/>
            <a:r>
              <a:rPr sz="1400" b="1" i="0">
                <a:solidFill>
                  <a:srgbClr val="FFFFFF"/>
                </a:solidFill>
                <a:latin typeface="Arial"/>
              </a:rPr>
              <a:t>C&amp;R</a:t>
            </a:r>
          </a:p>
        </p:txBody>
      </p:sp>
      <p:sp>
        <p:nvSpPr>
          <p:cNvPr id="53" name="TextBox 52"/>
          <p:cNvSpPr txBox="1"/>
          <p:nvPr/>
        </p:nvSpPr>
        <p:spPr>
          <a:xfrm>
            <a:off x="9006611" y="4251959"/>
            <a:ext cx="1226781" cy="548640"/>
          </a:xfrm>
          <a:prstGeom prst="rect">
            <a:avLst/>
          </a:prstGeom>
          <a:noFill/>
        </p:spPr>
        <p:txBody>
          <a:bodyPr wrap="square" lIns="45720" rIns="45720" tIns="18288" bIns="18288" anchor="t">
            <a:spAutoFit/>
          </a:bodyPr>
          <a:lstStyle/>
          <a:p>
            <a:pPr algn="ctr"/>
            <a:r>
              <a:rPr sz="1000" b="1" i="0">
                <a:solidFill>
                  <a:srgbClr val="2C3E50"/>
                </a:solidFill>
                <a:latin typeface="Arial"/>
              </a:rPr>
              <a:t>Corporate &amp; Regulatory</a:t>
            </a:r>
          </a:p>
        </p:txBody>
      </p:sp>
      <p:sp>
        <p:nvSpPr>
          <p:cNvPr id="54" name="TextBox 53"/>
          <p:cNvSpPr txBox="1"/>
          <p:nvPr/>
        </p:nvSpPr>
        <p:spPr>
          <a:xfrm>
            <a:off x="9006611" y="4892039"/>
            <a:ext cx="1226781" cy="1005840"/>
          </a:xfrm>
          <a:prstGeom prst="rect">
            <a:avLst/>
          </a:prstGeom>
          <a:noFill/>
        </p:spPr>
        <p:txBody>
          <a:bodyPr wrap="square" lIns="45720" rIns="45720" tIns="18288" bIns="18288" anchor="ctr">
            <a:spAutoFit/>
          </a:bodyPr>
          <a:lstStyle/>
          <a:p>
            <a:pPr algn="ctr"/>
            <a:r>
              <a:rPr sz="950" b="0" i="1">
                <a:solidFill>
                  <a:srgbClr val="95A5A6"/>
                </a:solidFill>
                <a:latin typeface="Arial"/>
              </a:rPr>
              <a:t>5 phases</a:t>
            </a:r>
          </a:p>
          <a:p>
            <a:r>
              <a:t>×</a:t>
            </a:r>
          </a:p>
          <a:p>
            <a:r>
              <a:t>2 tracks</a:t>
            </a:r>
          </a:p>
          <a:p>
            <a:r>
              <a:t>Discovery + Delivery</a:t>
            </a:r>
          </a:p>
        </p:txBody>
      </p:sp>
      <p:sp>
        <p:nvSpPr>
          <p:cNvPr id="55" name="Rounded Rectangle 54"/>
          <p:cNvSpPr/>
          <p:nvPr/>
        </p:nvSpPr>
        <p:spPr>
          <a:xfrm>
            <a:off x="10370553" y="3749039"/>
            <a:ext cx="1318221" cy="2194560"/>
          </a:xfrm>
          <a:prstGeom prst="roundRect">
            <a:avLst>
              <a:gd name="adj" fmla="val 4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370553" y="3749039"/>
            <a:ext cx="1318221"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370553" y="3794759"/>
            <a:ext cx="1318221" cy="365760"/>
          </a:xfrm>
          <a:prstGeom prst="rect">
            <a:avLst/>
          </a:prstGeom>
          <a:noFill/>
        </p:spPr>
        <p:txBody>
          <a:bodyPr wrap="square" lIns="45720" rIns="45720" tIns="18288" bIns="18288" anchor="ctr">
            <a:spAutoFit/>
          </a:bodyPr>
          <a:lstStyle/>
          <a:p>
            <a:pPr algn="ctr"/>
            <a:r>
              <a:rPr sz="1400" b="1" i="0">
                <a:solidFill>
                  <a:srgbClr val="FFFFFF"/>
                </a:solidFill>
                <a:latin typeface="Arial"/>
              </a:rPr>
              <a:t>IBD</a:t>
            </a:r>
          </a:p>
        </p:txBody>
      </p:sp>
      <p:sp>
        <p:nvSpPr>
          <p:cNvPr id="58" name="TextBox 57"/>
          <p:cNvSpPr txBox="1"/>
          <p:nvPr/>
        </p:nvSpPr>
        <p:spPr>
          <a:xfrm>
            <a:off x="10416273" y="4251959"/>
            <a:ext cx="1226781" cy="548640"/>
          </a:xfrm>
          <a:prstGeom prst="rect">
            <a:avLst/>
          </a:prstGeom>
          <a:noFill/>
        </p:spPr>
        <p:txBody>
          <a:bodyPr wrap="square" lIns="45720" rIns="45720" tIns="18288" bIns="18288" anchor="t">
            <a:spAutoFit/>
          </a:bodyPr>
          <a:lstStyle/>
          <a:p>
            <a:pPr algn="ctr"/>
            <a:r>
              <a:rPr sz="1000" b="1" i="0">
                <a:solidFill>
                  <a:srgbClr val="2C3E50"/>
                </a:solidFill>
                <a:latin typeface="Arial"/>
              </a:rPr>
              <a:t>Iberdrola Corp</a:t>
            </a:r>
          </a:p>
        </p:txBody>
      </p:sp>
      <p:sp>
        <p:nvSpPr>
          <p:cNvPr id="59" name="TextBox 58"/>
          <p:cNvSpPr txBox="1"/>
          <p:nvPr/>
        </p:nvSpPr>
        <p:spPr>
          <a:xfrm>
            <a:off x="10416273" y="4892039"/>
            <a:ext cx="1226781" cy="1005840"/>
          </a:xfrm>
          <a:prstGeom prst="rect">
            <a:avLst/>
          </a:prstGeom>
          <a:noFill/>
        </p:spPr>
        <p:txBody>
          <a:bodyPr wrap="square" lIns="45720" rIns="45720" tIns="18288" bIns="18288" anchor="ctr">
            <a:spAutoFit/>
          </a:bodyPr>
          <a:lstStyle/>
          <a:p>
            <a:pPr algn="ctr"/>
            <a:r>
              <a:rPr sz="950" b="0" i="1">
                <a:solidFill>
                  <a:srgbClr val="95A5A6"/>
                </a:solidFill>
                <a:latin typeface="Arial"/>
              </a:rPr>
              <a:t>5 phases</a:t>
            </a:r>
          </a:p>
          <a:p>
            <a:r>
              <a:t>×</a:t>
            </a:r>
          </a:p>
          <a:p>
            <a:r>
              <a:t>2 tracks</a:t>
            </a:r>
          </a:p>
          <a:p>
            <a:r>
              <a:t>Discovery + Delivery</a:t>
            </a:r>
          </a:p>
        </p:txBody>
      </p:sp>
      <p:sp>
        <p:nvSpPr>
          <p:cNvPr id="60" name="Rounded Rectangle 59"/>
          <p:cNvSpPr/>
          <p:nvPr/>
        </p:nvSpPr>
        <p:spPr>
          <a:xfrm>
            <a:off x="457200" y="6126480"/>
            <a:ext cx="11277295" cy="502920"/>
          </a:xfrm>
          <a:prstGeom prst="roundRect">
            <a:avLst>
              <a:gd name="adj" fmla="val 4000"/>
            </a:avLst>
          </a:prstGeom>
          <a:solidFill>
            <a:srgbClr val="FDECD7"/>
          </a:solidFill>
          <a:ln w="127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40080" y="6172200"/>
            <a:ext cx="1828800" cy="411480"/>
          </a:xfrm>
          <a:prstGeom prst="rect">
            <a:avLst/>
          </a:prstGeom>
          <a:noFill/>
        </p:spPr>
        <p:txBody>
          <a:bodyPr wrap="square" lIns="45720" rIns="45720" tIns="18288" bIns="18288" anchor="ctr">
            <a:spAutoFit/>
          </a:bodyPr>
          <a:lstStyle/>
          <a:p>
            <a:pPr algn="l"/>
            <a:r>
              <a:rPr sz="1000" b="1" i="0">
                <a:solidFill>
                  <a:srgbClr val="E88B2F"/>
                </a:solidFill>
                <a:latin typeface="Arial"/>
              </a:rPr>
              <a:t>EPIC IS OPTIONAL</a:t>
            </a:r>
          </a:p>
        </p:txBody>
      </p:sp>
      <p:sp>
        <p:nvSpPr>
          <p:cNvPr id="62" name="TextBox 61"/>
          <p:cNvSpPr txBox="1"/>
          <p:nvPr/>
        </p:nvSpPr>
        <p:spPr>
          <a:xfrm>
            <a:off x="2377440" y="6172200"/>
            <a:ext cx="9357055" cy="411480"/>
          </a:xfrm>
          <a:prstGeom prst="rect">
            <a:avLst/>
          </a:prstGeom>
          <a:noFill/>
        </p:spPr>
        <p:txBody>
          <a:bodyPr wrap="square" lIns="45720" rIns="45720" tIns="18288" bIns="18288" anchor="ctr">
            <a:spAutoFit/>
          </a:bodyPr>
          <a:lstStyle/>
          <a:p>
            <a:pPr algn="l"/>
            <a:r>
              <a:rPr sz="950" b="0" i="0">
                <a:solidFill>
                  <a:srgbClr val="2C3E50"/>
                </a:solidFill>
                <a:latin typeface="Arial"/>
              </a:rPr>
              <a:t>Use Epic only when an Initiative is too large for one quarter (&gt; 3 months) — to slice it into deliverable chunks. Default flow is Initiative → Story.</a:t>
            </a:r>
          </a:p>
        </p:txBody>
      </p:sp>
      <p:sp>
        <p:nvSpPr>
          <p:cNvPr id="63" name="TextBox 62"/>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GOVERNANCE</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TWO GATES ABSORB THE DEMAND · ONE CADENCE DRIVES THE PORTFOLIO</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ectangle 5"/>
          <p:cNvSpPr/>
          <p:nvPr/>
        </p:nvSpPr>
        <p:spPr>
          <a:xfrm>
            <a:off x="0" y="914400"/>
            <a:ext cx="12191695" cy="50292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60120"/>
            <a:ext cx="3200400" cy="411480"/>
          </a:xfrm>
          <a:prstGeom prst="rect">
            <a:avLst/>
          </a:prstGeom>
          <a:noFill/>
        </p:spPr>
        <p:txBody>
          <a:bodyPr wrap="square" lIns="45720" rIns="45720" tIns="18288" bIns="18288" anchor="ctr">
            <a:spAutoFit/>
          </a:bodyPr>
          <a:lstStyle/>
          <a:p>
            <a:pPr algn="l"/>
            <a:r>
              <a:rPr sz="1200" b="1" i="0">
                <a:solidFill>
                  <a:srgbClr val="FFFFFF"/>
                </a:solidFill>
                <a:latin typeface="Arial"/>
              </a:rPr>
              <a:t>STAGE 01 · GOVERNANCE</a:t>
            </a:r>
          </a:p>
        </p:txBody>
      </p:sp>
      <p:sp>
        <p:nvSpPr>
          <p:cNvPr id="8" name="TextBox 7"/>
          <p:cNvSpPr txBox="1"/>
          <p:nvPr/>
        </p:nvSpPr>
        <p:spPr>
          <a:xfrm>
            <a:off x="3657600" y="960120"/>
            <a:ext cx="5486400" cy="411480"/>
          </a:xfrm>
          <a:prstGeom prst="rect">
            <a:avLst/>
          </a:prstGeom>
          <a:noFill/>
        </p:spPr>
        <p:txBody>
          <a:bodyPr wrap="square" lIns="45720" rIns="45720" tIns="18288" bIns="18288" anchor="ctr">
            <a:spAutoFit/>
          </a:bodyPr>
          <a:lstStyle/>
          <a:p>
            <a:pPr algn="l"/>
            <a:r>
              <a:rPr sz="1100" b="0" i="1">
                <a:solidFill>
                  <a:srgbClr val="FFFFFF"/>
                </a:solidFill>
                <a:latin typeface="Arial"/>
              </a:rPr>
              <a:t>Decisions, forums, and controls that keep the funnel honest.</a:t>
            </a:r>
          </a:p>
        </p:txBody>
      </p:sp>
      <p:sp>
        <p:nvSpPr>
          <p:cNvPr id="9" name="TextBox 8"/>
          <p:cNvSpPr txBox="1"/>
          <p:nvPr/>
        </p:nvSpPr>
        <p:spPr>
          <a:xfrm>
            <a:off x="8534095" y="960120"/>
            <a:ext cx="3200400" cy="411480"/>
          </a:xfrm>
          <a:prstGeom prst="rect">
            <a:avLst/>
          </a:prstGeom>
          <a:noFill/>
        </p:spPr>
        <p:txBody>
          <a:bodyPr wrap="square" lIns="45720" rIns="45720" tIns="18288" bIns="18288" anchor="ctr">
            <a:spAutoFit/>
          </a:bodyPr>
          <a:lstStyle/>
          <a:p>
            <a:pPr algn="r"/>
            <a:r>
              <a:rPr sz="900" b="1" i="0">
                <a:solidFill>
                  <a:srgbClr val="F9A825"/>
                </a:solidFill>
                <a:latin typeface="Arial"/>
              </a:rPr>
              <a:t>Resolves Issues 04 + 05</a:t>
            </a:r>
          </a:p>
        </p:txBody>
      </p:sp>
      <p:sp>
        <p:nvSpPr>
          <p:cNvPr id="10" name="Rounded Rectangle 9"/>
          <p:cNvSpPr/>
          <p:nvPr/>
        </p:nvSpPr>
        <p:spPr>
          <a:xfrm>
            <a:off x="457200" y="1691640"/>
            <a:ext cx="3637178" cy="2377440"/>
          </a:xfrm>
          <a:prstGeom prst="roundRect">
            <a:avLst>
              <a:gd name="adj" fmla="val 5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691640"/>
            <a:ext cx="3637178"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737360"/>
            <a:ext cx="3454298" cy="411480"/>
          </a:xfrm>
          <a:prstGeom prst="rect">
            <a:avLst/>
          </a:prstGeom>
          <a:noFill/>
        </p:spPr>
        <p:txBody>
          <a:bodyPr wrap="square" lIns="45720" rIns="45720" tIns="18288" bIns="18288" anchor="ctr">
            <a:spAutoFit/>
          </a:bodyPr>
          <a:lstStyle/>
          <a:p>
            <a:pPr algn="ctr"/>
            <a:r>
              <a:rPr sz="1200" b="1" i="0">
                <a:solidFill>
                  <a:srgbClr val="FFFFFF"/>
                </a:solidFill>
                <a:latin typeface="Arial"/>
              </a:rPr>
              <a:t>GATE 1 · TRIAGE</a:t>
            </a:r>
          </a:p>
        </p:txBody>
      </p:sp>
      <p:sp>
        <p:nvSpPr>
          <p:cNvPr id="13" name="TextBox 12"/>
          <p:cNvSpPr txBox="1"/>
          <p:nvPr/>
        </p:nvSpPr>
        <p:spPr>
          <a:xfrm>
            <a:off x="594360" y="2286000"/>
            <a:ext cx="3362858" cy="274320"/>
          </a:xfrm>
          <a:prstGeom prst="rect">
            <a:avLst/>
          </a:prstGeom>
          <a:noFill/>
        </p:spPr>
        <p:txBody>
          <a:bodyPr wrap="square" lIns="45720" rIns="45720" tIns="18288" bIns="18288" anchor="t">
            <a:spAutoFit/>
          </a:bodyPr>
          <a:lstStyle/>
          <a:p>
            <a:pPr algn="l"/>
            <a:r>
              <a:rPr sz="1000" b="0" i="1">
                <a:solidFill>
                  <a:srgbClr val="2C578B"/>
                </a:solidFill>
                <a:latin typeface="Arial"/>
              </a:rPr>
              <a:t>Weekly · 30 min</a:t>
            </a:r>
          </a:p>
        </p:txBody>
      </p:sp>
      <p:sp>
        <p:nvSpPr>
          <p:cNvPr id="14" name="TextBox 13"/>
          <p:cNvSpPr txBox="1"/>
          <p:nvPr/>
        </p:nvSpPr>
        <p:spPr>
          <a:xfrm>
            <a:off x="594360" y="2560320"/>
            <a:ext cx="3362858" cy="274320"/>
          </a:xfrm>
          <a:prstGeom prst="rect">
            <a:avLst/>
          </a:prstGeom>
          <a:noFill/>
        </p:spPr>
        <p:txBody>
          <a:bodyPr wrap="square" lIns="45720" rIns="45720" tIns="18288" bIns="18288" anchor="t">
            <a:spAutoFit/>
          </a:bodyPr>
          <a:lstStyle/>
          <a:p>
            <a:pPr algn="l"/>
            <a:r>
              <a:rPr sz="900" b="0" i="0">
                <a:solidFill>
                  <a:srgbClr val="2C3E50"/>
                </a:solidFill>
                <a:latin typeface="Arial"/>
              </a:rPr>
              <a:t>Demand Manager (chair) · PMs · Architect</a:t>
            </a:r>
          </a:p>
        </p:txBody>
      </p:sp>
      <p:sp>
        <p:nvSpPr>
          <p:cNvPr id="15" name="Rounded Rectangle 14"/>
          <p:cNvSpPr/>
          <p:nvPr/>
        </p:nvSpPr>
        <p:spPr>
          <a:xfrm>
            <a:off x="594360" y="2926080"/>
            <a:ext cx="772134" cy="274320"/>
          </a:xfrm>
          <a:prstGeom prst="roundRect">
            <a:avLst>
              <a:gd name="adj" fmla="val 4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926080"/>
            <a:ext cx="772134" cy="274320"/>
          </a:xfrm>
          <a:prstGeom prst="rect">
            <a:avLst/>
          </a:prstGeom>
          <a:noFill/>
        </p:spPr>
        <p:txBody>
          <a:bodyPr wrap="square" lIns="45720" rIns="45720" tIns="18288" bIns="18288" anchor="ctr">
            <a:spAutoFit/>
          </a:bodyPr>
          <a:lstStyle/>
          <a:p>
            <a:pPr algn="ctr"/>
            <a:r>
              <a:rPr sz="850" b="1" i="0">
                <a:solidFill>
                  <a:srgbClr val="FFFFFF"/>
                </a:solidFill>
                <a:latin typeface="Arial"/>
              </a:rPr>
              <a:t>Accept</a:t>
            </a:r>
          </a:p>
        </p:txBody>
      </p:sp>
      <p:sp>
        <p:nvSpPr>
          <p:cNvPr id="17" name="Rounded Rectangle 16"/>
          <p:cNvSpPr/>
          <p:nvPr/>
        </p:nvSpPr>
        <p:spPr>
          <a:xfrm>
            <a:off x="1439646" y="2926080"/>
            <a:ext cx="772134" cy="274320"/>
          </a:xfrm>
          <a:prstGeom prst="roundRect">
            <a:avLst>
              <a:gd name="adj" fmla="val 4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39646" y="2926080"/>
            <a:ext cx="772134" cy="274320"/>
          </a:xfrm>
          <a:prstGeom prst="rect">
            <a:avLst/>
          </a:prstGeom>
          <a:noFill/>
        </p:spPr>
        <p:txBody>
          <a:bodyPr wrap="square" lIns="45720" rIns="45720" tIns="18288" bIns="18288" anchor="ctr">
            <a:spAutoFit/>
          </a:bodyPr>
          <a:lstStyle/>
          <a:p>
            <a:pPr algn="ctr"/>
            <a:r>
              <a:rPr sz="850" b="1" i="0">
                <a:solidFill>
                  <a:srgbClr val="FFFFFF"/>
                </a:solidFill>
                <a:latin typeface="Arial"/>
              </a:rPr>
              <a:t>Send-back</a:t>
            </a:r>
          </a:p>
        </p:txBody>
      </p:sp>
      <p:sp>
        <p:nvSpPr>
          <p:cNvPr id="19" name="Rounded Rectangle 18"/>
          <p:cNvSpPr/>
          <p:nvPr/>
        </p:nvSpPr>
        <p:spPr>
          <a:xfrm>
            <a:off x="2284933" y="2926080"/>
            <a:ext cx="772134" cy="274320"/>
          </a:xfrm>
          <a:prstGeom prst="roundRect">
            <a:avLst>
              <a:gd name="adj" fmla="val 4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84933" y="2926080"/>
            <a:ext cx="772134" cy="274320"/>
          </a:xfrm>
          <a:prstGeom prst="rect">
            <a:avLst/>
          </a:prstGeom>
          <a:noFill/>
        </p:spPr>
        <p:txBody>
          <a:bodyPr wrap="square" lIns="45720" rIns="45720" tIns="18288" bIns="18288" anchor="ctr">
            <a:spAutoFit/>
          </a:bodyPr>
          <a:lstStyle/>
          <a:p>
            <a:pPr algn="ctr"/>
            <a:r>
              <a:rPr sz="850" b="1" i="0">
                <a:solidFill>
                  <a:srgbClr val="FFFFFF"/>
                </a:solidFill>
                <a:latin typeface="Arial"/>
              </a:rPr>
              <a:t>Reject</a:t>
            </a:r>
          </a:p>
        </p:txBody>
      </p:sp>
      <p:sp>
        <p:nvSpPr>
          <p:cNvPr id="21" name="Rounded Rectangle 20"/>
          <p:cNvSpPr/>
          <p:nvPr/>
        </p:nvSpPr>
        <p:spPr>
          <a:xfrm>
            <a:off x="3130219" y="2926080"/>
            <a:ext cx="772134" cy="274320"/>
          </a:xfrm>
          <a:prstGeom prst="roundRect">
            <a:avLst>
              <a:gd name="adj" fmla="val 4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30219" y="2926080"/>
            <a:ext cx="772134" cy="274320"/>
          </a:xfrm>
          <a:prstGeom prst="rect">
            <a:avLst/>
          </a:prstGeom>
          <a:noFill/>
        </p:spPr>
        <p:txBody>
          <a:bodyPr wrap="square" lIns="45720" rIns="45720" tIns="18288" bIns="18288" anchor="ctr">
            <a:spAutoFit/>
          </a:bodyPr>
          <a:lstStyle/>
          <a:p>
            <a:pPr algn="ctr"/>
            <a:r>
              <a:rPr sz="850" b="1" i="0">
                <a:solidFill>
                  <a:srgbClr val="FFFFFF"/>
                </a:solidFill>
                <a:latin typeface="Arial"/>
              </a:rPr>
              <a:t>Redirect</a:t>
            </a:r>
          </a:p>
        </p:txBody>
      </p:sp>
      <p:sp>
        <p:nvSpPr>
          <p:cNvPr id="23" name="TextBox 22"/>
          <p:cNvSpPr txBox="1"/>
          <p:nvPr/>
        </p:nvSpPr>
        <p:spPr>
          <a:xfrm>
            <a:off x="594360" y="3337560"/>
            <a:ext cx="3362858" cy="640080"/>
          </a:xfrm>
          <a:prstGeom prst="rect">
            <a:avLst/>
          </a:prstGeom>
          <a:noFill/>
        </p:spPr>
        <p:txBody>
          <a:bodyPr wrap="square" lIns="45720" rIns="45720" tIns="18288" bIns="18288" anchor="t">
            <a:spAutoFit/>
          </a:bodyPr>
          <a:lstStyle/>
          <a:p>
            <a:pPr algn="l"/>
            <a:r>
              <a:rPr sz="900" b="0" i="1">
                <a:solidFill>
                  <a:srgbClr val="2C3E50"/>
                </a:solidFill>
                <a:latin typeface="Arial"/>
              </a:rPr>
              <a:t>Filters and routes demand. Verdict logged with reason. SLA: 5 business days.</a:t>
            </a:r>
          </a:p>
        </p:txBody>
      </p:sp>
      <p:sp>
        <p:nvSpPr>
          <p:cNvPr id="24" name="TextBox 23"/>
          <p:cNvSpPr txBox="1"/>
          <p:nvPr/>
        </p:nvSpPr>
        <p:spPr>
          <a:xfrm>
            <a:off x="4048658" y="2697480"/>
            <a:ext cx="182880" cy="365760"/>
          </a:xfrm>
          <a:prstGeom prst="rect">
            <a:avLst/>
          </a:prstGeom>
          <a:noFill/>
        </p:spPr>
        <p:txBody>
          <a:bodyPr wrap="square" lIns="45720" rIns="45720" tIns="18288" bIns="18288" anchor="ctr">
            <a:spAutoFit/>
          </a:bodyPr>
          <a:lstStyle/>
          <a:p>
            <a:pPr algn="ctr"/>
            <a:r>
              <a:rPr sz="1800" b="1" i="0">
                <a:solidFill>
                  <a:srgbClr val="95A5A6"/>
                </a:solidFill>
                <a:latin typeface="Arial"/>
              </a:rPr>
              <a:t>▶</a:t>
            </a:r>
          </a:p>
        </p:txBody>
      </p:sp>
      <p:sp>
        <p:nvSpPr>
          <p:cNvPr id="25" name="Rounded Rectangle 24"/>
          <p:cNvSpPr/>
          <p:nvPr/>
        </p:nvSpPr>
        <p:spPr>
          <a:xfrm>
            <a:off x="4277258" y="1691640"/>
            <a:ext cx="3637178" cy="2377440"/>
          </a:xfrm>
          <a:prstGeom prst="roundRect">
            <a:avLst>
              <a:gd name="adj" fmla="val 5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77258" y="1691640"/>
            <a:ext cx="3637178" cy="50292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68698" y="1737360"/>
            <a:ext cx="3454298" cy="411480"/>
          </a:xfrm>
          <a:prstGeom prst="rect">
            <a:avLst/>
          </a:prstGeom>
          <a:noFill/>
        </p:spPr>
        <p:txBody>
          <a:bodyPr wrap="square" lIns="45720" rIns="45720" tIns="18288" bIns="18288" anchor="ctr">
            <a:spAutoFit/>
          </a:bodyPr>
          <a:lstStyle/>
          <a:p>
            <a:pPr algn="ctr"/>
            <a:r>
              <a:rPr sz="1200" b="1" i="0">
                <a:solidFill>
                  <a:srgbClr val="FFFFFF"/>
                </a:solidFill>
                <a:latin typeface="Arial"/>
              </a:rPr>
              <a:t>GATE 2 · PORTFOLIO</a:t>
            </a:r>
          </a:p>
        </p:txBody>
      </p:sp>
      <p:sp>
        <p:nvSpPr>
          <p:cNvPr id="28" name="TextBox 27"/>
          <p:cNvSpPr txBox="1"/>
          <p:nvPr/>
        </p:nvSpPr>
        <p:spPr>
          <a:xfrm>
            <a:off x="4414418" y="2286000"/>
            <a:ext cx="3362858" cy="274320"/>
          </a:xfrm>
          <a:prstGeom prst="rect">
            <a:avLst/>
          </a:prstGeom>
          <a:noFill/>
        </p:spPr>
        <p:txBody>
          <a:bodyPr wrap="square" lIns="45720" rIns="45720" tIns="18288" bIns="18288" anchor="t">
            <a:spAutoFit/>
          </a:bodyPr>
          <a:lstStyle/>
          <a:p>
            <a:pPr algn="l"/>
            <a:r>
              <a:rPr sz="1000" b="0" i="1">
                <a:solidFill>
                  <a:srgbClr val="F9A825"/>
                </a:solidFill>
                <a:latin typeface="Arial"/>
              </a:rPr>
              <a:t>Monthly · 90 min</a:t>
            </a:r>
          </a:p>
        </p:txBody>
      </p:sp>
      <p:sp>
        <p:nvSpPr>
          <p:cNvPr id="29" name="TextBox 28"/>
          <p:cNvSpPr txBox="1"/>
          <p:nvPr/>
        </p:nvSpPr>
        <p:spPr>
          <a:xfrm>
            <a:off x="4414418" y="2560320"/>
            <a:ext cx="3362858" cy="274320"/>
          </a:xfrm>
          <a:prstGeom prst="rect">
            <a:avLst/>
          </a:prstGeom>
          <a:noFill/>
        </p:spPr>
        <p:txBody>
          <a:bodyPr wrap="square" lIns="45720" rIns="45720" tIns="18288" bIns="18288" anchor="t">
            <a:spAutoFit/>
          </a:bodyPr>
          <a:lstStyle/>
          <a:p>
            <a:pPr algn="l"/>
            <a:r>
              <a:rPr sz="900" b="0" i="0">
                <a:solidFill>
                  <a:srgbClr val="2C3E50"/>
                </a:solidFill>
                <a:latin typeface="Arial"/>
              </a:rPr>
              <a:t>VP · Directors · Product Managers</a:t>
            </a:r>
          </a:p>
        </p:txBody>
      </p:sp>
      <p:sp>
        <p:nvSpPr>
          <p:cNvPr id="30" name="Rounded Rectangle 29"/>
          <p:cNvSpPr/>
          <p:nvPr/>
        </p:nvSpPr>
        <p:spPr>
          <a:xfrm>
            <a:off x="4414418" y="2926080"/>
            <a:ext cx="772134" cy="274320"/>
          </a:xfrm>
          <a:prstGeom prst="roundRect">
            <a:avLst>
              <a:gd name="adj" fmla="val 4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14418" y="2926080"/>
            <a:ext cx="772134" cy="274320"/>
          </a:xfrm>
          <a:prstGeom prst="rect">
            <a:avLst/>
          </a:prstGeom>
          <a:noFill/>
        </p:spPr>
        <p:txBody>
          <a:bodyPr wrap="square" lIns="45720" rIns="45720" tIns="18288" bIns="18288" anchor="ctr">
            <a:spAutoFit/>
          </a:bodyPr>
          <a:lstStyle/>
          <a:p>
            <a:pPr algn="ctr"/>
            <a:r>
              <a:rPr sz="850" b="1" i="0">
                <a:solidFill>
                  <a:srgbClr val="FFFFFF"/>
                </a:solidFill>
                <a:latin typeface="Arial"/>
              </a:rPr>
              <a:t>Prioritize</a:t>
            </a:r>
          </a:p>
        </p:txBody>
      </p:sp>
      <p:sp>
        <p:nvSpPr>
          <p:cNvPr id="32" name="Rounded Rectangle 31"/>
          <p:cNvSpPr/>
          <p:nvPr/>
        </p:nvSpPr>
        <p:spPr>
          <a:xfrm>
            <a:off x="5259704" y="2926080"/>
            <a:ext cx="772134" cy="274320"/>
          </a:xfrm>
          <a:prstGeom prst="roundRect">
            <a:avLst>
              <a:gd name="adj" fmla="val 4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59704" y="2926080"/>
            <a:ext cx="772134" cy="274320"/>
          </a:xfrm>
          <a:prstGeom prst="rect">
            <a:avLst/>
          </a:prstGeom>
          <a:noFill/>
        </p:spPr>
        <p:txBody>
          <a:bodyPr wrap="square" lIns="45720" rIns="45720" tIns="18288" bIns="18288" anchor="ctr">
            <a:spAutoFit/>
          </a:bodyPr>
          <a:lstStyle/>
          <a:p>
            <a:pPr algn="ctr"/>
            <a:r>
              <a:rPr sz="850" b="1" i="0">
                <a:solidFill>
                  <a:srgbClr val="FFFFFF"/>
                </a:solidFill>
                <a:latin typeface="Arial"/>
              </a:rPr>
              <a:t>Defer</a:t>
            </a:r>
          </a:p>
        </p:txBody>
      </p:sp>
      <p:sp>
        <p:nvSpPr>
          <p:cNvPr id="34" name="Rounded Rectangle 33"/>
          <p:cNvSpPr/>
          <p:nvPr/>
        </p:nvSpPr>
        <p:spPr>
          <a:xfrm>
            <a:off x="6104991" y="2926080"/>
            <a:ext cx="772134" cy="274320"/>
          </a:xfrm>
          <a:prstGeom prst="roundRect">
            <a:avLst>
              <a:gd name="adj" fmla="val 4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04991" y="2926080"/>
            <a:ext cx="772134" cy="274320"/>
          </a:xfrm>
          <a:prstGeom prst="rect">
            <a:avLst/>
          </a:prstGeom>
          <a:noFill/>
        </p:spPr>
        <p:txBody>
          <a:bodyPr wrap="square" lIns="45720" rIns="45720" tIns="18288" bIns="18288" anchor="ctr">
            <a:spAutoFit/>
          </a:bodyPr>
          <a:lstStyle/>
          <a:p>
            <a:pPr algn="ctr"/>
            <a:r>
              <a:rPr sz="850" b="1" i="0">
                <a:solidFill>
                  <a:srgbClr val="FFFFFF"/>
                </a:solidFill>
                <a:latin typeface="Arial"/>
              </a:rPr>
              <a:t>Cancel</a:t>
            </a:r>
          </a:p>
        </p:txBody>
      </p:sp>
      <p:sp>
        <p:nvSpPr>
          <p:cNvPr id="36" name="Rounded Rectangle 35"/>
          <p:cNvSpPr/>
          <p:nvPr/>
        </p:nvSpPr>
        <p:spPr>
          <a:xfrm>
            <a:off x="6950278" y="2926080"/>
            <a:ext cx="772134" cy="274320"/>
          </a:xfrm>
          <a:prstGeom prst="roundRect">
            <a:avLst>
              <a:gd name="adj" fmla="val 4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50278" y="2926080"/>
            <a:ext cx="772134" cy="274320"/>
          </a:xfrm>
          <a:prstGeom prst="rect">
            <a:avLst/>
          </a:prstGeom>
          <a:noFill/>
        </p:spPr>
        <p:txBody>
          <a:bodyPr wrap="square" lIns="45720" rIns="45720" tIns="18288" bIns="18288" anchor="ctr">
            <a:spAutoFit/>
          </a:bodyPr>
          <a:lstStyle/>
          <a:p>
            <a:pPr algn="ctr"/>
            <a:r>
              <a:rPr sz="850" b="1" i="0">
                <a:solidFill>
                  <a:srgbClr val="FFFFFF"/>
                </a:solidFill>
                <a:latin typeface="Arial"/>
              </a:rPr>
              <a:t>Re-scope</a:t>
            </a:r>
          </a:p>
        </p:txBody>
      </p:sp>
      <p:sp>
        <p:nvSpPr>
          <p:cNvPr id="38" name="TextBox 37"/>
          <p:cNvSpPr txBox="1"/>
          <p:nvPr/>
        </p:nvSpPr>
        <p:spPr>
          <a:xfrm>
            <a:off x="4414418" y="3337560"/>
            <a:ext cx="3362858" cy="640080"/>
          </a:xfrm>
          <a:prstGeom prst="rect">
            <a:avLst/>
          </a:prstGeom>
          <a:noFill/>
        </p:spPr>
        <p:txBody>
          <a:bodyPr wrap="square" lIns="45720" rIns="45720" tIns="18288" bIns="18288" anchor="t">
            <a:spAutoFit/>
          </a:bodyPr>
          <a:lstStyle/>
          <a:p>
            <a:pPr algn="l"/>
            <a:r>
              <a:rPr sz="900" b="0" i="1">
                <a:solidFill>
                  <a:srgbClr val="2C3E50"/>
                </a:solidFill>
                <a:latin typeface="Arial"/>
              </a:rPr>
              <a:t>Trade-offs across Value Streams. Capacity vs CoS commitments. Owns the roadmap.</a:t>
            </a:r>
          </a:p>
        </p:txBody>
      </p:sp>
      <p:sp>
        <p:nvSpPr>
          <p:cNvPr id="39" name="TextBox 38"/>
          <p:cNvSpPr txBox="1"/>
          <p:nvPr/>
        </p:nvSpPr>
        <p:spPr>
          <a:xfrm>
            <a:off x="7868716" y="2697480"/>
            <a:ext cx="182880" cy="365760"/>
          </a:xfrm>
          <a:prstGeom prst="rect">
            <a:avLst/>
          </a:prstGeom>
          <a:noFill/>
        </p:spPr>
        <p:txBody>
          <a:bodyPr wrap="square" lIns="45720" rIns="45720" tIns="18288" bIns="18288" anchor="ctr">
            <a:spAutoFit/>
          </a:bodyPr>
          <a:lstStyle/>
          <a:p>
            <a:pPr algn="ctr"/>
            <a:r>
              <a:rPr sz="1800" b="1" i="0">
                <a:solidFill>
                  <a:srgbClr val="95A5A6"/>
                </a:solidFill>
                <a:latin typeface="Arial"/>
              </a:rPr>
              <a:t>▶</a:t>
            </a:r>
          </a:p>
        </p:txBody>
      </p:sp>
      <p:sp>
        <p:nvSpPr>
          <p:cNvPr id="40" name="Rounded Rectangle 39"/>
          <p:cNvSpPr/>
          <p:nvPr/>
        </p:nvSpPr>
        <p:spPr>
          <a:xfrm>
            <a:off x="8097316" y="1691640"/>
            <a:ext cx="3637178" cy="2377440"/>
          </a:xfrm>
          <a:prstGeom prst="roundRect">
            <a:avLst>
              <a:gd name="adj" fmla="val 5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097316" y="1691640"/>
            <a:ext cx="3637178" cy="5029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188756" y="1737360"/>
            <a:ext cx="3454298" cy="411480"/>
          </a:xfrm>
          <a:prstGeom prst="rect">
            <a:avLst/>
          </a:prstGeom>
          <a:noFill/>
        </p:spPr>
        <p:txBody>
          <a:bodyPr wrap="square" lIns="45720" rIns="45720" tIns="18288" bIns="18288" anchor="ctr">
            <a:spAutoFit/>
          </a:bodyPr>
          <a:lstStyle/>
          <a:p>
            <a:pPr algn="ctr"/>
            <a:r>
              <a:rPr sz="1200" b="1" i="0">
                <a:solidFill>
                  <a:srgbClr val="FFFFFF"/>
                </a:solidFill>
                <a:latin typeface="Arial"/>
              </a:rPr>
              <a:t>BIG ROOM PLANNING</a:t>
            </a:r>
          </a:p>
        </p:txBody>
      </p:sp>
      <p:sp>
        <p:nvSpPr>
          <p:cNvPr id="43" name="TextBox 42"/>
          <p:cNvSpPr txBox="1"/>
          <p:nvPr/>
        </p:nvSpPr>
        <p:spPr>
          <a:xfrm>
            <a:off x="8234476" y="2286000"/>
            <a:ext cx="3362858" cy="274320"/>
          </a:xfrm>
          <a:prstGeom prst="rect">
            <a:avLst/>
          </a:prstGeom>
          <a:noFill/>
        </p:spPr>
        <p:txBody>
          <a:bodyPr wrap="square" lIns="45720" rIns="45720" tIns="18288" bIns="18288" anchor="t">
            <a:spAutoFit/>
          </a:bodyPr>
          <a:lstStyle/>
          <a:p>
            <a:pPr algn="l"/>
            <a:r>
              <a:rPr sz="1000" b="0" i="1">
                <a:solidFill>
                  <a:srgbClr val="2E7D32"/>
                </a:solidFill>
                <a:latin typeface="Arial"/>
              </a:rPr>
              <a:t>Quarterly · ½ day</a:t>
            </a:r>
          </a:p>
        </p:txBody>
      </p:sp>
      <p:sp>
        <p:nvSpPr>
          <p:cNvPr id="44" name="TextBox 43"/>
          <p:cNvSpPr txBox="1"/>
          <p:nvPr/>
        </p:nvSpPr>
        <p:spPr>
          <a:xfrm>
            <a:off x="8234476" y="2560320"/>
            <a:ext cx="3362858" cy="274320"/>
          </a:xfrm>
          <a:prstGeom prst="rect">
            <a:avLst/>
          </a:prstGeom>
          <a:noFill/>
        </p:spPr>
        <p:txBody>
          <a:bodyPr wrap="square" lIns="45720" rIns="45720" tIns="18288" bIns="18288" anchor="t">
            <a:spAutoFit/>
          </a:bodyPr>
          <a:lstStyle/>
          <a:p>
            <a:pPr algn="l"/>
            <a:r>
              <a:rPr sz="900" b="0" i="0">
                <a:solidFill>
                  <a:srgbClr val="2C3E50"/>
                </a:solidFill>
                <a:latin typeface="Arial"/>
              </a:rPr>
              <a:t>All VSs + business sponsors + Iberdrola</a:t>
            </a:r>
          </a:p>
        </p:txBody>
      </p:sp>
      <p:sp>
        <p:nvSpPr>
          <p:cNvPr id="45" name="Rounded Rectangle 44"/>
          <p:cNvSpPr/>
          <p:nvPr/>
        </p:nvSpPr>
        <p:spPr>
          <a:xfrm>
            <a:off x="8234476" y="2926080"/>
            <a:ext cx="772134" cy="274320"/>
          </a:xfrm>
          <a:prstGeom prst="roundRect">
            <a:avLst>
              <a:gd name="adj" fmla="val 4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34476" y="2926080"/>
            <a:ext cx="772134" cy="274320"/>
          </a:xfrm>
          <a:prstGeom prst="rect">
            <a:avLst/>
          </a:prstGeom>
          <a:noFill/>
        </p:spPr>
        <p:txBody>
          <a:bodyPr wrap="square" lIns="45720" rIns="45720" tIns="18288" bIns="18288" anchor="ctr">
            <a:spAutoFit/>
          </a:bodyPr>
          <a:lstStyle/>
          <a:p>
            <a:pPr algn="ctr"/>
            <a:r>
              <a:rPr sz="850" b="1" i="0">
                <a:solidFill>
                  <a:srgbClr val="FFFFFF"/>
                </a:solidFill>
                <a:latin typeface="Arial"/>
              </a:rPr>
              <a:t>Confirm WHY</a:t>
            </a:r>
          </a:p>
        </p:txBody>
      </p:sp>
      <p:sp>
        <p:nvSpPr>
          <p:cNvPr id="47" name="Rounded Rectangle 46"/>
          <p:cNvSpPr/>
          <p:nvPr/>
        </p:nvSpPr>
        <p:spPr>
          <a:xfrm>
            <a:off x="9079763" y="2926080"/>
            <a:ext cx="772134" cy="274320"/>
          </a:xfrm>
          <a:prstGeom prst="roundRect">
            <a:avLst>
              <a:gd name="adj" fmla="val 4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79763" y="2926080"/>
            <a:ext cx="772134" cy="274320"/>
          </a:xfrm>
          <a:prstGeom prst="rect">
            <a:avLst/>
          </a:prstGeom>
          <a:noFill/>
        </p:spPr>
        <p:txBody>
          <a:bodyPr wrap="square" lIns="45720" rIns="45720" tIns="18288" bIns="18288" anchor="ctr">
            <a:spAutoFit/>
          </a:bodyPr>
          <a:lstStyle/>
          <a:p>
            <a:pPr algn="ctr"/>
            <a:r>
              <a:rPr sz="850" b="1" i="0">
                <a:solidFill>
                  <a:srgbClr val="FFFFFF"/>
                </a:solidFill>
                <a:latin typeface="Arial"/>
              </a:rPr>
              <a:t>Align HOW</a:t>
            </a:r>
          </a:p>
        </p:txBody>
      </p:sp>
      <p:sp>
        <p:nvSpPr>
          <p:cNvPr id="49" name="Rounded Rectangle 48"/>
          <p:cNvSpPr/>
          <p:nvPr/>
        </p:nvSpPr>
        <p:spPr>
          <a:xfrm>
            <a:off x="9925049" y="2926080"/>
            <a:ext cx="772134" cy="274320"/>
          </a:xfrm>
          <a:prstGeom prst="roundRect">
            <a:avLst>
              <a:gd name="adj" fmla="val 4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925049" y="2926080"/>
            <a:ext cx="772134" cy="274320"/>
          </a:xfrm>
          <a:prstGeom prst="rect">
            <a:avLst/>
          </a:prstGeom>
          <a:noFill/>
        </p:spPr>
        <p:txBody>
          <a:bodyPr wrap="square" lIns="45720" rIns="45720" tIns="18288" bIns="18288" anchor="ctr">
            <a:spAutoFit/>
          </a:bodyPr>
          <a:lstStyle/>
          <a:p>
            <a:pPr algn="ctr"/>
            <a:r>
              <a:rPr sz="850" b="1" i="0">
                <a:solidFill>
                  <a:srgbClr val="FFFFFF"/>
                </a:solidFill>
                <a:latin typeface="Arial"/>
              </a:rPr>
              <a:t>Spot DEPS</a:t>
            </a:r>
          </a:p>
        </p:txBody>
      </p:sp>
      <p:sp>
        <p:nvSpPr>
          <p:cNvPr id="51" name="Rounded Rectangle 50"/>
          <p:cNvSpPr/>
          <p:nvPr/>
        </p:nvSpPr>
        <p:spPr>
          <a:xfrm>
            <a:off x="10770336" y="2926080"/>
            <a:ext cx="772134" cy="274320"/>
          </a:xfrm>
          <a:prstGeom prst="roundRect">
            <a:avLst>
              <a:gd name="adj" fmla="val 4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770336" y="2926080"/>
            <a:ext cx="772134" cy="274320"/>
          </a:xfrm>
          <a:prstGeom prst="rect">
            <a:avLst/>
          </a:prstGeom>
          <a:noFill/>
        </p:spPr>
        <p:txBody>
          <a:bodyPr wrap="square" lIns="45720" rIns="45720" tIns="18288" bIns="18288" anchor="ctr">
            <a:spAutoFit/>
          </a:bodyPr>
          <a:lstStyle/>
          <a:p>
            <a:pPr algn="ctr"/>
            <a:r>
              <a:rPr sz="850" b="1" i="0">
                <a:solidFill>
                  <a:srgbClr val="FFFFFF"/>
                </a:solidFill>
                <a:latin typeface="Arial"/>
              </a:rPr>
              <a:t>Lock OKRs</a:t>
            </a:r>
          </a:p>
        </p:txBody>
      </p:sp>
      <p:sp>
        <p:nvSpPr>
          <p:cNvPr id="53" name="TextBox 52"/>
          <p:cNvSpPr txBox="1"/>
          <p:nvPr/>
        </p:nvSpPr>
        <p:spPr>
          <a:xfrm>
            <a:off x="8234476" y="3337560"/>
            <a:ext cx="3362858" cy="640080"/>
          </a:xfrm>
          <a:prstGeom prst="rect">
            <a:avLst/>
          </a:prstGeom>
          <a:noFill/>
        </p:spPr>
        <p:txBody>
          <a:bodyPr wrap="square" lIns="45720" rIns="45720" tIns="18288" bIns="18288" anchor="t">
            <a:spAutoFit/>
          </a:bodyPr>
          <a:lstStyle/>
          <a:p>
            <a:pPr algn="l"/>
            <a:r>
              <a:rPr sz="900" b="0" i="1">
                <a:solidFill>
                  <a:srgbClr val="2C3E50"/>
                </a:solidFill>
                <a:latin typeface="Arial"/>
              </a:rPr>
              <a:t>Cross-portfolio alignment. Surfaces dependencies early and locks quarterly OKRs.</a:t>
            </a:r>
          </a:p>
        </p:txBody>
      </p:sp>
      <p:sp>
        <p:nvSpPr>
          <p:cNvPr id="54" name="Rounded Rectangle 53"/>
          <p:cNvSpPr/>
          <p:nvPr/>
        </p:nvSpPr>
        <p:spPr>
          <a:xfrm>
            <a:off x="457200" y="4297680"/>
            <a:ext cx="11277295" cy="640080"/>
          </a:xfrm>
          <a:prstGeom prst="roundRect">
            <a:avLst>
              <a:gd name="adj" fmla="val 5000"/>
            </a:avLst>
          </a:prstGeom>
          <a:solidFill>
            <a:srgbClr val="F5F5F5"/>
          </a:solidFill>
          <a:ln w="19050">
            <a:solidFill>
              <a:srgbClr val="0F1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0080" y="4343400"/>
            <a:ext cx="2743200" cy="274320"/>
          </a:xfrm>
          <a:prstGeom prst="rect">
            <a:avLst/>
          </a:prstGeom>
          <a:noFill/>
        </p:spPr>
        <p:txBody>
          <a:bodyPr wrap="square" lIns="45720" rIns="45720" tIns="18288" bIns="18288" anchor="t">
            <a:spAutoFit/>
          </a:bodyPr>
          <a:lstStyle/>
          <a:p>
            <a:pPr algn="l"/>
            <a:r>
              <a:rPr sz="1000" b="1" i="0">
                <a:solidFill>
                  <a:srgbClr val="0F1C50"/>
                </a:solidFill>
                <a:latin typeface="Arial"/>
              </a:rPr>
              <a:t>ESCALATION LANE</a:t>
            </a:r>
          </a:p>
        </p:txBody>
      </p:sp>
      <p:sp>
        <p:nvSpPr>
          <p:cNvPr id="56" name="TextBox 55"/>
          <p:cNvSpPr txBox="1"/>
          <p:nvPr/>
        </p:nvSpPr>
        <p:spPr>
          <a:xfrm>
            <a:off x="640080" y="4590288"/>
            <a:ext cx="10911535" cy="365760"/>
          </a:xfrm>
          <a:prstGeom prst="rect">
            <a:avLst/>
          </a:prstGeom>
          <a:noFill/>
        </p:spPr>
        <p:txBody>
          <a:bodyPr wrap="square" lIns="45720" rIns="45720" tIns="18288" bIns="18288" anchor="t">
            <a:spAutoFit/>
          </a:bodyPr>
          <a:lstStyle/>
          <a:p>
            <a:pPr algn="l"/>
            <a:r>
              <a:rPr sz="950" b="0" i="0">
                <a:solidFill>
                  <a:srgbClr val="2C3E50"/>
                </a:solidFill>
                <a:latin typeface="Arial"/>
              </a:rPr>
              <a:t>Cross-VS conflicts → Customer Journey Forum  ·  Cross-portfolio conflicts → VP Portfolio Sync  ·  Every Expedite reviewed at the next Gate 2</a:t>
            </a:r>
          </a:p>
        </p:txBody>
      </p:sp>
      <p:sp>
        <p:nvSpPr>
          <p:cNvPr id="57" name="Rounded Rectangle 56"/>
          <p:cNvSpPr/>
          <p:nvPr/>
        </p:nvSpPr>
        <p:spPr>
          <a:xfrm>
            <a:off x="457200" y="5120640"/>
            <a:ext cx="11277295" cy="1143000"/>
          </a:xfrm>
          <a:prstGeom prst="roundRect">
            <a:avLst>
              <a:gd name="adj" fmla="val 5000"/>
            </a:avLst>
          </a:prstGeom>
          <a:solidFill>
            <a:srgbClr val="DCE6F5"/>
          </a:solidFill>
          <a:ln w="19050">
            <a:solidFill>
              <a:srgbClr val="0F1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0080" y="5212080"/>
            <a:ext cx="10911535" cy="274320"/>
          </a:xfrm>
          <a:prstGeom prst="rect">
            <a:avLst/>
          </a:prstGeom>
          <a:noFill/>
        </p:spPr>
        <p:txBody>
          <a:bodyPr wrap="square" lIns="45720" rIns="45720" tIns="18288" bIns="18288" anchor="t">
            <a:spAutoFit/>
          </a:bodyPr>
          <a:lstStyle/>
          <a:p>
            <a:pPr algn="l"/>
            <a:r>
              <a:rPr sz="1000" b="1" i="0">
                <a:solidFill>
                  <a:srgbClr val="0F1C50"/>
                </a:solidFill>
                <a:latin typeface="Arial"/>
              </a:rPr>
              <a:t>TAKEAWAY</a:t>
            </a:r>
          </a:p>
        </p:txBody>
      </p:sp>
      <p:sp>
        <p:nvSpPr>
          <p:cNvPr id="59" name="TextBox 58"/>
          <p:cNvSpPr txBox="1"/>
          <p:nvPr/>
        </p:nvSpPr>
        <p:spPr>
          <a:xfrm>
            <a:off x="640080" y="5486400"/>
            <a:ext cx="10911535" cy="777240"/>
          </a:xfrm>
          <a:prstGeom prst="rect">
            <a:avLst/>
          </a:prstGeom>
          <a:noFill/>
        </p:spPr>
        <p:txBody>
          <a:bodyPr wrap="square" lIns="45720" rIns="45720" tIns="18288" bIns="18288" anchor="t">
            <a:spAutoFit/>
          </a:bodyPr>
          <a:lstStyle/>
          <a:p>
            <a:pPr algn="l"/>
            <a:r>
              <a:rPr sz="1050" b="0" i="1">
                <a:solidFill>
                  <a:srgbClr val="2C3E50"/>
                </a:solidFill>
                <a:latin typeface="Arial"/>
              </a:rPr>
              <a:t>Two cadences are sufficient — weekly clears noise, monthly steers value, quarterly aligns the portfolio. Replaces today's mix of ad-hoc forums where 'regulatory always wins' bypassed the queue.</a:t>
            </a:r>
          </a:p>
        </p:txBody>
      </p:sp>
      <p:sp>
        <p:nvSpPr>
          <p:cNvPr id="60" name="TextBox 59"/>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PERFORMANCE</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SEVEN KPIS MAKE DEMAND HEALTH OBSERVABLE IN ONE DASHBOARD</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ectangle 5"/>
          <p:cNvSpPr/>
          <p:nvPr/>
        </p:nvSpPr>
        <p:spPr>
          <a:xfrm>
            <a:off x="0" y="914400"/>
            <a:ext cx="12191695" cy="50292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60120"/>
            <a:ext cx="3200400" cy="411480"/>
          </a:xfrm>
          <a:prstGeom prst="rect">
            <a:avLst/>
          </a:prstGeom>
          <a:noFill/>
        </p:spPr>
        <p:txBody>
          <a:bodyPr wrap="square" lIns="45720" rIns="45720" tIns="18288" bIns="18288" anchor="ctr">
            <a:spAutoFit/>
          </a:bodyPr>
          <a:lstStyle/>
          <a:p>
            <a:pPr algn="l"/>
            <a:r>
              <a:rPr sz="1200" b="1" i="0">
                <a:solidFill>
                  <a:srgbClr val="FFFFFF"/>
                </a:solidFill>
                <a:latin typeface="Arial"/>
              </a:rPr>
              <a:t>STAGE 01 · PERFORMANCE</a:t>
            </a:r>
          </a:p>
        </p:txBody>
      </p:sp>
      <p:sp>
        <p:nvSpPr>
          <p:cNvPr id="8" name="TextBox 7"/>
          <p:cNvSpPr txBox="1"/>
          <p:nvPr/>
        </p:nvSpPr>
        <p:spPr>
          <a:xfrm>
            <a:off x="3657600" y="960120"/>
            <a:ext cx="5486400" cy="411480"/>
          </a:xfrm>
          <a:prstGeom prst="rect">
            <a:avLst/>
          </a:prstGeom>
          <a:noFill/>
        </p:spPr>
        <p:txBody>
          <a:bodyPr wrap="square" lIns="45720" rIns="45720" tIns="18288" bIns="18288" anchor="ctr">
            <a:spAutoFit/>
          </a:bodyPr>
          <a:lstStyle/>
          <a:p>
            <a:pPr algn="l"/>
            <a:r>
              <a:rPr sz="1100" b="0" i="1">
                <a:solidFill>
                  <a:srgbClr val="FFFFFF"/>
                </a:solidFill>
                <a:latin typeface="Arial"/>
              </a:rPr>
              <a:t>How success is measured across the demand funnel.</a:t>
            </a:r>
          </a:p>
        </p:txBody>
      </p:sp>
      <p:sp>
        <p:nvSpPr>
          <p:cNvPr id="9" name="TextBox 8"/>
          <p:cNvSpPr txBox="1"/>
          <p:nvPr/>
        </p:nvSpPr>
        <p:spPr>
          <a:xfrm>
            <a:off x="8534095" y="960120"/>
            <a:ext cx="3200400" cy="411480"/>
          </a:xfrm>
          <a:prstGeom prst="rect">
            <a:avLst/>
          </a:prstGeom>
          <a:noFill/>
        </p:spPr>
        <p:txBody>
          <a:bodyPr wrap="square" lIns="45720" rIns="45720" tIns="18288" bIns="18288" anchor="ctr">
            <a:spAutoFit/>
          </a:bodyPr>
          <a:lstStyle/>
          <a:p>
            <a:pPr algn="r"/>
            <a:r>
              <a:rPr sz="900" b="1" i="0">
                <a:solidFill>
                  <a:srgbClr val="F9A825"/>
                </a:solidFill>
                <a:latin typeface="Arial"/>
              </a:rPr>
              <a:t>Resolves Issues 02 + 06</a:t>
            </a:r>
          </a:p>
        </p:txBody>
      </p:sp>
      <p:sp>
        <p:nvSpPr>
          <p:cNvPr id="10" name="Rounded Rectangle 9"/>
          <p:cNvSpPr/>
          <p:nvPr/>
        </p:nvSpPr>
        <p:spPr>
          <a:xfrm>
            <a:off x="457200" y="1691640"/>
            <a:ext cx="2716453" cy="1828800"/>
          </a:xfrm>
          <a:prstGeom prst="roundRect">
            <a:avLst>
              <a:gd name="adj" fmla="val 5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691640"/>
            <a:ext cx="2716453"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728216"/>
            <a:ext cx="2533573" cy="365760"/>
          </a:xfrm>
          <a:prstGeom prst="rect">
            <a:avLst/>
          </a:prstGeom>
          <a:noFill/>
        </p:spPr>
        <p:txBody>
          <a:bodyPr wrap="square" lIns="45720" rIns="45720" tIns="18288" bIns="18288" anchor="ctr">
            <a:spAutoFit/>
          </a:bodyPr>
          <a:lstStyle/>
          <a:p>
            <a:pPr algn="l"/>
            <a:r>
              <a:rPr sz="1000" b="1" i="0">
                <a:solidFill>
                  <a:srgbClr val="FFFFFF"/>
                </a:solidFill>
                <a:latin typeface="Arial"/>
              </a:rPr>
              <a:t>DEMAND VOLUME</a:t>
            </a:r>
          </a:p>
        </p:txBody>
      </p:sp>
      <p:sp>
        <p:nvSpPr>
          <p:cNvPr id="13" name="TextBox 12"/>
          <p:cNvSpPr txBox="1"/>
          <p:nvPr/>
        </p:nvSpPr>
        <p:spPr>
          <a:xfrm>
            <a:off x="594360" y="2194560"/>
            <a:ext cx="2442133" cy="365760"/>
          </a:xfrm>
          <a:prstGeom prst="rect">
            <a:avLst/>
          </a:prstGeom>
          <a:noFill/>
        </p:spPr>
        <p:txBody>
          <a:bodyPr wrap="square" lIns="45720" rIns="45720" tIns="18288" bIns="18288" anchor="t">
            <a:spAutoFit/>
          </a:bodyPr>
          <a:lstStyle/>
          <a:p>
            <a:pPr algn="l"/>
            <a:r>
              <a:rPr sz="1000" b="0" i="1">
                <a:solidFill>
                  <a:srgbClr val="2C3E50"/>
                </a:solidFill>
                <a:latin typeface="Arial"/>
              </a:rPr>
              <a:t>Submissions / week</a:t>
            </a:r>
          </a:p>
        </p:txBody>
      </p:sp>
      <p:sp>
        <p:nvSpPr>
          <p:cNvPr id="14" name="TextBox 13"/>
          <p:cNvSpPr txBox="1"/>
          <p:nvPr/>
        </p:nvSpPr>
        <p:spPr>
          <a:xfrm>
            <a:off x="594360" y="2606040"/>
            <a:ext cx="2442133" cy="457200"/>
          </a:xfrm>
          <a:prstGeom prst="rect">
            <a:avLst/>
          </a:prstGeom>
          <a:noFill/>
        </p:spPr>
        <p:txBody>
          <a:bodyPr wrap="square" lIns="45720" rIns="45720" tIns="18288" bIns="18288" anchor="ctr">
            <a:spAutoFit/>
          </a:bodyPr>
          <a:lstStyle/>
          <a:p>
            <a:pPr algn="l"/>
            <a:r>
              <a:rPr sz="2200" b="1" i="0">
                <a:solidFill>
                  <a:srgbClr val="2C578B"/>
                </a:solidFill>
                <a:latin typeface="Arial"/>
              </a:rPr>
              <a:t>trend visible</a:t>
            </a:r>
          </a:p>
        </p:txBody>
      </p:sp>
      <p:sp>
        <p:nvSpPr>
          <p:cNvPr id="15" name="TextBox 14"/>
          <p:cNvSpPr txBox="1"/>
          <p:nvPr/>
        </p:nvSpPr>
        <p:spPr>
          <a:xfrm>
            <a:off x="594360" y="3063240"/>
            <a:ext cx="2442133" cy="365760"/>
          </a:xfrm>
          <a:prstGeom prst="rect">
            <a:avLst/>
          </a:prstGeom>
          <a:noFill/>
        </p:spPr>
        <p:txBody>
          <a:bodyPr wrap="square" lIns="45720" rIns="45720" tIns="18288" bIns="18288" anchor="ctr">
            <a:spAutoFit/>
          </a:bodyPr>
          <a:lstStyle/>
          <a:p>
            <a:pPr algn="l"/>
            <a:r>
              <a:rPr sz="850" b="0" i="1">
                <a:solidFill>
                  <a:srgbClr val="95A5A6"/>
                </a:solidFill>
                <a:latin typeface="Arial"/>
              </a:rPr>
              <a:t>by VS · CoS · OPCO</a:t>
            </a:r>
          </a:p>
        </p:txBody>
      </p:sp>
      <p:sp>
        <p:nvSpPr>
          <p:cNvPr id="16" name="Rounded Rectangle 15"/>
          <p:cNvSpPr/>
          <p:nvPr/>
        </p:nvSpPr>
        <p:spPr>
          <a:xfrm>
            <a:off x="3310813" y="1691640"/>
            <a:ext cx="2716453" cy="1828800"/>
          </a:xfrm>
          <a:prstGeom prst="roundRect">
            <a:avLst>
              <a:gd name="adj" fmla="val 5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10813" y="1691640"/>
            <a:ext cx="2716453" cy="4114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02253" y="1728216"/>
            <a:ext cx="2533573" cy="365760"/>
          </a:xfrm>
          <a:prstGeom prst="rect">
            <a:avLst/>
          </a:prstGeom>
          <a:noFill/>
        </p:spPr>
        <p:txBody>
          <a:bodyPr wrap="square" lIns="45720" rIns="45720" tIns="18288" bIns="18288" anchor="ctr">
            <a:spAutoFit/>
          </a:bodyPr>
          <a:lstStyle/>
          <a:p>
            <a:pPr algn="l"/>
            <a:r>
              <a:rPr sz="1000" b="1" i="0">
                <a:solidFill>
                  <a:srgbClr val="FFFFFF"/>
                </a:solidFill>
                <a:latin typeface="Arial"/>
              </a:rPr>
              <a:t>DoR PASS RATE</a:t>
            </a:r>
          </a:p>
        </p:txBody>
      </p:sp>
      <p:sp>
        <p:nvSpPr>
          <p:cNvPr id="19" name="TextBox 18"/>
          <p:cNvSpPr txBox="1"/>
          <p:nvPr/>
        </p:nvSpPr>
        <p:spPr>
          <a:xfrm>
            <a:off x="3447973" y="2194560"/>
            <a:ext cx="2442133" cy="365760"/>
          </a:xfrm>
          <a:prstGeom prst="rect">
            <a:avLst/>
          </a:prstGeom>
          <a:noFill/>
        </p:spPr>
        <p:txBody>
          <a:bodyPr wrap="square" lIns="45720" rIns="45720" tIns="18288" bIns="18288" anchor="t">
            <a:spAutoFit/>
          </a:bodyPr>
          <a:lstStyle/>
          <a:p>
            <a:pPr algn="l"/>
            <a:r>
              <a:rPr sz="1000" b="0" i="1">
                <a:solidFill>
                  <a:srgbClr val="2C3E50"/>
                </a:solidFill>
                <a:latin typeface="Arial"/>
              </a:rPr>
              <a:t>% accepted at first submit</a:t>
            </a:r>
          </a:p>
        </p:txBody>
      </p:sp>
      <p:sp>
        <p:nvSpPr>
          <p:cNvPr id="20" name="TextBox 19"/>
          <p:cNvSpPr txBox="1"/>
          <p:nvPr/>
        </p:nvSpPr>
        <p:spPr>
          <a:xfrm>
            <a:off x="3447973" y="2606040"/>
            <a:ext cx="2442133" cy="457200"/>
          </a:xfrm>
          <a:prstGeom prst="rect">
            <a:avLst/>
          </a:prstGeom>
          <a:noFill/>
        </p:spPr>
        <p:txBody>
          <a:bodyPr wrap="square" lIns="45720" rIns="45720" tIns="18288" bIns="18288" anchor="ctr">
            <a:spAutoFit/>
          </a:bodyPr>
          <a:lstStyle/>
          <a:p>
            <a:pPr algn="l"/>
            <a:r>
              <a:rPr sz="2200" b="1" i="0">
                <a:solidFill>
                  <a:srgbClr val="2E7D32"/>
                </a:solidFill>
                <a:latin typeface="Arial"/>
              </a:rPr>
              <a:t>≥ 70 %</a:t>
            </a:r>
          </a:p>
        </p:txBody>
      </p:sp>
      <p:sp>
        <p:nvSpPr>
          <p:cNvPr id="21" name="TextBox 20"/>
          <p:cNvSpPr txBox="1"/>
          <p:nvPr/>
        </p:nvSpPr>
        <p:spPr>
          <a:xfrm>
            <a:off x="3447973" y="3063240"/>
            <a:ext cx="2442133" cy="365760"/>
          </a:xfrm>
          <a:prstGeom prst="rect">
            <a:avLst/>
          </a:prstGeom>
          <a:noFill/>
        </p:spPr>
        <p:txBody>
          <a:bodyPr wrap="square" lIns="45720" rIns="45720" tIns="18288" bIns="18288" anchor="ctr">
            <a:spAutoFit/>
          </a:bodyPr>
          <a:lstStyle/>
          <a:p>
            <a:pPr algn="l"/>
            <a:r>
              <a:rPr sz="850" b="0" i="1">
                <a:solidFill>
                  <a:srgbClr val="95A5A6"/>
                </a:solidFill>
                <a:latin typeface="Arial"/>
              </a:rPr>
              <a:t>Target ≥ 70 %</a:t>
            </a:r>
          </a:p>
        </p:txBody>
      </p:sp>
      <p:sp>
        <p:nvSpPr>
          <p:cNvPr id="22" name="Rounded Rectangle 21"/>
          <p:cNvSpPr/>
          <p:nvPr/>
        </p:nvSpPr>
        <p:spPr>
          <a:xfrm>
            <a:off x="6164427" y="1691640"/>
            <a:ext cx="2716453" cy="1828800"/>
          </a:xfrm>
          <a:prstGeom prst="roundRect">
            <a:avLst>
              <a:gd name="adj" fmla="val 5000"/>
            </a:avLst>
          </a:prstGeom>
          <a:solidFill>
            <a:srgbClr val="FFFFFF"/>
          </a:solidFill>
          <a:ln w="254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64427" y="1691640"/>
            <a:ext cx="2716453" cy="4114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55867" y="1728216"/>
            <a:ext cx="2533573" cy="365760"/>
          </a:xfrm>
          <a:prstGeom prst="rect">
            <a:avLst/>
          </a:prstGeom>
          <a:noFill/>
        </p:spPr>
        <p:txBody>
          <a:bodyPr wrap="square" lIns="45720" rIns="45720" tIns="18288" bIns="18288" anchor="ctr">
            <a:spAutoFit/>
          </a:bodyPr>
          <a:lstStyle/>
          <a:p>
            <a:pPr algn="l"/>
            <a:r>
              <a:rPr sz="1000" b="1" i="0">
                <a:solidFill>
                  <a:srgbClr val="FFFFFF"/>
                </a:solidFill>
                <a:latin typeface="Arial"/>
              </a:rPr>
              <a:t>TRIAGE LEAD TIME</a:t>
            </a:r>
          </a:p>
        </p:txBody>
      </p:sp>
      <p:sp>
        <p:nvSpPr>
          <p:cNvPr id="25" name="TextBox 24"/>
          <p:cNvSpPr txBox="1"/>
          <p:nvPr/>
        </p:nvSpPr>
        <p:spPr>
          <a:xfrm>
            <a:off x="6301587" y="2194560"/>
            <a:ext cx="2442133" cy="365760"/>
          </a:xfrm>
          <a:prstGeom prst="rect">
            <a:avLst/>
          </a:prstGeom>
          <a:noFill/>
        </p:spPr>
        <p:txBody>
          <a:bodyPr wrap="square" lIns="45720" rIns="45720" tIns="18288" bIns="18288" anchor="t">
            <a:spAutoFit/>
          </a:bodyPr>
          <a:lstStyle/>
          <a:p>
            <a:pPr algn="l"/>
            <a:r>
              <a:rPr sz="1000" b="0" i="1">
                <a:solidFill>
                  <a:srgbClr val="2C3E50"/>
                </a:solidFill>
                <a:latin typeface="Arial"/>
              </a:rPr>
              <a:t>Submit → Gate 1 verdict</a:t>
            </a:r>
          </a:p>
        </p:txBody>
      </p:sp>
      <p:sp>
        <p:nvSpPr>
          <p:cNvPr id="26" name="TextBox 25"/>
          <p:cNvSpPr txBox="1"/>
          <p:nvPr/>
        </p:nvSpPr>
        <p:spPr>
          <a:xfrm>
            <a:off x="6301587" y="2606040"/>
            <a:ext cx="2442133" cy="457200"/>
          </a:xfrm>
          <a:prstGeom prst="rect">
            <a:avLst/>
          </a:prstGeom>
          <a:noFill/>
        </p:spPr>
        <p:txBody>
          <a:bodyPr wrap="square" lIns="45720" rIns="45720" tIns="18288" bIns="18288" anchor="ctr">
            <a:spAutoFit/>
          </a:bodyPr>
          <a:lstStyle/>
          <a:p>
            <a:pPr algn="l"/>
            <a:r>
              <a:rPr sz="2200" b="1" i="0">
                <a:solidFill>
                  <a:srgbClr val="E88B2F"/>
                </a:solidFill>
                <a:latin typeface="Arial"/>
              </a:rPr>
              <a:t>≤ 5 d (P50)</a:t>
            </a:r>
          </a:p>
        </p:txBody>
      </p:sp>
      <p:sp>
        <p:nvSpPr>
          <p:cNvPr id="27" name="TextBox 26"/>
          <p:cNvSpPr txBox="1"/>
          <p:nvPr/>
        </p:nvSpPr>
        <p:spPr>
          <a:xfrm>
            <a:off x="6301587" y="3063240"/>
            <a:ext cx="2442133" cy="365760"/>
          </a:xfrm>
          <a:prstGeom prst="rect">
            <a:avLst/>
          </a:prstGeom>
          <a:noFill/>
        </p:spPr>
        <p:txBody>
          <a:bodyPr wrap="square" lIns="45720" rIns="45720" tIns="18288" bIns="18288" anchor="ctr">
            <a:spAutoFit/>
          </a:bodyPr>
          <a:lstStyle/>
          <a:p>
            <a:pPr algn="l"/>
            <a:r>
              <a:rPr sz="850" b="0" i="1">
                <a:solidFill>
                  <a:srgbClr val="95A5A6"/>
                </a:solidFill>
                <a:latin typeface="Arial"/>
              </a:rPr>
              <a:t>Target ≤ 5 business days</a:t>
            </a:r>
          </a:p>
        </p:txBody>
      </p:sp>
      <p:sp>
        <p:nvSpPr>
          <p:cNvPr id="28" name="Rounded Rectangle 27"/>
          <p:cNvSpPr/>
          <p:nvPr/>
        </p:nvSpPr>
        <p:spPr>
          <a:xfrm>
            <a:off x="9018041" y="1691640"/>
            <a:ext cx="2716453" cy="1828800"/>
          </a:xfrm>
          <a:prstGeom prst="roundRect">
            <a:avLst>
              <a:gd name="adj" fmla="val 5000"/>
            </a:avLst>
          </a:prstGeom>
          <a:solidFill>
            <a:srgbClr val="FFFFFF"/>
          </a:solidFill>
          <a:ln w="2540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18041" y="1691640"/>
            <a:ext cx="2716453" cy="41148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09481" y="1728216"/>
            <a:ext cx="2533573" cy="365760"/>
          </a:xfrm>
          <a:prstGeom prst="rect">
            <a:avLst/>
          </a:prstGeom>
          <a:noFill/>
        </p:spPr>
        <p:txBody>
          <a:bodyPr wrap="square" lIns="45720" rIns="45720" tIns="18288" bIns="18288" anchor="ctr">
            <a:spAutoFit/>
          </a:bodyPr>
          <a:lstStyle/>
          <a:p>
            <a:pPr algn="l"/>
            <a:r>
              <a:rPr sz="1000" b="1" i="0">
                <a:solidFill>
                  <a:srgbClr val="FFFFFF"/>
                </a:solidFill>
                <a:latin typeface="Arial"/>
              </a:rPr>
              <a:t>CHANNEL ADOPTION</a:t>
            </a:r>
          </a:p>
        </p:txBody>
      </p:sp>
      <p:sp>
        <p:nvSpPr>
          <p:cNvPr id="31" name="TextBox 30"/>
          <p:cNvSpPr txBox="1"/>
          <p:nvPr/>
        </p:nvSpPr>
        <p:spPr>
          <a:xfrm>
            <a:off x="9155201" y="2194560"/>
            <a:ext cx="2442133" cy="365760"/>
          </a:xfrm>
          <a:prstGeom prst="rect">
            <a:avLst/>
          </a:prstGeom>
          <a:noFill/>
        </p:spPr>
        <p:txBody>
          <a:bodyPr wrap="square" lIns="45720" rIns="45720" tIns="18288" bIns="18288" anchor="t">
            <a:spAutoFit/>
          </a:bodyPr>
          <a:lstStyle/>
          <a:p>
            <a:pPr algn="l"/>
            <a:r>
              <a:rPr sz="1000" b="0" i="1">
                <a:solidFill>
                  <a:srgbClr val="2C3E50"/>
                </a:solidFill>
                <a:latin typeface="Arial"/>
              </a:rPr>
              <a:t>% via single front door</a:t>
            </a:r>
          </a:p>
        </p:txBody>
      </p:sp>
      <p:sp>
        <p:nvSpPr>
          <p:cNvPr id="32" name="TextBox 31"/>
          <p:cNvSpPr txBox="1"/>
          <p:nvPr/>
        </p:nvSpPr>
        <p:spPr>
          <a:xfrm>
            <a:off x="9155201" y="2606040"/>
            <a:ext cx="2442133" cy="457200"/>
          </a:xfrm>
          <a:prstGeom prst="rect">
            <a:avLst/>
          </a:prstGeom>
          <a:noFill/>
        </p:spPr>
        <p:txBody>
          <a:bodyPr wrap="square" lIns="45720" rIns="45720" tIns="18288" bIns="18288" anchor="ctr">
            <a:spAutoFit/>
          </a:bodyPr>
          <a:lstStyle/>
          <a:p>
            <a:pPr algn="l"/>
            <a:r>
              <a:rPr sz="2200" b="1" i="0">
                <a:solidFill>
                  <a:srgbClr val="7A66B8"/>
                </a:solidFill>
                <a:latin typeface="Arial"/>
              </a:rPr>
              <a:t>≥ 90 %</a:t>
            </a:r>
          </a:p>
        </p:txBody>
      </p:sp>
      <p:sp>
        <p:nvSpPr>
          <p:cNvPr id="33" name="TextBox 32"/>
          <p:cNvSpPr txBox="1"/>
          <p:nvPr/>
        </p:nvSpPr>
        <p:spPr>
          <a:xfrm>
            <a:off x="9155201" y="3063240"/>
            <a:ext cx="2442133" cy="365760"/>
          </a:xfrm>
          <a:prstGeom prst="rect">
            <a:avLst/>
          </a:prstGeom>
          <a:noFill/>
        </p:spPr>
        <p:txBody>
          <a:bodyPr wrap="square" lIns="45720" rIns="45720" tIns="18288" bIns="18288" anchor="ctr">
            <a:spAutoFit/>
          </a:bodyPr>
          <a:lstStyle/>
          <a:p>
            <a:pPr algn="l"/>
            <a:r>
              <a:rPr sz="850" b="0" i="1">
                <a:solidFill>
                  <a:srgbClr val="95A5A6"/>
                </a:solidFill>
                <a:latin typeface="Arial"/>
              </a:rPr>
              <a:t>Target 90 % by month 6</a:t>
            </a:r>
          </a:p>
        </p:txBody>
      </p:sp>
      <p:sp>
        <p:nvSpPr>
          <p:cNvPr id="34" name="Rounded Rectangle 33"/>
          <p:cNvSpPr/>
          <p:nvPr/>
        </p:nvSpPr>
        <p:spPr>
          <a:xfrm>
            <a:off x="457200" y="3703320"/>
            <a:ext cx="3667658" cy="1828800"/>
          </a:xfrm>
          <a:prstGeom prst="roundRect">
            <a:avLst>
              <a:gd name="adj" fmla="val 5000"/>
            </a:avLst>
          </a:prstGeom>
          <a:solidFill>
            <a:srgbClr val="FFFFFF"/>
          </a:solidFill>
          <a:ln w="2540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7200" y="3703320"/>
            <a:ext cx="3667658" cy="4114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3739896"/>
            <a:ext cx="3484778" cy="365760"/>
          </a:xfrm>
          <a:prstGeom prst="rect">
            <a:avLst/>
          </a:prstGeom>
          <a:noFill/>
        </p:spPr>
        <p:txBody>
          <a:bodyPr wrap="square" lIns="45720" rIns="45720" tIns="18288" bIns="18288" anchor="ctr">
            <a:spAutoFit/>
          </a:bodyPr>
          <a:lstStyle/>
          <a:p>
            <a:pPr algn="l"/>
            <a:r>
              <a:rPr sz="1000" b="1" i="0">
                <a:solidFill>
                  <a:srgbClr val="FFFFFF"/>
                </a:solidFill>
                <a:latin typeface="Arial"/>
              </a:rPr>
              <a:t>EXPEDITE SHARE</a:t>
            </a:r>
          </a:p>
        </p:txBody>
      </p:sp>
      <p:sp>
        <p:nvSpPr>
          <p:cNvPr id="37" name="TextBox 36"/>
          <p:cNvSpPr txBox="1"/>
          <p:nvPr/>
        </p:nvSpPr>
        <p:spPr>
          <a:xfrm>
            <a:off x="594360" y="4206240"/>
            <a:ext cx="3393338" cy="365760"/>
          </a:xfrm>
          <a:prstGeom prst="rect">
            <a:avLst/>
          </a:prstGeom>
          <a:noFill/>
        </p:spPr>
        <p:txBody>
          <a:bodyPr wrap="square" lIns="45720" rIns="45720" tIns="18288" bIns="18288" anchor="t">
            <a:spAutoFit/>
          </a:bodyPr>
          <a:lstStyle/>
          <a:p>
            <a:pPr algn="l"/>
            <a:r>
              <a:rPr sz="1000" b="0" i="1">
                <a:solidFill>
                  <a:srgbClr val="2C3E50"/>
                </a:solidFill>
                <a:latin typeface="Arial"/>
              </a:rPr>
              <a:t>% of throughput</a:t>
            </a:r>
          </a:p>
        </p:txBody>
      </p:sp>
      <p:sp>
        <p:nvSpPr>
          <p:cNvPr id="38" name="TextBox 37"/>
          <p:cNvSpPr txBox="1"/>
          <p:nvPr/>
        </p:nvSpPr>
        <p:spPr>
          <a:xfrm>
            <a:off x="594360" y="4617720"/>
            <a:ext cx="3393338" cy="457200"/>
          </a:xfrm>
          <a:prstGeom prst="rect">
            <a:avLst/>
          </a:prstGeom>
          <a:noFill/>
        </p:spPr>
        <p:txBody>
          <a:bodyPr wrap="square" lIns="45720" rIns="45720" tIns="18288" bIns="18288" anchor="ctr">
            <a:spAutoFit/>
          </a:bodyPr>
          <a:lstStyle/>
          <a:p>
            <a:pPr algn="l"/>
            <a:r>
              <a:rPr sz="2200" b="1" i="0">
                <a:solidFill>
                  <a:srgbClr val="B63B1F"/>
                </a:solidFill>
                <a:latin typeface="Arial"/>
              </a:rPr>
              <a:t>≤ 20 %</a:t>
            </a:r>
          </a:p>
        </p:txBody>
      </p:sp>
      <p:sp>
        <p:nvSpPr>
          <p:cNvPr id="39" name="TextBox 38"/>
          <p:cNvSpPr txBox="1"/>
          <p:nvPr/>
        </p:nvSpPr>
        <p:spPr>
          <a:xfrm>
            <a:off x="594360" y="5074920"/>
            <a:ext cx="3393338" cy="365760"/>
          </a:xfrm>
          <a:prstGeom prst="rect">
            <a:avLst/>
          </a:prstGeom>
          <a:noFill/>
        </p:spPr>
        <p:txBody>
          <a:bodyPr wrap="square" lIns="45720" rIns="45720" tIns="18288" bIns="18288" anchor="ctr">
            <a:spAutoFit/>
          </a:bodyPr>
          <a:lstStyle/>
          <a:p>
            <a:pPr algn="l"/>
            <a:r>
              <a:rPr sz="850" b="0" i="1">
                <a:solidFill>
                  <a:srgbClr val="95A5A6"/>
                </a:solidFill>
                <a:latin typeface="Arial"/>
              </a:rPr>
              <a:t>Cap 20 %</a:t>
            </a:r>
          </a:p>
        </p:txBody>
      </p:sp>
      <p:sp>
        <p:nvSpPr>
          <p:cNvPr id="40" name="Rounded Rectangle 39"/>
          <p:cNvSpPr/>
          <p:nvPr/>
        </p:nvSpPr>
        <p:spPr>
          <a:xfrm>
            <a:off x="4262018" y="3703320"/>
            <a:ext cx="3667658" cy="1828800"/>
          </a:xfrm>
          <a:prstGeom prst="roundRect">
            <a:avLst>
              <a:gd name="adj" fmla="val 5000"/>
            </a:avLst>
          </a:prstGeom>
          <a:solidFill>
            <a:srgbClr val="FFFFFF"/>
          </a:solidFill>
          <a:ln w="25400">
            <a:solidFill>
              <a:srgbClr val="2B6B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262018" y="3703320"/>
            <a:ext cx="3667658" cy="411480"/>
          </a:xfrm>
          <a:prstGeom prst="rect">
            <a:avLst/>
          </a:prstGeom>
          <a:solidFill>
            <a:srgbClr val="2B6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53458" y="3739896"/>
            <a:ext cx="3484778" cy="365760"/>
          </a:xfrm>
          <a:prstGeom prst="rect">
            <a:avLst/>
          </a:prstGeom>
          <a:noFill/>
        </p:spPr>
        <p:txBody>
          <a:bodyPr wrap="square" lIns="45720" rIns="45720" tIns="18288" bIns="18288" anchor="ctr">
            <a:spAutoFit/>
          </a:bodyPr>
          <a:lstStyle/>
          <a:p>
            <a:pPr algn="l"/>
            <a:r>
              <a:rPr sz="1000" b="1" i="0">
                <a:solidFill>
                  <a:srgbClr val="FFFFFF"/>
                </a:solidFill>
                <a:latin typeface="Arial"/>
              </a:rPr>
              <a:t>DUPLICATION RATE</a:t>
            </a:r>
          </a:p>
        </p:txBody>
      </p:sp>
      <p:sp>
        <p:nvSpPr>
          <p:cNvPr id="43" name="TextBox 42"/>
          <p:cNvSpPr txBox="1"/>
          <p:nvPr/>
        </p:nvSpPr>
        <p:spPr>
          <a:xfrm>
            <a:off x="4399178" y="4206240"/>
            <a:ext cx="3393338" cy="365760"/>
          </a:xfrm>
          <a:prstGeom prst="rect">
            <a:avLst/>
          </a:prstGeom>
          <a:noFill/>
        </p:spPr>
        <p:txBody>
          <a:bodyPr wrap="square" lIns="45720" rIns="45720" tIns="18288" bIns="18288" anchor="t">
            <a:spAutoFit/>
          </a:bodyPr>
          <a:lstStyle/>
          <a:p>
            <a:pPr algn="l"/>
            <a:r>
              <a:rPr sz="1000" b="0" i="1">
                <a:solidFill>
                  <a:srgbClr val="2C3E50"/>
                </a:solidFill>
                <a:latin typeface="Arial"/>
              </a:rPr>
              <a:t>% submissions matched</a:t>
            </a:r>
          </a:p>
        </p:txBody>
      </p:sp>
      <p:sp>
        <p:nvSpPr>
          <p:cNvPr id="44" name="TextBox 43"/>
          <p:cNvSpPr txBox="1"/>
          <p:nvPr/>
        </p:nvSpPr>
        <p:spPr>
          <a:xfrm>
            <a:off x="4399178" y="4617720"/>
            <a:ext cx="3393338" cy="457200"/>
          </a:xfrm>
          <a:prstGeom prst="rect">
            <a:avLst/>
          </a:prstGeom>
          <a:noFill/>
        </p:spPr>
        <p:txBody>
          <a:bodyPr wrap="square" lIns="45720" rIns="45720" tIns="18288" bIns="18288" anchor="ctr">
            <a:spAutoFit/>
          </a:bodyPr>
          <a:lstStyle/>
          <a:p>
            <a:pPr algn="l"/>
            <a:r>
              <a:rPr sz="2200" b="1" i="0">
                <a:solidFill>
                  <a:srgbClr val="2B6B77"/>
                </a:solidFill>
                <a:latin typeface="Arial"/>
              </a:rPr>
              <a:t>↓</a:t>
            </a:r>
          </a:p>
        </p:txBody>
      </p:sp>
      <p:sp>
        <p:nvSpPr>
          <p:cNvPr id="45" name="TextBox 44"/>
          <p:cNvSpPr txBox="1"/>
          <p:nvPr/>
        </p:nvSpPr>
        <p:spPr>
          <a:xfrm>
            <a:off x="4399178" y="5074920"/>
            <a:ext cx="3393338" cy="365760"/>
          </a:xfrm>
          <a:prstGeom prst="rect">
            <a:avLst/>
          </a:prstGeom>
          <a:noFill/>
        </p:spPr>
        <p:txBody>
          <a:bodyPr wrap="square" lIns="45720" rIns="45720" tIns="18288" bIns="18288" anchor="ctr">
            <a:spAutoFit/>
          </a:bodyPr>
          <a:lstStyle/>
          <a:p>
            <a:pPr algn="l"/>
            <a:r>
              <a:rPr sz="850" b="0" i="1">
                <a:solidFill>
                  <a:srgbClr val="95A5A6"/>
                </a:solidFill>
                <a:latin typeface="Arial"/>
              </a:rPr>
              <a:t>Trend: down</a:t>
            </a:r>
          </a:p>
        </p:txBody>
      </p:sp>
      <p:sp>
        <p:nvSpPr>
          <p:cNvPr id="46" name="Rounded Rectangle 45"/>
          <p:cNvSpPr/>
          <p:nvPr/>
        </p:nvSpPr>
        <p:spPr>
          <a:xfrm>
            <a:off x="8066836" y="3703320"/>
            <a:ext cx="3667658" cy="1828800"/>
          </a:xfrm>
          <a:prstGeom prst="roundRect">
            <a:avLst>
              <a:gd name="adj" fmla="val 5000"/>
            </a:avLst>
          </a:prstGeom>
          <a:solidFill>
            <a:srgbClr val="FFFFFF"/>
          </a:solidFill>
          <a:ln w="25400">
            <a:solidFill>
              <a:srgbClr val="1F3A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066836" y="3703320"/>
            <a:ext cx="3667658" cy="41148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158276" y="3739896"/>
            <a:ext cx="3484778" cy="365760"/>
          </a:xfrm>
          <a:prstGeom prst="rect">
            <a:avLst/>
          </a:prstGeom>
          <a:noFill/>
        </p:spPr>
        <p:txBody>
          <a:bodyPr wrap="square" lIns="45720" rIns="45720" tIns="18288" bIns="18288" anchor="ctr">
            <a:spAutoFit/>
          </a:bodyPr>
          <a:lstStyle/>
          <a:p>
            <a:pPr algn="l"/>
            <a:r>
              <a:rPr sz="1000" b="1" i="0">
                <a:solidFill>
                  <a:srgbClr val="FFFFFF"/>
                </a:solidFill>
                <a:latin typeface="Arial"/>
              </a:rPr>
              <a:t>STATUS VISIBILITY</a:t>
            </a:r>
          </a:p>
        </p:txBody>
      </p:sp>
      <p:sp>
        <p:nvSpPr>
          <p:cNvPr id="49" name="TextBox 48"/>
          <p:cNvSpPr txBox="1"/>
          <p:nvPr/>
        </p:nvSpPr>
        <p:spPr>
          <a:xfrm>
            <a:off x="8203996" y="4206240"/>
            <a:ext cx="3393338" cy="365760"/>
          </a:xfrm>
          <a:prstGeom prst="rect">
            <a:avLst/>
          </a:prstGeom>
          <a:noFill/>
        </p:spPr>
        <p:txBody>
          <a:bodyPr wrap="square" lIns="45720" rIns="45720" tIns="18288" bIns="18288" anchor="t">
            <a:spAutoFit/>
          </a:bodyPr>
          <a:lstStyle/>
          <a:p>
            <a:pPr algn="l"/>
            <a:r>
              <a:rPr sz="1000" b="0" i="1">
                <a:solidFill>
                  <a:srgbClr val="2C3E50"/>
                </a:solidFill>
                <a:latin typeface="Arial"/>
              </a:rPr>
              <a:t>% with live status</a:t>
            </a:r>
          </a:p>
        </p:txBody>
      </p:sp>
      <p:sp>
        <p:nvSpPr>
          <p:cNvPr id="50" name="TextBox 49"/>
          <p:cNvSpPr txBox="1"/>
          <p:nvPr/>
        </p:nvSpPr>
        <p:spPr>
          <a:xfrm>
            <a:off x="8203996" y="4617720"/>
            <a:ext cx="3393338" cy="457200"/>
          </a:xfrm>
          <a:prstGeom prst="rect">
            <a:avLst/>
          </a:prstGeom>
          <a:noFill/>
        </p:spPr>
        <p:txBody>
          <a:bodyPr wrap="square" lIns="45720" rIns="45720" tIns="18288" bIns="18288" anchor="ctr">
            <a:spAutoFit/>
          </a:bodyPr>
          <a:lstStyle/>
          <a:p>
            <a:pPr algn="l"/>
            <a:r>
              <a:rPr sz="2200" b="1" i="0">
                <a:solidFill>
                  <a:srgbClr val="1F3A68"/>
                </a:solidFill>
                <a:latin typeface="Arial"/>
              </a:rPr>
              <a:t>100 %</a:t>
            </a:r>
          </a:p>
        </p:txBody>
      </p:sp>
      <p:sp>
        <p:nvSpPr>
          <p:cNvPr id="51" name="TextBox 50"/>
          <p:cNvSpPr txBox="1"/>
          <p:nvPr/>
        </p:nvSpPr>
        <p:spPr>
          <a:xfrm>
            <a:off x="8203996" y="5074920"/>
            <a:ext cx="3393338" cy="365760"/>
          </a:xfrm>
          <a:prstGeom prst="rect">
            <a:avLst/>
          </a:prstGeom>
          <a:noFill/>
        </p:spPr>
        <p:txBody>
          <a:bodyPr wrap="square" lIns="45720" rIns="45720" tIns="18288" bIns="18288" anchor="ctr">
            <a:spAutoFit/>
          </a:bodyPr>
          <a:lstStyle/>
          <a:p>
            <a:pPr algn="l"/>
            <a:r>
              <a:rPr sz="850" b="0" i="1">
                <a:solidFill>
                  <a:srgbClr val="95A5A6"/>
                </a:solidFill>
                <a:latin typeface="Arial"/>
              </a:rPr>
              <a:t>Target 100 %</a:t>
            </a:r>
          </a:p>
        </p:txBody>
      </p:sp>
      <p:sp>
        <p:nvSpPr>
          <p:cNvPr id="52" name="Rounded Rectangle 51"/>
          <p:cNvSpPr/>
          <p:nvPr/>
        </p:nvSpPr>
        <p:spPr>
          <a:xfrm>
            <a:off x="457200" y="5715000"/>
            <a:ext cx="11277295" cy="594360"/>
          </a:xfrm>
          <a:prstGeom prst="roundRect">
            <a:avLst>
              <a:gd name="adj" fmla="val 5000"/>
            </a:avLst>
          </a:prstGeom>
          <a:solidFill>
            <a:srgbClr val="DCE6F5"/>
          </a:solidFill>
          <a:ln w="19050">
            <a:solidFill>
              <a:srgbClr val="0F1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0080" y="5751576"/>
            <a:ext cx="10911535" cy="274320"/>
          </a:xfrm>
          <a:prstGeom prst="rect">
            <a:avLst/>
          </a:prstGeom>
          <a:noFill/>
        </p:spPr>
        <p:txBody>
          <a:bodyPr wrap="square" lIns="45720" rIns="45720" tIns="18288" bIns="18288" anchor="t">
            <a:spAutoFit/>
          </a:bodyPr>
          <a:lstStyle/>
          <a:p>
            <a:pPr algn="l"/>
            <a:r>
              <a:rPr sz="1000" b="1" i="0">
                <a:solidFill>
                  <a:srgbClr val="0F1C50"/>
                </a:solidFill>
                <a:latin typeface="Arial"/>
              </a:rPr>
              <a:t>TAKEAWAY</a:t>
            </a:r>
          </a:p>
        </p:txBody>
      </p:sp>
      <p:sp>
        <p:nvSpPr>
          <p:cNvPr id="54" name="TextBox 53"/>
          <p:cNvSpPr txBox="1"/>
          <p:nvPr/>
        </p:nvSpPr>
        <p:spPr>
          <a:xfrm>
            <a:off x="640080" y="5961888"/>
            <a:ext cx="10911535" cy="365760"/>
          </a:xfrm>
          <a:prstGeom prst="rect">
            <a:avLst/>
          </a:prstGeom>
          <a:noFill/>
        </p:spPr>
        <p:txBody>
          <a:bodyPr wrap="square" lIns="45720" rIns="45720" tIns="18288" bIns="18288" anchor="t">
            <a:spAutoFit/>
          </a:bodyPr>
          <a:lstStyle/>
          <a:p>
            <a:pPr algn="l"/>
            <a:r>
              <a:rPr sz="1000" b="0" i="1">
                <a:solidFill>
                  <a:srgbClr val="2C3E50"/>
                </a:solidFill>
                <a:latin typeface="Arial"/>
              </a:rPr>
              <a:t>These seven KPIs are the contract — if any one drifts, the demand funnel is leaking. Live dashboard means leakage is visible the next day, not the next quarter.</a:t>
            </a:r>
          </a:p>
        </p:txBody>
      </p:sp>
      <p:sp>
        <p:nvSpPr>
          <p:cNvPr id="55" name="TextBox 54"/>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CAPABILITIES</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WHAT THE ORGANIZATION MUST BE ABLE TO DO</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ounded Rectangle 5"/>
          <p:cNvSpPr/>
          <p:nvPr/>
        </p:nvSpPr>
        <p:spPr>
          <a:xfrm>
            <a:off x="457200" y="914400"/>
            <a:ext cx="3200400" cy="457200"/>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14400"/>
            <a:ext cx="3200400" cy="457200"/>
          </a:xfrm>
          <a:prstGeom prst="rect">
            <a:avLst/>
          </a:prstGeom>
          <a:noFill/>
        </p:spPr>
        <p:txBody>
          <a:bodyPr wrap="square" lIns="45720" rIns="45720" tIns="18288" bIns="18288" anchor="ctr">
            <a:spAutoFit/>
          </a:bodyPr>
          <a:lstStyle/>
          <a:p>
            <a:pPr algn="ctr"/>
            <a:r>
              <a:rPr sz="1400" b="1" i="0">
                <a:solidFill>
                  <a:srgbClr val="FFFFFF"/>
                </a:solidFill>
                <a:latin typeface="Arial"/>
              </a:rPr>
              <a:t>CAPABILITIES  ·  14 items</a:t>
            </a:r>
          </a:p>
        </p:txBody>
      </p:sp>
      <p:sp>
        <p:nvSpPr>
          <p:cNvPr id="8" name="Rounded Rectangle 7"/>
          <p:cNvSpPr/>
          <p:nvPr/>
        </p:nvSpPr>
        <p:spPr>
          <a:xfrm>
            <a:off x="457200" y="1554480"/>
            <a:ext cx="2182307" cy="149352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554480"/>
            <a:ext cx="2182307" cy="4114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58191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intake channels</a:t>
            </a:r>
          </a:p>
        </p:txBody>
      </p:sp>
      <p:sp>
        <p:nvSpPr>
          <p:cNvPr id="11" name="TextBox 10"/>
          <p:cNvSpPr txBox="1"/>
          <p:nvPr/>
        </p:nvSpPr>
        <p:spPr>
          <a:xfrm>
            <a:off x="594360" y="205740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One Jira request type per Value Stream · size captured as a field (S · M · L · XL). IT Now reserved for incidents only. Email · Teams · Word · OneNote decommissioned.</a:t>
            </a:r>
          </a:p>
        </p:txBody>
      </p:sp>
      <p:sp>
        <p:nvSpPr>
          <p:cNvPr id="12" name="Rounded Rectangle 11"/>
          <p:cNvSpPr/>
          <p:nvPr/>
        </p:nvSpPr>
        <p:spPr>
          <a:xfrm>
            <a:off x="2730947" y="1554480"/>
            <a:ext cx="2182307" cy="149352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30947" y="1554480"/>
            <a:ext cx="2182307" cy="4114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22387" y="158191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registration &amp; logging</a:t>
            </a:r>
          </a:p>
        </p:txBody>
      </p:sp>
      <p:sp>
        <p:nvSpPr>
          <p:cNvPr id="15" name="TextBox 14"/>
          <p:cNvSpPr txBox="1"/>
          <p:nvPr/>
        </p:nvSpPr>
        <p:spPr>
          <a:xfrm>
            <a:off x="2868107" y="205740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Auto-created backlog item from intake form. Immutable audit fields: requester, business unit, team, date. Every state change logged.</a:t>
            </a:r>
          </a:p>
        </p:txBody>
      </p:sp>
      <p:sp>
        <p:nvSpPr>
          <p:cNvPr id="16" name="Rounded Rectangle 15"/>
          <p:cNvSpPr/>
          <p:nvPr/>
        </p:nvSpPr>
        <p:spPr>
          <a:xfrm>
            <a:off x="5004694" y="1554480"/>
            <a:ext cx="2182307" cy="149352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04694" y="1554480"/>
            <a:ext cx="2182307" cy="4114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96134" y="158191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Channel consolidation</a:t>
            </a:r>
          </a:p>
        </p:txBody>
      </p:sp>
      <p:sp>
        <p:nvSpPr>
          <p:cNvPr id="19" name="TextBox 18"/>
          <p:cNvSpPr txBox="1"/>
          <p:nvPr/>
        </p:nvSpPr>
        <p:spPr>
          <a:xfrm>
            <a:off x="5141854" y="205740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One adaptive intake form per team. Target: 90% of demand via single channel by month 6. No alternative formal channels accepted.</a:t>
            </a:r>
          </a:p>
        </p:txBody>
      </p:sp>
      <p:sp>
        <p:nvSpPr>
          <p:cNvPr id="20" name="Rounded Rectangle 19"/>
          <p:cNvSpPr/>
          <p:nvPr/>
        </p:nvSpPr>
        <p:spPr>
          <a:xfrm>
            <a:off x="7278441" y="1554480"/>
            <a:ext cx="2182307" cy="149352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78441" y="1554480"/>
            <a:ext cx="2182307" cy="4114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69881" y="158191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Standard intake formats</a:t>
            </a:r>
          </a:p>
        </p:txBody>
      </p:sp>
      <p:sp>
        <p:nvSpPr>
          <p:cNvPr id="23" name="TextBox 22"/>
          <p:cNvSpPr txBox="1"/>
          <p:nvPr/>
        </p:nvSpPr>
        <p:spPr>
          <a:xfrm>
            <a:off x="7415601" y="205740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Canonical template with mandatory Definition of Ready fields: title, business value, acceptance criteria, class of service, due date, sponsor.</a:t>
            </a:r>
          </a:p>
        </p:txBody>
      </p:sp>
      <p:sp>
        <p:nvSpPr>
          <p:cNvPr id="24" name="Rounded Rectangle 23"/>
          <p:cNvSpPr/>
          <p:nvPr/>
        </p:nvSpPr>
        <p:spPr>
          <a:xfrm>
            <a:off x="9552188" y="1554480"/>
            <a:ext cx="2182307" cy="149352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552188" y="1554480"/>
            <a:ext cx="2182307" cy="4114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43628" y="158191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classification</a:t>
            </a:r>
          </a:p>
        </p:txBody>
      </p:sp>
      <p:sp>
        <p:nvSpPr>
          <p:cNvPr id="27" name="TextBox 26"/>
          <p:cNvSpPr txBox="1"/>
          <p:nvPr/>
        </p:nvSpPr>
        <p:spPr>
          <a:xfrm>
            <a:off x="9689348" y="205740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Three independent axes: type, size, urgency. Closed taxonomy. Classification done at intake gate, not self-declared.</a:t>
            </a:r>
          </a:p>
        </p:txBody>
      </p:sp>
      <p:sp>
        <p:nvSpPr>
          <p:cNvPr id="28" name="Rounded Rectangle 27"/>
          <p:cNvSpPr/>
          <p:nvPr/>
        </p:nvSpPr>
        <p:spPr>
          <a:xfrm>
            <a:off x="457200" y="3139440"/>
            <a:ext cx="2182307" cy="149352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139440"/>
            <a:ext cx="2182307" cy="4114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316687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Run · Change · Regulatory · Innovation</a:t>
            </a:r>
          </a:p>
        </p:txBody>
      </p:sp>
      <p:sp>
        <p:nvSpPr>
          <p:cNvPr id="31" name="TextBox 30"/>
          <p:cNvSpPr txBox="1"/>
          <p:nvPr/>
        </p:nvSpPr>
        <p:spPr>
          <a:xfrm>
            <a:off x="594360" y="364236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Four Classes of Service with capacity caps. Replaces ad-hoc 'urgent override' culture with explicit policy.</a:t>
            </a:r>
          </a:p>
        </p:txBody>
      </p:sp>
      <p:sp>
        <p:nvSpPr>
          <p:cNvPr id="32" name="Rounded Rectangle 31"/>
          <p:cNvSpPr/>
          <p:nvPr/>
        </p:nvSpPr>
        <p:spPr>
          <a:xfrm>
            <a:off x="2730947" y="3139440"/>
            <a:ext cx="2182307" cy="149352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730947" y="3139440"/>
            <a:ext cx="2182307" cy="4114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22387" y="316687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Business value definition</a:t>
            </a:r>
          </a:p>
        </p:txBody>
      </p:sp>
      <p:sp>
        <p:nvSpPr>
          <p:cNvPr id="35" name="TextBox 34"/>
          <p:cNvSpPr txBox="1"/>
          <p:nvPr/>
        </p:nvSpPr>
        <p:spPr>
          <a:xfrm>
            <a:off x="2868107" y="364236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Weighted scoring formula combining business value, user experience, safety, and effort. Sponsor signs off the score at intake.</a:t>
            </a:r>
          </a:p>
        </p:txBody>
      </p:sp>
      <p:sp>
        <p:nvSpPr>
          <p:cNvPr id="36" name="Rounded Rectangle 35"/>
          <p:cNvSpPr/>
          <p:nvPr/>
        </p:nvSpPr>
        <p:spPr>
          <a:xfrm>
            <a:off x="5004694" y="3139440"/>
            <a:ext cx="2182307" cy="149352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004694" y="3139440"/>
            <a:ext cx="2182307" cy="4114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96134" y="316687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Acceptance criteria</a:t>
            </a:r>
          </a:p>
        </p:txBody>
      </p:sp>
      <p:sp>
        <p:nvSpPr>
          <p:cNvPr id="39" name="TextBox 38"/>
          <p:cNvSpPr txBox="1"/>
          <p:nvPr/>
        </p:nvSpPr>
        <p:spPr>
          <a:xfrm>
            <a:off x="5141854" y="364236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Mandatory in Definition of Ready. Format: Given/When/Then or measurable outcome. Reviewed before scoring. Immutable post-prioritization.</a:t>
            </a:r>
          </a:p>
        </p:txBody>
      </p:sp>
      <p:sp>
        <p:nvSpPr>
          <p:cNvPr id="40" name="Rounded Rectangle 39"/>
          <p:cNvSpPr/>
          <p:nvPr/>
        </p:nvSpPr>
        <p:spPr>
          <a:xfrm>
            <a:off x="7278441" y="3139440"/>
            <a:ext cx="2182307" cy="149352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278441" y="3139440"/>
            <a:ext cx="2182307" cy="4114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69881" y="316687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Technical feasibility input</a:t>
            </a:r>
          </a:p>
        </p:txBody>
      </p:sp>
      <p:sp>
        <p:nvSpPr>
          <p:cNvPr id="43" name="TextBox 42"/>
          <p:cNvSpPr txBox="1"/>
          <p:nvPr/>
        </p:nvSpPr>
        <p:spPr>
          <a:xfrm>
            <a:off x="7415601" y="364236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Lightweight check at intake gate by rotating architect. Time-boxed (2 hours max). Output: Feasible / Conditional / Not feasible.</a:t>
            </a:r>
          </a:p>
        </p:txBody>
      </p:sp>
      <p:sp>
        <p:nvSpPr>
          <p:cNvPr id="44" name="Rounded Rectangle 43"/>
          <p:cNvSpPr/>
          <p:nvPr/>
        </p:nvSpPr>
        <p:spPr>
          <a:xfrm>
            <a:off x="9552188" y="3139440"/>
            <a:ext cx="2182307" cy="149352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52188" y="3139440"/>
            <a:ext cx="2182307" cy="4114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643628" y="316687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Triage &amp; validation</a:t>
            </a:r>
          </a:p>
        </p:txBody>
      </p:sp>
      <p:sp>
        <p:nvSpPr>
          <p:cNvPr id="47" name="TextBox 46"/>
          <p:cNvSpPr txBox="1"/>
          <p:nvPr/>
        </p:nvSpPr>
        <p:spPr>
          <a:xfrm>
            <a:off x="9689348" y="364236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Weekly 30-minute triage committee. Outcomes: Accept · Send-back · Reject. Five-business-day SLA.</a:t>
            </a:r>
          </a:p>
        </p:txBody>
      </p:sp>
      <p:sp>
        <p:nvSpPr>
          <p:cNvPr id="48" name="Rounded Rectangle 47"/>
          <p:cNvSpPr/>
          <p:nvPr/>
        </p:nvSpPr>
        <p:spPr>
          <a:xfrm>
            <a:off x="457200" y="4724400"/>
            <a:ext cx="2182307" cy="149352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57200" y="4724400"/>
            <a:ext cx="2182307" cy="4114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48640" y="475183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routing &amp; assignment</a:t>
            </a:r>
          </a:p>
        </p:txBody>
      </p:sp>
      <p:sp>
        <p:nvSpPr>
          <p:cNvPr id="51" name="TextBox 50"/>
          <p:cNvSpPr txBox="1"/>
          <p:nvPr/>
        </p:nvSpPr>
        <p:spPr>
          <a:xfrm>
            <a:off x="594360" y="522732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Routing by Value Stream, not by team or person. Auto-routing based on requester selection. Cross-stream items go to Architecture review.</a:t>
            </a:r>
          </a:p>
        </p:txBody>
      </p:sp>
      <p:sp>
        <p:nvSpPr>
          <p:cNvPr id="52" name="Rounded Rectangle 51"/>
          <p:cNvSpPr/>
          <p:nvPr/>
        </p:nvSpPr>
        <p:spPr>
          <a:xfrm>
            <a:off x="2730947" y="4724400"/>
            <a:ext cx="2182307" cy="149352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730947" y="4724400"/>
            <a:ext cx="2182307" cy="4114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822387" y="475183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Urgent or exception requests</a:t>
            </a:r>
          </a:p>
        </p:txBody>
      </p:sp>
      <p:sp>
        <p:nvSpPr>
          <p:cNvPr id="55" name="TextBox 54"/>
          <p:cNvSpPr txBox="1"/>
          <p:nvPr/>
        </p:nvSpPr>
        <p:spPr>
          <a:xfrm>
            <a:off x="2868107" y="522732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Expedite Class of Service capped at 20% of throughput. Real-time incidents bypass intake (Service Desk SLA).</a:t>
            </a:r>
          </a:p>
        </p:txBody>
      </p:sp>
      <p:sp>
        <p:nvSpPr>
          <p:cNvPr id="56" name="Rounded Rectangle 55"/>
          <p:cNvSpPr/>
          <p:nvPr/>
        </p:nvSpPr>
        <p:spPr>
          <a:xfrm>
            <a:off x="5004694" y="4724400"/>
            <a:ext cx="2182307" cy="149352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004694" y="4724400"/>
            <a:ext cx="2182307" cy="4114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096134" y="475183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visibility &amp; tracking</a:t>
            </a:r>
          </a:p>
        </p:txBody>
      </p:sp>
      <p:sp>
        <p:nvSpPr>
          <p:cNvPr id="59" name="TextBox 58"/>
          <p:cNvSpPr txBox="1"/>
          <p:nvPr/>
        </p:nvSpPr>
        <p:spPr>
          <a:xfrm>
            <a:off x="5141854" y="522732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Single dashboard, public read-only. Views: inflow funnel · backlog by team · class-of-service mix · aging · top priorities.</a:t>
            </a:r>
          </a:p>
        </p:txBody>
      </p:sp>
      <p:sp>
        <p:nvSpPr>
          <p:cNvPr id="60" name="Rounded Rectangle 59"/>
          <p:cNvSpPr/>
          <p:nvPr/>
        </p:nvSpPr>
        <p:spPr>
          <a:xfrm>
            <a:off x="7278441" y="4724400"/>
            <a:ext cx="2182307" cy="149352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278441" y="4724400"/>
            <a:ext cx="2182307" cy="4114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369881" y="475183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Duplicate &amp; overlap identification</a:t>
            </a:r>
          </a:p>
        </p:txBody>
      </p:sp>
      <p:sp>
        <p:nvSpPr>
          <p:cNvPr id="63" name="TextBox 62"/>
          <p:cNvSpPr txBox="1"/>
          <p:nvPr/>
        </p:nvSpPr>
        <p:spPr>
          <a:xfrm>
            <a:off x="7415601" y="522732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Similarity search at submit (top-3 matches surfaced). Weekly de-dup query. Overlaps escalated to Portfolio Committee.</a:t>
            </a:r>
          </a:p>
        </p:txBody>
      </p:sp>
      <p:sp>
        <p:nvSpPr>
          <p:cNvPr id="64" name="TextBox 63"/>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ROLES</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WHO OWNS AND OPERATES THE FRAMEWORK</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ounded Rectangle 5"/>
          <p:cNvSpPr/>
          <p:nvPr/>
        </p:nvSpPr>
        <p:spPr>
          <a:xfrm>
            <a:off x="457200" y="914400"/>
            <a:ext cx="3200400" cy="457200"/>
          </a:xfrm>
          <a:prstGeom prst="roundRect">
            <a:avLst>
              <a:gd name="adj" fmla="val 20000"/>
            </a:avLst>
          </a:prstGeom>
          <a:solidFill>
            <a:srgbClr val="2B6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14400"/>
            <a:ext cx="3200400" cy="457200"/>
          </a:xfrm>
          <a:prstGeom prst="rect">
            <a:avLst/>
          </a:prstGeom>
          <a:noFill/>
        </p:spPr>
        <p:txBody>
          <a:bodyPr wrap="square" lIns="45720" rIns="45720" tIns="18288" bIns="18288" anchor="ctr">
            <a:spAutoFit/>
          </a:bodyPr>
          <a:lstStyle/>
          <a:p>
            <a:pPr algn="ctr"/>
            <a:r>
              <a:rPr sz="1400" b="1" i="0">
                <a:solidFill>
                  <a:srgbClr val="FFFFFF"/>
                </a:solidFill>
                <a:latin typeface="Arial"/>
              </a:rPr>
              <a:t>ROLES  ·  4 items</a:t>
            </a:r>
          </a:p>
        </p:txBody>
      </p:sp>
      <p:sp>
        <p:nvSpPr>
          <p:cNvPr id="8" name="Rounded Rectangle 7"/>
          <p:cNvSpPr/>
          <p:nvPr/>
        </p:nvSpPr>
        <p:spPr>
          <a:xfrm>
            <a:off x="457200" y="1554480"/>
            <a:ext cx="5592927" cy="2286000"/>
          </a:xfrm>
          <a:prstGeom prst="roundRect">
            <a:avLst>
              <a:gd name="adj" fmla="val 5000"/>
            </a:avLst>
          </a:prstGeom>
          <a:solidFill>
            <a:srgbClr val="FFFFFF"/>
          </a:solidFill>
          <a:ln w="19050">
            <a:solidFill>
              <a:srgbClr val="2B6B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554480"/>
            <a:ext cx="5592927" cy="411480"/>
          </a:xfrm>
          <a:prstGeom prst="rect">
            <a:avLst/>
          </a:prstGeom>
          <a:solidFill>
            <a:srgbClr val="2B6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581912"/>
            <a:ext cx="5410047" cy="365760"/>
          </a:xfrm>
          <a:prstGeom prst="rect">
            <a:avLst/>
          </a:prstGeom>
          <a:noFill/>
        </p:spPr>
        <p:txBody>
          <a:bodyPr wrap="square" lIns="45720" rIns="45720" tIns="18288" bIns="18288" anchor="ctr">
            <a:spAutoFit/>
          </a:bodyPr>
          <a:lstStyle/>
          <a:p>
            <a:pPr algn="l"/>
            <a:r>
              <a:rPr sz="1050" b="1" i="0">
                <a:solidFill>
                  <a:srgbClr val="FFFFFF"/>
                </a:solidFill>
                <a:latin typeface="Arial"/>
              </a:rPr>
              <a:t>Business requestors &amp; stakeholders</a:t>
            </a:r>
          </a:p>
        </p:txBody>
      </p:sp>
      <p:sp>
        <p:nvSpPr>
          <p:cNvPr id="11" name="TextBox 10"/>
          <p:cNvSpPr txBox="1"/>
          <p:nvPr/>
        </p:nvSpPr>
        <p:spPr>
          <a:xfrm>
            <a:off x="594360" y="2057400"/>
            <a:ext cx="5318607" cy="1691640"/>
          </a:xfrm>
          <a:prstGeom prst="rect">
            <a:avLst/>
          </a:prstGeom>
          <a:noFill/>
        </p:spPr>
        <p:txBody>
          <a:bodyPr wrap="square" lIns="45720" rIns="45720" tIns="18288" bIns="18288" anchor="t">
            <a:spAutoFit/>
          </a:bodyPr>
          <a:lstStyle/>
          <a:p>
            <a:pPr algn="l"/>
            <a:r>
              <a:rPr sz="1000" b="0" i="0">
                <a:solidFill>
                  <a:srgbClr val="2C3E50"/>
                </a:solidFill>
                <a:latin typeface="Arial"/>
              </a:rPr>
              <a:t>All originating business units route through a single intake form per Value Stream. Includes Customer Service Products organization, Networks Business sponsors, Iberdrola corporate, and BRS UIL/CMP/NY operating companies.</a:t>
            </a:r>
          </a:p>
        </p:txBody>
      </p:sp>
      <p:sp>
        <p:nvSpPr>
          <p:cNvPr id="12" name="Rounded Rectangle 11"/>
          <p:cNvSpPr/>
          <p:nvPr/>
        </p:nvSpPr>
        <p:spPr>
          <a:xfrm>
            <a:off x="6141567" y="1554480"/>
            <a:ext cx="5592927" cy="2286000"/>
          </a:xfrm>
          <a:prstGeom prst="roundRect">
            <a:avLst>
              <a:gd name="adj" fmla="val 5000"/>
            </a:avLst>
          </a:prstGeom>
          <a:solidFill>
            <a:srgbClr val="FFFFFF"/>
          </a:solidFill>
          <a:ln w="19050">
            <a:solidFill>
              <a:srgbClr val="2B6B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1567" y="1554480"/>
            <a:ext cx="5592927" cy="411480"/>
          </a:xfrm>
          <a:prstGeom prst="rect">
            <a:avLst/>
          </a:prstGeom>
          <a:solidFill>
            <a:srgbClr val="2B6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33007" y="1581912"/>
            <a:ext cx="5410047" cy="365760"/>
          </a:xfrm>
          <a:prstGeom prst="rect">
            <a:avLst/>
          </a:prstGeom>
          <a:noFill/>
        </p:spPr>
        <p:txBody>
          <a:bodyPr wrap="square" lIns="45720" rIns="45720" tIns="18288" bIns="18288" anchor="ctr">
            <a:spAutoFit/>
          </a:bodyPr>
          <a:lstStyle/>
          <a:p>
            <a:pPr algn="l"/>
            <a:r>
              <a:rPr sz="1050" b="1" i="0">
                <a:solidFill>
                  <a:srgbClr val="FFFFFF"/>
                </a:solidFill>
                <a:latin typeface="Arial"/>
              </a:rPr>
              <a:t>Product or Demand Managers</a:t>
            </a:r>
          </a:p>
        </p:txBody>
      </p:sp>
      <p:sp>
        <p:nvSpPr>
          <p:cNvPr id="15" name="TextBox 14"/>
          <p:cNvSpPr txBox="1"/>
          <p:nvPr/>
        </p:nvSpPr>
        <p:spPr>
          <a:xfrm>
            <a:off x="6278727" y="2057400"/>
            <a:ext cx="5318607" cy="1691640"/>
          </a:xfrm>
          <a:prstGeom prst="rect">
            <a:avLst/>
          </a:prstGeom>
          <a:noFill/>
        </p:spPr>
        <p:txBody>
          <a:bodyPr wrap="square" lIns="45720" rIns="45720" tIns="18288" bIns="18288" anchor="t">
            <a:spAutoFit/>
          </a:bodyPr>
          <a:lstStyle/>
          <a:p>
            <a:pPr algn="l"/>
            <a:r>
              <a:rPr sz="1000" b="0" i="0">
                <a:solidFill>
                  <a:srgbClr val="2C3E50"/>
                </a:solidFill>
                <a:latin typeface="Arial"/>
              </a:rPr>
              <a:t>One Product Manager per Value Stream Team — accountable for outcome, scoring, and backlog priority. One Demand Manager (cross-team) audits scoring and intake quality.</a:t>
            </a:r>
          </a:p>
        </p:txBody>
      </p:sp>
      <p:sp>
        <p:nvSpPr>
          <p:cNvPr id="16" name="Rounded Rectangle 15"/>
          <p:cNvSpPr/>
          <p:nvPr/>
        </p:nvSpPr>
        <p:spPr>
          <a:xfrm>
            <a:off x="457200" y="3931920"/>
            <a:ext cx="5592927" cy="2286000"/>
          </a:xfrm>
          <a:prstGeom prst="roundRect">
            <a:avLst>
              <a:gd name="adj" fmla="val 5000"/>
            </a:avLst>
          </a:prstGeom>
          <a:solidFill>
            <a:srgbClr val="FFFFFF"/>
          </a:solidFill>
          <a:ln w="19050">
            <a:solidFill>
              <a:srgbClr val="2B6B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931920"/>
            <a:ext cx="5592927" cy="411480"/>
          </a:xfrm>
          <a:prstGeom prst="rect">
            <a:avLst/>
          </a:prstGeom>
          <a:solidFill>
            <a:srgbClr val="2B6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959352"/>
            <a:ext cx="5410047" cy="365760"/>
          </a:xfrm>
          <a:prstGeom prst="rect">
            <a:avLst/>
          </a:prstGeom>
          <a:noFill/>
        </p:spPr>
        <p:txBody>
          <a:bodyPr wrap="square" lIns="45720" rIns="45720" tIns="18288" bIns="18288" anchor="ctr">
            <a:spAutoFit/>
          </a:bodyPr>
          <a:lstStyle/>
          <a:p>
            <a:pPr algn="l"/>
            <a:r>
              <a:rPr sz="1050" b="1" i="0">
                <a:solidFill>
                  <a:srgbClr val="FFFFFF"/>
                </a:solidFill>
                <a:latin typeface="Arial"/>
              </a:rPr>
              <a:t>Architects &amp; technical reviewers</a:t>
            </a:r>
          </a:p>
        </p:txBody>
      </p:sp>
      <p:sp>
        <p:nvSpPr>
          <p:cNvPr id="19" name="TextBox 18"/>
          <p:cNvSpPr txBox="1"/>
          <p:nvPr/>
        </p:nvSpPr>
        <p:spPr>
          <a:xfrm>
            <a:off x="594360" y="4434840"/>
            <a:ext cx="5318607" cy="1691640"/>
          </a:xfrm>
          <a:prstGeom prst="rect">
            <a:avLst/>
          </a:prstGeom>
          <a:noFill/>
        </p:spPr>
        <p:txBody>
          <a:bodyPr wrap="square" lIns="45720" rIns="45720" tIns="18288" bIns="18288" anchor="t">
            <a:spAutoFit/>
          </a:bodyPr>
          <a:lstStyle/>
          <a:p>
            <a:pPr algn="l"/>
            <a:r>
              <a:rPr sz="1000" b="0" i="0">
                <a:solidFill>
                  <a:srgbClr val="2C3E50"/>
                </a:solidFill>
                <a:latin typeface="Arial"/>
              </a:rPr>
              <a:t>Architecture Council with rotating members from existing technical leads. Time-boxed advisory input at the intake gate. Provides feasibility view, not a veto.</a:t>
            </a:r>
          </a:p>
        </p:txBody>
      </p:sp>
      <p:sp>
        <p:nvSpPr>
          <p:cNvPr id="20" name="Rounded Rectangle 19"/>
          <p:cNvSpPr/>
          <p:nvPr/>
        </p:nvSpPr>
        <p:spPr>
          <a:xfrm>
            <a:off x="6141567" y="3931920"/>
            <a:ext cx="5592927" cy="2286000"/>
          </a:xfrm>
          <a:prstGeom prst="roundRect">
            <a:avLst>
              <a:gd name="adj" fmla="val 5000"/>
            </a:avLst>
          </a:prstGeom>
          <a:solidFill>
            <a:srgbClr val="FFFFFF"/>
          </a:solidFill>
          <a:ln w="19050">
            <a:solidFill>
              <a:srgbClr val="2B6B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41567" y="3931920"/>
            <a:ext cx="5592927" cy="411480"/>
          </a:xfrm>
          <a:prstGeom prst="rect">
            <a:avLst/>
          </a:prstGeom>
          <a:solidFill>
            <a:srgbClr val="2B6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33007" y="3959352"/>
            <a:ext cx="5410047" cy="365760"/>
          </a:xfrm>
          <a:prstGeom prst="rect">
            <a:avLst/>
          </a:prstGeom>
          <a:noFill/>
        </p:spPr>
        <p:txBody>
          <a:bodyPr wrap="square" lIns="45720" rIns="45720" tIns="18288" bIns="18288" anchor="ctr">
            <a:spAutoFit/>
          </a:bodyPr>
          <a:lstStyle/>
          <a:p>
            <a:pPr algn="l"/>
            <a:r>
              <a:rPr sz="1050" b="1" i="0">
                <a:solidFill>
                  <a:srgbClr val="FFFFFF"/>
                </a:solidFill>
                <a:latin typeface="Arial"/>
              </a:rPr>
              <a:t>Triage / intake committee</a:t>
            </a:r>
          </a:p>
        </p:txBody>
      </p:sp>
      <p:sp>
        <p:nvSpPr>
          <p:cNvPr id="23" name="TextBox 22"/>
          <p:cNvSpPr txBox="1"/>
          <p:nvPr/>
        </p:nvSpPr>
        <p:spPr>
          <a:xfrm>
            <a:off x="6278727" y="4434840"/>
            <a:ext cx="5318607" cy="1691640"/>
          </a:xfrm>
          <a:prstGeom prst="rect">
            <a:avLst/>
          </a:prstGeom>
          <a:noFill/>
        </p:spPr>
        <p:txBody>
          <a:bodyPr wrap="square" lIns="45720" rIns="45720" tIns="18288" bIns="18288" anchor="t">
            <a:spAutoFit/>
          </a:bodyPr>
          <a:lstStyle/>
          <a:p>
            <a:pPr algn="l"/>
            <a:r>
              <a:rPr sz="1000" b="0" i="0">
                <a:solidFill>
                  <a:srgbClr val="2C3E50"/>
                </a:solidFill>
                <a:latin typeface="Arial"/>
              </a:rPr>
              <a:t>Weekly committee per portfolio. Composition: Demand Manager (chair) plus Product Managers and Architect. Decisions logged with reason. Cross-portfolio escalations go to monthly Portfolio Committee.</a:t>
            </a:r>
          </a:p>
        </p:txBody>
      </p:sp>
      <p:sp>
        <p:nvSpPr>
          <p:cNvPr id="24" name="TextBox 23"/>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TOOLS</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SYSTEMS AND PLATFORMS USED</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ounded Rectangle 5"/>
          <p:cNvSpPr/>
          <p:nvPr/>
        </p:nvSpPr>
        <p:spPr>
          <a:xfrm>
            <a:off x="457200" y="914400"/>
            <a:ext cx="3200400" cy="457200"/>
          </a:xfrm>
          <a:prstGeom prst="roundRect">
            <a:avLst>
              <a:gd name="adj" fmla="val 20000"/>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14400"/>
            <a:ext cx="3200400" cy="457200"/>
          </a:xfrm>
          <a:prstGeom prst="rect">
            <a:avLst/>
          </a:prstGeom>
          <a:noFill/>
        </p:spPr>
        <p:txBody>
          <a:bodyPr wrap="square" lIns="45720" rIns="45720" tIns="18288" bIns="18288" anchor="ctr">
            <a:spAutoFit/>
          </a:bodyPr>
          <a:lstStyle/>
          <a:p>
            <a:pPr algn="ctr"/>
            <a:r>
              <a:rPr sz="1400" b="1" i="0">
                <a:solidFill>
                  <a:srgbClr val="FFFFFF"/>
                </a:solidFill>
                <a:latin typeface="Arial"/>
              </a:rPr>
              <a:t>TOOLS  ·  5 items</a:t>
            </a:r>
          </a:p>
        </p:txBody>
      </p:sp>
      <p:sp>
        <p:nvSpPr>
          <p:cNvPr id="8" name="Rounded Rectangle 7"/>
          <p:cNvSpPr/>
          <p:nvPr/>
        </p:nvSpPr>
        <p:spPr>
          <a:xfrm>
            <a:off x="457200" y="1554480"/>
            <a:ext cx="3698138" cy="2286000"/>
          </a:xfrm>
          <a:prstGeom prst="roundRect">
            <a:avLst>
              <a:gd name="adj" fmla="val 5000"/>
            </a:avLst>
          </a:prstGeom>
          <a:solidFill>
            <a:srgbClr val="FFFFFF"/>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554480"/>
            <a:ext cx="3698138" cy="4114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58191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capture</a:t>
            </a:r>
          </a:p>
        </p:txBody>
      </p:sp>
      <p:sp>
        <p:nvSpPr>
          <p:cNvPr id="11" name="TextBox 10"/>
          <p:cNvSpPr txBox="1"/>
          <p:nvPr/>
        </p:nvSpPr>
        <p:spPr>
          <a:xfrm>
            <a:off x="594360" y="205740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One Jira request type per Value Stream Team — size captured as a field. Mandatory fields enforce Definition of Ready. IT Now reserved for incidents only.</a:t>
            </a:r>
          </a:p>
        </p:txBody>
      </p:sp>
      <p:sp>
        <p:nvSpPr>
          <p:cNvPr id="12" name="Rounded Rectangle 11"/>
          <p:cNvSpPr/>
          <p:nvPr/>
        </p:nvSpPr>
        <p:spPr>
          <a:xfrm>
            <a:off x="4246778" y="1554480"/>
            <a:ext cx="3698138" cy="2286000"/>
          </a:xfrm>
          <a:prstGeom prst="roundRect">
            <a:avLst>
              <a:gd name="adj" fmla="val 5000"/>
            </a:avLst>
          </a:prstGeom>
          <a:solidFill>
            <a:srgbClr val="FFFFFF"/>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46778" y="1554480"/>
            <a:ext cx="3698138" cy="4114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38218" y="158191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Tracking &amp; backlog</a:t>
            </a:r>
          </a:p>
        </p:txBody>
      </p:sp>
      <p:sp>
        <p:nvSpPr>
          <p:cNvPr id="15" name="TextBox 14"/>
          <p:cNvSpPr txBox="1"/>
          <p:nvPr/>
        </p:nvSpPr>
        <p:spPr>
          <a:xfrm>
            <a:off x="4383938" y="205740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Single backlog system as system of record. Item hierarchy: Initiative → Epic → Story. Team Kanban with five phases and dual track (Discovery + Delivery).</a:t>
            </a:r>
          </a:p>
        </p:txBody>
      </p:sp>
      <p:sp>
        <p:nvSpPr>
          <p:cNvPr id="16" name="Rounded Rectangle 15"/>
          <p:cNvSpPr/>
          <p:nvPr/>
        </p:nvSpPr>
        <p:spPr>
          <a:xfrm>
            <a:off x="8036356" y="1554480"/>
            <a:ext cx="3698138" cy="2286000"/>
          </a:xfrm>
          <a:prstGeom prst="roundRect">
            <a:avLst>
              <a:gd name="adj" fmla="val 5000"/>
            </a:avLst>
          </a:prstGeom>
          <a:solidFill>
            <a:srgbClr val="FFFFFF"/>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36356" y="1554480"/>
            <a:ext cx="3698138" cy="4114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27796" y="158191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Communication channels</a:t>
            </a:r>
          </a:p>
        </p:txBody>
      </p:sp>
      <p:sp>
        <p:nvSpPr>
          <p:cNvPr id="19" name="TextBox 18"/>
          <p:cNvSpPr txBox="1"/>
          <p:nvPr/>
        </p:nvSpPr>
        <p:spPr>
          <a:xfrm>
            <a:off x="8173516" y="205740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Triage outcomes auto-published to requesters. Per-requester portal showing live status. Cross-team coordination through dedicated forums.</a:t>
            </a:r>
          </a:p>
        </p:txBody>
      </p:sp>
      <p:sp>
        <p:nvSpPr>
          <p:cNvPr id="20" name="Rounded Rectangle 19"/>
          <p:cNvSpPr/>
          <p:nvPr/>
        </p:nvSpPr>
        <p:spPr>
          <a:xfrm>
            <a:off x="457200" y="3931920"/>
            <a:ext cx="3698138" cy="2286000"/>
          </a:xfrm>
          <a:prstGeom prst="roundRect">
            <a:avLst>
              <a:gd name="adj" fmla="val 5000"/>
            </a:avLst>
          </a:prstGeom>
          <a:solidFill>
            <a:srgbClr val="FFFFFF"/>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931920"/>
            <a:ext cx="3698138" cy="4114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95935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Documentation</a:t>
            </a:r>
          </a:p>
        </p:txBody>
      </p:sp>
      <p:sp>
        <p:nvSpPr>
          <p:cNvPr id="23" name="TextBox 22"/>
          <p:cNvSpPr txBox="1"/>
          <p:nvPr/>
        </p:nvSpPr>
        <p:spPr>
          <a:xfrm>
            <a:off x="594360" y="443484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Single source of truth for Definition of Ready, Class of Service taxonomy, per-team product brief. Sponsor approval logged within the intake form itself.</a:t>
            </a:r>
          </a:p>
        </p:txBody>
      </p:sp>
      <p:sp>
        <p:nvSpPr>
          <p:cNvPr id="24" name="Rounded Rectangle 23"/>
          <p:cNvSpPr/>
          <p:nvPr/>
        </p:nvSpPr>
        <p:spPr>
          <a:xfrm>
            <a:off x="4246778" y="3931920"/>
            <a:ext cx="3698138" cy="2286000"/>
          </a:xfrm>
          <a:prstGeom prst="roundRect">
            <a:avLst>
              <a:gd name="adj" fmla="val 5000"/>
            </a:avLst>
          </a:prstGeom>
          <a:solidFill>
            <a:srgbClr val="FFFFFF"/>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46778" y="3931920"/>
            <a:ext cx="3698138" cy="4114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38218" y="395935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Reporting &amp; visibility</a:t>
            </a:r>
          </a:p>
        </p:txBody>
      </p:sp>
      <p:sp>
        <p:nvSpPr>
          <p:cNvPr id="27" name="TextBox 26"/>
          <p:cNvSpPr txBox="1"/>
          <p:nvPr/>
        </p:nvSpPr>
        <p:spPr>
          <a:xfrm>
            <a:off x="4383938" y="443484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Demand dashboard with five views: inflow funnel, backlog by team, class-of-service mix, aging, top priorities. Auto-refresh under one hour. Director-level rollups.</a:t>
            </a:r>
          </a:p>
        </p:txBody>
      </p:sp>
      <p:sp>
        <p:nvSpPr>
          <p:cNvPr id="28" name="TextBox 27"/>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GOVERNANCE</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DECISIONS, FORUMS, AND CONTROLS</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ounded Rectangle 5"/>
          <p:cNvSpPr/>
          <p:nvPr/>
        </p:nvSpPr>
        <p:spPr>
          <a:xfrm>
            <a:off x="457200" y="914400"/>
            <a:ext cx="3200400" cy="457200"/>
          </a:xfrm>
          <a:prstGeom prst="roundRect">
            <a:avLst>
              <a:gd name="adj" fmla="val 20000"/>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14400"/>
            <a:ext cx="3200400" cy="457200"/>
          </a:xfrm>
          <a:prstGeom prst="rect">
            <a:avLst/>
          </a:prstGeom>
          <a:noFill/>
        </p:spPr>
        <p:txBody>
          <a:bodyPr wrap="square" lIns="45720" rIns="45720" tIns="18288" bIns="18288" anchor="ctr">
            <a:spAutoFit/>
          </a:bodyPr>
          <a:lstStyle/>
          <a:p>
            <a:pPr algn="ctr"/>
            <a:r>
              <a:rPr sz="1400" b="1" i="0">
                <a:solidFill>
                  <a:srgbClr val="FFFFFF"/>
                </a:solidFill>
                <a:latin typeface="Arial"/>
              </a:rPr>
              <a:t>GOVERNANCE  ·  6 items</a:t>
            </a:r>
          </a:p>
        </p:txBody>
      </p:sp>
      <p:sp>
        <p:nvSpPr>
          <p:cNvPr id="8" name="Rounded Rectangle 7"/>
          <p:cNvSpPr/>
          <p:nvPr/>
        </p:nvSpPr>
        <p:spPr>
          <a:xfrm>
            <a:off x="457200" y="1554480"/>
            <a:ext cx="3698138" cy="2286000"/>
          </a:xfrm>
          <a:prstGeom prst="roundRect">
            <a:avLst>
              <a:gd name="adj" fmla="val 5000"/>
            </a:avLst>
          </a:prstGeom>
          <a:solidFill>
            <a:srgbClr val="FFFFFF"/>
          </a:solidFill>
          <a:ln w="19050">
            <a:solidFill>
              <a:srgbClr val="1F3A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554480"/>
            <a:ext cx="3698138" cy="41148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58191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review forums</a:t>
            </a:r>
          </a:p>
        </p:txBody>
      </p:sp>
      <p:sp>
        <p:nvSpPr>
          <p:cNvPr id="11" name="TextBox 10"/>
          <p:cNvSpPr txBox="1"/>
          <p:nvPr/>
        </p:nvSpPr>
        <p:spPr>
          <a:xfrm>
            <a:off x="594360" y="205740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Two-gate structure. Gate 1: weekly triage (30 minutes). Gate 2: monthly Portfolio Committee (90 minutes). Quarterly cross-portfolio Big Room Planning.</a:t>
            </a:r>
          </a:p>
        </p:txBody>
      </p:sp>
      <p:sp>
        <p:nvSpPr>
          <p:cNvPr id="12" name="Rounded Rectangle 11"/>
          <p:cNvSpPr/>
          <p:nvPr/>
        </p:nvSpPr>
        <p:spPr>
          <a:xfrm>
            <a:off x="4246778" y="1554480"/>
            <a:ext cx="3698138" cy="2286000"/>
          </a:xfrm>
          <a:prstGeom prst="roundRect">
            <a:avLst>
              <a:gd name="adj" fmla="val 5000"/>
            </a:avLst>
          </a:prstGeom>
          <a:solidFill>
            <a:srgbClr val="FFFFFF"/>
          </a:solidFill>
          <a:ln w="19050">
            <a:solidFill>
              <a:srgbClr val="1F3A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46778" y="1554480"/>
            <a:ext cx="3698138" cy="41148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38218" y="158191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Decision-making practices</a:t>
            </a:r>
          </a:p>
        </p:txBody>
      </p:sp>
      <p:sp>
        <p:nvSpPr>
          <p:cNvPr id="15" name="TextBox 14"/>
          <p:cNvSpPr txBox="1"/>
          <p:nvPr/>
        </p:nvSpPr>
        <p:spPr>
          <a:xfrm>
            <a:off x="4383938" y="205740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Four explicit outcomes: Accept · Send-back · Reject · Redirect. Every decision audit-logged with reason. No silent overrides.</a:t>
            </a:r>
          </a:p>
        </p:txBody>
      </p:sp>
      <p:sp>
        <p:nvSpPr>
          <p:cNvPr id="16" name="Rounded Rectangle 15"/>
          <p:cNvSpPr/>
          <p:nvPr/>
        </p:nvSpPr>
        <p:spPr>
          <a:xfrm>
            <a:off x="8036356" y="1554480"/>
            <a:ext cx="3698138" cy="2286000"/>
          </a:xfrm>
          <a:prstGeom prst="roundRect">
            <a:avLst>
              <a:gd name="adj" fmla="val 5000"/>
            </a:avLst>
          </a:prstGeom>
          <a:solidFill>
            <a:srgbClr val="FFFFFF"/>
          </a:solidFill>
          <a:ln w="19050">
            <a:solidFill>
              <a:srgbClr val="1F3A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36356" y="1554480"/>
            <a:ext cx="3698138" cy="41148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27796" y="158191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Escalation mechanisms</a:t>
            </a:r>
          </a:p>
        </p:txBody>
      </p:sp>
      <p:sp>
        <p:nvSpPr>
          <p:cNvPr id="19" name="TextBox 18"/>
          <p:cNvSpPr txBox="1"/>
          <p:nvPr/>
        </p:nvSpPr>
        <p:spPr>
          <a:xfrm>
            <a:off x="8173516" y="205740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Cross-team conflicts resolved at Customer Journey Forum. Cross-portfolio conflicts resolved at VP Portfolio Sync. Every Expedite reviewed at the next Portfolio Committee.</a:t>
            </a:r>
          </a:p>
        </p:txBody>
      </p:sp>
      <p:sp>
        <p:nvSpPr>
          <p:cNvPr id="20" name="Rounded Rectangle 19"/>
          <p:cNvSpPr/>
          <p:nvPr/>
        </p:nvSpPr>
        <p:spPr>
          <a:xfrm>
            <a:off x="457200" y="3931920"/>
            <a:ext cx="3698138" cy="2286000"/>
          </a:xfrm>
          <a:prstGeom prst="roundRect">
            <a:avLst>
              <a:gd name="adj" fmla="val 5000"/>
            </a:avLst>
          </a:prstGeom>
          <a:solidFill>
            <a:srgbClr val="FFFFFF"/>
          </a:solidFill>
          <a:ln w="19050">
            <a:solidFill>
              <a:srgbClr val="1F3A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931920"/>
            <a:ext cx="3698138" cy="41148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95935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Definition of intake guidelines</a:t>
            </a:r>
          </a:p>
        </p:txBody>
      </p:sp>
      <p:sp>
        <p:nvSpPr>
          <p:cNvPr id="23" name="TextBox 22"/>
          <p:cNvSpPr txBox="1"/>
          <p:nvPr/>
        </p:nvSpPr>
        <p:spPr>
          <a:xfrm>
            <a:off x="594360" y="443484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Single source of truth for the Definition of Ready template, Class of Service taxonomy, and capacity caps. Reviewed every six months by the Demand Council.</a:t>
            </a:r>
          </a:p>
        </p:txBody>
      </p:sp>
      <p:sp>
        <p:nvSpPr>
          <p:cNvPr id="24" name="Rounded Rectangle 23"/>
          <p:cNvSpPr/>
          <p:nvPr/>
        </p:nvSpPr>
        <p:spPr>
          <a:xfrm>
            <a:off x="4246778" y="3931920"/>
            <a:ext cx="3698138" cy="2286000"/>
          </a:xfrm>
          <a:prstGeom prst="roundRect">
            <a:avLst>
              <a:gd name="adj" fmla="val 5000"/>
            </a:avLst>
          </a:prstGeom>
          <a:solidFill>
            <a:srgbClr val="FFFFFF"/>
          </a:solidFill>
          <a:ln w="19050">
            <a:solidFill>
              <a:srgbClr val="1F3A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46778" y="3931920"/>
            <a:ext cx="3698138" cy="41148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38218" y="395935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Alignment with business stakeholders</a:t>
            </a:r>
          </a:p>
        </p:txBody>
      </p:sp>
      <p:sp>
        <p:nvSpPr>
          <p:cNvPr id="27" name="TextBox 26"/>
          <p:cNvSpPr txBox="1"/>
          <p:nvPr/>
        </p:nvSpPr>
        <p:spPr>
          <a:xfrm>
            <a:off x="4383938" y="443484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Quarterly Big Room Planning. Customer Journey Forum per major customer journey. Sponsor sign-off mandatory at intake (business value approval).</a:t>
            </a:r>
          </a:p>
        </p:txBody>
      </p:sp>
      <p:sp>
        <p:nvSpPr>
          <p:cNvPr id="28" name="Rounded Rectangle 27"/>
          <p:cNvSpPr/>
          <p:nvPr/>
        </p:nvSpPr>
        <p:spPr>
          <a:xfrm>
            <a:off x="8036356" y="3931920"/>
            <a:ext cx="3698138" cy="2286000"/>
          </a:xfrm>
          <a:prstGeom prst="roundRect">
            <a:avLst>
              <a:gd name="adj" fmla="val 5000"/>
            </a:avLst>
          </a:prstGeom>
          <a:solidFill>
            <a:srgbClr val="FFFFFF"/>
          </a:solidFill>
          <a:ln w="19050">
            <a:solidFill>
              <a:srgbClr val="1F3A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36356" y="3931920"/>
            <a:ext cx="3698138" cy="41148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27796" y="395935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Oversight of inflow &amp; backlog health</a:t>
            </a:r>
          </a:p>
        </p:txBody>
      </p:sp>
      <p:sp>
        <p:nvSpPr>
          <p:cNvPr id="31" name="TextBox 30"/>
          <p:cNvSpPr txBox="1"/>
          <p:nvPr/>
        </p:nvSpPr>
        <p:spPr>
          <a:xfrm>
            <a:off x="8173516" y="443484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Demand Manager owns the demand dashboard. Aging beyond threshold triggers automatic escalation. Quarterly demand-vs-delivery conversion review.</a:t>
            </a:r>
          </a:p>
        </p:txBody>
      </p:sp>
      <p:sp>
        <p:nvSpPr>
          <p:cNvPr id="32" name="TextBox 31"/>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PERFORMANCE</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HOW SUCCESS IS MEASURED</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ounded Rectangle 5"/>
          <p:cNvSpPr/>
          <p:nvPr/>
        </p:nvSpPr>
        <p:spPr>
          <a:xfrm>
            <a:off x="457200" y="914400"/>
            <a:ext cx="3200400" cy="457200"/>
          </a:xfrm>
          <a:prstGeom prst="roundRect">
            <a:avLst>
              <a:gd name="adj" fmla="val 20000"/>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14400"/>
            <a:ext cx="3200400" cy="457200"/>
          </a:xfrm>
          <a:prstGeom prst="rect">
            <a:avLst/>
          </a:prstGeom>
          <a:noFill/>
        </p:spPr>
        <p:txBody>
          <a:bodyPr wrap="square" lIns="45720" rIns="45720" tIns="18288" bIns="18288" anchor="ctr">
            <a:spAutoFit/>
          </a:bodyPr>
          <a:lstStyle/>
          <a:p>
            <a:pPr algn="ctr"/>
            <a:r>
              <a:rPr sz="1400" b="1" i="0">
                <a:solidFill>
                  <a:srgbClr val="FFFFFF"/>
                </a:solidFill>
                <a:latin typeface="Arial"/>
              </a:rPr>
              <a:t>PERFORMANCE  ·  7 items</a:t>
            </a:r>
          </a:p>
        </p:txBody>
      </p:sp>
      <p:sp>
        <p:nvSpPr>
          <p:cNvPr id="8" name="Rounded Rectangle 7"/>
          <p:cNvSpPr/>
          <p:nvPr/>
        </p:nvSpPr>
        <p:spPr>
          <a:xfrm>
            <a:off x="457200" y="1554480"/>
            <a:ext cx="2750743" cy="2286000"/>
          </a:xfrm>
          <a:prstGeom prst="roundRect">
            <a:avLst>
              <a:gd name="adj" fmla="val 5000"/>
            </a:avLst>
          </a:prstGeom>
          <a:solidFill>
            <a:srgbClr val="FFFFFF"/>
          </a:solidFill>
          <a:ln w="1905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554480"/>
            <a:ext cx="2750743" cy="4114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581912"/>
            <a:ext cx="2567863"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volume &amp; inflow trends</a:t>
            </a:r>
          </a:p>
        </p:txBody>
      </p:sp>
      <p:sp>
        <p:nvSpPr>
          <p:cNvPr id="11" name="TextBox 10"/>
          <p:cNvSpPr txBox="1"/>
          <p:nvPr/>
        </p:nvSpPr>
        <p:spPr>
          <a:xfrm>
            <a:off x="594360" y="2057400"/>
            <a:ext cx="2476423" cy="1691640"/>
          </a:xfrm>
          <a:prstGeom prst="rect">
            <a:avLst/>
          </a:prstGeom>
          <a:noFill/>
        </p:spPr>
        <p:txBody>
          <a:bodyPr wrap="square" lIns="45720" rIns="45720" tIns="18288" bIns="18288" anchor="t">
            <a:spAutoFit/>
          </a:bodyPr>
          <a:lstStyle/>
          <a:p>
            <a:pPr algn="l"/>
            <a:r>
              <a:rPr sz="1000" b="0" i="0">
                <a:solidFill>
                  <a:srgbClr val="2C3E50"/>
                </a:solidFill>
                <a:latin typeface="Arial"/>
              </a:rPr>
              <a:t>Submissions per week, month, quarter. Breakdown by Value Stream, Class of Service, OPCO, and source business area.</a:t>
            </a:r>
          </a:p>
        </p:txBody>
      </p:sp>
      <p:sp>
        <p:nvSpPr>
          <p:cNvPr id="12" name="Rounded Rectangle 11"/>
          <p:cNvSpPr/>
          <p:nvPr/>
        </p:nvSpPr>
        <p:spPr>
          <a:xfrm>
            <a:off x="3299383" y="1554480"/>
            <a:ext cx="2750743" cy="2286000"/>
          </a:xfrm>
          <a:prstGeom prst="roundRect">
            <a:avLst>
              <a:gd name="adj" fmla="val 5000"/>
            </a:avLst>
          </a:prstGeom>
          <a:solidFill>
            <a:srgbClr val="FFFFFF"/>
          </a:solidFill>
          <a:ln w="1905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99383" y="1554480"/>
            <a:ext cx="2750743" cy="4114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90823" y="1581912"/>
            <a:ext cx="2567863"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quality</a:t>
            </a:r>
          </a:p>
        </p:txBody>
      </p:sp>
      <p:sp>
        <p:nvSpPr>
          <p:cNvPr id="15" name="TextBox 14"/>
          <p:cNvSpPr txBox="1"/>
          <p:nvPr/>
        </p:nvSpPr>
        <p:spPr>
          <a:xfrm>
            <a:off x="3436543" y="2057400"/>
            <a:ext cx="2476423" cy="1691640"/>
          </a:xfrm>
          <a:prstGeom prst="rect">
            <a:avLst/>
          </a:prstGeom>
          <a:noFill/>
        </p:spPr>
        <p:txBody>
          <a:bodyPr wrap="square" lIns="45720" rIns="45720" tIns="18288" bIns="18288" anchor="t">
            <a:spAutoFit/>
          </a:bodyPr>
          <a:lstStyle/>
          <a:p>
            <a:pPr algn="l"/>
            <a:r>
              <a:rPr sz="1000" b="0" i="0">
                <a:solidFill>
                  <a:srgbClr val="2C3E50"/>
                </a:solidFill>
                <a:latin typeface="Arial"/>
              </a:rPr>
              <a:t>Definition-of-Ready pass-rate at first submission (target 70% or higher). Re-submission rate per requester. Acceptance criteria quality score.</a:t>
            </a:r>
          </a:p>
        </p:txBody>
      </p:sp>
      <p:sp>
        <p:nvSpPr>
          <p:cNvPr id="16" name="Rounded Rectangle 15"/>
          <p:cNvSpPr/>
          <p:nvPr/>
        </p:nvSpPr>
        <p:spPr>
          <a:xfrm>
            <a:off x="6141567" y="1554480"/>
            <a:ext cx="2750743" cy="2286000"/>
          </a:xfrm>
          <a:prstGeom prst="roundRect">
            <a:avLst>
              <a:gd name="adj" fmla="val 5000"/>
            </a:avLst>
          </a:prstGeom>
          <a:solidFill>
            <a:srgbClr val="FFFFFF"/>
          </a:solidFill>
          <a:ln w="1905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41567" y="1554480"/>
            <a:ext cx="2750743" cy="4114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33007" y="1581912"/>
            <a:ext cx="2567863" cy="365760"/>
          </a:xfrm>
          <a:prstGeom prst="rect">
            <a:avLst/>
          </a:prstGeom>
          <a:noFill/>
        </p:spPr>
        <p:txBody>
          <a:bodyPr wrap="square" lIns="45720" rIns="45720" tIns="18288" bIns="18288" anchor="ctr">
            <a:spAutoFit/>
          </a:bodyPr>
          <a:lstStyle/>
          <a:p>
            <a:pPr algn="l"/>
            <a:r>
              <a:rPr sz="1050" b="1" i="0">
                <a:solidFill>
                  <a:srgbClr val="FFFFFF"/>
                </a:solidFill>
                <a:latin typeface="Arial"/>
              </a:rPr>
              <a:t>Triage lead time</a:t>
            </a:r>
          </a:p>
        </p:txBody>
      </p:sp>
      <p:sp>
        <p:nvSpPr>
          <p:cNvPr id="19" name="TextBox 18"/>
          <p:cNvSpPr txBox="1"/>
          <p:nvPr/>
        </p:nvSpPr>
        <p:spPr>
          <a:xfrm>
            <a:off x="6278727" y="2057400"/>
            <a:ext cx="2476423" cy="1691640"/>
          </a:xfrm>
          <a:prstGeom prst="rect">
            <a:avLst/>
          </a:prstGeom>
          <a:noFill/>
        </p:spPr>
        <p:txBody>
          <a:bodyPr wrap="square" lIns="45720" rIns="45720" tIns="18288" bIns="18288" anchor="t">
            <a:spAutoFit/>
          </a:bodyPr>
          <a:lstStyle/>
          <a:p>
            <a:pPr algn="l"/>
            <a:r>
              <a:rPr sz="1000" b="0" i="0">
                <a:solidFill>
                  <a:srgbClr val="2C3E50"/>
                </a:solidFill>
                <a:latin typeface="Arial"/>
              </a:rPr>
              <a:t>Median time from submission to Gate 1 decision (target 5 business days or less). 90th percentile to surface outliers. Breakdown per Class of Service.</a:t>
            </a:r>
          </a:p>
        </p:txBody>
      </p:sp>
      <p:sp>
        <p:nvSpPr>
          <p:cNvPr id="20" name="Rounded Rectangle 19"/>
          <p:cNvSpPr/>
          <p:nvPr/>
        </p:nvSpPr>
        <p:spPr>
          <a:xfrm>
            <a:off x="8983751" y="1554480"/>
            <a:ext cx="2750743" cy="2286000"/>
          </a:xfrm>
          <a:prstGeom prst="roundRect">
            <a:avLst>
              <a:gd name="adj" fmla="val 5000"/>
            </a:avLst>
          </a:prstGeom>
          <a:solidFill>
            <a:srgbClr val="FFFFFF"/>
          </a:solidFill>
          <a:ln w="1905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83751" y="1554480"/>
            <a:ext cx="2750743" cy="4114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75191" y="1581912"/>
            <a:ext cx="2567863" cy="365760"/>
          </a:xfrm>
          <a:prstGeom prst="rect">
            <a:avLst/>
          </a:prstGeom>
          <a:noFill/>
        </p:spPr>
        <p:txBody>
          <a:bodyPr wrap="square" lIns="45720" rIns="45720" tIns="18288" bIns="18288" anchor="ctr">
            <a:spAutoFit/>
          </a:bodyPr>
          <a:lstStyle/>
          <a:p>
            <a:pPr algn="l"/>
            <a:r>
              <a:rPr sz="1050" b="1" i="0">
                <a:solidFill>
                  <a:srgbClr val="FFFFFF"/>
                </a:solidFill>
                <a:latin typeface="Arial"/>
              </a:rPr>
              <a:t>% via formal channels</a:t>
            </a:r>
          </a:p>
        </p:txBody>
      </p:sp>
      <p:sp>
        <p:nvSpPr>
          <p:cNvPr id="23" name="TextBox 22"/>
          <p:cNvSpPr txBox="1"/>
          <p:nvPr/>
        </p:nvSpPr>
        <p:spPr>
          <a:xfrm>
            <a:off x="9120911" y="2057400"/>
            <a:ext cx="2476423" cy="1691640"/>
          </a:xfrm>
          <a:prstGeom prst="rect">
            <a:avLst/>
          </a:prstGeom>
          <a:noFill/>
        </p:spPr>
        <p:txBody>
          <a:bodyPr wrap="square" lIns="45720" rIns="45720" tIns="18288" bIns="18288" anchor="t">
            <a:spAutoFit/>
          </a:bodyPr>
          <a:lstStyle/>
          <a:p>
            <a:pPr algn="l"/>
            <a:r>
              <a:rPr sz="1000" b="0" i="0">
                <a:solidFill>
                  <a:srgbClr val="2C3E50"/>
                </a:solidFill>
                <a:latin typeface="Arial"/>
              </a:rPr>
              <a:t>Target 90% via single channel by month 6. Decommissioned-channel residuals tracked monthly. Per-business-unit adoption visible.</a:t>
            </a:r>
          </a:p>
        </p:txBody>
      </p:sp>
      <p:sp>
        <p:nvSpPr>
          <p:cNvPr id="24" name="Rounded Rectangle 23"/>
          <p:cNvSpPr/>
          <p:nvPr/>
        </p:nvSpPr>
        <p:spPr>
          <a:xfrm>
            <a:off x="457200" y="3931920"/>
            <a:ext cx="2750743" cy="2286000"/>
          </a:xfrm>
          <a:prstGeom prst="roundRect">
            <a:avLst>
              <a:gd name="adj" fmla="val 5000"/>
            </a:avLst>
          </a:prstGeom>
          <a:solidFill>
            <a:srgbClr val="FFFFFF"/>
          </a:solidFill>
          <a:ln w="1905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3931920"/>
            <a:ext cx="2750743" cy="4114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3959352"/>
            <a:ext cx="2567863" cy="365760"/>
          </a:xfrm>
          <a:prstGeom prst="rect">
            <a:avLst/>
          </a:prstGeom>
          <a:noFill/>
        </p:spPr>
        <p:txBody>
          <a:bodyPr wrap="square" lIns="45720" rIns="45720" tIns="18288" bIns="18288" anchor="ctr">
            <a:spAutoFit/>
          </a:bodyPr>
          <a:lstStyle/>
          <a:p>
            <a:pPr algn="l"/>
            <a:r>
              <a:rPr sz="1050" b="1" i="0">
                <a:solidFill>
                  <a:srgbClr val="FFFFFF"/>
                </a:solidFill>
                <a:latin typeface="Arial"/>
              </a:rPr>
              <a:t>% urgent or bypassed</a:t>
            </a:r>
          </a:p>
        </p:txBody>
      </p:sp>
      <p:sp>
        <p:nvSpPr>
          <p:cNvPr id="27" name="TextBox 26"/>
          <p:cNvSpPr txBox="1"/>
          <p:nvPr/>
        </p:nvSpPr>
        <p:spPr>
          <a:xfrm>
            <a:off x="594360" y="4434840"/>
            <a:ext cx="2476423" cy="1691640"/>
          </a:xfrm>
          <a:prstGeom prst="rect">
            <a:avLst/>
          </a:prstGeom>
          <a:noFill/>
        </p:spPr>
        <p:txBody>
          <a:bodyPr wrap="square" lIns="45720" rIns="45720" tIns="18288" bIns="18288" anchor="t">
            <a:spAutoFit/>
          </a:bodyPr>
          <a:lstStyle/>
          <a:p>
            <a:pPr algn="l"/>
            <a:r>
              <a:rPr sz="1000" b="0" i="0">
                <a:solidFill>
                  <a:srgbClr val="2C3E50"/>
                </a:solidFill>
                <a:latin typeface="Arial"/>
              </a:rPr>
              <a:t>Expedite as percent of total throughput (cap 20%). Regulatory subset tracked. Auto-downgrade rate of unauthorized 'urgent' claims.</a:t>
            </a:r>
          </a:p>
        </p:txBody>
      </p:sp>
      <p:sp>
        <p:nvSpPr>
          <p:cNvPr id="28" name="Rounded Rectangle 27"/>
          <p:cNvSpPr/>
          <p:nvPr/>
        </p:nvSpPr>
        <p:spPr>
          <a:xfrm>
            <a:off x="3299383" y="3931920"/>
            <a:ext cx="2750743" cy="2286000"/>
          </a:xfrm>
          <a:prstGeom prst="roundRect">
            <a:avLst>
              <a:gd name="adj" fmla="val 5000"/>
            </a:avLst>
          </a:prstGeom>
          <a:solidFill>
            <a:srgbClr val="FFFFFF"/>
          </a:solidFill>
          <a:ln w="1905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299383" y="3931920"/>
            <a:ext cx="2750743" cy="4114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90823" y="3959352"/>
            <a:ext cx="2567863" cy="365760"/>
          </a:xfrm>
          <a:prstGeom prst="rect">
            <a:avLst/>
          </a:prstGeom>
          <a:noFill/>
        </p:spPr>
        <p:txBody>
          <a:bodyPr wrap="square" lIns="45720" rIns="45720" tIns="18288" bIns="18288" anchor="ctr">
            <a:spAutoFit/>
          </a:bodyPr>
          <a:lstStyle/>
          <a:p>
            <a:pPr algn="l"/>
            <a:r>
              <a:rPr sz="1050" b="1" i="0">
                <a:solidFill>
                  <a:srgbClr val="FFFFFF"/>
                </a:solidFill>
                <a:latin typeface="Arial"/>
              </a:rPr>
              <a:t>Duplication &amp; overlap</a:t>
            </a:r>
          </a:p>
        </p:txBody>
      </p:sp>
      <p:sp>
        <p:nvSpPr>
          <p:cNvPr id="31" name="TextBox 30"/>
          <p:cNvSpPr txBox="1"/>
          <p:nvPr/>
        </p:nvSpPr>
        <p:spPr>
          <a:xfrm>
            <a:off x="3436543" y="4434840"/>
            <a:ext cx="2476423" cy="1691640"/>
          </a:xfrm>
          <a:prstGeom prst="rect">
            <a:avLst/>
          </a:prstGeom>
          <a:noFill/>
        </p:spPr>
        <p:txBody>
          <a:bodyPr wrap="square" lIns="45720" rIns="45720" tIns="18288" bIns="18288" anchor="t">
            <a:spAutoFit/>
          </a:bodyPr>
          <a:lstStyle/>
          <a:p>
            <a:pPr algn="l"/>
            <a:r>
              <a:rPr sz="1000" b="0" i="0">
                <a:solidFill>
                  <a:srgbClr val="2C3E50"/>
                </a:solidFill>
                <a:latin typeface="Arial"/>
              </a:rPr>
              <a:t>Duplicate-link rate (% submissions matched to existing). Overlap escalations resolved at Portfolio Committee.</a:t>
            </a:r>
          </a:p>
        </p:txBody>
      </p:sp>
      <p:sp>
        <p:nvSpPr>
          <p:cNvPr id="32" name="Rounded Rectangle 31"/>
          <p:cNvSpPr/>
          <p:nvPr/>
        </p:nvSpPr>
        <p:spPr>
          <a:xfrm>
            <a:off x="6141567" y="3931920"/>
            <a:ext cx="2750743" cy="2286000"/>
          </a:xfrm>
          <a:prstGeom prst="roundRect">
            <a:avLst>
              <a:gd name="adj" fmla="val 5000"/>
            </a:avLst>
          </a:prstGeom>
          <a:solidFill>
            <a:srgbClr val="FFFFFF"/>
          </a:solidFill>
          <a:ln w="1905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41567" y="3931920"/>
            <a:ext cx="2750743" cy="4114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33007" y="3959352"/>
            <a:ext cx="2567863" cy="365760"/>
          </a:xfrm>
          <a:prstGeom prst="rect">
            <a:avLst/>
          </a:prstGeom>
          <a:noFill/>
        </p:spPr>
        <p:txBody>
          <a:bodyPr wrap="square" lIns="45720" rIns="45720" tIns="18288" bIns="18288" anchor="ctr">
            <a:spAutoFit/>
          </a:bodyPr>
          <a:lstStyle/>
          <a:p>
            <a:pPr algn="l"/>
            <a:r>
              <a:rPr sz="1050" b="1" i="0">
                <a:solidFill>
                  <a:srgbClr val="FFFFFF"/>
                </a:solidFill>
                <a:latin typeface="Arial"/>
              </a:rPr>
              <a:t>Visibility &amp; traceability</a:t>
            </a:r>
          </a:p>
        </p:txBody>
      </p:sp>
      <p:sp>
        <p:nvSpPr>
          <p:cNvPr id="35" name="TextBox 34"/>
          <p:cNvSpPr txBox="1"/>
          <p:nvPr/>
        </p:nvSpPr>
        <p:spPr>
          <a:xfrm>
            <a:off x="6278727" y="4434840"/>
            <a:ext cx="2476423" cy="1691640"/>
          </a:xfrm>
          <a:prstGeom prst="rect">
            <a:avLst/>
          </a:prstGeom>
          <a:noFill/>
        </p:spPr>
        <p:txBody>
          <a:bodyPr wrap="square" lIns="45720" rIns="45720" tIns="18288" bIns="18288" anchor="t">
            <a:spAutoFit/>
          </a:bodyPr>
          <a:lstStyle/>
          <a:p>
            <a:pPr algn="l"/>
            <a:r>
              <a:rPr sz="1000" b="0" i="0">
                <a:solidFill>
                  <a:srgbClr val="2C3E50"/>
                </a:solidFill>
                <a:latin typeface="Arial"/>
              </a:rPr>
              <a:t>Percent of requesters who can find own submission status (target 100%). Average time to status update. Live per-business-unit portal.</a:t>
            </a:r>
          </a:p>
        </p:txBody>
      </p:sp>
      <p:sp>
        <p:nvSpPr>
          <p:cNvPr id="36" name="TextBox 35"/>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ROLES &amp; RESPONSIBILITIES</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CURRENT PEOPLE AND PROPOSED ROLES</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TextBox 5"/>
          <p:cNvSpPr txBox="1"/>
          <p:nvPr/>
        </p:nvSpPr>
        <p:spPr>
          <a:xfrm>
            <a:off x="457200" y="868680"/>
            <a:ext cx="7315200" cy="274320"/>
          </a:xfrm>
          <a:prstGeom prst="rect">
            <a:avLst/>
          </a:prstGeom>
          <a:noFill/>
        </p:spPr>
        <p:txBody>
          <a:bodyPr wrap="square" lIns="45720" rIns="45720" tIns="18288" bIns="18288" anchor="t">
            <a:spAutoFit/>
          </a:bodyPr>
          <a:lstStyle/>
          <a:p>
            <a:pPr algn="l"/>
            <a:r>
              <a:rPr sz="1200" b="1" i="0">
                <a:solidFill>
                  <a:srgbClr val="0F1C50"/>
                </a:solidFill>
                <a:latin typeface="Arial"/>
              </a:rPr>
              <a:t>EXISTING LEADERSHIP</a:t>
            </a:r>
          </a:p>
        </p:txBody>
      </p:sp>
      <p:sp>
        <p:nvSpPr>
          <p:cNvPr id="7" name="Rounded Rectangle 6"/>
          <p:cNvSpPr/>
          <p:nvPr/>
        </p:nvSpPr>
        <p:spPr>
          <a:xfrm>
            <a:off x="502920" y="1188720"/>
            <a:ext cx="2164019" cy="1783080"/>
          </a:xfrm>
          <a:prstGeom prst="roundRect">
            <a:avLst>
              <a:gd name="adj" fmla="val 4000"/>
            </a:avLst>
          </a:prstGeom>
          <a:solidFill>
            <a:srgbClr val="FFFFFF"/>
          </a:solidFill>
          <a:ln w="25400">
            <a:solidFill>
              <a:srgbClr val="0F1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188720"/>
            <a:ext cx="2164019" cy="45720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23444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Vitor Cruz</a:t>
            </a:r>
          </a:p>
        </p:txBody>
      </p:sp>
      <p:sp>
        <p:nvSpPr>
          <p:cNvPr id="10" name="TextBox 9"/>
          <p:cNvSpPr txBox="1"/>
          <p:nvPr/>
        </p:nvSpPr>
        <p:spPr>
          <a:xfrm>
            <a:off x="594360" y="173736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VP IT Business Solutions</a:t>
            </a:r>
          </a:p>
        </p:txBody>
      </p:sp>
      <p:sp>
        <p:nvSpPr>
          <p:cNvPr id="11" name="TextBox 10"/>
          <p:cNvSpPr txBox="1"/>
          <p:nvPr/>
        </p:nvSpPr>
        <p:spPr>
          <a:xfrm>
            <a:off x="594360" y="2240280"/>
            <a:ext cx="1981139" cy="640080"/>
          </a:xfrm>
          <a:prstGeom prst="rect">
            <a:avLst/>
          </a:prstGeom>
          <a:noFill/>
        </p:spPr>
        <p:txBody>
          <a:bodyPr wrap="square" lIns="45720" rIns="45720" tIns="18288" bIns="18288" anchor="t">
            <a:spAutoFit/>
          </a:bodyPr>
          <a:lstStyle/>
          <a:p>
            <a:pPr algn="ctr"/>
            <a:r>
              <a:rPr sz="950" b="0" i="1">
                <a:solidFill>
                  <a:srgbClr val="95A5A6"/>
                </a:solidFill>
                <a:latin typeface="Arial"/>
              </a:rPr>
              <a:t>Strategy · sponsor · cross-portfolio sync</a:t>
            </a:r>
          </a:p>
        </p:txBody>
      </p:sp>
      <p:sp>
        <p:nvSpPr>
          <p:cNvPr id="12" name="Rounded Rectangle 11"/>
          <p:cNvSpPr/>
          <p:nvPr/>
        </p:nvSpPr>
        <p:spPr>
          <a:xfrm>
            <a:off x="2758379" y="1188720"/>
            <a:ext cx="2164019" cy="1783080"/>
          </a:xfrm>
          <a:prstGeom prst="roundRect">
            <a:avLst>
              <a:gd name="adj" fmla="val 4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58379" y="1188720"/>
            <a:ext cx="2164019" cy="4572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04099" y="123444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Carlos Garbin</a:t>
            </a:r>
          </a:p>
        </p:txBody>
      </p:sp>
      <p:sp>
        <p:nvSpPr>
          <p:cNvPr id="15" name="TextBox 14"/>
          <p:cNvSpPr txBox="1"/>
          <p:nvPr/>
        </p:nvSpPr>
        <p:spPr>
          <a:xfrm>
            <a:off x="2849819" y="173736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Director · IT Business Apps</a:t>
            </a:r>
          </a:p>
        </p:txBody>
      </p:sp>
      <p:sp>
        <p:nvSpPr>
          <p:cNvPr id="16" name="TextBox 15"/>
          <p:cNvSpPr txBox="1"/>
          <p:nvPr/>
        </p:nvSpPr>
        <p:spPr>
          <a:xfrm>
            <a:off x="2849819" y="2240280"/>
            <a:ext cx="1981139" cy="640080"/>
          </a:xfrm>
          <a:prstGeom prst="rect">
            <a:avLst/>
          </a:prstGeom>
          <a:noFill/>
        </p:spPr>
        <p:txBody>
          <a:bodyPr wrap="square" lIns="45720" rIns="45720" tIns="18288" bIns="18288" anchor="t">
            <a:spAutoFit/>
          </a:bodyPr>
          <a:lstStyle/>
          <a:p>
            <a:pPr algn="ctr"/>
            <a:r>
              <a:rPr sz="950" b="0" i="1">
                <a:solidFill>
                  <a:srgbClr val="95A5A6"/>
                </a:solidFill>
                <a:latin typeface="Arial"/>
              </a:rPr>
              <a:t>IT Apps Portfolio Board owner</a:t>
            </a:r>
          </a:p>
        </p:txBody>
      </p:sp>
      <p:sp>
        <p:nvSpPr>
          <p:cNvPr id="17" name="Rounded Rectangle 16"/>
          <p:cNvSpPr/>
          <p:nvPr/>
        </p:nvSpPr>
        <p:spPr>
          <a:xfrm>
            <a:off x="5013838" y="1188720"/>
            <a:ext cx="2164019" cy="178308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13838" y="1188720"/>
            <a:ext cx="2164019" cy="4572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59558" y="123444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Kumar Jaladanki</a:t>
            </a:r>
          </a:p>
        </p:txBody>
      </p:sp>
      <p:sp>
        <p:nvSpPr>
          <p:cNvPr id="20" name="TextBox 19"/>
          <p:cNvSpPr txBox="1"/>
          <p:nvPr/>
        </p:nvSpPr>
        <p:spPr>
          <a:xfrm>
            <a:off x="5105278" y="173736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Director · Customer Services Apps</a:t>
            </a:r>
          </a:p>
        </p:txBody>
      </p:sp>
      <p:sp>
        <p:nvSpPr>
          <p:cNvPr id="21" name="TextBox 20"/>
          <p:cNvSpPr txBox="1"/>
          <p:nvPr/>
        </p:nvSpPr>
        <p:spPr>
          <a:xfrm>
            <a:off x="5105278" y="2240280"/>
            <a:ext cx="1981139" cy="640080"/>
          </a:xfrm>
          <a:prstGeom prst="rect">
            <a:avLst/>
          </a:prstGeom>
          <a:noFill/>
        </p:spPr>
        <p:txBody>
          <a:bodyPr wrap="square" lIns="45720" rIns="45720" tIns="18288" bIns="18288" anchor="t">
            <a:spAutoFit/>
          </a:bodyPr>
          <a:lstStyle/>
          <a:p>
            <a:pPr algn="ctr"/>
            <a:r>
              <a:rPr sz="950" b="0" i="1">
                <a:solidFill>
                  <a:srgbClr val="95A5A6"/>
                </a:solidFill>
                <a:latin typeface="Arial"/>
              </a:rPr>
              <a:t>CS Apps Portfolio Board owner</a:t>
            </a:r>
          </a:p>
        </p:txBody>
      </p:sp>
      <p:sp>
        <p:nvSpPr>
          <p:cNvPr id="22" name="Rounded Rectangle 21"/>
          <p:cNvSpPr/>
          <p:nvPr/>
        </p:nvSpPr>
        <p:spPr>
          <a:xfrm>
            <a:off x="7269297" y="1188720"/>
            <a:ext cx="2164019" cy="1783080"/>
          </a:xfrm>
          <a:prstGeom prst="roundRect">
            <a:avLst>
              <a:gd name="adj" fmla="val 4000"/>
            </a:avLst>
          </a:prstGeom>
          <a:solidFill>
            <a:srgbClr val="FFFFFF"/>
          </a:solidFill>
          <a:ln w="2540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69297" y="1188720"/>
            <a:ext cx="2164019" cy="45720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017" y="123444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Heather LaJoie</a:t>
            </a:r>
          </a:p>
        </p:txBody>
      </p:sp>
      <p:sp>
        <p:nvSpPr>
          <p:cNvPr id="25" name="TextBox 24"/>
          <p:cNvSpPr txBox="1"/>
          <p:nvPr/>
        </p:nvSpPr>
        <p:spPr>
          <a:xfrm>
            <a:off x="7360737" y="173736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Director · Product Management</a:t>
            </a:r>
          </a:p>
        </p:txBody>
      </p:sp>
      <p:sp>
        <p:nvSpPr>
          <p:cNvPr id="26" name="TextBox 25"/>
          <p:cNvSpPr txBox="1"/>
          <p:nvPr/>
        </p:nvSpPr>
        <p:spPr>
          <a:xfrm>
            <a:off x="7360737" y="2240280"/>
            <a:ext cx="1981139" cy="640080"/>
          </a:xfrm>
          <a:prstGeom prst="rect">
            <a:avLst/>
          </a:prstGeom>
          <a:noFill/>
        </p:spPr>
        <p:txBody>
          <a:bodyPr wrap="square" lIns="45720" rIns="45720" tIns="18288" bIns="18288" anchor="t">
            <a:spAutoFit/>
          </a:bodyPr>
          <a:lstStyle/>
          <a:p>
            <a:pPr algn="ctr"/>
            <a:r>
              <a:rPr sz="950" b="0" i="1">
                <a:solidFill>
                  <a:srgbClr val="95A5A6"/>
                </a:solidFill>
                <a:latin typeface="Arial"/>
              </a:rPr>
              <a:t>Cross-base prioritization layer</a:t>
            </a:r>
          </a:p>
        </p:txBody>
      </p:sp>
      <p:sp>
        <p:nvSpPr>
          <p:cNvPr id="27" name="Rounded Rectangle 26"/>
          <p:cNvSpPr/>
          <p:nvPr/>
        </p:nvSpPr>
        <p:spPr>
          <a:xfrm>
            <a:off x="9524756" y="1188720"/>
            <a:ext cx="2164019" cy="1783080"/>
          </a:xfrm>
          <a:prstGeom prst="roundRect">
            <a:avLst>
              <a:gd name="adj" fmla="val 4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24756" y="1188720"/>
            <a:ext cx="2164019" cy="457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70476" y="123444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Travis · PMO Lead</a:t>
            </a:r>
          </a:p>
        </p:txBody>
      </p:sp>
      <p:sp>
        <p:nvSpPr>
          <p:cNvPr id="30" name="TextBox 29"/>
          <p:cNvSpPr txBox="1"/>
          <p:nvPr/>
        </p:nvSpPr>
        <p:spPr>
          <a:xfrm>
            <a:off x="9616196" y="173736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Large Projects PDD</a:t>
            </a:r>
          </a:p>
        </p:txBody>
      </p:sp>
      <p:sp>
        <p:nvSpPr>
          <p:cNvPr id="31" name="TextBox 30"/>
          <p:cNvSpPr txBox="1"/>
          <p:nvPr/>
        </p:nvSpPr>
        <p:spPr>
          <a:xfrm>
            <a:off x="9616196" y="2240280"/>
            <a:ext cx="1981139" cy="640080"/>
          </a:xfrm>
          <a:prstGeom prst="rect">
            <a:avLst/>
          </a:prstGeom>
          <a:noFill/>
        </p:spPr>
        <p:txBody>
          <a:bodyPr wrap="square" lIns="45720" rIns="45720" tIns="18288" bIns="18288" anchor="t">
            <a:spAutoFit/>
          </a:bodyPr>
          <a:lstStyle/>
          <a:p>
            <a:pPr algn="ctr"/>
            <a:r>
              <a:rPr sz="950" b="0" i="1">
                <a:solidFill>
                  <a:srgbClr val="95A5A6"/>
                </a:solidFill>
                <a:latin typeface="Arial"/>
              </a:rPr>
              <a:t>Bridge to legacy PDD process</a:t>
            </a:r>
          </a:p>
        </p:txBody>
      </p:sp>
      <p:sp>
        <p:nvSpPr>
          <p:cNvPr id="32" name="TextBox 31"/>
          <p:cNvSpPr txBox="1"/>
          <p:nvPr/>
        </p:nvSpPr>
        <p:spPr>
          <a:xfrm>
            <a:off x="457200" y="3063240"/>
            <a:ext cx="7315200" cy="274320"/>
          </a:xfrm>
          <a:prstGeom prst="rect">
            <a:avLst/>
          </a:prstGeom>
          <a:noFill/>
        </p:spPr>
        <p:txBody>
          <a:bodyPr wrap="square" lIns="45720" rIns="45720" tIns="18288" bIns="18288" anchor="t">
            <a:spAutoFit/>
          </a:bodyPr>
          <a:lstStyle/>
          <a:p>
            <a:pPr algn="l"/>
            <a:r>
              <a:rPr sz="1200" b="1" i="0">
                <a:solidFill>
                  <a:srgbClr val="F9A825"/>
                </a:solidFill>
                <a:latin typeface="Arial"/>
              </a:rPr>
              <a:t>NEW ROLES TO ESTABLISH</a:t>
            </a:r>
          </a:p>
        </p:txBody>
      </p:sp>
      <p:sp>
        <p:nvSpPr>
          <p:cNvPr id="33" name="Rounded Rectangle 32"/>
          <p:cNvSpPr/>
          <p:nvPr/>
        </p:nvSpPr>
        <p:spPr>
          <a:xfrm>
            <a:off x="502920" y="3383280"/>
            <a:ext cx="2164019" cy="178308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 y="3383280"/>
            <a:ext cx="2164019" cy="4572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342900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Product Manager × 8</a:t>
            </a:r>
          </a:p>
        </p:txBody>
      </p:sp>
      <p:sp>
        <p:nvSpPr>
          <p:cNvPr id="36" name="TextBox 35"/>
          <p:cNvSpPr txBox="1"/>
          <p:nvPr/>
        </p:nvSpPr>
        <p:spPr>
          <a:xfrm>
            <a:off x="594360" y="393192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One per Value Stream Team</a:t>
            </a:r>
          </a:p>
        </p:txBody>
      </p:sp>
      <p:sp>
        <p:nvSpPr>
          <p:cNvPr id="37" name="TextBox 36"/>
          <p:cNvSpPr txBox="1"/>
          <p:nvPr/>
        </p:nvSpPr>
        <p:spPr>
          <a:xfrm>
            <a:off x="594360" y="4434840"/>
            <a:ext cx="1981139" cy="640080"/>
          </a:xfrm>
          <a:prstGeom prst="rect">
            <a:avLst/>
          </a:prstGeom>
          <a:noFill/>
        </p:spPr>
        <p:txBody>
          <a:bodyPr wrap="square" lIns="45720" rIns="45720" tIns="18288" bIns="18288" anchor="t">
            <a:spAutoFit/>
          </a:bodyPr>
          <a:lstStyle/>
          <a:p>
            <a:pPr algn="ctr"/>
            <a:r>
              <a:rPr sz="950" b="0" i="1">
                <a:solidFill>
                  <a:srgbClr val="95A5A6"/>
                </a:solidFill>
                <a:latin typeface="Arial"/>
              </a:rPr>
              <a:t>Outcome owner · scoring · backlog priority</a:t>
            </a:r>
          </a:p>
        </p:txBody>
      </p:sp>
      <p:sp>
        <p:nvSpPr>
          <p:cNvPr id="38" name="Rounded Rectangle 37"/>
          <p:cNvSpPr/>
          <p:nvPr/>
        </p:nvSpPr>
        <p:spPr>
          <a:xfrm>
            <a:off x="2758379" y="3383280"/>
            <a:ext cx="2164019" cy="178308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758379" y="3383280"/>
            <a:ext cx="2164019" cy="4572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804099" y="342900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Demand Manager</a:t>
            </a:r>
          </a:p>
        </p:txBody>
      </p:sp>
      <p:sp>
        <p:nvSpPr>
          <p:cNvPr id="41" name="TextBox 40"/>
          <p:cNvSpPr txBox="1"/>
          <p:nvPr/>
        </p:nvSpPr>
        <p:spPr>
          <a:xfrm>
            <a:off x="2849819" y="393192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Cross-team</a:t>
            </a:r>
          </a:p>
        </p:txBody>
      </p:sp>
      <p:sp>
        <p:nvSpPr>
          <p:cNvPr id="42" name="TextBox 41"/>
          <p:cNvSpPr txBox="1"/>
          <p:nvPr/>
        </p:nvSpPr>
        <p:spPr>
          <a:xfrm>
            <a:off x="2849819" y="4434840"/>
            <a:ext cx="1981139" cy="640080"/>
          </a:xfrm>
          <a:prstGeom prst="rect">
            <a:avLst/>
          </a:prstGeom>
          <a:noFill/>
        </p:spPr>
        <p:txBody>
          <a:bodyPr wrap="square" lIns="45720" rIns="45720" tIns="18288" bIns="18288" anchor="t">
            <a:spAutoFit/>
          </a:bodyPr>
          <a:lstStyle/>
          <a:p>
            <a:pPr algn="ctr"/>
            <a:r>
              <a:rPr sz="950" b="0" i="1">
                <a:solidFill>
                  <a:srgbClr val="95A5A6"/>
                </a:solidFill>
                <a:latin typeface="Arial"/>
              </a:rPr>
              <a:t>Audits scoring · intake quality · dashboard</a:t>
            </a:r>
          </a:p>
        </p:txBody>
      </p:sp>
      <p:sp>
        <p:nvSpPr>
          <p:cNvPr id="43" name="Rounded Rectangle 42"/>
          <p:cNvSpPr/>
          <p:nvPr/>
        </p:nvSpPr>
        <p:spPr>
          <a:xfrm>
            <a:off x="5013838" y="3383280"/>
            <a:ext cx="2164019" cy="178308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013838" y="3383280"/>
            <a:ext cx="2164019" cy="4572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59558" y="342900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Portfolio Manager</a:t>
            </a:r>
          </a:p>
        </p:txBody>
      </p:sp>
      <p:sp>
        <p:nvSpPr>
          <p:cNvPr id="46" name="TextBox 45"/>
          <p:cNvSpPr txBox="1"/>
          <p:nvPr/>
        </p:nvSpPr>
        <p:spPr>
          <a:xfrm>
            <a:off x="5105278" y="393192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Cross-portfolio</a:t>
            </a:r>
          </a:p>
        </p:txBody>
      </p:sp>
      <p:sp>
        <p:nvSpPr>
          <p:cNvPr id="47" name="TextBox 46"/>
          <p:cNvSpPr txBox="1"/>
          <p:nvPr/>
        </p:nvSpPr>
        <p:spPr>
          <a:xfrm>
            <a:off x="5105278" y="4434840"/>
            <a:ext cx="1981139" cy="640080"/>
          </a:xfrm>
          <a:prstGeom prst="rect">
            <a:avLst/>
          </a:prstGeom>
          <a:noFill/>
        </p:spPr>
        <p:txBody>
          <a:bodyPr wrap="square" lIns="45720" rIns="45720" tIns="18288" bIns="18288" anchor="t">
            <a:spAutoFit/>
          </a:bodyPr>
          <a:lstStyle/>
          <a:p>
            <a:pPr algn="ctr"/>
            <a:r>
              <a:rPr sz="950" b="0" i="1">
                <a:solidFill>
                  <a:srgbClr val="95A5A6"/>
                </a:solidFill>
                <a:latin typeface="Arial"/>
              </a:rPr>
              <a:t>VP Dashboard · capacity allocation · monthly sync</a:t>
            </a:r>
          </a:p>
        </p:txBody>
      </p:sp>
      <p:sp>
        <p:nvSpPr>
          <p:cNvPr id="48" name="Rounded Rectangle 47"/>
          <p:cNvSpPr/>
          <p:nvPr/>
        </p:nvSpPr>
        <p:spPr>
          <a:xfrm>
            <a:off x="7269297" y="3383280"/>
            <a:ext cx="2164019" cy="178308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269297" y="3383280"/>
            <a:ext cx="2164019" cy="4572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017" y="342900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UX Designer</a:t>
            </a:r>
          </a:p>
        </p:txBody>
      </p:sp>
      <p:sp>
        <p:nvSpPr>
          <p:cNvPr id="51" name="TextBox 50"/>
          <p:cNvSpPr txBox="1"/>
          <p:nvPr/>
        </p:nvSpPr>
        <p:spPr>
          <a:xfrm>
            <a:off x="7360737" y="393192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Cross-team</a:t>
            </a:r>
          </a:p>
        </p:txBody>
      </p:sp>
      <p:sp>
        <p:nvSpPr>
          <p:cNvPr id="52" name="TextBox 51"/>
          <p:cNvSpPr txBox="1"/>
          <p:nvPr/>
        </p:nvSpPr>
        <p:spPr>
          <a:xfrm>
            <a:off x="7360737" y="4434840"/>
            <a:ext cx="1981139" cy="640080"/>
          </a:xfrm>
          <a:prstGeom prst="rect">
            <a:avLst/>
          </a:prstGeom>
          <a:noFill/>
        </p:spPr>
        <p:txBody>
          <a:bodyPr wrap="square" lIns="45720" rIns="45720" tIns="18288" bIns="18288" anchor="t">
            <a:spAutoFit/>
          </a:bodyPr>
          <a:lstStyle/>
          <a:p>
            <a:pPr algn="ctr"/>
            <a:r>
              <a:rPr sz="950" b="0" i="1">
                <a:solidFill>
                  <a:srgbClr val="95A5A6"/>
                </a:solidFill>
                <a:latin typeface="Arial"/>
              </a:rPr>
              <a:t>Customer journey research · usability testing</a:t>
            </a:r>
          </a:p>
        </p:txBody>
      </p:sp>
      <p:sp>
        <p:nvSpPr>
          <p:cNvPr id="53" name="Rounded Rectangle 52"/>
          <p:cNvSpPr/>
          <p:nvPr/>
        </p:nvSpPr>
        <p:spPr>
          <a:xfrm>
            <a:off x="9524756" y="3383280"/>
            <a:ext cx="2164019" cy="178308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524756" y="3383280"/>
            <a:ext cx="2164019" cy="4572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570476" y="342900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Knowledge Manager</a:t>
            </a:r>
          </a:p>
        </p:txBody>
      </p:sp>
      <p:sp>
        <p:nvSpPr>
          <p:cNvPr id="56" name="TextBox 55"/>
          <p:cNvSpPr txBox="1"/>
          <p:nvPr/>
        </p:nvSpPr>
        <p:spPr>
          <a:xfrm>
            <a:off x="9616196" y="393192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Cross-team</a:t>
            </a:r>
          </a:p>
        </p:txBody>
      </p:sp>
      <p:sp>
        <p:nvSpPr>
          <p:cNvPr id="57" name="TextBox 56"/>
          <p:cNvSpPr txBox="1"/>
          <p:nvPr/>
        </p:nvSpPr>
        <p:spPr>
          <a:xfrm>
            <a:off x="9616196" y="4434840"/>
            <a:ext cx="1981139" cy="640080"/>
          </a:xfrm>
          <a:prstGeom prst="rect">
            <a:avLst/>
          </a:prstGeom>
          <a:noFill/>
        </p:spPr>
        <p:txBody>
          <a:bodyPr wrap="square" lIns="45720" rIns="45720" tIns="18288" bIns="18288" anchor="t">
            <a:spAutoFit/>
          </a:bodyPr>
          <a:lstStyle/>
          <a:p>
            <a:pPr algn="ctr"/>
            <a:r>
              <a:rPr sz="950" b="0" i="1">
                <a:solidFill>
                  <a:srgbClr val="95A5A6"/>
                </a:solidFill>
                <a:latin typeface="Arial"/>
              </a:rPr>
              <a:t>Documentation · onboarding · lessons learned</a:t>
            </a:r>
          </a:p>
        </p:txBody>
      </p:sp>
      <p:sp>
        <p:nvSpPr>
          <p:cNvPr id="58" name="TextBox 57"/>
          <p:cNvSpPr txBox="1"/>
          <p:nvPr/>
        </p:nvSpPr>
        <p:spPr>
          <a:xfrm>
            <a:off x="457200" y="5303520"/>
            <a:ext cx="9144000" cy="274320"/>
          </a:xfrm>
          <a:prstGeom prst="rect">
            <a:avLst/>
          </a:prstGeom>
          <a:noFill/>
        </p:spPr>
        <p:txBody>
          <a:bodyPr wrap="square" lIns="45720" rIns="45720" tIns="18288" bIns="18288" anchor="t">
            <a:spAutoFit/>
          </a:bodyPr>
          <a:lstStyle/>
          <a:p>
            <a:pPr algn="l"/>
            <a:r>
              <a:rPr sz="1200" b="1" i="0">
                <a:solidFill>
                  <a:srgbClr val="2E7D32"/>
                </a:solidFill>
                <a:latin typeface="Arial"/>
              </a:rPr>
              <a:t>AREA CHAMPIONS — candidates to re-skill into Product Manager roles</a:t>
            </a:r>
          </a:p>
        </p:txBody>
      </p:sp>
      <p:sp>
        <p:nvSpPr>
          <p:cNvPr id="59" name="Rounded Rectangle 58"/>
          <p:cNvSpPr/>
          <p:nvPr/>
        </p:nvSpPr>
        <p:spPr>
          <a:xfrm>
            <a:off x="502920" y="5623560"/>
            <a:ext cx="1788109" cy="86868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48640" y="5669280"/>
            <a:ext cx="1696669" cy="777240"/>
          </a:xfrm>
          <a:prstGeom prst="rect">
            <a:avLst/>
          </a:prstGeom>
          <a:noFill/>
        </p:spPr>
        <p:txBody>
          <a:bodyPr wrap="square" lIns="45720" rIns="45720" tIns="18288" bIns="18288" anchor="ctr">
            <a:spAutoFit/>
          </a:bodyPr>
          <a:lstStyle/>
          <a:p>
            <a:pPr algn="ctr"/>
            <a:r>
              <a:rPr sz="1000" b="1" i="0">
                <a:solidFill>
                  <a:srgbClr val="2C3E50"/>
                </a:solidFill>
                <a:latin typeface="Arial"/>
              </a:rPr>
              <a:t>Iram Chowdhury — Smart Metering</a:t>
            </a:r>
          </a:p>
        </p:txBody>
      </p:sp>
      <p:sp>
        <p:nvSpPr>
          <p:cNvPr id="61" name="Rounded Rectangle 60"/>
          <p:cNvSpPr/>
          <p:nvPr/>
        </p:nvSpPr>
        <p:spPr>
          <a:xfrm>
            <a:off x="2382469" y="5623560"/>
            <a:ext cx="1788109" cy="86868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428189" y="5669280"/>
            <a:ext cx="1696669" cy="777240"/>
          </a:xfrm>
          <a:prstGeom prst="rect">
            <a:avLst/>
          </a:prstGeom>
          <a:noFill/>
        </p:spPr>
        <p:txBody>
          <a:bodyPr wrap="square" lIns="45720" rIns="45720" tIns="18288" bIns="18288" anchor="ctr">
            <a:spAutoFit/>
          </a:bodyPr>
          <a:lstStyle/>
          <a:p>
            <a:pPr algn="ctr"/>
            <a:r>
              <a:rPr sz="1000" b="1" i="0">
                <a:solidFill>
                  <a:srgbClr val="2C3E50"/>
                </a:solidFill>
                <a:latin typeface="Arial"/>
              </a:rPr>
              <a:t>Andrew McGibbon — G&amp;E</a:t>
            </a:r>
          </a:p>
        </p:txBody>
      </p:sp>
      <p:sp>
        <p:nvSpPr>
          <p:cNvPr id="63" name="Rounded Rectangle 62"/>
          <p:cNvSpPr/>
          <p:nvPr/>
        </p:nvSpPr>
        <p:spPr>
          <a:xfrm>
            <a:off x="4262018" y="5623560"/>
            <a:ext cx="1788109" cy="86868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307738" y="5669280"/>
            <a:ext cx="1696669" cy="777240"/>
          </a:xfrm>
          <a:prstGeom prst="rect">
            <a:avLst/>
          </a:prstGeom>
          <a:noFill/>
        </p:spPr>
        <p:txBody>
          <a:bodyPr wrap="square" lIns="45720" rIns="45720" tIns="18288" bIns="18288" anchor="ctr">
            <a:spAutoFit/>
          </a:bodyPr>
          <a:lstStyle/>
          <a:p>
            <a:pPr algn="ctr"/>
            <a:r>
              <a:rPr sz="1000" b="1" i="0">
                <a:solidFill>
                  <a:srgbClr val="2C3E50"/>
                </a:solidFill>
                <a:latin typeface="Arial"/>
              </a:rPr>
              <a:t>George Porto — GIS</a:t>
            </a:r>
          </a:p>
        </p:txBody>
      </p:sp>
      <p:sp>
        <p:nvSpPr>
          <p:cNvPr id="65" name="Rounded Rectangle 64"/>
          <p:cNvSpPr/>
          <p:nvPr/>
        </p:nvSpPr>
        <p:spPr>
          <a:xfrm>
            <a:off x="6141567" y="5623560"/>
            <a:ext cx="1788109" cy="86868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187287" y="5669280"/>
            <a:ext cx="1696669" cy="777240"/>
          </a:xfrm>
          <a:prstGeom prst="rect">
            <a:avLst/>
          </a:prstGeom>
          <a:noFill/>
        </p:spPr>
        <p:txBody>
          <a:bodyPr wrap="square" lIns="45720" rIns="45720" tIns="18288" bIns="18288" anchor="ctr">
            <a:spAutoFit/>
          </a:bodyPr>
          <a:lstStyle/>
          <a:p>
            <a:pPr algn="ctr"/>
            <a:r>
              <a:rPr sz="1000" b="1" i="0">
                <a:solidFill>
                  <a:srgbClr val="2C3E50"/>
                </a:solidFill>
                <a:latin typeface="Arial"/>
              </a:rPr>
              <a:t>Michael Dubois — Global SAP</a:t>
            </a:r>
          </a:p>
        </p:txBody>
      </p:sp>
      <p:sp>
        <p:nvSpPr>
          <p:cNvPr id="67" name="Rounded Rectangle 66"/>
          <p:cNvSpPr/>
          <p:nvPr/>
        </p:nvSpPr>
        <p:spPr>
          <a:xfrm>
            <a:off x="8021116" y="5623560"/>
            <a:ext cx="1788109" cy="86868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066836" y="5669280"/>
            <a:ext cx="1696669" cy="777240"/>
          </a:xfrm>
          <a:prstGeom prst="rect">
            <a:avLst/>
          </a:prstGeom>
          <a:noFill/>
        </p:spPr>
        <p:txBody>
          <a:bodyPr wrap="square" lIns="45720" rIns="45720" tIns="18288" bIns="18288" anchor="ctr">
            <a:spAutoFit/>
          </a:bodyPr>
          <a:lstStyle/>
          <a:p>
            <a:pPr algn="ctr"/>
            <a:r>
              <a:rPr sz="1000" b="1" i="0">
                <a:solidFill>
                  <a:srgbClr val="2C3E50"/>
                </a:solidFill>
                <a:latin typeface="Arial"/>
              </a:rPr>
              <a:t>Stephanie — SAP / CS</a:t>
            </a:r>
          </a:p>
        </p:txBody>
      </p:sp>
      <p:sp>
        <p:nvSpPr>
          <p:cNvPr id="69" name="Rounded Rectangle 68"/>
          <p:cNvSpPr/>
          <p:nvPr/>
        </p:nvSpPr>
        <p:spPr>
          <a:xfrm>
            <a:off x="9900665" y="5623560"/>
            <a:ext cx="1788109" cy="86868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946385" y="5669280"/>
            <a:ext cx="1696669" cy="777240"/>
          </a:xfrm>
          <a:prstGeom prst="rect">
            <a:avLst/>
          </a:prstGeom>
          <a:noFill/>
        </p:spPr>
        <p:txBody>
          <a:bodyPr wrap="square" lIns="45720" rIns="45720" tIns="18288" bIns="18288" anchor="ctr">
            <a:spAutoFit/>
          </a:bodyPr>
          <a:lstStyle/>
          <a:p>
            <a:pPr algn="ctr"/>
            <a:r>
              <a:rPr sz="1000" b="1" i="0">
                <a:solidFill>
                  <a:srgbClr val="2C3E50"/>
                </a:solidFill>
                <a:latin typeface="Arial"/>
              </a:rPr>
              <a:t>Amit Patel — Corporate</a:t>
            </a:r>
          </a:p>
        </p:txBody>
      </p:sp>
      <p:sp>
        <p:nvSpPr>
          <p:cNvPr id="71" name="TextBox 70"/>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VALUE STREAM = SQUAD</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TWO-LEVEL WORK MODEL WITH EPIC AS EXCEPTION</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ounded Rectangle 5"/>
          <p:cNvSpPr/>
          <p:nvPr/>
        </p:nvSpPr>
        <p:spPr>
          <a:xfrm>
            <a:off x="457200" y="1005840"/>
            <a:ext cx="11277295" cy="1280160"/>
          </a:xfrm>
          <a:prstGeom prst="roundRect">
            <a:avLst>
              <a:gd name="adj" fmla="val 5000"/>
            </a:avLst>
          </a:prstGeom>
          <a:solidFill>
            <a:srgbClr val="DCE6F5"/>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97280"/>
            <a:ext cx="10911535" cy="292608"/>
          </a:xfrm>
          <a:prstGeom prst="rect">
            <a:avLst/>
          </a:prstGeom>
          <a:noFill/>
        </p:spPr>
        <p:txBody>
          <a:bodyPr wrap="square" lIns="45720" rIns="45720" tIns="18288" bIns="18288" anchor="t">
            <a:spAutoFit/>
          </a:bodyPr>
          <a:lstStyle/>
          <a:p>
            <a:pPr algn="l"/>
            <a:r>
              <a:rPr sz="1200" b="1" i="0">
                <a:solidFill>
                  <a:srgbClr val="0F1C50"/>
                </a:solidFill>
                <a:latin typeface="Arial"/>
              </a:rPr>
              <a:t>VALUE STREAM = SQUAD</a:t>
            </a:r>
          </a:p>
        </p:txBody>
      </p:sp>
      <p:sp>
        <p:nvSpPr>
          <p:cNvPr id="8" name="TextBox 7"/>
          <p:cNvSpPr txBox="1"/>
          <p:nvPr/>
        </p:nvSpPr>
        <p:spPr>
          <a:xfrm>
            <a:off x="640080" y="1389888"/>
            <a:ext cx="10911535" cy="822960"/>
          </a:xfrm>
          <a:prstGeom prst="rect">
            <a:avLst/>
          </a:prstGeom>
          <a:noFill/>
        </p:spPr>
        <p:txBody>
          <a:bodyPr wrap="square" lIns="45720" rIns="45720" tIns="18288" bIns="18288" anchor="t">
            <a:spAutoFit/>
          </a:bodyPr>
          <a:lstStyle/>
          <a:p>
            <a:pPr algn="l"/>
            <a:r>
              <a:rPr sz="1100" b="0" i="1">
                <a:solidFill>
                  <a:srgbClr val="2C3E50"/>
                </a:solidFill>
                <a:latin typeface="Arial"/>
              </a:rPr>
              <a:t>Each Value Stream Crew is a permanent, multi-functional Squad — single-product ownership, stable composition, ≈3–5 Avangrid FTE (Product Manager · Tech Lead · BA · SMEs) plus a vendor extension that does the actual delivery. Eight Value Streams = eight Squads. The Squad owns its product backlog and operates one Team Kanban.</a:t>
            </a:r>
          </a:p>
        </p:txBody>
      </p:sp>
      <p:sp>
        <p:nvSpPr>
          <p:cNvPr id="9" name="Rounded Rectangle 8"/>
          <p:cNvSpPr/>
          <p:nvPr/>
        </p:nvSpPr>
        <p:spPr>
          <a:xfrm>
            <a:off x="457200" y="2468880"/>
            <a:ext cx="5669280" cy="3931920"/>
          </a:xfrm>
          <a:prstGeom prst="roundRect">
            <a:avLst>
              <a:gd name="adj" fmla="val 5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468880"/>
            <a:ext cx="5669280" cy="5029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514600"/>
            <a:ext cx="5669280" cy="411480"/>
          </a:xfrm>
          <a:prstGeom prst="rect">
            <a:avLst/>
          </a:prstGeom>
          <a:noFill/>
        </p:spPr>
        <p:txBody>
          <a:bodyPr wrap="square" lIns="45720" rIns="45720" tIns="18288" bIns="18288" anchor="ctr">
            <a:spAutoFit/>
          </a:bodyPr>
          <a:lstStyle/>
          <a:p>
            <a:pPr algn="ctr"/>
            <a:r>
              <a:rPr sz="1300" b="1" i="0">
                <a:solidFill>
                  <a:srgbClr val="FFFFFF"/>
                </a:solidFill>
                <a:latin typeface="Arial"/>
              </a:rPr>
              <a:t>DEFAULT FLOW  ·  Initiative → Story</a:t>
            </a:r>
          </a:p>
        </p:txBody>
      </p:sp>
      <p:sp>
        <p:nvSpPr>
          <p:cNvPr id="12" name="Rounded Rectangle 11"/>
          <p:cNvSpPr/>
          <p:nvPr/>
        </p:nvSpPr>
        <p:spPr>
          <a:xfrm>
            <a:off x="731520" y="3200400"/>
            <a:ext cx="5120640" cy="914400"/>
          </a:xfrm>
          <a:prstGeom prst="roundRect">
            <a:avLst>
              <a:gd name="adj" fmla="val 5000"/>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273552"/>
            <a:ext cx="4846320" cy="274320"/>
          </a:xfrm>
          <a:prstGeom prst="rect">
            <a:avLst/>
          </a:prstGeom>
          <a:noFill/>
        </p:spPr>
        <p:txBody>
          <a:bodyPr wrap="square" lIns="45720" rIns="45720" tIns="18288" bIns="18288" anchor="t">
            <a:spAutoFit/>
          </a:bodyPr>
          <a:lstStyle/>
          <a:p>
            <a:pPr algn="l"/>
            <a:r>
              <a:rPr sz="1200" b="1" i="0">
                <a:solidFill>
                  <a:srgbClr val="F9A825"/>
                </a:solidFill>
                <a:latin typeface="Arial"/>
              </a:rPr>
              <a:t>INITIATIVE</a:t>
            </a:r>
          </a:p>
        </p:txBody>
      </p:sp>
      <p:sp>
        <p:nvSpPr>
          <p:cNvPr id="14" name="TextBox 13"/>
          <p:cNvSpPr txBox="1"/>
          <p:nvPr/>
        </p:nvSpPr>
        <p:spPr>
          <a:xfrm>
            <a:off x="868680" y="3547872"/>
            <a:ext cx="4846320" cy="502920"/>
          </a:xfrm>
          <a:prstGeom prst="rect">
            <a:avLst/>
          </a:prstGeom>
          <a:noFill/>
        </p:spPr>
        <p:txBody>
          <a:bodyPr wrap="square" lIns="45720" rIns="45720" tIns="18288" bIns="18288" anchor="t">
            <a:spAutoFit/>
          </a:bodyPr>
          <a:lstStyle/>
          <a:p>
            <a:pPr algn="l"/>
            <a:r>
              <a:rPr sz="1000" b="0" i="1">
                <a:solidFill>
                  <a:srgbClr val="FFFFFF"/>
                </a:solidFill>
                <a:latin typeface="Arial"/>
              </a:rPr>
              <a:t>Outcome at portfolio level · sized for ≤ 3 months · sponsor-approved · lives on the Portfolio Board</a:t>
            </a:r>
          </a:p>
        </p:txBody>
      </p:sp>
      <p:sp>
        <p:nvSpPr>
          <p:cNvPr id="15" name="TextBox 14"/>
          <p:cNvSpPr txBox="1"/>
          <p:nvPr/>
        </p:nvSpPr>
        <p:spPr>
          <a:xfrm>
            <a:off x="2926080" y="4160520"/>
            <a:ext cx="548640" cy="365760"/>
          </a:xfrm>
          <a:prstGeom prst="rect">
            <a:avLst/>
          </a:prstGeom>
          <a:noFill/>
        </p:spPr>
        <p:txBody>
          <a:bodyPr wrap="square" lIns="45720" rIns="45720" tIns="18288" bIns="18288" anchor="ctr">
            <a:spAutoFit/>
          </a:bodyPr>
          <a:lstStyle/>
          <a:p>
            <a:pPr algn="ctr"/>
            <a:r>
              <a:rPr sz="2000" b="1" i="0">
                <a:solidFill>
                  <a:srgbClr val="2E7D32"/>
                </a:solidFill>
                <a:latin typeface="Arial"/>
              </a:rPr>
              <a:t>▼</a:t>
            </a:r>
          </a:p>
        </p:txBody>
      </p:sp>
      <p:sp>
        <p:nvSpPr>
          <p:cNvPr id="16" name="Rounded Rectangle 15"/>
          <p:cNvSpPr/>
          <p:nvPr/>
        </p:nvSpPr>
        <p:spPr>
          <a:xfrm>
            <a:off x="731520" y="4572000"/>
            <a:ext cx="1188720" cy="640080"/>
          </a:xfrm>
          <a:prstGeom prst="roundRect">
            <a:avLst>
              <a:gd name="adj" fmla="val 5000"/>
            </a:avLst>
          </a:prstGeom>
          <a:solidFill>
            <a:srgbClr val="E8F1E3"/>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572000"/>
            <a:ext cx="1188720" cy="320040"/>
          </a:xfrm>
          <a:prstGeom prst="rect">
            <a:avLst/>
          </a:prstGeom>
          <a:noFill/>
        </p:spPr>
        <p:txBody>
          <a:bodyPr wrap="square" lIns="45720" rIns="45720" tIns="18288" bIns="18288" anchor="ctr">
            <a:spAutoFit/>
          </a:bodyPr>
          <a:lstStyle/>
          <a:p>
            <a:pPr algn="ctr"/>
            <a:r>
              <a:rPr sz="900" b="1" i="0">
                <a:solidFill>
                  <a:srgbClr val="2E7D32"/>
                </a:solidFill>
                <a:latin typeface="Arial"/>
              </a:rPr>
              <a:t>STORY</a:t>
            </a:r>
          </a:p>
        </p:txBody>
      </p:sp>
      <p:sp>
        <p:nvSpPr>
          <p:cNvPr id="18" name="TextBox 17"/>
          <p:cNvSpPr txBox="1"/>
          <p:nvPr/>
        </p:nvSpPr>
        <p:spPr>
          <a:xfrm>
            <a:off x="731520" y="4864608"/>
            <a:ext cx="1188720" cy="320040"/>
          </a:xfrm>
          <a:prstGeom prst="rect">
            <a:avLst/>
          </a:prstGeom>
          <a:noFill/>
        </p:spPr>
        <p:txBody>
          <a:bodyPr wrap="square" lIns="45720" rIns="45720" tIns="18288" bIns="18288" anchor="ctr">
            <a:spAutoFit/>
          </a:bodyPr>
          <a:lstStyle/>
          <a:p>
            <a:pPr algn="ctr"/>
            <a:r>
              <a:rPr sz="1000" b="1" i="0">
                <a:solidFill>
                  <a:srgbClr val="2C3E50"/>
                </a:solidFill>
                <a:latin typeface="Arial"/>
              </a:rPr>
              <a:t>#1</a:t>
            </a:r>
          </a:p>
        </p:txBody>
      </p:sp>
      <p:sp>
        <p:nvSpPr>
          <p:cNvPr id="19" name="Rounded Rectangle 18"/>
          <p:cNvSpPr/>
          <p:nvPr/>
        </p:nvSpPr>
        <p:spPr>
          <a:xfrm>
            <a:off x="2011680" y="4572000"/>
            <a:ext cx="1188720" cy="640080"/>
          </a:xfrm>
          <a:prstGeom prst="roundRect">
            <a:avLst>
              <a:gd name="adj" fmla="val 5000"/>
            </a:avLst>
          </a:prstGeom>
          <a:solidFill>
            <a:srgbClr val="E8F1E3"/>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11680" y="4572000"/>
            <a:ext cx="1188720" cy="320040"/>
          </a:xfrm>
          <a:prstGeom prst="rect">
            <a:avLst/>
          </a:prstGeom>
          <a:noFill/>
        </p:spPr>
        <p:txBody>
          <a:bodyPr wrap="square" lIns="45720" rIns="45720" tIns="18288" bIns="18288" anchor="ctr">
            <a:spAutoFit/>
          </a:bodyPr>
          <a:lstStyle/>
          <a:p>
            <a:pPr algn="ctr"/>
            <a:r>
              <a:rPr sz="900" b="1" i="0">
                <a:solidFill>
                  <a:srgbClr val="2E7D32"/>
                </a:solidFill>
                <a:latin typeface="Arial"/>
              </a:rPr>
              <a:t>STORY</a:t>
            </a:r>
          </a:p>
        </p:txBody>
      </p:sp>
      <p:sp>
        <p:nvSpPr>
          <p:cNvPr id="21" name="TextBox 20"/>
          <p:cNvSpPr txBox="1"/>
          <p:nvPr/>
        </p:nvSpPr>
        <p:spPr>
          <a:xfrm>
            <a:off x="2011680" y="4864608"/>
            <a:ext cx="1188720" cy="320040"/>
          </a:xfrm>
          <a:prstGeom prst="rect">
            <a:avLst/>
          </a:prstGeom>
          <a:noFill/>
        </p:spPr>
        <p:txBody>
          <a:bodyPr wrap="square" lIns="45720" rIns="45720" tIns="18288" bIns="18288" anchor="ctr">
            <a:spAutoFit/>
          </a:bodyPr>
          <a:lstStyle/>
          <a:p>
            <a:pPr algn="ctr"/>
            <a:r>
              <a:rPr sz="1000" b="1" i="0">
                <a:solidFill>
                  <a:srgbClr val="2C3E50"/>
                </a:solidFill>
                <a:latin typeface="Arial"/>
              </a:rPr>
              <a:t>#2</a:t>
            </a:r>
          </a:p>
        </p:txBody>
      </p:sp>
      <p:sp>
        <p:nvSpPr>
          <p:cNvPr id="22" name="Rounded Rectangle 21"/>
          <p:cNvSpPr/>
          <p:nvPr/>
        </p:nvSpPr>
        <p:spPr>
          <a:xfrm>
            <a:off x="3291840" y="4572000"/>
            <a:ext cx="1188720" cy="640080"/>
          </a:xfrm>
          <a:prstGeom prst="roundRect">
            <a:avLst>
              <a:gd name="adj" fmla="val 5000"/>
            </a:avLst>
          </a:prstGeom>
          <a:solidFill>
            <a:srgbClr val="E8F1E3"/>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91840" y="4572000"/>
            <a:ext cx="1188720" cy="320040"/>
          </a:xfrm>
          <a:prstGeom prst="rect">
            <a:avLst/>
          </a:prstGeom>
          <a:noFill/>
        </p:spPr>
        <p:txBody>
          <a:bodyPr wrap="square" lIns="45720" rIns="45720" tIns="18288" bIns="18288" anchor="ctr">
            <a:spAutoFit/>
          </a:bodyPr>
          <a:lstStyle/>
          <a:p>
            <a:pPr algn="ctr"/>
            <a:r>
              <a:rPr sz="900" b="1" i="0">
                <a:solidFill>
                  <a:srgbClr val="2E7D32"/>
                </a:solidFill>
                <a:latin typeface="Arial"/>
              </a:rPr>
              <a:t>STORY</a:t>
            </a:r>
          </a:p>
        </p:txBody>
      </p:sp>
      <p:sp>
        <p:nvSpPr>
          <p:cNvPr id="24" name="TextBox 23"/>
          <p:cNvSpPr txBox="1"/>
          <p:nvPr/>
        </p:nvSpPr>
        <p:spPr>
          <a:xfrm>
            <a:off x="3291840" y="4864608"/>
            <a:ext cx="1188720" cy="320040"/>
          </a:xfrm>
          <a:prstGeom prst="rect">
            <a:avLst/>
          </a:prstGeom>
          <a:noFill/>
        </p:spPr>
        <p:txBody>
          <a:bodyPr wrap="square" lIns="45720" rIns="45720" tIns="18288" bIns="18288" anchor="ctr">
            <a:spAutoFit/>
          </a:bodyPr>
          <a:lstStyle/>
          <a:p>
            <a:pPr algn="ctr"/>
            <a:r>
              <a:rPr sz="1000" b="1" i="0">
                <a:solidFill>
                  <a:srgbClr val="2C3E50"/>
                </a:solidFill>
                <a:latin typeface="Arial"/>
              </a:rPr>
              <a:t>#3</a:t>
            </a:r>
          </a:p>
        </p:txBody>
      </p:sp>
      <p:sp>
        <p:nvSpPr>
          <p:cNvPr id="25" name="Rounded Rectangle 24"/>
          <p:cNvSpPr/>
          <p:nvPr/>
        </p:nvSpPr>
        <p:spPr>
          <a:xfrm>
            <a:off x="4572000" y="4572000"/>
            <a:ext cx="1188720" cy="640080"/>
          </a:xfrm>
          <a:prstGeom prst="roundRect">
            <a:avLst>
              <a:gd name="adj" fmla="val 5000"/>
            </a:avLst>
          </a:prstGeom>
          <a:solidFill>
            <a:srgbClr val="E8F1E3"/>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0" y="4572000"/>
            <a:ext cx="1188720" cy="320040"/>
          </a:xfrm>
          <a:prstGeom prst="rect">
            <a:avLst/>
          </a:prstGeom>
          <a:noFill/>
        </p:spPr>
        <p:txBody>
          <a:bodyPr wrap="square" lIns="45720" rIns="45720" tIns="18288" bIns="18288" anchor="ctr">
            <a:spAutoFit/>
          </a:bodyPr>
          <a:lstStyle/>
          <a:p>
            <a:pPr algn="ctr"/>
            <a:r>
              <a:rPr sz="900" b="1" i="0">
                <a:solidFill>
                  <a:srgbClr val="2E7D32"/>
                </a:solidFill>
                <a:latin typeface="Arial"/>
              </a:rPr>
              <a:t>STORY</a:t>
            </a:r>
          </a:p>
        </p:txBody>
      </p:sp>
      <p:sp>
        <p:nvSpPr>
          <p:cNvPr id="27" name="TextBox 26"/>
          <p:cNvSpPr txBox="1"/>
          <p:nvPr/>
        </p:nvSpPr>
        <p:spPr>
          <a:xfrm>
            <a:off x="4572000" y="4864608"/>
            <a:ext cx="1188720" cy="320040"/>
          </a:xfrm>
          <a:prstGeom prst="rect">
            <a:avLst/>
          </a:prstGeom>
          <a:noFill/>
        </p:spPr>
        <p:txBody>
          <a:bodyPr wrap="square" lIns="45720" rIns="45720" tIns="18288" bIns="18288" anchor="ctr">
            <a:spAutoFit/>
          </a:bodyPr>
          <a:lstStyle/>
          <a:p>
            <a:pPr algn="ctr"/>
            <a:r>
              <a:rPr sz="1000" b="1" i="0">
                <a:solidFill>
                  <a:srgbClr val="2C3E50"/>
                </a:solidFill>
                <a:latin typeface="Arial"/>
              </a:rPr>
              <a:t>#4</a:t>
            </a:r>
          </a:p>
        </p:txBody>
      </p:sp>
      <p:sp>
        <p:nvSpPr>
          <p:cNvPr id="28" name="TextBox 27"/>
          <p:cNvSpPr txBox="1"/>
          <p:nvPr/>
        </p:nvSpPr>
        <p:spPr>
          <a:xfrm>
            <a:off x="731520" y="5349240"/>
            <a:ext cx="5120640" cy="457200"/>
          </a:xfrm>
          <a:prstGeom prst="rect">
            <a:avLst/>
          </a:prstGeom>
          <a:noFill/>
        </p:spPr>
        <p:txBody>
          <a:bodyPr wrap="square" lIns="45720" rIns="45720" tIns="18288" bIns="18288" anchor="t">
            <a:spAutoFit/>
          </a:bodyPr>
          <a:lstStyle/>
          <a:p>
            <a:pPr algn="ctr"/>
            <a:r>
              <a:rPr sz="950" b="0" i="1">
                <a:solidFill>
                  <a:srgbClr val="2C3E50"/>
                </a:solidFill>
                <a:latin typeface="Arial"/>
              </a:rPr>
              <a:t>Stories live on the Team Kanban (the Squad's board) — pulled by capacity, small enough to finish in days/weeks.</a:t>
            </a:r>
          </a:p>
        </p:txBody>
      </p:sp>
      <p:sp>
        <p:nvSpPr>
          <p:cNvPr id="29" name="Rounded Rectangle 28"/>
          <p:cNvSpPr/>
          <p:nvPr/>
        </p:nvSpPr>
        <p:spPr>
          <a:xfrm>
            <a:off x="6263640" y="2468880"/>
            <a:ext cx="5470855" cy="3931920"/>
          </a:xfrm>
          <a:prstGeom prst="roundRect">
            <a:avLst>
              <a:gd name="adj" fmla="val 5000"/>
            </a:avLst>
          </a:prstGeom>
          <a:solidFill>
            <a:srgbClr val="FFFFFF"/>
          </a:solidFill>
          <a:ln w="254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63640" y="2468880"/>
            <a:ext cx="5470855" cy="50292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3640" y="2514600"/>
            <a:ext cx="5470855" cy="411480"/>
          </a:xfrm>
          <a:prstGeom prst="rect">
            <a:avLst/>
          </a:prstGeom>
          <a:noFill/>
        </p:spPr>
        <p:txBody>
          <a:bodyPr wrap="square" lIns="45720" rIns="45720" tIns="18288" bIns="18288" anchor="ctr">
            <a:spAutoFit/>
          </a:bodyPr>
          <a:lstStyle/>
          <a:p>
            <a:pPr algn="ctr"/>
            <a:r>
              <a:rPr sz="1300" b="1" i="0">
                <a:solidFill>
                  <a:srgbClr val="FFFFFF"/>
                </a:solidFill>
                <a:latin typeface="Arial"/>
              </a:rPr>
              <a:t>EXCEPTION  ·  Initiative &gt; 3 months → use Epics</a:t>
            </a:r>
          </a:p>
        </p:txBody>
      </p:sp>
      <p:sp>
        <p:nvSpPr>
          <p:cNvPr id="32" name="Rounded Rectangle 31"/>
          <p:cNvSpPr/>
          <p:nvPr/>
        </p:nvSpPr>
        <p:spPr>
          <a:xfrm>
            <a:off x="6446520" y="3154680"/>
            <a:ext cx="5105095" cy="502920"/>
          </a:xfrm>
          <a:prstGeom prst="roundRect">
            <a:avLst>
              <a:gd name="adj" fmla="val 5000"/>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46520" y="3154680"/>
            <a:ext cx="5105095" cy="502920"/>
          </a:xfrm>
          <a:prstGeom prst="rect">
            <a:avLst/>
          </a:prstGeom>
          <a:noFill/>
        </p:spPr>
        <p:txBody>
          <a:bodyPr wrap="square" lIns="45720" rIns="45720" tIns="18288" bIns="18288" anchor="ctr">
            <a:spAutoFit/>
          </a:bodyPr>
          <a:lstStyle/>
          <a:p>
            <a:pPr algn="ctr"/>
            <a:r>
              <a:rPr sz="1050" b="1" i="0">
                <a:solidFill>
                  <a:srgbClr val="F9A825"/>
                </a:solidFill>
                <a:latin typeface="Arial"/>
              </a:rPr>
              <a:t>INITIATIVE  (large · multi-quarter)</a:t>
            </a:r>
          </a:p>
        </p:txBody>
      </p:sp>
      <p:sp>
        <p:nvSpPr>
          <p:cNvPr id="34" name="TextBox 33"/>
          <p:cNvSpPr txBox="1"/>
          <p:nvPr/>
        </p:nvSpPr>
        <p:spPr>
          <a:xfrm>
            <a:off x="8816187" y="3703320"/>
            <a:ext cx="365760" cy="274320"/>
          </a:xfrm>
          <a:prstGeom prst="rect">
            <a:avLst/>
          </a:prstGeom>
          <a:noFill/>
        </p:spPr>
        <p:txBody>
          <a:bodyPr wrap="square" lIns="45720" rIns="45720" tIns="18288" bIns="18288" anchor="ctr">
            <a:spAutoFit/>
          </a:bodyPr>
          <a:lstStyle/>
          <a:p>
            <a:pPr algn="ctr"/>
            <a:r>
              <a:rPr sz="1600" b="1" i="0">
                <a:solidFill>
                  <a:srgbClr val="E88B2F"/>
                </a:solidFill>
                <a:latin typeface="Arial"/>
              </a:rPr>
              <a:t>▼</a:t>
            </a:r>
          </a:p>
        </p:txBody>
      </p:sp>
      <p:sp>
        <p:nvSpPr>
          <p:cNvPr id="35" name="Rounded Rectangle 34"/>
          <p:cNvSpPr/>
          <p:nvPr/>
        </p:nvSpPr>
        <p:spPr>
          <a:xfrm>
            <a:off x="6446520" y="4023360"/>
            <a:ext cx="1640738" cy="457200"/>
          </a:xfrm>
          <a:prstGeom prst="roundRect">
            <a:avLst>
              <a:gd name="adj" fmla="val 5000"/>
            </a:avLst>
          </a:prstGeom>
          <a:solidFill>
            <a:srgbClr val="FDECD7"/>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46520" y="4023360"/>
            <a:ext cx="1640738" cy="457200"/>
          </a:xfrm>
          <a:prstGeom prst="rect">
            <a:avLst/>
          </a:prstGeom>
          <a:noFill/>
        </p:spPr>
        <p:txBody>
          <a:bodyPr wrap="square" lIns="45720" rIns="45720" tIns="18288" bIns="18288" anchor="ctr">
            <a:spAutoFit/>
          </a:bodyPr>
          <a:lstStyle/>
          <a:p>
            <a:pPr algn="ctr"/>
            <a:r>
              <a:rPr sz="950" b="1" i="0">
                <a:solidFill>
                  <a:srgbClr val="E88B2F"/>
                </a:solidFill>
                <a:latin typeface="Arial"/>
              </a:rPr>
              <a:t>EPIC #1</a:t>
            </a:r>
          </a:p>
        </p:txBody>
      </p:sp>
      <p:sp>
        <p:nvSpPr>
          <p:cNvPr id="37" name="Rounded Rectangle 36"/>
          <p:cNvSpPr/>
          <p:nvPr/>
        </p:nvSpPr>
        <p:spPr>
          <a:xfrm>
            <a:off x="8178698" y="4023360"/>
            <a:ext cx="1640738" cy="457200"/>
          </a:xfrm>
          <a:prstGeom prst="roundRect">
            <a:avLst>
              <a:gd name="adj" fmla="val 5000"/>
            </a:avLst>
          </a:prstGeom>
          <a:solidFill>
            <a:srgbClr val="FDECD7"/>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78698" y="4023360"/>
            <a:ext cx="1640738" cy="457200"/>
          </a:xfrm>
          <a:prstGeom prst="rect">
            <a:avLst/>
          </a:prstGeom>
          <a:noFill/>
        </p:spPr>
        <p:txBody>
          <a:bodyPr wrap="square" lIns="45720" rIns="45720" tIns="18288" bIns="18288" anchor="ctr">
            <a:spAutoFit/>
          </a:bodyPr>
          <a:lstStyle/>
          <a:p>
            <a:pPr algn="ctr"/>
            <a:r>
              <a:rPr sz="950" b="1" i="0">
                <a:solidFill>
                  <a:srgbClr val="E88B2F"/>
                </a:solidFill>
                <a:latin typeface="Arial"/>
              </a:rPr>
              <a:t>EPIC #2</a:t>
            </a:r>
          </a:p>
        </p:txBody>
      </p:sp>
      <p:sp>
        <p:nvSpPr>
          <p:cNvPr id="39" name="Rounded Rectangle 38"/>
          <p:cNvSpPr/>
          <p:nvPr/>
        </p:nvSpPr>
        <p:spPr>
          <a:xfrm>
            <a:off x="9910876" y="4023360"/>
            <a:ext cx="1640738" cy="457200"/>
          </a:xfrm>
          <a:prstGeom prst="roundRect">
            <a:avLst>
              <a:gd name="adj" fmla="val 5000"/>
            </a:avLst>
          </a:prstGeom>
          <a:solidFill>
            <a:srgbClr val="FDECD7"/>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910876" y="4023360"/>
            <a:ext cx="1640738" cy="457200"/>
          </a:xfrm>
          <a:prstGeom prst="rect">
            <a:avLst/>
          </a:prstGeom>
          <a:noFill/>
        </p:spPr>
        <p:txBody>
          <a:bodyPr wrap="square" lIns="45720" rIns="45720" tIns="18288" bIns="18288" anchor="ctr">
            <a:spAutoFit/>
          </a:bodyPr>
          <a:lstStyle/>
          <a:p>
            <a:pPr algn="ctr"/>
            <a:r>
              <a:rPr sz="950" b="1" i="0">
                <a:solidFill>
                  <a:srgbClr val="E88B2F"/>
                </a:solidFill>
                <a:latin typeface="Arial"/>
              </a:rPr>
              <a:t>EPIC #3</a:t>
            </a:r>
          </a:p>
        </p:txBody>
      </p:sp>
      <p:sp>
        <p:nvSpPr>
          <p:cNvPr id="41" name="TextBox 40"/>
          <p:cNvSpPr txBox="1"/>
          <p:nvPr/>
        </p:nvSpPr>
        <p:spPr>
          <a:xfrm>
            <a:off x="8816187" y="4526280"/>
            <a:ext cx="365760" cy="274320"/>
          </a:xfrm>
          <a:prstGeom prst="rect">
            <a:avLst/>
          </a:prstGeom>
          <a:noFill/>
        </p:spPr>
        <p:txBody>
          <a:bodyPr wrap="square" lIns="45720" rIns="45720" tIns="18288" bIns="18288" anchor="ctr">
            <a:spAutoFit/>
          </a:bodyPr>
          <a:lstStyle/>
          <a:p>
            <a:pPr algn="ctr"/>
            <a:r>
              <a:rPr sz="1400" b="1" i="0">
                <a:solidFill>
                  <a:srgbClr val="2E7D32"/>
                </a:solidFill>
                <a:latin typeface="Arial"/>
              </a:rPr>
              <a:t>▼</a:t>
            </a:r>
          </a:p>
        </p:txBody>
      </p:sp>
      <p:sp>
        <p:nvSpPr>
          <p:cNvPr id="42" name="Rounded Rectangle 41"/>
          <p:cNvSpPr/>
          <p:nvPr/>
        </p:nvSpPr>
        <p:spPr>
          <a:xfrm>
            <a:off x="6446520" y="4892040"/>
            <a:ext cx="805129" cy="36576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46520" y="4892040"/>
            <a:ext cx="805129" cy="365760"/>
          </a:xfrm>
          <a:prstGeom prst="rect">
            <a:avLst/>
          </a:prstGeom>
          <a:noFill/>
        </p:spPr>
        <p:txBody>
          <a:bodyPr wrap="square" lIns="45720" rIns="45720" tIns="18288" bIns="18288" anchor="ctr">
            <a:spAutoFit/>
          </a:bodyPr>
          <a:lstStyle/>
          <a:p>
            <a:pPr algn="ctr"/>
            <a:r>
              <a:rPr sz="1000" b="1" i="0">
                <a:solidFill>
                  <a:srgbClr val="2E7D32"/>
                </a:solidFill>
                <a:latin typeface="Arial"/>
              </a:rPr>
              <a:t>S</a:t>
            </a:r>
          </a:p>
        </p:txBody>
      </p:sp>
      <p:sp>
        <p:nvSpPr>
          <p:cNvPr id="44" name="Rounded Rectangle 43"/>
          <p:cNvSpPr/>
          <p:nvPr/>
        </p:nvSpPr>
        <p:spPr>
          <a:xfrm>
            <a:off x="7306513" y="4892040"/>
            <a:ext cx="805129" cy="36576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06513" y="4892040"/>
            <a:ext cx="805129" cy="365760"/>
          </a:xfrm>
          <a:prstGeom prst="rect">
            <a:avLst/>
          </a:prstGeom>
          <a:noFill/>
        </p:spPr>
        <p:txBody>
          <a:bodyPr wrap="square" lIns="45720" rIns="45720" tIns="18288" bIns="18288" anchor="ctr">
            <a:spAutoFit/>
          </a:bodyPr>
          <a:lstStyle/>
          <a:p>
            <a:pPr algn="ctr"/>
            <a:r>
              <a:rPr sz="1000" b="1" i="0">
                <a:solidFill>
                  <a:srgbClr val="2E7D32"/>
                </a:solidFill>
                <a:latin typeface="Arial"/>
              </a:rPr>
              <a:t>S</a:t>
            </a:r>
          </a:p>
        </p:txBody>
      </p:sp>
      <p:sp>
        <p:nvSpPr>
          <p:cNvPr id="46" name="Rounded Rectangle 45"/>
          <p:cNvSpPr/>
          <p:nvPr/>
        </p:nvSpPr>
        <p:spPr>
          <a:xfrm>
            <a:off x="8166506" y="4892040"/>
            <a:ext cx="805129" cy="36576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166506" y="4892040"/>
            <a:ext cx="805129" cy="365760"/>
          </a:xfrm>
          <a:prstGeom prst="rect">
            <a:avLst/>
          </a:prstGeom>
          <a:noFill/>
        </p:spPr>
        <p:txBody>
          <a:bodyPr wrap="square" lIns="45720" rIns="45720" tIns="18288" bIns="18288" anchor="ctr">
            <a:spAutoFit/>
          </a:bodyPr>
          <a:lstStyle/>
          <a:p>
            <a:pPr algn="ctr"/>
            <a:r>
              <a:rPr sz="1000" b="1" i="0">
                <a:solidFill>
                  <a:srgbClr val="2E7D32"/>
                </a:solidFill>
                <a:latin typeface="Arial"/>
              </a:rPr>
              <a:t>S</a:t>
            </a:r>
          </a:p>
        </p:txBody>
      </p:sp>
      <p:sp>
        <p:nvSpPr>
          <p:cNvPr id="48" name="Rounded Rectangle 47"/>
          <p:cNvSpPr/>
          <p:nvPr/>
        </p:nvSpPr>
        <p:spPr>
          <a:xfrm>
            <a:off x="9026499" y="4892040"/>
            <a:ext cx="805129" cy="36576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026499" y="4892040"/>
            <a:ext cx="805129" cy="365760"/>
          </a:xfrm>
          <a:prstGeom prst="rect">
            <a:avLst/>
          </a:prstGeom>
          <a:noFill/>
        </p:spPr>
        <p:txBody>
          <a:bodyPr wrap="square" lIns="45720" rIns="45720" tIns="18288" bIns="18288" anchor="ctr">
            <a:spAutoFit/>
          </a:bodyPr>
          <a:lstStyle/>
          <a:p>
            <a:pPr algn="ctr"/>
            <a:r>
              <a:rPr sz="1000" b="1" i="0">
                <a:solidFill>
                  <a:srgbClr val="2E7D32"/>
                </a:solidFill>
                <a:latin typeface="Arial"/>
              </a:rPr>
              <a:t>S</a:t>
            </a:r>
          </a:p>
        </p:txBody>
      </p:sp>
      <p:sp>
        <p:nvSpPr>
          <p:cNvPr id="50" name="Rounded Rectangle 49"/>
          <p:cNvSpPr/>
          <p:nvPr/>
        </p:nvSpPr>
        <p:spPr>
          <a:xfrm>
            <a:off x="9886492" y="4892040"/>
            <a:ext cx="805129" cy="36576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886492" y="4892040"/>
            <a:ext cx="805129" cy="365760"/>
          </a:xfrm>
          <a:prstGeom prst="rect">
            <a:avLst/>
          </a:prstGeom>
          <a:noFill/>
        </p:spPr>
        <p:txBody>
          <a:bodyPr wrap="square" lIns="45720" rIns="45720" tIns="18288" bIns="18288" anchor="ctr">
            <a:spAutoFit/>
          </a:bodyPr>
          <a:lstStyle/>
          <a:p>
            <a:pPr algn="ctr"/>
            <a:r>
              <a:rPr sz="1000" b="1" i="0">
                <a:solidFill>
                  <a:srgbClr val="2E7D32"/>
                </a:solidFill>
                <a:latin typeface="Arial"/>
              </a:rPr>
              <a:t>S</a:t>
            </a:r>
          </a:p>
        </p:txBody>
      </p:sp>
      <p:sp>
        <p:nvSpPr>
          <p:cNvPr id="52" name="Rounded Rectangle 51"/>
          <p:cNvSpPr/>
          <p:nvPr/>
        </p:nvSpPr>
        <p:spPr>
          <a:xfrm>
            <a:off x="10746485" y="4892040"/>
            <a:ext cx="805129" cy="36576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746485" y="4892040"/>
            <a:ext cx="805129" cy="365760"/>
          </a:xfrm>
          <a:prstGeom prst="rect">
            <a:avLst/>
          </a:prstGeom>
          <a:noFill/>
        </p:spPr>
        <p:txBody>
          <a:bodyPr wrap="square" lIns="45720" rIns="45720" tIns="18288" bIns="18288" anchor="ctr">
            <a:spAutoFit/>
          </a:bodyPr>
          <a:lstStyle/>
          <a:p>
            <a:pPr algn="ctr"/>
            <a:r>
              <a:rPr sz="1000" b="1" i="0">
                <a:solidFill>
                  <a:srgbClr val="2E7D32"/>
                </a:solidFill>
                <a:latin typeface="Arial"/>
              </a:rPr>
              <a:t>S</a:t>
            </a:r>
          </a:p>
        </p:txBody>
      </p:sp>
      <p:sp>
        <p:nvSpPr>
          <p:cNvPr id="54" name="TextBox 53"/>
          <p:cNvSpPr txBox="1"/>
          <p:nvPr/>
        </p:nvSpPr>
        <p:spPr>
          <a:xfrm>
            <a:off x="6446520" y="5394960"/>
            <a:ext cx="5105095" cy="640080"/>
          </a:xfrm>
          <a:prstGeom prst="rect">
            <a:avLst/>
          </a:prstGeom>
          <a:noFill/>
        </p:spPr>
        <p:txBody>
          <a:bodyPr wrap="square" lIns="45720" rIns="45720" tIns="18288" bIns="18288" anchor="t">
            <a:spAutoFit/>
          </a:bodyPr>
          <a:lstStyle/>
          <a:p>
            <a:pPr algn="ctr"/>
            <a:r>
              <a:rPr sz="900" b="0" i="1">
                <a:solidFill>
                  <a:srgbClr val="2C3E50"/>
                </a:solidFill>
                <a:latin typeface="Arial"/>
              </a:rPr>
              <a:t>Epics slice an oversized Initiative into deliverable chunks. Stories under each Epic continue to live on the Team Kanban.</a:t>
            </a:r>
          </a:p>
        </p:txBody>
      </p:sp>
      <p:sp>
        <p:nvSpPr>
          <p:cNvPr id="55" name="TextBox 54"/>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STAGE 1 SPECIFICS</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HOW THE FRAMEWORK LANDS DIFFERENTLY IN CS APPS VS IT BUSINESS APPS</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ounded Rectangle 5"/>
          <p:cNvSpPr/>
          <p:nvPr/>
        </p:nvSpPr>
        <p:spPr>
          <a:xfrm>
            <a:off x="457200" y="960120"/>
            <a:ext cx="5547207" cy="411480"/>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60120"/>
            <a:ext cx="5547207" cy="411480"/>
          </a:xfrm>
          <a:prstGeom prst="rect">
            <a:avLst/>
          </a:prstGeom>
          <a:noFill/>
        </p:spPr>
        <p:txBody>
          <a:bodyPr wrap="square" lIns="45720" rIns="45720" tIns="18288" bIns="18288" anchor="ctr">
            <a:spAutoFit/>
          </a:bodyPr>
          <a:lstStyle/>
          <a:p>
            <a:pPr algn="ctr"/>
            <a:r>
              <a:rPr sz="1200" b="1" i="0">
                <a:solidFill>
                  <a:srgbClr val="FFFFFF"/>
                </a:solidFill>
                <a:latin typeface="Arial"/>
              </a:rPr>
              <a:t>CUSTOMER SERVICES APPS  ·  Kumar Jaladanki  ·  3 Value Streams</a:t>
            </a:r>
          </a:p>
        </p:txBody>
      </p:sp>
      <p:sp>
        <p:nvSpPr>
          <p:cNvPr id="8" name="Rounded Rectangle 7"/>
          <p:cNvSpPr/>
          <p:nvPr/>
        </p:nvSpPr>
        <p:spPr>
          <a:xfrm>
            <a:off x="6187287" y="960120"/>
            <a:ext cx="5547207" cy="411480"/>
          </a:xfrm>
          <a:prstGeom prst="roundRect">
            <a:avLst>
              <a:gd name="adj" fmla="val 2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87287" y="960120"/>
            <a:ext cx="5547207" cy="411480"/>
          </a:xfrm>
          <a:prstGeom prst="rect">
            <a:avLst/>
          </a:prstGeom>
          <a:noFill/>
        </p:spPr>
        <p:txBody>
          <a:bodyPr wrap="square" lIns="45720" rIns="45720" tIns="18288" bIns="18288" anchor="ctr">
            <a:spAutoFit/>
          </a:bodyPr>
          <a:lstStyle/>
          <a:p>
            <a:pPr algn="ctr"/>
            <a:r>
              <a:rPr sz="1200" b="1" i="0">
                <a:solidFill>
                  <a:srgbClr val="FFFFFF"/>
                </a:solidFill>
                <a:latin typeface="Arial"/>
              </a:rPr>
              <a:t>IT BUSINESS APPS  ·  Carlos Garbin  ·  5 Value Streams</a:t>
            </a:r>
          </a:p>
        </p:txBody>
      </p:sp>
      <p:sp>
        <p:nvSpPr>
          <p:cNvPr id="10" name="TextBox 9"/>
          <p:cNvSpPr txBox="1"/>
          <p:nvPr/>
        </p:nvSpPr>
        <p:spPr>
          <a:xfrm>
            <a:off x="457200" y="1554480"/>
            <a:ext cx="2194560" cy="886968"/>
          </a:xfrm>
          <a:prstGeom prst="rect">
            <a:avLst/>
          </a:prstGeom>
          <a:noFill/>
        </p:spPr>
        <p:txBody>
          <a:bodyPr wrap="square" lIns="45720" rIns="45720" tIns="18288" bIns="18288" anchor="ctr">
            <a:spAutoFit/>
          </a:bodyPr>
          <a:lstStyle/>
          <a:p>
            <a:pPr algn="l"/>
            <a:r>
              <a:rPr sz="1000" b="1" i="0">
                <a:solidFill>
                  <a:srgbClr val="0F1C50"/>
                </a:solidFill>
                <a:latin typeface="Arial"/>
              </a:rPr>
              <a:t>INTAKE / DEMAND SOURCES</a:t>
            </a:r>
          </a:p>
        </p:txBody>
      </p:sp>
      <p:sp>
        <p:nvSpPr>
          <p:cNvPr id="11" name="Rectangle 10"/>
          <p:cNvSpPr/>
          <p:nvPr/>
        </p:nvSpPr>
        <p:spPr>
          <a:xfrm>
            <a:off x="2697480" y="1581912"/>
            <a:ext cx="45720" cy="832104"/>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88920" y="1554480"/>
            <a:ext cx="4358487" cy="886968"/>
          </a:xfrm>
          <a:prstGeom prst="rect">
            <a:avLst/>
          </a:prstGeom>
          <a:noFill/>
        </p:spPr>
        <p:txBody>
          <a:bodyPr wrap="square" lIns="45720" rIns="45720" tIns="18288" bIns="18288" anchor="ctr">
            <a:spAutoFit/>
          </a:bodyPr>
          <a:lstStyle/>
          <a:p>
            <a:pPr algn="l"/>
            <a:r>
              <a:rPr sz="900" b="0" i="0">
                <a:solidFill>
                  <a:srgbClr val="2C3E50"/>
                </a:solidFill>
                <a:latin typeface="Arial"/>
              </a:rPr>
              <a:t>Customer Operations · OPCO call centers · Marketing · Customer Service GenAI · Heather LaJoie's Product Management.</a:t>
            </a:r>
          </a:p>
        </p:txBody>
      </p:sp>
      <p:sp>
        <p:nvSpPr>
          <p:cNvPr id="13" name="Rectangle 12"/>
          <p:cNvSpPr/>
          <p:nvPr/>
        </p:nvSpPr>
        <p:spPr>
          <a:xfrm>
            <a:off x="7238847" y="1581912"/>
            <a:ext cx="45720" cy="832104"/>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30287" y="1554480"/>
            <a:ext cx="4358487" cy="886968"/>
          </a:xfrm>
          <a:prstGeom prst="rect">
            <a:avLst/>
          </a:prstGeom>
          <a:noFill/>
        </p:spPr>
        <p:txBody>
          <a:bodyPr wrap="square" lIns="45720" rIns="45720" tIns="18288" bIns="18288" anchor="ctr">
            <a:spAutoFit/>
          </a:bodyPr>
          <a:lstStyle/>
          <a:p>
            <a:pPr algn="l"/>
            <a:r>
              <a:rPr sz="900" b="0" i="0">
                <a:solidFill>
                  <a:srgbClr val="2C3E50"/>
                </a:solidFill>
                <a:latin typeface="Arial"/>
              </a:rPr>
              <a:t>G&amp;E Operations · Engineering · Storm Ops · System Operations control room · Iberdrola corporate · regulatory affairs.</a:t>
            </a:r>
          </a:p>
        </p:txBody>
      </p:sp>
      <p:sp>
        <p:nvSpPr>
          <p:cNvPr id="15" name="Rectangle 14"/>
          <p:cNvSpPr/>
          <p:nvPr/>
        </p:nvSpPr>
        <p:spPr>
          <a:xfrm>
            <a:off x="457200" y="2487168"/>
            <a:ext cx="11277295" cy="457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532888"/>
            <a:ext cx="2194560" cy="886968"/>
          </a:xfrm>
          <a:prstGeom prst="rect">
            <a:avLst/>
          </a:prstGeom>
          <a:noFill/>
        </p:spPr>
        <p:txBody>
          <a:bodyPr wrap="square" lIns="45720" rIns="45720" tIns="18288" bIns="18288" anchor="ctr">
            <a:spAutoFit/>
          </a:bodyPr>
          <a:lstStyle/>
          <a:p>
            <a:pPr algn="l"/>
            <a:r>
              <a:rPr sz="1000" b="1" i="0">
                <a:solidFill>
                  <a:srgbClr val="0F1C50"/>
                </a:solidFill>
                <a:latin typeface="Arial"/>
              </a:rPr>
              <a:t>APPLICATIONS</a:t>
            </a:r>
          </a:p>
        </p:txBody>
      </p:sp>
      <p:sp>
        <p:nvSpPr>
          <p:cNvPr id="17" name="Rectangle 16"/>
          <p:cNvSpPr/>
          <p:nvPr/>
        </p:nvSpPr>
        <p:spPr>
          <a:xfrm>
            <a:off x="2697480" y="2560320"/>
            <a:ext cx="45720" cy="832104"/>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88920" y="2532888"/>
            <a:ext cx="4358487" cy="886968"/>
          </a:xfrm>
          <a:prstGeom prst="rect">
            <a:avLst/>
          </a:prstGeom>
          <a:noFill/>
        </p:spPr>
        <p:txBody>
          <a:bodyPr wrap="square" lIns="45720" rIns="45720" tIns="18288" bIns="18288" anchor="ctr">
            <a:spAutoFit/>
          </a:bodyPr>
          <a:lstStyle/>
          <a:p>
            <a:pPr algn="l"/>
            <a:r>
              <a:rPr sz="900" b="0" i="0">
                <a:solidFill>
                  <a:srgbClr val="2C3E50"/>
                </a:solidFill>
                <a:latin typeface="Arial"/>
              </a:rPr>
              <a:t>SAP CRM · IS-U FICA · Smart Metering / Itron · Medallia · IVR · Contact Center.</a:t>
            </a:r>
          </a:p>
        </p:txBody>
      </p:sp>
      <p:sp>
        <p:nvSpPr>
          <p:cNvPr id="19" name="Rectangle 18"/>
          <p:cNvSpPr/>
          <p:nvPr/>
        </p:nvSpPr>
        <p:spPr>
          <a:xfrm>
            <a:off x="7238847" y="2560320"/>
            <a:ext cx="45720" cy="832104"/>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30287" y="2532888"/>
            <a:ext cx="4358487" cy="886968"/>
          </a:xfrm>
          <a:prstGeom prst="rect">
            <a:avLst/>
          </a:prstGeom>
          <a:noFill/>
        </p:spPr>
        <p:txBody>
          <a:bodyPr wrap="square" lIns="45720" rIns="45720" tIns="18288" bIns="18288" anchor="ctr">
            <a:spAutoFit/>
          </a:bodyPr>
          <a:lstStyle/>
          <a:p>
            <a:pPr algn="l"/>
            <a:r>
              <a:rPr sz="900" b="0" i="0">
                <a:solidFill>
                  <a:srgbClr val="2C3E50"/>
                </a:solidFill>
                <a:latin typeface="Arial"/>
              </a:rPr>
              <a:t>GIS (ArcGIS · Smallworld) · OMS · SCADA · EMS · Maintenance (16 apps) · Global SAP.</a:t>
            </a:r>
          </a:p>
        </p:txBody>
      </p:sp>
      <p:sp>
        <p:nvSpPr>
          <p:cNvPr id="21" name="Rectangle 20"/>
          <p:cNvSpPr/>
          <p:nvPr/>
        </p:nvSpPr>
        <p:spPr>
          <a:xfrm>
            <a:off x="457200" y="3465576"/>
            <a:ext cx="11277295" cy="457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3511296"/>
            <a:ext cx="2194560" cy="886968"/>
          </a:xfrm>
          <a:prstGeom prst="rect">
            <a:avLst/>
          </a:prstGeom>
          <a:noFill/>
        </p:spPr>
        <p:txBody>
          <a:bodyPr wrap="square" lIns="45720" rIns="45720" tIns="18288" bIns="18288" anchor="ctr">
            <a:spAutoFit/>
          </a:bodyPr>
          <a:lstStyle/>
          <a:p>
            <a:pPr algn="l"/>
            <a:r>
              <a:rPr sz="1000" b="1" i="0">
                <a:solidFill>
                  <a:srgbClr val="0F1C50"/>
                </a:solidFill>
                <a:latin typeface="Arial"/>
              </a:rPr>
              <a:t>VENDOR EXTENSION</a:t>
            </a:r>
          </a:p>
        </p:txBody>
      </p:sp>
      <p:sp>
        <p:nvSpPr>
          <p:cNvPr id="23" name="Rectangle 22"/>
          <p:cNvSpPr/>
          <p:nvPr/>
        </p:nvSpPr>
        <p:spPr>
          <a:xfrm>
            <a:off x="2697480" y="3538728"/>
            <a:ext cx="45720" cy="832104"/>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88920" y="3511296"/>
            <a:ext cx="4358487" cy="886968"/>
          </a:xfrm>
          <a:prstGeom prst="rect">
            <a:avLst/>
          </a:prstGeom>
          <a:noFill/>
        </p:spPr>
        <p:txBody>
          <a:bodyPr wrap="square" lIns="45720" rIns="45720" tIns="18288" bIns="18288" anchor="ctr">
            <a:spAutoFit/>
          </a:bodyPr>
          <a:lstStyle/>
          <a:p>
            <a:pPr algn="l"/>
            <a:r>
              <a:rPr sz="900" b="0" i="0">
                <a:solidFill>
                  <a:srgbClr val="2C3E50"/>
                </a:solidFill>
                <a:latin typeface="Arial"/>
              </a:rPr>
              <a:t>Lemur-Salesforce (CRM) · Itron / Smart Metering · Accenture (FICA) · IVR partner · Medallia partner.</a:t>
            </a:r>
          </a:p>
        </p:txBody>
      </p:sp>
      <p:sp>
        <p:nvSpPr>
          <p:cNvPr id="25" name="Rectangle 24"/>
          <p:cNvSpPr/>
          <p:nvPr/>
        </p:nvSpPr>
        <p:spPr>
          <a:xfrm>
            <a:off x="7238847" y="3538728"/>
            <a:ext cx="45720" cy="832104"/>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30287" y="3511296"/>
            <a:ext cx="4358487" cy="886968"/>
          </a:xfrm>
          <a:prstGeom prst="rect">
            <a:avLst/>
          </a:prstGeom>
          <a:noFill/>
        </p:spPr>
        <p:txBody>
          <a:bodyPr wrap="square" lIns="45720" rIns="45720" tIns="18288" bIns="18288" anchor="ctr">
            <a:spAutoFit/>
          </a:bodyPr>
          <a:lstStyle/>
          <a:p>
            <a:pPr algn="l"/>
            <a:r>
              <a:rPr sz="900" b="0" i="0">
                <a:solidFill>
                  <a:srgbClr val="2C3E50"/>
                </a:solidFill>
                <a:latin typeface="Arial"/>
              </a:rPr>
              <a:t>HCL (GIS) · Esri partners · GE / Siemens / ABB (SCADA / EMS / OMS) · SWF · Infosys · Iberdrola IT.</a:t>
            </a:r>
          </a:p>
        </p:txBody>
      </p:sp>
      <p:sp>
        <p:nvSpPr>
          <p:cNvPr id="27" name="Rectangle 26"/>
          <p:cNvSpPr/>
          <p:nvPr/>
        </p:nvSpPr>
        <p:spPr>
          <a:xfrm>
            <a:off x="457200" y="4443984"/>
            <a:ext cx="11277295" cy="457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4489704"/>
            <a:ext cx="2194560" cy="886968"/>
          </a:xfrm>
          <a:prstGeom prst="rect">
            <a:avLst/>
          </a:prstGeom>
          <a:noFill/>
        </p:spPr>
        <p:txBody>
          <a:bodyPr wrap="square" lIns="45720" rIns="45720" tIns="18288" bIns="18288" anchor="ctr">
            <a:spAutoFit/>
          </a:bodyPr>
          <a:lstStyle/>
          <a:p>
            <a:pPr algn="l"/>
            <a:r>
              <a:rPr sz="1000" b="1" i="0">
                <a:solidFill>
                  <a:srgbClr val="0F1C50"/>
                </a:solidFill>
                <a:latin typeface="Arial"/>
              </a:rPr>
              <a:t>CLASS-OF-SERVICE MIX  [estimate]</a:t>
            </a:r>
          </a:p>
        </p:txBody>
      </p:sp>
      <p:sp>
        <p:nvSpPr>
          <p:cNvPr id="29" name="Rectangle 28"/>
          <p:cNvSpPr/>
          <p:nvPr/>
        </p:nvSpPr>
        <p:spPr>
          <a:xfrm>
            <a:off x="2697480" y="4517136"/>
            <a:ext cx="45720" cy="832104"/>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88920" y="4489704"/>
            <a:ext cx="4358487" cy="886968"/>
          </a:xfrm>
          <a:prstGeom prst="rect">
            <a:avLst/>
          </a:prstGeom>
          <a:noFill/>
        </p:spPr>
        <p:txBody>
          <a:bodyPr wrap="square" lIns="45720" rIns="45720" tIns="18288" bIns="18288" anchor="ctr">
            <a:spAutoFit/>
          </a:bodyPr>
          <a:lstStyle/>
          <a:p>
            <a:pPr algn="l"/>
            <a:r>
              <a:rPr sz="900" b="0" i="0">
                <a:solidFill>
                  <a:srgbClr val="2C3E50"/>
                </a:solidFill>
                <a:latin typeface="Arial"/>
              </a:rPr>
              <a:t>Standard ~55 % · Expedite ~20 % (customer impact) · Fixed-date ~15 % (rate cases) · Intangible ~10 %.</a:t>
            </a:r>
          </a:p>
        </p:txBody>
      </p:sp>
      <p:sp>
        <p:nvSpPr>
          <p:cNvPr id="31" name="Rectangle 30"/>
          <p:cNvSpPr/>
          <p:nvPr/>
        </p:nvSpPr>
        <p:spPr>
          <a:xfrm>
            <a:off x="7238847" y="4517136"/>
            <a:ext cx="45720" cy="832104"/>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30287" y="4489704"/>
            <a:ext cx="4358487" cy="886968"/>
          </a:xfrm>
          <a:prstGeom prst="rect">
            <a:avLst/>
          </a:prstGeom>
          <a:noFill/>
        </p:spPr>
        <p:txBody>
          <a:bodyPr wrap="square" lIns="45720" rIns="45720" tIns="18288" bIns="18288" anchor="ctr">
            <a:spAutoFit/>
          </a:bodyPr>
          <a:lstStyle/>
          <a:p>
            <a:pPr algn="l"/>
            <a:r>
              <a:rPr sz="900" b="0" i="0">
                <a:solidFill>
                  <a:srgbClr val="2C3E50"/>
                </a:solidFill>
                <a:latin typeface="Arial"/>
              </a:rPr>
              <a:t>Standard ~45 % · Fixed-date ~30 % (regulatory · storm · capital) · Expedite ~15 % · Intangible ~10 %.</a:t>
            </a:r>
          </a:p>
        </p:txBody>
      </p:sp>
      <p:sp>
        <p:nvSpPr>
          <p:cNvPr id="33" name="Rectangle 32"/>
          <p:cNvSpPr/>
          <p:nvPr/>
        </p:nvSpPr>
        <p:spPr>
          <a:xfrm>
            <a:off x="457200" y="5422392"/>
            <a:ext cx="11277295" cy="457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5468112"/>
            <a:ext cx="2194560" cy="886968"/>
          </a:xfrm>
          <a:prstGeom prst="rect">
            <a:avLst/>
          </a:prstGeom>
          <a:noFill/>
        </p:spPr>
        <p:txBody>
          <a:bodyPr wrap="square" lIns="45720" rIns="45720" tIns="18288" bIns="18288" anchor="ctr">
            <a:spAutoFit/>
          </a:bodyPr>
          <a:lstStyle/>
          <a:p>
            <a:pPr algn="l"/>
            <a:r>
              <a:rPr sz="1000" b="1" i="0">
                <a:solidFill>
                  <a:srgbClr val="0F1C50"/>
                </a:solidFill>
                <a:latin typeface="Arial"/>
              </a:rPr>
              <a:t>RUN / GROW / TRANSFORM MIX  [estimate]</a:t>
            </a:r>
          </a:p>
        </p:txBody>
      </p:sp>
      <p:sp>
        <p:nvSpPr>
          <p:cNvPr id="35" name="Rectangle 34"/>
          <p:cNvSpPr/>
          <p:nvPr/>
        </p:nvSpPr>
        <p:spPr>
          <a:xfrm>
            <a:off x="2697480" y="5495544"/>
            <a:ext cx="45720" cy="832104"/>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88920" y="5468112"/>
            <a:ext cx="4358487" cy="886968"/>
          </a:xfrm>
          <a:prstGeom prst="rect">
            <a:avLst/>
          </a:prstGeom>
          <a:noFill/>
        </p:spPr>
        <p:txBody>
          <a:bodyPr wrap="square" lIns="45720" rIns="45720" tIns="18288" bIns="18288" anchor="ctr">
            <a:spAutoFit/>
          </a:bodyPr>
          <a:lstStyle/>
          <a:p>
            <a:pPr algn="l"/>
            <a:r>
              <a:rPr sz="900" b="0" i="0">
                <a:solidFill>
                  <a:srgbClr val="2C3E50"/>
                </a:solidFill>
                <a:latin typeface="Arial"/>
              </a:rPr>
              <a:t>Run ~50 % · Grow ~35 % · Transform ~15 % — customer-experience and digital channel weight Grow.</a:t>
            </a:r>
          </a:p>
        </p:txBody>
      </p:sp>
      <p:sp>
        <p:nvSpPr>
          <p:cNvPr id="37" name="Rectangle 36"/>
          <p:cNvSpPr/>
          <p:nvPr/>
        </p:nvSpPr>
        <p:spPr>
          <a:xfrm>
            <a:off x="7238847" y="5495544"/>
            <a:ext cx="45720" cy="832104"/>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30287" y="5468112"/>
            <a:ext cx="4358487" cy="886968"/>
          </a:xfrm>
          <a:prstGeom prst="rect">
            <a:avLst/>
          </a:prstGeom>
          <a:noFill/>
        </p:spPr>
        <p:txBody>
          <a:bodyPr wrap="square" lIns="45720" rIns="45720" tIns="18288" bIns="18288" anchor="ctr">
            <a:spAutoFit/>
          </a:bodyPr>
          <a:lstStyle/>
          <a:p>
            <a:pPr algn="l"/>
            <a:r>
              <a:rPr sz="900" b="0" i="0">
                <a:solidFill>
                  <a:srgbClr val="2C3E50"/>
                </a:solidFill>
                <a:latin typeface="Arial"/>
              </a:rPr>
              <a:t>Run ~60 % · Grow ~25 % · Transform ~15 % — operational reliability and asset health weight Run.</a:t>
            </a:r>
          </a:p>
        </p:txBody>
      </p:sp>
      <p:sp>
        <p:nvSpPr>
          <p:cNvPr id="39" name="TextBox 38"/>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STAGE 1 INTAKE DETAIL</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CUSTOMER SERVICES APPS</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ounded Rectangle 5"/>
          <p:cNvSpPr/>
          <p:nvPr/>
        </p:nvSpPr>
        <p:spPr>
          <a:xfrm>
            <a:off x="457200" y="960120"/>
            <a:ext cx="11277295" cy="457200"/>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60120"/>
            <a:ext cx="11277295" cy="457200"/>
          </a:xfrm>
          <a:prstGeom prst="rect">
            <a:avLst/>
          </a:prstGeom>
          <a:noFill/>
        </p:spPr>
        <p:txBody>
          <a:bodyPr wrap="square" lIns="45720" rIns="45720" tIns="18288" bIns="18288" anchor="ctr">
            <a:spAutoFit/>
          </a:bodyPr>
          <a:lstStyle/>
          <a:p>
            <a:pPr algn="ctr"/>
            <a:r>
              <a:rPr sz="1200" b="1" i="0">
                <a:solidFill>
                  <a:srgbClr val="FFFFFF"/>
                </a:solidFill>
                <a:latin typeface="Arial"/>
              </a:rPr>
              <a:t>CUSTOMER SERVICES APPS  ·  Kumar Jaladanki  ·  3 Value Streams — M2C-SL · M2C-RO · CCC</a:t>
            </a:r>
          </a:p>
        </p:txBody>
      </p:sp>
      <p:sp>
        <p:nvSpPr>
          <p:cNvPr id="8" name="Rounded Rectangle 7"/>
          <p:cNvSpPr/>
          <p:nvPr/>
        </p:nvSpPr>
        <p:spPr>
          <a:xfrm>
            <a:off x="457200" y="1554480"/>
            <a:ext cx="5570067" cy="2423160"/>
          </a:xfrm>
          <a:prstGeom prst="roundRect">
            <a:avLst>
              <a:gd name="adj" fmla="val 5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554480"/>
            <a:ext cx="5570067" cy="4114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91056"/>
            <a:ext cx="5295747" cy="365760"/>
          </a:xfrm>
          <a:prstGeom prst="rect">
            <a:avLst/>
          </a:prstGeom>
          <a:noFill/>
        </p:spPr>
        <p:txBody>
          <a:bodyPr wrap="square" lIns="45720" rIns="45720" tIns="18288" bIns="18288" anchor="ctr">
            <a:spAutoFit/>
          </a:bodyPr>
          <a:lstStyle/>
          <a:p>
            <a:pPr algn="l"/>
            <a:r>
              <a:rPr sz="1100" b="1" i="0">
                <a:solidFill>
                  <a:srgbClr val="FFFFFF"/>
                </a:solidFill>
                <a:latin typeface="Arial"/>
              </a:rPr>
              <a:t>DEMAND SOURCES — who sends the work</a:t>
            </a:r>
          </a:p>
        </p:txBody>
      </p:sp>
      <p:sp>
        <p:nvSpPr>
          <p:cNvPr id="11" name="TextBox 10"/>
          <p:cNvSpPr txBox="1"/>
          <p:nvPr/>
        </p:nvSpPr>
        <p:spPr>
          <a:xfrm>
            <a:off x="685800" y="2057400"/>
            <a:ext cx="5112867" cy="1783080"/>
          </a:xfrm>
          <a:prstGeom prst="rect">
            <a:avLst/>
          </a:prstGeom>
          <a:noFill/>
        </p:spPr>
        <p:txBody>
          <a:bodyPr wrap="square" lIns="45720" rIns="45720" tIns="36576" bIns="36576">
            <a:spAutoFit/>
          </a:bodyPr>
          <a:lstStyle/>
          <a:p>
            <a:pPr>
              <a:lnSpc>
                <a:spcPct val="135000"/>
              </a:lnSpc>
            </a:pPr>
            <a:r>
              <a:rPr sz="950" b="0">
                <a:solidFill>
                  <a:srgbClr val="2C3E50"/>
                </a:solidFill>
                <a:latin typeface="Arial"/>
              </a:rPr>
              <a:t>•  Customer Operations (Heather LaJoie · Product Management)</a:t>
            </a:r>
          </a:p>
          <a:p>
            <a:pPr>
              <a:lnSpc>
                <a:spcPct val="135000"/>
              </a:lnSpc>
            </a:pPr>
            <a:r>
              <a:rPr sz="950" b="0">
                <a:solidFill>
                  <a:srgbClr val="2C3E50"/>
                </a:solidFill>
                <a:latin typeface="Arial"/>
              </a:rPr>
              <a:t>•  OPCO call centers (UIL · CMP · NY) — escalations and trends</a:t>
            </a:r>
          </a:p>
          <a:p>
            <a:pPr>
              <a:lnSpc>
                <a:spcPct val="135000"/>
              </a:lnSpc>
            </a:pPr>
            <a:r>
              <a:rPr sz="950" b="0">
                <a:solidFill>
                  <a:srgbClr val="2C3E50"/>
                </a:solidFill>
                <a:latin typeface="Arial"/>
              </a:rPr>
              <a:t>•  Marketing &amp; Communications — campaign and digital channel demand</a:t>
            </a:r>
          </a:p>
          <a:p>
            <a:pPr>
              <a:lnSpc>
                <a:spcPct val="135000"/>
              </a:lnSpc>
            </a:pPr>
            <a:r>
              <a:rPr sz="950" b="0">
                <a:solidFill>
                  <a:srgbClr val="2C3E50"/>
                </a:solidFill>
                <a:latin typeface="Arial"/>
              </a:rPr>
              <a:t>•  Customer Service GenAI initiative — pipeline of new use cases</a:t>
            </a:r>
          </a:p>
          <a:p>
            <a:pPr>
              <a:lnSpc>
                <a:spcPct val="135000"/>
              </a:lnSpc>
            </a:pPr>
            <a:r>
              <a:rPr sz="950" b="0">
                <a:solidFill>
                  <a:srgbClr val="2C3E50"/>
                </a:solidFill>
                <a:latin typeface="Arial"/>
              </a:rPr>
              <a:t>•  Smart Metering program — CT · ME · NY rollout drivers</a:t>
            </a:r>
          </a:p>
          <a:p>
            <a:pPr>
              <a:lnSpc>
                <a:spcPct val="135000"/>
              </a:lnSpc>
            </a:pPr>
            <a:r>
              <a:rPr sz="950" b="0">
                <a:solidFill>
                  <a:srgbClr val="2C3E50"/>
                </a:solidFill>
                <a:latin typeface="Arial"/>
              </a:rPr>
              <a:t>•  Regulatory affairs — rate cases · tariff changes · tax updates</a:t>
            </a:r>
          </a:p>
        </p:txBody>
      </p:sp>
      <p:sp>
        <p:nvSpPr>
          <p:cNvPr id="12" name="Rounded Rectangle 11"/>
          <p:cNvSpPr/>
          <p:nvPr/>
        </p:nvSpPr>
        <p:spPr>
          <a:xfrm>
            <a:off x="6164427" y="1554480"/>
            <a:ext cx="5570067" cy="2423160"/>
          </a:xfrm>
          <a:prstGeom prst="roundRect">
            <a:avLst>
              <a:gd name="adj" fmla="val 5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64427" y="1554480"/>
            <a:ext cx="5570067"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1587" y="1591056"/>
            <a:ext cx="5295747" cy="365760"/>
          </a:xfrm>
          <a:prstGeom prst="rect">
            <a:avLst/>
          </a:prstGeom>
          <a:noFill/>
        </p:spPr>
        <p:txBody>
          <a:bodyPr wrap="square" lIns="45720" rIns="45720" tIns="18288" bIns="18288" anchor="ctr">
            <a:spAutoFit/>
          </a:bodyPr>
          <a:lstStyle/>
          <a:p>
            <a:pPr algn="l"/>
            <a:r>
              <a:rPr sz="1100" b="1" i="0">
                <a:solidFill>
                  <a:srgbClr val="FFFFFF"/>
                </a:solidFill>
                <a:latin typeface="Arial"/>
              </a:rPr>
              <a:t>CHANNELS BY TYPE — how it arrives</a:t>
            </a:r>
          </a:p>
        </p:txBody>
      </p:sp>
      <p:sp>
        <p:nvSpPr>
          <p:cNvPr id="15" name="TextBox 14"/>
          <p:cNvSpPr txBox="1"/>
          <p:nvPr/>
        </p:nvSpPr>
        <p:spPr>
          <a:xfrm>
            <a:off x="6393027" y="2057400"/>
            <a:ext cx="5112867" cy="1783080"/>
          </a:xfrm>
          <a:prstGeom prst="rect">
            <a:avLst/>
          </a:prstGeom>
          <a:noFill/>
        </p:spPr>
        <p:txBody>
          <a:bodyPr wrap="square" lIns="45720" rIns="45720" tIns="36576" bIns="36576">
            <a:spAutoFit/>
          </a:bodyPr>
          <a:lstStyle/>
          <a:p>
            <a:pPr>
              <a:lnSpc>
                <a:spcPct val="135000"/>
              </a:lnSpc>
            </a:pPr>
            <a:r>
              <a:rPr sz="950" b="0">
                <a:solidFill>
                  <a:srgbClr val="2C3E50"/>
                </a:solidFill>
                <a:latin typeface="Arial"/>
              </a:rPr>
              <a:t>•  ONE Jira request type per Value Stream (M2C-SL · M2C-RO · CCC)</a:t>
            </a:r>
          </a:p>
          <a:p>
            <a:pPr>
              <a:lnSpc>
                <a:spcPct val="135000"/>
              </a:lnSpc>
            </a:pPr>
            <a:r>
              <a:rPr sz="950" b="0">
                <a:solidFill>
                  <a:srgbClr val="2C3E50"/>
                </a:solidFill>
                <a:latin typeface="Arial"/>
              </a:rPr>
              <a:t>•  Mandatory fields: VS · type · size · CoS · OPCO · sponsor · Pain Score</a:t>
            </a:r>
          </a:p>
          <a:p>
            <a:pPr>
              <a:lnSpc>
                <a:spcPct val="135000"/>
              </a:lnSpc>
            </a:pPr>
            <a:r>
              <a:rPr sz="950" b="0">
                <a:solidFill>
                  <a:srgbClr val="2C3E50"/>
                </a:solidFill>
                <a:latin typeface="Arial"/>
              </a:rPr>
              <a:t>•  IT Now — restricted to CCC / Smart Metering INCIDENTS only</a:t>
            </a:r>
          </a:p>
          <a:p>
            <a:pPr>
              <a:lnSpc>
                <a:spcPct val="135000"/>
              </a:lnSpc>
            </a:pPr>
            <a:r>
              <a:rPr sz="950" b="0">
                <a:solidFill>
                  <a:srgbClr val="2C3E50"/>
                </a:solidFill>
                <a:latin typeface="Arial"/>
              </a:rPr>
              <a:t>•  Email · Teams · Word — DECOMMISSIONED for new demand</a:t>
            </a:r>
          </a:p>
          <a:p>
            <a:pPr>
              <a:lnSpc>
                <a:spcPct val="135000"/>
              </a:lnSpc>
            </a:pPr>
            <a:r>
              <a:rPr sz="950" b="0">
                <a:solidFill>
                  <a:srgbClr val="2C3E50"/>
                </a:solidFill>
                <a:latin typeface="Arial"/>
              </a:rPr>
              <a:t>•  Heather LaJoie's Product Management — feeds CCC backlog directly</a:t>
            </a:r>
          </a:p>
          <a:p>
            <a:pPr>
              <a:lnSpc>
                <a:spcPct val="135000"/>
              </a:lnSpc>
            </a:pPr>
            <a:r>
              <a:rPr sz="950" b="0">
                <a:solidFill>
                  <a:srgbClr val="2C3E50"/>
                </a:solidFill>
                <a:latin typeface="Arial"/>
              </a:rPr>
              <a:t>•  [GAP] confirm whether Marketing demand routes via M2C-RO or CCC</a:t>
            </a:r>
          </a:p>
        </p:txBody>
      </p:sp>
      <p:sp>
        <p:nvSpPr>
          <p:cNvPr id="16" name="Rounded Rectangle 15"/>
          <p:cNvSpPr/>
          <p:nvPr/>
        </p:nvSpPr>
        <p:spPr>
          <a:xfrm>
            <a:off x="457200" y="4114800"/>
            <a:ext cx="5570067" cy="2423160"/>
          </a:xfrm>
          <a:prstGeom prst="roundRect">
            <a:avLst>
              <a:gd name="adj" fmla="val 5000"/>
            </a:avLst>
          </a:prstGeom>
          <a:solidFill>
            <a:srgbClr val="FFFFFF"/>
          </a:solidFill>
          <a:ln w="254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114800"/>
            <a:ext cx="5570067" cy="4114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4151376"/>
            <a:ext cx="5295747" cy="365760"/>
          </a:xfrm>
          <a:prstGeom prst="rect">
            <a:avLst/>
          </a:prstGeom>
          <a:noFill/>
        </p:spPr>
        <p:txBody>
          <a:bodyPr wrap="square" lIns="45720" rIns="45720" tIns="18288" bIns="18288" anchor="ctr">
            <a:spAutoFit/>
          </a:bodyPr>
          <a:lstStyle/>
          <a:p>
            <a:pPr algn="l"/>
            <a:r>
              <a:rPr sz="1100" b="1" i="0">
                <a:solidFill>
                  <a:srgbClr val="FFFFFF"/>
                </a:solidFill>
                <a:latin typeface="Arial"/>
              </a:rPr>
              <a:t>CLASSIFICATION — branch-specific rules</a:t>
            </a:r>
          </a:p>
        </p:txBody>
      </p:sp>
      <p:sp>
        <p:nvSpPr>
          <p:cNvPr id="19" name="TextBox 18"/>
          <p:cNvSpPr txBox="1"/>
          <p:nvPr/>
        </p:nvSpPr>
        <p:spPr>
          <a:xfrm>
            <a:off x="685800" y="4617720"/>
            <a:ext cx="5112867" cy="1783080"/>
          </a:xfrm>
          <a:prstGeom prst="rect">
            <a:avLst/>
          </a:prstGeom>
          <a:noFill/>
        </p:spPr>
        <p:txBody>
          <a:bodyPr wrap="square" lIns="45720" rIns="45720" tIns="36576" bIns="36576">
            <a:spAutoFit/>
          </a:bodyPr>
          <a:lstStyle/>
          <a:p>
            <a:pPr>
              <a:lnSpc>
                <a:spcPct val="135000"/>
              </a:lnSpc>
            </a:pPr>
            <a:r>
              <a:rPr sz="950" b="0">
                <a:solidFill>
                  <a:srgbClr val="2C3E50"/>
                </a:solidFill>
                <a:latin typeface="Arial"/>
              </a:rPr>
              <a:t>•  Run / Grow / Transform — labeled at intake (default ~50 / 35 / 15 %)</a:t>
            </a:r>
          </a:p>
          <a:p>
            <a:pPr>
              <a:lnSpc>
                <a:spcPct val="135000"/>
              </a:lnSpc>
            </a:pPr>
            <a:r>
              <a:rPr sz="950" b="0">
                <a:solidFill>
                  <a:srgbClr val="2C3E50"/>
                </a:solidFill>
                <a:latin typeface="Arial"/>
              </a:rPr>
              <a:t>•  Class of Service — Standard · Expedite (customer-impact) · Fixed-date · Intangible</a:t>
            </a:r>
          </a:p>
          <a:p>
            <a:pPr>
              <a:lnSpc>
                <a:spcPct val="135000"/>
              </a:lnSpc>
            </a:pPr>
            <a:r>
              <a:rPr sz="950" b="0">
                <a:solidFill>
                  <a:srgbClr val="2C3E50"/>
                </a:solidFill>
                <a:latin typeface="Arial"/>
              </a:rPr>
              <a:t>•  Customer impact tier P1–P4 — customer-facing severity drives Expedite</a:t>
            </a:r>
          </a:p>
          <a:p>
            <a:pPr>
              <a:lnSpc>
                <a:spcPct val="135000"/>
              </a:lnSpc>
            </a:pPr>
            <a:r>
              <a:rPr sz="950" b="0">
                <a:solidFill>
                  <a:srgbClr val="2C3E50"/>
                </a:solidFill>
                <a:latin typeface="Arial"/>
              </a:rPr>
              <a:t>•  CSAT-sensitive items flagged separately (Medallia signal)</a:t>
            </a:r>
          </a:p>
          <a:p>
            <a:pPr>
              <a:lnSpc>
                <a:spcPct val="135000"/>
              </a:lnSpc>
            </a:pPr>
            <a:r>
              <a:rPr sz="950" b="0">
                <a:solidFill>
                  <a:srgbClr val="2C3E50"/>
                </a:solidFill>
                <a:latin typeface="Arial"/>
              </a:rPr>
              <a:t>•  Regulatory tariff items always Fixed-date with rate-case calendar lock</a:t>
            </a:r>
          </a:p>
          <a:p>
            <a:pPr>
              <a:lnSpc>
                <a:spcPct val="135000"/>
              </a:lnSpc>
            </a:pPr>
            <a:r>
              <a:rPr sz="950" b="0">
                <a:solidFill>
                  <a:srgbClr val="2C3E50"/>
                </a:solidFill>
                <a:latin typeface="Arial"/>
              </a:rPr>
              <a:t>•  Smart Metering CT / ME mandates — pre-classified as Fixed-date</a:t>
            </a:r>
          </a:p>
        </p:txBody>
      </p:sp>
      <p:sp>
        <p:nvSpPr>
          <p:cNvPr id="20" name="Rounded Rectangle 19"/>
          <p:cNvSpPr/>
          <p:nvPr/>
        </p:nvSpPr>
        <p:spPr>
          <a:xfrm>
            <a:off x="6164427" y="4114800"/>
            <a:ext cx="5570067" cy="2423160"/>
          </a:xfrm>
          <a:prstGeom prst="roundRect">
            <a:avLst>
              <a:gd name="adj" fmla="val 5000"/>
            </a:avLst>
          </a:prstGeom>
          <a:solidFill>
            <a:srgbClr val="FFFFFF"/>
          </a:solidFill>
          <a:ln w="2540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4427" y="4114800"/>
            <a:ext cx="5570067" cy="41148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1587" y="4151376"/>
            <a:ext cx="5295747" cy="365760"/>
          </a:xfrm>
          <a:prstGeom prst="rect">
            <a:avLst/>
          </a:prstGeom>
          <a:noFill/>
        </p:spPr>
        <p:txBody>
          <a:bodyPr wrap="square" lIns="45720" rIns="45720" tIns="18288" bIns="18288" anchor="ctr">
            <a:spAutoFit/>
          </a:bodyPr>
          <a:lstStyle/>
          <a:p>
            <a:pPr algn="l"/>
            <a:r>
              <a:rPr sz="1100" b="1" i="0">
                <a:solidFill>
                  <a:srgbClr val="FFFFFF"/>
                </a:solidFill>
                <a:latin typeface="Arial"/>
              </a:rPr>
              <a:t>PRIORITIZATION — Pain Score weighting</a:t>
            </a:r>
          </a:p>
        </p:txBody>
      </p:sp>
      <p:sp>
        <p:nvSpPr>
          <p:cNvPr id="23" name="TextBox 22"/>
          <p:cNvSpPr txBox="1"/>
          <p:nvPr/>
        </p:nvSpPr>
        <p:spPr>
          <a:xfrm>
            <a:off x="6393027" y="4617720"/>
            <a:ext cx="5112867" cy="1783080"/>
          </a:xfrm>
          <a:prstGeom prst="rect">
            <a:avLst/>
          </a:prstGeom>
          <a:noFill/>
        </p:spPr>
        <p:txBody>
          <a:bodyPr wrap="square" lIns="45720" rIns="45720" tIns="36576" bIns="36576">
            <a:spAutoFit/>
          </a:bodyPr>
          <a:lstStyle/>
          <a:p>
            <a:pPr>
              <a:lnSpc>
                <a:spcPct val="135000"/>
              </a:lnSpc>
            </a:pPr>
            <a:r>
              <a:rPr sz="950" b="0">
                <a:solidFill>
                  <a:srgbClr val="2C3E50"/>
                </a:solidFill>
                <a:latin typeface="Arial"/>
              </a:rPr>
              <a:t>•  Pain Score H(x) = (BV·w₁ + UX·w₂ + Safety·w₃) / Effort</a:t>
            </a:r>
          </a:p>
          <a:p>
            <a:pPr>
              <a:lnSpc>
                <a:spcPct val="135000"/>
              </a:lnSpc>
            </a:pPr>
            <a:r>
              <a:rPr sz="950" b="0">
                <a:solidFill>
                  <a:srgbClr val="2C3E50"/>
                </a:solidFill>
                <a:latin typeface="Arial"/>
              </a:rPr>
              <a:t>•  CS weighting — UX heavy: w₁=0.35 · w₂=0.40 · w₃=0.25  [proposal]</a:t>
            </a:r>
          </a:p>
          <a:p>
            <a:pPr>
              <a:lnSpc>
                <a:spcPct val="135000"/>
              </a:lnSpc>
            </a:pPr>
            <a:r>
              <a:rPr sz="950" b="0">
                <a:solidFill>
                  <a:srgbClr val="2C3E50"/>
                </a:solidFill>
                <a:latin typeface="Arial"/>
              </a:rPr>
              <a:t>•  Sponsor sign-off mandatory at intake (Heather / Marketing / Ops)</a:t>
            </a:r>
          </a:p>
          <a:p>
            <a:pPr>
              <a:lnSpc>
                <a:spcPct val="135000"/>
              </a:lnSpc>
            </a:pPr>
            <a:r>
              <a:rPr sz="950" b="0">
                <a:solidFill>
                  <a:srgbClr val="2C3E50"/>
                </a:solidFill>
                <a:latin typeface="Arial"/>
              </a:rPr>
              <a:t>•  Backlog ranked monthly at Gate 2 by the VS Product Manager</a:t>
            </a:r>
          </a:p>
          <a:p>
            <a:pPr>
              <a:lnSpc>
                <a:spcPct val="135000"/>
              </a:lnSpc>
            </a:pPr>
            <a:r>
              <a:rPr sz="950" b="0">
                <a:solidFill>
                  <a:srgbClr val="2C3E50"/>
                </a:solidFill>
                <a:latin typeface="Arial"/>
              </a:rPr>
              <a:t>•  Cross-VS conflicts (e.g. CRM ↔ Smart Metering) resolved at Customer Journey Forum</a:t>
            </a:r>
          </a:p>
          <a:p>
            <a:pPr>
              <a:lnSpc>
                <a:spcPct val="135000"/>
              </a:lnSpc>
            </a:pPr>
            <a:r>
              <a:rPr sz="950" b="0">
                <a:solidFill>
                  <a:srgbClr val="2C3E50"/>
                </a:solidFill>
                <a:latin typeface="Arial"/>
              </a:rPr>
              <a:t>•  Capacity reserved 10–15 % per quarter for Intangible (tech debt)</a:t>
            </a:r>
          </a:p>
        </p:txBody>
      </p:sp>
      <p:sp>
        <p:nvSpPr>
          <p:cNvPr id="24" name="TextBox 23"/>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STAGE 1 INTAKE DETAIL</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IT BUSINESS APPS</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ounded Rectangle 5"/>
          <p:cNvSpPr/>
          <p:nvPr/>
        </p:nvSpPr>
        <p:spPr>
          <a:xfrm>
            <a:off x="457200" y="960120"/>
            <a:ext cx="11277295" cy="457200"/>
          </a:xfrm>
          <a:prstGeom prst="roundRect">
            <a:avLst>
              <a:gd name="adj" fmla="val 2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60120"/>
            <a:ext cx="11277295" cy="457200"/>
          </a:xfrm>
          <a:prstGeom prst="rect">
            <a:avLst/>
          </a:prstGeom>
          <a:noFill/>
        </p:spPr>
        <p:txBody>
          <a:bodyPr wrap="square" lIns="45720" rIns="45720" tIns="18288" bIns="18288" anchor="ctr">
            <a:spAutoFit/>
          </a:bodyPr>
          <a:lstStyle/>
          <a:p>
            <a:pPr algn="ctr"/>
            <a:r>
              <a:rPr sz="1200" b="1" i="0">
                <a:solidFill>
                  <a:srgbClr val="FFFFFF"/>
                </a:solidFill>
                <a:latin typeface="Arial"/>
              </a:rPr>
              <a:t>IT BUSINESS APPS  ·  Carlos Garbin  ·  5 Value Streams — Field Ops · E&amp;A · NOC · C&amp;R · IBD</a:t>
            </a:r>
          </a:p>
        </p:txBody>
      </p:sp>
      <p:sp>
        <p:nvSpPr>
          <p:cNvPr id="8" name="Rounded Rectangle 7"/>
          <p:cNvSpPr/>
          <p:nvPr/>
        </p:nvSpPr>
        <p:spPr>
          <a:xfrm>
            <a:off x="457200" y="1554480"/>
            <a:ext cx="5570067" cy="2423160"/>
          </a:xfrm>
          <a:prstGeom prst="roundRect">
            <a:avLst>
              <a:gd name="adj" fmla="val 5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554480"/>
            <a:ext cx="5570067"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91056"/>
            <a:ext cx="5295747" cy="365760"/>
          </a:xfrm>
          <a:prstGeom prst="rect">
            <a:avLst/>
          </a:prstGeom>
          <a:noFill/>
        </p:spPr>
        <p:txBody>
          <a:bodyPr wrap="square" lIns="45720" rIns="45720" tIns="18288" bIns="18288" anchor="ctr">
            <a:spAutoFit/>
          </a:bodyPr>
          <a:lstStyle/>
          <a:p>
            <a:pPr algn="l"/>
            <a:r>
              <a:rPr sz="1100" b="1" i="0">
                <a:solidFill>
                  <a:srgbClr val="FFFFFF"/>
                </a:solidFill>
                <a:latin typeface="Arial"/>
              </a:rPr>
              <a:t>DEMAND SOURCES — who sends the work</a:t>
            </a:r>
          </a:p>
        </p:txBody>
      </p:sp>
      <p:sp>
        <p:nvSpPr>
          <p:cNvPr id="11" name="TextBox 10"/>
          <p:cNvSpPr txBox="1"/>
          <p:nvPr/>
        </p:nvSpPr>
        <p:spPr>
          <a:xfrm>
            <a:off x="685800" y="2057400"/>
            <a:ext cx="5112867" cy="1783080"/>
          </a:xfrm>
          <a:prstGeom prst="rect">
            <a:avLst/>
          </a:prstGeom>
          <a:noFill/>
        </p:spPr>
        <p:txBody>
          <a:bodyPr wrap="square" lIns="45720" rIns="45720" tIns="36576" bIns="36576">
            <a:spAutoFit/>
          </a:bodyPr>
          <a:lstStyle/>
          <a:p>
            <a:pPr>
              <a:lnSpc>
                <a:spcPct val="135000"/>
              </a:lnSpc>
            </a:pPr>
            <a:r>
              <a:rPr sz="950" b="0">
                <a:solidFill>
                  <a:srgbClr val="2C3E50"/>
                </a:solidFill>
                <a:latin typeface="Arial"/>
              </a:rPr>
              <a:t>•  Gas &amp; Electric Operations (Bruno Moreto · Andrew McGibbon Champion)</a:t>
            </a:r>
          </a:p>
          <a:p>
            <a:pPr>
              <a:lnSpc>
                <a:spcPct val="135000"/>
              </a:lnSpc>
            </a:pPr>
            <a:r>
              <a:rPr sz="950" b="0">
                <a:solidFill>
                  <a:srgbClr val="2C3E50"/>
                </a:solidFill>
                <a:latin typeface="Arial"/>
              </a:rPr>
              <a:t>•  Engineering · Asset planners · capital project sponsors</a:t>
            </a:r>
          </a:p>
          <a:p>
            <a:pPr>
              <a:lnSpc>
                <a:spcPct val="135000"/>
              </a:lnSpc>
            </a:pPr>
            <a:r>
              <a:rPr sz="950" b="0">
                <a:solidFill>
                  <a:srgbClr val="2C3E50"/>
                </a:solidFill>
                <a:latin typeface="Arial"/>
              </a:rPr>
              <a:t>•  Storm Operations &amp; Emergency Management</a:t>
            </a:r>
          </a:p>
          <a:p>
            <a:pPr>
              <a:lnSpc>
                <a:spcPct val="135000"/>
              </a:lnSpc>
            </a:pPr>
            <a:r>
              <a:rPr sz="950" b="0">
                <a:solidFill>
                  <a:srgbClr val="2C3E50"/>
                </a:solidFill>
                <a:latin typeface="Arial"/>
              </a:rPr>
              <a:t>•  System Operations control room (24/7) — control engineers</a:t>
            </a:r>
          </a:p>
          <a:p>
            <a:pPr>
              <a:lnSpc>
                <a:spcPct val="135000"/>
              </a:lnSpc>
            </a:pPr>
            <a:r>
              <a:rPr sz="950" b="0">
                <a:solidFill>
                  <a:srgbClr val="2C3E50"/>
                </a:solidFill>
                <a:latin typeface="Arial"/>
              </a:rPr>
              <a:t>•  Iberdrola corporate (Bilbao) — Vanessa Colombo intake</a:t>
            </a:r>
          </a:p>
          <a:p>
            <a:pPr>
              <a:lnSpc>
                <a:spcPct val="135000"/>
              </a:lnSpc>
            </a:pPr>
            <a:r>
              <a:rPr sz="950" b="0">
                <a:solidFill>
                  <a:srgbClr val="2C3E50"/>
                </a:solidFill>
                <a:latin typeface="Arial"/>
              </a:rPr>
              <a:t>•  Corporate functions — Finance · HR · Procurement · Legal · Regulatory</a:t>
            </a:r>
          </a:p>
          <a:p>
            <a:pPr>
              <a:lnSpc>
                <a:spcPct val="135000"/>
              </a:lnSpc>
            </a:pPr>
            <a:r>
              <a:rPr sz="950" b="0">
                <a:solidFill>
                  <a:srgbClr val="2C3E50"/>
                </a:solidFill>
                <a:latin typeface="Arial"/>
              </a:rPr>
              <a:t>•  Sarath Garikapati's PJM pool — today distributed, will centralize</a:t>
            </a:r>
          </a:p>
        </p:txBody>
      </p:sp>
      <p:sp>
        <p:nvSpPr>
          <p:cNvPr id="12" name="Rounded Rectangle 11"/>
          <p:cNvSpPr/>
          <p:nvPr/>
        </p:nvSpPr>
        <p:spPr>
          <a:xfrm>
            <a:off x="6164427" y="1554480"/>
            <a:ext cx="5570067" cy="2423160"/>
          </a:xfrm>
          <a:prstGeom prst="roundRect">
            <a:avLst>
              <a:gd name="adj" fmla="val 5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64427" y="1554480"/>
            <a:ext cx="5570067"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1587" y="1591056"/>
            <a:ext cx="5295747" cy="365760"/>
          </a:xfrm>
          <a:prstGeom prst="rect">
            <a:avLst/>
          </a:prstGeom>
          <a:noFill/>
        </p:spPr>
        <p:txBody>
          <a:bodyPr wrap="square" lIns="45720" rIns="45720" tIns="18288" bIns="18288" anchor="ctr">
            <a:spAutoFit/>
          </a:bodyPr>
          <a:lstStyle/>
          <a:p>
            <a:pPr algn="l"/>
            <a:r>
              <a:rPr sz="1100" b="1" i="0">
                <a:solidFill>
                  <a:srgbClr val="FFFFFF"/>
                </a:solidFill>
                <a:latin typeface="Arial"/>
              </a:rPr>
              <a:t>CHANNELS BY TYPE — how it arrives</a:t>
            </a:r>
          </a:p>
        </p:txBody>
      </p:sp>
      <p:sp>
        <p:nvSpPr>
          <p:cNvPr id="15" name="TextBox 14"/>
          <p:cNvSpPr txBox="1"/>
          <p:nvPr/>
        </p:nvSpPr>
        <p:spPr>
          <a:xfrm>
            <a:off x="6393027" y="2057400"/>
            <a:ext cx="5112867" cy="1783080"/>
          </a:xfrm>
          <a:prstGeom prst="rect">
            <a:avLst/>
          </a:prstGeom>
          <a:noFill/>
        </p:spPr>
        <p:txBody>
          <a:bodyPr wrap="square" lIns="45720" rIns="45720" tIns="36576" bIns="36576">
            <a:spAutoFit/>
          </a:bodyPr>
          <a:lstStyle/>
          <a:p>
            <a:pPr>
              <a:lnSpc>
                <a:spcPct val="135000"/>
              </a:lnSpc>
            </a:pPr>
            <a:r>
              <a:rPr sz="950" b="0">
                <a:solidFill>
                  <a:srgbClr val="2C3E50"/>
                </a:solidFill>
                <a:latin typeface="Arial"/>
              </a:rPr>
              <a:t>•  ONE Jira request type per Value Stream (Field Ops · E&amp;A · NOC · C&amp;R · IBD)</a:t>
            </a:r>
          </a:p>
          <a:p>
            <a:pPr>
              <a:lnSpc>
                <a:spcPct val="135000"/>
              </a:lnSpc>
            </a:pPr>
            <a:r>
              <a:rPr sz="950" b="0">
                <a:solidFill>
                  <a:srgbClr val="2C3E50"/>
                </a:solidFill>
                <a:latin typeface="Arial"/>
              </a:rPr>
              <a:t>•  Mandatory fields: VS · type · size · CoS · OPCO · sponsor · Pain Score</a:t>
            </a:r>
          </a:p>
          <a:p>
            <a:pPr>
              <a:lnSpc>
                <a:spcPct val="135000"/>
              </a:lnSpc>
            </a:pPr>
            <a:r>
              <a:rPr sz="950" b="0">
                <a:solidFill>
                  <a:srgbClr val="2C3E50"/>
                </a:solidFill>
                <a:latin typeface="Arial"/>
              </a:rPr>
              <a:t>•  IT Now — restricted to OT / SCADA / OMS INCIDENTS only</a:t>
            </a:r>
          </a:p>
          <a:p>
            <a:pPr>
              <a:lnSpc>
                <a:spcPct val="135000"/>
              </a:lnSpc>
            </a:pPr>
            <a:r>
              <a:rPr sz="950" b="0">
                <a:solidFill>
                  <a:srgbClr val="2C3E50"/>
                </a:solidFill>
                <a:latin typeface="Arial"/>
              </a:rPr>
              <a:t>•  PPM Now (Smart Metering) → migrated into VS-level Jira backlog</a:t>
            </a:r>
          </a:p>
          <a:p>
            <a:pPr>
              <a:lnSpc>
                <a:spcPct val="135000"/>
              </a:lnSpc>
            </a:pPr>
            <a:r>
              <a:rPr sz="950" b="0">
                <a:solidFill>
                  <a:srgbClr val="2C3E50"/>
                </a:solidFill>
                <a:latin typeface="Arial"/>
              </a:rPr>
              <a:t>•  Email · SharePoint · Word — DECOMMISSIONED for new demand</a:t>
            </a:r>
          </a:p>
          <a:p>
            <a:pPr>
              <a:lnSpc>
                <a:spcPct val="135000"/>
              </a:lnSpc>
            </a:pPr>
            <a:r>
              <a:rPr sz="950" b="0">
                <a:solidFill>
                  <a:srgbClr val="2C3E50"/>
                </a:solidFill>
                <a:latin typeface="Arial"/>
              </a:rPr>
              <a:t>•  Iberdrola Global SAP release calendar — cross-routed via IBD VS</a:t>
            </a:r>
          </a:p>
        </p:txBody>
      </p:sp>
      <p:sp>
        <p:nvSpPr>
          <p:cNvPr id="16" name="Rounded Rectangle 15"/>
          <p:cNvSpPr/>
          <p:nvPr/>
        </p:nvSpPr>
        <p:spPr>
          <a:xfrm>
            <a:off x="457200" y="4114800"/>
            <a:ext cx="5570067" cy="2423160"/>
          </a:xfrm>
          <a:prstGeom prst="roundRect">
            <a:avLst>
              <a:gd name="adj" fmla="val 5000"/>
            </a:avLst>
          </a:prstGeom>
          <a:solidFill>
            <a:srgbClr val="FFFFFF"/>
          </a:solidFill>
          <a:ln w="254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114800"/>
            <a:ext cx="5570067" cy="4114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4151376"/>
            <a:ext cx="5295747" cy="365760"/>
          </a:xfrm>
          <a:prstGeom prst="rect">
            <a:avLst/>
          </a:prstGeom>
          <a:noFill/>
        </p:spPr>
        <p:txBody>
          <a:bodyPr wrap="square" lIns="45720" rIns="45720" tIns="18288" bIns="18288" anchor="ctr">
            <a:spAutoFit/>
          </a:bodyPr>
          <a:lstStyle/>
          <a:p>
            <a:pPr algn="l"/>
            <a:r>
              <a:rPr sz="1100" b="1" i="0">
                <a:solidFill>
                  <a:srgbClr val="FFFFFF"/>
                </a:solidFill>
                <a:latin typeface="Arial"/>
              </a:rPr>
              <a:t>CLASSIFICATION — branch-specific rules</a:t>
            </a:r>
          </a:p>
        </p:txBody>
      </p:sp>
      <p:sp>
        <p:nvSpPr>
          <p:cNvPr id="19" name="TextBox 18"/>
          <p:cNvSpPr txBox="1"/>
          <p:nvPr/>
        </p:nvSpPr>
        <p:spPr>
          <a:xfrm>
            <a:off x="685800" y="4617720"/>
            <a:ext cx="5112867" cy="1783080"/>
          </a:xfrm>
          <a:prstGeom prst="rect">
            <a:avLst/>
          </a:prstGeom>
          <a:noFill/>
        </p:spPr>
        <p:txBody>
          <a:bodyPr wrap="square" lIns="45720" rIns="45720" tIns="36576" bIns="36576">
            <a:spAutoFit/>
          </a:bodyPr>
          <a:lstStyle/>
          <a:p>
            <a:pPr>
              <a:lnSpc>
                <a:spcPct val="135000"/>
              </a:lnSpc>
            </a:pPr>
            <a:r>
              <a:rPr sz="950" b="0">
                <a:solidFill>
                  <a:srgbClr val="2C3E50"/>
                </a:solidFill>
                <a:latin typeface="Arial"/>
              </a:rPr>
              <a:t>•  Run / Grow / Transform — labeled at intake (default ~60 / 25 / 15 %)</a:t>
            </a:r>
          </a:p>
          <a:p>
            <a:pPr>
              <a:lnSpc>
                <a:spcPct val="135000"/>
              </a:lnSpc>
            </a:pPr>
            <a:r>
              <a:rPr sz="950" b="0">
                <a:solidFill>
                  <a:srgbClr val="2C3E50"/>
                </a:solidFill>
                <a:latin typeface="Arial"/>
              </a:rPr>
              <a:t>•  Class of Service — Standard · Fixed-date (regulatory · storm) · Expedite · Intangible</a:t>
            </a:r>
          </a:p>
          <a:p>
            <a:pPr>
              <a:lnSpc>
                <a:spcPct val="135000"/>
              </a:lnSpc>
            </a:pPr>
            <a:r>
              <a:rPr sz="950" b="0">
                <a:solidFill>
                  <a:srgbClr val="2C3E50"/>
                </a:solidFill>
                <a:latin typeface="Arial"/>
              </a:rPr>
              <a:t>•  Safety-sensitive items (NOC · Field Ops) auto-routed Expedite</a:t>
            </a:r>
          </a:p>
          <a:p>
            <a:pPr>
              <a:lnSpc>
                <a:spcPct val="135000"/>
              </a:lnSpc>
            </a:pPr>
            <a:r>
              <a:rPr sz="950" b="0">
                <a:solidFill>
                  <a:srgbClr val="2C3E50"/>
                </a:solidFill>
                <a:latin typeface="Arial"/>
              </a:rPr>
              <a:t>•  Storm response triggers Fixed-date with reliability deadline lock</a:t>
            </a:r>
          </a:p>
          <a:p>
            <a:pPr>
              <a:lnSpc>
                <a:spcPct val="135000"/>
              </a:lnSpc>
            </a:pPr>
            <a:r>
              <a:rPr sz="950" b="0">
                <a:solidFill>
                  <a:srgbClr val="2C3E50"/>
                </a:solidFill>
                <a:latin typeface="Arial"/>
              </a:rPr>
              <a:t>•  Capital plan items synced with Avangrid annual capital cycle (rate base)</a:t>
            </a:r>
          </a:p>
          <a:p>
            <a:pPr>
              <a:lnSpc>
                <a:spcPct val="135000"/>
              </a:lnSpc>
            </a:pPr>
            <a:r>
              <a:rPr sz="950" b="0">
                <a:solidFill>
                  <a:srgbClr val="2C3E50"/>
                </a:solidFill>
                <a:latin typeface="Arial"/>
              </a:rPr>
              <a:t>•  Regulatory submissions (NY PSC · CT PURA · ME PUC) pre-tagged Fixed-date</a:t>
            </a:r>
          </a:p>
        </p:txBody>
      </p:sp>
      <p:sp>
        <p:nvSpPr>
          <p:cNvPr id="20" name="Rounded Rectangle 19"/>
          <p:cNvSpPr/>
          <p:nvPr/>
        </p:nvSpPr>
        <p:spPr>
          <a:xfrm>
            <a:off x="6164427" y="4114800"/>
            <a:ext cx="5570067" cy="2423160"/>
          </a:xfrm>
          <a:prstGeom prst="roundRect">
            <a:avLst>
              <a:gd name="adj" fmla="val 5000"/>
            </a:avLst>
          </a:prstGeom>
          <a:solidFill>
            <a:srgbClr val="FFFFFF"/>
          </a:solidFill>
          <a:ln w="2540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4427" y="4114800"/>
            <a:ext cx="5570067" cy="41148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1587" y="4151376"/>
            <a:ext cx="5295747" cy="365760"/>
          </a:xfrm>
          <a:prstGeom prst="rect">
            <a:avLst/>
          </a:prstGeom>
          <a:noFill/>
        </p:spPr>
        <p:txBody>
          <a:bodyPr wrap="square" lIns="45720" rIns="45720" tIns="18288" bIns="18288" anchor="ctr">
            <a:spAutoFit/>
          </a:bodyPr>
          <a:lstStyle/>
          <a:p>
            <a:pPr algn="l"/>
            <a:r>
              <a:rPr sz="1100" b="1" i="0">
                <a:solidFill>
                  <a:srgbClr val="FFFFFF"/>
                </a:solidFill>
                <a:latin typeface="Arial"/>
              </a:rPr>
              <a:t>PRIORITIZATION — Pain Score weighting</a:t>
            </a:r>
          </a:p>
        </p:txBody>
      </p:sp>
      <p:sp>
        <p:nvSpPr>
          <p:cNvPr id="23" name="TextBox 22"/>
          <p:cNvSpPr txBox="1"/>
          <p:nvPr/>
        </p:nvSpPr>
        <p:spPr>
          <a:xfrm>
            <a:off x="6393027" y="4617720"/>
            <a:ext cx="5112867" cy="1783080"/>
          </a:xfrm>
          <a:prstGeom prst="rect">
            <a:avLst/>
          </a:prstGeom>
          <a:noFill/>
        </p:spPr>
        <p:txBody>
          <a:bodyPr wrap="square" lIns="45720" rIns="45720" tIns="36576" bIns="36576">
            <a:spAutoFit/>
          </a:bodyPr>
          <a:lstStyle/>
          <a:p>
            <a:pPr>
              <a:lnSpc>
                <a:spcPct val="135000"/>
              </a:lnSpc>
            </a:pPr>
            <a:r>
              <a:rPr sz="950" b="0">
                <a:solidFill>
                  <a:srgbClr val="2C3E50"/>
                </a:solidFill>
                <a:latin typeface="Arial"/>
              </a:rPr>
              <a:t>•  Pain Score H(x) = (BV·w₁ + UX·w₂ + Safety·w₃) / Effort</a:t>
            </a:r>
          </a:p>
          <a:p>
            <a:pPr>
              <a:lnSpc>
                <a:spcPct val="135000"/>
              </a:lnSpc>
            </a:pPr>
            <a:r>
              <a:rPr sz="950" b="0">
                <a:solidFill>
                  <a:srgbClr val="2C3E50"/>
                </a:solidFill>
                <a:latin typeface="Arial"/>
              </a:rPr>
              <a:t>•  IT weighting — Safety heavy: w₁=0.40 · w₂=0.20 · w₃=0.40  [proposal]</a:t>
            </a:r>
          </a:p>
          <a:p>
            <a:pPr>
              <a:lnSpc>
                <a:spcPct val="135000"/>
              </a:lnSpc>
            </a:pPr>
            <a:r>
              <a:rPr sz="950" b="0">
                <a:solidFill>
                  <a:srgbClr val="2C3E50"/>
                </a:solidFill>
                <a:latin typeface="Arial"/>
              </a:rPr>
              <a:t>•  Sponsor sign-off mandatory at intake (G&amp;E · Engineering · Iberdrola)</a:t>
            </a:r>
          </a:p>
          <a:p>
            <a:pPr>
              <a:lnSpc>
                <a:spcPct val="135000"/>
              </a:lnSpc>
            </a:pPr>
            <a:r>
              <a:rPr sz="950" b="0">
                <a:solidFill>
                  <a:srgbClr val="2C3E50"/>
                </a:solidFill>
                <a:latin typeface="Arial"/>
              </a:rPr>
              <a:t>•  Backlog ranked monthly at Gate 2 by the VS Product Manager</a:t>
            </a:r>
          </a:p>
          <a:p>
            <a:pPr>
              <a:lnSpc>
                <a:spcPct val="135000"/>
              </a:lnSpc>
            </a:pPr>
            <a:r>
              <a:rPr sz="950" b="0">
                <a:solidFill>
                  <a:srgbClr val="2C3E50"/>
                </a:solidFill>
                <a:latin typeface="Arial"/>
              </a:rPr>
              <a:t>•  Cross-VS conflicts (e.g. NOC ↔ Field Ops storm) resolved at VP Portfolio Sync</a:t>
            </a:r>
          </a:p>
          <a:p>
            <a:pPr>
              <a:lnSpc>
                <a:spcPct val="135000"/>
              </a:lnSpc>
            </a:pPr>
            <a:r>
              <a:rPr sz="950" b="0">
                <a:solidFill>
                  <a:srgbClr val="2C3E50"/>
                </a:solidFill>
                <a:latin typeface="Arial"/>
              </a:rPr>
              <a:t>•  Reliability-impacting items override capacity caps (logged exception)</a:t>
            </a:r>
          </a:p>
        </p:txBody>
      </p:sp>
      <p:sp>
        <p:nvSpPr>
          <p:cNvPr id="24" name="TextBox 23"/>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VALUE STREAM</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M2C-SL METER-TO-CASH · SERVICE LIFECYCLE — SMART-METER TO INVOICE WITH ZERO DATA LOSS</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ounded Rectangle 5"/>
          <p:cNvSpPr/>
          <p:nvPr/>
        </p:nvSpPr>
        <p:spPr>
          <a:xfrm>
            <a:off x="457200" y="914400"/>
            <a:ext cx="3108960" cy="365760"/>
          </a:xfrm>
          <a:prstGeom prst="roundRect">
            <a:avLst>
              <a:gd name="adj" fmla="val 2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14400"/>
            <a:ext cx="3108960" cy="365760"/>
          </a:xfrm>
          <a:prstGeom prst="rect">
            <a:avLst/>
          </a:prstGeom>
          <a:noFill/>
        </p:spPr>
        <p:txBody>
          <a:bodyPr wrap="square" lIns="45720" rIns="45720" tIns="18288" bIns="18288" anchor="ctr">
            <a:spAutoFit/>
          </a:bodyPr>
          <a:lstStyle/>
          <a:p>
            <a:pPr algn="ctr"/>
            <a:r>
              <a:rPr sz="1000" b="1" i="0">
                <a:solidFill>
                  <a:srgbClr val="FFFFFF"/>
                </a:solidFill>
                <a:latin typeface="Arial"/>
              </a:rPr>
              <a:t>CS Apps · Kumar Jaladanki · Vincent Lam (sub-team lead)</a:t>
            </a:r>
          </a:p>
        </p:txBody>
      </p:sp>
      <p:sp>
        <p:nvSpPr>
          <p:cNvPr id="8" name="Rounded Rectangle 7"/>
          <p:cNvSpPr/>
          <p:nvPr/>
        </p:nvSpPr>
        <p:spPr>
          <a:xfrm>
            <a:off x="8168335" y="914400"/>
            <a:ext cx="3566160" cy="365760"/>
          </a:xfrm>
          <a:prstGeom prst="roundRect">
            <a:avLst>
              <a:gd name="adj" fmla="val 20000"/>
            </a:avLst>
          </a:prstGeom>
          <a:solidFill>
            <a:srgbClr val="F5F5F5"/>
          </a:solidFill>
          <a:ln w="127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68335" y="914400"/>
            <a:ext cx="3566160" cy="365760"/>
          </a:xfrm>
          <a:prstGeom prst="rect">
            <a:avLst/>
          </a:prstGeom>
          <a:noFill/>
        </p:spPr>
        <p:txBody>
          <a:bodyPr wrap="square" lIns="45720" rIns="45720" tIns="18288" bIns="18288" anchor="ctr">
            <a:spAutoFit/>
          </a:bodyPr>
          <a:lstStyle/>
          <a:p>
            <a:pPr algn="ctr"/>
            <a:r>
              <a:rPr sz="950" b="1" i="0">
                <a:solidFill>
                  <a:srgbClr val="2C578B"/>
                </a:solidFill>
                <a:latin typeface="Arial"/>
              </a:rPr>
              <a:t>Run · Grow · Transform mix  ·  Run 60% · Grow 30% · Transform 10% [estimate]</a:t>
            </a:r>
          </a:p>
        </p:txBody>
      </p:sp>
      <p:sp>
        <p:nvSpPr>
          <p:cNvPr id="10" name="Rounded Rectangle 9"/>
          <p:cNvSpPr/>
          <p:nvPr/>
        </p:nvSpPr>
        <p:spPr>
          <a:xfrm>
            <a:off x="457200" y="1371600"/>
            <a:ext cx="11277295" cy="594360"/>
          </a:xfrm>
          <a:prstGeom prst="roundRect">
            <a:avLst>
              <a:gd name="adj" fmla="val 5000"/>
            </a:avLst>
          </a:prstGeom>
          <a:solidFill>
            <a:srgbClr val="6785C1"/>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426464"/>
            <a:ext cx="10911535" cy="228600"/>
          </a:xfrm>
          <a:prstGeom prst="rect">
            <a:avLst/>
          </a:prstGeom>
          <a:noFill/>
        </p:spPr>
        <p:txBody>
          <a:bodyPr wrap="square" lIns="45720" rIns="45720" tIns="18288" bIns="18288" anchor="t">
            <a:spAutoFit/>
          </a:bodyPr>
          <a:lstStyle/>
          <a:p>
            <a:pPr algn="l"/>
            <a:r>
              <a:rPr sz="900" b="1" i="0">
                <a:solidFill>
                  <a:srgbClr val="0F1C50"/>
                </a:solidFill>
                <a:latin typeface="Arial"/>
              </a:rPr>
              <a:t>OUTCOME</a:t>
            </a:r>
          </a:p>
        </p:txBody>
      </p:sp>
      <p:sp>
        <p:nvSpPr>
          <p:cNvPr id="12" name="TextBox 11"/>
          <p:cNvSpPr txBox="1"/>
          <p:nvPr/>
        </p:nvSpPr>
        <p:spPr>
          <a:xfrm>
            <a:off x="640080" y="1618488"/>
            <a:ext cx="10911535" cy="365760"/>
          </a:xfrm>
          <a:prstGeom prst="rect">
            <a:avLst/>
          </a:prstGeom>
          <a:noFill/>
        </p:spPr>
        <p:txBody>
          <a:bodyPr wrap="square" lIns="45720" rIns="45720" tIns="18288" bIns="18288" anchor="t">
            <a:spAutoFit/>
          </a:bodyPr>
          <a:lstStyle/>
          <a:p>
            <a:pPr algn="l"/>
            <a:r>
              <a:rPr sz="1100" b="0" i="1">
                <a:solidFill>
                  <a:srgbClr val="2C3E50"/>
                </a:solidFill>
                <a:latin typeface="Arial"/>
              </a:rPr>
              <a:t>Capture every meter read accurately · feed billing on time · resolve device-to-data exceptions before they reach the customer.</a:t>
            </a:r>
          </a:p>
        </p:txBody>
      </p:sp>
      <p:sp>
        <p:nvSpPr>
          <p:cNvPr id="13" name="Rounded Rectangle 12"/>
          <p:cNvSpPr/>
          <p:nvPr/>
        </p:nvSpPr>
        <p:spPr>
          <a:xfrm>
            <a:off x="457200" y="2103120"/>
            <a:ext cx="5570067" cy="1965960"/>
          </a:xfrm>
          <a:prstGeom prst="roundRect">
            <a:avLst>
              <a:gd name="adj" fmla="val 5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103120"/>
            <a:ext cx="5570067"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1305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APPLICATIONS SUPPORTED</a:t>
            </a:r>
          </a:p>
        </p:txBody>
      </p:sp>
      <p:sp>
        <p:nvSpPr>
          <p:cNvPr id="16" name="TextBox 15"/>
          <p:cNvSpPr txBox="1"/>
          <p:nvPr/>
        </p:nvSpPr>
        <p:spPr>
          <a:xfrm>
            <a:off x="640080" y="25603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Itron OpenWay (AMI head-end)</a:t>
            </a:r>
          </a:p>
          <a:p>
            <a:pPr>
              <a:lnSpc>
                <a:spcPct val="130000"/>
              </a:lnSpc>
            </a:pPr>
            <a:r>
              <a:rPr sz="950" b="0">
                <a:solidFill>
                  <a:srgbClr val="2C3E50"/>
                </a:solidFill>
                <a:latin typeface="Arial"/>
              </a:rPr>
              <a:t>•  Meter Data Management (MDM)</a:t>
            </a:r>
          </a:p>
          <a:p>
            <a:pPr>
              <a:lnSpc>
                <a:spcPct val="130000"/>
              </a:lnSpc>
            </a:pPr>
            <a:r>
              <a:rPr sz="950" b="0">
                <a:solidFill>
                  <a:srgbClr val="2C3E50"/>
                </a:solidFill>
                <a:latin typeface="Arial"/>
              </a:rPr>
              <a:t>•  SAP IS-U Device Management</a:t>
            </a:r>
          </a:p>
          <a:p>
            <a:pPr>
              <a:lnSpc>
                <a:spcPct val="130000"/>
              </a:lnSpc>
            </a:pPr>
            <a:r>
              <a:rPr sz="950" b="0">
                <a:solidFill>
                  <a:srgbClr val="2C3E50"/>
                </a:solidFill>
                <a:latin typeface="Arial"/>
              </a:rPr>
              <a:t>•  Smart Metering platform</a:t>
            </a:r>
          </a:p>
          <a:p>
            <a:pPr>
              <a:lnSpc>
                <a:spcPct val="130000"/>
              </a:lnSpc>
            </a:pPr>
            <a:r>
              <a:rPr sz="950" b="0">
                <a:solidFill>
                  <a:srgbClr val="2C3E50"/>
                </a:solidFill>
                <a:latin typeface="Arial"/>
              </a:rPr>
              <a:t>•  Field meter read interfaces</a:t>
            </a:r>
          </a:p>
        </p:txBody>
      </p:sp>
      <p:sp>
        <p:nvSpPr>
          <p:cNvPr id="17" name="TextBox 16"/>
          <p:cNvSpPr txBox="1"/>
          <p:nvPr/>
        </p:nvSpPr>
        <p:spPr>
          <a:xfrm>
            <a:off x="594360" y="38130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(KB-confirmed unless flagged [GAP])</a:t>
            </a:r>
          </a:p>
        </p:txBody>
      </p:sp>
      <p:sp>
        <p:nvSpPr>
          <p:cNvPr id="18" name="Rounded Rectangle 17"/>
          <p:cNvSpPr/>
          <p:nvPr/>
        </p:nvSpPr>
        <p:spPr>
          <a:xfrm>
            <a:off x="6164427" y="2103120"/>
            <a:ext cx="5570067" cy="1965960"/>
          </a:xfrm>
          <a:prstGeom prst="roundRect">
            <a:avLst>
              <a:gd name="adj" fmla="val 5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4427" y="2103120"/>
            <a:ext cx="5570067"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1587" y="21305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DEMAND SOURCES — who sends the work</a:t>
            </a:r>
          </a:p>
        </p:txBody>
      </p:sp>
      <p:sp>
        <p:nvSpPr>
          <p:cNvPr id="21" name="TextBox 20"/>
          <p:cNvSpPr txBox="1"/>
          <p:nvPr/>
        </p:nvSpPr>
        <p:spPr>
          <a:xfrm>
            <a:off x="6347307" y="25603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Smart Metering program (CT · ME · NY rollout)</a:t>
            </a:r>
          </a:p>
          <a:p>
            <a:pPr>
              <a:lnSpc>
                <a:spcPct val="130000"/>
              </a:lnSpc>
            </a:pPr>
            <a:r>
              <a:rPr sz="950" b="0">
                <a:solidFill>
                  <a:srgbClr val="2C3E50"/>
                </a:solidFill>
                <a:latin typeface="Arial"/>
              </a:rPr>
              <a:t>•  Field Operations exceptions and escalations</a:t>
            </a:r>
          </a:p>
          <a:p>
            <a:pPr>
              <a:lnSpc>
                <a:spcPct val="130000"/>
              </a:lnSpc>
            </a:pPr>
            <a:r>
              <a:rPr sz="950" b="0">
                <a:solidFill>
                  <a:srgbClr val="2C3E50"/>
                </a:solidFill>
                <a:latin typeface="Arial"/>
              </a:rPr>
              <a:t>•  Regulatory drivers (CT PURA · ME PUC · NY PSC mandates)</a:t>
            </a:r>
          </a:p>
          <a:p>
            <a:pPr>
              <a:lnSpc>
                <a:spcPct val="130000"/>
              </a:lnSpc>
            </a:pPr>
            <a:r>
              <a:rPr sz="950" b="0">
                <a:solidFill>
                  <a:srgbClr val="2C3E50"/>
                </a:solidFill>
                <a:latin typeface="Arial"/>
              </a:rPr>
              <a:t>•  AMI vendor release schedule</a:t>
            </a:r>
          </a:p>
        </p:txBody>
      </p:sp>
      <p:sp>
        <p:nvSpPr>
          <p:cNvPr id="22" name="TextBox 21"/>
          <p:cNvSpPr txBox="1"/>
          <p:nvPr/>
        </p:nvSpPr>
        <p:spPr>
          <a:xfrm>
            <a:off x="6301587" y="38130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Routed via the Jira request type for this Value Stream</a:t>
            </a:r>
          </a:p>
        </p:txBody>
      </p:sp>
      <p:sp>
        <p:nvSpPr>
          <p:cNvPr id="23" name="Rounded Rectangle 22"/>
          <p:cNvSpPr/>
          <p:nvPr/>
        </p:nvSpPr>
        <p:spPr>
          <a:xfrm>
            <a:off x="457200" y="4160520"/>
            <a:ext cx="5570067" cy="196596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4160520"/>
            <a:ext cx="5570067" cy="3657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41879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AVANGRID CORE TEAM</a:t>
            </a:r>
          </a:p>
        </p:txBody>
      </p:sp>
      <p:sp>
        <p:nvSpPr>
          <p:cNvPr id="26" name="TextBox 25"/>
          <p:cNvSpPr txBox="1"/>
          <p:nvPr/>
        </p:nvSpPr>
        <p:spPr>
          <a:xfrm>
            <a:off x="640080" y="46177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Product Manager (NEW)</a:t>
            </a:r>
          </a:p>
          <a:p>
            <a:pPr>
              <a:lnSpc>
                <a:spcPct val="130000"/>
              </a:lnSpc>
            </a:pPr>
            <a:r>
              <a:rPr sz="950" b="0">
                <a:solidFill>
                  <a:srgbClr val="2C3E50"/>
                </a:solidFill>
                <a:latin typeface="Arial"/>
              </a:rPr>
              <a:t>•  Tech Lead — Vincent Lam / Iram Chowdhury (Champion)</a:t>
            </a:r>
          </a:p>
          <a:p>
            <a:pPr>
              <a:lnSpc>
                <a:spcPct val="130000"/>
              </a:lnSpc>
            </a:pPr>
            <a:r>
              <a:rPr sz="950" b="0">
                <a:solidFill>
                  <a:srgbClr val="2C3E50"/>
                </a:solidFill>
                <a:latin typeface="Arial"/>
              </a:rPr>
              <a:t>•  Business Analyst</a:t>
            </a:r>
          </a:p>
          <a:p>
            <a:pPr>
              <a:lnSpc>
                <a:spcPct val="130000"/>
              </a:lnSpc>
            </a:pPr>
            <a:r>
              <a:rPr sz="950" b="0">
                <a:solidFill>
                  <a:srgbClr val="2C3E50"/>
                </a:solidFill>
                <a:latin typeface="Arial"/>
              </a:rPr>
              <a:t>•  SMEs from Smart Metering program</a:t>
            </a:r>
          </a:p>
        </p:txBody>
      </p:sp>
      <p:sp>
        <p:nvSpPr>
          <p:cNvPr id="27" name="TextBox 26"/>
          <p:cNvSpPr txBox="1"/>
          <p:nvPr/>
        </p:nvSpPr>
        <p:spPr>
          <a:xfrm>
            <a:off x="594360" y="58704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 3–5 FTE per Value Stream</a:t>
            </a:r>
          </a:p>
        </p:txBody>
      </p:sp>
      <p:sp>
        <p:nvSpPr>
          <p:cNvPr id="28" name="Rounded Rectangle 27"/>
          <p:cNvSpPr/>
          <p:nvPr/>
        </p:nvSpPr>
        <p:spPr>
          <a:xfrm>
            <a:off x="6164427" y="4160520"/>
            <a:ext cx="5570067" cy="1965960"/>
          </a:xfrm>
          <a:prstGeom prst="roundRect">
            <a:avLst>
              <a:gd name="adj" fmla="val 5000"/>
            </a:avLst>
          </a:prstGeom>
          <a:solidFill>
            <a:srgbClr val="FFFFFF"/>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64427" y="4160520"/>
            <a:ext cx="5570067" cy="36576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1587" y="41879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VENDOR EXTENSION (delivery)</a:t>
            </a:r>
          </a:p>
        </p:txBody>
      </p:sp>
      <p:sp>
        <p:nvSpPr>
          <p:cNvPr id="31" name="TextBox 30"/>
          <p:cNvSpPr txBox="1"/>
          <p:nvPr/>
        </p:nvSpPr>
        <p:spPr>
          <a:xfrm>
            <a:off x="6347307" y="46177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Smart Metering vendor (stable team — Option A model)</a:t>
            </a:r>
          </a:p>
          <a:p>
            <a:pPr>
              <a:lnSpc>
                <a:spcPct val="130000"/>
              </a:lnSpc>
            </a:pPr>
            <a:r>
              <a:rPr sz="950" b="0">
                <a:solidFill>
                  <a:srgbClr val="2C3E50"/>
                </a:solidFill>
                <a:latin typeface="Arial"/>
              </a:rPr>
              <a:t>•  Itron managed services</a:t>
            </a:r>
          </a:p>
          <a:p>
            <a:pPr>
              <a:lnSpc>
                <a:spcPct val="130000"/>
              </a:lnSpc>
            </a:pPr>
            <a:r>
              <a:rPr sz="950" b="0">
                <a:solidFill>
                  <a:srgbClr val="2C3E50"/>
                </a:solidFill>
                <a:latin typeface="Arial"/>
              </a:rPr>
              <a:t>•  SAP partner for IS-U Device</a:t>
            </a:r>
          </a:p>
        </p:txBody>
      </p:sp>
      <p:sp>
        <p:nvSpPr>
          <p:cNvPr id="32" name="TextBox 31"/>
          <p:cNvSpPr txBox="1"/>
          <p:nvPr/>
        </p:nvSpPr>
        <p:spPr>
          <a:xfrm>
            <a:off x="6301587" y="58704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Avangrid = product owner · vendor = delivery muscle</a:t>
            </a:r>
          </a:p>
        </p:txBody>
      </p:sp>
      <p:sp>
        <p:nvSpPr>
          <p:cNvPr id="33" name="TextBox 32"/>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VALUE STREAM</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M2C-RO METER-TO-CASH · REVENUE OPERATIONS — BILL ONCE, BILL RIGHT, COLLECT ON TIME</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ounded Rectangle 5"/>
          <p:cNvSpPr/>
          <p:nvPr/>
        </p:nvSpPr>
        <p:spPr>
          <a:xfrm>
            <a:off x="457200" y="914400"/>
            <a:ext cx="3108960" cy="365760"/>
          </a:xfrm>
          <a:prstGeom prst="roundRect">
            <a:avLst>
              <a:gd name="adj" fmla="val 2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14400"/>
            <a:ext cx="3108960" cy="365760"/>
          </a:xfrm>
          <a:prstGeom prst="rect">
            <a:avLst/>
          </a:prstGeom>
          <a:noFill/>
        </p:spPr>
        <p:txBody>
          <a:bodyPr wrap="square" lIns="45720" rIns="45720" tIns="18288" bIns="18288" anchor="ctr">
            <a:spAutoFit/>
          </a:bodyPr>
          <a:lstStyle/>
          <a:p>
            <a:pPr algn="ctr"/>
            <a:r>
              <a:rPr sz="1000" b="1" i="0">
                <a:solidFill>
                  <a:srgbClr val="FFFFFF"/>
                </a:solidFill>
                <a:latin typeface="Arial"/>
              </a:rPr>
              <a:t>CS Apps · Kumar Jaladanki · Ivelisse Velazquez (sub-team lead)</a:t>
            </a:r>
          </a:p>
        </p:txBody>
      </p:sp>
      <p:sp>
        <p:nvSpPr>
          <p:cNvPr id="8" name="Rounded Rectangle 7"/>
          <p:cNvSpPr/>
          <p:nvPr/>
        </p:nvSpPr>
        <p:spPr>
          <a:xfrm>
            <a:off x="8168335" y="914400"/>
            <a:ext cx="3566160" cy="365760"/>
          </a:xfrm>
          <a:prstGeom prst="roundRect">
            <a:avLst>
              <a:gd name="adj" fmla="val 20000"/>
            </a:avLst>
          </a:prstGeom>
          <a:solidFill>
            <a:srgbClr val="F5F5F5"/>
          </a:solidFill>
          <a:ln w="127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68335" y="914400"/>
            <a:ext cx="3566160" cy="365760"/>
          </a:xfrm>
          <a:prstGeom prst="rect">
            <a:avLst/>
          </a:prstGeom>
          <a:noFill/>
        </p:spPr>
        <p:txBody>
          <a:bodyPr wrap="square" lIns="45720" rIns="45720" tIns="18288" bIns="18288" anchor="ctr">
            <a:spAutoFit/>
          </a:bodyPr>
          <a:lstStyle/>
          <a:p>
            <a:pPr algn="ctr"/>
            <a:r>
              <a:rPr sz="950" b="1" i="0">
                <a:solidFill>
                  <a:srgbClr val="2C578B"/>
                </a:solidFill>
                <a:latin typeface="Arial"/>
              </a:rPr>
              <a:t>Run · Grow · Transform mix  ·  Run 50% · Grow 35% · Transform 15% [estimate]</a:t>
            </a:r>
          </a:p>
        </p:txBody>
      </p:sp>
      <p:sp>
        <p:nvSpPr>
          <p:cNvPr id="10" name="Rounded Rectangle 9"/>
          <p:cNvSpPr/>
          <p:nvPr/>
        </p:nvSpPr>
        <p:spPr>
          <a:xfrm>
            <a:off x="457200" y="1371600"/>
            <a:ext cx="11277295" cy="594360"/>
          </a:xfrm>
          <a:prstGeom prst="roundRect">
            <a:avLst>
              <a:gd name="adj" fmla="val 5000"/>
            </a:avLst>
          </a:prstGeom>
          <a:solidFill>
            <a:srgbClr val="6785C1"/>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426464"/>
            <a:ext cx="10911535" cy="228600"/>
          </a:xfrm>
          <a:prstGeom prst="rect">
            <a:avLst/>
          </a:prstGeom>
          <a:noFill/>
        </p:spPr>
        <p:txBody>
          <a:bodyPr wrap="square" lIns="45720" rIns="45720" tIns="18288" bIns="18288" anchor="t">
            <a:spAutoFit/>
          </a:bodyPr>
          <a:lstStyle/>
          <a:p>
            <a:pPr algn="l"/>
            <a:r>
              <a:rPr sz="900" b="1" i="0">
                <a:solidFill>
                  <a:srgbClr val="0F1C50"/>
                </a:solidFill>
                <a:latin typeface="Arial"/>
              </a:rPr>
              <a:t>OUTCOME</a:t>
            </a:r>
          </a:p>
        </p:txBody>
      </p:sp>
      <p:sp>
        <p:nvSpPr>
          <p:cNvPr id="12" name="TextBox 11"/>
          <p:cNvSpPr txBox="1"/>
          <p:nvPr/>
        </p:nvSpPr>
        <p:spPr>
          <a:xfrm>
            <a:off x="640080" y="1618488"/>
            <a:ext cx="10911535" cy="365760"/>
          </a:xfrm>
          <a:prstGeom prst="rect">
            <a:avLst/>
          </a:prstGeom>
          <a:noFill/>
        </p:spPr>
        <p:txBody>
          <a:bodyPr wrap="square" lIns="45720" rIns="45720" tIns="18288" bIns="18288" anchor="t">
            <a:spAutoFit/>
          </a:bodyPr>
          <a:lstStyle/>
          <a:p>
            <a:pPr algn="l"/>
            <a:r>
              <a:rPr sz="1100" b="0" i="1">
                <a:solidFill>
                  <a:srgbClr val="2C3E50"/>
                </a:solidFill>
                <a:latin typeface="Arial"/>
              </a:rPr>
              <a:t>Standardize billing, FICA and collection processes across OPCOs · respond to rate cases without ad-hoc workarounds.</a:t>
            </a:r>
          </a:p>
        </p:txBody>
      </p:sp>
      <p:sp>
        <p:nvSpPr>
          <p:cNvPr id="13" name="Rounded Rectangle 12"/>
          <p:cNvSpPr/>
          <p:nvPr/>
        </p:nvSpPr>
        <p:spPr>
          <a:xfrm>
            <a:off x="457200" y="2103120"/>
            <a:ext cx="5570067" cy="1965960"/>
          </a:xfrm>
          <a:prstGeom prst="roundRect">
            <a:avLst>
              <a:gd name="adj" fmla="val 5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103120"/>
            <a:ext cx="5570067"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1305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APPLICATIONS SUPPORTED</a:t>
            </a:r>
          </a:p>
        </p:txBody>
      </p:sp>
      <p:sp>
        <p:nvSpPr>
          <p:cNvPr id="16" name="TextBox 15"/>
          <p:cNvSpPr txBox="1"/>
          <p:nvPr/>
        </p:nvSpPr>
        <p:spPr>
          <a:xfrm>
            <a:off x="640080" y="25603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SAP IS-U FICA</a:t>
            </a:r>
          </a:p>
          <a:p>
            <a:pPr>
              <a:lnSpc>
                <a:spcPct val="130000"/>
              </a:lnSpc>
            </a:pPr>
            <a:r>
              <a:rPr sz="950" b="0">
                <a:solidFill>
                  <a:srgbClr val="2C3E50"/>
                </a:solidFill>
                <a:latin typeface="Arial"/>
              </a:rPr>
              <a:t>•  SAP CRM Billing</a:t>
            </a:r>
          </a:p>
          <a:p>
            <a:pPr>
              <a:lnSpc>
                <a:spcPct val="130000"/>
              </a:lnSpc>
            </a:pPr>
            <a:r>
              <a:rPr sz="950" b="0">
                <a:solidFill>
                  <a:srgbClr val="2C3E50"/>
                </a:solidFill>
                <a:latin typeface="Arial"/>
              </a:rPr>
              <a:t>•  Collection systems</a:t>
            </a:r>
          </a:p>
          <a:p>
            <a:pPr>
              <a:lnSpc>
                <a:spcPct val="130000"/>
              </a:lnSpc>
            </a:pPr>
            <a:r>
              <a:rPr sz="950" b="0">
                <a:solidFill>
                  <a:srgbClr val="2C3E50"/>
                </a:solidFill>
                <a:latin typeface="Arial"/>
              </a:rPr>
              <a:t>•  Rate-case calculation tooling</a:t>
            </a:r>
          </a:p>
          <a:p>
            <a:pPr>
              <a:lnSpc>
                <a:spcPct val="130000"/>
              </a:lnSpc>
            </a:pPr>
            <a:r>
              <a:rPr sz="950" b="0">
                <a:solidFill>
                  <a:srgbClr val="2C3E50"/>
                </a:solidFill>
                <a:latin typeface="Arial"/>
              </a:rPr>
              <a:t>•  Tax engine integrations</a:t>
            </a:r>
          </a:p>
        </p:txBody>
      </p:sp>
      <p:sp>
        <p:nvSpPr>
          <p:cNvPr id="17" name="TextBox 16"/>
          <p:cNvSpPr txBox="1"/>
          <p:nvPr/>
        </p:nvSpPr>
        <p:spPr>
          <a:xfrm>
            <a:off x="594360" y="38130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(KB-confirmed unless flagged [GAP])</a:t>
            </a:r>
          </a:p>
        </p:txBody>
      </p:sp>
      <p:sp>
        <p:nvSpPr>
          <p:cNvPr id="18" name="Rounded Rectangle 17"/>
          <p:cNvSpPr/>
          <p:nvPr/>
        </p:nvSpPr>
        <p:spPr>
          <a:xfrm>
            <a:off x="6164427" y="2103120"/>
            <a:ext cx="5570067" cy="1965960"/>
          </a:xfrm>
          <a:prstGeom prst="roundRect">
            <a:avLst>
              <a:gd name="adj" fmla="val 5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4427" y="2103120"/>
            <a:ext cx="5570067"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1587" y="21305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DEMAND SOURCES — who sends the work</a:t>
            </a:r>
          </a:p>
        </p:txBody>
      </p:sp>
      <p:sp>
        <p:nvSpPr>
          <p:cNvPr id="21" name="TextBox 20"/>
          <p:cNvSpPr txBox="1"/>
          <p:nvPr/>
        </p:nvSpPr>
        <p:spPr>
          <a:xfrm>
            <a:off x="6347307" y="25603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Finance &amp; Billing Operations (UIL · CMP · NY)</a:t>
            </a:r>
          </a:p>
          <a:p>
            <a:pPr>
              <a:lnSpc>
                <a:spcPct val="130000"/>
              </a:lnSpc>
            </a:pPr>
            <a:r>
              <a:rPr sz="950" b="0">
                <a:solidFill>
                  <a:srgbClr val="2C3E50"/>
                </a:solidFill>
                <a:latin typeface="Arial"/>
              </a:rPr>
              <a:t>•  Regulatory (rate-case filings, tariff changes)</a:t>
            </a:r>
          </a:p>
          <a:p>
            <a:pPr>
              <a:lnSpc>
                <a:spcPct val="130000"/>
              </a:lnSpc>
            </a:pPr>
            <a:r>
              <a:rPr sz="950" b="0">
                <a:solidFill>
                  <a:srgbClr val="2C3E50"/>
                </a:solidFill>
                <a:latin typeface="Arial"/>
              </a:rPr>
              <a:t>•  Tax updates and federal/state mandates</a:t>
            </a:r>
          </a:p>
          <a:p>
            <a:pPr>
              <a:lnSpc>
                <a:spcPct val="130000"/>
              </a:lnSpc>
            </a:pPr>
            <a:r>
              <a:rPr sz="950" b="0">
                <a:solidFill>
                  <a:srgbClr val="2C3E50"/>
                </a:solidFill>
                <a:latin typeface="Arial"/>
              </a:rPr>
              <a:t>•  Customer escalations from CCC</a:t>
            </a:r>
          </a:p>
        </p:txBody>
      </p:sp>
      <p:sp>
        <p:nvSpPr>
          <p:cNvPr id="22" name="TextBox 21"/>
          <p:cNvSpPr txBox="1"/>
          <p:nvPr/>
        </p:nvSpPr>
        <p:spPr>
          <a:xfrm>
            <a:off x="6301587" y="38130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Routed via the Jira request type for this Value Stream</a:t>
            </a:r>
          </a:p>
        </p:txBody>
      </p:sp>
      <p:sp>
        <p:nvSpPr>
          <p:cNvPr id="23" name="Rounded Rectangle 22"/>
          <p:cNvSpPr/>
          <p:nvPr/>
        </p:nvSpPr>
        <p:spPr>
          <a:xfrm>
            <a:off x="457200" y="4160520"/>
            <a:ext cx="5570067" cy="196596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4160520"/>
            <a:ext cx="5570067" cy="3657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41879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AVANGRID CORE TEAM</a:t>
            </a:r>
          </a:p>
        </p:txBody>
      </p:sp>
      <p:sp>
        <p:nvSpPr>
          <p:cNvPr id="26" name="TextBox 25"/>
          <p:cNvSpPr txBox="1"/>
          <p:nvPr/>
        </p:nvSpPr>
        <p:spPr>
          <a:xfrm>
            <a:off x="640080" y="46177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Product Manager (NEW)</a:t>
            </a:r>
          </a:p>
          <a:p>
            <a:pPr>
              <a:lnSpc>
                <a:spcPct val="130000"/>
              </a:lnSpc>
            </a:pPr>
            <a:r>
              <a:rPr sz="950" b="0">
                <a:solidFill>
                  <a:srgbClr val="2C3E50"/>
                </a:solidFill>
                <a:latin typeface="Arial"/>
              </a:rPr>
              <a:t>•  Tech Lead</a:t>
            </a:r>
          </a:p>
          <a:p>
            <a:pPr>
              <a:lnSpc>
                <a:spcPct val="130000"/>
              </a:lnSpc>
            </a:pPr>
            <a:r>
              <a:rPr sz="950" b="0">
                <a:solidFill>
                  <a:srgbClr val="2C3E50"/>
                </a:solidFill>
                <a:latin typeface="Arial"/>
              </a:rPr>
              <a:t>•  Business Analyst — billing &amp; FICA SME</a:t>
            </a:r>
          </a:p>
          <a:p>
            <a:pPr>
              <a:lnSpc>
                <a:spcPct val="130000"/>
              </a:lnSpc>
            </a:pPr>
            <a:r>
              <a:rPr sz="950" b="0">
                <a:solidFill>
                  <a:srgbClr val="2C3E50"/>
                </a:solidFill>
                <a:latin typeface="Arial"/>
              </a:rPr>
              <a:t>•  Stephanie (SAP Champion · cross-link)</a:t>
            </a:r>
          </a:p>
        </p:txBody>
      </p:sp>
      <p:sp>
        <p:nvSpPr>
          <p:cNvPr id="27" name="TextBox 26"/>
          <p:cNvSpPr txBox="1"/>
          <p:nvPr/>
        </p:nvSpPr>
        <p:spPr>
          <a:xfrm>
            <a:off x="594360" y="58704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 3–5 FTE per Value Stream</a:t>
            </a:r>
          </a:p>
        </p:txBody>
      </p:sp>
      <p:sp>
        <p:nvSpPr>
          <p:cNvPr id="28" name="Rounded Rectangle 27"/>
          <p:cNvSpPr/>
          <p:nvPr/>
        </p:nvSpPr>
        <p:spPr>
          <a:xfrm>
            <a:off x="6164427" y="4160520"/>
            <a:ext cx="5570067" cy="1965960"/>
          </a:xfrm>
          <a:prstGeom prst="roundRect">
            <a:avLst>
              <a:gd name="adj" fmla="val 5000"/>
            </a:avLst>
          </a:prstGeom>
          <a:solidFill>
            <a:srgbClr val="FFFFFF"/>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64427" y="4160520"/>
            <a:ext cx="5570067" cy="36576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1587" y="41879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VENDOR EXTENSION (delivery)</a:t>
            </a:r>
          </a:p>
        </p:txBody>
      </p:sp>
      <p:sp>
        <p:nvSpPr>
          <p:cNvPr id="31" name="TextBox 30"/>
          <p:cNvSpPr txBox="1"/>
          <p:nvPr/>
        </p:nvSpPr>
        <p:spPr>
          <a:xfrm>
            <a:off x="6347307" y="46177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Accenture (FICA / IS-U delivery)</a:t>
            </a:r>
          </a:p>
          <a:p>
            <a:pPr>
              <a:lnSpc>
                <a:spcPct val="130000"/>
              </a:lnSpc>
            </a:pPr>
            <a:r>
              <a:rPr sz="950" b="0">
                <a:solidFill>
                  <a:srgbClr val="2C3E50"/>
                </a:solidFill>
                <a:latin typeface="Arial"/>
              </a:rPr>
              <a:t>•  SAP partners</a:t>
            </a:r>
          </a:p>
          <a:p>
            <a:pPr>
              <a:lnSpc>
                <a:spcPct val="130000"/>
              </a:lnSpc>
            </a:pPr>
            <a:r>
              <a:rPr sz="950" b="0">
                <a:solidFill>
                  <a:srgbClr val="2C3E50"/>
                </a:solidFill>
                <a:latin typeface="Arial"/>
              </a:rPr>
              <a:t>•  [GAP] confirm primary FICA vendor with Vitor</a:t>
            </a:r>
          </a:p>
        </p:txBody>
      </p:sp>
      <p:sp>
        <p:nvSpPr>
          <p:cNvPr id="32" name="TextBox 31"/>
          <p:cNvSpPr txBox="1"/>
          <p:nvPr/>
        </p:nvSpPr>
        <p:spPr>
          <a:xfrm>
            <a:off x="6301587" y="58704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Avangrid = product owner · vendor = delivery muscle</a:t>
            </a:r>
          </a:p>
        </p:txBody>
      </p:sp>
      <p:sp>
        <p:nvSpPr>
          <p:cNvPr id="33" name="TextBox 32"/>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VALUE STREAM</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CCC CUSTOMER CARE &amp; CONTACT CENTER — RESOLVE CUSTOMER INTERACTIONS ON FIRST CONTACT</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ounded Rectangle 5"/>
          <p:cNvSpPr/>
          <p:nvPr/>
        </p:nvSpPr>
        <p:spPr>
          <a:xfrm>
            <a:off x="457200" y="914400"/>
            <a:ext cx="3108960" cy="365760"/>
          </a:xfrm>
          <a:prstGeom prst="roundRect">
            <a:avLst>
              <a:gd name="adj" fmla="val 2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14400"/>
            <a:ext cx="3108960" cy="365760"/>
          </a:xfrm>
          <a:prstGeom prst="rect">
            <a:avLst/>
          </a:prstGeom>
          <a:noFill/>
        </p:spPr>
        <p:txBody>
          <a:bodyPr wrap="square" lIns="45720" rIns="45720" tIns="18288" bIns="18288" anchor="ctr">
            <a:spAutoFit/>
          </a:bodyPr>
          <a:lstStyle/>
          <a:p>
            <a:pPr algn="ctr"/>
            <a:r>
              <a:rPr sz="1000" b="1" i="0">
                <a:solidFill>
                  <a:srgbClr val="FFFFFF"/>
                </a:solidFill>
                <a:latin typeface="Arial"/>
              </a:rPr>
              <a:t>CS Apps · Kumar Jaladanki · CRM/CCC sub-team (vacancy)</a:t>
            </a:r>
          </a:p>
        </p:txBody>
      </p:sp>
      <p:sp>
        <p:nvSpPr>
          <p:cNvPr id="8" name="Rounded Rectangle 7"/>
          <p:cNvSpPr/>
          <p:nvPr/>
        </p:nvSpPr>
        <p:spPr>
          <a:xfrm>
            <a:off x="8168335" y="914400"/>
            <a:ext cx="3566160" cy="365760"/>
          </a:xfrm>
          <a:prstGeom prst="roundRect">
            <a:avLst>
              <a:gd name="adj" fmla="val 20000"/>
            </a:avLst>
          </a:prstGeom>
          <a:solidFill>
            <a:srgbClr val="F5F5F5"/>
          </a:solidFill>
          <a:ln w="127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68335" y="914400"/>
            <a:ext cx="3566160" cy="365760"/>
          </a:xfrm>
          <a:prstGeom prst="rect">
            <a:avLst/>
          </a:prstGeom>
          <a:noFill/>
        </p:spPr>
        <p:txBody>
          <a:bodyPr wrap="square" lIns="45720" rIns="45720" tIns="18288" bIns="18288" anchor="ctr">
            <a:spAutoFit/>
          </a:bodyPr>
          <a:lstStyle/>
          <a:p>
            <a:pPr algn="ctr"/>
            <a:r>
              <a:rPr sz="950" b="1" i="0">
                <a:solidFill>
                  <a:srgbClr val="2C578B"/>
                </a:solidFill>
                <a:latin typeface="Arial"/>
              </a:rPr>
              <a:t>Run · Grow · Transform mix  ·  Run 45% · Grow 35% · Transform 20% [estimate]</a:t>
            </a:r>
          </a:p>
        </p:txBody>
      </p:sp>
      <p:sp>
        <p:nvSpPr>
          <p:cNvPr id="10" name="Rounded Rectangle 9"/>
          <p:cNvSpPr/>
          <p:nvPr/>
        </p:nvSpPr>
        <p:spPr>
          <a:xfrm>
            <a:off x="457200" y="1371600"/>
            <a:ext cx="11277295" cy="594360"/>
          </a:xfrm>
          <a:prstGeom prst="roundRect">
            <a:avLst>
              <a:gd name="adj" fmla="val 5000"/>
            </a:avLst>
          </a:prstGeom>
          <a:solidFill>
            <a:srgbClr val="6785C1"/>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426464"/>
            <a:ext cx="10911535" cy="228600"/>
          </a:xfrm>
          <a:prstGeom prst="rect">
            <a:avLst/>
          </a:prstGeom>
          <a:noFill/>
        </p:spPr>
        <p:txBody>
          <a:bodyPr wrap="square" lIns="45720" rIns="45720" tIns="18288" bIns="18288" anchor="t">
            <a:spAutoFit/>
          </a:bodyPr>
          <a:lstStyle/>
          <a:p>
            <a:pPr algn="l"/>
            <a:r>
              <a:rPr sz="900" b="1" i="0">
                <a:solidFill>
                  <a:srgbClr val="0F1C50"/>
                </a:solidFill>
                <a:latin typeface="Arial"/>
              </a:rPr>
              <a:t>OUTCOME</a:t>
            </a:r>
          </a:p>
        </p:txBody>
      </p:sp>
      <p:sp>
        <p:nvSpPr>
          <p:cNvPr id="12" name="TextBox 11"/>
          <p:cNvSpPr txBox="1"/>
          <p:nvPr/>
        </p:nvSpPr>
        <p:spPr>
          <a:xfrm>
            <a:off x="640080" y="1618488"/>
            <a:ext cx="10911535" cy="365760"/>
          </a:xfrm>
          <a:prstGeom prst="rect">
            <a:avLst/>
          </a:prstGeom>
          <a:noFill/>
        </p:spPr>
        <p:txBody>
          <a:bodyPr wrap="square" lIns="45720" rIns="45720" tIns="18288" bIns="18288" anchor="t">
            <a:spAutoFit/>
          </a:bodyPr>
          <a:lstStyle/>
          <a:p>
            <a:pPr algn="l"/>
            <a:r>
              <a:rPr sz="1100" b="0" i="1">
                <a:solidFill>
                  <a:srgbClr val="2C3E50"/>
                </a:solidFill>
                <a:latin typeface="Arial"/>
              </a:rPr>
              <a:t>Unify CRM, Contact Center and digital self-service so every customer interaction lands in a single record with a clear next step.</a:t>
            </a:r>
          </a:p>
        </p:txBody>
      </p:sp>
      <p:sp>
        <p:nvSpPr>
          <p:cNvPr id="13" name="Rounded Rectangle 12"/>
          <p:cNvSpPr/>
          <p:nvPr/>
        </p:nvSpPr>
        <p:spPr>
          <a:xfrm>
            <a:off x="457200" y="2103120"/>
            <a:ext cx="5570067" cy="1965960"/>
          </a:xfrm>
          <a:prstGeom prst="roundRect">
            <a:avLst>
              <a:gd name="adj" fmla="val 5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103120"/>
            <a:ext cx="5570067"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1305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APPLICATIONS SUPPORTED</a:t>
            </a:r>
          </a:p>
        </p:txBody>
      </p:sp>
      <p:sp>
        <p:nvSpPr>
          <p:cNvPr id="16" name="TextBox 15"/>
          <p:cNvSpPr txBox="1"/>
          <p:nvPr/>
        </p:nvSpPr>
        <p:spPr>
          <a:xfrm>
            <a:off x="640080" y="25603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SAP CRM</a:t>
            </a:r>
          </a:p>
          <a:p>
            <a:pPr>
              <a:lnSpc>
                <a:spcPct val="130000"/>
              </a:lnSpc>
            </a:pPr>
            <a:r>
              <a:rPr sz="950" b="0">
                <a:solidFill>
                  <a:srgbClr val="2C3E50"/>
                </a:solidFill>
                <a:latin typeface="Arial"/>
              </a:rPr>
              <a:t>•  Contact Center platform (CCC)</a:t>
            </a:r>
          </a:p>
          <a:p>
            <a:pPr>
              <a:lnSpc>
                <a:spcPct val="130000"/>
              </a:lnSpc>
            </a:pPr>
            <a:r>
              <a:rPr sz="950" b="0">
                <a:solidFill>
                  <a:srgbClr val="2C3E50"/>
                </a:solidFill>
                <a:latin typeface="Arial"/>
              </a:rPr>
              <a:t>•  Medallia (CSAT and journey signal)</a:t>
            </a:r>
          </a:p>
          <a:p>
            <a:pPr>
              <a:lnSpc>
                <a:spcPct val="130000"/>
              </a:lnSpc>
            </a:pPr>
            <a:r>
              <a:rPr sz="950" b="0">
                <a:solidFill>
                  <a:srgbClr val="2C3E50"/>
                </a:solidFill>
                <a:latin typeface="Arial"/>
              </a:rPr>
              <a:t>•  IVR Solution</a:t>
            </a:r>
          </a:p>
          <a:p>
            <a:pPr>
              <a:lnSpc>
                <a:spcPct val="130000"/>
              </a:lnSpc>
            </a:pPr>
            <a:r>
              <a:rPr sz="950" b="0">
                <a:solidFill>
                  <a:srgbClr val="2C3E50"/>
                </a:solidFill>
                <a:latin typeface="Arial"/>
              </a:rPr>
              <a:t>•  Digital self-service / chatbot</a:t>
            </a:r>
          </a:p>
        </p:txBody>
      </p:sp>
      <p:sp>
        <p:nvSpPr>
          <p:cNvPr id="17" name="TextBox 16"/>
          <p:cNvSpPr txBox="1"/>
          <p:nvPr/>
        </p:nvSpPr>
        <p:spPr>
          <a:xfrm>
            <a:off x="594360" y="38130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(KB-confirmed unless flagged [GAP])</a:t>
            </a:r>
          </a:p>
        </p:txBody>
      </p:sp>
      <p:sp>
        <p:nvSpPr>
          <p:cNvPr id="18" name="Rounded Rectangle 17"/>
          <p:cNvSpPr/>
          <p:nvPr/>
        </p:nvSpPr>
        <p:spPr>
          <a:xfrm>
            <a:off x="6164427" y="2103120"/>
            <a:ext cx="5570067" cy="1965960"/>
          </a:xfrm>
          <a:prstGeom prst="roundRect">
            <a:avLst>
              <a:gd name="adj" fmla="val 5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4427" y="2103120"/>
            <a:ext cx="5570067"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1587" y="21305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DEMAND SOURCES — who sends the work</a:t>
            </a:r>
          </a:p>
        </p:txBody>
      </p:sp>
      <p:sp>
        <p:nvSpPr>
          <p:cNvPr id="21" name="TextBox 20"/>
          <p:cNvSpPr txBox="1"/>
          <p:nvPr/>
        </p:nvSpPr>
        <p:spPr>
          <a:xfrm>
            <a:off x="6347307" y="25603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Customer Operations (Heather LaJoie's Product Mgmt)</a:t>
            </a:r>
          </a:p>
          <a:p>
            <a:pPr>
              <a:lnSpc>
                <a:spcPct val="130000"/>
              </a:lnSpc>
            </a:pPr>
            <a:r>
              <a:rPr sz="950" b="0">
                <a:solidFill>
                  <a:srgbClr val="2C3E50"/>
                </a:solidFill>
                <a:latin typeface="Arial"/>
              </a:rPr>
              <a:t>•  Marketing &amp; Communications (campaign demand)</a:t>
            </a:r>
          </a:p>
          <a:p>
            <a:pPr>
              <a:lnSpc>
                <a:spcPct val="130000"/>
              </a:lnSpc>
            </a:pPr>
            <a:r>
              <a:rPr sz="950" b="0">
                <a:solidFill>
                  <a:srgbClr val="2C3E50"/>
                </a:solidFill>
                <a:latin typeface="Arial"/>
              </a:rPr>
              <a:t>•  OPCO call centers (UIL · CMP · NY)</a:t>
            </a:r>
          </a:p>
          <a:p>
            <a:pPr>
              <a:lnSpc>
                <a:spcPct val="130000"/>
              </a:lnSpc>
            </a:pPr>
            <a:r>
              <a:rPr sz="950" b="0">
                <a:solidFill>
                  <a:srgbClr val="2C3E50"/>
                </a:solidFill>
                <a:latin typeface="Arial"/>
              </a:rPr>
              <a:t>•  Customer Service GenAI initiative pipeline</a:t>
            </a:r>
          </a:p>
        </p:txBody>
      </p:sp>
      <p:sp>
        <p:nvSpPr>
          <p:cNvPr id="22" name="TextBox 21"/>
          <p:cNvSpPr txBox="1"/>
          <p:nvPr/>
        </p:nvSpPr>
        <p:spPr>
          <a:xfrm>
            <a:off x="6301587" y="38130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Routed via the Jira request type for this Value Stream</a:t>
            </a:r>
          </a:p>
        </p:txBody>
      </p:sp>
      <p:sp>
        <p:nvSpPr>
          <p:cNvPr id="23" name="Rounded Rectangle 22"/>
          <p:cNvSpPr/>
          <p:nvPr/>
        </p:nvSpPr>
        <p:spPr>
          <a:xfrm>
            <a:off x="457200" y="4160520"/>
            <a:ext cx="5570067" cy="196596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4160520"/>
            <a:ext cx="5570067" cy="3657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41879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AVANGRID CORE TEAM</a:t>
            </a:r>
          </a:p>
        </p:txBody>
      </p:sp>
      <p:sp>
        <p:nvSpPr>
          <p:cNvPr id="26" name="TextBox 25"/>
          <p:cNvSpPr txBox="1"/>
          <p:nvPr/>
        </p:nvSpPr>
        <p:spPr>
          <a:xfrm>
            <a:off x="640080" y="46177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Product Manager (NEW)</a:t>
            </a:r>
          </a:p>
          <a:p>
            <a:pPr>
              <a:lnSpc>
                <a:spcPct val="130000"/>
              </a:lnSpc>
            </a:pPr>
            <a:r>
              <a:rPr sz="950" b="0">
                <a:solidFill>
                  <a:srgbClr val="2C3E50"/>
                </a:solidFill>
                <a:latin typeface="Arial"/>
              </a:rPr>
              <a:t>•  Tech Lead — vacancy (CRM &amp; Contact Center Ops)</a:t>
            </a:r>
          </a:p>
          <a:p>
            <a:pPr>
              <a:lnSpc>
                <a:spcPct val="130000"/>
              </a:lnSpc>
            </a:pPr>
            <a:r>
              <a:rPr sz="950" b="0">
                <a:solidFill>
                  <a:srgbClr val="2C3E50"/>
                </a:solidFill>
                <a:latin typeface="Arial"/>
              </a:rPr>
              <a:t>•  Business Analyst — CX SME</a:t>
            </a:r>
          </a:p>
          <a:p>
            <a:pPr>
              <a:lnSpc>
                <a:spcPct val="130000"/>
              </a:lnSpc>
            </a:pPr>
            <a:r>
              <a:rPr sz="950" b="0">
                <a:solidFill>
                  <a:srgbClr val="2C3E50"/>
                </a:solidFill>
                <a:latin typeface="Arial"/>
              </a:rPr>
              <a:t>•  [GAP] confirm CCC sub-team lead post-vacancy</a:t>
            </a:r>
          </a:p>
        </p:txBody>
      </p:sp>
      <p:sp>
        <p:nvSpPr>
          <p:cNvPr id="27" name="TextBox 26"/>
          <p:cNvSpPr txBox="1"/>
          <p:nvPr/>
        </p:nvSpPr>
        <p:spPr>
          <a:xfrm>
            <a:off x="594360" y="58704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 3–5 FTE per Value Stream</a:t>
            </a:r>
          </a:p>
        </p:txBody>
      </p:sp>
      <p:sp>
        <p:nvSpPr>
          <p:cNvPr id="28" name="Rounded Rectangle 27"/>
          <p:cNvSpPr/>
          <p:nvPr/>
        </p:nvSpPr>
        <p:spPr>
          <a:xfrm>
            <a:off x="6164427" y="4160520"/>
            <a:ext cx="5570067" cy="1965960"/>
          </a:xfrm>
          <a:prstGeom prst="roundRect">
            <a:avLst>
              <a:gd name="adj" fmla="val 5000"/>
            </a:avLst>
          </a:prstGeom>
          <a:solidFill>
            <a:srgbClr val="FFFFFF"/>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64427" y="4160520"/>
            <a:ext cx="5570067" cy="36576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1587" y="41879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VENDOR EXTENSION (delivery)</a:t>
            </a:r>
          </a:p>
        </p:txBody>
      </p:sp>
      <p:sp>
        <p:nvSpPr>
          <p:cNvPr id="31" name="TextBox 30"/>
          <p:cNvSpPr txBox="1"/>
          <p:nvPr/>
        </p:nvSpPr>
        <p:spPr>
          <a:xfrm>
            <a:off x="6347307" y="46177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Lemur-Salesforce (CRM delivery)</a:t>
            </a:r>
          </a:p>
          <a:p>
            <a:pPr>
              <a:lnSpc>
                <a:spcPct val="130000"/>
              </a:lnSpc>
            </a:pPr>
            <a:r>
              <a:rPr sz="950" b="0">
                <a:solidFill>
                  <a:srgbClr val="2C3E50"/>
                </a:solidFill>
                <a:latin typeface="Arial"/>
              </a:rPr>
              <a:t>•  IVR vendor</a:t>
            </a:r>
          </a:p>
          <a:p>
            <a:pPr>
              <a:lnSpc>
                <a:spcPct val="130000"/>
              </a:lnSpc>
            </a:pPr>
            <a:r>
              <a:rPr sz="950" b="0">
                <a:solidFill>
                  <a:srgbClr val="2C3E50"/>
                </a:solidFill>
                <a:latin typeface="Arial"/>
              </a:rPr>
              <a:t>•  Medallia partner</a:t>
            </a:r>
          </a:p>
          <a:p>
            <a:pPr>
              <a:lnSpc>
                <a:spcPct val="130000"/>
              </a:lnSpc>
            </a:pPr>
            <a:r>
              <a:rPr sz="950" b="0">
                <a:solidFill>
                  <a:srgbClr val="2C3E50"/>
                </a:solidFill>
                <a:latin typeface="Arial"/>
              </a:rPr>
              <a:t>•  Digital channel agency</a:t>
            </a:r>
          </a:p>
        </p:txBody>
      </p:sp>
      <p:sp>
        <p:nvSpPr>
          <p:cNvPr id="32" name="TextBox 31"/>
          <p:cNvSpPr txBox="1"/>
          <p:nvPr/>
        </p:nvSpPr>
        <p:spPr>
          <a:xfrm>
            <a:off x="6301587" y="58704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Avangrid = product owner · vendor = delivery muscle</a:t>
            </a:r>
          </a:p>
        </p:txBody>
      </p:sp>
      <p:sp>
        <p:nvSpPr>
          <p:cNvPr id="33" name="TextBox 32"/>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VALUE STREAM</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FO FIELD OPERATIONS — FIELD CREWS DISPATCHED, TRACKED, AND CLOSED IN ONE WORKFLOW</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ounded Rectangle 5"/>
          <p:cNvSpPr/>
          <p:nvPr/>
        </p:nvSpPr>
        <p:spPr>
          <a:xfrm>
            <a:off x="457200" y="914400"/>
            <a:ext cx="3108960" cy="365760"/>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14400"/>
            <a:ext cx="3108960" cy="365760"/>
          </a:xfrm>
          <a:prstGeom prst="rect">
            <a:avLst/>
          </a:prstGeom>
          <a:noFill/>
        </p:spPr>
        <p:txBody>
          <a:bodyPr wrap="square" lIns="45720" rIns="45720" tIns="18288" bIns="18288" anchor="ctr">
            <a:spAutoFit/>
          </a:bodyPr>
          <a:lstStyle/>
          <a:p>
            <a:pPr algn="ctr"/>
            <a:r>
              <a:rPr sz="1000" b="1" i="0">
                <a:solidFill>
                  <a:srgbClr val="FFFFFF"/>
                </a:solidFill>
                <a:latin typeface="Arial"/>
              </a:rPr>
              <a:t>IT Apps · Carlos Garbin · George Porto (sub-team lead)</a:t>
            </a:r>
          </a:p>
        </p:txBody>
      </p:sp>
      <p:sp>
        <p:nvSpPr>
          <p:cNvPr id="8" name="Rounded Rectangle 7"/>
          <p:cNvSpPr/>
          <p:nvPr/>
        </p:nvSpPr>
        <p:spPr>
          <a:xfrm>
            <a:off x="8168335" y="914400"/>
            <a:ext cx="3566160" cy="365760"/>
          </a:xfrm>
          <a:prstGeom prst="roundRect">
            <a:avLst>
              <a:gd name="adj" fmla="val 20000"/>
            </a:avLst>
          </a:prstGeom>
          <a:solidFill>
            <a:srgbClr val="F5F5F5"/>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68335" y="914400"/>
            <a:ext cx="3566160" cy="365760"/>
          </a:xfrm>
          <a:prstGeom prst="rect">
            <a:avLst/>
          </a:prstGeom>
          <a:noFill/>
        </p:spPr>
        <p:txBody>
          <a:bodyPr wrap="square" lIns="45720" rIns="45720" tIns="18288" bIns="18288" anchor="ctr">
            <a:spAutoFit/>
          </a:bodyPr>
          <a:lstStyle/>
          <a:p>
            <a:pPr algn="ctr"/>
            <a:r>
              <a:rPr sz="950" b="1" i="0">
                <a:solidFill>
                  <a:srgbClr val="2E7D32"/>
                </a:solidFill>
                <a:latin typeface="Arial"/>
              </a:rPr>
              <a:t>Run · Grow · Transform mix  ·  Run 65% · Grow 25% · Transform 10% [estimate]</a:t>
            </a:r>
          </a:p>
        </p:txBody>
      </p:sp>
      <p:sp>
        <p:nvSpPr>
          <p:cNvPr id="10" name="Rounded Rectangle 9"/>
          <p:cNvSpPr/>
          <p:nvPr/>
        </p:nvSpPr>
        <p:spPr>
          <a:xfrm>
            <a:off x="457200" y="1371600"/>
            <a:ext cx="11277295" cy="594360"/>
          </a:xfrm>
          <a:prstGeom prst="roundRect">
            <a:avLst>
              <a:gd name="adj" fmla="val 5000"/>
            </a:avLst>
          </a:prstGeom>
          <a:solidFill>
            <a:srgbClr val="6785C1"/>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426464"/>
            <a:ext cx="10911535" cy="228600"/>
          </a:xfrm>
          <a:prstGeom prst="rect">
            <a:avLst/>
          </a:prstGeom>
          <a:noFill/>
        </p:spPr>
        <p:txBody>
          <a:bodyPr wrap="square" lIns="45720" rIns="45720" tIns="18288" bIns="18288" anchor="t">
            <a:spAutoFit/>
          </a:bodyPr>
          <a:lstStyle/>
          <a:p>
            <a:pPr algn="l"/>
            <a:r>
              <a:rPr sz="900" b="1" i="0">
                <a:solidFill>
                  <a:srgbClr val="0F1C50"/>
                </a:solidFill>
                <a:latin typeface="Arial"/>
              </a:rPr>
              <a:t>OUTCOME</a:t>
            </a:r>
          </a:p>
        </p:txBody>
      </p:sp>
      <p:sp>
        <p:nvSpPr>
          <p:cNvPr id="12" name="TextBox 11"/>
          <p:cNvSpPr txBox="1"/>
          <p:nvPr/>
        </p:nvSpPr>
        <p:spPr>
          <a:xfrm>
            <a:off x="640080" y="1618488"/>
            <a:ext cx="10911535" cy="365760"/>
          </a:xfrm>
          <a:prstGeom prst="rect">
            <a:avLst/>
          </a:prstGeom>
          <a:noFill/>
        </p:spPr>
        <p:txBody>
          <a:bodyPr wrap="square" lIns="45720" rIns="45720" tIns="18288" bIns="18288" anchor="t">
            <a:spAutoFit/>
          </a:bodyPr>
          <a:lstStyle/>
          <a:p>
            <a:pPr algn="l"/>
            <a:r>
              <a:rPr sz="1100" b="0" i="1">
                <a:solidFill>
                  <a:srgbClr val="2C3E50"/>
                </a:solidFill>
                <a:latin typeface="Arial"/>
              </a:rPr>
              <a:t>GIS, workforce, outage and storm response capabilities operate as one integrated field operations stack.</a:t>
            </a:r>
          </a:p>
        </p:txBody>
      </p:sp>
      <p:sp>
        <p:nvSpPr>
          <p:cNvPr id="13" name="Rounded Rectangle 12"/>
          <p:cNvSpPr/>
          <p:nvPr/>
        </p:nvSpPr>
        <p:spPr>
          <a:xfrm>
            <a:off x="457200" y="2103120"/>
            <a:ext cx="5570067" cy="196596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103120"/>
            <a:ext cx="5570067" cy="3657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1305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APPLICATIONS SUPPORTED</a:t>
            </a:r>
          </a:p>
        </p:txBody>
      </p:sp>
      <p:sp>
        <p:nvSpPr>
          <p:cNvPr id="16" name="TextBox 15"/>
          <p:cNvSpPr txBox="1"/>
          <p:nvPr/>
        </p:nvSpPr>
        <p:spPr>
          <a:xfrm>
            <a:off x="640080" y="25603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ESRI ArcGIS (network model)</a:t>
            </a:r>
          </a:p>
          <a:p>
            <a:pPr>
              <a:lnSpc>
                <a:spcPct val="130000"/>
              </a:lnSpc>
            </a:pPr>
            <a:r>
              <a:rPr sz="950" b="0">
                <a:solidFill>
                  <a:srgbClr val="2C3E50"/>
                </a:solidFill>
                <a:latin typeface="Arial"/>
              </a:rPr>
              <a:t>•  Smallworld GIS</a:t>
            </a:r>
          </a:p>
          <a:p>
            <a:pPr>
              <a:lnSpc>
                <a:spcPct val="130000"/>
              </a:lnSpc>
            </a:pPr>
            <a:r>
              <a:rPr sz="950" b="0">
                <a:solidFill>
                  <a:srgbClr val="2C3E50"/>
                </a:solidFill>
                <a:latin typeface="Arial"/>
              </a:rPr>
              <a:t>•  OSG — Outage / Storm Management</a:t>
            </a:r>
          </a:p>
          <a:p>
            <a:pPr>
              <a:lnSpc>
                <a:spcPct val="130000"/>
              </a:lnSpc>
            </a:pPr>
            <a:r>
              <a:rPr sz="950" b="0">
                <a:solidFill>
                  <a:srgbClr val="2C3E50"/>
                </a:solidFill>
                <a:latin typeface="Arial"/>
              </a:rPr>
              <a:t>•  Mobile workforce apps</a:t>
            </a:r>
          </a:p>
          <a:p>
            <a:pPr>
              <a:lnSpc>
                <a:spcPct val="130000"/>
              </a:lnSpc>
            </a:pPr>
            <a:r>
              <a:rPr sz="950" b="0">
                <a:solidFill>
                  <a:srgbClr val="2C3E50"/>
                </a:solidFill>
                <a:latin typeface="Arial"/>
              </a:rPr>
              <a:t>•  Crew dispatch tooling</a:t>
            </a:r>
          </a:p>
        </p:txBody>
      </p:sp>
      <p:sp>
        <p:nvSpPr>
          <p:cNvPr id="17" name="TextBox 16"/>
          <p:cNvSpPr txBox="1"/>
          <p:nvPr/>
        </p:nvSpPr>
        <p:spPr>
          <a:xfrm>
            <a:off x="594360" y="38130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(KB-confirmed unless flagged [GAP])</a:t>
            </a:r>
          </a:p>
        </p:txBody>
      </p:sp>
      <p:sp>
        <p:nvSpPr>
          <p:cNvPr id="18" name="Rounded Rectangle 17"/>
          <p:cNvSpPr/>
          <p:nvPr/>
        </p:nvSpPr>
        <p:spPr>
          <a:xfrm>
            <a:off x="6164427" y="2103120"/>
            <a:ext cx="5570067" cy="1965960"/>
          </a:xfrm>
          <a:prstGeom prst="roundRect">
            <a:avLst>
              <a:gd name="adj" fmla="val 5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4427" y="2103120"/>
            <a:ext cx="5570067"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1587" y="21305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DEMAND SOURCES — who sends the work</a:t>
            </a:r>
          </a:p>
        </p:txBody>
      </p:sp>
      <p:sp>
        <p:nvSpPr>
          <p:cNvPr id="21" name="TextBox 20"/>
          <p:cNvSpPr txBox="1"/>
          <p:nvPr/>
        </p:nvSpPr>
        <p:spPr>
          <a:xfrm>
            <a:off x="6347307" y="25603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G&amp;E Operations (Bruno Moreto's team)</a:t>
            </a:r>
          </a:p>
          <a:p>
            <a:pPr>
              <a:lnSpc>
                <a:spcPct val="130000"/>
              </a:lnSpc>
            </a:pPr>
            <a:r>
              <a:rPr sz="950" b="0">
                <a:solidFill>
                  <a:srgbClr val="2C3E50"/>
                </a:solidFill>
                <a:latin typeface="Arial"/>
              </a:rPr>
              <a:t>•  Field workforce and dispatch supervisors</a:t>
            </a:r>
          </a:p>
          <a:p>
            <a:pPr>
              <a:lnSpc>
                <a:spcPct val="130000"/>
              </a:lnSpc>
            </a:pPr>
            <a:r>
              <a:rPr sz="950" b="0">
                <a:solidFill>
                  <a:srgbClr val="2C3E50"/>
                </a:solidFill>
                <a:latin typeface="Arial"/>
              </a:rPr>
              <a:t>•  Storm response &amp; emergency management</a:t>
            </a:r>
          </a:p>
          <a:p>
            <a:pPr>
              <a:lnSpc>
                <a:spcPct val="130000"/>
              </a:lnSpc>
            </a:pPr>
            <a:r>
              <a:rPr sz="950" b="0">
                <a:solidFill>
                  <a:srgbClr val="2C3E50"/>
                </a:solidFill>
                <a:latin typeface="Arial"/>
              </a:rPr>
              <a:t>•  Iberdrola G&amp;E global program</a:t>
            </a:r>
          </a:p>
        </p:txBody>
      </p:sp>
      <p:sp>
        <p:nvSpPr>
          <p:cNvPr id="22" name="TextBox 21"/>
          <p:cNvSpPr txBox="1"/>
          <p:nvPr/>
        </p:nvSpPr>
        <p:spPr>
          <a:xfrm>
            <a:off x="6301587" y="38130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Routed via the Jira request type for this Value Stream</a:t>
            </a:r>
          </a:p>
        </p:txBody>
      </p:sp>
      <p:sp>
        <p:nvSpPr>
          <p:cNvPr id="23" name="Rounded Rectangle 22"/>
          <p:cNvSpPr/>
          <p:nvPr/>
        </p:nvSpPr>
        <p:spPr>
          <a:xfrm>
            <a:off x="457200" y="4160520"/>
            <a:ext cx="5570067" cy="196596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4160520"/>
            <a:ext cx="5570067" cy="3657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41879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AVANGRID CORE TEAM</a:t>
            </a:r>
          </a:p>
        </p:txBody>
      </p:sp>
      <p:sp>
        <p:nvSpPr>
          <p:cNvPr id="26" name="TextBox 25"/>
          <p:cNvSpPr txBox="1"/>
          <p:nvPr/>
        </p:nvSpPr>
        <p:spPr>
          <a:xfrm>
            <a:off x="640080" y="46177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Product Manager (NEW)</a:t>
            </a:r>
          </a:p>
          <a:p>
            <a:pPr>
              <a:lnSpc>
                <a:spcPct val="130000"/>
              </a:lnSpc>
            </a:pPr>
            <a:r>
              <a:rPr sz="950" b="0">
                <a:solidFill>
                  <a:srgbClr val="2C3E50"/>
                </a:solidFill>
                <a:latin typeface="Arial"/>
              </a:rPr>
              <a:t>•  Tech Lead — George Porto (GIS Champion)</a:t>
            </a:r>
          </a:p>
          <a:p>
            <a:pPr>
              <a:lnSpc>
                <a:spcPct val="130000"/>
              </a:lnSpc>
            </a:pPr>
            <a:r>
              <a:rPr sz="950" b="0">
                <a:solidFill>
                  <a:srgbClr val="2C3E50"/>
                </a:solidFill>
                <a:latin typeface="Arial"/>
              </a:rPr>
              <a:t>•  Business Analyst</a:t>
            </a:r>
          </a:p>
          <a:p>
            <a:pPr>
              <a:lnSpc>
                <a:spcPct val="130000"/>
              </a:lnSpc>
            </a:pPr>
            <a:r>
              <a:rPr sz="950" b="0">
                <a:solidFill>
                  <a:srgbClr val="2C3E50"/>
                </a:solidFill>
                <a:latin typeface="Arial"/>
              </a:rPr>
              <a:t>•  Field SMEs (rotating)</a:t>
            </a:r>
          </a:p>
        </p:txBody>
      </p:sp>
      <p:sp>
        <p:nvSpPr>
          <p:cNvPr id="27" name="TextBox 26"/>
          <p:cNvSpPr txBox="1"/>
          <p:nvPr/>
        </p:nvSpPr>
        <p:spPr>
          <a:xfrm>
            <a:off x="594360" y="58704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 3–5 FTE per Value Stream</a:t>
            </a:r>
          </a:p>
        </p:txBody>
      </p:sp>
      <p:sp>
        <p:nvSpPr>
          <p:cNvPr id="28" name="Rounded Rectangle 27"/>
          <p:cNvSpPr/>
          <p:nvPr/>
        </p:nvSpPr>
        <p:spPr>
          <a:xfrm>
            <a:off x="6164427" y="4160520"/>
            <a:ext cx="5570067" cy="1965960"/>
          </a:xfrm>
          <a:prstGeom prst="roundRect">
            <a:avLst>
              <a:gd name="adj" fmla="val 5000"/>
            </a:avLst>
          </a:prstGeom>
          <a:solidFill>
            <a:srgbClr val="FFFFFF"/>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64427" y="4160520"/>
            <a:ext cx="5570067" cy="36576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1587" y="41879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VENDOR EXTENSION (delivery)</a:t>
            </a:r>
          </a:p>
        </p:txBody>
      </p:sp>
      <p:sp>
        <p:nvSpPr>
          <p:cNvPr id="31" name="TextBox 30"/>
          <p:cNvSpPr txBox="1"/>
          <p:nvPr/>
        </p:nvSpPr>
        <p:spPr>
          <a:xfrm>
            <a:off x="6347307" y="46177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HCL (GIS support and maintenance)</a:t>
            </a:r>
          </a:p>
          <a:p>
            <a:pPr>
              <a:lnSpc>
                <a:spcPct val="130000"/>
              </a:lnSpc>
            </a:pPr>
            <a:r>
              <a:rPr sz="950" b="0">
                <a:solidFill>
                  <a:srgbClr val="2C3E50"/>
                </a:solidFill>
                <a:latin typeface="Arial"/>
              </a:rPr>
              <a:t>•  Esri partners</a:t>
            </a:r>
          </a:p>
          <a:p>
            <a:pPr>
              <a:lnSpc>
                <a:spcPct val="130000"/>
              </a:lnSpc>
            </a:pPr>
            <a:r>
              <a:rPr sz="950" b="0">
                <a:solidFill>
                  <a:srgbClr val="2C3E50"/>
                </a:solidFill>
                <a:latin typeface="Arial"/>
              </a:rPr>
              <a:t>•  OSG vendor</a:t>
            </a:r>
          </a:p>
        </p:txBody>
      </p:sp>
      <p:sp>
        <p:nvSpPr>
          <p:cNvPr id="32" name="TextBox 31"/>
          <p:cNvSpPr txBox="1"/>
          <p:nvPr/>
        </p:nvSpPr>
        <p:spPr>
          <a:xfrm>
            <a:off x="6301587" y="58704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Avangrid = product owner · vendor = delivery muscle</a:t>
            </a:r>
          </a:p>
        </p:txBody>
      </p:sp>
      <p:sp>
        <p:nvSpPr>
          <p:cNvPr id="33" name="TextBox 32"/>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VALUE STREAM</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EAM ENGINEERING &amp; ASSET MANAGEMENT — ASSET DATA TRUSTED ENOUGH TO DRIVE CAPITAL AND MAINTENANCE DECISIONS</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ounded Rectangle 5"/>
          <p:cNvSpPr/>
          <p:nvPr/>
        </p:nvSpPr>
        <p:spPr>
          <a:xfrm>
            <a:off x="457200" y="914400"/>
            <a:ext cx="3108960" cy="365760"/>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14400"/>
            <a:ext cx="3108960" cy="365760"/>
          </a:xfrm>
          <a:prstGeom prst="rect">
            <a:avLst/>
          </a:prstGeom>
          <a:noFill/>
        </p:spPr>
        <p:txBody>
          <a:bodyPr wrap="square" lIns="45720" rIns="45720" tIns="18288" bIns="18288" anchor="ctr">
            <a:spAutoFit/>
          </a:bodyPr>
          <a:lstStyle/>
          <a:p>
            <a:pPr algn="ctr"/>
            <a:r>
              <a:rPr sz="1000" b="1" i="0">
                <a:solidFill>
                  <a:srgbClr val="FFFFFF"/>
                </a:solidFill>
                <a:latin typeface="Arial"/>
              </a:rPr>
              <a:t>IT Apps · Carlos Garbin · cross sub-teams</a:t>
            </a:r>
          </a:p>
        </p:txBody>
      </p:sp>
      <p:sp>
        <p:nvSpPr>
          <p:cNvPr id="8" name="Rounded Rectangle 7"/>
          <p:cNvSpPr/>
          <p:nvPr/>
        </p:nvSpPr>
        <p:spPr>
          <a:xfrm>
            <a:off x="8168335" y="914400"/>
            <a:ext cx="3566160" cy="365760"/>
          </a:xfrm>
          <a:prstGeom prst="roundRect">
            <a:avLst>
              <a:gd name="adj" fmla="val 20000"/>
            </a:avLst>
          </a:prstGeom>
          <a:solidFill>
            <a:srgbClr val="F5F5F5"/>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68335" y="914400"/>
            <a:ext cx="3566160" cy="365760"/>
          </a:xfrm>
          <a:prstGeom prst="rect">
            <a:avLst/>
          </a:prstGeom>
          <a:noFill/>
        </p:spPr>
        <p:txBody>
          <a:bodyPr wrap="square" lIns="45720" rIns="45720" tIns="18288" bIns="18288" anchor="ctr">
            <a:spAutoFit/>
          </a:bodyPr>
          <a:lstStyle/>
          <a:p>
            <a:pPr algn="ctr"/>
            <a:r>
              <a:rPr sz="950" b="1" i="0">
                <a:solidFill>
                  <a:srgbClr val="2E7D32"/>
                </a:solidFill>
                <a:latin typeface="Arial"/>
              </a:rPr>
              <a:t>Run · Grow · Transform mix  ·  Run 55% · Grow 30% · Transform 15% [estimate]</a:t>
            </a:r>
          </a:p>
        </p:txBody>
      </p:sp>
      <p:sp>
        <p:nvSpPr>
          <p:cNvPr id="10" name="Rounded Rectangle 9"/>
          <p:cNvSpPr/>
          <p:nvPr/>
        </p:nvSpPr>
        <p:spPr>
          <a:xfrm>
            <a:off x="457200" y="1371600"/>
            <a:ext cx="11277295" cy="594360"/>
          </a:xfrm>
          <a:prstGeom prst="roundRect">
            <a:avLst>
              <a:gd name="adj" fmla="val 5000"/>
            </a:avLst>
          </a:prstGeom>
          <a:solidFill>
            <a:srgbClr val="6785C1"/>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426464"/>
            <a:ext cx="10911535" cy="228600"/>
          </a:xfrm>
          <a:prstGeom prst="rect">
            <a:avLst/>
          </a:prstGeom>
          <a:noFill/>
        </p:spPr>
        <p:txBody>
          <a:bodyPr wrap="square" lIns="45720" rIns="45720" tIns="18288" bIns="18288" anchor="t">
            <a:spAutoFit/>
          </a:bodyPr>
          <a:lstStyle/>
          <a:p>
            <a:pPr algn="l"/>
            <a:r>
              <a:rPr sz="900" b="1" i="0">
                <a:solidFill>
                  <a:srgbClr val="0F1C50"/>
                </a:solidFill>
                <a:latin typeface="Arial"/>
              </a:rPr>
              <a:t>OUTCOME</a:t>
            </a:r>
          </a:p>
        </p:txBody>
      </p:sp>
      <p:sp>
        <p:nvSpPr>
          <p:cNvPr id="12" name="TextBox 11"/>
          <p:cNvSpPr txBox="1"/>
          <p:nvPr/>
        </p:nvSpPr>
        <p:spPr>
          <a:xfrm>
            <a:off x="640080" y="1618488"/>
            <a:ext cx="10911535" cy="365760"/>
          </a:xfrm>
          <a:prstGeom prst="rect">
            <a:avLst/>
          </a:prstGeom>
          <a:noFill/>
        </p:spPr>
        <p:txBody>
          <a:bodyPr wrap="square" lIns="45720" rIns="45720" tIns="18288" bIns="18288" anchor="t">
            <a:spAutoFit/>
          </a:bodyPr>
          <a:lstStyle/>
          <a:p>
            <a:pPr algn="l"/>
            <a:r>
              <a:rPr sz="1100" b="0" i="1">
                <a:solidFill>
                  <a:srgbClr val="2C3E50"/>
                </a:solidFill>
                <a:latin typeface="Arial"/>
              </a:rPr>
              <a:t>Reliable engineering and maintenance data feeds the rate base, capital plan, and reliability commitments.</a:t>
            </a:r>
          </a:p>
        </p:txBody>
      </p:sp>
      <p:sp>
        <p:nvSpPr>
          <p:cNvPr id="13" name="Rounded Rectangle 12"/>
          <p:cNvSpPr/>
          <p:nvPr/>
        </p:nvSpPr>
        <p:spPr>
          <a:xfrm>
            <a:off x="457200" y="2103120"/>
            <a:ext cx="5570067" cy="196596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103120"/>
            <a:ext cx="5570067" cy="3657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1305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APPLICATIONS SUPPORTED</a:t>
            </a:r>
          </a:p>
        </p:txBody>
      </p:sp>
      <p:sp>
        <p:nvSpPr>
          <p:cNvPr id="16" name="TextBox 15"/>
          <p:cNvSpPr txBox="1"/>
          <p:nvPr/>
        </p:nvSpPr>
        <p:spPr>
          <a:xfrm>
            <a:off x="640080" y="25603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Maintenance management apps (16 apps · largest cluster)</a:t>
            </a:r>
          </a:p>
          <a:p>
            <a:pPr>
              <a:lnSpc>
                <a:spcPct val="130000"/>
              </a:lnSpc>
            </a:pPr>
            <a:r>
              <a:rPr sz="950" b="0">
                <a:solidFill>
                  <a:srgbClr val="2C3E50"/>
                </a:solidFill>
                <a:latin typeface="Arial"/>
              </a:rPr>
              <a:t>•  Asset Management systems</a:t>
            </a:r>
          </a:p>
          <a:p>
            <a:pPr>
              <a:lnSpc>
                <a:spcPct val="130000"/>
              </a:lnSpc>
            </a:pPr>
            <a:r>
              <a:rPr sz="950" b="0">
                <a:solidFill>
                  <a:srgbClr val="2C3E50"/>
                </a:solidFill>
                <a:latin typeface="Arial"/>
              </a:rPr>
              <a:t>•  Engineering design tools</a:t>
            </a:r>
          </a:p>
          <a:p>
            <a:pPr>
              <a:lnSpc>
                <a:spcPct val="130000"/>
              </a:lnSpc>
            </a:pPr>
            <a:r>
              <a:rPr sz="950" b="0">
                <a:solidFill>
                  <a:srgbClr val="2C3E50"/>
                </a:solidFill>
                <a:latin typeface="Arial"/>
              </a:rPr>
              <a:t>•  Reliability analytics</a:t>
            </a:r>
          </a:p>
        </p:txBody>
      </p:sp>
      <p:sp>
        <p:nvSpPr>
          <p:cNvPr id="17" name="TextBox 16"/>
          <p:cNvSpPr txBox="1"/>
          <p:nvPr/>
        </p:nvSpPr>
        <p:spPr>
          <a:xfrm>
            <a:off x="594360" y="38130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(KB-confirmed unless flagged [GAP])</a:t>
            </a:r>
          </a:p>
        </p:txBody>
      </p:sp>
      <p:sp>
        <p:nvSpPr>
          <p:cNvPr id="18" name="Rounded Rectangle 17"/>
          <p:cNvSpPr/>
          <p:nvPr/>
        </p:nvSpPr>
        <p:spPr>
          <a:xfrm>
            <a:off x="6164427" y="2103120"/>
            <a:ext cx="5570067" cy="1965960"/>
          </a:xfrm>
          <a:prstGeom prst="roundRect">
            <a:avLst>
              <a:gd name="adj" fmla="val 5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4427" y="2103120"/>
            <a:ext cx="5570067"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1587" y="21305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DEMAND SOURCES — who sends the work</a:t>
            </a:r>
          </a:p>
        </p:txBody>
      </p:sp>
      <p:sp>
        <p:nvSpPr>
          <p:cNvPr id="21" name="TextBox 20"/>
          <p:cNvSpPr txBox="1"/>
          <p:nvPr/>
        </p:nvSpPr>
        <p:spPr>
          <a:xfrm>
            <a:off x="6347307" y="25603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G&amp;E Engineering</a:t>
            </a:r>
          </a:p>
          <a:p>
            <a:pPr>
              <a:lnSpc>
                <a:spcPct val="130000"/>
              </a:lnSpc>
            </a:pPr>
            <a:r>
              <a:rPr sz="950" b="0">
                <a:solidFill>
                  <a:srgbClr val="2C3E50"/>
                </a:solidFill>
                <a:latin typeface="Arial"/>
              </a:rPr>
              <a:t>•  Asset planners and capital project sponsors</a:t>
            </a:r>
          </a:p>
          <a:p>
            <a:pPr>
              <a:lnSpc>
                <a:spcPct val="130000"/>
              </a:lnSpc>
            </a:pPr>
            <a:r>
              <a:rPr sz="950" b="0">
                <a:solidFill>
                  <a:srgbClr val="2C3E50"/>
                </a:solidFill>
                <a:latin typeface="Arial"/>
              </a:rPr>
              <a:t>•  Maintenance and reliability engineers</a:t>
            </a:r>
          </a:p>
          <a:p>
            <a:pPr>
              <a:lnSpc>
                <a:spcPct val="130000"/>
              </a:lnSpc>
            </a:pPr>
            <a:r>
              <a:rPr sz="950" b="0">
                <a:solidFill>
                  <a:srgbClr val="2C3E50"/>
                </a:solidFill>
                <a:latin typeface="Arial"/>
              </a:rPr>
              <a:t>•  Capital plan governance</a:t>
            </a:r>
          </a:p>
        </p:txBody>
      </p:sp>
      <p:sp>
        <p:nvSpPr>
          <p:cNvPr id="22" name="TextBox 21"/>
          <p:cNvSpPr txBox="1"/>
          <p:nvPr/>
        </p:nvSpPr>
        <p:spPr>
          <a:xfrm>
            <a:off x="6301587" y="38130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Routed via the Jira request type for this Value Stream</a:t>
            </a:r>
          </a:p>
        </p:txBody>
      </p:sp>
      <p:sp>
        <p:nvSpPr>
          <p:cNvPr id="23" name="Rounded Rectangle 22"/>
          <p:cNvSpPr/>
          <p:nvPr/>
        </p:nvSpPr>
        <p:spPr>
          <a:xfrm>
            <a:off x="457200" y="4160520"/>
            <a:ext cx="5570067" cy="196596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4160520"/>
            <a:ext cx="5570067" cy="3657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41879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AVANGRID CORE TEAM</a:t>
            </a:r>
          </a:p>
        </p:txBody>
      </p:sp>
      <p:sp>
        <p:nvSpPr>
          <p:cNvPr id="26" name="TextBox 25"/>
          <p:cNvSpPr txBox="1"/>
          <p:nvPr/>
        </p:nvSpPr>
        <p:spPr>
          <a:xfrm>
            <a:off x="640080" y="46177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Product Manager (NEW)</a:t>
            </a:r>
          </a:p>
          <a:p>
            <a:pPr>
              <a:lnSpc>
                <a:spcPct val="130000"/>
              </a:lnSpc>
            </a:pPr>
            <a:r>
              <a:rPr sz="950" b="0">
                <a:solidFill>
                  <a:srgbClr val="2C3E50"/>
                </a:solidFill>
                <a:latin typeface="Arial"/>
              </a:rPr>
              <a:t>•  Tech Lead</a:t>
            </a:r>
          </a:p>
          <a:p>
            <a:pPr>
              <a:lnSpc>
                <a:spcPct val="130000"/>
              </a:lnSpc>
            </a:pPr>
            <a:r>
              <a:rPr sz="950" b="0">
                <a:solidFill>
                  <a:srgbClr val="2C3E50"/>
                </a:solidFill>
                <a:latin typeface="Arial"/>
              </a:rPr>
              <a:t>•  Business Analyst</a:t>
            </a:r>
          </a:p>
          <a:p>
            <a:pPr>
              <a:lnSpc>
                <a:spcPct val="130000"/>
              </a:lnSpc>
            </a:pPr>
            <a:r>
              <a:rPr sz="950" b="0">
                <a:solidFill>
                  <a:srgbClr val="2C3E50"/>
                </a:solidFill>
                <a:latin typeface="Arial"/>
              </a:rPr>
              <a:t>•  Engineering &amp; Maintenance SMEs</a:t>
            </a:r>
          </a:p>
        </p:txBody>
      </p:sp>
      <p:sp>
        <p:nvSpPr>
          <p:cNvPr id="27" name="TextBox 26"/>
          <p:cNvSpPr txBox="1"/>
          <p:nvPr/>
        </p:nvSpPr>
        <p:spPr>
          <a:xfrm>
            <a:off x="594360" y="58704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 3–5 FTE per Value Stream</a:t>
            </a:r>
          </a:p>
        </p:txBody>
      </p:sp>
      <p:sp>
        <p:nvSpPr>
          <p:cNvPr id="28" name="Rounded Rectangle 27"/>
          <p:cNvSpPr/>
          <p:nvPr/>
        </p:nvSpPr>
        <p:spPr>
          <a:xfrm>
            <a:off x="6164427" y="4160520"/>
            <a:ext cx="5570067" cy="1965960"/>
          </a:xfrm>
          <a:prstGeom prst="roundRect">
            <a:avLst>
              <a:gd name="adj" fmla="val 5000"/>
            </a:avLst>
          </a:prstGeom>
          <a:solidFill>
            <a:srgbClr val="FFFFFF"/>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64427" y="4160520"/>
            <a:ext cx="5570067" cy="36576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1587" y="41879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VENDOR EXTENSION (delivery)</a:t>
            </a:r>
          </a:p>
        </p:txBody>
      </p:sp>
      <p:sp>
        <p:nvSpPr>
          <p:cNvPr id="31" name="TextBox 30"/>
          <p:cNvSpPr txBox="1"/>
          <p:nvPr/>
        </p:nvSpPr>
        <p:spPr>
          <a:xfrm>
            <a:off x="6347307" y="46177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SWF (delivery partner)</a:t>
            </a:r>
          </a:p>
          <a:p>
            <a:pPr>
              <a:lnSpc>
                <a:spcPct val="130000"/>
              </a:lnSpc>
            </a:pPr>
            <a:r>
              <a:rPr sz="950" b="0">
                <a:solidFill>
                  <a:srgbClr val="2C3E50"/>
                </a:solidFill>
                <a:latin typeface="Arial"/>
              </a:rPr>
              <a:t>•  OEMs (asset-specific)</a:t>
            </a:r>
          </a:p>
          <a:p>
            <a:pPr>
              <a:lnSpc>
                <a:spcPct val="130000"/>
              </a:lnSpc>
            </a:pPr>
            <a:r>
              <a:rPr sz="950" b="0">
                <a:solidFill>
                  <a:srgbClr val="2C3E50"/>
                </a:solidFill>
                <a:latin typeface="Arial"/>
              </a:rPr>
              <a:t>•  [GAP] consolidate vendor map for the 16-app maintenance cluster</a:t>
            </a:r>
          </a:p>
        </p:txBody>
      </p:sp>
      <p:sp>
        <p:nvSpPr>
          <p:cNvPr id="32" name="TextBox 31"/>
          <p:cNvSpPr txBox="1"/>
          <p:nvPr/>
        </p:nvSpPr>
        <p:spPr>
          <a:xfrm>
            <a:off x="6301587" y="58704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Avangrid = product owner · vendor = delivery muscle</a:t>
            </a:r>
          </a:p>
        </p:txBody>
      </p:sp>
      <p:sp>
        <p:nvSpPr>
          <p:cNvPr id="33" name="TextBox 32"/>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VALUE STREAM</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NOC NETWORK OPERATIONS &amp; CONTROL  [NEW STREAM] — REAL-TIME GRID VISIBILITY AND CONTROL WITH NO BLIND SPOTS</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ounded Rectangle 5"/>
          <p:cNvSpPr/>
          <p:nvPr/>
        </p:nvSpPr>
        <p:spPr>
          <a:xfrm>
            <a:off x="457200" y="914400"/>
            <a:ext cx="3108960" cy="365760"/>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14400"/>
            <a:ext cx="3108960" cy="365760"/>
          </a:xfrm>
          <a:prstGeom prst="rect">
            <a:avLst/>
          </a:prstGeom>
          <a:noFill/>
        </p:spPr>
        <p:txBody>
          <a:bodyPr wrap="square" lIns="45720" rIns="45720" tIns="18288" bIns="18288" anchor="ctr">
            <a:spAutoFit/>
          </a:bodyPr>
          <a:lstStyle/>
          <a:p>
            <a:pPr algn="ctr"/>
            <a:r>
              <a:rPr sz="1000" b="1" i="0">
                <a:solidFill>
                  <a:srgbClr val="FFFFFF"/>
                </a:solidFill>
                <a:latin typeface="Arial"/>
              </a:rPr>
              <a:t>IT Apps · Carlos Garbin · surfaced from IT Networks Application Assessment</a:t>
            </a:r>
          </a:p>
        </p:txBody>
      </p:sp>
      <p:sp>
        <p:nvSpPr>
          <p:cNvPr id="8" name="Rounded Rectangle 7"/>
          <p:cNvSpPr/>
          <p:nvPr/>
        </p:nvSpPr>
        <p:spPr>
          <a:xfrm>
            <a:off x="8168335" y="914400"/>
            <a:ext cx="3566160" cy="365760"/>
          </a:xfrm>
          <a:prstGeom prst="roundRect">
            <a:avLst>
              <a:gd name="adj" fmla="val 20000"/>
            </a:avLst>
          </a:prstGeom>
          <a:solidFill>
            <a:srgbClr val="F5F5F5"/>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68335" y="914400"/>
            <a:ext cx="3566160" cy="365760"/>
          </a:xfrm>
          <a:prstGeom prst="rect">
            <a:avLst/>
          </a:prstGeom>
          <a:noFill/>
        </p:spPr>
        <p:txBody>
          <a:bodyPr wrap="square" lIns="45720" rIns="45720" tIns="18288" bIns="18288" anchor="ctr">
            <a:spAutoFit/>
          </a:bodyPr>
          <a:lstStyle/>
          <a:p>
            <a:pPr algn="ctr"/>
            <a:r>
              <a:rPr sz="950" b="1" i="0">
                <a:solidFill>
                  <a:srgbClr val="2E7D32"/>
                </a:solidFill>
                <a:latin typeface="Arial"/>
              </a:rPr>
              <a:t>Run · Grow · Transform mix  ·  Run 70% · Grow 20% · Transform 10% [estimate · NEW stream]</a:t>
            </a:r>
          </a:p>
        </p:txBody>
      </p:sp>
      <p:sp>
        <p:nvSpPr>
          <p:cNvPr id="10" name="Rounded Rectangle 9"/>
          <p:cNvSpPr/>
          <p:nvPr/>
        </p:nvSpPr>
        <p:spPr>
          <a:xfrm>
            <a:off x="457200" y="1371600"/>
            <a:ext cx="11277295" cy="594360"/>
          </a:xfrm>
          <a:prstGeom prst="roundRect">
            <a:avLst>
              <a:gd name="adj" fmla="val 5000"/>
            </a:avLst>
          </a:prstGeom>
          <a:solidFill>
            <a:srgbClr val="6785C1"/>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426464"/>
            <a:ext cx="10911535" cy="228600"/>
          </a:xfrm>
          <a:prstGeom prst="rect">
            <a:avLst/>
          </a:prstGeom>
          <a:noFill/>
        </p:spPr>
        <p:txBody>
          <a:bodyPr wrap="square" lIns="45720" rIns="45720" tIns="18288" bIns="18288" anchor="t">
            <a:spAutoFit/>
          </a:bodyPr>
          <a:lstStyle/>
          <a:p>
            <a:pPr algn="l"/>
            <a:r>
              <a:rPr sz="900" b="1" i="0">
                <a:solidFill>
                  <a:srgbClr val="0F1C50"/>
                </a:solidFill>
                <a:latin typeface="Arial"/>
              </a:rPr>
              <a:t>OUTCOME</a:t>
            </a:r>
          </a:p>
        </p:txBody>
      </p:sp>
      <p:sp>
        <p:nvSpPr>
          <p:cNvPr id="12" name="TextBox 11"/>
          <p:cNvSpPr txBox="1"/>
          <p:nvPr/>
        </p:nvSpPr>
        <p:spPr>
          <a:xfrm>
            <a:off x="640080" y="1618488"/>
            <a:ext cx="10911535" cy="365760"/>
          </a:xfrm>
          <a:prstGeom prst="rect">
            <a:avLst/>
          </a:prstGeom>
          <a:noFill/>
        </p:spPr>
        <p:txBody>
          <a:bodyPr wrap="square" lIns="45720" rIns="45720" tIns="18288" bIns="18288" anchor="t">
            <a:spAutoFit/>
          </a:bodyPr>
          <a:lstStyle/>
          <a:p>
            <a:pPr algn="l"/>
            <a:r>
              <a:rPr sz="1100" b="0" i="1">
                <a:solidFill>
                  <a:srgbClr val="2C3E50"/>
                </a:solidFill>
                <a:latin typeface="Arial"/>
              </a:rPr>
              <a:t>SCADA, EMS, OMS and emerging DERMS/ADMS capabilities operate as one control-room stack — proposed as a NEW Value Stream after the 46-app assessment surfaced this gap.</a:t>
            </a:r>
          </a:p>
        </p:txBody>
      </p:sp>
      <p:sp>
        <p:nvSpPr>
          <p:cNvPr id="13" name="Rounded Rectangle 12"/>
          <p:cNvSpPr/>
          <p:nvPr/>
        </p:nvSpPr>
        <p:spPr>
          <a:xfrm>
            <a:off x="457200" y="2103120"/>
            <a:ext cx="5570067" cy="196596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103120"/>
            <a:ext cx="5570067" cy="3657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1305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APPLICATIONS SUPPORTED</a:t>
            </a:r>
          </a:p>
        </p:txBody>
      </p:sp>
      <p:sp>
        <p:nvSpPr>
          <p:cNvPr id="16" name="TextBox 15"/>
          <p:cNvSpPr txBox="1"/>
          <p:nvPr/>
        </p:nvSpPr>
        <p:spPr>
          <a:xfrm>
            <a:off x="640080" y="25603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SCADA</a:t>
            </a:r>
          </a:p>
          <a:p>
            <a:pPr>
              <a:lnSpc>
                <a:spcPct val="130000"/>
              </a:lnSpc>
            </a:pPr>
            <a:r>
              <a:rPr sz="950" b="0">
                <a:solidFill>
                  <a:srgbClr val="2C3E50"/>
                </a:solidFill>
                <a:latin typeface="Arial"/>
              </a:rPr>
              <a:t>•  EMS — Energy Management System</a:t>
            </a:r>
          </a:p>
          <a:p>
            <a:pPr>
              <a:lnSpc>
                <a:spcPct val="130000"/>
              </a:lnSpc>
            </a:pPr>
            <a:r>
              <a:rPr sz="950" b="0">
                <a:solidFill>
                  <a:srgbClr val="2C3E50"/>
                </a:solidFill>
                <a:latin typeface="Arial"/>
              </a:rPr>
              <a:t>•  OMS — Outage Management System</a:t>
            </a:r>
          </a:p>
          <a:p>
            <a:pPr>
              <a:lnSpc>
                <a:spcPct val="130000"/>
              </a:lnSpc>
            </a:pPr>
            <a:r>
              <a:rPr sz="950" b="0">
                <a:solidFill>
                  <a:srgbClr val="2C3E50"/>
                </a:solidFill>
                <a:latin typeface="Arial"/>
              </a:rPr>
              <a:t>•  DERMS / ADMS (emerging)</a:t>
            </a:r>
          </a:p>
          <a:p>
            <a:pPr>
              <a:lnSpc>
                <a:spcPct val="130000"/>
              </a:lnSpc>
            </a:pPr>
            <a:r>
              <a:rPr sz="950" b="0">
                <a:solidFill>
                  <a:srgbClr val="2C3E50"/>
                </a:solidFill>
                <a:latin typeface="Arial"/>
              </a:rPr>
              <a:t>•  (5 apps total — IT Networks Assessment Slide 10/23)</a:t>
            </a:r>
          </a:p>
        </p:txBody>
      </p:sp>
      <p:sp>
        <p:nvSpPr>
          <p:cNvPr id="17" name="TextBox 16"/>
          <p:cNvSpPr txBox="1"/>
          <p:nvPr/>
        </p:nvSpPr>
        <p:spPr>
          <a:xfrm>
            <a:off x="594360" y="38130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(KB-confirmed unless flagged [GAP])</a:t>
            </a:r>
          </a:p>
        </p:txBody>
      </p:sp>
      <p:sp>
        <p:nvSpPr>
          <p:cNvPr id="18" name="Rounded Rectangle 17"/>
          <p:cNvSpPr/>
          <p:nvPr/>
        </p:nvSpPr>
        <p:spPr>
          <a:xfrm>
            <a:off x="6164427" y="2103120"/>
            <a:ext cx="5570067" cy="1965960"/>
          </a:xfrm>
          <a:prstGeom prst="roundRect">
            <a:avLst>
              <a:gd name="adj" fmla="val 5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4427" y="2103120"/>
            <a:ext cx="5570067"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1587" y="21305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DEMAND SOURCES — who sends the work</a:t>
            </a:r>
          </a:p>
        </p:txBody>
      </p:sp>
      <p:sp>
        <p:nvSpPr>
          <p:cNvPr id="21" name="TextBox 20"/>
          <p:cNvSpPr txBox="1"/>
          <p:nvPr/>
        </p:nvSpPr>
        <p:spPr>
          <a:xfrm>
            <a:off x="6347307" y="25603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System Operations control room (24/7)</a:t>
            </a:r>
          </a:p>
          <a:p>
            <a:pPr>
              <a:lnSpc>
                <a:spcPct val="130000"/>
              </a:lnSpc>
            </a:pPr>
            <a:r>
              <a:rPr sz="950" b="0">
                <a:solidFill>
                  <a:srgbClr val="2C3E50"/>
                </a:solidFill>
                <a:latin typeface="Arial"/>
              </a:rPr>
              <a:t>•  Control engineers and reliability operators</a:t>
            </a:r>
          </a:p>
          <a:p>
            <a:pPr>
              <a:lnSpc>
                <a:spcPct val="130000"/>
              </a:lnSpc>
            </a:pPr>
            <a:r>
              <a:rPr sz="950" b="0">
                <a:solidFill>
                  <a:srgbClr val="2C3E50"/>
                </a:solidFill>
                <a:latin typeface="Arial"/>
              </a:rPr>
              <a:t>•  Storm Operations and Emergency Mgmt</a:t>
            </a:r>
          </a:p>
          <a:p>
            <a:pPr>
              <a:lnSpc>
                <a:spcPct val="130000"/>
              </a:lnSpc>
            </a:pPr>
            <a:r>
              <a:rPr sz="950" b="0">
                <a:solidFill>
                  <a:srgbClr val="2C3E50"/>
                </a:solidFill>
                <a:latin typeface="Arial"/>
              </a:rPr>
              <a:t>•  Reliability and grid-modernization initiatives</a:t>
            </a:r>
          </a:p>
        </p:txBody>
      </p:sp>
      <p:sp>
        <p:nvSpPr>
          <p:cNvPr id="22" name="TextBox 21"/>
          <p:cNvSpPr txBox="1"/>
          <p:nvPr/>
        </p:nvSpPr>
        <p:spPr>
          <a:xfrm>
            <a:off x="6301587" y="38130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Routed via the Jira request type for this Value Stream</a:t>
            </a:r>
          </a:p>
        </p:txBody>
      </p:sp>
      <p:sp>
        <p:nvSpPr>
          <p:cNvPr id="23" name="Rounded Rectangle 22"/>
          <p:cNvSpPr/>
          <p:nvPr/>
        </p:nvSpPr>
        <p:spPr>
          <a:xfrm>
            <a:off x="457200" y="4160520"/>
            <a:ext cx="5570067" cy="196596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4160520"/>
            <a:ext cx="5570067" cy="3657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41879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AVANGRID CORE TEAM</a:t>
            </a:r>
          </a:p>
        </p:txBody>
      </p:sp>
      <p:sp>
        <p:nvSpPr>
          <p:cNvPr id="26" name="TextBox 25"/>
          <p:cNvSpPr txBox="1"/>
          <p:nvPr/>
        </p:nvSpPr>
        <p:spPr>
          <a:xfrm>
            <a:off x="640080" y="46177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Product Manager (NEW)</a:t>
            </a:r>
          </a:p>
          <a:p>
            <a:pPr>
              <a:lnSpc>
                <a:spcPct val="130000"/>
              </a:lnSpc>
            </a:pPr>
            <a:r>
              <a:rPr sz="950" b="0">
                <a:solidFill>
                  <a:srgbClr val="2C3E50"/>
                </a:solidFill>
                <a:latin typeface="Arial"/>
              </a:rPr>
              <a:t>•  Tech Lead — control-room platform SME</a:t>
            </a:r>
          </a:p>
          <a:p>
            <a:pPr>
              <a:lnSpc>
                <a:spcPct val="130000"/>
              </a:lnSpc>
            </a:pPr>
            <a:r>
              <a:rPr sz="950" b="0">
                <a:solidFill>
                  <a:srgbClr val="2C3E50"/>
                </a:solidFill>
                <a:latin typeface="Arial"/>
              </a:rPr>
              <a:t>•  Business Analyst</a:t>
            </a:r>
          </a:p>
          <a:p>
            <a:pPr>
              <a:lnSpc>
                <a:spcPct val="130000"/>
              </a:lnSpc>
            </a:pPr>
            <a:r>
              <a:rPr sz="950" b="0">
                <a:solidFill>
                  <a:srgbClr val="2C3E50"/>
                </a:solidFill>
                <a:latin typeface="Arial"/>
              </a:rPr>
              <a:t>•  [GAP] confirm sub-team owner with Carlos and Travis</a:t>
            </a:r>
          </a:p>
        </p:txBody>
      </p:sp>
      <p:sp>
        <p:nvSpPr>
          <p:cNvPr id="27" name="TextBox 26"/>
          <p:cNvSpPr txBox="1"/>
          <p:nvPr/>
        </p:nvSpPr>
        <p:spPr>
          <a:xfrm>
            <a:off x="594360" y="58704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 3–5 FTE per Value Stream</a:t>
            </a:r>
          </a:p>
        </p:txBody>
      </p:sp>
      <p:sp>
        <p:nvSpPr>
          <p:cNvPr id="28" name="Rounded Rectangle 27"/>
          <p:cNvSpPr/>
          <p:nvPr/>
        </p:nvSpPr>
        <p:spPr>
          <a:xfrm>
            <a:off x="6164427" y="4160520"/>
            <a:ext cx="5570067" cy="1965960"/>
          </a:xfrm>
          <a:prstGeom prst="roundRect">
            <a:avLst>
              <a:gd name="adj" fmla="val 5000"/>
            </a:avLst>
          </a:prstGeom>
          <a:solidFill>
            <a:srgbClr val="FFFFFF"/>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64427" y="4160520"/>
            <a:ext cx="5570067" cy="36576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1587" y="41879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VENDOR EXTENSION (delivery)</a:t>
            </a:r>
          </a:p>
        </p:txBody>
      </p:sp>
      <p:sp>
        <p:nvSpPr>
          <p:cNvPr id="31" name="TextBox 30"/>
          <p:cNvSpPr txBox="1"/>
          <p:nvPr/>
        </p:nvSpPr>
        <p:spPr>
          <a:xfrm>
            <a:off x="6347307" y="46177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GE (SCADA / EMS partner)</a:t>
            </a:r>
          </a:p>
          <a:p>
            <a:pPr>
              <a:lnSpc>
                <a:spcPct val="130000"/>
              </a:lnSpc>
            </a:pPr>
            <a:r>
              <a:rPr sz="950" b="0">
                <a:solidFill>
                  <a:srgbClr val="2C3E50"/>
                </a:solidFill>
                <a:latin typeface="Arial"/>
              </a:rPr>
              <a:t>•  Siemens / ABB (OEM)</a:t>
            </a:r>
          </a:p>
          <a:p>
            <a:pPr>
              <a:lnSpc>
                <a:spcPct val="130000"/>
              </a:lnSpc>
            </a:pPr>
            <a:r>
              <a:rPr sz="950" b="0">
                <a:solidFill>
                  <a:srgbClr val="2C3E50"/>
                </a:solidFill>
                <a:latin typeface="Arial"/>
              </a:rPr>
              <a:t>•  [GAP] confirm primary OMS / DERMS vendor</a:t>
            </a:r>
          </a:p>
        </p:txBody>
      </p:sp>
      <p:sp>
        <p:nvSpPr>
          <p:cNvPr id="32" name="TextBox 31"/>
          <p:cNvSpPr txBox="1"/>
          <p:nvPr/>
        </p:nvSpPr>
        <p:spPr>
          <a:xfrm>
            <a:off x="6301587" y="58704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Avangrid = product owner · vendor = delivery muscle</a:t>
            </a:r>
          </a:p>
        </p:txBody>
      </p:sp>
      <p:sp>
        <p:nvSpPr>
          <p:cNvPr id="33" name="TextBox 32"/>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VALUE STREAM</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C&amp;R CORPORATE &amp; REGULATORY — CORPORATE AND REGULATORY DEMAND ROUTED ONCE, FULFILLED PREDICTABLY</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ounded Rectangle 5"/>
          <p:cNvSpPr/>
          <p:nvPr/>
        </p:nvSpPr>
        <p:spPr>
          <a:xfrm>
            <a:off x="457200" y="914400"/>
            <a:ext cx="3108960" cy="365760"/>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14400"/>
            <a:ext cx="3108960" cy="365760"/>
          </a:xfrm>
          <a:prstGeom prst="rect">
            <a:avLst/>
          </a:prstGeom>
          <a:noFill/>
        </p:spPr>
        <p:txBody>
          <a:bodyPr wrap="square" lIns="45720" rIns="45720" tIns="18288" bIns="18288" anchor="ctr">
            <a:spAutoFit/>
          </a:bodyPr>
          <a:lstStyle/>
          <a:p>
            <a:pPr algn="ctr"/>
            <a:r>
              <a:rPr sz="1000" b="1" i="0">
                <a:solidFill>
                  <a:srgbClr val="FFFFFF"/>
                </a:solidFill>
                <a:latin typeface="Arial"/>
              </a:rPr>
              <a:t>IT Apps · Carlos Garbin · Sarath Garikapati (sub-team lead)</a:t>
            </a:r>
          </a:p>
        </p:txBody>
      </p:sp>
      <p:sp>
        <p:nvSpPr>
          <p:cNvPr id="8" name="Rounded Rectangle 7"/>
          <p:cNvSpPr/>
          <p:nvPr/>
        </p:nvSpPr>
        <p:spPr>
          <a:xfrm>
            <a:off x="8168335" y="914400"/>
            <a:ext cx="3566160" cy="365760"/>
          </a:xfrm>
          <a:prstGeom prst="roundRect">
            <a:avLst>
              <a:gd name="adj" fmla="val 20000"/>
            </a:avLst>
          </a:prstGeom>
          <a:solidFill>
            <a:srgbClr val="F5F5F5"/>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68335" y="914400"/>
            <a:ext cx="3566160" cy="365760"/>
          </a:xfrm>
          <a:prstGeom prst="rect">
            <a:avLst/>
          </a:prstGeom>
          <a:noFill/>
        </p:spPr>
        <p:txBody>
          <a:bodyPr wrap="square" lIns="45720" rIns="45720" tIns="18288" bIns="18288" anchor="ctr">
            <a:spAutoFit/>
          </a:bodyPr>
          <a:lstStyle/>
          <a:p>
            <a:pPr algn="ctr"/>
            <a:r>
              <a:rPr sz="950" b="1" i="0">
                <a:solidFill>
                  <a:srgbClr val="2E7D32"/>
                </a:solidFill>
                <a:latin typeface="Arial"/>
              </a:rPr>
              <a:t>Run · Grow · Transform mix  ·  Run 50% · Grow 35% · Transform 15% [estimate]</a:t>
            </a:r>
          </a:p>
        </p:txBody>
      </p:sp>
      <p:sp>
        <p:nvSpPr>
          <p:cNvPr id="10" name="Rounded Rectangle 9"/>
          <p:cNvSpPr/>
          <p:nvPr/>
        </p:nvSpPr>
        <p:spPr>
          <a:xfrm>
            <a:off x="457200" y="1371600"/>
            <a:ext cx="11277295" cy="594360"/>
          </a:xfrm>
          <a:prstGeom prst="roundRect">
            <a:avLst>
              <a:gd name="adj" fmla="val 5000"/>
            </a:avLst>
          </a:prstGeom>
          <a:solidFill>
            <a:srgbClr val="6785C1"/>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426464"/>
            <a:ext cx="10911535" cy="228600"/>
          </a:xfrm>
          <a:prstGeom prst="rect">
            <a:avLst/>
          </a:prstGeom>
          <a:noFill/>
        </p:spPr>
        <p:txBody>
          <a:bodyPr wrap="square" lIns="45720" rIns="45720" tIns="18288" bIns="18288" anchor="t">
            <a:spAutoFit/>
          </a:bodyPr>
          <a:lstStyle/>
          <a:p>
            <a:pPr algn="l"/>
            <a:r>
              <a:rPr sz="900" b="1" i="0">
                <a:solidFill>
                  <a:srgbClr val="0F1C50"/>
                </a:solidFill>
                <a:latin typeface="Arial"/>
              </a:rPr>
              <a:t>OUTCOME</a:t>
            </a:r>
          </a:p>
        </p:txBody>
      </p:sp>
      <p:sp>
        <p:nvSpPr>
          <p:cNvPr id="12" name="TextBox 11"/>
          <p:cNvSpPr txBox="1"/>
          <p:nvPr/>
        </p:nvSpPr>
        <p:spPr>
          <a:xfrm>
            <a:off x="640080" y="1618488"/>
            <a:ext cx="10911535" cy="365760"/>
          </a:xfrm>
          <a:prstGeom prst="rect">
            <a:avLst/>
          </a:prstGeom>
          <a:noFill/>
        </p:spPr>
        <p:txBody>
          <a:bodyPr wrap="square" lIns="45720" rIns="45720" tIns="18288" bIns="18288" anchor="t">
            <a:spAutoFit/>
          </a:bodyPr>
          <a:lstStyle/>
          <a:p>
            <a:pPr algn="l"/>
            <a:r>
              <a:rPr sz="1100" b="0" i="1">
                <a:solidFill>
                  <a:srgbClr val="2C3E50"/>
                </a:solidFill>
                <a:latin typeface="Arial"/>
              </a:rPr>
              <a:t>Finance, HR, Procurement and Regulatory IT requests share one product team — no more 5-6 PJMs absorbing demand reactively.</a:t>
            </a:r>
          </a:p>
        </p:txBody>
      </p:sp>
      <p:sp>
        <p:nvSpPr>
          <p:cNvPr id="13" name="Rounded Rectangle 12"/>
          <p:cNvSpPr/>
          <p:nvPr/>
        </p:nvSpPr>
        <p:spPr>
          <a:xfrm>
            <a:off x="457200" y="2103120"/>
            <a:ext cx="5570067" cy="196596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103120"/>
            <a:ext cx="5570067" cy="3657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1305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APPLICATIONS SUPPORTED</a:t>
            </a:r>
          </a:p>
        </p:txBody>
      </p:sp>
      <p:sp>
        <p:nvSpPr>
          <p:cNvPr id="16" name="TextBox 15"/>
          <p:cNvSpPr txBox="1"/>
          <p:nvPr/>
        </p:nvSpPr>
        <p:spPr>
          <a:xfrm>
            <a:off x="640080" y="25603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SAP Finance</a:t>
            </a:r>
          </a:p>
          <a:p>
            <a:pPr>
              <a:lnSpc>
                <a:spcPct val="130000"/>
              </a:lnSpc>
            </a:pPr>
            <a:r>
              <a:rPr sz="950" b="0">
                <a:solidFill>
                  <a:srgbClr val="2C3E50"/>
                </a:solidFill>
                <a:latin typeface="Arial"/>
              </a:rPr>
              <a:t>•  SAP HR</a:t>
            </a:r>
          </a:p>
          <a:p>
            <a:pPr>
              <a:lnSpc>
                <a:spcPct val="130000"/>
              </a:lnSpc>
            </a:pPr>
            <a:r>
              <a:rPr sz="950" b="0">
                <a:solidFill>
                  <a:srgbClr val="2C3E50"/>
                </a:solidFill>
                <a:latin typeface="Arial"/>
              </a:rPr>
              <a:t>•  SAP Procurement</a:t>
            </a:r>
          </a:p>
          <a:p>
            <a:pPr>
              <a:lnSpc>
                <a:spcPct val="130000"/>
              </a:lnSpc>
            </a:pPr>
            <a:r>
              <a:rPr sz="950" b="0">
                <a:solidFill>
                  <a:srgbClr val="2C3E50"/>
                </a:solidFill>
                <a:latin typeface="Arial"/>
              </a:rPr>
              <a:t>•  Regulatory reporting tooling</a:t>
            </a:r>
          </a:p>
          <a:p>
            <a:pPr>
              <a:lnSpc>
                <a:spcPct val="130000"/>
              </a:lnSpc>
            </a:pPr>
            <a:r>
              <a:rPr sz="950" b="0">
                <a:solidFill>
                  <a:srgbClr val="2C3E50"/>
                </a:solidFill>
                <a:latin typeface="Arial"/>
              </a:rPr>
              <a:t>•  Document management cross-cuts</a:t>
            </a:r>
          </a:p>
        </p:txBody>
      </p:sp>
      <p:sp>
        <p:nvSpPr>
          <p:cNvPr id="17" name="TextBox 16"/>
          <p:cNvSpPr txBox="1"/>
          <p:nvPr/>
        </p:nvSpPr>
        <p:spPr>
          <a:xfrm>
            <a:off x="594360" y="38130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(KB-confirmed unless flagged [GAP])</a:t>
            </a:r>
          </a:p>
        </p:txBody>
      </p:sp>
      <p:sp>
        <p:nvSpPr>
          <p:cNvPr id="18" name="Rounded Rectangle 17"/>
          <p:cNvSpPr/>
          <p:nvPr/>
        </p:nvSpPr>
        <p:spPr>
          <a:xfrm>
            <a:off x="6164427" y="2103120"/>
            <a:ext cx="5570067" cy="1965960"/>
          </a:xfrm>
          <a:prstGeom prst="roundRect">
            <a:avLst>
              <a:gd name="adj" fmla="val 5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4427" y="2103120"/>
            <a:ext cx="5570067"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1587" y="21305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DEMAND SOURCES — who sends the work</a:t>
            </a:r>
          </a:p>
        </p:txBody>
      </p:sp>
      <p:sp>
        <p:nvSpPr>
          <p:cNvPr id="21" name="TextBox 20"/>
          <p:cNvSpPr txBox="1"/>
          <p:nvPr/>
        </p:nvSpPr>
        <p:spPr>
          <a:xfrm>
            <a:off x="6347307" y="25603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Corporate functions (Finance · HR · Procurement · Legal)</a:t>
            </a:r>
          </a:p>
          <a:p>
            <a:pPr>
              <a:lnSpc>
                <a:spcPct val="130000"/>
              </a:lnSpc>
            </a:pPr>
            <a:r>
              <a:rPr sz="950" b="0">
                <a:solidFill>
                  <a:srgbClr val="2C3E50"/>
                </a:solidFill>
                <a:latin typeface="Arial"/>
              </a:rPr>
              <a:t>•  Regulatory affairs across OPCOs</a:t>
            </a:r>
          </a:p>
          <a:p>
            <a:pPr>
              <a:lnSpc>
                <a:spcPct val="130000"/>
              </a:lnSpc>
            </a:pPr>
            <a:r>
              <a:rPr sz="950" b="0">
                <a:solidFill>
                  <a:srgbClr val="2C3E50"/>
                </a:solidFill>
                <a:latin typeface="Arial"/>
              </a:rPr>
              <a:t>•  Sarath's 5-6 PJM intake (today distributed)</a:t>
            </a:r>
          </a:p>
          <a:p>
            <a:pPr>
              <a:lnSpc>
                <a:spcPct val="130000"/>
              </a:lnSpc>
            </a:pPr>
            <a:r>
              <a:rPr sz="950" b="0">
                <a:solidFill>
                  <a:srgbClr val="2C3E50"/>
                </a:solidFill>
                <a:latin typeface="Arial"/>
              </a:rPr>
              <a:t>•  Iberdrola corporate compliance asks</a:t>
            </a:r>
          </a:p>
        </p:txBody>
      </p:sp>
      <p:sp>
        <p:nvSpPr>
          <p:cNvPr id="22" name="TextBox 21"/>
          <p:cNvSpPr txBox="1"/>
          <p:nvPr/>
        </p:nvSpPr>
        <p:spPr>
          <a:xfrm>
            <a:off x="6301587" y="38130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Routed via the Jira request type for this Value Stream</a:t>
            </a:r>
          </a:p>
        </p:txBody>
      </p:sp>
      <p:sp>
        <p:nvSpPr>
          <p:cNvPr id="23" name="Rounded Rectangle 22"/>
          <p:cNvSpPr/>
          <p:nvPr/>
        </p:nvSpPr>
        <p:spPr>
          <a:xfrm>
            <a:off x="457200" y="4160520"/>
            <a:ext cx="5570067" cy="196596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4160520"/>
            <a:ext cx="5570067" cy="3657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41879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AVANGRID CORE TEAM</a:t>
            </a:r>
          </a:p>
        </p:txBody>
      </p:sp>
      <p:sp>
        <p:nvSpPr>
          <p:cNvPr id="26" name="TextBox 25"/>
          <p:cNvSpPr txBox="1"/>
          <p:nvPr/>
        </p:nvSpPr>
        <p:spPr>
          <a:xfrm>
            <a:off x="640080" y="46177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Product Manager (NEW)</a:t>
            </a:r>
          </a:p>
          <a:p>
            <a:pPr>
              <a:lnSpc>
                <a:spcPct val="130000"/>
              </a:lnSpc>
            </a:pPr>
            <a:r>
              <a:rPr sz="950" b="0">
                <a:solidFill>
                  <a:srgbClr val="2C3E50"/>
                </a:solidFill>
                <a:latin typeface="Arial"/>
              </a:rPr>
              <a:t>•  Tech Lead — Amit Patel (Corporate Champion)</a:t>
            </a:r>
          </a:p>
          <a:p>
            <a:pPr>
              <a:lnSpc>
                <a:spcPct val="130000"/>
              </a:lnSpc>
            </a:pPr>
            <a:r>
              <a:rPr sz="950" b="0">
                <a:solidFill>
                  <a:srgbClr val="2C3E50"/>
                </a:solidFill>
                <a:latin typeface="Arial"/>
              </a:rPr>
              <a:t>•  Business Analyst</a:t>
            </a:r>
          </a:p>
          <a:p>
            <a:pPr>
              <a:lnSpc>
                <a:spcPct val="130000"/>
              </a:lnSpc>
            </a:pPr>
            <a:r>
              <a:rPr sz="950" b="0">
                <a:solidFill>
                  <a:srgbClr val="2C3E50"/>
                </a:solidFill>
                <a:latin typeface="Arial"/>
              </a:rPr>
              <a:t>•  PJM pool from Sarath (shared resource)</a:t>
            </a:r>
          </a:p>
        </p:txBody>
      </p:sp>
      <p:sp>
        <p:nvSpPr>
          <p:cNvPr id="27" name="TextBox 26"/>
          <p:cNvSpPr txBox="1"/>
          <p:nvPr/>
        </p:nvSpPr>
        <p:spPr>
          <a:xfrm>
            <a:off x="594360" y="58704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 3–5 FTE per Value Stream</a:t>
            </a:r>
          </a:p>
        </p:txBody>
      </p:sp>
      <p:sp>
        <p:nvSpPr>
          <p:cNvPr id="28" name="Rounded Rectangle 27"/>
          <p:cNvSpPr/>
          <p:nvPr/>
        </p:nvSpPr>
        <p:spPr>
          <a:xfrm>
            <a:off x="6164427" y="4160520"/>
            <a:ext cx="5570067" cy="1965960"/>
          </a:xfrm>
          <a:prstGeom prst="roundRect">
            <a:avLst>
              <a:gd name="adj" fmla="val 5000"/>
            </a:avLst>
          </a:prstGeom>
          <a:solidFill>
            <a:srgbClr val="FFFFFF"/>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64427" y="4160520"/>
            <a:ext cx="5570067" cy="36576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1587" y="41879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VENDOR EXTENSION (delivery)</a:t>
            </a:r>
          </a:p>
        </p:txBody>
      </p:sp>
      <p:sp>
        <p:nvSpPr>
          <p:cNvPr id="31" name="TextBox 30"/>
          <p:cNvSpPr txBox="1"/>
          <p:nvPr/>
        </p:nvSpPr>
        <p:spPr>
          <a:xfrm>
            <a:off x="6347307" y="46177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Accenture</a:t>
            </a:r>
          </a:p>
          <a:p>
            <a:pPr>
              <a:lnSpc>
                <a:spcPct val="130000"/>
              </a:lnSpc>
            </a:pPr>
            <a:r>
              <a:rPr sz="950" b="0">
                <a:solidFill>
                  <a:srgbClr val="2C3E50"/>
                </a:solidFill>
                <a:latin typeface="Arial"/>
              </a:rPr>
              <a:t>•  Infosys</a:t>
            </a:r>
          </a:p>
          <a:p>
            <a:pPr>
              <a:lnSpc>
                <a:spcPct val="130000"/>
              </a:lnSpc>
            </a:pPr>
            <a:r>
              <a:rPr sz="950" b="0">
                <a:solidFill>
                  <a:srgbClr val="2C3E50"/>
                </a:solidFill>
                <a:latin typeface="Arial"/>
              </a:rPr>
              <a:t>•  SAP partners (Finance / HR / Procurement)</a:t>
            </a:r>
          </a:p>
        </p:txBody>
      </p:sp>
      <p:sp>
        <p:nvSpPr>
          <p:cNvPr id="32" name="TextBox 31"/>
          <p:cNvSpPr txBox="1"/>
          <p:nvPr/>
        </p:nvSpPr>
        <p:spPr>
          <a:xfrm>
            <a:off x="6301587" y="58704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Avangrid = product owner · vendor = delivery muscle</a:t>
            </a:r>
          </a:p>
        </p:txBody>
      </p:sp>
      <p:sp>
        <p:nvSpPr>
          <p:cNvPr id="33" name="TextBox 32"/>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VALUE STREAM</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IBD IBERDROLA CORPORATE SERVICES — AVANGRID IN LOCK-STEP WITH IBERDROLA'S GLOBAL SAP RELEASES</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ounded Rectangle 5"/>
          <p:cNvSpPr/>
          <p:nvPr/>
        </p:nvSpPr>
        <p:spPr>
          <a:xfrm>
            <a:off x="457200" y="914400"/>
            <a:ext cx="3108960" cy="365760"/>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14400"/>
            <a:ext cx="3108960" cy="365760"/>
          </a:xfrm>
          <a:prstGeom prst="rect">
            <a:avLst/>
          </a:prstGeom>
          <a:noFill/>
        </p:spPr>
        <p:txBody>
          <a:bodyPr wrap="square" lIns="45720" rIns="45720" tIns="18288" bIns="18288" anchor="ctr">
            <a:spAutoFit/>
          </a:bodyPr>
          <a:lstStyle/>
          <a:p>
            <a:pPr algn="ctr"/>
            <a:r>
              <a:rPr sz="1000" b="1" i="0">
                <a:solidFill>
                  <a:srgbClr val="FFFFFF"/>
                </a:solidFill>
                <a:latin typeface="Arial"/>
              </a:rPr>
              <a:t>Cross-branch · Vanessa Colombo (Global SAP / FI / PO / Budget)</a:t>
            </a:r>
          </a:p>
        </p:txBody>
      </p:sp>
      <p:sp>
        <p:nvSpPr>
          <p:cNvPr id="8" name="Rounded Rectangle 7"/>
          <p:cNvSpPr/>
          <p:nvPr/>
        </p:nvSpPr>
        <p:spPr>
          <a:xfrm>
            <a:off x="8168335" y="914400"/>
            <a:ext cx="3566160" cy="365760"/>
          </a:xfrm>
          <a:prstGeom prst="roundRect">
            <a:avLst>
              <a:gd name="adj" fmla="val 20000"/>
            </a:avLst>
          </a:prstGeom>
          <a:solidFill>
            <a:srgbClr val="F5F5F5"/>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68335" y="914400"/>
            <a:ext cx="3566160" cy="365760"/>
          </a:xfrm>
          <a:prstGeom prst="rect">
            <a:avLst/>
          </a:prstGeom>
          <a:noFill/>
        </p:spPr>
        <p:txBody>
          <a:bodyPr wrap="square" lIns="45720" rIns="45720" tIns="18288" bIns="18288" anchor="ctr">
            <a:spAutoFit/>
          </a:bodyPr>
          <a:lstStyle/>
          <a:p>
            <a:pPr algn="ctr"/>
            <a:r>
              <a:rPr sz="950" b="1" i="0">
                <a:solidFill>
                  <a:srgbClr val="2E7D32"/>
                </a:solidFill>
                <a:latin typeface="Arial"/>
              </a:rPr>
              <a:t>Run · Grow · Transform mix  ·  Run 70% · Grow 25% · Transform 5% [estimate · stable cycle]</a:t>
            </a:r>
          </a:p>
        </p:txBody>
      </p:sp>
      <p:sp>
        <p:nvSpPr>
          <p:cNvPr id="10" name="Rounded Rectangle 9"/>
          <p:cNvSpPr/>
          <p:nvPr/>
        </p:nvSpPr>
        <p:spPr>
          <a:xfrm>
            <a:off x="457200" y="1371600"/>
            <a:ext cx="11277295" cy="594360"/>
          </a:xfrm>
          <a:prstGeom prst="roundRect">
            <a:avLst>
              <a:gd name="adj" fmla="val 5000"/>
            </a:avLst>
          </a:prstGeom>
          <a:solidFill>
            <a:srgbClr val="6785C1"/>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426464"/>
            <a:ext cx="10911535" cy="228600"/>
          </a:xfrm>
          <a:prstGeom prst="rect">
            <a:avLst/>
          </a:prstGeom>
          <a:noFill/>
        </p:spPr>
        <p:txBody>
          <a:bodyPr wrap="square" lIns="45720" rIns="45720" tIns="18288" bIns="18288" anchor="t">
            <a:spAutoFit/>
          </a:bodyPr>
          <a:lstStyle/>
          <a:p>
            <a:pPr algn="l"/>
            <a:r>
              <a:rPr sz="900" b="1" i="0">
                <a:solidFill>
                  <a:srgbClr val="0F1C50"/>
                </a:solidFill>
                <a:latin typeface="Arial"/>
              </a:rPr>
              <a:t>OUTCOME</a:t>
            </a:r>
          </a:p>
        </p:txBody>
      </p:sp>
      <p:sp>
        <p:nvSpPr>
          <p:cNvPr id="12" name="TextBox 11"/>
          <p:cNvSpPr txBox="1"/>
          <p:nvPr/>
        </p:nvSpPr>
        <p:spPr>
          <a:xfrm>
            <a:off x="640080" y="1618488"/>
            <a:ext cx="10911535" cy="365760"/>
          </a:xfrm>
          <a:prstGeom prst="rect">
            <a:avLst/>
          </a:prstGeom>
          <a:noFill/>
        </p:spPr>
        <p:txBody>
          <a:bodyPr wrap="square" lIns="45720" rIns="45720" tIns="18288" bIns="18288" anchor="t">
            <a:spAutoFit/>
          </a:bodyPr>
          <a:lstStyle/>
          <a:p>
            <a:pPr algn="l"/>
            <a:r>
              <a:rPr sz="1100" b="0" i="1">
                <a:solidFill>
                  <a:srgbClr val="2C3E50"/>
                </a:solidFill>
                <a:latin typeface="Arial"/>
              </a:rPr>
              <a:t>Global SAP, FI and budget integrations stay aligned to Iberdrola's release calendar without absorbing local demand variability.</a:t>
            </a:r>
          </a:p>
        </p:txBody>
      </p:sp>
      <p:sp>
        <p:nvSpPr>
          <p:cNvPr id="13" name="Rounded Rectangle 12"/>
          <p:cNvSpPr/>
          <p:nvPr/>
        </p:nvSpPr>
        <p:spPr>
          <a:xfrm>
            <a:off x="457200" y="2103120"/>
            <a:ext cx="5570067" cy="196596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103120"/>
            <a:ext cx="5570067" cy="3657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1305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APPLICATIONS SUPPORTED</a:t>
            </a:r>
          </a:p>
        </p:txBody>
      </p:sp>
      <p:sp>
        <p:nvSpPr>
          <p:cNvPr id="16" name="TextBox 15"/>
          <p:cNvSpPr txBox="1"/>
          <p:nvPr/>
        </p:nvSpPr>
        <p:spPr>
          <a:xfrm>
            <a:off x="640080" y="25603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Global SAP (Iberdrola template)</a:t>
            </a:r>
          </a:p>
          <a:p>
            <a:pPr>
              <a:lnSpc>
                <a:spcPct val="130000"/>
              </a:lnSpc>
            </a:pPr>
            <a:r>
              <a:rPr sz="950" b="0">
                <a:solidFill>
                  <a:srgbClr val="2C3E50"/>
                </a:solidFill>
                <a:latin typeface="Arial"/>
              </a:rPr>
              <a:t>•  Iberdrola FI integration</a:t>
            </a:r>
          </a:p>
          <a:p>
            <a:pPr>
              <a:lnSpc>
                <a:spcPct val="130000"/>
              </a:lnSpc>
            </a:pPr>
            <a:r>
              <a:rPr sz="950" b="0">
                <a:solidFill>
                  <a:srgbClr val="2C3E50"/>
                </a:solidFill>
                <a:latin typeface="Arial"/>
              </a:rPr>
              <a:t>•  PO / Budget integration</a:t>
            </a:r>
          </a:p>
          <a:p>
            <a:pPr>
              <a:lnSpc>
                <a:spcPct val="130000"/>
              </a:lnSpc>
            </a:pPr>
            <a:r>
              <a:rPr sz="950" b="0">
                <a:solidFill>
                  <a:srgbClr val="2C3E50"/>
                </a:solidFill>
                <a:latin typeface="Arial"/>
              </a:rPr>
              <a:t>•  Global compliance reporting</a:t>
            </a:r>
          </a:p>
        </p:txBody>
      </p:sp>
      <p:sp>
        <p:nvSpPr>
          <p:cNvPr id="17" name="TextBox 16"/>
          <p:cNvSpPr txBox="1"/>
          <p:nvPr/>
        </p:nvSpPr>
        <p:spPr>
          <a:xfrm>
            <a:off x="594360" y="38130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(KB-confirmed unless flagged [GAP])</a:t>
            </a:r>
          </a:p>
        </p:txBody>
      </p:sp>
      <p:sp>
        <p:nvSpPr>
          <p:cNvPr id="18" name="Rounded Rectangle 17"/>
          <p:cNvSpPr/>
          <p:nvPr/>
        </p:nvSpPr>
        <p:spPr>
          <a:xfrm>
            <a:off x="6164427" y="2103120"/>
            <a:ext cx="5570067" cy="1965960"/>
          </a:xfrm>
          <a:prstGeom prst="roundRect">
            <a:avLst>
              <a:gd name="adj" fmla="val 5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4427" y="2103120"/>
            <a:ext cx="5570067"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1587" y="21305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DEMAND SOURCES — who sends the work</a:t>
            </a:r>
          </a:p>
        </p:txBody>
      </p:sp>
      <p:sp>
        <p:nvSpPr>
          <p:cNvPr id="21" name="TextBox 20"/>
          <p:cNvSpPr txBox="1"/>
          <p:nvPr/>
        </p:nvSpPr>
        <p:spPr>
          <a:xfrm>
            <a:off x="6347307" y="25603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Iberdrola corporate (Bilbao)</a:t>
            </a:r>
          </a:p>
          <a:p>
            <a:pPr>
              <a:lnSpc>
                <a:spcPct val="130000"/>
              </a:lnSpc>
            </a:pPr>
            <a:r>
              <a:rPr sz="950" b="0">
                <a:solidFill>
                  <a:srgbClr val="2C3E50"/>
                </a:solidFill>
                <a:latin typeface="Arial"/>
              </a:rPr>
              <a:t>•  Vanessa Colombo's existing intake</a:t>
            </a:r>
          </a:p>
          <a:p>
            <a:pPr>
              <a:lnSpc>
                <a:spcPct val="130000"/>
              </a:lnSpc>
            </a:pPr>
            <a:r>
              <a:rPr sz="950" b="0">
                <a:solidFill>
                  <a:srgbClr val="2C3E50"/>
                </a:solidFill>
                <a:latin typeface="Arial"/>
              </a:rPr>
              <a:t>•  Global SAP release pipeline</a:t>
            </a:r>
          </a:p>
          <a:p>
            <a:pPr>
              <a:lnSpc>
                <a:spcPct val="130000"/>
              </a:lnSpc>
            </a:pPr>
            <a:r>
              <a:rPr sz="950" b="0">
                <a:solidFill>
                  <a:srgbClr val="2C3E50"/>
                </a:solidFill>
                <a:latin typeface="Arial"/>
              </a:rPr>
              <a:t>•  Group-wide finance and budget cycles</a:t>
            </a:r>
          </a:p>
        </p:txBody>
      </p:sp>
      <p:sp>
        <p:nvSpPr>
          <p:cNvPr id="22" name="TextBox 21"/>
          <p:cNvSpPr txBox="1"/>
          <p:nvPr/>
        </p:nvSpPr>
        <p:spPr>
          <a:xfrm>
            <a:off x="6301587" y="38130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Routed via the Jira request type for this Value Stream</a:t>
            </a:r>
          </a:p>
        </p:txBody>
      </p:sp>
      <p:sp>
        <p:nvSpPr>
          <p:cNvPr id="23" name="Rounded Rectangle 22"/>
          <p:cNvSpPr/>
          <p:nvPr/>
        </p:nvSpPr>
        <p:spPr>
          <a:xfrm>
            <a:off x="457200" y="4160520"/>
            <a:ext cx="5570067" cy="196596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4160520"/>
            <a:ext cx="5570067" cy="3657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41879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AVANGRID CORE TEAM</a:t>
            </a:r>
          </a:p>
        </p:txBody>
      </p:sp>
      <p:sp>
        <p:nvSpPr>
          <p:cNvPr id="26" name="TextBox 25"/>
          <p:cNvSpPr txBox="1"/>
          <p:nvPr/>
        </p:nvSpPr>
        <p:spPr>
          <a:xfrm>
            <a:off x="640080" y="46177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Product Manager (NEW)</a:t>
            </a:r>
          </a:p>
          <a:p>
            <a:pPr>
              <a:lnSpc>
                <a:spcPct val="130000"/>
              </a:lnSpc>
            </a:pPr>
            <a:r>
              <a:rPr sz="950" b="0">
                <a:solidFill>
                  <a:srgbClr val="2C3E50"/>
                </a:solidFill>
                <a:latin typeface="Arial"/>
              </a:rPr>
              <a:t>•  Tech Lead — Michael Dubois (Global SAP Champion)</a:t>
            </a:r>
          </a:p>
          <a:p>
            <a:pPr>
              <a:lnSpc>
                <a:spcPct val="130000"/>
              </a:lnSpc>
            </a:pPr>
            <a:r>
              <a:rPr sz="950" b="0">
                <a:solidFill>
                  <a:srgbClr val="2C3E50"/>
                </a:solidFill>
                <a:latin typeface="Arial"/>
              </a:rPr>
              <a:t>•  Business Analyst</a:t>
            </a:r>
          </a:p>
          <a:p>
            <a:pPr>
              <a:lnSpc>
                <a:spcPct val="130000"/>
              </a:lnSpc>
            </a:pPr>
            <a:r>
              <a:rPr sz="950" b="0">
                <a:solidFill>
                  <a:srgbClr val="2C3E50"/>
                </a:solidFill>
                <a:latin typeface="Arial"/>
              </a:rPr>
              <a:t>•  Vanessa Colombo (sub-team lead · cross-link)</a:t>
            </a:r>
          </a:p>
        </p:txBody>
      </p:sp>
      <p:sp>
        <p:nvSpPr>
          <p:cNvPr id="27" name="TextBox 26"/>
          <p:cNvSpPr txBox="1"/>
          <p:nvPr/>
        </p:nvSpPr>
        <p:spPr>
          <a:xfrm>
            <a:off x="594360" y="58704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 3–5 FTE per Value Stream</a:t>
            </a:r>
          </a:p>
        </p:txBody>
      </p:sp>
      <p:sp>
        <p:nvSpPr>
          <p:cNvPr id="28" name="Rounded Rectangle 27"/>
          <p:cNvSpPr/>
          <p:nvPr/>
        </p:nvSpPr>
        <p:spPr>
          <a:xfrm>
            <a:off x="6164427" y="4160520"/>
            <a:ext cx="5570067" cy="1965960"/>
          </a:xfrm>
          <a:prstGeom prst="roundRect">
            <a:avLst>
              <a:gd name="adj" fmla="val 5000"/>
            </a:avLst>
          </a:prstGeom>
          <a:solidFill>
            <a:srgbClr val="FFFFFF"/>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64427" y="4160520"/>
            <a:ext cx="5570067" cy="36576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1587" y="4187952"/>
            <a:ext cx="5295747" cy="310896"/>
          </a:xfrm>
          <a:prstGeom prst="rect">
            <a:avLst/>
          </a:prstGeom>
          <a:noFill/>
        </p:spPr>
        <p:txBody>
          <a:bodyPr wrap="square" lIns="45720" rIns="45720" tIns="18288" bIns="18288" anchor="ctr">
            <a:spAutoFit/>
          </a:bodyPr>
          <a:lstStyle/>
          <a:p>
            <a:pPr algn="l"/>
            <a:r>
              <a:rPr sz="1050" b="1" i="0">
                <a:solidFill>
                  <a:srgbClr val="FFFFFF"/>
                </a:solidFill>
                <a:latin typeface="Arial"/>
              </a:rPr>
              <a:t>VENDOR EXTENSION (delivery)</a:t>
            </a:r>
          </a:p>
        </p:txBody>
      </p:sp>
      <p:sp>
        <p:nvSpPr>
          <p:cNvPr id="31" name="TextBox 30"/>
          <p:cNvSpPr txBox="1"/>
          <p:nvPr/>
        </p:nvSpPr>
        <p:spPr>
          <a:xfrm>
            <a:off x="6347307" y="4617720"/>
            <a:ext cx="5204307" cy="1188720"/>
          </a:xfrm>
          <a:prstGeom prst="rect">
            <a:avLst/>
          </a:prstGeom>
          <a:noFill/>
        </p:spPr>
        <p:txBody>
          <a:bodyPr wrap="square" lIns="45720" rIns="45720" tIns="36576" bIns="36576">
            <a:spAutoFit/>
          </a:bodyPr>
          <a:lstStyle/>
          <a:p>
            <a:pPr>
              <a:lnSpc>
                <a:spcPct val="130000"/>
              </a:lnSpc>
            </a:pPr>
            <a:r>
              <a:rPr sz="950" b="0">
                <a:solidFill>
                  <a:srgbClr val="2C3E50"/>
                </a:solidFill>
                <a:latin typeface="Arial"/>
              </a:rPr>
              <a:t>•  Global SAP partners (Iberdrola-managed)</a:t>
            </a:r>
          </a:p>
          <a:p>
            <a:pPr>
              <a:lnSpc>
                <a:spcPct val="130000"/>
              </a:lnSpc>
            </a:pPr>
            <a:r>
              <a:rPr sz="950" b="0">
                <a:solidFill>
                  <a:srgbClr val="2C3E50"/>
                </a:solidFill>
                <a:latin typeface="Arial"/>
              </a:rPr>
              <a:t>•  Iberdrola IT (intra-group dependency)</a:t>
            </a:r>
          </a:p>
        </p:txBody>
      </p:sp>
      <p:sp>
        <p:nvSpPr>
          <p:cNvPr id="32" name="TextBox 31"/>
          <p:cNvSpPr txBox="1"/>
          <p:nvPr/>
        </p:nvSpPr>
        <p:spPr>
          <a:xfrm>
            <a:off x="6301587" y="5870448"/>
            <a:ext cx="5295747" cy="228600"/>
          </a:xfrm>
          <a:prstGeom prst="rect">
            <a:avLst/>
          </a:prstGeom>
          <a:noFill/>
        </p:spPr>
        <p:txBody>
          <a:bodyPr wrap="square" lIns="45720" rIns="45720" tIns="18288" bIns="18288" anchor="t">
            <a:spAutoFit/>
          </a:bodyPr>
          <a:lstStyle/>
          <a:p>
            <a:pPr algn="l"/>
            <a:r>
              <a:rPr sz="800" b="0" i="1">
                <a:solidFill>
                  <a:srgbClr val="95A5A6"/>
                </a:solidFill>
                <a:latin typeface="Arial"/>
              </a:rPr>
              <a:t>Avangrid = product owner · vendor = delivery muscle</a:t>
            </a:r>
          </a:p>
        </p:txBody>
      </p:sp>
      <p:sp>
        <p:nvSpPr>
          <p:cNvPr id="33" name="TextBox 32"/>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VENDOR DELIVERY MODEL</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TWO PATTERNS OBSERVED TODAY, ONE RECOMMENDED HYBRID</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TextBox 5"/>
          <p:cNvSpPr txBox="1"/>
          <p:nvPr/>
        </p:nvSpPr>
        <p:spPr>
          <a:xfrm>
            <a:off x="457200" y="960120"/>
            <a:ext cx="11277295" cy="411480"/>
          </a:xfrm>
          <a:prstGeom prst="rect">
            <a:avLst/>
          </a:prstGeom>
          <a:noFill/>
        </p:spPr>
        <p:txBody>
          <a:bodyPr wrap="square" lIns="45720" rIns="45720" tIns="18288" bIns="18288" anchor="t">
            <a:spAutoFit/>
          </a:bodyPr>
          <a:lstStyle/>
          <a:p>
            <a:pPr algn="l"/>
            <a:r>
              <a:rPr sz="1100" b="1" i="1">
                <a:solidFill>
                  <a:srgbClr val="2C578B"/>
                </a:solidFill>
                <a:latin typeface="Arial"/>
              </a:rPr>
              <a:t>Avangrid already operates two vendor-engagement patterns. The new operating model needs an explicit choice per Value Stream — the right pattern depends on whether work is continuous or episodic.</a:t>
            </a:r>
          </a:p>
        </p:txBody>
      </p:sp>
      <p:sp>
        <p:nvSpPr>
          <p:cNvPr id="7" name="Rounded Rectangle 6"/>
          <p:cNvSpPr/>
          <p:nvPr/>
        </p:nvSpPr>
        <p:spPr>
          <a:xfrm>
            <a:off x="457200" y="1554480"/>
            <a:ext cx="5570067" cy="4023360"/>
          </a:xfrm>
          <a:prstGeom prst="roundRect">
            <a:avLst>
              <a:gd name="adj" fmla="val 5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554480"/>
            <a:ext cx="5570067" cy="5029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600200"/>
            <a:ext cx="5570067" cy="411480"/>
          </a:xfrm>
          <a:prstGeom prst="rect">
            <a:avLst/>
          </a:prstGeom>
          <a:noFill/>
        </p:spPr>
        <p:txBody>
          <a:bodyPr wrap="square" lIns="45720" rIns="45720" tIns="18288" bIns="18288" anchor="ctr">
            <a:spAutoFit/>
          </a:bodyPr>
          <a:lstStyle/>
          <a:p>
            <a:pPr algn="ctr"/>
            <a:r>
              <a:rPr sz="1300" b="1" i="0">
                <a:solidFill>
                  <a:srgbClr val="FFFFFF"/>
                </a:solidFill>
                <a:latin typeface="Arial"/>
              </a:rPr>
              <a:t>OPTION A  ·  Stable vendor team per Crew</a:t>
            </a:r>
          </a:p>
        </p:txBody>
      </p:sp>
      <p:sp>
        <p:nvSpPr>
          <p:cNvPr id="10" name="TextBox 9"/>
          <p:cNvSpPr txBox="1"/>
          <p:nvPr/>
        </p:nvSpPr>
        <p:spPr>
          <a:xfrm>
            <a:off x="640080" y="2194560"/>
            <a:ext cx="5204307" cy="365760"/>
          </a:xfrm>
          <a:prstGeom prst="rect">
            <a:avLst/>
          </a:prstGeom>
          <a:noFill/>
        </p:spPr>
        <p:txBody>
          <a:bodyPr wrap="square" lIns="45720" rIns="45720" tIns="18288" bIns="18288" anchor="t">
            <a:spAutoFit/>
          </a:bodyPr>
          <a:lstStyle/>
          <a:p>
            <a:pPr algn="l"/>
            <a:r>
              <a:rPr sz="1000" b="1" i="1">
                <a:solidFill>
                  <a:srgbClr val="2E7D32"/>
                </a:solidFill>
                <a:latin typeface="Arial"/>
              </a:rPr>
              <a:t>Today's example  ·  Smart Metering</a:t>
            </a:r>
          </a:p>
        </p:txBody>
      </p:sp>
      <p:sp>
        <p:nvSpPr>
          <p:cNvPr id="11" name="TextBox 10"/>
          <p:cNvSpPr txBox="1"/>
          <p:nvPr/>
        </p:nvSpPr>
        <p:spPr>
          <a:xfrm>
            <a:off x="640080" y="2514600"/>
            <a:ext cx="5204307" cy="2194560"/>
          </a:xfrm>
          <a:prstGeom prst="rect">
            <a:avLst/>
          </a:prstGeom>
          <a:noFill/>
        </p:spPr>
        <p:txBody>
          <a:bodyPr wrap="square" lIns="45720" rIns="45720" tIns="36576" bIns="36576">
            <a:spAutoFit/>
          </a:bodyPr>
          <a:lstStyle/>
          <a:p>
            <a:pPr>
              <a:lnSpc>
                <a:spcPct val="135000"/>
              </a:lnSpc>
            </a:pPr>
            <a:r>
              <a:rPr sz="1000" b="0">
                <a:solidFill>
                  <a:srgbClr val="2C3E50"/>
                </a:solidFill>
                <a:latin typeface="Arial"/>
              </a:rPr>
              <a:t>•  Vendor team is permanently assigned to one Value Stream Crew</a:t>
            </a:r>
          </a:p>
          <a:p>
            <a:pPr>
              <a:lnSpc>
                <a:spcPct val="135000"/>
              </a:lnSpc>
            </a:pPr>
            <a:r>
              <a:rPr sz="1000" b="0">
                <a:solidFill>
                  <a:srgbClr val="2C3E50"/>
                </a:solidFill>
                <a:latin typeface="Arial"/>
              </a:rPr>
              <a:t>•  Avangrid is the product owner — vendor is the delivery muscle</a:t>
            </a:r>
          </a:p>
          <a:p>
            <a:pPr>
              <a:lnSpc>
                <a:spcPct val="135000"/>
              </a:lnSpc>
            </a:pPr>
            <a:r>
              <a:rPr sz="1000" b="0">
                <a:solidFill>
                  <a:srgbClr val="2C3E50"/>
                </a:solidFill>
                <a:latin typeface="Arial"/>
              </a:rPr>
              <a:t>•  Continuity of context, domain knowledge, and tooling</a:t>
            </a:r>
          </a:p>
          <a:p>
            <a:pPr>
              <a:lnSpc>
                <a:spcPct val="135000"/>
              </a:lnSpc>
            </a:pPr>
            <a:r>
              <a:rPr sz="1000" b="0">
                <a:solidFill>
                  <a:srgbClr val="2C3E50"/>
                </a:solidFill>
                <a:latin typeface="Arial"/>
              </a:rPr>
              <a:t>•  Faster ramp on new work — no re-explanation required</a:t>
            </a:r>
          </a:p>
          <a:p>
            <a:pPr>
              <a:lnSpc>
                <a:spcPct val="135000"/>
              </a:lnSpc>
            </a:pPr>
            <a:r>
              <a:rPr sz="1000" b="0">
                <a:solidFill>
                  <a:srgbClr val="2C3E50"/>
                </a:solidFill>
                <a:latin typeface="Arial"/>
              </a:rPr>
              <a:t>•  Joint roadmap reviewed quarterly with the vendor</a:t>
            </a:r>
          </a:p>
          <a:p>
            <a:pPr>
              <a:lnSpc>
                <a:spcPct val="135000"/>
              </a:lnSpc>
            </a:pPr>
            <a:r>
              <a:rPr sz="1000" b="0">
                <a:solidFill>
                  <a:srgbClr val="2C3E50"/>
                </a:solidFill>
                <a:latin typeface="Arial"/>
              </a:rPr>
              <a:t>•  Predictable cost envelope per Crew</a:t>
            </a:r>
          </a:p>
        </p:txBody>
      </p:sp>
      <p:sp>
        <p:nvSpPr>
          <p:cNvPr id="12" name="Rectangle 11"/>
          <p:cNvSpPr/>
          <p:nvPr/>
        </p:nvSpPr>
        <p:spPr>
          <a:xfrm>
            <a:off x="640080" y="4480560"/>
            <a:ext cx="5204307" cy="457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526280"/>
            <a:ext cx="5204307" cy="274320"/>
          </a:xfrm>
          <a:prstGeom prst="rect">
            <a:avLst/>
          </a:prstGeom>
          <a:noFill/>
        </p:spPr>
        <p:txBody>
          <a:bodyPr wrap="square" lIns="45720" rIns="45720" tIns="18288" bIns="18288" anchor="t">
            <a:spAutoFit/>
          </a:bodyPr>
          <a:lstStyle/>
          <a:p>
            <a:pPr algn="l"/>
            <a:r>
              <a:rPr sz="1000" b="1" i="0">
                <a:solidFill>
                  <a:srgbClr val="2E7D32"/>
                </a:solidFill>
                <a:latin typeface="Arial"/>
              </a:rPr>
              <a:t>BEST FIT</a:t>
            </a:r>
          </a:p>
        </p:txBody>
      </p:sp>
      <p:sp>
        <p:nvSpPr>
          <p:cNvPr id="14" name="TextBox 13"/>
          <p:cNvSpPr txBox="1"/>
          <p:nvPr/>
        </p:nvSpPr>
        <p:spPr>
          <a:xfrm>
            <a:off x="640080" y="4773168"/>
            <a:ext cx="5204307" cy="777240"/>
          </a:xfrm>
          <a:prstGeom prst="rect">
            <a:avLst/>
          </a:prstGeom>
          <a:noFill/>
        </p:spPr>
        <p:txBody>
          <a:bodyPr wrap="square" lIns="45720" rIns="45720" tIns="18288" bIns="18288" anchor="t">
            <a:spAutoFit/>
          </a:bodyPr>
          <a:lstStyle/>
          <a:p>
            <a:pPr algn="l"/>
            <a:r>
              <a:rPr sz="1000" b="0" i="1">
                <a:solidFill>
                  <a:srgbClr val="2C3E50"/>
                </a:solidFill>
                <a:latin typeface="Arial"/>
              </a:rPr>
              <a:t>Continuous, domain-heavy work — M2C-SL · Field Operations · NOC · Engineering &amp; Asset · Iberdrola Corp.</a:t>
            </a:r>
          </a:p>
        </p:txBody>
      </p:sp>
      <p:sp>
        <p:nvSpPr>
          <p:cNvPr id="15" name="Rounded Rectangle 14"/>
          <p:cNvSpPr/>
          <p:nvPr/>
        </p:nvSpPr>
        <p:spPr>
          <a:xfrm>
            <a:off x="6164427" y="1554480"/>
            <a:ext cx="5570067" cy="4023360"/>
          </a:xfrm>
          <a:prstGeom prst="roundRect">
            <a:avLst>
              <a:gd name="adj" fmla="val 5000"/>
            </a:avLst>
          </a:prstGeom>
          <a:solidFill>
            <a:srgbClr val="FFFFFF"/>
          </a:solidFill>
          <a:ln w="254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4427" y="1554480"/>
            <a:ext cx="5570067" cy="50292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64427" y="1600200"/>
            <a:ext cx="5570067" cy="411480"/>
          </a:xfrm>
          <a:prstGeom prst="rect">
            <a:avLst/>
          </a:prstGeom>
          <a:noFill/>
        </p:spPr>
        <p:txBody>
          <a:bodyPr wrap="square" lIns="45720" rIns="45720" tIns="18288" bIns="18288" anchor="ctr">
            <a:spAutoFit/>
          </a:bodyPr>
          <a:lstStyle/>
          <a:p>
            <a:pPr algn="ctr"/>
            <a:r>
              <a:rPr sz="1300" b="1" i="0">
                <a:solidFill>
                  <a:srgbClr val="FFFFFF"/>
                </a:solidFill>
                <a:latin typeface="Arial"/>
              </a:rPr>
              <a:t>OPTION B  ·  Vendor pool consumed ad-hoc</a:t>
            </a:r>
          </a:p>
        </p:txBody>
      </p:sp>
      <p:sp>
        <p:nvSpPr>
          <p:cNvPr id="18" name="TextBox 17"/>
          <p:cNvSpPr txBox="1"/>
          <p:nvPr/>
        </p:nvSpPr>
        <p:spPr>
          <a:xfrm>
            <a:off x="6347307" y="2194560"/>
            <a:ext cx="5204307" cy="365760"/>
          </a:xfrm>
          <a:prstGeom prst="rect">
            <a:avLst/>
          </a:prstGeom>
          <a:noFill/>
        </p:spPr>
        <p:txBody>
          <a:bodyPr wrap="square" lIns="45720" rIns="45720" tIns="18288" bIns="18288" anchor="t">
            <a:spAutoFit/>
          </a:bodyPr>
          <a:lstStyle/>
          <a:p>
            <a:pPr algn="l"/>
            <a:r>
              <a:rPr sz="1000" b="1" i="1">
                <a:solidFill>
                  <a:srgbClr val="E88B2F"/>
                </a:solidFill>
                <a:latin typeface="Arial"/>
              </a:rPr>
              <a:t>Today's example  ·  Sarath's Corporate work</a:t>
            </a:r>
          </a:p>
        </p:txBody>
      </p:sp>
      <p:sp>
        <p:nvSpPr>
          <p:cNvPr id="19" name="TextBox 18"/>
          <p:cNvSpPr txBox="1"/>
          <p:nvPr/>
        </p:nvSpPr>
        <p:spPr>
          <a:xfrm>
            <a:off x="6347307" y="2514600"/>
            <a:ext cx="5204307" cy="2194560"/>
          </a:xfrm>
          <a:prstGeom prst="rect">
            <a:avLst/>
          </a:prstGeom>
          <a:noFill/>
        </p:spPr>
        <p:txBody>
          <a:bodyPr wrap="square" lIns="45720" rIns="45720" tIns="36576" bIns="36576">
            <a:spAutoFit/>
          </a:bodyPr>
          <a:lstStyle/>
          <a:p>
            <a:pPr>
              <a:lnSpc>
                <a:spcPct val="135000"/>
              </a:lnSpc>
            </a:pPr>
            <a:r>
              <a:rPr sz="1000" b="0">
                <a:solidFill>
                  <a:srgbClr val="2C3E50"/>
                </a:solidFill>
                <a:latin typeface="Arial"/>
              </a:rPr>
              <a:t>•  Vendor capacity drawn from a shared pool on demand</a:t>
            </a:r>
          </a:p>
          <a:p>
            <a:pPr>
              <a:lnSpc>
                <a:spcPct val="135000"/>
              </a:lnSpc>
            </a:pPr>
            <a:r>
              <a:rPr sz="1000" b="0">
                <a:solidFill>
                  <a:srgbClr val="2C3E50"/>
                </a:solidFill>
                <a:latin typeface="Arial"/>
              </a:rPr>
              <a:t>•  Resources rotate across initiatives — no permanent assignment</a:t>
            </a:r>
          </a:p>
          <a:p>
            <a:pPr>
              <a:lnSpc>
                <a:spcPct val="135000"/>
              </a:lnSpc>
            </a:pPr>
            <a:r>
              <a:rPr sz="1000" b="0">
                <a:solidFill>
                  <a:srgbClr val="2C3E50"/>
                </a:solidFill>
                <a:latin typeface="Arial"/>
              </a:rPr>
              <a:t>•  Maximum flexibility for episodic / cyclical work</a:t>
            </a:r>
          </a:p>
          <a:p>
            <a:pPr>
              <a:lnSpc>
                <a:spcPct val="135000"/>
              </a:lnSpc>
            </a:pPr>
            <a:r>
              <a:rPr sz="1000" b="0">
                <a:solidFill>
                  <a:srgbClr val="2C3E50"/>
                </a:solidFill>
                <a:latin typeface="Arial"/>
              </a:rPr>
              <a:t>•  Lower fixed cost — but higher onboarding overhead each engagement</a:t>
            </a:r>
          </a:p>
          <a:p>
            <a:pPr>
              <a:lnSpc>
                <a:spcPct val="135000"/>
              </a:lnSpc>
            </a:pPr>
            <a:r>
              <a:rPr sz="1000" b="0">
                <a:solidFill>
                  <a:srgbClr val="2C3E50"/>
                </a:solidFill>
                <a:latin typeface="Arial"/>
              </a:rPr>
              <a:t>•  No durable domain knowledge inside the vendor team</a:t>
            </a:r>
          </a:p>
          <a:p>
            <a:pPr>
              <a:lnSpc>
                <a:spcPct val="135000"/>
              </a:lnSpc>
            </a:pPr>
            <a:r>
              <a:rPr sz="1000" b="0">
                <a:solidFill>
                  <a:srgbClr val="2C3E50"/>
                </a:solidFill>
                <a:latin typeface="Arial"/>
              </a:rPr>
              <a:t>•  Risk — re-explanation cost, slower start, weaker accountability</a:t>
            </a:r>
          </a:p>
        </p:txBody>
      </p:sp>
      <p:sp>
        <p:nvSpPr>
          <p:cNvPr id="20" name="Rectangle 19"/>
          <p:cNvSpPr/>
          <p:nvPr/>
        </p:nvSpPr>
        <p:spPr>
          <a:xfrm>
            <a:off x="6347307" y="4480560"/>
            <a:ext cx="5204307" cy="4572"/>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7307" y="4526280"/>
            <a:ext cx="5204307" cy="274320"/>
          </a:xfrm>
          <a:prstGeom prst="rect">
            <a:avLst/>
          </a:prstGeom>
          <a:noFill/>
        </p:spPr>
        <p:txBody>
          <a:bodyPr wrap="square" lIns="45720" rIns="45720" tIns="18288" bIns="18288" anchor="t">
            <a:spAutoFit/>
          </a:bodyPr>
          <a:lstStyle/>
          <a:p>
            <a:pPr algn="l"/>
            <a:r>
              <a:rPr sz="1000" b="1" i="0">
                <a:solidFill>
                  <a:srgbClr val="E88B2F"/>
                </a:solidFill>
                <a:latin typeface="Arial"/>
              </a:rPr>
              <a:t>BEST FIT</a:t>
            </a:r>
          </a:p>
        </p:txBody>
      </p:sp>
      <p:sp>
        <p:nvSpPr>
          <p:cNvPr id="22" name="TextBox 21"/>
          <p:cNvSpPr txBox="1"/>
          <p:nvPr/>
        </p:nvSpPr>
        <p:spPr>
          <a:xfrm>
            <a:off x="6347307" y="4773168"/>
            <a:ext cx="5204307" cy="777240"/>
          </a:xfrm>
          <a:prstGeom prst="rect">
            <a:avLst/>
          </a:prstGeom>
          <a:noFill/>
        </p:spPr>
        <p:txBody>
          <a:bodyPr wrap="square" lIns="45720" rIns="45720" tIns="18288" bIns="18288" anchor="t">
            <a:spAutoFit/>
          </a:bodyPr>
          <a:lstStyle/>
          <a:p>
            <a:pPr algn="l"/>
            <a:r>
              <a:rPr sz="1000" b="0" i="1">
                <a:solidFill>
                  <a:srgbClr val="2C3E50"/>
                </a:solidFill>
                <a:latin typeface="Arial"/>
              </a:rPr>
              <a:t>Episodic, project-shaped work — Corporate &amp; Regulatory rate cases · ad-hoc compliance bursts.</a:t>
            </a:r>
          </a:p>
        </p:txBody>
      </p:sp>
      <p:sp>
        <p:nvSpPr>
          <p:cNvPr id="23" name="Rounded Rectangle 22"/>
          <p:cNvSpPr/>
          <p:nvPr/>
        </p:nvSpPr>
        <p:spPr>
          <a:xfrm>
            <a:off x="457200" y="5715000"/>
            <a:ext cx="11277295" cy="640080"/>
          </a:xfrm>
          <a:prstGeom prst="roundRect">
            <a:avLst>
              <a:gd name="adj" fmla="val 5000"/>
            </a:avLst>
          </a:prstGeom>
          <a:solidFill>
            <a:srgbClr val="DCE6F5"/>
          </a:solidFill>
          <a:ln w="19050">
            <a:solidFill>
              <a:srgbClr val="0F1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760720"/>
            <a:ext cx="2743200" cy="502920"/>
          </a:xfrm>
          <a:prstGeom prst="rect">
            <a:avLst/>
          </a:prstGeom>
          <a:noFill/>
        </p:spPr>
        <p:txBody>
          <a:bodyPr wrap="square" lIns="45720" rIns="45720" tIns="18288" bIns="18288" anchor="ctr">
            <a:spAutoFit/>
          </a:bodyPr>
          <a:lstStyle/>
          <a:p>
            <a:pPr algn="l"/>
            <a:r>
              <a:rPr sz="1100" b="1" i="0">
                <a:solidFill>
                  <a:srgbClr val="0F1C50"/>
                </a:solidFill>
                <a:latin typeface="Arial"/>
              </a:rPr>
              <a:t>RECOMMENDATION</a:t>
            </a:r>
          </a:p>
        </p:txBody>
      </p:sp>
      <p:sp>
        <p:nvSpPr>
          <p:cNvPr id="25" name="TextBox 24"/>
          <p:cNvSpPr txBox="1"/>
          <p:nvPr/>
        </p:nvSpPr>
        <p:spPr>
          <a:xfrm>
            <a:off x="3200400" y="5760720"/>
            <a:ext cx="8534095" cy="548640"/>
          </a:xfrm>
          <a:prstGeom prst="rect">
            <a:avLst/>
          </a:prstGeom>
          <a:noFill/>
        </p:spPr>
        <p:txBody>
          <a:bodyPr wrap="square" lIns="45720" rIns="45720" tIns="18288" bIns="18288" anchor="ctr">
            <a:spAutoFit/>
          </a:bodyPr>
          <a:lstStyle/>
          <a:p>
            <a:pPr algn="l"/>
            <a:r>
              <a:rPr sz="1000" b="0" i="1">
                <a:solidFill>
                  <a:srgbClr val="2C3E50"/>
                </a:solidFill>
                <a:latin typeface="Arial"/>
              </a:rPr>
              <a:t>Hybrid — Option A as default for the seven continuous Value Streams; Option B reserved for Corporate &amp; Regulatory's episodic load. Decision per Crew confirmed at Wave 1 Step 2.</a:t>
            </a:r>
          </a:p>
        </p:txBody>
      </p:sp>
      <p:sp>
        <p:nvSpPr>
          <p:cNvPr id="26" name="TextBox 25"/>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6858000" cy="640080"/>
          </a:xfrm>
          <a:prstGeom prst="rect">
            <a:avLst/>
          </a:prstGeom>
          <a:noFill/>
        </p:spPr>
        <p:txBody>
          <a:bodyPr wrap="square" lIns="45720" rIns="45720" tIns="18288" bIns="18288" anchor="t">
            <a:spAutoFit/>
          </a:bodyPr>
          <a:lstStyle/>
          <a:p>
            <a:pPr algn="l"/>
            <a:r>
              <a:rPr sz="3400" b="1" i="0">
                <a:solidFill>
                  <a:srgbClr val="0B76A0"/>
                </a:solidFill>
                <a:latin typeface="Arial"/>
              </a:rPr>
              <a:t>Table of contents</a:t>
            </a:r>
          </a:p>
        </p:txBody>
      </p:sp>
      <p:sp>
        <p:nvSpPr>
          <p:cNvPr id="3" name="Oval 2"/>
          <p:cNvSpPr/>
          <p:nvPr/>
        </p:nvSpPr>
        <p:spPr>
          <a:xfrm>
            <a:off x="4297680" y="502920"/>
            <a:ext cx="502920" cy="502920"/>
          </a:xfrm>
          <a:prstGeom prst="ellipse">
            <a:avLst/>
          </a:prstGeom>
          <a:solidFill>
            <a:srgbClr val="0B7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0" y="502920"/>
            <a:ext cx="502920" cy="502920"/>
          </a:xfrm>
          <a:prstGeom prst="rect">
            <a:avLst/>
          </a:prstGeom>
          <a:noFill/>
        </p:spPr>
        <p:txBody>
          <a:bodyPr wrap="square" lIns="45720" rIns="45720" tIns="18288" bIns="18288" anchor="ctr">
            <a:spAutoFit/>
          </a:bodyPr>
          <a:lstStyle/>
          <a:p>
            <a:pPr algn="ctr"/>
            <a:r>
              <a:rPr sz="2000" b="1" i="0">
                <a:solidFill>
                  <a:srgbClr val="FFFFFF"/>
                </a:solidFill>
                <a:latin typeface="Arial"/>
              </a:rPr>
              <a:t>▶</a:t>
            </a:r>
          </a:p>
        </p:txBody>
      </p:sp>
      <p:sp>
        <p:nvSpPr>
          <p:cNvPr id="5" name="TextBox 4"/>
          <p:cNvSpPr txBox="1"/>
          <p:nvPr/>
        </p:nvSpPr>
        <p:spPr>
          <a:xfrm>
            <a:off x="9905695" y="411480"/>
            <a:ext cx="1828800" cy="457200"/>
          </a:xfrm>
          <a:prstGeom prst="rect">
            <a:avLst/>
          </a:prstGeom>
          <a:noFill/>
        </p:spPr>
        <p:txBody>
          <a:bodyPr wrap="square" lIns="45720" rIns="45720" tIns="18288" bIns="18288" anchor="ctr">
            <a:spAutoFit/>
          </a:bodyPr>
          <a:lstStyle/>
          <a:p>
            <a:pPr algn="r"/>
            <a:r>
              <a:rPr sz="1400" b="1" i="0">
                <a:solidFill>
                  <a:srgbClr val="0F1C50"/>
                </a:solidFill>
                <a:latin typeface="Arial"/>
              </a:rPr>
              <a:t>NTT  DATA</a:t>
            </a:r>
          </a:p>
        </p:txBody>
      </p:sp>
      <p:sp>
        <p:nvSpPr>
          <p:cNvPr id="6" name="TextBox 5"/>
          <p:cNvSpPr txBox="1"/>
          <p:nvPr/>
        </p:nvSpPr>
        <p:spPr>
          <a:xfrm>
            <a:off x="640080" y="137160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01</a:t>
            </a:r>
          </a:p>
        </p:txBody>
      </p:sp>
      <p:sp>
        <p:nvSpPr>
          <p:cNvPr id="7" name="TextBox 6"/>
          <p:cNvSpPr txBox="1"/>
          <p:nvPr/>
        </p:nvSpPr>
        <p:spPr>
          <a:xfrm>
            <a:off x="1554480" y="141732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Context</a:t>
            </a:r>
          </a:p>
        </p:txBody>
      </p:sp>
      <p:sp>
        <p:nvSpPr>
          <p:cNvPr id="8" name="TextBox 7"/>
          <p:cNvSpPr txBox="1"/>
          <p:nvPr/>
        </p:nvSpPr>
        <p:spPr>
          <a:xfrm>
            <a:off x="1554480" y="182880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Why Avangrid is consolidating Customer Services and IT Business Apps into Digital Products.</a:t>
            </a:r>
          </a:p>
        </p:txBody>
      </p:sp>
      <p:sp>
        <p:nvSpPr>
          <p:cNvPr id="9" name="TextBox 8"/>
          <p:cNvSpPr txBox="1"/>
          <p:nvPr/>
        </p:nvSpPr>
        <p:spPr>
          <a:xfrm>
            <a:off x="640080" y="260604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02</a:t>
            </a:r>
          </a:p>
        </p:txBody>
      </p:sp>
      <p:sp>
        <p:nvSpPr>
          <p:cNvPr id="10" name="TextBox 9"/>
          <p:cNvSpPr txBox="1"/>
          <p:nvPr/>
        </p:nvSpPr>
        <p:spPr>
          <a:xfrm>
            <a:off x="1554480" y="265176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Executive Summary</a:t>
            </a:r>
          </a:p>
        </p:txBody>
      </p:sp>
      <p:sp>
        <p:nvSpPr>
          <p:cNvPr id="11" name="TextBox 10"/>
          <p:cNvSpPr txBox="1"/>
          <p:nvPr/>
        </p:nvSpPr>
        <p:spPr>
          <a:xfrm>
            <a:off x="1554480" y="306324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The proposal in one page — scope, structural issues, governing principles, decisions ahead.</a:t>
            </a:r>
          </a:p>
        </p:txBody>
      </p:sp>
      <p:sp>
        <p:nvSpPr>
          <p:cNvPr id="12" name="TextBox 11"/>
          <p:cNvSpPr txBox="1"/>
          <p:nvPr/>
        </p:nvSpPr>
        <p:spPr>
          <a:xfrm>
            <a:off x="640080" y="384048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03</a:t>
            </a:r>
          </a:p>
        </p:txBody>
      </p:sp>
      <p:sp>
        <p:nvSpPr>
          <p:cNvPr id="13" name="TextBox 12"/>
          <p:cNvSpPr txBox="1"/>
          <p:nvPr/>
        </p:nvSpPr>
        <p:spPr>
          <a:xfrm>
            <a:off x="1554480" y="388620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Current State Analysis</a:t>
            </a:r>
          </a:p>
        </p:txBody>
      </p:sp>
      <p:sp>
        <p:nvSpPr>
          <p:cNvPr id="14" name="TextBox 13"/>
          <p:cNvSpPr txBox="1"/>
          <p:nvPr/>
        </p:nvSpPr>
        <p:spPr>
          <a:xfrm>
            <a:off x="1554480" y="429768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Vitor Cruz's three director branches, ~50 FTE, sub-team mapping and existing champions.</a:t>
            </a:r>
          </a:p>
        </p:txBody>
      </p:sp>
      <p:sp>
        <p:nvSpPr>
          <p:cNvPr id="15" name="TextBox 14"/>
          <p:cNvSpPr txBox="1"/>
          <p:nvPr/>
        </p:nvSpPr>
        <p:spPr>
          <a:xfrm>
            <a:off x="640080" y="507492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04</a:t>
            </a:r>
          </a:p>
        </p:txBody>
      </p:sp>
      <p:sp>
        <p:nvSpPr>
          <p:cNvPr id="16" name="TextBox 15"/>
          <p:cNvSpPr txBox="1"/>
          <p:nvPr/>
        </p:nvSpPr>
        <p:spPr>
          <a:xfrm>
            <a:off x="1554480" y="512064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Structural Issues &amp; Guiding Principles</a:t>
            </a:r>
          </a:p>
        </p:txBody>
      </p:sp>
      <p:sp>
        <p:nvSpPr>
          <p:cNvPr id="17" name="TextBox 16"/>
          <p:cNvSpPr txBox="1"/>
          <p:nvPr/>
        </p:nvSpPr>
        <p:spPr>
          <a:xfrm>
            <a:off x="1554480" y="553212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Seven structural issues from the AS-IS, four guiding principles that resolve them.</a:t>
            </a:r>
          </a:p>
        </p:txBody>
      </p:sp>
      <p:sp>
        <p:nvSpPr>
          <p:cNvPr id="18" name="TextBox 17"/>
          <p:cNvSpPr txBox="1"/>
          <p:nvPr/>
        </p:nvSpPr>
        <p:spPr>
          <a:xfrm>
            <a:off x="6370167" y="137160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05</a:t>
            </a:r>
          </a:p>
        </p:txBody>
      </p:sp>
      <p:sp>
        <p:nvSpPr>
          <p:cNvPr id="19" name="TextBox 18"/>
          <p:cNvSpPr txBox="1"/>
          <p:nvPr/>
        </p:nvSpPr>
        <p:spPr>
          <a:xfrm>
            <a:off x="7284567" y="141732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Stage 1 · Demand Management Framework</a:t>
            </a:r>
          </a:p>
        </p:txBody>
      </p:sp>
      <p:sp>
        <p:nvSpPr>
          <p:cNvPr id="20" name="TextBox 19"/>
          <p:cNvSpPr txBox="1"/>
          <p:nvPr/>
        </p:nvSpPr>
        <p:spPr>
          <a:xfrm>
            <a:off x="7284567" y="182880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Five dimensions — Capabilities · Roles · Tools · Governance · Performance — including branch specifics.</a:t>
            </a:r>
          </a:p>
        </p:txBody>
      </p:sp>
      <p:sp>
        <p:nvSpPr>
          <p:cNvPr id="21" name="TextBox 20"/>
          <p:cNvSpPr txBox="1"/>
          <p:nvPr/>
        </p:nvSpPr>
        <p:spPr>
          <a:xfrm>
            <a:off x="6370167" y="260604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06</a:t>
            </a:r>
          </a:p>
        </p:txBody>
      </p:sp>
      <p:sp>
        <p:nvSpPr>
          <p:cNvPr id="22" name="TextBox 21"/>
          <p:cNvSpPr txBox="1"/>
          <p:nvPr/>
        </p:nvSpPr>
        <p:spPr>
          <a:xfrm>
            <a:off x="7284567" y="265176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Operating Model · Crews &amp; Bases</a:t>
            </a:r>
          </a:p>
        </p:txBody>
      </p:sp>
      <p:sp>
        <p:nvSpPr>
          <p:cNvPr id="23" name="TextBox 22"/>
          <p:cNvSpPr txBox="1"/>
          <p:nvPr/>
        </p:nvSpPr>
        <p:spPr>
          <a:xfrm>
            <a:off x="7284567" y="306324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unFIX primer · Strongly Aligned Base · Supporting Crews · Sibling Bases · 8 Value Stream deep-dives · Vendor model.</a:t>
            </a:r>
          </a:p>
        </p:txBody>
      </p:sp>
      <p:sp>
        <p:nvSpPr>
          <p:cNvPr id="24" name="Rounded Rectangle 23"/>
          <p:cNvSpPr/>
          <p:nvPr/>
        </p:nvSpPr>
        <p:spPr>
          <a:xfrm>
            <a:off x="6278727" y="3794760"/>
            <a:ext cx="5501487" cy="1143000"/>
          </a:xfrm>
          <a:prstGeom prst="roundRect">
            <a:avLst>
              <a:gd name="adj" fmla="val 5000"/>
            </a:avLst>
          </a:prstGeom>
          <a:solidFill>
            <a:srgbClr val="DCE6F5"/>
          </a:solidFill>
          <a:ln w="127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70167" y="3840480"/>
            <a:ext cx="868680" cy="777240"/>
          </a:xfrm>
          <a:prstGeom prst="rect">
            <a:avLst/>
          </a:prstGeom>
          <a:noFill/>
        </p:spPr>
        <p:txBody>
          <a:bodyPr wrap="square" lIns="45720" rIns="45720" tIns="18288" bIns="18288" anchor="t">
            <a:spAutoFit/>
          </a:bodyPr>
          <a:lstStyle/>
          <a:p>
            <a:pPr algn="l"/>
            <a:r>
              <a:rPr sz="4400" b="1" i="0">
                <a:solidFill>
                  <a:srgbClr val="0F1C50"/>
                </a:solidFill>
                <a:latin typeface="Arial"/>
              </a:rPr>
              <a:t>07</a:t>
            </a:r>
          </a:p>
        </p:txBody>
      </p:sp>
      <p:sp>
        <p:nvSpPr>
          <p:cNvPr id="26" name="TextBox 25"/>
          <p:cNvSpPr txBox="1"/>
          <p:nvPr/>
        </p:nvSpPr>
        <p:spPr>
          <a:xfrm>
            <a:off x="7284567" y="3886200"/>
            <a:ext cx="4541367" cy="365760"/>
          </a:xfrm>
          <a:prstGeom prst="rect">
            <a:avLst/>
          </a:prstGeom>
          <a:noFill/>
        </p:spPr>
        <p:txBody>
          <a:bodyPr wrap="square" lIns="45720" rIns="45720" tIns="18288" bIns="18288" anchor="t">
            <a:spAutoFit/>
          </a:bodyPr>
          <a:lstStyle/>
          <a:p>
            <a:pPr algn="l"/>
            <a:r>
              <a:rPr sz="1800" b="1" i="0">
                <a:solidFill>
                  <a:srgbClr val="0F1C50"/>
                </a:solidFill>
                <a:latin typeface="Arial"/>
              </a:rPr>
              <a:t>Demand Flow &amp; Portfolio Operation</a:t>
            </a:r>
          </a:p>
        </p:txBody>
      </p:sp>
      <p:sp>
        <p:nvSpPr>
          <p:cNvPr id="27" name="TextBox 26"/>
          <p:cNvSpPr txBox="1"/>
          <p:nvPr/>
        </p:nvSpPr>
        <p:spPr>
          <a:xfrm>
            <a:off x="7284567" y="4297680"/>
            <a:ext cx="4541367" cy="640080"/>
          </a:xfrm>
          <a:prstGeom prst="rect">
            <a:avLst/>
          </a:prstGeom>
          <a:noFill/>
        </p:spPr>
        <p:txBody>
          <a:bodyPr wrap="square" lIns="45720" rIns="45720" tIns="18288" bIns="18288" anchor="t">
            <a:spAutoFit/>
          </a:bodyPr>
          <a:lstStyle/>
          <a:p>
            <a:pPr algn="l"/>
            <a:r>
              <a:rPr sz="1050" b="0" i="0">
                <a:solidFill>
                  <a:srgbClr val="2C3E50"/>
                </a:solidFill>
                <a:latin typeface="Arial"/>
              </a:rPr>
              <a:t>Forums · Portfolio + Team Boards · Class of Service · Wave 1 Roadmap · TO-BE Demand Flow.</a:t>
            </a:r>
          </a:p>
        </p:txBody>
      </p:sp>
      <p:sp>
        <p:nvSpPr>
          <p:cNvPr id="28" name="TextBox 27"/>
          <p:cNvSpPr txBox="1"/>
          <p:nvPr/>
        </p:nvSpPr>
        <p:spPr>
          <a:xfrm>
            <a:off x="6370167" y="507492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08</a:t>
            </a:r>
          </a:p>
        </p:txBody>
      </p:sp>
      <p:sp>
        <p:nvSpPr>
          <p:cNvPr id="29" name="TextBox 28"/>
          <p:cNvSpPr txBox="1"/>
          <p:nvPr/>
        </p:nvSpPr>
        <p:spPr>
          <a:xfrm>
            <a:off x="7284567" y="512064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Open Decisions &amp; Next Steps</a:t>
            </a:r>
          </a:p>
        </p:txBody>
      </p:sp>
      <p:sp>
        <p:nvSpPr>
          <p:cNvPr id="30" name="TextBox 29"/>
          <p:cNvSpPr txBox="1"/>
          <p:nvPr/>
        </p:nvSpPr>
        <p:spPr>
          <a:xfrm>
            <a:off x="7284567" y="553212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Validation needed before steady-state — vendor model · PM staffing · NOC owner.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FORUMS</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FIVE CROSS-TEAM COORDINATION VENUES WITH EXPLICIT CADENCES</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ounded Rectangle 5"/>
          <p:cNvSpPr/>
          <p:nvPr/>
        </p:nvSpPr>
        <p:spPr>
          <a:xfrm>
            <a:off x="457200" y="1005840"/>
            <a:ext cx="2167676" cy="4937760"/>
          </a:xfrm>
          <a:prstGeom prst="roundRect">
            <a:avLst>
              <a:gd name="adj" fmla="val 4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005840"/>
            <a:ext cx="2167676" cy="6400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51560"/>
            <a:ext cx="2167676" cy="320040"/>
          </a:xfrm>
          <a:prstGeom prst="rect">
            <a:avLst/>
          </a:prstGeom>
          <a:noFill/>
        </p:spPr>
        <p:txBody>
          <a:bodyPr wrap="square" lIns="45720" rIns="45720" tIns="18288" bIns="18288" anchor="ctr">
            <a:spAutoFit/>
          </a:bodyPr>
          <a:lstStyle/>
          <a:p>
            <a:pPr algn="ctr"/>
            <a:r>
              <a:rPr sz="1200" b="1" i="0">
                <a:solidFill>
                  <a:srgbClr val="FFFFFF"/>
                </a:solidFill>
                <a:latin typeface="Arial"/>
              </a:rPr>
              <a:t>REGIONAL FORUM</a:t>
            </a:r>
          </a:p>
        </p:txBody>
      </p:sp>
      <p:sp>
        <p:nvSpPr>
          <p:cNvPr id="9" name="TextBox 8"/>
          <p:cNvSpPr txBox="1"/>
          <p:nvPr/>
        </p:nvSpPr>
        <p:spPr>
          <a:xfrm>
            <a:off x="457200" y="1371600"/>
            <a:ext cx="2167676" cy="274320"/>
          </a:xfrm>
          <a:prstGeom prst="rect">
            <a:avLst/>
          </a:prstGeom>
          <a:noFill/>
        </p:spPr>
        <p:txBody>
          <a:bodyPr wrap="square" lIns="45720" rIns="45720" tIns="18288" bIns="18288" anchor="ctr">
            <a:spAutoFit/>
          </a:bodyPr>
          <a:lstStyle/>
          <a:p>
            <a:pPr algn="ctr"/>
            <a:r>
              <a:rPr sz="950" b="0" i="1">
                <a:solidFill>
                  <a:srgbClr val="FFFFFF"/>
                </a:solidFill>
                <a:latin typeface="Arial"/>
              </a:rPr>
              <a:t>Quarterly</a:t>
            </a:r>
          </a:p>
        </p:txBody>
      </p:sp>
      <p:sp>
        <p:nvSpPr>
          <p:cNvPr id="10" name="TextBox 9"/>
          <p:cNvSpPr txBox="1"/>
          <p:nvPr/>
        </p:nvSpPr>
        <p:spPr>
          <a:xfrm>
            <a:off x="548640" y="1783080"/>
            <a:ext cx="1984796" cy="365760"/>
          </a:xfrm>
          <a:prstGeom prst="rect">
            <a:avLst/>
          </a:prstGeom>
          <a:noFill/>
        </p:spPr>
        <p:txBody>
          <a:bodyPr wrap="square" lIns="45720" rIns="45720" tIns="18288" bIns="18288" anchor="t">
            <a:spAutoFit/>
          </a:bodyPr>
          <a:lstStyle/>
          <a:p>
            <a:pPr algn="ctr"/>
            <a:r>
              <a:rPr sz="1050" b="1" i="0">
                <a:solidFill>
                  <a:srgbClr val="2C578B"/>
                </a:solidFill>
                <a:latin typeface="Arial"/>
              </a:rPr>
              <a:t>Per OPCO discussion</a:t>
            </a:r>
          </a:p>
        </p:txBody>
      </p:sp>
      <p:sp>
        <p:nvSpPr>
          <p:cNvPr id="11" name="TextBox 10"/>
          <p:cNvSpPr txBox="1"/>
          <p:nvPr/>
        </p:nvSpPr>
        <p:spPr>
          <a:xfrm>
            <a:off x="621792" y="2286000"/>
            <a:ext cx="1838492" cy="3566160"/>
          </a:xfrm>
          <a:prstGeom prst="rect">
            <a:avLst/>
          </a:prstGeom>
          <a:noFill/>
        </p:spPr>
        <p:txBody>
          <a:bodyPr wrap="square" lIns="45720" rIns="45720" tIns="36576" bIns="36576">
            <a:spAutoFit/>
          </a:bodyPr>
          <a:lstStyle/>
          <a:p>
            <a:pPr>
              <a:lnSpc>
                <a:spcPct val="140000"/>
              </a:lnSpc>
            </a:pPr>
            <a:r>
              <a:rPr sz="950" b="0">
                <a:solidFill>
                  <a:srgbClr val="2C3E50"/>
                </a:solidFill>
                <a:latin typeface="Arial"/>
              </a:rPr>
              <a:t>•  BRS UIL — UI · SCG · CNG · BGC (Connecticut)</a:t>
            </a:r>
          </a:p>
          <a:p>
            <a:pPr>
              <a:lnSpc>
                <a:spcPct val="140000"/>
              </a:lnSpc>
            </a:pPr>
            <a:r>
              <a:rPr sz="950" b="0">
                <a:solidFill>
                  <a:srgbClr val="2C3E50"/>
                </a:solidFill>
                <a:latin typeface="Arial"/>
              </a:rPr>
              <a:t>•  BRS CMP — Central Maine Power</a:t>
            </a:r>
          </a:p>
          <a:p>
            <a:pPr>
              <a:lnSpc>
                <a:spcPct val="140000"/>
              </a:lnSpc>
            </a:pPr>
            <a:r>
              <a:rPr sz="950" b="0">
                <a:solidFill>
                  <a:srgbClr val="2C3E50"/>
                </a:solidFill>
                <a:latin typeface="Arial"/>
              </a:rPr>
              <a:t>•  BRS NY — NYSEG · RGE</a:t>
            </a:r>
          </a:p>
          <a:p>
            <a:pPr>
              <a:lnSpc>
                <a:spcPct val="140000"/>
              </a:lnSpc>
            </a:pPr>
            <a:r>
              <a:rPr sz="950" b="0">
                <a:solidFill>
                  <a:srgbClr val="2C3E50"/>
                </a:solidFill>
                <a:latin typeface="Arial"/>
              </a:rPr>
              <a:t>•  Members: Value Stream PMs + business sponsors per OPCO</a:t>
            </a:r>
          </a:p>
        </p:txBody>
      </p:sp>
      <p:sp>
        <p:nvSpPr>
          <p:cNvPr id="12" name="Rounded Rectangle 11"/>
          <p:cNvSpPr/>
          <p:nvPr/>
        </p:nvSpPr>
        <p:spPr>
          <a:xfrm>
            <a:off x="2734604" y="1005840"/>
            <a:ext cx="2167676" cy="4937760"/>
          </a:xfrm>
          <a:prstGeom prst="roundRect">
            <a:avLst>
              <a:gd name="adj" fmla="val 4000"/>
            </a:avLst>
          </a:prstGeom>
          <a:solidFill>
            <a:srgbClr val="FFFFFF"/>
          </a:solidFill>
          <a:ln w="25400">
            <a:solidFill>
              <a:srgbClr val="2B6B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34604" y="1005840"/>
            <a:ext cx="2167676" cy="640080"/>
          </a:xfrm>
          <a:prstGeom prst="rect">
            <a:avLst/>
          </a:prstGeom>
          <a:solidFill>
            <a:srgbClr val="2B6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34604" y="1051560"/>
            <a:ext cx="2167676" cy="320040"/>
          </a:xfrm>
          <a:prstGeom prst="rect">
            <a:avLst/>
          </a:prstGeom>
          <a:noFill/>
        </p:spPr>
        <p:txBody>
          <a:bodyPr wrap="square" lIns="45720" rIns="45720" tIns="18288" bIns="18288" anchor="ctr">
            <a:spAutoFit/>
          </a:bodyPr>
          <a:lstStyle/>
          <a:p>
            <a:pPr algn="ctr"/>
            <a:r>
              <a:rPr sz="1200" b="1" i="0">
                <a:solidFill>
                  <a:srgbClr val="FFFFFF"/>
                </a:solidFill>
                <a:latin typeface="Arial"/>
              </a:rPr>
              <a:t>FUNCTIONAL FORUM</a:t>
            </a:r>
          </a:p>
        </p:txBody>
      </p:sp>
      <p:sp>
        <p:nvSpPr>
          <p:cNvPr id="15" name="TextBox 14"/>
          <p:cNvSpPr txBox="1"/>
          <p:nvPr/>
        </p:nvSpPr>
        <p:spPr>
          <a:xfrm>
            <a:off x="2734604" y="1371600"/>
            <a:ext cx="2167676" cy="274320"/>
          </a:xfrm>
          <a:prstGeom prst="rect">
            <a:avLst/>
          </a:prstGeom>
          <a:noFill/>
        </p:spPr>
        <p:txBody>
          <a:bodyPr wrap="square" lIns="45720" rIns="45720" tIns="18288" bIns="18288" anchor="ctr">
            <a:spAutoFit/>
          </a:bodyPr>
          <a:lstStyle/>
          <a:p>
            <a:pPr algn="ctr"/>
            <a:r>
              <a:rPr sz="950" b="0" i="1">
                <a:solidFill>
                  <a:srgbClr val="FFFFFF"/>
                </a:solidFill>
                <a:latin typeface="Arial"/>
              </a:rPr>
              <a:t>Bi-weekly</a:t>
            </a:r>
          </a:p>
        </p:txBody>
      </p:sp>
      <p:sp>
        <p:nvSpPr>
          <p:cNvPr id="16" name="TextBox 15"/>
          <p:cNvSpPr txBox="1"/>
          <p:nvPr/>
        </p:nvSpPr>
        <p:spPr>
          <a:xfrm>
            <a:off x="2826044" y="1783080"/>
            <a:ext cx="1984796" cy="365760"/>
          </a:xfrm>
          <a:prstGeom prst="rect">
            <a:avLst/>
          </a:prstGeom>
          <a:noFill/>
        </p:spPr>
        <p:txBody>
          <a:bodyPr wrap="square" lIns="45720" rIns="45720" tIns="18288" bIns="18288" anchor="t">
            <a:spAutoFit/>
          </a:bodyPr>
          <a:lstStyle/>
          <a:p>
            <a:pPr algn="ctr"/>
            <a:r>
              <a:rPr sz="1050" b="1" i="0">
                <a:solidFill>
                  <a:srgbClr val="2B6B77"/>
                </a:solidFill>
                <a:latin typeface="Arial"/>
              </a:rPr>
              <a:t>Per role / function</a:t>
            </a:r>
          </a:p>
        </p:txBody>
      </p:sp>
      <p:sp>
        <p:nvSpPr>
          <p:cNvPr id="17" name="TextBox 16"/>
          <p:cNvSpPr txBox="1"/>
          <p:nvPr/>
        </p:nvSpPr>
        <p:spPr>
          <a:xfrm>
            <a:off x="2899196" y="2286000"/>
            <a:ext cx="1838492" cy="3566160"/>
          </a:xfrm>
          <a:prstGeom prst="rect">
            <a:avLst/>
          </a:prstGeom>
          <a:noFill/>
        </p:spPr>
        <p:txBody>
          <a:bodyPr wrap="square" lIns="45720" rIns="45720" tIns="36576" bIns="36576">
            <a:spAutoFit/>
          </a:bodyPr>
          <a:lstStyle/>
          <a:p>
            <a:pPr>
              <a:lnSpc>
                <a:spcPct val="140000"/>
              </a:lnSpc>
            </a:pPr>
            <a:r>
              <a:rPr sz="950" b="0">
                <a:solidFill>
                  <a:srgbClr val="2C3E50"/>
                </a:solidFill>
                <a:latin typeface="Arial"/>
              </a:rPr>
              <a:t>•  PM Council (cross-stream Product Managers)</a:t>
            </a:r>
          </a:p>
          <a:p>
            <a:pPr>
              <a:lnSpc>
                <a:spcPct val="140000"/>
              </a:lnSpc>
            </a:pPr>
            <a:r>
              <a:rPr sz="950" b="0">
                <a:solidFill>
                  <a:srgbClr val="2C3E50"/>
                </a:solidFill>
                <a:latin typeface="Arial"/>
              </a:rPr>
              <a:t>•  Tech Lead Council (cross-stream architecture review)</a:t>
            </a:r>
          </a:p>
          <a:p>
            <a:pPr>
              <a:lnSpc>
                <a:spcPct val="140000"/>
              </a:lnSpc>
            </a:pPr>
            <a:r>
              <a:rPr sz="950" b="0">
                <a:solidFill>
                  <a:srgbClr val="2C3E50"/>
                </a:solidFill>
                <a:latin typeface="Arial"/>
              </a:rPr>
              <a:t>•  Project Manager pool review (large-project coordination)</a:t>
            </a:r>
          </a:p>
          <a:p>
            <a:pPr>
              <a:lnSpc>
                <a:spcPct val="140000"/>
              </a:lnSpc>
            </a:pPr>
            <a:r>
              <a:rPr sz="950" b="0">
                <a:solidFill>
                  <a:srgbClr val="2C3E50"/>
                </a:solidFill>
                <a:latin typeface="Arial"/>
              </a:rPr>
              <a:t>•  Members: same role across teams</a:t>
            </a:r>
          </a:p>
        </p:txBody>
      </p:sp>
      <p:sp>
        <p:nvSpPr>
          <p:cNvPr id="18" name="Rounded Rectangle 17"/>
          <p:cNvSpPr/>
          <p:nvPr/>
        </p:nvSpPr>
        <p:spPr>
          <a:xfrm>
            <a:off x="5012009" y="1005840"/>
            <a:ext cx="2167676" cy="4937760"/>
          </a:xfrm>
          <a:prstGeom prst="roundRect">
            <a:avLst>
              <a:gd name="adj" fmla="val 4000"/>
            </a:avLst>
          </a:prstGeom>
          <a:solidFill>
            <a:srgbClr val="FFFFFF"/>
          </a:solidFill>
          <a:ln w="254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12009" y="1005840"/>
            <a:ext cx="2167676" cy="6400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12009" y="1051560"/>
            <a:ext cx="2167676" cy="320040"/>
          </a:xfrm>
          <a:prstGeom prst="rect">
            <a:avLst/>
          </a:prstGeom>
          <a:noFill/>
        </p:spPr>
        <p:txBody>
          <a:bodyPr wrap="square" lIns="45720" rIns="45720" tIns="18288" bIns="18288" anchor="ctr">
            <a:spAutoFit/>
          </a:bodyPr>
          <a:lstStyle/>
          <a:p>
            <a:pPr algn="ctr"/>
            <a:r>
              <a:rPr sz="1200" b="1" i="0">
                <a:solidFill>
                  <a:srgbClr val="FFFFFF"/>
                </a:solidFill>
                <a:latin typeface="Arial"/>
              </a:rPr>
              <a:t>TECHNOLOGICAL FORUM</a:t>
            </a:r>
          </a:p>
        </p:txBody>
      </p:sp>
      <p:sp>
        <p:nvSpPr>
          <p:cNvPr id="21" name="TextBox 20"/>
          <p:cNvSpPr txBox="1"/>
          <p:nvPr/>
        </p:nvSpPr>
        <p:spPr>
          <a:xfrm>
            <a:off x="5012009" y="1371600"/>
            <a:ext cx="2167676" cy="274320"/>
          </a:xfrm>
          <a:prstGeom prst="rect">
            <a:avLst/>
          </a:prstGeom>
          <a:noFill/>
        </p:spPr>
        <p:txBody>
          <a:bodyPr wrap="square" lIns="45720" rIns="45720" tIns="18288" bIns="18288" anchor="ctr">
            <a:spAutoFit/>
          </a:bodyPr>
          <a:lstStyle/>
          <a:p>
            <a:pPr algn="ctr"/>
            <a:r>
              <a:rPr sz="950" b="0" i="1">
                <a:solidFill>
                  <a:srgbClr val="FFFFFF"/>
                </a:solidFill>
                <a:latin typeface="Arial"/>
              </a:rPr>
              <a:t>Bi-weekly</a:t>
            </a:r>
          </a:p>
        </p:txBody>
      </p:sp>
      <p:sp>
        <p:nvSpPr>
          <p:cNvPr id="22" name="TextBox 21"/>
          <p:cNvSpPr txBox="1"/>
          <p:nvPr/>
        </p:nvSpPr>
        <p:spPr>
          <a:xfrm>
            <a:off x="5103449" y="1783080"/>
            <a:ext cx="1984796" cy="365760"/>
          </a:xfrm>
          <a:prstGeom prst="rect">
            <a:avLst/>
          </a:prstGeom>
          <a:noFill/>
        </p:spPr>
        <p:txBody>
          <a:bodyPr wrap="square" lIns="45720" rIns="45720" tIns="18288" bIns="18288" anchor="t">
            <a:spAutoFit/>
          </a:bodyPr>
          <a:lstStyle/>
          <a:p>
            <a:pPr algn="ctr"/>
            <a:r>
              <a:rPr sz="1050" b="1" i="0">
                <a:solidFill>
                  <a:srgbClr val="E88B2F"/>
                </a:solidFill>
                <a:latin typeface="Arial"/>
              </a:rPr>
              <a:t>Per technology stack</a:t>
            </a:r>
          </a:p>
        </p:txBody>
      </p:sp>
      <p:sp>
        <p:nvSpPr>
          <p:cNvPr id="23" name="TextBox 22"/>
          <p:cNvSpPr txBox="1"/>
          <p:nvPr/>
        </p:nvSpPr>
        <p:spPr>
          <a:xfrm>
            <a:off x="5176601" y="2286000"/>
            <a:ext cx="1838492" cy="3566160"/>
          </a:xfrm>
          <a:prstGeom prst="rect">
            <a:avLst/>
          </a:prstGeom>
          <a:noFill/>
        </p:spPr>
        <p:txBody>
          <a:bodyPr wrap="square" lIns="45720" rIns="45720" tIns="36576" bIns="36576">
            <a:spAutoFit/>
          </a:bodyPr>
          <a:lstStyle/>
          <a:p>
            <a:pPr>
              <a:lnSpc>
                <a:spcPct val="140000"/>
              </a:lnSpc>
            </a:pPr>
            <a:r>
              <a:rPr sz="950" b="0">
                <a:solidFill>
                  <a:srgbClr val="2C3E50"/>
                </a:solidFill>
                <a:latin typeface="Arial"/>
              </a:rPr>
              <a:t>•  ERP Steering — SAP strategic direction · Enterprise Architect view</a:t>
            </a:r>
          </a:p>
          <a:p>
            <a:pPr>
              <a:lnSpc>
                <a:spcPct val="140000"/>
              </a:lnSpc>
            </a:pPr>
            <a:r>
              <a:rPr sz="950" b="0">
                <a:solidFill>
                  <a:srgbClr val="2C3E50"/>
                </a:solidFill>
                <a:latin typeface="Arial"/>
              </a:rPr>
              <a:t>•  SAP Forum — Local + Iberdrola</a:t>
            </a:r>
          </a:p>
          <a:p>
            <a:pPr>
              <a:lnSpc>
                <a:spcPct val="140000"/>
              </a:lnSpc>
            </a:pPr>
            <a:r>
              <a:rPr sz="950" b="0">
                <a:solidFill>
                  <a:srgbClr val="2C3E50"/>
                </a:solidFill>
                <a:latin typeface="Arial"/>
              </a:rPr>
              <a:t>•  Non-SAP Forum — GIS · Mobility · Document Mgmt</a:t>
            </a:r>
          </a:p>
          <a:p>
            <a:pPr>
              <a:lnSpc>
                <a:spcPct val="140000"/>
              </a:lnSpc>
            </a:pPr>
            <a:r>
              <a:rPr sz="950" b="0">
                <a:solidFill>
                  <a:srgbClr val="2C3E50"/>
                </a:solidFill>
                <a:latin typeface="Arial"/>
              </a:rPr>
              <a:t>•  Platform Forum — DevOps · Security · Test automation</a:t>
            </a:r>
          </a:p>
          <a:p>
            <a:pPr>
              <a:lnSpc>
                <a:spcPct val="140000"/>
              </a:lnSpc>
            </a:pPr>
            <a:r>
              <a:rPr sz="950" b="0">
                <a:solidFill>
                  <a:srgbClr val="2C3E50"/>
                </a:solidFill>
                <a:latin typeface="Arial"/>
              </a:rPr>
              <a:t>•  Members: technical leads + platform owners + Enterprise Architect</a:t>
            </a:r>
          </a:p>
        </p:txBody>
      </p:sp>
      <p:sp>
        <p:nvSpPr>
          <p:cNvPr id="24" name="Rounded Rectangle 23"/>
          <p:cNvSpPr/>
          <p:nvPr/>
        </p:nvSpPr>
        <p:spPr>
          <a:xfrm>
            <a:off x="7289413" y="1005840"/>
            <a:ext cx="2167676" cy="4937760"/>
          </a:xfrm>
          <a:prstGeom prst="roundRect">
            <a:avLst>
              <a:gd name="adj" fmla="val 4000"/>
            </a:avLst>
          </a:prstGeom>
          <a:solidFill>
            <a:srgbClr val="FFFFFF"/>
          </a:solidFill>
          <a:ln w="2540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89413" y="1005840"/>
            <a:ext cx="2167676" cy="64008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89413" y="1051560"/>
            <a:ext cx="2167676" cy="320040"/>
          </a:xfrm>
          <a:prstGeom prst="rect">
            <a:avLst/>
          </a:prstGeom>
          <a:noFill/>
        </p:spPr>
        <p:txBody>
          <a:bodyPr wrap="square" lIns="45720" rIns="45720" tIns="18288" bIns="18288" anchor="ctr">
            <a:spAutoFit/>
          </a:bodyPr>
          <a:lstStyle/>
          <a:p>
            <a:pPr algn="ctr"/>
            <a:r>
              <a:rPr sz="1200" b="1" i="0">
                <a:solidFill>
                  <a:srgbClr val="FFFFFF"/>
                </a:solidFill>
                <a:latin typeface="Arial"/>
              </a:rPr>
              <a:t>CUSTOMER JOURNEY FORUM</a:t>
            </a:r>
          </a:p>
        </p:txBody>
      </p:sp>
      <p:sp>
        <p:nvSpPr>
          <p:cNvPr id="27" name="TextBox 26"/>
          <p:cNvSpPr txBox="1"/>
          <p:nvPr/>
        </p:nvSpPr>
        <p:spPr>
          <a:xfrm>
            <a:off x="7289413" y="1371600"/>
            <a:ext cx="2167676" cy="274320"/>
          </a:xfrm>
          <a:prstGeom prst="rect">
            <a:avLst/>
          </a:prstGeom>
          <a:noFill/>
        </p:spPr>
        <p:txBody>
          <a:bodyPr wrap="square" lIns="45720" rIns="45720" tIns="18288" bIns="18288" anchor="ctr">
            <a:spAutoFit/>
          </a:bodyPr>
          <a:lstStyle/>
          <a:p>
            <a:pPr algn="ctr"/>
            <a:r>
              <a:rPr sz="950" b="0" i="1">
                <a:solidFill>
                  <a:srgbClr val="FFFFFF"/>
                </a:solidFill>
                <a:latin typeface="Arial"/>
              </a:rPr>
              <a:t>Weekly during active initiative</a:t>
            </a:r>
          </a:p>
        </p:txBody>
      </p:sp>
      <p:sp>
        <p:nvSpPr>
          <p:cNvPr id="28" name="TextBox 27"/>
          <p:cNvSpPr txBox="1"/>
          <p:nvPr/>
        </p:nvSpPr>
        <p:spPr>
          <a:xfrm>
            <a:off x="7380853" y="1783080"/>
            <a:ext cx="1984796" cy="365760"/>
          </a:xfrm>
          <a:prstGeom prst="rect">
            <a:avLst/>
          </a:prstGeom>
          <a:noFill/>
        </p:spPr>
        <p:txBody>
          <a:bodyPr wrap="square" lIns="45720" rIns="45720" tIns="18288" bIns="18288" anchor="t">
            <a:spAutoFit/>
          </a:bodyPr>
          <a:lstStyle/>
          <a:p>
            <a:pPr algn="ctr"/>
            <a:r>
              <a:rPr sz="1050" b="1" i="0">
                <a:solidFill>
                  <a:srgbClr val="7A66B8"/>
                </a:solidFill>
                <a:latin typeface="Arial"/>
              </a:rPr>
              <a:t>End-to-end customer experience</a:t>
            </a:r>
          </a:p>
        </p:txBody>
      </p:sp>
      <p:sp>
        <p:nvSpPr>
          <p:cNvPr id="29" name="TextBox 28"/>
          <p:cNvSpPr txBox="1"/>
          <p:nvPr/>
        </p:nvSpPr>
        <p:spPr>
          <a:xfrm>
            <a:off x="7454005" y="2286000"/>
            <a:ext cx="1838492" cy="3566160"/>
          </a:xfrm>
          <a:prstGeom prst="rect">
            <a:avLst/>
          </a:prstGeom>
          <a:noFill/>
        </p:spPr>
        <p:txBody>
          <a:bodyPr wrap="square" lIns="45720" rIns="45720" tIns="36576" bIns="36576">
            <a:spAutoFit/>
          </a:bodyPr>
          <a:lstStyle/>
          <a:p>
            <a:pPr>
              <a:lnSpc>
                <a:spcPct val="140000"/>
              </a:lnSpc>
            </a:pPr>
            <a:r>
              <a:rPr sz="950" b="0">
                <a:solidFill>
                  <a:srgbClr val="2C3E50"/>
                </a:solidFill>
                <a:latin typeface="Arial"/>
              </a:rPr>
              <a:t>•  M2C Journey — meter → bill → payment</a:t>
            </a:r>
          </a:p>
          <a:p>
            <a:pPr>
              <a:lnSpc>
                <a:spcPct val="140000"/>
              </a:lnSpc>
            </a:pPr>
            <a:r>
              <a:rPr sz="950" b="0">
                <a:solidFill>
                  <a:srgbClr val="2C3E50"/>
                </a:solidFill>
                <a:latin typeface="Arial"/>
              </a:rPr>
              <a:t>•  Self-Service Journey — portal · CRM · Contact Center</a:t>
            </a:r>
          </a:p>
          <a:p>
            <a:pPr>
              <a:lnSpc>
                <a:spcPct val="140000"/>
              </a:lnSpc>
            </a:pPr>
            <a:r>
              <a:rPr sz="950" b="0">
                <a:solidFill>
                  <a:srgbClr val="2C3E50"/>
                </a:solidFill>
                <a:latin typeface="Arial"/>
              </a:rPr>
              <a:t>•  Field Worker Journey — mobility · doc viewer · storm</a:t>
            </a:r>
          </a:p>
          <a:p>
            <a:pPr>
              <a:lnSpc>
                <a:spcPct val="140000"/>
              </a:lnSpc>
            </a:pPr>
            <a:r>
              <a:rPr sz="950" b="0">
                <a:solidFill>
                  <a:srgbClr val="2C3E50"/>
                </a:solidFill>
                <a:latin typeface="Arial"/>
              </a:rPr>
              <a:t>•  Members: PMs + UX + business sponsors</a:t>
            </a:r>
          </a:p>
        </p:txBody>
      </p:sp>
      <p:sp>
        <p:nvSpPr>
          <p:cNvPr id="30" name="Rounded Rectangle 29"/>
          <p:cNvSpPr/>
          <p:nvPr/>
        </p:nvSpPr>
        <p:spPr>
          <a:xfrm>
            <a:off x="9566818" y="1005840"/>
            <a:ext cx="2167676" cy="4937760"/>
          </a:xfrm>
          <a:prstGeom prst="roundRect">
            <a:avLst>
              <a:gd name="adj" fmla="val 4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66818" y="1005840"/>
            <a:ext cx="2167676" cy="640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566818" y="1051560"/>
            <a:ext cx="2167676" cy="320040"/>
          </a:xfrm>
          <a:prstGeom prst="rect">
            <a:avLst/>
          </a:prstGeom>
          <a:noFill/>
        </p:spPr>
        <p:txBody>
          <a:bodyPr wrap="square" lIns="45720" rIns="45720" tIns="18288" bIns="18288" anchor="ctr">
            <a:spAutoFit/>
          </a:bodyPr>
          <a:lstStyle/>
          <a:p>
            <a:pPr algn="ctr"/>
            <a:r>
              <a:rPr sz="1200" b="1" i="0">
                <a:solidFill>
                  <a:srgbClr val="FFFFFF"/>
                </a:solidFill>
                <a:latin typeface="Arial"/>
              </a:rPr>
              <a:t>PRODUCT FORUM</a:t>
            </a:r>
          </a:p>
        </p:txBody>
      </p:sp>
      <p:sp>
        <p:nvSpPr>
          <p:cNvPr id="33" name="TextBox 32"/>
          <p:cNvSpPr txBox="1"/>
          <p:nvPr/>
        </p:nvSpPr>
        <p:spPr>
          <a:xfrm>
            <a:off x="9566818" y="1371600"/>
            <a:ext cx="2167676" cy="274320"/>
          </a:xfrm>
          <a:prstGeom prst="rect">
            <a:avLst/>
          </a:prstGeom>
          <a:noFill/>
        </p:spPr>
        <p:txBody>
          <a:bodyPr wrap="square" lIns="45720" rIns="45720" tIns="18288" bIns="18288" anchor="ctr">
            <a:spAutoFit/>
          </a:bodyPr>
          <a:lstStyle/>
          <a:p>
            <a:pPr algn="ctr"/>
            <a:r>
              <a:rPr sz="950" b="0" i="1">
                <a:solidFill>
                  <a:srgbClr val="FFFFFF"/>
                </a:solidFill>
                <a:latin typeface="Arial"/>
              </a:rPr>
              <a:t>Quarterly (Big Room Planning)</a:t>
            </a:r>
          </a:p>
        </p:txBody>
      </p:sp>
      <p:sp>
        <p:nvSpPr>
          <p:cNvPr id="34" name="TextBox 33"/>
          <p:cNvSpPr txBox="1"/>
          <p:nvPr/>
        </p:nvSpPr>
        <p:spPr>
          <a:xfrm>
            <a:off x="9658258" y="1783080"/>
            <a:ext cx="1984796" cy="365760"/>
          </a:xfrm>
          <a:prstGeom prst="rect">
            <a:avLst/>
          </a:prstGeom>
          <a:noFill/>
        </p:spPr>
        <p:txBody>
          <a:bodyPr wrap="square" lIns="45720" rIns="45720" tIns="18288" bIns="18288" anchor="t">
            <a:spAutoFit/>
          </a:bodyPr>
          <a:lstStyle/>
          <a:p>
            <a:pPr algn="ctr"/>
            <a:r>
              <a:rPr sz="1050" b="1" i="0">
                <a:solidFill>
                  <a:srgbClr val="2E7D32"/>
                </a:solidFill>
                <a:latin typeface="Arial"/>
              </a:rPr>
              <a:t>Cross-stream product strategy</a:t>
            </a:r>
          </a:p>
        </p:txBody>
      </p:sp>
      <p:sp>
        <p:nvSpPr>
          <p:cNvPr id="35" name="TextBox 34"/>
          <p:cNvSpPr txBox="1"/>
          <p:nvPr/>
        </p:nvSpPr>
        <p:spPr>
          <a:xfrm>
            <a:off x="9731410" y="2286000"/>
            <a:ext cx="1838492" cy="3566160"/>
          </a:xfrm>
          <a:prstGeom prst="rect">
            <a:avLst/>
          </a:prstGeom>
          <a:noFill/>
        </p:spPr>
        <p:txBody>
          <a:bodyPr wrap="square" lIns="45720" rIns="45720" tIns="36576" bIns="36576">
            <a:spAutoFit/>
          </a:bodyPr>
          <a:lstStyle/>
          <a:p>
            <a:pPr>
              <a:lnSpc>
                <a:spcPct val="140000"/>
              </a:lnSpc>
            </a:pPr>
            <a:r>
              <a:rPr sz="950" b="0">
                <a:solidFill>
                  <a:srgbClr val="2C3E50"/>
                </a:solidFill>
                <a:latin typeface="Arial"/>
              </a:rPr>
              <a:t>•  BRP cadence with all Value Stream Teams</a:t>
            </a:r>
          </a:p>
          <a:p>
            <a:pPr>
              <a:lnSpc>
                <a:spcPct val="140000"/>
              </a:lnSpc>
            </a:pPr>
            <a:r>
              <a:rPr sz="950" b="0">
                <a:solidFill>
                  <a:srgbClr val="2C3E50"/>
                </a:solidFill>
                <a:latin typeface="Arial"/>
              </a:rPr>
              <a:t>•  Cross-stream roadmap sync</a:t>
            </a:r>
          </a:p>
          <a:p>
            <a:pPr>
              <a:lnSpc>
                <a:spcPct val="140000"/>
              </a:lnSpc>
            </a:pPr>
            <a:r>
              <a:rPr sz="950" b="0">
                <a:solidFill>
                  <a:srgbClr val="2C3E50"/>
                </a:solidFill>
                <a:latin typeface="Arial"/>
              </a:rPr>
              <a:t>•  Trade-off + sequencing decisions at portfolio level</a:t>
            </a:r>
          </a:p>
          <a:p>
            <a:pPr>
              <a:lnSpc>
                <a:spcPct val="140000"/>
              </a:lnSpc>
            </a:pPr>
            <a:r>
              <a:rPr sz="950" b="0">
                <a:solidFill>
                  <a:srgbClr val="2C3E50"/>
                </a:solidFill>
                <a:latin typeface="Arial"/>
              </a:rPr>
              <a:t>•  Members: Directors + PMs + Portfolio Manager</a:t>
            </a:r>
          </a:p>
        </p:txBody>
      </p:sp>
      <p:sp>
        <p:nvSpPr>
          <p:cNvPr id="36" name="TextBox 35"/>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STEP-LEVEL POLICIES</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WHAT HAPPENS AT EACH STAGE AND WHO IS RESPONSIBLE</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ounded Rectangle 5"/>
          <p:cNvSpPr/>
          <p:nvPr/>
        </p:nvSpPr>
        <p:spPr>
          <a:xfrm>
            <a:off x="457200" y="914400"/>
            <a:ext cx="5592927" cy="548640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914400"/>
            <a:ext cx="5592927" cy="50292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60120"/>
            <a:ext cx="5592927" cy="411480"/>
          </a:xfrm>
          <a:prstGeom prst="rect">
            <a:avLst/>
          </a:prstGeom>
          <a:noFill/>
        </p:spPr>
        <p:txBody>
          <a:bodyPr wrap="square" lIns="45720" rIns="45720" tIns="18288" bIns="18288" anchor="ctr">
            <a:spAutoFit/>
          </a:bodyPr>
          <a:lstStyle/>
          <a:p>
            <a:pPr algn="ctr"/>
            <a:r>
              <a:rPr sz="1300" b="1" i="0">
                <a:solidFill>
                  <a:srgbClr val="FFFFFF"/>
                </a:solidFill>
                <a:latin typeface="Arial"/>
              </a:rPr>
              <a:t>PORTFOLIO BOARD  ·  cards = INITIATIVES</a:t>
            </a:r>
          </a:p>
        </p:txBody>
      </p:sp>
      <p:sp>
        <p:nvSpPr>
          <p:cNvPr id="9" name="Rectangle 8"/>
          <p:cNvSpPr/>
          <p:nvPr/>
        </p:nvSpPr>
        <p:spPr>
          <a:xfrm>
            <a:off x="640080" y="1554480"/>
            <a:ext cx="73152" cy="627017"/>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72768"/>
            <a:ext cx="5135727" cy="228600"/>
          </a:xfrm>
          <a:prstGeom prst="rect">
            <a:avLst/>
          </a:prstGeom>
          <a:noFill/>
        </p:spPr>
        <p:txBody>
          <a:bodyPr wrap="square" lIns="45720" rIns="45720" tIns="18288" bIns="18288" anchor="t">
            <a:spAutoFit/>
          </a:bodyPr>
          <a:lstStyle/>
          <a:p>
            <a:pPr algn="l"/>
            <a:r>
              <a:rPr sz="1100" b="1" i="0">
                <a:solidFill>
                  <a:srgbClr val="F9A825"/>
                </a:solidFill>
                <a:latin typeface="Arial"/>
              </a:rPr>
              <a:t>Funnel</a:t>
            </a:r>
          </a:p>
        </p:txBody>
      </p:sp>
      <p:sp>
        <p:nvSpPr>
          <p:cNvPr id="11" name="TextBox 10"/>
          <p:cNvSpPr txBox="1"/>
          <p:nvPr/>
        </p:nvSpPr>
        <p:spPr>
          <a:xfrm>
            <a:off x="822960" y="1755648"/>
            <a:ext cx="5135727" cy="201168"/>
          </a:xfrm>
          <a:prstGeom prst="rect">
            <a:avLst/>
          </a:prstGeom>
          <a:noFill/>
        </p:spPr>
        <p:txBody>
          <a:bodyPr wrap="square" lIns="45720" rIns="45720" tIns="18288" bIns="18288" anchor="t">
            <a:spAutoFit/>
          </a:bodyPr>
          <a:lstStyle/>
          <a:p>
            <a:pPr algn="l"/>
            <a:r>
              <a:rPr sz="1000" b="0" i="0">
                <a:solidFill>
                  <a:srgbClr val="2C3E50"/>
                </a:solidFill>
                <a:latin typeface="Arial"/>
              </a:rPr>
              <a:t>Idea submitted with problem statement</a:t>
            </a:r>
          </a:p>
        </p:txBody>
      </p:sp>
      <p:sp>
        <p:nvSpPr>
          <p:cNvPr id="12" name="TextBox 11"/>
          <p:cNvSpPr txBox="1"/>
          <p:nvPr/>
        </p:nvSpPr>
        <p:spPr>
          <a:xfrm>
            <a:off x="822960" y="1938528"/>
            <a:ext cx="5135727" cy="201168"/>
          </a:xfrm>
          <a:prstGeom prst="rect">
            <a:avLst/>
          </a:prstGeom>
          <a:noFill/>
        </p:spPr>
        <p:txBody>
          <a:bodyPr wrap="square" lIns="45720" rIns="45720" tIns="18288" bIns="18288" anchor="t">
            <a:spAutoFit/>
          </a:bodyPr>
          <a:lstStyle/>
          <a:p>
            <a:pPr algn="l"/>
            <a:r>
              <a:rPr sz="900" b="0" i="1">
                <a:solidFill>
                  <a:srgbClr val="95A5A6"/>
                </a:solidFill>
                <a:latin typeface="Arial"/>
              </a:rPr>
              <a:t>Owner: Sponsor</a:t>
            </a:r>
          </a:p>
        </p:txBody>
      </p:sp>
      <p:sp>
        <p:nvSpPr>
          <p:cNvPr id="13" name="TextBox 12"/>
          <p:cNvSpPr txBox="1"/>
          <p:nvPr/>
        </p:nvSpPr>
        <p:spPr>
          <a:xfrm>
            <a:off x="822960" y="2103120"/>
            <a:ext cx="5135727" cy="201168"/>
          </a:xfrm>
          <a:prstGeom prst="rect">
            <a:avLst/>
          </a:prstGeom>
          <a:noFill/>
        </p:spPr>
        <p:txBody>
          <a:bodyPr wrap="square" lIns="45720" rIns="45720" tIns="18288" bIns="18288" anchor="t">
            <a:spAutoFit/>
          </a:bodyPr>
          <a:lstStyle/>
          <a:p>
            <a:pPr algn="l"/>
            <a:r>
              <a:rPr sz="900" b="0" i="1">
                <a:solidFill>
                  <a:srgbClr val="95A5A6"/>
                </a:solidFill>
                <a:latin typeface="Arial"/>
              </a:rPr>
              <a:t>Reviewer: Demand Manager</a:t>
            </a:r>
          </a:p>
        </p:txBody>
      </p:sp>
      <p:sp>
        <p:nvSpPr>
          <p:cNvPr id="14" name="Rectangle 13"/>
          <p:cNvSpPr/>
          <p:nvPr/>
        </p:nvSpPr>
        <p:spPr>
          <a:xfrm>
            <a:off x="640080" y="2227217"/>
            <a:ext cx="73152" cy="627017"/>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245505"/>
            <a:ext cx="5135727" cy="228600"/>
          </a:xfrm>
          <a:prstGeom prst="rect">
            <a:avLst/>
          </a:prstGeom>
          <a:noFill/>
        </p:spPr>
        <p:txBody>
          <a:bodyPr wrap="square" lIns="45720" rIns="45720" tIns="18288" bIns="18288" anchor="t">
            <a:spAutoFit/>
          </a:bodyPr>
          <a:lstStyle/>
          <a:p>
            <a:pPr algn="l"/>
            <a:r>
              <a:rPr sz="1100" b="1" i="0">
                <a:solidFill>
                  <a:srgbClr val="F9A825"/>
                </a:solidFill>
                <a:latin typeface="Arial"/>
              </a:rPr>
              <a:t>Reviewing</a:t>
            </a:r>
          </a:p>
        </p:txBody>
      </p:sp>
      <p:sp>
        <p:nvSpPr>
          <p:cNvPr id="16" name="TextBox 15"/>
          <p:cNvSpPr txBox="1"/>
          <p:nvPr/>
        </p:nvSpPr>
        <p:spPr>
          <a:xfrm>
            <a:off x="822960" y="2428385"/>
            <a:ext cx="5135727" cy="201168"/>
          </a:xfrm>
          <a:prstGeom prst="rect">
            <a:avLst/>
          </a:prstGeom>
          <a:noFill/>
        </p:spPr>
        <p:txBody>
          <a:bodyPr wrap="square" lIns="45720" rIns="45720" tIns="18288" bIns="18288" anchor="t">
            <a:spAutoFit/>
          </a:bodyPr>
          <a:lstStyle/>
          <a:p>
            <a:pPr algn="l"/>
            <a:r>
              <a:rPr sz="1000" b="0" i="0">
                <a:solidFill>
                  <a:srgbClr val="2C3E50"/>
                </a:solidFill>
                <a:latin typeface="Arial"/>
              </a:rPr>
              <a:t>Business case refined · classification applied</a:t>
            </a:r>
          </a:p>
        </p:txBody>
      </p:sp>
      <p:sp>
        <p:nvSpPr>
          <p:cNvPr id="17" name="TextBox 16"/>
          <p:cNvSpPr txBox="1"/>
          <p:nvPr/>
        </p:nvSpPr>
        <p:spPr>
          <a:xfrm>
            <a:off x="822960" y="2611265"/>
            <a:ext cx="5135727" cy="201168"/>
          </a:xfrm>
          <a:prstGeom prst="rect">
            <a:avLst/>
          </a:prstGeom>
          <a:noFill/>
        </p:spPr>
        <p:txBody>
          <a:bodyPr wrap="square" lIns="45720" rIns="45720" tIns="18288" bIns="18288" anchor="t">
            <a:spAutoFit/>
          </a:bodyPr>
          <a:lstStyle/>
          <a:p>
            <a:pPr algn="l"/>
            <a:r>
              <a:rPr sz="900" b="0" i="1">
                <a:solidFill>
                  <a:srgbClr val="95A5A6"/>
                </a:solidFill>
                <a:latin typeface="Arial"/>
              </a:rPr>
              <a:t>Owner: Sponsor + Demand Manager</a:t>
            </a:r>
          </a:p>
        </p:txBody>
      </p:sp>
      <p:sp>
        <p:nvSpPr>
          <p:cNvPr id="18" name="TextBox 17"/>
          <p:cNvSpPr txBox="1"/>
          <p:nvPr/>
        </p:nvSpPr>
        <p:spPr>
          <a:xfrm>
            <a:off x="822960" y="2775857"/>
            <a:ext cx="5135727" cy="201168"/>
          </a:xfrm>
          <a:prstGeom prst="rect">
            <a:avLst/>
          </a:prstGeom>
          <a:noFill/>
        </p:spPr>
        <p:txBody>
          <a:bodyPr wrap="square" lIns="45720" rIns="45720" tIns="18288" bIns="18288" anchor="t">
            <a:spAutoFit/>
          </a:bodyPr>
          <a:lstStyle/>
          <a:p>
            <a:pPr algn="l"/>
            <a:r>
              <a:rPr sz="900" b="0" i="1">
                <a:solidFill>
                  <a:srgbClr val="95A5A6"/>
                </a:solidFill>
                <a:latin typeface="Arial"/>
              </a:rPr>
              <a:t>SLA: 2 weeks</a:t>
            </a:r>
          </a:p>
        </p:txBody>
      </p:sp>
      <p:sp>
        <p:nvSpPr>
          <p:cNvPr id="19" name="Rectangle 18"/>
          <p:cNvSpPr/>
          <p:nvPr/>
        </p:nvSpPr>
        <p:spPr>
          <a:xfrm>
            <a:off x="640080" y="2899954"/>
            <a:ext cx="73152" cy="627017"/>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2918242"/>
            <a:ext cx="5135727" cy="228600"/>
          </a:xfrm>
          <a:prstGeom prst="rect">
            <a:avLst/>
          </a:prstGeom>
          <a:noFill/>
        </p:spPr>
        <p:txBody>
          <a:bodyPr wrap="square" lIns="45720" rIns="45720" tIns="18288" bIns="18288" anchor="t">
            <a:spAutoFit/>
          </a:bodyPr>
          <a:lstStyle/>
          <a:p>
            <a:pPr algn="l"/>
            <a:r>
              <a:rPr sz="1100" b="1" i="0">
                <a:solidFill>
                  <a:srgbClr val="F9A825"/>
                </a:solidFill>
                <a:latin typeface="Arial"/>
              </a:rPr>
              <a:t>Analyzing</a:t>
            </a:r>
          </a:p>
        </p:txBody>
      </p:sp>
      <p:sp>
        <p:nvSpPr>
          <p:cNvPr id="21" name="TextBox 20"/>
          <p:cNvSpPr txBox="1"/>
          <p:nvPr/>
        </p:nvSpPr>
        <p:spPr>
          <a:xfrm>
            <a:off x="822960" y="3101122"/>
            <a:ext cx="5135727" cy="201168"/>
          </a:xfrm>
          <a:prstGeom prst="rect">
            <a:avLst/>
          </a:prstGeom>
          <a:noFill/>
        </p:spPr>
        <p:txBody>
          <a:bodyPr wrap="square" lIns="45720" rIns="45720" tIns="18288" bIns="18288" anchor="t">
            <a:spAutoFit/>
          </a:bodyPr>
          <a:lstStyle/>
          <a:p>
            <a:pPr algn="l"/>
            <a:r>
              <a:rPr sz="1000" b="0" i="0">
                <a:solidFill>
                  <a:srgbClr val="2C3E50"/>
                </a:solidFill>
                <a:latin typeface="Arial"/>
              </a:rPr>
              <a:t>Sized · scored · feasibility checked</a:t>
            </a:r>
          </a:p>
        </p:txBody>
      </p:sp>
      <p:sp>
        <p:nvSpPr>
          <p:cNvPr id="22" name="TextBox 21"/>
          <p:cNvSpPr txBox="1"/>
          <p:nvPr/>
        </p:nvSpPr>
        <p:spPr>
          <a:xfrm>
            <a:off x="822960" y="3284002"/>
            <a:ext cx="5135727" cy="201168"/>
          </a:xfrm>
          <a:prstGeom prst="rect">
            <a:avLst/>
          </a:prstGeom>
          <a:noFill/>
        </p:spPr>
        <p:txBody>
          <a:bodyPr wrap="square" lIns="45720" rIns="45720" tIns="18288" bIns="18288" anchor="t">
            <a:spAutoFit/>
          </a:bodyPr>
          <a:lstStyle/>
          <a:p>
            <a:pPr algn="l"/>
            <a:r>
              <a:rPr sz="900" b="0" i="1">
                <a:solidFill>
                  <a:srgbClr val="95A5A6"/>
                </a:solidFill>
                <a:latin typeface="Arial"/>
              </a:rPr>
              <a:t>Owner: Demand Manager + Architect</a:t>
            </a:r>
          </a:p>
        </p:txBody>
      </p:sp>
      <p:sp>
        <p:nvSpPr>
          <p:cNvPr id="23" name="TextBox 22"/>
          <p:cNvSpPr txBox="1"/>
          <p:nvPr/>
        </p:nvSpPr>
        <p:spPr>
          <a:xfrm>
            <a:off x="822960" y="3448594"/>
            <a:ext cx="5135727" cy="201168"/>
          </a:xfrm>
          <a:prstGeom prst="rect">
            <a:avLst/>
          </a:prstGeom>
          <a:noFill/>
        </p:spPr>
        <p:txBody>
          <a:bodyPr wrap="square" lIns="45720" rIns="45720" tIns="18288" bIns="18288" anchor="t">
            <a:spAutoFit/>
          </a:bodyPr>
          <a:lstStyle/>
          <a:p>
            <a:pPr algn="l"/>
            <a:r>
              <a:rPr sz="900" b="0" i="1">
                <a:solidFill>
                  <a:srgbClr val="95A5A6"/>
                </a:solidFill>
                <a:latin typeface="Arial"/>
              </a:rPr>
              <a:t>Output: Pain Score, T-shirt effort, Class of Service</a:t>
            </a:r>
          </a:p>
        </p:txBody>
      </p:sp>
      <p:sp>
        <p:nvSpPr>
          <p:cNvPr id="24" name="Rectangle 23"/>
          <p:cNvSpPr/>
          <p:nvPr/>
        </p:nvSpPr>
        <p:spPr>
          <a:xfrm>
            <a:off x="640080" y="3572691"/>
            <a:ext cx="73152" cy="627017"/>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3590979"/>
            <a:ext cx="5135727" cy="228600"/>
          </a:xfrm>
          <a:prstGeom prst="rect">
            <a:avLst/>
          </a:prstGeom>
          <a:noFill/>
        </p:spPr>
        <p:txBody>
          <a:bodyPr wrap="square" lIns="45720" rIns="45720" tIns="18288" bIns="18288" anchor="t">
            <a:spAutoFit/>
          </a:bodyPr>
          <a:lstStyle/>
          <a:p>
            <a:pPr algn="l"/>
            <a:r>
              <a:rPr sz="1100" b="1" i="0">
                <a:solidFill>
                  <a:srgbClr val="F9A825"/>
                </a:solidFill>
                <a:latin typeface="Arial"/>
              </a:rPr>
              <a:t>Approval Gate</a:t>
            </a:r>
          </a:p>
        </p:txBody>
      </p:sp>
      <p:sp>
        <p:nvSpPr>
          <p:cNvPr id="26" name="TextBox 25"/>
          <p:cNvSpPr txBox="1"/>
          <p:nvPr/>
        </p:nvSpPr>
        <p:spPr>
          <a:xfrm>
            <a:off x="822960" y="3773859"/>
            <a:ext cx="5135727" cy="201168"/>
          </a:xfrm>
          <a:prstGeom prst="rect">
            <a:avLst/>
          </a:prstGeom>
          <a:noFill/>
        </p:spPr>
        <p:txBody>
          <a:bodyPr wrap="square" lIns="45720" rIns="45720" tIns="18288" bIns="18288" anchor="t">
            <a:spAutoFit/>
          </a:bodyPr>
          <a:lstStyle/>
          <a:p>
            <a:pPr algn="l"/>
            <a:r>
              <a:rPr sz="1000" b="0" i="0">
                <a:solidFill>
                  <a:srgbClr val="2C3E50"/>
                </a:solidFill>
                <a:latin typeface="Arial"/>
              </a:rPr>
              <a:t>Go / No-Go decision</a:t>
            </a:r>
          </a:p>
        </p:txBody>
      </p:sp>
      <p:sp>
        <p:nvSpPr>
          <p:cNvPr id="27" name="TextBox 26"/>
          <p:cNvSpPr txBox="1"/>
          <p:nvPr/>
        </p:nvSpPr>
        <p:spPr>
          <a:xfrm>
            <a:off x="822960" y="3956739"/>
            <a:ext cx="5135727" cy="201168"/>
          </a:xfrm>
          <a:prstGeom prst="rect">
            <a:avLst/>
          </a:prstGeom>
          <a:noFill/>
        </p:spPr>
        <p:txBody>
          <a:bodyPr wrap="square" lIns="45720" rIns="45720" tIns="18288" bIns="18288" anchor="t">
            <a:spAutoFit/>
          </a:bodyPr>
          <a:lstStyle/>
          <a:p>
            <a:pPr algn="l"/>
            <a:r>
              <a:rPr sz="900" b="0" i="1">
                <a:solidFill>
                  <a:srgbClr val="95A5A6"/>
                </a:solidFill>
                <a:latin typeface="Arial"/>
              </a:rPr>
              <a:t>Decider: Director (Carlos / Kumar)</a:t>
            </a:r>
          </a:p>
        </p:txBody>
      </p:sp>
      <p:sp>
        <p:nvSpPr>
          <p:cNvPr id="28" name="TextBox 27"/>
          <p:cNvSpPr txBox="1"/>
          <p:nvPr/>
        </p:nvSpPr>
        <p:spPr>
          <a:xfrm>
            <a:off x="822960" y="4121331"/>
            <a:ext cx="5135727" cy="201168"/>
          </a:xfrm>
          <a:prstGeom prst="rect">
            <a:avLst/>
          </a:prstGeom>
          <a:noFill/>
        </p:spPr>
        <p:txBody>
          <a:bodyPr wrap="square" lIns="45720" rIns="45720" tIns="18288" bIns="18288" anchor="t">
            <a:spAutoFit/>
          </a:bodyPr>
          <a:lstStyle/>
          <a:p>
            <a:pPr algn="l"/>
            <a:r>
              <a:rPr sz="900" b="0" i="1">
                <a:solidFill>
                  <a:srgbClr val="95A5A6"/>
                </a:solidFill>
                <a:latin typeface="Arial"/>
              </a:rPr>
              <a:t>Cadence: monthly Portfolio Committee</a:t>
            </a:r>
          </a:p>
        </p:txBody>
      </p:sp>
      <p:sp>
        <p:nvSpPr>
          <p:cNvPr id="29" name="Rectangle 28"/>
          <p:cNvSpPr/>
          <p:nvPr/>
        </p:nvSpPr>
        <p:spPr>
          <a:xfrm>
            <a:off x="640080" y="4245428"/>
            <a:ext cx="73152" cy="627017"/>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263716"/>
            <a:ext cx="5135727" cy="228600"/>
          </a:xfrm>
          <a:prstGeom prst="rect">
            <a:avLst/>
          </a:prstGeom>
          <a:noFill/>
        </p:spPr>
        <p:txBody>
          <a:bodyPr wrap="square" lIns="45720" rIns="45720" tIns="18288" bIns="18288" anchor="t">
            <a:spAutoFit/>
          </a:bodyPr>
          <a:lstStyle/>
          <a:p>
            <a:pPr algn="l"/>
            <a:r>
              <a:rPr sz="1100" b="1" i="0">
                <a:solidFill>
                  <a:srgbClr val="F9A825"/>
                </a:solidFill>
                <a:latin typeface="Arial"/>
              </a:rPr>
              <a:t>Backlog</a:t>
            </a:r>
          </a:p>
        </p:txBody>
      </p:sp>
      <p:sp>
        <p:nvSpPr>
          <p:cNvPr id="31" name="TextBox 30"/>
          <p:cNvSpPr txBox="1"/>
          <p:nvPr/>
        </p:nvSpPr>
        <p:spPr>
          <a:xfrm>
            <a:off x="822960" y="4446596"/>
            <a:ext cx="5135727" cy="201168"/>
          </a:xfrm>
          <a:prstGeom prst="rect">
            <a:avLst/>
          </a:prstGeom>
          <a:noFill/>
        </p:spPr>
        <p:txBody>
          <a:bodyPr wrap="square" lIns="45720" rIns="45720" tIns="18288" bIns="18288" anchor="t">
            <a:spAutoFit/>
          </a:bodyPr>
          <a:lstStyle/>
          <a:p>
            <a:pPr algn="l"/>
            <a:r>
              <a:rPr sz="1000" b="0" i="0">
                <a:solidFill>
                  <a:srgbClr val="2C3E50"/>
                </a:solidFill>
                <a:latin typeface="Arial"/>
              </a:rPr>
              <a:t>Approved · awaiting capacity</a:t>
            </a:r>
          </a:p>
        </p:txBody>
      </p:sp>
      <p:sp>
        <p:nvSpPr>
          <p:cNvPr id="32" name="TextBox 31"/>
          <p:cNvSpPr txBox="1"/>
          <p:nvPr/>
        </p:nvSpPr>
        <p:spPr>
          <a:xfrm>
            <a:off x="822960" y="4629476"/>
            <a:ext cx="5135727" cy="201168"/>
          </a:xfrm>
          <a:prstGeom prst="rect">
            <a:avLst/>
          </a:prstGeom>
          <a:noFill/>
        </p:spPr>
        <p:txBody>
          <a:bodyPr wrap="square" lIns="45720" rIns="45720" tIns="18288" bIns="18288" anchor="t">
            <a:spAutoFit/>
          </a:bodyPr>
          <a:lstStyle/>
          <a:p>
            <a:pPr algn="l"/>
            <a:r>
              <a:rPr sz="900" b="0" i="1">
                <a:solidFill>
                  <a:srgbClr val="95A5A6"/>
                </a:solidFill>
                <a:latin typeface="Arial"/>
              </a:rPr>
              <a:t>Owner: Portfolio Manager</a:t>
            </a:r>
          </a:p>
        </p:txBody>
      </p:sp>
      <p:sp>
        <p:nvSpPr>
          <p:cNvPr id="33" name="TextBox 32"/>
          <p:cNvSpPr txBox="1"/>
          <p:nvPr/>
        </p:nvSpPr>
        <p:spPr>
          <a:xfrm>
            <a:off x="822960" y="4794068"/>
            <a:ext cx="5135727" cy="201168"/>
          </a:xfrm>
          <a:prstGeom prst="rect">
            <a:avLst/>
          </a:prstGeom>
          <a:noFill/>
        </p:spPr>
        <p:txBody>
          <a:bodyPr wrap="square" lIns="45720" rIns="45720" tIns="18288" bIns="18288" anchor="t">
            <a:spAutoFit/>
          </a:bodyPr>
          <a:lstStyle/>
          <a:p>
            <a:pPr algn="l"/>
            <a:r>
              <a:rPr sz="900" b="0" i="1">
                <a:solidFill>
                  <a:srgbClr val="95A5A6"/>
                </a:solidFill>
                <a:latin typeface="Arial"/>
              </a:rPr>
              <a:t>Sequencing by Class of Service + score</a:t>
            </a:r>
          </a:p>
        </p:txBody>
      </p:sp>
      <p:sp>
        <p:nvSpPr>
          <p:cNvPr id="34" name="Rectangle 33"/>
          <p:cNvSpPr/>
          <p:nvPr/>
        </p:nvSpPr>
        <p:spPr>
          <a:xfrm>
            <a:off x="640080" y="4918165"/>
            <a:ext cx="73152" cy="627017"/>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4936453"/>
            <a:ext cx="5135727" cy="228600"/>
          </a:xfrm>
          <a:prstGeom prst="rect">
            <a:avLst/>
          </a:prstGeom>
          <a:noFill/>
        </p:spPr>
        <p:txBody>
          <a:bodyPr wrap="square" lIns="45720" rIns="45720" tIns="18288" bIns="18288" anchor="t">
            <a:spAutoFit/>
          </a:bodyPr>
          <a:lstStyle/>
          <a:p>
            <a:pPr algn="l"/>
            <a:r>
              <a:rPr sz="1100" b="1" i="0">
                <a:solidFill>
                  <a:srgbClr val="F9A825"/>
                </a:solidFill>
                <a:latin typeface="Arial"/>
              </a:rPr>
              <a:t>Implementing</a:t>
            </a:r>
          </a:p>
        </p:txBody>
      </p:sp>
      <p:sp>
        <p:nvSpPr>
          <p:cNvPr id="36" name="TextBox 35"/>
          <p:cNvSpPr txBox="1"/>
          <p:nvPr/>
        </p:nvSpPr>
        <p:spPr>
          <a:xfrm>
            <a:off x="822960" y="5119333"/>
            <a:ext cx="5135727" cy="201168"/>
          </a:xfrm>
          <a:prstGeom prst="rect">
            <a:avLst/>
          </a:prstGeom>
          <a:noFill/>
        </p:spPr>
        <p:txBody>
          <a:bodyPr wrap="square" lIns="45720" rIns="45720" tIns="18288" bIns="18288" anchor="t">
            <a:spAutoFit/>
          </a:bodyPr>
          <a:lstStyle/>
          <a:p>
            <a:pPr algn="l"/>
            <a:r>
              <a:rPr sz="1000" b="0" i="0">
                <a:solidFill>
                  <a:srgbClr val="2C3E50"/>
                </a:solidFill>
                <a:latin typeface="Arial"/>
              </a:rPr>
              <a:t>Assigned to Value Stream Team</a:t>
            </a:r>
          </a:p>
        </p:txBody>
      </p:sp>
      <p:sp>
        <p:nvSpPr>
          <p:cNvPr id="37" name="TextBox 36"/>
          <p:cNvSpPr txBox="1"/>
          <p:nvPr/>
        </p:nvSpPr>
        <p:spPr>
          <a:xfrm>
            <a:off x="822960" y="5302213"/>
            <a:ext cx="5135727" cy="201168"/>
          </a:xfrm>
          <a:prstGeom prst="rect">
            <a:avLst/>
          </a:prstGeom>
          <a:noFill/>
        </p:spPr>
        <p:txBody>
          <a:bodyPr wrap="square" lIns="45720" rIns="45720" tIns="18288" bIns="18288" anchor="t">
            <a:spAutoFit/>
          </a:bodyPr>
          <a:lstStyle/>
          <a:p>
            <a:pPr algn="l"/>
            <a:r>
              <a:rPr sz="900" b="0" i="1">
                <a:solidFill>
                  <a:srgbClr val="95A5A6"/>
                </a:solidFill>
                <a:latin typeface="Arial"/>
              </a:rPr>
              <a:t>Owner: Team PM</a:t>
            </a:r>
          </a:p>
        </p:txBody>
      </p:sp>
      <p:sp>
        <p:nvSpPr>
          <p:cNvPr id="38" name="TextBox 37"/>
          <p:cNvSpPr txBox="1"/>
          <p:nvPr/>
        </p:nvSpPr>
        <p:spPr>
          <a:xfrm>
            <a:off x="822960" y="5466805"/>
            <a:ext cx="5135727" cy="201168"/>
          </a:xfrm>
          <a:prstGeom prst="rect">
            <a:avLst/>
          </a:prstGeom>
          <a:noFill/>
        </p:spPr>
        <p:txBody>
          <a:bodyPr wrap="square" lIns="45720" rIns="45720" tIns="18288" bIns="18288" anchor="t">
            <a:spAutoFit/>
          </a:bodyPr>
          <a:lstStyle/>
          <a:p>
            <a:pPr algn="l"/>
            <a:r>
              <a:rPr sz="900" b="0" i="1">
                <a:solidFill>
                  <a:srgbClr val="95A5A6"/>
                </a:solidFill>
                <a:latin typeface="Arial"/>
              </a:rPr>
              <a:t>Tracked at Layer 0 VP Dashboard</a:t>
            </a:r>
          </a:p>
        </p:txBody>
      </p:sp>
      <p:sp>
        <p:nvSpPr>
          <p:cNvPr id="39" name="Rectangle 38"/>
          <p:cNvSpPr/>
          <p:nvPr/>
        </p:nvSpPr>
        <p:spPr>
          <a:xfrm>
            <a:off x="640080" y="5590902"/>
            <a:ext cx="73152" cy="627017"/>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 y="5609190"/>
            <a:ext cx="5135727" cy="228600"/>
          </a:xfrm>
          <a:prstGeom prst="rect">
            <a:avLst/>
          </a:prstGeom>
          <a:noFill/>
        </p:spPr>
        <p:txBody>
          <a:bodyPr wrap="square" lIns="45720" rIns="45720" tIns="18288" bIns="18288" anchor="t">
            <a:spAutoFit/>
          </a:bodyPr>
          <a:lstStyle/>
          <a:p>
            <a:pPr algn="l"/>
            <a:r>
              <a:rPr sz="1100" b="1" i="0">
                <a:solidFill>
                  <a:srgbClr val="F9A825"/>
                </a:solidFill>
                <a:latin typeface="Arial"/>
              </a:rPr>
              <a:t>Done</a:t>
            </a:r>
          </a:p>
        </p:txBody>
      </p:sp>
      <p:sp>
        <p:nvSpPr>
          <p:cNvPr id="41" name="TextBox 40"/>
          <p:cNvSpPr txBox="1"/>
          <p:nvPr/>
        </p:nvSpPr>
        <p:spPr>
          <a:xfrm>
            <a:off x="822960" y="5792070"/>
            <a:ext cx="5135727" cy="201168"/>
          </a:xfrm>
          <a:prstGeom prst="rect">
            <a:avLst/>
          </a:prstGeom>
          <a:noFill/>
        </p:spPr>
        <p:txBody>
          <a:bodyPr wrap="square" lIns="45720" rIns="45720" tIns="18288" bIns="18288" anchor="t">
            <a:spAutoFit/>
          </a:bodyPr>
          <a:lstStyle/>
          <a:p>
            <a:pPr algn="l"/>
            <a:r>
              <a:rPr sz="1000" b="0" i="0">
                <a:solidFill>
                  <a:srgbClr val="2C3E50"/>
                </a:solidFill>
                <a:latin typeface="Arial"/>
              </a:rPr>
              <a:t>Value realized · post-implementation review</a:t>
            </a:r>
          </a:p>
        </p:txBody>
      </p:sp>
      <p:sp>
        <p:nvSpPr>
          <p:cNvPr id="42" name="TextBox 41"/>
          <p:cNvSpPr txBox="1"/>
          <p:nvPr/>
        </p:nvSpPr>
        <p:spPr>
          <a:xfrm>
            <a:off x="822960" y="5974950"/>
            <a:ext cx="5135727" cy="201168"/>
          </a:xfrm>
          <a:prstGeom prst="rect">
            <a:avLst/>
          </a:prstGeom>
          <a:noFill/>
        </p:spPr>
        <p:txBody>
          <a:bodyPr wrap="square" lIns="45720" rIns="45720" tIns="18288" bIns="18288" anchor="t">
            <a:spAutoFit/>
          </a:bodyPr>
          <a:lstStyle/>
          <a:p>
            <a:pPr algn="l"/>
            <a:r>
              <a:rPr sz="900" b="0" i="1">
                <a:solidFill>
                  <a:srgbClr val="95A5A6"/>
                </a:solidFill>
                <a:latin typeface="Arial"/>
              </a:rPr>
              <a:t>Owner: Sponsor + PM</a:t>
            </a:r>
          </a:p>
        </p:txBody>
      </p:sp>
      <p:sp>
        <p:nvSpPr>
          <p:cNvPr id="43" name="TextBox 42"/>
          <p:cNvSpPr txBox="1"/>
          <p:nvPr/>
        </p:nvSpPr>
        <p:spPr>
          <a:xfrm>
            <a:off x="822960" y="6139542"/>
            <a:ext cx="5135727" cy="201168"/>
          </a:xfrm>
          <a:prstGeom prst="rect">
            <a:avLst/>
          </a:prstGeom>
          <a:noFill/>
        </p:spPr>
        <p:txBody>
          <a:bodyPr wrap="square" lIns="45720" rIns="45720" tIns="18288" bIns="18288" anchor="t">
            <a:spAutoFit/>
          </a:bodyPr>
          <a:lstStyle/>
          <a:p>
            <a:pPr algn="l"/>
            <a:r>
              <a:rPr sz="900" b="0" i="1">
                <a:solidFill>
                  <a:srgbClr val="95A5A6"/>
                </a:solidFill>
                <a:latin typeface="Arial"/>
              </a:rPr>
              <a:t>Outcome metrics captured</a:t>
            </a:r>
          </a:p>
        </p:txBody>
      </p:sp>
      <p:sp>
        <p:nvSpPr>
          <p:cNvPr id="44" name="Rounded Rectangle 43"/>
          <p:cNvSpPr/>
          <p:nvPr/>
        </p:nvSpPr>
        <p:spPr>
          <a:xfrm>
            <a:off x="6141567" y="914400"/>
            <a:ext cx="5592927" cy="5486400"/>
          </a:xfrm>
          <a:prstGeom prst="roundRect">
            <a:avLst>
              <a:gd name="adj" fmla="val 4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141567" y="914400"/>
            <a:ext cx="5592927"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41567" y="960120"/>
            <a:ext cx="5592927" cy="411480"/>
          </a:xfrm>
          <a:prstGeom prst="rect">
            <a:avLst/>
          </a:prstGeom>
          <a:noFill/>
        </p:spPr>
        <p:txBody>
          <a:bodyPr wrap="square" lIns="45720" rIns="45720" tIns="18288" bIns="18288" anchor="ctr">
            <a:spAutoFit/>
          </a:bodyPr>
          <a:lstStyle/>
          <a:p>
            <a:pPr algn="ctr"/>
            <a:r>
              <a:rPr sz="1200" b="1" i="0">
                <a:solidFill>
                  <a:srgbClr val="FFFFFF"/>
                </a:solidFill>
                <a:latin typeface="Arial"/>
              </a:rPr>
              <a:t>TEAM KANBAN  ·  cards = STORIES  (Epic only when Initiative &gt; 3 months)</a:t>
            </a:r>
          </a:p>
        </p:txBody>
      </p:sp>
      <p:sp>
        <p:nvSpPr>
          <p:cNvPr id="47" name="Rectangle 46"/>
          <p:cNvSpPr/>
          <p:nvPr/>
        </p:nvSpPr>
        <p:spPr>
          <a:xfrm>
            <a:off x="6324447" y="1554480"/>
            <a:ext cx="73152" cy="7391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07327" y="1572768"/>
            <a:ext cx="5135727" cy="228600"/>
          </a:xfrm>
          <a:prstGeom prst="rect">
            <a:avLst/>
          </a:prstGeom>
          <a:noFill/>
        </p:spPr>
        <p:txBody>
          <a:bodyPr wrap="square" lIns="45720" rIns="45720" tIns="18288" bIns="18288" anchor="t">
            <a:spAutoFit/>
          </a:bodyPr>
          <a:lstStyle/>
          <a:p>
            <a:pPr algn="l"/>
            <a:r>
              <a:rPr sz="1100" b="1" i="0">
                <a:solidFill>
                  <a:srgbClr val="2C578B"/>
                </a:solidFill>
                <a:latin typeface="Arial"/>
              </a:rPr>
              <a:t>Phase 0 — Discovery</a:t>
            </a:r>
          </a:p>
        </p:txBody>
      </p:sp>
      <p:sp>
        <p:nvSpPr>
          <p:cNvPr id="49" name="TextBox 48"/>
          <p:cNvSpPr txBox="1"/>
          <p:nvPr/>
        </p:nvSpPr>
        <p:spPr>
          <a:xfrm>
            <a:off x="6507327" y="1783080"/>
            <a:ext cx="5135727" cy="228600"/>
          </a:xfrm>
          <a:prstGeom prst="rect">
            <a:avLst/>
          </a:prstGeom>
          <a:noFill/>
        </p:spPr>
        <p:txBody>
          <a:bodyPr wrap="square" lIns="45720" rIns="45720" tIns="18288" bIns="18288" anchor="t">
            <a:spAutoFit/>
          </a:bodyPr>
          <a:lstStyle/>
          <a:p>
            <a:pPr algn="l"/>
            <a:r>
              <a:rPr sz="1000" b="0" i="0">
                <a:solidFill>
                  <a:srgbClr val="2C3E50"/>
                </a:solidFill>
                <a:latin typeface="Arial"/>
              </a:rPr>
              <a:t>Problem framing · users · hypothesis</a:t>
            </a:r>
          </a:p>
        </p:txBody>
      </p:sp>
      <p:sp>
        <p:nvSpPr>
          <p:cNvPr id="50" name="TextBox 49"/>
          <p:cNvSpPr txBox="1"/>
          <p:nvPr/>
        </p:nvSpPr>
        <p:spPr>
          <a:xfrm>
            <a:off x="6507327" y="2011680"/>
            <a:ext cx="5135727" cy="228600"/>
          </a:xfrm>
          <a:prstGeom prst="rect">
            <a:avLst/>
          </a:prstGeom>
          <a:noFill/>
        </p:spPr>
        <p:txBody>
          <a:bodyPr wrap="square" lIns="45720" rIns="45720" tIns="18288" bIns="18288" anchor="t">
            <a:spAutoFit/>
          </a:bodyPr>
          <a:lstStyle/>
          <a:p>
            <a:pPr algn="l"/>
            <a:r>
              <a:rPr sz="900" b="0" i="1">
                <a:solidFill>
                  <a:srgbClr val="95A5A6"/>
                </a:solidFill>
                <a:latin typeface="Arial"/>
              </a:rPr>
              <a:t>Owner: Product Manager</a:t>
            </a:r>
          </a:p>
        </p:txBody>
      </p:sp>
      <p:sp>
        <p:nvSpPr>
          <p:cNvPr id="51" name="TextBox 50"/>
          <p:cNvSpPr txBox="1"/>
          <p:nvPr/>
        </p:nvSpPr>
        <p:spPr>
          <a:xfrm>
            <a:off x="6507327" y="2194560"/>
            <a:ext cx="5135727" cy="201168"/>
          </a:xfrm>
          <a:prstGeom prst="rect">
            <a:avLst/>
          </a:prstGeom>
          <a:noFill/>
        </p:spPr>
        <p:txBody>
          <a:bodyPr wrap="square" lIns="45720" rIns="45720" tIns="18288" bIns="18288" anchor="t">
            <a:spAutoFit/>
          </a:bodyPr>
          <a:lstStyle/>
          <a:p>
            <a:pPr algn="l"/>
            <a:r>
              <a:rPr sz="900" b="0" i="1">
                <a:solidFill>
                  <a:srgbClr val="95A5A6"/>
                </a:solidFill>
                <a:latin typeface="Arial"/>
              </a:rPr>
              <a:t>Always-on; supports Materialization</a:t>
            </a:r>
          </a:p>
        </p:txBody>
      </p:sp>
      <p:sp>
        <p:nvSpPr>
          <p:cNvPr id="52" name="Rectangle 51"/>
          <p:cNvSpPr/>
          <p:nvPr/>
        </p:nvSpPr>
        <p:spPr>
          <a:xfrm>
            <a:off x="6324447" y="2339340"/>
            <a:ext cx="73152" cy="7391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507327" y="2357628"/>
            <a:ext cx="5135727" cy="228600"/>
          </a:xfrm>
          <a:prstGeom prst="rect">
            <a:avLst/>
          </a:prstGeom>
          <a:noFill/>
        </p:spPr>
        <p:txBody>
          <a:bodyPr wrap="square" lIns="45720" rIns="45720" tIns="18288" bIns="18288" anchor="t">
            <a:spAutoFit/>
          </a:bodyPr>
          <a:lstStyle/>
          <a:p>
            <a:pPr algn="l"/>
            <a:r>
              <a:rPr sz="1100" b="1" i="0">
                <a:solidFill>
                  <a:srgbClr val="2C578B"/>
                </a:solidFill>
                <a:latin typeface="Arial"/>
              </a:rPr>
              <a:t>Phase 1 — Materialization</a:t>
            </a:r>
          </a:p>
        </p:txBody>
      </p:sp>
      <p:sp>
        <p:nvSpPr>
          <p:cNvPr id="54" name="TextBox 53"/>
          <p:cNvSpPr txBox="1"/>
          <p:nvPr/>
        </p:nvSpPr>
        <p:spPr>
          <a:xfrm>
            <a:off x="6507327" y="2567940"/>
            <a:ext cx="5135727" cy="228600"/>
          </a:xfrm>
          <a:prstGeom prst="rect">
            <a:avLst/>
          </a:prstGeom>
          <a:noFill/>
        </p:spPr>
        <p:txBody>
          <a:bodyPr wrap="square" lIns="45720" rIns="45720" tIns="18288" bIns="18288" anchor="t">
            <a:spAutoFit/>
          </a:bodyPr>
          <a:lstStyle/>
          <a:p>
            <a:pPr algn="l"/>
            <a:r>
              <a:rPr sz="1000" b="0" i="0">
                <a:solidFill>
                  <a:srgbClr val="2C3E50"/>
                </a:solidFill>
                <a:latin typeface="Arial"/>
              </a:rPr>
              <a:t>Definition · solutioning · sizing</a:t>
            </a:r>
          </a:p>
        </p:txBody>
      </p:sp>
      <p:sp>
        <p:nvSpPr>
          <p:cNvPr id="55" name="TextBox 54"/>
          <p:cNvSpPr txBox="1"/>
          <p:nvPr/>
        </p:nvSpPr>
        <p:spPr>
          <a:xfrm>
            <a:off x="6507327" y="2796540"/>
            <a:ext cx="5135727" cy="228600"/>
          </a:xfrm>
          <a:prstGeom prst="rect">
            <a:avLst/>
          </a:prstGeom>
          <a:noFill/>
        </p:spPr>
        <p:txBody>
          <a:bodyPr wrap="square" lIns="45720" rIns="45720" tIns="18288" bIns="18288" anchor="t">
            <a:spAutoFit/>
          </a:bodyPr>
          <a:lstStyle/>
          <a:p>
            <a:pPr algn="l"/>
            <a:r>
              <a:rPr sz="900" b="0" i="1">
                <a:solidFill>
                  <a:srgbClr val="95A5A6"/>
                </a:solidFill>
                <a:latin typeface="Arial"/>
              </a:rPr>
              <a:t>Owner: Product Manager + Tech Lead</a:t>
            </a:r>
          </a:p>
        </p:txBody>
      </p:sp>
      <p:sp>
        <p:nvSpPr>
          <p:cNvPr id="56" name="TextBox 55"/>
          <p:cNvSpPr txBox="1"/>
          <p:nvPr/>
        </p:nvSpPr>
        <p:spPr>
          <a:xfrm>
            <a:off x="6507327" y="2979420"/>
            <a:ext cx="5135727" cy="201168"/>
          </a:xfrm>
          <a:prstGeom prst="rect">
            <a:avLst/>
          </a:prstGeom>
          <a:noFill/>
        </p:spPr>
        <p:txBody>
          <a:bodyPr wrap="square" lIns="45720" rIns="45720" tIns="18288" bIns="18288" anchor="t">
            <a:spAutoFit/>
          </a:bodyPr>
          <a:lstStyle/>
          <a:p>
            <a:pPr algn="l"/>
            <a:r>
              <a:rPr sz="900" b="0" i="1">
                <a:solidFill>
                  <a:srgbClr val="95A5A6"/>
                </a:solidFill>
                <a:latin typeface="Arial"/>
              </a:rPr>
              <a:t>Output: Roadmap, Budget, Sizing</a:t>
            </a:r>
          </a:p>
        </p:txBody>
      </p:sp>
      <p:sp>
        <p:nvSpPr>
          <p:cNvPr id="57" name="Rectangle 56"/>
          <p:cNvSpPr/>
          <p:nvPr/>
        </p:nvSpPr>
        <p:spPr>
          <a:xfrm>
            <a:off x="6324447" y="3124200"/>
            <a:ext cx="73152" cy="7391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07327" y="3142488"/>
            <a:ext cx="5135727" cy="228600"/>
          </a:xfrm>
          <a:prstGeom prst="rect">
            <a:avLst/>
          </a:prstGeom>
          <a:noFill/>
        </p:spPr>
        <p:txBody>
          <a:bodyPr wrap="square" lIns="45720" rIns="45720" tIns="18288" bIns="18288" anchor="t">
            <a:spAutoFit/>
          </a:bodyPr>
          <a:lstStyle/>
          <a:p>
            <a:pPr algn="l"/>
            <a:r>
              <a:rPr sz="1100" b="1" i="0">
                <a:solidFill>
                  <a:srgbClr val="2C578B"/>
                </a:solidFill>
                <a:latin typeface="Arial"/>
              </a:rPr>
              <a:t>Phase 2 — Creation</a:t>
            </a:r>
          </a:p>
        </p:txBody>
      </p:sp>
      <p:sp>
        <p:nvSpPr>
          <p:cNvPr id="59" name="TextBox 58"/>
          <p:cNvSpPr txBox="1"/>
          <p:nvPr/>
        </p:nvSpPr>
        <p:spPr>
          <a:xfrm>
            <a:off x="6507327" y="3352800"/>
            <a:ext cx="5135727" cy="228600"/>
          </a:xfrm>
          <a:prstGeom prst="rect">
            <a:avLst/>
          </a:prstGeom>
          <a:noFill/>
        </p:spPr>
        <p:txBody>
          <a:bodyPr wrap="square" lIns="45720" rIns="45720" tIns="18288" bIns="18288" anchor="t">
            <a:spAutoFit/>
          </a:bodyPr>
          <a:lstStyle/>
          <a:p>
            <a:pPr algn="l"/>
            <a:r>
              <a:rPr sz="1000" b="0" i="0">
                <a:solidFill>
                  <a:srgbClr val="2C3E50"/>
                </a:solidFill>
                <a:latin typeface="Arial"/>
              </a:rPr>
              <a:t>Planning · team / vendor assignment</a:t>
            </a:r>
          </a:p>
        </p:txBody>
      </p:sp>
      <p:sp>
        <p:nvSpPr>
          <p:cNvPr id="60" name="TextBox 59"/>
          <p:cNvSpPr txBox="1"/>
          <p:nvPr/>
        </p:nvSpPr>
        <p:spPr>
          <a:xfrm>
            <a:off x="6507327" y="3581400"/>
            <a:ext cx="5135727" cy="228600"/>
          </a:xfrm>
          <a:prstGeom prst="rect">
            <a:avLst/>
          </a:prstGeom>
          <a:noFill/>
        </p:spPr>
        <p:txBody>
          <a:bodyPr wrap="square" lIns="45720" rIns="45720" tIns="18288" bIns="18288" anchor="t">
            <a:spAutoFit/>
          </a:bodyPr>
          <a:lstStyle/>
          <a:p>
            <a:pPr algn="l"/>
            <a:r>
              <a:rPr sz="900" b="0" i="1">
                <a:solidFill>
                  <a:srgbClr val="95A5A6"/>
                </a:solidFill>
                <a:latin typeface="Arial"/>
              </a:rPr>
              <a:t>Owner: Product Manager</a:t>
            </a:r>
          </a:p>
        </p:txBody>
      </p:sp>
      <p:sp>
        <p:nvSpPr>
          <p:cNvPr id="61" name="TextBox 60"/>
          <p:cNvSpPr txBox="1"/>
          <p:nvPr/>
        </p:nvSpPr>
        <p:spPr>
          <a:xfrm>
            <a:off x="6507327" y="3764280"/>
            <a:ext cx="5135727" cy="201168"/>
          </a:xfrm>
          <a:prstGeom prst="rect">
            <a:avLst/>
          </a:prstGeom>
          <a:noFill/>
        </p:spPr>
        <p:txBody>
          <a:bodyPr wrap="square" lIns="45720" rIns="45720" tIns="18288" bIns="18288" anchor="t">
            <a:spAutoFit/>
          </a:bodyPr>
          <a:lstStyle/>
          <a:p>
            <a:pPr algn="l"/>
            <a:r>
              <a:rPr sz="900" b="0" i="1">
                <a:solidFill>
                  <a:srgbClr val="95A5A6"/>
                </a:solidFill>
                <a:latin typeface="Arial"/>
              </a:rPr>
              <a:t>Output: Outcome definition, KPIs, Strategic alignment</a:t>
            </a:r>
          </a:p>
        </p:txBody>
      </p:sp>
      <p:sp>
        <p:nvSpPr>
          <p:cNvPr id="62" name="Rectangle 61"/>
          <p:cNvSpPr/>
          <p:nvPr/>
        </p:nvSpPr>
        <p:spPr>
          <a:xfrm>
            <a:off x="6324447" y="3909060"/>
            <a:ext cx="73152" cy="7391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507327" y="3927348"/>
            <a:ext cx="5135727" cy="228600"/>
          </a:xfrm>
          <a:prstGeom prst="rect">
            <a:avLst/>
          </a:prstGeom>
          <a:noFill/>
        </p:spPr>
        <p:txBody>
          <a:bodyPr wrap="square" lIns="45720" rIns="45720" tIns="18288" bIns="18288" anchor="t">
            <a:spAutoFit/>
          </a:bodyPr>
          <a:lstStyle/>
          <a:p>
            <a:pPr algn="l"/>
            <a:r>
              <a:rPr sz="1100" b="1" i="0">
                <a:solidFill>
                  <a:srgbClr val="2C578B"/>
                </a:solidFill>
                <a:latin typeface="Arial"/>
              </a:rPr>
              <a:t>Phase 3 — Ongoing (Kanban + WIP limits)</a:t>
            </a:r>
          </a:p>
        </p:txBody>
      </p:sp>
      <p:sp>
        <p:nvSpPr>
          <p:cNvPr id="64" name="TextBox 63"/>
          <p:cNvSpPr txBox="1"/>
          <p:nvPr/>
        </p:nvSpPr>
        <p:spPr>
          <a:xfrm>
            <a:off x="6507327" y="4137660"/>
            <a:ext cx="5135727" cy="228600"/>
          </a:xfrm>
          <a:prstGeom prst="rect">
            <a:avLst/>
          </a:prstGeom>
          <a:noFill/>
        </p:spPr>
        <p:txBody>
          <a:bodyPr wrap="square" lIns="45720" rIns="45720" tIns="18288" bIns="18288" anchor="t">
            <a:spAutoFit/>
          </a:bodyPr>
          <a:lstStyle/>
          <a:p>
            <a:pPr algn="l"/>
            <a:r>
              <a:rPr sz="1000" b="0" i="0">
                <a:solidFill>
                  <a:srgbClr val="2C3E50"/>
                </a:solidFill>
                <a:latin typeface="Arial"/>
              </a:rPr>
              <a:t>Build · test · deploy iteratively</a:t>
            </a:r>
          </a:p>
        </p:txBody>
      </p:sp>
      <p:sp>
        <p:nvSpPr>
          <p:cNvPr id="65" name="TextBox 64"/>
          <p:cNvSpPr txBox="1"/>
          <p:nvPr/>
        </p:nvSpPr>
        <p:spPr>
          <a:xfrm>
            <a:off x="6507327" y="4366260"/>
            <a:ext cx="5135727" cy="228600"/>
          </a:xfrm>
          <a:prstGeom prst="rect">
            <a:avLst/>
          </a:prstGeom>
          <a:noFill/>
        </p:spPr>
        <p:txBody>
          <a:bodyPr wrap="square" lIns="45720" rIns="45720" tIns="18288" bIns="18288" anchor="t">
            <a:spAutoFit/>
          </a:bodyPr>
          <a:lstStyle/>
          <a:p>
            <a:pPr algn="l"/>
            <a:r>
              <a:rPr sz="900" b="0" i="1">
                <a:solidFill>
                  <a:srgbClr val="95A5A6"/>
                </a:solidFill>
                <a:latin typeface="Arial"/>
              </a:rPr>
              <a:t>Owner: Squad (PM + Tech Lead + BA + dev/QA)</a:t>
            </a:r>
          </a:p>
        </p:txBody>
      </p:sp>
      <p:sp>
        <p:nvSpPr>
          <p:cNvPr id="66" name="TextBox 65"/>
          <p:cNvSpPr txBox="1"/>
          <p:nvPr/>
        </p:nvSpPr>
        <p:spPr>
          <a:xfrm>
            <a:off x="6507327" y="4549140"/>
            <a:ext cx="5135727" cy="201168"/>
          </a:xfrm>
          <a:prstGeom prst="rect">
            <a:avLst/>
          </a:prstGeom>
          <a:noFill/>
        </p:spPr>
        <p:txBody>
          <a:bodyPr wrap="square" lIns="45720" rIns="45720" tIns="18288" bIns="18288" anchor="t">
            <a:spAutoFit/>
          </a:bodyPr>
          <a:lstStyle/>
          <a:p>
            <a:pPr algn="l"/>
            <a:r>
              <a:rPr sz="900" b="0" i="1">
                <a:solidFill>
                  <a:srgbClr val="95A5A6"/>
                </a:solidFill>
                <a:latin typeface="Arial"/>
              </a:rPr>
              <a:t>Kanban flow · daily / replenishment / service review · WIP limits per stage</a:t>
            </a:r>
          </a:p>
        </p:txBody>
      </p:sp>
      <p:sp>
        <p:nvSpPr>
          <p:cNvPr id="67" name="Rectangle 66"/>
          <p:cNvSpPr/>
          <p:nvPr/>
        </p:nvSpPr>
        <p:spPr>
          <a:xfrm>
            <a:off x="6324447" y="4693920"/>
            <a:ext cx="73152" cy="7391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507327" y="4712208"/>
            <a:ext cx="5135727" cy="228600"/>
          </a:xfrm>
          <a:prstGeom prst="rect">
            <a:avLst/>
          </a:prstGeom>
          <a:noFill/>
        </p:spPr>
        <p:txBody>
          <a:bodyPr wrap="square" lIns="45720" rIns="45720" tIns="18288" bIns="18288" anchor="t">
            <a:spAutoFit/>
          </a:bodyPr>
          <a:lstStyle/>
          <a:p>
            <a:pPr algn="l"/>
            <a:r>
              <a:rPr sz="1100" b="1" i="0">
                <a:solidFill>
                  <a:srgbClr val="2C578B"/>
                </a:solidFill>
                <a:latin typeface="Arial"/>
              </a:rPr>
              <a:t>Phase 4 — Maintenance</a:t>
            </a:r>
          </a:p>
        </p:txBody>
      </p:sp>
      <p:sp>
        <p:nvSpPr>
          <p:cNvPr id="69" name="TextBox 68"/>
          <p:cNvSpPr txBox="1"/>
          <p:nvPr/>
        </p:nvSpPr>
        <p:spPr>
          <a:xfrm>
            <a:off x="6507327" y="4922520"/>
            <a:ext cx="5135727" cy="228600"/>
          </a:xfrm>
          <a:prstGeom prst="rect">
            <a:avLst/>
          </a:prstGeom>
          <a:noFill/>
        </p:spPr>
        <p:txBody>
          <a:bodyPr wrap="square" lIns="45720" rIns="45720" tIns="18288" bIns="18288" anchor="t">
            <a:spAutoFit/>
          </a:bodyPr>
          <a:lstStyle/>
          <a:p>
            <a:pPr algn="l"/>
            <a:r>
              <a:rPr sz="1000" b="0" i="0">
                <a:solidFill>
                  <a:srgbClr val="2C3E50"/>
                </a:solidFill>
                <a:latin typeface="Arial"/>
              </a:rPr>
              <a:t>Hypercare · stabilization · knowledge</a:t>
            </a:r>
          </a:p>
        </p:txBody>
      </p:sp>
      <p:sp>
        <p:nvSpPr>
          <p:cNvPr id="70" name="TextBox 69"/>
          <p:cNvSpPr txBox="1"/>
          <p:nvPr/>
        </p:nvSpPr>
        <p:spPr>
          <a:xfrm>
            <a:off x="6507327" y="5151120"/>
            <a:ext cx="5135727" cy="228600"/>
          </a:xfrm>
          <a:prstGeom prst="rect">
            <a:avLst/>
          </a:prstGeom>
          <a:noFill/>
        </p:spPr>
        <p:txBody>
          <a:bodyPr wrap="square" lIns="45720" rIns="45720" tIns="18288" bIns="18288" anchor="t">
            <a:spAutoFit/>
          </a:bodyPr>
          <a:lstStyle/>
          <a:p>
            <a:pPr algn="l"/>
            <a:r>
              <a:rPr sz="900" b="0" i="1">
                <a:solidFill>
                  <a:srgbClr val="95A5A6"/>
                </a:solidFill>
                <a:latin typeface="Arial"/>
              </a:rPr>
              <a:t>Owner: Operations + Tech Lead</a:t>
            </a:r>
          </a:p>
        </p:txBody>
      </p:sp>
      <p:sp>
        <p:nvSpPr>
          <p:cNvPr id="71" name="TextBox 70"/>
          <p:cNvSpPr txBox="1"/>
          <p:nvPr/>
        </p:nvSpPr>
        <p:spPr>
          <a:xfrm>
            <a:off x="6507327" y="5334000"/>
            <a:ext cx="5135727" cy="201168"/>
          </a:xfrm>
          <a:prstGeom prst="rect">
            <a:avLst/>
          </a:prstGeom>
          <a:noFill/>
        </p:spPr>
        <p:txBody>
          <a:bodyPr wrap="square" lIns="45720" rIns="45720" tIns="18288" bIns="18288" anchor="t">
            <a:spAutoFit/>
          </a:bodyPr>
          <a:lstStyle/>
          <a:p>
            <a:pPr algn="l"/>
            <a:r>
              <a:rPr sz="900" b="0" i="1">
                <a:solidFill>
                  <a:srgbClr val="95A5A6"/>
                </a:solidFill>
                <a:latin typeface="Arial"/>
              </a:rPr>
              <a:t>Handoff to BAU within 30 days post-launch</a:t>
            </a:r>
          </a:p>
        </p:txBody>
      </p:sp>
      <p:sp>
        <p:nvSpPr>
          <p:cNvPr id="72" name="Rectangle 71"/>
          <p:cNvSpPr/>
          <p:nvPr/>
        </p:nvSpPr>
        <p:spPr>
          <a:xfrm>
            <a:off x="6324447" y="5478780"/>
            <a:ext cx="73152" cy="7391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507327" y="5497068"/>
            <a:ext cx="5135727" cy="228600"/>
          </a:xfrm>
          <a:prstGeom prst="rect">
            <a:avLst/>
          </a:prstGeom>
          <a:noFill/>
        </p:spPr>
        <p:txBody>
          <a:bodyPr wrap="square" lIns="45720" rIns="45720" tIns="18288" bIns="18288" anchor="t">
            <a:spAutoFit/>
          </a:bodyPr>
          <a:lstStyle/>
          <a:p>
            <a:pPr algn="l"/>
            <a:r>
              <a:rPr sz="1100" b="1" i="0">
                <a:solidFill>
                  <a:srgbClr val="2C578B"/>
                </a:solidFill>
                <a:latin typeface="Arial"/>
              </a:rPr>
              <a:t>Discovery ↔ Delivery handoff</a:t>
            </a:r>
          </a:p>
        </p:txBody>
      </p:sp>
      <p:sp>
        <p:nvSpPr>
          <p:cNvPr id="74" name="TextBox 73"/>
          <p:cNvSpPr txBox="1"/>
          <p:nvPr/>
        </p:nvSpPr>
        <p:spPr>
          <a:xfrm>
            <a:off x="6507327" y="5707380"/>
            <a:ext cx="5135727" cy="228600"/>
          </a:xfrm>
          <a:prstGeom prst="rect">
            <a:avLst/>
          </a:prstGeom>
          <a:noFill/>
        </p:spPr>
        <p:txBody>
          <a:bodyPr wrap="square" lIns="45720" rIns="45720" tIns="18288" bIns="18288" anchor="t">
            <a:spAutoFit/>
          </a:bodyPr>
          <a:lstStyle/>
          <a:p>
            <a:pPr algn="l"/>
            <a:r>
              <a:rPr sz="1000" b="0" i="0">
                <a:solidFill>
                  <a:srgbClr val="2C3E50"/>
                </a:solidFill>
                <a:latin typeface="Arial"/>
              </a:rPr>
              <a:t>Items move only when DoR is met</a:t>
            </a:r>
          </a:p>
        </p:txBody>
      </p:sp>
      <p:sp>
        <p:nvSpPr>
          <p:cNvPr id="75" name="TextBox 74"/>
          <p:cNvSpPr txBox="1"/>
          <p:nvPr/>
        </p:nvSpPr>
        <p:spPr>
          <a:xfrm>
            <a:off x="6507327" y="5935980"/>
            <a:ext cx="5135727" cy="228600"/>
          </a:xfrm>
          <a:prstGeom prst="rect">
            <a:avLst/>
          </a:prstGeom>
          <a:noFill/>
        </p:spPr>
        <p:txBody>
          <a:bodyPr wrap="square" lIns="45720" rIns="45720" tIns="18288" bIns="18288" anchor="t">
            <a:spAutoFit/>
          </a:bodyPr>
          <a:lstStyle/>
          <a:p>
            <a:pPr algn="l"/>
            <a:r>
              <a:rPr sz="900" b="0" i="1">
                <a:solidFill>
                  <a:srgbClr val="95A5A6"/>
                </a:solidFill>
                <a:latin typeface="Arial"/>
              </a:rPr>
              <a:t>Gatekeeper: Product Manager</a:t>
            </a:r>
          </a:p>
        </p:txBody>
      </p:sp>
      <p:sp>
        <p:nvSpPr>
          <p:cNvPr id="76" name="TextBox 75"/>
          <p:cNvSpPr txBox="1"/>
          <p:nvPr/>
        </p:nvSpPr>
        <p:spPr>
          <a:xfrm>
            <a:off x="6507327" y="6118860"/>
            <a:ext cx="5135727" cy="201168"/>
          </a:xfrm>
          <a:prstGeom prst="rect">
            <a:avLst/>
          </a:prstGeom>
          <a:noFill/>
        </p:spPr>
        <p:txBody>
          <a:bodyPr wrap="square" lIns="45720" rIns="45720" tIns="18288" bIns="18288" anchor="t">
            <a:spAutoFit/>
          </a:bodyPr>
          <a:lstStyle/>
          <a:p>
            <a:pPr algn="l"/>
            <a:r>
              <a:rPr sz="900" b="0" i="1">
                <a:solidFill>
                  <a:srgbClr val="95A5A6"/>
                </a:solidFill>
                <a:latin typeface="Arial"/>
              </a:rPr>
              <a:t>Discovery feeds Delivery continuously</a:t>
            </a:r>
          </a:p>
        </p:txBody>
      </p:sp>
      <p:sp>
        <p:nvSpPr>
          <p:cNvPr id="77" name="TextBox 76"/>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PORTFOLIO BOARD</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CARDS ARE INITIATIVES · GOVERNANCE GATES AND BRP SHOWN IN CONTEXT</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TextBox 5"/>
          <p:cNvSpPr txBox="1"/>
          <p:nvPr/>
        </p:nvSpPr>
        <p:spPr>
          <a:xfrm>
            <a:off x="457200" y="914400"/>
            <a:ext cx="11277295" cy="365760"/>
          </a:xfrm>
          <a:prstGeom prst="rect">
            <a:avLst/>
          </a:prstGeom>
          <a:noFill/>
        </p:spPr>
        <p:txBody>
          <a:bodyPr wrap="square" lIns="45720" rIns="45720" tIns="18288" bIns="18288" anchor="t">
            <a:spAutoFit/>
          </a:bodyPr>
          <a:lstStyle/>
          <a:p>
            <a:pPr algn="ctr"/>
            <a:r>
              <a:rPr sz="1200" b="0" i="1">
                <a:solidFill>
                  <a:srgbClr val="95A5A6"/>
                </a:solidFill>
                <a:latin typeface="Arial"/>
              </a:rPr>
              <a:t>Example  ·  IT Business Applications Portfolio Board  ·  Governance gates marked in red</a:t>
            </a:r>
          </a:p>
        </p:txBody>
      </p:sp>
      <p:sp>
        <p:nvSpPr>
          <p:cNvPr id="7" name="Rounded Rectangle 6"/>
          <p:cNvSpPr/>
          <p:nvPr/>
        </p:nvSpPr>
        <p:spPr>
          <a:xfrm>
            <a:off x="457200" y="1280160"/>
            <a:ext cx="11277295" cy="292608"/>
          </a:xfrm>
          <a:prstGeom prst="roundRect">
            <a:avLst>
              <a:gd name="adj" fmla="val 4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316736"/>
            <a:ext cx="10911535" cy="256032"/>
          </a:xfrm>
          <a:prstGeom prst="rect">
            <a:avLst/>
          </a:prstGeom>
          <a:noFill/>
        </p:spPr>
        <p:txBody>
          <a:bodyPr wrap="square" lIns="45720" rIns="45720" tIns="18288" bIns="18288" anchor="ctr">
            <a:spAutoFit/>
          </a:bodyPr>
          <a:lstStyle/>
          <a:p>
            <a:pPr algn="ctr"/>
            <a:r>
              <a:rPr sz="900" b="1" i="1">
                <a:solidFill>
                  <a:srgbClr val="2E7D32"/>
                </a:solidFill>
                <a:latin typeface="Arial"/>
              </a:rPr>
              <a:t>▲  BIG ROOM PLANNING — quarterly · ½ day · realigns Backlog reorder + Implementing commitments across both Portfolio Boards</a:t>
            </a:r>
          </a:p>
        </p:txBody>
      </p:sp>
      <p:sp>
        <p:nvSpPr>
          <p:cNvPr id="9" name="Rectangle 8"/>
          <p:cNvSpPr/>
          <p:nvPr/>
        </p:nvSpPr>
        <p:spPr>
          <a:xfrm>
            <a:off x="457200" y="1691640"/>
            <a:ext cx="1833829" cy="457200"/>
          </a:xfrm>
          <a:prstGeom prst="rect">
            <a:avLst/>
          </a:prstGeom>
          <a:solidFill>
            <a:srgbClr val="091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737360"/>
            <a:ext cx="1833829" cy="365760"/>
          </a:xfrm>
          <a:prstGeom prst="rect">
            <a:avLst/>
          </a:prstGeom>
          <a:noFill/>
        </p:spPr>
        <p:txBody>
          <a:bodyPr wrap="square" lIns="45720" rIns="45720" tIns="18288" bIns="18288" anchor="ctr">
            <a:spAutoFit/>
          </a:bodyPr>
          <a:lstStyle/>
          <a:p>
            <a:pPr algn="ctr"/>
            <a:r>
              <a:rPr sz="1200" b="1" i="0">
                <a:solidFill>
                  <a:srgbClr val="FFFFFF"/>
                </a:solidFill>
                <a:latin typeface="Arial"/>
              </a:rPr>
              <a:t>Funnel</a:t>
            </a:r>
          </a:p>
        </p:txBody>
      </p:sp>
      <p:sp>
        <p:nvSpPr>
          <p:cNvPr id="11" name="Rectangle 10"/>
          <p:cNvSpPr/>
          <p:nvPr/>
        </p:nvSpPr>
        <p:spPr>
          <a:xfrm>
            <a:off x="457200" y="2148840"/>
            <a:ext cx="1833829" cy="3337560"/>
          </a:xfrm>
          <a:prstGeom prst="rect">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45893" y="1691640"/>
            <a:ext cx="1833829" cy="457200"/>
          </a:xfrm>
          <a:prstGeom prst="rect">
            <a:avLst/>
          </a:prstGeom>
          <a:solidFill>
            <a:srgbClr val="091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45893" y="1737360"/>
            <a:ext cx="1833829" cy="365760"/>
          </a:xfrm>
          <a:prstGeom prst="rect">
            <a:avLst/>
          </a:prstGeom>
          <a:noFill/>
        </p:spPr>
        <p:txBody>
          <a:bodyPr wrap="square" lIns="45720" rIns="45720" tIns="18288" bIns="18288" anchor="ctr">
            <a:spAutoFit/>
          </a:bodyPr>
          <a:lstStyle/>
          <a:p>
            <a:pPr algn="ctr"/>
            <a:r>
              <a:rPr sz="1200" b="1" i="0">
                <a:solidFill>
                  <a:srgbClr val="FFFFFF"/>
                </a:solidFill>
                <a:latin typeface="Arial"/>
              </a:rPr>
              <a:t>Reviewing</a:t>
            </a:r>
          </a:p>
        </p:txBody>
      </p:sp>
      <p:sp>
        <p:nvSpPr>
          <p:cNvPr id="14" name="Rectangle 13"/>
          <p:cNvSpPr/>
          <p:nvPr/>
        </p:nvSpPr>
        <p:spPr>
          <a:xfrm>
            <a:off x="2345893" y="2148840"/>
            <a:ext cx="1833829" cy="3337560"/>
          </a:xfrm>
          <a:prstGeom prst="rect">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34586" y="1691640"/>
            <a:ext cx="1833829" cy="457200"/>
          </a:xfrm>
          <a:prstGeom prst="rect">
            <a:avLst/>
          </a:prstGeom>
          <a:solidFill>
            <a:srgbClr val="091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34586" y="1737360"/>
            <a:ext cx="1833829" cy="365760"/>
          </a:xfrm>
          <a:prstGeom prst="rect">
            <a:avLst/>
          </a:prstGeom>
          <a:noFill/>
        </p:spPr>
        <p:txBody>
          <a:bodyPr wrap="square" lIns="45720" rIns="45720" tIns="18288" bIns="18288" anchor="ctr">
            <a:spAutoFit/>
          </a:bodyPr>
          <a:lstStyle/>
          <a:p>
            <a:pPr algn="ctr"/>
            <a:r>
              <a:rPr sz="1200" b="1" i="0">
                <a:solidFill>
                  <a:srgbClr val="FFFFFF"/>
                </a:solidFill>
                <a:latin typeface="Arial"/>
              </a:rPr>
              <a:t>Analyzing</a:t>
            </a:r>
          </a:p>
        </p:txBody>
      </p:sp>
      <p:sp>
        <p:nvSpPr>
          <p:cNvPr id="17" name="Rectangle 16"/>
          <p:cNvSpPr/>
          <p:nvPr/>
        </p:nvSpPr>
        <p:spPr>
          <a:xfrm>
            <a:off x="4234586" y="2148840"/>
            <a:ext cx="1833829" cy="3337560"/>
          </a:xfrm>
          <a:prstGeom prst="rect">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3279" y="1691640"/>
            <a:ext cx="1833829" cy="457200"/>
          </a:xfrm>
          <a:prstGeom prst="rect">
            <a:avLst/>
          </a:prstGeom>
          <a:solidFill>
            <a:srgbClr val="091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3279" y="1737360"/>
            <a:ext cx="1833829" cy="365760"/>
          </a:xfrm>
          <a:prstGeom prst="rect">
            <a:avLst/>
          </a:prstGeom>
          <a:noFill/>
        </p:spPr>
        <p:txBody>
          <a:bodyPr wrap="square" lIns="45720" rIns="45720" tIns="18288" bIns="18288" anchor="ctr">
            <a:spAutoFit/>
          </a:bodyPr>
          <a:lstStyle/>
          <a:p>
            <a:pPr algn="ctr"/>
            <a:r>
              <a:rPr sz="1200" b="1" i="0">
                <a:solidFill>
                  <a:srgbClr val="FFFFFF"/>
                </a:solidFill>
                <a:latin typeface="Arial"/>
              </a:rPr>
              <a:t>Backlog</a:t>
            </a:r>
          </a:p>
        </p:txBody>
      </p:sp>
      <p:sp>
        <p:nvSpPr>
          <p:cNvPr id="20" name="Rectangle 19"/>
          <p:cNvSpPr/>
          <p:nvPr/>
        </p:nvSpPr>
        <p:spPr>
          <a:xfrm>
            <a:off x="6123279" y="2148840"/>
            <a:ext cx="1833829" cy="3337560"/>
          </a:xfrm>
          <a:prstGeom prst="rect">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1972" y="1691640"/>
            <a:ext cx="1833829" cy="457200"/>
          </a:xfrm>
          <a:prstGeom prst="rect">
            <a:avLst/>
          </a:prstGeom>
          <a:solidFill>
            <a:srgbClr val="091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11972" y="1737360"/>
            <a:ext cx="1833829" cy="365760"/>
          </a:xfrm>
          <a:prstGeom prst="rect">
            <a:avLst/>
          </a:prstGeom>
          <a:noFill/>
        </p:spPr>
        <p:txBody>
          <a:bodyPr wrap="square" lIns="45720" rIns="45720" tIns="18288" bIns="18288" anchor="ctr">
            <a:spAutoFit/>
          </a:bodyPr>
          <a:lstStyle/>
          <a:p>
            <a:pPr algn="ctr"/>
            <a:r>
              <a:rPr sz="1200" b="1" i="0">
                <a:solidFill>
                  <a:srgbClr val="FFFFFF"/>
                </a:solidFill>
                <a:latin typeface="Arial"/>
              </a:rPr>
              <a:t>Implementing</a:t>
            </a:r>
          </a:p>
        </p:txBody>
      </p:sp>
      <p:sp>
        <p:nvSpPr>
          <p:cNvPr id="23" name="Rectangle 22"/>
          <p:cNvSpPr/>
          <p:nvPr/>
        </p:nvSpPr>
        <p:spPr>
          <a:xfrm>
            <a:off x="8011972" y="2148840"/>
            <a:ext cx="1833829" cy="3337560"/>
          </a:xfrm>
          <a:prstGeom prst="rect">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900665" y="1691640"/>
            <a:ext cx="1833829" cy="457200"/>
          </a:xfrm>
          <a:prstGeom prst="rect">
            <a:avLst/>
          </a:prstGeom>
          <a:solidFill>
            <a:srgbClr val="091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00665" y="1737360"/>
            <a:ext cx="1833829" cy="365760"/>
          </a:xfrm>
          <a:prstGeom prst="rect">
            <a:avLst/>
          </a:prstGeom>
          <a:noFill/>
        </p:spPr>
        <p:txBody>
          <a:bodyPr wrap="square" lIns="45720" rIns="45720" tIns="18288" bIns="18288" anchor="ctr">
            <a:spAutoFit/>
          </a:bodyPr>
          <a:lstStyle/>
          <a:p>
            <a:pPr algn="ctr"/>
            <a:r>
              <a:rPr sz="1200" b="1" i="0">
                <a:solidFill>
                  <a:srgbClr val="FFFFFF"/>
                </a:solidFill>
                <a:latin typeface="Arial"/>
              </a:rPr>
              <a:t>Done</a:t>
            </a:r>
          </a:p>
        </p:txBody>
      </p:sp>
      <p:sp>
        <p:nvSpPr>
          <p:cNvPr id="26" name="Rectangle 25"/>
          <p:cNvSpPr/>
          <p:nvPr/>
        </p:nvSpPr>
        <p:spPr>
          <a:xfrm>
            <a:off x="9900665" y="2148840"/>
            <a:ext cx="1833829" cy="3337560"/>
          </a:xfrm>
          <a:prstGeom prst="rect">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2920" y="2240280"/>
            <a:ext cx="1742389" cy="640080"/>
          </a:xfrm>
          <a:prstGeom prst="roundRect">
            <a:avLst>
              <a:gd name="adj" fmla="val 6000"/>
            </a:avLst>
          </a:prstGeom>
          <a:solidFill>
            <a:srgbClr val="FFFFFF"/>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2920" y="2240280"/>
            <a:ext cx="73152" cy="6400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228600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Storm program v2</a:t>
            </a:r>
          </a:p>
        </p:txBody>
      </p:sp>
      <p:sp>
        <p:nvSpPr>
          <p:cNvPr id="30" name="TextBox 29"/>
          <p:cNvSpPr txBox="1"/>
          <p:nvPr/>
        </p:nvSpPr>
        <p:spPr>
          <a:xfrm>
            <a:off x="640080" y="2606040"/>
            <a:ext cx="1559509" cy="274320"/>
          </a:xfrm>
          <a:prstGeom prst="rect">
            <a:avLst/>
          </a:prstGeom>
          <a:noFill/>
        </p:spPr>
        <p:txBody>
          <a:bodyPr wrap="square" lIns="45720" rIns="45720" tIns="18288" bIns="18288" anchor="t">
            <a:spAutoFit/>
          </a:bodyPr>
          <a:lstStyle/>
          <a:p>
            <a:pPr algn="l"/>
            <a:r>
              <a:rPr sz="900" b="0" i="1">
                <a:solidFill>
                  <a:srgbClr val="95A5A6"/>
                </a:solidFill>
                <a:latin typeface="Arial"/>
              </a:rPr>
              <a:t>Field Operations</a:t>
            </a:r>
          </a:p>
        </p:txBody>
      </p:sp>
      <p:sp>
        <p:nvSpPr>
          <p:cNvPr id="31" name="Rounded Rectangle 30"/>
          <p:cNvSpPr/>
          <p:nvPr/>
        </p:nvSpPr>
        <p:spPr>
          <a:xfrm>
            <a:off x="502920" y="2971800"/>
            <a:ext cx="1742389" cy="640080"/>
          </a:xfrm>
          <a:prstGeom prst="roundRect">
            <a:avLst>
              <a:gd name="adj" fmla="val 6000"/>
            </a:avLst>
          </a:prstGeom>
          <a:solidFill>
            <a:srgbClr val="FFFFFF"/>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2971800"/>
            <a:ext cx="73152" cy="640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301752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Mobility upgrades</a:t>
            </a:r>
          </a:p>
        </p:txBody>
      </p:sp>
      <p:sp>
        <p:nvSpPr>
          <p:cNvPr id="34" name="TextBox 33"/>
          <p:cNvSpPr txBox="1"/>
          <p:nvPr/>
        </p:nvSpPr>
        <p:spPr>
          <a:xfrm>
            <a:off x="640080" y="3337560"/>
            <a:ext cx="1559509" cy="274320"/>
          </a:xfrm>
          <a:prstGeom prst="rect">
            <a:avLst/>
          </a:prstGeom>
          <a:noFill/>
        </p:spPr>
        <p:txBody>
          <a:bodyPr wrap="square" lIns="45720" rIns="45720" tIns="18288" bIns="18288" anchor="t">
            <a:spAutoFit/>
          </a:bodyPr>
          <a:lstStyle/>
          <a:p>
            <a:pPr algn="l"/>
            <a:r>
              <a:rPr sz="900" b="0" i="1">
                <a:solidFill>
                  <a:srgbClr val="95A5A6"/>
                </a:solidFill>
                <a:latin typeface="Arial"/>
              </a:rPr>
              <a:t>Field Operations</a:t>
            </a:r>
          </a:p>
        </p:txBody>
      </p:sp>
      <p:sp>
        <p:nvSpPr>
          <p:cNvPr id="35" name="Rounded Rectangle 34"/>
          <p:cNvSpPr/>
          <p:nvPr/>
        </p:nvSpPr>
        <p:spPr>
          <a:xfrm>
            <a:off x="2391613" y="2240280"/>
            <a:ext cx="1742389" cy="640080"/>
          </a:xfrm>
          <a:prstGeom prst="roundRect">
            <a:avLst>
              <a:gd name="adj" fmla="val 6000"/>
            </a:avLst>
          </a:prstGeom>
          <a:solidFill>
            <a:srgbClr val="FFFFFF"/>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391613" y="2240280"/>
            <a:ext cx="73152" cy="640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528773" y="228600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Drawing platform</a:t>
            </a:r>
          </a:p>
        </p:txBody>
      </p:sp>
      <p:sp>
        <p:nvSpPr>
          <p:cNvPr id="38" name="TextBox 37"/>
          <p:cNvSpPr txBox="1"/>
          <p:nvPr/>
        </p:nvSpPr>
        <p:spPr>
          <a:xfrm>
            <a:off x="2528773" y="2606040"/>
            <a:ext cx="1559509" cy="274320"/>
          </a:xfrm>
          <a:prstGeom prst="rect">
            <a:avLst/>
          </a:prstGeom>
          <a:noFill/>
        </p:spPr>
        <p:txBody>
          <a:bodyPr wrap="square" lIns="45720" rIns="45720" tIns="18288" bIns="18288" anchor="t">
            <a:spAutoFit/>
          </a:bodyPr>
          <a:lstStyle/>
          <a:p>
            <a:pPr algn="l"/>
            <a:r>
              <a:rPr sz="900" b="0" i="1">
                <a:solidFill>
                  <a:srgbClr val="95A5A6"/>
                </a:solidFill>
                <a:latin typeface="Arial"/>
              </a:rPr>
              <a:t>Engineering &amp; Asset</a:t>
            </a:r>
          </a:p>
        </p:txBody>
      </p:sp>
      <p:sp>
        <p:nvSpPr>
          <p:cNvPr id="39" name="Rounded Rectangle 38"/>
          <p:cNvSpPr/>
          <p:nvPr/>
        </p:nvSpPr>
        <p:spPr>
          <a:xfrm>
            <a:off x="4280306" y="2240280"/>
            <a:ext cx="1742389" cy="640080"/>
          </a:xfrm>
          <a:prstGeom prst="roundRect">
            <a:avLst>
              <a:gd name="adj" fmla="val 6000"/>
            </a:avLst>
          </a:prstGeom>
          <a:solidFill>
            <a:srgbClr val="FFFFFF"/>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280306" y="2240280"/>
            <a:ext cx="73152" cy="640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17466" y="228600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Network deployment</a:t>
            </a:r>
          </a:p>
        </p:txBody>
      </p:sp>
      <p:sp>
        <p:nvSpPr>
          <p:cNvPr id="42" name="TextBox 41"/>
          <p:cNvSpPr txBox="1"/>
          <p:nvPr/>
        </p:nvSpPr>
        <p:spPr>
          <a:xfrm>
            <a:off x="4417466" y="2606040"/>
            <a:ext cx="1559509" cy="274320"/>
          </a:xfrm>
          <a:prstGeom prst="rect">
            <a:avLst/>
          </a:prstGeom>
          <a:noFill/>
        </p:spPr>
        <p:txBody>
          <a:bodyPr wrap="square" lIns="45720" rIns="45720" tIns="18288" bIns="18288" anchor="t">
            <a:spAutoFit/>
          </a:bodyPr>
          <a:lstStyle/>
          <a:p>
            <a:pPr algn="l"/>
            <a:r>
              <a:rPr sz="900" b="0" i="1">
                <a:solidFill>
                  <a:srgbClr val="95A5A6"/>
                </a:solidFill>
                <a:latin typeface="Arial"/>
              </a:rPr>
              <a:t>Engineering &amp; Asset</a:t>
            </a:r>
          </a:p>
        </p:txBody>
      </p:sp>
      <p:sp>
        <p:nvSpPr>
          <p:cNvPr id="43" name="Rounded Rectangle 42"/>
          <p:cNvSpPr/>
          <p:nvPr/>
        </p:nvSpPr>
        <p:spPr>
          <a:xfrm>
            <a:off x="4280306" y="2971800"/>
            <a:ext cx="1742389" cy="640080"/>
          </a:xfrm>
          <a:prstGeom prst="roundRect">
            <a:avLst>
              <a:gd name="adj" fmla="val 6000"/>
            </a:avLst>
          </a:prstGeom>
          <a:solidFill>
            <a:srgbClr val="FFFFFF"/>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280306" y="2971800"/>
            <a:ext cx="73152" cy="6400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417466" y="301752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OMS modernization</a:t>
            </a:r>
          </a:p>
        </p:txBody>
      </p:sp>
      <p:sp>
        <p:nvSpPr>
          <p:cNvPr id="46" name="TextBox 45"/>
          <p:cNvSpPr txBox="1"/>
          <p:nvPr/>
        </p:nvSpPr>
        <p:spPr>
          <a:xfrm>
            <a:off x="4417466" y="3337560"/>
            <a:ext cx="1559509" cy="274320"/>
          </a:xfrm>
          <a:prstGeom prst="rect">
            <a:avLst/>
          </a:prstGeom>
          <a:noFill/>
        </p:spPr>
        <p:txBody>
          <a:bodyPr wrap="square" lIns="45720" rIns="45720" tIns="18288" bIns="18288" anchor="t">
            <a:spAutoFit/>
          </a:bodyPr>
          <a:lstStyle/>
          <a:p>
            <a:pPr algn="l"/>
            <a:r>
              <a:rPr sz="900" b="0" i="1">
                <a:solidFill>
                  <a:srgbClr val="95A5A6"/>
                </a:solidFill>
                <a:latin typeface="Arial"/>
              </a:rPr>
              <a:t>Network Ops</a:t>
            </a:r>
          </a:p>
        </p:txBody>
      </p:sp>
      <p:sp>
        <p:nvSpPr>
          <p:cNvPr id="47" name="Rounded Rectangle 46"/>
          <p:cNvSpPr/>
          <p:nvPr/>
        </p:nvSpPr>
        <p:spPr>
          <a:xfrm>
            <a:off x="6168999" y="2240280"/>
            <a:ext cx="1742389" cy="640080"/>
          </a:xfrm>
          <a:prstGeom prst="roundRect">
            <a:avLst>
              <a:gd name="adj" fmla="val 6000"/>
            </a:avLst>
          </a:prstGeom>
          <a:solidFill>
            <a:srgbClr val="FFFFFF"/>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68999" y="2240280"/>
            <a:ext cx="73152" cy="640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06159" y="228600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Doc viewer scale</a:t>
            </a:r>
          </a:p>
        </p:txBody>
      </p:sp>
      <p:sp>
        <p:nvSpPr>
          <p:cNvPr id="50" name="TextBox 49"/>
          <p:cNvSpPr txBox="1"/>
          <p:nvPr/>
        </p:nvSpPr>
        <p:spPr>
          <a:xfrm>
            <a:off x="6306159" y="2606040"/>
            <a:ext cx="1559509" cy="274320"/>
          </a:xfrm>
          <a:prstGeom prst="rect">
            <a:avLst/>
          </a:prstGeom>
          <a:noFill/>
        </p:spPr>
        <p:txBody>
          <a:bodyPr wrap="square" lIns="45720" rIns="45720" tIns="18288" bIns="18288" anchor="t">
            <a:spAutoFit/>
          </a:bodyPr>
          <a:lstStyle/>
          <a:p>
            <a:pPr algn="l"/>
            <a:r>
              <a:rPr sz="900" b="0" i="1">
                <a:solidFill>
                  <a:srgbClr val="95A5A6"/>
                </a:solidFill>
                <a:latin typeface="Arial"/>
              </a:rPr>
              <a:t>Field Operations</a:t>
            </a:r>
          </a:p>
        </p:txBody>
      </p:sp>
      <p:sp>
        <p:nvSpPr>
          <p:cNvPr id="51" name="Rounded Rectangle 50"/>
          <p:cNvSpPr/>
          <p:nvPr/>
        </p:nvSpPr>
        <p:spPr>
          <a:xfrm>
            <a:off x="8057692" y="2240280"/>
            <a:ext cx="1742389" cy="640080"/>
          </a:xfrm>
          <a:prstGeom prst="roundRect">
            <a:avLst>
              <a:gd name="adj" fmla="val 6000"/>
            </a:avLst>
          </a:prstGeom>
          <a:solidFill>
            <a:srgbClr val="FFFFFF"/>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057692" y="2240280"/>
            <a:ext cx="73152" cy="640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194852" y="228600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Mobile field migration</a:t>
            </a:r>
          </a:p>
        </p:txBody>
      </p:sp>
      <p:sp>
        <p:nvSpPr>
          <p:cNvPr id="54" name="TextBox 53"/>
          <p:cNvSpPr txBox="1"/>
          <p:nvPr/>
        </p:nvSpPr>
        <p:spPr>
          <a:xfrm>
            <a:off x="8194852" y="2606040"/>
            <a:ext cx="1559509" cy="274320"/>
          </a:xfrm>
          <a:prstGeom prst="rect">
            <a:avLst/>
          </a:prstGeom>
          <a:noFill/>
        </p:spPr>
        <p:txBody>
          <a:bodyPr wrap="square" lIns="45720" rIns="45720" tIns="18288" bIns="18288" anchor="t">
            <a:spAutoFit/>
          </a:bodyPr>
          <a:lstStyle/>
          <a:p>
            <a:pPr algn="l"/>
            <a:r>
              <a:rPr sz="900" b="0" i="1">
                <a:solidFill>
                  <a:srgbClr val="95A5A6"/>
                </a:solidFill>
                <a:latin typeface="Arial"/>
              </a:rPr>
              <a:t>Field Operations</a:t>
            </a:r>
          </a:p>
        </p:txBody>
      </p:sp>
      <p:sp>
        <p:nvSpPr>
          <p:cNvPr id="55" name="Rounded Rectangle 54"/>
          <p:cNvSpPr/>
          <p:nvPr/>
        </p:nvSpPr>
        <p:spPr>
          <a:xfrm>
            <a:off x="8057692" y="2971800"/>
            <a:ext cx="1742389" cy="640080"/>
          </a:xfrm>
          <a:prstGeom prst="roundRect">
            <a:avLst>
              <a:gd name="adj" fmla="val 6000"/>
            </a:avLst>
          </a:prstGeom>
          <a:solidFill>
            <a:srgbClr val="FFFFFF"/>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057692" y="2971800"/>
            <a:ext cx="73152" cy="6400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194852" y="301752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ERP transition</a:t>
            </a:r>
          </a:p>
        </p:txBody>
      </p:sp>
      <p:sp>
        <p:nvSpPr>
          <p:cNvPr id="58" name="TextBox 57"/>
          <p:cNvSpPr txBox="1"/>
          <p:nvPr/>
        </p:nvSpPr>
        <p:spPr>
          <a:xfrm>
            <a:off x="8194852" y="3337560"/>
            <a:ext cx="1559509" cy="274320"/>
          </a:xfrm>
          <a:prstGeom prst="rect">
            <a:avLst/>
          </a:prstGeom>
          <a:noFill/>
        </p:spPr>
        <p:txBody>
          <a:bodyPr wrap="square" lIns="45720" rIns="45720" tIns="18288" bIns="18288" anchor="t">
            <a:spAutoFit/>
          </a:bodyPr>
          <a:lstStyle/>
          <a:p>
            <a:pPr algn="l"/>
            <a:r>
              <a:rPr sz="900" b="0" i="1">
                <a:solidFill>
                  <a:srgbClr val="95A5A6"/>
                </a:solidFill>
                <a:latin typeface="Arial"/>
              </a:rPr>
              <a:t>Iberdrola Corp</a:t>
            </a:r>
          </a:p>
        </p:txBody>
      </p:sp>
      <p:sp>
        <p:nvSpPr>
          <p:cNvPr id="59" name="Rounded Rectangle 58"/>
          <p:cNvSpPr/>
          <p:nvPr/>
        </p:nvSpPr>
        <p:spPr>
          <a:xfrm>
            <a:off x="8057692" y="3703320"/>
            <a:ext cx="1742389" cy="640080"/>
          </a:xfrm>
          <a:prstGeom prst="roundRect">
            <a:avLst>
              <a:gd name="adj" fmla="val 6000"/>
            </a:avLst>
          </a:prstGeom>
          <a:solidFill>
            <a:srgbClr val="FFFFFF"/>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057692" y="3703320"/>
            <a:ext cx="73152" cy="640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194852" y="374904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Asset registry refresh</a:t>
            </a:r>
          </a:p>
        </p:txBody>
      </p:sp>
      <p:sp>
        <p:nvSpPr>
          <p:cNvPr id="62" name="TextBox 61"/>
          <p:cNvSpPr txBox="1"/>
          <p:nvPr/>
        </p:nvSpPr>
        <p:spPr>
          <a:xfrm>
            <a:off x="8194852" y="4069080"/>
            <a:ext cx="1559509" cy="274320"/>
          </a:xfrm>
          <a:prstGeom prst="rect">
            <a:avLst/>
          </a:prstGeom>
          <a:noFill/>
        </p:spPr>
        <p:txBody>
          <a:bodyPr wrap="square" lIns="45720" rIns="45720" tIns="18288" bIns="18288" anchor="t">
            <a:spAutoFit/>
          </a:bodyPr>
          <a:lstStyle/>
          <a:p>
            <a:pPr algn="l"/>
            <a:r>
              <a:rPr sz="900" b="0" i="1">
                <a:solidFill>
                  <a:srgbClr val="95A5A6"/>
                </a:solidFill>
                <a:latin typeface="Arial"/>
              </a:rPr>
              <a:t>Engineering &amp; Asset</a:t>
            </a:r>
          </a:p>
        </p:txBody>
      </p:sp>
      <p:sp>
        <p:nvSpPr>
          <p:cNvPr id="63" name="Rounded Rectangle 62"/>
          <p:cNvSpPr/>
          <p:nvPr/>
        </p:nvSpPr>
        <p:spPr>
          <a:xfrm>
            <a:off x="9946385" y="2240280"/>
            <a:ext cx="1742389" cy="640080"/>
          </a:xfrm>
          <a:prstGeom prst="roundRect">
            <a:avLst>
              <a:gd name="adj" fmla="val 6000"/>
            </a:avLst>
          </a:prstGeom>
          <a:solidFill>
            <a:srgbClr val="FFFFFF"/>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9946385" y="2240280"/>
            <a:ext cx="73152" cy="640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083545" y="228600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Storm program Q1</a:t>
            </a:r>
          </a:p>
        </p:txBody>
      </p:sp>
      <p:sp>
        <p:nvSpPr>
          <p:cNvPr id="66" name="TextBox 65"/>
          <p:cNvSpPr txBox="1"/>
          <p:nvPr/>
        </p:nvSpPr>
        <p:spPr>
          <a:xfrm>
            <a:off x="10083545" y="2606040"/>
            <a:ext cx="1559509" cy="274320"/>
          </a:xfrm>
          <a:prstGeom prst="rect">
            <a:avLst/>
          </a:prstGeom>
          <a:noFill/>
        </p:spPr>
        <p:txBody>
          <a:bodyPr wrap="square" lIns="45720" rIns="45720" tIns="18288" bIns="18288" anchor="t">
            <a:spAutoFit/>
          </a:bodyPr>
          <a:lstStyle/>
          <a:p>
            <a:pPr algn="l"/>
            <a:r>
              <a:rPr sz="900" b="0" i="1">
                <a:solidFill>
                  <a:srgbClr val="95A5A6"/>
                </a:solidFill>
                <a:latin typeface="Arial"/>
              </a:rPr>
              <a:t>Field Operations</a:t>
            </a:r>
          </a:p>
        </p:txBody>
      </p:sp>
      <p:sp>
        <p:nvSpPr>
          <p:cNvPr id="67" name="Rectangle 66"/>
          <p:cNvSpPr/>
          <p:nvPr/>
        </p:nvSpPr>
        <p:spPr>
          <a:xfrm>
            <a:off x="2300173" y="1645920"/>
            <a:ext cx="45720" cy="388620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20013" y="1325880"/>
            <a:ext cx="2560320" cy="292608"/>
          </a:xfrm>
          <a:prstGeom prst="rect">
            <a:avLst/>
          </a:prstGeom>
          <a:noFill/>
        </p:spPr>
        <p:txBody>
          <a:bodyPr wrap="square" lIns="45720" rIns="45720" tIns="18288" bIns="18288" anchor="t">
            <a:spAutoFit/>
          </a:bodyPr>
          <a:lstStyle/>
          <a:p>
            <a:pPr algn="ctr"/>
            <a:r>
              <a:rPr sz="950" b="1" i="0">
                <a:solidFill>
                  <a:srgbClr val="B63B1F"/>
                </a:solidFill>
                <a:latin typeface="Arial"/>
              </a:rPr>
              <a:t>▲ GATE 1 · TRIAGE  ·  weekly</a:t>
            </a:r>
          </a:p>
        </p:txBody>
      </p:sp>
      <p:sp>
        <p:nvSpPr>
          <p:cNvPr id="69" name="Rectangle 68"/>
          <p:cNvSpPr/>
          <p:nvPr/>
        </p:nvSpPr>
        <p:spPr>
          <a:xfrm>
            <a:off x="6077559" y="1645920"/>
            <a:ext cx="45720" cy="388620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797399" y="1325880"/>
            <a:ext cx="2560320" cy="292608"/>
          </a:xfrm>
          <a:prstGeom prst="rect">
            <a:avLst/>
          </a:prstGeom>
          <a:noFill/>
        </p:spPr>
        <p:txBody>
          <a:bodyPr wrap="square" lIns="45720" rIns="45720" tIns="18288" bIns="18288" anchor="t">
            <a:spAutoFit/>
          </a:bodyPr>
          <a:lstStyle/>
          <a:p>
            <a:pPr algn="ctr"/>
            <a:r>
              <a:rPr sz="950" b="1" i="0">
                <a:solidFill>
                  <a:srgbClr val="B63B1F"/>
                </a:solidFill>
                <a:latin typeface="Arial"/>
              </a:rPr>
              <a:t>▲ GATE 2 · PORTFOLIO  ·  monthly</a:t>
            </a:r>
          </a:p>
        </p:txBody>
      </p:sp>
      <p:sp>
        <p:nvSpPr>
          <p:cNvPr id="71" name="Rounded Rectangle 70"/>
          <p:cNvSpPr/>
          <p:nvPr/>
        </p:nvSpPr>
        <p:spPr>
          <a:xfrm>
            <a:off x="457200" y="5486400"/>
            <a:ext cx="11277295" cy="292608"/>
          </a:xfrm>
          <a:prstGeom prst="roundRect">
            <a:avLst>
              <a:gd name="adj" fmla="val 4000"/>
            </a:avLst>
          </a:prstGeom>
          <a:solidFill>
            <a:srgbClr val="FDECD7"/>
          </a:solidFill>
          <a:ln w="127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40080" y="5522976"/>
            <a:ext cx="10911535" cy="256032"/>
          </a:xfrm>
          <a:prstGeom prst="rect">
            <a:avLst/>
          </a:prstGeom>
          <a:noFill/>
        </p:spPr>
        <p:txBody>
          <a:bodyPr wrap="square" lIns="45720" rIns="45720" tIns="18288" bIns="18288" anchor="ctr">
            <a:spAutoFit/>
          </a:bodyPr>
          <a:lstStyle/>
          <a:p>
            <a:pPr algn="ctr"/>
            <a:r>
              <a:rPr sz="900" b="1" i="1">
                <a:solidFill>
                  <a:srgbClr val="E88B2F"/>
                </a:solidFill>
                <a:latin typeface="Arial"/>
              </a:rPr>
              <a:t>S / M demands BYPASS this board — they enter the Squad's Team Kanban directly. Only L / XL Initiatives flow through the Portfolio Board (Gate 2 approval required).</a:t>
            </a:r>
          </a:p>
        </p:txBody>
      </p:sp>
      <p:sp>
        <p:nvSpPr>
          <p:cNvPr id="73" name="TextBox 72"/>
          <p:cNvSpPr txBox="1"/>
          <p:nvPr/>
        </p:nvSpPr>
        <p:spPr>
          <a:xfrm>
            <a:off x="457200" y="5897880"/>
            <a:ext cx="1828800" cy="274320"/>
          </a:xfrm>
          <a:prstGeom prst="rect">
            <a:avLst/>
          </a:prstGeom>
          <a:noFill/>
        </p:spPr>
        <p:txBody>
          <a:bodyPr wrap="square" lIns="45720" rIns="45720" tIns="18288" bIns="18288" anchor="t">
            <a:spAutoFit/>
          </a:bodyPr>
          <a:lstStyle/>
          <a:p>
            <a:pPr algn="l"/>
            <a:r>
              <a:rPr sz="1000" b="1" i="0">
                <a:solidFill>
                  <a:srgbClr val="95A5A6"/>
                </a:solidFill>
                <a:latin typeface="Arial"/>
              </a:rPr>
              <a:t>CLASS OF SERVICE</a:t>
            </a:r>
          </a:p>
        </p:txBody>
      </p:sp>
      <p:sp>
        <p:nvSpPr>
          <p:cNvPr id="74" name="Rectangle 73"/>
          <p:cNvSpPr/>
          <p:nvPr/>
        </p:nvSpPr>
        <p:spPr>
          <a:xfrm>
            <a:off x="2286000" y="5943600"/>
            <a:ext cx="182880" cy="1828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560320" y="5897880"/>
            <a:ext cx="1828800" cy="274320"/>
          </a:xfrm>
          <a:prstGeom prst="rect">
            <a:avLst/>
          </a:prstGeom>
          <a:noFill/>
        </p:spPr>
        <p:txBody>
          <a:bodyPr wrap="square" lIns="45720" rIns="45720" tIns="18288" bIns="18288" anchor="t">
            <a:spAutoFit/>
          </a:bodyPr>
          <a:lstStyle/>
          <a:p>
            <a:pPr algn="l"/>
            <a:r>
              <a:rPr sz="1000" b="0" i="0">
                <a:solidFill>
                  <a:srgbClr val="2C3E50"/>
                </a:solidFill>
                <a:latin typeface="Arial"/>
              </a:rPr>
              <a:t>Standard</a:t>
            </a:r>
          </a:p>
        </p:txBody>
      </p:sp>
      <p:sp>
        <p:nvSpPr>
          <p:cNvPr id="76" name="Rectangle 75"/>
          <p:cNvSpPr/>
          <p:nvPr/>
        </p:nvSpPr>
        <p:spPr>
          <a:xfrm>
            <a:off x="4389120" y="5943600"/>
            <a:ext cx="182880" cy="1828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663440" y="5897880"/>
            <a:ext cx="1828800" cy="274320"/>
          </a:xfrm>
          <a:prstGeom prst="rect">
            <a:avLst/>
          </a:prstGeom>
          <a:noFill/>
        </p:spPr>
        <p:txBody>
          <a:bodyPr wrap="square" lIns="45720" rIns="45720" tIns="18288" bIns="18288" anchor="t">
            <a:spAutoFit/>
          </a:bodyPr>
          <a:lstStyle/>
          <a:p>
            <a:pPr algn="l"/>
            <a:r>
              <a:rPr sz="1000" b="0" i="0">
                <a:solidFill>
                  <a:srgbClr val="2C3E50"/>
                </a:solidFill>
                <a:latin typeface="Arial"/>
              </a:rPr>
              <a:t>Fixed-Date</a:t>
            </a:r>
          </a:p>
        </p:txBody>
      </p:sp>
      <p:sp>
        <p:nvSpPr>
          <p:cNvPr id="78" name="Rectangle 77"/>
          <p:cNvSpPr/>
          <p:nvPr/>
        </p:nvSpPr>
        <p:spPr>
          <a:xfrm>
            <a:off x="6492240" y="5943600"/>
            <a:ext cx="182880" cy="1828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766560" y="5897880"/>
            <a:ext cx="1828800" cy="274320"/>
          </a:xfrm>
          <a:prstGeom prst="rect">
            <a:avLst/>
          </a:prstGeom>
          <a:noFill/>
        </p:spPr>
        <p:txBody>
          <a:bodyPr wrap="square" lIns="45720" rIns="45720" tIns="18288" bIns="18288" anchor="t">
            <a:spAutoFit/>
          </a:bodyPr>
          <a:lstStyle/>
          <a:p>
            <a:pPr algn="l"/>
            <a:r>
              <a:rPr sz="1000" b="0" i="0">
                <a:solidFill>
                  <a:srgbClr val="2C3E50"/>
                </a:solidFill>
                <a:latin typeface="Arial"/>
              </a:rPr>
              <a:t>Expedite</a:t>
            </a:r>
          </a:p>
        </p:txBody>
      </p:sp>
      <p:sp>
        <p:nvSpPr>
          <p:cNvPr id="80" name="Rectangle 79"/>
          <p:cNvSpPr/>
          <p:nvPr/>
        </p:nvSpPr>
        <p:spPr>
          <a:xfrm>
            <a:off x="8595360" y="5943600"/>
            <a:ext cx="182880" cy="1828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869680" y="5897880"/>
            <a:ext cx="1828800" cy="274320"/>
          </a:xfrm>
          <a:prstGeom prst="rect">
            <a:avLst/>
          </a:prstGeom>
          <a:noFill/>
        </p:spPr>
        <p:txBody>
          <a:bodyPr wrap="square" lIns="45720" rIns="45720" tIns="18288" bIns="18288" anchor="t">
            <a:spAutoFit/>
          </a:bodyPr>
          <a:lstStyle/>
          <a:p>
            <a:pPr algn="l"/>
            <a:r>
              <a:rPr sz="1000" b="0" i="0">
                <a:solidFill>
                  <a:srgbClr val="2C3E50"/>
                </a:solidFill>
                <a:latin typeface="Arial"/>
              </a:rPr>
              <a:t>Intangible</a:t>
            </a:r>
          </a:p>
        </p:txBody>
      </p:sp>
      <p:sp>
        <p:nvSpPr>
          <p:cNvPr id="82" name="TextBox 81"/>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TEAM KANBAN</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FIVE PHASES BY TWO TRACKS · CARDS ARE STORIES PULLED BY CAPACITY</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TextBox 5"/>
          <p:cNvSpPr txBox="1"/>
          <p:nvPr/>
        </p:nvSpPr>
        <p:spPr>
          <a:xfrm>
            <a:off x="457200" y="914400"/>
            <a:ext cx="11277295" cy="365760"/>
          </a:xfrm>
          <a:prstGeom prst="rect">
            <a:avLst/>
          </a:prstGeom>
          <a:noFill/>
        </p:spPr>
        <p:txBody>
          <a:bodyPr wrap="square" lIns="45720" rIns="45720" tIns="18288" bIns="18288" anchor="t">
            <a:spAutoFit/>
          </a:bodyPr>
          <a:lstStyle/>
          <a:p>
            <a:pPr algn="ctr"/>
            <a:r>
              <a:rPr sz="1100" b="0" i="1">
                <a:solidFill>
                  <a:srgbClr val="95A5A6"/>
                </a:solidFill>
                <a:latin typeface="Arial"/>
              </a:rPr>
              <a:t>Example  ·  Field Operations Squad  ·  five phases × dual track with WIP limits  ·  Epic appears only when an Initiative is too large for one quarter</a:t>
            </a:r>
          </a:p>
        </p:txBody>
      </p:sp>
      <p:sp>
        <p:nvSpPr>
          <p:cNvPr id="7" name="Rectangle 6"/>
          <p:cNvSpPr/>
          <p:nvPr/>
        </p:nvSpPr>
        <p:spPr>
          <a:xfrm>
            <a:off x="1737360" y="1463040"/>
            <a:ext cx="1955535" cy="594360"/>
          </a:xfrm>
          <a:prstGeom prst="rect">
            <a:avLst/>
          </a:prstGeom>
          <a:solidFill>
            <a:srgbClr val="091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37360" y="1508760"/>
            <a:ext cx="1955535" cy="274320"/>
          </a:xfrm>
          <a:prstGeom prst="rect">
            <a:avLst/>
          </a:prstGeom>
          <a:noFill/>
        </p:spPr>
        <p:txBody>
          <a:bodyPr wrap="square" lIns="45720" rIns="45720" tIns="18288" bIns="18288" anchor="ctr">
            <a:spAutoFit/>
          </a:bodyPr>
          <a:lstStyle/>
          <a:p>
            <a:pPr algn="ctr"/>
            <a:r>
              <a:rPr sz="1000" b="0" i="1">
                <a:solidFill>
                  <a:srgbClr val="FFFFFF"/>
                </a:solidFill>
                <a:latin typeface="Arial"/>
              </a:rPr>
              <a:t>Phase 0</a:t>
            </a:r>
          </a:p>
        </p:txBody>
      </p:sp>
      <p:sp>
        <p:nvSpPr>
          <p:cNvPr id="9" name="TextBox 8"/>
          <p:cNvSpPr txBox="1"/>
          <p:nvPr/>
        </p:nvSpPr>
        <p:spPr>
          <a:xfrm>
            <a:off x="1737360" y="1737360"/>
            <a:ext cx="1955535" cy="274320"/>
          </a:xfrm>
          <a:prstGeom prst="rect">
            <a:avLst/>
          </a:prstGeom>
          <a:noFill/>
        </p:spPr>
        <p:txBody>
          <a:bodyPr wrap="square" lIns="45720" rIns="45720" tIns="18288" bIns="18288" anchor="ctr">
            <a:spAutoFit/>
          </a:bodyPr>
          <a:lstStyle/>
          <a:p>
            <a:pPr algn="ctr"/>
            <a:r>
              <a:rPr sz="1200" b="1" i="0">
                <a:solidFill>
                  <a:srgbClr val="FFFFFF"/>
                </a:solidFill>
                <a:latin typeface="Arial"/>
              </a:rPr>
              <a:t>DISCOVERY</a:t>
            </a:r>
          </a:p>
        </p:txBody>
      </p:sp>
      <p:sp>
        <p:nvSpPr>
          <p:cNvPr id="10" name="Rectangle 9"/>
          <p:cNvSpPr/>
          <p:nvPr/>
        </p:nvSpPr>
        <p:spPr>
          <a:xfrm>
            <a:off x="1737360" y="2057400"/>
            <a:ext cx="1955535" cy="3429000"/>
          </a:xfrm>
          <a:prstGeom prst="rect">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747759" y="1463040"/>
            <a:ext cx="1955535" cy="594360"/>
          </a:xfrm>
          <a:prstGeom prst="rect">
            <a:avLst/>
          </a:prstGeom>
          <a:solidFill>
            <a:srgbClr val="091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7759" y="1508760"/>
            <a:ext cx="1955535" cy="274320"/>
          </a:xfrm>
          <a:prstGeom prst="rect">
            <a:avLst/>
          </a:prstGeom>
          <a:noFill/>
        </p:spPr>
        <p:txBody>
          <a:bodyPr wrap="square" lIns="45720" rIns="45720" tIns="18288" bIns="18288" anchor="ctr">
            <a:spAutoFit/>
          </a:bodyPr>
          <a:lstStyle/>
          <a:p>
            <a:pPr algn="ctr"/>
            <a:r>
              <a:rPr sz="1000" b="0" i="1">
                <a:solidFill>
                  <a:srgbClr val="FFFFFF"/>
                </a:solidFill>
                <a:latin typeface="Arial"/>
              </a:rPr>
              <a:t>Phase 1</a:t>
            </a:r>
          </a:p>
        </p:txBody>
      </p:sp>
      <p:sp>
        <p:nvSpPr>
          <p:cNvPr id="13" name="TextBox 12"/>
          <p:cNvSpPr txBox="1"/>
          <p:nvPr/>
        </p:nvSpPr>
        <p:spPr>
          <a:xfrm>
            <a:off x="3747759" y="1737360"/>
            <a:ext cx="1955535" cy="274320"/>
          </a:xfrm>
          <a:prstGeom prst="rect">
            <a:avLst/>
          </a:prstGeom>
          <a:noFill/>
        </p:spPr>
        <p:txBody>
          <a:bodyPr wrap="square" lIns="45720" rIns="45720" tIns="18288" bIns="18288" anchor="ctr">
            <a:spAutoFit/>
          </a:bodyPr>
          <a:lstStyle/>
          <a:p>
            <a:pPr algn="ctr"/>
            <a:r>
              <a:rPr sz="1200" b="1" i="0">
                <a:solidFill>
                  <a:srgbClr val="FFFFFF"/>
                </a:solidFill>
                <a:latin typeface="Arial"/>
              </a:rPr>
              <a:t>MATERIALIZATION</a:t>
            </a:r>
          </a:p>
        </p:txBody>
      </p:sp>
      <p:sp>
        <p:nvSpPr>
          <p:cNvPr id="14" name="Rectangle 13"/>
          <p:cNvSpPr/>
          <p:nvPr/>
        </p:nvSpPr>
        <p:spPr>
          <a:xfrm>
            <a:off x="3747759" y="2057400"/>
            <a:ext cx="1955535" cy="3429000"/>
          </a:xfrm>
          <a:prstGeom prst="rect">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58159" y="1463040"/>
            <a:ext cx="1955535" cy="594360"/>
          </a:xfrm>
          <a:prstGeom prst="rect">
            <a:avLst/>
          </a:prstGeom>
          <a:solidFill>
            <a:srgbClr val="091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58159" y="1508760"/>
            <a:ext cx="1955535" cy="274320"/>
          </a:xfrm>
          <a:prstGeom prst="rect">
            <a:avLst/>
          </a:prstGeom>
          <a:noFill/>
        </p:spPr>
        <p:txBody>
          <a:bodyPr wrap="square" lIns="45720" rIns="45720" tIns="18288" bIns="18288" anchor="ctr">
            <a:spAutoFit/>
          </a:bodyPr>
          <a:lstStyle/>
          <a:p>
            <a:pPr algn="ctr"/>
            <a:r>
              <a:rPr sz="1000" b="0" i="1">
                <a:solidFill>
                  <a:srgbClr val="FFFFFF"/>
                </a:solidFill>
                <a:latin typeface="Arial"/>
              </a:rPr>
              <a:t>Phase 2</a:t>
            </a:r>
          </a:p>
        </p:txBody>
      </p:sp>
      <p:sp>
        <p:nvSpPr>
          <p:cNvPr id="17" name="TextBox 16"/>
          <p:cNvSpPr txBox="1"/>
          <p:nvPr/>
        </p:nvSpPr>
        <p:spPr>
          <a:xfrm>
            <a:off x="5758159" y="1737360"/>
            <a:ext cx="1955535" cy="274320"/>
          </a:xfrm>
          <a:prstGeom prst="rect">
            <a:avLst/>
          </a:prstGeom>
          <a:noFill/>
        </p:spPr>
        <p:txBody>
          <a:bodyPr wrap="square" lIns="45720" rIns="45720" tIns="18288" bIns="18288" anchor="ctr">
            <a:spAutoFit/>
          </a:bodyPr>
          <a:lstStyle/>
          <a:p>
            <a:pPr algn="ctr"/>
            <a:r>
              <a:rPr sz="1200" b="1" i="0">
                <a:solidFill>
                  <a:srgbClr val="FFFFFF"/>
                </a:solidFill>
                <a:latin typeface="Arial"/>
              </a:rPr>
              <a:t>CREATION</a:t>
            </a:r>
          </a:p>
        </p:txBody>
      </p:sp>
      <p:sp>
        <p:nvSpPr>
          <p:cNvPr id="18" name="Rectangle 17"/>
          <p:cNvSpPr/>
          <p:nvPr/>
        </p:nvSpPr>
        <p:spPr>
          <a:xfrm>
            <a:off x="5758159" y="2057400"/>
            <a:ext cx="1955535" cy="3429000"/>
          </a:xfrm>
          <a:prstGeom prst="rect">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68559" y="1463040"/>
            <a:ext cx="1955535" cy="594360"/>
          </a:xfrm>
          <a:prstGeom prst="rect">
            <a:avLst/>
          </a:prstGeom>
          <a:solidFill>
            <a:srgbClr val="091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68559" y="1508760"/>
            <a:ext cx="1955535" cy="274320"/>
          </a:xfrm>
          <a:prstGeom prst="rect">
            <a:avLst/>
          </a:prstGeom>
          <a:noFill/>
        </p:spPr>
        <p:txBody>
          <a:bodyPr wrap="square" lIns="45720" rIns="45720" tIns="18288" bIns="18288" anchor="ctr">
            <a:spAutoFit/>
          </a:bodyPr>
          <a:lstStyle/>
          <a:p>
            <a:pPr algn="ctr"/>
            <a:r>
              <a:rPr sz="1000" b="0" i="1">
                <a:solidFill>
                  <a:srgbClr val="FFFFFF"/>
                </a:solidFill>
                <a:latin typeface="Arial"/>
              </a:rPr>
              <a:t>Phase 3</a:t>
            </a:r>
          </a:p>
        </p:txBody>
      </p:sp>
      <p:sp>
        <p:nvSpPr>
          <p:cNvPr id="21" name="TextBox 20"/>
          <p:cNvSpPr txBox="1"/>
          <p:nvPr/>
        </p:nvSpPr>
        <p:spPr>
          <a:xfrm>
            <a:off x="7768559" y="1737360"/>
            <a:ext cx="1955535" cy="274320"/>
          </a:xfrm>
          <a:prstGeom prst="rect">
            <a:avLst/>
          </a:prstGeom>
          <a:noFill/>
        </p:spPr>
        <p:txBody>
          <a:bodyPr wrap="square" lIns="45720" rIns="45720" tIns="18288" bIns="18288" anchor="ctr">
            <a:spAutoFit/>
          </a:bodyPr>
          <a:lstStyle/>
          <a:p>
            <a:pPr algn="ctr"/>
            <a:r>
              <a:rPr sz="1200" b="1" i="0">
                <a:solidFill>
                  <a:srgbClr val="FFFFFF"/>
                </a:solidFill>
                <a:latin typeface="Arial"/>
              </a:rPr>
              <a:t>ONGOING</a:t>
            </a:r>
          </a:p>
        </p:txBody>
      </p:sp>
      <p:sp>
        <p:nvSpPr>
          <p:cNvPr id="22" name="Rectangle 21"/>
          <p:cNvSpPr/>
          <p:nvPr/>
        </p:nvSpPr>
        <p:spPr>
          <a:xfrm>
            <a:off x="7768559" y="2057400"/>
            <a:ext cx="1955535" cy="3429000"/>
          </a:xfrm>
          <a:prstGeom prst="rect">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778959" y="1463040"/>
            <a:ext cx="1955535" cy="594360"/>
          </a:xfrm>
          <a:prstGeom prst="rect">
            <a:avLst/>
          </a:prstGeom>
          <a:solidFill>
            <a:srgbClr val="091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78959" y="1508760"/>
            <a:ext cx="1955535" cy="274320"/>
          </a:xfrm>
          <a:prstGeom prst="rect">
            <a:avLst/>
          </a:prstGeom>
          <a:noFill/>
        </p:spPr>
        <p:txBody>
          <a:bodyPr wrap="square" lIns="45720" rIns="45720" tIns="18288" bIns="18288" anchor="ctr">
            <a:spAutoFit/>
          </a:bodyPr>
          <a:lstStyle/>
          <a:p>
            <a:pPr algn="ctr"/>
            <a:r>
              <a:rPr sz="1000" b="0" i="1">
                <a:solidFill>
                  <a:srgbClr val="FFFFFF"/>
                </a:solidFill>
                <a:latin typeface="Arial"/>
              </a:rPr>
              <a:t>Phase 4</a:t>
            </a:r>
          </a:p>
        </p:txBody>
      </p:sp>
      <p:sp>
        <p:nvSpPr>
          <p:cNvPr id="25" name="TextBox 24"/>
          <p:cNvSpPr txBox="1"/>
          <p:nvPr/>
        </p:nvSpPr>
        <p:spPr>
          <a:xfrm>
            <a:off x="9778959" y="1737360"/>
            <a:ext cx="1955535" cy="274320"/>
          </a:xfrm>
          <a:prstGeom prst="rect">
            <a:avLst/>
          </a:prstGeom>
          <a:noFill/>
        </p:spPr>
        <p:txBody>
          <a:bodyPr wrap="square" lIns="45720" rIns="45720" tIns="18288" bIns="18288" anchor="ctr">
            <a:spAutoFit/>
          </a:bodyPr>
          <a:lstStyle/>
          <a:p>
            <a:pPr algn="ctr"/>
            <a:r>
              <a:rPr sz="1200" b="1" i="0">
                <a:solidFill>
                  <a:srgbClr val="FFFFFF"/>
                </a:solidFill>
                <a:latin typeface="Arial"/>
              </a:rPr>
              <a:t>MAINTENANCE</a:t>
            </a:r>
          </a:p>
        </p:txBody>
      </p:sp>
      <p:sp>
        <p:nvSpPr>
          <p:cNvPr id="26" name="Rectangle 25"/>
          <p:cNvSpPr/>
          <p:nvPr/>
        </p:nvSpPr>
        <p:spPr>
          <a:xfrm>
            <a:off x="9778959" y="2057400"/>
            <a:ext cx="1955535" cy="3429000"/>
          </a:xfrm>
          <a:prstGeom prst="rect">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2057400"/>
            <a:ext cx="1280160" cy="17145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2057400"/>
            <a:ext cx="1280160" cy="1714500"/>
          </a:xfrm>
          <a:prstGeom prst="rect">
            <a:avLst/>
          </a:prstGeom>
          <a:noFill/>
        </p:spPr>
        <p:txBody>
          <a:bodyPr wrap="square" lIns="45720" rIns="45720" tIns="18288" bIns="18288" anchor="ctr">
            <a:spAutoFit/>
          </a:bodyPr>
          <a:lstStyle/>
          <a:p>
            <a:pPr algn="ctr"/>
            <a:r>
              <a:rPr sz="1000" b="1" i="0">
                <a:solidFill>
                  <a:srgbClr val="FFFFFF"/>
                </a:solidFill>
                <a:latin typeface="Arial"/>
              </a:rPr>
              <a:t>DISCOVERY</a:t>
            </a:r>
          </a:p>
          <a:p>
            <a:r>
              <a:t>TRACK</a:t>
            </a:r>
          </a:p>
          <a:p/>
          <a:p>
            <a:r>
              <a:t>always-on</a:t>
            </a:r>
          </a:p>
          <a:p>
            <a:r>
              <a:t>research +</a:t>
            </a:r>
          </a:p>
          <a:p>
            <a:r>
              <a:t>validation</a:t>
            </a:r>
          </a:p>
        </p:txBody>
      </p:sp>
      <p:sp>
        <p:nvSpPr>
          <p:cNvPr id="29" name="Rectangle 28"/>
          <p:cNvSpPr/>
          <p:nvPr/>
        </p:nvSpPr>
        <p:spPr>
          <a:xfrm>
            <a:off x="457200" y="3771900"/>
            <a:ext cx="1280160" cy="171450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3771900"/>
            <a:ext cx="1280160" cy="1714500"/>
          </a:xfrm>
          <a:prstGeom prst="rect">
            <a:avLst/>
          </a:prstGeom>
          <a:noFill/>
        </p:spPr>
        <p:txBody>
          <a:bodyPr wrap="square" lIns="45720" rIns="45720" tIns="18288" bIns="18288" anchor="ctr">
            <a:spAutoFit/>
          </a:bodyPr>
          <a:lstStyle/>
          <a:p>
            <a:pPr algn="ctr"/>
            <a:r>
              <a:rPr sz="1000" b="1" i="0">
                <a:solidFill>
                  <a:srgbClr val="FFFFFF"/>
                </a:solidFill>
                <a:latin typeface="Arial"/>
              </a:rPr>
              <a:t>DELIVERY</a:t>
            </a:r>
          </a:p>
          <a:p>
            <a:r>
              <a:t>TRACK</a:t>
            </a:r>
          </a:p>
          <a:p/>
          <a:p>
            <a:r>
              <a:t>Kanban flow</a:t>
            </a:r>
          </a:p>
          <a:p>
            <a:r>
              <a:t>WIP limits</a:t>
            </a:r>
          </a:p>
          <a:p>
            <a:r>
              <a:t>pull · validate</a:t>
            </a:r>
          </a:p>
        </p:txBody>
      </p:sp>
      <p:sp>
        <p:nvSpPr>
          <p:cNvPr id="31" name="Rectangle 30"/>
          <p:cNvSpPr/>
          <p:nvPr/>
        </p:nvSpPr>
        <p:spPr>
          <a:xfrm>
            <a:off x="1737360" y="3753612"/>
            <a:ext cx="9997135" cy="36576"/>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783080" y="2240280"/>
            <a:ext cx="1864095" cy="868680"/>
          </a:xfrm>
          <a:prstGeom prst="roundRect">
            <a:avLst>
              <a:gd name="adj" fmla="val 6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783080" y="2240280"/>
            <a:ext cx="1864095" cy="2286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856232" y="2258568"/>
            <a:ext cx="1406895" cy="201168"/>
          </a:xfrm>
          <a:prstGeom prst="rect">
            <a:avLst/>
          </a:prstGeom>
          <a:noFill/>
        </p:spPr>
        <p:txBody>
          <a:bodyPr wrap="square" lIns="45720" rIns="45720" tIns="18288" bIns="18288" anchor="ctr">
            <a:spAutoFit/>
          </a:bodyPr>
          <a:lstStyle/>
          <a:p>
            <a:pPr algn="l"/>
            <a:r>
              <a:rPr sz="800" b="1" i="0">
                <a:solidFill>
                  <a:srgbClr val="FFFFFF"/>
                </a:solidFill>
                <a:latin typeface="Arial"/>
              </a:rPr>
              <a:t>STORY</a:t>
            </a:r>
          </a:p>
        </p:txBody>
      </p:sp>
      <p:sp>
        <p:nvSpPr>
          <p:cNvPr id="35" name="TextBox 34"/>
          <p:cNvSpPr txBox="1"/>
          <p:nvPr/>
        </p:nvSpPr>
        <p:spPr>
          <a:xfrm>
            <a:off x="1874520" y="2514600"/>
            <a:ext cx="1681215" cy="411480"/>
          </a:xfrm>
          <a:prstGeom prst="rect">
            <a:avLst/>
          </a:prstGeom>
          <a:noFill/>
        </p:spPr>
        <p:txBody>
          <a:bodyPr wrap="square" lIns="45720" rIns="45720" tIns="18288" bIns="18288" anchor="t">
            <a:spAutoFit/>
          </a:bodyPr>
          <a:lstStyle/>
          <a:p>
            <a:pPr algn="l"/>
            <a:r>
              <a:rPr sz="1000" b="1" i="0">
                <a:solidFill>
                  <a:srgbClr val="2C3E50"/>
                </a:solidFill>
                <a:latin typeface="Arial"/>
              </a:rPr>
              <a:t>DLI inspection — offline reqs</a:t>
            </a:r>
          </a:p>
        </p:txBody>
      </p:sp>
      <p:sp>
        <p:nvSpPr>
          <p:cNvPr id="36" name="TextBox 35"/>
          <p:cNvSpPr txBox="1"/>
          <p:nvPr/>
        </p:nvSpPr>
        <p:spPr>
          <a:xfrm>
            <a:off x="1874520" y="2880360"/>
            <a:ext cx="1681215" cy="182880"/>
          </a:xfrm>
          <a:prstGeom prst="rect">
            <a:avLst/>
          </a:prstGeom>
          <a:noFill/>
        </p:spPr>
        <p:txBody>
          <a:bodyPr wrap="square" lIns="45720" rIns="45720" tIns="18288" bIns="18288" anchor="t">
            <a:spAutoFit/>
          </a:bodyPr>
          <a:lstStyle/>
          <a:p>
            <a:pPr algn="l"/>
            <a:r>
              <a:rPr sz="800" b="0" i="1">
                <a:solidFill>
                  <a:srgbClr val="95A5A6"/>
                </a:solidFill>
                <a:latin typeface="Arial"/>
              </a:rPr>
              <a:t>exploring</a:t>
            </a:r>
          </a:p>
        </p:txBody>
      </p:sp>
      <p:sp>
        <p:nvSpPr>
          <p:cNvPr id="37" name="Rounded Rectangle 36"/>
          <p:cNvSpPr/>
          <p:nvPr/>
        </p:nvSpPr>
        <p:spPr>
          <a:xfrm>
            <a:off x="3793479" y="2240280"/>
            <a:ext cx="1864095" cy="868680"/>
          </a:xfrm>
          <a:prstGeom prst="roundRect">
            <a:avLst>
              <a:gd name="adj" fmla="val 6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793479" y="2240280"/>
            <a:ext cx="1864095" cy="2286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66631" y="2258568"/>
            <a:ext cx="1406895" cy="201168"/>
          </a:xfrm>
          <a:prstGeom prst="rect">
            <a:avLst/>
          </a:prstGeom>
          <a:noFill/>
        </p:spPr>
        <p:txBody>
          <a:bodyPr wrap="square" lIns="45720" rIns="45720" tIns="18288" bIns="18288" anchor="ctr">
            <a:spAutoFit/>
          </a:bodyPr>
          <a:lstStyle/>
          <a:p>
            <a:pPr algn="l"/>
            <a:r>
              <a:rPr sz="800" b="1" i="0">
                <a:solidFill>
                  <a:srgbClr val="FFFFFF"/>
                </a:solidFill>
                <a:latin typeface="Arial"/>
              </a:rPr>
              <a:t>STORY</a:t>
            </a:r>
          </a:p>
        </p:txBody>
      </p:sp>
      <p:sp>
        <p:nvSpPr>
          <p:cNvPr id="40" name="TextBox 39"/>
          <p:cNvSpPr txBox="1"/>
          <p:nvPr/>
        </p:nvSpPr>
        <p:spPr>
          <a:xfrm>
            <a:off x="3884919" y="2514600"/>
            <a:ext cx="1681215" cy="411480"/>
          </a:xfrm>
          <a:prstGeom prst="rect">
            <a:avLst/>
          </a:prstGeom>
          <a:noFill/>
        </p:spPr>
        <p:txBody>
          <a:bodyPr wrap="square" lIns="45720" rIns="45720" tIns="18288" bIns="18288" anchor="t">
            <a:spAutoFit/>
          </a:bodyPr>
          <a:lstStyle/>
          <a:p>
            <a:pPr algn="l"/>
            <a:r>
              <a:rPr sz="1000" b="1" i="0">
                <a:solidFill>
                  <a:srgbClr val="2C3E50"/>
                </a:solidFill>
                <a:latin typeface="Arial"/>
              </a:rPr>
              <a:t>TLI sizing with vendor</a:t>
            </a:r>
          </a:p>
        </p:txBody>
      </p:sp>
      <p:sp>
        <p:nvSpPr>
          <p:cNvPr id="41" name="TextBox 40"/>
          <p:cNvSpPr txBox="1"/>
          <p:nvPr/>
        </p:nvSpPr>
        <p:spPr>
          <a:xfrm>
            <a:off x="3884919" y="2880360"/>
            <a:ext cx="1681215" cy="182880"/>
          </a:xfrm>
          <a:prstGeom prst="rect">
            <a:avLst/>
          </a:prstGeom>
          <a:noFill/>
        </p:spPr>
        <p:txBody>
          <a:bodyPr wrap="square" lIns="45720" rIns="45720" tIns="18288" bIns="18288" anchor="t">
            <a:spAutoFit/>
          </a:bodyPr>
          <a:lstStyle/>
          <a:p>
            <a:pPr algn="l"/>
            <a:r>
              <a:rPr sz="800" b="0" i="1">
                <a:solidFill>
                  <a:srgbClr val="95A5A6"/>
                </a:solidFill>
                <a:latin typeface="Arial"/>
              </a:rPr>
              <a:t>sizing</a:t>
            </a:r>
          </a:p>
        </p:txBody>
      </p:sp>
      <p:sp>
        <p:nvSpPr>
          <p:cNvPr id="42" name="Rounded Rectangle 41"/>
          <p:cNvSpPr/>
          <p:nvPr/>
        </p:nvSpPr>
        <p:spPr>
          <a:xfrm>
            <a:off x="5803879" y="3909060"/>
            <a:ext cx="1864095" cy="868680"/>
          </a:xfrm>
          <a:prstGeom prst="roundRect">
            <a:avLst>
              <a:gd name="adj" fmla="val 6000"/>
            </a:avLst>
          </a:prstGeom>
          <a:solidFill>
            <a:srgbClr val="FFFFFF"/>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803879" y="3909060"/>
            <a:ext cx="1864095" cy="22860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877031" y="3927348"/>
            <a:ext cx="1406895" cy="201168"/>
          </a:xfrm>
          <a:prstGeom prst="rect">
            <a:avLst/>
          </a:prstGeom>
          <a:noFill/>
        </p:spPr>
        <p:txBody>
          <a:bodyPr wrap="square" lIns="45720" rIns="45720" tIns="18288" bIns="18288" anchor="ctr">
            <a:spAutoFit/>
          </a:bodyPr>
          <a:lstStyle/>
          <a:p>
            <a:pPr algn="l"/>
            <a:r>
              <a:rPr sz="800" b="1" i="0">
                <a:solidFill>
                  <a:srgbClr val="FFFFFF"/>
                </a:solidFill>
                <a:latin typeface="Arial"/>
              </a:rPr>
              <a:t>EPIC</a:t>
            </a:r>
          </a:p>
        </p:txBody>
      </p:sp>
      <p:sp>
        <p:nvSpPr>
          <p:cNvPr id="45" name="Rectangle 44"/>
          <p:cNvSpPr/>
          <p:nvPr/>
        </p:nvSpPr>
        <p:spPr>
          <a:xfrm>
            <a:off x="7256495" y="3927348"/>
            <a:ext cx="365760" cy="182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56495" y="3927348"/>
            <a:ext cx="365760" cy="182880"/>
          </a:xfrm>
          <a:prstGeom prst="rect">
            <a:avLst/>
          </a:prstGeom>
          <a:noFill/>
        </p:spPr>
        <p:txBody>
          <a:bodyPr wrap="square" lIns="45720" rIns="45720" tIns="18288" bIns="18288" anchor="ctr">
            <a:spAutoFit/>
          </a:bodyPr>
          <a:lstStyle/>
          <a:p>
            <a:pPr algn="ctr"/>
            <a:r>
              <a:rPr sz="800" b="1" i="0">
                <a:solidFill>
                  <a:srgbClr val="E88B2F"/>
                </a:solidFill>
                <a:latin typeface="Arial"/>
              </a:rPr>
              <a:t>12 S</a:t>
            </a:r>
          </a:p>
        </p:txBody>
      </p:sp>
      <p:sp>
        <p:nvSpPr>
          <p:cNvPr id="47" name="TextBox 46"/>
          <p:cNvSpPr txBox="1"/>
          <p:nvPr/>
        </p:nvSpPr>
        <p:spPr>
          <a:xfrm>
            <a:off x="5895319" y="4183380"/>
            <a:ext cx="1681215" cy="411480"/>
          </a:xfrm>
          <a:prstGeom prst="rect">
            <a:avLst/>
          </a:prstGeom>
          <a:noFill/>
        </p:spPr>
        <p:txBody>
          <a:bodyPr wrap="square" lIns="45720" rIns="45720" tIns="18288" bIns="18288" anchor="t">
            <a:spAutoFit/>
          </a:bodyPr>
          <a:lstStyle/>
          <a:p>
            <a:pPr algn="l"/>
            <a:r>
              <a:rPr sz="1000" b="1" i="0">
                <a:solidFill>
                  <a:srgbClr val="2C3E50"/>
                </a:solidFill>
                <a:latin typeface="Arial"/>
              </a:rPr>
              <a:t>Storm Program v2  (Initiative &gt; 3 mo)</a:t>
            </a:r>
          </a:p>
        </p:txBody>
      </p:sp>
      <p:sp>
        <p:nvSpPr>
          <p:cNvPr id="48" name="TextBox 47"/>
          <p:cNvSpPr txBox="1"/>
          <p:nvPr/>
        </p:nvSpPr>
        <p:spPr>
          <a:xfrm>
            <a:off x="5895319" y="4549140"/>
            <a:ext cx="1681215" cy="182880"/>
          </a:xfrm>
          <a:prstGeom prst="rect">
            <a:avLst/>
          </a:prstGeom>
          <a:noFill/>
        </p:spPr>
        <p:txBody>
          <a:bodyPr wrap="square" lIns="45720" rIns="45720" tIns="18288" bIns="18288" anchor="t">
            <a:spAutoFit/>
          </a:bodyPr>
          <a:lstStyle/>
          <a:p>
            <a:pPr algn="l"/>
            <a:r>
              <a:rPr sz="800" b="0" i="1">
                <a:solidFill>
                  <a:srgbClr val="95A5A6"/>
                </a:solidFill>
                <a:latin typeface="Arial"/>
              </a:rPr>
              <a:t>sliced into Epics</a:t>
            </a:r>
          </a:p>
        </p:txBody>
      </p:sp>
      <p:sp>
        <p:nvSpPr>
          <p:cNvPr id="49" name="Rounded Rectangle 48"/>
          <p:cNvSpPr/>
          <p:nvPr/>
        </p:nvSpPr>
        <p:spPr>
          <a:xfrm>
            <a:off x="7814279" y="3909060"/>
            <a:ext cx="1864095" cy="868680"/>
          </a:xfrm>
          <a:prstGeom prst="roundRect">
            <a:avLst>
              <a:gd name="adj" fmla="val 6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814279" y="3909060"/>
            <a:ext cx="1864095" cy="2286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887431" y="3927348"/>
            <a:ext cx="1406895" cy="201168"/>
          </a:xfrm>
          <a:prstGeom prst="rect">
            <a:avLst/>
          </a:prstGeom>
          <a:noFill/>
        </p:spPr>
        <p:txBody>
          <a:bodyPr wrap="square" lIns="45720" rIns="45720" tIns="18288" bIns="18288" anchor="ctr">
            <a:spAutoFit/>
          </a:bodyPr>
          <a:lstStyle/>
          <a:p>
            <a:pPr algn="l"/>
            <a:r>
              <a:rPr sz="800" b="1" i="0">
                <a:solidFill>
                  <a:srgbClr val="FFFFFF"/>
                </a:solidFill>
                <a:latin typeface="Arial"/>
              </a:rPr>
              <a:t>STORY</a:t>
            </a:r>
          </a:p>
        </p:txBody>
      </p:sp>
      <p:sp>
        <p:nvSpPr>
          <p:cNvPr id="52" name="TextBox 51"/>
          <p:cNvSpPr txBox="1"/>
          <p:nvPr/>
        </p:nvSpPr>
        <p:spPr>
          <a:xfrm>
            <a:off x="7905719" y="4183380"/>
            <a:ext cx="1681215" cy="411480"/>
          </a:xfrm>
          <a:prstGeom prst="rect">
            <a:avLst/>
          </a:prstGeom>
          <a:noFill/>
        </p:spPr>
        <p:txBody>
          <a:bodyPr wrap="square" lIns="45720" rIns="45720" tIns="18288" bIns="18288" anchor="t">
            <a:spAutoFit/>
          </a:bodyPr>
          <a:lstStyle/>
          <a:p>
            <a:pPr algn="l"/>
            <a:r>
              <a:rPr sz="1000" b="1" i="0">
                <a:solidFill>
                  <a:srgbClr val="2C3E50"/>
                </a:solidFill>
                <a:latin typeface="Arial"/>
              </a:rPr>
              <a:t>Offline DLI capability</a:t>
            </a:r>
          </a:p>
        </p:txBody>
      </p:sp>
      <p:sp>
        <p:nvSpPr>
          <p:cNvPr id="53" name="TextBox 52"/>
          <p:cNvSpPr txBox="1"/>
          <p:nvPr/>
        </p:nvSpPr>
        <p:spPr>
          <a:xfrm>
            <a:off x="7905719" y="4549140"/>
            <a:ext cx="1681215" cy="182880"/>
          </a:xfrm>
          <a:prstGeom prst="rect">
            <a:avLst/>
          </a:prstGeom>
          <a:noFill/>
        </p:spPr>
        <p:txBody>
          <a:bodyPr wrap="square" lIns="45720" rIns="45720" tIns="18288" bIns="18288" anchor="t">
            <a:spAutoFit/>
          </a:bodyPr>
          <a:lstStyle/>
          <a:p>
            <a:pPr algn="l"/>
            <a:r>
              <a:rPr sz="800" b="0" i="1">
                <a:solidFill>
                  <a:srgbClr val="95A5A6"/>
                </a:solidFill>
                <a:latin typeface="Arial"/>
              </a:rPr>
              <a:t>in dev · Active</a:t>
            </a:r>
          </a:p>
        </p:txBody>
      </p:sp>
      <p:sp>
        <p:nvSpPr>
          <p:cNvPr id="54" name="Rounded Rectangle 53"/>
          <p:cNvSpPr/>
          <p:nvPr/>
        </p:nvSpPr>
        <p:spPr>
          <a:xfrm>
            <a:off x="7814279" y="4914900"/>
            <a:ext cx="1864095" cy="777240"/>
          </a:xfrm>
          <a:prstGeom prst="roundRect">
            <a:avLst>
              <a:gd name="adj" fmla="val 6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814279" y="4914900"/>
            <a:ext cx="1864095" cy="2286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887431" y="4933188"/>
            <a:ext cx="1406895" cy="201168"/>
          </a:xfrm>
          <a:prstGeom prst="rect">
            <a:avLst/>
          </a:prstGeom>
          <a:noFill/>
        </p:spPr>
        <p:txBody>
          <a:bodyPr wrap="square" lIns="45720" rIns="45720" tIns="18288" bIns="18288" anchor="ctr">
            <a:spAutoFit/>
          </a:bodyPr>
          <a:lstStyle/>
          <a:p>
            <a:pPr algn="l"/>
            <a:r>
              <a:rPr sz="800" b="1" i="0">
                <a:solidFill>
                  <a:srgbClr val="FFFFFF"/>
                </a:solidFill>
                <a:latin typeface="Arial"/>
              </a:rPr>
              <a:t>STORY</a:t>
            </a:r>
          </a:p>
        </p:txBody>
      </p:sp>
      <p:sp>
        <p:nvSpPr>
          <p:cNvPr id="57" name="TextBox 56"/>
          <p:cNvSpPr txBox="1"/>
          <p:nvPr/>
        </p:nvSpPr>
        <p:spPr>
          <a:xfrm>
            <a:off x="7905719" y="5189220"/>
            <a:ext cx="1681215" cy="320040"/>
          </a:xfrm>
          <a:prstGeom prst="rect">
            <a:avLst/>
          </a:prstGeom>
          <a:noFill/>
        </p:spPr>
        <p:txBody>
          <a:bodyPr wrap="square" lIns="45720" rIns="45720" tIns="18288" bIns="18288" anchor="t">
            <a:spAutoFit/>
          </a:bodyPr>
          <a:lstStyle/>
          <a:p>
            <a:pPr algn="l"/>
            <a:r>
              <a:rPr sz="1000" b="1" i="0">
                <a:solidFill>
                  <a:srgbClr val="2C3E50"/>
                </a:solidFill>
                <a:latin typeface="Arial"/>
              </a:rPr>
              <a:t>Mobile TLI UI tweak</a:t>
            </a:r>
          </a:p>
        </p:txBody>
      </p:sp>
      <p:sp>
        <p:nvSpPr>
          <p:cNvPr id="58" name="TextBox 57"/>
          <p:cNvSpPr txBox="1"/>
          <p:nvPr/>
        </p:nvSpPr>
        <p:spPr>
          <a:xfrm>
            <a:off x="7905719" y="5463540"/>
            <a:ext cx="1681215" cy="182880"/>
          </a:xfrm>
          <a:prstGeom prst="rect">
            <a:avLst/>
          </a:prstGeom>
          <a:noFill/>
        </p:spPr>
        <p:txBody>
          <a:bodyPr wrap="square" lIns="45720" rIns="45720" tIns="18288" bIns="18288" anchor="t">
            <a:spAutoFit/>
          </a:bodyPr>
          <a:lstStyle/>
          <a:p>
            <a:pPr algn="l"/>
            <a:r>
              <a:rPr sz="800" b="0" i="1">
                <a:solidFill>
                  <a:srgbClr val="95A5A6"/>
                </a:solidFill>
                <a:latin typeface="Arial"/>
              </a:rPr>
              <a:t>in dev · Active</a:t>
            </a:r>
          </a:p>
        </p:txBody>
      </p:sp>
      <p:sp>
        <p:nvSpPr>
          <p:cNvPr id="59" name="Rounded Rectangle 58"/>
          <p:cNvSpPr/>
          <p:nvPr/>
        </p:nvSpPr>
        <p:spPr>
          <a:xfrm>
            <a:off x="9824679" y="3909060"/>
            <a:ext cx="1864095" cy="868680"/>
          </a:xfrm>
          <a:prstGeom prst="roundRect">
            <a:avLst>
              <a:gd name="adj" fmla="val 6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9824679" y="3909060"/>
            <a:ext cx="1864095" cy="2286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897831" y="3927348"/>
            <a:ext cx="1406895" cy="201168"/>
          </a:xfrm>
          <a:prstGeom prst="rect">
            <a:avLst/>
          </a:prstGeom>
          <a:noFill/>
        </p:spPr>
        <p:txBody>
          <a:bodyPr wrap="square" lIns="45720" rIns="45720" tIns="18288" bIns="18288" anchor="ctr">
            <a:spAutoFit/>
          </a:bodyPr>
          <a:lstStyle/>
          <a:p>
            <a:pPr algn="l"/>
            <a:r>
              <a:rPr sz="800" b="1" i="0">
                <a:solidFill>
                  <a:srgbClr val="FFFFFF"/>
                </a:solidFill>
                <a:latin typeface="Arial"/>
              </a:rPr>
              <a:t>STORY</a:t>
            </a:r>
          </a:p>
        </p:txBody>
      </p:sp>
      <p:sp>
        <p:nvSpPr>
          <p:cNvPr id="62" name="TextBox 61"/>
          <p:cNvSpPr txBox="1"/>
          <p:nvPr/>
        </p:nvSpPr>
        <p:spPr>
          <a:xfrm>
            <a:off x="9916119" y="4183380"/>
            <a:ext cx="1681215" cy="411480"/>
          </a:xfrm>
          <a:prstGeom prst="rect">
            <a:avLst/>
          </a:prstGeom>
          <a:noFill/>
        </p:spPr>
        <p:txBody>
          <a:bodyPr wrap="square" lIns="45720" rIns="45720" tIns="18288" bIns="18288" anchor="t">
            <a:spAutoFit/>
          </a:bodyPr>
          <a:lstStyle/>
          <a:p>
            <a:pPr algn="l"/>
            <a:r>
              <a:rPr sz="1000" b="1" i="0">
                <a:solidFill>
                  <a:srgbClr val="2C3E50"/>
                </a:solidFill>
                <a:latin typeface="Arial"/>
              </a:rPr>
              <a:t>Decommission FWM</a:t>
            </a:r>
          </a:p>
        </p:txBody>
      </p:sp>
      <p:sp>
        <p:nvSpPr>
          <p:cNvPr id="63" name="TextBox 62"/>
          <p:cNvSpPr txBox="1"/>
          <p:nvPr/>
        </p:nvSpPr>
        <p:spPr>
          <a:xfrm>
            <a:off x="9916119" y="4549140"/>
            <a:ext cx="1681215" cy="182880"/>
          </a:xfrm>
          <a:prstGeom prst="rect">
            <a:avLst/>
          </a:prstGeom>
          <a:noFill/>
        </p:spPr>
        <p:txBody>
          <a:bodyPr wrap="square" lIns="45720" rIns="45720" tIns="18288" bIns="18288" anchor="t">
            <a:spAutoFit/>
          </a:bodyPr>
          <a:lstStyle/>
          <a:p>
            <a:pPr algn="l"/>
            <a:r>
              <a:rPr sz="800" b="0" i="1">
                <a:solidFill>
                  <a:srgbClr val="95A5A6"/>
                </a:solidFill>
                <a:latin typeface="Arial"/>
              </a:rPr>
              <a:t>hypercare · 30d</a:t>
            </a:r>
          </a:p>
        </p:txBody>
      </p:sp>
      <p:sp>
        <p:nvSpPr>
          <p:cNvPr id="64" name="Rectangle 63"/>
          <p:cNvSpPr/>
          <p:nvPr/>
        </p:nvSpPr>
        <p:spPr>
          <a:xfrm>
            <a:off x="457200" y="5806440"/>
            <a:ext cx="182880" cy="1828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31520" y="5760720"/>
            <a:ext cx="3657600" cy="137160"/>
          </a:xfrm>
          <a:prstGeom prst="rect">
            <a:avLst/>
          </a:prstGeom>
          <a:noFill/>
        </p:spPr>
        <p:txBody>
          <a:bodyPr wrap="square" lIns="45720" rIns="45720" tIns="18288" bIns="18288" anchor="t">
            <a:spAutoFit/>
          </a:bodyPr>
          <a:lstStyle/>
          <a:p>
            <a:pPr algn="l"/>
            <a:r>
              <a:rPr sz="1000" b="1" i="0">
                <a:solidFill>
                  <a:srgbClr val="2C3E50"/>
                </a:solidFill>
                <a:latin typeface="Arial"/>
              </a:rPr>
              <a:t>STORY</a:t>
            </a:r>
          </a:p>
        </p:txBody>
      </p:sp>
      <p:sp>
        <p:nvSpPr>
          <p:cNvPr id="66" name="TextBox 65"/>
          <p:cNvSpPr txBox="1"/>
          <p:nvPr/>
        </p:nvSpPr>
        <p:spPr>
          <a:xfrm>
            <a:off x="731520" y="5925312"/>
            <a:ext cx="3657600" cy="137160"/>
          </a:xfrm>
          <a:prstGeom prst="rect">
            <a:avLst/>
          </a:prstGeom>
          <a:noFill/>
        </p:spPr>
        <p:txBody>
          <a:bodyPr wrap="square" lIns="45720" rIns="45720" tIns="18288" bIns="18288" anchor="t">
            <a:spAutoFit/>
          </a:bodyPr>
          <a:lstStyle/>
          <a:p>
            <a:pPr algn="l"/>
            <a:r>
              <a:rPr sz="900" b="0" i="1">
                <a:solidFill>
                  <a:srgbClr val="95A5A6"/>
                </a:solidFill>
                <a:latin typeface="Arial"/>
              </a:rPr>
              <a:t>Default unit of work · pulled by capacity</a:t>
            </a:r>
          </a:p>
        </p:txBody>
      </p:sp>
      <p:sp>
        <p:nvSpPr>
          <p:cNvPr id="67" name="Rectangle 66"/>
          <p:cNvSpPr/>
          <p:nvPr/>
        </p:nvSpPr>
        <p:spPr>
          <a:xfrm>
            <a:off x="4389120" y="5806440"/>
            <a:ext cx="182880" cy="1828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663440" y="5760720"/>
            <a:ext cx="3657600" cy="137160"/>
          </a:xfrm>
          <a:prstGeom prst="rect">
            <a:avLst/>
          </a:prstGeom>
          <a:noFill/>
        </p:spPr>
        <p:txBody>
          <a:bodyPr wrap="square" lIns="45720" rIns="45720" tIns="18288" bIns="18288" anchor="t">
            <a:spAutoFit/>
          </a:bodyPr>
          <a:lstStyle/>
          <a:p>
            <a:pPr algn="l"/>
            <a:r>
              <a:rPr sz="1000" b="1" i="0">
                <a:solidFill>
                  <a:srgbClr val="2C3E50"/>
                </a:solidFill>
                <a:latin typeface="Arial"/>
              </a:rPr>
              <a:t>EPIC</a:t>
            </a:r>
          </a:p>
        </p:txBody>
      </p:sp>
      <p:sp>
        <p:nvSpPr>
          <p:cNvPr id="69" name="TextBox 68"/>
          <p:cNvSpPr txBox="1"/>
          <p:nvPr/>
        </p:nvSpPr>
        <p:spPr>
          <a:xfrm>
            <a:off x="4663440" y="5925312"/>
            <a:ext cx="3657600" cy="137160"/>
          </a:xfrm>
          <a:prstGeom prst="rect">
            <a:avLst/>
          </a:prstGeom>
          <a:noFill/>
        </p:spPr>
        <p:txBody>
          <a:bodyPr wrap="square" lIns="45720" rIns="45720" tIns="18288" bIns="18288" anchor="t">
            <a:spAutoFit/>
          </a:bodyPr>
          <a:lstStyle/>
          <a:p>
            <a:pPr algn="l"/>
            <a:r>
              <a:rPr sz="900" b="0" i="1">
                <a:solidFill>
                  <a:srgbClr val="95A5A6"/>
                </a:solidFill>
                <a:latin typeface="Arial"/>
              </a:rPr>
              <a:t>Exception · Initiative &gt; 3 months sliced into Epics (badge shows linked Stories)</a:t>
            </a:r>
          </a:p>
        </p:txBody>
      </p:sp>
      <p:sp>
        <p:nvSpPr>
          <p:cNvPr id="70" name="Rectangle 69"/>
          <p:cNvSpPr/>
          <p:nvPr/>
        </p:nvSpPr>
        <p:spPr>
          <a:xfrm>
            <a:off x="8321040" y="5806440"/>
            <a:ext cx="182880" cy="182880"/>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595360" y="5760720"/>
            <a:ext cx="3657600" cy="137160"/>
          </a:xfrm>
          <a:prstGeom prst="rect">
            <a:avLst/>
          </a:prstGeom>
          <a:noFill/>
        </p:spPr>
        <p:txBody>
          <a:bodyPr wrap="square" lIns="45720" rIns="45720" tIns="18288" bIns="18288" anchor="t">
            <a:spAutoFit/>
          </a:bodyPr>
          <a:lstStyle/>
          <a:p>
            <a:pPr algn="l"/>
            <a:r>
              <a:rPr sz="1000" b="1" i="0">
                <a:solidFill>
                  <a:srgbClr val="2C3E50"/>
                </a:solidFill>
                <a:latin typeface="Arial"/>
              </a:rPr>
              <a:t>Card flow</a:t>
            </a:r>
          </a:p>
        </p:txBody>
      </p:sp>
      <p:sp>
        <p:nvSpPr>
          <p:cNvPr id="72" name="TextBox 71"/>
          <p:cNvSpPr txBox="1"/>
          <p:nvPr/>
        </p:nvSpPr>
        <p:spPr>
          <a:xfrm>
            <a:off x="8595360" y="5925312"/>
            <a:ext cx="3657600" cy="137160"/>
          </a:xfrm>
          <a:prstGeom prst="rect">
            <a:avLst/>
          </a:prstGeom>
          <a:noFill/>
        </p:spPr>
        <p:txBody>
          <a:bodyPr wrap="square" lIns="45720" rIns="45720" tIns="18288" bIns="18288" anchor="t">
            <a:spAutoFit/>
          </a:bodyPr>
          <a:lstStyle/>
          <a:p>
            <a:pPr algn="l"/>
            <a:r>
              <a:rPr sz="900" b="0" i="1">
                <a:solidFill>
                  <a:srgbClr val="95A5A6"/>
                </a:solidFill>
                <a:latin typeface="Arial"/>
              </a:rPr>
              <a:t>Stories move left → right through phases</a:t>
            </a:r>
          </a:p>
        </p:txBody>
      </p:sp>
      <p:sp>
        <p:nvSpPr>
          <p:cNvPr id="73" name="TextBox 72"/>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DEMAND SIZING</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T-SHIRT SIZE DETERMINES THE PATH · ROUTING · SLA · DEFINITION OF READY DEPTH</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TextBox 5"/>
          <p:cNvSpPr txBox="1"/>
          <p:nvPr/>
        </p:nvSpPr>
        <p:spPr>
          <a:xfrm>
            <a:off x="457200" y="960120"/>
            <a:ext cx="11277295" cy="411480"/>
          </a:xfrm>
          <a:prstGeom prst="rect">
            <a:avLst/>
          </a:prstGeom>
          <a:noFill/>
        </p:spPr>
        <p:txBody>
          <a:bodyPr wrap="square" lIns="45720" rIns="45720" tIns="18288" bIns="18288" anchor="t">
            <a:spAutoFit/>
          </a:bodyPr>
          <a:lstStyle/>
          <a:p>
            <a:pPr algn="l"/>
            <a:r>
              <a:rPr sz="1100" b="1" i="1">
                <a:solidFill>
                  <a:srgbClr val="2C578B"/>
                </a:solidFill>
                <a:latin typeface="Arial"/>
              </a:rPr>
              <a:t>Size is a field on the Jira card — not a separate channel. It tells the system how much governance the demand needs: small items skip the Portfolio Gate; large items go through full Discovery before sizing is locked.</a:t>
            </a:r>
          </a:p>
        </p:txBody>
      </p:sp>
      <p:sp>
        <p:nvSpPr>
          <p:cNvPr id="7" name="Rounded Rectangle 6"/>
          <p:cNvSpPr/>
          <p:nvPr/>
        </p:nvSpPr>
        <p:spPr>
          <a:xfrm>
            <a:off x="457200" y="1554480"/>
            <a:ext cx="2716453" cy="3931920"/>
          </a:xfrm>
          <a:prstGeom prst="roundRect">
            <a:avLst>
              <a:gd name="adj" fmla="val 5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554480"/>
            <a:ext cx="2716453" cy="640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600200"/>
            <a:ext cx="640080" cy="548640"/>
          </a:xfrm>
          <a:prstGeom prst="rect">
            <a:avLst/>
          </a:prstGeom>
          <a:noFill/>
        </p:spPr>
        <p:txBody>
          <a:bodyPr wrap="square" lIns="45720" rIns="45720" tIns="18288" bIns="18288" anchor="ctr">
            <a:spAutoFit/>
          </a:bodyPr>
          <a:lstStyle/>
          <a:p>
            <a:pPr algn="ctr"/>
            <a:r>
              <a:rPr sz="2800" b="1" i="0">
                <a:solidFill>
                  <a:srgbClr val="FFFFFF"/>
                </a:solidFill>
                <a:latin typeface="Arial"/>
              </a:rPr>
              <a:t>S</a:t>
            </a:r>
          </a:p>
        </p:txBody>
      </p:sp>
      <p:sp>
        <p:nvSpPr>
          <p:cNvPr id="10" name="TextBox 9"/>
          <p:cNvSpPr txBox="1"/>
          <p:nvPr/>
        </p:nvSpPr>
        <p:spPr>
          <a:xfrm>
            <a:off x="1325880" y="1627632"/>
            <a:ext cx="1756333" cy="502920"/>
          </a:xfrm>
          <a:prstGeom prst="rect">
            <a:avLst/>
          </a:prstGeom>
          <a:noFill/>
        </p:spPr>
        <p:txBody>
          <a:bodyPr wrap="square" lIns="45720" rIns="45720" tIns="18288" bIns="18288" anchor="ctr">
            <a:spAutoFit/>
          </a:bodyPr>
          <a:lstStyle/>
          <a:p>
            <a:pPr algn="l"/>
            <a:r>
              <a:rPr sz="1200" b="1" i="0">
                <a:solidFill>
                  <a:srgbClr val="FFFFFF"/>
                </a:solidFill>
                <a:latin typeface="Arial"/>
              </a:rPr>
              <a:t>Small</a:t>
            </a:r>
          </a:p>
        </p:txBody>
      </p:sp>
      <p:sp>
        <p:nvSpPr>
          <p:cNvPr id="11" name="Rectangle 10"/>
          <p:cNvSpPr/>
          <p:nvPr/>
        </p:nvSpPr>
        <p:spPr>
          <a:xfrm>
            <a:off x="457200" y="2194560"/>
            <a:ext cx="2716453"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194560"/>
            <a:ext cx="2442133" cy="457200"/>
          </a:xfrm>
          <a:prstGeom prst="rect">
            <a:avLst/>
          </a:prstGeom>
          <a:noFill/>
        </p:spPr>
        <p:txBody>
          <a:bodyPr wrap="square" lIns="45720" rIns="45720" tIns="18288" bIns="18288" anchor="ctr">
            <a:spAutoFit/>
          </a:bodyPr>
          <a:lstStyle/>
          <a:p>
            <a:pPr algn="l"/>
            <a:r>
              <a:rPr sz="950" b="1" i="1">
                <a:solidFill>
                  <a:srgbClr val="2E7D32"/>
                </a:solidFill>
                <a:latin typeface="Arial"/>
              </a:rPr>
              <a:t>≤ $10k  ·  1–3 months  ·  &lt; 5 resources</a:t>
            </a:r>
          </a:p>
        </p:txBody>
      </p:sp>
      <p:sp>
        <p:nvSpPr>
          <p:cNvPr id="13" name="TextBox 12"/>
          <p:cNvSpPr txBox="1"/>
          <p:nvPr/>
        </p:nvSpPr>
        <p:spPr>
          <a:xfrm>
            <a:off x="640080" y="2788920"/>
            <a:ext cx="2350693" cy="2560320"/>
          </a:xfrm>
          <a:prstGeom prst="rect">
            <a:avLst/>
          </a:prstGeom>
          <a:noFill/>
        </p:spPr>
        <p:txBody>
          <a:bodyPr wrap="square" lIns="45720" rIns="45720" tIns="36576" bIns="36576">
            <a:spAutoFit/>
          </a:bodyPr>
          <a:lstStyle/>
          <a:p>
            <a:pPr>
              <a:lnSpc>
                <a:spcPct val="140000"/>
              </a:lnSpc>
            </a:pPr>
            <a:r>
              <a:rPr sz="950" b="0">
                <a:solidFill>
                  <a:srgbClr val="2C3E50"/>
                </a:solidFill>
                <a:latin typeface="Arial"/>
              </a:rPr>
              <a:t>•  Direct to Squad's Team Kanban</a:t>
            </a:r>
          </a:p>
          <a:p>
            <a:pPr>
              <a:lnSpc>
                <a:spcPct val="140000"/>
              </a:lnSpc>
            </a:pPr>
            <a:r>
              <a:rPr sz="950" b="0">
                <a:solidFill>
                  <a:srgbClr val="2C3E50"/>
                </a:solidFill>
                <a:latin typeface="Arial"/>
              </a:rPr>
              <a:t>•  Skips Portfolio Gate</a:t>
            </a:r>
          </a:p>
          <a:p>
            <a:pPr>
              <a:lnSpc>
                <a:spcPct val="140000"/>
              </a:lnSpc>
            </a:pPr>
            <a:r>
              <a:rPr sz="950" b="0">
                <a:solidFill>
                  <a:srgbClr val="2C3E50"/>
                </a:solidFill>
                <a:latin typeface="Arial"/>
              </a:rPr>
              <a:t>•  Lightweight DoR — title · BV · acceptance criteria</a:t>
            </a:r>
          </a:p>
          <a:p>
            <a:pPr>
              <a:lnSpc>
                <a:spcPct val="140000"/>
              </a:lnSpc>
            </a:pPr>
            <a:r>
              <a:rPr sz="950" b="0">
                <a:solidFill>
                  <a:srgbClr val="2C3E50"/>
                </a:solidFill>
                <a:latin typeface="Arial"/>
              </a:rPr>
              <a:t>•  Triage SLA: 2 business days</a:t>
            </a:r>
          </a:p>
          <a:p>
            <a:pPr>
              <a:lnSpc>
                <a:spcPct val="140000"/>
              </a:lnSpc>
            </a:pPr>
            <a:r>
              <a:rPr sz="950" b="0">
                <a:solidFill>
                  <a:srgbClr val="2C3E50"/>
                </a:solidFill>
                <a:latin typeface="Arial"/>
              </a:rPr>
              <a:t>•  Sponsor: sub-team lead</a:t>
            </a:r>
          </a:p>
        </p:txBody>
      </p:sp>
      <p:sp>
        <p:nvSpPr>
          <p:cNvPr id="14" name="Rounded Rectangle 13"/>
          <p:cNvSpPr/>
          <p:nvPr/>
        </p:nvSpPr>
        <p:spPr>
          <a:xfrm>
            <a:off x="3310813" y="1554480"/>
            <a:ext cx="2716453" cy="3931920"/>
          </a:xfrm>
          <a:prstGeom prst="roundRect">
            <a:avLst>
              <a:gd name="adj" fmla="val 5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10813" y="1554480"/>
            <a:ext cx="2716453" cy="6400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47973" y="1600200"/>
            <a:ext cx="640080" cy="548640"/>
          </a:xfrm>
          <a:prstGeom prst="rect">
            <a:avLst/>
          </a:prstGeom>
          <a:noFill/>
        </p:spPr>
        <p:txBody>
          <a:bodyPr wrap="square" lIns="45720" rIns="45720" tIns="18288" bIns="18288" anchor="ctr">
            <a:spAutoFit/>
          </a:bodyPr>
          <a:lstStyle/>
          <a:p>
            <a:pPr algn="ctr"/>
            <a:r>
              <a:rPr sz="2800" b="1" i="0">
                <a:solidFill>
                  <a:srgbClr val="FFFFFF"/>
                </a:solidFill>
                <a:latin typeface="Arial"/>
              </a:rPr>
              <a:t>M</a:t>
            </a:r>
          </a:p>
        </p:txBody>
      </p:sp>
      <p:sp>
        <p:nvSpPr>
          <p:cNvPr id="17" name="TextBox 16"/>
          <p:cNvSpPr txBox="1"/>
          <p:nvPr/>
        </p:nvSpPr>
        <p:spPr>
          <a:xfrm>
            <a:off x="4179493" y="1627632"/>
            <a:ext cx="1756333" cy="502920"/>
          </a:xfrm>
          <a:prstGeom prst="rect">
            <a:avLst/>
          </a:prstGeom>
          <a:noFill/>
        </p:spPr>
        <p:txBody>
          <a:bodyPr wrap="square" lIns="45720" rIns="45720" tIns="18288" bIns="18288" anchor="ctr">
            <a:spAutoFit/>
          </a:bodyPr>
          <a:lstStyle/>
          <a:p>
            <a:pPr algn="l"/>
            <a:r>
              <a:rPr sz="1200" b="1" i="0">
                <a:solidFill>
                  <a:srgbClr val="FFFFFF"/>
                </a:solidFill>
                <a:latin typeface="Arial"/>
              </a:rPr>
              <a:t>Medium</a:t>
            </a:r>
          </a:p>
        </p:txBody>
      </p:sp>
      <p:sp>
        <p:nvSpPr>
          <p:cNvPr id="18" name="Rectangle 17"/>
          <p:cNvSpPr/>
          <p:nvPr/>
        </p:nvSpPr>
        <p:spPr>
          <a:xfrm>
            <a:off x="3310813" y="2194560"/>
            <a:ext cx="2716453"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47973" y="2194560"/>
            <a:ext cx="2442133" cy="457200"/>
          </a:xfrm>
          <a:prstGeom prst="rect">
            <a:avLst/>
          </a:prstGeom>
          <a:noFill/>
        </p:spPr>
        <p:txBody>
          <a:bodyPr wrap="square" lIns="45720" rIns="45720" tIns="18288" bIns="18288" anchor="ctr">
            <a:spAutoFit/>
          </a:bodyPr>
          <a:lstStyle/>
          <a:p>
            <a:pPr algn="l"/>
            <a:r>
              <a:rPr sz="950" b="1" i="1">
                <a:solidFill>
                  <a:srgbClr val="2C578B"/>
                </a:solidFill>
                <a:latin typeface="Arial"/>
              </a:rPr>
              <a:t>≤ $500k  ·  3–6 months  ·  ≤ 10 resources</a:t>
            </a:r>
          </a:p>
        </p:txBody>
      </p:sp>
      <p:sp>
        <p:nvSpPr>
          <p:cNvPr id="20" name="TextBox 19"/>
          <p:cNvSpPr txBox="1"/>
          <p:nvPr/>
        </p:nvSpPr>
        <p:spPr>
          <a:xfrm>
            <a:off x="3493693" y="2788920"/>
            <a:ext cx="2350693" cy="2560320"/>
          </a:xfrm>
          <a:prstGeom prst="rect">
            <a:avLst/>
          </a:prstGeom>
          <a:noFill/>
        </p:spPr>
        <p:txBody>
          <a:bodyPr wrap="square" lIns="45720" rIns="45720" tIns="36576" bIns="36576">
            <a:spAutoFit/>
          </a:bodyPr>
          <a:lstStyle/>
          <a:p>
            <a:pPr>
              <a:lnSpc>
                <a:spcPct val="140000"/>
              </a:lnSpc>
            </a:pPr>
            <a:r>
              <a:rPr sz="950" b="0">
                <a:solidFill>
                  <a:srgbClr val="2C3E50"/>
                </a:solidFill>
                <a:latin typeface="Arial"/>
              </a:rPr>
              <a:t>•  Direct to Squad — flagged for awareness at Portfolio</a:t>
            </a:r>
          </a:p>
          <a:p>
            <a:pPr>
              <a:lnSpc>
                <a:spcPct val="140000"/>
              </a:lnSpc>
            </a:pPr>
            <a:r>
              <a:rPr sz="950" b="0">
                <a:solidFill>
                  <a:srgbClr val="2C3E50"/>
                </a:solidFill>
                <a:latin typeface="Arial"/>
              </a:rPr>
              <a:t>•  Lightweight Discovery (1–2 weeks)</a:t>
            </a:r>
          </a:p>
          <a:p>
            <a:pPr>
              <a:lnSpc>
                <a:spcPct val="140000"/>
              </a:lnSpc>
            </a:pPr>
            <a:r>
              <a:rPr sz="950" b="0">
                <a:solidFill>
                  <a:srgbClr val="2C3E50"/>
                </a:solidFill>
                <a:latin typeface="Arial"/>
              </a:rPr>
              <a:t>•  Standard DoR — adds CoS · OPCO · Pain Score</a:t>
            </a:r>
          </a:p>
          <a:p>
            <a:pPr>
              <a:lnSpc>
                <a:spcPct val="140000"/>
              </a:lnSpc>
            </a:pPr>
            <a:r>
              <a:rPr sz="950" b="0">
                <a:solidFill>
                  <a:srgbClr val="2C3E50"/>
                </a:solidFill>
                <a:latin typeface="Arial"/>
              </a:rPr>
              <a:t>•  Triage SLA: 5 business days</a:t>
            </a:r>
          </a:p>
          <a:p>
            <a:pPr>
              <a:lnSpc>
                <a:spcPct val="140000"/>
              </a:lnSpc>
            </a:pPr>
            <a:r>
              <a:rPr sz="950" b="0">
                <a:solidFill>
                  <a:srgbClr val="2C3E50"/>
                </a:solidFill>
                <a:latin typeface="Arial"/>
              </a:rPr>
              <a:t>•  Sponsor: business unit lead</a:t>
            </a:r>
          </a:p>
        </p:txBody>
      </p:sp>
      <p:sp>
        <p:nvSpPr>
          <p:cNvPr id="21" name="Rounded Rectangle 20"/>
          <p:cNvSpPr/>
          <p:nvPr/>
        </p:nvSpPr>
        <p:spPr>
          <a:xfrm>
            <a:off x="6164427" y="1554480"/>
            <a:ext cx="2716453" cy="3931920"/>
          </a:xfrm>
          <a:prstGeom prst="roundRect">
            <a:avLst>
              <a:gd name="adj" fmla="val 5000"/>
            </a:avLst>
          </a:prstGeom>
          <a:solidFill>
            <a:srgbClr val="FFFFFF"/>
          </a:solidFill>
          <a:ln w="254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4427" y="1554480"/>
            <a:ext cx="2716453" cy="6400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1587" y="1600200"/>
            <a:ext cx="640080" cy="548640"/>
          </a:xfrm>
          <a:prstGeom prst="rect">
            <a:avLst/>
          </a:prstGeom>
          <a:noFill/>
        </p:spPr>
        <p:txBody>
          <a:bodyPr wrap="square" lIns="45720" rIns="45720" tIns="18288" bIns="18288" anchor="ctr">
            <a:spAutoFit/>
          </a:bodyPr>
          <a:lstStyle/>
          <a:p>
            <a:pPr algn="ctr"/>
            <a:r>
              <a:rPr sz="2800" b="1" i="0">
                <a:solidFill>
                  <a:srgbClr val="FFFFFF"/>
                </a:solidFill>
                <a:latin typeface="Arial"/>
              </a:rPr>
              <a:t>L</a:t>
            </a:r>
          </a:p>
        </p:txBody>
      </p:sp>
      <p:sp>
        <p:nvSpPr>
          <p:cNvPr id="24" name="TextBox 23"/>
          <p:cNvSpPr txBox="1"/>
          <p:nvPr/>
        </p:nvSpPr>
        <p:spPr>
          <a:xfrm>
            <a:off x="7033107" y="1627632"/>
            <a:ext cx="1756333" cy="502920"/>
          </a:xfrm>
          <a:prstGeom prst="rect">
            <a:avLst/>
          </a:prstGeom>
          <a:noFill/>
        </p:spPr>
        <p:txBody>
          <a:bodyPr wrap="square" lIns="45720" rIns="45720" tIns="18288" bIns="18288" anchor="ctr">
            <a:spAutoFit/>
          </a:bodyPr>
          <a:lstStyle/>
          <a:p>
            <a:pPr algn="l"/>
            <a:r>
              <a:rPr sz="1200" b="1" i="0">
                <a:solidFill>
                  <a:srgbClr val="FFFFFF"/>
                </a:solidFill>
                <a:latin typeface="Arial"/>
              </a:rPr>
              <a:t>Large</a:t>
            </a:r>
          </a:p>
        </p:txBody>
      </p:sp>
      <p:sp>
        <p:nvSpPr>
          <p:cNvPr id="25" name="Rectangle 24"/>
          <p:cNvSpPr/>
          <p:nvPr/>
        </p:nvSpPr>
        <p:spPr>
          <a:xfrm>
            <a:off x="6164427" y="2194560"/>
            <a:ext cx="2716453"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1587" y="2194560"/>
            <a:ext cx="2442133" cy="457200"/>
          </a:xfrm>
          <a:prstGeom prst="rect">
            <a:avLst/>
          </a:prstGeom>
          <a:noFill/>
        </p:spPr>
        <p:txBody>
          <a:bodyPr wrap="square" lIns="45720" rIns="45720" tIns="18288" bIns="18288" anchor="ctr">
            <a:spAutoFit/>
          </a:bodyPr>
          <a:lstStyle/>
          <a:p>
            <a:pPr algn="l"/>
            <a:r>
              <a:rPr sz="950" b="1" i="1">
                <a:solidFill>
                  <a:srgbClr val="E88B2F"/>
                </a:solidFill>
                <a:latin typeface="Arial"/>
              </a:rPr>
              <a:t>&gt; Medium thresholds  ·  &gt; 6 months  ·  cross-team</a:t>
            </a:r>
          </a:p>
        </p:txBody>
      </p:sp>
      <p:sp>
        <p:nvSpPr>
          <p:cNvPr id="27" name="TextBox 26"/>
          <p:cNvSpPr txBox="1"/>
          <p:nvPr/>
        </p:nvSpPr>
        <p:spPr>
          <a:xfrm>
            <a:off x="6347307" y="2788920"/>
            <a:ext cx="2350693" cy="2560320"/>
          </a:xfrm>
          <a:prstGeom prst="rect">
            <a:avLst/>
          </a:prstGeom>
          <a:noFill/>
        </p:spPr>
        <p:txBody>
          <a:bodyPr wrap="square" lIns="45720" rIns="45720" tIns="36576" bIns="36576">
            <a:spAutoFit/>
          </a:bodyPr>
          <a:lstStyle/>
          <a:p>
            <a:pPr>
              <a:lnSpc>
                <a:spcPct val="140000"/>
              </a:lnSpc>
            </a:pPr>
            <a:r>
              <a:rPr sz="950" b="0">
                <a:solidFill>
                  <a:srgbClr val="2C3E50"/>
                </a:solidFill>
                <a:latin typeface="Arial"/>
              </a:rPr>
              <a:t>•  Mandatory Portfolio Gate (monthly Gate 2)</a:t>
            </a:r>
          </a:p>
          <a:p>
            <a:pPr>
              <a:lnSpc>
                <a:spcPct val="140000"/>
              </a:lnSpc>
            </a:pPr>
            <a:r>
              <a:rPr sz="950" b="0">
                <a:solidFill>
                  <a:srgbClr val="2C3E50"/>
                </a:solidFill>
                <a:latin typeface="Arial"/>
              </a:rPr>
              <a:t>•  Full Discovery — outcome · users · solution shape</a:t>
            </a:r>
          </a:p>
          <a:p>
            <a:pPr>
              <a:lnSpc>
                <a:spcPct val="140000"/>
              </a:lnSpc>
            </a:pPr>
            <a:r>
              <a:rPr sz="950" b="0">
                <a:solidFill>
                  <a:srgbClr val="2C3E50"/>
                </a:solidFill>
                <a:latin typeface="Arial"/>
              </a:rPr>
              <a:t>•  Full DoR — adds budget · vendor model · architecture review</a:t>
            </a:r>
          </a:p>
          <a:p>
            <a:pPr>
              <a:lnSpc>
                <a:spcPct val="140000"/>
              </a:lnSpc>
            </a:pPr>
            <a:r>
              <a:rPr sz="950" b="0">
                <a:solidFill>
                  <a:srgbClr val="2C3E50"/>
                </a:solidFill>
                <a:latin typeface="Arial"/>
              </a:rPr>
              <a:t>•  Triage SLA: 5 business days · Gate decision next monthly</a:t>
            </a:r>
          </a:p>
          <a:p>
            <a:pPr>
              <a:lnSpc>
                <a:spcPct val="140000"/>
              </a:lnSpc>
            </a:pPr>
            <a:r>
              <a:rPr sz="950" b="0">
                <a:solidFill>
                  <a:srgbClr val="2C3E50"/>
                </a:solidFill>
                <a:latin typeface="Arial"/>
              </a:rPr>
              <a:t>•  Sponsor: Director (Carlos / Kumar / Heather)</a:t>
            </a:r>
          </a:p>
        </p:txBody>
      </p:sp>
      <p:sp>
        <p:nvSpPr>
          <p:cNvPr id="28" name="Rounded Rectangle 27"/>
          <p:cNvSpPr/>
          <p:nvPr/>
        </p:nvSpPr>
        <p:spPr>
          <a:xfrm>
            <a:off x="9018041" y="1554480"/>
            <a:ext cx="2716453" cy="3931920"/>
          </a:xfrm>
          <a:prstGeom prst="roundRect">
            <a:avLst>
              <a:gd name="adj" fmla="val 5000"/>
            </a:avLst>
          </a:prstGeom>
          <a:solidFill>
            <a:srgbClr val="FFFFFF"/>
          </a:solidFill>
          <a:ln w="2540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18041" y="1554480"/>
            <a:ext cx="2716453" cy="6400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55201" y="1600200"/>
            <a:ext cx="640080" cy="548640"/>
          </a:xfrm>
          <a:prstGeom prst="rect">
            <a:avLst/>
          </a:prstGeom>
          <a:noFill/>
        </p:spPr>
        <p:txBody>
          <a:bodyPr wrap="square" lIns="45720" rIns="45720" tIns="18288" bIns="18288" anchor="ctr">
            <a:spAutoFit/>
          </a:bodyPr>
          <a:lstStyle/>
          <a:p>
            <a:pPr algn="ctr"/>
            <a:r>
              <a:rPr sz="2800" b="1" i="0">
                <a:solidFill>
                  <a:srgbClr val="FFFFFF"/>
                </a:solidFill>
                <a:latin typeface="Arial"/>
              </a:rPr>
              <a:t>XL</a:t>
            </a:r>
          </a:p>
        </p:txBody>
      </p:sp>
      <p:sp>
        <p:nvSpPr>
          <p:cNvPr id="31" name="TextBox 30"/>
          <p:cNvSpPr txBox="1"/>
          <p:nvPr/>
        </p:nvSpPr>
        <p:spPr>
          <a:xfrm>
            <a:off x="9886721" y="1627632"/>
            <a:ext cx="1756333" cy="502920"/>
          </a:xfrm>
          <a:prstGeom prst="rect">
            <a:avLst/>
          </a:prstGeom>
          <a:noFill/>
        </p:spPr>
        <p:txBody>
          <a:bodyPr wrap="square" lIns="45720" rIns="45720" tIns="18288" bIns="18288" anchor="ctr">
            <a:spAutoFit/>
          </a:bodyPr>
          <a:lstStyle/>
          <a:p>
            <a:pPr algn="l"/>
            <a:r>
              <a:rPr sz="1200" b="1" i="0">
                <a:solidFill>
                  <a:srgbClr val="FFFFFF"/>
                </a:solidFill>
                <a:latin typeface="Arial"/>
              </a:rPr>
              <a:t>Extra-Large  [to validate]</a:t>
            </a:r>
          </a:p>
        </p:txBody>
      </p:sp>
      <p:sp>
        <p:nvSpPr>
          <p:cNvPr id="32" name="Rectangle 31"/>
          <p:cNvSpPr/>
          <p:nvPr/>
        </p:nvSpPr>
        <p:spPr>
          <a:xfrm>
            <a:off x="9018041" y="2194560"/>
            <a:ext cx="2716453"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55201" y="2194560"/>
            <a:ext cx="2442133" cy="457200"/>
          </a:xfrm>
          <a:prstGeom prst="rect">
            <a:avLst/>
          </a:prstGeom>
          <a:noFill/>
        </p:spPr>
        <p:txBody>
          <a:bodyPr wrap="square" lIns="45720" rIns="45720" tIns="18288" bIns="18288" anchor="ctr">
            <a:spAutoFit/>
          </a:bodyPr>
          <a:lstStyle/>
          <a:p>
            <a:pPr algn="l"/>
            <a:r>
              <a:rPr sz="950" b="1" i="1">
                <a:solidFill>
                  <a:srgbClr val="B63B1F"/>
                </a:solidFill>
                <a:latin typeface="Arial"/>
              </a:rPr>
              <a:t>Multi-quarter  ·  cross-Value-Stream  ·  multi-vendor</a:t>
            </a:r>
          </a:p>
        </p:txBody>
      </p:sp>
      <p:sp>
        <p:nvSpPr>
          <p:cNvPr id="34" name="TextBox 33"/>
          <p:cNvSpPr txBox="1"/>
          <p:nvPr/>
        </p:nvSpPr>
        <p:spPr>
          <a:xfrm>
            <a:off x="9200921" y="2788920"/>
            <a:ext cx="2350693" cy="2560320"/>
          </a:xfrm>
          <a:prstGeom prst="rect">
            <a:avLst/>
          </a:prstGeom>
          <a:noFill/>
        </p:spPr>
        <p:txBody>
          <a:bodyPr wrap="square" lIns="45720" rIns="45720" tIns="36576" bIns="36576">
            <a:spAutoFit/>
          </a:bodyPr>
          <a:lstStyle/>
          <a:p>
            <a:pPr>
              <a:lnSpc>
                <a:spcPct val="140000"/>
              </a:lnSpc>
            </a:pPr>
            <a:r>
              <a:rPr sz="950" b="0">
                <a:solidFill>
                  <a:srgbClr val="2C3E50"/>
                </a:solidFill>
                <a:latin typeface="Arial"/>
              </a:rPr>
              <a:t>•  Mandatory Portfolio Gate + VP Portfolio Sync</a:t>
            </a:r>
          </a:p>
          <a:p>
            <a:pPr>
              <a:lnSpc>
                <a:spcPct val="140000"/>
              </a:lnSpc>
            </a:pPr>
            <a:r>
              <a:rPr sz="950" b="0">
                <a:solidFill>
                  <a:srgbClr val="2C3E50"/>
                </a:solidFill>
                <a:latin typeface="Arial"/>
              </a:rPr>
              <a:t>•  Initiative sliced into Epics (Initiative &gt; 3 months rule)</a:t>
            </a:r>
          </a:p>
          <a:p>
            <a:pPr>
              <a:lnSpc>
                <a:spcPct val="140000"/>
              </a:lnSpc>
            </a:pPr>
            <a:r>
              <a:rPr sz="950" b="0">
                <a:solidFill>
                  <a:srgbClr val="2C3E50"/>
                </a:solidFill>
                <a:latin typeface="Arial"/>
              </a:rPr>
              <a:t>•  Full DoR + business case + capital plan alignment</a:t>
            </a:r>
          </a:p>
          <a:p>
            <a:pPr>
              <a:lnSpc>
                <a:spcPct val="140000"/>
              </a:lnSpc>
            </a:pPr>
            <a:r>
              <a:rPr sz="950" b="0">
                <a:solidFill>
                  <a:srgbClr val="2C3E50"/>
                </a:solidFill>
                <a:latin typeface="Arial"/>
              </a:rPr>
              <a:t>•  Triage SLA: 10 business days · sponsor sign-off required</a:t>
            </a:r>
          </a:p>
          <a:p>
            <a:pPr>
              <a:lnSpc>
                <a:spcPct val="140000"/>
              </a:lnSpc>
            </a:pPr>
            <a:r>
              <a:rPr sz="950" b="0">
                <a:solidFill>
                  <a:srgbClr val="2C3E50"/>
                </a:solidFill>
                <a:latin typeface="Arial"/>
              </a:rPr>
              <a:t>•  Sponsor: Vitor Cruz · Iberdrola for cross-OPCO XL</a:t>
            </a:r>
          </a:p>
        </p:txBody>
      </p:sp>
      <p:sp>
        <p:nvSpPr>
          <p:cNvPr id="35" name="Rounded Rectangle 34"/>
          <p:cNvSpPr/>
          <p:nvPr/>
        </p:nvSpPr>
        <p:spPr>
          <a:xfrm>
            <a:off x="457200" y="5623560"/>
            <a:ext cx="11277295" cy="685800"/>
          </a:xfrm>
          <a:prstGeom prst="roundRect">
            <a:avLst>
              <a:gd name="adj" fmla="val 5000"/>
            </a:avLst>
          </a:prstGeom>
          <a:solidFill>
            <a:srgbClr val="DCE6F5"/>
          </a:solidFill>
          <a:ln w="19050">
            <a:solidFill>
              <a:srgbClr val="0F1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5678424"/>
            <a:ext cx="2286000" cy="274320"/>
          </a:xfrm>
          <a:prstGeom prst="rect">
            <a:avLst/>
          </a:prstGeom>
          <a:noFill/>
        </p:spPr>
        <p:txBody>
          <a:bodyPr wrap="square" lIns="45720" rIns="45720" tIns="18288" bIns="18288" anchor="t">
            <a:spAutoFit/>
          </a:bodyPr>
          <a:lstStyle/>
          <a:p>
            <a:pPr algn="l"/>
            <a:r>
              <a:rPr sz="1000" b="1" i="0">
                <a:solidFill>
                  <a:srgbClr val="0F1C50"/>
                </a:solidFill>
                <a:latin typeface="Arial"/>
              </a:rPr>
              <a:t>ROUTING RULE</a:t>
            </a:r>
          </a:p>
        </p:txBody>
      </p:sp>
      <p:sp>
        <p:nvSpPr>
          <p:cNvPr id="37" name="TextBox 36"/>
          <p:cNvSpPr txBox="1"/>
          <p:nvPr/>
        </p:nvSpPr>
        <p:spPr>
          <a:xfrm>
            <a:off x="640080" y="5916168"/>
            <a:ext cx="10911535" cy="411480"/>
          </a:xfrm>
          <a:prstGeom prst="rect">
            <a:avLst/>
          </a:prstGeom>
          <a:noFill/>
        </p:spPr>
        <p:txBody>
          <a:bodyPr wrap="square" lIns="45720" rIns="45720" tIns="18288" bIns="18288" anchor="t">
            <a:spAutoFit/>
          </a:bodyPr>
          <a:lstStyle/>
          <a:p>
            <a:pPr algn="l"/>
            <a:r>
              <a:rPr sz="1000" b="0" i="1">
                <a:solidFill>
                  <a:srgbClr val="2C3E50"/>
                </a:solidFill>
                <a:latin typeface="Arial"/>
              </a:rPr>
              <a:t>S / M  →  enter Squad's Team Kanban directly  ·  no Portfolio Gate.   L / XL  →  enter Portfolio Board · pass Gate 2 monthly · then descend to the Squad.</a:t>
            </a:r>
          </a:p>
        </p:txBody>
      </p:sp>
      <p:sp>
        <p:nvSpPr>
          <p:cNvPr id="38" name="TextBox 37"/>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CLASS OF SERVICE FRAMEWORK</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CAPACITY CAPS REPLACE AD-HOC 'URGENT' OVERRIDES</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Rounded Rectangle 5"/>
          <p:cNvSpPr/>
          <p:nvPr/>
        </p:nvSpPr>
        <p:spPr>
          <a:xfrm>
            <a:off x="457200" y="1097280"/>
            <a:ext cx="2773603" cy="4572000"/>
          </a:xfrm>
          <a:prstGeom prst="roundRect">
            <a:avLst>
              <a:gd name="adj" fmla="val 4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097280"/>
            <a:ext cx="2773603" cy="640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43000"/>
            <a:ext cx="2773603" cy="320040"/>
          </a:xfrm>
          <a:prstGeom prst="rect">
            <a:avLst/>
          </a:prstGeom>
          <a:noFill/>
        </p:spPr>
        <p:txBody>
          <a:bodyPr wrap="square" lIns="45720" rIns="45720" tIns="18288" bIns="18288" anchor="ctr">
            <a:spAutoFit/>
          </a:bodyPr>
          <a:lstStyle/>
          <a:p>
            <a:pPr algn="ctr"/>
            <a:r>
              <a:rPr sz="1500" b="1" i="0">
                <a:solidFill>
                  <a:srgbClr val="FFFFFF"/>
                </a:solidFill>
                <a:latin typeface="Arial"/>
              </a:rPr>
              <a:t>STANDARD</a:t>
            </a:r>
          </a:p>
        </p:txBody>
      </p:sp>
      <p:sp>
        <p:nvSpPr>
          <p:cNvPr id="9" name="TextBox 8"/>
          <p:cNvSpPr txBox="1"/>
          <p:nvPr/>
        </p:nvSpPr>
        <p:spPr>
          <a:xfrm>
            <a:off x="457200" y="1481328"/>
            <a:ext cx="2773603" cy="274320"/>
          </a:xfrm>
          <a:prstGeom prst="rect">
            <a:avLst/>
          </a:prstGeom>
          <a:noFill/>
        </p:spPr>
        <p:txBody>
          <a:bodyPr wrap="square" lIns="45720" rIns="45720" tIns="18288" bIns="18288" anchor="ctr">
            <a:spAutoFit/>
          </a:bodyPr>
          <a:lstStyle/>
          <a:p>
            <a:pPr algn="ctr"/>
            <a:r>
              <a:rPr sz="1100" b="0" i="1">
                <a:solidFill>
                  <a:srgbClr val="FFFFFF"/>
                </a:solidFill>
                <a:latin typeface="Arial"/>
              </a:rPr>
              <a:t>≈50% baseline</a:t>
            </a:r>
          </a:p>
        </p:txBody>
      </p:sp>
      <p:sp>
        <p:nvSpPr>
          <p:cNvPr id="10" name="TextBox 9"/>
          <p:cNvSpPr txBox="1"/>
          <p:nvPr/>
        </p:nvSpPr>
        <p:spPr>
          <a:xfrm>
            <a:off x="640080" y="1874520"/>
            <a:ext cx="2407843" cy="914400"/>
          </a:xfrm>
          <a:prstGeom prst="rect">
            <a:avLst/>
          </a:prstGeom>
          <a:noFill/>
        </p:spPr>
        <p:txBody>
          <a:bodyPr wrap="square" lIns="45720" rIns="45720" tIns="18288" bIns="18288" anchor="t">
            <a:spAutoFit/>
          </a:bodyPr>
          <a:lstStyle/>
          <a:p>
            <a:pPr algn="l"/>
            <a:r>
              <a:rPr sz="1100" b="0" i="0">
                <a:solidFill>
                  <a:srgbClr val="2C3E50"/>
                </a:solidFill>
                <a:latin typeface="Arial"/>
              </a:rPr>
              <a:t>Normal demand flowing through the standard intake gate.</a:t>
            </a:r>
          </a:p>
        </p:txBody>
      </p:sp>
      <p:sp>
        <p:nvSpPr>
          <p:cNvPr id="11" name="Rectangle 10"/>
          <p:cNvSpPr/>
          <p:nvPr/>
        </p:nvSpPr>
        <p:spPr>
          <a:xfrm>
            <a:off x="640080" y="3017520"/>
            <a:ext cx="2407843"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154680"/>
            <a:ext cx="2407843" cy="274320"/>
          </a:xfrm>
          <a:prstGeom prst="rect">
            <a:avLst/>
          </a:prstGeom>
          <a:noFill/>
        </p:spPr>
        <p:txBody>
          <a:bodyPr wrap="square" lIns="45720" rIns="45720" tIns="18288" bIns="18288" anchor="t">
            <a:spAutoFit/>
          </a:bodyPr>
          <a:lstStyle/>
          <a:p>
            <a:pPr algn="l"/>
            <a:r>
              <a:rPr sz="900" b="1" i="0">
                <a:solidFill>
                  <a:srgbClr val="2E7D32"/>
                </a:solidFill>
                <a:latin typeface="Arial"/>
              </a:rPr>
              <a:t>WHEN IT APPLIES</a:t>
            </a:r>
          </a:p>
        </p:txBody>
      </p:sp>
      <p:sp>
        <p:nvSpPr>
          <p:cNvPr id="13" name="TextBox 12"/>
          <p:cNvSpPr txBox="1"/>
          <p:nvPr/>
        </p:nvSpPr>
        <p:spPr>
          <a:xfrm>
            <a:off x="640080" y="3429000"/>
            <a:ext cx="2407843" cy="2103120"/>
          </a:xfrm>
          <a:prstGeom prst="rect">
            <a:avLst/>
          </a:prstGeom>
          <a:noFill/>
        </p:spPr>
        <p:txBody>
          <a:bodyPr wrap="square" lIns="45720" rIns="45720" tIns="18288" bIns="18288" anchor="t">
            <a:spAutoFit/>
          </a:bodyPr>
          <a:lstStyle/>
          <a:p>
            <a:pPr algn="l"/>
            <a:r>
              <a:rPr sz="1100" b="0" i="0">
                <a:solidFill>
                  <a:srgbClr val="2C3E50"/>
                </a:solidFill>
                <a:latin typeface="Arial"/>
              </a:rPr>
              <a:t>Routine enhancements, planned change, tech debt addressed in cycle.</a:t>
            </a:r>
          </a:p>
        </p:txBody>
      </p:sp>
      <p:sp>
        <p:nvSpPr>
          <p:cNvPr id="14" name="Rounded Rectangle 13"/>
          <p:cNvSpPr/>
          <p:nvPr/>
        </p:nvSpPr>
        <p:spPr>
          <a:xfrm>
            <a:off x="3367963" y="1097280"/>
            <a:ext cx="2773603" cy="4572000"/>
          </a:xfrm>
          <a:prstGeom prst="roundRect">
            <a:avLst>
              <a:gd name="adj" fmla="val 4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67963" y="1097280"/>
            <a:ext cx="2773603" cy="6400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67963" y="1143000"/>
            <a:ext cx="2773603" cy="320040"/>
          </a:xfrm>
          <a:prstGeom prst="rect">
            <a:avLst/>
          </a:prstGeom>
          <a:noFill/>
        </p:spPr>
        <p:txBody>
          <a:bodyPr wrap="square" lIns="45720" rIns="45720" tIns="18288" bIns="18288" anchor="ctr">
            <a:spAutoFit/>
          </a:bodyPr>
          <a:lstStyle/>
          <a:p>
            <a:pPr algn="ctr"/>
            <a:r>
              <a:rPr sz="1500" b="1" i="0">
                <a:solidFill>
                  <a:srgbClr val="FFFFFF"/>
                </a:solidFill>
                <a:latin typeface="Arial"/>
              </a:rPr>
              <a:t>FIXED-DATE</a:t>
            </a:r>
          </a:p>
        </p:txBody>
      </p:sp>
      <p:sp>
        <p:nvSpPr>
          <p:cNvPr id="17" name="TextBox 16"/>
          <p:cNvSpPr txBox="1"/>
          <p:nvPr/>
        </p:nvSpPr>
        <p:spPr>
          <a:xfrm>
            <a:off x="3367963" y="1481328"/>
            <a:ext cx="2773603" cy="274320"/>
          </a:xfrm>
          <a:prstGeom prst="rect">
            <a:avLst/>
          </a:prstGeom>
          <a:noFill/>
        </p:spPr>
        <p:txBody>
          <a:bodyPr wrap="square" lIns="45720" rIns="45720" tIns="18288" bIns="18288" anchor="ctr">
            <a:spAutoFit/>
          </a:bodyPr>
          <a:lstStyle/>
          <a:p>
            <a:pPr algn="ctr"/>
            <a:r>
              <a:rPr sz="1100" b="0" i="1">
                <a:solidFill>
                  <a:srgbClr val="FFFFFF"/>
                </a:solidFill>
                <a:latin typeface="Arial"/>
              </a:rPr>
              <a:t>≈20%</a:t>
            </a:r>
          </a:p>
        </p:txBody>
      </p:sp>
      <p:sp>
        <p:nvSpPr>
          <p:cNvPr id="18" name="TextBox 17"/>
          <p:cNvSpPr txBox="1"/>
          <p:nvPr/>
        </p:nvSpPr>
        <p:spPr>
          <a:xfrm>
            <a:off x="3550843" y="1874520"/>
            <a:ext cx="2407843" cy="914400"/>
          </a:xfrm>
          <a:prstGeom prst="rect">
            <a:avLst/>
          </a:prstGeom>
          <a:noFill/>
        </p:spPr>
        <p:txBody>
          <a:bodyPr wrap="square" lIns="45720" rIns="45720" tIns="18288" bIns="18288" anchor="t">
            <a:spAutoFit/>
          </a:bodyPr>
          <a:lstStyle/>
          <a:p>
            <a:pPr algn="l"/>
            <a:r>
              <a:rPr sz="1100" b="0" i="0">
                <a:solidFill>
                  <a:srgbClr val="2C3E50"/>
                </a:solidFill>
                <a:latin typeface="Arial"/>
              </a:rPr>
              <a:t>Demand with a hard regulatory or contractual deadline.</a:t>
            </a:r>
          </a:p>
        </p:txBody>
      </p:sp>
      <p:sp>
        <p:nvSpPr>
          <p:cNvPr id="19" name="Rectangle 18"/>
          <p:cNvSpPr/>
          <p:nvPr/>
        </p:nvSpPr>
        <p:spPr>
          <a:xfrm>
            <a:off x="3550843" y="3017520"/>
            <a:ext cx="2407843" cy="457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0843" y="3154680"/>
            <a:ext cx="2407843" cy="274320"/>
          </a:xfrm>
          <a:prstGeom prst="rect">
            <a:avLst/>
          </a:prstGeom>
          <a:noFill/>
        </p:spPr>
        <p:txBody>
          <a:bodyPr wrap="square" lIns="45720" rIns="45720" tIns="18288" bIns="18288" anchor="t">
            <a:spAutoFit/>
          </a:bodyPr>
          <a:lstStyle/>
          <a:p>
            <a:pPr algn="l"/>
            <a:r>
              <a:rPr sz="900" b="1" i="0">
                <a:solidFill>
                  <a:srgbClr val="2C578B"/>
                </a:solidFill>
                <a:latin typeface="Arial"/>
              </a:rPr>
              <a:t>WHEN IT APPLIES</a:t>
            </a:r>
          </a:p>
        </p:txBody>
      </p:sp>
      <p:sp>
        <p:nvSpPr>
          <p:cNvPr id="21" name="TextBox 20"/>
          <p:cNvSpPr txBox="1"/>
          <p:nvPr/>
        </p:nvSpPr>
        <p:spPr>
          <a:xfrm>
            <a:off x="3550843" y="3429000"/>
            <a:ext cx="2407843" cy="2103120"/>
          </a:xfrm>
          <a:prstGeom prst="rect">
            <a:avLst/>
          </a:prstGeom>
          <a:noFill/>
        </p:spPr>
        <p:txBody>
          <a:bodyPr wrap="square" lIns="45720" rIns="45720" tIns="18288" bIns="18288" anchor="t">
            <a:spAutoFit/>
          </a:bodyPr>
          <a:lstStyle/>
          <a:p>
            <a:pPr algn="l"/>
            <a:r>
              <a:rPr sz="1100" b="0" i="0">
                <a:solidFill>
                  <a:srgbClr val="2C3E50"/>
                </a:solidFill>
                <a:latin typeface="Arial"/>
              </a:rPr>
              <a:t>Prioritized by date, not by score. Date breach triggers escalation.</a:t>
            </a:r>
          </a:p>
        </p:txBody>
      </p:sp>
      <p:sp>
        <p:nvSpPr>
          <p:cNvPr id="22" name="Rounded Rectangle 21"/>
          <p:cNvSpPr/>
          <p:nvPr/>
        </p:nvSpPr>
        <p:spPr>
          <a:xfrm>
            <a:off x="6278727" y="1097280"/>
            <a:ext cx="2773603" cy="4572000"/>
          </a:xfrm>
          <a:prstGeom prst="roundRect">
            <a:avLst>
              <a:gd name="adj" fmla="val 4000"/>
            </a:avLst>
          </a:prstGeom>
          <a:solidFill>
            <a:srgbClr val="FFFFFF"/>
          </a:solidFill>
          <a:ln w="2540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78727" y="1097280"/>
            <a:ext cx="2773603" cy="6400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78727" y="1143000"/>
            <a:ext cx="2773603" cy="320040"/>
          </a:xfrm>
          <a:prstGeom prst="rect">
            <a:avLst/>
          </a:prstGeom>
          <a:noFill/>
        </p:spPr>
        <p:txBody>
          <a:bodyPr wrap="square" lIns="45720" rIns="45720" tIns="18288" bIns="18288" anchor="ctr">
            <a:spAutoFit/>
          </a:bodyPr>
          <a:lstStyle/>
          <a:p>
            <a:pPr algn="ctr"/>
            <a:r>
              <a:rPr sz="1500" b="1" i="0">
                <a:solidFill>
                  <a:srgbClr val="FFFFFF"/>
                </a:solidFill>
                <a:latin typeface="Arial"/>
              </a:rPr>
              <a:t>EXPEDITE</a:t>
            </a:r>
          </a:p>
        </p:txBody>
      </p:sp>
      <p:sp>
        <p:nvSpPr>
          <p:cNvPr id="25" name="TextBox 24"/>
          <p:cNvSpPr txBox="1"/>
          <p:nvPr/>
        </p:nvSpPr>
        <p:spPr>
          <a:xfrm>
            <a:off x="6278727" y="1481328"/>
            <a:ext cx="2773603" cy="274320"/>
          </a:xfrm>
          <a:prstGeom prst="rect">
            <a:avLst/>
          </a:prstGeom>
          <a:noFill/>
        </p:spPr>
        <p:txBody>
          <a:bodyPr wrap="square" lIns="45720" rIns="45720" tIns="18288" bIns="18288" anchor="ctr">
            <a:spAutoFit/>
          </a:bodyPr>
          <a:lstStyle/>
          <a:p>
            <a:pPr algn="ctr"/>
            <a:r>
              <a:rPr sz="1100" b="0" i="1">
                <a:solidFill>
                  <a:srgbClr val="FFFFFF"/>
                </a:solidFill>
                <a:latin typeface="Arial"/>
              </a:rPr>
              <a:t>≤20%  ·  CAPPED</a:t>
            </a:r>
          </a:p>
        </p:txBody>
      </p:sp>
      <p:sp>
        <p:nvSpPr>
          <p:cNvPr id="26" name="TextBox 25"/>
          <p:cNvSpPr txBox="1"/>
          <p:nvPr/>
        </p:nvSpPr>
        <p:spPr>
          <a:xfrm>
            <a:off x="6461607" y="1874520"/>
            <a:ext cx="2407843" cy="914400"/>
          </a:xfrm>
          <a:prstGeom prst="rect">
            <a:avLst/>
          </a:prstGeom>
          <a:noFill/>
        </p:spPr>
        <p:txBody>
          <a:bodyPr wrap="square" lIns="45720" rIns="45720" tIns="18288" bIns="18288" anchor="t">
            <a:spAutoFit/>
          </a:bodyPr>
          <a:lstStyle/>
          <a:p>
            <a:pPr algn="l"/>
            <a:r>
              <a:rPr sz="1100" b="0" i="0">
                <a:solidFill>
                  <a:srgbClr val="2C3E50"/>
                </a:solidFill>
                <a:latin typeface="Arial"/>
              </a:rPr>
              <a:t>Critical regulatory or safety items requiring fast-track.</a:t>
            </a:r>
          </a:p>
        </p:txBody>
      </p:sp>
      <p:sp>
        <p:nvSpPr>
          <p:cNvPr id="27" name="Rectangle 26"/>
          <p:cNvSpPr/>
          <p:nvPr/>
        </p:nvSpPr>
        <p:spPr>
          <a:xfrm>
            <a:off x="6461607" y="3017520"/>
            <a:ext cx="2407843" cy="4572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61607" y="3154680"/>
            <a:ext cx="2407843" cy="274320"/>
          </a:xfrm>
          <a:prstGeom prst="rect">
            <a:avLst/>
          </a:prstGeom>
          <a:noFill/>
        </p:spPr>
        <p:txBody>
          <a:bodyPr wrap="square" lIns="45720" rIns="45720" tIns="18288" bIns="18288" anchor="t">
            <a:spAutoFit/>
          </a:bodyPr>
          <a:lstStyle/>
          <a:p>
            <a:pPr algn="l"/>
            <a:r>
              <a:rPr sz="900" b="1" i="0">
                <a:solidFill>
                  <a:srgbClr val="B63B1F"/>
                </a:solidFill>
                <a:latin typeface="Arial"/>
              </a:rPr>
              <a:t>WHEN IT APPLIES</a:t>
            </a:r>
          </a:p>
        </p:txBody>
      </p:sp>
      <p:sp>
        <p:nvSpPr>
          <p:cNvPr id="29" name="TextBox 28"/>
          <p:cNvSpPr txBox="1"/>
          <p:nvPr/>
        </p:nvSpPr>
        <p:spPr>
          <a:xfrm>
            <a:off x="6461607" y="3429000"/>
            <a:ext cx="2407843" cy="2103120"/>
          </a:xfrm>
          <a:prstGeom prst="rect">
            <a:avLst/>
          </a:prstGeom>
          <a:noFill/>
        </p:spPr>
        <p:txBody>
          <a:bodyPr wrap="square" lIns="45720" rIns="45720" tIns="18288" bIns="18288" anchor="t">
            <a:spAutoFit/>
          </a:bodyPr>
          <a:lstStyle/>
          <a:p>
            <a:pPr algn="l"/>
            <a:r>
              <a:rPr sz="1100" b="0" i="0">
                <a:solidFill>
                  <a:srgbClr val="2C3E50"/>
                </a:solidFill>
                <a:latin typeface="Arial"/>
              </a:rPr>
              <a:t>Bypasses Gate 1, logged for review at next Portfolio Committee. Cap is enforced.</a:t>
            </a:r>
          </a:p>
        </p:txBody>
      </p:sp>
      <p:sp>
        <p:nvSpPr>
          <p:cNvPr id="30" name="Rounded Rectangle 29"/>
          <p:cNvSpPr/>
          <p:nvPr/>
        </p:nvSpPr>
        <p:spPr>
          <a:xfrm>
            <a:off x="9189491" y="1097280"/>
            <a:ext cx="2773603" cy="457200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189491" y="1097280"/>
            <a:ext cx="2773603" cy="6400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89491" y="1143000"/>
            <a:ext cx="2773603" cy="320040"/>
          </a:xfrm>
          <a:prstGeom prst="rect">
            <a:avLst/>
          </a:prstGeom>
          <a:noFill/>
        </p:spPr>
        <p:txBody>
          <a:bodyPr wrap="square" lIns="45720" rIns="45720" tIns="18288" bIns="18288" anchor="ctr">
            <a:spAutoFit/>
          </a:bodyPr>
          <a:lstStyle/>
          <a:p>
            <a:pPr algn="ctr"/>
            <a:r>
              <a:rPr sz="1500" b="1" i="0">
                <a:solidFill>
                  <a:srgbClr val="FFFFFF"/>
                </a:solidFill>
                <a:latin typeface="Arial"/>
              </a:rPr>
              <a:t>INTANGIBLE</a:t>
            </a:r>
          </a:p>
        </p:txBody>
      </p:sp>
      <p:sp>
        <p:nvSpPr>
          <p:cNvPr id="33" name="TextBox 32"/>
          <p:cNvSpPr txBox="1"/>
          <p:nvPr/>
        </p:nvSpPr>
        <p:spPr>
          <a:xfrm>
            <a:off x="9189491" y="1481328"/>
            <a:ext cx="2773603" cy="274320"/>
          </a:xfrm>
          <a:prstGeom prst="rect">
            <a:avLst/>
          </a:prstGeom>
          <a:noFill/>
        </p:spPr>
        <p:txBody>
          <a:bodyPr wrap="square" lIns="45720" rIns="45720" tIns="18288" bIns="18288" anchor="ctr">
            <a:spAutoFit/>
          </a:bodyPr>
          <a:lstStyle/>
          <a:p>
            <a:pPr algn="ctr"/>
            <a:r>
              <a:rPr sz="1100" b="0" i="1">
                <a:solidFill>
                  <a:srgbClr val="FFFFFF"/>
                </a:solidFill>
                <a:latin typeface="Arial"/>
              </a:rPr>
              <a:t>≈10% reserved</a:t>
            </a:r>
          </a:p>
        </p:txBody>
      </p:sp>
      <p:sp>
        <p:nvSpPr>
          <p:cNvPr id="34" name="TextBox 33"/>
          <p:cNvSpPr txBox="1"/>
          <p:nvPr/>
        </p:nvSpPr>
        <p:spPr>
          <a:xfrm>
            <a:off x="9372371" y="1874520"/>
            <a:ext cx="2407843" cy="914400"/>
          </a:xfrm>
          <a:prstGeom prst="rect">
            <a:avLst/>
          </a:prstGeom>
          <a:noFill/>
        </p:spPr>
        <p:txBody>
          <a:bodyPr wrap="square" lIns="45720" rIns="45720" tIns="18288" bIns="18288" anchor="t">
            <a:spAutoFit/>
          </a:bodyPr>
          <a:lstStyle/>
          <a:p>
            <a:pPr algn="l"/>
            <a:r>
              <a:rPr sz="1100" b="0" i="0">
                <a:solidFill>
                  <a:srgbClr val="2C3E50"/>
                </a:solidFill>
                <a:latin typeface="Arial"/>
              </a:rPr>
              <a:t>Innovation, research, user-experience exploration.</a:t>
            </a:r>
          </a:p>
        </p:txBody>
      </p:sp>
      <p:sp>
        <p:nvSpPr>
          <p:cNvPr id="35" name="Rectangle 34"/>
          <p:cNvSpPr/>
          <p:nvPr/>
        </p:nvSpPr>
        <p:spPr>
          <a:xfrm>
            <a:off x="9372371" y="3017520"/>
            <a:ext cx="2407843" cy="4572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72371" y="3154680"/>
            <a:ext cx="2407843" cy="274320"/>
          </a:xfrm>
          <a:prstGeom prst="rect">
            <a:avLst/>
          </a:prstGeom>
          <a:noFill/>
        </p:spPr>
        <p:txBody>
          <a:bodyPr wrap="square" lIns="45720" rIns="45720" tIns="18288" bIns="18288" anchor="t">
            <a:spAutoFit/>
          </a:bodyPr>
          <a:lstStyle/>
          <a:p>
            <a:pPr algn="l"/>
            <a:r>
              <a:rPr sz="900" b="1" i="0">
                <a:solidFill>
                  <a:srgbClr val="F9A825"/>
                </a:solidFill>
                <a:latin typeface="Arial"/>
              </a:rPr>
              <a:t>WHEN IT APPLIES</a:t>
            </a:r>
          </a:p>
        </p:txBody>
      </p:sp>
      <p:sp>
        <p:nvSpPr>
          <p:cNvPr id="37" name="TextBox 36"/>
          <p:cNvSpPr txBox="1"/>
          <p:nvPr/>
        </p:nvSpPr>
        <p:spPr>
          <a:xfrm>
            <a:off x="9372371" y="3429000"/>
            <a:ext cx="2407843" cy="2103120"/>
          </a:xfrm>
          <a:prstGeom prst="rect">
            <a:avLst/>
          </a:prstGeom>
          <a:noFill/>
        </p:spPr>
        <p:txBody>
          <a:bodyPr wrap="square" lIns="45720" rIns="45720" tIns="18288" bIns="18288" anchor="t">
            <a:spAutoFit/>
          </a:bodyPr>
          <a:lstStyle/>
          <a:p>
            <a:pPr algn="l"/>
            <a:r>
              <a:rPr sz="1100" b="0" i="0">
                <a:solidFill>
                  <a:srgbClr val="2C3E50"/>
                </a:solidFill>
                <a:latin typeface="Arial"/>
              </a:rPr>
              <a:t>Protects the strategic-partner positioning beyond pure delivery.</a:t>
            </a:r>
          </a:p>
        </p:txBody>
      </p:sp>
      <p:sp>
        <p:nvSpPr>
          <p:cNvPr id="38" name="Rounded Rectangle 37"/>
          <p:cNvSpPr/>
          <p:nvPr/>
        </p:nvSpPr>
        <p:spPr>
          <a:xfrm>
            <a:off x="457200" y="5943600"/>
            <a:ext cx="11277295" cy="502920"/>
          </a:xfrm>
          <a:prstGeom prst="roundRect">
            <a:avLst>
              <a:gd name="adj" fmla="val 10000"/>
            </a:avLst>
          </a:prstGeom>
          <a:solidFill>
            <a:srgbClr val="091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5989320"/>
            <a:ext cx="10911535" cy="411480"/>
          </a:xfrm>
          <a:prstGeom prst="rect">
            <a:avLst/>
          </a:prstGeom>
          <a:noFill/>
        </p:spPr>
        <p:txBody>
          <a:bodyPr wrap="square" lIns="45720" rIns="45720" tIns="18288" bIns="18288" anchor="ctr">
            <a:spAutoFit/>
          </a:bodyPr>
          <a:lstStyle/>
          <a:p>
            <a:pPr algn="l"/>
            <a:r>
              <a:rPr sz="1200" b="1" i="1">
                <a:solidFill>
                  <a:srgbClr val="FFFFFF"/>
                </a:solidFill>
                <a:latin typeface="Arial"/>
              </a:rPr>
              <a:t>Capacity caps are enforced monthly at the Portfolio Committee · Expedite breach triggers a governance escalation, not a quiet override.</a:t>
            </a:r>
          </a:p>
        </p:txBody>
      </p:sp>
      <p:sp>
        <p:nvSpPr>
          <p:cNvPr id="40" name="TextBox 39"/>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ROADMAP</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WAVE 1 — DEMAND MANAGEMENT DESIGN &amp; PILOT · FIVE STEPS OVER FOURTEEN WEEKS</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TextBox 5"/>
          <p:cNvSpPr txBox="1"/>
          <p:nvPr/>
        </p:nvSpPr>
        <p:spPr>
          <a:xfrm>
            <a:off x="457200" y="960120"/>
            <a:ext cx="7315200" cy="274320"/>
          </a:xfrm>
          <a:prstGeom prst="rect">
            <a:avLst/>
          </a:prstGeom>
          <a:noFill/>
        </p:spPr>
        <p:txBody>
          <a:bodyPr wrap="square" lIns="45720" rIns="45720" tIns="18288" bIns="18288" anchor="t">
            <a:spAutoFit/>
          </a:bodyPr>
          <a:lstStyle/>
          <a:p>
            <a:pPr algn="l"/>
            <a:r>
              <a:rPr sz="1300" b="1" i="0">
                <a:solidFill>
                  <a:srgbClr val="0F1C50"/>
                </a:solidFill>
                <a:latin typeface="Arial"/>
              </a:rPr>
              <a:t>WAVE 1  ·  Demand Management Design &amp; Pilot  ·  14 weeks</a:t>
            </a:r>
          </a:p>
        </p:txBody>
      </p:sp>
      <p:sp>
        <p:nvSpPr>
          <p:cNvPr id="7" name="Rounded Rectangle 6"/>
          <p:cNvSpPr/>
          <p:nvPr/>
        </p:nvSpPr>
        <p:spPr>
          <a:xfrm>
            <a:off x="457200" y="1280160"/>
            <a:ext cx="2196937" cy="2194560"/>
          </a:xfrm>
          <a:prstGeom prst="roundRect">
            <a:avLst>
              <a:gd name="adj" fmla="val 5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2196937"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298448"/>
            <a:ext cx="2196937" cy="320040"/>
          </a:xfrm>
          <a:prstGeom prst="rect">
            <a:avLst/>
          </a:prstGeom>
          <a:noFill/>
        </p:spPr>
        <p:txBody>
          <a:bodyPr wrap="square" lIns="45720" rIns="45720" tIns="18288" bIns="18288" anchor="ctr">
            <a:spAutoFit/>
          </a:bodyPr>
          <a:lstStyle/>
          <a:p>
            <a:pPr algn="ctr"/>
            <a:r>
              <a:rPr sz="1100" b="1" i="0">
                <a:solidFill>
                  <a:srgbClr val="FFFFFF"/>
                </a:solidFill>
                <a:latin typeface="Arial"/>
              </a:rPr>
              <a:t>Step 1</a:t>
            </a:r>
          </a:p>
        </p:txBody>
      </p:sp>
      <p:sp>
        <p:nvSpPr>
          <p:cNvPr id="10" name="TextBox 9"/>
          <p:cNvSpPr txBox="1"/>
          <p:nvPr/>
        </p:nvSpPr>
        <p:spPr>
          <a:xfrm>
            <a:off x="457200" y="1691640"/>
            <a:ext cx="2196937" cy="274320"/>
          </a:xfrm>
          <a:prstGeom prst="rect">
            <a:avLst/>
          </a:prstGeom>
          <a:noFill/>
        </p:spPr>
        <p:txBody>
          <a:bodyPr wrap="square" lIns="45720" rIns="45720" tIns="18288" bIns="18288" anchor="t">
            <a:spAutoFit/>
          </a:bodyPr>
          <a:lstStyle/>
          <a:p>
            <a:pPr algn="ctr"/>
            <a:r>
              <a:rPr sz="1000" b="0" i="1">
                <a:solidFill>
                  <a:srgbClr val="2C578B"/>
                </a:solidFill>
                <a:latin typeface="Arial"/>
              </a:rPr>
              <a:t>Weeks 1-2</a:t>
            </a:r>
          </a:p>
        </p:txBody>
      </p:sp>
      <p:sp>
        <p:nvSpPr>
          <p:cNvPr id="11" name="TextBox 10"/>
          <p:cNvSpPr txBox="1"/>
          <p:nvPr/>
        </p:nvSpPr>
        <p:spPr>
          <a:xfrm>
            <a:off x="548640" y="1965960"/>
            <a:ext cx="2014057" cy="365760"/>
          </a:xfrm>
          <a:prstGeom prst="rect">
            <a:avLst/>
          </a:prstGeom>
          <a:noFill/>
        </p:spPr>
        <p:txBody>
          <a:bodyPr wrap="square" lIns="45720" rIns="45720" tIns="18288" bIns="18288" anchor="t">
            <a:spAutoFit/>
          </a:bodyPr>
          <a:lstStyle/>
          <a:p>
            <a:pPr algn="ctr"/>
            <a:r>
              <a:rPr sz="1100" b="1" i="0">
                <a:solidFill>
                  <a:srgbClr val="2C3E50"/>
                </a:solidFill>
                <a:latin typeface="Arial"/>
              </a:rPr>
              <a:t>ENABLEMENT</a:t>
            </a:r>
          </a:p>
        </p:txBody>
      </p:sp>
      <p:sp>
        <p:nvSpPr>
          <p:cNvPr id="12" name="TextBox 11"/>
          <p:cNvSpPr txBox="1"/>
          <p:nvPr/>
        </p:nvSpPr>
        <p:spPr>
          <a:xfrm>
            <a:off x="548640" y="2377440"/>
            <a:ext cx="2014057" cy="320040"/>
          </a:xfrm>
          <a:prstGeom prst="rect">
            <a:avLst/>
          </a:prstGeom>
          <a:noFill/>
        </p:spPr>
        <p:txBody>
          <a:bodyPr wrap="square" lIns="45720" rIns="45720" tIns="18288" bIns="18288" anchor="t">
            <a:spAutoFit/>
          </a:bodyPr>
          <a:lstStyle/>
          <a:p>
            <a:pPr algn="ctr"/>
            <a:r>
              <a:rPr sz="900" b="0" i="1">
                <a:solidFill>
                  <a:srgbClr val="95A5A6"/>
                </a:solidFill>
                <a:latin typeface="Arial"/>
              </a:rPr>
              <a:t>Where are we starting from?</a:t>
            </a:r>
          </a:p>
        </p:txBody>
      </p:sp>
      <p:sp>
        <p:nvSpPr>
          <p:cNvPr id="13" name="TextBox 12"/>
          <p:cNvSpPr txBox="1"/>
          <p:nvPr/>
        </p:nvSpPr>
        <p:spPr>
          <a:xfrm>
            <a:off x="594360" y="2697480"/>
            <a:ext cx="1922617" cy="914400"/>
          </a:xfrm>
          <a:prstGeom prst="rect">
            <a:avLst/>
          </a:prstGeom>
          <a:noFill/>
        </p:spPr>
        <p:txBody>
          <a:bodyPr wrap="square" lIns="45720" rIns="45720" tIns="18288" bIns="18288" anchor="t">
            <a:spAutoFit/>
          </a:bodyPr>
          <a:lstStyle/>
          <a:p>
            <a:pPr algn="ctr"/>
            <a:r>
              <a:rPr sz="900" b="0" i="0">
                <a:solidFill>
                  <a:srgbClr val="2C3E50"/>
                </a:solidFill>
                <a:latin typeface="Arial"/>
              </a:rPr>
              <a:t>Stakeholder interviews · prior materials review · portfolio assessment · baseline report</a:t>
            </a:r>
          </a:p>
        </p:txBody>
      </p:sp>
      <p:sp>
        <p:nvSpPr>
          <p:cNvPr id="14" name="TextBox 13"/>
          <p:cNvSpPr txBox="1"/>
          <p:nvPr/>
        </p:nvSpPr>
        <p:spPr>
          <a:xfrm>
            <a:off x="2608417" y="2240280"/>
            <a:ext cx="137160" cy="274320"/>
          </a:xfrm>
          <a:prstGeom prst="rect">
            <a:avLst/>
          </a:prstGeom>
          <a:noFill/>
        </p:spPr>
        <p:txBody>
          <a:bodyPr wrap="square" lIns="45720" rIns="45720" tIns="18288" bIns="18288" anchor="ctr">
            <a:spAutoFit/>
          </a:bodyPr>
          <a:lstStyle/>
          <a:p>
            <a:pPr algn="ctr"/>
            <a:r>
              <a:rPr sz="1800" b="1" i="0">
                <a:solidFill>
                  <a:srgbClr val="95A5A6"/>
                </a:solidFill>
                <a:latin typeface="Arial"/>
              </a:rPr>
              <a:t>→</a:t>
            </a:r>
          </a:p>
        </p:txBody>
      </p:sp>
      <p:sp>
        <p:nvSpPr>
          <p:cNvPr id="15" name="Rounded Rectangle 14"/>
          <p:cNvSpPr/>
          <p:nvPr/>
        </p:nvSpPr>
        <p:spPr>
          <a:xfrm>
            <a:off x="2727289" y="1280160"/>
            <a:ext cx="2196937" cy="2194560"/>
          </a:xfrm>
          <a:prstGeom prst="roundRect">
            <a:avLst>
              <a:gd name="adj" fmla="val 5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27289" y="1280160"/>
            <a:ext cx="2196937"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27289" y="1298448"/>
            <a:ext cx="2196937" cy="320040"/>
          </a:xfrm>
          <a:prstGeom prst="rect">
            <a:avLst/>
          </a:prstGeom>
          <a:noFill/>
        </p:spPr>
        <p:txBody>
          <a:bodyPr wrap="square" lIns="45720" rIns="45720" tIns="18288" bIns="18288" anchor="ctr">
            <a:spAutoFit/>
          </a:bodyPr>
          <a:lstStyle/>
          <a:p>
            <a:pPr algn="ctr"/>
            <a:r>
              <a:rPr sz="1100" b="1" i="0">
                <a:solidFill>
                  <a:srgbClr val="FFFFFF"/>
                </a:solidFill>
                <a:latin typeface="Arial"/>
              </a:rPr>
              <a:t>Step 2</a:t>
            </a:r>
          </a:p>
        </p:txBody>
      </p:sp>
      <p:sp>
        <p:nvSpPr>
          <p:cNvPr id="18" name="TextBox 17"/>
          <p:cNvSpPr txBox="1"/>
          <p:nvPr/>
        </p:nvSpPr>
        <p:spPr>
          <a:xfrm>
            <a:off x="2727289" y="1691640"/>
            <a:ext cx="2196937" cy="274320"/>
          </a:xfrm>
          <a:prstGeom prst="rect">
            <a:avLst/>
          </a:prstGeom>
          <a:noFill/>
        </p:spPr>
        <p:txBody>
          <a:bodyPr wrap="square" lIns="45720" rIns="45720" tIns="18288" bIns="18288" anchor="t">
            <a:spAutoFit/>
          </a:bodyPr>
          <a:lstStyle/>
          <a:p>
            <a:pPr algn="ctr"/>
            <a:r>
              <a:rPr sz="1000" b="0" i="1">
                <a:solidFill>
                  <a:srgbClr val="2C578B"/>
                </a:solidFill>
                <a:latin typeface="Arial"/>
              </a:rPr>
              <a:t>Weeks 3-4</a:t>
            </a:r>
          </a:p>
        </p:txBody>
      </p:sp>
      <p:sp>
        <p:nvSpPr>
          <p:cNvPr id="19" name="TextBox 18"/>
          <p:cNvSpPr txBox="1"/>
          <p:nvPr/>
        </p:nvSpPr>
        <p:spPr>
          <a:xfrm>
            <a:off x="2818729" y="1965960"/>
            <a:ext cx="2014057" cy="365760"/>
          </a:xfrm>
          <a:prstGeom prst="rect">
            <a:avLst/>
          </a:prstGeom>
          <a:noFill/>
        </p:spPr>
        <p:txBody>
          <a:bodyPr wrap="square" lIns="45720" rIns="45720" tIns="18288" bIns="18288" anchor="t">
            <a:spAutoFit/>
          </a:bodyPr>
          <a:lstStyle/>
          <a:p>
            <a:pPr algn="ctr"/>
            <a:r>
              <a:rPr sz="1100" b="1" i="0">
                <a:solidFill>
                  <a:srgbClr val="2C3E50"/>
                </a:solidFill>
                <a:latin typeface="Arial"/>
              </a:rPr>
              <a:t>DEFINE LIFECYCLE</a:t>
            </a:r>
          </a:p>
        </p:txBody>
      </p:sp>
      <p:sp>
        <p:nvSpPr>
          <p:cNvPr id="20" name="TextBox 19"/>
          <p:cNvSpPr txBox="1"/>
          <p:nvPr/>
        </p:nvSpPr>
        <p:spPr>
          <a:xfrm>
            <a:off x="2818729" y="2377440"/>
            <a:ext cx="2014057" cy="320040"/>
          </a:xfrm>
          <a:prstGeom prst="rect">
            <a:avLst/>
          </a:prstGeom>
          <a:noFill/>
        </p:spPr>
        <p:txBody>
          <a:bodyPr wrap="square" lIns="45720" rIns="45720" tIns="18288" bIns="18288" anchor="t">
            <a:spAutoFit/>
          </a:bodyPr>
          <a:lstStyle/>
          <a:p>
            <a:pPr algn="ctr"/>
            <a:r>
              <a:rPr sz="900" b="0" i="1">
                <a:solidFill>
                  <a:srgbClr val="95A5A6"/>
                </a:solidFill>
                <a:latin typeface="Arial"/>
              </a:rPr>
              <a:t>How should we work?</a:t>
            </a:r>
          </a:p>
        </p:txBody>
      </p:sp>
      <p:sp>
        <p:nvSpPr>
          <p:cNvPr id="21" name="TextBox 20"/>
          <p:cNvSpPr txBox="1"/>
          <p:nvPr/>
        </p:nvSpPr>
        <p:spPr>
          <a:xfrm>
            <a:off x="2864449" y="2697480"/>
            <a:ext cx="1922617" cy="914400"/>
          </a:xfrm>
          <a:prstGeom prst="rect">
            <a:avLst/>
          </a:prstGeom>
          <a:noFill/>
        </p:spPr>
        <p:txBody>
          <a:bodyPr wrap="square" lIns="45720" rIns="45720" tIns="18288" bIns="18288" anchor="t">
            <a:spAutoFit/>
          </a:bodyPr>
          <a:lstStyle/>
          <a:p>
            <a:pPr algn="ctr"/>
            <a:r>
              <a:rPr sz="900" b="0" i="0">
                <a:solidFill>
                  <a:srgbClr val="2C3E50"/>
                </a:solidFill>
                <a:latin typeface="Arial"/>
              </a:rPr>
              <a:t>End-to-end process map · Value Framework v1.0 · Roles &amp; RACI Matrix · Demand Typology</a:t>
            </a:r>
          </a:p>
        </p:txBody>
      </p:sp>
      <p:sp>
        <p:nvSpPr>
          <p:cNvPr id="22" name="TextBox 21"/>
          <p:cNvSpPr txBox="1"/>
          <p:nvPr/>
        </p:nvSpPr>
        <p:spPr>
          <a:xfrm>
            <a:off x="4878506" y="2240280"/>
            <a:ext cx="137160" cy="274320"/>
          </a:xfrm>
          <a:prstGeom prst="rect">
            <a:avLst/>
          </a:prstGeom>
          <a:noFill/>
        </p:spPr>
        <p:txBody>
          <a:bodyPr wrap="square" lIns="45720" rIns="45720" tIns="18288" bIns="18288" anchor="ctr">
            <a:spAutoFit/>
          </a:bodyPr>
          <a:lstStyle/>
          <a:p>
            <a:pPr algn="ctr"/>
            <a:r>
              <a:rPr sz="1800" b="1" i="0">
                <a:solidFill>
                  <a:srgbClr val="95A5A6"/>
                </a:solidFill>
                <a:latin typeface="Arial"/>
              </a:rPr>
              <a:t>→</a:t>
            </a:r>
          </a:p>
        </p:txBody>
      </p:sp>
      <p:sp>
        <p:nvSpPr>
          <p:cNvPr id="23" name="Rounded Rectangle 22"/>
          <p:cNvSpPr/>
          <p:nvPr/>
        </p:nvSpPr>
        <p:spPr>
          <a:xfrm>
            <a:off x="4997378" y="1280160"/>
            <a:ext cx="2196937" cy="2194560"/>
          </a:xfrm>
          <a:prstGeom prst="roundRect">
            <a:avLst>
              <a:gd name="adj" fmla="val 5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997378" y="1280160"/>
            <a:ext cx="2196937" cy="3657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97378" y="1298448"/>
            <a:ext cx="2196937" cy="320040"/>
          </a:xfrm>
          <a:prstGeom prst="rect">
            <a:avLst/>
          </a:prstGeom>
          <a:noFill/>
        </p:spPr>
        <p:txBody>
          <a:bodyPr wrap="square" lIns="45720" rIns="45720" tIns="18288" bIns="18288" anchor="ctr">
            <a:spAutoFit/>
          </a:bodyPr>
          <a:lstStyle/>
          <a:p>
            <a:pPr algn="ctr"/>
            <a:r>
              <a:rPr sz="1100" b="1" i="0">
                <a:solidFill>
                  <a:srgbClr val="FFFFFF"/>
                </a:solidFill>
                <a:latin typeface="Arial"/>
              </a:rPr>
              <a:t>Step 3</a:t>
            </a:r>
          </a:p>
        </p:txBody>
      </p:sp>
      <p:sp>
        <p:nvSpPr>
          <p:cNvPr id="26" name="TextBox 25"/>
          <p:cNvSpPr txBox="1"/>
          <p:nvPr/>
        </p:nvSpPr>
        <p:spPr>
          <a:xfrm>
            <a:off x="4997378" y="1691640"/>
            <a:ext cx="2196937" cy="274320"/>
          </a:xfrm>
          <a:prstGeom prst="rect">
            <a:avLst/>
          </a:prstGeom>
          <a:noFill/>
        </p:spPr>
        <p:txBody>
          <a:bodyPr wrap="square" lIns="45720" rIns="45720" tIns="18288" bIns="18288" anchor="t">
            <a:spAutoFit/>
          </a:bodyPr>
          <a:lstStyle/>
          <a:p>
            <a:pPr algn="ctr"/>
            <a:r>
              <a:rPr sz="1000" b="0" i="1">
                <a:solidFill>
                  <a:srgbClr val="2E7D32"/>
                </a:solidFill>
                <a:latin typeface="Arial"/>
              </a:rPr>
              <a:t>Weeks 5-6</a:t>
            </a:r>
          </a:p>
        </p:txBody>
      </p:sp>
      <p:sp>
        <p:nvSpPr>
          <p:cNvPr id="27" name="TextBox 26"/>
          <p:cNvSpPr txBox="1"/>
          <p:nvPr/>
        </p:nvSpPr>
        <p:spPr>
          <a:xfrm>
            <a:off x="5088818" y="1965960"/>
            <a:ext cx="2014057" cy="365760"/>
          </a:xfrm>
          <a:prstGeom prst="rect">
            <a:avLst/>
          </a:prstGeom>
          <a:noFill/>
        </p:spPr>
        <p:txBody>
          <a:bodyPr wrap="square" lIns="45720" rIns="45720" tIns="18288" bIns="18288" anchor="t">
            <a:spAutoFit/>
          </a:bodyPr>
          <a:lstStyle/>
          <a:p>
            <a:pPr algn="ctr"/>
            <a:r>
              <a:rPr sz="1100" b="1" i="0">
                <a:solidFill>
                  <a:srgbClr val="2C3E50"/>
                </a:solidFill>
                <a:latin typeface="Arial"/>
              </a:rPr>
              <a:t>DESIGN TOOL ECOSYSTEM</a:t>
            </a:r>
          </a:p>
        </p:txBody>
      </p:sp>
      <p:sp>
        <p:nvSpPr>
          <p:cNvPr id="28" name="TextBox 27"/>
          <p:cNvSpPr txBox="1"/>
          <p:nvPr/>
        </p:nvSpPr>
        <p:spPr>
          <a:xfrm>
            <a:off x="5088818" y="2377440"/>
            <a:ext cx="2014057" cy="320040"/>
          </a:xfrm>
          <a:prstGeom prst="rect">
            <a:avLst/>
          </a:prstGeom>
          <a:noFill/>
        </p:spPr>
        <p:txBody>
          <a:bodyPr wrap="square" lIns="45720" rIns="45720" tIns="18288" bIns="18288" anchor="t">
            <a:spAutoFit/>
          </a:bodyPr>
          <a:lstStyle/>
          <a:p>
            <a:pPr algn="ctr"/>
            <a:r>
              <a:rPr sz="900" b="0" i="1">
                <a:solidFill>
                  <a:srgbClr val="95A5A6"/>
                </a:solidFill>
                <a:latin typeface="Arial"/>
              </a:rPr>
              <a:t>What supports the process?</a:t>
            </a:r>
          </a:p>
        </p:txBody>
      </p:sp>
      <p:sp>
        <p:nvSpPr>
          <p:cNvPr id="29" name="TextBox 28"/>
          <p:cNvSpPr txBox="1"/>
          <p:nvPr/>
        </p:nvSpPr>
        <p:spPr>
          <a:xfrm>
            <a:off x="5134538" y="2697480"/>
            <a:ext cx="1922617" cy="914400"/>
          </a:xfrm>
          <a:prstGeom prst="rect">
            <a:avLst/>
          </a:prstGeom>
          <a:noFill/>
        </p:spPr>
        <p:txBody>
          <a:bodyPr wrap="square" lIns="45720" rIns="45720" tIns="18288" bIns="18288" anchor="t">
            <a:spAutoFit/>
          </a:bodyPr>
          <a:lstStyle/>
          <a:p>
            <a:pPr algn="ctr"/>
            <a:r>
              <a:rPr sz="900" b="0" i="0">
                <a:solidFill>
                  <a:srgbClr val="2C3E50"/>
                </a:solidFill>
                <a:latin typeface="Arial"/>
              </a:rPr>
              <a:t>Jira Configuration v1.0 · Intake Form Design · Portfolio Concept Blueprint</a:t>
            </a:r>
          </a:p>
        </p:txBody>
      </p:sp>
      <p:sp>
        <p:nvSpPr>
          <p:cNvPr id="30" name="TextBox 29"/>
          <p:cNvSpPr txBox="1"/>
          <p:nvPr/>
        </p:nvSpPr>
        <p:spPr>
          <a:xfrm>
            <a:off x="7148596" y="2240280"/>
            <a:ext cx="137160" cy="274320"/>
          </a:xfrm>
          <a:prstGeom prst="rect">
            <a:avLst/>
          </a:prstGeom>
          <a:noFill/>
        </p:spPr>
        <p:txBody>
          <a:bodyPr wrap="square" lIns="45720" rIns="45720" tIns="18288" bIns="18288" anchor="ctr">
            <a:spAutoFit/>
          </a:bodyPr>
          <a:lstStyle/>
          <a:p>
            <a:pPr algn="ctr"/>
            <a:r>
              <a:rPr sz="1800" b="1" i="0">
                <a:solidFill>
                  <a:srgbClr val="95A5A6"/>
                </a:solidFill>
                <a:latin typeface="Arial"/>
              </a:rPr>
              <a:t>→</a:t>
            </a:r>
          </a:p>
        </p:txBody>
      </p:sp>
      <p:sp>
        <p:nvSpPr>
          <p:cNvPr id="31" name="Rounded Rectangle 30"/>
          <p:cNvSpPr/>
          <p:nvPr/>
        </p:nvSpPr>
        <p:spPr>
          <a:xfrm>
            <a:off x="7267468" y="1280160"/>
            <a:ext cx="2196937" cy="2194560"/>
          </a:xfrm>
          <a:prstGeom prst="roundRect">
            <a:avLst>
              <a:gd name="adj" fmla="val 5000"/>
            </a:avLst>
          </a:prstGeom>
          <a:solidFill>
            <a:srgbClr val="FFFFFF"/>
          </a:solidFill>
          <a:ln w="254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67468" y="1280160"/>
            <a:ext cx="2196937" cy="36576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67468" y="1298448"/>
            <a:ext cx="2196937" cy="320040"/>
          </a:xfrm>
          <a:prstGeom prst="rect">
            <a:avLst/>
          </a:prstGeom>
          <a:noFill/>
        </p:spPr>
        <p:txBody>
          <a:bodyPr wrap="square" lIns="45720" rIns="45720" tIns="18288" bIns="18288" anchor="ctr">
            <a:spAutoFit/>
          </a:bodyPr>
          <a:lstStyle/>
          <a:p>
            <a:pPr algn="ctr"/>
            <a:r>
              <a:rPr sz="1100" b="1" i="0">
                <a:solidFill>
                  <a:srgbClr val="FFFFFF"/>
                </a:solidFill>
                <a:latin typeface="Arial"/>
              </a:rPr>
              <a:t>Step 4</a:t>
            </a:r>
          </a:p>
        </p:txBody>
      </p:sp>
      <p:sp>
        <p:nvSpPr>
          <p:cNvPr id="34" name="TextBox 33"/>
          <p:cNvSpPr txBox="1"/>
          <p:nvPr/>
        </p:nvSpPr>
        <p:spPr>
          <a:xfrm>
            <a:off x="7267468" y="1691640"/>
            <a:ext cx="2196937" cy="274320"/>
          </a:xfrm>
          <a:prstGeom prst="rect">
            <a:avLst/>
          </a:prstGeom>
          <a:noFill/>
        </p:spPr>
        <p:txBody>
          <a:bodyPr wrap="square" lIns="45720" rIns="45720" tIns="18288" bIns="18288" anchor="t">
            <a:spAutoFit/>
          </a:bodyPr>
          <a:lstStyle/>
          <a:p>
            <a:pPr algn="ctr"/>
            <a:r>
              <a:rPr sz="1000" b="0" i="1">
                <a:solidFill>
                  <a:srgbClr val="E88B2F"/>
                </a:solidFill>
                <a:latin typeface="Arial"/>
              </a:rPr>
              <a:t>Weeks 7-13</a:t>
            </a:r>
          </a:p>
        </p:txBody>
      </p:sp>
      <p:sp>
        <p:nvSpPr>
          <p:cNvPr id="35" name="TextBox 34"/>
          <p:cNvSpPr txBox="1"/>
          <p:nvPr/>
        </p:nvSpPr>
        <p:spPr>
          <a:xfrm>
            <a:off x="7358908" y="1965960"/>
            <a:ext cx="2014057" cy="365760"/>
          </a:xfrm>
          <a:prstGeom prst="rect">
            <a:avLst/>
          </a:prstGeom>
          <a:noFill/>
        </p:spPr>
        <p:txBody>
          <a:bodyPr wrap="square" lIns="45720" rIns="45720" tIns="18288" bIns="18288" anchor="t">
            <a:spAutoFit/>
          </a:bodyPr>
          <a:lstStyle/>
          <a:p>
            <a:pPr algn="ctr"/>
            <a:r>
              <a:rPr sz="1100" b="1" i="0">
                <a:solidFill>
                  <a:srgbClr val="2C3E50"/>
                </a:solidFill>
                <a:latin typeface="Arial"/>
              </a:rPr>
              <a:t>PILOT EXECUTION</a:t>
            </a:r>
          </a:p>
        </p:txBody>
      </p:sp>
      <p:sp>
        <p:nvSpPr>
          <p:cNvPr id="36" name="TextBox 35"/>
          <p:cNvSpPr txBox="1"/>
          <p:nvPr/>
        </p:nvSpPr>
        <p:spPr>
          <a:xfrm>
            <a:off x="7358908" y="2377440"/>
            <a:ext cx="2014057" cy="320040"/>
          </a:xfrm>
          <a:prstGeom prst="rect">
            <a:avLst/>
          </a:prstGeom>
          <a:noFill/>
        </p:spPr>
        <p:txBody>
          <a:bodyPr wrap="square" lIns="45720" rIns="45720" tIns="18288" bIns="18288" anchor="t">
            <a:spAutoFit/>
          </a:bodyPr>
          <a:lstStyle/>
          <a:p>
            <a:pPr algn="ctr"/>
            <a:r>
              <a:rPr sz="900" b="0" i="1">
                <a:solidFill>
                  <a:srgbClr val="95A5A6"/>
                </a:solidFill>
                <a:latin typeface="Arial"/>
              </a:rPr>
              <a:t>Does it work in reality?</a:t>
            </a:r>
          </a:p>
        </p:txBody>
      </p:sp>
      <p:sp>
        <p:nvSpPr>
          <p:cNvPr id="37" name="TextBox 36"/>
          <p:cNvSpPr txBox="1"/>
          <p:nvPr/>
        </p:nvSpPr>
        <p:spPr>
          <a:xfrm>
            <a:off x="7404628" y="2697480"/>
            <a:ext cx="1922617" cy="914400"/>
          </a:xfrm>
          <a:prstGeom prst="rect">
            <a:avLst/>
          </a:prstGeom>
          <a:noFill/>
        </p:spPr>
        <p:txBody>
          <a:bodyPr wrap="square" lIns="45720" rIns="45720" tIns="18288" bIns="18288" anchor="t">
            <a:spAutoFit/>
          </a:bodyPr>
          <a:lstStyle/>
          <a:p>
            <a:pPr algn="ctr"/>
            <a:r>
              <a:rPr sz="900" b="0" i="0">
                <a:solidFill>
                  <a:srgbClr val="2C3E50"/>
                </a:solidFill>
                <a:latin typeface="Arial"/>
              </a:rPr>
              <a:t>Execute one Value Stream end-to-end · pilot team training · real-time feedback log</a:t>
            </a:r>
          </a:p>
        </p:txBody>
      </p:sp>
      <p:sp>
        <p:nvSpPr>
          <p:cNvPr id="38" name="TextBox 37"/>
          <p:cNvSpPr txBox="1"/>
          <p:nvPr/>
        </p:nvSpPr>
        <p:spPr>
          <a:xfrm>
            <a:off x="9418685" y="2240280"/>
            <a:ext cx="137160" cy="274320"/>
          </a:xfrm>
          <a:prstGeom prst="rect">
            <a:avLst/>
          </a:prstGeom>
          <a:noFill/>
        </p:spPr>
        <p:txBody>
          <a:bodyPr wrap="square" lIns="45720" rIns="45720" tIns="18288" bIns="18288" anchor="ctr">
            <a:spAutoFit/>
          </a:bodyPr>
          <a:lstStyle/>
          <a:p>
            <a:pPr algn="ctr"/>
            <a:r>
              <a:rPr sz="1800" b="1" i="0">
                <a:solidFill>
                  <a:srgbClr val="95A5A6"/>
                </a:solidFill>
                <a:latin typeface="Arial"/>
              </a:rPr>
              <a:t>→</a:t>
            </a:r>
          </a:p>
        </p:txBody>
      </p:sp>
      <p:sp>
        <p:nvSpPr>
          <p:cNvPr id="39" name="Rounded Rectangle 38"/>
          <p:cNvSpPr/>
          <p:nvPr/>
        </p:nvSpPr>
        <p:spPr>
          <a:xfrm>
            <a:off x="9537557" y="1280160"/>
            <a:ext cx="2196937" cy="2194560"/>
          </a:xfrm>
          <a:prstGeom prst="roundRect">
            <a:avLst>
              <a:gd name="adj" fmla="val 5000"/>
            </a:avLst>
          </a:prstGeom>
          <a:solidFill>
            <a:srgbClr val="FFFFFF"/>
          </a:solidFill>
          <a:ln w="2540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537557" y="1280160"/>
            <a:ext cx="2196937" cy="36576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537557" y="1298448"/>
            <a:ext cx="2196937" cy="320040"/>
          </a:xfrm>
          <a:prstGeom prst="rect">
            <a:avLst/>
          </a:prstGeom>
          <a:noFill/>
        </p:spPr>
        <p:txBody>
          <a:bodyPr wrap="square" lIns="45720" rIns="45720" tIns="18288" bIns="18288" anchor="ctr">
            <a:spAutoFit/>
          </a:bodyPr>
          <a:lstStyle/>
          <a:p>
            <a:pPr algn="ctr"/>
            <a:r>
              <a:rPr sz="1100" b="1" i="0">
                <a:solidFill>
                  <a:srgbClr val="FFFFFF"/>
                </a:solidFill>
                <a:latin typeface="Arial"/>
              </a:rPr>
              <a:t>Step 5</a:t>
            </a:r>
          </a:p>
        </p:txBody>
      </p:sp>
      <p:sp>
        <p:nvSpPr>
          <p:cNvPr id="42" name="TextBox 41"/>
          <p:cNvSpPr txBox="1"/>
          <p:nvPr/>
        </p:nvSpPr>
        <p:spPr>
          <a:xfrm>
            <a:off x="9537557" y="1691640"/>
            <a:ext cx="2196937" cy="274320"/>
          </a:xfrm>
          <a:prstGeom prst="rect">
            <a:avLst/>
          </a:prstGeom>
          <a:noFill/>
        </p:spPr>
        <p:txBody>
          <a:bodyPr wrap="square" lIns="45720" rIns="45720" tIns="18288" bIns="18288" anchor="t">
            <a:spAutoFit/>
          </a:bodyPr>
          <a:lstStyle/>
          <a:p>
            <a:pPr algn="ctr"/>
            <a:r>
              <a:rPr sz="1000" b="0" i="1">
                <a:solidFill>
                  <a:srgbClr val="B63B1F"/>
                </a:solidFill>
                <a:latin typeface="Arial"/>
              </a:rPr>
              <a:t>Week 14</a:t>
            </a:r>
          </a:p>
        </p:txBody>
      </p:sp>
      <p:sp>
        <p:nvSpPr>
          <p:cNvPr id="43" name="TextBox 42"/>
          <p:cNvSpPr txBox="1"/>
          <p:nvPr/>
        </p:nvSpPr>
        <p:spPr>
          <a:xfrm>
            <a:off x="9628997" y="1965960"/>
            <a:ext cx="2014057" cy="365760"/>
          </a:xfrm>
          <a:prstGeom prst="rect">
            <a:avLst/>
          </a:prstGeom>
          <a:noFill/>
        </p:spPr>
        <p:txBody>
          <a:bodyPr wrap="square" lIns="45720" rIns="45720" tIns="18288" bIns="18288" anchor="t">
            <a:spAutoFit/>
          </a:bodyPr>
          <a:lstStyle/>
          <a:p>
            <a:pPr algn="ctr"/>
            <a:r>
              <a:rPr sz="1100" b="1" i="0">
                <a:solidFill>
                  <a:srgbClr val="2C3E50"/>
                </a:solidFill>
                <a:latin typeface="Arial"/>
              </a:rPr>
              <a:t>LEARN &amp; ADJUST</a:t>
            </a:r>
          </a:p>
        </p:txBody>
      </p:sp>
      <p:sp>
        <p:nvSpPr>
          <p:cNvPr id="44" name="TextBox 43"/>
          <p:cNvSpPr txBox="1"/>
          <p:nvPr/>
        </p:nvSpPr>
        <p:spPr>
          <a:xfrm>
            <a:off x="9628997" y="2377440"/>
            <a:ext cx="2014057" cy="320040"/>
          </a:xfrm>
          <a:prstGeom prst="rect">
            <a:avLst/>
          </a:prstGeom>
          <a:noFill/>
        </p:spPr>
        <p:txBody>
          <a:bodyPr wrap="square" lIns="45720" rIns="45720" tIns="18288" bIns="18288" anchor="t">
            <a:spAutoFit/>
          </a:bodyPr>
          <a:lstStyle/>
          <a:p>
            <a:pPr algn="ctr"/>
            <a:r>
              <a:rPr sz="900" b="0" i="1">
                <a:solidFill>
                  <a:srgbClr val="95A5A6"/>
                </a:solidFill>
                <a:latin typeface="Arial"/>
              </a:rPr>
              <a:t>What needs refinement?</a:t>
            </a:r>
          </a:p>
        </p:txBody>
      </p:sp>
      <p:sp>
        <p:nvSpPr>
          <p:cNvPr id="45" name="TextBox 44"/>
          <p:cNvSpPr txBox="1"/>
          <p:nvPr/>
        </p:nvSpPr>
        <p:spPr>
          <a:xfrm>
            <a:off x="9674717" y="2697480"/>
            <a:ext cx="1922617" cy="914400"/>
          </a:xfrm>
          <a:prstGeom prst="rect">
            <a:avLst/>
          </a:prstGeom>
          <a:noFill/>
        </p:spPr>
        <p:txBody>
          <a:bodyPr wrap="square" lIns="45720" rIns="45720" tIns="18288" bIns="18288" anchor="t">
            <a:spAutoFit/>
          </a:bodyPr>
          <a:lstStyle/>
          <a:p>
            <a:pPr algn="ctr"/>
            <a:r>
              <a:rPr sz="900" b="0" i="0">
                <a:solidFill>
                  <a:srgbClr val="2C3E50"/>
                </a:solidFill>
                <a:latin typeface="Arial"/>
              </a:rPr>
              <a:t>Analyze pilot data · refine Jira config v2.0 · adjust Value Scoring · finalize Playbook</a:t>
            </a:r>
          </a:p>
        </p:txBody>
      </p:sp>
      <p:sp>
        <p:nvSpPr>
          <p:cNvPr id="46" name="TextBox 45"/>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TO-BE DEMAND FLOW</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ONE JIRA FRONT DOOR ROUTES ELEVEN SOURCE AREAS INTO EIGHT VALUE STREAM TEAMS</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TextBox 5"/>
          <p:cNvSpPr txBox="1"/>
          <p:nvPr/>
        </p:nvSpPr>
        <p:spPr>
          <a:xfrm>
            <a:off x="457200" y="914400"/>
            <a:ext cx="11277295" cy="365760"/>
          </a:xfrm>
          <a:prstGeom prst="rect">
            <a:avLst/>
          </a:prstGeom>
          <a:noFill/>
        </p:spPr>
        <p:txBody>
          <a:bodyPr wrap="square" lIns="45720" rIns="45720" tIns="18288" bIns="18288" anchor="t">
            <a:spAutoFit/>
          </a:bodyPr>
          <a:lstStyle/>
          <a:p>
            <a:pPr algn="l"/>
            <a:r>
              <a:rPr sz="1100" b="1" i="1">
                <a:solidFill>
                  <a:srgbClr val="2C578B"/>
                </a:solidFill>
                <a:latin typeface="Arial"/>
              </a:rPr>
              <a:t>Single intake form per Value Stream — every requester opens a Jira card with mandatory fields. The form auto-routes to the right Value Stream Team and applies a Class of Service.</a:t>
            </a:r>
          </a:p>
        </p:txBody>
      </p:sp>
      <p:sp>
        <p:nvSpPr>
          <p:cNvPr id="7" name="Rectangle 6"/>
          <p:cNvSpPr/>
          <p:nvPr/>
        </p:nvSpPr>
        <p:spPr>
          <a:xfrm>
            <a:off x="457200" y="1417320"/>
            <a:ext cx="2737027" cy="502920"/>
          </a:xfrm>
          <a:prstGeom prst="rect">
            <a:avLst/>
          </a:prstGeom>
          <a:solidFill>
            <a:srgbClr val="091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63040"/>
            <a:ext cx="2737027" cy="256032"/>
          </a:xfrm>
          <a:prstGeom prst="rect">
            <a:avLst/>
          </a:prstGeom>
          <a:noFill/>
        </p:spPr>
        <p:txBody>
          <a:bodyPr wrap="square" lIns="45720" rIns="45720" tIns="18288" bIns="18288" anchor="ctr">
            <a:spAutoFit/>
          </a:bodyPr>
          <a:lstStyle/>
          <a:p>
            <a:pPr algn="ctr"/>
            <a:r>
              <a:rPr sz="1100" b="1" i="0">
                <a:solidFill>
                  <a:srgbClr val="FFFFFF"/>
                </a:solidFill>
                <a:latin typeface="Arial"/>
              </a:rPr>
              <a:t>01 · SOURCES</a:t>
            </a:r>
          </a:p>
        </p:txBody>
      </p:sp>
      <p:sp>
        <p:nvSpPr>
          <p:cNvPr id="9" name="TextBox 8"/>
          <p:cNvSpPr txBox="1"/>
          <p:nvPr/>
        </p:nvSpPr>
        <p:spPr>
          <a:xfrm>
            <a:off x="457200" y="1709928"/>
            <a:ext cx="2737027" cy="201168"/>
          </a:xfrm>
          <a:prstGeom prst="rect">
            <a:avLst/>
          </a:prstGeom>
          <a:noFill/>
        </p:spPr>
        <p:txBody>
          <a:bodyPr wrap="square" lIns="45720" rIns="45720" tIns="18288" bIns="18288" anchor="ctr">
            <a:spAutoFit/>
          </a:bodyPr>
          <a:lstStyle/>
          <a:p>
            <a:pPr algn="ctr"/>
            <a:r>
              <a:rPr sz="850" b="0" i="1">
                <a:solidFill>
                  <a:srgbClr val="F9A825"/>
                </a:solidFill>
                <a:latin typeface="Arial"/>
              </a:rPr>
              <a:t>Who sends demand (11 areas)</a:t>
            </a:r>
          </a:p>
        </p:txBody>
      </p:sp>
      <p:sp>
        <p:nvSpPr>
          <p:cNvPr id="10" name="Rectangle 9"/>
          <p:cNvSpPr/>
          <p:nvPr/>
        </p:nvSpPr>
        <p:spPr>
          <a:xfrm>
            <a:off x="3303955" y="1417320"/>
            <a:ext cx="2737027" cy="502920"/>
          </a:xfrm>
          <a:prstGeom prst="rect">
            <a:avLst/>
          </a:prstGeom>
          <a:solidFill>
            <a:srgbClr val="091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03955" y="1463040"/>
            <a:ext cx="2737027" cy="256032"/>
          </a:xfrm>
          <a:prstGeom prst="rect">
            <a:avLst/>
          </a:prstGeom>
          <a:noFill/>
        </p:spPr>
        <p:txBody>
          <a:bodyPr wrap="square" lIns="45720" rIns="45720" tIns="18288" bIns="18288" anchor="ctr">
            <a:spAutoFit/>
          </a:bodyPr>
          <a:lstStyle/>
          <a:p>
            <a:pPr algn="ctr"/>
            <a:r>
              <a:rPr sz="1100" b="1" i="0">
                <a:solidFill>
                  <a:srgbClr val="FFFFFF"/>
                </a:solidFill>
                <a:latin typeface="Arial"/>
              </a:rPr>
              <a:t>02 · INTAKE FORM (JIRA)</a:t>
            </a:r>
          </a:p>
        </p:txBody>
      </p:sp>
      <p:sp>
        <p:nvSpPr>
          <p:cNvPr id="12" name="TextBox 11"/>
          <p:cNvSpPr txBox="1"/>
          <p:nvPr/>
        </p:nvSpPr>
        <p:spPr>
          <a:xfrm>
            <a:off x="3303955" y="1709928"/>
            <a:ext cx="2737027" cy="201168"/>
          </a:xfrm>
          <a:prstGeom prst="rect">
            <a:avLst/>
          </a:prstGeom>
          <a:noFill/>
        </p:spPr>
        <p:txBody>
          <a:bodyPr wrap="square" lIns="45720" rIns="45720" tIns="18288" bIns="18288" anchor="ctr">
            <a:spAutoFit/>
          </a:bodyPr>
          <a:lstStyle/>
          <a:p>
            <a:pPr algn="ctr"/>
            <a:r>
              <a:rPr sz="850" b="0" i="1">
                <a:solidFill>
                  <a:srgbClr val="F9A825"/>
                </a:solidFill>
                <a:latin typeface="Arial"/>
              </a:rPr>
              <a:t>Mandatory fields capture intent</a:t>
            </a:r>
          </a:p>
        </p:txBody>
      </p:sp>
      <p:sp>
        <p:nvSpPr>
          <p:cNvPr id="13" name="Rectangle 12"/>
          <p:cNvSpPr/>
          <p:nvPr/>
        </p:nvSpPr>
        <p:spPr>
          <a:xfrm>
            <a:off x="6150711" y="1417320"/>
            <a:ext cx="2737027" cy="502920"/>
          </a:xfrm>
          <a:prstGeom prst="rect">
            <a:avLst/>
          </a:prstGeom>
          <a:solidFill>
            <a:srgbClr val="091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50711" y="1463040"/>
            <a:ext cx="2737027" cy="256032"/>
          </a:xfrm>
          <a:prstGeom prst="rect">
            <a:avLst/>
          </a:prstGeom>
          <a:noFill/>
        </p:spPr>
        <p:txBody>
          <a:bodyPr wrap="square" lIns="45720" rIns="45720" tIns="18288" bIns="18288" anchor="ctr">
            <a:spAutoFit/>
          </a:bodyPr>
          <a:lstStyle/>
          <a:p>
            <a:pPr algn="ctr"/>
            <a:r>
              <a:rPr sz="1100" b="1" i="0">
                <a:solidFill>
                  <a:srgbClr val="FFFFFF"/>
                </a:solidFill>
                <a:latin typeface="Arial"/>
              </a:rPr>
              <a:t>03 · VALUE STREAM TEAM</a:t>
            </a:r>
          </a:p>
        </p:txBody>
      </p:sp>
      <p:sp>
        <p:nvSpPr>
          <p:cNvPr id="15" name="TextBox 14"/>
          <p:cNvSpPr txBox="1"/>
          <p:nvPr/>
        </p:nvSpPr>
        <p:spPr>
          <a:xfrm>
            <a:off x="6150711" y="1709928"/>
            <a:ext cx="2737027" cy="201168"/>
          </a:xfrm>
          <a:prstGeom prst="rect">
            <a:avLst/>
          </a:prstGeom>
          <a:noFill/>
        </p:spPr>
        <p:txBody>
          <a:bodyPr wrap="square" lIns="45720" rIns="45720" tIns="18288" bIns="18288" anchor="ctr">
            <a:spAutoFit/>
          </a:bodyPr>
          <a:lstStyle/>
          <a:p>
            <a:pPr algn="ctr"/>
            <a:r>
              <a:rPr sz="850" b="0" i="1">
                <a:solidFill>
                  <a:srgbClr val="F9A825"/>
                </a:solidFill>
                <a:latin typeface="Arial"/>
              </a:rPr>
              <a:t>Auto-routed to one of eight</a:t>
            </a:r>
          </a:p>
        </p:txBody>
      </p:sp>
      <p:sp>
        <p:nvSpPr>
          <p:cNvPr id="16" name="Rectangle 15"/>
          <p:cNvSpPr/>
          <p:nvPr/>
        </p:nvSpPr>
        <p:spPr>
          <a:xfrm>
            <a:off x="8997467" y="1417320"/>
            <a:ext cx="2737027" cy="502920"/>
          </a:xfrm>
          <a:prstGeom prst="rect">
            <a:avLst/>
          </a:prstGeom>
          <a:solidFill>
            <a:srgbClr val="091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97467" y="1463040"/>
            <a:ext cx="2737027" cy="256032"/>
          </a:xfrm>
          <a:prstGeom prst="rect">
            <a:avLst/>
          </a:prstGeom>
          <a:noFill/>
        </p:spPr>
        <p:txBody>
          <a:bodyPr wrap="square" lIns="45720" rIns="45720" tIns="18288" bIns="18288" anchor="ctr">
            <a:spAutoFit/>
          </a:bodyPr>
          <a:lstStyle/>
          <a:p>
            <a:pPr algn="ctr"/>
            <a:r>
              <a:rPr sz="1100" b="1" i="0">
                <a:solidFill>
                  <a:srgbClr val="FFFFFF"/>
                </a:solidFill>
                <a:latin typeface="Arial"/>
              </a:rPr>
              <a:t>04 · CLASS OF SERVICE</a:t>
            </a:r>
          </a:p>
        </p:txBody>
      </p:sp>
      <p:sp>
        <p:nvSpPr>
          <p:cNvPr id="18" name="TextBox 17"/>
          <p:cNvSpPr txBox="1"/>
          <p:nvPr/>
        </p:nvSpPr>
        <p:spPr>
          <a:xfrm>
            <a:off x="8997467" y="1709928"/>
            <a:ext cx="2737027" cy="201168"/>
          </a:xfrm>
          <a:prstGeom prst="rect">
            <a:avLst/>
          </a:prstGeom>
          <a:noFill/>
        </p:spPr>
        <p:txBody>
          <a:bodyPr wrap="square" lIns="45720" rIns="45720" tIns="18288" bIns="18288" anchor="ctr">
            <a:spAutoFit/>
          </a:bodyPr>
          <a:lstStyle/>
          <a:p>
            <a:pPr algn="ctr"/>
            <a:r>
              <a:rPr sz="850" b="0" i="1">
                <a:solidFill>
                  <a:srgbClr val="F9A825"/>
                </a:solidFill>
                <a:latin typeface="Arial"/>
              </a:rPr>
              <a:t>Sets cadence and capacity rule</a:t>
            </a:r>
          </a:p>
        </p:txBody>
      </p:sp>
      <p:sp>
        <p:nvSpPr>
          <p:cNvPr id="19" name="Rounded Rectangle 18"/>
          <p:cNvSpPr/>
          <p:nvPr/>
        </p:nvSpPr>
        <p:spPr>
          <a:xfrm>
            <a:off x="457200" y="2011680"/>
            <a:ext cx="2737027" cy="353290"/>
          </a:xfrm>
          <a:prstGeom prst="roundRect">
            <a:avLst>
              <a:gd name="adj" fmla="val 2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011680"/>
            <a:ext cx="2737027" cy="353290"/>
          </a:xfrm>
          <a:prstGeom prst="rect">
            <a:avLst/>
          </a:prstGeom>
          <a:noFill/>
        </p:spPr>
        <p:txBody>
          <a:bodyPr wrap="square" lIns="45720" rIns="45720" tIns="18288" bIns="18288" anchor="ctr">
            <a:spAutoFit/>
          </a:bodyPr>
          <a:lstStyle/>
          <a:p>
            <a:pPr algn="ctr"/>
            <a:r>
              <a:rPr sz="950" b="1" i="0">
                <a:solidFill>
                  <a:srgbClr val="FFFFFF"/>
                </a:solidFill>
                <a:latin typeface="Arial"/>
              </a:rPr>
              <a:t>BRS (UIL · CMP · NY)</a:t>
            </a:r>
          </a:p>
        </p:txBody>
      </p:sp>
      <p:sp>
        <p:nvSpPr>
          <p:cNvPr id="21" name="Rounded Rectangle 20"/>
          <p:cNvSpPr/>
          <p:nvPr/>
        </p:nvSpPr>
        <p:spPr>
          <a:xfrm>
            <a:off x="457200" y="2410690"/>
            <a:ext cx="2737027" cy="353290"/>
          </a:xfrm>
          <a:prstGeom prst="roundRect">
            <a:avLst>
              <a:gd name="adj" fmla="val 2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2410690"/>
            <a:ext cx="2737027" cy="353290"/>
          </a:xfrm>
          <a:prstGeom prst="rect">
            <a:avLst/>
          </a:prstGeom>
          <a:noFill/>
        </p:spPr>
        <p:txBody>
          <a:bodyPr wrap="square" lIns="45720" rIns="45720" tIns="18288" bIns="18288" anchor="ctr">
            <a:spAutoFit/>
          </a:bodyPr>
          <a:lstStyle/>
          <a:p>
            <a:pPr algn="ctr"/>
            <a:r>
              <a:rPr sz="950" b="1" i="0">
                <a:solidFill>
                  <a:srgbClr val="FFFFFF"/>
                </a:solidFill>
                <a:latin typeface="Arial"/>
              </a:rPr>
              <a:t>CX &amp; Digital CoE</a:t>
            </a:r>
          </a:p>
        </p:txBody>
      </p:sp>
      <p:sp>
        <p:nvSpPr>
          <p:cNvPr id="23" name="Rounded Rectangle 22"/>
          <p:cNvSpPr/>
          <p:nvPr/>
        </p:nvSpPr>
        <p:spPr>
          <a:xfrm>
            <a:off x="457200" y="2809701"/>
            <a:ext cx="2737027" cy="353290"/>
          </a:xfrm>
          <a:prstGeom prst="roundRect">
            <a:avLst>
              <a:gd name="adj" fmla="val 2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2809701"/>
            <a:ext cx="2737027" cy="353290"/>
          </a:xfrm>
          <a:prstGeom prst="rect">
            <a:avLst/>
          </a:prstGeom>
          <a:noFill/>
        </p:spPr>
        <p:txBody>
          <a:bodyPr wrap="square" lIns="45720" rIns="45720" tIns="18288" bIns="18288" anchor="ctr">
            <a:spAutoFit/>
          </a:bodyPr>
          <a:lstStyle/>
          <a:p>
            <a:pPr algn="ctr"/>
            <a:r>
              <a:rPr sz="950" b="1" i="0">
                <a:solidFill>
                  <a:srgbClr val="FFFFFF"/>
                </a:solidFill>
                <a:latin typeface="Arial"/>
              </a:rPr>
              <a:t>Data &amp; Analytics</a:t>
            </a:r>
          </a:p>
        </p:txBody>
      </p:sp>
      <p:sp>
        <p:nvSpPr>
          <p:cNvPr id="25" name="Rounded Rectangle 24"/>
          <p:cNvSpPr/>
          <p:nvPr/>
        </p:nvSpPr>
        <p:spPr>
          <a:xfrm>
            <a:off x="457200" y="3208712"/>
            <a:ext cx="2737027" cy="353290"/>
          </a:xfrm>
          <a:prstGeom prst="roundRect">
            <a:avLst>
              <a:gd name="adj" fmla="val 2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3208712"/>
            <a:ext cx="2737027" cy="353290"/>
          </a:xfrm>
          <a:prstGeom prst="rect">
            <a:avLst/>
          </a:prstGeom>
          <a:noFill/>
        </p:spPr>
        <p:txBody>
          <a:bodyPr wrap="square" lIns="45720" rIns="45720" tIns="18288" bIns="18288" anchor="ctr">
            <a:spAutoFit/>
          </a:bodyPr>
          <a:lstStyle/>
          <a:p>
            <a:pPr algn="ctr"/>
            <a:r>
              <a:rPr sz="950" b="1" i="0">
                <a:solidFill>
                  <a:srgbClr val="FFFFFF"/>
                </a:solidFill>
                <a:latin typeface="Arial"/>
              </a:rPr>
              <a:t>Infrastructure</a:t>
            </a:r>
          </a:p>
        </p:txBody>
      </p:sp>
      <p:sp>
        <p:nvSpPr>
          <p:cNvPr id="27" name="Rounded Rectangle 26"/>
          <p:cNvSpPr/>
          <p:nvPr/>
        </p:nvSpPr>
        <p:spPr>
          <a:xfrm>
            <a:off x="457200" y="3607723"/>
            <a:ext cx="2737027" cy="353290"/>
          </a:xfrm>
          <a:prstGeom prst="roundRect">
            <a:avLst>
              <a:gd name="adj" fmla="val 2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3607723"/>
            <a:ext cx="2737027" cy="353290"/>
          </a:xfrm>
          <a:prstGeom prst="rect">
            <a:avLst/>
          </a:prstGeom>
          <a:noFill/>
        </p:spPr>
        <p:txBody>
          <a:bodyPr wrap="square" lIns="45720" rIns="45720" tIns="18288" bIns="18288" anchor="ctr">
            <a:spAutoFit/>
          </a:bodyPr>
          <a:lstStyle/>
          <a:p>
            <a:pPr algn="ctr"/>
            <a:r>
              <a:rPr sz="950" b="1" i="0">
                <a:solidFill>
                  <a:srgbClr val="FFFFFF"/>
                </a:solidFill>
                <a:latin typeface="Arial"/>
              </a:rPr>
              <a:t>IA (Industrial Auto.)</a:t>
            </a:r>
          </a:p>
        </p:txBody>
      </p:sp>
      <p:sp>
        <p:nvSpPr>
          <p:cNvPr id="29" name="Rounded Rectangle 28"/>
          <p:cNvSpPr/>
          <p:nvPr/>
        </p:nvSpPr>
        <p:spPr>
          <a:xfrm>
            <a:off x="457200" y="4006734"/>
            <a:ext cx="2737027" cy="353290"/>
          </a:xfrm>
          <a:prstGeom prst="roundRect">
            <a:avLst>
              <a:gd name="adj" fmla="val 2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4006734"/>
            <a:ext cx="2737027" cy="353290"/>
          </a:xfrm>
          <a:prstGeom prst="rect">
            <a:avLst/>
          </a:prstGeom>
          <a:noFill/>
        </p:spPr>
        <p:txBody>
          <a:bodyPr wrap="square" lIns="45720" rIns="45720" tIns="18288" bIns="18288" anchor="ctr">
            <a:spAutoFit/>
          </a:bodyPr>
          <a:lstStyle/>
          <a:p>
            <a:pPr algn="ctr"/>
            <a:r>
              <a:rPr sz="950" b="1" i="0">
                <a:solidFill>
                  <a:srgbClr val="FFFFFF"/>
                </a:solidFill>
                <a:latin typeface="Arial"/>
              </a:rPr>
              <a:t>OT (Operational Tech.)</a:t>
            </a:r>
          </a:p>
        </p:txBody>
      </p:sp>
      <p:sp>
        <p:nvSpPr>
          <p:cNvPr id="31" name="Rounded Rectangle 30"/>
          <p:cNvSpPr/>
          <p:nvPr/>
        </p:nvSpPr>
        <p:spPr>
          <a:xfrm>
            <a:off x="457200" y="4405745"/>
            <a:ext cx="2737027" cy="353290"/>
          </a:xfrm>
          <a:prstGeom prst="roundRect">
            <a:avLst>
              <a:gd name="adj" fmla="val 2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4405745"/>
            <a:ext cx="2737027" cy="353290"/>
          </a:xfrm>
          <a:prstGeom prst="rect">
            <a:avLst/>
          </a:prstGeom>
          <a:noFill/>
        </p:spPr>
        <p:txBody>
          <a:bodyPr wrap="square" lIns="45720" rIns="45720" tIns="18288" bIns="18288" anchor="ctr">
            <a:spAutoFit/>
          </a:bodyPr>
          <a:lstStyle/>
          <a:p>
            <a:pPr algn="ctr"/>
            <a:r>
              <a:rPr sz="950" b="1" i="0">
                <a:solidFill>
                  <a:srgbClr val="FFFFFF"/>
                </a:solidFill>
                <a:latin typeface="Arial"/>
              </a:rPr>
              <a:t>Procurement</a:t>
            </a:r>
          </a:p>
        </p:txBody>
      </p:sp>
      <p:sp>
        <p:nvSpPr>
          <p:cNvPr id="33" name="Rounded Rectangle 32"/>
          <p:cNvSpPr/>
          <p:nvPr/>
        </p:nvSpPr>
        <p:spPr>
          <a:xfrm>
            <a:off x="457200" y="4804756"/>
            <a:ext cx="2737027" cy="353290"/>
          </a:xfrm>
          <a:prstGeom prst="roundRect">
            <a:avLst>
              <a:gd name="adj" fmla="val 2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4804756"/>
            <a:ext cx="2737027" cy="353290"/>
          </a:xfrm>
          <a:prstGeom prst="rect">
            <a:avLst/>
          </a:prstGeom>
          <a:noFill/>
        </p:spPr>
        <p:txBody>
          <a:bodyPr wrap="square" lIns="45720" rIns="45720" tIns="18288" bIns="18288" anchor="ctr">
            <a:spAutoFit/>
          </a:bodyPr>
          <a:lstStyle/>
          <a:p>
            <a:pPr algn="ctr"/>
            <a:r>
              <a:rPr sz="950" b="1" i="0">
                <a:solidFill>
                  <a:srgbClr val="FFFFFF"/>
                </a:solidFill>
                <a:latin typeface="Arial"/>
              </a:rPr>
              <a:t>Regulatory</a:t>
            </a:r>
          </a:p>
        </p:txBody>
      </p:sp>
      <p:sp>
        <p:nvSpPr>
          <p:cNvPr id="35" name="Rounded Rectangle 34"/>
          <p:cNvSpPr/>
          <p:nvPr/>
        </p:nvSpPr>
        <p:spPr>
          <a:xfrm>
            <a:off x="457200" y="5203767"/>
            <a:ext cx="2737027" cy="353290"/>
          </a:xfrm>
          <a:prstGeom prst="roundRect">
            <a:avLst>
              <a:gd name="adj" fmla="val 20000"/>
            </a:avLst>
          </a:prstGeom>
          <a:solidFill>
            <a:srgbClr val="6E7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5203767"/>
            <a:ext cx="2737027" cy="353290"/>
          </a:xfrm>
          <a:prstGeom prst="rect">
            <a:avLst/>
          </a:prstGeom>
          <a:noFill/>
        </p:spPr>
        <p:txBody>
          <a:bodyPr wrap="square" lIns="45720" rIns="45720" tIns="18288" bIns="18288" anchor="ctr">
            <a:spAutoFit/>
          </a:bodyPr>
          <a:lstStyle/>
          <a:p>
            <a:pPr algn="ctr"/>
            <a:r>
              <a:rPr sz="950" b="1" i="0">
                <a:solidFill>
                  <a:srgbClr val="FFFFFF"/>
                </a:solidFill>
                <a:latin typeface="Arial"/>
              </a:rPr>
              <a:t>Corporate Areas</a:t>
            </a:r>
          </a:p>
        </p:txBody>
      </p:sp>
      <p:sp>
        <p:nvSpPr>
          <p:cNvPr id="37" name="Rounded Rectangle 36"/>
          <p:cNvSpPr/>
          <p:nvPr/>
        </p:nvSpPr>
        <p:spPr>
          <a:xfrm>
            <a:off x="457200" y="5602778"/>
            <a:ext cx="2737027" cy="353290"/>
          </a:xfrm>
          <a:prstGeom prst="roundRect">
            <a:avLst>
              <a:gd name="adj" fmla="val 20000"/>
            </a:avLst>
          </a:prstGeom>
          <a:solidFill>
            <a:srgbClr val="6E7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5602778"/>
            <a:ext cx="2737027" cy="353290"/>
          </a:xfrm>
          <a:prstGeom prst="rect">
            <a:avLst/>
          </a:prstGeom>
          <a:noFill/>
        </p:spPr>
        <p:txBody>
          <a:bodyPr wrap="square" lIns="45720" rIns="45720" tIns="18288" bIns="18288" anchor="ctr">
            <a:spAutoFit/>
          </a:bodyPr>
          <a:lstStyle/>
          <a:p>
            <a:pPr algn="ctr"/>
            <a:r>
              <a:rPr sz="950" b="1" i="0">
                <a:solidFill>
                  <a:srgbClr val="FFFFFF"/>
                </a:solidFill>
                <a:latin typeface="Arial"/>
              </a:rPr>
              <a:t>P&amp;T (GIS · Global SAP)</a:t>
            </a:r>
          </a:p>
        </p:txBody>
      </p:sp>
      <p:sp>
        <p:nvSpPr>
          <p:cNvPr id="39" name="Rounded Rectangle 38"/>
          <p:cNvSpPr/>
          <p:nvPr/>
        </p:nvSpPr>
        <p:spPr>
          <a:xfrm>
            <a:off x="457200" y="6001789"/>
            <a:ext cx="2737027" cy="353290"/>
          </a:xfrm>
          <a:prstGeom prst="roundRect">
            <a:avLst>
              <a:gd name="adj" fmla="val 20000"/>
            </a:avLst>
          </a:prstGeom>
          <a:solidFill>
            <a:srgbClr val="6E7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6001789"/>
            <a:ext cx="2737027" cy="353290"/>
          </a:xfrm>
          <a:prstGeom prst="rect">
            <a:avLst/>
          </a:prstGeom>
          <a:noFill/>
        </p:spPr>
        <p:txBody>
          <a:bodyPr wrap="square" lIns="45720" rIns="45720" tIns="18288" bIns="18288" anchor="ctr">
            <a:spAutoFit/>
          </a:bodyPr>
          <a:lstStyle/>
          <a:p>
            <a:pPr algn="ctr"/>
            <a:r>
              <a:rPr sz="950" b="1" i="0">
                <a:solidFill>
                  <a:srgbClr val="FFFFFF"/>
                </a:solidFill>
                <a:latin typeface="Arial"/>
              </a:rPr>
              <a:t>Gas &amp; Electric Ops</a:t>
            </a:r>
          </a:p>
        </p:txBody>
      </p:sp>
      <p:sp>
        <p:nvSpPr>
          <p:cNvPr id="41" name="Rounded Rectangle 40"/>
          <p:cNvSpPr/>
          <p:nvPr/>
        </p:nvSpPr>
        <p:spPr>
          <a:xfrm>
            <a:off x="3303955" y="2011680"/>
            <a:ext cx="2737027" cy="4343400"/>
          </a:xfrm>
          <a:prstGeom prst="roundRect">
            <a:avLst>
              <a:gd name="adj" fmla="val 5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303955" y="2011680"/>
            <a:ext cx="2737027" cy="4114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03955" y="2057400"/>
            <a:ext cx="2737027" cy="365760"/>
          </a:xfrm>
          <a:prstGeom prst="rect">
            <a:avLst/>
          </a:prstGeom>
          <a:noFill/>
        </p:spPr>
        <p:txBody>
          <a:bodyPr wrap="square" lIns="45720" rIns="45720" tIns="18288" bIns="18288" anchor="ctr">
            <a:spAutoFit/>
          </a:bodyPr>
          <a:lstStyle/>
          <a:p>
            <a:pPr algn="ctr"/>
            <a:r>
              <a:rPr sz="1200" b="1" i="0">
                <a:solidFill>
                  <a:srgbClr val="FFFFFF"/>
                </a:solidFill>
                <a:latin typeface="Arial"/>
              </a:rPr>
              <a:t>JIRA REQUEST FORM</a:t>
            </a:r>
          </a:p>
        </p:txBody>
      </p:sp>
      <p:sp>
        <p:nvSpPr>
          <p:cNvPr id="44" name="TextBox 43"/>
          <p:cNvSpPr txBox="1"/>
          <p:nvPr/>
        </p:nvSpPr>
        <p:spPr>
          <a:xfrm>
            <a:off x="3441115" y="2514600"/>
            <a:ext cx="2462707" cy="182880"/>
          </a:xfrm>
          <a:prstGeom prst="rect">
            <a:avLst/>
          </a:prstGeom>
          <a:noFill/>
        </p:spPr>
        <p:txBody>
          <a:bodyPr wrap="square" lIns="45720" rIns="45720" tIns="18288" bIns="18288" anchor="ctr">
            <a:spAutoFit/>
          </a:bodyPr>
          <a:lstStyle/>
          <a:p>
            <a:pPr algn="l"/>
            <a:r>
              <a:rPr sz="950" b="1" i="0">
                <a:solidFill>
                  <a:srgbClr val="0F1C50"/>
                </a:solidFill>
                <a:latin typeface="Arial"/>
              </a:rPr>
              <a:t>▸ Value Stream destination</a:t>
            </a:r>
          </a:p>
        </p:txBody>
      </p:sp>
      <p:sp>
        <p:nvSpPr>
          <p:cNvPr id="45" name="TextBox 44"/>
          <p:cNvSpPr txBox="1"/>
          <p:nvPr/>
        </p:nvSpPr>
        <p:spPr>
          <a:xfrm>
            <a:off x="3669715" y="2697480"/>
            <a:ext cx="2234107" cy="210312"/>
          </a:xfrm>
          <a:prstGeom prst="rect">
            <a:avLst/>
          </a:prstGeom>
          <a:noFill/>
        </p:spPr>
        <p:txBody>
          <a:bodyPr wrap="square" lIns="45720" rIns="45720" tIns="18288" bIns="18288" anchor="t">
            <a:spAutoFit/>
          </a:bodyPr>
          <a:lstStyle/>
          <a:p>
            <a:pPr algn="l"/>
            <a:r>
              <a:rPr sz="750" b="0" i="1">
                <a:solidFill>
                  <a:srgbClr val="95A5A6"/>
                </a:solidFill>
                <a:latin typeface="Arial"/>
              </a:rPr>
              <a:t>(routes the card)</a:t>
            </a:r>
          </a:p>
        </p:txBody>
      </p:sp>
      <p:sp>
        <p:nvSpPr>
          <p:cNvPr id="46" name="TextBox 45"/>
          <p:cNvSpPr txBox="1"/>
          <p:nvPr/>
        </p:nvSpPr>
        <p:spPr>
          <a:xfrm>
            <a:off x="3441115" y="2926080"/>
            <a:ext cx="2462707" cy="182880"/>
          </a:xfrm>
          <a:prstGeom prst="rect">
            <a:avLst/>
          </a:prstGeom>
          <a:noFill/>
        </p:spPr>
        <p:txBody>
          <a:bodyPr wrap="square" lIns="45720" rIns="45720" tIns="18288" bIns="18288" anchor="ctr">
            <a:spAutoFit/>
          </a:bodyPr>
          <a:lstStyle/>
          <a:p>
            <a:pPr algn="l"/>
            <a:r>
              <a:rPr sz="950" b="1" i="0">
                <a:solidFill>
                  <a:srgbClr val="0F1C50"/>
                </a:solidFill>
                <a:latin typeface="Arial"/>
              </a:rPr>
              <a:t>▸ Demand type</a:t>
            </a:r>
          </a:p>
        </p:txBody>
      </p:sp>
      <p:sp>
        <p:nvSpPr>
          <p:cNvPr id="47" name="TextBox 46"/>
          <p:cNvSpPr txBox="1"/>
          <p:nvPr/>
        </p:nvSpPr>
        <p:spPr>
          <a:xfrm>
            <a:off x="3669715" y="3108960"/>
            <a:ext cx="2234107" cy="210312"/>
          </a:xfrm>
          <a:prstGeom prst="rect">
            <a:avLst/>
          </a:prstGeom>
          <a:noFill/>
        </p:spPr>
        <p:txBody>
          <a:bodyPr wrap="square" lIns="45720" rIns="45720" tIns="18288" bIns="18288" anchor="t">
            <a:spAutoFit/>
          </a:bodyPr>
          <a:lstStyle/>
          <a:p>
            <a:pPr algn="l"/>
            <a:r>
              <a:rPr sz="750" b="0" i="1">
                <a:solidFill>
                  <a:srgbClr val="95A5A6"/>
                </a:solidFill>
                <a:latin typeface="Arial"/>
              </a:rPr>
              <a:t>Run · Grow · Transform</a:t>
            </a:r>
          </a:p>
        </p:txBody>
      </p:sp>
      <p:sp>
        <p:nvSpPr>
          <p:cNvPr id="48" name="TextBox 47"/>
          <p:cNvSpPr txBox="1"/>
          <p:nvPr/>
        </p:nvSpPr>
        <p:spPr>
          <a:xfrm>
            <a:off x="3441115" y="3337560"/>
            <a:ext cx="2462707" cy="182880"/>
          </a:xfrm>
          <a:prstGeom prst="rect">
            <a:avLst/>
          </a:prstGeom>
          <a:noFill/>
        </p:spPr>
        <p:txBody>
          <a:bodyPr wrap="square" lIns="45720" rIns="45720" tIns="18288" bIns="18288" anchor="ctr">
            <a:spAutoFit/>
          </a:bodyPr>
          <a:lstStyle/>
          <a:p>
            <a:pPr algn="l"/>
            <a:r>
              <a:rPr sz="950" b="1" i="0">
                <a:solidFill>
                  <a:srgbClr val="0F1C50"/>
                </a:solidFill>
                <a:latin typeface="Arial"/>
              </a:rPr>
              <a:t>▸ T-shirt size</a:t>
            </a:r>
          </a:p>
        </p:txBody>
      </p:sp>
      <p:sp>
        <p:nvSpPr>
          <p:cNvPr id="49" name="TextBox 48"/>
          <p:cNvSpPr txBox="1"/>
          <p:nvPr/>
        </p:nvSpPr>
        <p:spPr>
          <a:xfrm>
            <a:off x="3669715" y="3520440"/>
            <a:ext cx="2234107" cy="210312"/>
          </a:xfrm>
          <a:prstGeom prst="rect">
            <a:avLst/>
          </a:prstGeom>
          <a:noFill/>
        </p:spPr>
        <p:txBody>
          <a:bodyPr wrap="square" lIns="45720" rIns="45720" tIns="18288" bIns="18288" anchor="t">
            <a:spAutoFit/>
          </a:bodyPr>
          <a:lstStyle/>
          <a:p>
            <a:pPr algn="l"/>
            <a:r>
              <a:rPr sz="750" b="0" i="1">
                <a:solidFill>
                  <a:srgbClr val="95A5A6"/>
                </a:solidFill>
                <a:latin typeface="Arial"/>
              </a:rPr>
              <a:t>S · M · L · XL</a:t>
            </a:r>
          </a:p>
        </p:txBody>
      </p:sp>
      <p:sp>
        <p:nvSpPr>
          <p:cNvPr id="50" name="TextBox 49"/>
          <p:cNvSpPr txBox="1"/>
          <p:nvPr/>
        </p:nvSpPr>
        <p:spPr>
          <a:xfrm>
            <a:off x="3441115" y="3749040"/>
            <a:ext cx="2462707" cy="182880"/>
          </a:xfrm>
          <a:prstGeom prst="rect">
            <a:avLst/>
          </a:prstGeom>
          <a:noFill/>
        </p:spPr>
        <p:txBody>
          <a:bodyPr wrap="square" lIns="45720" rIns="45720" tIns="18288" bIns="18288" anchor="ctr">
            <a:spAutoFit/>
          </a:bodyPr>
          <a:lstStyle/>
          <a:p>
            <a:pPr algn="l"/>
            <a:r>
              <a:rPr sz="950" b="1" i="0">
                <a:solidFill>
                  <a:srgbClr val="0F1C50"/>
                </a:solidFill>
                <a:latin typeface="Arial"/>
              </a:rPr>
              <a:t>▸ Class of Service</a:t>
            </a:r>
          </a:p>
        </p:txBody>
      </p:sp>
      <p:sp>
        <p:nvSpPr>
          <p:cNvPr id="51" name="TextBox 50"/>
          <p:cNvSpPr txBox="1"/>
          <p:nvPr/>
        </p:nvSpPr>
        <p:spPr>
          <a:xfrm>
            <a:off x="3669715" y="3931920"/>
            <a:ext cx="2234107" cy="210312"/>
          </a:xfrm>
          <a:prstGeom prst="rect">
            <a:avLst/>
          </a:prstGeom>
          <a:noFill/>
        </p:spPr>
        <p:txBody>
          <a:bodyPr wrap="square" lIns="45720" rIns="45720" tIns="18288" bIns="18288" anchor="t">
            <a:spAutoFit/>
          </a:bodyPr>
          <a:lstStyle/>
          <a:p>
            <a:pPr algn="l"/>
            <a:r>
              <a:rPr sz="750" b="0" i="1">
                <a:solidFill>
                  <a:srgbClr val="95A5A6"/>
                </a:solidFill>
                <a:latin typeface="Arial"/>
              </a:rPr>
              <a:t>Standard · Fixed-date · Expedite · Intangible</a:t>
            </a:r>
          </a:p>
        </p:txBody>
      </p:sp>
      <p:sp>
        <p:nvSpPr>
          <p:cNvPr id="52" name="TextBox 51"/>
          <p:cNvSpPr txBox="1"/>
          <p:nvPr/>
        </p:nvSpPr>
        <p:spPr>
          <a:xfrm>
            <a:off x="3441115" y="4160520"/>
            <a:ext cx="2462707" cy="182880"/>
          </a:xfrm>
          <a:prstGeom prst="rect">
            <a:avLst/>
          </a:prstGeom>
          <a:noFill/>
        </p:spPr>
        <p:txBody>
          <a:bodyPr wrap="square" lIns="45720" rIns="45720" tIns="18288" bIns="18288" anchor="ctr">
            <a:spAutoFit/>
          </a:bodyPr>
          <a:lstStyle/>
          <a:p>
            <a:pPr algn="l"/>
            <a:r>
              <a:rPr sz="950" b="1" i="0">
                <a:solidFill>
                  <a:srgbClr val="0F1C50"/>
                </a:solidFill>
                <a:latin typeface="Arial"/>
              </a:rPr>
              <a:t>▸ OPCO</a:t>
            </a:r>
          </a:p>
        </p:txBody>
      </p:sp>
      <p:sp>
        <p:nvSpPr>
          <p:cNvPr id="53" name="TextBox 52"/>
          <p:cNvSpPr txBox="1"/>
          <p:nvPr/>
        </p:nvSpPr>
        <p:spPr>
          <a:xfrm>
            <a:off x="3669715" y="4343400"/>
            <a:ext cx="2234107" cy="210312"/>
          </a:xfrm>
          <a:prstGeom prst="rect">
            <a:avLst/>
          </a:prstGeom>
          <a:noFill/>
        </p:spPr>
        <p:txBody>
          <a:bodyPr wrap="square" lIns="45720" rIns="45720" tIns="18288" bIns="18288" anchor="t">
            <a:spAutoFit/>
          </a:bodyPr>
          <a:lstStyle/>
          <a:p>
            <a:pPr algn="l"/>
            <a:r>
              <a:rPr sz="750" b="0" i="1">
                <a:solidFill>
                  <a:srgbClr val="95A5A6"/>
                </a:solidFill>
                <a:latin typeface="Arial"/>
              </a:rPr>
              <a:t>UIL · CMP · NY · Iberdrola · Cross</a:t>
            </a:r>
          </a:p>
        </p:txBody>
      </p:sp>
      <p:sp>
        <p:nvSpPr>
          <p:cNvPr id="54" name="TextBox 53"/>
          <p:cNvSpPr txBox="1"/>
          <p:nvPr/>
        </p:nvSpPr>
        <p:spPr>
          <a:xfrm>
            <a:off x="3441115" y="4572000"/>
            <a:ext cx="2462707" cy="182880"/>
          </a:xfrm>
          <a:prstGeom prst="rect">
            <a:avLst/>
          </a:prstGeom>
          <a:noFill/>
        </p:spPr>
        <p:txBody>
          <a:bodyPr wrap="square" lIns="45720" rIns="45720" tIns="18288" bIns="18288" anchor="ctr">
            <a:spAutoFit/>
          </a:bodyPr>
          <a:lstStyle/>
          <a:p>
            <a:pPr algn="l"/>
            <a:r>
              <a:rPr sz="950" b="1" i="0">
                <a:solidFill>
                  <a:srgbClr val="0F1C50"/>
                </a:solidFill>
                <a:latin typeface="Arial"/>
              </a:rPr>
              <a:t>▸ Business value statement</a:t>
            </a:r>
          </a:p>
        </p:txBody>
      </p:sp>
      <p:sp>
        <p:nvSpPr>
          <p:cNvPr id="55" name="TextBox 54"/>
          <p:cNvSpPr txBox="1"/>
          <p:nvPr/>
        </p:nvSpPr>
        <p:spPr>
          <a:xfrm>
            <a:off x="3669715" y="4754880"/>
            <a:ext cx="2234107" cy="210312"/>
          </a:xfrm>
          <a:prstGeom prst="rect">
            <a:avLst/>
          </a:prstGeom>
          <a:noFill/>
        </p:spPr>
        <p:txBody>
          <a:bodyPr wrap="square" lIns="45720" rIns="45720" tIns="18288" bIns="18288" anchor="t">
            <a:spAutoFit/>
          </a:bodyPr>
          <a:lstStyle/>
          <a:p>
            <a:pPr algn="l"/>
            <a:r>
              <a:rPr sz="750" b="0" i="1">
                <a:solidFill>
                  <a:srgbClr val="95A5A6"/>
                </a:solidFill>
                <a:latin typeface="Arial"/>
              </a:rPr>
              <a:t>Who benefits and how</a:t>
            </a:r>
          </a:p>
        </p:txBody>
      </p:sp>
      <p:sp>
        <p:nvSpPr>
          <p:cNvPr id="56" name="TextBox 55"/>
          <p:cNvSpPr txBox="1"/>
          <p:nvPr/>
        </p:nvSpPr>
        <p:spPr>
          <a:xfrm>
            <a:off x="3441115" y="4983480"/>
            <a:ext cx="2462707" cy="182880"/>
          </a:xfrm>
          <a:prstGeom prst="rect">
            <a:avLst/>
          </a:prstGeom>
          <a:noFill/>
        </p:spPr>
        <p:txBody>
          <a:bodyPr wrap="square" lIns="45720" rIns="45720" tIns="18288" bIns="18288" anchor="ctr">
            <a:spAutoFit/>
          </a:bodyPr>
          <a:lstStyle/>
          <a:p>
            <a:pPr algn="l"/>
            <a:r>
              <a:rPr sz="950" b="1" i="0">
                <a:solidFill>
                  <a:srgbClr val="0F1C50"/>
                </a:solidFill>
                <a:latin typeface="Arial"/>
              </a:rPr>
              <a:t>▸ Sponsor</a:t>
            </a:r>
          </a:p>
        </p:txBody>
      </p:sp>
      <p:sp>
        <p:nvSpPr>
          <p:cNvPr id="57" name="TextBox 56"/>
          <p:cNvSpPr txBox="1"/>
          <p:nvPr/>
        </p:nvSpPr>
        <p:spPr>
          <a:xfrm>
            <a:off x="3669715" y="5166360"/>
            <a:ext cx="2234107" cy="210312"/>
          </a:xfrm>
          <a:prstGeom prst="rect">
            <a:avLst/>
          </a:prstGeom>
          <a:noFill/>
        </p:spPr>
        <p:txBody>
          <a:bodyPr wrap="square" lIns="45720" rIns="45720" tIns="18288" bIns="18288" anchor="t">
            <a:spAutoFit/>
          </a:bodyPr>
          <a:lstStyle/>
          <a:p>
            <a:pPr algn="l"/>
            <a:r>
              <a:rPr sz="750" b="0" i="1">
                <a:solidFill>
                  <a:srgbClr val="95A5A6"/>
                </a:solidFill>
                <a:latin typeface="Arial"/>
              </a:rPr>
              <a:t>(approves at intake)</a:t>
            </a:r>
          </a:p>
        </p:txBody>
      </p:sp>
      <p:sp>
        <p:nvSpPr>
          <p:cNvPr id="58" name="TextBox 57"/>
          <p:cNvSpPr txBox="1"/>
          <p:nvPr/>
        </p:nvSpPr>
        <p:spPr>
          <a:xfrm>
            <a:off x="3441115" y="5394960"/>
            <a:ext cx="2462707" cy="182880"/>
          </a:xfrm>
          <a:prstGeom prst="rect">
            <a:avLst/>
          </a:prstGeom>
          <a:noFill/>
        </p:spPr>
        <p:txBody>
          <a:bodyPr wrap="square" lIns="45720" rIns="45720" tIns="18288" bIns="18288" anchor="ctr">
            <a:spAutoFit/>
          </a:bodyPr>
          <a:lstStyle/>
          <a:p>
            <a:pPr algn="l"/>
            <a:r>
              <a:rPr sz="950" b="1" i="0">
                <a:solidFill>
                  <a:srgbClr val="0F1C50"/>
                </a:solidFill>
                <a:latin typeface="Arial"/>
              </a:rPr>
              <a:t>▸ Pain Score inputs</a:t>
            </a:r>
          </a:p>
        </p:txBody>
      </p:sp>
      <p:sp>
        <p:nvSpPr>
          <p:cNvPr id="59" name="TextBox 58"/>
          <p:cNvSpPr txBox="1"/>
          <p:nvPr/>
        </p:nvSpPr>
        <p:spPr>
          <a:xfrm>
            <a:off x="3669715" y="5577840"/>
            <a:ext cx="2234107" cy="210312"/>
          </a:xfrm>
          <a:prstGeom prst="rect">
            <a:avLst/>
          </a:prstGeom>
          <a:noFill/>
        </p:spPr>
        <p:txBody>
          <a:bodyPr wrap="square" lIns="45720" rIns="45720" tIns="18288" bIns="18288" anchor="t">
            <a:spAutoFit/>
          </a:bodyPr>
          <a:lstStyle/>
          <a:p>
            <a:pPr algn="l"/>
            <a:r>
              <a:rPr sz="750" b="0" i="1">
                <a:solidFill>
                  <a:srgbClr val="95A5A6"/>
                </a:solidFill>
                <a:latin typeface="Arial"/>
              </a:rPr>
              <a:t>BV · UX · Safety · Effort</a:t>
            </a:r>
          </a:p>
        </p:txBody>
      </p:sp>
      <p:sp>
        <p:nvSpPr>
          <p:cNvPr id="60" name="Rounded Rectangle 59"/>
          <p:cNvSpPr/>
          <p:nvPr/>
        </p:nvSpPr>
        <p:spPr>
          <a:xfrm>
            <a:off x="3395395" y="5897880"/>
            <a:ext cx="2554147" cy="365760"/>
          </a:xfrm>
          <a:prstGeom prst="roundRect">
            <a:avLst>
              <a:gd name="adj" fmla="val 4000"/>
            </a:avLst>
          </a:prstGeom>
          <a:solidFill>
            <a:srgbClr val="F8DFD8"/>
          </a:solidFill>
          <a:ln w="1270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486835" y="5897880"/>
            <a:ext cx="2371267" cy="365760"/>
          </a:xfrm>
          <a:prstGeom prst="rect">
            <a:avLst/>
          </a:prstGeom>
          <a:noFill/>
        </p:spPr>
        <p:txBody>
          <a:bodyPr wrap="square" lIns="45720" rIns="45720" tIns="18288" bIns="18288" anchor="ctr">
            <a:spAutoFit/>
          </a:bodyPr>
          <a:lstStyle/>
          <a:p>
            <a:pPr algn="ctr"/>
            <a:r>
              <a:rPr sz="850" b="1" i="1">
                <a:solidFill>
                  <a:srgbClr val="B63B1F"/>
                </a:solidFill>
                <a:latin typeface="Arial"/>
              </a:rPr>
              <a:t>IT Now is reserved for incidents only — not for new demand.</a:t>
            </a:r>
          </a:p>
        </p:txBody>
      </p:sp>
      <p:sp>
        <p:nvSpPr>
          <p:cNvPr id="62" name="Rounded Rectangle 61"/>
          <p:cNvSpPr/>
          <p:nvPr/>
        </p:nvSpPr>
        <p:spPr>
          <a:xfrm>
            <a:off x="6150711" y="2011680"/>
            <a:ext cx="2737027" cy="494919"/>
          </a:xfrm>
          <a:prstGeom prst="roundRect">
            <a:avLst>
              <a:gd name="adj" fmla="val 5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150711" y="2011680"/>
            <a:ext cx="54864" cy="494919"/>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287871" y="2048256"/>
            <a:ext cx="2554147" cy="219456"/>
          </a:xfrm>
          <a:prstGeom prst="rect">
            <a:avLst/>
          </a:prstGeom>
          <a:noFill/>
        </p:spPr>
        <p:txBody>
          <a:bodyPr wrap="square" lIns="45720" rIns="45720" tIns="18288" bIns="18288" anchor="t">
            <a:spAutoFit/>
          </a:bodyPr>
          <a:lstStyle/>
          <a:p>
            <a:pPr algn="l"/>
            <a:r>
              <a:rPr sz="1000" b="1" i="0">
                <a:solidFill>
                  <a:srgbClr val="2C578B"/>
                </a:solidFill>
                <a:latin typeface="Arial"/>
              </a:rPr>
              <a:t>M2C — Service Lifecycle</a:t>
            </a:r>
          </a:p>
        </p:txBody>
      </p:sp>
      <p:sp>
        <p:nvSpPr>
          <p:cNvPr id="65" name="TextBox 64"/>
          <p:cNvSpPr txBox="1"/>
          <p:nvPr/>
        </p:nvSpPr>
        <p:spPr>
          <a:xfrm>
            <a:off x="6287871" y="2258568"/>
            <a:ext cx="2554147" cy="220599"/>
          </a:xfrm>
          <a:prstGeom prst="rect">
            <a:avLst/>
          </a:prstGeom>
          <a:noFill/>
        </p:spPr>
        <p:txBody>
          <a:bodyPr wrap="square" lIns="45720" rIns="45720" tIns="18288" bIns="18288" anchor="t">
            <a:spAutoFit/>
          </a:bodyPr>
          <a:lstStyle/>
          <a:p>
            <a:pPr algn="l"/>
            <a:r>
              <a:rPr sz="850" b="0" i="1">
                <a:solidFill>
                  <a:srgbClr val="2C3E50"/>
                </a:solidFill>
                <a:latin typeface="Arial"/>
              </a:rPr>
              <a:t>Smart Metering / FICA</a:t>
            </a:r>
          </a:p>
        </p:txBody>
      </p:sp>
      <p:sp>
        <p:nvSpPr>
          <p:cNvPr id="66" name="Rounded Rectangle 65"/>
          <p:cNvSpPr/>
          <p:nvPr/>
        </p:nvSpPr>
        <p:spPr>
          <a:xfrm>
            <a:off x="6150711" y="2561463"/>
            <a:ext cx="2737027" cy="494919"/>
          </a:xfrm>
          <a:prstGeom prst="roundRect">
            <a:avLst>
              <a:gd name="adj" fmla="val 5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150711" y="2561463"/>
            <a:ext cx="54864" cy="494919"/>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287871" y="2598039"/>
            <a:ext cx="2554147" cy="219456"/>
          </a:xfrm>
          <a:prstGeom prst="rect">
            <a:avLst/>
          </a:prstGeom>
          <a:noFill/>
        </p:spPr>
        <p:txBody>
          <a:bodyPr wrap="square" lIns="45720" rIns="45720" tIns="18288" bIns="18288" anchor="t">
            <a:spAutoFit/>
          </a:bodyPr>
          <a:lstStyle/>
          <a:p>
            <a:pPr algn="l"/>
            <a:r>
              <a:rPr sz="1000" b="1" i="0">
                <a:solidFill>
                  <a:srgbClr val="2C578B"/>
                </a:solidFill>
                <a:latin typeface="Arial"/>
              </a:rPr>
              <a:t>M2C — Revenue Operations</a:t>
            </a:r>
          </a:p>
        </p:txBody>
      </p:sp>
      <p:sp>
        <p:nvSpPr>
          <p:cNvPr id="69" name="TextBox 68"/>
          <p:cNvSpPr txBox="1"/>
          <p:nvPr/>
        </p:nvSpPr>
        <p:spPr>
          <a:xfrm>
            <a:off x="6287871" y="2808351"/>
            <a:ext cx="2554147" cy="220599"/>
          </a:xfrm>
          <a:prstGeom prst="rect">
            <a:avLst/>
          </a:prstGeom>
          <a:noFill/>
        </p:spPr>
        <p:txBody>
          <a:bodyPr wrap="square" lIns="45720" rIns="45720" tIns="18288" bIns="18288" anchor="t">
            <a:spAutoFit/>
          </a:bodyPr>
          <a:lstStyle/>
          <a:p>
            <a:pPr algn="l"/>
            <a:r>
              <a:rPr sz="850" b="0" i="1">
                <a:solidFill>
                  <a:srgbClr val="2C3E50"/>
                </a:solidFill>
                <a:latin typeface="Arial"/>
              </a:rPr>
              <a:t>Billing / Collection</a:t>
            </a:r>
          </a:p>
        </p:txBody>
      </p:sp>
      <p:sp>
        <p:nvSpPr>
          <p:cNvPr id="70" name="Rounded Rectangle 69"/>
          <p:cNvSpPr/>
          <p:nvPr/>
        </p:nvSpPr>
        <p:spPr>
          <a:xfrm>
            <a:off x="6150711" y="3111246"/>
            <a:ext cx="2737027" cy="494919"/>
          </a:xfrm>
          <a:prstGeom prst="roundRect">
            <a:avLst>
              <a:gd name="adj" fmla="val 5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6150711" y="3111246"/>
            <a:ext cx="54864" cy="494919"/>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87871" y="3147822"/>
            <a:ext cx="2554147" cy="219456"/>
          </a:xfrm>
          <a:prstGeom prst="rect">
            <a:avLst/>
          </a:prstGeom>
          <a:noFill/>
        </p:spPr>
        <p:txBody>
          <a:bodyPr wrap="square" lIns="45720" rIns="45720" tIns="18288" bIns="18288" anchor="t">
            <a:spAutoFit/>
          </a:bodyPr>
          <a:lstStyle/>
          <a:p>
            <a:pPr algn="l"/>
            <a:r>
              <a:rPr sz="1000" b="1" i="0">
                <a:solidFill>
                  <a:srgbClr val="2C578B"/>
                </a:solidFill>
                <a:latin typeface="Arial"/>
              </a:rPr>
              <a:t>Customer Care &amp; CCC</a:t>
            </a:r>
          </a:p>
        </p:txBody>
      </p:sp>
      <p:sp>
        <p:nvSpPr>
          <p:cNvPr id="73" name="TextBox 72"/>
          <p:cNvSpPr txBox="1"/>
          <p:nvPr/>
        </p:nvSpPr>
        <p:spPr>
          <a:xfrm>
            <a:off x="6287871" y="3358134"/>
            <a:ext cx="2554147" cy="220599"/>
          </a:xfrm>
          <a:prstGeom prst="rect">
            <a:avLst/>
          </a:prstGeom>
          <a:noFill/>
        </p:spPr>
        <p:txBody>
          <a:bodyPr wrap="square" lIns="45720" rIns="45720" tIns="18288" bIns="18288" anchor="t">
            <a:spAutoFit/>
          </a:bodyPr>
          <a:lstStyle/>
          <a:p>
            <a:pPr algn="l"/>
            <a:r>
              <a:rPr sz="850" b="0" i="1">
                <a:solidFill>
                  <a:srgbClr val="2C3E50"/>
                </a:solidFill>
                <a:latin typeface="Arial"/>
              </a:rPr>
              <a:t>CRM / Contact Center</a:t>
            </a:r>
          </a:p>
        </p:txBody>
      </p:sp>
      <p:sp>
        <p:nvSpPr>
          <p:cNvPr id="74" name="Rounded Rectangle 73"/>
          <p:cNvSpPr/>
          <p:nvPr/>
        </p:nvSpPr>
        <p:spPr>
          <a:xfrm>
            <a:off x="6150711" y="3661029"/>
            <a:ext cx="2737027" cy="494919"/>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150711" y="3661029"/>
            <a:ext cx="54864" cy="494919"/>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287871" y="3697605"/>
            <a:ext cx="2554147" cy="219456"/>
          </a:xfrm>
          <a:prstGeom prst="rect">
            <a:avLst/>
          </a:prstGeom>
          <a:noFill/>
        </p:spPr>
        <p:txBody>
          <a:bodyPr wrap="square" lIns="45720" rIns="45720" tIns="18288" bIns="18288" anchor="t">
            <a:spAutoFit/>
          </a:bodyPr>
          <a:lstStyle/>
          <a:p>
            <a:pPr algn="l"/>
            <a:r>
              <a:rPr sz="1000" b="1" i="0">
                <a:solidFill>
                  <a:srgbClr val="2E7D32"/>
                </a:solidFill>
                <a:latin typeface="Arial"/>
              </a:rPr>
              <a:t>Field Operations</a:t>
            </a:r>
          </a:p>
        </p:txBody>
      </p:sp>
      <p:sp>
        <p:nvSpPr>
          <p:cNvPr id="77" name="TextBox 76"/>
          <p:cNvSpPr txBox="1"/>
          <p:nvPr/>
        </p:nvSpPr>
        <p:spPr>
          <a:xfrm>
            <a:off x="6287871" y="3907917"/>
            <a:ext cx="2554147" cy="220599"/>
          </a:xfrm>
          <a:prstGeom prst="rect">
            <a:avLst/>
          </a:prstGeom>
          <a:noFill/>
        </p:spPr>
        <p:txBody>
          <a:bodyPr wrap="square" lIns="45720" rIns="45720" tIns="18288" bIns="18288" anchor="t">
            <a:spAutoFit/>
          </a:bodyPr>
          <a:lstStyle/>
          <a:p>
            <a:pPr algn="l"/>
            <a:r>
              <a:rPr sz="850" b="0" i="1">
                <a:solidFill>
                  <a:srgbClr val="2C3E50"/>
                </a:solidFill>
                <a:latin typeface="Arial"/>
              </a:rPr>
              <a:t>GIS / Workforce / OSG</a:t>
            </a:r>
          </a:p>
        </p:txBody>
      </p:sp>
      <p:sp>
        <p:nvSpPr>
          <p:cNvPr id="78" name="Rounded Rectangle 77"/>
          <p:cNvSpPr/>
          <p:nvPr/>
        </p:nvSpPr>
        <p:spPr>
          <a:xfrm>
            <a:off x="6150711" y="4210812"/>
            <a:ext cx="2737027" cy="494919"/>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150711" y="4210812"/>
            <a:ext cx="54864" cy="494919"/>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287871" y="4247388"/>
            <a:ext cx="2554147" cy="219456"/>
          </a:xfrm>
          <a:prstGeom prst="rect">
            <a:avLst/>
          </a:prstGeom>
          <a:noFill/>
        </p:spPr>
        <p:txBody>
          <a:bodyPr wrap="square" lIns="45720" rIns="45720" tIns="18288" bIns="18288" anchor="t">
            <a:spAutoFit/>
          </a:bodyPr>
          <a:lstStyle/>
          <a:p>
            <a:pPr algn="l"/>
            <a:r>
              <a:rPr sz="1000" b="1" i="0">
                <a:solidFill>
                  <a:srgbClr val="2E7D32"/>
                </a:solidFill>
                <a:latin typeface="Arial"/>
              </a:rPr>
              <a:t>Engineering &amp; Asset Mgmt</a:t>
            </a:r>
          </a:p>
        </p:txBody>
      </p:sp>
      <p:sp>
        <p:nvSpPr>
          <p:cNvPr id="81" name="TextBox 80"/>
          <p:cNvSpPr txBox="1"/>
          <p:nvPr/>
        </p:nvSpPr>
        <p:spPr>
          <a:xfrm>
            <a:off x="6287871" y="4457700"/>
            <a:ext cx="2554147" cy="220599"/>
          </a:xfrm>
          <a:prstGeom prst="rect">
            <a:avLst/>
          </a:prstGeom>
          <a:noFill/>
        </p:spPr>
        <p:txBody>
          <a:bodyPr wrap="square" lIns="45720" rIns="45720" tIns="18288" bIns="18288" anchor="t">
            <a:spAutoFit/>
          </a:bodyPr>
          <a:lstStyle/>
          <a:p>
            <a:pPr algn="l"/>
            <a:r>
              <a:rPr sz="850" b="0" i="1">
                <a:solidFill>
                  <a:srgbClr val="2C3E50"/>
                </a:solidFill>
                <a:latin typeface="Arial"/>
              </a:rPr>
              <a:t>Maintenance / Engineering</a:t>
            </a:r>
          </a:p>
        </p:txBody>
      </p:sp>
      <p:sp>
        <p:nvSpPr>
          <p:cNvPr id="82" name="Rounded Rectangle 81"/>
          <p:cNvSpPr/>
          <p:nvPr/>
        </p:nvSpPr>
        <p:spPr>
          <a:xfrm>
            <a:off x="6150711" y="4760595"/>
            <a:ext cx="2737027" cy="494919"/>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150711" y="4760595"/>
            <a:ext cx="54864" cy="494919"/>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287871" y="4797171"/>
            <a:ext cx="2554147" cy="219456"/>
          </a:xfrm>
          <a:prstGeom prst="rect">
            <a:avLst/>
          </a:prstGeom>
          <a:noFill/>
        </p:spPr>
        <p:txBody>
          <a:bodyPr wrap="square" lIns="45720" rIns="45720" tIns="18288" bIns="18288" anchor="t">
            <a:spAutoFit/>
          </a:bodyPr>
          <a:lstStyle/>
          <a:p>
            <a:pPr algn="l"/>
            <a:r>
              <a:rPr sz="1000" b="1" i="0">
                <a:solidFill>
                  <a:srgbClr val="2E7D32"/>
                </a:solidFill>
                <a:latin typeface="Arial"/>
              </a:rPr>
              <a:t>Network Operations &amp; Control</a:t>
            </a:r>
          </a:p>
        </p:txBody>
      </p:sp>
      <p:sp>
        <p:nvSpPr>
          <p:cNvPr id="85" name="TextBox 84"/>
          <p:cNvSpPr txBox="1"/>
          <p:nvPr/>
        </p:nvSpPr>
        <p:spPr>
          <a:xfrm>
            <a:off x="6287871" y="5007483"/>
            <a:ext cx="2554147" cy="220599"/>
          </a:xfrm>
          <a:prstGeom prst="rect">
            <a:avLst/>
          </a:prstGeom>
          <a:noFill/>
        </p:spPr>
        <p:txBody>
          <a:bodyPr wrap="square" lIns="45720" rIns="45720" tIns="18288" bIns="18288" anchor="t">
            <a:spAutoFit/>
          </a:bodyPr>
          <a:lstStyle/>
          <a:p>
            <a:pPr algn="l"/>
            <a:r>
              <a:rPr sz="850" b="0" i="1">
                <a:solidFill>
                  <a:srgbClr val="2C3E50"/>
                </a:solidFill>
                <a:latin typeface="Arial"/>
              </a:rPr>
              <a:t>SCADA · EMS · OMS</a:t>
            </a:r>
          </a:p>
        </p:txBody>
      </p:sp>
      <p:sp>
        <p:nvSpPr>
          <p:cNvPr id="86" name="Rounded Rectangle 85"/>
          <p:cNvSpPr/>
          <p:nvPr/>
        </p:nvSpPr>
        <p:spPr>
          <a:xfrm>
            <a:off x="6150711" y="5310378"/>
            <a:ext cx="2737027" cy="494919"/>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6150711" y="5310378"/>
            <a:ext cx="54864" cy="494919"/>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287871" y="5346954"/>
            <a:ext cx="2554147" cy="219456"/>
          </a:xfrm>
          <a:prstGeom prst="rect">
            <a:avLst/>
          </a:prstGeom>
          <a:noFill/>
        </p:spPr>
        <p:txBody>
          <a:bodyPr wrap="square" lIns="45720" rIns="45720" tIns="18288" bIns="18288" anchor="t">
            <a:spAutoFit/>
          </a:bodyPr>
          <a:lstStyle/>
          <a:p>
            <a:pPr algn="l"/>
            <a:r>
              <a:rPr sz="1000" b="1" i="0">
                <a:solidFill>
                  <a:srgbClr val="2E7D32"/>
                </a:solidFill>
                <a:latin typeface="Arial"/>
              </a:rPr>
              <a:t>Corporate &amp; Regulatory</a:t>
            </a:r>
          </a:p>
        </p:txBody>
      </p:sp>
      <p:sp>
        <p:nvSpPr>
          <p:cNvPr id="89" name="TextBox 88"/>
          <p:cNvSpPr txBox="1"/>
          <p:nvPr/>
        </p:nvSpPr>
        <p:spPr>
          <a:xfrm>
            <a:off x="6287871" y="5557266"/>
            <a:ext cx="2554147" cy="220599"/>
          </a:xfrm>
          <a:prstGeom prst="rect">
            <a:avLst/>
          </a:prstGeom>
          <a:noFill/>
        </p:spPr>
        <p:txBody>
          <a:bodyPr wrap="square" lIns="45720" rIns="45720" tIns="18288" bIns="18288" anchor="t">
            <a:spAutoFit/>
          </a:bodyPr>
          <a:lstStyle/>
          <a:p>
            <a:pPr algn="l"/>
            <a:r>
              <a:rPr sz="850" b="0" i="1">
                <a:solidFill>
                  <a:srgbClr val="2C3E50"/>
                </a:solidFill>
                <a:latin typeface="Arial"/>
              </a:rPr>
              <a:t>FI · HR · Procurement · Reg.</a:t>
            </a:r>
          </a:p>
        </p:txBody>
      </p:sp>
      <p:sp>
        <p:nvSpPr>
          <p:cNvPr id="90" name="Rounded Rectangle 89"/>
          <p:cNvSpPr/>
          <p:nvPr/>
        </p:nvSpPr>
        <p:spPr>
          <a:xfrm>
            <a:off x="6150711" y="5860161"/>
            <a:ext cx="2737027" cy="494919"/>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6150711" y="5860161"/>
            <a:ext cx="54864" cy="494919"/>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6287871" y="5896737"/>
            <a:ext cx="2554147" cy="219456"/>
          </a:xfrm>
          <a:prstGeom prst="rect">
            <a:avLst/>
          </a:prstGeom>
          <a:noFill/>
        </p:spPr>
        <p:txBody>
          <a:bodyPr wrap="square" lIns="45720" rIns="45720" tIns="18288" bIns="18288" anchor="t">
            <a:spAutoFit/>
          </a:bodyPr>
          <a:lstStyle/>
          <a:p>
            <a:pPr algn="l"/>
            <a:r>
              <a:rPr sz="1000" b="1" i="0">
                <a:solidFill>
                  <a:srgbClr val="2E7D32"/>
                </a:solidFill>
                <a:latin typeface="Arial"/>
              </a:rPr>
              <a:t>Iberdrola Corp Services</a:t>
            </a:r>
          </a:p>
        </p:txBody>
      </p:sp>
      <p:sp>
        <p:nvSpPr>
          <p:cNvPr id="93" name="TextBox 92"/>
          <p:cNvSpPr txBox="1"/>
          <p:nvPr/>
        </p:nvSpPr>
        <p:spPr>
          <a:xfrm>
            <a:off x="6287871" y="6107049"/>
            <a:ext cx="2554147" cy="220599"/>
          </a:xfrm>
          <a:prstGeom prst="rect">
            <a:avLst/>
          </a:prstGeom>
          <a:noFill/>
        </p:spPr>
        <p:txBody>
          <a:bodyPr wrap="square" lIns="45720" rIns="45720" tIns="18288" bIns="18288" anchor="t">
            <a:spAutoFit/>
          </a:bodyPr>
          <a:lstStyle/>
          <a:p>
            <a:pPr algn="l"/>
            <a:r>
              <a:rPr sz="850" b="0" i="1">
                <a:solidFill>
                  <a:srgbClr val="2C3E50"/>
                </a:solidFill>
                <a:latin typeface="Arial"/>
              </a:rPr>
              <a:t>Global SAP · Corp. Apps</a:t>
            </a:r>
          </a:p>
        </p:txBody>
      </p:sp>
      <p:sp>
        <p:nvSpPr>
          <p:cNvPr id="94" name="Rounded Rectangle 93"/>
          <p:cNvSpPr/>
          <p:nvPr/>
        </p:nvSpPr>
        <p:spPr>
          <a:xfrm>
            <a:off x="8997467" y="2011680"/>
            <a:ext cx="2737027" cy="1030986"/>
          </a:xfrm>
          <a:prstGeom prst="roundRect">
            <a:avLst>
              <a:gd name="adj" fmla="val 5000"/>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8997467" y="2011680"/>
            <a:ext cx="2737027" cy="329184"/>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9088907" y="2039112"/>
            <a:ext cx="2554147" cy="292608"/>
          </a:xfrm>
          <a:prstGeom prst="rect">
            <a:avLst/>
          </a:prstGeom>
          <a:noFill/>
        </p:spPr>
        <p:txBody>
          <a:bodyPr wrap="square" lIns="45720" rIns="45720" tIns="18288" bIns="18288" anchor="ctr">
            <a:spAutoFit/>
          </a:bodyPr>
          <a:lstStyle/>
          <a:p>
            <a:pPr algn="l"/>
            <a:r>
              <a:rPr sz="1000" b="1" i="0">
                <a:solidFill>
                  <a:srgbClr val="FFFFFF"/>
                </a:solidFill>
                <a:latin typeface="Arial"/>
              </a:rPr>
              <a:t>STANDARD</a:t>
            </a:r>
          </a:p>
        </p:txBody>
      </p:sp>
      <p:sp>
        <p:nvSpPr>
          <p:cNvPr id="97" name="TextBox 96"/>
          <p:cNvSpPr txBox="1"/>
          <p:nvPr/>
        </p:nvSpPr>
        <p:spPr>
          <a:xfrm>
            <a:off x="9134627" y="2395728"/>
            <a:ext cx="2462707" cy="573786"/>
          </a:xfrm>
          <a:prstGeom prst="rect">
            <a:avLst/>
          </a:prstGeom>
          <a:noFill/>
        </p:spPr>
        <p:txBody>
          <a:bodyPr wrap="square" lIns="45720" rIns="45720" tIns="18288" bIns="18288" anchor="t">
            <a:spAutoFit/>
          </a:bodyPr>
          <a:lstStyle/>
          <a:p>
            <a:pPr algn="l"/>
            <a:r>
              <a:rPr sz="900" b="0" i="0">
                <a:solidFill>
                  <a:srgbClr val="2C3E50"/>
                </a:solidFill>
                <a:latin typeface="Arial"/>
              </a:rPr>
              <a:t>Default flow — pulled by capacity, prioritized by Pain Score.</a:t>
            </a:r>
          </a:p>
        </p:txBody>
      </p:sp>
      <p:sp>
        <p:nvSpPr>
          <p:cNvPr id="98" name="TextBox 97"/>
          <p:cNvSpPr txBox="1"/>
          <p:nvPr/>
        </p:nvSpPr>
        <p:spPr>
          <a:xfrm>
            <a:off x="9134627" y="2750058"/>
            <a:ext cx="2462707" cy="256032"/>
          </a:xfrm>
          <a:prstGeom prst="rect">
            <a:avLst/>
          </a:prstGeom>
          <a:noFill/>
        </p:spPr>
        <p:txBody>
          <a:bodyPr wrap="square" lIns="45720" rIns="45720" tIns="18288" bIns="18288" anchor="t">
            <a:spAutoFit/>
          </a:bodyPr>
          <a:lstStyle/>
          <a:p>
            <a:pPr algn="l"/>
            <a:r>
              <a:rPr sz="800" b="0" i="1">
                <a:solidFill>
                  <a:srgbClr val="2C578B"/>
                </a:solidFill>
                <a:latin typeface="Arial"/>
              </a:rPr>
              <a:t>Bulk of demand · no special policy.</a:t>
            </a:r>
          </a:p>
        </p:txBody>
      </p:sp>
      <p:sp>
        <p:nvSpPr>
          <p:cNvPr id="99" name="Rounded Rectangle 98"/>
          <p:cNvSpPr/>
          <p:nvPr/>
        </p:nvSpPr>
        <p:spPr>
          <a:xfrm>
            <a:off x="8997467" y="3115818"/>
            <a:ext cx="2737027" cy="1030986"/>
          </a:xfrm>
          <a:prstGeom prst="roundRect">
            <a:avLst>
              <a:gd name="adj" fmla="val 5000"/>
            </a:avLst>
          </a:prstGeom>
          <a:solidFill>
            <a:srgbClr val="FFFFFF"/>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8997467" y="3115818"/>
            <a:ext cx="2737027" cy="329184"/>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9088907" y="3143250"/>
            <a:ext cx="2554147" cy="292608"/>
          </a:xfrm>
          <a:prstGeom prst="rect">
            <a:avLst/>
          </a:prstGeom>
          <a:noFill/>
        </p:spPr>
        <p:txBody>
          <a:bodyPr wrap="square" lIns="45720" rIns="45720" tIns="18288" bIns="18288" anchor="ctr">
            <a:spAutoFit/>
          </a:bodyPr>
          <a:lstStyle/>
          <a:p>
            <a:pPr algn="l"/>
            <a:r>
              <a:rPr sz="1000" b="1" i="0">
                <a:solidFill>
                  <a:srgbClr val="FFFFFF"/>
                </a:solidFill>
                <a:latin typeface="Arial"/>
              </a:rPr>
              <a:t>FIXED-DATE</a:t>
            </a:r>
          </a:p>
        </p:txBody>
      </p:sp>
      <p:sp>
        <p:nvSpPr>
          <p:cNvPr id="102" name="TextBox 101"/>
          <p:cNvSpPr txBox="1"/>
          <p:nvPr/>
        </p:nvSpPr>
        <p:spPr>
          <a:xfrm>
            <a:off x="9134627" y="3499866"/>
            <a:ext cx="2462707" cy="573786"/>
          </a:xfrm>
          <a:prstGeom prst="rect">
            <a:avLst/>
          </a:prstGeom>
          <a:noFill/>
        </p:spPr>
        <p:txBody>
          <a:bodyPr wrap="square" lIns="45720" rIns="45720" tIns="18288" bIns="18288" anchor="t">
            <a:spAutoFit/>
          </a:bodyPr>
          <a:lstStyle/>
          <a:p>
            <a:pPr algn="l"/>
            <a:r>
              <a:rPr sz="900" b="0" i="0">
                <a:solidFill>
                  <a:srgbClr val="2C3E50"/>
                </a:solidFill>
                <a:latin typeface="Arial"/>
              </a:rPr>
              <a:t>External deadline (regulatory · contractual). Locked sequence.</a:t>
            </a:r>
          </a:p>
        </p:txBody>
      </p:sp>
      <p:sp>
        <p:nvSpPr>
          <p:cNvPr id="103" name="TextBox 102"/>
          <p:cNvSpPr txBox="1"/>
          <p:nvPr/>
        </p:nvSpPr>
        <p:spPr>
          <a:xfrm>
            <a:off x="9134627" y="3854196"/>
            <a:ext cx="2462707" cy="256032"/>
          </a:xfrm>
          <a:prstGeom prst="rect">
            <a:avLst/>
          </a:prstGeom>
          <a:noFill/>
        </p:spPr>
        <p:txBody>
          <a:bodyPr wrap="square" lIns="45720" rIns="45720" tIns="18288" bIns="18288" anchor="t">
            <a:spAutoFit/>
          </a:bodyPr>
          <a:lstStyle/>
          <a:p>
            <a:pPr algn="l"/>
            <a:r>
              <a:rPr sz="800" b="0" i="1">
                <a:solidFill>
                  <a:srgbClr val="E88B2F"/>
                </a:solidFill>
                <a:latin typeface="Arial"/>
              </a:rPr>
              <a:t>Slot reserved at portfolio gate.</a:t>
            </a:r>
          </a:p>
        </p:txBody>
      </p:sp>
      <p:sp>
        <p:nvSpPr>
          <p:cNvPr id="104" name="Rounded Rectangle 103"/>
          <p:cNvSpPr/>
          <p:nvPr/>
        </p:nvSpPr>
        <p:spPr>
          <a:xfrm>
            <a:off x="8997467" y="4219956"/>
            <a:ext cx="2737027" cy="1030986"/>
          </a:xfrm>
          <a:prstGeom prst="roundRect">
            <a:avLst>
              <a:gd name="adj" fmla="val 5000"/>
            </a:avLst>
          </a:prstGeom>
          <a:solidFill>
            <a:srgbClr val="FFFFFF"/>
          </a:solidFill>
          <a:ln w="1905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8997467" y="4219956"/>
            <a:ext cx="2737027" cy="329184"/>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9088907" y="4247388"/>
            <a:ext cx="2554147" cy="292608"/>
          </a:xfrm>
          <a:prstGeom prst="rect">
            <a:avLst/>
          </a:prstGeom>
          <a:noFill/>
        </p:spPr>
        <p:txBody>
          <a:bodyPr wrap="square" lIns="45720" rIns="45720" tIns="18288" bIns="18288" anchor="ctr">
            <a:spAutoFit/>
          </a:bodyPr>
          <a:lstStyle/>
          <a:p>
            <a:pPr algn="l"/>
            <a:r>
              <a:rPr sz="1000" b="1" i="0">
                <a:solidFill>
                  <a:srgbClr val="FFFFFF"/>
                </a:solidFill>
                <a:latin typeface="Arial"/>
              </a:rPr>
              <a:t>EXPEDITE — capped ≤20% throughput</a:t>
            </a:r>
          </a:p>
        </p:txBody>
      </p:sp>
      <p:sp>
        <p:nvSpPr>
          <p:cNvPr id="107" name="TextBox 106"/>
          <p:cNvSpPr txBox="1"/>
          <p:nvPr/>
        </p:nvSpPr>
        <p:spPr>
          <a:xfrm>
            <a:off x="9134627" y="4604004"/>
            <a:ext cx="2462707" cy="573786"/>
          </a:xfrm>
          <a:prstGeom prst="rect">
            <a:avLst/>
          </a:prstGeom>
          <a:noFill/>
        </p:spPr>
        <p:txBody>
          <a:bodyPr wrap="square" lIns="45720" rIns="45720" tIns="18288" bIns="18288" anchor="t">
            <a:spAutoFit/>
          </a:bodyPr>
          <a:lstStyle/>
          <a:p>
            <a:pPr algn="l"/>
            <a:r>
              <a:rPr sz="900" b="0" i="0">
                <a:solidFill>
                  <a:srgbClr val="2C3E50"/>
                </a:solidFill>
                <a:latin typeface="Arial"/>
              </a:rPr>
              <a:t>Bypass priority for genuine urgency. Sponsor approval logged.</a:t>
            </a:r>
          </a:p>
        </p:txBody>
      </p:sp>
      <p:sp>
        <p:nvSpPr>
          <p:cNvPr id="108" name="TextBox 107"/>
          <p:cNvSpPr txBox="1"/>
          <p:nvPr/>
        </p:nvSpPr>
        <p:spPr>
          <a:xfrm>
            <a:off x="9134627" y="4958334"/>
            <a:ext cx="2462707" cy="256032"/>
          </a:xfrm>
          <a:prstGeom prst="rect">
            <a:avLst/>
          </a:prstGeom>
          <a:noFill/>
        </p:spPr>
        <p:txBody>
          <a:bodyPr wrap="square" lIns="45720" rIns="45720" tIns="18288" bIns="18288" anchor="t">
            <a:spAutoFit/>
          </a:bodyPr>
          <a:lstStyle/>
          <a:p>
            <a:pPr algn="l"/>
            <a:r>
              <a:rPr sz="800" b="0" i="1">
                <a:solidFill>
                  <a:srgbClr val="B63B1F"/>
                </a:solidFill>
                <a:latin typeface="Arial"/>
              </a:rPr>
              <a:t>Replaces 'regulatory always wins'.</a:t>
            </a:r>
          </a:p>
        </p:txBody>
      </p:sp>
      <p:sp>
        <p:nvSpPr>
          <p:cNvPr id="109" name="Rounded Rectangle 108"/>
          <p:cNvSpPr/>
          <p:nvPr/>
        </p:nvSpPr>
        <p:spPr>
          <a:xfrm>
            <a:off x="8997467" y="5324094"/>
            <a:ext cx="2737027" cy="1030986"/>
          </a:xfrm>
          <a:prstGeom prst="roundRect">
            <a:avLst>
              <a:gd name="adj" fmla="val 5000"/>
            </a:avLst>
          </a:prstGeom>
          <a:solidFill>
            <a:srgbClr val="FFFFFF"/>
          </a:solidFill>
          <a:ln w="1905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8997467" y="5324094"/>
            <a:ext cx="2737027" cy="329184"/>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088907" y="5351526"/>
            <a:ext cx="2554147" cy="292608"/>
          </a:xfrm>
          <a:prstGeom prst="rect">
            <a:avLst/>
          </a:prstGeom>
          <a:noFill/>
        </p:spPr>
        <p:txBody>
          <a:bodyPr wrap="square" lIns="45720" rIns="45720" tIns="18288" bIns="18288" anchor="ctr">
            <a:spAutoFit/>
          </a:bodyPr>
          <a:lstStyle/>
          <a:p>
            <a:pPr algn="l"/>
            <a:r>
              <a:rPr sz="1000" b="1" i="0">
                <a:solidFill>
                  <a:srgbClr val="FFFFFF"/>
                </a:solidFill>
                <a:latin typeface="Arial"/>
              </a:rPr>
              <a:t>INTANGIBLE</a:t>
            </a:r>
          </a:p>
        </p:txBody>
      </p:sp>
      <p:sp>
        <p:nvSpPr>
          <p:cNvPr id="112" name="TextBox 111"/>
          <p:cNvSpPr txBox="1"/>
          <p:nvPr/>
        </p:nvSpPr>
        <p:spPr>
          <a:xfrm>
            <a:off x="9134627" y="5708142"/>
            <a:ext cx="2462707" cy="573786"/>
          </a:xfrm>
          <a:prstGeom prst="rect">
            <a:avLst/>
          </a:prstGeom>
          <a:noFill/>
        </p:spPr>
        <p:txBody>
          <a:bodyPr wrap="square" lIns="45720" rIns="45720" tIns="18288" bIns="18288" anchor="t">
            <a:spAutoFit/>
          </a:bodyPr>
          <a:lstStyle/>
          <a:p>
            <a:pPr algn="l"/>
            <a:r>
              <a:rPr sz="900" b="0" i="0">
                <a:solidFill>
                  <a:srgbClr val="2C3E50"/>
                </a:solidFill>
                <a:latin typeface="Arial"/>
              </a:rPr>
              <a:t>Tech debt · platform health · spike work.</a:t>
            </a:r>
          </a:p>
        </p:txBody>
      </p:sp>
      <p:sp>
        <p:nvSpPr>
          <p:cNvPr id="113" name="TextBox 112"/>
          <p:cNvSpPr txBox="1"/>
          <p:nvPr/>
        </p:nvSpPr>
        <p:spPr>
          <a:xfrm>
            <a:off x="9134627" y="6062472"/>
            <a:ext cx="2462707" cy="256032"/>
          </a:xfrm>
          <a:prstGeom prst="rect">
            <a:avLst/>
          </a:prstGeom>
          <a:noFill/>
        </p:spPr>
        <p:txBody>
          <a:bodyPr wrap="square" lIns="45720" rIns="45720" tIns="18288" bIns="18288" anchor="t">
            <a:spAutoFit/>
          </a:bodyPr>
          <a:lstStyle/>
          <a:p>
            <a:pPr algn="l"/>
            <a:r>
              <a:rPr sz="800" b="0" i="1">
                <a:solidFill>
                  <a:srgbClr val="7A66B8"/>
                </a:solidFill>
                <a:latin typeface="Arial"/>
              </a:rPr>
              <a:t>Reserved 10–15% capacity per quarter.</a:t>
            </a:r>
          </a:p>
        </p:txBody>
      </p:sp>
      <p:sp>
        <p:nvSpPr>
          <p:cNvPr id="114" name="TextBox 113"/>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FUTURE STATE GUIDING PRINCIPLES</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THREE PROBLEM AREAS CONVERGE INTO SEVEN STRUCTURAL GAPS</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TextBox 5"/>
          <p:cNvSpPr txBox="1"/>
          <p:nvPr/>
        </p:nvSpPr>
        <p:spPr>
          <a:xfrm>
            <a:off x="457200" y="914400"/>
            <a:ext cx="11277295" cy="365760"/>
          </a:xfrm>
          <a:prstGeom prst="rect">
            <a:avLst/>
          </a:prstGeom>
          <a:noFill/>
        </p:spPr>
        <p:txBody>
          <a:bodyPr wrap="square" lIns="45720" rIns="45720" tIns="18288" bIns="18288" anchor="t">
            <a:spAutoFit/>
          </a:bodyPr>
          <a:lstStyle/>
          <a:p>
            <a:pPr algn="l"/>
            <a:r>
              <a:rPr sz="1100" b="1" i="1">
                <a:solidFill>
                  <a:srgbClr val="2C578B"/>
                </a:solidFill>
                <a:latin typeface="Arial"/>
              </a:rPr>
              <a:t>Our assessment surfaces three connected problem areas — operating constraints, delivery pain points, and structural misalignment — that map to seven structural gaps in the current model.</a:t>
            </a:r>
          </a:p>
        </p:txBody>
      </p:sp>
      <p:sp>
        <p:nvSpPr>
          <p:cNvPr id="7" name="Rounded Rectangle 6"/>
          <p:cNvSpPr/>
          <p:nvPr/>
        </p:nvSpPr>
        <p:spPr>
          <a:xfrm>
            <a:off x="457200" y="1417320"/>
            <a:ext cx="3698138" cy="2697480"/>
          </a:xfrm>
          <a:prstGeom prst="roundRect">
            <a:avLst>
              <a:gd name="adj" fmla="val 4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17320"/>
            <a:ext cx="3698138"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63040"/>
            <a:ext cx="3515258" cy="365760"/>
          </a:xfrm>
          <a:prstGeom prst="rect">
            <a:avLst/>
          </a:prstGeom>
          <a:noFill/>
        </p:spPr>
        <p:txBody>
          <a:bodyPr wrap="square" lIns="45720" rIns="45720" tIns="18288" bIns="18288" anchor="ctr">
            <a:spAutoFit/>
          </a:bodyPr>
          <a:lstStyle/>
          <a:p>
            <a:pPr algn="ctr"/>
            <a:r>
              <a:rPr sz="1100" b="1" i="0">
                <a:solidFill>
                  <a:srgbClr val="FFFFFF"/>
                </a:solidFill>
                <a:latin typeface="Arial"/>
              </a:rPr>
              <a:t>OPERATING CONSTRAINTS</a:t>
            </a:r>
          </a:p>
        </p:txBody>
      </p:sp>
      <p:sp>
        <p:nvSpPr>
          <p:cNvPr id="10" name="TextBox 9"/>
          <p:cNvSpPr txBox="1"/>
          <p:nvPr/>
        </p:nvSpPr>
        <p:spPr>
          <a:xfrm>
            <a:off x="594360" y="1920240"/>
            <a:ext cx="3423818" cy="502920"/>
          </a:xfrm>
          <a:prstGeom prst="rect">
            <a:avLst/>
          </a:prstGeom>
          <a:noFill/>
        </p:spPr>
        <p:txBody>
          <a:bodyPr wrap="square" lIns="45720" rIns="45720" tIns="18288" bIns="18288" anchor="t">
            <a:spAutoFit/>
          </a:bodyPr>
          <a:lstStyle/>
          <a:p>
            <a:pPr algn="l"/>
            <a:r>
              <a:rPr sz="950" b="0" i="1">
                <a:solidFill>
                  <a:srgbClr val="2C578B"/>
                </a:solidFill>
                <a:latin typeface="Arial"/>
              </a:rPr>
              <a:t>Structural and operational limitations constraining the model's ability to scale and deliver value consistently.</a:t>
            </a:r>
          </a:p>
        </p:txBody>
      </p:sp>
      <p:sp>
        <p:nvSpPr>
          <p:cNvPr id="11" name="TextBox 10"/>
          <p:cNvSpPr txBox="1"/>
          <p:nvPr/>
        </p:nvSpPr>
        <p:spPr>
          <a:xfrm>
            <a:off x="640080" y="2423160"/>
            <a:ext cx="3332378" cy="1600200"/>
          </a:xfrm>
          <a:prstGeom prst="rect">
            <a:avLst/>
          </a:prstGeom>
          <a:noFill/>
        </p:spPr>
        <p:txBody>
          <a:bodyPr wrap="square" lIns="45720" rIns="45720" tIns="36576" bIns="36576">
            <a:spAutoFit/>
          </a:bodyPr>
          <a:lstStyle/>
          <a:p>
            <a:pPr>
              <a:lnSpc>
                <a:spcPct val="130000"/>
              </a:lnSpc>
            </a:pPr>
            <a:r>
              <a:rPr sz="900" b="0">
                <a:solidFill>
                  <a:srgbClr val="2C3E50"/>
                </a:solidFill>
                <a:latin typeface="Arial"/>
              </a:rPr>
              <a:t>•  People — capacity &amp; accountability are structurally constrained</a:t>
            </a:r>
          </a:p>
          <a:p>
            <a:pPr>
              <a:lnSpc>
                <a:spcPct val="130000"/>
              </a:lnSpc>
            </a:pPr>
            <a:r>
              <a:rPr sz="900" b="0">
                <a:solidFill>
                  <a:srgbClr val="2C3E50"/>
                </a:solidFill>
                <a:latin typeface="Arial"/>
              </a:rPr>
              <a:t>•  Process — lack of standardization drives inconsistency</a:t>
            </a:r>
          </a:p>
          <a:p>
            <a:pPr>
              <a:lnSpc>
                <a:spcPct val="130000"/>
              </a:lnSpc>
            </a:pPr>
            <a:r>
              <a:rPr sz="900" b="0">
                <a:solidFill>
                  <a:srgbClr val="2C3E50"/>
                </a:solidFill>
                <a:latin typeface="Arial"/>
              </a:rPr>
              <a:t>•  Tools — fragmented ecosystem limits visibility and control</a:t>
            </a:r>
          </a:p>
          <a:p>
            <a:pPr>
              <a:lnSpc>
                <a:spcPct val="130000"/>
              </a:lnSpc>
            </a:pPr>
            <a:r>
              <a:rPr sz="900" b="0">
                <a:solidFill>
                  <a:srgbClr val="2C3E50"/>
                </a:solidFill>
                <a:latin typeface="Arial"/>
              </a:rPr>
              <a:t>•  Governance — decision-making is fragmented</a:t>
            </a:r>
          </a:p>
        </p:txBody>
      </p:sp>
      <p:sp>
        <p:nvSpPr>
          <p:cNvPr id="12" name="Rounded Rectangle 11"/>
          <p:cNvSpPr/>
          <p:nvPr/>
        </p:nvSpPr>
        <p:spPr>
          <a:xfrm>
            <a:off x="4292498" y="1417320"/>
            <a:ext cx="3698138" cy="269748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2498" y="1417320"/>
            <a:ext cx="3698138" cy="4114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3938" y="1463040"/>
            <a:ext cx="3515258" cy="365760"/>
          </a:xfrm>
          <a:prstGeom prst="rect">
            <a:avLst/>
          </a:prstGeom>
          <a:noFill/>
        </p:spPr>
        <p:txBody>
          <a:bodyPr wrap="square" lIns="45720" rIns="45720" tIns="18288" bIns="18288" anchor="ctr">
            <a:spAutoFit/>
          </a:bodyPr>
          <a:lstStyle/>
          <a:p>
            <a:pPr algn="ctr"/>
            <a:r>
              <a:rPr sz="1100" b="1" i="0">
                <a:solidFill>
                  <a:srgbClr val="FFFFFF"/>
                </a:solidFill>
                <a:latin typeface="Arial"/>
              </a:rPr>
              <a:t>DELIVERY EXPERIENCE &amp; PAIN POINTS</a:t>
            </a:r>
          </a:p>
        </p:txBody>
      </p:sp>
      <p:sp>
        <p:nvSpPr>
          <p:cNvPr id="15" name="TextBox 14"/>
          <p:cNvSpPr txBox="1"/>
          <p:nvPr/>
        </p:nvSpPr>
        <p:spPr>
          <a:xfrm>
            <a:off x="4429658" y="1920240"/>
            <a:ext cx="3423818" cy="502920"/>
          </a:xfrm>
          <a:prstGeom prst="rect">
            <a:avLst/>
          </a:prstGeom>
          <a:noFill/>
        </p:spPr>
        <p:txBody>
          <a:bodyPr wrap="square" lIns="45720" rIns="45720" tIns="18288" bIns="18288" anchor="t">
            <a:spAutoFit/>
          </a:bodyPr>
          <a:lstStyle/>
          <a:p>
            <a:pPr algn="l"/>
            <a:r>
              <a:rPr sz="950" b="0" i="1">
                <a:solidFill>
                  <a:srgbClr val="F9A825"/>
                </a:solidFill>
                <a:latin typeface="Arial"/>
              </a:rPr>
              <a:t>Friction points impacting execution and the business or user experience.</a:t>
            </a:r>
          </a:p>
        </p:txBody>
      </p:sp>
      <p:sp>
        <p:nvSpPr>
          <p:cNvPr id="16" name="TextBox 15"/>
          <p:cNvSpPr txBox="1"/>
          <p:nvPr/>
        </p:nvSpPr>
        <p:spPr>
          <a:xfrm>
            <a:off x="4475378" y="2423160"/>
            <a:ext cx="3332378" cy="1600200"/>
          </a:xfrm>
          <a:prstGeom prst="rect">
            <a:avLst/>
          </a:prstGeom>
          <a:noFill/>
        </p:spPr>
        <p:txBody>
          <a:bodyPr wrap="square" lIns="45720" rIns="45720" tIns="36576" bIns="36576">
            <a:spAutoFit/>
          </a:bodyPr>
          <a:lstStyle/>
          <a:p>
            <a:pPr>
              <a:lnSpc>
                <a:spcPct val="130000"/>
              </a:lnSpc>
            </a:pPr>
            <a:r>
              <a:rPr sz="900" b="0">
                <a:solidFill>
                  <a:srgbClr val="2C3E50"/>
                </a:solidFill>
                <a:latin typeface="Arial"/>
              </a:rPr>
              <a:t>•  Fragmented demand and intake drive reactive, non-strategic delivery</a:t>
            </a:r>
          </a:p>
          <a:p>
            <a:pPr>
              <a:lnSpc>
                <a:spcPct val="130000"/>
              </a:lnSpc>
            </a:pPr>
            <a:r>
              <a:rPr sz="900" b="0">
                <a:solidFill>
                  <a:srgbClr val="2C3E50"/>
                </a:solidFill>
                <a:latin typeface="Arial"/>
              </a:rPr>
              <a:t>•  Lack of clear product ownership weakens accountability</a:t>
            </a:r>
          </a:p>
          <a:p>
            <a:pPr>
              <a:lnSpc>
                <a:spcPct val="130000"/>
              </a:lnSpc>
            </a:pPr>
            <a:r>
              <a:rPr sz="900" b="0">
                <a:solidFill>
                  <a:srgbClr val="2C3E50"/>
                </a:solidFill>
                <a:latin typeface="Arial"/>
              </a:rPr>
              <a:t>•  Limited portfolio visibility constrains end-to-end planning</a:t>
            </a:r>
          </a:p>
          <a:p>
            <a:pPr>
              <a:lnSpc>
                <a:spcPct val="130000"/>
              </a:lnSpc>
            </a:pPr>
            <a:r>
              <a:rPr sz="900" b="0">
                <a:solidFill>
                  <a:srgbClr val="2C3E50"/>
                </a:solidFill>
                <a:latin typeface="Arial"/>
              </a:rPr>
              <a:t>•  Uncoordinated capacity and overlapping initiatives reduce impact</a:t>
            </a:r>
          </a:p>
        </p:txBody>
      </p:sp>
      <p:sp>
        <p:nvSpPr>
          <p:cNvPr id="17" name="Rounded Rectangle 16"/>
          <p:cNvSpPr/>
          <p:nvPr/>
        </p:nvSpPr>
        <p:spPr>
          <a:xfrm>
            <a:off x="8127796" y="1417320"/>
            <a:ext cx="3698138" cy="2697480"/>
          </a:xfrm>
          <a:prstGeom prst="roundRect">
            <a:avLst>
              <a:gd name="adj" fmla="val 4000"/>
            </a:avLst>
          </a:prstGeom>
          <a:solidFill>
            <a:srgbClr val="FFFFFF"/>
          </a:solidFill>
          <a:ln w="2540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27796" y="1417320"/>
            <a:ext cx="3698138" cy="4114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19236" y="1463040"/>
            <a:ext cx="3515258" cy="365760"/>
          </a:xfrm>
          <a:prstGeom prst="rect">
            <a:avLst/>
          </a:prstGeom>
          <a:noFill/>
        </p:spPr>
        <p:txBody>
          <a:bodyPr wrap="square" lIns="45720" rIns="45720" tIns="18288" bIns="18288" anchor="ctr">
            <a:spAutoFit/>
          </a:bodyPr>
          <a:lstStyle/>
          <a:p>
            <a:pPr algn="ctr"/>
            <a:r>
              <a:rPr sz="1100" b="1" i="0">
                <a:solidFill>
                  <a:srgbClr val="FFFFFF"/>
                </a:solidFill>
                <a:latin typeface="Arial"/>
              </a:rPr>
              <a:t>STRUCTURAL MISALIGNMENT</a:t>
            </a:r>
          </a:p>
        </p:txBody>
      </p:sp>
      <p:sp>
        <p:nvSpPr>
          <p:cNvPr id="20" name="TextBox 19"/>
          <p:cNvSpPr txBox="1"/>
          <p:nvPr/>
        </p:nvSpPr>
        <p:spPr>
          <a:xfrm>
            <a:off x="8264956" y="1920240"/>
            <a:ext cx="3423818" cy="502920"/>
          </a:xfrm>
          <a:prstGeom prst="rect">
            <a:avLst/>
          </a:prstGeom>
          <a:noFill/>
        </p:spPr>
        <p:txBody>
          <a:bodyPr wrap="square" lIns="45720" rIns="45720" tIns="18288" bIns="18288" anchor="t">
            <a:spAutoFit/>
          </a:bodyPr>
          <a:lstStyle/>
          <a:p>
            <a:pPr algn="l"/>
            <a:r>
              <a:rPr sz="950" b="0" i="1">
                <a:solidFill>
                  <a:srgbClr val="B63B1F"/>
                </a:solidFill>
                <a:latin typeface="Arial"/>
              </a:rPr>
              <a:t>Misalignment between organizational structure, governance model, and the way products are managed and delivered.</a:t>
            </a:r>
          </a:p>
        </p:txBody>
      </p:sp>
      <p:sp>
        <p:nvSpPr>
          <p:cNvPr id="21" name="TextBox 20"/>
          <p:cNvSpPr txBox="1"/>
          <p:nvPr/>
        </p:nvSpPr>
        <p:spPr>
          <a:xfrm>
            <a:off x="8310676" y="2423160"/>
            <a:ext cx="3332378" cy="1600200"/>
          </a:xfrm>
          <a:prstGeom prst="rect">
            <a:avLst/>
          </a:prstGeom>
          <a:noFill/>
        </p:spPr>
        <p:txBody>
          <a:bodyPr wrap="square" lIns="45720" rIns="45720" tIns="36576" bIns="36576">
            <a:spAutoFit/>
          </a:bodyPr>
          <a:lstStyle/>
          <a:p>
            <a:pPr>
              <a:lnSpc>
                <a:spcPct val="130000"/>
              </a:lnSpc>
            </a:pPr>
            <a:r>
              <a:rPr sz="900" b="0">
                <a:solidFill>
                  <a:srgbClr val="2C3E50"/>
                </a:solidFill>
                <a:latin typeface="Arial"/>
              </a:rPr>
              <a:t>•  No Product Entry Point</a:t>
            </a:r>
          </a:p>
          <a:p>
            <a:pPr>
              <a:lnSpc>
                <a:spcPct val="130000"/>
              </a:lnSpc>
            </a:pPr>
            <a:r>
              <a:rPr sz="900" b="0">
                <a:solidFill>
                  <a:srgbClr val="2C3E50"/>
                </a:solidFill>
                <a:latin typeface="Arial"/>
              </a:rPr>
              <a:t>•  No Value-Based Decision-Making</a:t>
            </a:r>
          </a:p>
          <a:p>
            <a:pPr>
              <a:lnSpc>
                <a:spcPct val="130000"/>
              </a:lnSpc>
            </a:pPr>
            <a:r>
              <a:rPr sz="900" b="0">
                <a:solidFill>
                  <a:srgbClr val="2C3E50"/>
                </a:solidFill>
                <a:latin typeface="Arial"/>
              </a:rPr>
              <a:t>•  No End-to-End Product View</a:t>
            </a:r>
          </a:p>
          <a:p>
            <a:pPr>
              <a:lnSpc>
                <a:spcPct val="130000"/>
              </a:lnSpc>
            </a:pPr>
            <a:r>
              <a:rPr sz="900" b="0">
                <a:solidFill>
                  <a:srgbClr val="2C3E50"/>
                </a:solidFill>
                <a:latin typeface="Arial"/>
              </a:rPr>
              <a:t>•  No Ownership of Outcomes</a:t>
            </a:r>
          </a:p>
          <a:p>
            <a:pPr>
              <a:lnSpc>
                <a:spcPct val="130000"/>
              </a:lnSpc>
            </a:pPr>
            <a:r>
              <a:rPr sz="900" b="0">
                <a:solidFill>
                  <a:srgbClr val="2C3E50"/>
                </a:solidFill>
                <a:latin typeface="Arial"/>
              </a:rPr>
              <a:t>•  No Product-Level Steering</a:t>
            </a:r>
          </a:p>
          <a:p>
            <a:pPr>
              <a:lnSpc>
                <a:spcPct val="130000"/>
              </a:lnSpc>
            </a:pPr>
            <a:r>
              <a:rPr sz="900" b="0">
                <a:solidFill>
                  <a:srgbClr val="2C3E50"/>
                </a:solidFill>
                <a:latin typeface="Arial"/>
              </a:rPr>
              <a:t>•  No Common Language of Value</a:t>
            </a:r>
          </a:p>
          <a:p>
            <a:pPr>
              <a:lnSpc>
                <a:spcPct val="130000"/>
              </a:lnSpc>
            </a:pPr>
            <a:r>
              <a:rPr sz="900" b="0">
                <a:solidFill>
                  <a:srgbClr val="2C3E50"/>
                </a:solidFill>
                <a:latin typeface="Arial"/>
              </a:rPr>
              <a:t>•  No Product Ownership Model</a:t>
            </a:r>
          </a:p>
        </p:txBody>
      </p:sp>
      <p:sp>
        <p:nvSpPr>
          <p:cNvPr id="22" name="TextBox 21"/>
          <p:cNvSpPr txBox="1"/>
          <p:nvPr/>
        </p:nvSpPr>
        <p:spPr>
          <a:xfrm>
            <a:off x="457200" y="4224528"/>
            <a:ext cx="11277295" cy="274320"/>
          </a:xfrm>
          <a:prstGeom prst="rect">
            <a:avLst/>
          </a:prstGeom>
          <a:noFill/>
        </p:spPr>
        <p:txBody>
          <a:bodyPr wrap="square" lIns="45720" rIns="45720" tIns="18288" bIns="18288" anchor="t">
            <a:spAutoFit/>
          </a:bodyPr>
          <a:lstStyle/>
          <a:p>
            <a:pPr algn="ctr"/>
            <a:r>
              <a:rPr sz="1100" b="1" i="1">
                <a:solidFill>
                  <a:srgbClr val="0F1C50"/>
                </a:solidFill>
                <a:latin typeface="Arial"/>
              </a:rPr>
              <a:t>▼  These problem areas converge into four Guiding Principles for the To-Be model  ▼</a:t>
            </a:r>
          </a:p>
        </p:txBody>
      </p:sp>
      <p:sp>
        <p:nvSpPr>
          <p:cNvPr id="23" name="Rounded Rectangle 22"/>
          <p:cNvSpPr/>
          <p:nvPr/>
        </p:nvSpPr>
        <p:spPr>
          <a:xfrm>
            <a:off x="457200" y="4590288"/>
            <a:ext cx="2750743" cy="1371600"/>
          </a:xfrm>
          <a:prstGeom prst="roundRect">
            <a:avLst>
              <a:gd name="adj" fmla="val 5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4645152"/>
            <a:ext cx="640080" cy="411480"/>
          </a:xfrm>
          <a:prstGeom prst="rect">
            <a:avLst/>
          </a:prstGeom>
          <a:noFill/>
        </p:spPr>
        <p:txBody>
          <a:bodyPr wrap="square" lIns="45720" rIns="45720" tIns="18288" bIns="18288" anchor="ctr">
            <a:spAutoFit/>
          </a:bodyPr>
          <a:lstStyle/>
          <a:p>
            <a:pPr algn="l"/>
            <a:r>
              <a:rPr sz="2200" b="1" i="0">
                <a:solidFill>
                  <a:srgbClr val="FFFFFF"/>
                </a:solidFill>
                <a:latin typeface="Arial"/>
              </a:rPr>
              <a:t>01</a:t>
            </a:r>
          </a:p>
        </p:txBody>
      </p:sp>
      <p:sp>
        <p:nvSpPr>
          <p:cNvPr id="25" name="TextBox 24"/>
          <p:cNvSpPr txBox="1"/>
          <p:nvPr/>
        </p:nvSpPr>
        <p:spPr>
          <a:xfrm>
            <a:off x="1234440" y="4645152"/>
            <a:ext cx="1836343" cy="411480"/>
          </a:xfrm>
          <a:prstGeom prst="rect">
            <a:avLst/>
          </a:prstGeom>
          <a:noFill/>
        </p:spPr>
        <p:txBody>
          <a:bodyPr wrap="square" lIns="45720" rIns="45720" tIns="18288" bIns="18288" anchor="ctr">
            <a:spAutoFit/>
          </a:bodyPr>
          <a:lstStyle/>
          <a:p>
            <a:pPr algn="l"/>
            <a:r>
              <a:rPr sz="1050" b="1" i="0">
                <a:solidFill>
                  <a:srgbClr val="FFFFFF"/>
                </a:solidFill>
                <a:latin typeface="Arial"/>
              </a:rPr>
              <a:t>DEMAND INTAKE &amp; STRUCTURING</a:t>
            </a:r>
          </a:p>
        </p:txBody>
      </p:sp>
      <p:sp>
        <p:nvSpPr>
          <p:cNvPr id="26" name="TextBox 25"/>
          <p:cNvSpPr txBox="1"/>
          <p:nvPr/>
        </p:nvSpPr>
        <p:spPr>
          <a:xfrm>
            <a:off x="594360" y="5093208"/>
            <a:ext cx="2476423" cy="777240"/>
          </a:xfrm>
          <a:prstGeom prst="rect">
            <a:avLst/>
          </a:prstGeom>
          <a:noFill/>
        </p:spPr>
        <p:txBody>
          <a:bodyPr wrap="square" lIns="45720" rIns="45720" tIns="18288" bIns="18288" anchor="t">
            <a:spAutoFit/>
          </a:bodyPr>
          <a:lstStyle/>
          <a:p>
            <a:pPr algn="l"/>
            <a:r>
              <a:rPr sz="950" b="0" i="1">
                <a:solidFill>
                  <a:srgbClr val="FFFFFF"/>
                </a:solidFill>
                <a:latin typeface="Arial"/>
              </a:rPr>
              <a:t>Unified intake layer · single entry point · standard criteria</a:t>
            </a:r>
          </a:p>
        </p:txBody>
      </p:sp>
      <p:sp>
        <p:nvSpPr>
          <p:cNvPr id="27" name="Rounded Rectangle 26"/>
          <p:cNvSpPr/>
          <p:nvPr/>
        </p:nvSpPr>
        <p:spPr>
          <a:xfrm>
            <a:off x="3299383" y="4590288"/>
            <a:ext cx="2750743" cy="1371600"/>
          </a:xfrm>
          <a:prstGeom prst="roundRect">
            <a:avLst>
              <a:gd name="adj" fmla="val 5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36543" y="4645152"/>
            <a:ext cx="640080" cy="411480"/>
          </a:xfrm>
          <a:prstGeom prst="rect">
            <a:avLst/>
          </a:prstGeom>
          <a:noFill/>
        </p:spPr>
        <p:txBody>
          <a:bodyPr wrap="square" lIns="45720" rIns="45720" tIns="18288" bIns="18288" anchor="ctr">
            <a:spAutoFit/>
          </a:bodyPr>
          <a:lstStyle/>
          <a:p>
            <a:pPr algn="l"/>
            <a:r>
              <a:rPr sz="2200" b="1" i="0">
                <a:solidFill>
                  <a:srgbClr val="FFFFFF"/>
                </a:solidFill>
                <a:latin typeface="Arial"/>
              </a:rPr>
              <a:t>02</a:t>
            </a:r>
          </a:p>
        </p:txBody>
      </p:sp>
      <p:sp>
        <p:nvSpPr>
          <p:cNvPr id="29" name="TextBox 28"/>
          <p:cNvSpPr txBox="1"/>
          <p:nvPr/>
        </p:nvSpPr>
        <p:spPr>
          <a:xfrm>
            <a:off x="4076623" y="4645152"/>
            <a:ext cx="1836343" cy="411480"/>
          </a:xfrm>
          <a:prstGeom prst="rect">
            <a:avLst/>
          </a:prstGeom>
          <a:noFill/>
        </p:spPr>
        <p:txBody>
          <a:bodyPr wrap="square" lIns="45720" rIns="45720" tIns="18288" bIns="18288" anchor="ctr">
            <a:spAutoFit/>
          </a:bodyPr>
          <a:lstStyle/>
          <a:p>
            <a:pPr algn="l"/>
            <a:r>
              <a:rPr sz="1050" b="1" i="0">
                <a:solidFill>
                  <a:srgbClr val="FFFFFF"/>
                </a:solidFill>
                <a:latin typeface="Arial"/>
              </a:rPr>
              <a:t>VALUE-BASED PRIORITIZATION</a:t>
            </a:r>
          </a:p>
        </p:txBody>
      </p:sp>
      <p:sp>
        <p:nvSpPr>
          <p:cNvPr id="30" name="TextBox 29"/>
          <p:cNvSpPr txBox="1"/>
          <p:nvPr/>
        </p:nvSpPr>
        <p:spPr>
          <a:xfrm>
            <a:off x="3436543" y="5093208"/>
            <a:ext cx="2476423" cy="777240"/>
          </a:xfrm>
          <a:prstGeom prst="rect">
            <a:avLst/>
          </a:prstGeom>
          <a:noFill/>
        </p:spPr>
        <p:txBody>
          <a:bodyPr wrap="square" lIns="45720" rIns="45720" tIns="18288" bIns="18288" anchor="t">
            <a:spAutoFit/>
          </a:bodyPr>
          <a:lstStyle/>
          <a:p>
            <a:pPr algn="l"/>
            <a:r>
              <a:rPr sz="950" b="0" i="1">
                <a:solidFill>
                  <a:srgbClr val="FFFFFF"/>
                </a:solidFill>
                <a:latin typeface="Arial"/>
              </a:rPr>
              <a:t>Common scoring · transparent · product-level backlog ownership</a:t>
            </a:r>
          </a:p>
        </p:txBody>
      </p:sp>
      <p:sp>
        <p:nvSpPr>
          <p:cNvPr id="31" name="Rounded Rectangle 30"/>
          <p:cNvSpPr/>
          <p:nvPr/>
        </p:nvSpPr>
        <p:spPr>
          <a:xfrm>
            <a:off x="6141567" y="4590288"/>
            <a:ext cx="2750743" cy="1371600"/>
          </a:xfrm>
          <a:prstGeom prst="roundRect">
            <a:avLst>
              <a:gd name="adj" fmla="val 5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78727" y="4645152"/>
            <a:ext cx="640080" cy="411480"/>
          </a:xfrm>
          <a:prstGeom prst="rect">
            <a:avLst/>
          </a:prstGeom>
          <a:noFill/>
        </p:spPr>
        <p:txBody>
          <a:bodyPr wrap="square" lIns="45720" rIns="45720" tIns="18288" bIns="18288" anchor="ctr">
            <a:spAutoFit/>
          </a:bodyPr>
          <a:lstStyle/>
          <a:p>
            <a:pPr algn="l"/>
            <a:r>
              <a:rPr sz="2200" b="1" i="0">
                <a:solidFill>
                  <a:srgbClr val="FFFFFF"/>
                </a:solidFill>
                <a:latin typeface="Arial"/>
              </a:rPr>
              <a:t>03</a:t>
            </a:r>
          </a:p>
        </p:txBody>
      </p:sp>
      <p:sp>
        <p:nvSpPr>
          <p:cNvPr id="33" name="TextBox 32"/>
          <p:cNvSpPr txBox="1"/>
          <p:nvPr/>
        </p:nvSpPr>
        <p:spPr>
          <a:xfrm>
            <a:off x="6918807" y="4645152"/>
            <a:ext cx="1836343" cy="411480"/>
          </a:xfrm>
          <a:prstGeom prst="rect">
            <a:avLst/>
          </a:prstGeom>
          <a:noFill/>
        </p:spPr>
        <p:txBody>
          <a:bodyPr wrap="square" lIns="45720" rIns="45720" tIns="18288" bIns="18288" anchor="ctr">
            <a:spAutoFit/>
          </a:bodyPr>
          <a:lstStyle/>
          <a:p>
            <a:pPr algn="l"/>
            <a:r>
              <a:rPr sz="1050" b="1" i="0">
                <a:solidFill>
                  <a:srgbClr val="FFFFFF"/>
                </a:solidFill>
                <a:latin typeface="Arial"/>
              </a:rPr>
              <a:t>PRODUCT PORTFOLIO MGMT &amp; PLANNING</a:t>
            </a:r>
          </a:p>
        </p:txBody>
      </p:sp>
      <p:sp>
        <p:nvSpPr>
          <p:cNvPr id="34" name="TextBox 33"/>
          <p:cNvSpPr txBox="1"/>
          <p:nvPr/>
        </p:nvSpPr>
        <p:spPr>
          <a:xfrm>
            <a:off x="6278727" y="5093208"/>
            <a:ext cx="2476423" cy="777240"/>
          </a:xfrm>
          <a:prstGeom prst="rect">
            <a:avLst/>
          </a:prstGeom>
          <a:noFill/>
        </p:spPr>
        <p:txBody>
          <a:bodyPr wrap="square" lIns="45720" rIns="45720" tIns="18288" bIns="18288" anchor="t">
            <a:spAutoFit/>
          </a:bodyPr>
          <a:lstStyle/>
          <a:p>
            <a:pPr algn="l"/>
            <a:r>
              <a:rPr sz="950" b="0" i="1">
                <a:solidFill>
                  <a:srgbClr val="FFFFFF"/>
                </a:solidFill>
                <a:latin typeface="Arial"/>
              </a:rPr>
              <a:t>Integrated view · capacity at product level · roadmaps</a:t>
            </a:r>
          </a:p>
        </p:txBody>
      </p:sp>
      <p:sp>
        <p:nvSpPr>
          <p:cNvPr id="35" name="Rounded Rectangle 34"/>
          <p:cNvSpPr/>
          <p:nvPr/>
        </p:nvSpPr>
        <p:spPr>
          <a:xfrm>
            <a:off x="8983751" y="4590288"/>
            <a:ext cx="2750743" cy="1371600"/>
          </a:xfrm>
          <a:prstGeom prst="roundRect">
            <a:avLst>
              <a:gd name="adj" fmla="val 5000"/>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20911" y="4645152"/>
            <a:ext cx="640080" cy="411480"/>
          </a:xfrm>
          <a:prstGeom prst="rect">
            <a:avLst/>
          </a:prstGeom>
          <a:noFill/>
        </p:spPr>
        <p:txBody>
          <a:bodyPr wrap="square" lIns="45720" rIns="45720" tIns="18288" bIns="18288" anchor="ctr">
            <a:spAutoFit/>
          </a:bodyPr>
          <a:lstStyle/>
          <a:p>
            <a:pPr algn="l"/>
            <a:r>
              <a:rPr sz="2200" b="1" i="0">
                <a:solidFill>
                  <a:srgbClr val="FFFFFF"/>
                </a:solidFill>
                <a:latin typeface="Arial"/>
              </a:rPr>
              <a:t>04</a:t>
            </a:r>
          </a:p>
        </p:txBody>
      </p:sp>
      <p:sp>
        <p:nvSpPr>
          <p:cNvPr id="37" name="TextBox 36"/>
          <p:cNvSpPr txBox="1"/>
          <p:nvPr/>
        </p:nvSpPr>
        <p:spPr>
          <a:xfrm>
            <a:off x="9760991" y="4645152"/>
            <a:ext cx="1836343" cy="411480"/>
          </a:xfrm>
          <a:prstGeom prst="rect">
            <a:avLst/>
          </a:prstGeom>
          <a:noFill/>
        </p:spPr>
        <p:txBody>
          <a:bodyPr wrap="square" lIns="45720" rIns="45720" tIns="18288" bIns="18288" anchor="ctr">
            <a:spAutoFit/>
          </a:bodyPr>
          <a:lstStyle/>
          <a:p>
            <a:pPr algn="l"/>
            <a:r>
              <a:rPr sz="1050" b="1" i="0">
                <a:solidFill>
                  <a:srgbClr val="FFFFFF"/>
                </a:solidFill>
                <a:latin typeface="Arial"/>
              </a:rPr>
              <a:t>PRODUCT GOVERNANCE &amp; OWNERSHIP</a:t>
            </a:r>
          </a:p>
        </p:txBody>
      </p:sp>
      <p:sp>
        <p:nvSpPr>
          <p:cNvPr id="38" name="TextBox 37"/>
          <p:cNvSpPr txBox="1"/>
          <p:nvPr/>
        </p:nvSpPr>
        <p:spPr>
          <a:xfrm>
            <a:off x="9120911" y="5093208"/>
            <a:ext cx="2476423" cy="777240"/>
          </a:xfrm>
          <a:prstGeom prst="rect">
            <a:avLst/>
          </a:prstGeom>
          <a:noFill/>
        </p:spPr>
        <p:txBody>
          <a:bodyPr wrap="square" lIns="45720" rIns="45720" tIns="18288" bIns="18288" anchor="t">
            <a:spAutoFit/>
          </a:bodyPr>
          <a:lstStyle/>
          <a:p>
            <a:pPr algn="l"/>
            <a:r>
              <a:rPr sz="950" b="0" i="1">
                <a:solidFill>
                  <a:srgbClr val="FFFFFF"/>
                </a:solidFill>
                <a:latin typeface="Arial"/>
              </a:rPr>
              <a:t>Roles defined · product forums · KPIs tied to outcomes</a:t>
            </a:r>
          </a:p>
        </p:txBody>
      </p:sp>
      <p:sp>
        <p:nvSpPr>
          <p:cNvPr id="39" name="TextBox 38"/>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6858000" cy="640080"/>
          </a:xfrm>
          <a:prstGeom prst="rect">
            <a:avLst/>
          </a:prstGeom>
          <a:noFill/>
        </p:spPr>
        <p:txBody>
          <a:bodyPr wrap="square" lIns="45720" rIns="45720" tIns="18288" bIns="18288" anchor="t">
            <a:spAutoFit/>
          </a:bodyPr>
          <a:lstStyle/>
          <a:p>
            <a:pPr algn="l"/>
            <a:r>
              <a:rPr sz="3400" b="1" i="0">
                <a:solidFill>
                  <a:srgbClr val="0B76A0"/>
                </a:solidFill>
                <a:latin typeface="Arial"/>
              </a:rPr>
              <a:t>Table of contents</a:t>
            </a:r>
          </a:p>
        </p:txBody>
      </p:sp>
      <p:sp>
        <p:nvSpPr>
          <p:cNvPr id="3" name="Oval 2"/>
          <p:cNvSpPr/>
          <p:nvPr/>
        </p:nvSpPr>
        <p:spPr>
          <a:xfrm>
            <a:off x="4297680" y="502920"/>
            <a:ext cx="502920" cy="502920"/>
          </a:xfrm>
          <a:prstGeom prst="ellipse">
            <a:avLst/>
          </a:prstGeom>
          <a:solidFill>
            <a:srgbClr val="0B7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0" y="502920"/>
            <a:ext cx="502920" cy="502920"/>
          </a:xfrm>
          <a:prstGeom prst="rect">
            <a:avLst/>
          </a:prstGeom>
          <a:noFill/>
        </p:spPr>
        <p:txBody>
          <a:bodyPr wrap="square" lIns="45720" rIns="45720" tIns="18288" bIns="18288" anchor="ctr">
            <a:spAutoFit/>
          </a:bodyPr>
          <a:lstStyle/>
          <a:p>
            <a:pPr algn="ctr"/>
            <a:r>
              <a:rPr sz="2000" b="1" i="0">
                <a:solidFill>
                  <a:srgbClr val="FFFFFF"/>
                </a:solidFill>
                <a:latin typeface="Arial"/>
              </a:rPr>
              <a:t>▶</a:t>
            </a:r>
          </a:p>
        </p:txBody>
      </p:sp>
      <p:sp>
        <p:nvSpPr>
          <p:cNvPr id="5" name="TextBox 4"/>
          <p:cNvSpPr txBox="1"/>
          <p:nvPr/>
        </p:nvSpPr>
        <p:spPr>
          <a:xfrm>
            <a:off x="9905695" y="411480"/>
            <a:ext cx="1828800" cy="457200"/>
          </a:xfrm>
          <a:prstGeom prst="rect">
            <a:avLst/>
          </a:prstGeom>
          <a:noFill/>
        </p:spPr>
        <p:txBody>
          <a:bodyPr wrap="square" lIns="45720" rIns="45720" tIns="18288" bIns="18288" anchor="ctr">
            <a:spAutoFit/>
          </a:bodyPr>
          <a:lstStyle/>
          <a:p>
            <a:pPr algn="r"/>
            <a:r>
              <a:rPr sz="1400" b="1" i="0">
                <a:solidFill>
                  <a:srgbClr val="0F1C50"/>
                </a:solidFill>
                <a:latin typeface="Arial"/>
              </a:rPr>
              <a:t>NTT  DATA</a:t>
            </a:r>
          </a:p>
        </p:txBody>
      </p:sp>
      <p:sp>
        <p:nvSpPr>
          <p:cNvPr id="6" name="TextBox 5"/>
          <p:cNvSpPr txBox="1"/>
          <p:nvPr/>
        </p:nvSpPr>
        <p:spPr>
          <a:xfrm>
            <a:off x="640080" y="137160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01</a:t>
            </a:r>
          </a:p>
        </p:txBody>
      </p:sp>
      <p:sp>
        <p:nvSpPr>
          <p:cNvPr id="7" name="TextBox 6"/>
          <p:cNvSpPr txBox="1"/>
          <p:nvPr/>
        </p:nvSpPr>
        <p:spPr>
          <a:xfrm>
            <a:off x="1554480" y="141732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Context</a:t>
            </a:r>
          </a:p>
        </p:txBody>
      </p:sp>
      <p:sp>
        <p:nvSpPr>
          <p:cNvPr id="8" name="TextBox 7"/>
          <p:cNvSpPr txBox="1"/>
          <p:nvPr/>
        </p:nvSpPr>
        <p:spPr>
          <a:xfrm>
            <a:off x="1554480" y="182880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Why Avangrid is consolidating Customer Services and IT Business Apps into Digital Products.</a:t>
            </a:r>
          </a:p>
        </p:txBody>
      </p:sp>
      <p:sp>
        <p:nvSpPr>
          <p:cNvPr id="9" name="TextBox 8"/>
          <p:cNvSpPr txBox="1"/>
          <p:nvPr/>
        </p:nvSpPr>
        <p:spPr>
          <a:xfrm>
            <a:off x="640080" y="260604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02</a:t>
            </a:r>
          </a:p>
        </p:txBody>
      </p:sp>
      <p:sp>
        <p:nvSpPr>
          <p:cNvPr id="10" name="TextBox 9"/>
          <p:cNvSpPr txBox="1"/>
          <p:nvPr/>
        </p:nvSpPr>
        <p:spPr>
          <a:xfrm>
            <a:off x="1554480" y="265176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Executive Summary</a:t>
            </a:r>
          </a:p>
        </p:txBody>
      </p:sp>
      <p:sp>
        <p:nvSpPr>
          <p:cNvPr id="11" name="TextBox 10"/>
          <p:cNvSpPr txBox="1"/>
          <p:nvPr/>
        </p:nvSpPr>
        <p:spPr>
          <a:xfrm>
            <a:off x="1554480" y="306324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The proposal in one page — scope, structural issues, governing principles, decisions ahead.</a:t>
            </a:r>
          </a:p>
        </p:txBody>
      </p:sp>
      <p:sp>
        <p:nvSpPr>
          <p:cNvPr id="12" name="TextBox 11"/>
          <p:cNvSpPr txBox="1"/>
          <p:nvPr/>
        </p:nvSpPr>
        <p:spPr>
          <a:xfrm>
            <a:off x="640080" y="384048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03</a:t>
            </a:r>
          </a:p>
        </p:txBody>
      </p:sp>
      <p:sp>
        <p:nvSpPr>
          <p:cNvPr id="13" name="TextBox 12"/>
          <p:cNvSpPr txBox="1"/>
          <p:nvPr/>
        </p:nvSpPr>
        <p:spPr>
          <a:xfrm>
            <a:off x="1554480" y="388620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Current State Analysis</a:t>
            </a:r>
          </a:p>
        </p:txBody>
      </p:sp>
      <p:sp>
        <p:nvSpPr>
          <p:cNvPr id="14" name="TextBox 13"/>
          <p:cNvSpPr txBox="1"/>
          <p:nvPr/>
        </p:nvSpPr>
        <p:spPr>
          <a:xfrm>
            <a:off x="1554480" y="429768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Vitor Cruz's three director branches, ~50 FTE, sub-team mapping and existing champions.</a:t>
            </a:r>
          </a:p>
        </p:txBody>
      </p:sp>
      <p:sp>
        <p:nvSpPr>
          <p:cNvPr id="15" name="TextBox 14"/>
          <p:cNvSpPr txBox="1"/>
          <p:nvPr/>
        </p:nvSpPr>
        <p:spPr>
          <a:xfrm>
            <a:off x="640080" y="507492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04</a:t>
            </a:r>
          </a:p>
        </p:txBody>
      </p:sp>
      <p:sp>
        <p:nvSpPr>
          <p:cNvPr id="16" name="TextBox 15"/>
          <p:cNvSpPr txBox="1"/>
          <p:nvPr/>
        </p:nvSpPr>
        <p:spPr>
          <a:xfrm>
            <a:off x="1554480" y="512064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Structural Issues &amp; Guiding Principles</a:t>
            </a:r>
          </a:p>
        </p:txBody>
      </p:sp>
      <p:sp>
        <p:nvSpPr>
          <p:cNvPr id="17" name="TextBox 16"/>
          <p:cNvSpPr txBox="1"/>
          <p:nvPr/>
        </p:nvSpPr>
        <p:spPr>
          <a:xfrm>
            <a:off x="1554480" y="553212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Seven structural issues from the AS-IS, four guiding principles that resolve them.</a:t>
            </a:r>
          </a:p>
        </p:txBody>
      </p:sp>
      <p:sp>
        <p:nvSpPr>
          <p:cNvPr id="18" name="TextBox 17"/>
          <p:cNvSpPr txBox="1"/>
          <p:nvPr/>
        </p:nvSpPr>
        <p:spPr>
          <a:xfrm>
            <a:off x="6370167" y="137160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05</a:t>
            </a:r>
          </a:p>
        </p:txBody>
      </p:sp>
      <p:sp>
        <p:nvSpPr>
          <p:cNvPr id="19" name="TextBox 18"/>
          <p:cNvSpPr txBox="1"/>
          <p:nvPr/>
        </p:nvSpPr>
        <p:spPr>
          <a:xfrm>
            <a:off x="7284567" y="141732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Stage 1 · Demand Management Framework</a:t>
            </a:r>
          </a:p>
        </p:txBody>
      </p:sp>
      <p:sp>
        <p:nvSpPr>
          <p:cNvPr id="20" name="TextBox 19"/>
          <p:cNvSpPr txBox="1"/>
          <p:nvPr/>
        </p:nvSpPr>
        <p:spPr>
          <a:xfrm>
            <a:off x="7284567" y="182880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Five dimensions — Capabilities · Roles · Tools · Governance · Performance — including branch specifics.</a:t>
            </a:r>
          </a:p>
        </p:txBody>
      </p:sp>
      <p:sp>
        <p:nvSpPr>
          <p:cNvPr id="21" name="TextBox 20"/>
          <p:cNvSpPr txBox="1"/>
          <p:nvPr/>
        </p:nvSpPr>
        <p:spPr>
          <a:xfrm>
            <a:off x="6370167" y="260604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06</a:t>
            </a:r>
          </a:p>
        </p:txBody>
      </p:sp>
      <p:sp>
        <p:nvSpPr>
          <p:cNvPr id="22" name="TextBox 21"/>
          <p:cNvSpPr txBox="1"/>
          <p:nvPr/>
        </p:nvSpPr>
        <p:spPr>
          <a:xfrm>
            <a:off x="7284567" y="265176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Operating Model · Crews &amp; Bases</a:t>
            </a:r>
          </a:p>
        </p:txBody>
      </p:sp>
      <p:sp>
        <p:nvSpPr>
          <p:cNvPr id="23" name="TextBox 22"/>
          <p:cNvSpPr txBox="1"/>
          <p:nvPr/>
        </p:nvSpPr>
        <p:spPr>
          <a:xfrm>
            <a:off x="7284567" y="306324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unFIX primer · Strongly Aligned Base · Supporting Crews · Sibling Bases · 8 Value Stream deep-dives · Vendor model.</a:t>
            </a:r>
          </a:p>
        </p:txBody>
      </p:sp>
      <p:sp>
        <p:nvSpPr>
          <p:cNvPr id="24" name="TextBox 23"/>
          <p:cNvSpPr txBox="1"/>
          <p:nvPr/>
        </p:nvSpPr>
        <p:spPr>
          <a:xfrm>
            <a:off x="6370167" y="3840480"/>
            <a:ext cx="868680" cy="777240"/>
          </a:xfrm>
          <a:prstGeom prst="rect">
            <a:avLst/>
          </a:prstGeom>
          <a:noFill/>
        </p:spPr>
        <p:txBody>
          <a:bodyPr wrap="square" lIns="45720" rIns="45720" tIns="18288" bIns="18288" anchor="t">
            <a:spAutoFit/>
          </a:bodyPr>
          <a:lstStyle/>
          <a:p>
            <a:pPr algn="l"/>
            <a:r>
              <a:rPr sz="4400" b="1" i="0">
                <a:solidFill>
                  <a:srgbClr val="95A5A6"/>
                </a:solidFill>
                <a:latin typeface="Arial"/>
              </a:rPr>
              <a:t>07</a:t>
            </a:r>
          </a:p>
        </p:txBody>
      </p:sp>
      <p:sp>
        <p:nvSpPr>
          <p:cNvPr id="25" name="TextBox 24"/>
          <p:cNvSpPr txBox="1"/>
          <p:nvPr/>
        </p:nvSpPr>
        <p:spPr>
          <a:xfrm>
            <a:off x="7284567" y="3886200"/>
            <a:ext cx="4541367" cy="365760"/>
          </a:xfrm>
          <a:prstGeom prst="rect">
            <a:avLst/>
          </a:prstGeom>
          <a:noFill/>
        </p:spPr>
        <p:txBody>
          <a:bodyPr wrap="square" lIns="45720" rIns="45720" tIns="18288" bIns="18288" anchor="t">
            <a:spAutoFit/>
          </a:bodyPr>
          <a:lstStyle/>
          <a:p>
            <a:pPr algn="l"/>
            <a:r>
              <a:rPr sz="1800" b="1" i="0">
                <a:solidFill>
                  <a:srgbClr val="95A5A6"/>
                </a:solidFill>
                <a:latin typeface="Arial"/>
              </a:rPr>
              <a:t>Demand Flow &amp; Portfolio Operation</a:t>
            </a:r>
          </a:p>
        </p:txBody>
      </p:sp>
      <p:sp>
        <p:nvSpPr>
          <p:cNvPr id="26" name="TextBox 25"/>
          <p:cNvSpPr txBox="1"/>
          <p:nvPr/>
        </p:nvSpPr>
        <p:spPr>
          <a:xfrm>
            <a:off x="7284567" y="4297680"/>
            <a:ext cx="4541367" cy="640080"/>
          </a:xfrm>
          <a:prstGeom prst="rect">
            <a:avLst/>
          </a:prstGeom>
          <a:noFill/>
        </p:spPr>
        <p:txBody>
          <a:bodyPr wrap="square" lIns="45720" rIns="45720" tIns="18288" bIns="18288" anchor="t">
            <a:spAutoFit/>
          </a:bodyPr>
          <a:lstStyle/>
          <a:p>
            <a:pPr algn="l"/>
            <a:r>
              <a:rPr sz="1050" b="0" i="0">
                <a:solidFill>
                  <a:srgbClr val="95A5A6"/>
                </a:solidFill>
                <a:latin typeface="Arial"/>
              </a:rPr>
              <a:t>Forums · Portfolio + Team Boards · Class of Service · Wave 1 Roadmap · TO-BE Demand Flow.</a:t>
            </a:r>
          </a:p>
        </p:txBody>
      </p:sp>
      <p:sp>
        <p:nvSpPr>
          <p:cNvPr id="27" name="Rounded Rectangle 26"/>
          <p:cNvSpPr/>
          <p:nvPr/>
        </p:nvSpPr>
        <p:spPr>
          <a:xfrm>
            <a:off x="6278727" y="5029200"/>
            <a:ext cx="5501487" cy="1143000"/>
          </a:xfrm>
          <a:prstGeom prst="roundRect">
            <a:avLst>
              <a:gd name="adj" fmla="val 5000"/>
            </a:avLst>
          </a:prstGeom>
          <a:solidFill>
            <a:srgbClr val="DCE6F5"/>
          </a:solidFill>
          <a:ln w="127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0167" y="5074920"/>
            <a:ext cx="868680" cy="777240"/>
          </a:xfrm>
          <a:prstGeom prst="rect">
            <a:avLst/>
          </a:prstGeom>
          <a:noFill/>
        </p:spPr>
        <p:txBody>
          <a:bodyPr wrap="square" lIns="45720" rIns="45720" tIns="18288" bIns="18288" anchor="t">
            <a:spAutoFit/>
          </a:bodyPr>
          <a:lstStyle/>
          <a:p>
            <a:pPr algn="l"/>
            <a:r>
              <a:rPr sz="4400" b="1" i="0">
                <a:solidFill>
                  <a:srgbClr val="0F1C50"/>
                </a:solidFill>
                <a:latin typeface="Arial"/>
              </a:rPr>
              <a:t>08</a:t>
            </a:r>
          </a:p>
        </p:txBody>
      </p:sp>
      <p:sp>
        <p:nvSpPr>
          <p:cNvPr id="29" name="TextBox 28"/>
          <p:cNvSpPr txBox="1"/>
          <p:nvPr/>
        </p:nvSpPr>
        <p:spPr>
          <a:xfrm>
            <a:off x="7284567" y="5120640"/>
            <a:ext cx="4541367" cy="365760"/>
          </a:xfrm>
          <a:prstGeom prst="rect">
            <a:avLst/>
          </a:prstGeom>
          <a:noFill/>
        </p:spPr>
        <p:txBody>
          <a:bodyPr wrap="square" lIns="45720" rIns="45720" tIns="18288" bIns="18288" anchor="t">
            <a:spAutoFit/>
          </a:bodyPr>
          <a:lstStyle/>
          <a:p>
            <a:pPr algn="l"/>
            <a:r>
              <a:rPr sz="1800" b="1" i="0">
                <a:solidFill>
                  <a:srgbClr val="0F1C50"/>
                </a:solidFill>
                <a:latin typeface="Arial"/>
              </a:rPr>
              <a:t>Open Decisions &amp; Next Steps</a:t>
            </a:r>
          </a:p>
        </p:txBody>
      </p:sp>
      <p:sp>
        <p:nvSpPr>
          <p:cNvPr id="30" name="TextBox 29"/>
          <p:cNvSpPr txBox="1"/>
          <p:nvPr/>
        </p:nvSpPr>
        <p:spPr>
          <a:xfrm>
            <a:off x="7284567" y="5532120"/>
            <a:ext cx="4541367" cy="640080"/>
          </a:xfrm>
          <a:prstGeom prst="rect">
            <a:avLst/>
          </a:prstGeom>
          <a:noFill/>
        </p:spPr>
        <p:txBody>
          <a:bodyPr wrap="square" lIns="45720" rIns="45720" tIns="18288" bIns="18288" anchor="t">
            <a:spAutoFit/>
          </a:bodyPr>
          <a:lstStyle/>
          <a:p>
            <a:pPr algn="l"/>
            <a:r>
              <a:rPr sz="1050" b="0" i="0">
                <a:solidFill>
                  <a:srgbClr val="2C3E50"/>
                </a:solidFill>
                <a:latin typeface="Arial"/>
              </a:rPr>
              <a:t>Validation needed before steady-state — vendor model · PM staffing · NOC owner.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384048"/>
          </a:xfrm>
          <a:prstGeom prst="rect">
            <a:avLst/>
          </a:prstGeom>
          <a:noFill/>
        </p:spPr>
        <p:txBody>
          <a:bodyPr wrap="square" lIns="45720" rIns="45720" tIns="18288" bIns="18288" anchor="ctr">
            <a:spAutoFit/>
          </a:bodyPr>
          <a:lstStyle/>
          <a:p>
            <a:pPr algn="l"/>
            <a:r>
              <a:rPr sz="2000" b="1" i="0">
                <a:solidFill>
                  <a:srgbClr val="FFFFFF"/>
                </a:solidFill>
                <a:latin typeface="Arial"/>
              </a:rPr>
              <a:t>OPEN DECISIONS &amp; RISKS</a:t>
            </a:r>
          </a:p>
        </p:txBody>
      </p:sp>
      <p:sp>
        <p:nvSpPr>
          <p:cNvPr id="4" name="TextBox 3"/>
          <p:cNvSpPr txBox="1"/>
          <p:nvPr/>
        </p:nvSpPr>
        <p:spPr>
          <a:xfrm>
            <a:off x="365760" y="475488"/>
            <a:ext cx="11460175" cy="320040"/>
          </a:xfrm>
          <a:prstGeom prst="rect">
            <a:avLst/>
          </a:prstGeom>
          <a:noFill/>
        </p:spPr>
        <p:txBody>
          <a:bodyPr wrap="square" lIns="45720" rIns="45720" tIns="18288" bIns="18288" anchor="ctr">
            <a:spAutoFit/>
          </a:bodyPr>
          <a:lstStyle/>
          <a:p>
            <a:pPr algn="l"/>
            <a:r>
              <a:rPr sz="1100" b="1" i="0">
                <a:solidFill>
                  <a:srgbClr val="FFFFFF"/>
                </a:solidFill>
                <a:latin typeface="Arial"/>
              </a:rPr>
              <a:t>WHAT NEEDS VALIDATION BEFORE STEADY-STATE OPERATION</a:t>
            </a:r>
          </a:p>
        </p:txBody>
      </p:sp>
      <p:sp>
        <p:nvSpPr>
          <p:cNvPr id="5" name="TextBox 4"/>
          <p:cNvSpPr txBox="1"/>
          <p:nvPr/>
        </p:nvSpPr>
        <p:spPr>
          <a:xfrm>
            <a:off x="10088575" y="182880"/>
            <a:ext cx="1828800" cy="502920"/>
          </a:xfrm>
          <a:prstGeom prst="rect">
            <a:avLst/>
          </a:prstGeom>
          <a:noFill/>
        </p:spPr>
        <p:txBody>
          <a:bodyPr wrap="square" lIns="45720" rIns="45720" tIns="18288" bIns="18288" anchor="ctr">
            <a:spAutoFit/>
          </a:bodyPr>
          <a:lstStyle/>
          <a:p>
            <a:pPr algn="r"/>
            <a:r>
              <a:rPr sz="1200" b="1" i="0">
                <a:solidFill>
                  <a:srgbClr val="FFFFFF"/>
                </a:solidFill>
                <a:latin typeface="Arial"/>
              </a:rPr>
              <a:t>NTT  DATA</a:t>
            </a:r>
          </a:p>
        </p:txBody>
      </p:sp>
      <p:sp>
        <p:nvSpPr>
          <p:cNvPr id="6" name="TextBox 5"/>
          <p:cNvSpPr txBox="1"/>
          <p:nvPr/>
        </p:nvSpPr>
        <p:spPr>
          <a:xfrm>
            <a:off x="457200" y="960120"/>
            <a:ext cx="11277295" cy="365760"/>
          </a:xfrm>
          <a:prstGeom prst="rect">
            <a:avLst/>
          </a:prstGeom>
          <a:noFill/>
        </p:spPr>
        <p:txBody>
          <a:bodyPr wrap="square" lIns="45720" rIns="45720" tIns="18288" bIns="18288" anchor="t">
            <a:spAutoFit/>
          </a:bodyPr>
          <a:lstStyle/>
          <a:p>
            <a:pPr algn="l"/>
            <a:r>
              <a:rPr sz="1100" b="1" i="1">
                <a:solidFill>
                  <a:srgbClr val="2C578B"/>
                </a:solidFill>
                <a:latin typeface="Arial"/>
              </a:rPr>
              <a:t>Three structural decisions remain open. Each gates a specific part of steady-state operation — we surface them now so they can be closed during Wave 1 with the right stakeholders.</a:t>
            </a:r>
          </a:p>
        </p:txBody>
      </p:sp>
      <p:sp>
        <p:nvSpPr>
          <p:cNvPr id="7" name="Rounded Rectangle 6"/>
          <p:cNvSpPr/>
          <p:nvPr/>
        </p:nvSpPr>
        <p:spPr>
          <a:xfrm>
            <a:off x="457200" y="1463040"/>
            <a:ext cx="11277295" cy="731520"/>
          </a:xfrm>
          <a:prstGeom prst="roundRect">
            <a:avLst>
              <a:gd name="adj" fmla="val 5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63040"/>
            <a:ext cx="640080" cy="7315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463040"/>
            <a:ext cx="640080" cy="731520"/>
          </a:xfrm>
          <a:prstGeom prst="rect">
            <a:avLst/>
          </a:prstGeom>
          <a:noFill/>
        </p:spPr>
        <p:txBody>
          <a:bodyPr wrap="square" lIns="45720" rIns="45720" tIns="18288" bIns="18288" anchor="ctr">
            <a:spAutoFit/>
          </a:bodyPr>
          <a:lstStyle/>
          <a:p>
            <a:pPr algn="ctr"/>
            <a:r>
              <a:rPr sz="2200" b="1" i="0">
                <a:solidFill>
                  <a:srgbClr val="FFFFFF"/>
                </a:solidFill>
                <a:latin typeface="Arial"/>
              </a:rPr>
              <a:t>01</a:t>
            </a:r>
          </a:p>
        </p:txBody>
      </p:sp>
      <p:sp>
        <p:nvSpPr>
          <p:cNvPr id="10" name="TextBox 9"/>
          <p:cNvSpPr txBox="1"/>
          <p:nvPr/>
        </p:nvSpPr>
        <p:spPr>
          <a:xfrm>
            <a:off x="1234440" y="1517904"/>
            <a:ext cx="10408615" cy="292608"/>
          </a:xfrm>
          <a:prstGeom prst="rect">
            <a:avLst/>
          </a:prstGeom>
          <a:noFill/>
        </p:spPr>
        <p:txBody>
          <a:bodyPr wrap="square" lIns="45720" rIns="45720" tIns="18288" bIns="18288" anchor="t">
            <a:spAutoFit/>
          </a:bodyPr>
          <a:lstStyle/>
          <a:p>
            <a:pPr algn="l"/>
            <a:r>
              <a:rPr sz="1200" b="1" i="0">
                <a:solidFill>
                  <a:srgbClr val="2E7D32"/>
                </a:solidFill>
                <a:latin typeface="Arial"/>
              </a:rPr>
              <a:t>VENDOR DELIVERY MODEL  ·  Option A vs Option B per Crew</a:t>
            </a:r>
          </a:p>
        </p:txBody>
      </p:sp>
      <p:sp>
        <p:nvSpPr>
          <p:cNvPr id="11" name="TextBox 10"/>
          <p:cNvSpPr txBox="1"/>
          <p:nvPr/>
        </p:nvSpPr>
        <p:spPr>
          <a:xfrm>
            <a:off x="1234440" y="1792224"/>
            <a:ext cx="10408615" cy="502920"/>
          </a:xfrm>
          <a:prstGeom prst="rect">
            <a:avLst/>
          </a:prstGeom>
          <a:noFill/>
        </p:spPr>
        <p:txBody>
          <a:bodyPr wrap="square" lIns="45720" rIns="45720" tIns="18288" bIns="18288" anchor="t">
            <a:spAutoFit/>
          </a:bodyPr>
          <a:lstStyle/>
          <a:p>
            <a:pPr algn="l"/>
            <a:r>
              <a:rPr sz="1000" b="0" i="1">
                <a:solidFill>
                  <a:srgbClr val="2C3E50"/>
                </a:solidFill>
                <a:latin typeface="Arial"/>
              </a:rPr>
              <a:t>Lock the per-Crew choice between stable team (Option A) and shared pool (Option B). Recommendation: hybrid — Option A for seven continuous VSs · Option B for Corporate &amp; Regulatory.</a:t>
            </a:r>
          </a:p>
        </p:txBody>
      </p:sp>
      <p:sp>
        <p:nvSpPr>
          <p:cNvPr id="12" name="TextBox 11"/>
          <p:cNvSpPr txBox="1"/>
          <p:nvPr/>
        </p:nvSpPr>
        <p:spPr>
          <a:xfrm>
            <a:off x="1234440" y="1737360"/>
            <a:ext cx="3931920" cy="457200"/>
          </a:xfrm>
          <a:prstGeom prst="rect">
            <a:avLst/>
          </a:prstGeom>
          <a:noFill/>
        </p:spPr>
        <p:txBody>
          <a:bodyPr wrap="square" lIns="45720" rIns="45720" tIns="18288" bIns="18288" anchor="ctr">
            <a:spAutoFit/>
          </a:bodyPr>
          <a:lstStyle/>
          <a:p>
            <a:pPr algn="l"/>
            <a:r>
              <a:rPr sz="850" b="1" i="0">
                <a:solidFill>
                  <a:srgbClr val="0F1C50"/>
                </a:solidFill>
                <a:latin typeface="Arial"/>
              </a:rPr>
              <a:t>OWNERS · Vitor Cruz · Carlos · Kumar · Partnership Crew</a:t>
            </a:r>
          </a:p>
        </p:txBody>
      </p:sp>
      <p:sp>
        <p:nvSpPr>
          <p:cNvPr id="13" name="TextBox 12"/>
          <p:cNvSpPr txBox="1"/>
          <p:nvPr/>
        </p:nvSpPr>
        <p:spPr>
          <a:xfrm>
            <a:off x="5257800" y="1737360"/>
            <a:ext cx="3200400" cy="457200"/>
          </a:xfrm>
          <a:prstGeom prst="rect">
            <a:avLst/>
          </a:prstGeom>
          <a:noFill/>
        </p:spPr>
        <p:txBody>
          <a:bodyPr wrap="square" lIns="45720" rIns="45720" tIns="18288" bIns="18288" anchor="ctr">
            <a:spAutoFit/>
          </a:bodyPr>
          <a:lstStyle/>
          <a:p>
            <a:pPr algn="l"/>
            <a:r>
              <a:rPr sz="850" b="1" i="0">
                <a:solidFill>
                  <a:srgbClr val="2E7D32"/>
                </a:solidFill>
                <a:latin typeface="Arial"/>
              </a:rPr>
              <a:t>WHEN · Wave 1 Step 2</a:t>
            </a:r>
          </a:p>
        </p:txBody>
      </p:sp>
      <p:sp>
        <p:nvSpPr>
          <p:cNvPr id="14" name="TextBox 13"/>
          <p:cNvSpPr txBox="1"/>
          <p:nvPr/>
        </p:nvSpPr>
        <p:spPr>
          <a:xfrm>
            <a:off x="8549640" y="1737360"/>
            <a:ext cx="3184855" cy="457200"/>
          </a:xfrm>
          <a:prstGeom prst="rect">
            <a:avLst/>
          </a:prstGeom>
          <a:noFill/>
        </p:spPr>
        <p:txBody>
          <a:bodyPr wrap="square" lIns="45720" rIns="45720" tIns="18288" bIns="18288" anchor="ctr">
            <a:spAutoFit/>
          </a:bodyPr>
          <a:lstStyle/>
          <a:p>
            <a:pPr algn="l"/>
            <a:r>
              <a:rPr sz="850" b="0" i="1">
                <a:solidFill>
                  <a:srgbClr val="B63B1F"/>
                </a:solidFill>
                <a:latin typeface="Arial"/>
              </a:rPr>
              <a:t>RISK · vendor churn · re-explanation cost</a:t>
            </a:r>
          </a:p>
        </p:txBody>
      </p:sp>
      <p:sp>
        <p:nvSpPr>
          <p:cNvPr id="15" name="Rounded Rectangle 14"/>
          <p:cNvSpPr/>
          <p:nvPr/>
        </p:nvSpPr>
        <p:spPr>
          <a:xfrm>
            <a:off x="457200" y="2286000"/>
            <a:ext cx="11277295" cy="731520"/>
          </a:xfrm>
          <a:prstGeom prst="roundRect">
            <a:avLst>
              <a:gd name="adj" fmla="val 5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286000"/>
            <a:ext cx="640080" cy="7315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286000"/>
            <a:ext cx="640080" cy="731520"/>
          </a:xfrm>
          <a:prstGeom prst="rect">
            <a:avLst/>
          </a:prstGeom>
          <a:noFill/>
        </p:spPr>
        <p:txBody>
          <a:bodyPr wrap="square" lIns="45720" rIns="45720" tIns="18288" bIns="18288" anchor="ctr">
            <a:spAutoFit/>
          </a:bodyPr>
          <a:lstStyle/>
          <a:p>
            <a:pPr algn="ctr"/>
            <a:r>
              <a:rPr sz="2200" b="1" i="0">
                <a:solidFill>
                  <a:srgbClr val="FFFFFF"/>
                </a:solidFill>
                <a:latin typeface="Arial"/>
              </a:rPr>
              <a:t>02</a:t>
            </a:r>
          </a:p>
        </p:txBody>
      </p:sp>
      <p:sp>
        <p:nvSpPr>
          <p:cNvPr id="18" name="TextBox 17"/>
          <p:cNvSpPr txBox="1"/>
          <p:nvPr/>
        </p:nvSpPr>
        <p:spPr>
          <a:xfrm>
            <a:off x="1234440" y="2340864"/>
            <a:ext cx="10408615" cy="292608"/>
          </a:xfrm>
          <a:prstGeom prst="rect">
            <a:avLst/>
          </a:prstGeom>
          <a:noFill/>
        </p:spPr>
        <p:txBody>
          <a:bodyPr wrap="square" lIns="45720" rIns="45720" tIns="18288" bIns="18288" anchor="t">
            <a:spAutoFit/>
          </a:bodyPr>
          <a:lstStyle/>
          <a:p>
            <a:pPr algn="l"/>
            <a:r>
              <a:rPr sz="1200" b="1" i="0">
                <a:solidFill>
                  <a:srgbClr val="2C578B"/>
                </a:solidFill>
                <a:latin typeface="Arial"/>
              </a:rPr>
              <a:t>PRODUCT MANAGER STAFFING  ·  eight new roles</a:t>
            </a:r>
          </a:p>
        </p:txBody>
      </p:sp>
      <p:sp>
        <p:nvSpPr>
          <p:cNvPr id="19" name="TextBox 18"/>
          <p:cNvSpPr txBox="1"/>
          <p:nvPr/>
        </p:nvSpPr>
        <p:spPr>
          <a:xfrm>
            <a:off x="1234440" y="2615184"/>
            <a:ext cx="10408615" cy="502920"/>
          </a:xfrm>
          <a:prstGeom prst="rect">
            <a:avLst/>
          </a:prstGeom>
          <a:noFill/>
        </p:spPr>
        <p:txBody>
          <a:bodyPr wrap="square" lIns="45720" rIns="45720" tIns="18288" bIns="18288" anchor="t">
            <a:spAutoFit/>
          </a:bodyPr>
          <a:lstStyle/>
          <a:p>
            <a:pPr algn="l"/>
            <a:r>
              <a:rPr sz="1000" b="0" i="1">
                <a:solidFill>
                  <a:srgbClr val="2C3E50"/>
                </a:solidFill>
                <a:latin typeface="Arial"/>
              </a:rPr>
              <a:t>The Product Manager role is NEW for all 8 Value Stream Crews — no Avangrid PM exists today (only PJMs · Sr. Managers · Champions). Decisions needed: job description · grade · internal vs external · sequencing.</a:t>
            </a:r>
          </a:p>
        </p:txBody>
      </p:sp>
      <p:sp>
        <p:nvSpPr>
          <p:cNvPr id="20" name="TextBox 19"/>
          <p:cNvSpPr txBox="1"/>
          <p:nvPr/>
        </p:nvSpPr>
        <p:spPr>
          <a:xfrm>
            <a:off x="1234440" y="2560320"/>
            <a:ext cx="3931920" cy="457200"/>
          </a:xfrm>
          <a:prstGeom prst="rect">
            <a:avLst/>
          </a:prstGeom>
          <a:noFill/>
        </p:spPr>
        <p:txBody>
          <a:bodyPr wrap="square" lIns="45720" rIns="45720" tIns="18288" bIns="18288" anchor="ctr">
            <a:spAutoFit/>
          </a:bodyPr>
          <a:lstStyle/>
          <a:p>
            <a:pPr algn="l"/>
            <a:r>
              <a:rPr sz="850" b="1" i="0">
                <a:solidFill>
                  <a:srgbClr val="0F1C50"/>
                </a:solidFill>
                <a:latin typeface="Arial"/>
              </a:rPr>
              <a:t>OWNERS · Vitor · HR · Carlos · Kumar · Heather</a:t>
            </a:r>
          </a:p>
        </p:txBody>
      </p:sp>
      <p:sp>
        <p:nvSpPr>
          <p:cNvPr id="21" name="TextBox 20"/>
          <p:cNvSpPr txBox="1"/>
          <p:nvPr/>
        </p:nvSpPr>
        <p:spPr>
          <a:xfrm>
            <a:off x="5257800" y="2560320"/>
            <a:ext cx="3200400" cy="457200"/>
          </a:xfrm>
          <a:prstGeom prst="rect">
            <a:avLst/>
          </a:prstGeom>
          <a:noFill/>
        </p:spPr>
        <p:txBody>
          <a:bodyPr wrap="square" lIns="45720" rIns="45720" tIns="18288" bIns="18288" anchor="ctr">
            <a:spAutoFit/>
          </a:bodyPr>
          <a:lstStyle/>
          <a:p>
            <a:pPr algn="l"/>
            <a:r>
              <a:rPr sz="850" b="1" i="0">
                <a:solidFill>
                  <a:srgbClr val="2E7D32"/>
                </a:solidFill>
                <a:latin typeface="Arial"/>
              </a:rPr>
              <a:t>WHEN · JD by Step 3 · staffing by Step 5</a:t>
            </a:r>
          </a:p>
        </p:txBody>
      </p:sp>
      <p:sp>
        <p:nvSpPr>
          <p:cNvPr id="22" name="TextBox 21"/>
          <p:cNvSpPr txBox="1"/>
          <p:nvPr/>
        </p:nvSpPr>
        <p:spPr>
          <a:xfrm>
            <a:off x="8549640" y="2560320"/>
            <a:ext cx="3184855" cy="457200"/>
          </a:xfrm>
          <a:prstGeom prst="rect">
            <a:avLst/>
          </a:prstGeom>
          <a:noFill/>
        </p:spPr>
        <p:txBody>
          <a:bodyPr wrap="square" lIns="45720" rIns="45720" tIns="18288" bIns="18288" anchor="ctr">
            <a:spAutoFit/>
          </a:bodyPr>
          <a:lstStyle/>
          <a:p>
            <a:pPr algn="l"/>
            <a:r>
              <a:rPr sz="850" b="0" i="1">
                <a:solidFill>
                  <a:srgbClr val="B63B1F"/>
                </a:solidFill>
                <a:latin typeface="Arial"/>
              </a:rPr>
              <a:t>RISK · framework without single accountability</a:t>
            </a:r>
          </a:p>
        </p:txBody>
      </p:sp>
      <p:sp>
        <p:nvSpPr>
          <p:cNvPr id="23" name="Rounded Rectangle 22"/>
          <p:cNvSpPr/>
          <p:nvPr/>
        </p:nvSpPr>
        <p:spPr>
          <a:xfrm>
            <a:off x="457200" y="3108960"/>
            <a:ext cx="11277295" cy="731520"/>
          </a:xfrm>
          <a:prstGeom prst="roundRect">
            <a:avLst>
              <a:gd name="adj" fmla="val 5000"/>
            </a:avLst>
          </a:prstGeom>
          <a:solidFill>
            <a:srgbClr val="FFFFFF"/>
          </a:solidFill>
          <a:ln w="254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3108960"/>
            <a:ext cx="640080" cy="73152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108960"/>
            <a:ext cx="640080" cy="731520"/>
          </a:xfrm>
          <a:prstGeom prst="rect">
            <a:avLst/>
          </a:prstGeom>
          <a:noFill/>
        </p:spPr>
        <p:txBody>
          <a:bodyPr wrap="square" lIns="45720" rIns="45720" tIns="18288" bIns="18288" anchor="ctr">
            <a:spAutoFit/>
          </a:bodyPr>
          <a:lstStyle/>
          <a:p>
            <a:pPr algn="ctr"/>
            <a:r>
              <a:rPr sz="2200" b="1" i="0">
                <a:solidFill>
                  <a:srgbClr val="FFFFFF"/>
                </a:solidFill>
                <a:latin typeface="Arial"/>
              </a:rPr>
              <a:t>03</a:t>
            </a:r>
          </a:p>
        </p:txBody>
      </p:sp>
      <p:sp>
        <p:nvSpPr>
          <p:cNvPr id="26" name="TextBox 25"/>
          <p:cNvSpPr txBox="1"/>
          <p:nvPr/>
        </p:nvSpPr>
        <p:spPr>
          <a:xfrm>
            <a:off x="1234440" y="3163824"/>
            <a:ext cx="10408615" cy="292608"/>
          </a:xfrm>
          <a:prstGeom prst="rect">
            <a:avLst/>
          </a:prstGeom>
          <a:noFill/>
        </p:spPr>
        <p:txBody>
          <a:bodyPr wrap="square" lIns="45720" rIns="45720" tIns="18288" bIns="18288" anchor="t">
            <a:spAutoFit/>
          </a:bodyPr>
          <a:lstStyle/>
          <a:p>
            <a:pPr algn="l"/>
            <a:r>
              <a:rPr sz="1200" b="1" i="0">
                <a:solidFill>
                  <a:srgbClr val="E88B2F"/>
                </a:solidFill>
                <a:latin typeface="Arial"/>
              </a:rPr>
              <a:t>NETWORK OPERATIONS &amp; CONTROL  ·  sub-team owner for the new stream</a:t>
            </a:r>
          </a:p>
        </p:txBody>
      </p:sp>
      <p:sp>
        <p:nvSpPr>
          <p:cNvPr id="27" name="TextBox 26"/>
          <p:cNvSpPr txBox="1"/>
          <p:nvPr/>
        </p:nvSpPr>
        <p:spPr>
          <a:xfrm>
            <a:off x="1234440" y="3438144"/>
            <a:ext cx="10408615" cy="502920"/>
          </a:xfrm>
          <a:prstGeom prst="rect">
            <a:avLst/>
          </a:prstGeom>
          <a:noFill/>
        </p:spPr>
        <p:txBody>
          <a:bodyPr wrap="square" lIns="45720" rIns="45720" tIns="18288" bIns="18288" anchor="t">
            <a:spAutoFit/>
          </a:bodyPr>
          <a:lstStyle/>
          <a:p>
            <a:pPr algn="l"/>
            <a:r>
              <a:rPr sz="1000" b="0" i="1">
                <a:solidFill>
                  <a:srgbClr val="2C3E50"/>
                </a:solidFill>
                <a:latin typeface="Arial"/>
              </a:rPr>
              <a:t>NOC is a NEW Value Stream surfaced from the IT Networks Application Assessment (5 apps · SCADA · EMS · OMS). Today there is no single sub-team owner identified inside Carlos's branch.</a:t>
            </a:r>
          </a:p>
        </p:txBody>
      </p:sp>
      <p:sp>
        <p:nvSpPr>
          <p:cNvPr id="28" name="TextBox 27"/>
          <p:cNvSpPr txBox="1"/>
          <p:nvPr/>
        </p:nvSpPr>
        <p:spPr>
          <a:xfrm>
            <a:off x="1234440" y="3383280"/>
            <a:ext cx="3931920" cy="457200"/>
          </a:xfrm>
          <a:prstGeom prst="rect">
            <a:avLst/>
          </a:prstGeom>
          <a:noFill/>
        </p:spPr>
        <p:txBody>
          <a:bodyPr wrap="square" lIns="45720" rIns="45720" tIns="18288" bIns="18288" anchor="ctr">
            <a:spAutoFit/>
          </a:bodyPr>
          <a:lstStyle/>
          <a:p>
            <a:pPr algn="l"/>
            <a:r>
              <a:rPr sz="850" b="1" i="0">
                <a:solidFill>
                  <a:srgbClr val="0F1C50"/>
                </a:solidFill>
                <a:latin typeface="Arial"/>
              </a:rPr>
              <a:t>OWNERS · Carlos · Travis · Vihn · Capability Crew</a:t>
            </a:r>
          </a:p>
        </p:txBody>
      </p:sp>
      <p:sp>
        <p:nvSpPr>
          <p:cNvPr id="29" name="TextBox 28"/>
          <p:cNvSpPr txBox="1"/>
          <p:nvPr/>
        </p:nvSpPr>
        <p:spPr>
          <a:xfrm>
            <a:off x="5257800" y="3383280"/>
            <a:ext cx="3200400" cy="457200"/>
          </a:xfrm>
          <a:prstGeom prst="rect">
            <a:avLst/>
          </a:prstGeom>
          <a:noFill/>
        </p:spPr>
        <p:txBody>
          <a:bodyPr wrap="square" lIns="45720" rIns="45720" tIns="18288" bIns="18288" anchor="ctr">
            <a:spAutoFit/>
          </a:bodyPr>
          <a:lstStyle/>
          <a:p>
            <a:pPr algn="l"/>
            <a:r>
              <a:rPr sz="850" b="1" i="0">
                <a:solidFill>
                  <a:srgbClr val="2E7D32"/>
                </a:solidFill>
                <a:latin typeface="Arial"/>
              </a:rPr>
              <a:t>WHEN · Owner ID by Step 1</a:t>
            </a:r>
          </a:p>
        </p:txBody>
      </p:sp>
      <p:sp>
        <p:nvSpPr>
          <p:cNvPr id="30" name="TextBox 29"/>
          <p:cNvSpPr txBox="1"/>
          <p:nvPr/>
        </p:nvSpPr>
        <p:spPr>
          <a:xfrm>
            <a:off x="8549640" y="3383280"/>
            <a:ext cx="3184855" cy="457200"/>
          </a:xfrm>
          <a:prstGeom prst="rect">
            <a:avLst/>
          </a:prstGeom>
          <a:noFill/>
        </p:spPr>
        <p:txBody>
          <a:bodyPr wrap="square" lIns="45720" rIns="45720" tIns="18288" bIns="18288" anchor="ctr">
            <a:spAutoFit/>
          </a:bodyPr>
          <a:lstStyle/>
          <a:p>
            <a:pPr algn="l"/>
            <a:r>
              <a:rPr sz="850" b="0" i="1">
                <a:solidFill>
                  <a:srgbClr val="B63B1F"/>
                </a:solidFill>
                <a:latin typeface="Arial"/>
              </a:rPr>
              <a:t>RISK · stream cannot be staffed</a:t>
            </a:r>
          </a:p>
        </p:txBody>
      </p:sp>
      <p:sp>
        <p:nvSpPr>
          <p:cNvPr id="31" name="Rounded Rectangle 30"/>
          <p:cNvSpPr/>
          <p:nvPr/>
        </p:nvSpPr>
        <p:spPr>
          <a:xfrm>
            <a:off x="457200" y="3931920"/>
            <a:ext cx="11277295" cy="731520"/>
          </a:xfrm>
          <a:prstGeom prst="roundRect">
            <a:avLst>
              <a:gd name="adj" fmla="val 5000"/>
            </a:avLst>
          </a:prstGeom>
          <a:solidFill>
            <a:srgbClr val="FFFFFF"/>
          </a:solidFill>
          <a:ln w="2540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7200" y="3931920"/>
            <a:ext cx="640080" cy="73152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3931920"/>
            <a:ext cx="640080" cy="731520"/>
          </a:xfrm>
          <a:prstGeom prst="rect">
            <a:avLst/>
          </a:prstGeom>
          <a:noFill/>
        </p:spPr>
        <p:txBody>
          <a:bodyPr wrap="square" lIns="45720" rIns="45720" tIns="18288" bIns="18288" anchor="ctr">
            <a:spAutoFit/>
          </a:bodyPr>
          <a:lstStyle/>
          <a:p>
            <a:pPr algn="ctr"/>
            <a:r>
              <a:rPr sz="2200" b="1" i="0">
                <a:solidFill>
                  <a:srgbClr val="FFFFFF"/>
                </a:solidFill>
                <a:latin typeface="Arial"/>
              </a:rPr>
              <a:t>04</a:t>
            </a:r>
          </a:p>
        </p:txBody>
      </p:sp>
      <p:sp>
        <p:nvSpPr>
          <p:cNvPr id="34" name="TextBox 33"/>
          <p:cNvSpPr txBox="1"/>
          <p:nvPr/>
        </p:nvSpPr>
        <p:spPr>
          <a:xfrm>
            <a:off x="1234440" y="3986784"/>
            <a:ext cx="10408615" cy="292608"/>
          </a:xfrm>
          <a:prstGeom prst="rect">
            <a:avLst/>
          </a:prstGeom>
          <a:noFill/>
        </p:spPr>
        <p:txBody>
          <a:bodyPr wrap="square" lIns="45720" rIns="45720" tIns="18288" bIns="18288" anchor="t">
            <a:spAutoFit/>
          </a:bodyPr>
          <a:lstStyle/>
          <a:p>
            <a:pPr algn="l"/>
            <a:r>
              <a:rPr sz="1200" b="1" i="0">
                <a:solidFill>
                  <a:srgbClr val="7A66B8"/>
                </a:solidFill>
                <a:latin typeface="Arial"/>
              </a:rPr>
              <a:t>BUSINESS RELATIONSHIP ROLES  ·  per Ana's feedback</a:t>
            </a:r>
          </a:p>
        </p:txBody>
      </p:sp>
      <p:sp>
        <p:nvSpPr>
          <p:cNvPr id="35" name="TextBox 34"/>
          <p:cNvSpPr txBox="1"/>
          <p:nvPr/>
        </p:nvSpPr>
        <p:spPr>
          <a:xfrm>
            <a:off x="1234440" y="4261104"/>
            <a:ext cx="10408615" cy="502920"/>
          </a:xfrm>
          <a:prstGeom prst="rect">
            <a:avLst/>
          </a:prstGeom>
          <a:noFill/>
        </p:spPr>
        <p:txBody>
          <a:bodyPr wrap="square" lIns="45720" rIns="45720" tIns="18288" bIns="18288" anchor="t">
            <a:spAutoFit/>
          </a:bodyPr>
          <a:lstStyle/>
          <a:p>
            <a:pPr algn="l"/>
            <a:r>
              <a:rPr sz="1000" b="0" i="1">
                <a:solidFill>
                  <a:srgbClr val="2C3E50"/>
                </a:solidFill>
                <a:latin typeface="Arial"/>
              </a:rPr>
              <a:t>Process Owners (business) · IT Business Partners per domain (Finance · Supply Chain · Asset Mgmt) · Demand Manager · ERP Steering Committee. None exist today as named roles — TOM must identify owners.</a:t>
            </a:r>
          </a:p>
        </p:txBody>
      </p:sp>
      <p:sp>
        <p:nvSpPr>
          <p:cNvPr id="36" name="TextBox 35"/>
          <p:cNvSpPr txBox="1"/>
          <p:nvPr/>
        </p:nvSpPr>
        <p:spPr>
          <a:xfrm>
            <a:off x="1234440" y="4206240"/>
            <a:ext cx="3931920" cy="457200"/>
          </a:xfrm>
          <a:prstGeom prst="rect">
            <a:avLst/>
          </a:prstGeom>
          <a:noFill/>
        </p:spPr>
        <p:txBody>
          <a:bodyPr wrap="square" lIns="45720" rIns="45720" tIns="18288" bIns="18288" anchor="ctr">
            <a:spAutoFit/>
          </a:bodyPr>
          <a:lstStyle/>
          <a:p>
            <a:pPr algn="l"/>
            <a:r>
              <a:rPr sz="850" b="1" i="0">
                <a:solidFill>
                  <a:srgbClr val="0F1C50"/>
                </a:solidFill>
                <a:latin typeface="Arial"/>
              </a:rPr>
              <a:t>OWNERS · Vitor · Carlos · Kumar · Heather · Iberdrola IT</a:t>
            </a:r>
          </a:p>
        </p:txBody>
      </p:sp>
      <p:sp>
        <p:nvSpPr>
          <p:cNvPr id="37" name="TextBox 36"/>
          <p:cNvSpPr txBox="1"/>
          <p:nvPr/>
        </p:nvSpPr>
        <p:spPr>
          <a:xfrm>
            <a:off x="5257800" y="4206240"/>
            <a:ext cx="3200400" cy="457200"/>
          </a:xfrm>
          <a:prstGeom prst="rect">
            <a:avLst/>
          </a:prstGeom>
          <a:noFill/>
        </p:spPr>
        <p:txBody>
          <a:bodyPr wrap="square" lIns="45720" rIns="45720" tIns="18288" bIns="18288" anchor="ctr">
            <a:spAutoFit/>
          </a:bodyPr>
          <a:lstStyle/>
          <a:p>
            <a:pPr algn="l"/>
            <a:r>
              <a:rPr sz="850" b="1" i="0">
                <a:solidFill>
                  <a:srgbClr val="2E7D32"/>
                </a:solidFill>
                <a:latin typeface="Arial"/>
              </a:rPr>
              <a:t>WHEN · role mapping by Step 2 · staffing TBD</a:t>
            </a:r>
          </a:p>
        </p:txBody>
      </p:sp>
      <p:sp>
        <p:nvSpPr>
          <p:cNvPr id="38" name="TextBox 37"/>
          <p:cNvSpPr txBox="1"/>
          <p:nvPr/>
        </p:nvSpPr>
        <p:spPr>
          <a:xfrm>
            <a:off x="8549640" y="4206240"/>
            <a:ext cx="3184855" cy="457200"/>
          </a:xfrm>
          <a:prstGeom prst="rect">
            <a:avLst/>
          </a:prstGeom>
          <a:noFill/>
        </p:spPr>
        <p:txBody>
          <a:bodyPr wrap="square" lIns="45720" rIns="45720" tIns="18288" bIns="18288" anchor="ctr">
            <a:spAutoFit/>
          </a:bodyPr>
          <a:lstStyle/>
          <a:p>
            <a:pPr algn="l"/>
            <a:r>
              <a:rPr sz="850" b="0" i="1">
                <a:solidFill>
                  <a:srgbClr val="B63B1F"/>
                </a:solidFill>
                <a:latin typeface="Arial"/>
              </a:rPr>
              <a:t>RISK · IT remains technical-only · no business voice</a:t>
            </a:r>
          </a:p>
        </p:txBody>
      </p:sp>
      <p:sp>
        <p:nvSpPr>
          <p:cNvPr id="39" name="Rounded Rectangle 38"/>
          <p:cNvSpPr/>
          <p:nvPr/>
        </p:nvSpPr>
        <p:spPr>
          <a:xfrm>
            <a:off x="457200" y="4754880"/>
            <a:ext cx="11277295" cy="731520"/>
          </a:xfrm>
          <a:prstGeom prst="roundRect">
            <a:avLst>
              <a:gd name="adj" fmla="val 5000"/>
            </a:avLst>
          </a:prstGeom>
          <a:solidFill>
            <a:srgbClr val="FFFFFF"/>
          </a:solidFill>
          <a:ln w="2540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57200" y="4754880"/>
            <a:ext cx="640080" cy="73152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4754880"/>
            <a:ext cx="640080" cy="731520"/>
          </a:xfrm>
          <a:prstGeom prst="rect">
            <a:avLst/>
          </a:prstGeom>
          <a:noFill/>
        </p:spPr>
        <p:txBody>
          <a:bodyPr wrap="square" lIns="45720" rIns="45720" tIns="18288" bIns="18288" anchor="ctr">
            <a:spAutoFit/>
          </a:bodyPr>
          <a:lstStyle/>
          <a:p>
            <a:pPr algn="ctr"/>
            <a:r>
              <a:rPr sz="2200" b="1" i="0">
                <a:solidFill>
                  <a:srgbClr val="FFFFFF"/>
                </a:solidFill>
                <a:latin typeface="Arial"/>
              </a:rPr>
              <a:t>05</a:t>
            </a:r>
          </a:p>
        </p:txBody>
      </p:sp>
      <p:sp>
        <p:nvSpPr>
          <p:cNvPr id="42" name="TextBox 41"/>
          <p:cNvSpPr txBox="1"/>
          <p:nvPr/>
        </p:nvSpPr>
        <p:spPr>
          <a:xfrm>
            <a:off x="1234440" y="4809744"/>
            <a:ext cx="10408615" cy="292608"/>
          </a:xfrm>
          <a:prstGeom prst="rect">
            <a:avLst/>
          </a:prstGeom>
          <a:noFill/>
        </p:spPr>
        <p:txBody>
          <a:bodyPr wrap="square" lIns="45720" rIns="45720" tIns="18288" bIns="18288" anchor="t">
            <a:spAutoFit/>
          </a:bodyPr>
          <a:lstStyle/>
          <a:p>
            <a:pPr algn="l"/>
            <a:r>
              <a:rPr sz="1200" b="1" i="0">
                <a:solidFill>
                  <a:srgbClr val="B63B1F"/>
                </a:solidFill>
                <a:latin typeface="Arial"/>
              </a:rPr>
              <a:t>RUN / BUILD SEPARATION  ·  per Value Stream</a:t>
            </a:r>
          </a:p>
        </p:txBody>
      </p:sp>
      <p:sp>
        <p:nvSpPr>
          <p:cNvPr id="43" name="TextBox 42"/>
          <p:cNvSpPr txBox="1"/>
          <p:nvPr/>
        </p:nvSpPr>
        <p:spPr>
          <a:xfrm>
            <a:off x="1234440" y="5084064"/>
            <a:ext cx="10408615" cy="502920"/>
          </a:xfrm>
          <a:prstGeom prst="rect">
            <a:avLst/>
          </a:prstGeom>
          <a:noFill/>
        </p:spPr>
        <p:txBody>
          <a:bodyPr wrap="square" lIns="45720" rIns="45720" tIns="18288" bIns="18288" anchor="t">
            <a:spAutoFit/>
          </a:bodyPr>
          <a:lstStyle/>
          <a:p>
            <a:pPr algn="l"/>
            <a:r>
              <a:rPr sz="1000" b="0" i="1">
                <a:solidFill>
                  <a:srgbClr val="2C3E50"/>
                </a:solidFill>
                <a:latin typeface="Arial"/>
              </a:rPr>
              <a:t>L1 / L2 / L3 Application Support · Service Delivery Manager · Incident / Problem Manager — today undefined. Run team must be named separately from Build team inside each Squad.</a:t>
            </a:r>
          </a:p>
        </p:txBody>
      </p:sp>
      <p:sp>
        <p:nvSpPr>
          <p:cNvPr id="44" name="TextBox 43"/>
          <p:cNvSpPr txBox="1"/>
          <p:nvPr/>
        </p:nvSpPr>
        <p:spPr>
          <a:xfrm>
            <a:off x="1234440" y="5029200"/>
            <a:ext cx="3931920" cy="457200"/>
          </a:xfrm>
          <a:prstGeom prst="rect">
            <a:avLst/>
          </a:prstGeom>
          <a:noFill/>
        </p:spPr>
        <p:txBody>
          <a:bodyPr wrap="square" lIns="45720" rIns="45720" tIns="18288" bIns="18288" anchor="ctr">
            <a:spAutoFit/>
          </a:bodyPr>
          <a:lstStyle/>
          <a:p>
            <a:pPr algn="l"/>
            <a:r>
              <a:rPr sz="850" b="1" i="0">
                <a:solidFill>
                  <a:srgbClr val="0F1C50"/>
                </a:solidFill>
                <a:latin typeface="Arial"/>
              </a:rPr>
              <a:t>OWNERS · Carlos · Kumar · Platform Crew · Service Mgmt</a:t>
            </a:r>
          </a:p>
        </p:txBody>
      </p:sp>
      <p:sp>
        <p:nvSpPr>
          <p:cNvPr id="45" name="TextBox 44"/>
          <p:cNvSpPr txBox="1"/>
          <p:nvPr/>
        </p:nvSpPr>
        <p:spPr>
          <a:xfrm>
            <a:off x="5257800" y="5029200"/>
            <a:ext cx="3200400" cy="457200"/>
          </a:xfrm>
          <a:prstGeom prst="rect">
            <a:avLst/>
          </a:prstGeom>
          <a:noFill/>
        </p:spPr>
        <p:txBody>
          <a:bodyPr wrap="square" lIns="45720" rIns="45720" tIns="18288" bIns="18288" anchor="ctr">
            <a:spAutoFit/>
          </a:bodyPr>
          <a:lstStyle/>
          <a:p>
            <a:pPr algn="l"/>
            <a:r>
              <a:rPr sz="850" b="1" i="0">
                <a:solidFill>
                  <a:srgbClr val="2E7D32"/>
                </a:solidFill>
                <a:latin typeface="Arial"/>
              </a:rPr>
              <a:t>WHEN · Run track design by Step 3</a:t>
            </a:r>
          </a:p>
        </p:txBody>
      </p:sp>
      <p:sp>
        <p:nvSpPr>
          <p:cNvPr id="46" name="TextBox 45"/>
          <p:cNvSpPr txBox="1"/>
          <p:nvPr/>
        </p:nvSpPr>
        <p:spPr>
          <a:xfrm>
            <a:off x="8549640" y="5029200"/>
            <a:ext cx="3184855" cy="457200"/>
          </a:xfrm>
          <a:prstGeom prst="rect">
            <a:avLst/>
          </a:prstGeom>
          <a:noFill/>
        </p:spPr>
        <p:txBody>
          <a:bodyPr wrap="square" lIns="45720" rIns="45720" tIns="18288" bIns="18288" anchor="ctr">
            <a:spAutoFit/>
          </a:bodyPr>
          <a:lstStyle/>
          <a:p>
            <a:pPr algn="l"/>
            <a:r>
              <a:rPr sz="850" b="0" i="1">
                <a:solidFill>
                  <a:srgbClr val="B63B1F"/>
                </a:solidFill>
                <a:latin typeface="Arial"/>
              </a:rPr>
              <a:t>RISK · 'everyone does everything' persists</a:t>
            </a:r>
          </a:p>
        </p:txBody>
      </p:sp>
      <p:sp>
        <p:nvSpPr>
          <p:cNvPr id="47" name="Rounded Rectangle 46"/>
          <p:cNvSpPr/>
          <p:nvPr/>
        </p:nvSpPr>
        <p:spPr>
          <a:xfrm>
            <a:off x="457200" y="5577840"/>
            <a:ext cx="11277295" cy="731520"/>
          </a:xfrm>
          <a:prstGeom prst="roundRect">
            <a:avLst>
              <a:gd name="adj" fmla="val 5000"/>
            </a:avLst>
          </a:prstGeom>
          <a:solidFill>
            <a:srgbClr val="FFFFFF"/>
          </a:solidFill>
          <a:ln w="25400">
            <a:solidFill>
              <a:srgbClr val="1F3A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57200" y="5577840"/>
            <a:ext cx="640080" cy="73152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5577840"/>
            <a:ext cx="640080" cy="731520"/>
          </a:xfrm>
          <a:prstGeom prst="rect">
            <a:avLst/>
          </a:prstGeom>
          <a:noFill/>
        </p:spPr>
        <p:txBody>
          <a:bodyPr wrap="square" lIns="45720" rIns="45720" tIns="18288" bIns="18288" anchor="ctr">
            <a:spAutoFit/>
          </a:bodyPr>
          <a:lstStyle/>
          <a:p>
            <a:pPr algn="ctr"/>
            <a:r>
              <a:rPr sz="2200" b="1" i="0">
                <a:solidFill>
                  <a:srgbClr val="FFFFFF"/>
                </a:solidFill>
                <a:latin typeface="Arial"/>
              </a:rPr>
              <a:t>06</a:t>
            </a:r>
          </a:p>
        </p:txBody>
      </p:sp>
      <p:sp>
        <p:nvSpPr>
          <p:cNvPr id="50" name="TextBox 49"/>
          <p:cNvSpPr txBox="1"/>
          <p:nvPr/>
        </p:nvSpPr>
        <p:spPr>
          <a:xfrm>
            <a:off x="1234440" y="5632704"/>
            <a:ext cx="10408615" cy="292608"/>
          </a:xfrm>
          <a:prstGeom prst="rect">
            <a:avLst/>
          </a:prstGeom>
          <a:noFill/>
        </p:spPr>
        <p:txBody>
          <a:bodyPr wrap="square" lIns="45720" rIns="45720" tIns="18288" bIns="18288" anchor="t">
            <a:spAutoFit/>
          </a:bodyPr>
          <a:lstStyle/>
          <a:p>
            <a:pPr algn="l"/>
            <a:r>
              <a:rPr sz="1200" b="1" i="0">
                <a:solidFill>
                  <a:srgbClr val="1F3A68"/>
                </a:solidFill>
                <a:latin typeface="Arial"/>
              </a:rPr>
              <a:t>DATA &amp; ANALYTICS CAPABILITY  ·  internal vs external</a:t>
            </a:r>
          </a:p>
        </p:txBody>
      </p:sp>
      <p:sp>
        <p:nvSpPr>
          <p:cNvPr id="51" name="TextBox 50"/>
          <p:cNvSpPr txBox="1"/>
          <p:nvPr/>
        </p:nvSpPr>
        <p:spPr>
          <a:xfrm>
            <a:off x="1234440" y="5907024"/>
            <a:ext cx="10408615" cy="502920"/>
          </a:xfrm>
          <a:prstGeom prst="rect">
            <a:avLst/>
          </a:prstGeom>
          <a:noFill/>
        </p:spPr>
        <p:txBody>
          <a:bodyPr wrap="square" lIns="45720" rIns="45720" tIns="18288" bIns="18288" anchor="t">
            <a:spAutoFit/>
          </a:bodyPr>
          <a:lstStyle/>
          <a:p>
            <a:pPr algn="l"/>
            <a:r>
              <a:rPr sz="1000" b="0" i="1">
                <a:solidFill>
                  <a:srgbClr val="2C3E50"/>
                </a:solidFill>
                <a:latin typeface="Arial"/>
              </a:rPr>
              <a:t>Data Governance Lead · MDM · BW / SAC · Data Engineers — currently external. TOM places Data Ops inside Platform Crew but staffing model (internal · external · hybrid) is open.</a:t>
            </a:r>
          </a:p>
        </p:txBody>
      </p:sp>
      <p:sp>
        <p:nvSpPr>
          <p:cNvPr id="52" name="TextBox 51"/>
          <p:cNvSpPr txBox="1"/>
          <p:nvPr/>
        </p:nvSpPr>
        <p:spPr>
          <a:xfrm>
            <a:off x="1234440" y="5852160"/>
            <a:ext cx="3931920" cy="457200"/>
          </a:xfrm>
          <a:prstGeom prst="rect">
            <a:avLst/>
          </a:prstGeom>
          <a:noFill/>
        </p:spPr>
        <p:txBody>
          <a:bodyPr wrap="square" lIns="45720" rIns="45720" tIns="18288" bIns="18288" anchor="ctr">
            <a:spAutoFit/>
          </a:bodyPr>
          <a:lstStyle/>
          <a:p>
            <a:pPr algn="l"/>
            <a:r>
              <a:rPr sz="850" b="1" i="0">
                <a:solidFill>
                  <a:srgbClr val="0F1C50"/>
                </a:solidFill>
                <a:latin typeface="Arial"/>
              </a:rPr>
              <a:t>OWNERS · Vitor · Platform Crew lead · Data CoE if exists</a:t>
            </a:r>
          </a:p>
        </p:txBody>
      </p:sp>
      <p:sp>
        <p:nvSpPr>
          <p:cNvPr id="53" name="TextBox 52"/>
          <p:cNvSpPr txBox="1"/>
          <p:nvPr/>
        </p:nvSpPr>
        <p:spPr>
          <a:xfrm>
            <a:off x="5257800" y="5852160"/>
            <a:ext cx="3200400" cy="457200"/>
          </a:xfrm>
          <a:prstGeom prst="rect">
            <a:avLst/>
          </a:prstGeom>
          <a:noFill/>
        </p:spPr>
        <p:txBody>
          <a:bodyPr wrap="square" lIns="45720" rIns="45720" tIns="18288" bIns="18288" anchor="ctr">
            <a:spAutoFit/>
          </a:bodyPr>
          <a:lstStyle/>
          <a:p>
            <a:pPr algn="l"/>
            <a:r>
              <a:rPr sz="850" b="1" i="0">
                <a:solidFill>
                  <a:srgbClr val="2E7D32"/>
                </a:solidFill>
                <a:latin typeface="Arial"/>
              </a:rPr>
              <a:t>WHEN · Data Ops scope by Step 3</a:t>
            </a:r>
          </a:p>
        </p:txBody>
      </p:sp>
      <p:sp>
        <p:nvSpPr>
          <p:cNvPr id="54" name="TextBox 53"/>
          <p:cNvSpPr txBox="1"/>
          <p:nvPr/>
        </p:nvSpPr>
        <p:spPr>
          <a:xfrm>
            <a:off x="8549640" y="5852160"/>
            <a:ext cx="3184855" cy="457200"/>
          </a:xfrm>
          <a:prstGeom prst="rect">
            <a:avLst/>
          </a:prstGeom>
          <a:noFill/>
        </p:spPr>
        <p:txBody>
          <a:bodyPr wrap="square" lIns="45720" rIns="45720" tIns="18288" bIns="18288" anchor="ctr">
            <a:spAutoFit/>
          </a:bodyPr>
          <a:lstStyle/>
          <a:p>
            <a:pPr algn="l"/>
            <a:r>
              <a:rPr sz="850" b="0" i="1">
                <a:solidFill>
                  <a:srgbClr val="B63B1F"/>
                </a:solidFill>
                <a:latin typeface="Arial"/>
              </a:rPr>
              <a:t>RISK · no holistic data layer · vendor lock-in</a:t>
            </a:r>
          </a:p>
        </p:txBody>
      </p:sp>
      <p:sp>
        <p:nvSpPr>
          <p:cNvPr id="55" name="TextBox 54"/>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